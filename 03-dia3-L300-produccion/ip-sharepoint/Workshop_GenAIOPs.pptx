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8.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9.xml" ContentType="application/vnd.openxmlformats-officedocument.presentationml.tags+xml"/>
  <Override PartName="/ppt/notesSlides/notesSlide48.xml" ContentType="application/vnd.openxmlformats-officedocument.presentationml.notesSlide+xml"/>
  <Override PartName="/ppt/tags/tag10.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11.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12.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tags/tag13.xml" ContentType="application/vnd.openxmlformats-officedocument.presentationml.tag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3"/>
    <p:sldMasterId id="2147484099" r:id="rId44"/>
  </p:sldMasterIdLst>
  <p:notesMasterIdLst>
    <p:notesMasterId r:id="rId121"/>
  </p:notesMasterIdLst>
  <p:sldIdLst>
    <p:sldId id="256" r:id="rId45"/>
    <p:sldId id="257" r:id="rId46"/>
    <p:sldId id="2147469889" r:id="rId47"/>
    <p:sldId id="259" r:id="rId48"/>
    <p:sldId id="2147469910" r:id="rId49"/>
    <p:sldId id="274" r:id="rId50"/>
    <p:sldId id="262" r:id="rId51"/>
    <p:sldId id="2147469911" r:id="rId52"/>
    <p:sldId id="2147469912" r:id="rId53"/>
    <p:sldId id="2147469913" r:id="rId54"/>
    <p:sldId id="2147469914" r:id="rId55"/>
    <p:sldId id="2147469915" r:id="rId56"/>
    <p:sldId id="2147469916" r:id="rId57"/>
    <p:sldId id="2147469917" r:id="rId58"/>
    <p:sldId id="2147469918" r:id="rId59"/>
    <p:sldId id="2147481194" r:id="rId60"/>
    <p:sldId id="2147483647" r:id="rId61"/>
    <p:sldId id="258" r:id="rId62"/>
    <p:sldId id="2147481133" r:id="rId63"/>
    <p:sldId id="260" r:id="rId64"/>
    <p:sldId id="261" r:id="rId65"/>
    <p:sldId id="285" r:id="rId66"/>
    <p:sldId id="267" r:id="rId67"/>
    <p:sldId id="268" r:id="rId68"/>
    <p:sldId id="269" r:id="rId69"/>
    <p:sldId id="270" r:id="rId70"/>
    <p:sldId id="2147482547" r:id="rId71"/>
    <p:sldId id="2147482536" r:id="rId72"/>
    <p:sldId id="2147482533" r:id="rId73"/>
    <p:sldId id="2147481195" r:id="rId74"/>
    <p:sldId id="2147482079" r:id="rId75"/>
    <p:sldId id="314" r:id="rId76"/>
    <p:sldId id="284" r:id="rId77"/>
    <p:sldId id="287" r:id="rId78"/>
    <p:sldId id="273" r:id="rId79"/>
    <p:sldId id="275" r:id="rId80"/>
    <p:sldId id="2147482546" r:id="rId81"/>
    <p:sldId id="2147481134" r:id="rId82"/>
    <p:sldId id="299" r:id="rId83"/>
    <p:sldId id="292" r:id="rId84"/>
    <p:sldId id="300" r:id="rId85"/>
    <p:sldId id="294" r:id="rId86"/>
    <p:sldId id="276" r:id="rId87"/>
    <p:sldId id="2147483646" r:id="rId88"/>
    <p:sldId id="289" r:id="rId89"/>
    <p:sldId id="281" r:id="rId90"/>
    <p:sldId id="282" r:id="rId91"/>
    <p:sldId id="283" r:id="rId92"/>
    <p:sldId id="286" r:id="rId93"/>
    <p:sldId id="2147483644" r:id="rId94"/>
    <p:sldId id="290" r:id="rId95"/>
    <p:sldId id="291" r:id="rId96"/>
    <p:sldId id="271" r:id="rId97"/>
    <p:sldId id="288" r:id="rId98"/>
    <p:sldId id="293" r:id="rId99"/>
    <p:sldId id="295" r:id="rId100"/>
    <p:sldId id="296" r:id="rId101"/>
    <p:sldId id="297" r:id="rId102"/>
    <p:sldId id="298" r:id="rId103"/>
    <p:sldId id="301" r:id="rId104"/>
    <p:sldId id="302" r:id="rId105"/>
    <p:sldId id="303" r:id="rId106"/>
    <p:sldId id="2147481210" r:id="rId107"/>
    <p:sldId id="304" r:id="rId108"/>
    <p:sldId id="2147482548" r:id="rId109"/>
    <p:sldId id="305" r:id="rId110"/>
    <p:sldId id="306" r:id="rId111"/>
    <p:sldId id="307" r:id="rId112"/>
    <p:sldId id="308" r:id="rId113"/>
    <p:sldId id="2147481199" r:id="rId114"/>
    <p:sldId id="309" r:id="rId115"/>
    <p:sldId id="2147482527" r:id="rId116"/>
    <p:sldId id="310" r:id="rId117"/>
    <p:sldId id="311" r:id="rId118"/>
    <p:sldId id="313" r:id="rId119"/>
    <p:sldId id="312" r:id="rId120"/>
  </p:sldIdLst>
  <p:sldSz cx="12192000" cy="6858000"/>
  <p:notesSz cx="6858000" cy="9144000"/>
  <p:custDataLst>
    <p:tags r:id="rId1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3CB9E2-598B-2557-A6A3-676C401C6CAD}" v="4" dt="2025-06-21T07:04:16.759"/>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6" d="100"/>
          <a:sy n="146" d="100"/>
        </p:scale>
        <p:origin x="304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73.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3.xml"/><Relationship Id="rId63" Type="http://schemas.openxmlformats.org/officeDocument/2006/relationships/slide" Target="slides/slide19.xml"/><Relationship Id="rId68" Type="http://schemas.openxmlformats.org/officeDocument/2006/relationships/slide" Target="slides/slide24.xml"/><Relationship Id="rId84" Type="http://schemas.openxmlformats.org/officeDocument/2006/relationships/slide" Target="slides/slide40.xml"/><Relationship Id="rId89" Type="http://schemas.openxmlformats.org/officeDocument/2006/relationships/slide" Target="slides/slide45.xml"/><Relationship Id="rId112" Type="http://schemas.openxmlformats.org/officeDocument/2006/relationships/slide" Target="slides/slide68.xml"/><Relationship Id="rId16" Type="http://schemas.openxmlformats.org/officeDocument/2006/relationships/customXml" Target="../customXml/item16.xml"/><Relationship Id="rId107" Type="http://schemas.openxmlformats.org/officeDocument/2006/relationships/slide" Target="slides/slide63.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9.xml"/><Relationship Id="rId58" Type="http://schemas.openxmlformats.org/officeDocument/2006/relationships/slide" Target="slides/slide14.xml"/><Relationship Id="rId74" Type="http://schemas.openxmlformats.org/officeDocument/2006/relationships/slide" Target="slides/slide30.xml"/><Relationship Id="rId79" Type="http://schemas.openxmlformats.org/officeDocument/2006/relationships/slide" Target="slides/slide35.xml"/><Relationship Id="rId102" Type="http://schemas.openxmlformats.org/officeDocument/2006/relationships/slide" Target="slides/slide58.xml"/><Relationship Id="rId123" Type="http://schemas.openxmlformats.org/officeDocument/2006/relationships/commentAuthors" Target="commentAuthors.xml"/><Relationship Id="rId128" Type="http://schemas.microsoft.com/office/2016/11/relationships/changesInfo" Target="changesInfos/changesInfo1.xml"/><Relationship Id="rId5" Type="http://schemas.openxmlformats.org/officeDocument/2006/relationships/customXml" Target="../customXml/item5.xml"/><Relationship Id="rId90" Type="http://schemas.openxmlformats.org/officeDocument/2006/relationships/slide" Target="slides/slide46.xml"/><Relationship Id="rId95" Type="http://schemas.openxmlformats.org/officeDocument/2006/relationships/slide" Target="slides/slide51.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slideMaster" Target="slideMasters/slideMaster1.xml"/><Relationship Id="rId48" Type="http://schemas.openxmlformats.org/officeDocument/2006/relationships/slide" Target="slides/slide4.xml"/><Relationship Id="rId64" Type="http://schemas.openxmlformats.org/officeDocument/2006/relationships/slide" Target="slides/slide20.xml"/><Relationship Id="rId69" Type="http://schemas.openxmlformats.org/officeDocument/2006/relationships/slide" Target="slides/slide25.xml"/><Relationship Id="rId113" Type="http://schemas.openxmlformats.org/officeDocument/2006/relationships/slide" Target="slides/slide69.xml"/><Relationship Id="rId118" Type="http://schemas.openxmlformats.org/officeDocument/2006/relationships/slide" Target="slides/slide74.xml"/><Relationship Id="rId80" Type="http://schemas.openxmlformats.org/officeDocument/2006/relationships/slide" Target="slides/slide36.xml"/><Relationship Id="rId85" Type="http://schemas.openxmlformats.org/officeDocument/2006/relationships/slide" Target="slides/slide41.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slide" Target="slides/slide15.xml"/><Relationship Id="rId103" Type="http://schemas.openxmlformats.org/officeDocument/2006/relationships/slide" Target="slides/slide59.xml"/><Relationship Id="rId108" Type="http://schemas.openxmlformats.org/officeDocument/2006/relationships/slide" Target="slides/slide64.xml"/><Relationship Id="rId124" Type="http://schemas.openxmlformats.org/officeDocument/2006/relationships/presProps" Target="presProps.xml"/><Relationship Id="rId129" Type="http://schemas.microsoft.com/office/2015/10/relationships/revisionInfo" Target="revisionInfo.xml"/><Relationship Id="rId54" Type="http://schemas.openxmlformats.org/officeDocument/2006/relationships/slide" Target="slides/slide10.xml"/><Relationship Id="rId70" Type="http://schemas.openxmlformats.org/officeDocument/2006/relationships/slide" Target="slides/slide26.xml"/><Relationship Id="rId75" Type="http://schemas.openxmlformats.org/officeDocument/2006/relationships/slide" Target="slides/slide31.xml"/><Relationship Id="rId91" Type="http://schemas.openxmlformats.org/officeDocument/2006/relationships/slide" Target="slides/slide47.xml"/><Relationship Id="rId96" Type="http://schemas.openxmlformats.org/officeDocument/2006/relationships/slide" Target="slides/slide52.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slide" Target="slides/slide5.xml"/><Relationship Id="rId114" Type="http://schemas.openxmlformats.org/officeDocument/2006/relationships/slide" Target="slides/slide70.xml"/><Relationship Id="rId119" Type="http://schemas.openxmlformats.org/officeDocument/2006/relationships/slide" Target="slides/slide75.xml"/><Relationship Id="rId44" Type="http://schemas.openxmlformats.org/officeDocument/2006/relationships/slideMaster" Target="slideMasters/slideMaster2.xml"/><Relationship Id="rId60" Type="http://schemas.openxmlformats.org/officeDocument/2006/relationships/slide" Target="slides/slide16.xml"/><Relationship Id="rId65" Type="http://schemas.openxmlformats.org/officeDocument/2006/relationships/slide" Target="slides/slide21.xml"/><Relationship Id="rId81" Type="http://schemas.openxmlformats.org/officeDocument/2006/relationships/slide" Target="slides/slide37.xml"/><Relationship Id="rId86" Type="http://schemas.openxmlformats.org/officeDocument/2006/relationships/slide" Target="slides/slide42.xml"/><Relationship Id="rId130" Type="http://schemas.microsoft.com/office/2018/10/relationships/authors" Target="authors.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slide" Target="slides/slide65.xml"/><Relationship Id="rId34" Type="http://schemas.openxmlformats.org/officeDocument/2006/relationships/customXml" Target="../customXml/item34.xml"/><Relationship Id="rId50" Type="http://schemas.openxmlformats.org/officeDocument/2006/relationships/slide" Target="slides/slide6.xml"/><Relationship Id="rId55" Type="http://schemas.openxmlformats.org/officeDocument/2006/relationships/slide" Target="slides/slide11.xml"/><Relationship Id="rId76" Type="http://schemas.openxmlformats.org/officeDocument/2006/relationships/slide" Target="slides/slide32.xml"/><Relationship Id="rId97" Type="http://schemas.openxmlformats.org/officeDocument/2006/relationships/slide" Target="slides/slide53.xml"/><Relationship Id="rId104" Type="http://schemas.openxmlformats.org/officeDocument/2006/relationships/slide" Target="slides/slide60.xml"/><Relationship Id="rId120" Type="http://schemas.openxmlformats.org/officeDocument/2006/relationships/slide" Target="slides/slide76.xml"/><Relationship Id="rId125" Type="http://schemas.openxmlformats.org/officeDocument/2006/relationships/viewProps" Target="viewProps.xml"/><Relationship Id="rId7" Type="http://schemas.openxmlformats.org/officeDocument/2006/relationships/customXml" Target="../customXml/item7.xml"/><Relationship Id="rId71" Type="http://schemas.openxmlformats.org/officeDocument/2006/relationships/slide" Target="slides/slide27.xml"/><Relationship Id="rId92" Type="http://schemas.openxmlformats.org/officeDocument/2006/relationships/slide" Target="slides/slide48.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 Target="slides/slide1.xml"/><Relationship Id="rId66" Type="http://schemas.openxmlformats.org/officeDocument/2006/relationships/slide" Target="slides/slide22.xml"/><Relationship Id="rId87" Type="http://schemas.openxmlformats.org/officeDocument/2006/relationships/slide" Target="slides/slide43.xml"/><Relationship Id="rId110" Type="http://schemas.openxmlformats.org/officeDocument/2006/relationships/slide" Target="slides/slide66.xml"/><Relationship Id="rId115" Type="http://schemas.openxmlformats.org/officeDocument/2006/relationships/slide" Target="slides/slide71.xml"/><Relationship Id="rId61" Type="http://schemas.openxmlformats.org/officeDocument/2006/relationships/slide" Target="slides/slide17.xml"/><Relationship Id="rId82" Type="http://schemas.openxmlformats.org/officeDocument/2006/relationships/slide" Target="slides/slide38.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slide" Target="slides/slide12.xml"/><Relationship Id="rId77" Type="http://schemas.openxmlformats.org/officeDocument/2006/relationships/slide" Target="slides/slide33.xml"/><Relationship Id="rId100" Type="http://schemas.openxmlformats.org/officeDocument/2006/relationships/slide" Target="slides/slide56.xml"/><Relationship Id="rId105" Type="http://schemas.openxmlformats.org/officeDocument/2006/relationships/slide" Target="slides/slide61.xml"/><Relationship Id="rId126" Type="http://schemas.openxmlformats.org/officeDocument/2006/relationships/theme" Target="theme/theme1.xml"/><Relationship Id="rId8" Type="http://schemas.openxmlformats.org/officeDocument/2006/relationships/customXml" Target="../customXml/item8.xml"/><Relationship Id="rId51" Type="http://schemas.openxmlformats.org/officeDocument/2006/relationships/slide" Target="slides/slide7.xml"/><Relationship Id="rId72" Type="http://schemas.openxmlformats.org/officeDocument/2006/relationships/slide" Target="slides/slide28.xml"/><Relationship Id="rId93" Type="http://schemas.openxmlformats.org/officeDocument/2006/relationships/slide" Target="slides/slide49.xml"/><Relationship Id="rId98" Type="http://schemas.openxmlformats.org/officeDocument/2006/relationships/slide" Target="slides/slide54.xml"/><Relationship Id="rId121" Type="http://schemas.openxmlformats.org/officeDocument/2006/relationships/notesMaster" Target="notesMasters/notesMaster1.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slide" Target="slides/slide2.xml"/><Relationship Id="rId67" Type="http://schemas.openxmlformats.org/officeDocument/2006/relationships/slide" Target="slides/slide23.xml"/><Relationship Id="rId116" Type="http://schemas.openxmlformats.org/officeDocument/2006/relationships/slide" Target="slides/slide72.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slide" Target="slides/slide18.xml"/><Relationship Id="rId83" Type="http://schemas.openxmlformats.org/officeDocument/2006/relationships/slide" Target="slides/slide39.xml"/><Relationship Id="rId88" Type="http://schemas.openxmlformats.org/officeDocument/2006/relationships/slide" Target="slides/slide44.xml"/><Relationship Id="rId111" Type="http://schemas.openxmlformats.org/officeDocument/2006/relationships/slide" Target="slides/slide67.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slide" Target="slides/slide13.xml"/><Relationship Id="rId106" Type="http://schemas.openxmlformats.org/officeDocument/2006/relationships/slide" Target="slides/slide62.xml"/><Relationship Id="rId127" Type="http://schemas.openxmlformats.org/officeDocument/2006/relationships/tableStyles" Target="tableStyles.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slide" Target="slides/slide8.xml"/><Relationship Id="rId73" Type="http://schemas.openxmlformats.org/officeDocument/2006/relationships/slide" Target="slides/slide29.xml"/><Relationship Id="rId78" Type="http://schemas.openxmlformats.org/officeDocument/2006/relationships/slide" Target="slides/slide34.xml"/><Relationship Id="rId94" Type="http://schemas.openxmlformats.org/officeDocument/2006/relationships/slide" Target="slides/slide50.xml"/><Relationship Id="rId99" Type="http://schemas.openxmlformats.org/officeDocument/2006/relationships/slide" Target="slides/slide55.xml"/><Relationship Id="rId101" Type="http://schemas.openxmlformats.org/officeDocument/2006/relationships/slide" Target="slides/slide57.xml"/><Relationship Id="rId122"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 Sundararajan" userId="1319c946-a83f-4def-8c00-c7c406a5fa35" providerId="ADAL" clId="{07406A25-4ED1-4EF6-AA9E-62E81D0A517A}"/>
    <pc:docChg chg="undo custSel modSld">
      <pc:chgData name="Mahi Sundararajan" userId="1319c946-a83f-4def-8c00-c7c406a5fa35" providerId="ADAL" clId="{07406A25-4ED1-4EF6-AA9E-62E81D0A517A}" dt="2025-05-30T20:12:36.374" v="12" actId="20577"/>
      <pc:docMkLst>
        <pc:docMk/>
      </pc:docMkLst>
      <pc:sldChg chg="modSp mod">
        <pc:chgData name="Mahi Sundararajan" userId="1319c946-a83f-4def-8c00-c7c406a5fa35" providerId="ADAL" clId="{07406A25-4ED1-4EF6-AA9E-62E81D0A517A}" dt="2025-05-30T20:08:45.508" v="8" actId="1076"/>
        <pc:sldMkLst>
          <pc:docMk/>
          <pc:sldMk cId="1516655314" sldId="297"/>
        </pc:sldMkLst>
        <pc:spChg chg="mod">
          <ac:chgData name="Mahi Sundararajan" userId="1319c946-a83f-4def-8c00-c7c406a5fa35" providerId="ADAL" clId="{07406A25-4ED1-4EF6-AA9E-62E81D0A517A}" dt="2025-05-30T20:08:45.508" v="8" actId="1076"/>
          <ac:spMkLst>
            <pc:docMk/>
            <pc:sldMk cId="1516655314" sldId="297"/>
            <ac:spMk id="56" creationId="{DC22472D-DEE3-6A18-32BA-9BE85AC53E2B}"/>
          </ac:spMkLst>
        </pc:spChg>
      </pc:sldChg>
      <pc:sldChg chg="modNotesTx">
        <pc:chgData name="Mahi Sundararajan" userId="1319c946-a83f-4def-8c00-c7c406a5fa35" providerId="ADAL" clId="{07406A25-4ED1-4EF6-AA9E-62E81D0A517A}" dt="2025-05-30T20:12:36.374" v="12" actId="20577"/>
        <pc:sldMkLst>
          <pc:docMk/>
          <pc:sldMk cId="1265487732" sldId="309"/>
        </pc:sldMkLst>
      </pc:sldChg>
      <pc:sldChg chg="modSp mod">
        <pc:chgData name="Mahi Sundararajan" userId="1319c946-a83f-4def-8c00-c7c406a5fa35" providerId="ADAL" clId="{07406A25-4ED1-4EF6-AA9E-62E81D0A517A}" dt="2025-05-30T20:01:36.038" v="7" actId="20577"/>
        <pc:sldMkLst>
          <pc:docMk/>
          <pc:sldMk cId="1043854182" sldId="2147482533"/>
        </pc:sldMkLst>
        <pc:spChg chg="mod">
          <ac:chgData name="Mahi Sundararajan" userId="1319c946-a83f-4def-8c00-c7c406a5fa35" providerId="ADAL" clId="{07406A25-4ED1-4EF6-AA9E-62E81D0A517A}" dt="2025-05-30T20:01:36.038" v="7" actId="20577"/>
          <ac:spMkLst>
            <pc:docMk/>
            <pc:sldMk cId="1043854182" sldId="2147482533"/>
            <ac:spMk id="56" creationId="{B46F7F20-15D1-D906-B6E9-D8AD9E676A7D}"/>
          </ac:spMkLst>
        </pc:spChg>
      </pc:sldChg>
    </pc:docChg>
  </pc:docChgLst>
  <pc:docChgLst>
    <pc:chgData name="Paulo Lacerda" userId="S::paulolacerda@microsoft.com::c1eac4de-4cbf-4fc7-b0c5-2b05e32a6229" providerId="AD" clId="Web-{B30F58B9-19EE-C0E8-9C8F-74FDD90D00F6}"/>
    <pc:docChg chg="addSld modSld">
      <pc:chgData name="Paulo Lacerda" userId="S::paulolacerda@microsoft.com::c1eac4de-4cbf-4fc7-b0c5-2b05e32a6229" providerId="AD" clId="Web-{B30F58B9-19EE-C0E8-9C8F-74FDD90D00F6}" dt="2025-05-30T12:12:28.112" v="3" actId="1076"/>
      <pc:docMkLst>
        <pc:docMk/>
      </pc:docMkLst>
      <pc:sldChg chg="modSp">
        <pc:chgData name="Paulo Lacerda" userId="S::paulolacerda@microsoft.com::c1eac4de-4cbf-4fc7-b0c5-2b05e32a6229" providerId="AD" clId="Web-{B30F58B9-19EE-C0E8-9C8F-74FDD90D00F6}" dt="2025-05-30T12:02:59.171" v="0" actId="20577"/>
        <pc:sldMkLst>
          <pc:docMk/>
          <pc:sldMk cId="1853798403" sldId="283"/>
        </pc:sldMkLst>
        <pc:spChg chg="mod">
          <ac:chgData name="Paulo Lacerda" userId="S::paulolacerda@microsoft.com::c1eac4de-4cbf-4fc7-b0c5-2b05e32a6229" providerId="AD" clId="Web-{B30F58B9-19EE-C0E8-9C8F-74FDD90D00F6}" dt="2025-05-30T12:02:59.171" v="0" actId="20577"/>
          <ac:spMkLst>
            <pc:docMk/>
            <pc:sldMk cId="1853798403" sldId="283"/>
            <ac:spMk id="1080" creationId="{5DF30BF3-2ABF-D304-2C35-BCE2DD9BA5EB}"/>
          </ac:spMkLst>
        </pc:spChg>
      </pc:sldChg>
      <pc:sldChg chg="modSp add replId">
        <pc:chgData name="Paulo Lacerda" userId="S::paulolacerda@microsoft.com::c1eac4de-4cbf-4fc7-b0c5-2b05e32a6229" providerId="AD" clId="Web-{B30F58B9-19EE-C0E8-9C8F-74FDD90D00F6}" dt="2025-05-30T12:12:28.112" v="3" actId="1076"/>
        <pc:sldMkLst>
          <pc:docMk/>
          <pc:sldMk cId="1442971404" sldId="314"/>
        </pc:sldMkLst>
        <pc:grpChg chg="mod">
          <ac:chgData name="Paulo Lacerda" userId="S::paulolacerda@microsoft.com::c1eac4de-4cbf-4fc7-b0c5-2b05e32a6229" providerId="AD" clId="Web-{B30F58B9-19EE-C0E8-9C8F-74FDD90D00F6}" dt="2025-05-30T12:12:28.112" v="3" actId="1076"/>
          <ac:grpSpMkLst>
            <pc:docMk/>
            <pc:sldMk cId="1442971404" sldId="314"/>
            <ac:grpSpMk id="166" creationId="{90E68FC8-B2E8-A3E6-76F9-FCE1B25EACDB}"/>
          </ac:grpSpMkLst>
        </pc:grpChg>
      </pc:sldChg>
    </pc:docChg>
  </pc:docChgLst>
  <pc:docChgLst>
    <pc:chgData name="Vijaya Lakshmi Potturu" userId="S::vipottur@microsoft.com::ab89b8d3-2bd0-4a9f-8450-d506400c1706" providerId="AD" clId="Web-{373CB9E2-598B-2557-A6A3-676C401C6CAD}"/>
    <pc:docChg chg="modSld">
      <pc:chgData name="Vijaya Lakshmi Potturu" userId="S::vipottur@microsoft.com::ab89b8d3-2bd0-4a9f-8450-d506400c1706" providerId="AD" clId="Web-{373CB9E2-598B-2557-A6A3-676C401C6CAD}" dt="2025-06-21T07:04:16.759" v="3" actId="14100"/>
      <pc:docMkLst>
        <pc:docMk/>
      </pc:docMkLst>
      <pc:sldChg chg="modSp">
        <pc:chgData name="Vijaya Lakshmi Potturu" userId="S::vipottur@microsoft.com::ab89b8d3-2bd0-4a9f-8450-d506400c1706" providerId="AD" clId="Web-{373CB9E2-598B-2557-A6A3-676C401C6CAD}" dt="2025-06-21T07:04:16.759" v="3" actId="14100"/>
        <pc:sldMkLst>
          <pc:docMk/>
          <pc:sldMk cId="1127460738" sldId="293"/>
        </pc:sldMkLst>
        <pc:spChg chg="mod">
          <ac:chgData name="Vijaya Lakshmi Potturu" userId="S::vipottur@microsoft.com::ab89b8d3-2bd0-4a9f-8450-d506400c1706" providerId="AD" clId="Web-{373CB9E2-598B-2557-A6A3-676C401C6CAD}" dt="2025-06-21T07:04:03.884" v="0" actId="20577"/>
          <ac:spMkLst>
            <pc:docMk/>
            <pc:sldMk cId="1127460738" sldId="293"/>
            <ac:spMk id="2" creationId="{BB0450F1-711A-1DBF-42FD-ECEE379221C9}"/>
          </ac:spMkLst>
        </pc:spChg>
        <pc:picChg chg="mod">
          <ac:chgData name="Vijaya Lakshmi Potturu" userId="S::vipottur@microsoft.com::ab89b8d3-2bd0-4a9f-8450-d506400c1706" providerId="AD" clId="Web-{373CB9E2-598B-2557-A6A3-676C401C6CAD}" dt="2025-06-21T07:04:16.759" v="3" actId="14100"/>
          <ac:picMkLst>
            <pc:docMk/>
            <pc:sldMk cId="1127460738" sldId="293"/>
            <ac:picMk id="3074" creationId="{92DC4417-F118-1B3C-1A3A-2CF57CAEAF6D}"/>
          </ac:picMkLst>
        </pc:picChg>
      </pc:sldChg>
    </pc:docChg>
  </pc:docChgLst>
  <pc:docChgLst>
    <pc:chgData name="Mahi Sundararajan" userId="1319c946-a83f-4def-8c00-c7c406a5fa35" providerId="ADAL" clId="{AA23DB53-7A6D-4607-99DF-55A84020DA67}"/>
    <pc:docChg chg="delSld">
      <pc:chgData name="Mahi Sundararajan" userId="1319c946-a83f-4def-8c00-c7c406a5fa35" providerId="ADAL" clId="{AA23DB53-7A6D-4607-99DF-55A84020DA67}" dt="2025-05-30T17:00:01.337" v="1" actId="47"/>
      <pc:docMkLst>
        <pc:docMk/>
      </pc:docMkLst>
      <pc:sldChg chg="del">
        <pc:chgData name="Mahi Sundararajan" userId="1319c946-a83f-4def-8c00-c7c406a5fa35" providerId="ADAL" clId="{AA23DB53-7A6D-4607-99DF-55A84020DA67}" dt="2025-05-30T17:00:01.337" v="1" actId="47"/>
        <pc:sldMkLst>
          <pc:docMk/>
          <pc:sldMk cId="1385431110" sldId="263"/>
        </pc:sldMkLst>
      </pc:sldChg>
      <pc:sldChg chg="del">
        <pc:chgData name="Mahi Sundararajan" userId="1319c946-a83f-4def-8c00-c7c406a5fa35" providerId="ADAL" clId="{AA23DB53-7A6D-4607-99DF-55A84020DA67}" dt="2025-05-30T17:00:01.337" v="1" actId="47"/>
        <pc:sldMkLst>
          <pc:docMk/>
          <pc:sldMk cId="3996308554" sldId="264"/>
        </pc:sldMkLst>
      </pc:sldChg>
      <pc:sldChg chg="del">
        <pc:chgData name="Mahi Sundararajan" userId="1319c946-a83f-4def-8c00-c7c406a5fa35" providerId="ADAL" clId="{AA23DB53-7A6D-4607-99DF-55A84020DA67}" dt="2025-05-30T17:00:01.337" v="1" actId="47"/>
        <pc:sldMkLst>
          <pc:docMk/>
          <pc:sldMk cId="4145703054" sldId="265"/>
        </pc:sldMkLst>
      </pc:sldChg>
      <pc:sldChg chg="del">
        <pc:chgData name="Mahi Sundararajan" userId="1319c946-a83f-4def-8c00-c7c406a5fa35" providerId="ADAL" clId="{AA23DB53-7A6D-4607-99DF-55A84020DA67}" dt="2025-05-30T17:00:01.337" v="1" actId="47"/>
        <pc:sldMkLst>
          <pc:docMk/>
          <pc:sldMk cId="3977638465" sldId="266"/>
        </pc:sldMkLst>
      </pc:sldChg>
      <pc:sldChg chg="del">
        <pc:chgData name="Mahi Sundararajan" userId="1319c946-a83f-4def-8c00-c7c406a5fa35" providerId="ADAL" clId="{AA23DB53-7A6D-4607-99DF-55A84020DA67}" dt="2025-05-30T17:00:01.337" v="1" actId="47"/>
        <pc:sldMkLst>
          <pc:docMk/>
          <pc:sldMk cId="1660683684" sldId="272"/>
        </pc:sldMkLst>
      </pc:sldChg>
      <pc:sldChg chg="del">
        <pc:chgData name="Mahi Sundararajan" userId="1319c946-a83f-4def-8c00-c7c406a5fa35" providerId="ADAL" clId="{AA23DB53-7A6D-4607-99DF-55A84020DA67}" dt="2025-05-30T17:00:01.337" v="1" actId="47"/>
        <pc:sldMkLst>
          <pc:docMk/>
          <pc:sldMk cId="2658098196" sldId="277"/>
        </pc:sldMkLst>
      </pc:sldChg>
      <pc:sldChg chg="del">
        <pc:chgData name="Mahi Sundararajan" userId="1319c946-a83f-4def-8c00-c7c406a5fa35" providerId="ADAL" clId="{AA23DB53-7A6D-4607-99DF-55A84020DA67}" dt="2025-05-30T17:00:01.337" v="1" actId="47"/>
        <pc:sldMkLst>
          <pc:docMk/>
          <pc:sldMk cId="1116137402" sldId="278"/>
        </pc:sldMkLst>
      </pc:sldChg>
      <pc:sldChg chg="del">
        <pc:chgData name="Mahi Sundararajan" userId="1319c946-a83f-4def-8c00-c7c406a5fa35" providerId="ADAL" clId="{AA23DB53-7A6D-4607-99DF-55A84020DA67}" dt="2025-05-30T17:00:01.337" v="1" actId="47"/>
        <pc:sldMkLst>
          <pc:docMk/>
          <pc:sldMk cId="2079012354" sldId="279"/>
        </pc:sldMkLst>
      </pc:sldChg>
      <pc:sldChg chg="del">
        <pc:chgData name="Mahi Sundararajan" userId="1319c946-a83f-4def-8c00-c7c406a5fa35" providerId="ADAL" clId="{AA23DB53-7A6D-4607-99DF-55A84020DA67}" dt="2025-05-30T17:00:01.337" v="1" actId="47"/>
        <pc:sldMkLst>
          <pc:docMk/>
          <pc:sldMk cId="984083080" sldId="280"/>
        </pc:sldMkLst>
      </pc:sldChg>
      <pc:sldChg chg="del">
        <pc:chgData name="Mahi Sundararajan" userId="1319c946-a83f-4def-8c00-c7c406a5fa35" providerId="ADAL" clId="{AA23DB53-7A6D-4607-99DF-55A84020DA67}" dt="2025-05-30T17:00:01.337" v="1" actId="47"/>
        <pc:sldMkLst>
          <pc:docMk/>
          <pc:sldMk cId="596524640" sldId="2065"/>
        </pc:sldMkLst>
      </pc:sldChg>
      <pc:sldChg chg="del">
        <pc:chgData name="Mahi Sundararajan" userId="1319c946-a83f-4def-8c00-c7c406a5fa35" providerId="ADAL" clId="{AA23DB53-7A6D-4607-99DF-55A84020DA67}" dt="2025-05-30T17:00:01.337" v="1" actId="47"/>
        <pc:sldMkLst>
          <pc:docMk/>
          <pc:sldMk cId="1398734143" sldId="2066"/>
        </pc:sldMkLst>
      </pc:sldChg>
      <pc:sldChg chg="del">
        <pc:chgData name="Mahi Sundararajan" userId="1319c946-a83f-4def-8c00-c7c406a5fa35" providerId="ADAL" clId="{AA23DB53-7A6D-4607-99DF-55A84020DA67}" dt="2025-05-30T17:00:01.337" v="1" actId="47"/>
        <pc:sldMkLst>
          <pc:docMk/>
          <pc:sldMk cId="2382552501" sldId="4478"/>
        </pc:sldMkLst>
      </pc:sldChg>
      <pc:sldChg chg="del">
        <pc:chgData name="Mahi Sundararajan" userId="1319c946-a83f-4def-8c00-c7c406a5fa35" providerId="ADAL" clId="{AA23DB53-7A6D-4607-99DF-55A84020DA67}" dt="2025-05-30T17:00:01.337" v="1" actId="47"/>
        <pc:sldMkLst>
          <pc:docMk/>
          <pc:sldMk cId="1168219790" sldId="4479"/>
        </pc:sldMkLst>
      </pc:sldChg>
      <pc:sldChg chg="del">
        <pc:chgData name="Mahi Sundararajan" userId="1319c946-a83f-4def-8c00-c7c406a5fa35" providerId="ADAL" clId="{AA23DB53-7A6D-4607-99DF-55A84020DA67}" dt="2025-05-30T17:00:01.337" v="1" actId="47"/>
        <pc:sldMkLst>
          <pc:docMk/>
          <pc:sldMk cId="2297312889" sldId="4480"/>
        </pc:sldMkLst>
      </pc:sldChg>
      <pc:sldChg chg="del">
        <pc:chgData name="Mahi Sundararajan" userId="1319c946-a83f-4def-8c00-c7c406a5fa35" providerId="ADAL" clId="{AA23DB53-7A6D-4607-99DF-55A84020DA67}" dt="2025-05-30T17:00:01.337" v="1" actId="47"/>
        <pc:sldMkLst>
          <pc:docMk/>
          <pc:sldMk cId="695900476" sldId="4481"/>
        </pc:sldMkLst>
      </pc:sldChg>
      <pc:sldChg chg="del">
        <pc:chgData name="Mahi Sundararajan" userId="1319c946-a83f-4def-8c00-c7c406a5fa35" providerId="ADAL" clId="{AA23DB53-7A6D-4607-99DF-55A84020DA67}" dt="2025-05-30T17:00:01.337" v="1" actId="47"/>
        <pc:sldMkLst>
          <pc:docMk/>
          <pc:sldMk cId="1028115571" sldId="4482"/>
        </pc:sldMkLst>
      </pc:sldChg>
      <pc:sldChg chg="del">
        <pc:chgData name="Mahi Sundararajan" userId="1319c946-a83f-4def-8c00-c7c406a5fa35" providerId="ADAL" clId="{AA23DB53-7A6D-4607-99DF-55A84020DA67}" dt="2025-05-30T17:00:01.337" v="1" actId="47"/>
        <pc:sldMkLst>
          <pc:docMk/>
          <pc:sldMk cId="644073378" sldId="4483"/>
        </pc:sldMkLst>
      </pc:sldChg>
      <pc:sldChg chg="del">
        <pc:chgData name="Mahi Sundararajan" userId="1319c946-a83f-4def-8c00-c7c406a5fa35" providerId="ADAL" clId="{AA23DB53-7A6D-4607-99DF-55A84020DA67}" dt="2025-05-30T17:00:01.337" v="1" actId="47"/>
        <pc:sldMkLst>
          <pc:docMk/>
          <pc:sldMk cId="239421901" sldId="4484"/>
        </pc:sldMkLst>
      </pc:sldChg>
      <pc:sldChg chg="del">
        <pc:chgData name="Mahi Sundararajan" userId="1319c946-a83f-4def-8c00-c7c406a5fa35" providerId="ADAL" clId="{AA23DB53-7A6D-4607-99DF-55A84020DA67}" dt="2025-05-30T17:00:01.337" v="1" actId="47"/>
        <pc:sldMkLst>
          <pc:docMk/>
          <pc:sldMk cId="1500392918" sldId="4485"/>
        </pc:sldMkLst>
      </pc:sldChg>
      <pc:sldChg chg="del">
        <pc:chgData name="Mahi Sundararajan" userId="1319c946-a83f-4def-8c00-c7c406a5fa35" providerId="ADAL" clId="{AA23DB53-7A6D-4607-99DF-55A84020DA67}" dt="2025-05-30T17:00:01.337" v="1" actId="47"/>
        <pc:sldMkLst>
          <pc:docMk/>
          <pc:sldMk cId="3907173977" sldId="4486"/>
        </pc:sldMkLst>
      </pc:sldChg>
      <pc:sldChg chg="del">
        <pc:chgData name="Mahi Sundararajan" userId="1319c946-a83f-4def-8c00-c7c406a5fa35" providerId="ADAL" clId="{AA23DB53-7A6D-4607-99DF-55A84020DA67}" dt="2025-05-30T17:00:01.337" v="1" actId="47"/>
        <pc:sldMkLst>
          <pc:docMk/>
          <pc:sldMk cId="44891446" sldId="4490"/>
        </pc:sldMkLst>
      </pc:sldChg>
      <pc:sldChg chg="del">
        <pc:chgData name="Mahi Sundararajan" userId="1319c946-a83f-4def-8c00-c7c406a5fa35" providerId="ADAL" clId="{AA23DB53-7A6D-4607-99DF-55A84020DA67}" dt="2025-05-30T17:00:01.337" v="1" actId="47"/>
        <pc:sldMkLst>
          <pc:docMk/>
          <pc:sldMk cId="61196204" sldId="2147469784"/>
        </pc:sldMkLst>
      </pc:sldChg>
      <pc:sldChg chg="del">
        <pc:chgData name="Mahi Sundararajan" userId="1319c946-a83f-4def-8c00-c7c406a5fa35" providerId="ADAL" clId="{AA23DB53-7A6D-4607-99DF-55A84020DA67}" dt="2025-05-30T17:00:01.337" v="1" actId="47"/>
        <pc:sldMkLst>
          <pc:docMk/>
          <pc:sldMk cId="615209057" sldId="2147469785"/>
        </pc:sldMkLst>
      </pc:sldChg>
      <pc:sldChg chg="del">
        <pc:chgData name="Mahi Sundararajan" userId="1319c946-a83f-4def-8c00-c7c406a5fa35" providerId="ADAL" clId="{AA23DB53-7A6D-4607-99DF-55A84020DA67}" dt="2025-05-30T17:00:01.337" v="1" actId="47"/>
        <pc:sldMkLst>
          <pc:docMk/>
          <pc:sldMk cId="3320859369" sldId="2147469786"/>
        </pc:sldMkLst>
      </pc:sldChg>
      <pc:sldChg chg="del">
        <pc:chgData name="Mahi Sundararajan" userId="1319c946-a83f-4def-8c00-c7c406a5fa35" providerId="ADAL" clId="{AA23DB53-7A6D-4607-99DF-55A84020DA67}" dt="2025-05-30T17:00:01.337" v="1" actId="47"/>
        <pc:sldMkLst>
          <pc:docMk/>
          <pc:sldMk cId="793519299" sldId="2147469787"/>
        </pc:sldMkLst>
      </pc:sldChg>
      <pc:sldChg chg="del">
        <pc:chgData name="Mahi Sundararajan" userId="1319c946-a83f-4def-8c00-c7c406a5fa35" providerId="ADAL" clId="{AA23DB53-7A6D-4607-99DF-55A84020DA67}" dt="2025-05-30T17:00:01.337" v="1" actId="47"/>
        <pc:sldMkLst>
          <pc:docMk/>
          <pc:sldMk cId="1750121600" sldId="2147469788"/>
        </pc:sldMkLst>
      </pc:sldChg>
      <pc:sldChg chg="del">
        <pc:chgData name="Mahi Sundararajan" userId="1319c946-a83f-4def-8c00-c7c406a5fa35" providerId="ADAL" clId="{AA23DB53-7A6D-4607-99DF-55A84020DA67}" dt="2025-05-30T17:00:01.337" v="1" actId="47"/>
        <pc:sldMkLst>
          <pc:docMk/>
          <pc:sldMk cId="3457369424" sldId="2147469790"/>
        </pc:sldMkLst>
      </pc:sldChg>
      <pc:sldChg chg="del">
        <pc:chgData name="Mahi Sundararajan" userId="1319c946-a83f-4def-8c00-c7c406a5fa35" providerId="ADAL" clId="{AA23DB53-7A6D-4607-99DF-55A84020DA67}" dt="2025-05-30T17:00:01.337" v="1" actId="47"/>
        <pc:sldMkLst>
          <pc:docMk/>
          <pc:sldMk cId="4064413298" sldId="2147469792"/>
        </pc:sldMkLst>
      </pc:sldChg>
      <pc:sldChg chg="del">
        <pc:chgData name="Mahi Sundararajan" userId="1319c946-a83f-4def-8c00-c7c406a5fa35" providerId="ADAL" clId="{AA23DB53-7A6D-4607-99DF-55A84020DA67}" dt="2025-05-30T17:00:01.337" v="1" actId="47"/>
        <pc:sldMkLst>
          <pc:docMk/>
          <pc:sldMk cId="682416994" sldId="2147469794"/>
        </pc:sldMkLst>
      </pc:sldChg>
      <pc:sldChg chg="del">
        <pc:chgData name="Mahi Sundararajan" userId="1319c946-a83f-4def-8c00-c7c406a5fa35" providerId="ADAL" clId="{AA23DB53-7A6D-4607-99DF-55A84020DA67}" dt="2025-05-30T17:00:01.337" v="1" actId="47"/>
        <pc:sldMkLst>
          <pc:docMk/>
          <pc:sldMk cId="3788446741" sldId="2147469798"/>
        </pc:sldMkLst>
      </pc:sldChg>
      <pc:sldChg chg="del">
        <pc:chgData name="Mahi Sundararajan" userId="1319c946-a83f-4def-8c00-c7c406a5fa35" providerId="ADAL" clId="{AA23DB53-7A6D-4607-99DF-55A84020DA67}" dt="2025-05-30T16:59:49.365" v="0" actId="47"/>
        <pc:sldMkLst>
          <pc:docMk/>
          <pc:sldMk cId="1504679980" sldId="2147469810"/>
        </pc:sldMkLst>
      </pc:sldChg>
      <pc:sldChg chg="del">
        <pc:chgData name="Mahi Sundararajan" userId="1319c946-a83f-4def-8c00-c7c406a5fa35" providerId="ADAL" clId="{AA23DB53-7A6D-4607-99DF-55A84020DA67}" dt="2025-05-30T17:00:01.337" v="1" actId="47"/>
        <pc:sldMkLst>
          <pc:docMk/>
          <pc:sldMk cId="859227491" sldId="2147469835"/>
        </pc:sldMkLst>
      </pc:sldChg>
      <pc:sldChg chg="del">
        <pc:chgData name="Mahi Sundararajan" userId="1319c946-a83f-4def-8c00-c7c406a5fa35" providerId="ADAL" clId="{AA23DB53-7A6D-4607-99DF-55A84020DA67}" dt="2025-05-30T17:00:01.337" v="1" actId="47"/>
        <pc:sldMkLst>
          <pc:docMk/>
          <pc:sldMk cId="3304016034" sldId="2147469836"/>
        </pc:sldMkLst>
      </pc:sldChg>
      <pc:sldChg chg="del">
        <pc:chgData name="Mahi Sundararajan" userId="1319c946-a83f-4def-8c00-c7c406a5fa35" providerId="ADAL" clId="{AA23DB53-7A6D-4607-99DF-55A84020DA67}" dt="2025-05-30T17:00:01.337" v="1" actId="47"/>
        <pc:sldMkLst>
          <pc:docMk/>
          <pc:sldMk cId="3906565222" sldId="2147469849"/>
        </pc:sldMkLst>
      </pc:sldChg>
      <pc:sldChg chg="del">
        <pc:chgData name="Mahi Sundararajan" userId="1319c946-a83f-4def-8c00-c7c406a5fa35" providerId="ADAL" clId="{AA23DB53-7A6D-4607-99DF-55A84020DA67}" dt="2025-05-30T17:00:01.337" v="1" actId="47"/>
        <pc:sldMkLst>
          <pc:docMk/>
          <pc:sldMk cId="3833674747" sldId="2147469853"/>
        </pc:sldMkLst>
      </pc:sldChg>
      <pc:sldChg chg="del">
        <pc:chgData name="Mahi Sundararajan" userId="1319c946-a83f-4def-8c00-c7c406a5fa35" providerId="ADAL" clId="{AA23DB53-7A6D-4607-99DF-55A84020DA67}" dt="2025-05-30T17:00:01.337" v="1" actId="47"/>
        <pc:sldMkLst>
          <pc:docMk/>
          <pc:sldMk cId="3096303819" sldId="2147469859"/>
        </pc:sldMkLst>
      </pc:sldChg>
      <pc:sldChg chg="del">
        <pc:chgData name="Mahi Sundararajan" userId="1319c946-a83f-4def-8c00-c7c406a5fa35" providerId="ADAL" clId="{AA23DB53-7A6D-4607-99DF-55A84020DA67}" dt="2025-05-30T17:00:01.337" v="1" actId="47"/>
        <pc:sldMkLst>
          <pc:docMk/>
          <pc:sldMk cId="3358395208" sldId="2147469864"/>
        </pc:sldMkLst>
      </pc:sldChg>
      <pc:sldChg chg="del">
        <pc:chgData name="Mahi Sundararajan" userId="1319c946-a83f-4def-8c00-c7c406a5fa35" providerId="ADAL" clId="{AA23DB53-7A6D-4607-99DF-55A84020DA67}" dt="2025-05-30T17:00:01.337" v="1" actId="47"/>
        <pc:sldMkLst>
          <pc:docMk/>
          <pc:sldMk cId="1590938168" sldId="2147469867"/>
        </pc:sldMkLst>
      </pc:sldChg>
      <pc:sldChg chg="del">
        <pc:chgData name="Mahi Sundararajan" userId="1319c946-a83f-4def-8c00-c7c406a5fa35" providerId="ADAL" clId="{AA23DB53-7A6D-4607-99DF-55A84020DA67}" dt="2025-05-30T17:00:01.337" v="1" actId="47"/>
        <pc:sldMkLst>
          <pc:docMk/>
          <pc:sldMk cId="591597269" sldId="2147469868"/>
        </pc:sldMkLst>
      </pc:sldChg>
      <pc:sldChg chg="del">
        <pc:chgData name="Mahi Sundararajan" userId="1319c946-a83f-4def-8c00-c7c406a5fa35" providerId="ADAL" clId="{AA23DB53-7A6D-4607-99DF-55A84020DA67}" dt="2025-05-30T17:00:01.337" v="1" actId="47"/>
        <pc:sldMkLst>
          <pc:docMk/>
          <pc:sldMk cId="4015218864" sldId="2147469872"/>
        </pc:sldMkLst>
      </pc:sldChg>
      <pc:sldChg chg="del">
        <pc:chgData name="Mahi Sundararajan" userId="1319c946-a83f-4def-8c00-c7c406a5fa35" providerId="ADAL" clId="{AA23DB53-7A6D-4607-99DF-55A84020DA67}" dt="2025-05-30T17:00:01.337" v="1" actId="47"/>
        <pc:sldMkLst>
          <pc:docMk/>
          <pc:sldMk cId="2635820762" sldId="2147469873"/>
        </pc:sldMkLst>
      </pc:sldChg>
      <pc:sldChg chg="del">
        <pc:chgData name="Mahi Sundararajan" userId="1319c946-a83f-4def-8c00-c7c406a5fa35" providerId="ADAL" clId="{AA23DB53-7A6D-4607-99DF-55A84020DA67}" dt="2025-05-30T17:00:01.337" v="1" actId="47"/>
        <pc:sldMkLst>
          <pc:docMk/>
          <pc:sldMk cId="2235235484" sldId="2147469875"/>
        </pc:sldMkLst>
      </pc:sldChg>
      <pc:sldChg chg="del">
        <pc:chgData name="Mahi Sundararajan" userId="1319c946-a83f-4def-8c00-c7c406a5fa35" providerId="ADAL" clId="{AA23DB53-7A6D-4607-99DF-55A84020DA67}" dt="2025-05-30T17:00:01.337" v="1" actId="47"/>
        <pc:sldMkLst>
          <pc:docMk/>
          <pc:sldMk cId="1497532563" sldId="2147469876"/>
        </pc:sldMkLst>
      </pc:sldChg>
      <pc:sldChg chg="del">
        <pc:chgData name="Mahi Sundararajan" userId="1319c946-a83f-4def-8c00-c7c406a5fa35" providerId="ADAL" clId="{AA23DB53-7A6D-4607-99DF-55A84020DA67}" dt="2025-05-30T17:00:01.337" v="1" actId="47"/>
        <pc:sldMkLst>
          <pc:docMk/>
          <pc:sldMk cId="522795473" sldId="2147469885"/>
        </pc:sldMkLst>
      </pc:sldChg>
      <pc:sldChg chg="del">
        <pc:chgData name="Mahi Sundararajan" userId="1319c946-a83f-4def-8c00-c7c406a5fa35" providerId="ADAL" clId="{AA23DB53-7A6D-4607-99DF-55A84020DA67}" dt="2025-05-30T17:00:01.337" v="1" actId="47"/>
        <pc:sldMkLst>
          <pc:docMk/>
          <pc:sldMk cId="1952507436" sldId="2147469886"/>
        </pc:sldMkLst>
      </pc:sldChg>
      <pc:sldChg chg="del">
        <pc:chgData name="Mahi Sundararajan" userId="1319c946-a83f-4def-8c00-c7c406a5fa35" providerId="ADAL" clId="{AA23DB53-7A6D-4607-99DF-55A84020DA67}" dt="2025-05-30T17:00:01.337" v="1" actId="47"/>
        <pc:sldMkLst>
          <pc:docMk/>
          <pc:sldMk cId="3592306970" sldId="2147469887"/>
        </pc:sldMkLst>
      </pc:sldChg>
      <pc:sldChg chg="del">
        <pc:chgData name="Mahi Sundararajan" userId="1319c946-a83f-4def-8c00-c7c406a5fa35" providerId="ADAL" clId="{AA23DB53-7A6D-4607-99DF-55A84020DA67}" dt="2025-05-30T17:00:01.337" v="1" actId="47"/>
        <pc:sldMkLst>
          <pc:docMk/>
          <pc:sldMk cId="3486580683" sldId="2147469888"/>
        </pc:sldMkLst>
      </pc:sldChg>
      <pc:sldChg chg="del">
        <pc:chgData name="Mahi Sundararajan" userId="1319c946-a83f-4def-8c00-c7c406a5fa35" providerId="ADAL" clId="{AA23DB53-7A6D-4607-99DF-55A84020DA67}" dt="2025-05-30T17:00:01.337" v="1" actId="47"/>
        <pc:sldMkLst>
          <pc:docMk/>
          <pc:sldMk cId="272191530" sldId="2147469900"/>
        </pc:sldMkLst>
      </pc:sldChg>
      <pc:sldChg chg="del">
        <pc:chgData name="Mahi Sundararajan" userId="1319c946-a83f-4def-8c00-c7c406a5fa35" providerId="ADAL" clId="{AA23DB53-7A6D-4607-99DF-55A84020DA67}" dt="2025-05-30T16:59:49.365" v="0" actId="47"/>
        <pc:sldMkLst>
          <pc:docMk/>
          <pc:sldMk cId="178267060" sldId="2147469907"/>
        </pc:sldMkLst>
      </pc:sldChg>
      <pc:sldChg chg="del">
        <pc:chgData name="Mahi Sundararajan" userId="1319c946-a83f-4def-8c00-c7c406a5fa35" providerId="ADAL" clId="{AA23DB53-7A6D-4607-99DF-55A84020DA67}" dt="2025-05-30T17:00:01.337" v="1" actId="47"/>
        <pc:sldMkLst>
          <pc:docMk/>
          <pc:sldMk cId="1440339225" sldId="2147469908"/>
        </pc:sldMkLst>
      </pc:sldChg>
    </pc:docChg>
  </pc:docChgLst>
  <pc:docChgLst>
    <pc:chgData name="Davide Antelmo" userId="1f1fcb73-8b7e-4958-bafa-7ca5b7500fe6" providerId="ADAL" clId="{6C827473-1E67-466E-9E9E-AF09CBF023B2}"/>
    <pc:docChg chg="modSld sldOrd">
      <pc:chgData name="Davide Antelmo" userId="1f1fcb73-8b7e-4958-bafa-7ca5b7500fe6" providerId="ADAL" clId="{6C827473-1E67-466E-9E9E-AF09CBF023B2}" dt="2025-05-30T07:10:25.903" v="1"/>
      <pc:docMkLst>
        <pc:docMk/>
      </pc:docMkLst>
      <pc:sldChg chg="ord">
        <pc:chgData name="Davide Antelmo" userId="1f1fcb73-8b7e-4958-bafa-7ca5b7500fe6" providerId="ADAL" clId="{6C827473-1E67-466E-9E9E-AF09CBF023B2}" dt="2025-05-30T07:10:25.903" v="1"/>
        <pc:sldMkLst>
          <pc:docMk/>
          <pc:sldMk cId="288778838" sldId="268"/>
        </pc:sldMkLst>
      </pc:sldChg>
    </pc:docChg>
  </pc:docChgLst>
  <pc:docChgLst>
    <pc:chgData name="Paulo Lacerda" userId="c1eac4de-4cbf-4fc7-b0c5-2b05e32a6229" providerId="ADAL" clId="{417DECDA-B91F-4B24-A93E-EDACC93F7E1C}"/>
    <pc:docChg chg="undo custSel modSld sldOrd">
      <pc:chgData name="Paulo Lacerda" userId="c1eac4de-4cbf-4fc7-b0c5-2b05e32a6229" providerId="ADAL" clId="{417DECDA-B91F-4B24-A93E-EDACC93F7E1C}" dt="2025-05-30T16:24:22.933" v="845" actId="1076"/>
      <pc:docMkLst>
        <pc:docMk/>
      </pc:docMkLst>
      <pc:sldChg chg="mod modShow">
        <pc:chgData name="Paulo Lacerda" userId="c1eac4de-4cbf-4fc7-b0c5-2b05e32a6229" providerId="ADAL" clId="{417DECDA-B91F-4B24-A93E-EDACC93F7E1C}" dt="2025-05-30T13:26:06.800" v="837" actId="729"/>
        <pc:sldMkLst>
          <pc:docMk/>
          <pc:sldMk cId="3716686714" sldId="284"/>
        </pc:sldMkLst>
      </pc:sldChg>
      <pc:sldChg chg="addSp delSp modSp mod ord delAnim modAnim modNotesTx">
        <pc:chgData name="Paulo Lacerda" userId="c1eac4de-4cbf-4fc7-b0c5-2b05e32a6229" providerId="ADAL" clId="{417DECDA-B91F-4B24-A93E-EDACC93F7E1C}" dt="2025-05-30T13:34:36.809" v="841" actId="207"/>
        <pc:sldMkLst>
          <pc:docMk/>
          <pc:sldMk cId="1442971404" sldId="314"/>
        </pc:sldMkLst>
        <pc:spChg chg="topLvl">
          <ac:chgData name="Paulo Lacerda" userId="c1eac4de-4cbf-4fc7-b0c5-2b05e32a6229" providerId="ADAL" clId="{417DECDA-B91F-4B24-A93E-EDACC93F7E1C}" dt="2025-05-30T12:42:49.508" v="276" actId="165"/>
          <ac:spMkLst>
            <pc:docMk/>
            <pc:sldMk cId="1442971404" sldId="314"/>
            <ac:spMk id="2" creationId="{9244D26B-0003-C055-E482-F7537CBDA9DE}"/>
          </ac:spMkLst>
        </pc:spChg>
        <pc:spChg chg="topLvl">
          <ac:chgData name="Paulo Lacerda" userId="c1eac4de-4cbf-4fc7-b0c5-2b05e32a6229" providerId="ADAL" clId="{417DECDA-B91F-4B24-A93E-EDACC93F7E1C}" dt="2025-05-30T12:42:49.508" v="276" actId="165"/>
          <ac:spMkLst>
            <pc:docMk/>
            <pc:sldMk cId="1442971404" sldId="314"/>
            <ac:spMk id="3" creationId="{79E2992E-3683-5BF4-AC4D-E4503A10955A}"/>
          </ac:spMkLst>
        </pc:spChg>
        <pc:spChg chg="add del mod">
          <ac:chgData name="Paulo Lacerda" userId="c1eac4de-4cbf-4fc7-b0c5-2b05e32a6229" providerId="ADAL" clId="{417DECDA-B91F-4B24-A93E-EDACC93F7E1C}" dt="2025-05-30T13:09:02.806" v="521" actId="478"/>
          <ac:spMkLst>
            <pc:docMk/>
            <pc:sldMk cId="1442971404" sldId="314"/>
            <ac:spMk id="6" creationId="{518AB16A-1F06-595F-5118-CCAD3B1DF051}"/>
          </ac:spMkLst>
        </pc:spChg>
        <pc:spChg chg="add del mod">
          <ac:chgData name="Paulo Lacerda" userId="c1eac4de-4cbf-4fc7-b0c5-2b05e32a6229" providerId="ADAL" clId="{417DECDA-B91F-4B24-A93E-EDACC93F7E1C}" dt="2025-05-30T12:41:22.022" v="229" actId="478"/>
          <ac:spMkLst>
            <pc:docMk/>
            <pc:sldMk cId="1442971404" sldId="314"/>
            <ac:spMk id="9" creationId="{7EC545C5-BF5B-6007-17B5-1731DAB292F1}"/>
          </ac:spMkLst>
        </pc:spChg>
        <pc:spChg chg="topLvl">
          <ac:chgData name="Paulo Lacerda" userId="c1eac4de-4cbf-4fc7-b0c5-2b05e32a6229" providerId="ADAL" clId="{417DECDA-B91F-4B24-A93E-EDACC93F7E1C}" dt="2025-05-30T12:42:49.508" v="276" actId="165"/>
          <ac:spMkLst>
            <pc:docMk/>
            <pc:sldMk cId="1442971404" sldId="314"/>
            <ac:spMk id="10" creationId="{13483946-007C-DBC0-8F50-7DACAF648943}"/>
          </ac:spMkLst>
        </pc:spChg>
        <pc:spChg chg="topLvl">
          <ac:chgData name="Paulo Lacerda" userId="c1eac4de-4cbf-4fc7-b0c5-2b05e32a6229" providerId="ADAL" clId="{417DECDA-B91F-4B24-A93E-EDACC93F7E1C}" dt="2025-05-30T12:42:49.508" v="276" actId="165"/>
          <ac:spMkLst>
            <pc:docMk/>
            <pc:sldMk cId="1442971404" sldId="314"/>
            <ac:spMk id="11" creationId="{93111AAD-1CD6-386D-51F7-8BE8A5592F62}"/>
          </ac:spMkLst>
        </pc:spChg>
        <pc:spChg chg="mod topLvl">
          <ac:chgData name="Paulo Lacerda" userId="c1eac4de-4cbf-4fc7-b0c5-2b05e32a6229" providerId="ADAL" clId="{417DECDA-B91F-4B24-A93E-EDACC93F7E1C}" dt="2025-05-30T13:06:48.642" v="437" actId="1076"/>
          <ac:spMkLst>
            <pc:docMk/>
            <pc:sldMk cId="1442971404" sldId="314"/>
            <ac:spMk id="12" creationId="{2CA66895-C627-1E5D-BD3F-F25A33006CB1}"/>
          </ac:spMkLst>
        </pc:spChg>
        <pc:spChg chg="del mod">
          <ac:chgData name="Paulo Lacerda" userId="c1eac4de-4cbf-4fc7-b0c5-2b05e32a6229" providerId="ADAL" clId="{417DECDA-B91F-4B24-A93E-EDACC93F7E1C}" dt="2025-05-30T12:40:55.423" v="226" actId="478"/>
          <ac:spMkLst>
            <pc:docMk/>
            <pc:sldMk cId="1442971404" sldId="314"/>
            <ac:spMk id="14" creationId="{8ECBA2F1-CCB9-59F5-9219-7F6FB5E3B92C}"/>
          </ac:spMkLst>
        </pc:spChg>
        <pc:spChg chg="del">
          <ac:chgData name="Paulo Lacerda" userId="c1eac4de-4cbf-4fc7-b0c5-2b05e32a6229" providerId="ADAL" clId="{417DECDA-B91F-4B24-A93E-EDACC93F7E1C}" dt="2025-05-30T12:43:23.382" v="280" actId="21"/>
          <ac:spMkLst>
            <pc:docMk/>
            <pc:sldMk cId="1442971404" sldId="314"/>
            <ac:spMk id="15" creationId="{5B654A5C-C9AE-E30F-5035-AFF8AE9E31B9}"/>
          </ac:spMkLst>
        </pc:spChg>
        <pc:spChg chg="mod">
          <ac:chgData name="Paulo Lacerda" userId="c1eac4de-4cbf-4fc7-b0c5-2b05e32a6229" providerId="ADAL" clId="{417DECDA-B91F-4B24-A93E-EDACC93F7E1C}" dt="2025-05-30T13:34:04.721" v="839" actId="1076"/>
          <ac:spMkLst>
            <pc:docMk/>
            <pc:sldMk cId="1442971404" sldId="314"/>
            <ac:spMk id="16" creationId="{28FE643F-0E70-677A-BA25-A8731B774DBF}"/>
          </ac:spMkLst>
        </pc:spChg>
        <pc:spChg chg="mod">
          <ac:chgData name="Paulo Lacerda" userId="c1eac4de-4cbf-4fc7-b0c5-2b05e32a6229" providerId="ADAL" clId="{417DECDA-B91F-4B24-A93E-EDACC93F7E1C}" dt="2025-05-30T13:16:58.279" v="686" actId="1036"/>
          <ac:spMkLst>
            <pc:docMk/>
            <pc:sldMk cId="1442971404" sldId="314"/>
            <ac:spMk id="17" creationId="{2E11294A-0009-35A2-FE6E-BB62569B6CDC}"/>
          </ac:spMkLst>
        </pc:spChg>
        <pc:spChg chg="mod topLvl">
          <ac:chgData name="Paulo Lacerda" userId="c1eac4de-4cbf-4fc7-b0c5-2b05e32a6229" providerId="ADAL" clId="{417DECDA-B91F-4B24-A93E-EDACC93F7E1C}" dt="2025-05-30T13:16:58.279" v="686" actId="1036"/>
          <ac:spMkLst>
            <pc:docMk/>
            <pc:sldMk cId="1442971404" sldId="314"/>
            <ac:spMk id="18" creationId="{6DA48FFF-5277-FC6B-91C2-107CF58E3B7A}"/>
          </ac:spMkLst>
        </pc:spChg>
        <pc:spChg chg="del mod topLvl">
          <ac:chgData name="Paulo Lacerda" userId="c1eac4de-4cbf-4fc7-b0c5-2b05e32a6229" providerId="ADAL" clId="{417DECDA-B91F-4B24-A93E-EDACC93F7E1C}" dt="2025-05-30T12:43:23.382" v="280" actId="21"/>
          <ac:spMkLst>
            <pc:docMk/>
            <pc:sldMk cId="1442971404" sldId="314"/>
            <ac:spMk id="19" creationId="{168EF620-9B94-7FC0-928E-AC456500D3F1}"/>
          </ac:spMkLst>
        </pc:spChg>
        <pc:spChg chg="add del mod">
          <ac:chgData name="Paulo Lacerda" userId="c1eac4de-4cbf-4fc7-b0c5-2b05e32a6229" providerId="ADAL" clId="{417DECDA-B91F-4B24-A93E-EDACC93F7E1C}" dt="2025-05-30T13:25:44.531" v="832" actId="478"/>
          <ac:spMkLst>
            <pc:docMk/>
            <pc:sldMk cId="1442971404" sldId="314"/>
            <ac:spMk id="22" creationId="{F0D27AE7-F16F-9639-A8B9-EE452BA6A27F}"/>
          </ac:spMkLst>
        </pc:spChg>
        <pc:spChg chg="add del mod">
          <ac:chgData name="Paulo Lacerda" userId="c1eac4de-4cbf-4fc7-b0c5-2b05e32a6229" providerId="ADAL" clId="{417DECDA-B91F-4B24-A93E-EDACC93F7E1C}" dt="2025-05-30T13:25:42.166" v="831" actId="478"/>
          <ac:spMkLst>
            <pc:docMk/>
            <pc:sldMk cId="1442971404" sldId="314"/>
            <ac:spMk id="23" creationId="{6E2C2C7B-8F9F-CF0A-0D33-FF0E35946CAA}"/>
          </ac:spMkLst>
        </pc:spChg>
        <pc:spChg chg="add del mod">
          <ac:chgData name="Paulo Lacerda" userId="c1eac4de-4cbf-4fc7-b0c5-2b05e32a6229" providerId="ADAL" clId="{417DECDA-B91F-4B24-A93E-EDACC93F7E1C}" dt="2025-05-30T12:43:23.382" v="280" actId="21"/>
          <ac:spMkLst>
            <pc:docMk/>
            <pc:sldMk cId="1442971404" sldId="314"/>
            <ac:spMk id="24" creationId="{7BD3279F-0BD3-806B-89CA-B36AE136487D}"/>
          </ac:spMkLst>
        </pc:spChg>
        <pc:spChg chg="del">
          <ac:chgData name="Paulo Lacerda" userId="c1eac4de-4cbf-4fc7-b0c5-2b05e32a6229" providerId="ADAL" clId="{417DECDA-B91F-4B24-A93E-EDACC93F7E1C}" dt="2025-05-30T12:42:29.759" v="270" actId="478"/>
          <ac:spMkLst>
            <pc:docMk/>
            <pc:sldMk cId="1442971404" sldId="314"/>
            <ac:spMk id="25" creationId="{EA1E579D-9A29-3D1B-DAD4-2B02174F42AF}"/>
          </ac:spMkLst>
        </pc:spChg>
        <pc:spChg chg="del mod">
          <ac:chgData name="Paulo Lacerda" userId="c1eac4de-4cbf-4fc7-b0c5-2b05e32a6229" providerId="ADAL" clId="{417DECDA-B91F-4B24-A93E-EDACC93F7E1C}" dt="2025-05-30T12:42:32.258" v="271" actId="478"/>
          <ac:spMkLst>
            <pc:docMk/>
            <pc:sldMk cId="1442971404" sldId="314"/>
            <ac:spMk id="26" creationId="{BC7EA405-A127-DF17-326C-811B20FD5109}"/>
          </ac:spMkLst>
        </pc:spChg>
        <pc:spChg chg="mod ord topLvl">
          <ac:chgData name="Paulo Lacerda" userId="c1eac4de-4cbf-4fc7-b0c5-2b05e32a6229" providerId="ADAL" clId="{417DECDA-B91F-4B24-A93E-EDACC93F7E1C}" dt="2025-05-30T13:22:35.216" v="813" actId="1076"/>
          <ac:spMkLst>
            <pc:docMk/>
            <pc:sldMk cId="1442971404" sldId="314"/>
            <ac:spMk id="27" creationId="{A74A0B6B-4F38-884D-4402-3740EB8B56E6}"/>
          </ac:spMkLst>
        </pc:spChg>
        <pc:spChg chg="mod">
          <ac:chgData name="Paulo Lacerda" userId="c1eac4de-4cbf-4fc7-b0c5-2b05e32a6229" providerId="ADAL" clId="{417DECDA-B91F-4B24-A93E-EDACC93F7E1C}" dt="2025-05-30T13:13:03.933" v="618" actId="1076"/>
          <ac:spMkLst>
            <pc:docMk/>
            <pc:sldMk cId="1442971404" sldId="314"/>
            <ac:spMk id="28" creationId="{7E91C033-226F-511A-3237-B066200016C6}"/>
          </ac:spMkLst>
        </pc:spChg>
        <pc:spChg chg="mod">
          <ac:chgData name="Paulo Lacerda" userId="c1eac4de-4cbf-4fc7-b0c5-2b05e32a6229" providerId="ADAL" clId="{417DECDA-B91F-4B24-A93E-EDACC93F7E1C}" dt="2025-05-30T13:13:12.955" v="619" actId="1076"/>
          <ac:spMkLst>
            <pc:docMk/>
            <pc:sldMk cId="1442971404" sldId="314"/>
            <ac:spMk id="29" creationId="{BDA369DC-D7C4-1D6B-50BE-5EFAC75E8769}"/>
          </ac:spMkLst>
        </pc:spChg>
        <pc:spChg chg="del mod topLvl">
          <ac:chgData name="Paulo Lacerda" userId="c1eac4de-4cbf-4fc7-b0c5-2b05e32a6229" providerId="ADAL" clId="{417DECDA-B91F-4B24-A93E-EDACC93F7E1C}" dt="2025-05-30T12:43:23.382" v="280" actId="21"/>
          <ac:spMkLst>
            <pc:docMk/>
            <pc:sldMk cId="1442971404" sldId="314"/>
            <ac:spMk id="30" creationId="{0C5B84B4-829C-4841-6A25-68311C5E54C1}"/>
          </ac:spMkLst>
        </pc:spChg>
        <pc:spChg chg="del mod topLvl">
          <ac:chgData name="Paulo Lacerda" userId="c1eac4de-4cbf-4fc7-b0c5-2b05e32a6229" providerId="ADAL" clId="{417DECDA-B91F-4B24-A93E-EDACC93F7E1C}" dt="2025-05-30T12:43:23.382" v="280" actId="21"/>
          <ac:spMkLst>
            <pc:docMk/>
            <pc:sldMk cId="1442971404" sldId="314"/>
            <ac:spMk id="31" creationId="{A62B60CA-6999-EF0A-480B-A4DC135FBC57}"/>
          </ac:spMkLst>
        </pc:spChg>
        <pc:spChg chg="mod topLvl">
          <ac:chgData name="Paulo Lacerda" userId="c1eac4de-4cbf-4fc7-b0c5-2b05e32a6229" providerId="ADAL" clId="{417DECDA-B91F-4B24-A93E-EDACC93F7E1C}" dt="2025-05-30T13:12:59.751" v="617" actId="1076"/>
          <ac:spMkLst>
            <pc:docMk/>
            <pc:sldMk cId="1442971404" sldId="314"/>
            <ac:spMk id="32" creationId="{0910B72E-9B8C-FC04-18AF-8BFEF725A123}"/>
          </ac:spMkLst>
        </pc:spChg>
        <pc:spChg chg="del">
          <ac:chgData name="Paulo Lacerda" userId="c1eac4de-4cbf-4fc7-b0c5-2b05e32a6229" providerId="ADAL" clId="{417DECDA-B91F-4B24-A93E-EDACC93F7E1C}" dt="2025-05-30T12:43:23.382" v="280" actId="21"/>
          <ac:spMkLst>
            <pc:docMk/>
            <pc:sldMk cId="1442971404" sldId="314"/>
            <ac:spMk id="33" creationId="{5635E169-A213-D808-F292-2AF9F3A8C39A}"/>
          </ac:spMkLst>
        </pc:spChg>
        <pc:spChg chg="del">
          <ac:chgData name="Paulo Lacerda" userId="c1eac4de-4cbf-4fc7-b0c5-2b05e32a6229" providerId="ADAL" clId="{417DECDA-B91F-4B24-A93E-EDACC93F7E1C}" dt="2025-05-30T12:17:52.577" v="23" actId="478"/>
          <ac:spMkLst>
            <pc:docMk/>
            <pc:sldMk cId="1442971404" sldId="314"/>
            <ac:spMk id="34" creationId="{6255D1F1-CD38-48B5-05AC-FA9FE46AA9D2}"/>
          </ac:spMkLst>
        </pc:spChg>
        <pc:spChg chg="del mod">
          <ac:chgData name="Paulo Lacerda" userId="c1eac4de-4cbf-4fc7-b0c5-2b05e32a6229" providerId="ADAL" clId="{417DECDA-B91F-4B24-A93E-EDACC93F7E1C}" dt="2025-05-30T12:41:40.600" v="237" actId="478"/>
          <ac:spMkLst>
            <pc:docMk/>
            <pc:sldMk cId="1442971404" sldId="314"/>
            <ac:spMk id="35" creationId="{1C5429D9-0772-11BB-32EC-69AE0E291310}"/>
          </ac:spMkLst>
        </pc:spChg>
        <pc:spChg chg="add mod">
          <ac:chgData name="Paulo Lacerda" userId="c1eac4de-4cbf-4fc7-b0c5-2b05e32a6229" providerId="ADAL" clId="{417DECDA-B91F-4B24-A93E-EDACC93F7E1C}" dt="2025-05-30T13:24:28.237" v="824" actId="1076"/>
          <ac:spMkLst>
            <pc:docMk/>
            <pc:sldMk cId="1442971404" sldId="314"/>
            <ac:spMk id="36" creationId="{108B1C2A-1F87-4586-5651-6C1E4C70259F}"/>
          </ac:spMkLst>
        </pc:spChg>
        <pc:spChg chg="add mod">
          <ac:chgData name="Paulo Lacerda" userId="c1eac4de-4cbf-4fc7-b0c5-2b05e32a6229" providerId="ADAL" clId="{417DECDA-B91F-4B24-A93E-EDACC93F7E1C}" dt="2025-05-30T13:08:49.232" v="518" actId="1036"/>
          <ac:spMkLst>
            <pc:docMk/>
            <pc:sldMk cId="1442971404" sldId="314"/>
            <ac:spMk id="37" creationId="{5B654A5C-C9AE-E30F-5035-AFF8AE9E31B9}"/>
          </ac:spMkLst>
        </pc:spChg>
        <pc:spChg chg="add mod">
          <ac:chgData name="Paulo Lacerda" userId="c1eac4de-4cbf-4fc7-b0c5-2b05e32a6229" providerId="ADAL" clId="{417DECDA-B91F-4B24-A93E-EDACC93F7E1C}" dt="2025-05-30T13:08:49.232" v="518" actId="1036"/>
          <ac:spMkLst>
            <pc:docMk/>
            <pc:sldMk cId="1442971404" sldId="314"/>
            <ac:spMk id="38" creationId="{168EF620-9B94-7FC0-928E-AC456500D3F1}"/>
          </ac:spMkLst>
        </pc:spChg>
        <pc:spChg chg="add mod">
          <ac:chgData name="Paulo Lacerda" userId="c1eac4de-4cbf-4fc7-b0c5-2b05e32a6229" providerId="ADAL" clId="{417DECDA-B91F-4B24-A93E-EDACC93F7E1C}" dt="2025-05-30T13:08:49.232" v="518" actId="1036"/>
          <ac:spMkLst>
            <pc:docMk/>
            <pc:sldMk cId="1442971404" sldId="314"/>
            <ac:spMk id="39" creationId="{0C5B84B4-829C-4841-6A25-68311C5E54C1}"/>
          </ac:spMkLst>
        </pc:spChg>
        <pc:spChg chg="mod topLvl">
          <ac:chgData name="Paulo Lacerda" userId="c1eac4de-4cbf-4fc7-b0c5-2b05e32a6229" providerId="ADAL" clId="{417DECDA-B91F-4B24-A93E-EDACC93F7E1C}" dt="2025-05-30T13:06:48.642" v="437" actId="1076"/>
          <ac:spMkLst>
            <pc:docMk/>
            <pc:sldMk cId="1442971404" sldId="314"/>
            <ac:spMk id="40" creationId="{58F48E52-4893-9656-37CA-D315BEE2EEA3}"/>
          </ac:spMkLst>
        </pc:spChg>
        <pc:spChg chg="add mod">
          <ac:chgData name="Paulo Lacerda" userId="c1eac4de-4cbf-4fc7-b0c5-2b05e32a6229" providerId="ADAL" clId="{417DECDA-B91F-4B24-A93E-EDACC93F7E1C}" dt="2025-05-30T13:08:49.232" v="518" actId="1036"/>
          <ac:spMkLst>
            <pc:docMk/>
            <pc:sldMk cId="1442971404" sldId="314"/>
            <ac:spMk id="42" creationId="{A62B60CA-6999-EF0A-480B-A4DC135FBC57}"/>
          </ac:spMkLst>
        </pc:spChg>
        <pc:spChg chg="add mod">
          <ac:chgData name="Paulo Lacerda" userId="c1eac4de-4cbf-4fc7-b0c5-2b05e32a6229" providerId="ADAL" clId="{417DECDA-B91F-4B24-A93E-EDACC93F7E1C}" dt="2025-05-30T13:08:43.461" v="504" actId="1035"/>
          <ac:spMkLst>
            <pc:docMk/>
            <pc:sldMk cId="1442971404" sldId="314"/>
            <ac:spMk id="44" creationId="{5635E169-A213-D808-F292-2AF9F3A8C39A}"/>
          </ac:spMkLst>
        </pc:spChg>
        <pc:spChg chg="add mod">
          <ac:chgData name="Paulo Lacerda" userId="c1eac4de-4cbf-4fc7-b0c5-2b05e32a6229" providerId="ADAL" clId="{417DECDA-B91F-4B24-A93E-EDACC93F7E1C}" dt="2025-05-30T13:08:49.232" v="518" actId="1036"/>
          <ac:spMkLst>
            <pc:docMk/>
            <pc:sldMk cId="1442971404" sldId="314"/>
            <ac:spMk id="49" creationId="{7BD3279F-0BD3-806B-89CA-B36AE136487D}"/>
          </ac:spMkLst>
        </pc:spChg>
        <pc:spChg chg="add mod">
          <ac:chgData name="Paulo Lacerda" userId="c1eac4de-4cbf-4fc7-b0c5-2b05e32a6229" providerId="ADAL" clId="{417DECDA-B91F-4B24-A93E-EDACC93F7E1C}" dt="2025-05-30T13:19:03.787" v="698" actId="1076"/>
          <ac:spMkLst>
            <pc:docMk/>
            <pc:sldMk cId="1442971404" sldId="314"/>
            <ac:spMk id="50" creationId="{1BD7405B-642F-DBE8-26C8-5E652444A8BE}"/>
          </ac:spMkLst>
        </pc:spChg>
        <pc:spChg chg="add mod">
          <ac:chgData name="Paulo Lacerda" userId="c1eac4de-4cbf-4fc7-b0c5-2b05e32a6229" providerId="ADAL" clId="{417DECDA-B91F-4B24-A93E-EDACC93F7E1C}" dt="2025-05-30T13:11:32.480" v="569" actId="1076"/>
          <ac:spMkLst>
            <pc:docMk/>
            <pc:sldMk cId="1442971404" sldId="314"/>
            <ac:spMk id="52" creationId="{E8BF8166-C7A6-58B1-2B66-F48CFB78A77E}"/>
          </ac:spMkLst>
        </pc:spChg>
        <pc:spChg chg="add mod">
          <ac:chgData name="Paulo Lacerda" userId="c1eac4de-4cbf-4fc7-b0c5-2b05e32a6229" providerId="ADAL" clId="{417DECDA-B91F-4B24-A93E-EDACC93F7E1C}" dt="2025-05-30T13:12:00.270" v="605" actId="20577"/>
          <ac:spMkLst>
            <pc:docMk/>
            <pc:sldMk cId="1442971404" sldId="314"/>
            <ac:spMk id="54" creationId="{E196808D-071C-E6D8-D2C7-CE284446A35E}"/>
          </ac:spMkLst>
        </pc:spChg>
        <pc:spChg chg="add mod">
          <ac:chgData name="Paulo Lacerda" userId="c1eac4de-4cbf-4fc7-b0c5-2b05e32a6229" providerId="ADAL" clId="{417DECDA-B91F-4B24-A93E-EDACC93F7E1C}" dt="2025-05-30T13:10:19.783" v="542"/>
          <ac:spMkLst>
            <pc:docMk/>
            <pc:sldMk cId="1442971404" sldId="314"/>
            <ac:spMk id="56" creationId="{2B9E46C2-5BDC-F2D9-EDF5-56FA625220D8}"/>
          </ac:spMkLst>
        </pc:spChg>
        <pc:spChg chg="add mod">
          <ac:chgData name="Paulo Lacerda" userId="c1eac4de-4cbf-4fc7-b0c5-2b05e32a6229" providerId="ADAL" clId="{417DECDA-B91F-4B24-A93E-EDACC93F7E1C}" dt="2025-05-30T13:19:46.713" v="727" actId="20577"/>
          <ac:spMkLst>
            <pc:docMk/>
            <pc:sldMk cId="1442971404" sldId="314"/>
            <ac:spMk id="59" creationId="{64565C5A-02C2-B249-09FB-A86369CC8728}"/>
          </ac:spMkLst>
        </pc:spChg>
        <pc:spChg chg="del mod topLvl">
          <ac:chgData name="Paulo Lacerda" userId="c1eac4de-4cbf-4fc7-b0c5-2b05e32a6229" providerId="ADAL" clId="{417DECDA-B91F-4B24-A93E-EDACC93F7E1C}" dt="2025-05-30T13:08:02.277" v="449" actId="478"/>
          <ac:spMkLst>
            <pc:docMk/>
            <pc:sldMk cId="1442971404" sldId="314"/>
            <ac:spMk id="60" creationId="{69FA936E-604C-6263-AC5B-E58C5B3EC27B}"/>
          </ac:spMkLst>
        </pc:spChg>
        <pc:spChg chg="del">
          <ac:chgData name="Paulo Lacerda" userId="c1eac4de-4cbf-4fc7-b0c5-2b05e32a6229" providerId="ADAL" clId="{417DECDA-B91F-4B24-A93E-EDACC93F7E1C}" dt="2025-05-30T12:39:52.884" v="214" actId="478"/>
          <ac:spMkLst>
            <pc:docMk/>
            <pc:sldMk cId="1442971404" sldId="314"/>
            <ac:spMk id="62" creationId="{B3728477-B9FE-CC66-53D2-C97419413495}"/>
          </ac:spMkLst>
        </pc:spChg>
        <pc:spChg chg="add mod">
          <ac:chgData name="Paulo Lacerda" userId="c1eac4de-4cbf-4fc7-b0c5-2b05e32a6229" providerId="ADAL" clId="{417DECDA-B91F-4B24-A93E-EDACC93F7E1C}" dt="2025-05-30T13:12:15.204" v="607"/>
          <ac:spMkLst>
            <pc:docMk/>
            <pc:sldMk cId="1442971404" sldId="314"/>
            <ac:spMk id="63" creationId="{B8C55FE6-CE8C-45BE-F85C-2BD9AA175DED}"/>
          </ac:spMkLst>
        </pc:spChg>
        <pc:spChg chg="del mod">
          <ac:chgData name="Paulo Lacerda" userId="c1eac4de-4cbf-4fc7-b0c5-2b05e32a6229" providerId="ADAL" clId="{417DECDA-B91F-4B24-A93E-EDACC93F7E1C}" dt="2025-05-30T12:39:52.884" v="214" actId="478"/>
          <ac:spMkLst>
            <pc:docMk/>
            <pc:sldMk cId="1442971404" sldId="314"/>
            <ac:spMk id="64" creationId="{E23D68C4-1A10-47E2-7ECF-B387C7A93F09}"/>
          </ac:spMkLst>
        </pc:spChg>
        <pc:spChg chg="del mod topLvl">
          <ac:chgData name="Paulo Lacerda" userId="c1eac4de-4cbf-4fc7-b0c5-2b05e32a6229" providerId="ADAL" clId="{417DECDA-B91F-4B24-A93E-EDACC93F7E1C}" dt="2025-05-30T13:25:46.590" v="833" actId="478"/>
          <ac:spMkLst>
            <pc:docMk/>
            <pc:sldMk cId="1442971404" sldId="314"/>
            <ac:spMk id="65" creationId="{33905B15-9120-3F3C-C965-301FE064BB15}"/>
          </ac:spMkLst>
        </pc:spChg>
        <pc:spChg chg="del mod">
          <ac:chgData name="Paulo Lacerda" userId="c1eac4de-4cbf-4fc7-b0c5-2b05e32a6229" providerId="ADAL" clId="{417DECDA-B91F-4B24-A93E-EDACC93F7E1C}" dt="2025-05-30T12:46:37.392" v="346" actId="478"/>
          <ac:spMkLst>
            <pc:docMk/>
            <pc:sldMk cId="1442971404" sldId="314"/>
            <ac:spMk id="66" creationId="{62DEA01C-5663-C2F7-268E-E545D2C179F6}"/>
          </ac:spMkLst>
        </pc:spChg>
        <pc:spChg chg="add mod">
          <ac:chgData name="Paulo Lacerda" userId="c1eac4de-4cbf-4fc7-b0c5-2b05e32a6229" providerId="ADAL" clId="{417DECDA-B91F-4B24-A93E-EDACC93F7E1C}" dt="2025-05-30T13:21:46.422" v="792" actId="1076"/>
          <ac:spMkLst>
            <pc:docMk/>
            <pc:sldMk cId="1442971404" sldId="314"/>
            <ac:spMk id="68" creationId="{A7D81461-780C-F010-F39C-48B848616E29}"/>
          </ac:spMkLst>
        </pc:spChg>
        <pc:spChg chg="add mod">
          <ac:chgData name="Paulo Lacerda" userId="c1eac4de-4cbf-4fc7-b0c5-2b05e32a6229" providerId="ADAL" clId="{417DECDA-B91F-4B24-A93E-EDACC93F7E1C}" dt="2025-05-30T13:25:52.314" v="834" actId="1076"/>
          <ac:spMkLst>
            <pc:docMk/>
            <pc:sldMk cId="1442971404" sldId="314"/>
            <ac:spMk id="70" creationId="{46F41ADE-0841-FF6C-6AC3-CA780FB02FAC}"/>
          </ac:spMkLst>
        </pc:spChg>
        <pc:spChg chg="add mod">
          <ac:chgData name="Paulo Lacerda" userId="c1eac4de-4cbf-4fc7-b0c5-2b05e32a6229" providerId="ADAL" clId="{417DECDA-B91F-4B24-A93E-EDACC93F7E1C}" dt="2025-05-30T13:13:38.432" v="624"/>
          <ac:spMkLst>
            <pc:docMk/>
            <pc:sldMk cId="1442971404" sldId="314"/>
            <ac:spMk id="73" creationId="{DBBE6017-EC15-7669-355B-C4C00CA9A9F9}"/>
          </ac:spMkLst>
        </pc:spChg>
        <pc:spChg chg="add mod">
          <ac:chgData name="Paulo Lacerda" userId="c1eac4de-4cbf-4fc7-b0c5-2b05e32a6229" providerId="ADAL" clId="{417DECDA-B91F-4B24-A93E-EDACC93F7E1C}" dt="2025-05-30T13:25:05.366" v="827" actId="20577"/>
          <ac:spMkLst>
            <pc:docMk/>
            <pc:sldMk cId="1442971404" sldId="314"/>
            <ac:spMk id="74" creationId="{5886C0D8-DFB1-82CC-774E-A07B8B02CD05}"/>
          </ac:spMkLst>
        </pc:spChg>
        <pc:spChg chg="add del mod">
          <ac:chgData name="Paulo Lacerda" userId="c1eac4de-4cbf-4fc7-b0c5-2b05e32a6229" providerId="ADAL" clId="{417DECDA-B91F-4B24-A93E-EDACC93F7E1C}" dt="2025-05-30T13:22:27.337" v="811" actId="478"/>
          <ac:spMkLst>
            <pc:docMk/>
            <pc:sldMk cId="1442971404" sldId="314"/>
            <ac:spMk id="77" creationId="{A19448A1-2675-9805-BEF6-C7B60822C097}"/>
          </ac:spMkLst>
        </pc:spChg>
        <pc:spChg chg="add del mod">
          <ac:chgData name="Paulo Lacerda" userId="c1eac4de-4cbf-4fc7-b0c5-2b05e32a6229" providerId="ADAL" clId="{417DECDA-B91F-4B24-A93E-EDACC93F7E1C}" dt="2025-05-30T13:25:13.167" v="828" actId="478"/>
          <ac:spMkLst>
            <pc:docMk/>
            <pc:sldMk cId="1442971404" sldId="314"/>
            <ac:spMk id="90" creationId="{2D65B12A-BFA5-F85D-4726-9D43E5AA788F}"/>
          </ac:spMkLst>
        </pc:spChg>
        <pc:spChg chg="add mod">
          <ac:chgData name="Paulo Lacerda" userId="c1eac4de-4cbf-4fc7-b0c5-2b05e32a6229" providerId="ADAL" clId="{417DECDA-B91F-4B24-A93E-EDACC93F7E1C}" dt="2025-05-30T13:19:28.411" v="705"/>
          <ac:spMkLst>
            <pc:docMk/>
            <pc:sldMk cId="1442971404" sldId="314"/>
            <ac:spMk id="92" creationId="{83E9CE44-8C6B-6040-AC02-4D164FB6FD5D}"/>
          </ac:spMkLst>
        </pc:spChg>
        <pc:grpChg chg="topLvl">
          <ac:chgData name="Paulo Lacerda" userId="c1eac4de-4cbf-4fc7-b0c5-2b05e32a6229" providerId="ADAL" clId="{417DECDA-B91F-4B24-A93E-EDACC93F7E1C}" dt="2025-05-30T12:42:49.508" v="276" actId="165"/>
          <ac:grpSpMkLst>
            <pc:docMk/>
            <pc:sldMk cId="1442971404" sldId="314"/>
            <ac:grpSpMk id="88" creationId="{C48C90B1-0CCB-631B-1F35-4A48C16E23E2}"/>
          </ac:grpSpMkLst>
        </pc:grpChg>
        <pc:grpChg chg="del">
          <ac:chgData name="Paulo Lacerda" userId="c1eac4de-4cbf-4fc7-b0c5-2b05e32a6229" providerId="ADAL" clId="{417DECDA-B91F-4B24-A93E-EDACC93F7E1C}" dt="2025-05-30T12:42:49.508" v="276" actId="165"/>
          <ac:grpSpMkLst>
            <pc:docMk/>
            <pc:sldMk cId="1442971404" sldId="314"/>
            <ac:grpSpMk id="89" creationId="{3A57DCAF-E8AA-3F74-FBE5-518BB9C92D84}"/>
          </ac:grpSpMkLst>
        </pc:grpChg>
        <pc:grpChg chg="del">
          <ac:chgData name="Paulo Lacerda" userId="c1eac4de-4cbf-4fc7-b0c5-2b05e32a6229" providerId="ADAL" clId="{417DECDA-B91F-4B24-A93E-EDACC93F7E1C}" dt="2025-05-30T12:42:49.508" v="276" actId="165"/>
          <ac:grpSpMkLst>
            <pc:docMk/>
            <pc:sldMk cId="1442971404" sldId="314"/>
            <ac:grpSpMk id="91" creationId="{5D5C993B-2B67-BAA9-F114-5BB6AF554039}"/>
          </ac:grpSpMkLst>
        </pc:grpChg>
        <pc:grpChg chg="add del">
          <ac:chgData name="Paulo Lacerda" userId="c1eac4de-4cbf-4fc7-b0c5-2b05e32a6229" providerId="ADAL" clId="{417DECDA-B91F-4B24-A93E-EDACC93F7E1C}" dt="2025-05-30T12:42:49.508" v="276" actId="165"/>
          <ac:grpSpMkLst>
            <pc:docMk/>
            <pc:sldMk cId="1442971404" sldId="314"/>
            <ac:grpSpMk id="166" creationId="{90E68FC8-B2E8-A3E6-76F9-FCE1B25EACDB}"/>
          </ac:grpSpMkLst>
        </pc:grpChg>
        <pc:picChg chg="add mod ord">
          <ac:chgData name="Paulo Lacerda" userId="c1eac4de-4cbf-4fc7-b0c5-2b05e32a6229" providerId="ADAL" clId="{417DECDA-B91F-4B24-A93E-EDACC93F7E1C}" dt="2025-05-30T13:22:35.216" v="813" actId="1076"/>
          <ac:picMkLst>
            <pc:docMk/>
            <pc:sldMk cId="1442971404" sldId="314"/>
            <ac:picMk id="4" creationId="{EA7ADF96-56D5-9EAF-4271-54E2455A0B79}"/>
          </ac:picMkLst>
        </pc:picChg>
        <pc:picChg chg="add mod">
          <ac:chgData name="Paulo Lacerda" userId="c1eac4de-4cbf-4fc7-b0c5-2b05e32a6229" providerId="ADAL" clId="{417DECDA-B91F-4B24-A93E-EDACC93F7E1C}" dt="2025-05-30T13:13:03.933" v="618" actId="1076"/>
          <ac:picMkLst>
            <pc:docMk/>
            <pc:sldMk cId="1442971404" sldId="314"/>
            <ac:picMk id="7" creationId="{DA19D7A4-3167-850F-008B-83C37DB16399}"/>
          </ac:picMkLst>
        </pc:picChg>
        <pc:picChg chg="add mod">
          <ac:chgData name="Paulo Lacerda" userId="c1eac4de-4cbf-4fc7-b0c5-2b05e32a6229" providerId="ADAL" clId="{417DECDA-B91F-4B24-A93E-EDACC93F7E1C}" dt="2025-05-30T13:16:58.279" v="686" actId="1036"/>
          <ac:picMkLst>
            <pc:docMk/>
            <pc:sldMk cId="1442971404" sldId="314"/>
            <ac:picMk id="8" creationId="{C60A11EC-7DB3-BABE-011F-AA4488D8D7B8}"/>
          </ac:picMkLst>
        </pc:picChg>
        <pc:picChg chg="add del mod">
          <ac:chgData name="Paulo Lacerda" userId="c1eac4de-4cbf-4fc7-b0c5-2b05e32a6229" providerId="ADAL" clId="{417DECDA-B91F-4B24-A93E-EDACC93F7E1C}" dt="2025-05-30T12:43:23.382" v="280" actId="21"/>
          <ac:picMkLst>
            <pc:docMk/>
            <pc:sldMk cId="1442971404" sldId="314"/>
            <ac:picMk id="20" creationId="{234D7D46-3C7E-D2E2-D5EA-6993825B5720}"/>
          </ac:picMkLst>
        </pc:picChg>
        <pc:picChg chg="add del mod">
          <ac:chgData name="Paulo Lacerda" userId="c1eac4de-4cbf-4fc7-b0c5-2b05e32a6229" providerId="ADAL" clId="{417DECDA-B91F-4B24-A93E-EDACC93F7E1C}" dt="2025-05-30T12:43:23.382" v="280" actId="21"/>
          <ac:picMkLst>
            <pc:docMk/>
            <pc:sldMk cId="1442971404" sldId="314"/>
            <ac:picMk id="21" creationId="{B3826F44-EA6B-741B-1BC8-64EB0CB3B99C}"/>
          </ac:picMkLst>
        </pc:picChg>
        <pc:picChg chg="mod">
          <ac:chgData name="Paulo Lacerda" userId="c1eac4de-4cbf-4fc7-b0c5-2b05e32a6229" providerId="ADAL" clId="{417DECDA-B91F-4B24-A93E-EDACC93F7E1C}" dt="2025-05-30T13:16:58.279" v="686" actId="1036"/>
          <ac:picMkLst>
            <pc:docMk/>
            <pc:sldMk cId="1442971404" sldId="314"/>
            <ac:picMk id="41" creationId="{CD5782B0-D4B2-C4BA-F3E7-838FF702CE49}"/>
          </ac:picMkLst>
        </pc:picChg>
        <pc:picChg chg="del">
          <ac:chgData name="Paulo Lacerda" userId="c1eac4de-4cbf-4fc7-b0c5-2b05e32a6229" providerId="ADAL" clId="{417DECDA-B91F-4B24-A93E-EDACC93F7E1C}" dt="2025-05-30T12:43:23.382" v="280" actId="21"/>
          <ac:picMkLst>
            <pc:docMk/>
            <pc:sldMk cId="1442971404" sldId="314"/>
            <ac:picMk id="43" creationId="{1A1E9BB3-8567-40B8-A5DB-62650059086A}"/>
          </ac:picMkLst>
        </pc:picChg>
        <pc:picChg chg="add mod">
          <ac:chgData name="Paulo Lacerda" userId="c1eac4de-4cbf-4fc7-b0c5-2b05e32a6229" providerId="ADAL" clId="{417DECDA-B91F-4B24-A93E-EDACC93F7E1C}" dt="2025-05-30T13:08:43.461" v="504" actId="1035"/>
          <ac:picMkLst>
            <pc:docMk/>
            <pc:sldMk cId="1442971404" sldId="314"/>
            <ac:picMk id="45" creationId="{1A1E9BB3-8567-40B8-A5DB-62650059086A}"/>
          </ac:picMkLst>
        </pc:picChg>
        <pc:picChg chg="add mod">
          <ac:chgData name="Paulo Lacerda" userId="c1eac4de-4cbf-4fc7-b0c5-2b05e32a6229" providerId="ADAL" clId="{417DECDA-B91F-4B24-A93E-EDACC93F7E1C}" dt="2025-05-30T13:08:43.461" v="504" actId="1035"/>
          <ac:picMkLst>
            <pc:docMk/>
            <pc:sldMk cId="1442971404" sldId="314"/>
            <ac:picMk id="46" creationId="{D47C884E-EFE4-7520-C90A-44F1F2E43591}"/>
          </ac:picMkLst>
        </pc:picChg>
        <pc:picChg chg="add mod">
          <ac:chgData name="Paulo Lacerda" userId="c1eac4de-4cbf-4fc7-b0c5-2b05e32a6229" providerId="ADAL" clId="{417DECDA-B91F-4B24-A93E-EDACC93F7E1C}" dt="2025-05-30T13:08:43.461" v="504" actId="1035"/>
          <ac:picMkLst>
            <pc:docMk/>
            <pc:sldMk cId="1442971404" sldId="314"/>
            <ac:picMk id="47" creationId="{234D7D46-3C7E-D2E2-D5EA-6993825B5720}"/>
          </ac:picMkLst>
        </pc:picChg>
        <pc:picChg chg="add mod">
          <ac:chgData name="Paulo Lacerda" userId="c1eac4de-4cbf-4fc7-b0c5-2b05e32a6229" providerId="ADAL" clId="{417DECDA-B91F-4B24-A93E-EDACC93F7E1C}" dt="2025-05-30T13:08:43.461" v="504" actId="1035"/>
          <ac:picMkLst>
            <pc:docMk/>
            <pc:sldMk cId="1442971404" sldId="314"/>
            <ac:picMk id="48" creationId="{B3826F44-EA6B-741B-1BC8-64EB0CB3B99C}"/>
          </ac:picMkLst>
        </pc:picChg>
        <pc:picChg chg="add mod">
          <ac:chgData name="Paulo Lacerda" userId="c1eac4de-4cbf-4fc7-b0c5-2b05e32a6229" providerId="ADAL" clId="{417DECDA-B91F-4B24-A93E-EDACC93F7E1C}" dt="2025-05-30T13:11:50.756" v="585" actId="1076"/>
          <ac:picMkLst>
            <pc:docMk/>
            <pc:sldMk cId="1442971404" sldId="314"/>
            <ac:picMk id="51" creationId="{CEB0E831-C3F1-3C43-F465-FC600CC6E1AF}"/>
          </ac:picMkLst>
        </pc:picChg>
        <pc:picChg chg="add mod">
          <ac:chgData name="Paulo Lacerda" userId="c1eac4de-4cbf-4fc7-b0c5-2b05e32a6229" providerId="ADAL" clId="{417DECDA-B91F-4B24-A93E-EDACC93F7E1C}" dt="2025-05-30T13:11:26.491" v="567" actId="14100"/>
          <ac:picMkLst>
            <pc:docMk/>
            <pc:sldMk cId="1442971404" sldId="314"/>
            <ac:picMk id="58" creationId="{C812EA79-B81F-7D7D-08B5-52DC1177FCD2}"/>
          </ac:picMkLst>
        </pc:picChg>
        <pc:picChg chg="mod">
          <ac:chgData name="Paulo Lacerda" userId="c1eac4de-4cbf-4fc7-b0c5-2b05e32a6229" providerId="ADAL" clId="{417DECDA-B91F-4B24-A93E-EDACC93F7E1C}" dt="2025-05-30T13:17:10.022" v="687" actId="1076"/>
          <ac:picMkLst>
            <pc:docMk/>
            <pc:sldMk cId="1442971404" sldId="314"/>
            <ac:picMk id="61" creationId="{99B8E244-C7F9-5736-07B5-4441A0BA4788}"/>
          </ac:picMkLst>
        </pc:picChg>
        <pc:picChg chg="add mod">
          <ac:chgData name="Paulo Lacerda" userId="c1eac4de-4cbf-4fc7-b0c5-2b05e32a6229" providerId="ADAL" clId="{417DECDA-B91F-4B24-A93E-EDACC93F7E1C}" dt="2025-05-30T13:25:52.314" v="834" actId="1076"/>
          <ac:picMkLst>
            <pc:docMk/>
            <pc:sldMk cId="1442971404" sldId="314"/>
            <ac:picMk id="71" creationId="{4D1952BD-5400-4241-64A8-A458432C5A9C}"/>
          </ac:picMkLst>
        </pc:picChg>
        <pc:picChg chg="del">
          <ac:chgData name="Paulo Lacerda" userId="c1eac4de-4cbf-4fc7-b0c5-2b05e32a6229" providerId="ADAL" clId="{417DECDA-B91F-4B24-A93E-EDACC93F7E1C}" dt="2025-05-30T12:20:28.688" v="85" actId="478"/>
          <ac:picMkLst>
            <pc:docMk/>
            <pc:sldMk cId="1442971404" sldId="314"/>
            <ac:picMk id="72" creationId="{E7B9F9F4-F568-348D-178A-C3B15A2D0F22}"/>
          </ac:picMkLst>
        </pc:picChg>
        <pc:picChg chg="add del mod">
          <ac:chgData name="Paulo Lacerda" userId="c1eac4de-4cbf-4fc7-b0c5-2b05e32a6229" providerId="ADAL" clId="{417DECDA-B91F-4B24-A93E-EDACC93F7E1C}" dt="2025-05-30T13:22:27.337" v="811" actId="478"/>
          <ac:picMkLst>
            <pc:docMk/>
            <pc:sldMk cId="1442971404" sldId="314"/>
            <ac:picMk id="78" creationId="{393D7861-A0C7-1DD4-BF82-49082E336E31}"/>
          </ac:picMkLst>
        </pc:picChg>
        <pc:picChg chg="del">
          <ac:chgData name="Paulo Lacerda" userId="c1eac4de-4cbf-4fc7-b0c5-2b05e32a6229" providerId="ADAL" clId="{417DECDA-B91F-4B24-A93E-EDACC93F7E1C}" dt="2025-05-30T12:18:26.152" v="39" actId="478"/>
          <ac:picMkLst>
            <pc:docMk/>
            <pc:sldMk cId="1442971404" sldId="314"/>
            <ac:picMk id="80" creationId="{6FD999EC-E2A9-5752-1138-65FFC6516614}"/>
          </ac:picMkLst>
        </pc:picChg>
        <pc:picChg chg="del">
          <ac:chgData name="Paulo Lacerda" userId="c1eac4de-4cbf-4fc7-b0c5-2b05e32a6229" providerId="ADAL" clId="{417DECDA-B91F-4B24-A93E-EDACC93F7E1C}" dt="2025-05-30T12:42:22.937" v="269" actId="478"/>
          <ac:picMkLst>
            <pc:docMk/>
            <pc:sldMk cId="1442971404" sldId="314"/>
            <ac:picMk id="84" creationId="{796949E8-33D8-22A5-A074-8E72D502A76F}"/>
          </ac:picMkLst>
        </pc:picChg>
        <pc:picChg chg="del">
          <ac:chgData name="Paulo Lacerda" userId="c1eac4de-4cbf-4fc7-b0c5-2b05e32a6229" providerId="ADAL" clId="{417DECDA-B91F-4B24-A93E-EDACC93F7E1C}" dt="2025-05-30T12:39:18.086" v="199" actId="478"/>
          <ac:picMkLst>
            <pc:docMk/>
            <pc:sldMk cId="1442971404" sldId="314"/>
            <ac:picMk id="94" creationId="{CCDF3D50-38DE-5037-AAFF-AB7537C26934}"/>
          </ac:picMkLst>
        </pc:picChg>
        <pc:picChg chg="mod topLvl">
          <ac:chgData name="Paulo Lacerda" userId="c1eac4de-4cbf-4fc7-b0c5-2b05e32a6229" providerId="ADAL" clId="{417DECDA-B91F-4B24-A93E-EDACC93F7E1C}" dt="2025-05-30T13:34:36.809" v="841" actId="207"/>
          <ac:picMkLst>
            <pc:docMk/>
            <pc:sldMk cId="1442971404" sldId="314"/>
            <ac:picMk id="148" creationId="{BD60471E-CFB0-8BBE-12BC-6D2FA9B9EDDE}"/>
          </ac:picMkLst>
        </pc:picChg>
        <pc:picChg chg="mod topLvl">
          <ac:chgData name="Paulo Lacerda" userId="c1eac4de-4cbf-4fc7-b0c5-2b05e32a6229" providerId="ADAL" clId="{417DECDA-B91F-4B24-A93E-EDACC93F7E1C}" dt="2025-05-30T13:12:59.751" v="617" actId="1076"/>
          <ac:picMkLst>
            <pc:docMk/>
            <pc:sldMk cId="1442971404" sldId="314"/>
            <ac:picMk id="157" creationId="{7AF126A4-D34B-ED26-F5F3-A4DA0058E6C6}"/>
          </ac:picMkLst>
        </pc:picChg>
        <pc:picChg chg="del">
          <ac:chgData name="Paulo Lacerda" userId="c1eac4de-4cbf-4fc7-b0c5-2b05e32a6229" providerId="ADAL" clId="{417DECDA-B91F-4B24-A93E-EDACC93F7E1C}" dt="2025-05-30T12:42:29.759" v="270" actId="478"/>
          <ac:picMkLst>
            <pc:docMk/>
            <pc:sldMk cId="1442971404" sldId="314"/>
            <ac:picMk id="163" creationId="{AD9D4BBD-74A5-5964-28EF-9DC32DEF177A}"/>
          </ac:picMkLst>
        </pc:picChg>
        <pc:picChg chg="del">
          <ac:chgData name="Paulo Lacerda" userId="c1eac4de-4cbf-4fc7-b0c5-2b05e32a6229" providerId="ADAL" clId="{417DECDA-B91F-4B24-A93E-EDACC93F7E1C}" dt="2025-05-30T12:20:28.688" v="85" actId="478"/>
          <ac:picMkLst>
            <pc:docMk/>
            <pc:sldMk cId="1442971404" sldId="314"/>
            <ac:picMk id="165" creationId="{EFCB3F87-B58B-73D5-2F03-20B50FDEF0EB}"/>
          </ac:picMkLst>
        </pc:picChg>
        <pc:picChg chg="del">
          <ac:chgData name="Paulo Lacerda" userId="c1eac4de-4cbf-4fc7-b0c5-2b05e32a6229" providerId="ADAL" clId="{417DECDA-B91F-4B24-A93E-EDACC93F7E1C}" dt="2025-05-30T12:43:23.382" v="280" actId="21"/>
          <ac:picMkLst>
            <pc:docMk/>
            <pc:sldMk cId="1442971404" sldId="314"/>
            <ac:picMk id="2052" creationId="{D47C884E-EFE4-7520-C90A-44F1F2E43591}"/>
          </ac:picMkLst>
        </pc:picChg>
        <pc:cxnChg chg="mod">
          <ac:chgData name="Paulo Lacerda" userId="c1eac4de-4cbf-4fc7-b0c5-2b05e32a6229" providerId="ADAL" clId="{417DECDA-B91F-4B24-A93E-EDACC93F7E1C}" dt="2025-05-30T13:20:34.610" v="763" actId="1036"/>
          <ac:cxnSpMkLst>
            <pc:docMk/>
            <pc:sldMk cId="1442971404" sldId="314"/>
            <ac:cxnSpMk id="67" creationId="{69DD874A-4AE1-37A6-E27A-18C361731311}"/>
          </ac:cxnSpMkLst>
        </pc:cxnChg>
        <pc:cxnChg chg="mod">
          <ac:chgData name="Paulo Lacerda" userId="c1eac4de-4cbf-4fc7-b0c5-2b05e32a6229" providerId="ADAL" clId="{417DECDA-B91F-4B24-A93E-EDACC93F7E1C}" dt="2025-05-30T13:25:36.941" v="829"/>
          <ac:cxnSpMkLst>
            <pc:docMk/>
            <pc:sldMk cId="1442971404" sldId="314"/>
            <ac:cxnSpMk id="69" creationId="{EB7909E6-B0E2-9D4B-C254-19111D2C610F}"/>
          </ac:cxnSpMkLst>
        </pc:cxnChg>
        <pc:cxnChg chg="add mod">
          <ac:chgData name="Paulo Lacerda" userId="c1eac4de-4cbf-4fc7-b0c5-2b05e32a6229" providerId="ADAL" clId="{417DECDA-B91F-4B24-A93E-EDACC93F7E1C}" dt="2025-05-30T13:19:21.257" v="703" actId="14100"/>
          <ac:cxnSpMkLst>
            <pc:docMk/>
            <pc:sldMk cId="1442971404" sldId="314"/>
            <ac:cxnSpMk id="81" creationId="{9D0E10A2-8AF6-D9E0-C662-C05CED979012}"/>
          </ac:cxnSpMkLst>
        </pc:cxnChg>
      </pc:sldChg>
      <pc:sldChg chg="addSp delSp modSp mod">
        <pc:chgData name="Paulo Lacerda" userId="c1eac4de-4cbf-4fc7-b0c5-2b05e32a6229" providerId="ADAL" clId="{417DECDA-B91F-4B24-A93E-EDACC93F7E1C}" dt="2025-05-30T16:24:22.933" v="845" actId="1076"/>
        <pc:sldMkLst>
          <pc:docMk/>
          <pc:sldMk cId="4279545971" sldId="2147483644"/>
        </pc:sldMkLst>
        <pc:picChg chg="add mod">
          <ac:chgData name="Paulo Lacerda" userId="c1eac4de-4cbf-4fc7-b0c5-2b05e32a6229" providerId="ADAL" clId="{417DECDA-B91F-4B24-A93E-EDACC93F7E1C}" dt="2025-05-30T16:24:22.933" v="845" actId="1076"/>
          <ac:picMkLst>
            <pc:docMk/>
            <pc:sldMk cId="4279545971" sldId="2147483644"/>
            <ac:picMk id="5" creationId="{E9079C2E-DD3D-30EE-A7B0-0BC3F25B9A19}"/>
          </ac:picMkLst>
        </pc:picChg>
        <pc:picChg chg="del">
          <ac:chgData name="Paulo Lacerda" userId="c1eac4de-4cbf-4fc7-b0c5-2b05e32a6229" providerId="ADAL" clId="{417DECDA-B91F-4B24-A93E-EDACC93F7E1C}" dt="2025-05-30T16:24:15.647" v="842" actId="478"/>
          <ac:picMkLst>
            <pc:docMk/>
            <pc:sldMk cId="4279545971" sldId="2147483644"/>
            <ac:picMk id="7" creationId="{C4C7F74D-C11B-F8EF-0DF4-E5EEC7161A2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9566F0-286B-4423-B2B4-CEEE24A76C55}"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6856F9C4-A257-4F8E-8A31-3A6AB4C868EF}">
      <dgm:prSet phldrT="[Text]"/>
      <dgm:spPr/>
      <dgm:t>
        <a:bodyPr/>
        <a:lstStyle/>
        <a:p>
          <a:r>
            <a:rPr lang="en-US"/>
            <a:t>AI Workload Operations</a:t>
          </a:r>
        </a:p>
      </dgm:t>
    </dgm:pt>
    <dgm:pt modelId="{BD7C2EFD-F202-48A7-BD35-C9B8179D2D8D}" type="parTrans" cxnId="{C92936E9-4FCA-4F0E-8167-D355A2DE349F}">
      <dgm:prSet/>
      <dgm:spPr/>
      <dgm:t>
        <a:bodyPr/>
        <a:lstStyle/>
        <a:p>
          <a:endParaRPr lang="en-US"/>
        </a:p>
      </dgm:t>
    </dgm:pt>
    <dgm:pt modelId="{44CCC2C5-2288-4BCE-990F-D7C8AAE59798}" type="sibTrans" cxnId="{C92936E9-4FCA-4F0E-8167-D355A2DE349F}">
      <dgm:prSet/>
      <dgm:spPr/>
      <dgm:t>
        <a:bodyPr/>
        <a:lstStyle/>
        <a:p>
          <a:endParaRPr lang="en-US"/>
        </a:p>
      </dgm:t>
    </dgm:pt>
    <dgm:pt modelId="{0C7EDFE1-CEEC-4201-AC9F-48CCF3F8337F}">
      <dgm:prSet/>
      <dgm:spPr/>
      <dgm:t>
        <a:bodyPr/>
        <a:lstStyle/>
        <a:p>
          <a:r>
            <a:rPr lang="en-US"/>
            <a:t>Complexity Levels of GenAI</a:t>
          </a:r>
        </a:p>
      </dgm:t>
    </dgm:pt>
    <dgm:pt modelId="{A5F2F1D8-CA8D-41F2-9AC2-D0DE0FB673B6}" type="parTrans" cxnId="{C4C52721-AFD1-42F1-8448-F2875F450D7B}">
      <dgm:prSet/>
      <dgm:spPr/>
      <dgm:t>
        <a:bodyPr/>
        <a:lstStyle/>
        <a:p>
          <a:endParaRPr lang="en-US"/>
        </a:p>
      </dgm:t>
    </dgm:pt>
    <dgm:pt modelId="{475B8576-CFEE-4CBF-A90C-530873F76959}" type="sibTrans" cxnId="{C4C52721-AFD1-42F1-8448-F2875F450D7B}">
      <dgm:prSet/>
      <dgm:spPr/>
      <dgm:t>
        <a:bodyPr/>
        <a:lstStyle/>
        <a:p>
          <a:endParaRPr lang="en-US"/>
        </a:p>
      </dgm:t>
    </dgm:pt>
    <dgm:pt modelId="{AB1D186A-19AC-4732-BFC2-0AC36CE24D7A}">
      <dgm:prSet/>
      <dgm:spPr/>
      <dgm:t>
        <a:bodyPr/>
        <a:lstStyle/>
        <a:p>
          <a:r>
            <a:rPr lang="en-US"/>
            <a:t>GenAI Assets &amp; Artifacts</a:t>
          </a:r>
        </a:p>
      </dgm:t>
    </dgm:pt>
    <dgm:pt modelId="{91B14249-3C2A-4756-9182-EEC94CB3FD5C}" type="parTrans" cxnId="{763E8367-1285-48FC-A158-715FC9599ACF}">
      <dgm:prSet/>
      <dgm:spPr/>
      <dgm:t>
        <a:bodyPr/>
        <a:lstStyle/>
        <a:p>
          <a:endParaRPr lang="en-US"/>
        </a:p>
      </dgm:t>
    </dgm:pt>
    <dgm:pt modelId="{D152800D-306B-4D1F-8BFF-C87FE44E1ECA}" type="sibTrans" cxnId="{763E8367-1285-48FC-A158-715FC9599ACF}">
      <dgm:prSet/>
      <dgm:spPr/>
      <dgm:t>
        <a:bodyPr/>
        <a:lstStyle/>
        <a:p>
          <a:endParaRPr lang="en-US"/>
        </a:p>
      </dgm:t>
    </dgm:pt>
    <dgm:pt modelId="{CBB5AF88-EE70-4D7E-93CE-C5DD49323D90}">
      <dgm:prSet/>
      <dgm:spPr/>
      <dgm:t>
        <a:bodyPr/>
        <a:lstStyle/>
        <a:p>
          <a:r>
            <a:rPr lang="en-US"/>
            <a:t>GenAIOps Definition</a:t>
          </a:r>
        </a:p>
      </dgm:t>
    </dgm:pt>
    <dgm:pt modelId="{CE71F8DC-49D5-4739-8130-C0F957C9F0E8}" type="parTrans" cxnId="{CC2ADAD2-DB6C-4931-93FC-605C8CA26B23}">
      <dgm:prSet/>
      <dgm:spPr/>
      <dgm:t>
        <a:bodyPr/>
        <a:lstStyle/>
        <a:p>
          <a:endParaRPr lang="en-US"/>
        </a:p>
      </dgm:t>
    </dgm:pt>
    <dgm:pt modelId="{4934CA4E-032D-443A-B0AD-2FAB7E3C3F67}" type="sibTrans" cxnId="{CC2ADAD2-DB6C-4931-93FC-605C8CA26B23}">
      <dgm:prSet/>
      <dgm:spPr/>
      <dgm:t>
        <a:bodyPr/>
        <a:lstStyle/>
        <a:p>
          <a:endParaRPr lang="en-US"/>
        </a:p>
      </dgm:t>
    </dgm:pt>
    <dgm:pt modelId="{3C4939DB-9AA7-472E-9A98-A7D9D66A56CA}">
      <dgm:prSet/>
      <dgm:spPr/>
      <dgm:t>
        <a:bodyPr/>
        <a:lstStyle/>
        <a:p>
          <a:r>
            <a:rPr lang="en-US"/>
            <a:t>Operations Best Practices</a:t>
          </a:r>
        </a:p>
      </dgm:t>
    </dgm:pt>
    <dgm:pt modelId="{9B8E986D-35B1-4573-A334-FF8115E9DF34}" type="parTrans" cxnId="{8675AD27-40BA-471B-A106-AC76CE910EB7}">
      <dgm:prSet/>
      <dgm:spPr/>
      <dgm:t>
        <a:bodyPr/>
        <a:lstStyle/>
        <a:p>
          <a:endParaRPr lang="en-US"/>
        </a:p>
      </dgm:t>
    </dgm:pt>
    <dgm:pt modelId="{5D14064B-A5FD-47AE-9749-B69D796F2AEF}" type="sibTrans" cxnId="{8675AD27-40BA-471B-A106-AC76CE910EB7}">
      <dgm:prSet/>
      <dgm:spPr/>
      <dgm:t>
        <a:bodyPr/>
        <a:lstStyle/>
        <a:p>
          <a:endParaRPr lang="en-US"/>
        </a:p>
      </dgm:t>
    </dgm:pt>
    <dgm:pt modelId="{A42494B9-1875-420D-AE84-FC9B8DDA15DC}">
      <dgm:prSet/>
      <dgm:spPr/>
      <dgm:t>
        <a:bodyPr/>
        <a:lstStyle/>
        <a:p>
          <a:r>
            <a:rPr lang="en-US"/>
            <a:t>Benefits of GenAIOps</a:t>
          </a:r>
        </a:p>
      </dgm:t>
    </dgm:pt>
    <dgm:pt modelId="{325803B2-5E7C-4BCA-B263-E34E9098DBDD}" type="parTrans" cxnId="{BC275369-1093-4D74-A2E4-F2271DA7B4D5}">
      <dgm:prSet/>
      <dgm:spPr/>
      <dgm:t>
        <a:bodyPr/>
        <a:lstStyle/>
        <a:p>
          <a:endParaRPr lang="en-US"/>
        </a:p>
      </dgm:t>
    </dgm:pt>
    <dgm:pt modelId="{FFCAF26F-CA84-4C28-BD05-50D17674AA1C}" type="sibTrans" cxnId="{BC275369-1093-4D74-A2E4-F2271DA7B4D5}">
      <dgm:prSet/>
      <dgm:spPr/>
      <dgm:t>
        <a:bodyPr/>
        <a:lstStyle/>
        <a:p>
          <a:endParaRPr lang="en-US"/>
        </a:p>
      </dgm:t>
    </dgm:pt>
    <dgm:pt modelId="{DBA1FE52-0837-4FB7-8AD2-10F12A1A0374}">
      <dgm:prSet/>
      <dgm:spPr/>
      <dgm:t>
        <a:bodyPr/>
        <a:lstStyle/>
        <a:p>
          <a:r>
            <a:rPr lang="en-US"/>
            <a:t>Challenges of GenAIOps with Solutions</a:t>
          </a:r>
        </a:p>
      </dgm:t>
    </dgm:pt>
    <dgm:pt modelId="{09FAA222-9CA3-4A29-8346-C87DA7FF5335}" type="parTrans" cxnId="{FB1A2752-DF7B-4AB4-8169-FA6B7B03C52B}">
      <dgm:prSet/>
      <dgm:spPr/>
      <dgm:t>
        <a:bodyPr/>
        <a:lstStyle/>
        <a:p>
          <a:endParaRPr lang="en-US"/>
        </a:p>
      </dgm:t>
    </dgm:pt>
    <dgm:pt modelId="{45BE6853-5F2D-4989-8108-F845551659BD}" type="sibTrans" cxnId="{FB1A2752-DF7B-4AB4-8169-FA6B7B03C52B}">
      <dgm:prSet/>
      <dgm:spPr/>
      <dgm:t>
        <a:bodyPr/>
        <a:lstStyle/>
        <a:p>
          <a:endParaRPr lang="en-US"/>
        </a:p>
      </dgm:t>
    </dgm:pt>
    <dgm:pt modelId="{BA293A0E-FB8E-42C6-A07A-FF0716197D0D}" type="pres">
      <dgm:prSet presAssocID="{E69566F0-286B-4423-B2B4-CEEE24A76C55}" presName="diagram" presStyleCnt="0">
        <dgm:presLayoutVars>
          <dgm:dir/>
          <dgm:resizeHandles val="exact"/>
        </dgm:presLayoutVars>
      </dgm:prSet>
      <dgm:spPr/>
    </dgm:pt>
    <dgm:pt modelId="{12BCBA14-E524-473E-9532-96080EFAACC3}" type="pres">
      <dgm:prSet presAssocID="{6856F9C4-A257-4F8E-8A31-3A6AB4C868EF}" presName="node" presStyleLbl="node1" presStyleIdx="0" presStyleCnt="7">
        <dgm:presLayoutVars>
          <dgm:bulletEnabled val="1"/>
        </dgm:presLayoutVars>
      </dgm:prSet>
      <dgm:spPr/>
    </dgm:pt>
    <dgm:pt modelId="{12D2C6F1-6193-4DC5-9AA8-DEBAE88B30CC}" type="pres">
      <dgm:prSet presAssocID="{44CCC2C5-2288-4BCE-990F-D7C8AAE59798}" presName="sibTrans" presStyleCnt="0"/>
      <dgm:spPr/>
    </dgm:pt>
    <dgm:pt modelId="{1A278A14-357E-4DCB-86B8-CCDD0E219A88}" type="pres">
      <dgm:prSet presAssocID="{0C7EDFE1-CEEC-4201-AC9F-48CCF3F8337F}" presName="node" presStyleLbl="node1" presStyleIdx="1" presStyleCnt="7">
        <dgm:presLayoutVars>
          <dgm:bulletEnabled val="1"/>
        </dgm:presLayoutVars>
      </dgm:prSet>
      <dgm:spPr/>
    </dgm:pt>
    <dgm:pt modelId="{2348939A-AA5C-4FB2-B9F2-BF98AFCCCFC1}" type="pres">
      <dgm:prSet presAssocID="{475B8576-CFEE-4CBF-A90C-530873F76959}" presName="sibTrans" presStyleCnt="0"/>
      <dgm:spPr/>
    </dgm:pt>
    <dgm:pt modelId="{8E458726-2E40-40C0-96FA-691CF2EFCD44}" type="pres">
      <dgm:prSet presAssocID="{AB1D186A-19AC-4732-BFC2-0AC36CE24D7A}" presName="node" presStyleLbl="node1" presStyleIdx="2" presStyleCnt="7">
        <dgm:presLayoutVars>
          <dgm:bulletEnabled val="1"/>
        </dgm:presLayoutVars>
      </dgm:prSet>
      <dgm:spPr/>
    </dgm:pt>
    <dgm:pt modelId="{CE06D20C-C54C-480D-9312-934D215ACBC0}" type="pres">
      <dgm:prSet presAssocID="{D152800D-306B-4D1F-8BFF-C87FE44E1ECA}" presName="sibTrans" presStyleCnt="0"/>
      <dgm:spPr/>
    </dgm:pt>
    <dgm:pt modelId="{36DFB81C-936A-4283-B18A-B5C32D8DFA58}" type="pres">
      <dgm:prSet presAssocID="{CBB5AF88-EE70-4D7E-93CE-C5DD49323D90}" presName="node" presStyleLbl="node1" presStyleIdx="3" presStyleCnt="7">
        <dgm:presLayoutVars>
          <dgm:bulletEnabled val="1"/>
        </dgm:presLayoutVars>
      </dgm:prSet>
      <dgm:spPr/>
    </dgm:pt>
    <dgm:pt modelId="{CF961C2E-2EF3-4FAE-81EF-2535088B9047}" type="pres">
      <dgm:prSet presAssocID="{4934CA4E-032D-443A-B0AD-2FAB7E3C3F67}" presName="sibTrans" presStyleCnt="0"/>
      <dgm:spPr/>
    </dgm:pt>
    <dgm:pt modelId="{9709D8A7-FA89-437D-893E-C70E4EC69181}" type="pres">
      <dgm:prSet presAssocID="{3C4939DB-9AA7-472E-9A98-A7D9D66A56CA}" presName="node" presStyleLbl="node1" presStyleIdx="4" presStyleCnt="7">
        <dgm:presLayoutVars>
          <dgm:bulletEnabled val="1"/>
        </dgm:presLayoutVars>
      </dgm:prSet>
      <dgm:spPr/>
    </dgm:pt>
    <dgm:pt modelId="{2615905D-233A-4AA9-A32C-CBDBD3531F67}" type="pres">
      <dgm:prSet presAssocID="{5D14064B-A5FD-47AE-9749-B69D796F2AEF}" presName="sibTrans" presStyleCnt="0"/>
      <dgm:spPr/>
    </dgm:pt>
    <dgm:pt modelId="{F016D33E-CFD2-4477-A57F-AFDE763E5A80}" type="pres">
      <dgm:prSet presAssocID="{A42494B9-1875-420D-AE84-FC9B8DDA15DC}" presName="node" presStyleLbl="node1" presStyleIdx="5" presStyleCnt="7">
        <dgm:presLayoutVars>
          <dgm:bulletEnabled val="1"/>
        </dgm:presLayoutVars>
      </dgm:prSet>
      <dgm:spPr/>
    </dgm:pt>
    <dgm:pt modelId="{31C22A65-CE38-4BAD-A24C-6E519E49BA09}" type="pres">
      <dgm:prSet presAssocID="{FFCAF26F-CA84-4C28-BD05-50D17674AA1C}" presName="sibTrans" presStyleCnt="0"/>
      <dgm:spPr/>
    </dgm:pt>
    <dgm:pt modelId="{78BD5B00-0171-4BF8-9AFE-2BFAD4FB6899}" type="pres">
      <dgm:prSet presAssocID="{DBA1FE52-0837-4FB7-8AD2-10F12A1A0374}" presName="node" presStyleLbl="node1" presStyleIdx="6" presStyleCnt="7">
        <dgm:presLayoutVars>
          <dgm:bulletEnabled val="1"/>
        </dgm:presLayoutVars>
      </dgm:prSet>
      <dgm:spPr/>
    </dgm:pt>
  </dgm:ptLst>
  <dgm:cxnLst>
    <dgm:cxn modelId="{A7E5AD07-BB03-4D72-87CF-58E7C9C5195D}" type="presOf" srcId="{3C4939DB-9AA7-472E-9A98-A7D9D66A56CA}" destId="{9709D8A7-FA89-437D-893E-C70E4EC69181}" srcOrd="0" destOrd="0" presId="urn:microsoft.com/office/officeart/2005/8/layout/default"/>
    <dgm:cxn modelId="{40993A13-A5E6-4E7B-888D-F93CB966812F}" type="presOf" srcId="{A42494B9-1875-420D-AE84-FC9B8DDA15DC}" destId="{F016D33E-CFD2-4477-A57F-AFDE763E5A80}" srcOrd="0" destOrd="0" presId="urn:microsoft.com/office/officeart/2005/8/layout/default"/>
    <dgm:cxn modelId="{C4C52721-AFD1-42F1-8448-F2875F450D7B}" srcId="{E69566F0-286B-4423-B2B4-CEEE24A76C55}" destId="{0C7EDFE1-CEEC-4201-AC9F-48CCF3F8337F}" srcOrd="1" destOrd="0" parTransId="{A5F2F1D8-CA8D-41F2-9AC2-D0DE0FB673B6}" sibTransId="{475B8576-CFEE-4CBF-A90C-530873F76959}"/>
    <dgm:cxn modelId="{8675AD27-40BA-471B-A106-AC76CE910EB7}" srcId="{E69566F0-286B-4423-B2B4-CEEE24A76C55}" destId="{3C4939DB-9AA7-472E-9A98-A7D9D66A56CA}" srcOrd="4" destOrd="0" parTransId="{9B8E986D-35B1-4573-A334-FF8115E9DF34}" sibTransId="{5D14064B-A5FD-47AE-9749-B69D796F2AEF}"/>
    <dgm:cxn modelId="{50A4D663-C84B-4DE7-9CD5-2F9246078097}" type="presOf" srcId="{0C7EDFE1-CEEC-4201-AC9F-48CCF3F8337F}" destId="{1A278A14-357E-4DCB-86B8-CCDD0E219A88}" srcOrd="0" destOrd="0" presId="urn:microsoft.com/office/officeart/2005/8/layout/default"/>
    <dgm:cxn modelId="{763E8367-1285-48FC-A158-715FC9599ACF}" srcId="{E69566F0-286B-4423-B2B4-CEEE24A76C55}" destId="{AB1D186A-19AC-4732-BFC2-0AC36CE24D7A}" srcOrd="2" destOrd="0" parTransId="{91B14249-3C2A-4756-9182-EEC94CB3FD5C}" sibTransId="{D152800D-306B-4D1F-8BFF-C87FE44E1ECA}"/>
    <dgm:cxn modelId="{BC275369-1093-4D74-A2E4-F2271DA7B4D5}" srcId="{E69566F0-286B-4423-B2B4-CEEE24A76C55}" destId="{A42494B9-1875-420D-AE84-FC9B8DDA15DC}" srcOrd="5" destOrd="0" parTransId="{325803B2-5E7C-4BCA-B263-E34E9098DBDD}" sibTransId="{FFCAF26F-CA84-4C28-BD05-50D17674AA1C}"/>
    <dgm:cxn modelId="{FB1A2752-DF7B-4AB4-8169-FA6B7B03C52B}" srcId="{E69566F0-286B-4423-B2B4-CEEE24A76C55}" destId="{DBA1FE52-0837-4FB7-8AD2-10F12A1A0374}" srcOrd="6" destOrd="0" parTransId="{09FAA222-9CA3-4A29-8346-C87DA7FF5335}" sibTransId="{45BE6853-5F2D-4989-8108-F845551659BD}"/>
    <dgm:cxn modelId="{563CEBA3-C6E9-419A-A399-55C0F4897ACE}" type="presOf" srcId="{6856F9C4-A257-4F8E-8A31-3A6AB4C868EF}" destId="{12BCBA14-E524-473E-9532-96080EFAACC3}" srcOrd="0" destOrd="0" presId="urn:microsoft.com/office/officeart/2005/8/layout/default"/>
    <dgm:cxn modelId="{7D4BF9AC-8972-40EA-BF57-663B22B288E1}" type="presOf" srcId="{AB1D186A-19AC-4732-BFC2-0AC36CE24D7A}" destId="{8E458726-2E40-40C0-96FA-691CF2EFCD44}" srcOrd="0" destOrd="0" presId="urn:microsoft.com/office/officeart/2005/8/layout/default"/>
    <dgm:cxn modelId="{055692CB-1AB3-4177-B6F6-2D24F8A32B86}" type="presOf" srcId="{DBA1FE52-0837-4FB7-8AD2-10F12A1A0374}" destId="{78BD5B00-0171-4BF8-9AFE-2BFAD4FB6899}" srcOrd="0" destOrd="0" presId="urn:microsoft.com/office/officeart/2005/8/layout/default"/>
    <dgm:cxn modelId="{CC2ADAD2-DB6C-4931-93FC-605C8CA26B23}" srcId="{E69566F0-286B-4423-B2B4-CEEE24A76C55}" destId="{CBB5AF88-EE70-4D7E-93CE-C5DD49323D90}" srcOrd="3" destOrd="0" parTransId="{CE71F8DC-49D5-4739-8130-C0F957C9F0E8}" sibTransId="{4934CA4E-032D-443A-B0AD-2FAB7E3C3F67}"/>
    <dgm:cxn modelId="{ECE248E7-568B-459B-A522-C0782C26D637}" type="presOf" srcId="{CBB5AF88-EE70-4D7E-93CE-C5DD49323D90}" destId="{36DFB81C-936A-4283-B18A-B5C32D8DFA58}" srcOrd="0" destOrd="0" presId="urn:microsoft.com/office/officeart/2005/8/layout/default"/>
    <dgm:cxn modelId="{C92936E9-4FCA-4F0E-8167-D355A2DE349F}" srcId="{E69566F0-286B-4423-B2B4-CEEE24A76C55}" destId="{6856F9C4-A257-4F8E-8A31-3A6AB4C868EF}" srcOrd="0" destOrd="0" parTransId="{BD7C2EFD-F202-48A7-BD35-C9B8179D2D8D}" sibTransId="{44CCC2C5-2288-4BCE-990F-D7C8AAE59798}"/>
    <dgm:cxn modelId="{8280ACED-E51F-4F37-A68B-B9C9DF2DF807}" type="presOf" srcId="{E69566F0-286B-4423-B2B4-CEEE24A76C55}" destId="{BA293A0E-FB8E-42C6-A07A-FF0716197D0D}" srcOrd="0" destOrd="0" presId="urn:microsoft.com/office/officeart/2005/8/layout/default"/>
    <dgm:cxn modelId="{DE8259AC-263D-46B7-AE9F-473C4769684D}" type="presParOf" srcId="{BA293A0E-FB8E-42C6-A07A-FF0716197D0D}" destId="{12BCBA14-E524-473E-9532-96080EFAACC3}" srcOrd="0" destOrd="0" presId="urn:microsoft.com/office/officeart/2005/8/layout/default"/>
    <dgm:cxn modelId="{0BB0987F-C40A-41E2-9D44-BF50181C3513}" type="presParOf" srcId="{BA293A0E-FB8E-42C6-A07A-FF0716197D0D}" destId="{12D2C6F1-6193-4DC5-9AA8-DEBAE88B30CC}" srcOrd="1" destOrd="0" presId="urn:microsoft.com/office/officeart/2005/8/layout/default"/>
    <dgm:cxn modelId="{23ADE960-C8E9-467B-9693-D4F9A141FB42}" type="presParOf" srcId="{BA293A0E-FB8E-42C6-A07A-FF0716197D0D}" destId="{1A278A14-357E-4DCB-86B8-CCDD0E219A88}" srcOrd="2" destOrd="0" presId="urn:microsoft.com/office/officeart/2005/8/layout/default"/>
    <dgm:cxn modelId="{EAEA3F82-7773-4F01-8CAE-22258368A0F8}" type="presParOf" srcId="{BA293A0E-FB8E-42C6-A07A-FF0716197D0D}" destId="{2348939A-AA5C-4FB2-B9F2-BF98AFCCCFC1}" srcOrd="3" destOrd="0" presId="urn:microsoft.com/office/officeart/2005/8/layout/default"/>
    <dgm:cxn modelId="{904A99E2-33BD-49E9-8359-D863A04F65BB}" type="presParOf" srcId="{BA293A0E-FB8E-42C6-A07A-FF0716197D0D}" destId="{8E458726-2E40-40C0-96FA-691CF2EFCD44}" srcOrd="4" destOrd="0" presId="urn:microsoft.com/office/officeart/2005/8/layout/default"/>
    <dgm:cxn modelId="{836F4EC0-1964-4801-AF37-776D999B686A}" type="presParOf" srcId="{BA293A0E-FB8E-42C6-A07A-FF0716197D0D}" destId="{CE06D20C-C54C-480D-9312-934D215ACBC0}" srcOrd="5" destOrd="0" presId="urn:microsoft.com/office/officeart/2005/8/layout/default"/>
    <dgm:cxn modelId="{538A3132-BA95-4858-972A-4A705802CC99}" type="presParOf" srcId="{BA293A0E-FB8E-42C6-A07A-FF0716197D0D}" destId="{36DFB81C-936A-4283-B18A-B5C32D8DFA58}" srcOrd="6" destOrd="0" presId="urn:microsoft.com/office/officeart/2005/8/layout/default"/>
    <dgm:cxn modelId="{BD84873B-8A31-4C21-8832-2FFCED3A3B70}" type="presParOf" srcId="{BA293A0E-FB8E-42C6-A07A-FF0716197D0D}" destId="{CF961C2E-2EF3-4FAE-81EF-2535088B9047}" srcOrd="7" destOrd="0" presId="urn:microsoft.com/office/officeart/2005/8/layout/default"/>
    <dgm:cxn modelId="{17071903-958C-468D-A21A-D6C7F3A3809F}" type="presParOf" srcId="{BA293A0E-FB8E-42C6-A07A-FF0716197D0D}" destId="{9709D8A7-FA89-437D-893E-C70E4EC69181}" srcOrd="8" destOrd="0" presId="urn:microsoft.com/office/officeart/2005/8/layout/default"/>
    <dgm:cxn modelId="{CDA329C8-9506-4AEC-BC5A-FF474D4A7550}" type="presParOf" srcId="{BA293A0E-FB8E-42C6-A07A-FF0716197D0D}" destId="{2615905D-233A-4AA9-A32C-CBDBD3531F67}" srcOrd="9" destOrd="0" presId="urn:microsoft.com/office/officeart/2005/8/layout/default"/>
    <dgm:cxn modelId="{17F22136-A2DE-4442-A320-9F6C29D081B1}" type="presParOf" srcId="{BA293A0E-FB8E-42C6-A07A-FF0716197D0D}" destId="{F016D33E-CFD2-4477-A57F-AFDE763E5A80}" srcOrd="10" destOrd="0" presId="urn:microsoft.com/office/officeart/2005/8/layout/default"/>
    <dgm:cxn modelId="{30EA6942-A8DD-44D8-BEE6-D0FA6A329372}" type="presParOf" srcId="{BA293A0E-FB8E-42C6-A07A-FF0716197D0D}" destId="{31C22A65-CE38-4BAD-A24C-6E519E49BA09}" srcOrd="11" destOrd="0" presId="urn:microsoft.com/office/officeart/2005/8/layout/default"/>
    <dgm:cxn modelId="{2818AD9A-B5C6-4F5F-9F0D-D3A03AED16D6}" type="presParOf" srcId="{BA293A0E-FB8E-42C6-A07A-FF0716197D0D}" destId="{78BD5B00-0171-4BF8-9AFE-2BFAD4FB6899}"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9566F0-286B-4423-B2B4-CEEE24A76C55}"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6856F9C4-A257-4F8E-8A31-3A6AB4C868EF}">
      <dgm:prSet phldrT="[Text]"/>
      <dgm:spPr/>
      <dgm:t>
        <a:bodyPr/>
        <a:lstStyle/>
        <a:p>
          <a:r>
            <a:rPr lang="en-US" err="1">
              <a:solidFill>
                <a:schemeClr val="bg1"/>
              </a:solidFill>
              <a:latin typeface="Segoe Sans Text"/>
            </a:rPr>
            <a:t>GenAIOps</a:t>
          </a:r>
          <a:r>
            <a:rPr lang="en-US">
              <a:solidFill>
                <a:schemeClr val="bg1"/>
              </a:solidFill>
              <a:latin typeface="Segoe Sans Text"/>
            </a:rPr>
            <a:t> Enterprise Lifecycle </a:t>
          </a:r>
          <a:endParaRPr lang="en-US"/>
        </a:p>
      </dgm:t>
    </dgm:pt>
    <dgm:pt modelId="{BD7C2EFD-F202-48A7-BD35-C9B8179D2D8D}" type="parTrans" cxnId="{C92936E9-4FCA-4F0E-8167-D355A2DE349F}">
      <dgm:prSet/>
      <dgm:spPr/>
      <dgm:t>
        <a:bodyPr/>
        <a:lstStyle/>
        <a:p>
          <a:endParaRPr lang="en-US"/>
        </a:p>
      </dgm:t>
    </dgm:pt>
    <dgm:pt modelId="{44CCC2C5-2288-4BCE-990F-D7C8AAE59798}" type="sibTrans" cxnId="{C92936E9-4FCA-4F0E-8167-D355A2DE349F}">
      <dgm:prSet/>
      <dgm:spPr/>
      <dgm:t>
        <a:bodyPr/>
        <a:lstStyle/>
        <a:p>
          <a:endParaRPr lang="en-US"/>
        </a:p>
      </dgm:t>
    </dgm:pt>
    <dgm:pt modelId="{0C7EDFE1-CEEC-4201-AC9F-48CCF3F8337F}">
      <dgm:prSet/>
      <dgm:spPr/>
      <dgm:t>
        <a:bodyPr/>
        <a:lstStyle/>
        <a:p>
          <a:r>
            <a:rPr lang="en-US">
              <a:solidFill>
                <a:schemeClr val="bg1"/>
              </a:solidFill>
              <a:latin typeface="Segoe Sans Text"/>
            </a:rPr>
            <a:t>How to Implement </a:t>
          </a:r>
          <a:r>
            <a:rPr lang="en-US" err="1">
              <a:solidFill>
                <a:schemeClr val="bg1"/>
              </a:solidFill>
              <a:latin typeface="Segoe Sans Text"/>
            </a:rPr>
            <a:t>GenAIOps</a:t>
          </a:r>
          <a:r>
            <a:rPr lang="en-US">
              <a:solidFill>
                <a:schemeClr val="bg1"/>
              </a:solidFill>
              <a:latin typeface="Segoe Sans Text"/>
            </a:rPr>
            <a:t>?</a:t>
          </a:r>
          <a:endParaRPr lang="en-US"/>
        </a:p>
      </dgm:t>
    </dgm:pt>
    <dgm:pt modelId="{A5F2F1D8-CA8D-41F2-9AC2-D0DE0FB673B6}" type="parTrans" cxnId="{C4C52721-AFD1-42F1-8448-F2875F450D7B}">
      <dgm:prSet/>
      <dgm:spPr/>
      <dgm:t>
        <a:bodyPr/>
        <a:lstStyle/>
        <a:p>
          <a:endParaRPr lang="en-US"/>
        </a:p>
      </dgm:t>
    </dgm:pt>
    <dgm:pt modelId="{475B8576-CFEE-4CBF-A90C-530873F76959}" type="sibTrans" cxnId="{C4C52721-AFD1-42F1-8448-F2875F450D7B}">
      <dgm:prSet/>
      <dgm:spPr/>
      <dgm:t>
        <a:bodyPr/>
        <a:lstStyle/>
        <a:p>
          <a:endParaRPr lang="en-US"/>
        </a:p>
      </dgm:t>
    </dgm:pt>
    <dgm:pt modelId="{AB1D186A-19AC-4732-BFC2-0AC36CE24D7A}">
      <dgm:prSet/>
      <dgm:spPr/>
      <dgm:t>
        <a:bodyPr/>
        <a:lstStyle/>
        <a:p>
          <a:r>
            <a:rPr lang="en-US">
              <a:solidFill>
                <a:schemeClr val="bg1"/>
              </a:solidFill>
              <a:latin typeface="Segoe Sans Text"/>
            </a:rPr>
            <a:t>Prototyping </a:t>
          </a:r>
        </a:p>
        <a:p>
          <a:r>
            <a:rPr lang="en-US">
              <a:solidFill>
                <a:schemeClr val="bg1"/>
              </a:solidFill>
              <a:latin typeface="Segoe Sans Text"/>
            </a:rPr>
            <a:t>&amp; </a:t>
          </a:r>
        </a:p>
        <a:p>
          <a:r>
            <a:rPr lang="en-US">
              <a:solidFill>
                <a:schemeClr val="bg1"/>
              </a:solidFill>
              <a:latin typeface="Segoe Sans Text"/>
            </a:rPr>
            <a:t>“POC to Prod” Demo</a:t>
          </a:r>
          <a:endParaRPr lang="en-US"/>
        </a:p>
      </dgm:t>
    </dgm:pt>
    <dgm:pt modelId="{91B14249-3C2A-4756-9182-EEC94CB3FD5C}" type="parTrans" cxnId="{763E8367-1285-48FC-A158-715FC9599ACF}">
      <dgm:prSet/>
      <dgm:spPr/>
      <dgm:t>
        <a:bodyPr/>
        <a:lstStyle/>
        <a:p>
          <a:endParaRPr lang="en-US"/>
        </a:p>
      </dgm:t>
    </dgm:pt>
    <dgm:pt modelId="{D152800D-306B-4D1F-8BFF-C87FE44E1ECA}" type="sibTrans" cxnId="{763E8367-1285-48FC-A158-715FC9599ACF}">
      <dgm:prSet/>
      <dgm:spPr/>
      <dgm:t>
        <a:bodyPr/>
        <a:lstStyle/>
        <a:p>
          <a:endParaRPr lang="en-US"/>
        </a:p>
      </dgm:t>
    </dgm:pt>
    <dgm:pt modelId="{CBB5AF88-EE70-4D7E-93CE-C5DD49323D90}">
      <dgm:prSet/>
      <dgm:spPr/>
      <dgm:t>
        <a:bodyPr/>
        <a:lstStyle/>
        <a:p>
          <a:r>
            <a:rPr lang="en-US">
              <a:solidFill>
                <a:schemeClr val="bg1"/>
              </a:solidFill>
              <a:latin typeface="Segoe Sans Text"/>
            </a:rPr>
            <a:t>Building &amp; Augmenting &amp;</a:t>
          </a:r>
        </a:p>
        <a:p>
          <a:r>
            <a:rPr lang="en-US">
              <a:solidFill>
                <a:schemeClr val="bg1"/>
              </a:solidFill>
              <a:latin typeface="Segoe Sans Text"/>
            </a:rPr>
            <a:t>“POC to Prod” Demo</a:t>
          </a:r>
          <a:endParaRPr lang="en-US"/>
        </a:p>
      </dgm:t>
    </dgm:pt>
    <dgm:pt modelId="{CE71F8DC-49D5-4739-8130-C0F957C9F0E8}" type="parTrans" cxnId="{CC2ADAD2-DB6C-4931-93FC-605C8CA26B23}">
      <dgm:prSet/>
      <dgm:spPr/>
      <dgm:t>
        <a:bodyPr/>
        <a:lstStyle/>
        <a:p>
          <a:endParaRPr lang="en-US"/>
        </a:p>
      </dgm:t>
    </dgm:pt>
    <dgm:pt modelId="{4934CA4E-032D-443A-B0AD-2FAB7E3C3F67}" type="sibTrans" cxnId="{CC2ADAD2-DB6C-4931-93FC-605C8CA26B23}">
      <dgm:prSet/>
      <dgm:spPr/>
      <dgm:t>
        <a:bodyPr/>
        <a:lstStyle/>
        <a:p>
          <a:endParaRPr lang="en-US"/>
        </a:p>
      </dgm:t>
    </dgm:pt>
    <dgm:pt modelId="{3C4939DB-9AA7-472E-9A98-A7D9D66A56CA}">
      <dgm:prSet/>
      <dgm:spPr/>
      <dgm:t>
        <a:bodyPr/>
        <a:lstStyle/>
        <a:p>
          <a:r>
            <a:rPr lang="en-US">
              <a:solidFill>
                <a:schemeClr val="bg1"/>
              </a:solidFill>
              <a:latin typeface="Segoe Sans Text"/>
            </a:rPr>
            <a:t>Deploying &amp; Monitoring</a:t>
          </a:r>
        </a:p>
        <a:p>
          <a:r>
            <a:rPr lang="en-US">
              <a:solidFill>
                <a:schemeClr val="bg1"/>
              </a:solidFill>
              <a:latin typeface="Segoe Sans Text"/>
            </a:rPr>
            <a:t>&amp; </a:t>
          </a:r>
        </a:p>
        <a:p>
          <a:r>
            <a:rPr lang="en-US">
              <a:solidFill>
                <a:schemeClr val="bg1"/>
              </a:solidFill>
              <a:latin typeface="Segoe Sans Text"/>
            </a:rPr>
            <a:t>“POC to Prod” Demo</a:t>
          </a:r>
          <a:endParaRPr lang="en-GB">
            <a:solidFill>
              <a:schemeClr val="bg1"/>
            </a:solidFill>
            <a:latin typeface="Segoe Sans Text"/>
          </a:endParaRPr>
        </a:p>
        <a:p>
          <a:endParaRPr lang="en-US"/>
        </a:p>
      </dgm:t>
    </dgm:pt>
    <dgm:pt modelId="{9B8E986D-35B1-4573-A334-FF8115E9DF34}" type="parTrans" cxnId="{8675AD27-40BA-471B-A106-AC76CE910EB7}">
      <dgm:prSet/>
      <dgm:spPr/>
      <dgm:t>
        <a:bodyPr/>
        <a:lstStyle/>
        <a:p>
          <a:endParaRPr lang="en-US"/>
        </a:p>
      </dgm:t>
    </dgm:pt>
    <dgm:pt modelId="{5D14064B-A5FD-47AE-9749-B69D796F2AEF}" type="sibTrans" cxnId="{8675AD27-40BA-471B-A106-AC76CE910EB7}">
      <dgm:prSet/>
      <dgm:spPr/>
      <dgm:t>
        <a:bodyPr/>
        <a:lstStyle/>
        <a:p>
          <a:endParaRPr lang="en-US"/>
        </a:p>
      </dgm:t>
    </dgm:pt>
    <dgm:pt modelId="{A42494B9-1875-420D-AE84-FC9B8DDA15DC}">
      <dgm:prSet/>
      <dgm:spPr/>
      <dgm:t>
        <a:bodyPr/>
        <a:lstStyle/>
        <a:p>
          <a:r>
            <a:rPr lang="en-US">
              <a:solidFill>
                <a:schemeClr val="bg1"/>
              </a:solidFill>
              <a:latin typeface="Segoe Sans Text"/>
            </a:rPr>
            <a:t>Managing</a:t>
          </a:r>
          <a:endParaRPr lang="en-US"/>
        </a:p>
      </dgm:t>
    </dgm:pt>
    <dgm:pt modelId="{325803B2-5E7C-4BCA-B263-E34E9098DBDD}" type="parTrans" cxnId="{BC275369-1093-4D74-A2E4-F2271DA7B4D5}">
      <dgm:prSet/>
      <dgm:spPr/>
      <dgm:t>
        <a:bodyPr/>
        <a:lstStyle/>
        <a:p>
          <a:endParaRPr lang="en-US"/>
        </a:p>
      </dgm:t>
    </dgm:pt>
    <dgm:pt modelId="{FFCAF26F-CA84-4C28-BD05-50D17674AA1C}" type="sibTrans" cxnId="{BC275369-1093-4D74-A2E4-F2271DA7B4D5}">
      <dgm:prSet/>
      <dgm:spPr/>
      <dgm:t>
        <a:bodyPr/>
        <a:lstStyle/>
        <a:p>
          <a:endParaRPr lang="en-US"/>
        </a:p>
      </dgm:t>
    </dgm:pt>
    <dgm:pt modelId="{BA293A0E-FB8E-42C6-A07A-FF0716197D0D}" type="pres">
      <dgm:prSet presAssocID="{E69566F0-286B-4423-B2B4-CEEE24A76C55}" presName="diagram" presStyleCnt="0">
        <dgm:presLayoutVars>
          <dgm:dir/>
          <dgm:resizeHandles val="exact"/>
        </dgm:presLayoutVars>
      </dgm:prSet>
      <dgm:spPr/>
    </dgm:pt>
    <dgm:pt modelId="{12BCBA14-E524-473E-9532-96080EFAACC3}" type="pres">
      <dgm:prSet presAssocID="{6856F9C4-A257-4F8E-8A31-3A6AB4C868EF}" presName="node" presStyleLbl="node1" presStyleIdx="0" presStyleCnt="6">
        <dgm:presLayoutVars>
          <dgm:bulletEnabled val="1"/>
        </dgm:presLayoutVars>
      </dgm:prSet>
      <dgm:spPr/>
    </dgm:pt>
    <dgm:pt modelId="{12D2C6F1-6193-4DC5-9AA8-DEBAE88B30CC}" type="pres">
      <dgm:prSet presAssocID="{44CCC2C5-2288-4BCE-990F-D7C8AAE59798}" presName="sibTrans" presStyleCnt="0"/>
      <dgm:spPr/>
    </dgm:pt>
    <dgm:pt modelId="{1A278A14-357E-4DCB-86B8-CCDD0E219A88}" type="pres">
      <dgm:prSet presAssocID="{0C7EDFE1-CEEC-4201-AC9F-48CCF3F8337F}" presName="node" presStyleLbl="node1" presStyleIdx="1" presStyleCnt="6">
        <dgm:presLayoutVars>
          <dgm:bulletEnabled val="1"/>
        </dgm:presLayoutVars>
      </dgm:prSet>
      <dgm:spPr/>
    </dgm:pt>
    <dgm:pt modelId="{2348939A-AA5C-4FB2-B9F2-BF98AFCCCFC1}" type="pres">
      <dgm:prSet presAssocID="{475B8576-CFEE-4CBF-A90C-530873F76959}" presName="sibTrans" presStyleCnt="0"/>
      <dgm:spPr/>
    </dgm:pt>
    <dgm:pt modelId="{8E458726-2E40-40C0-96FA-691CF2EFCD44}" type="pres">
      <dgm:prSet presAssocID="{AB1D186A-19AC-4732-BFC2-0AC36CE24D7A}" presName="node" presStyleLbl="node1" presStyleIdx="2" presStyleCnt="6">
        <dgm:presLayoutVars>
          <dgm:bulletEnabled val="1"/>
        </dgm:presLayoutVars>
      </dgm:prSet>
      <dgm:spPr/>
    </dgm:pt>
    <dgm:pt modelId="{CE06D20C-C54C-480D-9312-934D215ACBC0}" type="pres">
      <dgm:prSet presAssocID="{D152800D-306B-4D1F-8BFF-C87FE44E1ECA}" presName="sibTrans" presStyleCnt="0"/>
      <dgm:spPr/>
    </dgm:pt>
    <dgm:pt modelId="{36DFB81C-936A-4283-B18A-B5C32D8DFA58}" type="pres">
      <dgm:prSet presAssocID="{CBB5AF88-EE70-4D7E-93CE-C5DD49323D90}" presName="node" presStyleLbl="node1" presStyleIdx="3" presStyleCnt="6">
        <dgm:presLayoutVars>
          <dgm:bulletEnabled val="1"/>
        </dgm:presLayoutVars>
      </dgm:prSet>
      <dgm:spPr/>
    </dgm:pt>
    <dgm:pt modelId="{CF961C2E-2EF3-4FAE-81EF-2535088B9047}" type="pres">
      <dgm:prSet presAssocID="{4934CA4E-032D-443A-B0AD-2FAB7E3C3F67}" presName="sibTrans" presStyleCnt="0"/>
      <dgm:spPr/>
    </dgm:pt>
    <dgm:pt modelId="{9709D8A7-FA89-437D-893E-C70E4EC69181}" type="pres">
      <dgm:prSet presAssocID="{3C4939DB-9AA7-472E-9A98-A7D9D66A56CA}" presName="node" presStyleLbl="node1" presStyleIdx="4" presStyleCnt="6">
        <dgm:presLayoutVars>
          <dgm:bulletEnabled val="1"/>
        </dgm:presLayoutVars>
      </dgm:prSet>
      <dgm:spPr/>
    </dgm:pt>
    <dgm:pt modelId="{2615905D-233A-4AA9-A32C-CBDBD3531F67}" type="pres">
      <dgm:prSet presAssocID="{5D14064B-A5FD-47AE-9749-B69D796F2AEF}" presName="sibTrans" presStyleCnt="0"/>
      <dgm:spPr/>
    </dgm:pt>
    <dgm:pt modelId="{F016D33E-CFD2-4477-A57F-AFDE763E5A80}" type="pres">
      <dgm:prSet presAssocID="{A42494B9-1875-420D-AE84-FC9B8DDA15DC}" presName="node" presStyleLbl="node1" presStyleIdx="5" presStyleCnt="6">
        <dgm:presLayoutVars>
          <dgm:bulletEnabled val="1"/>
        </dgm:presLayoutVars>
      </dgm:prSet>
      <dgm:spPr/>
    </dgm:pt>
  </dgm:ptLst>
  <dgm:cxnLst>
    <dgm:cxn modelId="{A7E5AD07-BB03-4D72-87CF-58E7C9C5195D}" type="presOf" srcId="{3C4939DB-9AA7-472E-9A98-A7D9D66A56CA}" destId="{9709D8A7-FA89-437D-893E-C70E4EC69181}" srcOrd="0" destOrd="0" presId="urn:microsoft.com/office/officeart/2005/8/layout/default"/>
    <dgm:cxn modelId="{40993A13-A5E6-4E7B-888D-F93CB966812F}" type="presOf" srcId="{A42494B9-1875-420D-AE84-FC9B8DDA15DC}" destId="{F016D33E-CFD2-4477-A57F-AFDE763E5A80}" srcOrd="0" destOrd="0" presId="urn:microsoft.com/office/officeart/2005/8/layout/default"/>
    <dgm:cxn modelId="{C4C52721-AFD1-42F1-8448-F2875F450D7B}" srcId="{E69566F0-286B-4423-B2B4-CEEE24A76C55}" destId="{0C7EDFE1-CEEC-4201-AC9F-48CCF3F8337F}" srcOrd="1" destOrd="0" parTransId="{A5F2F1D8-CA8D-41F2-9AC2-D0DE0FB673B6}" sibTransId="{475B8576-CFEE-4CBF-A90C-530873F76959}"/>
    <dgm:cxn modelId="{8675AD27-40BA-471B-A106-AC76CE910EB7}" srcId="{E69566F0-286B-4423-B2B4-CEEE24A76C55}" destId="{3C4939DB-9AA7-472E-9A98-A7D9D66A56CA}" srcOrd="4" destOrd="0" parTransId="{9B8E986D-35B1-4573-A334-FF8115E9DF34}" sibTransId="{5D14064B-A5FD-47AE-9749-B69D796F2AEF}"/>
    <dgm:cxn modelId="{50A4D663-C84B-4DE7-9CD5-2F9246078097}" type="presOf" srcId="{0C7EDFE1-CEEC-4201-AC9F-48CCF3F8337F}" destId="{1A278A14-357E-4DCB-86B8-CCDD0E219A88}" srcOrd="0" destOrd="0" presId="urn:microsoft.com/office/officeart/2005/8/layout/default"/>
    <dgm:cxn modelId="{763E8367-1285-48FC-A158-715FC9599ACF}" srcId="{E69566F0-286B-4423-B2B4-CEEE24A76C55}" destId="{AB1D186A-19AC-4732-BFC2-0AC36CE24D7A}" srcOrd="2" destOrd="0" parTransId="{91B14249-3C2A-4756-9182-EEC94CB3FD5C}" sibTransId="{D152800D-306B-4D1F-8BFF-C87FE44E1ECA}"/>
    <dgm:cxn modelId="{BC275369-1093-4D74-A2E4-F2271DA7B4D5}" srcId="{E69566F0-286B-4423-B2B4-CEEE24A76C55}" destId="{A42494B9-1875-420D-AE84-FC9B8DDA15DC}" srcOrd="5" destOrd="0" parTransId="{325803B2-5E7C-4BCA-B263-E34E9098DBDD}" sibTransId="{FFCAF26F-CA84-4C28-BD05-50D17674AA1C}"/>
    <dgm:cxn modelId="{563CEBA3-C6E9-419A-A399-55C0F4897ACE}" type="presOf" srcId="{6856F9C4-A257-4F8E-8A31-3A6AB4C868EF}" destId="{12BCBA14-E524-473E-9532-96080EFAACC3}" srcOrd="0" destOrd="0" presId="urn:microsoft.com/office/officeart/2005/8/layout/default"/>
    <dgm:cxn modelId="{7D4BF9AC-8972-40EA-BF57-663B22B288E1}" type="presOf" srcId="{AB1D186A-19AC-4732-BFC2-0AC36CE24D7A}" destId="{8E458726-2E40-40C0-96FA-691CF2EFCD44}" srcOrd="0" destOrd="0" presId="urn:microsoft.com/office/officeart/2005/8/layout/default"/>
    <dgm:cxn modelId="{CC2ADAD2-DB6C-4931-93FC-605C8CA26B23}" srcId="{E69566F0-286B-4423-B2B4-CEEE24A76C55}" destId="{CBB5AF88-EE70-4D7E-93CE-C5DD49323D90}" srcOrd="3" destOrd="0" parTransId="{CE71F8DC-49D5-4739-8130-C0F957C9F0E8}" sibTransId="{4934CA4E-032D-443A-B0AD-2FAB7E3C3F67}"/>
    <dgm:cxn modelId="{ECE248E7-568B-459B-A522-C0782C26D637}" type="presOf" srcId="{CBB5AF88-EE70-4D7E-93CE-C5DD49323D90}" destId="{36DFB81C-936A-4283-B18A-B5C32D8DFA58}" srcOrd="0" destOrd="0" presId="urn:microsoft.com/office/officeart/2005/8/layout/default"/>
    <dgm:cxn modelId="{C92936E9-4FCA-4F0E-8167-D355A2DE349F}" srcId="{E69566F0-286B-4423-B2B4-CEEE24A76C55}" destId="{6856F9C4-A257-4F8E-8A31-3A6AB4C868EF}" srcOrd="0" destOrd="0" parTransId="{BD7C2EFD-F202-48A7-BD35-C9B8179D2D8D}" sibTransId="{44CCC2C5-2288-4BCE-990F-D7C8AAE59798}"/>
    <dgm:cxn modelId="{8280ACED-E51F-4F37-A68B-B9C9DF2DF807}" type="presOf" srcId="{E69566F0-286B-4423-B2B4-CEEE24A76C55}" destId="{BA293A0E-FB8E-42C6-A07A-FF0716197D0D}" srcOrd="0" destOrd="0" presId="urn:microsoft.com/office/officeart/2005/8/layout/default"/>
    <dgm:cxn modelId="{DE8259AC-263D-46B7-AE9F-473C4769684D}" type="presParOf" srcId="{BA293A0E-FB8E-42C6-A07A-FF0716197D0D}" destId="{12BCBA14-E524-473E-9532-96080EFAACC3}" srcOrd="0" destOrd="0" presId="urn:microsoft.com/office/officeart/2005/8/layout/default"/>
    <dgm:cxn modelId="{0BB0987F-C40A-41E2-9D44-BF50181C3513}" type="presParOf" srcId="{BA293A0E-FB8E-42C6-A07A-FF0716197D0D}" destId="{12D2C6F1-6193-4DC5-9AA8-DEBAE88B30CC}" srcOrd="1" destOrd="0" presId="urn:microsoft.com/office/officeart/2005/8/layout/default"/>
    <dgm:cxn modelId="{23ADE960-C8E9-467B-9693-D4F9A141FB42}" type="presParOf" srcId="{BA293A0E-FB8E-42C6-A07A-FF0716197D0D}" destId="{1A278A14-357E-4DCB-86B8-CCDD0E219A88}" srcOrd="2" destOrd="0" presId="urn:microsoft.com/office/officeart/2005/8/layout/default"/>
    <dgm:cxn modelId="{EAEA3F82-7773-4F01-8CAE-22258368A0F8}" type="presParOf" srcId="{BA293A0E-FB8E-42C6-A07A-FF0716197D0D}" destId="{2348939A-AA5C-4FB2-B9F2-BF98AFCCCFC1}" srcOrd="3" destOrd="0" presId="urn:microsoft.com/office/officeart/2005/8/layout/default"/>
    <dgm:cxn modelId="{904A99E2-33BD-49E9-8359-D863A04F65BB}" type="presParOf" srcId="{BA293A0E-FB8E-42C6-A07A-FF0716197D0D}" destId="{8E458726-2E40-40C0-96FA-691CF2EFCD44}" srcOrd="4" destOrd="0" presId="urn:microsoft.com/office/officeart/2005/8/layout/default"/>
    <dgm:cxn modelId="{836F4EC0-1964-4801-AF37-776D999B686A}" type="presParOf" srcId="{BA293A0E-FB8E-42C6-A07A-FF0716197D0D}" destId="{CE06D20C-C54C-480D-9312-934D215ACBC0}" srcOrd="5" destOrd="0" presId="urn:microsoft.com/office/officeart/2005/8/layout/default"/>
    <dgm:cxn modelId="{538A3132-BA95-4858-972A-4A705802CC99}" type="presParOf" srcId="{BA293A0E-FB8E-42C6-A07A-FF0716197D0D}" destId="{36DFB81C-936A-4283-B18A-B5C32D8DFA58}" srcOrd="6" destOrd="0" presId="urn:microsoft.com/office/officeart/2005/8/layout/default"/>
    <dgm:cxn modelId="{BD84873B-8A31-4C21-8832-2FFCED3A3B70}" type="presParOf" srcId="{BA293A0E-FB8E-42C6-A07A-FF0716197D0D}" destId="{CF961C2E-2EF3-4FAE-81EF-2535088B9047}" srcOrd="7" destOrd="0" presId="urn:microsoft.com/office/officeart/2005/8/layout/default"/>
    <dgm:cxn modelId="{17071903-958C-468D-A21A-D6C7F3A3809F}" type="presParOf" srcId="{BA293A0E-FB8E-42C6-A07A-FF0716197D0D}" destId="{9709D8A7-FA89-437D-893E-C70E4EC69181}" srcOrd="8" destOrd="0" presId="urn:microsoft.com/office/officeart/2005/8/layout/default"/>
    <dgm:cxn modelId="{CDA329C8-9506-4AEC-BC5A-FF474D4A7550}" type="presParOf" srcId="{BA293A0E-FB8E-42C6-A07A-FF0716197D0D}" destId="{2615905D-233A-4AA9-A32C-CBDBD3531F67}" srcOrd="9" destOrd="0" presId="urn:microsoft.com/office/officeart/2005/8/layout/default"/>
    <dgm:cxn modelId="{17F22136-A2DE-4442-A320-9F6C29D081B1}" type="presParOf" srcId="{BA293A0E-FB8E-42C6-A07A-FF0716197D0D}" destId="{F016D33E-CFD2-4477-A57F-AFDE763E5A80}"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CBA14-E524-473E-9532-96080EFAACC3}">
      <dsp:nvSpPr>
        <dsp:cNvPr id="0" name=""/>
        <dsp:cNvSpPr/>
      </dsp:nvSpPr>
      <dsp:spPr>
        <a:xfrm>
          <a:off x="898491" y="2972"/>
          <a:ext cx="1961343" cy="1176805"/>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AI Workload Operations</a:t>
          </a:r>
        </a:p>
      </dsp:txBody>
      <dsp:txXfrm>
        <a:off x="898491" y="2972"/>
        <a:ext cx="1961343" cy="1176805"/>
      </dsp:txXfrm>
    </dsp:sp>
    <dsp:sp modelId="{1A278A14-357E-4DCB-86B8-CCDD0E219A88}">
      <dsp:nvSpPr>
        <dsp:cNvPr id="0" name=""/>
        <dsp:cNvSpPr/>
      </dsp:nvSpPr>
      <dsp:spPr>
        <a:xfrm>
          <a:off x="3055969" y="2972"/>
          <a:ext cx="1961343" cy="1176805"/>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Complexity Levels of GenAI</a:t>
          </a:r>
        </a:p>
      </dsp:txBody>
      <dsp:txXfrm>
        <a:off x="3055969" y="2972"/>
        <a:ext cx="1961343" cy="1176805"/>
      </dsp:txXfrm>
    </dsp:sp>
    <dsp:sp modelId="{8E458726-2E40-40C0-96FA-691CF2EFCD44}">
      <dsp:nvSpPr>
        <dsp:cNvPr id="0" name=""/>
        <dsp:cNvSpPr/>
      </dsp:nvSpPr>
      <dsp:spPr>
        <a:xfrm>
          <a:off x="898491" y="1375912"/>
          <a:ext cx="1961343" cy="1176805"/>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GenAI Assets &amp; Artifacts</a:t>
          </a:r>
        </a:p>
      </dsp:txBody>
      <dsp:txXfrm>
        <a:off x="898491" y="1375912"/>
        <a:ext cx="1961343" cy="1176805"/>
      </dsp:txXfrm>
    </dsp:sp>
    <dsp:sp modelId="{36DFB81C-936A-4283-B18A-B5C32D8DFA58}">
      <dsp:nvSpPr>
        <dsp:cNvPr id="0" name=""/>
        <dsp:cNvSpPr/>
      </dsp:nvSpPr>
      <dsp:spPr>
        <a:xfrm>
          <a:off x="3055969" y="1375912"/>
          <a:ext cx="1961343" cy="1176805"/>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GenAIOps Definition</a:t>
          </a:r>
        </a:p>
      </dsp:txBody>
      <dsp:txXfrm>
        <a:off x="3055969" y="1375912"/>
        <a:ext cx="1961343" cy="1176805"/>
      </dsp:txXfrm>
    </dsp:sp>
    <dsp:sp modelId="{9709D8A7-FA89-437D-893E-C70E4EC69181}">
      <dsp:nvSpPr>
        <dsp:cNvPr id="0" name=""/>
        <dsp:cNvSpPr/>
      </dsp:nvSpPr>
      <dsp:spPr>
        <a:xfrm>
          <a:off x="898491" y="2748852"/>
          <a:ext cx="1961343" cy="1176805"/>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Operations Best Practices</a:t>
          </a:r>
        </a:p>
      </dsp:txBody>
      <dsp:txXfrm>
        <a:off x="898491" y="2748852"/>
        <a:ext cx="1961343" cy="1176805"/>
      </dsp:txXfrm>
    </dsp:sp>
    <dsp:sp modelId="{F016D33E-CFD2-4477-A57F-AFDE763E5A80}">
      <dsp:nvSpPr>
        <dsp:cNvPr id="0" name=""/>
        <dsp:cNvSpPr/>
      </dsp:nvSpPr>
      <dsp:spPr>
        <a:xfrm>
          <a:off x="3055969" y="2748852"/>
          <a:ext cx="1961343" cy="1176805"/>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Benefits of GenAIOps</a:t>
          </a:r>
        </a:p>
      </dsp:txBody>
      <dsp:txXfrm>
        <a:off x="3055969" y="2748852"/>
        <a:ext cx="1961343" cy="1176805"/>
      </dsp:txXfrm>
    </dsp:sp>
    <dsp:sp modelId="{78BD5B00-0171-4BF8-9AFE-2BFAD4FB6899}">
      <dsp:nvSpPr>
        <dsp:cNvPr id="0" name=""/>
        <dsp:cNvSpPr/>
      </dsp:nvSpPr>
      <dsp:spPr>
        <a:xfrm>
          <a:off x="1977230" y="4121792"/>
          <a:ext cx="1961343" cy="1176805"/>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Challenges of GenAIOps with Solutions</a:t>
          </a:r>
        </a:p>
      </dsp:txBody>
      <dsp:txXfrm>
        <a:off x="1977230" y="4121792"/>
        <a:ext cx="1961343" cy="11768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CBA14-E524-473E-9532-96080EFAACC3}">
      <dsp:nvSpPr>
        <dsp:cNvPr id="0" name=""/>
        <dsp:cNvSpPr/>
      </dsp:nvSpPr>
      <dsp:spPr>
        <a:xfrm>
          <a:off x="176636" y="1961"/>
          <a:ext cx="2648824" cy="1589294"/>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err="1">
              <a:solidFill>
                <a:schemeClr val="bg1"/>
              </a:solidFill>
              <a:latin typeface="Segoe Sans Text"/>
            </a:rPr>
            <a:t>GenAIOps</a:t>
          </a:r>
          <a:r>
            <a:rPr lang="en-US" sz="1800" kern="1200">
              <a:solidFill>
                <a:schemeClr val="bg1"/>
              </a:solidFill>
              <a:latin typeface="Segoe Sans Text"/>
            </a:rPr>
            <a:t> Enterprise Lifecycle </a:t>
          </a:r>
          <a:endParaRPr lang="en-US" sz="1800" kern="1200"/>
        </a:p>
      </dsp:txBody>
      <dsp:txXfrm>
        <a:off x="176636" y="1961"/>
        <a:ext cx="2648824" cy="1589294"/>
      </dsp:txXfrm>
    </dsp:sp>
    <dsp:sp modelId="{1A278A14-357E-4DCB-86B8-CCDD0E219A88}">
      <dsp:nvSpPr>
        <dsp:cNvPr id="0" name=""/>
        <dsp:cNvSpPr/>
      </dsp:nvSpPr>
      <dsp:spPr>
        <a:xfrm>
          <a:off x="3090343" y="1961"/>
          <a:ext cx="2648824" cy="1589294"/>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solidFill>
                <a:schemeClr val="bg1"/>
              </a:solidFill>
              <a:latin typeface="Segoe Sans Text"/>
            </a:rPr>
            <a:t>How to Implement </a:t>
          </a:r>
          <a:r>
            <a:rPr lang="en-US" sz="1800" kern="1200" err="1">
              <a:solidFill>
                <a:schemeClr val="bg1"/>
              </a:solidFill>
              <a:latin typeface="Segoe Sans Text"/>
            </a:rPr>
            <a:t>GenAIOps</a:t>
          </a:r>
          <a:r>
            <a:rPr lang="en-US" sz="1800" kern="1200">
              <a:solidFill>
                <a:schemeClr val="bg1"/>
              </a:solidFill>
              <a:latin typeface="Segoe Sans Text"/>
            </a:rPr>
            <a:t>?</a:t>
          </a:r>
          <a:endParaRPr lang="en-US" sz="1800" kern="1200"/>
        </a:p>
      </dsp:txBody>
      <dsp:txXfrm>
        <a:off x="3090343" y="1961"/>
        <a:ext cx="2648824" cy="1589294"/>
      </dsp:txXfrm>
    </dsp:sp>
    <dsp:sp modelId="{8E458726-2E40-40C0-96FA-691CF2EFCD44}">
      <dsp:nvSpPr>
        <dsp:cNvPr id="0" name=""/>
        <dsp:cNvSpPr/>
      </dsp:nvSpPr>
      <dsp:spPr>
        <a:xfrm>
          <a:off x="176636" y="1856138"/>
          <a:ext cx="2648824" cy="1589294"/>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solidFill>
                <a:schemeClr val="bg1"/>
              </a:solidFill>
              <a:latin typeface="Segoe Sans Text"/>
            </a:rPr>
            <a:t>Prototyping </a:t>
          </a:r>
        </a:p>
        <a:p>
          <a:pPr marL="0" lvl="0" indent="0" algn="ctr" defTabSz="800100">
            <a:lnSpc>
              <a:spcPct val="90000"/>
            </a:lnSpc>
            <a:spcBef>
              <a:spcPct val="0"/>
            </a:spcBef>
            <a:spcAft>
              <a:spcPct val="35000"/>
            </a:spcAft>
            <a:buNone/>
          </a:pPr>
          <a:r>
            <a:rPr lang="en-US" sz="1800" kern="1200">
              <a:solidFill>
                <a:schemeClr val="bg1"/>
              </a:solidFill>
              <a:latin typeface="Segoe Sans Text"/>
            </a:rPr>
            <a:t>&amp; </a:t>
          </a:r>
        </a:p>
        <a:p>
          <a:pPr marL="0" lvl="0" indent="0" algn="ctr" defTabSz="800100">
            <a:lnSpc>
              <a:spcPct val="90000"/>
            </a:lnSpc>
            <a:spcBef>
              <a:spcPct val="0"/>
            </a:spcBef>
            <a:spcAft>
              <a:spcPct val="35000"/>
            </a:spcAft>
            <a:buNone/>
          </a:pPr>
          <a:r>
            <a:rPr lang="en-US" sz="1800" kern="1200">
              <a:solidFill>
                <a:schemeClr val="bg1"/>
              </a:solidFill>
              <a:latin typeface="Segoe Sans Text"/>
            </a:rPr>
            <a:t>“POC to Prod” Demo</a:t>
          </a:r>
          <a:endParaRPr lang="en-US" sz="1800" kern="1200"/>
        </a:p>
      </dsp:txBody>
      <dsp:txXfrm>
        <a:off x="176636" y="1856138"/>
        <a:ext cx="2648824" cy="1589294"/>
      </dsp:txXfrm>
    </dsp:sp>
    <dsp:sp modelId="{36DFB81C-936A-4283-B18A-B5C32D8DFA58}">
      <dsp:nvSpPr>
        <dsp:cNvPr id="0" name=""/>
        <dsp:cNvSpPr/>
      </dsp:nvSpPr>
      <dsp:spPr>
        <a:xfrm>
          <a:off x="3090343" y="1856138"/>
          <a:ext cx="2648824" cy="1589294"/>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solidFill>
                <a:schemeClr val="bg1"/>
              </a:solidFill>
              <a:latin typeface="Segoe Sans Text"/>
            </a:rPr>
            <a:t>Building &amp; Augmenting &amp;</a:t>
          </a:r>
        </a:p>
        <a:p>
          <a:pPr marL="0" lvl="0" indent="0" algn="ctr" defTabSz="800100">
            <a:lnSpc>
              <a:spcPct val="90000"/>
            </a:lnSpc>
            <a:spcBef>
              <a:spcPct val="0"/>
            </a:spcBef>
            <a:spcAft>
              <a:spcPct val="35000"/>
            </a:spcAft>
            <a:buNone/>
          </a:pPr>
          <a:r>
            <a:rPr lang="en-US" sz="1800" kern="1200">
              <a:solidFill>
                <a:schemeClr val="bg1"/>
              </a:solidFill>
              <a:latin typeface="Segoe Sans Text"/>
            </a:rPr>
            <a:t>“POC to Prod” Demo</a:t>
          </a:r>
          <a:endParaRPr lang="en-US" sz="1800" kern="1200"/>
        </a:p>
      </dsp:txBody>
      <dsp:txXfrm>
        <a:off x="3090343" y="1856138"/>
        <a:ext cx="2648824" cy="1589294"/>
      </dsp:txXfrm>
    </dsp:sp>
    <dsp:sp modelId="{9709D8A7-FA89-437D-893E-C70E4EC69181}">
      <dsp:nvSpPr>
        <dsp:cNvPr id="0" name=""/>
        <dsp:cNvSpPr/>
      </dsp:nvSpPr>
      <dsp:spPr>
        <a:xfrm>
          <a:off x="176636" y="3710315"/>
          <a:ext cx="2648824" cy="1589294"/>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solidFill>
                <a:schemeClr val="bg1"/>
              </a:solidFill>
              <a:latin typeface="Segoe Sans Text"/>
            </a:rPr>
            <a:t>Deploying &amp; Monitoring</a:t>
          </a:r>
        </a:p>
        <a:p>
          <a:pPr marL="0" lvl="0" indent="0" algn="ctr" defTabSz="800100">
            <a:lnSpc>
              <a:spcPct val="90000"/>
            </a:lnSpc>
            <a:spcBef>
              <a:spcPct val="0"/>
            </a:spcBef>
            <a:spcAft>
              <a:spcPct val="35000"/>
            </a:spcAft>
            <a:buNone/>
          </a:pPr>
          <a:r>
            <a:rPr lang="en-US" sz="1800" kern="1200">
              <a:solidFill>
                <a:schemeClr val="bg1"/>
              </a:solidFill>
              <a:latin typeface="Segoe Sans Text"/>
            </a:rPr>
            <a:t>&amp; </a:t>
          </a:r>
        </a:p>
        <a:p>
          <a:pPr marL="0" lvl="0" indent="0" algn="ctr" defTabSz="800100">
            <a:lnSpc>
              <a:spcPct val="90000"/>
            </a:lnSpc>
            <a:spcBef>
              <a:spcPct val="0"/>
            </a:spcBef>
            <a:spcAft>
              <a:spcPct val="35000"/>
            </a:spcAft>
            <a:buNone/>
          </a:pPr>
          <a:r>
            <a:rPr lang="en-US" sz="1800" kern="1200">
              <a:solidFill>
                <a:schemeClr val="bg1"/>
              </a:solidFill>
              <a:latin typeface="Segoe Sans Text"/>
            </a:rPr>
            <a:t>“POC to Prod” Demo</a:t>
          </a:r>
          <a:endParaRPr lang="en-GB" sz="1800" kern="1200">
            <a:solidFill>
              <a:schemeClr val="bg1"/>
            </a:solidFill>
            <a:latin typeface="Segoe Sans Text"/>
          </a:endParaRPr>
        </a:p>
        <a:p>
          <a:pPr marL="0" lvl="0" indent="0" algn="ctr" defTabSz="800100">
            <a:lnSpc>
              <a:spcPct val="90000"/>
            </a:lnSpc>
            <a:spcBef>
              <a:spcPct val="0"/>
            </a:spcBef>
            <a:spcAft>
              <a:spcPct val="35000"/>
            </a:spcAft>
            <a:buNone/>
          </a:pPr>
          <a:endParaRPr lang="en-US" sz="1800" kern="1200"/>
        </a:p>
      </dsp:txBody>
      <dsp:txXfrm>
        <a:off x="176636" y="3710315"/>
        <a:ext cx="2648824" cy="1589294"/>
      </dsp:txXfrm>
    </dsp:sp>
    <dsp:sp modelId="{F016D33E-CFD2-4477-A57F-AFDE763E5A80}">
      <dsp:nvSpPr>
        <dsp:cNvPr id="0" name=""/>
        <dsp:cNvSpPr/>
      </dsp:nvSpPr>
      <dsp:spPr>
        <a:xfrm>
          <a:off x="3090343" y="3710315"/>
          <a:ext cx="2648824" cy="1589294"/>
        </a:xfrm>
        <a:prstGeom prst="rect">
          <a:avLst/>
        </a:prstGeom>
        <a:solidFill>
          <a:schemeClr val="dk2">
            <a:hueOff val="0"/>
            <a:satOff val="0"/>
            <a:lumOff val="0"/>
            <a:alphaOff val="0"/>
          </a:schemeClr>
        </a:solidFill>
        <a:ln w="1079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solidFill>
                <a:schemeClr val="bg1"/>
              </a:solidFill>
              <a:latin typeface="Segoe Sans Text"/>
            </a:rPr>
            <a:t>Managing</a:t>
          </a:r>
          <a:endParaRPr lang="en-US" sz="1800" kern="1200"/>
        </a:p>
      </dsp:txBody>
      <dsp:txXfrm>
        <a:off x="3090343" y="3710315"/>
        <a:ext cx="2648824" cy="158929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learn.microsoft.com/en-us/azure/ai-studio/reference/reference-model-inference-api?tabs=python"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10/19/2026</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10/19/2026</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10/19/2026</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3147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a:t>
            </a:fld>
            <a:endParaRPr lang="en-US"/>
          </a:p>
        </p:txBody>
      </p:sp>
      <p:sp>
        <p:nvSpPr>
          <p:cNvPr id="3" name="Date Placeholder 2">
            <a:extLst>
              <a:ext uri="{FF2B5EF4-FFF2-40B4-BE49-F238E27FC236}">
                <a16:creationId xmlns:a16="http://schemas.microsoft.com/office/drawing/2014/main" id="{253F21FE-6D90-469E-9047-D9E85B68DF6B}"/>
              </a:ext>
            </a:extLst>
          </p:cNvPr>
          <p:cNvSpPr>
            <a:spLocks noGrp="1"/>
          </p:cNvSpPr>
          <p:nvPr>
            <p:ph type="dt" idx="12"/>
          </p:nvPr>
        </p:nvSpPr>
        <p:spPr/>
        <p:txBody>
          <a:bodyPr/>
          <a:lstStyle/>
          <a:p>
            <a:fld id="{E57E3D00-9D4C-429E-9A61-DDFE4F2097D5}" type="datetime1">
              <a:rPr lang="en-US"/>
              <a:t>10/19/2026</a:t>
            </a:fld>
            <a:endParaRPr lang="en-US"/>
          </a:p>
        </p:txBody>
      </p:sp>
      <p:sp>
        <p:nvSpPr>
          <p:cNvPr id="8" name="Slide Image Placeholder 7">
            <a:extLst>
              <a:ext uri="{FF2B5EF4-FFF2-40B4-BE49-F238E27FC236}">
                <a16:creationId xmlns:a16="http://schemas.microsoft.com/office/drawing/2014/main" id="{C7B11183-186A-4BBC-B2F8-7884666DA15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F5BB2EB-6EC5-46BF-B848-AF78DF3313FB}"/>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D2DE8FA8-BD65-4569-8095-2AAA0C0CEA0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38753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Yes, </a:t>
            </a:r>
            <a:r>
              <a:rPr lang="en-US" sz="1200" kern="1200">
                <a:solidFill>
                  <a:schemeClr val="tx1"/>
                </a:solidFill>
                <a:effectLst/>
                <a:latin typeface="Segoe Sans Text" pitchFamily="2" charset="0"/>
                <a:ea typeface="+mn-ea"/>
                <a:cs typeface="+mn-cs"/>
              </a:rPr>
              <a:t>here’s what we will cover in the </a:t>
            </a:r>
            <a:r>
              <a:rPr lang="en-US" sz="1200" b="1" kern="1200">
                <a:solidFill>
                  <a:schemeClr val="tx1"/>
                </a:solidFill>
                <a:effectLst/>
                <a:latin typeface="Segoe Sans Text" pitchFamily="2" charset="0"/>
                <a:ea typeface="+mn-ea"/>
                <a:cs typeface="+mn-cs"/>
              </a:rPr>
              <a:t>“</a:t>
            </a:r>
            <a:r>
              <a:rPr lang="en-US" sz="1200" b="1" kern="1200" err="1">
                <a:solidFill>
                  <a:schemeClr val="tx1"/>
                </a:solidFill>
                <a:effectLst/>
                <a:latin typeface="Segoe Sans Text" pitchFamily="2" charset="0"/>
                <a:ea typeface="+mn-ea"/>
                <a:cs typeface="+mn-cs"/>
              </a:rPr>
              <a:t>GenAIOps</a:t>
            </a:r>
            <a:r>
              <a:rPr lang="en-US" sz="1200" b="1" kern="1200">
                <a:solidFill>
                  <a:schemeClr val="tx1"/>
                </a:solidFill>
                <a:effectLst/>
                <a:latin typeface="Segoe Sans Text" pitchFamily="2" charset="0"/>
                <a:ea typeface="+mn-ea"/>
                <a:cs typeface="+mn-cs"/>
              </a:rPr>
              <a:t> Overview”</a:t>
            </a:r>
            <a:r>
              <a:rPr lang="en-US" sz="1200" kern="1200">
                <a:solidFill>
                  <a:schemeClr val="tx1"/>
                </a:solidFill>
                <a:effectLst/>
                <a:latin typeface="Segoe Sans Text" pitchFamily="2" charset="0"/>
                <a:ea typeface="+mn-ea"/>
                <a:cs typeface="+mn-cs"/>
              </a:rPr>
              <a:t> section... </a:t>
            </a:r>
            <a:endParaRPr lang="en-GB" sz="1200" kern="1200">
              <a:solidFill>
                <a:schemeClr val="tx1"/>
              </a:solidFill>
              <a:effectLst/>
              <a:latin typeface="Segoe Sans Text" pitchFamily="2" charset="0"/>
              <a:ea typeface="+mn-ea"/>
              <a:cs typeface="+mn-cs"/>
            </a:endParaRPr>
          </a:p>
          <a:p>
            <a:r>
              <a:rPr lang="en-US" sz="1200" kern="1200">
                <a:solidFill>
                  <a:schemeClr val="tx1"/>
                </a:solidFill>
                <a:effectLst/>
                <a:latin typeface="Segoe Sans Text" pitchFamily="2" charset="0"/>
                <a:ea typeface="+mn-ea"/>
                <a:cs typeface="+mn-cs"/>
              </a:rPr>
              <a:t>We will begin by exploring various operational frameworks and examining the complexity levels of GenAI use cases. </a:t>
            </a:r>
            <a:endParaRPr lang="en-GB" sz="1200" kern="1200">
              <a:solidFill>
                <a:schemeClr val="tx1"/>
              </a:solidFill>
              <a:effectLst/>
              <a:latin typeface="Segoe Sans Text" pitchFamily="2" charset="0"/>
              <a:ea typeface="+mn-ea"/>
              <a:cs typeface="+mn-cs"/>
            </a:endParaRPr>
          </a:p>
          <a:p>
            <a:r>
              <a:rPr lang="en-US" sz="1200" kern="1200">
                <a:solidFill>
                  <a:schemeClr val="tx1"/>
                </a:solidFill>
                <a:effectLst/>
                <a:latin typeface="Segoe Sans Text" pitchFamily="2" charset="0"/>
                <a:ea typeface="+mn-ea"/>
                <a:cs typeface="+mn-cs"/>
              </a:rPr>
              <a:t>Next, we’ll discuss the key assets and artifacts associated with GenAI use cases that you need to manage while building </a:t>
            </a:r>
            <a:r>
              <a:rPr lang="en-US" sz="1200" kern="1200" err="1">
                <a:solidFill>
                  <a:schemeClr val="tx1"/>
                </a:solidFill>
                <a:effectLst/>
                <a:latin typeface="Segoe Sans Text" pitchFamily="2" charset="0"/>
                <a:ea typeface="+mn-ea"/>
                <a:cs typeface="+mn-cs"/>
              </a:rPr>
              <a:t>GenAIOps</a:t>
            </a:r>
            <a:r>
              <a:rPr lang="en-US" sz="1200" kern="1200">
                <a:solidFill>
                  <a:schemeClr val="tx1"/>
                </a:solidFill>
                <a:effectLst/>
                <a:latin typeface="Segoe Sans Text" pitchFamily="2" charset="0"/>
                <a:ea typeface="+mn-ea"/>
                <a:cs typeface="+mn-cs"/>
              </a:rPr>
              <a:t>.</a:t>
            </a:r>
            <a:br>
              <a:rPr lang="en-US" sz="1200" kern="1200">
                <a:solidFill>
                  <a:schemeClr val="tx1"/>
                </a:solidFill>
                <a:effectLst/>
                <a:latin typeface="Segoe Sans Text" pitchFamily="2" charset="0"/>
                <a:ea typeface="+mn-ea"/>
                <a:cs typeface="+mn-cs"/>
              </a:rPr>
            </a:br>
            <a:r>
              <a:rPr lang="en-US" sz="1200" kern="1200">
                <a:solidFill>
                  <a:schemeClr val="tx1"/>
                </a:solidFill>
                <a:effectLst/>
                <a:latin typeface="Segoe Sans Text" pitchFamily="2" charset="0"/>
                <a:ea typeface="+mn-ea"/>
                <a:cs typeface="+mn-cs"/>
              </a:rPr>
              <a:t>Finally, we’ll define </a:t>
            </a:r>
            <a:r>
              <a:rPr lang="en-US" sz="1200" b="1" kern="1200" err="1">
                <a:solidFill>
                  <a:schemeClr val="tx1"/>
                </a:solidFill>
                <a:effectLst/>
                <a:latin typeface="Segoe Sans Text" pitchFamily="2" charset="0"/>
                <a:ea typeface="+mn-ea"/>
                <a:cs typeface="+mn-cs"/>
              </a:rPr>
              <a:t>GenAIOps</a:t>
            </a:r>
            <a:r>
              <a:rPr lang="en-US" sz="1200" kern="1200">
                <a:solidFill>
                  <a:schemeClr val="tx1"/>
                </a:solidFill>
                <a:effectLst/>
                <a:latin typeface="Segoe Sans Text" pitchFamily="2" charset="0"/>
                <a:ea typeface="+mn-ea"/>
                <a:cs typeface="+mn-cs"/>
              </a:rPr>
              <a:t>, delve into operations best practices, highlight the benefits of it , and address challenges with the potential solutions.</a:t>
            </a:r>
            <a:endParaRPr lang="en-GB" sz="1200" kern="1200">
              <a:solidFill>
                <a:schemeClr val="tx1"/>
              </a:solidFill>
              <a:effectLst/>
              <a:latin typeface="Segoe Sans Text" pitchFamily="2" charset="0"/>
              <a:ea typeface="+mn-ea"/>
              <a:cs typeface="+mn-cs"/>
            </a:endParaRPr>
          </a:p>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5</a:t>
            </a:fld>
            <a:endParaRPr lang="en-US"/>
          </a:p>
        </p:txBody>
      </p:sp>
    </p:spTree>
    <p:extLst>
      <p:ext uri="{BB962C8B-B14F-4D97-AF65-F5344CB8AC3E}">
        <p14:creationId xmlns:p14="http://schemas.microsoft.com/office/powerpoint/2010/main" val="3188345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smtClean="0"/>
              <a:pPr lvl="0"/>
              <a:t>6</a:t>
            </a:fld>
            <a:endParaRPr lang="en-US" noProof="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smtClean="0"/>
              <a:t>10/19/2026</a:t>
            </a:fld>
            <a:endParaRPr lang="en-US"/>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664352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7</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10/19/2026</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r>
              <a:rPr lang="en-GB" sz="1200" kern="1200">
                <a:solidFill>
                  <a:schemeClr val="tx1"/>
                </a:solidFill>
                <a:effectLst/>
                <a:latin typeface="Segoe Sans Text" pitchFamily="2" charset="0"/>
                <a:ea typeface="+mn-ea"/>
                <a:cs typeface="+mn-cs"/>
              </a:rPr>
              <a:t>Yes, </a:t>
            </a:r>
            <a:r>
              <a:rPr lang="en-US" sz="1200" kern="1200">
                <a:solidFill>
                  <a:schemeClr val="tx1"/>
                </a:solidFill>
                <a:effectLst/>
                <a:latin typeface="Segoe Sans Text" pitchFamily="2" charset="0"/>
                <a:ea typeface="+mn-ea"/>
                <a:cs typeface="+mn-cs"/>
              </a:rPr>
              <a:t>here’s what we will cover in the </a:t>
            </a:r>
            <a:r>
              <a:rPr lang="en-US" sz="1200" b="1" kern="1200">
                <a:solidFill>
                  <a:schemeClr val="tx1"/>
                </a:solidFill>
                <a:effectLst/>
                <a:latin typeface="Segoe Sans Text" pitchFamily="2" charset="0"/>
                <a:ea typeface="+mn-ea"/>
                <a:cs typeface="+mn-cs"/>
              </a:rPr>
              <a:t>“</a:t>
            </a:r>
            <a:r>
              <a:rPr lang="en-US" sz="1200" b="1" kern="1200" err="1">
                <a:solidFill>
                  <a:schemeClr val="tx1"/>
                </a:solidFill>
                <a:effectLst/>
                <a:latin typeface="Segoe Sans Text" pitchFamily="2" charset="0"/>
                <a:ea typeface="+mn-ea"/>
                <a:cs typeface="+mn-cs"/>
              </a:rPr>
              <a:t>GenAIOps</a:t>
            </a:r>
            <a:r>
              <a:rPr lang="en-US" sz="1200" b="1" kern="1200">
                <a:solidFill>
                  <a:schemeClr val="tx1"/>
                </a:solidFill>
                <a:effectLst/>
                <a:latin typeface="Segoe Sans Text" pitchFamily="2" charset="0"/>
                <a:ea typeface="+mn-ea"/>
                <a:cs typeface="+mn-cs"/>
              </a:rPr>
              <a:t> Overview”</a:t>
            </a:r>
            <a:r>
              <a:rPr lang="en-US" sz="1200" kern="1200">
                <a:solidFill>
                  <a:schemeClr val="tx1"/>
                </a:solidFill>
                <a:effectLst/>
                <a:latin typeface="Segoe Sans Text" pitchFamily="2" charset="0"/>
                <a:ea typeface="+mn-ea"/>
                <a:cs typeface="+mn-cs"/>
              </a:rPr>
              <a:t> section... </a:t>
            </a:r>
            <a:endParaRPr lang="en-GB" sz="1200" kern="1200">
              <a:solidFill>
                <a:schemeClr val="tx1"/>
              </a:solidFill>
              <a:effectLst/>
              <a:latin typeface="Segoe Sans Text" pitchFamily="2" charset="0"/>
              <a:ea typeface="+mn-ea"/>
              <a:cs typeface="+mn-cs"/>
            </a:endParaRPr>
          </a:p>
          <a:p>
            <a:r>
              <a:rPr lang="en-US" sz="1200" kern="1200">
                <a:solidFill>
                  <a:schemeClr val="tx1"/>
                </a:solidFill>
                <a:effectLst/>
                <a:latin typeface="Segoe Sans Text" pitchFamily="2" charset="0"/>
                <a:ea typeface="+mn-ea"/>
                <a:cs typeface="+mn-cs"/>
              </a:rPr>
              <a:t>We will begin by exploring various operational frameworks and examining the complexity levels of GenAI use cases. </a:t>
            </a:r>
            <a:endParaRPr lang="en-GB" sz="1200" kern="1200">
              <a:solidFill>
                <a:schemeClr val="tx1"/>
              </a:solidFill>
              <a:effectLst/>
              <a:latin typeface="Segoe Sans Text" pitchFamily="2" charset="0"/>
              <a:ea typeface="+mn-ea"/>
              <a:cs typeface="+mn-cs"/>
            </a:endParaRPr>
          </a:p>
          <a:p>
            <a:r>
              <a:rPr lang="en-US" sz="1200" kern="1200">
                <a:solidFill>
                  <a:schemeClr val="tx1"/>
                </a:solidFill>
                <a:effectLst/>
                <a:latin typeface="Segoe Sans Text" pitchFamily="2" charset="0"/>
                <a:ea typeface="+mn-ea"/>
                <a:cs typeface="+mn-cs"/>
              </a:rPr>
              <a:t>Next, we’ll discuss the key assets and artifacts associated with GenAI use cases that you need to manage while building </a:t>
            </a:r>
            <a:r>
              <a:rPr lang="en-US" sz="1200" kern="1200" err="1">
                <a:solidFill>
                  <a:schemeClr val="tx1"/>
                </a:solidFill>
                <a:effectLst/>
                <a:latin typeface="Segoe Sans Text" pitchFamily="2" charset="0"/>
                <a:ea typeface="+mn-ea"/>
                <a:cs typeface="+mn-cs"/>
              </a:rPr>
              <a:t>GenAIOps</a:t>
            </a:r>
            <a:r>
              <a:rPr lang="en-US" sz="1200" kern="1200">
                <a:solidFill>
                  <a:schemeClr val="tx1"/>
                </a:solidFill>
                <a:effectLst/>
                <a:latin typeface="Segoe Sans Text" pitchFamily="2" charset="0"/>
                <a:ea typeface="+mn-ea"/>
                <a:cs typeface="+mn-cs"/>
              </a:rPr>
              <a:t>.</a:t>
            </a:r>
            <a:br>
              <a:rPr lang="en-US" sz="1200" kern="1200">
                <a:solidFill>
                  <a:schemeClr val="tx1"/>
                </a:solidFill>
                <a:effectLst/>
                <a:latin typeface="Segoe Sans Text" pitchFamily="2" charset="0"/>
                <a:ea typeface="+mn-ea"/>
                <a:cs typeface="+mn-cs"/>
              </a:rPr>
            </a:br>
            <a:r>
              <a:rPr lang="en-US" sz="1200" kern="1200">
                <a:solidFill>
                  <a:schemeClr val="tx1"/>
                </a:solidFill>
                <a:effectLst/>
                <a:latin typeface="Segoe Sans Text" pitchFamily="2" charset="0"/>
                <a:ea typeface="+mn-ea"/>
                <a:cs typeface="+mn-cs"/>
              </a:rPr>
              <a:t>Finally, we’ll define </a:t>
            </a:r>
            <a:r>
              <a:rPr lang="en-US" sz="1200" b="1" kern="1200" err="1">
                <a:solidFill>
                  <a:schemeClr val="tx1"/>
                </a:solidFill>
                <a:effectLst/>
                <a:latin typeface="Segoe Sans Text" pitchFamily="2" charset="0"/>
                <a:ea typeface="+mn-ea"/>
                <a:cs typeface="+mn-cs"/>
              </a:rPr>
              <a:t>GenAIOps</a:t>
            </a:r>
            <a:r>
              <a:rPr lang="en-US" sz="1200" kern="1200">
                <a:solidFill>
                  <a:schemeClr val="tx1"/>
                </a:solidFill>
                <a:effectLst/>
                <a:latin typeface="Segoe Sans Text" pitchFamily="2" charset="0"/>
                <a:ea typeface="+mn-ea"/>
                <a:cs typeface="+mn-cs"/>
              </a:rPr>
              <a:t>, delve into operations best practices, highlight the benefits of it , and address challenges with the potential solutions.</a:t>
            </a:r>
            <a:endParaRPr lang="en-GB" sz="1200" kern="1200">
              <a:solidFill>
                <a:schemeClr val="tx1"/>
              </a:solidFill>
              <a:effectLst/>
              <a:latin typeface="Segoe Sans Text" pitchFamily="2" charset="0"/>
              <a:ea typeface="+mn-ea"/>
              <a:cs typeface="+mn-cs"/>
            </a:endParaRPr>
          </a:p>
          <a:p>
            <a:endParaRPr lang="en-US"/>
          </a:p>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843965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Before we start, lets address “why </a:t>
            </a:r>
            <a:r>
              <a:rPr lang="en-US" b="1" err="1"/>
              <a:t>genaiops</a:t>
            </a:r>
            <a:r>
              <a:rPr lang="en-US" b="1"/>
              <a:t>”? Question by asking questions </a:t>
            </a:r>
            <a:r>
              <a:rPr lang="en-US" b="1">
                <a:sym typeface="Wingdings" panose="05000000000000000000" pitchFamily="2" charset="2"/>
              </a:rPr>
              <a:t></a:t>
            </a:r>
            <a:r>
              <a:rPr lang="en-US"/>
              <a:t>, it’s important to ask yourself or to your customers these key questions. </a:t>
            </a:r>
          </a:p>
          <a:p>
            <a:r>
              <a:rPr lang="en-US"/>
              <a:t>Let’s begin: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spc="0">
                <a:ln>
                  <a:noFill/>
                </a:ln>
                <a:solidFill>
                  <a:schemeClr val="bg1"/>
                </a:solidFill>
                <a:latin typeface="Segoe Sans Text Semibold"/>
              </a:rPr>
              <a:t>Do you have a clear GenAI strategy for integrating tools, design patterns, and practices to ensure smooth, reliable, and scalable operations without reengineering the infrastructure? </a:t>
            </a:r>
          </a:p>
          <a:p>
            <a:endParaRPr lang="en-GB"/>
          </a:p>
          <a:p>
            <a:r>
              <a:rPr lang="en-US"/>
              <a:t>This is crucial because you may have numerous GenAI use cases to implement within a short timeframe, and starting from scratch each time is not practical. For instance:</a:t>
            </a:r>
          </a:p>
          <a:p>
            <a:pPr>
              <a:buFont typeface="Arial" panose="020B0604020202020204" pitchFamily="34" charset="0"/>
              <a:buChar char="•"/>
            </a:pPr>
            <a:r>
              <a:rPr lang="en-US"/>
              <a:t>Establishing an </a:t>
            </a:r>
            <a:r>
              <a:rPr lang="en-US" b="1"/>
              <a:t>AI Landing Zone</a:t>
            </a:r>
            <a:r>
              <a:rPr lang="en-US"/>
              <a:t> is essential to create a solid foundation.</a:t>
            </a:r>
          </a:p>
          <a:p>
            <a:pPr>
              <a:buFont typeface="Arial" panose="020B0604020202020204" pitchFamily="34" charset="0"/>
              <a:buChar char="•"/>
            </a:pPr>
            <a:r>
              <a:rPr lang="en-US"/>
              <a:t>Developing and enforcing </a:t>
            </a:r>
            <a:r>
              <a:rPr lang="en-US" b="1"/>
              <a:t>best practices</a:t>
            </a:r>
            <a:r>
              <a:rPr lang="en-US"/>
              <a:t> across your organization is critical. These should be adopted by default—for example, implementing centralized logging for audits or building infrastructure that scales effortlessly.</a:t>
            </a:r>
          </a:p>
          <a:p>
            <a:pPr>
              <a:buFont typeface="Arial" panose="020B0604020202020204" pitchFamily="34" charset="0"/>
              <a:buChar char="•"/>
            </a:pPr>
            <a:r>
              <a:rPr lang="en-US"/>
              <a:t>Managing </a:t>
            </a:r>
            <a:r>
              <a:rPr lang="en-US" b="1"/>
              <a:t>model deprecations and retirements</a:t>
            </a:r>
            <a:r>
              <a:rPr lang="en-US"/>
              <a:t> is equally important. In this fast-paced field, staying competitive requires adopting the latest, more cost-effective, and better-performing models. Achieving this involves reference architectures and clearly defined guardrails.</a:t>
            </a:r>
          </a:p>
          <a:p>
            <a:r>
              <a:rPr lang="en-GB"/>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spc="0">
                <a:ln>
                  <a:noFill/>
                </a:ln>
                <a:solidFill>
                  <a:schemeClr val="bg1"/>
                </a:solidFill>
                <a:latin typeface="Segoe Sans Text Semibold"/>
              </a:rPr>
              <a:t>Second question: “How does your customer address organizational silos to ensure alignment, collaboration, and quick problem resolution, including troubleshooting and postmortems?”</a:t>
            </a:r>
            <a:endParaRPr lang="en-GB" sz="1200" spc="0">
              <a:ln>
                <a:noFill/>
              </a:ln>
              <a:solidFill>
                <a:schemeClr val="bg1"/>
              </a:solidFill>
              <a:latin typeface="Segoe Sans Text Semibold"/>
            </a:endParaRPr>
          </a:p>
          <a:p>
            <a:endParaRPr lang="en-GB"/>
          </a:p>
          <a:p>
            <a:r>
              <a:rPr lang="en-GB" sz="1200" kern="1200">
                <a:solidFill>
                  <a:schemeClr val="tx1"/>
                </a:solidFill>
                <a:effectLst/>
                <a:latin typeface="Segoe Sans Text" pitchFamily="2" charset="0"/>
                <a:ea typeface="+mn-ea"/>
                <a:cs typeface="+mn-cs"/>
              </a:rPr>
              <a:t>Building a GenAI solution is only the beginning. What happens next? You need to deploy it and monitor it. You need to handle different challenges such as reliability issues, ethical concerns, operational inefficiencies, over-complexity, and scalability. These challenges require strategic cross-functional collaboration. Involving executives in decisions regarding the adoption or retirement of models, tools, and frameworks is essential to align objectives and maintain operational efficiency.</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spc="0">
              <a:ln>
                <a:noFill/>
              </a:ln>
              <a:solidFill>
                <a:schemeClr val="bg1"/>
              </a:solidFill>
              <a:latin typeface="Segoe Sans Text Semi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spc="0">
                <a:ln>
                  <a:noFill/>
                </a:ln>
                <a:solidFill>
                  <a:schemeClr val="bg1"/>
                </a:solidFill>
                <a:latin typeface="Segoe Sans Text Semibold"/>
              </a:rPr>
              <a:t>Next question: “How do you monitor development, scaling, and risk indicators to ensure smooth, adaptive real-time GenAI application performance?”</a:t>
            </a:r>
            <a:endParaRPr lang="en-GB" sz="1200" spc="0">
              <a:ln>
                <a:noFill/>
              </a:ln>
              <a:solidFill>
                <a:schemeClr val="bg1"/>
              </a:solidFill>
              <a:latin typeface="Segoe Sans Text Semibold"/>
            </a:endParaRPr>
          </a:p>
          <a:p>
            <a:endParaRPr lang="en-US"/>
          </a:p>
          <a:p>
            <a:r>
              <a:rPr lang="en-GB" sz="1200" kern="1200">
                <a:solidFill>
                  <a:schemeClr val="tx1"/>
                </a:solidFill>
                <a:effectLst/>
                <a:latin typeface="Segoe Sans Text" pitchFamily="2" charset="0"/>
                <a:ea typeface="+mn-ea"/>
                <a:cs typeface="+mn-cs"/>
              </a:rPr>
              <a:t>Firstly, we are  aiming “observability”. There are different levels of monitoring that we need to implement such as model level or application or platform level.  Understanding data governance is also play a key part here. Once we have good observability we can have continuous improvement in our application life cycle to improve the operational excellence.</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spc="0">
                <a:ln>
                  <a:noFill/>
                </a:ln>
                <a:solidFill>
                  <a:schemeClr val="bg1"/>
                </a:solidFill>
                <a:latin typeface="Segoe Sans Text Semibold"/>
              </a:rPr>
              <a:t>And another question to warm up “Have you already built DevOps or </a:t>
            </a:r>
            <a:r>
              <a:rPr lang="en-US" sz="1200" spc="0" err="1">
                <a:ln>
                  <a:noFill/>
                </a:ln>
                <a:solidFill>
                  <a:schemeClr val="bg1"/>
                </a:solidFill>
                <a:latin typeface="Segoe Sans Text Semibold"/>
              </a:rPr>
              <a:t>MLOps</a:t>
            </a:r>
            <a:r>
              <a:rPr lang="en-US" sz="1200" spc="0">
                <a:ln>
                  <a:noFill/>
                </a:ln>
                <a:solidFill>
                  <a:schemeClr val="bg1"/>
                </a:solidFill>
                <a:latin typeface="Segoe Sans Text Semibold"/>
              </a:rPr>
              <a:t> and can you use your existing Ops for GenAI solutions?”</a:t>
            </a:r>
            <a:endParaRPr lang="en-GB" sz="1200" spc="0">
              <a:ln>
                <a:noFill/>
              </a:ln>
              <a:solidFill>
                <a:schemeClr val="bg1"/>
              </a:solidFill>
              <a:latin typeface="Segoe Sans Text Semibold"/>
            </a:endParaRPr>
          </a:p>
          <a:p>
            <a:endParaRPr lang="en-GB"/>
          </a:p>
          <a:p>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is a game-changing strategy for systematically operationalizing GenAI applications, guiding tool selection, design patterns, and cultural principles to ensure efficient, seamless performance. So while building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you can use your existing Ops solutions and particularly your experience in DevOps, </a:t>
            </a:r>
            <a:r>
              <a:rPr lang="en-GB" sz="1200" kern="1200" err="1">
                <a:solidFill>
                  <a:schemeClr val="tx1"/>
                </a:solidFill>
                <a:effectLst/>
                <a:latin typeface="Segoe Sans Text" pitchFamily="2" charset="0"/>
                <a:ea typeface="+mn-ea"/>
                <a:cs typeface="+mn-cs"/>
              </a:rPr>
              <a:t>MLOps</a:t>
            </a:r>
            <a:r>
              <a:rPr lang="en-GB" sz="1200" kern="1200">
                <a:solidFill>
                  <a:schemeClr val="tx1"/>
                </a:solidFill>
                <a:effectLst/>
                <a:latin typeface="Segoe Sans Text" pitchFamily="2" charset="0"/>
                <a:ea typeface="+mn-ea"/>
                <a:cs typeface="+mn-cs"/>
              </a:rPr>
              <a:t> and </a:t>
            </a:r>
            <a:r>
              <a:rPr lang="en-GB" sz="1200" kern="1200" err="1">
                <a:solidFill>
                  <a:schemeClr val="tx1"/>
                </a:solidFill>
                <a:effectLst/>
                <a:latin typeface="Segoe Sans Text" pitchFamily="2" charset="0"/>
                <a:ea typeface="+mn-ea"/>
                <a:cs typeface="+mn-cs"/>
              </a:rPr>
              <a:t>DataOps</a:t>
            </a:r>
            <a:r>
              <a:rPr lang="en-GB" sz="1200" kern="1200">
                <a:solidFill>
                  <a:schemeClr val="tx1"/>
                </a:solidFill>
                <a:effectLst/>
                <a:latin typeface="Segoe Sans Text" pitchFamily="2" charset="0"/>
                <a:ea typeface="+mn-ea"/>
                <a:cs typeface="+mn-cs"/>
              </a:rPr>
              <a:t>.</a:t>
            </a:r>
          </a:p>
          <a:p>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Next question “Does your customer have concerns about privacy , security and grounding?” which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can help  with bringing standard approach for all </a:t>
            </a:r>
            <a:r>
              <a:rPr lang="en-GB" sz="1200" kern="1200" err="1">
                <a:solidFill>
                  <a:schemeClr val="tx1"/>
                </a:solidFill>
                <a:effectLst/>
                <a:latin typeface="Segoe Sans Text" pitchFamily="2" charset="0"/>
                <a:ea typeface="+mn-ea"/>
                <a:cs typeface="+mn-cs"/>
              </a:rPr>
              <a:t>genai</a:t>
            </a:r>
            <a:r>
              <a:rPr lang="en-GB" sz="1200" kern="1200">
                <a:solidFill>
                  <a:schemeClr val="tx1"/>
                </a:solidFill>
                <a:effectLst/>
                <a:latin typeface="Segoe Sans Text" pitchFamily="2" charset="0"/>
                <a:ea typeface="+mn-ea"/>
                <a:cs typeface="+mn-cs"/>
              </a:rPr>
              <a:t> use case deployments.</a:t>
            </a:r>
          </a:p>
          <a:p>
            <a:endParaRPr lang="en-GB" sz="1200" kern="1200">
              <a:solidFill>
                <a:schemeClr val="tx1"/>
              </a:solidFill>
              <a:effectLst/>
              <a:latin typeface="Segoe Sans Text" pitchFamily="2" charset="0"/>
              <a:ea typeface="+mn-ea"/>
              <a:cs typeface="+mn-cs"/>
            </a:endParaRPr>
          </a:p>
          <a:p>
            <a:r>
              <a:rPr lang="en-US" b="1"/>
              <a:t>And finally,</a:t>
            </a:r>
            <a:r>
              <a:rPr lang="en-US"/>
              <a:t> </a:t>
            </a:r>
            <a:r>
              <a:rPr lang="en-US" i="1"/>
              <a:t>do developers lack the experience and tools to effectively evaluate, improve, and scale their solutions?</a:t>
            </a:r>
            <a:r>
              <a:rPr lang="en-US"/>
              <a:t> </a:t>
            </a:r>
            <a:r>
              <a:rPr lang="en-US" err="1"/>
              <a:t>GenAIOps</a:t>
            </a:r>
            <a:r>
              <a:rPr lang="en-US"/>
              <a:t> addresses this challenge by providing a comprehensive set of practices and tools that support developers in moving their AI solutions from proof of concept to full production. A core principle of </a:t>
            </a:r>
            <a:r>
              <a:rPr lang="en-US" err="1"/>
              <a:t>GenAIOps</a:t>
            </a:r>
            <a:r>
              <a:rPr lang="en-US"/>
              <a:t> is its focus on automation and templating. By adopting a clear and systematic approach, developers can ensure their solutions are not only scalable but also maintainable over time.</a:t>
            </a:r>
          </a:p>
          <a:p>
            <a:endParaRPr lang="en-US"/>
          </a:p>
          <a:p>
            <a:endParaRPr lang="en-US"/>
          </a:p>
          <a:p>
            <a:r>
              <a:rPr lang="en-US"/>
              <a:t>-------------------</a:t>
            </a:r>
          </a:p>
          <a:p>
            <a:r>
              <a:rPr lang="en-US" b="0" i="0">
                <a:solidFill>
                  <a:srgbClr val="3D3B49"/>
                </a:solidFill>
                <a:effectLst/>
                <a:latin typeface="Segoe Sans Text" pitchFamily="2" charset="0"/>
              </a:rPr>
              <a:t>Consumers expect LLM-based applications to have real-time or near-real-time latency so an </a:t>
            </a:r>
            <a:r>
              <a:rPr lang="en-US" b="0" i="0" err="1">
                <a:solidFill>
                  <a:srgbClr val="3D3B49"/>
                </a:solidFill>
                <a:effectLst/>
                <a:latin typeface="Segoe Sans Text" pitchFamily="2" charset="0"/>
              </a:rPr>
              <a:t>LLMOps</a:t>
            </a:r>
            <a:r>
              <a:rPr lang="en-US" b="0" i="0">
                <a:solidFill>
                  <a:srgbClr val="3D3B49"/>
                </a:solidFill>
                <a:effectLst/>
                <a:latin typeface="Segoe Sans Text" pitchFamily="2" charset="0"/>
              </a:rPr>
              <a:t> strategy should help you make sure your infrastructure can adapt to varying scales of operation.</a:t>
            </a:r>
          </a:p>
          <a:p>
            <a:endParaRPr lang="en-US" b="0" i="0">
              <a:solidFill>
                <a:srgbClr val="3D3B49"/>
              </a:solidFill>
              <a:effectLst/>
              <a:latin typeface="Segoe Sans Text"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t>2: </a:t>
            </a:r>
            <a:r>
              <a:rPr lang="en-GB" err="1"/>
              <a:t>Pstmortems</a:t>
            </a:r>
            <a:r>
              <a:rPr lang="en-GB"/>
              <a:t>: Understand the root cause, document the incident, learn from the incident, improve practices…</a:t>
            </a:r>
          </a:p>
          <a:p>
            <a:endParaRPr lang="en-GB"/>
          </a:p>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8</a:t>
            </a:fld>
            <a:endParaRPr lang="en-US"/>
          </a:p>
        </p:txBody>
      </p:sp>
    </p:spTree>
    <p:extLst>
      <p:ext uri="{BB962C8B-B14F-4D97-AF65-F5344CB8AC3E}">
        <p14:creationId xmlns:p14="http://schemas.microsoft.com/office/powerpoint/2010/main" val="697203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AI workloads involve a wide range of operational tasks. Let’s explore these at a high level. First, we can all agree that operations are essential for ensuring efficiency, quality, reliability, security, ethics, and other standards that organizations prioritize for their AI workloads.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At a high level, tasks associated with AI workloads can be categorized into three main areas: Application Development, Data Handling, and AI Model Management.</a:t>
            </a:r>
            <a:br>
              <a:rPr lang="en-GB" sz="1200"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I will not focus on DevOps, </a:t>
            </a:r>
            <a:r>
              <a:rPr lang="en-GB" sz="1200" b="1" kern="1200" err="1">
                <a:solidFill>
                  <a:schemeClr val="tx1"/>
                </a:solidFill>
                <a:effectLst/>
                <a:latin typeface="Segoe Sans Text" pitchFamily="2" charset="0"/>
                <a:ea typeface="+mn-ea"/>
                <a:cs typeface="+mn-cs"/>
              </a:rPr>
              <a:t>DevSecOps</a:t>
            </a:r>
            <a:r>
              <a:rPr lang="en-GB" sz="1200" b="1" kern="1200">
                <a:solidFill>
                  <a:schemeClr val="tx1"/>
                </a:solidFill>
                <a:effectLst/>
                <a:latin typeface="Segoe Sans Text" pitchFamily="2" charset="0"/>
                <a:ea typeface="+mn-ea"/>
                <a:cs typeface="+mn-cs"/>
              </a:rPr>
              <a:t> , </a:t>
            </a:r>
            <a:r>
              <a:rPr lang="en-GB" sz="1200" b="1" kern="1200" err="1">
                <a:solidFill>
                  <a:schemeClr val="tx1"/>
                </a:solidFill>
                <a:effectLst/>
                <a:latin typeface="Segoe Sans Text" pitchFamily="2" charset="0"/>
                <a:ea typeface="+mn-ea"/>
                <a:cs typeface="+mn-cs"/>
              </a:rPr>
              <a:t>DataOps</a:t>
            </a:r>
            <a:r>
              <a:rPr lang="en-GB" sz="1200" b="1" kern="1200">
                <a:solidFill>
                  <a:schemeClr val="tx1"/>
                </a:solidFill>
                <a:effectLst/>
                <a:latin typeface="Segoe Sans Text" pitchFamily="2" charset="0"/>
                <a:ea typeface="+mn-ea"/>
                <a:cs typeface="+mn-cs"/>
              </a:rPr>
              <a:t> and will start with </a:t>
            </a:r>
            <a:r>
              <a:rPr lang="en-GB" sz="1200" b="1" kern="1200" err="1">
                <a:solidFill>
                  <a:schemeClr val="tx1"/>
                </a:solidFill>
                <a:effectLst/>
                <a:latin typeface="Segoe Sans Text" pitchFamily="2" charset="0"/>
                <a:ea typeface="+mn-ea"/>
                <a:cs typeface="+mn-cs"/>
              </a:rPr>
              <a:t>MLOps</a:t>
            </a:r>
            <a:r>
              <a:rPr lang="en-GB" sz="1200" b="1" kern="1200">
                <a:solidFill>
                  <a:schemeClr val="tx1"/>
                </a:solidFill>
                <a:effectLst/>
                <a:latin typeface="Segoe Sans Text" pitchFamily="2" charset="0"/>
                <a:ea typeface="+mn-ea"/>
                <a:cs typeface="+mn-cs"/>
              </a:rPr>
              <a:t>:</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a:t>
            </a:r>
            <a:r>
              <a:rPr lang="en-GB" sz="1200" kern="1200">
                <a:solidFill>
                  <a:schemeClr val="tx1"/>
                </a:solidFill>
                <a:effectLst/>
                <a:latin typeface="Segoe Sans Text" pitchFamily="2" charset="0"/>
                <a:ea typeface="+mn-ea"/>
                <a:cs typeface="+mn-cs"/>
              </a:rPr>
              <a:t> </a:t>
            </a:r>
            <a:r>
              <a:rPr lang="en-GB" sz="1200" kern="1200" err="1">
                <a:solidFill>
                  <a:schemeClr val="tx1"/>
                </a:solidFill>
                <a:effectLst/>
                <a:latin typeface="Segoe Sans Text" pitchFamily="2" charset="0"/>
                <a:ea typeface="+mn-ea"/>
                <a:cs typeface="+mn-cs"/>
              </a:rPr>
              <a:t>MLOps</a:t>
            </a:r>
            <a:r>
              <a:rPr lang="en-GB" sz="1200" kern="1200">
                <a:solidFill>
                  <a:schemeClr val="tx1"/>
                </a:solidFill>
                <a:effectLst/>
                <a:latin typeface="Segoe Sans Text" pitchFamily="2" charset="0"/>
                <a:ea typeface="+mn-ea"/>
                <a:cs typeface="+mn-cs"/>
              </a:rPr>
              <a:t> is key for traditional AI Model Management. It addresses the unique challenges of AI, such as the unpredictability of AI outputs and drifts. Key checkpoints in </a:t>
            </a:r>
            <a:r>
              <a:rPr lang="en-GB" sz="1200" kern="1200" err="1">
                <a:solidFill>
                  <a:schemeClr val="tx1"/>
                </a:solidFill>
                <a:effectLst/>
                <a:latin typeface="Segoe Sans Text" pitchFamily="2" charset="0"/>
                <a:ea typeface="+mn-ea"/>
                <a:cs typeface="+mn-cs"/>
              </a:rPr>
              <a:t>MLOps</a:t>
            </a:r>
            <a:r>
              <a:rPr lang="en-GB" sz="1200" kern="1200">
                <a:solidFill>
                  <a:schemeClr val="tx1"/>
                </a:solidFill>
                <a:effectLst/>
                <a:latin typeface="Segoe Sans Text" pitchFamily="2" charset="0"/>
                <a:ea typeface="+mn-ea"/>
                <a:cs typeface="+mn-cs"/>
              </a:rPr>
              <a:t> include Model Reproducibility, Model Validation, Model Deployment, and Model Retraining.</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err="1">
                <a:solidFill>
                  <a:schemeClr val="tx1"/>
                </a:solidFill>
                <a:effectLst/>
                <a:latin typeface="Segoe Sans Text" pitchFamily="2" charset="0"/>
                <a:ea typeface="+mn-ea"/>
                <a:cs typeface="+mn-cs"/>
              </a:rPr>
              <a:t>LLMOps</a:t>
            </a:r>
            <a:r>
              <a:rPr lang="en-GB" sz="1200" kern="1200">
                <a:solidFill>
                  <a:schemeClr val="tx1"/>
                </a:solidFill>
                <a:effectLst/>
                <a:latin typeface="Segoe Sans Text" pitchFamily="2" charset="0"/>
                <a:ea typeface="+mn-ea"/>
                <a:cs typeface="+mn-cs"/>
              </a:rPr>
              <a:t> focuses on managing Large Language Models (LLMs) in production. It shares some overlap with </a:t>
            </a:r>
            <a:r>
              <a:rPr lang="en-GB" sz="1200" kern="1200" err="1">
                <a:solidFill>
                  <a:schemeClr val="tx1"/>
                </a:solidFill>
                <a:effectLst/>
                <a:latin typeface="Segoe Sans Text" pitchFamily="2" charset="0"/>
                <a:ea typeface="+mn-ea"/>
                <a:cs typeface="+mn-cs"/>
              </a:rPr>
              <a:t>MLOps</a:t>
            </a:r>
            <a:r>
              <a:rPr lang="en-GB" sz="1200" kern="1200">
                <a:solidFill>
                  <a:schemeClr val="tx1"/>
                </a:solidFill>
                <a:effectLst/>
                <a:latin typeface="Segoe Sans Text" pitchFamily="2" charset="0"/>
                <a:ea typeface="+mn-ea"/>
                <a:cs typeface="+mn-cs"/>
              </a:rPr>
              <a:t> but also has unique characteristics, such as Model Discovery, Fine-tuning, and specific LLM Evaluation Metrics. For example, DevOps is more critical than </a:t>
            </a:r>
            <a:r>
              <a:rPr lang="en-GB" sz="1200" kern="1200" err="1">
                <a:solidFill>
                  <a:schemeClr val="tx1"/>
                </a:solidFill>
                <a:effectLst/>
                <a:latin typeface="Segoe Sans Text" pitchFamily="2" charset="0"/>
                <a:ea typeface="+mn-ea"/>
                <a:cs typeface="+mn-cs"/>
              </a:rPr>
              <a:t>DataOps</a:t>
            </a:r>
            <a:r>
              <a:rPr lang="en-GB" sz="1200" kern="1200">
                <a:solidFill>
                  <a:schemeClr val="tx1"/>
                </a:solidFill>
                <a:effectLst/>
                <a:latin typeface="Segoe Sans Text" pitchFamily="2" charset="0"/>
                <a:ea typeface="+mn-ea"/>
                <a:cs typeface="+mn-cs"/>
              </a:rPr>
              <a:t> for operational excellence in LLMs.</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Finally,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is more comprehensive than </a:t>
            </a:r>
            <a:r>
              <a:rPr lang="en-GB" sz="1200" kern="1200" err="1">
                <a:solidFill>
                  <a:schemeClr val="tx1"/>
                </a:solidFill>
                <a:effectLst/>
                <a:latin typeface="Segoe Sans Text" pitchFamily="2" charset="0"/>
                <a:ea typeface="+mn-ea"/>
                <a:cs typeface="+mn-cs"/>
              </a:rPr>
              <a:t>LLMOps</a:t>
            </a:r>
            <a:r>
              <a:rPr lang="en-GB" sz="1200" kern="1200">
                <a:solidFill>
                  <a:schemeClr val="tx1"/>
                </a:solidFill>
                <a:effectLst/>
                <a:latin typeface="Segoe Sans Text" pitchFamily="2" charset="0"/>
                <a:ea typeface="+mn-ea"/>
                <a:cs typeface="+mn-cs"/>
              </a:rPr>
              <a:t>. While </a:t>
            </a:r>
            <a:r>
              <a:rPr lang="en-GB" sz="1200" kern="1200" err="1">
                <a:solidFill>
                  <a:schemeClr val="tx1"/>
                </a:solidFill>
                <a:effectLst/>
                <a:latin typeface="Segoe Sans Text" pitchFamily="2" charset="0"/>
                <a:ea typeface="+mn-ea"/>
                <a:cs typeface="+mn-cs"/>
              </a:rPr>
              <a:t>LLMOps</a:t>
            </a:r>
            <a:r>
              <a:rPr lang="en-GB" sz="1200" kern="1200">
                <a:solidFill>
                  <a:schemeClr val="tx1"/>
                </a:solidFill>
                <a:effectLst/>
                <a:latin typeface="Segoe Sans Text" pitchFamily="2" charset="0"/>
                <a:ea typeface="+mn-ea"/>
                <a:cs typeface="+mn-cs"/>
              </a:rPr>
              <a:t> focuses on managing models,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encompasses the entire GenAI solution, including multiple models, open-source frameworks, applications, and data sources to bring context within a single GenAI solution.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draws from </a:t>
            </a:r>
            <a:r>
              <a:rPr lang="en-GB" sz="1200" kern="1200" err="1">
                <a:solidFill>
                  <a:schemeClr val="tx1"/>
                </a:solidFill>
                <a:effectLst/>
                <a:latin typeface="Segoe Sans Text" pitchFamily="2" charset="0"/>
                <a:ea typeface="+mn-ea"/>
                <a:cs typeface="+mn-cs"/>
              </a:rPr>
              <a:t>DataOps</a:t>
            </a:r>
            <a:r>
              <a:rPr lang="en-GB" sz="1200" kern="1200">
                <a:solidFill>
                  <a:schemeClr val="tx1"/>
                </a:solidFill>
                <a:effectLst/>
                <a:latin typeface="Segoe Sans Text" pitchFamily="2" charset="0"/>
                <a:ea typeface="+mn-ea"/>
                <a:cs typeface="+mn-cs"/>
              </a:rPr>
              <a:t>, DevOps, </a:t>
            </a:r>
            <a:r>
              <a:rPr lang="en-GB" sz="1200" kern="1200" err="1">
                <a:solidFill>
                  <a:schemeClr val="tx1"/>
                </a:solidFill>
                <a:effectLst/>
                <a:latin typeface="Segoe Sans Text" pitchFamily="2" charset="0"/>
                <a:ea typeface="+mn-ea"/>
                <a:cs typeface="+mn-cs"/>
              </a:rPr>
              <a:t>DevSecOps</a:t>
            </a:r>
            <a:r>
              <a:rPr lang="en-GB" sz="1200" kern="1200">
                <a:solidFill>
                  <a:schemeClr val="tx1"/>
                </a:solidFill>
                <a:effectLst/>
                <a:latin typeface="Segoe Sans Text" pitchFamily="2" charset="0"/>
                <a:ea typeface="+mn-ea"/>
                <a:cs typeface="+mn-cs"/>
              </a:rPr>
              <a:t>, </a:t>
            </a:r>
            <a:r>
              <a:rPr lang="en-GB" sz="1200" kern="1200" err="1">
                <a:solidFill>
                  <a:schemeClr val="tx1"/>
                </a:solidFill>
                <a:effectLst/>
                <a:latin typeface="Segoe Sans Text" pitchFamily="2" charset="0"/>
                <a:ea typeface="+mn-ea"/>
                <a:cs typeface="+mn-cs"/>
              </a:rPr>
              <a:t>MLOps</a:t>
            </a:r>
            <a:r>
              <a:rPr lang="en-GB" sz="1200" kern="1200">
                <a:solidFill>
                  <a:schemeClr val="tx1"/>
                </a:solidFill>
                <a:effectLst/>
                <a:latin typeface="Segoe Sans Text" pitchFamily="2" charset="0"/>
                <a:ea typeface="+mn-ea"/>
                <a:cs typeface="+mn-cs"/>
              </a:rPr>
              <a:t>, and user-interaction design.</a:t>
            </a: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a:t>
            </a:r>
          </a:p>
          <a:p>
            <a:r>
              <a:rPr lang="en-GB" sz="1200" kern="1200">
                <a:solidFill>
                  <a:schemeClr val="tx1"/>
                </a:solidFill>
                <a:effectLst/>
                <a:latin typeface="Segoe Sans Text" pitchFamily="2" charset="0"/>
                <a:ea typeface="+mn-ea"/>
                <a:cs typeface="+mn-cs"/>
              </a:rPr>
              <a:t>Let's start with DevOps, which encompasses the entire application development lifecycle management through automated Continuous Integration and Continuous Deployment pipelines and monitoring. Important checkpoints in DevOps include Code Reproducibility, Code Validation, and Application Deployment.</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err="1">
                <a:solidFill>
                  <a:schemeClr val="tx1"/>
                </a:solidFill>
                <a:effectLst/>
                <a:latin typeface="Segoe Sans Text" pitchFamily="2" charset="0"/>
                <a:ea typeface="+mn-ea"/>
                <a:cs typeface="+mn-cs"/>
              </a:rPr>
              <a:t>DevSecOps</a:t>
            </a:r>
            <a:r>
              <a:rPr lang="en-GB" sz="1200" kern="1200">
                <a:solidFill>
                  <a:schemeClr val="tx1"/>
                </a:solidFill>
                <a:effectLst/>
                <a:latin typeface="Segoe Sans Text" pitchFamily="2" charset="0"/>
                <a:ea typeface="+mn-ea"/>
                <a:cs typeface="+mn-cs"/>
              </a:rPr>
              <a:t>, on the other hand, emphasizes a “shift-left” culture by integrating security early into the development process. Its main steps include Secure Design, Secure Code, Secure CI/CD Pipelines, and Secure Operations.</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And then we have </a:t>
            </a:r>
            <a:r>
              <a:rPr lang="en-GB" sz="1200" kern="1200" err="1">
                <a:solidFill>
                  <a:schemeClr val="tx1"/>
                </a:solidFill>
                <a:effectLst/>
                <a:latin typeface="Segoe Sans Text" pitchFamily="2" charset="0"/>
                <a:ea typeface="+mn-ea"/>
                <a:cs typeface="+mn-cs"/>
              </a:rPr>
              <a:t>DataOps</a:t>
            </a:r>
            <a:r>
              <a:rPr lang="en-GB" sz="1200" kern="1200">
                <a:solidFill>
                  <a:schemeClr val="tx1"/>
                </a:solidFill>
                <a:effectLst/>
                <a:latin typeface="Segoe Sans Text" pitchFamily="2" charset="0"/>
                <a:ea typeface="+mn-ea"/>
                <a:cs typeface="+mn-cs"/>
              </a:rPr>
              <a:t>, which is critical for managing the data lifecycle in AI workloads. </a:t>
            </a:r>
            <a:r>
              <a:rPr lang="en-GB" sz="1200" kern="1200" err="1">
                <a:solidFill>
                  <a:schemeClr val="tx1"/>
                </a:solidFill>
                <a:effectLst/>
                <a:latin typeface="Segoe Sans Text" pitchFamily="2" charset="0"/>
                <a:ea typeface="+mn-ea"/>
                <a:cs typeface="+mn-cs"/>
              </a:rPr>
              <a:t>DataOps</a:t>
            </a:r>
            <a:r>
              <a:rPr lang="en-GB" sz="1200" kern="1200">
                <a:solidFill>
                  <a:schemeClr val="tx1"/>
                </a:solidFill>
                <a:effectLst/>
                <a:latin typeface="Segoe Sans Text" pitchFamily="2" charset="0"/>
                <a:ea typeface="+mn-ea"/>
                <a:cs typeface="+mn-cs"/>
              </a:rPr>
              <a:t> streamlines processes such as data extraction, data transformation, and data loading ETL or ELT.</a:t>
            </a:r>
            <a:endParaRPr lang="en-GB"/>
          </a:p>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9</a:t>
            </a:fld>
            <a:endParaRPr lang="en-US"/>
          </a:p>
        </p:txBody>
      </p:sp>
    </p:spTree>
    <p:extLst>
      <p:ext uri="{BB962C8B-B14F-4D97-AF65-F5344CB8AC3E}">
        <p14:creationId xmlns:p14="http://schemas.microsoft.com/office/powerpoint/2010/main" val="2555499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A key characteristic of low-level complexity is that… applications simply send prompts to the LLM endpoint and display the immediate output without any additional processing or logic. Examples include summarization, entity extraction, and basic translation. This level does not involve memory.</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Moving up a notch, moderate-level complexity includes session-based memory, enabling contextual awareness during a single interaction or session. Examples include conversational AI use cases and internal GPT implementations.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 next level is high complexity, where AI incorporates external knowledge or databases to generate richer and more informed responses, such as retrieving relevant facts or performing basic reasoning. Key challenges include managing data quality, ensuring relevance, and avoiding information overload.</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Advanced complexity involves function calling and orchestrators, enabling integration with multiple systems for coordinated and advanced functionalities. Examples include automated customer support and intelligent document processing. This level brings personalization as well.</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At the sophisticated level, AI systems are fully autonomous, capable of advanced reasoning, decision-making, and seamlessly integrating multiple tools or APIs to handle complex tasks. Examples include autonomous systems and multi-agent environments.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Understanding these complexity levels helps in planning and executing your GenAI solutions effectively. Each level comes with its own set of challenges and requirements, which need to be addressed to ensure successful deployment and operation.</a:t>
            </a:r>
            <a:br>
              <a:rPr lang="en-GB" sz="1200" kern="1200">
                <a:solidFill>
                  <a:schemeClr val="tx1"/>
                </a:solidFill>
                <a:effectLst/>
                <a:latin typeface="Segoe Sans Text" pitchFamily="2" charset="0"/>
                <a:ea typeface="+mn-ea"/>
                <a:cs typeface="+mn-cs"/>
              </a:rPr>
            </a:br>
            <a:endParaRPr lang="en-GB"/>
          </a:p>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10</a:t>
            </a:fld>
            <a:endParaRPr lang="en-US"/>
          </a:p>
        </p:txBody>
      </p:sp>
    </p:spTree>
    <p:extLst>
      <p:ext uri="{BB962C8B-B14F-4D97-AF65-F5344CB8AC3E}">
        <p14:creationId xmlns:p14="http://schemas.microsoft.com/office/powerpoint/2010/main" val="4003595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GB" sz="1200" kern="1200">
                <a:solidFill>
                  <a:schemeClr val="tx1"/>
                </a:solidFill>
                <a:effectLst/>
                <a:latin typeface="Segoe Sans Text" pitchFamily="2" charset="0"/>
                <a:ea typeface="+mn-ea"/>
                <a:cs typeface="+mn-cs"/>
              </a:rPr>
              <a:t>To better understand, we need to have a clear idea of the GenAI assets and artifacts—what we use and create while building GenAI solutions.</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First, let's discuss 'LLMs'. These are pre-built models, like Azure OpenAI or various open-source alternatives. They can also be fine-tuned to meet specific needs. These models form the foundation of AI’s ability to understand and generate human-like text, making them essential for applications ranging from chatbots to complex data analysis systems.</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Moving on to 'Data', which acts as the fuel for GenAI solutions. Inputs may include prompt templates, a comprehensive knowledge base, </a:t>
            </a:r>
            <a:r>
              <a:rPr lang="en-GB" sz="1200" kern="1200" err="1">
                <a:solidFill>
                  <a:schemeClr val="tx1"/>
                </a:solidFill>
                <a:effectLst/>
                <a:latin typeface="Segoe Sans Text" pitchFamily="2" charset="0"/>
                <a:ea typeface="+mn-ea"/>
                <a:cs typeface="+mn-cs"/>
              </a:rPr>
              <a:t>VectorDB</a:t>
            </a:r>
            <a:r>
              <a:rPr lang="en-GB" sz="1200" kern="1200">
                <a:solidFill>
                  <a:schemeClr val="tx1"/>
                </a:solidFill>
                <a:effectLst/>
                <a:latin typeface="Segoe Sans Text" pitchFamily="2" charset="0"/>
                <a:ea typeface="+mn-ea"/>
                <a:cs typeface="+mn-cs"/>
              </a:rPr>
              <a:t>, ground truth data, and feedback mechanisms, among others. Outputs, on the other hand, refer to what the models or overall solution generate, such as inference results, logs, etc., which are key to </a:t>
            </a:r>
            <a:r>
              <a:rPr lang="en-GB" sz="1200" kern="1200" err="1">
                <a:solidFill>
                  <a:schemeClr val="tx1"/>
                </a:solidFill>
                <a:effectLst/>
                <a:latin typeface="Segoe Sans Text" pitchFamily="2" charset="0"/>
                <a:ea typeface="+mn-ea"/>
                <a:cs typeface="+mn-cs"/>
              </a:rPr>
              <a:t>analyzing</a:t>
            </a:r>
            <a:r>
              <a:rPr lang="en-GB" sz="1200" kern="1200">
                <a:solidFill>
                  <a:schemeClr val="tx1"/>
                </a:solidFill>
                <a:effectLst/>
                <a:latin typeface="Segoe Sans Text" pitchFamily="2" charset="0"/>
                <a:ea typeface="+mn-ea"/>
                <a:cs typeface="+mn-cs"/>
              </a:rPr>
              <a:t> model performance and monitoring.</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Next we have 'Code'. This includes various plugins, prompt files like prompt.py and jinja, chains, APIs, and agents which might act autonomously within a system. These elements are essential for integrating and operationalizing GenAI within different environments and for specific tasks.</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Lastly, 'Integrations' are crucial for the practical application of AI. These are use-case specific and often include connections to other AI services or storage services to build GenAI workflows efficiently. It’s important to consider these assets and artifacts when developing GenAI operations.</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GB" sz="1200" kern="1200">
              <a:solidFill>
                <a:schemeClr val="tx1"/>
              </a:solidFill>
              <a:effectLst/>
              <a:latin typeface="Segoe Sans Text" pitchFamily="2" charset="0"/>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GB" sz="1200" kern="1200">
                <a:solidFill>
                  <a:schemeClr val="tx1"/>
                </a:solidFill>
                <a:effectLst/>
                <a:latin typeface="Segoe Sans Text" pitchFamily="2" charset="0"/>
                <a:ea typeface="+mn-ea"/>
                <a:cs typeface="+mn-cs"/>
              </a:rPr>
              <a:t>Also there are responsible AI assets such as red teaming agents, content safety and metrics….</a:t>
            </a:r>
            <a:br>
              <a:rPr lang="en-GB" sz="1200" kern="1200">
                <a:solidFill>
                  <a:schemeClr val="tx1"/>
                </a:solidFill>
                <a:effectLst/>
                <a:latin typeface="Segoe Sans Text" pitchFamily="2" charset="0"/>
                <a:ea typeface="+mn-ea"/>
                <a:cs typeface="+mn-cs"/>
              </a:rPr>
            </a:br>
            <a:endParaRPr lang="en-GB"/>
          </a:p>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11</a:t>
            </a:fld>
            <a:endParaRPr lang="en-US"/>
          </a:p>
        </p:txBody>
      </p:sp>
    </p:spTree>
    <p:extLst>
      <p:ext uri="{BB962C8B-B14F-4D97-AF65-F5344CB8AC3E}">
        <p14:creationId xmlns:p14="http://schemas.microsoft.com/office/powerpoint/2010/main" val="3172227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200" b="0" i="0" err="1">
                <a:solidFill>
                  <a:srgbClr val="000000"/>
                </a:solidFill>
                <a:effectLst/>
                <a:latin typeface="Calibri" panose="020F0502020204030204" pitchFamily="34" charset="0"/>
                <a:ea typeface="Meiryo UI" panose="020B0604030504040204" pitchFamily="34" charset="-128"/>
              </a:rPr>
              <a:t>GenAIOps</a:t>
            </a:r>
            <a:r>
              <a:rPr lang="en-US" sz="1200" b="0" i="0">
                <a:solidFill>
                  <a:srgbClr val="000000"/>
                </a:solidFill>
                <a:effectLst/>
                <a:latin typeface="Calibri" panose="020F0502020204030204" pitchFamily="34" charset="0"/>
                <a:ea typeface="Meiryo UI" panose="020B0604030504040204" pitchFamily="34" charset="-128"/>
              </a:rPr>
              <a:t> is briefly bringing LLM based applications into production. I am sure your customers have done many POCs but not all of them have managed to bring them in production. This is very </a:t>
            </a:r>
            <a:r>
              <a:rPr lang="en-US" sz="1200" b="0" i="0" err="1">
                <a:solidFill>
                  <a:srgbClr val="000000"/>
                </a:solidFill>
                <a:effectLst/>
                <a:latin typeface="Calibri" panose="020F0502020204030204" pitchFamily="34" charset="0"/>
                <a:ea typeface="Meiryo UI" panose="020B0604030504040204" pitchFamily="34" charset="-128"/>
              </a:rPr>
              <a:t>very</a:t>
            </a:r>
            <a:r>
              <a:rPr lang="en-US" sz="1200" b="0" i="0">
                <a:solidFill>
                  <a:srgbClr val="000000"/>
                </a:solidFill>
                <a:effectLst/>
                <a:latin typeface="Calibri" panose="020F0502020204030204" pitchFamily="34" charset="0"/>
                <a:ea typeface="Meiryo UI" panose="020B0604030504040204" pitchFamily="34" charset="-128"/>
              </a:rPr>
              <a:t> common pain point for our enterprise customers.   </a:t>
            </a:r>
            <a:endParaRPr lang="en-US" b="0" i="0">
              <a:solidFill>
                <a:srgbClr val="000000"/>
              </a:solidFill>
              <a:effectLst/>
              <a:latin typeface="Meiryo UI" panose="020B0604030504040204" pitchFamily="34" charset="-128"/>
              <a:ea typeface="Meiryo UI" panose="020B0604030504040204" pitchFamily="34" charset="-128"/>
            </a:endParaRPr>
          </a:p>
          <a:p>
            <a:pPr algn="l" rtl="0" fontAlgn="base"/>
            <a:endParaRPr lang="en-US" sz="1200" b="0" i="0">
              <a:solidFill>
                <a:srgbClr val="000000"/>
              </a:solidFill>
              <a:effectLst/>
              <a:latin typeface="Calibri" panose="020F0502020204030204" pitchFamily="34" charset="0"/>
              <a:ea typeface="Meiryo UI" panose="020B0604030504040204" pitchFamily="34" charset="-128"/>
            </a:endParaRPr>
          </a:p>
          <a:p>
            <a:pPr algn="l" rtl="0" fontAlgn="base"/>
            <a:r>
              <a:rPr lang="en-US" sz="1200" b="0" i="0" err="1">
                <a:solidFill>
                  <a:srgbClr val="000000"/>
                </a:solidFill>
                <a:effectLst/>
                <a:latin typeface="Calibri" panose="020F0502020204030204" pitchFamily="34" charset="0"/>
                <a:ea typeface="Meiryo UI" panose="020B0604030504040204" pitchFamily="34" charset="-128"/>
              </a:rPr>
              <a:t>GenAIOps</a:t>
            </a:r>
            <a:r>
              <a:rPr lang="en-US" sz="1200" b="0" i="0">
                <a:solidFill>
                  <a:srgbClr val="000000"/>
                </a:solidFill>
                <a:effectLst/>
                <a:latin typeface="Calibri" panose="020F0502020204030204" pitchFamily="34" charset="0"/>
                <a:ea typeface="Meiryo UI" panose="020B0604030504040204" pitchFamily="34" charset="-128"/>
              </a:rPr>
              <a:t> as a concept aligning people </a:t>
            </a:r>
            <a:r>
              <a:rPr lang="en-US" b="0" i="0">
                <a:solidFill>
                  <a:srgbClr val="424242"/>
                </a:solidFill>
                <a:effectLst/>
                <a:latin typeface="Segoe UI" panose="020B0502040204020203" pitchFamily="34" charset="0"/>
              </a:rPr>
              <a:t>involves aligning teams across various departments—such as development, operations, and support—to ensure everyone is on the same page and moving towards a common goal. Empowering people with the right tools and knowledge about LLM capabilities is crucial for fostering innovation and smooth workflow.</a:t>
            </a:r>
            <a:endParaRPr lang="en-US" sz="1200" b="0" i="0">
              <a:solidFill>
                <a:srgbClr val="000000"/>
              </a:solidFill>
              <a:effectLst/>
              <a:latin typeface="Calibri" panose="020F0502020204030204" pitchFamily="34" charset="0"/>
              <a:ea typeface="Meiryo UI" panose="020B0604030504040204" pitchFamily="34" charset="-128"/>
            </a:endParaRPr>
          </a:p>
          <a:p>
            <a:pPr algn="l" rtl="0" fontAlgn="base"/>
            <a:endParaRPr lang="en-US" sz="1200" b="0" i="0">
              <a:solidFill>
                <a:srgbClr val="000000"/>
              </a:solidFill>
              <a:effectLst/>
              <a:latin typeface="Calibri" panose="020F0502020204030204" pitchFamily="34" charset="0"/>
              <a:ea typeface="Meiryo UI" panose="020B0604030504040204" pitchFamily="34" charset="-128"/>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b="0" i="0">
                <a:solidFill>
                  <a:srgbClr val="424242"/>
                </a:solidFill>
                <a:effectLst/>
                <a:latin typeface="Segoe UI" panose="020B0502040204020203" pitchFamily="34" charset="0"/>
              </a:rPr>
              <a:t>Next, let's talk about 'Process'. Streamlining processes is key to the effective deployment of LLM-infused applications. </a:t>
            </a:r>
            <a:r>
              <a:rPr lang="en-US" sz="1200" b="0" i="0">
                <a:solidFill>
                  <a:srgbClr val="000000"/>
                </a:solidFill>
                <a:effectLst/>
                <a:latin typeface="Calibri" panose="020F0502020204030204" pitchFamily="34" charset="0"/>
                <a:ea typeface="Meiryo UI" panose="020B0604030504040204" pitchFamily="34" charset="-128"/>
              </a:rPr>
              <a:t>Main outcome is repeatability and consistency to the process, making sure it is well understood, repeatable by others.</a:t>
            </a:r>
            <a:r>
              <a:rPr lang="en-US" b="0" i="0">
                <a:solidFill>
                  <a:srgbClr val="424242"/>
                </a:solidFill>
                <a:effectLst/>
                <a:latin typeface="Segoe UI" panose="020B0502040204020203" pitchFamily="34" charset="0"/>
              </a:rPr>
              <a:t> This includes establishing clear protocols for development, testing, deployment, and maintenance. Automating these processes where possible can lead to more efficient cycle times, reduced errors, and a faster response to market changes or user feedback. Continuous integration and continuous deployment (CI/CD) are required to automate model updates, application evaluations, testing , deployments and also continuous monitoring. You can </a:t>
            </a:r>
            <a:r>
              <a:rPr lang="en-US" u="sng"/>
              <a:t>Automate the entire process </a:t>
            </a:r>
            <a:r>
              <a:rPr lang="en-US"/>
              <a:t>from code commit to production.</a:t>
            </a:r>
          </a:p>
          <a:p>
            <a:pPr algn="l" rtl="0" fontAlgn="base"/>
            <a:endParaRPr lang="en-US" b="0" i="0">
              <a:solidFill>
                <a:srgbClr val="424242"/>
              </a:solidFill>
              <a:effectLst/>
              <a:latin typeface="Segoe UI" panose="020B0502040204020203" pitchFamily="34" charset="0"/>
            </a:endParaRPr>
          </a:p>
          <a:p>
            <a:pPr algn="l" rtl="0" fontAlgn="base"/>
            <a:endParaRPr lang="en-US" b="0" i="0">
              <a:solidFill>
                <a:srgbClr val="424242"/>
              </a:solidFill>
              <a:effectLst/>
              <a:latin typeface="Segoe UI" panose="020B0502040204020203" pitchFamily="34" charset="0"/>
            </a:endParaRPr>
          </a:p>
          <a:p>
            <a:pPr algn="l" rtl="0" fontAlgn="base"/>
            <a:r>
              <a:rPr lang="en-US" b="0" i="0">
                <a:solidFill>
                  <a:srgbClr val="424242"/>
                </a:solidFill>
                <a:effectLst/>
                <a:latin typeface="Segoe UI" panose="020B0502040204020203" pitchFamily="34" charset="0"/>
              </a:rPr>
              <a:t>Lastly, the 'Platform' is what ties everything together. A robust platform that supports the scalability and integration needs of LLM applications is vital. This platform should provide the necessary infrastructure to develop, deploy, and manage AI applications seamlessly such as AI foundry and Azure ML. </a:t>
            </a:r>
            <a:endParaRPr lang="en-US"/>
          </a:p>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12</a:t>
            </a:fld>
            <a:endParaRPr lang="en-US"/>
          </a:p>
        </p:txBody>
      </p:sp>
    </p:spTree>
    <p:extLst>
      <p:ext uri="{BB962C8B-B14F-4D97-AF65-F5344CB8AC3E}">
        <p14:creationId xmlns:p14="http://schemas.microsoft.com/office/powerpoint/2010/main" val="3143250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Yes, when we talk about the importance of setting up the right operating model for your organization, it means being intelligence-driven. You want control of your operations with secure, predictable, and flexible service delivery and capabilities. This is crucial as it ensures that your AI services are reliable and can be managed effectively.</a:t>
            </a:r>
          </a:p>
          <a:p>
            <a:r>
              <a:rPr lang="en-GB" sz="1200" kern="1200">
                <a:solidFill>
                  <a:schemeClr val="tx1"/>
                </a:solidFill>
                <a:effectLst/>
                <a:latin typeface="Segoe Sans Text" pitchFamily="2" charset="0"/>
                <a:ea typeface="+mn-ea"/>
                <a:cs typeface="+mn-cs"/>
              </a:rPr>
              <a:t>Innovation is another key aspect. You need to be able to provide faster development and roll-out of your business use cases through the adoption of cloud services, for example. This agility allows you to stay competitive by quickly responding to market demands and leveraging the latest AI technologies.</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Speed and agility are also essential. You want to reduce your time to market to maintain a competitive edge. Efficient DevOps teams can help achieve this by streamlining workflows and accelerating deployment cycles.</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Lastly, controlling costs is a significant benefit of the right operating model. By leveraging the public cloud, you can limit upfront investment and scale quickly without limit. This ensures that resources are used efficiently, and expenditures are kept in check.</a:t>
            </a:r>
            <a:br>
              <a:rPr lang="en-GB" sz="1200" kern="1200">
                <a:solidFill>
                  <a:schemeClr val="tx1"/>
                </a:solidFill>
                <a:effectLst/>
                <a:latin typeface="Segoe Sans Text" pitchFamily="2" charset="0"/>
                <a:ea typeface="+mn-ea"/>
                <a:cs typeface="+mn-cs"/>
              </a:rPr>
            </a:br>
            <a:endParaRPr lang="en-GB"/>
          </a:p>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13</a:t>
            </a:fld>
            <a:endParaRPr lang="en-US"/>
          </a:p>
        </p:txBody>
      </p:sp>
    </p:spTree>
    <p:extLst>
      <p:ext uri="{BB962C8B-B14F-4D97-AF65-F5344CB8AC3E}">
        <p14:creationId xmlns:p14="http://schemas.microsoft.com/office/powerpoint/2010/main" val="2276329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There are several common best practices that are crucial for any type of operations, and they are especially vital for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First, automating testing at all stages is required because GenAI applications often produce complex and non-deterministic outputs. This helps ensure model robustness, accuracy, and alignment with ethical standards. For example, using adversarial tests to evaluate model responses to edge cases, through frameworks such as </a:t>
            </a:r>
            <a:r>
              <a:rPr lang="en-GB" sz="1200" kern="1200" err="1">
                <a:solidFill>
                  <a:schemeClr val="tx1"/>
                </a:solidFill>
                <a:effectLst/>
                <a:latin typeface="Segoe Sans Text" pitchFamily="2" charset="0"/>
                <a:ea typeface="+mn-ea"/>
                <a:cs typeface="+mn-cs"/>
              </a:rPr>
              <a:t>PyRIT</a:t>
            </a:r>
            <a:r>
              <a:rPr lang="en-GB" sz="1200" kern="1200">
                <a:solidFill>
                  <a:schemeClr val="tx1"/>
                </a:solidFill>
                <a:effectLst/>
                <a:latin typeface="Segoe Sans Text" pitchFamily="2" charset="0"/>
                <a:ea typeface="+mn-ea"/>
                <a:cs typeface="+mn-cs"/>
              </a:rPr>
              <a:t>, can be very effective.</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Additionally, automating evaluation metrics for model quality, like BLEU and ROUGE, which are natively supported in AI Foundry, can help maintain high standards. Monitoring for drift, bias, and ethics is also crucial, given that large language models can unintentionally generate biased, harmful, or incorrect outputs. This monitoring helps maintain relevance and accuracy in production over time.</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Version control for everything—models, data, and code—is another key practice. This ensures reproducibility, which is critical for debugging, compliance, and iterative improvements. It allows you to maintain consistency and enables rollback to previous states if issues arise.</a:t>
            </a:r>
            <a:endParaRPr lang="en-US" b="0" i="0">
              <a:solidFill>
                <a:srgbClr val="000000"/>
              </a:solidFill>
              <a:effectLst/>
              <a:latin typeface="Segoe Sans Text" pitchFamily="2" charset="0"/>
            </a:endParaRPr>
          </a:p>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14</a:t>
            </a:fld>
            <a:endParaRPr lang="en-US"/>
          </a:p>
        </p:txBody>
      </p:sp>
    </p:spTree>
    <p:extLst>
      <p:ext uri="{BB962C8B-B14F-4D97-AF65-F5344CB8AC3E}">
        <p14:creationId xmlns:p14="http://schemas.microsoft.com/office/powerpoint/2010/main" val="4098381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There are several key benefits that make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essential for any organization working with AI.</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First, Automation.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automates many aspects of AI application development and deployment. This not only accelerates processes but also reduces human error. With the rapid evolution of AI models and technologies, continuous testing and evaluation become crucial. Automated systems ensure that new models are integrated smoothly, and outdated ones are retired efficiently.</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Second, Cross-Functional Integration.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fosters collaboration by integrating functions across departments. This ensures teams are aligned, with clear objectives and a shared understanding of responsibilities. Proper management of assets and clearly defined responsibilities prevent bottlenecks, promoting seamless operations and efficient teamwork.</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Third, Reproducibility. Ensuring that all elements of the AI system—such as data sources, code, and models—can be accurately reproduced is critical for consistency and reliability. Maintaining a versioned history of assets and connections allows for effective change management, enabling systems to evolve without disruption.</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Next, Reusability.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encourages the creation of reusable templates and procedures, saving time and ensuring the consistent application of best practices across projects. This is particularly beneficial in maintaining efficiency and consistency.</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Then, Streamlined Deployments. Simplifying the deployment process, including monitoring and content filtering, makes operations more efficient. Tools like AI Foundry enhance deployment capabilities, making it easier to deploy, monitor, and manage AI models.</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Finally, Governance and Compliance. Governance ensures that only approved models are used in production, with policies and gated approvals in place. Compliance protocols help manage risks like data privacy and regulatory requirements. Monitoring and responding to data and model drift ensures the AI system remains accurate, effective, and aligned with its intended purpose over time.</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All these benefits collectively enhance the velocity and security of AI operations and responsible AI. Applications are deployed faster, are more robust, and maintain higher security standards.</a:t>
            </a:r>
          </a:p>
          <a:p>
            <a:endParaRPr lang="en-GB" sz="1200" kern="1200">
              <a:solidFill>
                <a:schemeClr val="tx1"/>
              </a:solidFill>
              <a:effectLst/>
              <a:latin typeface="Segoe Sans Text"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Now, while these benefits are significant, we also face several challenges when implementing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We will discuss these challenges and the solutions to address them. </a:t>
            </a:r>
          </a:p>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154338-A073-4661-BF20-52EA06646E26}"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2733688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1E2F9-9349-8FAE-A6F8-82D714668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3B4CC-39E7-5C0C-E7BC-E01B97853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0C002-8DE4-E452-0FE5-0337C8E2818C}"/>
              </a:ext>
            </a:extLst>
          </p:cNvPr>
          <p:cNvSpPr>
            <a:spLocks noGrp="1"/>
          </p:cNvSpPr>
          <p:nvPr>
            <p:ph type="body" idx="1"/>
          </p:nvPr>
        </p:nvSpPr>
        <p:spPr/>
        <p:txBody>
          <a:bodyPr/>
          <a:lstStyle/>
          <a:p>
            <a:endParaRPr lang="en-US" b="0" i="0">
              <a:solidFill>
                <a:srgbClr val="424242"/>
              </a:solidFill>
              <a:effectLst/>
              <a:latin typeface="Segoe UI" panose="020B0502040204020203" pitchFamily="34" charset="0"/>
            </a:endParaRPr>
          </a:p>
          <a:p>
            <a:r>
              <a:rPr lang="en-US" b="0" i="0">
                <a:solidFill>
                  <a:srgbClr val="424242"/>
                </a:solidFill>
                <a:effectLst/>
                <a:latin typeface="Segoe UI" panose="020B0502040204020203" pitchFamily="34" charset="0"/>
              </a:rPr>
              <a:t>There are challenges associated with GenAI Ops as you know…</a:t>
            </a:r>
          </a:p>
          <a:p>
            <a:r>
              <a:rPr lang="en-GB" sz="1200" kern="1200">
                <a:solidFill>
                  <a:schemeClr val="tx1"/>
                </a:solidFill>
                <a:effectLst/>
                <a:latin typeface="Segoe Sans Text" pitchFamily="2" charset="0"/>
                <a:ea typeface="+mn-ea"/>
                <a:cs typeface="+mn-cs"/>
              </a:rPr>
              <a:t>One of the primary challenges is Data Quality or Context. Large Language Models (LLMs) may replicate and amplify biases from their training data, leading to unreliable outputs. This makes “careful model selection”, “prompt engineering”, “fine-tuning”, and using “Retrieval-Augmented Generation (RAG)” technique essential. Additionally, tools like Azure AI Simulator can help in generating valid synthetic data to improve the quality of fine-tuning and evaluation.</a:t>
            </a:r>
          </a:p>
          <a:p>
            <a:endParaRPr lang="en-GB" sz="1200" b="0" i="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Another challenge is Evaluation. Traditional ML metrics don’t fully apply since there often isn't a single correct answer. Interpretability is another hurdle, as LLMs often operate as "black boxes." Using evaluation SDKs as code first approach or AI Foundry can help address these issues by providing tailored evaluation metrics for LLMs.</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Moving on to Scalability, scaling LLMs to meet demand can be complex. However, designing systems with scalable endpoints and utilizing API Management (APIM) can handle increased loads efficiently. Ethical concerns are also significant, as there's a risk of generating harmful or misleading content. Utilizing built-in content filtering, abuse monitoring, and transparency documentation can mitigate these risks.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Regulatory Compliance is another critical challenge. Meeting legal standards like GDPR requires careful handling of data. Designing model deployment regions with data-at-rest considerations and adhering to regulatory guidelines is crucial.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Segoe Sans Text"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Continuous Updating and Maintenance is necessary to keep LLMs relevant, requiring a strategic approach to retrain models using tools like AML, AI Foundry, and App Insights for AI Project.</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Computational Resources for training and deploying LLMs can be resource-intensive and costly. Utilizing pre-trained models and selecting the correct deployment types can optimize resource usage.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Segoe Sans Text"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Lastly, Security and Privacy Risks are ever-present, with potential for data leaks and vulnerability to adversarial attacks. Ensuring robust security measures, like encryption and private networks, is key.</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These solutions collectively ensure that everything from model selection to deployment is handled meticulously, bridging gaps between product, data, engineering, security, and customer teams.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Segoe Sans Text" pitchFamily="2" charset="0"/>
              <a:ea typeface="+mn-ea"/>
              <a:cs typeface="+mn-cs"/>
            </a:endParaRPr>
          </a:p>
          <a:p>
            <a:endParaRPr lang="en-US" b="0" i="0">
              <a:solidFill>
                <a:srgbClr val="424242"/>
              </a:solidFill>
              <a:effectLst/>
              <a:latin typeface="Segoe UI" panose="020B0502040204020203" pitchFamily="34" charset="0"/>
            </a:endParaRPr>
          </a:p>
          <a:p>
            <a:r>
              <a:rPr lang="en-US" b="0" i="0">
                <a:solidFill>
                  <a:srgbClr val="424242"/>
                </a:solidFill>
                <a:effectLst/>
                <a:latin typeface="Segoe UI" panose="020B0502040204020203" pitchFamily="34" charset="0"/>
              </a:rPr>
              <a:t>----------</a:t>
            </a:r>
          </a:p>
          <a:p>
            <a:pPr marL="228454" indent="-228454">
              <a:lnSpc>
                <a:spcPct val="90000"/>
              </a:lnSpc>
              <a:buFont typeface="Arial" panose="020B0604020202020204" pitchFamily="34" charset="0"/>
              <a:buChar char="•"/>
            </a:pPr>
            <a:r>
              <a:rPr lang="en-US" sz="1200"/>
              <a:t>To learn how to select the right models/tools for their use case</a:t>
            </a:r>
          </a:p>
          <a:p>
            <a:pPr marL="228454" indent="-228454">
              <a:lnSpc>
                <a:spcPct val="90000"/>
              </a:lnSpc>
              <a:buFont typeface="Arial" panose="020B0604020202020204" pitchFamily="34" charset="0"/>
              <a:buChar char="•"/>
            </a:pPr>
            <a:endParaRPr lang="en-US" sz="1200"/>
          </a:p>
          <a:p>
            <a:pPr marL="228454" indent="-228454">
              <a:lnSpc>
                <a:spcPct val="90000"/>
              </a:lnSpc>
              <a:buFont typeface="Arial" panose="020B0604020202020204" pitchFamily="34" charset="0"/>
              <a:buChar char="•"/>
            </a:pPr>
            <a:r>
              <a:rPr lang="en-US" sz="1200"/>
              <a:t>An easy way to switch between UI and code​ as they build</a:t>
            </a:r>
          </a:p>
          <a:p>
            <a:pPr marL="228454" indent="-228454">
              <a:lnSpc>
                <a:spcPct val="90000"/>
              </a:lnSpc>
              <a:buFont typeface="Arial" panose="020B0604020202020204" pitchFamily="34" charset="0"/>
              <a:buChar char="•"/>
            </a:pPr>
            <a:endParaRPr lang="en-US" sz="1200"/>
          </a:p>
          <a:p>
            <a:pPr marL="228454" indent="-228454">
              <a:lnSpc>
                <a:spcPct val="90000"/>
              </a:lnSpc>
              <a:buFont typeface="Arial" panose="020B0604020202020204" pitchFamily="34" charset="0"/>
              <a:buChar char="•"/>
            </a:pPr>
            <a:r>
              <a:rPr lang="en-US" sz="1200"/>
              <a:t>An orchestration framework to handle the complex mapping of functions and code </a:t>
            </a:r>
          </a:p>
          <a:p>
            <a:pPr marL="228454" indent="-228454">
              <a:lnSpc>
                <a:spcPct val="90000"/>
              </a:lnSpc>
              <a:buFont typeface="Arial" panose="020B0604020202020204" pitchFamily="34" charset="0"/>
              <a:buChar char="•"/>
            </a:pPr>
            <a:endParaRPr lang="en-US" sz="1200"/>
          </a:p>
          <a:p>
            <a:pPr marL="228454" indent="-228454">
              <a:lnSpc>
                <a:spcPct val="90000"/>
              </a:lnSpc>
              <a:buFont typeface="Arial" panose="020B0604020202020204" pitchFamily="34" charset="0"/>
              <a:buChar char="•"/>
            </a:pPr>
            <a:r>
              <a:rPr lang="en-US" sz="1200"/>
              <a:t>Helpers, building blocks, and app templates​</a:t>
            </a:r>
          </a:p>
          <a:p>
            <a:pPr marL="228454" indent="-228454">
              <a:lnSpc>
                <a:spcPct val="90000"/>
              </a:lnSpc>
              <a:buFont typeface="Arial" panose="020B0604020202020204" pitchFamily="34" charset="0"/>
              <a:buChar char="•"/>
            </a:pPr>
            <a:endParaRPr lang="en-US" sz="1200"/>
          </a:p>
          <a:p>
            <a:pPr marL="228454" indent="-228454">
              <a:lnSpc>
                <a:spcPct val="90000"/>
              </a:lnSpc>
              <a:buFont typeface="Arial" panose="020B0604020202020204" pitchFamily="34" charset="0"/>
              <a:buChar char="•"/>
            </a:pPr>
            <a:r>
              <a:rPr lang="en-US" sz="1200"/>
              <a:t>To evaluate the model, prompt, and overall application pipeline​</a:t>
            </a:r>
          </a:p>
          <a:p>
            <a:pPr marL="228454" indent="-228454">
              <a:lnSpc>
                <a:spcPct val="90000"/>
              </a:lnSpc>
              <a:buFont typeface="Arial" panose="020B0604020202020204" pitchFamily="34" charset="0"/>
              <a:buChar char="•"/>
            </a:pPr>
            <a:endParaRPr lang="en-US" sz="1200"/>
          </a:p>
          <a:p>
            <a:pPr marL="228454" indent="-228454">
              <a:lnSpc>
                <a:spcPct val="90000"/>
              </a:lnSpc>
              <a:buFont typeface="Arial" panose="020B0604020202020204" pitchFamily="34" charset="0"/>
              <a:buChar char="•"/>
            </a:pPr>
            <a:r>
              <a:rPr lang="en-US" sz="1200"/>
              <a:t>To scale their </a:t>
            </a:r>
            <a:r>
              <a:rPr lang="en-US" sz="1200" err="1"/>
              <a:t>PoCs</a:t>
            </a:r>
            <a:r>
              <a:rPr lang="en-US" sz="1200"/>
              <a:t> to production</a:t>
            </a:r>
          </a:p>
          <a:p>
            <a:pPr marL="228454" indent="-228454">
              <a:lnSpc>
                <a:spcPct val="90000"/>
              </a:lnSpc>
              <a:buFont typeface="Arial" panose="020B0604020202020204" pitchFamily="34" charset="0"/>
              <a:buChar char="•"/>
            </a:pPr>
            <a:endParaRPr lang="en-US" sz="1200"/>
          </a:p>
          <a:p>
            <a:pPr marL="228454" indent="-228454">
              <a:lnSpc>
                <a:spcPct val="90000"/>
              </a:lnSpc>
              <a:buFont typeface="Arial" panose="020B0604020202020204" pitchFamily="34" charset="0"/>
              <a:buChar char="•"/>
            </a:pPr>
            <a:r>
              <a:rPr lang="en-US" sz="1200"/>
              <a:t>To continuously monitor AI app performance</a:t>
            </a:r>
          </a:p>
          <a:p>
            <a:pPr marL="228454" indent="-228454">
              <a:lnSpc>
                <a:spcPct val="90000"/>
              </a:lnSpc>
              <a:buFont typeface="Arial" panose="020B0604020202020204" pitchFamily="34" charset="0"/>
              <a:buChar char="•"/>
            </a:pPr>
            <a:endParaRPr lang="en-GB" sz="1200"/>
          </a:p>
          <a:p>
            <a:endParaRPr lang="en-US" b="0" i="0">
              <a:solidFill>
                <a:srgbClr val="424242"/>
              </a:solidFill>
              <a:effectLst/>
              <a:latin typeface="Segoe UI" panose="020B0502040204020203" pitchFamily="34" charset="0"/>
            </a:endParaRPr>
          </a:p>
          <a:p>
            <a:endParaRPr lang="en-GB" b="0" i="0">
              <a:solidFill>
                <a:srgbClr val="3D3B49"/>
              </a:solidFill>
              <a:effectLst/>
              <a:latin typeface="Segoe Sans Text" pitchFamily="2" charset="0"/>
            </a:endParaRPr>
          </a:p>
          <a:p>
            <a:pPr algn="l">
              <a:lnSpc>
                <a:spcPts val="1650"/>
              </a:lnSpc>
            </a:pPr>
            <a:r>
              <a:rPr lang="en-US" b="1" i="0">
                <a:effectLst/>
                <a:latin typeface="Segoe UI" panose="020B0502040204020203" pitchFamily="34" charset="0"/>
              </a:rPr>
              <a:t>Data Quality or Context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i="0">
                <a:solidFill>
                  <a:srgbClr val="424242"/>
                </a:solidFill>
                <a:effectLst/>
                <a:latin typeface="Segoe UI" panose="020B0502040204020203" pitchFamily="34" charset="0"/>
              </a:rPr>
              <a:t>Challenge</a:t>
            </a:r>
            <a:r>
              <a:rPr lang="en-US" b="0" i="0">
                <a:solidFill>
                  <a:srgbClr val="424242"/>
                </a:solidFill>
                <a:effectLst/>
                <a:latin typeface="Segoe UI" panose="020B0502040204020203" pitchFamily="34" charset="0"/>
              </a:rPr>
              <a:t>: LLMs may replicate and amplify biases from their training data, leading to unreliable outputs. </a:t>
            </a:r>
            <a:r>
              <a:rPr lang="en-US"/>
              <a:t>LLMs are trained on vast amounts of data, and if the data contains biases or inaccuracies, the model may replicate and even amplify them, leading to biased or unreliable outputs.</a:t>
            </a:r>
            <a:r>
              <a:rPr lang="en-US" b="0" i="0">
                <a:solidFill>
                  <a:srgbClr val="3D3B49"/>
                </a:solidFill>
                <a:effectLst/>
                <a:latin typeface="Segoe Sans Text" pitchFamily="2" charset="0"/>
              </a:rPr>
              <a:t> So during the model selection phase, you need to consider this. There are general </a:t>
            </a:r>
            <a:r>
              <a:rPr lang="en-US" b="0" i="0" err="1">
                <a:solidFill>
                  <a:srgbClr val="3D3B49"/>
                </a:solidFill>
                <a:effectLst/>
                <a:latin typeface="Segoe Sans Text" pitchFamily="2" charset="0"/>
              </a:rPr>
              <a:t>mdels</a:t>
            </a:r>
            <a:r>
              <a:rPr lang="en-US" b="0" i="0">
                <a:solidFill>
                  <a:srgbClr val="3D3B49"/>
                </a:solidFill>
                <a:effectLst/>
                <a:latin typeface="Segoe Sans Text" pitchFamily="2" charset="0"/>
              </a:rPr>
              <a:t>, industry specific models/ task specific models as well. What data was used and techniques was used. For example Reinforcement learning used or not. You can also improve the model’s output with Fine tuning or RAG for context.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i="0">
              <a:solidFill>
                <a:srgbClr val="3D3B49"/>
              </a:solidFill>
              <a:effectLst/>
              <a:latin typeface="Segoe Sans Text" pitchFamily="2"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a:solidFill>
                  <a:srgbClr val="3D3B49"/>
                </a:solidFill>
                <a:effectLst/>
                <a:latin typeface="Segoe Sans Text" pitchFamily="2" charset="0"/>
              </a:rPr>
              <a:t>This challenge is also valid for evaluations for fine-tuning process. If you don’t have good quality of data, your fine-tuning will not help to improve the model. Or if you don’t have good quality of </a:t>
            </a:r>
            <a:r>
              <a:rPr lang="en-US" b="0" i="0" err="1">
                <a:solidFill>
                  <a:srgbClr val="3D3B49"/>
                </a:solidFill>
                <a:effectLst/>
                <a:latin typeface="Segoe Sans Text" pitchFamily="2" charset="0"/>
              </a:rPr>
              <a:t>groundtruth</a:t>
            </a:r>
            <a:r>
              <a:rPr lang="en-US" b="0" i="0">
                <a:solidFill>
                  <a:srgbClr val="3D3B49"/>
                </a:solidFill>
                <a:effectLst/>
                <a:latin typeface="Segoe Sans Text" pitchFamily="2" charset="0"/>
              </a:rPr>
              <a:t> data, your evaluations will not be valid. You can use simulator to generate valid synthetic data. </a:t>
            </a:r>
          </a:p>
          <a:p>
            <a:pPr algn="l">
              <a:buFont typeface="Arial" panose="020B0604020202020204" pitchFamily="34" charset="0"/>
              <a:buChar char="•"/>
            </a:pPr>
            <a:endParaRPr lang="en-US" b="0" i="0">
              <a:solidFill>
                <a:srgbClr val="424242"/>
              </a:solidFill>
              <a:effectLst/>
              <a:latin typeface="Segoe UI" panose="020B0502040204020203" pitchFamily="34" charset="0"/>
            </a:endParaRPr>
          </a:p>
          <a:p>
            <a:pPr algn="l">
              <a:buFont typeface="Arial" panose="020B0604020202020204" pitchFamily="34" charset="0"/>
              <a:buChar char="•"/>
            </a:pPr>
            <a:r>
              <a:rPr lang="en-US" b="1" i="0">
                <a:solidFill>
                  <a:srgbClr val="424242"/>
                </a:solidFill>
                <a:effectLst/>
                <a:latin typeface="Segoe UI" panose="020B0502040204020203" pitchFamily="34" charset="0"/>
              </a:rPr>
              <a:t>Solution</a:t>
            </a:r>
            <a:r>
              <a:rPr lang="en-US" b="0" i="0">
                <a:solidFill>
                  <a:srgbClr val="424242"/>
                </a:solidFill>
                <a:effectLst/>
                <a:latin typeface="Segoe UI" panose="020B0502040204020203" pitchFamily="34" charset="0"/>
              </a:rPr>
              <a:t>: Careful model selection, prompt engineering, fine-tuning, and using Retrieval-Augmented Generation (RAG) can help ensure the data context is appropriate and refined.</a:t>
            </a:r>
          </a:p>
          <a:p>
            <a:endParaRPr lang="en-GB" b="0" i="0">
              <a:solidFill>
                <a:srgbClr val="3D3B49"/>
              </a:solidFill>
              <a:effectLst/>
              <a:latin typeface="Segoe Sans Text" pitchFamily="2" charset="0"/>
            </a:endParaRPr>
          </a:p>
          <a:p>
            <a:pPr algn="l">
              <a:lnSpc>
                <a:spcPts val="1650"/>
              </a:lnSpc>
            </a:pPr>
            <a:r>
              <a:rPr lang="en-US" b="1" i="0">
                <a:effectLst/>
                <a:latin typeface="Segoe UI" panose="020B0502040204020203" pitchFamily="34" charset="0"/>
              </a:rPr>
              <a:t>Evaluation</a:t>
            </a:r>
          </a:p>
          <a:p>
            <a:r>
              <a:rPr lang="en-US" b="1" i="0">
                <a:solidFill>
                  <a:srgbClr val="424242"/>
                </a:solidFill>
                <a:effectLst/>
                <a:latin typeface="Segoe UI" panose="020B0502040204020203" pitchFamily="34" charset="0"/>
              </a:rPr>
              <a:t>Challenge</a:t>
            </a:r>
            <a:r>
              <a:rPr lang="en-US" b="0" i="0">
                <a:solidFill>
                  <a:srgbClr val="424242"/>
                </a:solidFill>
                <a:effectLst/>
                <a:latin typeface="Segoe UI" panose="020B0502040204020203" pitchFamily="34" charset="0"/>
              </a:rPr>
              <a:t>: Traditional ML metrics don’t not fully apply as there often isn't a single correct answer. </a:t>
            </a:r>
            <a:endParaRPr lang="en-US" b="1"/>
          </a:p>
          <a:p>
            <a:r>
              <a:rPr lang="en-US" b="1"/>
              <a:t>Interpretability is another challenge </a:t>
            </a:r>
            <a:r>
              <a:rPr lang="en-US" b="1" err="1"/>
              <a:t>sinece</a:t>
            </a:r>
            <a:r>
              <a:rPr lang="en-US"/>
              <a:t> LLMs often operate as "black boxes," making it difficult to understand how they arrive at specific conclusions or predictions, which can hinder trust and accountability.</a:t>
            </a:r>
            <a:r>
              <a:rPr lang="en-US" b="0" i="0">
                <a:solidFill>
                  <a:srgbClr val="3D3B49"/>
                </a:solidFill>
                <a:effectLst/>
                <a:latin typeface="Segoe Sans Text" pitchFamily="2" charset="0"/>
              </a:rPr>
              <a:t> But you can use prompt </a:t>
            </a:r>
            <a:r>
              <a:rPr lang="en-US" b="0" i="0" err="1">
                <a:solidFill>
                  <a:srgbClr val="3D3B49"/>
                </a:solidFill>
                <a:effectLst/>
                <a:latin typeface="Segoe Sans Text" pitchFamily="2" charset="0"/>
              </a:rPr>
              <a:t>eng</a:t>
            </a:r>
            <a:r>
              <a:rPr lang="en-US" b="0" i="0">
                <a:solidFill>
                  <a:srgbClr val="3D3B49"/>
                </a:solidFill>
                <a:effectLst/>
                <a:latin typeface="Segoe Sans Text" pitchFamily="2" charset="0"/>
              </a:rPr>
              <a:t> techniques such as chain of thoughts.</a:t>
            </a:r>
          </a:p>
          <a:p>
            <a:r>
              <a:rPr lang="en-US" b="0" i="0">
                <a:solidFill>
                  <a:srgbClr val="3D3B49"/>
                </a:solidFill>
                <a:effectLst/>
                <a:latin typeface="Segoe Sans Text" pitchFamily="2" charset="0"/>
              </a:rPr>
              <a:t>Evaluations hard via traditional ML metrics since there is often no single correct answer.</a:t>
            </a:r>
          </a:p>
          <a:p>
            <a:pPr algn="l">
              <a:buFont typeface="Arial" panose="020B0604020202020204" pitchFamily="34" charset="0"/>
              <a:buChar char="•"/>
            </a:pPr>
            <a:endParaRPr lang="en-US" b="0" i="0">
              <a:solidFill>
                <a:srgbClr val="424242"/>
              </a:solidFill>
              <a:effectLst/>
              <a:latin typeface="Segoe UI" panose="020B0502040204020203" pitchFamily="34" charset="0"/>
            </a:endParaRPr>
          </a:p>
          <a:p>
            <a:pPr algn="l">
              <a:buFont typeface="Arial" panose="020B0604020202020204" pitchFamily="34" charset="0"/>
              <a:buChar char="•"/>
            </a:pPr>
            <a:r>
              <a:rPr lang="en-US" b="1" i="0">
                <a:solidFill>
                  <a:srgbClr val="424242"/>
                </a:solidFill>
                <a:effectLst/>
                <a:latin typeface="Segoe UI" panose="020B0502040204020203" pitchFamily="34" charset="0"/>
              </a:rPr>
              <a:t>Solution</a:t>
            </a:r>
            <a:r>
              <a:rPr lang="en-US" b="0" i="0">
                <a:solidFill>
                  <a:srgbClr val="424242"/>
                </a:solidFill>
                <a:effectLst/>
                <a:latin typeface="Segoe UI" panose="020B0502040204020203" pitchFamily="34" charset="0"/>
              </a:rPr>
              <a:t>: Use of specific evaluation SDKs like AML Studio or AI Foundry Studio, which are tailored for evaluating LLMs.</a:t>
            </a:r>
          </a:p>
          <a:p>
            <a:endParaRPr lang="en-GB" b="0" i="0">
              <a:solidFill>
                <a:srgbClr val="3D3B49"/>
              </a:solidFill>
              <a:effectLst/>
              <a:latin typeface="Segoe Sans Text" pitchFamily="2" charset="0"/>
            </a:endParaRPr>
          </a:p>
          <a:p>
            <a:pPr algn="l">
              <a:lnSpc>
                <a:spcPts val="1650"/>
              </a:lnSpc>
            </a:pPr>
            <a:r>
              <a:rPr lang="en-US" b="1" i="0">
                <a:effectLst/>
                <a:latin typeface="Segoe UI" panose="020B0502040204020203" pitchFamily="34" charset="0"/>
              </a:rPr>
              <a:t> Scalability</a:t>
            </a:r>
          </a:p>
          <a:p>
            <a:pPr algn="l">
              <a:buFont typeface="Arial" panose="020B0604020202020204" pitchFamily="34" charset="0"/>
              <a:buChar char="•"/>
            </a:pPr>
            <a:r>
              <a:rPr lang="en-US" b="1" i="0">
                <a:solidFill>
                  <a:srgbClr val="424242"/>
                </a:solidFill>
                <a:effectLst/>
                <a:latin typeface="Segoe UI" panose="020B0502040204020203" pitchFamily="34" charset="0"/>
              </a:rPr>
              <a:t>Challenge</a:t>
            </a:r>
            <a:r>
              <a:rPr lang="en-US" b="0" i="0">
                <a:solidFill>
                  <a:srgbClr val="424242"/>
                </a:solidFill>
                <a:effectLst/>
                <a:latin typeface="Segoe UI" panose="020B0502040204020203" pitchFamily="34" charset="0"/>
              </a:rPr>
              <a:t>: Scaling LLMs to meet the demands.</a:t>
            </a:r>
          </a:p>
          <a:p>
            <a:pPr algn="l">
              <a:buFont typeface="Arial" panose="020B0604020202020204" pitchFamily="34" charset="0"/>
              <a:buChar char="•"/>
            </a:pPr>
            <a:r>
              <a:rPr lang="en-US" b="1" i="0">
                <a:solidFill>
                  <a:srgbClr val="424242"/>
                </a:solidFill>
                <a:effectLst/>
                <a:latin typeface="Segoe UI" panose="020B0502040204020203" pitchFamily="34" charset="0"/>
              </a:rPr>
              <a:t>Solution</a:t>
            </a:r>
            <a:r>
              <a:rPr lang="en-US" b="0" i="0">
                <a:solidFill>
                  <a:srgbClr val="424242"/>
                </a:solidFill>
                <a:effectLst/>
                <a:latin typeface="Segoe UI" panose="020B0502040204020203" pitchFamily="34" charset="0"/>
              </a:rPr>
              <a:t>: Designing systems with scalable endpoints and API Management (APIM) to handle increased loads efficiently. This challenge can be solved by design.</a:t>
            </a:r>
          </a:p>
          <a:p>
            <a:pPr algn="l">
              <a:buFont typeface="Arial" panose="020B0604020202020204" pitchFamily="34" charset="0"/>
              <a:buChar char="•"/>
            </a:pPr>
            <a:endParaRPr lang="en-US" b="0" i="0">
              <a:solidFill>
                <a:srgbClr val="424242"/>
              </a:solidFill>
              <a:effectLst/>
              <a:latin typeface="Segoe UI" panose="020B0502040204020203" pitchFamily="34" charset="0"/>
            </a:endParaRPr>
          </a:p>
          <a:p>
            <a:pPr algn="l">
              <a:lnSpc>
                <a:spcPts val="1650"/>
              </a:lnSpc>
            </a:pPr>
            <a:r>
              <a:rPr lang="en-US" b="1" i="0">
                <a:effectLst/>
                <a:latin typeface="Segoe UI" panose="020B0502040204020203" pitchFamily="34" charset="0"/>
              </a:rPr>
              <a:t>Ethical Concerns</a:t>
            </a:r>
          </a:p>
          <a:p>
            <a:pPr algn="l">
              <a:buFont typeface="Arial" panose="020B0604020202020204" pitchFamily="34" charset="0"/>
              <a:buChar char="•"/>
            </a:pPr>
            <a:r>
              <a:rPr lang="en-US" b="1" i="0">
                <a:solidFill>
                  <a:srgbClr val="424242"/>
                </a:solidFill>
                <a:effectLst/>
                <a:latin typeface="Segoe UI" panose="020B0502040204020203" pitchFamily="34" charset="0"/>
              </a:rPr>
              <a:t>Challenge</a:t>
            </a:r>
            <a:r>
              <a:rPr lang="en-US" b="0" i="0">
                <a:solidFill>
                  <a:srgbClr val="424242"/>
                </a:solidFill>
                <a:effectLst/>
                <a:latin typeface="Segoe UI" panose="020B0502040204020203" pitchFamily="34" charset="0"/>
              </a:rPr>
              <a:t>: Risk of generating harmful or misleading content.</a:t>
            </a:r>
          </a:p>
          <a:p>
            <a:pPr algn="l">
              <a:buFont typeface="Arial" panose="020B0604020202020204" pitchFamily="34" charset="0"/>
              <a:buChar char="•"/>
            </a:pPr>
            <a:r>
              <a:rPr lang="en-US" b="1" i="0">
                <a:solidFill>
                  <a:srgbClr val="424242"/>
                </a:solidFill>
                <a:effectLst/>
                <a:latin typeface="Segoe UI" panose="020B0502040204020203" pitchFamily="34" charset="0"/>
              </a:rPr>
              <a:t>Solution</a:t>
            </a:r>
            <a:r>
              <a:rPr lang="en-US" b="0" i="0">
                <a:solidFill>
                  <a:srgbClr val="424242"/>
                </a:solidFill>
                <a:effectLst/>
                <a:latin typeface="Segoe UI" panose="020B0502040204020203" pitchFamily="34" charset="0"/>
              </a:rPr>
              <a:t>:  Utilizing built-in content filtering, </a:t>
            </a:r>
            <a:r>
              <a:rPr lang="en-US" b="0" i="0" err="1">
                <a:solidFill>
                  <a:srgbClr val="424242"/>
                </a:solidFill>
                <a:effectLst/>
                <a:latin typeface="Segoe UI" panose="020B0502040204020203" pitchFamily="34" charset="0"/>
              </a:rPr>
              <a:t>PyRIT</a:t>
            </a:r>
            <a:r>
              <a:rPr lang="en-US" b="0" i="0">
                <a:solidFill>
                  <a:srgbClr val="424242"/>
                </a:solidFill>
                <a:effectLst/>
                <a:latin typeface="Segoe UI" panose="020B0502040204020203" pitchFamily="34" charset="0"/>
              </a:rPr>
              <a:t>, and reviewing transparency documentation in model operations.</a:t>
            </a:r>
          </a:p>
          <a:p>
            <a:pPr algn="l">
              <a:buFont typeface="Arial" panose="020B0604020202020204" pitchFamily="34" charset="0"/>
              <a:buChar char="•"/>
            </a:pPr>
            <a:r>
              <a:rPr lang="en-US" b="0" i="0">
                <a:solidFill>
                  <a:srgbClr val="161616"/>
                </a:solidFill>
                <a:effectLst/>
                <a:latin typeface="Segoe UI" panose="020B0502040204020203" pitchFamily="34" charset="0"/>
              </a:rPr>
              <a:t>To reduce the risk of harmful use of the Azure OpenAI Service, the Azure OpenAI Service includes both content filtering and abuse monitoring features. </a:t>
            </a:r>
            <a:endParaRPr lang="en-US" b="0" i="0">
              <a:solidFill>
                <a:srgbClr val="424242"/>
              </a:solidFill>
              <a:effectLst/>
              <a:latin typeface="Segoe UI" panose="020B0502040204020203" pitchFamily="34" charset="0"/>
            </a:endParaRPr>
          </a:p>
          <a:p>
            <a:pPr algn="l">
              <a:lnSpc>
                <a:spcPts val="1650"/>
              </a:lnSpc>
            </a:pPr>
            <a:r>
              <a:rPr lang="en-US" b="1" i="0">
                <a:effectLst/>
                <a:latin typeface="Segoe UI" panose="020B0502040204020203" pitchFamily="34" charset="0"/>
              </a:rPr>
              <a:t>Regulatory Compliance</a:t>
            </a:r>
          </a:p>
          <a:p>
            <a:pPr algn="l">
              <a:buFont typeface="Arial" panose="020B0604020202020204" pitchFamily="34" charset="0"/>
              <a:buChar char="•"/>
            </a:pPr>
            <a:r>
              <a:rPr lang="en-US" b="1" i="0">
                <a:solidFill>
                  <a:srgbClr val="424242"/>
                </a:solidFill>
                <a:effectLst/>
                <a:latin typeface="Segoe UI" panose="020B0502040204020203" pitchFamily="34" charset="0"/>
              </a:rPr>
              <a:t>Challenge</a:t>
            </a:r>
            <a:r>
              <a:rPr lang="en-US" b="0" i="0">
                <a:solidFill>
                  <a:srgbClr val="424242"/>
                </a:solidFill>
                <a:effectLst/>
                <a:latin typeface="Segoe UI" panose="020B0502040204020203" pitchFamily="34" charset="0"/>
              </a:rPr>
              <a:t>: Meeting legal standards like GDPR, which requires careful handling of data.</a:t>
            </a:r>
          </a:p>
          <a:p>
            <a:pPr algn="l">
              <a:buFont typeface="Arial" panose="020B0604020202020204" pitchFamily="34" charset="0"/>
              <a:buChar char="•"/>
            </a:pPr>
            <a:r>
              <a:rPr lang="en-US" b="1" i="0">
                <a:solidFill>
                  <a:srgbClr val="424242"/>
                </a:solidFill>
                <a:effectLst/>
                <a:latin typeface="Segoe UI" panose="020B0502040204020203" pitchFamily="34" charset="0"/>
              </a:rPr>
              <a:t>Solution</a:t>
            </a:r>
            <a:r>
              <a:rPr lang="en-US" b="0" i="0">
                <a:solidFill>
                  <a:srgbClr val="424242"/>
                </a:solidFill>
                <a:effectLst/>
                <a:latin typeface="Segoe UI" panose="020B0502040204020203" pitchFamily="34" charset="0"/>
              </a:rPr>
              <a:t>: Designing model deployment regions with data-at-rest considerations and adhering strictly to regulatory guidelines.</a:t>
            </a:r>
          </a:p>
          <a:p>
            <a:endParaRPr lang="en-GB" b="0" i="0">
              <a:solidFill>
                <a:srgbClr val="3D3B49"/>
              </a:solidFill>
              <a:effectLst/>
              <a:latin typeface="Segoe Sans Text" pitchFamily="2" charset="0"/>
            </a:endParaRPr>
          </a:p>
          <a:p>
            <a:pPr algn="l">
              <a:lnSpc>
                <a:spcPts val="1650"/>
              </a:lnSpc>
            </a:pPr>
            <a:r>
              <a:rPr lang="en-US" b="1" i="0">
                <a:effectLst/>
                <a:latin typeface="Segoe UI" panose="020B0502040204020203" pitchFamily="34" charset="0"/>
              </a:rPr>
              <a:t>Continuous Updating and Maintenance</a:t>
            </a:r>
          </a:p>
          <a:p>
            <a:pPr algn="l">
              <a:buFont typeface="Arial" panose="020B0604020202020204" pitchFamily="34" charset="0"/>
              <a:buChar char="•"/>
            </a:pPr>
            <a:r>
              <a:rPr lang="en-US" b="1" i="0">
                <a:solidFill>
                  <a:srgbClr val="424242"/>
                </a:solidFill>
                <a:effectLst/>
                <a:latin typeface="Segoe UI" panose="020B0502040204020203" pitchFamily="34" charset="0"/>
              </a:rPr>
              <a:t>Challenge</a:t>
            </a:r>
            <a:r>
              <a:rPr lang="en-US" b="0" i="0">
                <a:solidFill>
                  <a:srgbClr val="424242"/>
                </a:solidFill>
                <a:effectLst/>
                <a:latin typeface="Segoe UI" panose="020B0502040204020203" pitchFamily="34" charset="0"/>
              </a:rPr>
              <a:t>: LLMs require regular updates to accommodate new information. Necessary to keep LLMs relevant, requiring a strategic approach to retrain models as needed. So you need to collect logs, feedback… You can use AML, AI Foundry, App Insights for AI Project, DevOps Pipelines, </a:t>
            </a:r>
            <a:r>
              <a:rPr lang="en-US" b="0" i="0" err="1">
                <a:solidFill>
                  <a:srgbClr val="424242"/>
                </a:solidFill>
                <a:effectLst/>
                <a:latin typeface="Segoe UI" panose="020B0502040204020203" pitchFamily="34" charset="0"/>
              </a:rPr>
              <a:t>Github</a:t>
            </a:r>
            <a:r>
              <a:rPr lang="en-US" b="0" i="0">
                <a:solidFill>
                  <a:srgbClr val="424242"/>
                </a:solidFill>
                <a:effectLst/>
                <a:latin typeface="Segoe UI" panose="020B0502040204020203" pitchFamily="34" charset="0"/>
              </a:rPr>
              <a:t> Actions </a:t>
            </a:r>
          </a:p>
          <a:p>
            <a:pPr algn="l">
              <a:buFont typeface="Arial" panose="020B0604020202020204" pitchFamily="34" charset="0"/>
              <a:buChar char="•"/>
            </a:pPr>
            <a:r>
              <a:rPr lang="en-US" b="1" i="0">
                <a:solidFill>
                  <a:srgbClr val="424242"/>
                </a:solidFill>
                <a:effectLst/>
                <a:latin typeface="Segoe UI" panose="020B0502040204020203" pitchFamily="34" charset="0"/>
              </a:rPr>
              <a:t>Solution</a:t>
            </a:r>
            <a:r>
              <a:rPr lang="en-US" b="0" i="0">
                <a:solidFill>
                  <a:srgbClr val="424242"/>
                </a:solidFill>
                <a:effectLst/>
                <a:latin typeface="Segoe UI" panose="020B0502040204020203" pitchFamily="34" charset="0"/>
              </a:rPr>
              <a:t>: Establishing processes for the frequent adaptation of new </a:t>
            </a:r>
            <a:r>
              <a:rPr lang="en-US" b="0" i="0" err="1">
                <a:solidFill>
                  <a:srgbClr val="424242"/>
                </a:solidFill>
                <a:effectLst/>
                <a:latin typeface="Segoe UI" panose="020B0502040204020203" pitchFamily="34" charset="0"/>
              </a:rPr>
              <a:t>requirrements</a:t>
            </a:r>
            <a:r>
              <a:rPr lang="en-US" b="0" i="0">
                <a:solidFill>
                  <a:srgbClr val="424242"/>
                </a:solidFill>
                <a:effectLst/>
                <a:latin typeface="Segoe UI" panose="020B0502040204020203" pitchFamily="34" charset="0"/>
              </a:rPr>
              <a:t> and performance improvements.</a:t>
            </a:r>
          </a:p>
          <a:p>
            <a:endParaRPr lang="en-GB" b="0" i="0">
              <a:solidFill>
                <a:srgbClr val="3D3B49"/>
              </a:solidFill>
              <a:effectLst/>
              <a:latin typeface="Segoe Sans Text" pitchFamily="2" charset="0"/>
            </a:endParaRPr>
          </a:p>
          <a:p>
            <a:pPr algn="l">
              <a:lnSpc>
                <a:spcPts val="1650"/>
              </a:lnSpc>
            </a:pPr>
            <a:r>
              <a:rPr lang="en-US" b="1" i="0">
                <a:effectLst/>
                <a:latin typeface="Segoe UI" panose="020B0502040204020203" pitchFamily="34" charset="0"/>
              </a:rPr>
              <a:t>Computational Resources for Training and Deploying</a:t>
            </a:r>
          </a:p>
          <a:p>
            <a:pPr algn="l">
              <a:buFont typeface="Arial" panose="020B0604020202020204" pitchFamily="34" charset="0"/>
              <a:buChar char="•"/>
            </a:pPr>
            <a:r>
              <a:rPr lang="en-US" b="1" i="0">
                <a:solidFill>
                  <a:srgbClr val="424242"/>
                </a:solidFill>
                <a:effectLst/>
                <a:latin typeface="Segoe UI" panose="020B0502040204020203" pitchFamily="34" charset="0"/>
              </a:rPr>
              <a:t>Challenge</a:t>
            </a:r>
            <a:r>
              <a:rPr lang="en-US" b="0" i="0">
                <a:solidFill>
                  <a:srgbClr val="424242"/>
                </a:solidFill>
                <a:effectLst/>
                <a:latin typeface="Segoe UI" panose="020B0502040204020203" pitchFamily="34" charset="0"/>
              </a:rPr>
              <a:t>: High costs and extensive resources needed for training and deploying LLMs.</a:t>
            </a:r>
          </a:p>
          <a:p>
            <a:pPr algn="l">
              <a:buFont typeface="Arial" panose="020B0604020202020204" pitchFamily="34" charset="0"/>
              <a:buChar char="•"/>
            </a:pPr>
            <a:r>
              <a:rPr lang="en-US" b="1" i="0">
                <a:solidFill>
                  <a:srgbClr val="424242"/>
                </a:solidFill>
                <a:effectLst/>
                <a:latin typeface="Segoe UI" panose="020B0502040204020203" pitchFamily="34" charset="0"/>
              </a:rPr>
              <a:t>Solution</a:t>
            </a:r>
            <a:r>
              <a:rPr lang="en-US" b="0" i="0">
                <a:solidFill>
                  <a:srgbClr val="424242"/>
                </a:solidFill>
                <a:effectLst/>
                <a:latin typeface="Segoe UI" panose="020B0502040204020203" pitchFamily="34" charset="0"/>
              </a:rPr>
              <a:t>: Utilizing pretrained models and selecting the correct deployment types to optimize resource usage.</a:t>
            </a:r>
          </a:p>
          <a:p>
            <a:pPr algn="l">
              <a:buFont typeface="Arial" panose="020B0604020202020204" pitchFamily="34" charset="0"/>
              <a:buChar char="•"/>
            </a:pPr>
            <a:endParaRPr lang="en-US" b="0" i="0">
              <a:solidFill>
                <a:srgbClr val="424242"/>
              </a:solidFill>
              <a:effectLst/>
              <a:latin typeface="Segoe UI" panose="020B0502040204020203" pitchFamily="34" charset="0"/>
            </a:endParaRPr>
          </a:p>
          <a:p>
            <a:pPr algn="l">
              <a:lnSpc>
                <a:spcPts val="1650"/>
              </a:lnSpc>
            </a:pPr>
            <a:r>
              <a:rPr lang="en-US" b="1" i="0">
                <a:effectLst/>
                <a:latin typeface="Segoe UI" panose="020B0502040204020203" pitchFamily="34" charset="0"/>
              </a:rPr>
              <a:t> Security and Privacy Risks</a:t>
            </a:r>
          </a:p>
          <a:p>
            <a:pPr algn="l">
              <a:buFont typeface="Arial" panose="020B0604020202020204" pitchFamily="34" charset="0"/>
              <a:buChar char="•"/>
            </a:pPr>
            <a:r>
              <a:rPr lang="en-US" b="1" i="0">
                <a:solidFill>
                  <a:srgbClr val="424242"/>
                </a:solidFill>
                <a:effectLst/>
                <a:latin typeface="Segoe UI" panose="020B0502040204020203" pitchFamily="34" charset="0"/>
              </a:rPr>
              <a:t>Challenge</a:t>
            </a:r>
            <a:r>
              <a:rPr lang="en-US" b="0" i="0">
                <a:solidFill>
                  <a:srgbClr val="424242"/>
                </a:solidFill>
                <a:effectLst/>
                <a:latin typeface="Segoe UI" panose="020B0502040204020203" pitchFamily="34" charset="0"/>
              </a:rPr>
              <a:t>: Potential for data leaks and vulnerability to adversarial attacks.</a:t>
            </a:r>
          </a:p>
          <a:p>
            <a:pPr algn="l">
              <a:buFont typeface="Arial" panose="020B0604020202020204" pitchFamily="34" charset="0"/>
              <a:buChar char="•"/>
            </a:pPr>
            <a:r>
              <a:rPr lang="en-US" b="1" i="0">
                <a:solidFill>
                  <a:srgbClr val="424242"/>
                </a:solidFill>
                <a:effectLst/>
                <a:latin typeface="Segoe UI" panose="020B0502040204020203" pitchFamily="34" charset="0"/>
              </a:rPr>
              <a:t>Solution</a:t>
            </a:r>
            <a:r>
              <a:rPr lang="en-US" b="0" i="0">
                <a:solidFill>
                  <a:srgbClr val="424242"/>
                </a:solidFill>
                <a:effectLst/>
                <a:latin typeface="Segoe UI" panose="020B0502040204020203" pitchFamily="34" charset="0"/>
              </a:rPr>
              <a:t>: Ensuring robust security measures where "Your data is yours!" is a guiding principle.</a:t>
            </a:r>
          </a:p>
          <a:p>
            <a:pPr algn="l">
              <a:buFont typeface="Arial" panose="020B0604020202020204" pitchFamily="34" charset="0"/>
              <a:buChar char="•"/>
            </a:pPr>
            <a:endParaRPr lang="en-US" b="0" i="0">
              <a:solidFill>
                <a:srgbClr val="424242"/>
              </a:solidFill>
              <a:effectLst/>
              <a:latin typeface="Segoe UI" panose="020B0502040204020203" pitchFamily="34" charset="0"/>
            </a:endParaRPr>
          </a:p>
          <a:p>
            <a:endParaRPr lang="en-US" b="0" i="0">
              <a:solidFill>
                <a:srgbClr val="3D3B49"/>
              </a:solidFill>
              <a:effectLst/>
              <a:latin typeface="Segoe Sans Text"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3D3B49"/>
                </a:solidFill>
                <a:effectLst/>
                <a:latin typeface="Segoe Sans Text" pitchFamily="2" charset="0"/>
              </a:rPr>
              <a:t>Also </a:t>
            </a:r>
            <a:r>
              <a:rPr lang="en-US" b="1" i="0">
                <a:solidFill>
                  <a:srgbClr val="424242"/>
                </a:solidFill>
                <a:effectLst/>
                <a:latin typeface="Segoe UI" panose="020B0502040204020203" pitchFamily="34" charset="0"/>
              </a:rPr>
              <a:t>Getting Started</a:t>
            </a:r>
            <a:r>
              <a:rPr lang="en-US" b="0" i="0">
                <a:solidFill>
                  <a:srgbClr val="424242"/>
                </a:solidFill>
                <a:effectLst/>
                <a:latin typeface="Segoe UI" panose="020B0502040204020203" pitchFamily="34" charset="0"/>
              </a:rPr>
              <a:t>: Rapid evolution in the field can make starting with LLMs daunting. Ensuring access to the latest guidance and resources is crucial.</a:t>
            </a:r>
          </a:p>
          <a:p>
            <a:endParaRPr lang="en-US" b="0" i="0">
              <a:solidFill>
                <a:srgbClr val="3D3B49"/>
              </a:solidFill>
              <a:effectLst/>
              <a:latin typeface="Segoe Sans Text" pitchFamily="2" charset="0"/>
            </a:endParaRPr>
          </a:p>
          <a:p>
            <a:r>
              <a:rPr lang="en-US" b="0" i="0" err="1">
                <a:solidFill>
                  <a:srgbClr val="424242"/>
                </a:solidFill>
                <a:effectLst/>
                <a:latin typeface="Segoe UI" panose="020B0502040204020203" pitchFamily="34" charset="0"/>
              </a:rPr>
              <a:t>GenAIOps</a:t>
            </a:r>
            <a:r>
              <a:rPr lang="en-US" b="0" i="0">
                <a:solidFill>
                  <a:srgbClr val="424242"/>
                </a:solidFill>
                <a:effectLst/>
                <a:latin typeface="Segoe UI" panose="020B0502040204020203" pitchFamily="34" charset="0"/>
              </a:rPr>
              <a:t> ensures that everything from model selection to deployment is handled meticulously, bridging gaps between product, data, engineering, security, and customer teams.</a:t>
            </a:r>
          </a:p>
          <a:p>
            <a:endParaRPr lang="en-US" b="0" i="0">
              <a:solidFill>
                <a:srgbClr val="424242"/>
              </a:solidFill>
              <a:effectLst/>
              <a:latin typeface="Segoe UI" panose="020B0502040204020203" pitchFamily="34" charset="0"/>
            </a:endParaRPr>
          </a:p>
          <a:p>
            <a:r>
              <a:rPr lang="en-US" b="0" i="0">
                <a:solidFill>
                  <a:srgbClr val="424242"/>
                </a:solidFill>
                <a:effectLst/>
                <a:latin typeface="Segoe UI" panose="020B0502040204020203" pitchFamily="34" charset="0"/>
              </a:rPr>
              <a:t>---------------------------</a:t>
            </a:r>
            <a:endParaRPr lang="en-US" b="0" i="0">
              <a:solidFill>
                <a:srgbClr val="3D3B49"/>
              </a:solidFill>
              <a:effectLst/>
              <a:latin typeface="Segoe Sans Text" pitchFamily="2" charset="0"/>
            </a:endParaRPr>
          </a:p>
          <a:p>
            <a:r>
              <a:rPr lang="en-US" b="0" i="0">
                <a:solidFill>
                  <a:srgbClr val="3D3B49"/>
                </a:solidFill>
                <a:effectLst/>
                <a:latin typeface="Segoe Sans Text" pitchFamily="2" charset="0"/>
              </a:rPr>
              <a:t> monitor users’ experience and retrain your models if problems arise. Establishing a robust setup to monitor and retrain models is a big job that requires a strategic approach. Identifying potential issues ahead of time and optimizing your models can help you ensure a seamless user experience.</a:t>
            </a:r>
          </a:p>
          <a:p>
            <a:endParaRPr lang="en-US" b="1"/>
          </a:p>
          <a:p>
            <a:r>
              <a:rPr lang="en-US" b="0" i="0">
                <a:solidFill>
                  <a:srgbClr val="3D3B49"/>
                </a:solidFill>
                <a:effectLst/>
                <a:latin typeface="Segoe Sans Text" pitchFamily="2" charset="0"/>
              </a:rPr>
              <a:t>Getting Started slows down: .  [</a:t>
            </a:r>
            <a:r>
              <a:rPr kumimoji="0" lang="en-CA" sz="1200" b="0" i="0" u="none" strike="noStrike" kern="1200" cap="none" spc="0" normalizeH="0" baseline="0" noProof="0">
                <a:ln>
                  <a:noFill/>
                </a:ln>
                <a:solidFill>
                  <a:schemeClr val="tx1"/>
                </a:solidFill>
                <a:effectLst/>
                <a:uLnTx/>
                <a:uFillTx/>
                <a:ea typeface="+mn-ea"/>
                <a:cs typeface="+mn-cs"/>
              </a:rPr>
              <a:t>The state of the art is evolving so quickly, it makes it difficult to decide what to use. Along with that, guidance and documentation is hard to find about LLM training details.</a:t>
            </a:r>
          </a:p>
          <a:p>
            <a:r>
              <a:rPr lang="en-US" b="0" i="0">
                <a:solidFill>
                  <a:srgbClr val="3D3B49"/>
                </a:solidFill>
                <a:effectLst/>
                <a:latin typeface="Segoe Sans Text" pitchFamily="2" charset="0"/>
              </a:rPr>
              <a:t>]</a:t>
            </a:r>
          </a:p>
          <a:p>
            <a:r>
              <a:rPr lang="en-US" b="0" i="0">
                <a:solidFill>
                  <a:srgbClr val="3D3B49"/>
                </a:solidFill>
                <a:effectLst/>
                <a:latin typeface="Segoe Sans Text" pitchFamily="2" charset="0"/>
              </a:rPr>
              <a:t>New skillsets required to develop LLM based applications</a:t>
            </a:r>
          </a:p>
          <a:p>
            <a:endParaRPr lang="en-US" b="0" i="0">
              <a:solidFill>
                <a:srgbClr val="3D3B49"/>
              </a:solidFill>
              <a:effectLst/>
              <a:latin typeface="Segoe Sans Text" pitchFamily="2" charset="0"/>
            </a:endParaRPr>
          </a:p>
          <a:p>
            <a:r>
              <a:rPr lang="en-US" b="1"/>
              <a:t>Continuous Updating and Maintenance:</a:t>
            </a:r>
            <a:r>
              <a:rPr lang="en-US"/>
              <a:t> LLMs need to be regularly updated to handle new information and adapt to changing requirements, but managing this process efficiently and accurately is challenging.</a:t>
            </a:r>
          </a:p>
          <a:p>
            <a:endParaRPr lang="en-US" b="1"/>
          </a:p>
          <a:p>
            <a:r>
              <a:rPr lang="en-US" b="1"/>
              <a:t>Regulatory Compliance:</a:t>
            </a:r>
            <a:r>
              <a:rPr lang="en-US"/>
              <a:t> Ensuring that LLMs meet legal and regulatory standards, particularly regarding data privacy (e.g., GDPR), is a complex challenge. </a:t>
            </a:r>
            <a:r>
              <a:rPr lang="en-US" sz="1200"/>
              <a:t>. </a:t>
            </a:r>
            <a:r>
              <a:rPr lang="en-US" sz="1200">
                <a:solidFill>
                  <a:schemeClr val="tx1"/>
                </a:solidFill>
              </a:rPr>
              <a:t>EU AI Act, GDPR, SS1/23 etc.</a:t>
            </a:r>
            <a:endParaRPr lang="en-US" b="1"/>
          </a:p>
          <a:p>
            <a:pPr marL="171450" indent="-171450">
              <a:buFont typeface="Wingdings" panose="05000000000000000000" pitchFamily="2" charset="2"/>
              <a:buChar char="è"/>
            </a:pPr>
            <a:r>
              <a:rPr lang="en-US" b="0"/>
              <a:t>Deploying the model into correct region, using stateless endpoints, your data should not be used for training …</a:t>
            </a:r>
          </a:p>
          <a:p>
            <a:pPr marL="171450" indent="-171450">
              <a:buFont typeface="Wingdings" panose="05000000000000000000" pitchFamily="2" charset="2"/>
              <a:buChar char="è"/>
            </a:pPr>
            <a:endParaRPr lang="en-US" b="1"/>
          </a:p>
          <a:p>
            <a:r>
              <a:rPr lang="en-US" b="1"/>
              <a:t>No need to worry:</a:t>
            </a:r>
          </a:p>
          <a:p>
            <a:r>
              <a:rPr lang="en-US" b="1"/>
              <a:t>Computational Resources:</a:t>
            </a:r>
            <a:r>
              <a:rPr lang="en-US"/>
              <a:t> Training and deploying LLMs require significant computational power, memory, and storage, which can be expensive and resource-intensive. Model as a service APIs vs self-managed.</a:t>
            </a:r>
            <a:endParaRPr lang="en-US" b="1"/>
          </a:p>
          <a:p>
            <a:r>
              <a:rPr lang="en-US" b="1"/>
              <a:t>Security and Privacy Risks:</a:t>
            </a:r>
            <a:r>
              <a:rPr lang="en-US"/>
              <a:t> LLMs may unintentionally leak sensitive or confidential information from their training data or be vulnerable to adversarial attacks.</a:t>
            </a:r>
            <a:endParaRPr lang="en-US" b="0" i="0">
              <a:solidFill>
                <a:srgbClr val="3D3B49"/>
              </a:solidFill>
              <a:effectLst/>
              <a:latin typeface="Segoe Sans Text" pitchFamily="2" charset="0"/>
            </a:endParaRPr>
          </a:p>
          <a:p>
            <a:endParaRPr lang="en-US" b="0" i="0">
              <a:solidFill>
                <a:srgbClr val="3D3B49"/>
              </a:solidFill>
              <a:effectLst/>
              <a:latin typeface="Segoe Sans Text" pitchFamily="2" charset="0"/>
            </a:endParaRPr>
          </a:p>
          <a:p>
            <a:endParaRPr lang="en-US" b="0" i="0">
              <a:solidFill>
                <a:srgbClr val="3D3B49"/>
              </a:solidFill>
              <a:effectLst/>
              <a:latin typeface="Segoe Sans Text" pitchFamily="2" charset="0"/>
            </a:endParaRPr>
          </a:p>
          <a:p>
            <a:r>
              <a:rPr lang="en-GB"/>
              <a:t>----</a:t>
            </a:r>
          </a:p>
          <a:p>
            <a:pPr algn="l"/>
            <a:r>
              <a:rPr lang="en-US" b="1" i="0">
                <a:solidFill>
                  <a:srgbClr val="1F2328"/>
                </a:solidFill>
                <a:effectLst/>
              </a:rPr>
              <a:t>Challenges in </a:t>
            </a:r>
            <a:r>
              <a:rPr lang="en-US" b="1" i="0" err="1">
                <a:solidFill>
                  <a:srgbClr val="1F2328"/>
                </a:solidFill>
                <a:effectLst/>
              </a:rPr>
              <a:t>LLMOps</a:t>
            </a:r>
            <a:endParaRPr lang="en-US" b="1" i="0">
              <a:solidFill>
                <a:srgbClr val="1F2328"/>
              </a:solidFill>
              <a:effectLst/>
            </a:endParaRPr>
          </a:p>
          <a:p>
            <a:pPr algn="l">
              <a:buFont typeface="Arial" panose="020B0604020202020204" pitchFamily="34" charset="0"/>
              <a:buChar char="•"/>
            </a:pPr>
            <a:r>
              <a:rPr lang="en-US" b="0" i="0">
                <a:solidFill>
                  <a:srgbClr val="1F2328"/>
                </a:solidFill>
                <a:effectLst/>
              </a:rPr>
              <a:t>Managing Large Language based flows, from local experimentation to production deployment, has been far from straightforward and isn't a one-size-fits-all task.</a:t>
            </a:r>
          </a:p>
          <a:p>
            <a:pPr algn="l">
              <a:buFont typeface="Arial" panose="020B0604020202020204" pitchFamily="34" charset="0"/>
              <a:buChar char="•"/>
            </a:pPr>
            <a:r>
              <a:rPr lang="en-US" b="0" i="0">
                <a:solidFill>
                  <a:srgbClr val="1F2328"/>
                </a:solidFill>
                <a:effectLst/>
              </a:rPr>
              <a:t>Each flow has its unique lifecycle, from initial experimentation to deployment, and each stage presents its own set of challenges.</a:t>
            </a:r>
          </a:p>
          <a:p>
            <a:pPr algn="l">
              <a:buFont typeface="Arial" panose="020B0604020202020204" pitchFamily="34" charset="0"/>
              <a:buChar char="•"/>
            </a:pPr>
            <a:r>
              <a:rPr lang="en-US" b="0" i="0">
                <a:solidFill>
                  <a:srgbClr val="1F2328"/>
                </a:solidFill>
                <a:effectLst/>
              </a:rPr>
              <a:t>Organizations often deal with multiple flows concurrently, each with its objectives, requirements, and complexities. This can quickly become overwhelming without proper management tools.</a:t>
            </a:r>
          </a:p>
          <a:p>
            <a:pPr algn="l">
              <a:buFont typeface="Arial" panose="020B0604020202020204" pitchFamily="34" charset="0"/>
              <a:buChar char="•"/>
            </a:pPr>
            <a:r>
              <a:rPr lang="en-US" b="0" i="0">
                <a:solidFill>
                  <a:srgbClr val="1F2328"/>
                </a:solidFill>
                <a:effectLst/>
              </a:rPr>
              <a:t>It involves handling multiple flows, their unique lifecycles, experimentation with various configurations, and ensuring smooth deployments.</a:t>
            </a:r>
          </a:p>
          <a:p>
            <a:endParaRPr lang="en-US"/>
          </a:p>
          <a:p>
            <a:endParaRPr lang="en-US"/>
          </a:p>
          <a:p>
            <a:endParaRPr lang="en-GB"/>
          </a:p>
        </p:txBody>
      </p:sp>
      <p:sp>
        <p:nvSpPr>
          <p:cNvPr id="4" name="Slide Number Placeholder 3">
            <a:extLst>
              <a:ext uri="{FF2B5EF4-FFF2-40B4-BE49-F238E27FC236}">
                <a16:creationId xmlns:a16="http://schemas.microsoft.com/office/drawing/2014/main" id="{34FACAC6-E159-C46A-3C65-F0D42CC5655F}"/>
              </a:ext>
            </a:extLst>
          </p:cNvPr>
          <p:cNvSpPr>
            <a:spLocks noGrp="1"/>
          </p:cNvSpPr>
          <p:nvPr>
            <p:ph type="sldNum" sz="quarter" idx="5"/>
          </p:nvPr>
        </p:nvSpPr>
        <p:spPr/>
        <p:txBody>
          <a:bodyPr/>
          <a:lstStyle/>
          <a:p>
            <a:fld id="{BD154338-A073-4661-BF20-52EA06646E26}" type="slidenum">
              <a:rPr lang="en-US" smtClean="0"/>
              <a:pPr/>
              <a:t>17</a:t>
            </a:fld>
            <a:endParaRPr lang="en-US"/>
          </a:p>
        </p:txBody>
      </p:sp>
    </p:spTree>
    <p:extLst>
      <p:ext uri="{BB962C8B-B14F-4D97-AF65-F5344CB8AC3E}">
        <p14:creationId xmlns:p14="http://schemas.microsoft.com/office/powerpoint/2010/main" val="2102772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How can you assess your customers' competence in handling GenAI applications and take appropriate actions to help them improve?</a:t>
            </a:r>
            <a:endParaRPr lang="en-GB"/>
          </a:p>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18</a:t>
            </a:fld>
            <a:endParaRPr lang="en-US"/>
          </a:p>
        </p:txBody>
      </p:sp>
    </p:spTree>
    <p:extLst>
      <p:ext uri="{BB962C8B-B14F-4D97-AF65-F5344CB8AC3E}">
        <p14:creationId xmlns:p14="http://schemas.microsoft.com/office/powerpoint/2010/main" val="22611234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To understand that we have our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maturity levels and take appropriate actions to move to the next level, we need to look at the four maturity stages we have defined.</a:t>
            </a:r>
          </a:p>
          <a:p>
            <a:endParaRPr lang="en-GB"/>
          </a:p>
          <a:p>
            <a:r>
              <a:rPr lang="en-GB" sz="1200" kern="1200">
                <a:solidFill>
                  <a:schemeClr val="tx1"/>
                </a:solidFill>
                <a:effectLst/>
                <a:latin typeface="Segoe Sans Text" pitchFamily="2" charset="0"/>
                <a:ea typeface="+mn-ea"/>
                <a:cs typeface="+mn-cs"/>
              </a:rPr>
              <a:t>At the Initial stage, the focus is on Operational Excellence and Continuous Improvement. Here, organizations are discovering models and testing prompts. Basic evaluation and monitoring are key activities in this phase.</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At the Defined stage, we move towards Systematizing LLM App Development. This involves iterative model augmentation with prompt engineering and Retrieval-Augmented Generation (RAG). Structured deployment and prompt-based evaluations become more systematic.</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When we reach the Managed stage, we are looking at Advanced LLM Workflows and Proactive Monitoring. This includes comprehensive prompt management, evaluation, and real-time deployment. Advanced monitoring and automated alerts are implemented to ensure smooth operations.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Finally, at the Optimized stage, we achieve Operational Excellence and Continuous Improvement with a seamless, collaborative environment for CI/CD. Fully automated monitoring and model/prompt refinement are the hallmarks of this stage.</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Understanding these levels helps organizations identify where they currently stand and what steps they need to take to progress. Each level builds on the previous one, adding layers of sophistication and automation to the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processes.</a:t>
            </a:r>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154338-A073-4661-BF20-52EA06646E26}"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9199622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7AB0E-903F-1695-B545-EC9BE9137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99CE3-0D0E-A494-3B90-DF2DA38E1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3FE20D-FD09-8F11-14FD-27C68F540F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lets talk about  "Enterprise GenAI Lifecycle"</a:t>
            </a:r>
          </a:p>
          <a:p>
            <a:endParaRPr lang="en-GB"/>
          </a:p>
          <a:p>
            <a:r>
              <a:rPr lang="en-GB" sz="1200" kern="1200">
                <a:solidFill>
                  <a:schemeClr val="tx1"/>
                </a:solidFill>
                <a:effectLst/>
                <a:latin typeface="Segoe Sans Text" pitchFamily="2" charset="0"/>
                <a:ea typeface="+mn-ea"/>
                <a:cs typeface="+mn-cs"/>
              </a:rPr>
              <a:t>Today we will cover six key sub-topics:</a:t>
            </a:r>
          </a:p>
          <a:p>
            <a:pPr lvl="0"/>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Enterprise Lifecycle - This will be our starting point. We'll explore the fundamental components and the overall workflow that drives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a:t>
            </a:r>
          </a:p>
          <a:p>
            <a:pPr lvl="0"/>
            <a:r>
              <a:rPr lang="en-GB" sz="1200" kern="1200">
                <a:solidFill>
                  <a:schemeClr val="tx1"/>
                </a:solidFill>
                <a:effectLst/>
                <a:latin typeface="Segoe Sans Text" pitchFamily="2" charset="0"/>
                <a:ea typeface="+mn-ea"/>
                <a:cs typeface="+mn-cs"/>
              </a:rPr>
              <a:t>How to Implement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 We'll provide actionable steps and best practices to implement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effectively within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Prototyping &amp; "POC to Prod" Demo - Here, we'll discuss the importance of prototyping and demonstrate how to transition from Proof from Proof of Concept (POC) to production.</a:t>
            </a:r>
          </a:p>
          <a:p>
            <a:endParaRPr lang="en-GB"/>
          </a:p>
          <a:p>
            <a:r>
              <a:rPr lang="en-GB" sz="1200" kern="1200">
                <a:solidFill>
                  <a:schemeClr val="tx1"/>
                </a:solidFill>
                <a:effectLst/>
                <a:latin typeface="Segoe Sans Text" pitchFamily="2" charset="0"/>
                <a:ea typeface="+mn-ea"/>
                <a:cs typeface="+mn-cs"/>
              </a:rPr>
              <a:t>And fourth …. Building &amp; Augmenting &amp; "POC to Prod" Demo - Building on the previous stage, we'll delve into the specifics of augmenting your AI models and demonstrate this process in action.</a:t>
            </a:r>
          </a:p>
          <a:p>
            <a:pPr lvl="0"/>
            <a:r>
              <a:rPr lang="en-GB" sz="1200" b="1" kern="1200">
                <a:solidFill>
                  <a:schemeClr val="tx1"/>
                </a:solidFill>
                <a:effectLst/>
                <a:latin typeface="Segoe Sans Text" pitchFamily="2" charset="0"/>
                <a:ea typeface="+mn-ea"/>
                <a:cs typeface="+mn-cs"/>
              </a:rPr>
              <a:t> </a:t>
            </a: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Next, very critical one… Deploying &amp; Monitoring &amp; "POC to Prod" Demo - Deployment and monitoring are critical for ensuring your AI models perform as expected in the real world. We'll showcase these steps with another demo.</a:t>
            </a:r>
          </a:p>
          <a:p>
            <a:r>
              <a:rPr lang="en-GB" sz="1200" kern="1200">
                <a:solidFill>
                  <a:schemeClr val="tx1"/>
                </a:solidFill>
                <a:effectLst/>
                <a:latin typeface="Segoe Sans Text" pitchFamily="2" charset="0"/>
                <a:ea typeface="+mn-ea"/>
                <a:cs typeface="+mn-cs"/>
              </a:rPr>
              <a:t>And Finally, Managing - we'll cover the management aspects, including how to continuously monitor, update, and manage your AI solutions to ensure they remain effective and efficient.</a:t>
            </a:r>
          </a:p>
          <a:p>
            <a:r>
              <a:rPr lang="en-GB" sz="1200" b="1" kern="1200">
                <a:solidFill>
                  <a:schemeClr val="tx1"/>
                </a:solidFill>
                <a:effectLst/>
                <a:latin typeface="Segoe Sans Text" pitchFamily="2" charset="0"/>
                <a:ea typeface="+mn-ea"/>
                <a:cs typeface="+mn-cs"/>
              </a:rPr>
              <a:t> </a:t>
            </a: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To begin, let’s focus on the first agenda item: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Enterprise Life Cycle." This is where it all starts, and understanding its components is crucial for successful implementation.</a:t>
            </a:r>
          </a:p>
          <a:p>
            <a:endParaRPr lang="en-GB"/>
          </a:p>
        </p:txBody>
      </p:sp>
      <p:sp>
        <p:nvSpPr>
          <p:cNvPr id="4" name="Slide Number Placeholder 3">
            <a:extLst>
              <a:ext uri="{FF2B5EF4-FFF2-40B4-BE49-F238E27FC236}">
                <a16:creationId xmlns:a16="http://schemas.microsoft.com/office/drawing/2014/main" id="{94E183C1-DC6B-682C-09D2-583F673EC822}"/>
              </a:ext>
            </a:extLst>
          </p:cNvPr>
          <p:cNvSpPr>
            <a:spLocks noGrp="1"/>
          </p:cNvSpPr>
          <p:nvPr>
            <p:ph type="sldNum" sz="quarter" idx="5"/>
          </p:nvPr>
        </p:nvSpPr>
        <p:spPr/>
        <p:txBody>
          <a:bodyPr/>
          <a:lstStyle/>
          <a:p>
            <a:fld id="{1D09229F-6F41-4CC3-A51C-EB832A3392C5}" type="slidenum">
              <a:rPr lang="en-US" smtClean="0"/>
              <a:t>21</a:t>
            </a:fld>
            <a:endParaRPr lang="en-US"/>
          </a:p>
        </p:txBody>
      </p:sp>
    </p:spTree>
    <p:extLst>
      <p:ext uri="{BB962C8B-B14F-4D97-AF65-F5344CB8AC3E}">
        <p14:creationId xmlns:p14="http://schemas.microsoft.com/office/powerpoint/2010/main" val="4053099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3AC5B-BCA0-84A3-96D0-1F133B6C4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1EBD1-FDA7-4B51-CAAC-692CA9E92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7A78D3-C166-A3A3-05A0-10A68AD73B2F}"/>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This lifecycle encompasses several phases, each with its own set of roles and responsibilities.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We start with Defining Scope &amp; Requirements. This phase is critical as it lays the foundation for the AI project. Here, the Product Lead, IT, Security, and Compliance teams collaborate to outline the project's scope and requirements. This ensures that the project aligns with business goals and complies with relevant regulations and security standards.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Next, we move to Data Preparation, where Data Engineers and Data Modelers clean, structure, and enrich the data needed for GenAI use case. This step is crucial to ensure the quality and relevance of the data fed into the models. This data can be used for fine-tuning or RAG or evaluations.</a:t>
            </a: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Following data preparation, we enter the Discover &amp; Tune &amp; Build Workflow &amp; Integration &amp; Orchestration phase. Data Scientists, Prompt Engineers, and Developers work collaboratively to fine-tune the model if required, build workflows, and integrate various components. This orchestration ensures that the AI model functions efficiently within its intended environment.</a:t>
            </a:r>
          </a:p>
          <a:p>
            <a:endParaRPr lang="en-GB" sz="1200" kern="1200">
              <a:solidFill>
                <a:schemeClr val="tx1"/>
              </a:solidFill>
              <a:effectLst/>
              <a:latin typeface="Segoe Sans Text"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The following phase is evaluation phase involves thorough testing and validation of the AI model by Data Scientists, Prompt Engineers, Developers, and AI Engineers. This step ensures the model meets the predefined criteria for performance, safety, and compliance.</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Once the model and application workflow have been evaluated, it moves into the Review &amp; Approve phase. Compliance Officers, Responsible AI Leads, and Business Leads assess the model to ensure it adheres to ethical standards, compliance requirements, and business objectives before it is cleared for deployment.</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In the Deploy &amp; Monitor phase, AI Engineers, DevOps Engineers, and Developers package and deploy the model in a production environment. Continuous monitoring post-deployment is essential to ensure the model performs as expected and to quickly identify and rectify any issues.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Finally, Ongoing Governance is crucial to ensure the AI model remains effective and secure over time. IT, Security, and Compliance teams continually assess and update AI operations to adapt to new threats, drifts, regulatory changes, and evolving business needs.</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 </a:t>
            </a: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endParaRPr lang="en-GB"/>
          </a:p>
        </p:txBody>
      </p:sp>
      <p:sp>
        <p:nvSpPr>
          <p:cNvPr id="4" name="Slide Number Placeholder 3">
            <a:extLst>
              <a:ext uri="{FF2B5EF4-FFF2-40B4-BE49-F238E27FC236}">
                <a16:creationId xmlns:a16="http://schemas.microsoft.com/office/drawing/2014/main" id="{E5299EAC-C3B9-785B-8003-E15C1695AC90}"/>
              </a:ext>
            </a:extLst>
          </p:cNvPr>
          <p:cNvSpPr>
            <a:spLocks noGrp="1"/>
          </p:cNvSpPr>
          <p:nvPr>
            <p:ph type="sldNum" sz="quarter" idx="5"/>
          </p:nvPr>
        </p:nvSpPr>
        <p:spPr/>
        <p:txBody>
          <a:bodyPr/>
          <a:lstStyle/>
          <a:p>
            <a:fld id="{BD154338-A073-4661-BF20-52EA06646E26}" type="slidenum">
              <a:rPr lang="en-US" smtClean="0"/>
              <a:pPr/>
              <a:t>22</a:t>
            </a:fld>
            <a:endParaRPr lang="en-US"/>
          </a:p>
        </p:txBody>
      </p:sp>
    </p:spTree>
    <p:extLst>
      <p:ext uri="{BB962C8B-B14F-4D97-AF65-F5344CB8AC3E}">
        <p14:creationId xmlns:p14="http://schemas.microsoft.com/office/powerpoint/2010/main" val="12402351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D9C16-4595-B134-C498-3CA60ED07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8E64E-239F-298F-48BF-E13EFB44E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41E7C-807C-1525-43CA-913BE99263BB}"/>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Yes,. now, let's delve into the detailed exploration of the GenAI Lifecycle as implemented in real-world scenarios. Today, we'll discuss how this iterative process, tailored for enterprise applications, navigates through various stages of development and deployment, ensuring that each step aligns with business, ethical, and operational standards.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 GenAI lifecycle begins with </a:t>
            </a:r>
            <a:r>
              <a:rPr lang="en-GB" sz="1200" b="1" kern="1200">
                <a:solidFill>
                  <a:schemeClr val="tx1"/>
                </a:solidFill>
                <a:effectLst/>
                <a:latin typeface="Segoe Sans Text" pitchFamily="2" charset="0"/>
                <a:ea typeface="+mn-ea"/>
                <a:cs typeface="+mn-cs"/>
              </a:rPr>
              <a:t>Prototyping: Ideating &amp; Exploring</a:t>
            </a:r>
            <a:r>
              <a:rPr lang="en-GB" sz="1200" kern="1200">
                <a:solidFill>
                  <a:schemeClr val="tx1"/>
                </a:solidFill>
                <a:effectLst/>
                <a:latin typeface="Segoe Sans Text" pitchFamily="2" charset="0"/>
                <a:ea typeface="+mn-ea"/>
                <a:cs typeface="+mn-cs"/>
              </a:rPr>
              <a:t>. This is an exploratory phase where the focus is on ideation and the initial exploration of capabilities. During this phase, developers and data scientists need to </a:t>
            </a:r>
            <a:r>
              <a:rPr lang="en-GB" sz="1200" b="1" kern="1200">
                <a:solidFill>
                  <a:schemeClr val="tx1"/>
                </a:solidFill>
                <a:effectLst/>
                <a:latin typeface="Segoe Sans Text" pitchFamily="2" charset="0"/>
                <a:ea typeface="+mn-ea"/>
                <a:cs typeface="+mn-cs"/>
              </a:rPr>
              <a:t>Test and Validate their Hypotheses</a:t>
            </a:r>
            <a:r>
              <a:rPr lang="en-GB" sz="1200" kern="1200">
                <a:solidFill>
                  <a:schemeClr val="tx1"/>
                </a:solidFill>
                <a:effectLst/>
                <a:latin typeface="Segoe Sans Text" pitchFamily="2" charset="0"/>
                <a:ea typeface="+mn-ea"/>
                <a:cs typeface="+mn-cs"/>
              </a:rPr>
              <a:t>  and experiment with different LLMs or SLMs and also with internal data and prompts. </a:t>
            </a:r>
          </a:p>
          <a:p>
            <a:r>
              <a:rPr lang="en-GB" sz="1200" kern="1200">
                <a:solidFill>
                  <a:schemeClr val="tx1"/>
                </a:solidFill>
                <a:effectLst/>
                <a:latin typeface="Segoe Sans Text" pitchFamily="2" charset="0"/>
                <a:ea typeface="+mn-ea"/>
                <a:cs typeface="+mn-cs"/>
              </a:rPr>
              <a:t>It's important to establish feasibility and define the use case clearly during this phase to ensure that the project aligns with business needs and objectives. </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After the Prototyping phase, we move into the </a:t>
            </a:r>
            <a:r>
              <a:rPr lang="en-GB" sz="1200" b="1" kern="1200">
                <a:solidFill>
                  <a:schemeClr val="tx1"/>
                </a:solidFill>
                <a:effectLst/>
                <a:latin typeface="Segoe Sans Text" pitchFamily="2" charset="0"/>
                <a:ea typeface="+mn-ea"/>
                <a:cs typeface="+mn-cs"/>
              </a:rPr>
              <a:t>Building &amp; Augmenting</a:t>
            </a:r>
            <a:r>
              <a:rPr lang="en-GB" sz="1200" kern="1200">
                <a:solidFill>
                  <a:schemeClr val="tx1"/>
                </a:solidFill>
                <a:effectLst/>
                <a:latin typeface="Segoe Sans Text" pitchFamily="2" charset="0"/>
                <a:ea typeface="+mn-ea"/>
                <a:cs typeface="+mn-cs"/>
              </a:rPr>
              <a:t> phase, where the selected model is refined and customized to meet specific enterprise needs. To do that, you can use </a:t>
            </a:r>
            <a:r>
              <a:rPr lang="en-GB" sz="1200" b="1" kern="1200">
                <a:solidFill>
                  <a:schemeClr val="tx1"/>
                </a:solidFill>
                <a:effectLst/>
                <a:latin typeface="Segoe Sans Text" pitchFamily="2" charset="0"/>
                <a:ea typeface="+mn-ea"/>
                <a:cs typeface="+mn-cs"/>
              </a:rPr>
              <a:t>Retrieval Augmentation Generation (RAG), Prompt Engineering and Fine-Tuning techniques. </a:t>
            </a:r>
            <a:r>
              <a:rPr lang="en-GB" sz="1200" kern="1200">
                <a:solidFill>
                  <a:schemeClr val="tx1"/>
                </a:solidFill>
                <a:effectLst/>
                <a:latin typeface="Segoe Sans Text" pitchFamily="2" charset="0"/>
                <a:ea typeface="+mn-ea"/>
                <a:cs typeface="+mn-cs"/>
              </a:rPr>
              <a:t> We target to build the solution in this stage and optimize it and also integrate with necessary systems</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Next circle, in the </a:t>
            </a:r>
            <a:r>
              <a:rPr lang="en-GB" sz="1200" b="1" kern="1200">
                <a:solidFill>
                  <a:schemeClr val="tx1"/>
                </a:solidFill>
                <a:effectLst/>
                <a:latin typeface="Segoe Sans Text" pitchFamily="2" charset="0"/>
                <a:ea typeface="+mn-ea"/>
                <a:cs typeface="+mn-cs"/>
              </a:rPr>
              <a:t>Operationalizing</a:t>
            </a:r>
            <a:r>
              <a:rPr lang="en-GB" sz="1200" kern="1200">
                <a:solidFill>
                  <a:schemeClr val="tx1"/>
                </a:solidFill>
                <a:effectLst/>
                <a:latin typeface="Segoe Sans Text" pitchFamily="2" charset="0"/>
                <a:ea typeface="+mn-ea"/>
                <a:cs typeface="+mn-cs"/>
              </a:rPr>
              <a:t> phase, the model is deployed and monitored continuously to ensure it performs as expected and remains compliant with data privacy standards. This phase also involves integrating with CI/CD processes for seamless updates and maintenance.</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And finally, this brings us to the </a:t>
            </a:r>
            <a:r>
              <a:rPr lang="en-GB" sz="1200" b="1" kern="1200">
                <a:solidFill>
                  <a:schemeClr val="tx1"/>
                </a:solidFill>
                <a:effectLst/>
                <a:latin typeface="Segoe Sans Text" pitchFamily="2" charset="0"/>
                <a:ea typeface="+mn-ea"/>
                <a:cs typeface="+mn-cs"/>
              </a:rPr>
              <a:t>Managing</a:t>
            </a:r>
            <a:r>
              <a:rPr lang="en-GB" sz="1200" kern="1200">
                <a:solidFill>
                  <a:schemeClr val="tx1"/>
                </a:solidFill>
                <a:effectLst/>
                <a:latin typeface="Segoe Sans Text" pitchFamily="2" charset="0"/>
                <a:ea typeface="+mn-ea"/>
                <a:cs typeface="+mn-cs"/>
              </a:rPr>
              <a:t> </a:t>
            </a:r>
            <a:r>
              <a:rPr lang="en-GB" sz="1200" kern="1200" err="1">
                <a:solidFill>
                  <a:schemeClr val="tx1"/>
                </a:solidFill>
                <a:effectLst/>
                <a:latin typeface="Segoe Sans Text" pitchFamily="2" charset="0"/>
                <a:ea typeface="+mn-ea"/>
                <a:cs typeface="+mn-cs"/>
              </a:rPr>
              <a:t>phase,the</a:t>
            </a:r>
            <a:r>
              <a:rPr lang="en-GB" sz="1200" kern="1200">
                <a:solidFill>
                  <a:schemeClr val="tx1"/>
                </a:solidFill>
                <a:effectLst/>
                <a:latin typeface="Segoe Sans Text" pitchFamily="2" charset="0"/>
                <a:ea typeface="+mn-ea"/>
                <a:cs typeface="+mn-cs"/>
              </a:rPr>
              <a:t> rectangle around these 3 </a:t>
            </a:r>
            <a:r>
              <a:rPr lang="en-GB" sz="1200" kern="1200" err="1">
                <a:solidFill>
                  <a:schemeClr val="tx1"/>
                </a:solidFill>
                <a:effectLst/>
                <a:latin typeface="Segoe Sans Text" pitchFamily="2" charset="0"/>
                <a:ea typeface="+mn-ea"/>
                <a:cs typeface="+mn-cs"/>
              </a:rPr>
              <a:t>cicrcles</a:t>
            </a:r>
            <a:r>
              <a:rPr lang="en-GB" sz="1200" kern="1200">
                <a:solidFill>
                  <a:schemeClr val="tx1"/>
                </a:solidFill>
                <a:effectLst/>
                <a:latin typeface="Segoe Sans Text" pitchFamily="2" charset="0"/>
                <a:ea typeface="+mn-ea"/>
                <a:cs typeface="+mn-cs"/>
              </a:rPr>
              <a:t>, which is the overarching loop that focuses on long-term governance and sustainability. Continuous management ensures the system adheres to business, security , and compliance standards, with regular reviews and updates to address new challenges and opportunities.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Now, let's focus on the first circle of the GenAI lifecycle: </a:t>
            </a:r>
            <a:r>
              <a:rPr lang="en-GB" sz="1200" b="1" kern="1200">
                <a:solidFill>
                  <a:schemeClr val="tx1"/>
                </a:solidFill>
                <a:effectLst/>
                <a:latin typeface="Segoe Sans Text" pitchFamily="2" charset="0"/>
                <a:ea typeface="+mn-ea"/>
                <a:cs typeface="+mn-cs"/>
              </a:rPr>
              <a:t>Prototyping</a:t>
            </a:r>
            <a:r>
              <a:rPr lang="en-GB" sz="1200" kern="1200">
                <a:solidFill>
                  <a:schemeClr val="tx1"/>
                </a:solidFill>
                <a:effectLst/>
                <a:latin typeface="Segoe Sans Text" pitchFamily="2" charset="0"/>
                <a:ea typeface="+mn-ea"/>
                <a:cs typeface="+mn-cs"/>
              </a:rPr>
              <a:t>. </a:t>
            </a:r>
          </a:p>
        </p:txBody>
      </p:sp>
      <p:sp>
        <p:nvSpPr>
          <p:cNvPr id="4" name="Slide Number Placeholder 3">
            <a:extLst>
              <a:ext uri="{FF2B5EF4-FFF2-40B4-BE49-F238E27FC236}">
                <a16:creationId xmlns:a16="http://schemas.microsoft.com/office/drawing/2014/main" id="{FAA720D9-3F7F-2C0D-0924-9AB330BA4C42}"/>
              </a:ext>
            </a:extLst>
          </p:cNvPr>
          <p:cNvSpPr>
            <a:spLocks noGrp="1"/>
          </p:cNvSpPr>
          <p:nvPr>
            <p:ph type="sldNum" sz="quarter" idx="5"/>
          </p:nvPr>
        </p:nvSpPr>
        <p:spPr/>
        <p:txBody>
          <a:bodyPr/>
          <a:lstStyle/>
          <a:p>
            <a:fld id="{BD154338-A073-4661-BF20-52EA06646E26}" type="slidenum">
              <a:rPr lang="en-US" smtClean="0"/>
              <a:pPr/>
              <a:t>24</a:t>
            </a:fld>
            <a:endParaRPr lang="en-US"/>
          </a:p>
        </p:txBody>
      </p:sp>
    </p:spTree>
    <p:extLst>
      <p:ext uri="{BB962C8B-B14F-4D97-AF65-F5344CB8AC3E}">
        <p14:creationId xmlns:p14="http://schemas.microsoft.com/office/powerpoint/2010/main" val="3070798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BF045-339B-6395-264D-570872ED6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EE362-06AB-3151-7873-C2D5DCBACE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4FA4B-D9CE-CB85-4473-276BEB1C2F6F}"/>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In this first cycle: </a:t>
            </a:r>
            <a:r>
              <a:rPr lang="en-GB" sz="1200" b="1" kern="1200">
                <a:solidFill>
                  <a:schemeClr val="tx1"/>
                </a:solidFill>
                <a:effectLst/>
                <a:latin typeface="Segoe Sans Text" pitchFamily="2" charset="0"/>
                <a:ea typeface="+mn-ea"/>
                <a:cs typeface="+mn-cs"/>
              </a:rPr>
              <a:t>Prototyping</a:t>
            </a:r>
            <a:r>
              <a:rPr lang="en-GB" sz="1200" kern="1200">
                <a:solidFill>
                  <a:schemeClr val="tx1"/>
                </a:solidFill>
                <a:effectLst/>
                <a:latin typeface="Segoe Sans Text" pitchFamily="2" charset="0"/>
                <a:ea typeface="+mn-ea"/>
                <a:cs typeface="+mn-cs"/>
              </a:rPr>
              <a:t> , we start with a clear </a:t>
            </a:r>
            <a:r>
              <a:rPr lang="en-GB" sz="1200" b="1" kern="1200">
                <a:solidFill>
                  <a:schemeClr val="tx1"/>
                </a:solidFill>
                <a:effectLst/>
                <a:latin typeface="Segoe Sans Text" pitchFamily="2" charset="0"/>
                <a:ea typeface="+mn-ea"/>
                <a:cs typeface="+mn-cs"/>
              </a:rPr>
              <a:t>Business Need</a:t>
            </a:r>
            <a:r>
              <a:rPr lang="en-GB" sz="1200" kern="1200">
                <a:solidFill>
                  <a:schemeClr val="tx1"/>
                </a:solidFill>
                <a:effectLst/>
                <a:latin typeface="Segoe Sans Text" pitchFamily="2" charset="0"/>
                <a:ea typeface="+mn-ea"/>
                <a:cs typeface="+mn-cs"/>
              </a:rPr>
              <a:t>. This means understanding the specific problem or opportunity we are addressing within the organization. We need to Prove that it works, where we choose the right pre-trained Large Language Model (LLM) or Small Language Model (SLM) to address our specific requirements.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There are a few key tasks involved in this stage:</a:t>
            </a:r>
          </a:p>
          <a:p>
            <a:pPr lvl="0"/>
            <a:r>
              <a:rPr lang="en-GB" sz="1200" b="1" kern="1200">
                <a:solidFill>
                  <a:schemeClr val="tx1"/>
                </a:solidFill>
                <a:effectLst/>
                <a:latin typeface="Segoe Sans Text" pitchFamily="2" charset="0"/>
                <a:ea typeface="+mn-ea"/>
                <a:cs typeface="+mn-cs"/>
              </a:rPr>
              <a:t>Establishing Feasibility</a:t>
            </a:r>
            <a:r>
              <a:rPr lang="en-GB" sz="1200" kern="1200">
                <a:solidFill>
                  <a:schemeClr val="tx1"/>
                </a:solidFill>
                <a:effectLst/>
                <a:latin typeface="Segoe Sans Text" pitchFamily="2" charset="0"/>
                <a:ea typeface="+mn-ea"/>
                <a:cs typeface="+mn-cs"/>
              </a:rPr>
              <a:t>: This involves assessing whether our chosen solution is technically and economically viable and can deliver the desired outcomes within the constraints of our resources.</a:t>
            </a:r>
          </a:p>
          <a:p>
            <a:pPr lvl="0"/>
            <a:r>
              <a:rPr lang="en-GB" sz="1200" b="1" kern="1200">
                <a:solidFill>
                  <a:schemeClr val="tx1"/>
                </a:solidFill>
                <a:effectLst/>
                <a:latin typeface="Segoe Sans Text" pitchFamily="2" charset="0"/>
                <a:ea typeface="+mn-ea"/>
                <a:cs typeface="+mn-cs"/>
              </a:rPr>
              <a:t>Defining Use Case</a:t>
            </a:r>
            <a:r>
              <a:rPr lang="en-GB" sz="1200" kern="1200">
                <a:solidFill>
                  <a:schemeClr val="tx1"/>
                </a:solidFill>
                <a:effectLst/>
                <a:latin typeface="Segoe Sans Text" pitchFamily="2" charset="0"/>
                <a:ea typeface="+mn-ea"/>
                <a:cs typeface="+mn-cs"/>
              </a:rPr>
              <a:t>: Here, we clearly articulate what problem we are solving. </a:t>
            </a: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Now, let's move on to the next slide to discuss these Azure AI Foundry capabilities for Prototyping stage. </a:t>
            </a:r>
          </a:p>
          <a:p>
            <a:r>
              <a:rPr lang="en-GB" sz="1200" kern="1200">
                <a:solidFill>
                  <a:schemeClr val="tx1"/>
                </a:solidFill>
                <a:effectLst/>
                <a:latin typeface="Segoe Sans Text" pitchFamily="2" charset="0"/>
                <a:ea typeface="+mn-ea"/>
                <a:cs typeface="+mn-cs"/>
              </a:rPr>
              <a:t> </a:t>
            </a:r>
          </a:p>
          <a:p>
            <a:endParaRPr lang="en-US" b="0" i="0">
              <a:solidFill>
                <a:srgbClr val="424242"/>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E4B4E69E-C0DE-099A-9E9B-D25773DC2913}"/>
              </a:ext>
            </a:extLst>
          </p:cNvPr>
          <p:cNvSpPr>
            <a:spLocks noGrp="1"/>
          </p:cNvSpPr>
          <p:nvPr>
            <p:ph type="sldNum" sz="quarter" idx="5"/>
          </p:nvPr>
        </p:nvSpPr>
        <p:spPr/>
        <p:txBody>
          <a:bodyPr/>
          <a:lstStyle/>
          <a:p>
            <a:fld id="{BD154338-A073-4661-BF20-52EA06646E26}" type="slidenum">
              <a:rPr lang="en-US" smtClean="0"/>
              <a:pPr/>
              <a:t>25</a:t>
            </a:fld>
            <a:endParaRPr lang="en-US"/>
          </a:p>
        </p:txBody>
      </p:sp>
    </p:spTree>
    <p:extLst>
      <p:ext uri="{BB962C8B-B14F-4D97-AF65-F5344CB8AC3E}">
        <p14:creationId xmlns:p14="http://schemas.microsoft.com/office/powerpoint/2010/main" val="3835323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Yes, </a:t>
            </a:r>
            <a:r>
              <a:rPr lang="en-US" b="1"/>
              <a:t>AI Foundry</a:t>
            </a:r>
            <a:r>
              <a:rPr lang="en-US"/>
              <a:t> offers a comprehensive suite of capabilities that are especially valuable during the </a:t>
            </a:r>
            <a:r>
              <a:rPr lang="en-US" b="1"/>
              <a:t>prototyping phase</a:t>
            </a:r>
            <a:r>
              <a:rPr lang="en-US"/>
              <a:t> of the Generative AI (GenAI) lifecycle.</a:t>
            </a:r>
          </a:p>
          <a:p>
            <a:r>
              <a:rPr lang="en-US" b="1"/>
              <a:t>Model Catalog</a:t>
            </a:r>
            <a:r>
              <a:rPr lang="en-US"/>
              <a:t>: A centralized repository for discovering and managing GenAI models, making it easy to find pre-trained models that align with your specific use case.</a:t>
            </a:r>
          </a:p>
          <a:p>
            <a:r>
              <a:rPr lang="en-US" b="1"/>
              <a:t>Model Benchmarking</a:t>
            </a:r>
            <a:r>
              <a:rPr lang="en-US"/>
              <a:t>: Enables comparison of multiple models to identify the best-performing one for your needs.</a:t>
            </a:r>
          </a:p>
          <a:p>
            <a:r>
              <a:rPr lang="en-US" b="1"/>
              <a:t>Model Fine-Tuning</a:t>
            </a:r>
            <a:r>
              <a:rPr lang="en-US"/>
              <a:t>: If required, models can be fine-tuned directly within AI Foundry to better suit your application.</a:t>
            </a:r>
          </a:p>
          <a:p>
            <a:r>
              <a:rPr lang="en-US" b="1"/>
              <a:t>Azure OpenAI Integration</a:t>
            </a:r>
            <a:r>
              <a:rPr lang="en-US"/>
              <a:t>: Provides access to powerful tools like </a:t>
            </a:r>
            <a:r>
              <a:rPr lang="en-US" b="1"/>
              <a:t>Chat Playground</a:t>
            </a:r>
            <a:r>
              <a:rPr lang="en-US"/>
              <a:t> and </a:t>
            </a:r>
            <a:r>
              <a:rPr lang="en-US" b="1"/>
              <a:t>Completion Playground</a:t>
            </a:r>
            <a:r>
              <a:rPr lang="en-US"/>
              <a:t> for interactive prototype testing and real-time model behavior analysis.</a:t>
            </a:r>
          </a:p>
          <a:p>
            <a:r>
              <a:rPr lang="en-US" b="1"/>
              <a:t>Assistants, Realtime Audio &amp; Image Playgrounds</a:t>
            </a:r>
            <a:r>
              <a:rPr lang="en-US"/>
              <a:t>: These features allow for the development of more dynamic and responsive AI prototypes across a variety of business scenarios.</a:t>
            </a:r>
          </a:p>
          <a:p>
            <a:r>
              <a:rPr lang="en-US" b="1"/>
              <a:t>Access to Azure AI Services</a:t>
            </a:r>
            <a:r>
              <a:rPr lang="en-US"/>
              <a:t>: Within AI Foundry, you can also explore playgrounds such as  </a:t>
            </a:r>
            <a:r>
              <a:rPr lang="en-US" b="1"/>
              <a:t>Speech</a:t>
            </a:r>
            <a:r>
              <a:rPr lang="en-US"/>
              <a:t> and </a:t>
            </a:r>
            <a:r>
              <a:rPr lang="en-US" b="1"/>
              <a:t>Translator</a:t>
            </a:r>
            <a:r>
              <a:rPr lang="en-US"/>
              <a:t>, making it easier to experiment with Azure AI capabilities.</a:t>
            </a:r>
          </a:p>
          <a:p>
            <a:r>
              <a:rPr lang="en-US" b="1"/>
              <a:t>Azure AI Agents Playground</a:t>
            </a:r>
            <a:r>
              <a:rPr lang="en-US"/>
              <a:t>: Create intelligent agents directly from the UI by selecting a model, configuring parameters, writing </a:t>
            </a:r>
            <a:r>
              <a:rPr lang="en-US" err="1"/>
              <a:t>metaprompts</a:t>
            </a:r>
            <a:r>
              <a:rPr lang="en-US"/>
              <a:t>, attaching knowledge bases, and adding action flows as needed.</a:t>
            </a:r>
          </a:p>
          <a:p>
            <a:r>
              <a:rPr lang="en-US" b="1"/>
              <a:t>Multimodal Content Understanding</a:t>
            </a:r>
            <a:r>
              <a:rPr lang="en-US"/>
              <a:t>: Enables structured insights to be extracted from unstructured data (text, audio, or visual), supporting use cases like </a:t>
            </a:r>
            <a:r>
              <a:rPr lang="en-US" b="1"/>
              <a:t>RAG</a:t>
            </a:r>
            <a:r>
              <a:rPr lang="en-US"/>
              <a:t>, </a:t>
            </a:r>
            <a:r>
              <a:rPr lang="en-US" b="1"/>
              <a:t>media analysis</a:t>
            </a:r>
            <a:r>
              <a:rPr lang="en-US"/>
              <a:t>, and </a:t>
            </a:r>
            <a:r>
              <a:rPr lang="en-US" b="1"/>
              <a:t>post-call analysis</a:t>
            </a:r>
            <a:r>
              <a:rPr lang="en-US"/>
              <a:t>.</a:t>
            </a:r>
          </a:p>
          <a:p>
            <a:r>
              <a:rPr lang="en-US" b="1"/>
              <a:t>Prompt Flow</a:t>
            </a:r>
            <a:r>
              <a:rPr lang="en-US"/>
              <a:t>: An orchestration and prompt engineering tool to design, test, and deploy prompt workflows efficiently.</a:t>
            </a:r>
          </a:p>
          <a:p>
            <a:r>
              <a:rPr lang="en-US"/>
              <a:t>Together, these tools enable teams to move rapidly from concept to functional prototype, accelerating innovation and enabling smooth integration into broader business processes.</a:t>
            </a:r>
          </a:p>
          <a:p>
            <a:r>
              <a:rPr lang="en-US" b="1"/>
              <a:t>In conclusion</a:t>
            </a:r>
            <a:r>
              <a:rPr lang="en-US"/>
              <a:t>, Azure’s AI capabilities—through AI Foundry—provide a robust, end-to-end platform for prototyping, supporting an agile, iterative, and collaborative approach to GenAI development.</a:t>
            </a:r>
          </a:p>
          <a:p>
            <a:pPr algn="l">
              <a:lnSpc>
                <a:spcPts val="1500"/>
              </a:lnSpc>
            </a:pPr>
            <a:endParaRPr lang="en-US" b="0" i="0">
              <a:solidFill>
                <a:srgbClr val="424242"/>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BD154338-A073-4661-BF20-52EA06646E26}" type="slidenum">
              <a:rPr lang="en-US" smtClean="0"/>
              <a:pPr/>
              <a:t>26</a:t>
            </a:fld>
            <a:endParaRPr lang="en-US"/>
          </a:p>
        </p:txBody>
      </p:sp>
    </p:spTree>
    <p:extLst>
      <p:ext uri="{BB962C8B-B14F-4D97-AF65-F5344CB8AC3E}">
        <p14:creationId xmlns:p14="http://schemas.microsoft.com/office/powerpoint/2010/main" val="29731666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65568-57D9-74D1-AC28-F6F543EC2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32939-0AAC-69D6-F41D-8E97FBF9B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FC4DA-5D54-C52B-CFA5-1FE181B4466F}"/>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To begin with, it's essential to be clear on your </a:t>
            </a:r>
            <a:r>
              <a:rPr lang="en-GB" sz="1200" b="1" kern="1200">
                <a:solidFill>
                  <a:schemeClr val="tx1"/>
                </a:solidFill>
                <a:effectLst/>
                <a:latin typeface="Segoe Sans Text" pitchFamily="2" charset="0"/>
                <a:ea typeface="+mn-ea"/>
                <a:cs typeface="+mn-cs"/>
              </a:rPr>
              <a:t>business goals and requirements </a:t>
            </a:r>
            <a:r>
              <a:rPr lang="en-GB" sz="1200" kern="1200">
                <a:solidFill>
                  <a:schemeClr val="tx1"/>
                </a:solidFill>
                <a:effectLst/>
                <a:latin typeface="Segoe Sans Text" pitchFamily="2" charset="0"/>
                <a:ea typeface="+mn-ea"/>
                <a:cs typeface="+mn-cs"/>
              </a:rPr>
              <a:t>for the solution. Within AI Foundry, you have the option to </a:t>
            </a:r>
            <a:r>
              <a:rPr lang="en-GB" sz="1200" b="1" kern="1200">
                <a:solidFill>
                  <a:schemeClr val="tx1"/>
                </a:solidFill>
                <a:effectLst/>
                <a:latin typeface="Segoe Sans Text" pitchFamily="2" charset="0"/>
                <a:ea typeface="+mn-ea"/>
                <a:cs typeface="+mn-cs"/>
              </a:rPr>
              <a:t>compare and benchmark </a:t>
            </a:r>
            <a:r>
              <a:rPr lang="en-GB" sz="1200" kern="1200">
                <a:solidFill>
                  <a:schemeClr val="tx1"/>
                </a:solidFill>
                <a:effectLst/>
                <a:latin typeface="Segoe Sans Text" pitchFamily="2" charset="0"/>
                <a:ea typeface="+mn-ea"/>
                <a:cs typeface="+mn-cs"/>
              </a:rPr>
              <a:t>different models as we discussed in the previous slide. , </a:t>
            </a:r>
          </a:p>
          <a:p>
            <a:r>
              <a:rPr lang="en-GB" sz="1200" kern="1200">
                <a:solidFill>
                  <a:schemeClr val="tx1"/>
                </a:solidFill>
                <a:effectLst/>
                <a:latin typeface="Segoe Sans Text" pitchFamily="2" charset="0"/>
                <a:ea typeface="+mn-ea"/>
                <a:cs typeface="+mn-cs"/>
              </a:rPr>
              <a:t>Also, you can utilize Playgrounds on AI Foundry to try out different models. This hands-on experimentation can give a good understanding of expectations and help choose the services and models to develop with your team.</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Key considerations at this stage include:</a:t>
            </a:r>
          </a:p>
          <a:p>
            <a:pPr lvl="0"/>
            <a:r>
              <a:rPr lang="en-GB" sz="1200" b="1" kern="1200">
                <a:solidFill>
                  <a:schemeClr val="tx1"/>
                </a:solidFill>
                <a:effectLst/>
                <a:latin typeface="Segoe Sans Text" pitchFamily="2" charset="0"/>
                <a:ea typeface="+mn-ea"/>
                <a:cs typeface="+mn-cs"/>
              </a:rPr>
              <a:t>Accuracy/Quality</a:t>
            </a:r>
            <a:r>
              <a:rPr lang="en-GB" sz="1200" kern="1200">
                <a:solidFill>
                  <a:schemeClr val="tx1"/>
                </a:solidFill>
                <a:effectLst/>
                <a:latin typeface="Segoe Sans Text" pitchFamily="2" charset="0"/>
                <a:ea typeface="+mn-ea"/>
                <a:cs typeface="+mn-cs"/>
              </a:rPr>
              <a:t>:</a:t>
            </a:r>
          </a:p>
          <a:p>
            <a:pPr lvl="0"/>
            <a:r>
              <a:rPr lang="en-GB" sz="1200" b="1" kern="1200">
                <a:solidFill>
                  <a:schemeClr val="tx1"/>
                </a:solidFill>
                <a:effectLst/>
                <a:latin typeface="Segoe Sans Text" pitchFamily="2" charset="0"/>
                <a:ea typeface="+mn-ea"/>
                <a:cs typeface="+mn-cs"/>
              </a:rPr>
              <a:t>Performance on Specific Tasks</a:t>
            </a:r>
            <a:endParaRPr lang="en-GB" sz="1200" kern="1200">
              <a:solidFill>
                <a:schemeClr val="tx1"/>
              </a:solidFill>
              <a:effectLst/>
              <a:latin typeface="Segoe Sans Text" pitchFamily="2" charset="0"/>
              <a:ea typeface="+mn-ea"/>
              <a:cs typeface="+mn-cs"/>
            </a:endParaRPr>
          </a:p>
          <a:p>
            <a:pPr lvl="0"/>
            <a:r>
              <a:rPr lang="en-GB" sz="1200" b="1" kern="1200">
                <a:solidFill>
                  <a:schemeClr val="tx1"/>
                </a:solidFill>
                <a:effectLst/>
                <a:latin typeface="Segoe Sans Text" pitchFamily="2" charset="0"/>
                <a:ea typeface="+mn-ea"/>
                <a:cs typeface="+mn-cs"/>
              </a:rPr>
              <a:t>Bias and Ethical Considerations</a:t>
            </a:r>
            <a:endParaRPr lang="en-GB" sz="1200" kern="1200">
              <a:solidFill>
                <a:schemeClr val="tx1"/>
              </a:solidFill>
              <a:effectLst/>
              <a:latin typeface="Segoe Sans Text" pitchFamily="2" charset="0"/>
              <a:ea typeface="+mn-ea"/>
              <a:cs typeface="+mn-cs"/>
            </a:endParaRPr>
          </a:p>
          <a:p>
            <a:pPr lvl="0"/>
            <a:r>
              <a:rPr lang="en-GB" sz="1200" b="1" kern="1200">
                <a:solidFill>
                  <a:schemeClr val="tx1"/>
                </a:solidFill>
                <a:effectLst/>
                <a:latin typeface="Segoe Sans Text" pitchFamily="2" charset="0"/>
                <a:ea typeface="+mn-ea"/>
                <a:cs typeface="+mn-cs"/>
              </a:rPr>
              <a:t>Risk and Safety</a:t>
            </a:r>
            <a:endParaRPr lang="en-GB" sz="1200" kern="1200">
              <a:solidFill>
                <a:schemeClr val="tx1"/>
              </a:solidFill>
              <a:effectLst/>
              <a:latin typeface="Segoe Sans Text" pitchFamily="2" charset="0"/>
              <a:ea typeface="+mn-ea"/>
              <a:cs typeface="+mn-cs"/>
            </a:endParaRP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For instance, if the chosen model in the prototyping stage has high accuracy and performs well on specific tasks, this can save both time and resources in the next phases. On the other hand, addressing bias and ethical considerations early on helps in building a responsible AI solution that aligns with the organization's values and regulatory standards.</a:t>
            </a:r>
          </a:p>
        </p:txBody>
      </p:sp>
      <p:sp>
        <p:nvSpPr>
          <p:cNvPr id="4" name="Slide Number Placeholder 3">
            <a:extLst>
              <a:ext uri="{FF2B5EF4-FFF2-40B4-BE49-F238E27FC236}">
                <a16:creationId xmlns:a16="http://schemas.microsoft.com/office/drawing/2014/main" id="{DD2A2E59-137C-5D0E-876D-C806BDE55A8C}"/>
              </a:ext>
            </a:extLst>
          </p:cNvPr>
          <p:cNvSpPr>
            <a:spLocks noGrp="1"/>
          </p:cNvSpPr>
          <p:nvPr>
            <p:ph type="sldNum" sz="quarter" idx="5"/>
          </p:nvPr>
        </p:nvSpPr>
        <p:spPr/>
        <p:txBody>
          <a:bodyPr/>
          <a:lstStyle/>
          <a:p>
            <a:fld id="{BD154338-A073-4661-BF20-52EA06646E26}" type="slidenum">
              <a:rPr lang="en-US" smtClean="0"/>
              <a:pPr/>
              <a:t>27</a:t>
            </a:fld>
            <a:endParaRPr lang="en-US"/>
          </a:p>
        </p:txBody>
      </p:sp>
    </p:spTree>
    <p:extLst>
      <p:ext uri="{BB962C8B-B14F-4D97-AF65-F5344CB8AC3E}">
        <p14:creationId xmlns:p14="http://schemas.microsoft.com/office/powerpoint/2010/main" val="10878361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Segoe Sans Text" pitchFamily="2" charset="0"/>
                <a:ea typeface="+mn-ea"/>
                <a:cs typeface="+mn-cs"/>
              </a:rPr>
              <a:t>Azure AI Model </a:t>
            </a:r>
            <a:r>
              <a:rPr lang="en-GB" sz="1200" b="1" kern="1200" err="1">
                <a:solidFill>
                  <a:schemeClr val="tx1"/>
                </a:solidFill>
                <a:effectLst/>
                <a:latin typeface="Segoe Sans Text" pitchFamily="2" charset="0"/>
                <a:ea typeface="+mn-ea"/>
                <a:cs typeface="+mn-cs"/>
              </a:rPr>
              <a:t>Catalog</a:t>
            </a:r>
            <a:r>
              <a:rPr lang="en-GB" sz="1200" kern="1200">
                <a:solidFill>
                  <a:schemeClr val="tx1"/>
                </a:solidFill>
                <a:effectLst/>
                <a:latin typeface="Segoe Sans Text" pitchFamily="2" charset="0"/>
                <a:ea typeface="+mn-ea"/>
                <a:cs typeface="+mn-cs"/>
              </a:rPr>
              <a:t> is an invaluable resource. It offers several customer benefits that streamline the prototyping process.</a:t>
            </a:r>
          </a:p>
          <a:p>
            <a:pPr lvl="0"/>
            <a:r>
              <a:rPr lang="en-GB" sz="1200" b="1" kern="1200">
                <a:solidFill>
                  <a:schemeClr val="tx1"/>
                </a:solidFill>
                <a:effectLst/>
                <a:latin typeface="Segoe Sans Text" pitchFamily="2" charset="0"/>
                <a:ea typeface="+mn-ea"/>
                <a:cs typeface="+mn-cs"/>
              </a:rPr>
              <a:t>Explore and Test Models including AOAI and opensource models</a:t>
            </a:r>
            <a:endParaRPr lang="en-GB" sz="1200" kern="1200">
              <a:solidFill>
                <a:schemeClr val="tx1"/>
              </a:solidFill>
              <a:effectLst/>
              <a:latin typeface="Segoe Sans Text" pitchFamily="2" charset="0"/>
              <a:ea typeface="+mn-ea"/>
              <a:cs typeface="+mn-cs"/>
            </a:endParaRPr>
          </a:p>
          <a:p>
            <a:pPr lvl="0"/>
            <a:r>
              <a:rPr lang="en-GB" sz="1200" b="1" kern="1200">
                <a:solidFill>
                  <a:schemeClr val="tx1"/>
                </a:solidFill>
                <a:effectLst/>
                <a:latin typeface="Segoe Sans Text" pitchFamily="2" charset="0"/>
                <a:ea typeface="+mn-ea"/>
                <a:cs typeface="+mn-cs"/>
              </a:rPr>
              <a:t>Quick Fine-Tuning</a:t>
            </a:r>
            <a:endParaRPr lang="en-GB" sz="1200" kern="1200">
              <a:solidFill>
                <a:schemeClr val="tx1"/>
              </a:solidFill>
              <a:effectLst/>
              <a:latin typeface="Segoe Sans Text" pitchFamily="2" charset="0"/>
              <a:ea typeface="+mn-ea"/>
              <a:cs typeface="+mn-cs"/>
            </a:endParaRPr>
          </a:p>
          <a:p>
            <a:pPr lvl="0"/>
            <a:r>
              <a:rPr lang="en-GB" sz="1200" b="1" kern="1200">
                <a:solidFill>
                  <a:schemeClr val="tx1"/>
                </a:solidFill>
                <a:effectLst/>
                <a:latin typeface="Segoe Sans Text" pitchFamily="2" charset="0"/>
                <a:ea typeface="+mn-ea"/>
                <a:cs typeface="+mn-cs"/>
              </a:rPr>
              <a:t>Streamlined Deployments</a:t>
            </a:r>
            <a:r>
              <a:rPr lang="en-GB" sz="1200" kern="1200">
                <a:solidFill>
                  <a:schemeClr val="tx1"/>
                </a:solidFill>
                <a:effectLst/>
                <a:latin typeface="Segoe Sans Text" pitchFamily="2" charset="0"/>
                <a:ea typeface="+mn-ea"/>
                <a:cs typeface="+mn-cs"/>
              </a:rPr>
              <a:t> at production-scale with managed endpoints in one click. </a:t>
            </a:r>
          </a:p>
          <a:p>
            <a:endParaRPr lang="en-GB" sz="1200" kern="1200">
              <a:solidFill>
                <a:schemeClr val="tx1"/>
              </a:solidFill>
              <a:effectLst/>
              <a:latin typeface="Segoe Sans Text" pitchFamily="2" charset="0"/>
              <a:ea typeface="+mn-ea"/>
              <a:cs typeface="+mn-cs"/>
            </a:endParaRPr>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3116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E2088-8A48-4824-A1CB-81E9FC54B89E}"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7790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Now, you see “Model comparison” view from AI Foundry. You can compare different models based on Cost vs Quality or Cost vs Performance based on the benchmark datasets. </a:t>
            </a:r>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3116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E2088-8A48-4824-A1CB-81E9FC54B89E}"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4345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a:br>
            <a:r>
              <a:rPr lang="en-US"/>
              <a:t>Let’s briefly define the use case and highlight its key requirements.</a:t>
            </a:r>
          </a:p>
          <a:p>
            <a:r>
              <a:rPr lang="en-US"/>
              <a:t>Assume that Paulo and I work at Contoso Electronics, and we’ve received a request from the HR team. They’re looking for a </a:t>
            </a:r>
            <a:r>
              <a:rPr lang="en-US" b="1"/>
              <a:t>virtual assistant</a:t>
            </a:r>
            <a:r>
              <a:rPr lang="en-US"/>
              <a:t> designed to support employee interactions related to HR queries. The assistant should be capable of handling both </a:t>
            </a:r>
            <a:r>
              <a:rPr lang="en-US" b="1"/>
              <a:t>multi-turn conversations</a:t>
            </a:r>
            <a:r>
              <a:rPr lang="en-US"/>
              <a:t> and </a:t>
            </a:r>
            <a:r>
              <a:rPr lang="en-US" b="1"/>
              <a:t>single-turn Q&amp;A</a:t>
            </a:r>
            <a:r>
              <a:rPr lang="en-US"/>
              <a:t>, while enhancing the user experience by providing </a:t>
            </a:r>
            <a:r>
              <a:rPr lang="en-US" b="1"/>
              <a:t>citations for the information it delivers</a:t>
            </a:r>
            <a:r>
              <a:rPr lang="en-US"/>
              <a:t>.</a:t>
            </a:r>
          </a:p>
          <a:p>
            <a:endParaRPr lang="en-US"/>
          </a:p>
          <a:p>
            <a:r>
              <a:rPr lang="en-US"/>
              <a:t>The solution must support a </a:t>
            </a:r>
            <a:r>
              <a:rPr lang="en-US" b="1"/>
              <a:t>broad range of inquiries</a:t>
            </a:r>
            <a:r>
              <a:rPr lang="en-US"/>
              <a:t> and remain </a:t>
            </a:r>
            <a:r>
              <a:rPr lang="en-US" b="1"/>
              <a:t>highly responsive during peak usage periods</a:t>
            </a:r>
            <a:r>
              <a:rPr lang="en-US"/>
              <a:t>. It should also offer the </a:t>
            </a:r>
            <a:r>
              <a:rPr lang="en-US" b="1"/>
              <a:t>flexibility to update the underlying language model</a:t>
            </a:r>
            <a:r>
              <a:rPr lang="en-US"/>
              <a:t> to keep pace with the latest advancements in AI, ensuring continued accuracy and efficiency.</a:t>
            </a:r>
          </a:p>
          <a:p>
            <a:r>
              <a:rPr lang="en-US"/>
              <a:t>Key system requirements also include:</a:t>
            </a:r>
          </a:p>
          <a:p>
            <a:r>
              <a:rPr lang="en-US" b="1"/>
              <a:t>Robust tracing and monitoring</a:t>
            </a:r>
            <a:r>
              <a:rPr lang="en-US"/>
              <a:t> for transparency and accountability</a:t>
            </a:r>
          </a:p>
          <a:p>
            <a:r>
              <a:rPr lang="en-US"/>
              <a:t>A </a:t>
            </a:r>
            <a:r>
              <a:rPr lang="en-US" b="1"/>
              <a:t>user-friendly interface</a:t>
            </a:r>
            <a:r>
              <a:rPr lang="en-US"/>
              <a:t> to encourage adoption</a:t>
            </a:r>
          </a:p>
          <a:p>
            <a:r>
              <a:rPr lang="en-US" b="1"/>
              <a:t>Durable storage of conversation records</a:t>
            </a:r>
            <a:r>
              <a:rPr lang="en-US"/>
              <a:t> to support reliability and auditability</a:t>
            </a:r>
          </a:p>
          <a:p>
            <a:endParaRPr lang="en-US"/>
          </a:p>
          <a:p>
            <a:r>
              <a:rPr lang="en-US"/>
              <a:t>Together, these features will ensure the virtual assistant is scalable, transparent, and aligned with enterprise-grade expectations.</a:t>
            </a:r>
          </a:p>
          <a:p>
            <a:pPr>
              <a:buNone/>
            </a:pPr>
            <a:br>
              <a:rPr lang="en-US"/>
            </a:br>
            <a:r>
              <a:rPr lang="en-US"/>
              <a:t>______</a:t>
            </a:r>
          </a:p>
          <a:p>
            <a:br>
              <a:rPr lang="en-US"/>
            </a:br>
            <a:r>
              <a:rPr lang="en-US" sz="1200" kern="1200">
                <a:solidFill>
                  <a:schemeClr val="tx1"/>
                </a:solidFill>
                <a:effectLst/>
                <a:latin typeface="Segoe Sans Text" pitchFamily="2" charset="0"/>
                <a:ea typeface="+mn-ea"/>
                <a:cs typeface="+mn-cs"/>
              </a:rPr>
              <a:t>Let's briefly define the use case and highlight its important requirements. </a:t>
            </a:r>
          </a:p>
          <a:p>
            <a:br>
              <a:rPr lang="en-US" sz="1200" kern="1200">
                <a:solidFill>
                  <a:schemeClr val="tx1"/>
                </a:solidFill>
                <a:effectLst/>
                <a:latin typeface="Segoe Sans Text" pitchFamily="2" charset="0"/>
                <a:ea typeface="+mn-ea"/>
                <a:cs typeface="+mn-cs"/>
              </a:rPr>
            </a:br>
            <a:r>
              <a:rPr lang="en-US" sz="1200" kern="1200">
                <a:solidFill>
                  <a:schemeClr val="tx1"/>
                </a:solidFill>
                <a:effectLst/>
                <a:latin typeface="Segoe Sans Text" pitchFamily="2" charset="0"/>
                <a:ea typeface="+mn-ea"/>
                <a:cs typeface="+mn-cs"/>
              </a:rPr>
              <a:t>Lets assume Ha and I work for </a:t>
            </a:r>
            <a:r>
              <a:rPr lang="en-US" sz="1200" b="1" kern="1200">
                <a:solidFill>
                  <a:schemeClr val="tx1"/>
                </a:solidFill>
                <a:effectLst/>
                <a:latin typeface="Segoe Sans Text" pitchFamily="2" charset="0"/>
                <a:ea typeface="+mn-ea"/>
                <a:cs typeface="+mn-cs"/>
              </a:rPr>
              <a:t>Contoso </a:t>
            </a:r>
            <a:r>
              <a:rPr lang="en-US" sz="1200" b="1" kern="1200" err="1">
                <a:solidFill>
                  <a:schemeClr val="tx1"/>
                </a:solidFill>
                <a:effectLst/>
                <a:latin typeface="Segoe Sans Text" pitchFamily="2" charset="0"/>
                <a:ea typeface="+mn-ea"/>
                <a:cs typeface="+mn-cs"/>
              </a:rPr>
              <a:t>ShopWise</a:t>
            </a:r>
            <a:r>
              <a:rPr lang="en-US" sz="1200" b="1" kern="1200">
                <a:solidFill>
                  <a:schemeClr val="tx1"/>
                </a:solidFill>
                <a:effectLst/>
                <a:latin typeface="Segoe Sans Text" pitchFamily="2" charset="0"/>
                <a:ea typeface="+mn-ea"/>
                <a:cs typeface="+mn-cs"/>
              </a:rPr>
              <a:t> company</a:t>
            </a:r>
            <a:r>
              <a:rPr lang="en-US" sz="1200" kern="1200">
                <a:solidFill>
                  <a:schemeClr val="tx1"/>
                </a:solidFill>
                <a:effectLst/>
                <a:latin typeface="Segoe Sans Text" pitchFamily="2" charset="0"/>
                <a:ea typeface="+mn-ea"/>
                <a:cs typeface="+mn-cs"/>
              </a:rPr>
              <a:t> and we</a:t>
            </a:r>
            <a:r>
              <a:rPr lang="en-US" sz="1200" b="1" kern="1200">
                <a:solidFill>
                  <a:schemeClr val="tx1"/>
                </a:solidFill>
                <a:effectLst/>
                <a:latin typeface="Segoe Sans Text" pitchFamily="2" charset="0"/>
                <a:ea typeface="+mn-ea"/>
                <a:cs typeface="+mn-cs"/>
              </a:rPr>
              <a:t> got these requirements from the Marketing team </a:t>
            </a:r>
            <a:r>
              <a:rPr lang="en-US" sz="1200" kern="1200">
                <a:solidFill>
                  <a:schemeClr val="tx1"/>
                </a:solidFill>
                <a:effectLst/>
                <a:latin typeface="Segoe Sans Text" pitchFamily="2" charset="0"/>
                <a:ea typeface="+mn-ea"/>
                <a:cs typeface="+mn-cs"/>
              </a:rPr>
              <a:t>. They requested an application that extracts product information from unstructured text data sourced from various websites, user reviews, and social media. This extracted information will be used to create detailed product profiles, enabling customers to make informed purchase decisions.</a:t>
            </a:r>
            <a:br>
              <a:rPr lang="en-US" sz="1200" kern="1200">
                <a:solidFill>
                  <a:schemeClr val="tx1"/>
                </a:solidFill>
                <a:effectLst/>
                <a:latin typeface="Segoe Sans Text" pitchFamily="2" charset="0"/>
                <a:ea typeface="+mn-ea"/>
                <a:cs typeface="+mn-cs"/>
              </a:rPr>
            </a:br>
            <a:endParaRPr lang="en-US" sz="1200" kern="1200">
              <a:solidFill>
                <a:schemeClr val="tx1"/>
              </a:solidFill>
              <a:effectLst/>
              <a:latin typeface="Segoe Sans Text" pitchFamily="2" charset="0"/>
              <a:ea typeface="+mn-ea"/>
              <a:cs typeface="+mn-cs"/>
            </a:endParaRPr>
          </a:p>
          <a:p>
            <a:r>
              <a:rPr lang="en-US" sz="1200" kern="1200">
                <a:solidFill>
                  <a:schemeClr val="tx1"/>
                </a:solidFill>
                <a:effectLst/>
                <a:latin typeface="Segoe Sans Text" pitchFamily="2" charset="0"/>
                <a:ea typeface="+mn-ea"/>
                <a:cs typeface="+mn-cs"/>
              </a:rPr>
              <a:t>Our business stakeholder highlights </a:t>
            </a:r>
            <a:r>
              <a:rPr lang="en-US" sz="1200" b="1" kern="1200">
                <a:solidFill>
                  <a:schemeClr val="tx1"/>
                </a:solidFill>
                <a:effectLst/>
                <a:latin typeface="Segoe Sans Text" pitchFamily="2" charset="0"/>
                <a:ea typeface="+mn-ea"/>
                <a:cs typeface="+mn-cs"/>
              </a:rPr>
              <a:t>Scalability During Busy Periods. </a:t>
            </a:r>
            <a:r>
              <a:rPr lang="en-US" sz="1200" kern="1200">
                <a:solidFill>
                  <a:schemeClr val="tx1"/>
                </a:solidFill>
                <a:effectLst/>
                <a:latin typeface="Segoe Sans Text" pitchFamily="2" charset="0"/>
                <a:ea typeface="+mn-ea"/>
                <a:cs typeface="+mn-cs"/>
              </a:rPr>
              <a:t> They also request </a:t>
            </a:r>
            <a:r>
              <a:rPr lang="en-US" sz="1200" b="1" kern="1200">
                <a:solidFill>
                  <a:schemeClr val="tx1"/>
                </a:solidFill>
                <a:effectLst/>
                <a:latin typeface="Segoe Sans Text" pitchFamily="2" charset="0"/>
                <a:ea typeface="+mn-ea"/>
                <a:cs typeface="+mn-cs"/>
              </a:rPr>
              <a:t>Feedback collection to get user input. Of course, monitoring of the solution in production is required. Also,  Easy-to-Use user interface to interact with </a:t>
            </a:r>
            <a:r>
              <a:rPr lang="en-US" sz="1200" kern="1200">
                <a:solidFill>
                  <a:schemeClr val="tx1"/>
                </a:solidFill>
                <a:effectLst/>
                <a:latin typeface="Segoe Sans Text" pitchFamily="2" charset="0"/>
                <a:ea typeface="+mn-ea"/>
                <a:cs typeface="+mn-cs"/>
              </a:rPr>
              <a:t> and finally </a:t>
            </a:r>
            <a:r>
              <a:rPr lang="en-US" sz="1200" b="1" kern="1200">
                <a:solidFill>
                  <a:schemeClr val="tx1"/>
                </a:solidFill>
                <a:effectLst/>
                <a:latin typeface="Segoe Sans Text" pitchFamily="2" charset="0"/>
                <a:ea typeface="+mn-ea"/>
                <a:cs typeface="+mn-cs"/>
              </a:rPr>
              <a:t>Durable Storage </a:t>
            </a:r>
            <a:r>
              <a:rPr lang="en-US" sz="1200" kern="1200">
                <a:solidFill>
                  <a:schemeClr val="tx1"/>
                </a:solidFill>
                <a:effectLst/>
                <a:latin typeface="Segoe Sans Text" pitchFamily="2" charset="0"/>
                <a:ea typeface="+mn-ea"/>
                <a:cs typeface="+mn-cs"/>
              </a:rPr>
              <a:t>to save all extracted entities.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154338-A073-4661-BF20-52EA06646E26}"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7550720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now let's explain the architecture diagram in the prototyping stage for this use case: HR Virtual Assistant .</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In this stage, DS, prompt </a:t>
            </a:r>
            <a:r>
              <a:rPr lang="en-GB" sz="1200" kern="1200" err="1">
                <a:solidFill>
                  <a:schemeClr val="tx1"/>
                </a:solidFill>
                <a:effectLst/>
                <a:latin typeface="Segoe Sans Text" pitchFamily="2" charset="0"/>
                <a:ea typeface="+mn-ea"/>
                <a:cs typeface="+mn-cs"/>
              </a:rPr>
              <a:t>eng</a:t>
            </a:r>
            <a:r>
              <a:rPr lang="en-GB" sz="1200" kern="1200">
                <a:solidFill>
                  <a:schemeClr val="tx1"/>
                </a:solidFill>
                <a:effectLst/>
                <a:latin typeface="Segoe Sans Text" pitchFamily="2" charset="0"/>
                <a:ea typeface="+mn-ea"/>
                <a:cs typeface="+mn-cs"/>
              </a:rPr>
              <a:t>, developer or AI </a:t>
            </a:r>
            <a:r>
              <a:rPr lang="en-GB" sz="1200" kern="1200" err="1">
                <a:solidFill>
                  <a:schemeClr val="tx1"/>
                </a:solidFill>
                <a:effectLst/>
                <a:latin typeface="Segoe Sans Text" pitchFamily="2" charset="0"/>
                <a:ea typeface="+mn-ea"/>
                <a:cs typeface="+mn-cs"/>
              </a:rPr>
              <a:t>eng</a:t>
            </a:r>
            <a:r>
              <a:rPr lang="en-GB" sz="1200" kern="1200">
                <a:solidFill>
                  <a:schemeClr val="tx1"/>
                </a:solidFill>
                <a:effectLst/>
                <a:latin typeface="Segoe Sans Text" pitchFamily="2" charset="0"/>
                <a:ea typeface="+mn-ea"/>
                <a:cs typeface="+mn-cs"/>
              </a:rPr>
              <a:t> can work and start experimenting in the development environment. </a:t>
            </a:r>
          </a:p>
          <a:p>
            <a:r>
              <a:rPr lang="en-GB" sz="1200" kern="1200">
                <a:solidFill>
                  <a:schemeClr val="tx1"/>
                </a:solidFill>
                <a:effectLst/>
                <a:latin typeface="Segoe Sans Text" pitchFamily="2" charset="0"/>
                <a:ea typeface="+mn-ea"/>
                <a:cs typeface="+mn-cs"/>
              </a:rPr>
              <a:t>After exploring models, we need AI Foundry Project to use playgrounds with deployed models. Additionally, you need to define Connections AI services which you need to use for the use case. In this use case, we need AOAI service and AI Search connections for now. </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From the model </a:t>
            </a:r>
            <a:r>
              <a:rPr lang="en-GB" sz="1200" kern="1200" err="1">
                <a:solidFill>
                  <a:schemeClr val="tx1"/>
                </a:solidFill>
                <a:effectLst/>
                <a:latin typeface="Segoe Sans Text" pitchFamily="2" charset="0"/>
                <a:ea typeface="+mn-ea"/>
                <a:cs typeface="+mn-cs"/>
              </a:rPr>
              <a:t>catalog</a:t>
            </a:r>
            <a:r>
              <a:rPr lang="en-GB" sz="1200" kern="1200">
                <a:solidFill>
                  <a:schemeClr val="tx1"/>
                </a:solidFill>
                <a:effectLst/>
                <a:latin typeface="Segoe Sans Text" pitchFamily="2" charset="0"/>
                <a:ea typeface="+mn-ea"/>
                <a:cs typeface="+mn-cs"/>
              </a:rPr>
              <a:t> or in the playground, you can test different deployed models such as </a:t>
            </a:r>
            <a:r>
              <a:rPr lang="en-GB" sz="1200" b="1" kern="1200">
                <a:solidFill>
                  <a:schemeClr val="tx1"/>
                </a:solidFill>
                <a:effectLst/>
                <a:latin typeface="Segoe Sans Text" pitchFamily="2" charset="0"/>
                <a:ea typeface="+mn-ea"/>
                <a:cs typeface="+mn-cs"/>
              </a:rPr>
              <a:t>GPT-4o, turbo, Llama2, Phi. And you can ingest your documents by using “Add your own data” solution and experiment on the UI. </a:t>
            </a: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By having a centralized AI Foundry Project, all team members can collaborate effectively, sharing insights and making real-time adjustments on prompts or selecting different models/versions with different parameters.</a:t>
            </a:r>
          </a:p>
          <a:p>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Also, AI Foundry provides secure access for the team.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65432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A16CD-8440-338A-96BA-5BF787136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0654F7-3DF2-2D06-4B8F-C5BE6782D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4D3C20-9C90-7FF5-A0D4-F612A6B5DFA6}"/>
              </a:ext>
            </a:extLst>
          </p:cNvPr>
          <p:cNvSpPr>
            <a:spLocks noGrp="1"/>
          </p:cNvSpPr>
          <p:nvPr>
            <p:ph type="body" idx="1"/>
          </p:nvPr>
        </p:nvSpPr>
        <p:spPr/>
        <p:txBody>
          <a:bodyPr/>
          <a:lstStyle/>
          <a:p>
            <a:r>
              <a:rPr lang="en-US"/>
              <a:t>The diagram you see represents the </a:t>
            </a:r>
            <a:r>
              <a:rPr lang="en-US" b="1"/>
              <a:t>high-level architecture for the proof of concept (POC)</a:t>
            </a:r>
            <a:r>
              <a:rPr lang="en-US"/>
              <a:t> supporting Contoso Electronics' virtual assistant use case. This serves as the </a:t>
            </a:r>
            <a:r>
              <a:rPr lang="en-US" b="1"/>
              <a:t>foundation for our prototyping stage</a:t>
            </a:r>
            <a:r>
              <a:rPr lang="en-US"/>
              <a:t> and can be adapted for other use cases by simply modifying the underlying services.</a:t>
            </a:r>
          </a:p>
          <a:p>
            <a:endParaRPr lang="en-US"/>
          </a:p>
          <a:p>
            <a:r>
              <a:rPr lang="en-US" b="1"/>
              <a:t>Key Concepts:</a:t>
            </a:r>
            <a:endParaRPr lang="en-US"/>
          </a:p>
          <a:p>
            <a:r>
              <a:rPr lang="en-US" sz="1200" b="0" i="0" kern="1200">
                <a:solidFill>
                  <a:schemeClr val="tx1"/>
                </a:solidFill>
                <a:effectLst/>
                <a:latin typeface="+mn-lt"/>
                <a:ea typeface="+mn-ea"/>
                <a:cs typeface="+mn-cs"/>
              </a:rPr>
              <a:t>A </a:t>
            </a:r>
            <a:r>
              <a:rPr lang="en-US" sz="1200" b="1" i="0" kern="1200">
                <a:solidFill>
                  <a:schemeClr val="tx1"/>
                </a:solidFill>
                <a:effectLst/>
                <a:latin typeface="+mn-lt"/>
                <a:ea typeface="+mn-ea"/>
                <a:cs typeface="+mn-cs"/>
              </a:rPr>
              <a:t>Foundry project</a:t>
            </a:r>
            <a:r>
              <a:rPr lang="en-US" sz="1200" b="0" i="0" kern="1200">
                <a:solidFill>
                  <a:schemeClr val="tx1"/>
                </a:solidFill>
                <a:effectLst/>
                <a:latin typeface="+mn-lt"/>
                <a:ea typeface="+mn-ea"/>
                <a:cs typeface="+mn-cs"/>
              </a:rPr>
              <a:t> is built on an Azure AI Foundry resource. This project type allows for a simple setup, access to agents, and industry leading models from OpenAI, Mistral, Meta, and more. It includes </a:t>
            </a:r>
            <a:r>
              <a:rPr lang="en-US" b="1"/>
              <a:t>connections</a:t>
            </a:r>
            <a:r>
              <a:rPr lang="en-US"/>
              <a:t> for isolated and secure access </a:t>
            </a:r>
            <a:r>
              <a:rPr lang="en-US" b="1"/>
              <a:t>Deployments</a:t>
            </a:r>
            <a:r>
              <a:rPr lang="en-US"/>
              <a:t> to manage and version model endpoints</a:t>
            </a:r>
          </a:p>
          <a:p>
            <a:endParaRPr lang="en-US" b="1"/>
          </a:p>
          <a:p>
            <a:r>
              <a:rPr lang="en-US"/>
              <a:t>Each component in this architecture plays a critical role in ensuring that our AI applications are robust, secure and efficient</a:t>
            </a:r>
          </a:p>
          <a:p>
            <a:endParaRPr lang="en-US" b="1"/>
          </a:p>
          <a:p>
            <a:r>
              <a:rPr lang="en-US" b="1"/>
              <a:t>----------------------------------</a:t>
            </a:r>
          </a:p>
          <a:p>
            <a:r>
              <a:rPr lang="en-US" b="1"/>
              <a:t>Robust</a:t>
            </a:r>
            <a:r>
              <a:rPr lang="en-US"/>
              <a:t> – resilient and production-ready</a:t>
            </a:r>
          </a:p>
          <a:p>
            <a:r>
              <a:rPr lang="en-US" b="1"/>
              <a:t>Secure</a:t>
            </a:r>
            <a:r>
              <a:rPr lang="en-US"/>
              <a:t> – with enterprise-grade identity and access controls</a:t>
            </a:r>
          </a:p>
          <a:p>
            <a:r>
              <a:rPr lang="en-US" b="1"/>
              <a:t>Efficient</a:t>
            </a:r>
            <a:r>
              <a:rPr lang="en-US"/>
              <a:t> – leveraging cloud scalability and optimized resource usage</a:t>
            </a:r>
          </a:p>
          <a:p>
            <a:r>
              <a:rPr lang="en-US"/>
              <a:t>By utilizing </a:t>
            </a:r>
            <a:r>
              <a:rPr lang="en-US" b="1"/>
              <a:t>Azure’s cloud infrastructure</a:t>
            </a:r>
            <a:r>
              <a:rPr lang="en-US"/>
              <a:t>, we can scale with confidence, optimize costs, and ensure our AI solutions meet the highest standards of </a:t>
            </a:r>
            <a:r>
              <a:rPr lang="en-US" b="1"/>
              <a:t>performance, governance, and security</a:t>
            </a:r>
            <a:r>
              <a:rPr lang="en-US"/>
              <a:t>.</a:t>
            </a:r>
          </a:p>
          <a:p>
            <a:endParaRPr lang="en-GB"/>
          </a:p>
        </p:txBody>
      </p:sp>
      <p:sp>
        <p:nvSpPr>
          <p:cNvPr id="4" name="Slide Number Placeholder 3">
            <a:extLst>
              <a:ext uri="{FF2B5EF4-FFF2-40B4-BE49-F238E27FC236}">
                <a16:creationId xmlns:a16="http://schemas.microsoft.com/office/drawing/2014/main" id="{674BCE14-9209-4471-F03D-53EA8B6FCF61}"/>
              </a:ext>
            </a:extLst>
          </p:cNvPr>
          <p:cNvSpPr>
            <a:spLocks noGrp="1"/>
          </p:cNvSpPr>
          <p:nvPr>
            <p:ph type="sldNum" sz="quarter" idx="5"/>
          </p:nvPr>
        </p:nvSpPr>
        <p:spPr/>
        <p:txBody>
          <a:bodyPr/>
          <a:lstStyle/>
          <a:p>
            <a:fld id="{BD154338-A073-4661-BF20-52EA06646E26}" type="slidenum">
              <a:rPr lang="en-US" smtClean="0"/>
              <a:pPr/>
              <a:t>32</a:t>
            </a:fld>
            <a:endParaRPr lang="en-US"/>
          </a:p>
        </p:txBody>
      </p:sp>
    </p:spTree>
    <p:extLst>
      <p:ext uri="{BB962C8B-B14F-4D97-AF65-F5344CB8AC3E}">
        <p14:creationId xmlns:p14="http://schemas.microsoft.com/office/powerpoint/2010/main" val="12086535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F603-2591-1B1A-1967-E498F6046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BFD48-A075-7D90-A409-A876710A5B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A98B90-A6E4-FE1F-FEC8-9A2405ECDA07}"/>
              </a:ext>
            </a:extLst>
          </p:cNvPr>
          <p:cNvSpPr>
            <a:spLocks noGrp="1"/>
          </p:cNvSpPr>
          <p:nvPr>
            <p:ph type="body" idx="1"/>
          </p:nvPr>
        </p:nvSpPr>
        <p:spPr/>
        <p:txBody>
          <a:bodyPr/>
          <a:lstStyle/>
          <a:p>
            <a:r>
              <a:rPr lang="en-US"/>
              <a:t>The diagram you see represents the </a:t>
            </a:r>
            <a:r>
              <a:rPr lang="en-US" b="1"/>
              <a:t>high-level architecture for the proof of concept (POC)</a:t>
            </a:r>
            <a:r>
              <a:rPr lang="en-US"/>
              <a:t> supporting Contoso Electronics' virtual assistant use case. This serves as the </a:t>
            </a:r>
            <a:r>
              <a:rPr lang="en-US" b="1"/>
              <a:t>foundation for our prototyping stage</a:t>
            </a:r>
            <a:r>
              <a:rPr lang="en-US"/>
              <a:t> and can be adapted for other use cases by simply modifying the underlying services.</a:t>
            </a:r>
          </a:p>
          <a:p>
            <a:endParaRPr lang="en-US"/>
          </a:p>
          <a:p>
            <a:r>
              <a:rPr lang="en-US" b="1"/>
              <a:t>Key Concepts: AI Hub and AI Project</a:t>
            </a:r>
          </a:p>
          <a:p>
            <a:r>
              <a:rPr lang="en-US" b="1"/>
              <a:t>AI Hub: </a:t>
            </a:r>
            <a:r>
              <a:rPr lang="en-US"/>
              <a:t>It serves as the central orchestration layer, connecting various services and components. It includes: </a:t>
            </a:r>
            <a:r>
              <a:rPr lang="en-US" b="1"/>
              <a:t>Azure Compute</a:t>
            </a:r>
            <a:r>
              <a:rPr lang="en-US" b="0"/>
              <a:t>, </a:t>
            </a:r>
            <a:r>
              <a:rPr lang="en-US" b="1"/>
              <a:t>Key Vault</a:t>
            </a:r>
            <a:r>
              <a:rPr lang="en-US" b="0"/>
              <a:t>, </a:t>
            </a:r>
            <a:r>
              <a:rPr lang="en-US" b="1"/>
              <a:t>Storage Account</a:t>
            </a:r>
            <a:endParaRPr lang="en-US"/>
          </a:p>
          <a:p>
            <a:r>
              <a:rPr lang="en-US"/>
              <a:t>These resources work together to ensure </a:t>
            </a:r>
            <a:r>
              <a:rPr lang="en-US" b="1"/>
              <a:t>secure, scalable, and reliable infrastructure</a:t>
            </a:r>
            <a:r>
              <a:rPr lang="en-US"/>
              <a:t> for AI workloads. The AI Hub also manages </a:t>
            </a:r>
            <a:r>
              <a:rPr lang="en-US" b="1"/>
              <a:t>connections between internal components and external services</a:t>
            </a:r>
            <a:r>
              <a:rPr lang="en-US"/>
              <a:t>, enabling seamless data flow and integration.</a:t>
            </a:r>
          </a:p>
          <a:p>
            <a:endParaRPr lang="en-US"/>
          </a:p>
          <a:p>
            <a:r>
              <a:rPr lang="en-US" b="1"/>
              <a:t>AI Project </a:t>
            </a:r>
            <a:r>
              <a:rPr lang="en-US"/>
              <a:t>is where specific AI solutions are developed and managed. It includes:</a:t>
            </a:r>
          </a:p>
          <a:p>
            <a:r>
              <a:rPr lang="en-US" b="1"/>
              <a:t>Project-scoped connections</a:t>
            </a:r>
            <a:r>
              <a:rPr lang="en-US"/>
              <a:t> for isolated and secure access</a:t>
            </a:r>
          </a:p>
          <a:p>
            <a:r>
              <a:rPr lang="en-US" b="1"/>
              <a:t>Deployments</a:t>
            </a:r>
            <a:r>
              <a:rPr lang="en-US"/>
              <a:t> to manage and version model endpoints</a:t>
            </a:r>
          </a:p>
          <a:p>
            <a:r>
              <a:rPr lang="en-US" b="1"/>
              <a:t>Prompt Flow</a:t>
            </a:r>
            <a:r>
              <a:rPr lang="en-US"/>
              <a:t>, which enables structured prompt engineering and chaining logic</a:t>
            </a:r>
          </a:p>
          <a:p>
            <a:r>
              <a:rPr lang="en-US"/>
              <a:t>This section supports rapid iteration and experimentation while maintaining control and visibility.</a:t>
            </a:r>
          </a:p>
          <a:p>
            <a:endParaRPr lang="en-US" b="1"/>
          </a:p>
          <a:p>
            <a:r>
              <a:rPr lang="en-US"/>
              <a:t>Each component in this architecture plays a critical role in ensuring that our AI applications are robust, secure and efficient</a:t>
            </a:r>
          </a:p>
          <a:p>
            <a:endParaRPr lang="en-US" b="1"/>
          </a:p>
          <a:p>
            <a:r>
              <a:rPr lang="en-US" b="1"/>
              <a:t>----------------------------------</a:t>
            </a:r>
          </a:p>
          <a:p>
            <a:r>
              <a:rPr lang="en-US" b="1"/>
              <a:t>Robust</a:t>
            </a:r>
            <a:r>
              <a:rPr lang="en-US"/>
              <a:t> – resilient and production-ready</a:t>
            </a:r>
          </a:p>
          <a:p>
            <a:r>
              <a:rPr lang="en-US" b="1"/>
              <a:t>Secure</a:t>
            </a:r>
            <a:r>
              <a:rPr lang="en-US"/>
              <a:t> – with enterprise-grade identity and access controls</a:t>
            </a:r>
          </a:p>
          <a:p>
            <a:r>
              <a:rPr lang="en-US" b="1"/>
              <a:t>Efficient</a:t>
            </a:r>
            <a:r>
              <a:rPr lang="en-US"/>
              <a:t> – leveraging cloud scalability and optimized resource usage</a:t>
            </a:r>
          </a:p>
          <a:p>
            <a:r>
              <a:rPr lang="en-US"/>
              <a:t>By utilizing </a:t>
            </a:r>
            <a:r>
              <a:rPr lang="en-US" b="1"/>
              <a:t>Azure’s cloud infrastructure</a:t>
            </a:r>
            <a:r>
              <a:rPr lang="en-US"/>
              <a:t>, we can scale with confidence, optimize costs, and ensure our AI solutions meet the highest standards of </a:t>
            </a:r>
            <a:r>
              <a:rPr lang="en-US" b="1"/>
              <a:t>performance, governance, and security</a:t>
            </a:r>
            <a:r>
              <a:rPr lang="en-US"/>
              <a:t>.</a:t>
            </a:r>
          </a:p>
          <a:p>
            <a:endParaRPr lang="en-GB"/>
          </a:p>
        </p:txBody>
      </p:sp>
      <p:sp>
        <p:nvSpPr>
          <p:cNvPr id="4" name="Slide Number Placeholder 3">
            <a:extLst>
              <a:ext uri="{FF2B5EF4-FFF2-40B4-BE49-F238E27FC236}">
                <a16:creationId xmlns:a16="http://schemas.microsoft.com/office/drawing/2014/main" id="{CEC98DA8-6103-2A96-4A5C-297B6D56745C}"/>
              </a:ext>
            </a:extLst>
          </p:cNvPr>
          <p:cNvSpPr>
            <a:spLocks noGrp="1"/>
          </p:cNvSpPr>
          <p:nvPr>
            <p:ph type="sldNum" sz="quarter" idx="5"/>
          </p:nvPr>
        </p:nvSpPr>
        <p:spPr/>
        <p:txBody>
          <a:bodyPr/>
          <a:lstStyle/>
          <a:p>
            <a:fld id="{BD154338-A073-4661-BF20-52EA06646E26}" type="slidenum">
              <a:rPr lang="en-US" smtClean="0"/>
              <a:pPr/>
              <a:t>33</a:t>
            </a:fld>
            <a:endParaRPr lang="en-US"/>
          </a:p>
        </p:txBody>
      </p:sp>
    </p:spTree>
    <p:extLst>
      <p:ext uri="{BB962C8B-B14F-4D97-AF65-F5344CB8AC3E}">
        <p14:creationId xmlns:p14="http://schemas.microsoft.com/office/powerpoint/2010/main" val="1952805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DBB3B-E267-D5BA-9F7B-5C88F62D1AE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F838B1-83B3-1A51-0ABC-DB17C97F3646}"/>
              </a:ext>
            </a:extLst>
          </p:cNvPr>
          <p:cNvSpPr>
            <a:spLocks noGrp="1"/>
          </p:cNvSpPr>
          <p:nvPr>
            <p:ph type="sldNum" sz="quarter" idx="10"/>
          </p:nvPr>
        </p:nvSpPr>
        <p:spPr/>
        <p:txBody>
          <a:bodyPr/>
          <a:lstStyle/>
          <a:p>
            <a:fld id="{F475C4C8-7DEA-455A-9336-A4C7DB3AE516}" type="slidenum">
              <a:rPr lang="en-US" smtClean="0"/>
              <a:pPr/>
              <a:t>34</a:t>
            </a:fld>
            <a:endParaRPr lang="en-US"/>
          </a:p>
        </p:txBody>
      </p:sp>
      <p:sp>
        <p:nvSpPr>
          <p:cNvPr id="6" name="Date Placeholder 5">
            <a:extLst>
              <a:ext uri="{FF2B5EF4-FFF2-40B4-BE49-F238E27FC236}">
                <a16:creationId xmlns:a16="http://schemas.microsoft.com/office/drawing/2014/main" id="{2A7D91FA-00F2-BDD0-DBA8-FC2501F24F41}"/>
              </a:ext>
            </a:extLst>
          </p:cNvPr>
          <p:cNvSpPr>
            <a:spLocks noGrp="1"/>
          </p:cNvSpPr>
          <p:nvPr>
            <p:ph type="dt" idx="12"/>
          </p:nvPr>
        </p:nvSpPr>
        <p:spPr/>
        <p:txBody>
          <a:bodyPr/>
          <a:lstStyle/>
          <a:p>
            <a:fld id="{997C9337-20C5-41EF-80F6-63D1F94ABC0C}" type="datetime1">
              <a:rPr lang="en-US" smtClean="0"/>
              <a:t>10/19/2026</a:t>
            </a:fld>
            <a:endParaRPr lang="en-US"/>
          </a:p>
        </p:txBody>
      </p:sp>
      <p:sp>
        <p:nvSpPr>
          <p:cNvPr id="10" name="Slide Image Placeholder 9">
            <a:extLst>
              <a:ext uri="{FF2B5EF4-FFF2-40B4-BE49-F238E27FC236}">
                <a16:creationId xmlns:a16="http://schemas.microsoft.com/office/drawing/2014/main" id="{DEEA852C-BD62-4E38-06A1-61CA65F64DD9}"/>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1513BC05-D4BF-7A7B-B91F-AC7850FACFE7}"/>
              </a:ext>
            </a:extLst>
          </p:cNvPr>
          <p:cNvSpPr>
            <a:spLocks noGrp="1"/>
          </p:cNvSpPr>
          <p:nvPr>
            <p:ph type="body" idx="1"/>
          </p:nvPr>
        </p:nvSpPr>
        <p:spPr>
          <a:xfrm>
            <a:off x="685800" y="4400550"/>
            <a:ext cx="5486400" cy="3600450"/>
          </a:xfrm>
          <a:prstGeom prst="rect">
            <a:avLst/>
          </a:prstGeom>
        </p:spPr>
        <p:txBody>
          <a:bodyPr/>
          <a:lstStyle/>
          <a:p>
            <a:r>
              <a:rPr lang="en-GB" sz="900" kern="1200">
                <a:solidFill>
                  <a:schemeClr val="tx1"/>
                </a:solidFill>
                <a:effectLst/>
                <a:latin typeface="Segoe Sans Text" pitchFamily="2" charset="0"/>
                <a:ea typeface="+mn-ea"/>
                <a:cs typeface="+mn-cs"/>
              </a:rPr>
              <a:t>Now that we've covered the high-level architecture, let's move on the first demo that Paulo will walk you through “Model Selection”  to build a robust and scalable RAG solution for Contoso Electronics. Let's get started with the demo!</a:t>
            </a:r>
          </a:p>
          <a:p>
            <a:r>
              <a:rPr lang="en-GB" sz="900" b="1" kern="1200">
                <a:solidFill>
                  <a:schemeClr val="tx1"/>
                </a:solidFill>
                <a:effectLst/>
                <a:latin typeface="Segoe Sans Text" pitchFamily="2" charset="0"/>
                <a:ea typeface="+mn-ea"/>
                <a:cs typeface="+mn-cs"/>
              </a:rPr>
              <a:t> </a:t>
            </a:r>
            <a:endParaRPr lang="en-GB" sz="900" kern="1200">
              <a:solidFill>
                <a:schemeClr val="tx1"/>
              </a:solidFill>
              <a:effectLst/>
              <a:latin typeface="Segoe Sans Text" pitchFamily="2" charset="0"/>
              <a:ea typeface="+mn-ea"/>
              <a:cs typeface="+mn-cs"/>
            </a:endParaRPr>
          </a:p>
          <a:p>
            <a:r>
              <a:rPr lang="en-GB" sz="900"/>
              <a:t>------</a:t>
            </a:r>
          </a:p>
          <a:p>
            <a:endParaRPr lang="en-GB" sz="900"/>
          </a:p>
          <a:p>
            <a:r>
              <a:rPr lang="en-GB" sz="900"/>
              <a:t>1) Prototyping Phase - </a:t>
            </a:r>
            <a:r>
              <a:rPr lang="en-GB" sz="900" b="1"/>
              <a:t>5min</a:t>
            </a:r>
            <a:br>
              <a:rPr lang="en-GB" sz="900"/>
            </a:br>
            <a:r>
              <a:rPr lang="en-GB" sz="900"/>
              <a:t>- Model Selection</a:t>
            </a:r>
            <a:br>
              <a:rPr lang="en-GB" sz="900"/>
            </a:br>
            <a:r>
              <a:rPr lang="en-GB" sz="900"/>
              <a:t>  - Show the Model </a:t>
            </a:r>
            <a:r>
              <a:rPr lang="en-GB" sz="900" err="1"/>
              <a:t>Catalog</a:t>
            </a:r>
            <a:br>
              <a:rPr lang="en-GB" sz="900"/>
            </a:br>
            <a:r>
              <a:rPr lang="en-GB" sz="900"/>
              <a:t>  - Run a model Comparison (4.1 model)</a:t>
            </a:r>
            <a:br>
              <a:rPr lang="en-GB" sz="900"/>
            </a:br>
            <a:r>
              <a:rPr lang="en-GB" sz="900"/>
              <a:t>  - Try it out one of the models (TBD)</a:t>
            </a:r>
          </a:p>
          <a:p>
            <a:r>
              <a:rPr lang="en-GB" sz="900"/>
              <a:t> </a:t>
            </a:r>
          </a:p>
          <a:p>
            <a:r>
              <a:rPr lang="en-GB" sz="900"/>
              <a:t>-----------------------</a:t>
            </a:r>
          </a:p>
          <a:p>
            <a:endParaRPr lang="en-GB" sz="900"/>
          </a:p>
          <a:p>
            <a:r>
              <a:rPr lang="en-GB" sz="900"/>
              <a:t>1- Version Control: Model versions monitoring in prod and other configurations</a:t>
            </a:r>
          </a:p>
          <a:p>
            <a:r>
              <a:rPr lang="en-GB" sz="900"/>
              <a:t>2- Lineage to data, model, prompt for auditability</a:t>
            </a:r>
          </a:p>
          <a:p>
            <a:endParaRPr lang="en-GB" sz="900"/>
          </a:p>
          <a:p>
            <a:endParaRPr lang="en-GB" sz="900"/>
          </a:p>
        </p:txBody>
      </p:sp>
      <p:sp>
        <p:nvSpPr>
          <p:cNvPr id="2" name="Header Placeholder 1">
            <a:extLst>
              <a:ext uri="{FF2B5EF4-FFF2-40B4-BE49-F238E27FC236}">
                <a16:creationId xmlns:a16="http://schemas.microsoft.com/office/drawing/2014/main" id="{3144C5A8-3BD5-B8B3-B2A9-321F306DB43B}"/>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6561267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CBBE3-ABB8-D9E1-D87D-333C117E7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44672-8805-8A19-518F-964E9059F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7F717-0CFF-72F8-1DD9-4D6F0672B37A}"/>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In the Prototyping phase, we focus on proving that the AI solution works. We define the scope, and experiment LLMs or SLMs to test our assumptions.</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Now, we are in </a:t>
            </a:r>
            <a:r>
              <a:rPr lang="en-GB" sz="1200" kern="1200" err="1">
                <a:solidFill>
                  <a:schemeClr val="tx1"/>
                </a:solidFill>
                <a:effectLst/>
                <a:latin typeface="Segoe Sans Text" pitchFamily="2" charset="0"/>
                <a:ea typeface="+mn-ea"/>
                <a:cs typeface="+mn-cs"/>
              </a:rPr>
              <a:t>building&amp;augmenting</a:t>
            </a:r>
            <a:r>
              <a:rPr lang="en-GB" sz="1200" kern="1200">
                <a:solidFill>
                  <a:schemeClr val="tx1"/>
                </a:solidFill>
                <a:effectLst/>
                <a:latin typeface="Segoe Sans Text" pitchFamily="2" charset="0"/>
                <a:ea typeface="+mn-ea"/>
                <a:cs typeface="+mn-cs"/>
              </a:rPr>
              <a:t> stage where we design, build and customize our solutions. Techniques like Prompt Engineering to find the best prompt with the right model and parameter settings…also RAG to link LLM to enterprise specific data to generate relevant and accurate outputs, and… fine-tuning to customize the model specific to the task to improve performance…  </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You can also use orchestrators such as </a:t>
            </a:r>
            <a:r>
              <a:rPr lang="en-GB" sz="1200" kern="1200" err="1">
                <a:solidFill>
                  <a:schemeClr val="tx1"/>
                </a:solidFill>
                <a:effectLst/>
                <a:latin typeface="Segoe Sans Text" pitchFamily="2" charset="0"/>
                <a:ea typeface="+mn-ea"/>
                <a:cs typeface="+mn-cs"/>
              </a:rPr>
              <a:t>Langchain</a:t>
            </a:r>
            <a:r>
              <a:rPr lang="en-GB" sz="1200" kern="1200">
                <a:solidFill>
                  <a:schemeClr val="tx1"/>
                </a:solidFill>
                <a:effectLst/>
                <a:latin typeface="Segoe Sans Text" pitchFamily="2" charset="0"/>
                <a:ea typeface="+mn-ea"/>
                <a:cs typeface="+mn-cs"/>
              </a:rPr>
              <a:t> and Semantic Kernel. VS Code, </a:t>
            </a:r>
            <a:r>
              <a:rPr lang="en-GB" sz="1200" kern="1200" err="1">
                <a:solidFill>
                  <a:schemeClr val="tx1"/>
                </a:solidFill>
                <a:effectLst/>
                <a:latin typeface="Segoe Sans Text" pitchFamily="2" charset="0"/>
                <a:ea typeface="+mn-ea"/>
                <a:cs typeface="+mn-cs"/>
              </a:rPr>
              <a:t>Github</a:t>
            </a:r>
            <a:r>
              <a:rPr lang="en-GB" sz="1200" kern="1200">
                <a:solidFill>
                  <a:schemeClr val="tx1"/>
                </a:solidFill>
                <a:effectLst/>
                <a:latin typeface="Segoe Sans Text" pitchFamily="2" charset="0"/>
                <a:ea typeface="+mn-ea"/>
                <a:cs typeface="+mn-cs"/>
              </a:rPr>
              <a:t> or notebooks can be used for code first approach. Additionally, This phase involves manual and automated evaluations to ensure our AI applications are safe and perform well.</a:t>
            </a:r>
            <a:endParaRPr lang="en-GB"/>
          </a:p>
        </p:txBody>
      </p:sp>
      <p:sp>
        <p:nvSpPr>
          <p:cNvPr id="4" name="Slide Number Placeholder 3">
            <a:extLst>
              <a:ext uri="{FF2B5EF4-FFF2-40B4-BE49-F238E27FC236}">
                <a16:creationId xmlns:a16="http://schemas.microsoft.com/office/drawing/2014/main" id="{9D80F4C9-278B-78E5-C2BF-F7EBCC04DB6C}"/>
              </a:ext>
            </a:extLst>
          </p:cNvPr>
          <p:cNvSpPr>
            <a:spLocks noGrp="1"/>
          </p:cNvSpPr>
          <p:nvPr>
            <p:ph type="sldNum" sz="quarter" idx="5"/>
          </p:nvPr>
        </p:nvSpPr>
        <p:spPr/>
        <p:txBody>
          <a:bodyPr/>
          <a:lstStyle/>
          <a:p>
            <a:fld id="{BD154338-A073-4661-BF20-52EA06646E26}" type="slidenum">
              <a:rPr lang="en-US" smtClean="0"/>
              <a:pPr/>
              <a:t>35</a:t>
            </a:fld>
            <a:endParaRPr lang="en-US"/>
          </a:p>
        </p:txBody>
      </p:sp>
    </p:spTree>
    <p:extLst>
      <p:ext uri="{BB962C8B-B14F-4D97-AF65-F5344CB8AC3E}">
        <p14:creationId xmlns:p14="http://schemas.microsoft.com/office/powerpoint/2010/main" val="23117616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764C9-FF12-DD63-5AD7-2D7791DE4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03CE1-3C6C-9987-EF36-6DD1B44D3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26C7E-7DD8-B90D-B0B3-59E363C5AAB2}"/>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Let's delve into the Azure AI  Foundry capabilities that are instrumental for building and augmenting AI solutions. </a:t>
            </a:r>
          </a:p>
          <a:p>
            <a:r>
              <a:rPr lang="en-GB" sz="1200" kern="1200">
                <a:solidFill>
                  <a:schemeClr val="tx1"/>
                </a:solidFill>
                <a:effectLst/>
                <a:latin typeface="Segoe Sans Text" pitchFamily="2" charset="0"/>
                <a:ea typeface="+mn-ea"/>
                <a:cs typeface="+mn-cs"/>
              </a:rPr>
              <a:t> </a:t>
            </a:r>
          </a:p>
          <a:p>
            <a:r>
              <a:rPr lang="en-GB" sz="1200" b="1" kern="1200">
                <a:solidFill>
                  <a:schemeClr val="tx1"/>
                </a:solidFill>
                <a:effectLst/>
                <a:latin typeface="Segoe Sans Text" pitchFamily="2" charset="0"/>
                <a:ea typeface="+mn-ea"/>
                <a:cs typeface="+mn-cs"/>
              </a:rPr>
              <a:t>Azure AI Foundry</a:t>
            </a:r>
            <a:r>
              <a:rPr lang="en-GB" sz="1200" kern="1200">
                <a:solidFill>
                  <a:schemeClr val="tx1"/>
                </a:solidFill>
                <a:effectLst/>
                <a:latin typeface="Segoe Sans Text" pitchFamily="2" charset="0"/>
                <a:ea typeface="+mn-ea"/>
                <a:cs typeface="+mn-cs"/>
              </a:rPr>
              <a:t>, it provides a suite of tools to </a:t>
            </a:r>
            <a:r>
              <a:rPr lang="en-GB" sz="1200" b="1" kern="1200">
                <a:solidFill>
                  <a:schemeClr val="tx1"/>
                </a:solidFill>
                <a:effectLst/>
                <a:latin typeface="Segoe Sans Text" pitchFamily="2" charset="0"/>
                <a:ea typeface="+mn-ea"/>
                <a:cs typeface="+mn-cs"/>
              </a:rPr>
              <a:t>Build &amp; Customize</a:t>
            </a:r>
            <a:r>
              <a:rPr lang="en-GB" sz="1200" kern="1200">
                <a:solidFill>
                  <a:schemeClr val="tx1"/>
                </a:solidFill>
                <a:effectLst/>
                <a:latin typeface="Segoe Sans Text" pitchFamily="2" charset="0"/>
                <a:ea typeface="+mn-ea"/>
                <a:cs typeface="+mn-cs"/>
              </a:rPr>
              <a:t> your AI models, supporting coding in VS Code (Preview). This ensures a seamless transition from development to deployment. You can get benefit from </a:t>
            </a:r>
            <a:r>
              <a:rPr lang="en-GB" sz="1200" b="1" kern="1200">
                <a:solidFill>
                  <a:schemeClr val="tx1"/>
                </a:solidFill>
                <a:effectLst/>
                <a:latin typeface="Segoe Sans Text" pitchFamily="2" charset="0"/>
                <a:ea typeface="+mn-ea"/>
                <a:cs typeface="+mn-cs"/>
              </a:rPr>
              <a:t>model fine-tuning</a:t>
            </a:r>
            <a:r>
              <a:rPr lang="en-GB" sz="1200" kern="1200">
                <a:solidFill>
                  <a:schemeClr val="tx1"/>
                </a:solidFill>
                <a:effectLst/>
                <a:latin typeface="Segoe Sans Text" pitchFamily="2" charset="0"/>
                <a:ea typeface="+mn-ea"/>
                <a:cs typeface="+mn-cs"/>
              </a:rPr>
              <a:t> ,</a:t>
            </a:r>
            <a:r>
              <a:rPr lang="en-GB" sz="1200" b="1" kern="1200">
                <a:solidFill>
                  <a:schemeClr val="tx1"/>
                </a:solidFill>
                <a:effectLst/>
                <a:latin typeface="Segoe Sans Text" pitchFamily="2" charset="0"/>
                <a:ea typeface="+mn-ea"/>
                <a:cs typeface="+mn-cs"/>
              </a:rPr>
              <a:t>Prompt Flow</a:t>
            </a:r>
            <a:r>
              <a:rPr lang="en-GB" sz="1200" kern="1200">
                <a:solidFill>
                  <a:schemeClr val="tx1"/>
                </a:solidFill>
                <a:effectLst/>
                <a:latin typeface="Segoe Sans Text" pitchFamily="2" charset="0"/>
                <a:ea typeface="+mn-ea"/>
                <a:cs typeface="+mn-cs"/>
              </a:rPr>
              <a:t> ., Content Understanding and Agents and continue with code first approach.</a:t>
            </a: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For </a:t>
            </a:r>
            <a:r>
              <a:rPr lang="en-GB" sz="1200" b="1" kern="1200">
                <a:solidFill>
                  <a:schemeClr val="tx1"/>
                </a:solidFill>
                <a:effectLst/>
                <a:latin typeface="Segoe Sans Text" pitchFamily="2" charset="0"/>
                <a:ea typeface="+mn-ea"/>
                <a:cs typeface="+mn-cs"/>
              </a:rPr>
              <a:t>Assess &amp; Improve</a:t>
            </a:r>
            <a:r>
              <a:rPr lang="en-GB" sz="1200" kern="1200">
                <a:solidFill>
                  <a:schemeClr val="tx1"/>
                </a:solidFill>
                <a:effectLst/>
                <a:latin typeface="Segoe Sans Text" pitchFamily="2" charset="0"/>
                <a:ea typeface="+mn-ea"/>
                <a:cs typeface="+mn-cs"/>
              </a:rPr>
              <a:t>, Azure AI Foundry offers </a:t>
            </a:r>
            <a:r>
              <a:rPr lang="en-GB" sz="1200" b="1" kern="1200">
                <a:solidFill>
                  <a:schemeClr val="tx1"/>
                </a:solidFill>
                <a:effectLst/>
                <a:latin typeface="Segoe Sans Text" pitchFamily="2" charset="0"/>
                <a:ea typeface="+mn-ea"/>
                <a:cs typeface="+mn-cs"/>
              </a:rPr>
              <a:t>Tracing (Preview)</a:t>
            </a:r>
            <a:r>
              <a:rPr lang="en-GB" sz="1200" kern="1200">
                <a:solidFill>
                  <a:schemeClr val="tx1"/>
                </a:solidFill>
                <a:effectLst/>
                <a:latin typeface="Segoe Sans Text" pitchFamily="2" charset="0"/>
                <a:ea typeface="+mn-ea"/>
                <a:cs typeface="+mn-cs"/>
              </a:rPr>
              <a:t> tools to debug and optimize AI models and applications, along with comprehensive </a:t>
            </a:r>
            <a:r>
              <a:rPr lang="en-GB" sz="1200" b="1" kern="1200">
                <a:solidFill>
                  <a:schemeClr val="tx1"/>
                </a:solidFill>
                <a:effectLst/>
                <a:latin typeface="Segoe Sans Text" pitchFamily="2" charset="0"/>
                <a:ea typeface="+mn-ea"/>
                <a:cs typeface="+mn-cs"/>
              </a:rPr>
              <a:t>evaluation</a:t>
            </a:r>
            <a:r>
              <a:rPr lang="en-GB" sz="1200" kern="1200">
                <a:solidFill>
                  <a:schemeClr val="tx1"/>
                </a:solidFill>
                <a:effectLst/>
                <a:latin typeface="Segoe Sans Text" pitchFamily="2" charset="0"/>
                <a:ea typeface="+mn-ea"/>
                <a:cs typeface="+mn-cs"/>
              </a:rPr>
              <a:t> tools to ensure models meet expected standards. Also it has built-in </a:t>
            </a:r>
            <a:r>
              <a:rPr lang="en-GB" sz="1200" b="1" kern="1200">
                <a:solidFill>
                  <a:schemeClr val="tx1"/>
                </a:solidFill>
                <a:effectLst/>
                <a:latin typeface="Segoe Sans Text" pitchFamily="2" charset="0"/>
                <a:ea typeface="+mn-ea"/>
                <a:cs typeface="+mn-cs"/>
              </a:rPr>
              <a:t>AI Services Integration</a:t>
            </a:r>
            <a:r>
              <a:rPr lang="en-GB" sz="1200" kern="1200">
                <a:solidFill>
                  <a:schemeClr val="tx1"/>
                </a:solidFill>
                <a:effectLst/>
                <a:latin typeface="Segoe Sans Text" pitchFamily="2" charset="0"/>
                <a:ea typeface="+mn-ea"/>
                <a:cs typeface="+mn-cs"/>
              </a:rPr>
              <a:t> providing a cohesive environment for all aspects of AI project development.</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By leveraging these capabilities, organizations can significantly enhance their ability to develop, deploy, and scale AI solutions. </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I would like to stress the importance of “model evaluation” and “application evaluation” which are unique compared to other operations frameworks. </a:t>
            </a:r>
          </a:p>
          <a:p>
            <a:endParaRPr lang="en-GB"/>
          </a:p>
        </p:txBody>
      </p:sp>
      <p:sp>
        <p:nvSpPr>
          <p:cNvPr id="4" name="Slide Number Placeholder 3">
            <a:extLst>
              <a:ext uri="{FF2B5EF4-FFF2-40B4-BE49-F238E27FC236}">
                <a16:creationId xmlns:a16="http://schemas.microsoft.com/office/drawing/2014/main" id="{C6E12533-C660-DE8B-8AD8-33D9F2AA6D0F}"/>
              </a:ext>
            </a:extLst>
          </p:cNvPr>
          <p:cNvSpPr>
            <a:spLocks noGrp="1"/>
          </p:cNvSpPr>
          <p:nvPr>
            <p:ph type="sldNum" sz="quarter" idx="5"/>
          </p:nvPr>
        </p:nvSpPr>
        <p:spPr/>
        <p:txBody>
          <a:bodyPr/>
          <a:lstStyle/>
          <a:p>
            <a:fld id="{BD154338-A073-4661-BF20-52EA06646E26}" type="slidenum">
              <a:rPr lang="en-US" smtClean="0"/>
              <a:pPr/>
              <a:t>36</a:t>
            </a:fld>
            <a:endParaRPr lang="en-US"/>
          </a:p>
        </p:txBody>
      </p:sp>
    </p:spTree>
    <p:extLst>
      <p:ext uri="{BB962C8B-B14F-4D97-AF65-F5344CB8AC3E}">
        <p14:creationId xmlns:p14="http://schemas.microsoft.com/office/powerpoint/2010/main" val="33645829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32327-297B-A34B-BA56-25D5A631E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CE1B3-C866-A1AA-C5DB-F2D1AD97A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6C248-40EE-732E-88ED-A2DEF68E3F31}"/>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let's move on to the next crucial phase in building and augmenting AI solutions, which is Evaluations. Evaluating generative AI solutions can be challenging. Unlike traditional ML, where accuracy is the primary metric, generative AI may require assessing different metrics for more open-ended outputs. </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This step involves preparing the golden dataset, identifying evaluation metrics, and integrating evaluations into CI/CD pipelines.</a:t>
            </a: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Firstly, depending on the use case and selected metric, you may need a Golden Dataset such as in JSONL format which contains query and expected responses to evaluate. </a:t>
            </a: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One cool new thing here, Azure AI Foundry supports simulators which I will explain more in the following slides. If you don’t have a Golden Dataset or are struggling to create it, these simulators allow you to create both context-appropriate and adversarial simulations for evaluations. </a:t>
            </a: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Then, we identify the evaluators that matter to us, accounting for Risk &amp; Safety, Performance, and Custom evaluators. Next step is running these evaluations and integrating our evaluation code into CI/CD pipeline.  You will be able to see the evaluations results on AI Foundry…</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Additionally, You can design your CI/CD process with a gated approval or automation by defining thresholds to metrics. </a:t>
            </a:r>
          </a:p>
        </p:txBody>
      </p:sp>
      <p:sp>
        <p:nvSpPr>
          <p:cNvPr id="4" name="Slide Number Placeholder 3">
            <a:extLst>
              <a:ext uri="{FF2B5EF4-FFF2-40B4-BE49-F238E27FC236}">
                <a16:creationId xmlns:a16="http://schemas.microsoft.com/office/drawing/2014/main" id="{BC31B803-5F1A-B86C-D135-D7DE55D39AD7}"/>
              </a:ext>
            </a:extLst>
          </p:cNvPr>
          <p:cNvSpPr>
            <a:spLocks noGrp="1"/>
          </p:cNvSpPr>
          <p:nvPr>
            <p:ph type="sldNum" sz="quarter" idx="5"/>
          </p:nvPr>
        </p:nvSpPr>
        <p:spPr/>
        <p:txBody>
          <a:bodyPr/>
          <a:lstStyle/>
          <a:p>
            <a:fld id="{BD154338-A073-4661-BF20-52EA06646E26}" type="slidenum">
              <a:rPr lang="en-US" smtClean="0"/>
              <a:pPr/>
              <a:t>37</a:t>
            </a:fld>
            <a:endParaRPr lang="en-US"/>
          </a:p>
        </p:txBody>
      </p:sp>
    </p:spTree>
    <p:extLst>
      <p:ext uri="{BB962C8B-B14F-4D97-AF65-F5344CB8AC3E}">
        <p14:creationId xmlns:p14="http://schemas.microsoft.com/office/powerpoint/2010/main" val="36808544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Let's go through the evaluation metrics available in Azure AI Foundry. These metrics are essential for ensuring the quality, safety, and effectiveness of your AI models. Within Azure AI Foundry, the evaluation process is divided into three key dimensions: Quality, Risk &amp; Safety, and Custom Evaluators.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Starting with </a:t>
            </a:r>
            <a:r>
              <a:rPr lang="en-GB" sz="1200" b="1" kern="1200">
                <a:solidFill>
                  <a:schemeClr val="tx1"/>
                </a:solidFill>
                <a:effectLst/>
                <a:latin typeface="Segoe Sans Text" pitchFamily="2" charset="0"/>
                <a:ea typeface="+mn-ea"/>
                <a:cs typeface="+mn-cs"/>
              </a:rPr>
              <a:t>Quality</a:t>
            </a:r>
            <a:r>
              <a:rPr lang="en-GB" sz="1200" kern="1200">
                <a:solidFill>
                  <a:schemeClr val="tx1"/>
                </a:solidFill>
                <a:effectLst/>
                <a:latin typeface="Segoe Sans Text" pitchFamily="2" charset="0"/>
                <a:ea typeface="+mn-ea"/>
                <a:cs typeface="+mn-cs"/>
              </a:rPr>
              <a:t>, we have several AI-assisted metrics:</a:t>
            </a:r>
          </a:p>
          <a:p>
            <a:pPr lvl="0"/>
            <a:r>
              <a:rPr lang="en-GB" sz="1200" b="1" kern="1200" err="1">
                <a:solidFill>
                  <a:schemeClr val="tx1"/>
                </a:solidFill>
                <a:effectLst/>
                <a:latin typeface="Segoe Sans Text" pitchFamily="2" charset="0"/>
                <a:ea typeface="+mn-ea"/>
                <a:cs typeface="+mn-cs"/>
              </a:rPr>
              <a:t>Groundedness</a:t>
            </a:r>
            <a:r>
              <a:rPr lang="en-GB" sz="1200" kern="1200">
                <a:solidFill>
                  <a:schemeClr val="tx1"/>
                </a:solidFill>
                <a:effectLst/>
                <a:latin typeface="Segoe Sans Text" pitchFamily="2" charset="0"/>
                <a:ea typeface="+mn-ea"/>
                <a:cs typeface="+mn-cs"/>
              </a:rPr>
              <a:t>:</a:t>
            </a:r>
          </a:p>
          <a:p>
            <a:pPr lvl="0"/>
            <a:r>
              <a:rPr lang="en-GB" sz="1200" b="1" kern="1200">
                <a:solidFill>
                  <a:schemeClr val="tx1"/>
                </a:solidFill>
                <a:effectLst/>
                <a:latin typeface="Segoe Sans Text" pitchFamily="2" charset="0"/>
                <a:ea typeface="+mn-ea"/>
                <a:cs typeface="+mn-cs"/>
              </a:rPr>
              <a:t>Relevance</a:t>
            </a:r>
            <a:r>
              <a:rPr lang="en-GB" sz="1200" kern="1200">
                <a:solidFill>
                  <a:schemeClr val="tx1"/>
                </a:solidFill>
                <a:effectLst/>
                <a:latin typeface="Segoe Sans Text" pitchFamily="2" charset="0"/>
                <a:ea typeface="+mn-ea"/>
                <a:cs typeface="+mn-cs"/>
              </a:rPr>
              <a:t>: </a:t>
            </a:r>
          </a:p>
          <a:p>
            <a:pPr lvl="0"/>
            <a:r>
              <a:rPr lang="en-GB" sz="1200" b="1" kern="1200">
                <a:solidFill>
                  <a:schemeClr val="tx1"/>
                </a:solidFill>
                <a:effectLst/>
                <a:latin typeface="Segoe Sans Text" pitchFamily="2" charset="0"/>
                <a:ea typeface="+mn-ea"/>
                <a:cs typeface="+mn-cs"/>
              </a:rPr>
              <a:t>Coherence</a:t>
            </a:r>
            <a:r>
              <a:rPr lang="en-GB" sz="1200" kern="1200">
                <a:solidFill>
                  <a:schemeClr val="tx1"/>
                </a:solidFill>
                <a:effectLst/>
                <a:latin typeface="Segoe Sans Text" pitchFamily="2" charset="0"/>
                <a:ea typeface="+mn-ea"/>
                <a:cs typeface="+mn-cs"/>
              </a:rPr>
              <a:t>:</a:t>
            </a:r>
          </a:p>
          <a:p>
            <a:pPr lvl="0"/>
            <a:r>
              <a:rPr lang="en-GB" sz="1200" b="1" kern="1200">
                <a:solidFill>
                  <a:schemeClr val="tx1"/>
                </a:solidFill>
                <a:effectLst/>
                <a:latin typeface="Segoe Sans Text" pitchFamily="2" charset="0"/>
                <a:ea typeface="+mn-ea"/>
                <a:cs typeface="+mn-cs"/>
              </a:rPr>
              <a:t>Fluency</a:t>
            </a:r>
            <a:r>
              <a:rPr lang="en-GB" sz="1200" kern="1200">
                <a:solidFill>
                  <a:schemeClr val="tx1"/>
                </a:solidFill>
                <a:effectLst/>
                <a:latin typeface="Segoe Sans Text" pitchFamily="2" charset="0"/>
                <a:ea typeface="+mn-ea"/>
                <a:cs typeface="+mn-cs"/>
              </a:rPr>
              <a:t>: </a:t>
            </a:r>
          </a:p>
          <a:p>
            <a:pPr lvl="0"/>
            <a:r>
              <a:rPr lang="en-GB" sz="1200" b="1" kern="1200">
                <a:solidFill>
                  <a:schemeClr val="tx1"/>
                </a:solidFill>
                <a:effectLst/>
                <a:latin typeface="Segoe Sans Text" pitchFamily="2" charset="0"/>
                <a:ea typeface="+mn-ea"/>
                <a:cs typeface="+mn-cs"/>
              </a:rPr>
              <a:t>Similarity Metrics</a:t>
            </a:r>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Next, we have </a:t>
            </a:r>
            <a:r>
              <a:rPr lang="en-GB" sz="1200" b="1" kern="1200">
                <a:solidFill>
                  <a:schemeClr val="tx1"/>
                </a:solidFill>
                <a:effectLst/>
                <a:latin typeface="Segoe Sans Text" pitchFamily="2" charset="0"/>
                <a:ea typeface="+mn-ea"/>
                <a:cs typeface="+mn-cs"/>
              </a:rPr>
              <a:t>Risk &amp; Safety</a:t>
            </a:r>
            <a:r>
              <a:rPr lang="en-GB" sz="1200" kern="1200">
                <a:solidFill>
                  <a:schemeClr val="tx1"/>
                </a:solidFill>
                <a:effectLst/>
                <a:latin typeface="Segoe Sans Text" pitchFamily="2" charset="0"/>
                <a:ea typeface="+mn-ea"/>
                <a:cs typeface="+mn-cs"/>
              </a:rPr>
              <a:t> metrics, which are crucial for evaluating potential risks associated with AI-generated content:</a:t>
            </a:r>
          </a:p>
          <a:p>
            <a:pPr lvl="0"/>
            <a:r>
              <a:rPr lang="en-GB" sz="1200" b="1" kern="1200">
                <a:solidFill>
                  <a:schemeClr val="tx1"/>
                </a:solidFill>
                <a:effectLst/>
                <a:latin typeface="Segoe Sans Text" pitchFamily="2" charset="0"/>
                <a:ea typeface="+mn-ea"/>
                <a:cs typeface="+mn-cs"/>
              </a:rPr>
              <a:t>Hate and Unfairness</a:t>
            </a:r>
            <a:endParaRPr lang="en-GB" sz="1200" kern="1200">
              <a:solidFill>
                <a:schemeClr val="tx1"/>
              </a:solidFill>
              <a:effectLst/>
              <a:latin typeface="Segoe Sans Text" pitchFamily="2" charset="0"/>
              <a:ea typeface="+mn-ea"/>
              <a:cs typeface="+mn-cs"/>
            </a:endParaRPr>
          </a:p>
          <a:p>
            <a:pPr lvl="0"/>
            <a:r>
              <a:rPr lang="en-GB" sz="1200" b="1" kern="1200">
                <a:solidFill>
                  <a:schemeClr val="tx1"/>
                </a:solidFill>
                <a:effectLst/>
                <a:latin typeface="Segoe Sans Text" pitchFamily="2" charset="0"/>
                <a:ea typeface="+mn-ea"/>
                <a:cs typeface="+mn-cs"/>
              </a:rPr>
              <a:t>Sexual, Violence, and Self-Harm</a:t>
            </a:r>
            <a:r>
              <a:rPr lang="en-GB" sz="1200" kern="1200">
                <a:solidFill>
                  <a:schemeClr val="tx1"/>
                </a:solidFill>
                <a:effectLst/>
                <a:latin typeface="Segoe Sans Text" pitchFamily="2" charset="0"/>
                <a:ea typeface="+mn-ea"/>
                <a:cs typeface="+mn-cs"/>
              </a:rPr>
              <a:t>: </a:t>
            </a:r>
          </a:p>
          <a:p>
            <a:pPr lvl="0"/>
            <a:r>
              <a:rPr lang="en-GB" sz="1200" b="1" kern="1200">
                <a:solidFill>
                  <a:schemeClr val="tx1"/>
                </a:solidFill>
                <a:effectLst/>
                <a:latin typeface="Segoe Sans Text" pitchFamily="2" charset="0"/>
                <a:ea typeface="+mn-ea"/>
                <a:cs typeface="+mn-cs"/>
              </a:rPr>
              <a:t>Protected Materials</a:t>
            </a:r>
            <a:endParaRPr lang="en-GB" sz="1200" kern="1200">
              <a:solidFill>
                <a:schemeClr val="tx1"/>
              </a:solidFill>
              <a:effectLst/>
              <a:latin typeface="Segoe Sans Text" pitchFamily="2" charset="0"/>
              <a:ea typeface="+mn-ea"/>
              <a:cs typeface="+mn-cs"/>
            </a:endParaRPr>
          </a:p>
          <a:p>
            <a:pPr lvl="0"/>
            <a:r>
              <a:rPr lang="en-GB" sz="1200" b="1" kern="1200">
                <a:solidFill>
                  <a:schemeClr val="tx1"/>
                </a:solidFill>
                <a:effectLst/>
                <a:latin typeface="Segoe Sans Text" pitchFamily="2" charset="0"/>
                <a:ea typeface="+mn-ea"/>
                <a:cs typeface="+mn-cs"/>
              </a:rPr>
              <a:t>Jailbreak</a:t>
            </a:r>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Lastly, we have </a:t>
            </a:r>
            <a:r>
              <a:rPr lang="en-GB" sz="1200" b="1" kern="1200">
                <a:solidFill>
                  <a:schemeClr val="tx1"/>
                </a:solidFill>
                <a:effectLst/>
                <a:latin typeface="Segoe Sans Text" pitchFamily="2" charset="0"/>
                <a:ea typeface="+mn-ea"/>
                <a:cs typeface="+mn-cs"/>
              </a:rPr>
              <a:t>Custom Evaluators</a:t>
            </a:r>
            <a:r>
              <a:rPr lang="en-GB" sz="1200" kern="1200">
                <a:solidFill>
                  <a:schemeClr val="tx1"/>
                </a:solidFill>
                <a:effectLst/>
                <a:latin typeface="Segoe Sans Text" pitchFamily="2" charset="0"/>
                <a:ea typeface="+mn-ea"/>
                <a:cs typeface="+mn-cs"/>
              </a:rPr>
              <a:t>. These allow you to design tailored evaluation metrics to meet specific needs and goals, providing flexibility and precision in assessing unique aspects of AI-generated content. </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The Azure AI Evaluation SDK can be leveraged to build your own metrics or use synthetic data simulators.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Evaluations can indeed be a bit confusing, especially if you're coming from a traditional DevOps background. But think of them as another type of test specific to AI applications that we can add to our pipelines.</a:t>
            </a:r>
          </a:p>
          <a:p>
            <a:r>
              <a:rPr lang="en-GB" sz="1200" b="1" kern="1200">
                <a:solidFill>
                  <a:schemeClr val="tx1"/>
                </a:solidFill>
                <a:effectLst/>
                <a:latin typeface="Segoe Sans Text" pitchFamily="2" charset="0"/>
                <a:ea typeface="+mn-ea"/>
                <a:cs typeface="+mn-cs"/>
              </a:rPr>
              <a:t> </a:t>
            </a:r>
            <a:endParaRPr lang="en-GB" sz="1200" kern="1200">
              <a:solidFill>
                <a:schemeClr val="tx1"/>
              </a:solidFill>
              <a:effectLst/>
              <a:latin typeface="Segoe Sans Text" pitchFamily="2"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154338-A073-4661-BF20-52EA06646E26}"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7163805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A1F3D-6087-A635-FC2C-FA8767DD3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7DCFD-9537-E7A1-D0C7-38282B9DC2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736EC6-3715-A081-CCAD-806A980BAA6E}"/>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I think this flow will clarify most of the questions in your mind. Let's walk through the pre-production evaluation logical flow step by step. </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Step 1: Select Evaluation Target</a:t>
            </a: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First, you need to choose the models, datasets, or application endpoints we want to evaluate in a pre-production environment. </a:t>
            </a:r>
            <a:br>
              <a:rPr lang="en-GB" sz="1200"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Step 2: Prepare Test Data</a:t>
            </a: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In this step, you prepare the test data. This involves bringing data customized to our use case or generating synthesized data using tools like the Azure AI Simulation tool. </a:t>
            </a:r>
            <a:br>
              <a:rPr lang="en-GB" sz="1200"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Step 3: Identify Evaluators</a:t>
            </a: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In this step, you select the evaluators that best suit your use case. This includes quality and performance evaluators, safety and risk evaluators, or custom evaluators to measure different aspects of the AI model's performance.</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Step 4: Run Evaluation</a:t>
            </a: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Once you have your evaluators in place, you run the evaluations. This can be done locally or remotely in the cloud, depending on your setup and requirements. Running evaluations helps you simulate real-world scenarios and gather data on how the model performs.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Step 5: </a:t>
            </a:r>
            <a:r>
              <a:rPr lang="en-GB" sz="1200" b="1" kern="1200" err="1">
                <a:solidFill>
                  <a:schemeClr val="tx1"/>
                </a:solidFill>
                <a:effectLst/>
                <a:latin typeface="Segoe Sans Text" pitchFamily="2" charset="0"/>
                <a:ea typeface="+mn-ea"/>
                <a:cs typeface="+mn-cs"/>
              </a:rPr>
              <a:t>Analyze</a:t>
            </a:r>
            <a:r>
              <a:rPr lang="en-GB" sz="1200" b="1" kern="1200">
                <a:solidFill>
                  <a:schemeClr val="tx1"/>
                </a:solidFill>
                <a:effectLst/>
                <a:latin typeface="Segoe Sans Text" pitchFamily="2" charset="0"/>
                <a:ea typeface="+mn-ea"/>
                <a:cs typeface="+mn-cs"/>
              </a:rPr>
              <a:t> Results</a:t>
            </a: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After running the evaluations, you need to </a:t>
            </a:r>
            <a:r>
              <a:rPr lang="en-GB" sz="1200" kern="1200" err="1">
                <a:solidFill>
                  <a:schemeClr val="tx1"/>
                </a:solidFill>
                <a:effectLst/>
                <a:latin typeface="Segoe Sans Text" pitchFamily="2" charset="0"/>
                <a:ea typeface="+mn-ea"/>
                <a:cs typeface="+mn-cs"/>
              </a:rPr>
              <a:t>analyze</a:t>
            </a:r>
            <a:r>
              <a:rPr lang="en-GB" sz="1200" kern="1200">
                <a:solidFill>
                  <a:schemeClr val="tx1"/>
                </a:solidFill>
                <a:effectLst/>
                <a:latin typeface="Segoe Sans Text" pitchFamily="2" charset="0"/>
                <a:ea typeface="+mn-ea"/>
                <a:cs typeface="+mn-cs"/>
              </a:rPr>
              <a:t> the results to find out the strengths and weaknesses of the chosen model and identify areas for improvement.</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Step 6: Make Revisions</a:t>
            </a: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Based on the analysis, you could focus on selecting different model or changing model parameters or prompt engineering or selecting different evaluators or updating the test data and so on…. </a:t>
            </a: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By following this logical flow, you can systematically evaluate your GENAI solution and make informed decisions about their readiness for deployment.</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Now that we've covered the logical flow, lets look into the practical aspects of evaluations in AI Foundry.</a:t>
            </a:r>
          </a:p>
          <a:p>
            <a:r>
              <a:rPr lang="en-GB" sz="1200" b="1" kern="1200">
                <a:solidFill>
                  <a:schemeClr val="tx1"/>
                </a:solidFill>
                <a:effectLst/>
                <a:latin typeface="Segoe Sans Text" pitchFamily="2" charset="0"/>
                <a:ea typeface="+mn-ea"/>
                <a:cs typeface="+mn-cs"/>
              </a:rPr>
              <a:t> </a:t>
            </a:r>
            <a:endParaRPr lang="en-GB" sz="1200" kern="1200">
              <a:solidFill>
                <a:schemeClr val="tx1"/>
              </a:solidFill>
              <a:effectLst/>
              <a:latin typeface="Segoe Sans Text" pitchFamily="2" charset="0"/>
              <a:ea typeface="+mn-ea"/>
              <a:cs typeface="+mn-cs"/>
            </a:endParaRPr>
          </a:p>
          <a:p>
            <a:pPr marL="0" marR="0">
              <a:lnSpc>
                <a:spcPct val="116000"/>
              </a:lnSpc>
              <a:spcBef>
                <a:spcPts val="0"/>
              </a:spcBef>
              <a:spcAft>
                <a:spcPts val="1200"/>
              </a:spcAft>
            </a:pPr>
            <a:endParaRPr lang="en-US"/>
          </a:p>
        </p:txBody>
      </p:sp>
      <p:sp>
        <p:nvSpPr>
          <p:cNvPr id="4" name="Slide Number Placeholder 3">
            <a:extLst>
              <a:ext uri="{FF2B5EF4-FFF2-40B4-BE49-F238E27FC236}">
                <a16:creationId xmlns:a16="http://schemas.microsoft.com/office/drawing/2014/main" id="{A5F3C8DD-512F-DE7F-E0B4-9464E378FF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88381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0C181-4D5A-A08A-994D-F20DC2A4A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10E55-FB4D-94BC-7209-B49BA9E5B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B7973-22A5-92DD-F8A5-2CD487B0A42C}"/>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 Lets look at both automated and manual evaluation processes.</a:t>
            </a:r>
          </a:p>
          <a:p>
            <a:r>
              <a:rPr lang="en-GB" sz="1200" kern="1200">
                <a:solidFill>
                  <a:schemeClr val="tx1"/>
                </a:solidFill>
                <a:effectLst/>
                <a:latin typeface="Segoe Sans Text" pitchFamily="2" charset="0"/>
                <a:ea typeface="+mn-ea"/>
                <a:cs typeface="+mn-cs"/>
              </a:rPr>
              <a:t>On the left side of the slide, you can see the automated evaluation. Here, you input the basic information such as the evaluation name, description, and the model you want to test. You can also configure specific parameters like the maximum response length and temperature. This setup allows you to use pre-defined datasets or generate new ones by using LLMs. Additionally, you can choose specific criteria for evaluation, such as safety metrics or AI quality.</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On the right side, we have the manual evaluation setup. You can set up the assistant with a system message and configure the model parameters directly. The manual evaluation allows you to input test data and compare the expected response with the model's output. </a:t>
            </a:r>
          </a:p>
        </p:txBody>
      </p:sp>
      <p:sp>
        <p:nvSpPr>
          <p:cNvPr id="4" name="Header Placeholder 3">
            <a:extLst>
              <a:ext uri="{FF2B5EF4-FFF2-40B4-BE49-F238E27FC236}">
                <a16:creationId xmlns:a16="http://schemas.microsoft.com/office/drawing/2014/main" id="{2F6A42E1-8B5E-6344-3191-9F75CE784B48}"/>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FC56D661-9A02-65CD-1A01-C3DC82C6632C}"/>
              </a:ext>
            </a:extLst>
          </p:cNvPr>
          <p:cNvSpPr>
            <a:spLocks noGrp="1"/>
          </p:cNvSpPr>
          <p:nvPr>
            <p:ph type="ftr" sz="quarter" idx="4"/>
          </p:nvPr>
        </p:nvSpPr>
        <p:spPr/>
        <p:txBody>
          <a:bodyPr/>
          <a:lstStyle/>
          <a:p>
            <a:pPr marL="0" marR="0" lvl="0" indent="0" algn="l" defTabSz="93116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30CD9A1-8C25-F311-1CA9-7002DF5D2CE2}"/>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E2088-8A48-4824-A1CB-81E9FC54B89E}"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46D4535B-D70A-B97F-8FA7-67928A5DB2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51390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3D1DA-CEE4-CFCC-6094-967901804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DC148C-6B1F-76C3-CAD4-789C164A44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3DD93C-98E2-8945-16C2-D2D47763CC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On this slide, we see the different options available for automated model evaluation in AI Foundry. The first option is "Model and prompt," which allows you to evaluate the output generated by your selected model and a user-defined prompt. This is useful for testing specific interactions and responses.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 second option is "Dataset." Here, you can evaluate an existing output dataset, which is beneficial for assessing the model's performance across a broader range of data inputs and scenarios.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 third option is "Prompt flow." This allows you to select a flow you've created and evaluate its output. This is particularly useful for complex workflows where multiple prompts and responses are linked together.</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On the right side of the slide, you see the evaluation outputs. These include various metrics such as </a:t>
            </a:r>
            <a:r>
              <a:rPr lang="en-GB" sz="1200" kern="1200" err="1">
                <a:solidFill>
                  <a:schemeClr val="tx1"/>
                </a:solidFill>
                <a:effectLst/>
                <a:latin typeface="Segoe Sans Text" pitchFamily="2" charset="0"/>
                <a:ea typeface="+mn-ea"/>
                <a:cs typeface="+mn-cs"/>
              </a:rPr>
              <a:t>groundedness</a:t>
            </a:r>
            <a:r>
              <a:rPr lang="en-GB" sz="1200" kern="1200">
                <a:solidFill>
                  <a:schemeClr val="tx1"/>
                </a:solidFill>
                <a:effectLst/>
                <a:latin typeface="Segoe Sans Text" pitchFamily="2" charset="0"/>
                <a:ea typeface="+mn-ea"/>
                <a:cs typeface="+mn-cs"/>
              </a:rPr>
              <a:t>, coherence, fluency. This comprehensive evaluation helps you understand the model's strengths and areas for improvement.</a:t>
            </a:r>
            <a:br>
              <a:rPr lang="en-GB" sz="1200" kern="1200">
                <a:solidFill>
                  <a:schemeClr val="tx1"/>
                </a:solidFill>
                <a:effectLst/>
                <a:latin typeface="Segoe Sans Text" pitchFamily="2" charset="0"/>
                <a:ea typeface="+mn-ea"/>
                <a:cs typeface="+mn-cs"/>
              </a:rPr>
            </a:br>
            <a:endParaRPr lang="en-GB" sz="1200"/>
          </a:p>
        </p:txBody>
      </p:sp>
      <p:sp>
        <p:nvSpPr>
          <p:cNvPr id="4" name="Header Placeholder 3">
            <a:extLst>
              <a:ext uri="{FF2B5EF4-FFF2-40B4-BE49-F238E27FC236}">
                <a16:creationId xmlns:a16="http://schemas.microsoft.com/office/drawing/2014/main" id="{C74CB129-6787-E876-AC7E-C150D3C59FAE}"/>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108ABF85-8BFE-3015-776C-FD9CEF2460F8}"/>
              </a:ext>
            </a:extLst>
          </p:cNvPr>
          <p:cNvSpPr>
            <a:spLocks noGrp="1"/>
          </p:cNvSpPr>
          <p:nvPr>
            <p:ph type="ftr" sz="quarter" idx="4"/>
          </p:nvPr>
        </p:nvSpPr>
        <p:spPr/>
        <p:txBody>
          <a:bodyPr/>
          <a:lstStyle/>
          <a:p>
            <a:pPr marL="0" marR="0" lvl="0" indent="0" algn="l" defTabSz="93116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A0F42E23-9412-0F94-B8BA-6BE00227DC1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E2088-8A48-4824-A1CB-81E9FC54B89E}"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5C2D06ED-0666-2B9B-BC56-037BAED6FF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41512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Lets discuss the application evaluation process with Azure AI Foundry.</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As illustrated on this slide, the evaluation process begins with either an AI-assisted dataset generator or a customer’s test dataset. This step is crucial for generating synthetic data and simulating various user interactions, both typical and adversarial. Using Simulator, developers can create an end-to-end synthetic data generation capability to test their application's response to user queries in the absence of production data.</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Next, these test prompts are sent to your application endpoint. The application responds to these prompts, and these responses are then fed into the AI-assisted quality evaluator to assess the model's performance against predefined criteria like </a:t>
            </a:r>
            <a:r>
              <a:rPr lang="en-GB" sz="1200" kern="1200" err="1">
                <a:solidFill>
                  <a:schemeClr val="tx1"/>
                </a:solidFill>
                <a:effectLst/>
                <a:latin typeface="Segoe Sans Text" pitchFamily="2" charset="0"/>
                <a:ea typeface="+mn-ea"/>
                <a:cs typeface="+mn-cs"/>
              </a:rPr>
              <a:t>groundedness</a:t>
            </a:r>
            <a:r>
              <a:rPr lang="en-GB" sz="1200" kern="1200">
                <a:solidFill>
                  <a:schemeClr val="tx1"/>
                </a:solidFill>
                <a:effectLst/>
                <a:latin typeface="Segoe Sans Text" pitchFamily="2" charset="0"/>
                <a:ea typeface="+mn-ea"/>
                <a:cs typeface="+mn-cs"/>
              </a:rPr>
              <a:t>, relevance, fluency, coherence, and similarity.</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endParaRPr lang="en-GB"/>
          </a:p>
        </p:txBody>
      </p:sp>
      <p:sp>
        <p:nvSpPr>
          <p:cNvPr id="4" name="Slide Number Placeholder 3"/>
          <p:cNvSpPr>
            <a:spLocks noGrp="1"/>
          </p:cNvSpPr>
          <p:nvPr>
            <p:ph type="sldNum" sz="quarter" idx="5"/>
          </p:nvPr>
        </p:nvSpPr>
        <p:spPr/>
        <p:txBody>
          <a:bodyPr/>
          <a:lstStyle/>
          <a:p>
            <a:fld id="{BD154338-A073-4661-BF20-52EA06646E26}" type="slidenum">
              <a:rPr lang="en-US" smtClean="0"/>
              <a:pPr/>
              <a:t>42</a:t>
            </a:fld>
            <a:endParaRPr lang="en-US"/>
          </a:p>
        </p:txBody>
      </p:sp>
    </p:spTree>
    <p:extLst>
      <p:ext uri="{BB962C8B-B14F-4D97-AF65-F5344CB8AC3E}">
        <p14:creationId xmlns:p14="http://schemas.microsoft.com/office/powerpoint/2010/main" val="17107423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1EF30-A1F2-4CF5-B893-90C3727E8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FF124-6384-7CBC-28C0-6296C416B9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EFDE6-3BE4-FC5C-1F2E-BFCB74D5BCDB}"/>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Now, lets look into another feature which is “Azure AI Inference SDK”, currently in preview. This is really cool because it is designed to further enhance both the evaluation and deployment processes of your AI models.</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Firstly, it offers </a:t>
            </a:r>
            <a:r>
              <a:rPr lang="en-GB" sz="1200" b="1" kern="1200">
                <a:solidFill>
                  <a:schemeClr val="tx1"/>
                </a:solidFill>
                <a:effectLst/>
                <a:latin typeface="Segoe Sans Text" pitchFamily="2" charset="0"/>
                <a:ea typeface="+mn-ea"/>
                <a:cs typeface="+mn-cs"/>
              </a:rPr>
              <a:t>Multi Model Support</a:t>
            </a:r>
            <a:r>
              <a:rPr lang="en-GB" sz="1200" kern="1200">
                <a:solidFill>
                  <a:schemeClr val="tx1"/>
                </a:solidFill>
                <a:effectLst/>
                <a:latin typeface="Segoe Sans Text" pitchFamily="2" charset="0"/>
                <a:ea typeface="+mn-ea"/>
                <a:cs typeface="+mn-cs"/>
              </a:rPr>
              <a:t>, allowing you to work with different AI models seamlessly. This flexibility is crucial for testing and deploying multiple models within the same framework, ensuring you can switch or compare models without significant overhead.</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Next, the SDK includes </a:t>
            </a:r>
            <a:r>
              <a:rPr lang="en-GB" sz="1200" b="1" kern="1200">
                <a:solidFill>
                  <a:schemeClr val="tx1"/>
                </a:solidFill>
                <a:effectLst/>
                <a:latin typeface="Segoe Sans Text" pitchFamily="2" charset="0"/>
                <a:ea typeface="+mn-ea"/>
                <a:cs typeface="+mn-cs"/>
              </a:rPr>
              <a:t>Tracing</a:t>
            </a:r>
            <a:r>
              <a:rPr lang="en-GB" sz="1200" kern="1200">
                <a:solidFill>
                  <a:schemeClr val="tx1"/>
                </a:solidFill>
                <a:effectLst/>
                <a:latin typeface="Segoe Sans Text" pitchFamily="2" charset="0"/>
                <a:ea typeface="+mn-ea"/>
                <a:cs typeface="+mn-cs"/>
              </a:rPr>
              <a:t> capabilities. This feature helps you track and log the performance and </a:t>
            </a:r>
            <a:r>
              <a:rPr lang="en-GB" sz="1200" kern="1200" err="1">
                <a:solidFill>
                  <a:schemeClr val="tx1"/>
                </a:solidFill>
                <a:effectLst/>
                <a:latin typeface="Segoe Sans Text" pitchFamily="2" charset="0"/>
                <a:ea typeface="+mn-ea"/>
                <a:cs typeface="+mn-cs"/>
              </a:rPr>
              <a:t>behavior</a:t>
            </a:r>
            <a:r>
              <a:rPr lang="en-GB" sz="1200" kern="1200">
                <a:solidFill>
                  <a:schemeClr val="tx1"/>
                </a:solidFill>
                <a:effectLst/>
                <a:latin typeface="Segoe Sans Text" pitchFamily="2" charset="0"/>
                <a:ea typeface="+mn-ea"/>
                <a:cs typeface="+mn-cs"/>
              </a:rPr>
              <a:t> of your models in real-time. Tracing is incredibly valuable for debugging and optimizing your AI applications.</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Also </a:t>
            </a:r>
            <a:r>
              <a:rPr lang="en-GB" sz="1200" b="1" kern="1200">
                <a:solidFill>
                  <a:schemeClr val="tx1"/>
                </a:solidFill>
                <a:effectLst/>
                <a:latin typeface="Segoe Sans Text" pitchFamily="2" charset="0"/>
                <a:ea typeface="+mn-ea"/>
                <a:cs typeface="+mn-cs"/>
              </a:rPr>
              <a:t>it is </a:t>
            </a:r>
            <a:r>
              <a:rPr lang="en-GB" sz="1200" b="1" kern="1200" err="1">
                <a:solidFill>
                  <a:schemeClr val="tx1"/>
                </a:solidFill>
                <a:effectLst/>
                <a:latin typeface="Segoe Sans Text" pitchFamily="2" charset="0"/>
                <a:ea typeface="+mn-ea"/>
                <a:cs typeface="+mn-cs"/>
              </a:rPr>
              <a:t>vailable</a:t>
            </a:r>
            <a:r>
              <a:rPr lang="en-GB" sz="1200" b="1" kern="1200">
                <a:solidFill>
                  <a:schemeClr val="tx1"/>
                </a:solidFill>
                <a:effectLst/>
                <a:latin typeface="Segoe Sans Text" pitchFamily="2" charset="0"/>
                <a:ea typeface="+mn-ea"/>
                <a:cs typeface="+mn-cs"/>
              </a:rPr>
              <a:t> in C#, Python, and JavaScript</a:t>
            </a:r>
            <a:r>
              <a:rPr lang="en-GB" sz="1200" kern="1200">
                <a:solidFill>
                  <a:schemeClr val="tx1"/>
                </a:solidFill>
                <a:effectLst/>
                <a:latin typeface="Segoe Sans Text" pitchFamily="2" charset="0"/>
                <a:ea typeface="+mn-ea"/>
                <a:cs typeface="+mn-cs"/>
              </a:rPr>
              <a:t>, making it accessible to a broad range of developers. </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Lastly, it is designed to </a:t>
            </a:r>
            <a:r>
              <a:rPr lang="en-GB" sz="1200" b="1" kern="1200">
                <a:solidFill>
                  <a:schemeClr val="tx1"/>
                </a:solidFill>
                <a:effectLst/>
                <a:latin typeface="Segoe Sans Text" pitchFamily="2" charset="0"/>
                <a:ea typeface="+mn-ea"/>
                <a:cs typeface="+mn-cs"/>
              </a:rPr>
              <a:t>Work with Multiple Orchestration</a:t>
            </a:r>
            <a:r>
              <a:rPr lang="en-GB" sz="1200" kern="1200">
                <a:solidFill>
                  <a:schemeClr val="tx1"/>
                </a:solidFill>
                <a:effectLst/>
                <a:latin typeface="Segoe Sans Text" pitchFamily="2" charset="0"/>
                <a:ea typeface="+mn-ea"/>
                <a:cs typeface="+mn-cs"/>
              </a:rPr>
              <a:t> systems. This means you can deploy and manage your AI models across various orchestration platforms. </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 </a:t>
            </a:r>
          </a:p>
          <a:p>
            <a:pPr algn="l"/>
            <a:endParaRPr lang="en-GB" b="0" i="0">
              <a:solidFill>
                <a:srgbClr val="161616"/>
              </a:solidFill>
              <a:effectLst/>
              <a:latin typeface="Segoe Sans Text" pitchFamily="2" charset="0"/>
            </a:endParaRPr>
          </a:p>
        </p:txBody>
      </p:sp>
      <p:sp>
        <p:nvSpPr>
          <p:cNvPr id="4" name="Slide Number Placeholder 3">
            <a:extLst>
              <a:ext uri="{FF2B5EF4-FFF2-40B4-BE49-F238E27FC236}">
                <a16:creationId xmlns:a16="http://schemas.microsoft.com/office/drawing/2014/main" id="{F1AD0E41-1F67-3D70-EDF9-ADD97CB9AA6E}"/>
              </a:ext>
            </a:extLst>
          </p:cNvPr>
          <p:cNvSpPr>
            <a:spLocks noGrp="1"/>
          </p:cNvSpPr>
          <p:nvPr>
            <p:ph type="sldNum" sz="quarter" idx="5"/>
          </p:nvPr>
        </p:nvSpPr>
        <p:spPr/>
        <p:txBody>
          <a:bodyPr/>
          <a:lstStyle/>
          <a:p>
            <a:fld id="{BD154338-A073-4661-BF20-52EA06646E26}" type="slidenum">
              <a:rPr lang="en-US" smtClean="0"/>
              <a:pPr/>
              <a:t>43</a:t>
            </a:fld>
            <a:endParaRPr lang="en-US"/>
          </a:p>
        </p:txBody>
      </p:sp>
    </p:spTree>
    <p:extLst>
      <p:ext uri="{BB962C8B-B14F-4D97-AF65-F5344CB8AC3E}">
        <p14:creationId xmlns:p14="http://schemas.microsoft.com/office/powerpoint/2010/main" val="5433387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38512-2F7F-1531-699D-1D04DE2AF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FBE88-20B7-39ED-7AEB-4AED1625E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CFF77C-749B-5A6C-6365-32450C496F69}"/>
              </a:ext>
            </a:extLst>
          </p:cNvPr>
          <p:cNvSpPr>
            <a:spLocks noGrp="1"/>
          </p:cNvSpPr>
          <p:nvPr>
            <p:ph type="body" idx="1"/>
          </p:nvPr>
        </p:nvSpPr>
        <p:spPr/>
        <p:txBody>
          <a:bodyPr/>
          <a:lstStyle/>
          <a:p>
            <a:r>
              <a:rPr lang="it-IT" sz="1800">
                <a:hlinkClick r:id="rId3"/>
              </a:rPr>
              <a:t>Azure AI Model Inference API - Azure AI Foundry | Microsoft Learn</a:t>
            </a:r>
            <a:endParaRPr lang="it-IT" sz="1800"/>
          </a:p>
          <a:p>
            <a:endParaRPr lang="it-IT" sz="1800"/>
          </a:p>
          <a:p>
            <a:r>
              <a:rPr lang="en-US" sz="1800" b="0" i="0">
                <a:solidFill>
                  <a:srgbClr val="161616"/>
                </a:solidFill>
                <a:effectLst/>
                <a:latin typeface="Segoe Sans Text" pitchFamily="2" charset="0"/>
              </a:rPr>
              <a:t>Having a uniform way to consume foundational models allow developers to realize all those benefits without sacrificing portability or changing the underlying code.</a:t>
            </a:r>
          </a:p>
          <a:p>
            <a:endParaRPr lang="en-US" sz="1800" b="0" i="0">
              <a:solidFill>
                <a:srgbClr val="161616"/>
              </a:solidFill>
              <a:effectLst/>
              <a:latin typeface="Segoe Sans Text"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a:t>Easily switch models with inference API without changing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a:t>PG- for GA date?</a:t>
            </a:r>
          </a:p>
        </p:txBody>
      </p:sp>
      <p:sp>
        <p:nvSpPr>
          <p:cNvPr id="4" name="Slide Number Placeholder 3">
            <a:extLst>
              <a:ext uri="{FF2B5EF4-FFF2-40B4-BE49-F238E27FC236}">
                <a16:creationId xmlns:a16="http://schemas.microsoft.com/office/drawing/2014/main" id="{3F8AD55F-7922-B784-3D20-3CE6358899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94352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5E9EF-6EDE-9C13-9BAF-3F1C153C4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6801F-F4C8-B615-F118-A225A7D0F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1D65D-75B0-28A5-B3F2-95A6ED3C00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And another great feature for developers to streamline the development process.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First, you can see the "</a:t>
            </a:r>
            <a:r>
              <a:rPr lang="en-GB" sz="1200" b="1" kern="1200">
                <a:solidFill>
                  <a:schemeClr val="tx1"/>
                </a:solidFill>
                <a:effectLst/>
                <a:latin typeface="Segoe Sans Text" pitchFamily="2" charset="0"/>
                <a:ea typeface="+mn-ea"/>
                <a:cs typeface="+mn-cs"/>
              </a:rPr>
              <a:t>VS Code container</a:t>
            </a:r>
            <a:r>
              <a:rPr lang="en-GB" sz="1200" kern="1200">
                <a:solidFill>
                  <a:schemeClr val="tx1"/>
                </a:solidFill>
                <a:effectLst/>
                <a:latin typeface="Segoe Sans Text" pitchFamily="2" charset="0"/>
                <a:ea typeface="+mn-ea"/>
                <a:cs typeface="+mn-cs"/>
              </a:rPr>
              <a:t>" option, which allows you to use a curated container running on a cloud compute instance. This instance is preconfigured with all the AI packages you'll need and is connected to your AI Foundry resources.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You can </a:t>
            </a:r>
            <a:r>
              <a:rPr lang="en-GB" sz="1200" b="1" kern="1200">
                <a:solidFill>
                  <a:schemeClr val="tx1"/>
                </a:solidFill>
                <a:effectLst/>
                <a:latin typeface="Segoe Sans Text" pitchFamily="2" charset="0"/>
                <a:ea typeface="+mn-ea"/>
                <a:cs typeface="+mn-cs"/>
              </a:rPr>
              <a:t>create new compute instance </a:t>
            </a:r>
            <a:r>
              <a:rPr lang="en-GB" sz="1200" kern="1200">
                <a:solidFill>
                  <a:schemeClr val="tx1"/>
                </a:solidFill>
                <a:effectLst/>
                <a:latin typeface="Segoe Sans Text" pitchFamily="2" charset="0"/>
                <a:ea typeface="+mn-ea"/>
                <a:cs typeface="+mn-cs"/>
              </a:rPr>
              <a:t>or select existing CI, then you can set up the VS Code container. This will configure the environment with all the necessary dependencies. Finally, you can launch VS Code directly from the AI Foundry interface, which will provide you with a seamless development environment to work on your AI projects.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 integration with VS Code really simplifies the process, enabling developers to focus more on coding and less on setup.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Segoe Sans Text" pitchFamily="2" charset="0"/>
              <a:ea typeface="+mn-ea"/>
              <a:cs typeface="+mn-cs"/>
            </a:endParaRPr>
          </a:p>
          <a:p>
            <a:endParaRPr lang="en-GB" sz="1800"/>
          </a:p>
          <a:p>
            <a:r>
              <a:rPr lang="en-US" sz="1800"/>
              <a:t>You can also find templates and tutorials to help you get started quickly.</a:t>
            </a:r>
          </a:p>
          <a:p>
            <a:endParaRPr lang="en-US" sz="1800"/>
          </a:p>
          <a:p>
            <a:endParaRPr lang="en-US" sz="1800"/>
          </a:p>
          <a:p>
            <a:endParaRPr lang="en-US" sz="1800"/>
          </a:p>
          <a:p>
            <a:endParaRPr lang="en-US" sz="1800"/>
          </a:p>
          <a:p>
            <a:endParaRPr lang="en-US" sz="1800"/>
          </a:p>
          <a:p>
            <a:endParaRPr lang="en-US" sz="1800"/>
          </a:p>
          <a:p>
            <a:endParaRPr lang="en-US" sz="1800"/>
          </a:p>
          <a:p>
            <a:endParaRPr lang="en-US" sz="1800"/>
          </a:p>
          <a:p>
            <a:endParaRPr lang="en-US" sz="1800"/>
          </a:p>
          <a:p>
            <a:endParaRPr lang="en-US" sz="1800"/>
          </a:p>
          <a:p>
            <a:endParaRPr lang="en-US" sz="1800"/>
          </a:p>
          <a:p>
            <a:endParaRPr lang="en-GB" sz="1800"/>
          </a:p>
        </p:txBody>
      </p:sp>
      <p:sp>
        <p:nvSpPr>
          <p:cNvPr id="4" name="Slide Number Placeholder 3">
            <a:extLst>
              <a:ext uri="{FF2B5EF4-FFF2-40B4-BE49-F238E27FC236}">
                <a16:creationId xmlns:a16="http://schemas.microsoft.com/office/drawing/2014/main" id="{B1303245-12FA-A79C-C3D5-71D3100C8C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12488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Another important feature in preview which enhances our model evaluation and fine-tuning processes….. which is a powerful feature for capturing conversation history from chat completion sessions. Once stored completions are enabled for an Azure OpenAI deployment, they start appearing in the Azure AI Foundry portal under the Stored Completions pane.</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This is particularly useful because stored completions allow you to create datasets from real interaction data. These datasets can be used to evaluate the model's performance across different tasks and dimensions. </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And distillation is another valuable process where you can turn your stored completions into a fine-tuning dataset. </a:t>
            </a: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Evaluating and fine-tuning models with stored completions can significantly ease your work. </a:t>
            </a:r>
          </a:p>
          <a:p>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let's move on to our next slide….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87962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5A1-CE1A-8BFB-3523-C2E56C258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43F1B-204A-B035-CC8B-501D84E3F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F2A02-D2EF-3148-7DE4-E088C453D8BA}"/>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Azure AI Content Safety is already integrated into Azure OpenAI and can be used natively in Prompt Flow or as a stand-alone service. This makes it easy to incorporate into your existing workflows without significant changes.</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This service is customizable and you can create different content filtering configurations and attach them to the model </a:t>
            </a:r>
            <a:r>
              <a:rPr lang="en-GB" sz="1200" kern="1200" err="1">
                <a:solidFill>
                  <a:schemeClr val="tx1"/>
                </a:solidFill>
                <a:effectLst/>
                <a:latin typeface="Segoe Sans Text" pitchFamily="2" charset="0"/>
                <a:ea typeface="+mn-ea"/>
                <a:cs typeface="+mn-cs"/>
              </a:rPr>
              <a:t>deployments.By</a:t>
            </a:r>
            <a:r>
              <a:rPr lang="en-GB" sz="1200" kern="1200">
                <a:solidFill>
                  <a:schemeClr val="tx1"/>
                </a:solidFill>
                <a:effectLst/>
                <a:latin typeface="Segoe Sans Text" pitchFamily="2" charset="0"/>
                <a:ea typeface="+mn-ea"/>
                <a:cs typeface="+mn-cs"/>
              </a:rPr>
              <a:t> this way, you have the flexibility using different content filters for different use cases.</a:t>
            </a:r>
          </a:p>
          <a:p>
            <a:r>
              <a:rPr lang="en-GB" sz="1200" kern="1200">
                <a:solidFill>
                  <a:schemeClr val="tx1"/>
                </a:solidFill>
                <a:effectLst/>
                <a:latin typeface="Segoe Sans Text" pitchFamily="2" charset="0"/>
                <a:ea typeface="+mn-ea"/>
                <a:cs typeface="+mn-cs"/>
              </a:rPr>
              <a:t> </a:t>
            </a: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Incorporating responsible AI into GenAI applications is crucial for maintaining trust and ensuring ethical use of AI technologies. </a:t>
            </a:r>
            <a:br>
              <a:rPr lang="en-GB" sz="1200" kern="1200">
                <a:solidFill>
                  <a:schemeClr val="tx1"/>
                </a:solidFill>
                <a:effectLst/>
                <a:latin typeface="Segoe Sans Text" pitchFamily="2" charset="0"/>
                <a:ea typeface="+mn-ea"/>
                <a:cs typeface="+mn-cs"/>
              </a:rPr>
            </a:br>
            <a:endParaRPr lang="en-GB" b="0" i="0">
              <a:solidFill>
                <a:srgbClr val="333333"/>
              </a:solidFill>
              <a:effectLst/>
              <a:latin typeface="Segoe Sans Text" pitchFamily="2" charset="0"/>
            </a:endParaRPr>
          </a:p>
        </p:txBody>
      </p:sp>
      <p:sp>
        <p:nvSpPr>
          <p:cNvPr id="4" name="Header Placeholder 3">
            <a:extLst>
              <a:ext uri="{FF2B5EF4-FFF2-40B4-BE49-F238E27FC236}">
                <a16:creationId xmlns:a16="http://schemas.microsoft.com/office/drawing/2014/main" id="{16416125-D2B2-568D-1792-B694DCF1ADF0}"/>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9DBD6AC-717E-3B84-F78E-67C9D7FDC91B}"/>
              </a:ext>
            </a:extLst>
          </p:cNvPr>
          <p:cNvSpPr>
            <a:spLocks noGrp="1"/>
          </p:cNvSpPr>
          <p:nvPr>
            <p:ph type="ftr" sz="quarter" idx="4"/>
          </p:nvPr>
        </p:nvSpPr>
        <p:spPr/>
        <p:txBody>
          <a:bodyPr/>
          <a:lstStyle/>
          <a:p>
            <a:pPr marL="0" marR="0" lvl="0" indent="0" algn="l" defTabSz="93116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B4895FB-88F6-E75F-5BD1-B8024DBC8F9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E2088-8A48-4824-A1CB-81E9FC54B89E}"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78D29AD2-76AB-58EA-A998-638031C682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48721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2483B-5FEC-FF8A-EA6D-06C9E2040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74E51-4E48-B332-FD96-37493A457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4D2A6-E2FA-EB6F-CFD0-2421C0B548F5}"/>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And AI gateway for production… In the second circle, building and augmenting stage, you need to think about other requirements which are not specific to one use case. So you need AI Hub Gateway providing a streamlined approach to managing AI services in production environments.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In the traditional model, organizations often face several limitations such as managing separate OpenAI services for each use case, dealing with master keys, handling multiple endpoints, and navigating decentralized governance. This can be complex and error-prone.</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 AI Hub Gateway addresses these challenges by providing a centralized and unified approach. One of the key features is the Central AI Gateway, which allows multiple use cases to be handled through a consistent hub. This simplifies the management and access to AI services.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Another important feature is </a:t>
            </a:r>
            <a:r>
              <a:rPr lang="en-GB" sz="1200" b="1" kern="1200">
                <a:solidFill>
                  <a:schemeClr val="tx1"/>
                </a:solidFill>
                <a:effectLst/>
                <a:latin typeface="Segoe Sans Text" pitchFamily="2" charset="0"/>
                <a:ea typeface="+mn-ea"/>
                <a:cs typeface="+mn-cs"/>
              </a:rPr>
              <a:t>the AI Routing Engine</a:t>
            </a:r>
            <a:r>
              <a:rPr lang="en-GB" sz="1200" kern="1200">
                <a:solidFill>
                  <a:schemeClr val="tx1"/>
                </a:solidFill>
                <a:effectLst/>
                <a:latin typeface="Segoe Sans Text" pitchFamily="2" charset="0"/>
                <a:ea typeface="+mn-ea"/>
                <a:cs typeface="+mn-cs"/>
              </a:rPr>
              <a:t>, which dynamically routes requests based on performance metrics, model requirements, and priorities. This ensures optimal resource utilization and enhances the overall efficiency of AI operations.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Additionally, the AI Hub Gateway offers robust </a:t>
            </a:r>
            <a:r>
              <a:rPr lang="en-GB" sz="1200" b="1" kern="1200">
                <a:solidFill>
                  <a:schemeClr val="tx1"/>
                </a:solidFill>
                <a:effectLst/>
                <a:latin typeface="Segoe Sans Text" pitchFamily="2" charset="0"/>
                <a:ea typeface="+mn-ea"/>
                <a:cs typeface="+mn-cs"/>
              </a:rPr>
              <a:t>capacity management </a:t>
            </a:r>
            <a:r>
              <a:rPr lang="en-GB" sz="1200" kern="1200">
                <a:solidFill>
                  <a:schemeClr val="tx1"/>
                </a:solidFill>
                <a:effectLst/>
                <a:latin typeface="Segoe Sans Text" pitchFamily="2" charset="0"/>
                <a:ea typeface="+mn-ea"/>
                <a:cs typeface="+mn-cs"/>
              </a:rPr>
              <a:t>with flexible rate limiting to prevent overload and maintain stable performance. It also generates detailed </a:t>
            </a:r>
            <a:r>
              <a:rPr lang="en-GB" sz="1200" b="1" kern="1200">
                <a:solidFill>
                  <a:schemeClr val="tx1"/>
                </a:solidFill>
                <a:effectLst/>
                <a:latin typeface="Segoe Sans Text" pitchFamily="2" charset="0"/>
                <a:ea typeface="+mn-ea"/>
                <a:cs typeface="+mn-cs"/>
              </a:rPr>
              <a:t>usage metrics, which </a:t>
            </a:r>
            <a:r>
              <a:rPr lang="en-GB" sz="1200" kern="1200">
                <a:solidFill>
                  <a:schemeClr val="tx1"/>
                </a:solidFill>
                <a:effectLst/>
                <a:latin typeface="Segoe Sans Text" pitchFamily="2" charset="0"/>
                <a:ea typeface="+mn-ea"/>
                <a:cs typeface="+mn-cs"/>
              </a:rPr>
              <a:t>help in better resource and cost management.</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Security is also enhanced </a:t>
            </a:r>
            <a:r>
              <a:rPr lang="en-GB" sz="1200" b="1" kern="1200">
                <a:solidFill>
                  <a:schemeClr val="tx1"/>
                </a:solidFill>
                <a:effectLst/>
                <a:latin typeface="Segoe Sans Text" pitchFamily="2" charset="0"/>
                <a:ea typeface="+mn-ea"/>
                <a:cs typeface="+mn-cs"/>
              </a:rPr>
              <a:t>with granular access control</a:t>
            </a:r>
            <a:r>
              <a:rPr lang="en-GB" sz="1200" kern="1200">
                <a:solidFill>
                  <a:schemeClr val="tx1"/>
                </a:solidFill>
                <a:effectLst/>
                <a:latin typeface="Segoe Sans Text" pitchFamily="2" charset="0"/>
                <a:ea typeface="+mn-ea"/>
                <a:cs typeface="+mn-cs"/>
              </a:rPr>
              <a:t>, eliminating the need for master keys and replacing them with gateway-specific keys. </a:t>
            </a: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By adopting the AI Hub Gateway, organizations can significantly enhance their AI capabilities, streamline operations, and improve security and governance. </a:t>
            </a:r>
          </a:p>
          <a:p>
            <a:br>
              <a:rPr lang="en-GB" sz="1200" kern="1200">
                <a:solidFill>
                  <a:schemeClr val="tx1"/>
                </a:solidFill>
                <a:effectLst/>
                <a:latin typeface="Segoe Sans Text" pitchFamily="2" charset="0"/>
                <a:ea typeface="+mn-ea"/>
                <a:cs typeface="+mn-cs"/>
              </a:rPr>
            </a:br>
            <a:endParaRPr lang="en-GB"/>
          </a:p>
        </p:txBody>
      </p:sp>
      <p:sp>
        <p:nvSpPr>
          <p:cNvPr id="4" name="Slide Number Placeholder 3">
            <a:extLst>
              <a:ext uri="{FF2B5EF4-FFF2-40B4-BE49-F238E27FC236}">
                <a16:creationId xmlns:a16="http://schemas.microsoft.com/office/drawing/2014/main" id="{B319E933-CC66-E336-D9E7-1A9D534F2319}"/>
              </a:ext>
            </a:extLst>
          </p:cNvPr>
          <p:cNvSpPr>
            <a:spLocks noGrp="1"/>
          </p:cNvSpPr>
          <p:nvPr>
            <p:ph type="sldNum" sz="quarter" idx="5"/>
          </p:nvPr>
        </p:nvSpPr>
        <p:spPr/>
        <p:txBody>
          <a:bodyPr/>
          <a:lstStyle/>
          <a:p>
            <a:fld id="{BD154338-A073-4661-BF20-52EA06646E26}" type="slidenum">
              <a:rPr lang="en-US" smtClean="0"/>
              <a:pPr/>
              <a:t>48</a:t>
            </a:fld>
            <a:endParaRPr lang="en-US"/>
          </a:p>
        </p:txBody>
      </p:sp>
    </p:spTree>
    <p:extLst>
      <p:ext uri="{BB962C8B-B14F-4D97-AF65-F5344CB8AC3E}">
        <p14:creationId xmlns:p14="http://schemas.microsoft.com/office/powerpoint/2010/main" val="39411851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10 BREAK</a:t>
            </a:r>
          </a:p>
          <a:p>
            <a:endParaRPr lang="en-GB"/>
          </a:p>
          <a:p>
            <a:endParaRPr lang="en-GB"/>
          </a:p>
          <a:p>
            <a:r>
              <a:rPr lang="en-GB"/>
              <a:t>Now Paulo will explain the conceptual architecture and high level architecture at this stage and demonstrate important capabilities in this  “building and augmenting” stage.</a:t>
            </a:r>
          </a:p>
        </p:txBody>
      </p:sp>
      <p:sp>
        <p:nvSpPr>
          <p:cNvPr id="4" name="Slide Number Placeholder 3"/>
          <p:cNvSpPr>
            <a:spLocks noGrp="1"/>
          </p:cNvSpPr>
          <p:nvPr>
            <p:ph type="sldNum" sz="quarter" idx="5"/>
          </p:nvPr>
        </p:nvSpPr>
        <p:spPr/>
        <p:txBody>
          <a:bodyPr/>
          <a:lstStyle/>
          <a:p>
            <a:fld id="{BD154338-A073-4661-BF20-52EA06646E26}" type="slidenum">
              <a:rPr lang="en-US" smtClean="0"/>
              <a:pPr/>
              <a:t>49</a:t>
            </a:fld>
            <a:endParaRPr lang="en-US"/>
          </a:p>
        </p:txBody>
      </p:sp>
    </p:spTree>
    <p:extLst>
      <p:ext uri="{BB962C8B-B14F-4D97-AF65-F5344CB8AC3E}">
        <p14:creationId xmlns:p14="http://schemas.microsoft.com/office/powerpoint/2010/main" val="16858898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BB293-FBE2-2025-967D-8DC8E72E6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F1BA3-1D1D-7190-567B-FAF61198D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756DB-DCD3-2E8D-8AE6-5A0BA0C8F642}"/>
              </a:ext>
            </a:extLst>
          </p:cNvPr>
          <p:cNvSpPr>
            <a:spLocks noGrp="1"/>
          </p:cNvSpPr>
          <p:nvPr>
            <p:ph type="body" idx="1"/>
          </p:nvPr>
        </p:nvSpPr>
        <p:spPr/>
        <p:txBody>
          <a:bodyPr/>
          <a:lstStyle/>
          <a:p>
            <a:pPr marL="0" marR="0">
              <a:lnSpc>
                <a:spcPct val="116000"/>
              </a:lnSpc>
              <a:spcBef>
                <a:spcPts val="0"/>
              </a:spcBef>
              <a:spcAft>
                <a:spcPts val="1200"/>
              </a:spcAft>
            </a:pPr>
            <a:endParaRPr lang="en-GB" b="0" i="0">
              <a:solidFill>
                <a:srgbClr val="161616"/>
              </a:solidFill>
              <a:effectLst/>
              <a:latin typeface="Segoe UI" panose="020B0502040204020203" pitchFamily="34" charset="0"/>
            </a:endParaRPr>
          </a:p>
          <a:p>
            <a:pPr marL="0" marR="0">
              <a:lnSpc>
                <a:spcPct val="116000"/>
              </a:lnSpc>
              <a:spcBef>
                <a:spcPts val="0"/>
              </a:spcBef>
              <a:spcAft>
                <a:spcPts val="1200"/>
              </a:spcAft>
            </a:pPr>
            <a:endParaRPr lang="en-GB" b="0" i="0">
              <a:solidFill>
                <a:srgbClr val="161616"/>
              </a:solidFill>
              <a:effectLst/>
              <a:latin typeface="Segoe UI" panose="020B0502040204020203" pitchFamily="34" charset="0"/>
            </a:endParaRPr>
          </a:p>
          <a:p>
            <a:pPr marL="0" marR="0">
              <a:lnSpc>
                <a:spcPct val="116000"/>
              </a:lnSpc>
              <a:spcBef>
                <a:spcPts val="0"/>
              </a:spcBef>
              <a:spcAft>
                <a:spcPts val="1200"/>
              </a:spcAft>
            </a:pPr>
            <a:r>
              <a:rPr lang="en-GB" b="0" i="0">
                <a:solidFill>
                  <a:srgbClr val="161616"/>
                </a:solidFill>
                <a:effectLst/>
                <a:latin typeface="Segoe UI" panose="020B0502040204020203" pitchFamily="34" charset="0"/>
              </a:rPr>
              <a:t>Container app</a:t>
            </a:r>
          </a:p>
          <a:p>
            <a:pPr marL="0" marR="0">
              <a:lnSpc>
                <a:spcPct val="116000"/>
              </a:lnSpc>
              <a:spcBef>
                <a:spcPts val="0"/>
              </a:spcBef>
              <a:spcAft>
                <a:spcPts val="1200"/>
              </a:spcAft>
            </a:pPr>
            <a:r>
              <a:rPr lang="en-GB" b="0" i="0">
                <a:solidFill>
                  <a:srgbClr val="161616"/>
                </a:solidFill>
                <a:effectLst/>
                <a:latin typeface="Segoe UI" panose="020B0502040204020203" pitchFamily="34" charset="0"/>
              </a:rPr>
              <a:t>Front End</a:t>
            </a:r>
          </a:p>
          <a:p>
            <a:pPr marL="0" marR="0">
              <a:lnSpc>
                <a:spcPct val="116000"/>
              </a:lnSpc>
              <a:spcBef>
                <a:spcPts val="0"/>
              </a:spcBef>
              <a:spcAft>
                <a:spcPts val="1200"/>
              </a:spcAft>
            </a:pPr>
            <a:r>
              <a:rPr lang="en-GB" b="0" i="0">
                <a:solidFill>
                  <a:srgbClr val="161616"/>
                </a:solidFill>
                <a:effectLst/>
                <a:latin typeface="Segoe UI" panose="020B0502040204020203" pitchFamily="34" charset="0"/>
              </a:rPr>
              <a:t>Storage-&gt; cosmos</a:t>
            </a:r>
          </a:p>
          <a:p>
            <a:pPr marL="0" marR="0">
              <a:lnSpc>
                <a:spcPct val="116000"/>
              </a:lnSpc>
              <a:spcBef>
                <a:spcPts val="0"/>
              </a:spcBef>
              <a:spcAft>
                <a:spcPts val="1200"/>
              </a:spcAft>
            </a:pPr>
            <a:r>
              <a:rPr lang="en-GB" b="0" i="0">
                <a:solidFill>
                  <a:srgbClr val="161616"/>
                </a:solidFill>
                <a:effectLst/>
                <a:latin typeface="Segoe UI" panose="020B0502040204020203" pitchFamily="34" charset="0"/>
              </a:rPr>
              <a:t>Models: gpt40mini Standard, PTU</a:t>
            </a:r>
          </a:p>
          <a:p>
            <a:pPr marL="0" marR="0">
              <a:lnSpc>
                <a:spcPct val="116000"/>
              </a:lnSpc>
              <a:spcBef>
                <a:spcPts val="0"/>
              </a:spcBef>
              <a:spcAft>
                <a:spcPts val="1200"/>
              </a:spcAft>
            </a:pPr>
            <a:r>
              <a:rPr lang="en-GB" b="0" i="0">
                <a:solidFill>
                  <a:srgbClr val="161616"/>
                </a:solidFill>
                <a:effectLst/>
                <a:latin typeface="Segoe UI" panose="020B0502040204020203" pitchFamily="34" charset="0"/>
              </a:rPr>
              <a:t>Remove “deploy”</a:t>
            </a:r>
          </a:p>
          <a:p>
            <a:pPr marL="0" marR="0">
              <a:lnSpc>
                <a:spcPct val="116000"/>
              </a:lnSpc>
              <a:spcBef>
                <a:spcPts val="0"/>
              </a:spcBef>
              <a:spcAft>
                <a:spcPts val="1200"/>
              </a:spcAft>
            </a:pPr>
            <a:r>
              <a:rPr lang="en-GB" b="0" i="0" err="1">
                <a:solidFill>
                  <a:srgbClr val="161616"/>
                </a:solidFill>
                <a:effectLst/>
                <a:latin typeface="Segoe UI" panose="020B0502040204020203" pitchFamily="34" charset="0"/>
              </a:rPr>
              <a:t>Azd</a:t>
            </a:r>
            <a:r>
              <a:rPr lang="en-GB" b="0" i="0">
                <a:solidFill>
                  <a:srgbClr val="161616"/>
                </a:solidFill>
                <a:effectLst/>
                <a:latin typeface="Segoe UI" panose="020B0502040204020203" pitchFamily="34" charset="0"/>
              </a:rPr>
              <a:t> ? CD pipeline for dev env: </a:t>
            </a:r>
            <a:r>
              <a:rPr lang="en-GB" b="0" i="0" err="1">
                <a:solidFill>
                  <a:srgbClr val="161616"/>
                </a:solidFill>
                <a:effectLst/>
                <a:latin typeface="Segoe UI" panose="020B0502040204020203" pitchFamily="34" charset="0"/>
              </a:rPr>
              <a:t>Github</a:t>
            </a:r>
            <a:r>
              <a:rPr lang="en-GB" b="0" i="0">
                <a:solidFill>
                  <a:srgbClr val="161616"/>
                </a:solidFill>
                <a:effectLst/>
                <a:latin typeface="Segoe UI" panose="020B0502040204020203" pitchFamily="34" charset="0"/>
              </a:rPr>
              <a:t> actions/ado</a:t>
            </a:r>
          </a:p>
          <a:p>
            <a:pPr marL="0" marR="0">
              <a:lnSpc>
                <a:spcPct val="116000"/>
              </a:lnSpc>
              <a:spcBef>
                <a:spcPts val="0"/>
              </a:spcBef>
              <a:spcAft>
                <a:spcPts val="1200"/>
              </a:spcAft>
            </a:pPr>
            <a:endParaRPr lang="en-GB" b="0" i="0">
              <a:solidFill>
                <a:srgbClr val="161616"/>
              </a:solidFill>
              <a:effectLst/>
              <a:latin typeface="Segoe UI" panose="020B0502040204020203" pitchFamily="34" charset="0"/>
            </a:endParaRPr>
          </a:p>
          <a:p>
            <a:pPr marL="0" marR="0">
              <a:lnSpc>
                <a:spcPct val="116000"/>
              </a:lnSpc>
              <a:spcBef>
                <a:spcPts val="0"/>
              </a:spcBef>
              <a:spcAft>
                <a:spcPts val="1200"/>
              </a:spcAft>
            </a:pPr>
            <a:r>
              <a:rPr lang="en-GB" b="0" i="0">
                <a:solidFill>
                  <a:srgbClr val="161616"/>
                </a:solidFill>
                <a:effectLst/>
                <a:latin typeface="Segoe UI" panose="020B0502040204020203" pitchFamily="34" charset="0"/>
              </a:rPr>
              <a:t>An API management platform for back-end Azure OpenAI endpoint access. It provides monitoring and logging capabilities that aren't available natively in Azure OpenAI. API Management also provides monitoring, logging, and managed access to Azure OpenAI resources.</a:t>
            </a:r>
            <a:endParaRPr lang="en-US"/>
          </a:p>
        </p:txBody>
      </p:sp>
      <p:sp>
        <p:nvSpPr>
          <p:cNvPr id="4" name="Slide Number Placeholder 3">
            <a:extLst>
              <a:ext uri="{FF2B5EF4-FFF2-40B4-BE49-F238E27FC236}">
                <a16:creationId xmlns:a16="http://schemas.microsoft.com/office/drawing/2014/main" id="{9FD911BC-3637-1F94-FA89-D64F2BEA24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08859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7F37-200D-A1F1-7E49-60AE4E24279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7437F9-B1EA-EA5A-AE4C-F93D1AAEAA14}"/>
              </a:ext>
            </a:extLst>
          </p:cNvPr>
          <p:cNvSpPr>
            <a:spLocks noGrp="1"/>
          </p:cNvSpPr>
          <p:nvPr>
            <p:ph type="sldNum" sz="quarter" idx="10"/>
          </p:nvPr>
        </p:nvSpPr>
        <p:spPr/>
        <p:txBody>
          <a:bodyPr/>
          <a:lstStyle/>
          <a:p>
            <a:fld id="{F475C4C8-7DEA-455A-9336-A4C7DB3AE516}" type="slidenum">
              <a:rPr lang="en-US" smtClean="0"/>
              <a:pPr/>
              <a:t>51</a:t>
            </a:fld>
            <a:endParaRPr lang="en-US"/>
          </a:p>
        </p:txBody>
      </p:sp>
      <p:sp>
        <p:nvSpPr>
          <p:cNvPr id="6" name="Date Placeholder 5">
            <a:extLst>
              <a:ext uri="{FF2B5EF4-FFF2-40B4-BE49-F238E27FC236}">
                <a16:creationId xmlns:a16="http://schemas.microsoft.com/office/drawing/2014/main" id="{D4089462-7382-E740-6A6B-31D48AEF7C7A}"/>
              </a:ext>
            </a:extLst>
          </p:cNvPr>
          <p:cNvSpPr>
            <a:spLocks noGrp="1"/>
          </p:cNvSpPr>
          <p:nvPr>
            <p:ph type="dt" idx="12"/>
          </p:nvPr>
        </p:nvSpPr>
        <p:spPr/>
        <p:txBody>
          <a:bodyPr/>
          <a:lstStyle/>
          <a:p>
            <a:fld id="{997C9337-20C5-41EF-80F6-63D1F94ABC0C}" type="datetime1">
              <a:rPr lang="en-US" smtClean="0"/>
              <a:t>10/19/2026</a:t>
            </a:fld>
            <a:endParaRPr lang="en-US"/>
          </a:p>
        </p:txBody>
      </p:sp>
      <p:sp>
        <p:nvSpPr>
          <p:cNvPr id="10" name="Slide Image Placeholder 9">
            <a:extLst>
              <a:ext uri="{FF2B5EF4-FFF2-40B4-BE49-F238E27FC236}">
                <a16:creationId xmlns:a16="http://schemas.microsoft.com/office/drawing/2014/main" id="{A91B376D-3DAA-BE80-299C-7FDC46D69BC6}"/>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EBEC056-DE3E-7BF3-BE49-3F6117B8C5A0}"/>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effectLst/>
                <a:latin typeface="Segoe Sans Text" pitchFamily="2" charset="0"/>
                <a:ea typeface="+mn-ea"/>
                <a:cs typeface="+mn-cs"/>
              </a:rPr>
              <a:t>15min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effectLst/>
                <a:latin typeface="Segoe Sans Text" pitchFamily="2" charset="0"/>
                <a:ea typeface="+mn-ea"/>
                <a:cs typeface="+mn-cs"/>
              </a:rPr>
              <a:t>Show AZD / Provisioning / </a:t>
            </a:r>
            <a:r>
              <a:rPr lang="en-US" sz="900" kern="1200" err="1">
                <a:solidFill>
                  <a:schemeClr val="tx1"/>
                </a:solidFill>
                <a:effectLst/>
                <a:latin typeface="Segoe Sans Text" pitchFamily="2" charset="0"/>
                <a:ea typeface="+mn-ea"/>
                <a:cs typeface="+mn-cs"/>
              </a:rPr>
              <a:t>IaC</a:t>
            </a:r>
            <a:br>
              <a:rPr lang="en-US" sz="900" kern="1200">
                <a:solidFill>
                  <a:schemeClr val="tx1"/>
                </a:solidFill>
                <a:effectLst/>
                <a:latin typeface="Segoe Sans Text" pitchFamily="2" charset="0"/>
                <a:ea typeface="+mn-ea"/>
                <a:cs typeface="+mn-cs"/>
              </a:rPr>
            </a:br>
            <a:r>
              <a:rPr lang="en-US" sz="900" kern="1200">
                <a:solidFill>
                  <a:schemeClr val="tx1"/>
                </a:solidFill>
                <a:effectLst/>
                <a:latin typeface="Segoe Sans Text" pitchFamily="2" charset="0"/>
                <a:ea typeface="+mn-ea"/>
                <a:cs typeface="+mn-cs"/>
              </a:rPr>
              <a:t>	- Show Resources in the Portal</a:t>
            </a:r>
            <a:br>
              <a:rPr lang="en-US" sz="900" kern="1200">
                <a:solidFill>
                  <a:schemeClr val="tx1"/>
                </a:solidFill>
                <a:effectLst/>
                <a:latin typeface="Segoe Sans Text" pitchFamily="2" charset="0"/>
                <a:ea typeface="+mn-ea"/>
                <a:cs typeface="+mn-cs"/>
              </a:rPr>
            </a:br>
            <a:r>
              <a:rPr lang="en-US" sz="900" kern="1200">
                <a:solidFill>
                  <a:schemeClr val="tx1"/>
                </a:solidFill>
                <a:effectLst/>
                <a:latin typeface="Segoe Sans Text" pitchFamily="2" charset="0"/>
                <a:ea typeface="+mn-ea"/>
                <a:cs typeface="+mn-cs"/>
              </a:rPr>
              <a:t>	- Show AI Foundry (Hub/Project) - Explore project setup</a:t>
            </a:r>
            <a:br>
              <a:rPr lang="en-US" sz="900" kern="1200">
                <a:solidFill>
                  <a:schemeClr val="tx1"/>
                </a:solidFill>
                <a:effectLst/>
                <a:latin typeface="Segoe Sans Text" pitchFamily="2" charset="0"/>
                <a:ea typeface="+mn-ea"/>
                <a:cs typeface="+mn-cs"/>
              </a:rPr>
            </a:br>
            <a:r>
              <a:rPr lang="en-US" sz="900" kern="1200">
                <a:solidFill>
                  <a:schemeClr val="tx1"/>
                </a:solidFill>
                <a:effectLst/>
                <a:latin typeface="Segoe Sans Text" pitchFamily="2" charset="0"/>
                <a:ea typeface="+mn-ea"/>
                <a:cs typeface="+mn-cs"/>
              </a:rPr>
              <a:t>	- Show APIM Integration</a:t>
            </a:r>
          </a:p>
          <a:p>
            <a:endParaRPr lang="en-GB" sz="900"/>
          </a:p>
        </p:txBody>
      </p:sp>
      <p:sp>
        <p:nvSpPr>
          <p:cNvPr id="2" name="Header Placeholder 1">
            <a:extLst>
              <a:ext uri="{FF2B5EF4-FFF2-40B4-BE49-F238E27FC236}">
                <a16:creationId xmlns:a16="http://schemas.microsoft.com/office/drawing/2014/main" id="{DE1BAA4C-E7A5-0414-0F0E-77065F8B2590}"/>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129582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F390B-F695-3017-0C18-68D999C5ADA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4398D9-9AE1-4606-097B-8878CBD2D9B7}"/>
              </a:ext>
            </a:extLst>
          </p:cNvPr>
          <p:cNvSpPr>
            <a:spLocks noGrp="1"/>
          </p:cNvSpPr>
          <p:nvPr>
            <p:ph type="sldNum" sz="quarter" idx="10"/>
          </p:nvPr>
        </p:nvSpPr>
        <p:spPr/>
        <p:txBody>
          <a:bodyPr/>
          <a:lstStyle/>
          <a:p>
            <a:fld id="{F475C4C8-7DEA-455A-9336-A4C7DB3AE516}" type="slidenum">
              <a:rPr lang="en-US" smtClean="0"/>
              <a:pPr/>
              <a:t>52</a:t>
            </a:fld>
            <a:endParaRPr lang="en-US"/>
          </a:p>
        </p:txBody>
      </p:sp>
      <p:sp>
        <p:nvSpPr>
          <p:cNvPr id="6" name="Date Placeholder 5">
            <a:extLst>
              <a:ext uri="{FF2B5EF4-FFF2-40B4-BE49-F238E27FC236}">
                <a16:creationId xmlns:a16="http://schemas.microsoft.com/office/drawing/2014/main" id="{7AE55478-169B-75EE-1671-8E45D0B9169B}"/>
              </a:ext>
            </a:extLst>
          </p:cNvPr>
          <p:cNvSpPr>
            <a:spLocks noGrp="1"/>
          </p:cNvSpPr>
          <p:nvPr>
            <p:ph type="dt" idx="12"/>
          </p:nvPr>
        </p:nvSpPr>
        <p:spPr/>
        <p:txBody>
          <a:bodyPr/>
          <a:lstStyle/>
          <a:p>
            <a:fld id="{997C9337-20C5-41EF-80F6-63D1F94ABC0C}" type="datetime1">
              <a:rPr lang="en-US" smtClean="0"/>
              <a:t>10/19/2026</a:t>
            </a:fld>
            <a:endParaRPr lang="en-US"/>
          </a:p>
        </p:txBody>
      </p:sp>
      <p:sp>
        <p:nvSpPr>
          <p:cNvPr id="10" name="Slide Image Placeholder 9">
            <a:extLst>
              <a:ext uri="{FF2B5EF4-FFF2-40B4-BE49-F238E27FC236}">
                <a16:creationId xmlns:a16="http://schemas.microsoft.com/office/drawing/2014/main" id="{11D44842-6F19-2A43-BCE7-7AE976DAD824}"/>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BF1EF283-1EA7-97C7-0424-377483CAB043}"/>
              </a:ext>
            </a:extLst>
          </p:cNvPr>
          <p:cNvSpPr>
            <a:spLocks noGrp="1"/>
          </p:cNvSpPr>
          <p:nvPr>
            <p:ph type="body" idx="1"/>
          </p:nvPr>
        </p:nvSpPr>
        <p:spPr>
          <a:xfrm>
            <a:off x="685800" y="4400550"/>
            <a:ext cx="5486400" cy="3600450"/>
          </a:xfrm>
          <a:prstGeom prst="rect">
            <a:avLst/>
          </a:prstGeom>
        </p:spPr>
        <p:txBody>
          <a:bodyPr/>
          <a:lstStyle/>
          <a:p>
            <a:r>
              <a:rPr lang="en-US" sz="900" kern="1200">
                <a:solidFill>
                  <a:schemeClr val="tx1"/>
                </a:solidFill>
                <a:effectLst/>
                <a:latin typeface="Segoe Sans Text" pitchFamily="2" charset="0"/>
                <a:ea typeface="+mn-ea"/>
                <a:cs typeface="+mn-cs"/>
              </a:rPr>
              <a:t>- 10 min</a:t>
            </a:r>
          </a:p>
          <a:p>
            <a:r>
              <a:rPr lang="en-US" sz="900" kern="1200">
                <a:solidFill>
                  <a:schemeClr val="tx1"/>
                </a:solidFill>
                <a:effectLst/>
                <a:latin typeface="Segoe Sans Text" pitchFamily="2" charset="0"/>
                <a:ea typeface="+mn-ea"/>
                <a:cs typeface="+mn-cs"/>
              </a:rPr>
              <a:t>-Demo evaluation using GenAI metrics targeting the RAG orchestrator.</a:t>
            </a:r>
            <a:br>
              <a:rPr lang="en-US" sz="900" kern="1200">
                <a:solidFill>
                  <a:schemeClr val="tx1"/>
                </a:solidFill>
                <a:effectLst/>
                <a:latin typeface="Segoe Sans Text" pitchFamily="2" charset="0"/>
                <a:ea typeface="+mn-ea"/>
                <a:cs typeface="+mn-cs"/>
              </a:rPr>
            </a:br>
            <a:r>
              <a:rPr lang="en-US" sz="900" kern="1200">
                <a:solidFill>
                  <a:schemeClr val="tx1"/>
                </a:solidFill>
                <a:effectLst/>
                <a:latin typeface="Segoe Sans Text" pitchFamily="2" charset="0"/>
                <a:ea typeface="+mn-ea"/>
                <a:cs typeface="+mn-cs"/>
              </a:rPr>
              <a:t>	- Show results in the evaluation screen.</a:t>
            </a:r>
            <a:endParaRPr lang="en-GB" sz="900"/>
          </a:p>
        </p:txBody>
      </p:sp>
      <p:sp>
        <p:nvSpPr>
          <p:cNvPr id="2" name="Header Placeholder 1">
            <a:extLst>
              <a:ext uri="{FF2B5EF4-FFF2-40B4-BE49-F238E27FC236}">
                <a16:creationId xmlns:a16="http://schemas.microsoft.com/office/drawing/2014/main" id="{64B45935-3DA2-38BF-E3F4-96EE3F530D0D}"/>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0357156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E649D-3859-9B08-AB71-4D718DAB7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39C773-E1B6-D8C8-C767-60D0E44BF0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0D5755-7913-C101-7A11-925B70AD686B}"/>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Thank you, Paulo, for the excellent demo. Now, lets continue with the third circle “Operationalizing” stage. This stage is crucial as it encompasses deployment, monitoring, and ensuring that Large Language Models (LLMs) are seamlessly integrated into systems while maintaining safety and filtering out any harmful content.</a:t>
            </a:r>
          </a:p>
          <a:p>
            <a:r>
              <a:rPr lang="en-GB" sz="1200" kern="1200">
                <a:solidFill>
                  <a:schemeClr val="tx1"/>
                </a:solidFill>
                <a:effectLst/>
                <a:latin typeface="Segoe Sans Text" pitchFamily="2" charset="0"/>
                <a:ea typeface="+mn-ea"/>
                <a:cs typeface="+mn-cs"/>
              </a:rPr>
              <a:t> </a:t>
            </a:r>
          </a:p>
          <a:p>
            <a:r>
              <a:rPr lang="en-GB" sz="1200" kern="1200">
                <a:solidFill>
                  <a:schemeClr val="tx1"/>
                </a:solidFill>
                <a:effectLst/>
                <a:latin typeface="Segoe Sans Text" pitchFamily="2" charset="0"/>
                <a:ea typeface="+mn-ea"/>
                <a:cs typeface="+mn-cs"/>
              </a:rPr>
              <a:t>As you can see in the diagram, this stage captures the transition from development to production.</a:t>
            </a:r>
          </a:p>
          <a:p>
            <a:r>
              <a:rPr lang="en-GB" sz="1200" kern="1200">
                <a:solidFill>
                  <a:schemeClr val="tx1"/>
                </a:solidFill>
                <a:effectLst/>
                <a:latin typeface="Segoe Sans Text" pitchFamily="2" charset="0"/>
                <a:ea typeface="+mn-ea"/>
                <a:cs typeface="+mn-cs"/>
              </a:rPr>
              <a:t> </a:t>
            </a: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Now, let’s move to the next slide to explore Azure capabilities for operationalization. </a:t>
            </a: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b="1"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p:txBody>
      </p:sp>
      <p:sp>
        <p:nvSpPr>
          <p:cNvPr id="4" name="Slide Number Placeholder 3">
            <a:extLst>
              <a:ext uri="{FF2B5EF4-FFF2-40B4-BE49-F238E27FC236}">
                <a16:creationId xmlns:a16="http://schemas.microsoft.com/office/drawing/2014/main" id="{6EDE1700-4134-D0F1-0355-C48C7B1B8C08}"/>
              </a:ext>
            </a:extLst>
          </p:cNvPr>
          <p:cNvSpPr>
            <a:spLocks noGrp="1"/>
          </p:cNvSpPr>
          <p:nvPr>
            <p:ph type="sldNum" sz="quarter" idx="5"/>
          </p:nvPr>
        </p:nvSpPr>
        <p:spPr/>
        <p:txBody>
          <a:bodyPr/>
          <a:lstStyle/>
          <a:p>
            <a:fld id="{BD154338-A073-4661-BF20-52EA06646E26}" type="slidenum">
              <a:rPr lang="en-US" smtClean="0"/>
              <a:pPr/>
              <a:t>53</a:t>
            </a:fld>
            <a:endParaRPr lang="en-US"/>
          </a:p>
        </p:txBody>
      </p:sp>
    </p:spTree>
    <p:extLst>
      <p:ext uri="{BB962C8B-B14F-4D97-AF65-F5344CB8AC3E}">
        <p14:creationId xmlns:p14="http://schemas.microsoft.com/office/powerpoint/2010/main" val="40268222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Azure provides a robust suite of tools for operationalizing your GenAI solution.</a:t>
            </a:r>
          </a:p>
          <a:p>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Let's start with the Ops section. Azure DevOps and GitHub Actions are essential for continuous integration and continuous deployment (CI/CD). They ensure that your code and models are seamlessly integrated and deployed without manual intervention. This is crucial for maintaining a smooth workflow and minimizing downtime.</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Moving on to AI Foundry, which plays a pivotal role across all aspects of development. It offers built-in safety features and GitHub Actions, monitoring performance and safety metrics, including token usage per the deployed model. You can do quota management and secure infra set up.</a:t>
            </a:r>
          </a:p>
          <a:p>
            <a:r>
              <a:rPr lang="en-GB" sz="1200" b="1" kern="1200">
                <a:solidFill>
                  <a:schemeClr val="tx1"/>
                </a:solidFill>
                <a:effectLst/>
                <a:latin typeface="Segoe Sans Text" pitchFamily="2" charset="0"/>
                <a:ea typeface="+mn-ea"/>
                <a:cs typeface="+mn-cs"/>
              </a:rPr>
              <a:t> </a:t>
            </a: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Next one, APIM, or Azure API Management, is another critical component. It offers centralized logging, secure access, audit trails, high availability, and chargeback features. This ensures that your APIs are secure, reliable, and cost-effective.</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Lastly, we have Azure Monitor, which provides operational monitoring and alerts. This is essential for keeping an eye on the health and performance of your AI applications. With Azure Monitor, you can set up alerts to notify you of any issues, so you can address them promptly.</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Now, let's move on to the next slide where we will explore the options for deploying GenAI workflows.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154338-A073-4661-BF20-52EA06646E26}"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11005639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When we look to deploy our GenAI application, we have a handful of different choices available on Azure. We have four main options to discuss: Managed Online Endpoints, App Service, Azure Container Apps, and Azure Kubernetes Service.</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Each of these options comes with its own set of advantages and considerations. Let's start with Managed Online Endpoints. This is ideal for users who want a managed model deployment, out of the box monitoring capabilities. The key advantage here is that users don't need to worry about infrastructure, maintenance, or logging. However, the trade-off is less control over how the deployment environment is configured compared to other options.</a:t>
            </a:r>
            <a:br>
              <a:rPr lang="en-GB" sz="1200" b="1"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Moving on to App Service, this option is perfect for users who want to build, deploy, and scale web apps quickly. It offers a fully managed platform with built-in DevOps capabilities, making it very user-friendly. The downside is that it offers less control over the underlying infrastructure and is not suitable for complex container orchestration.</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Then we have Azure Container Apps. This is designed for users who want to deploy and manage containerized applications without dealing with Kubernetes complexities. </a:t>
            </a: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Finally, there's Azure Kubernetes Service (AKS), which is for users who prefer Kubernetes and want to self-manage the infrastructure requirements. </a:t>
            </a:r>
          </a:p>
        </p:txBody>
      </p:sp>
      <p:sp>
        <p:nvSpPr>
          <p:cNvPr id="4" name="Slide Number Placeholder 3"/>
          <p:cNvSpPr>
            <a:spLocks noGrp="1"/>
          </p:cNvSpPr>
          <p:nvPr>
            <p:ph type="sldNum" sz="quarter" idx="5"/>
          </p:nvPr>
        </p:nvSpPr>
        <p:spPr/>
        <p:txBody>
          <a:bodyPr/>
          <a:lstStyle/>
          <a:p>
            <a:fld id="{BD154338-A073-4661-BF20-52EA06646E26}" type="slidenum">
              <a:rPr lang="en-US" smtClean="0"/>
              <a:pPr/>
              <a:t>56</a:t>
            </a:fld>
            <a:endParaRPr lang="en-US"/>
          </a:p>
        </p:txBody>
      </p:sp>
    </p:spTree>
    <p:extLst>
      <p:ext uri="{BB962C8B-B14F-4D97-AF65-F5344CB8AC3E}">
        <p14:creationId xmlns:p14="http://schemas.microsoft.com/office/powerpoint/2010/main" val="305909198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t>Value prop (“Why”) Managed Online Endpoint</a:t>
            </a:r>
          </a:p>
          <a:p>
            <a:pPr marL="228600" indent="-228600">
              <a:buAutoNum type="arabicPeriod"/>
            </a:pPr>
            <a:r>
              <a:rPr lang="en-US" sz="1800"/>
              <a:t>Optimize cost: by allowing wide range of SKUs to choose from, by supporting auto-scale, and granular cost monitoring</a:t>
            </a:r>
          </a:p>
          <a:p>
            <a:pPr marL="228600" indent="-228600">
              <a:buAutoNum type="arabicPeriod"/>
            </a:pPr>
            <a:r>
              <a:rPr lang="en-US" sz="1800"/>
              <a:t>Streamline development: with git, and local testing with </a:t>
            </a:r>
            <a:r>
              <a:rPr lang="en-US" sz="1800" err="1"/>
              <a:t>vscode</a:t>
            </a:r>
            <a:r>
              <a:rPr lang="en-US" sz="1800"/>
              <a:t>, and no code deployment.</a:t>
            </a:r>
          </a:p>
          <a:p>
            <a:pPr marL="228600" indent="-228600">
              <a:buAutoNum type="arabicPeriod"/>
            </a:pPr>
            <a:r>
              <a:rPr lang="en-US" sz="1800"/>
              <a:t>Streamline operations: managed infrastructure, safe rollout, SLA monitoring </a:t>
            </a:r>
            <a:r>
              <a:rPr lang="en-US" sz="1800" err="1"/>
              <a:t>etc</a:t>
            </a:r>
            <a:endParaRPr lang="en-US" sz="1800"/>
          </a:p>
          <a:p>
            <a:endParaRPr lang="en-US" sz="1800"/>
          </a:p>
          <a:p>
            <a:r>
              <a:rPr lang="en-US" sz="1800"/>
              <a:t>---</a:t>
            </a:r>
          </a:p>
          <a:p>
            <a:r>
              <a:rPr lang="en-US" altLang="ko-KR" sz="1800" b="0" i="1">
                <a:solidFill>
                  <a:srgbClr val="24292F"/>
                </a:solidFill>
                <a:effectLst/>
              </a:rPr>
              <a:t>"As an ML engineer, I want to use </a:t>
            </a:r>
            <a:r>
              <a:rPr lang="en-US" altLang="ko-KR" sz="1800" b="1" i="1">
                <a:solidFill>
                  <a:srgbClr val="24292F"/>
                </a:solidFill>
                <a:effectLst/>
              </a:rPr>
              <a:t>DevOps pipelines</a:t>
            </a:r>
            <a:r>
              <a:rPr lang="en-US" altLang="ko-KR" sz="1800" b="0" i="1">
                <a:solidFill>
                  <a:srgbClr val="24292F"/>
                </a:solidFill>
                <a:effectLst/>
              </a:rPr>
              <a:t> to </a:t>
            </a:r>
            <a:r>
              <a:rPr lang="en-US" altLang="ko-KR" sz="1800" b="1" i="1">
                <a:solidFill>
                  <a:srgbClr val="24292F"/>
                </a:solidFill>
                <a:effectLst/>
              </a:rPr>
              <a:t>safely rollout new version of a model</a:t>
            </a:r>
            <a:r>
              <a:rPr lang="en-US" altLang="ko-KR" sz="1800" b="0" i="1">
                <a:solidFill>
                  <a:srgbClr val="24292F"/>
                </a:solidFill>
                <a:effectLst/>
              </a:rPr>
              <a:t> in production </a:t>
            </a:r>
            <a:r>
              <a:rPr lang="en-US" altLang="ko-KR" sz="1800" b="1" i="1">
                <a:solidFill>
                  <a:srgbClr val="24292F"/>
                </a:solidFill>
                <a:effectLst/>
              </a:rPr>
              <a:t>with validation gates</a:t>
            </a:r>
            <a:r>
              <a:rPr lang="en-US" altLang="ko-KR" sz="1800" b="0" i="1">
                <a:solidFill>
                  <a:srgbClr val="24292F"/>
                </a:solidFill>
                <a:effectLst/>
              </a:rPr>
              <a:t> in order to </a:t>
            </a:r>
            <a:r>
              <a:rPr lang="en-US" altLang="ko-KR" sz="1800" b="1" i="1">
                <a:solidFill>
                  <a:srgbClr val="24292F"/>
                </a:solidFill>
                <a:effectLst/>
              </a:rPr>
              <a:t>maintain production SLA</a:t>
            </a:r>
            <a:r>
              <a:rPr lang="en-US" altLang="ko-KR" sz="1800" b="0" i="1">
                <a:solidFill>
                  <a:srgbClr val="24292F"/>
                </a:solidFill>
                <a:effectLst/>
              </a:rPr>
              <a:t> and efficiently manage the rollout process"</a:t>
            </a:r>
            <a:endParaRPr lang="en-US" sz="1800"/>
          </a:p>
          <a:p>
            <a:pPr>
              <a:spcAft>
                <a:spcPts val="900"/>
              </a:spcAft>
              <a:defRPr/>
            </a:pPr>
            <a:endParaRPr lang="en-US" sz="1800">
              <a:solidFill>
                <a:srgbClr val="000000"/>
              </a:solidFill>
              <a:latin typeface="Segoe Sans Text"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72493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118CD-0B5D-BF70-D9CF-F977FD3DA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7D6EC-41D6-A8EF-87CE-71DB8701EB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36EC5-8354-12B6-534B-3ADD927F82CB}"/>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9C855394-E30C-F07C-F9F5-1777228DA23D}"/>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6148337-38CC-5975-AE45-04FCC6FB4F5F}"/>
              </a:ext>
            </a:extLst>
          </p:cNvPr>
          <p:cNvSpPr>
            <a:spLocks noGrp="1"/>
          </p:cNvSpPr>
          <p:nvPr>
            <p:ph type="ftr" sz="quarter" idx="4"/>
          </p:nvPr>
        </p:nvSpPr>
        <p:spPr/>
        <p:txBody>
          <a:bodyPr/>
          <a:lstStyle/>
          <a:p>
            <a:pPr marL="0" marR="0" lvl="0" indent="0" algn="l" defTabSz="93116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1254B94-3FFA-9B55-D0DE-E223AF4B9455}"/>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E2088-8A48-4824-A1CB-81E9FC54B89E}"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B89FD76C-8B0F-E686-EAAC-3B5EC1BF26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49606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E8C1A-0B4F-0EB3-C7DC-5E2D9EBE1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F3940-71F4-FB1B-8287-AD044B182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0B731-BCC7-645F-AA08-C6B3C7816F3E}"/>
              </a:ext>
            </a:extLst>
          </p:cNvPr>
          <p:cNvSpPr>
            <a:spLocks noGrp="1"/>
          </p:cNvSpPr>
          <p:nvPr>
            <p:ph type="body" idx="1"/>
          </p:nvPr>
        </p:nvSpPr>
        <p:spPr/>
        <p:txBody>
          <a:bodyPr/>
          <a:lstStyle/>
          <a:p>
            <a:pPr marL="0" marR="0">
              <a:lnSpc>
                <a:spcPct val="116000"/>
              </a:lnSpc>
              <a:spcBef>
                <a:spcPts val="0"/>
              </a:spcBef>
              <a:spcAft>
                <a:spcPts val="1200"/>
              </a:spcAft>
            </a:pPr>
            <a:r>
              <a:rPr lang="en-US"/>
              <a:t>We assume all AI Landing Zone configurations done properly such firewall, private endpoints etc. We are not showing them in this arch.</a:t>
            </a:r>
          </a:p>
          <a:p>
            <a:pPr marL="0" marR="0">
              <a:lnSpc>
                <a:spcPct val="116000"/>
              </a:lnSpc>
              <a:spcBef>
                <a:spcPts val="0"/>
              </a:spcBef>
              <a:spcAft>
                <a:spcPts val="1200"/>
              </a:spcAft>
            </a:pPr>
            <a:endParaRPr lang="en-US"/>
          </a:p>
          <a:p>
            <a:pPr marL="0" marR="0">
              <a:lnSpc>
                <a:spcPct val="116000"/>
              </a:lnSpc>
              <a:spcBef>
                <a:spcPts val="0"/>
              </a:spcBef>
              <a:spcAft>
                <a:spcPts val="1200"/>
              </a:spcAft>
            </a:pPr>
            <a:r>
              <a:rPr lang="en-US"/>
              <a:t>The core approach involves deploying the solution via a container app and promoting the image across environments while adhering to the principle of immutability in higher environments.</a:t>
            </a:r>
          </a:p>
        </p:txBody>
      </p:sp>
      <p:sp>
        <p:nvSpPr>
          <p:cNvPr id="4" name="Slide Number Placeholder 3">
            <a:extLst>
              <a:ext uri="{FF2B5EF4-FFF2-40B4-BE49-F238E27FC236}">
                <a16:creationId xmlns:a16="http://schemas.microsoft.com/office/drawing/2014/main" id="{2E0C5BF3-9C4F-6CC1-502B-7E81079ED8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93949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DC4C7-22B5-5434-2A3B-335BDFEDB44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C54DFA-AB79-DD87-70AE-A69F57A50ED0}"/>
              </a:ext>
            </a:extLst>
          </p:cNvPr>
          <p:cNvSpPr>
            <a:spLocks noGrp="1"/>
          </p:cNvSpPr>
          <p:nvPr>
            <p:ph type="sldNum" sz="quarter" idx="10"/>
          </p:nvPr>
        </p:nvSpPr>
        <p:spPr/>
        <p:txBody>
          <a:bodyPr/>
          <a:lstStyle/>
          <a:p>
            <a:fld id="{F475C4C8-7DEA-455A-9336-A4C7DB3AE516}" type="slidenum">
              <a:rPr lang="en-US" smtClean="0"/>
              <a:pPr/>
              <a:t>60</a:t>
            </a:fld>
            <a:endParaRPr lang="en-US"/>
          </a:p>
        </p:txBody>
      </p:sp>
      <p:sp>
        <p:nvSpPr>
          <p:cNvPr id="6" name="Date Placeholder 5">
            <a:extLst>
              <a:ext uri="{FF2B5EF4-FFF2-40B4-BE49-F238E27FC236}">
                <a16:creationId xmlns:a16="http://schemas.microsoft.com/office/drawing/2014/main" id="{6D0D3D13-AC2A-C139-6FEF-CDA9E971EA8E}"/>
              </a:ext>
            </a:extLst>
          </p:cNvPr>
          <p:cNvSpPr>
            <a:spLocks noGrp="1"/>
          </p:cNvSpPr>
          <p:nvPr>
            <p:ph type="dt" idx="12"/>
          </p:nvPr>
        </p:nvSpPr>
        <p:spPr/>
        <p:txBody>
          <a:bodyPr/>
          <a:lstStyle/>
          <a:p>
            <a:fld id="{997C9337-20C5-41EF-80F6-63D1F94ABC0C}" type="datetime1">
              <a:rPr lang="en-US" smtClean="0"/>
              <a:t>10/19/2026</a:t>
            </a:fld>
            <a:endParaRPr lang="en-US"/>
          </a:p>
        </p:txBody>
      </p:sp>
      <p:sp>
        <p:nvSpPr>
          <p:cNvPr id="10" name="Slide Image Placeholder 9">
            <a:extLst>
              <a:ext uri="{FF2B5EF4-FFF2-40B4-BE49-F238E27FC236}">
                <a16:creationId xmlns:a16="http://schemas.microsoft.com/office/drawing/2014/main" id="{8CE74988-C08F-4F51-2286-7FB88F5CE5B5}"/>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C90C167-5FC8-7EB9-09DC-3273A9469843}"/>
              </a:ext>
            </a:extLst>
          </p:cNvPr>
          <p:cNvSpPr>
            <a:spLocks noGrp="1"/>
          </p:cNvSpPr>
          <p:nvPr>
            <p:ph type="body" idx="1"/>
          </p:nvPr>
        </p:nvSpPr>
        <p:spPr>
          <a:xfrm>
            <a:off x="685800" y="4400550"/>
            <a:ext cx="5486400" cy="3600450"/>
          </a:xfrm>
          <a:prstGeom prst="rect">
            <a:avLst/>
          </a:prstGeom>
        </p:spPr>
        <p:txBody>
          <a:bodyPr/>
          <a:lstStyle/>
          <a:p>
            <a:r>
              <a:rPr lang="fr-FR" sz="900" b="1" kern="1200">
                <a:solidFill>
                  <a:schemeClr val="tx1"/>
                </a:solidFill>
                <a:effectLst/>
                <a:latin typeface="Segoe Sans Text" pitchFamily="2" charset="0"/>
                <a:ea typeface="+mn-ea"/>
                <a:cs typeface="+mn-cs"/>
              </a:rPr>
              <a:t>Yes, </a:t>
            </a:r>
            <a:r>
              <a:rPr lang="en-GB" sz="900" kern="1200">
                <a:solidFill>
                  <a:schemeClr val="tx1"/>
                </a:solidFill>
                <a:effectLst/>
                <a:latin typeface="Segoe Sans Text" pitchFamily="2" charset="0"/>
                <a:ea typeface="+mn-ea"/>
                <a:cs typeface="+mn-cs"/>
              </a:rPr>
              <a:t>so far, we’ve built the solution in development env. We would like to demonstrate how to integrate the GenAI solution with proper steps in </a:t>
            </a:r>
            <a:r>
              <a:rPr lang="en-GB" sz="900" kern="1200" err="1">
                <a:solidFill>
                  <a:schemeClr val="tx1"/>
                </a:solidFill>
                <a:effectLst/>
                <a:latin typeface="Segoe Sans Text" pitchFamily="2" charset="0"/>
                <a:ea typeface="+mn-ea"/>
                <a:cs typeface="+mn-cs"/>
              </a:rPr>
              <a:t>github</a:t>
            </a:r>
            <a:r>
              <a:rPr lang="en-GB" sz="900" kern="1200">
                <a:solidFill>
                  <a:schemeClr val="tx1"/>
                </a:solidFill>
                <a:effectLst/>
                <a:latin typeface="Segoe Sans Text" pitchFamily="2" charset="0"/>
                <a:ea typeface="+mn-ea"/>
                <a:cs typeface="+mn-cs"/>
              </a:rPr>
              <a:t> actions, which automates deployments and provide structured, customized operations tailored to your company’s needs. </a:t>
            </a:r>
          </a:p>
          <a:p>
            <a:endParaRPr lang="en-GB" sz="900" kern="1200">
              <a:solidFill>
                <a:schemeClr val="tx1"/>
              </a:solidFill>
              <a:effectLst/>
              <a:latin typeface="Segoe Sans Text" pitchFamily="2" charset="0"/>
              <a:ea typeface="+mn-ea"/>
              <a:cs typeface="+mn-cs"/>
            </a:endParaRPr>
          </a:p>
          <a:p>
            <a:r>
              <a:rPr lang="en-GB" sz="900" kern="1200">
                <a:solidFill>
                  <a:schemeClr val="tx1"/>
                </a:solidFill>
                <a:effectLst/>
                <a:latin typeface="Segoe Sans Text" pitchFamily="2" charset="0"/>
                <a:ea typeface="+mn-ea"/>
                <a:cs typeface="+mn-cs"/>
              </a:rPr>
              <a:t>This step is crucial for managing the fast-paced nature of GenAI technology and handling model retirements effectively.</a:t>
            </a:r>
          </a:p>
          <a:p>
            <a:r>
              <a:rPr lang="en-GB" sz="900" kern="1200">
                <a:solidFill>
                  <a:schemeClr val="tx1"/>
                </a:solidFill>
                <a:effectLst/>
                <a:latin typeface="Segoe Sans Text" pitchFamily="2" charset="0"/>
                <a:ea typeface="+mn-ea"/>
                <a:cs typeface="+mn-cs"/>
              </a:rPr>
              <a:t>Lets see it in action!</a:t>
            </a:r>
          </a:p>
          <a:p>
            <a:endParaRPr lang="en-GB" sz="900" kern="1200">
              <a:solidFill>
                <a:schemeClr val="tx1"/>
              </a:solidFill>
              <a:effectLst/>
              <a:latin typeface="Segoe Sans Text" pitchFamily="2" charset="0"/>
              <a:ea typeface="+mn-ea"/>
              <a:cs typeface="+mn-cs"/>
            </a:endParaRPr>
          </a:p>
          <a:p>
            <a:r>
              <a:rPr lang="en-GB" sz="900" kern="1200">
                <a:solidFill>
                  <a:schemeClr val="tx1"/>
                </a:solidFill>
                <a:effectLst/>
                <a:latin typeface="Segoe Sans Text" pitchFamily="2" charset="0"/>
                <a:ea typeface="+mn-ea"/>
                <a:cs typeface="+mn-cs"/>
              </a:rPr>
              <a:t>------------------------</a:t>
            </a:r>
          </a:p>
          <a:p>
            <a:endParaRPr lang="en-GB" sz="900" kern="1200">
              <a:solidFill>
                <a:schemeClr val="tx1"/>
              </a:solidFill>
              <a:effectLst/>
              <a:latin typeface="Segoe Sans Text"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900" kern="1200">
                <a:solidFill>
                  <a:schemeClr val="tx1"/>
                </a:solidFill>
                <a:effectLst/>
                <a:latin typeface="Segoe Sans Text" pitchFamily="2" charset="0"/>
                <a:ea typeface="+mn-ea"/>
                <a:cs typeface="+mn-cs"/>
              </a:rPr>
              <a:t>E2E Demo (Feature Branch &gt; (PR, CI, CD pipelines) Develop &gt; Main) 40min</a:t>
            </a:r>
            <a:br>
              <a:rPr lang="en-GB" sz="900" kern="1200">
                <a:solidFill>
                  <a:schemeClr val="tx1"/>
                </a:solidFill>
                <a:effectLst/>
                <a:latin typeface="Segoe Sans Text" pitchFamily="2" charset="0"/>
                <a:ea typeface="+mn-ea"/>
                <a:cs typeface="+mn-cs"/>
              </a:rPr>
            </a:br>
            <a:r>
              <a:rPr lang="en-GB" sz="900" kern="1200">
                <a:solidFill>
                  <a:schemeClr val="tx1"/>
                </a:solidFill>
                <a:effectLst/>
                <a:latin typeface="Segoe Sans Text" pitchFamily="2" charset="0"/>
                <a:ea typeface="+mn-ea"/>
                <a:cs typeface="+mn-cs"/>
              </a:rPr>
              <a:t>	- Environments</a:t>
            </a:r>
            <a:br>
              <a:rPr lang="en-GB" sz="900" kern="1200">
                <a:solidFill>
                  <a:schemeClr val="tx1"/>
                </a:solidFill>
                <a:effectLst/>
                <a:latin typeface="Segoe Sans Text" pitchFamily="2" charset="0"/>
                <a:ea typeface="+mn-ea"/>
                <a:cs typeface="+mn-cs"/>
              </a:rPr>
            </a:br>
            <a:r>
              <a:rPr lang="en-GB" sz="900" kern="1200">
                <a:solidFill>
                  <a:schemeClr val="tx1"/>
                </a:solidFill>
                <a:effectLst/>
                <a:latin typeface="Segoe Sans Text" pitchFamily="2" charset="0"/>
                <a:ea typeface="+mn-ea"/>
                <a:cs typeface="+mn-cs"/>
              </a:rPr>
              <a:t>	- Pipelines</a:t>
            </a:r>
            <a:br>
              <a:rPr lang="en-GB" sz="900" kern="1200">
                <a:solidFill>
                  <a:schemeClr val="tx1"/>
                </a:solidFill>
                <a:effectLst/>
                <a:latin typeface="Segoe Sans Text" pitchFamily="2" charset="0"/>
                <a:ea typeface="+mn-ea"/>
                <a:cs typeface="+mn-cs"/>
              </a:rPr>
            </a:br>
            <a:r>
              <a:rPr lang="en-GB" sz="900" kern="1200">
                <a:solidFill>
                  <a:schemeClr val="tx1"/>
                </a:solidFill>
                <a:effectLst/>
                <a:latin typeface="Segoe Sans Text" pitchFamily="2" charset="0"/>
                <a:ea typeface="+mn-ea"/>
                <a:cs typeface="+mn-cs"/>
              </a:rPr>
              <a:t>	- </a:t>
            </a:r>
            <a:r>
              <a:rPr lang="en-GB" sz="900" kern="1200" err="1">
                <a:solidFill>
                  <a:schemeClr val="tx1"/>
                </a:solidFill>
                <a:effectLst/>
                <a:latin typeface="Segoe Sans Text" pitchFamily="2" charset="0"/>
                <a:ea typeface="+mn-ea"/>
                <a:cs typeface="+mn-cs"/>
              </a:rPr>
              <a:t>GIt</a:t>
            </a:r>
            <a:r>
              <a:rPr lang="en-GB" sz="900" kern="1200">
                <a:solidFill>
                  <a:schemeClr val="tx1"/>
                </a:solidFill>
                <a:effectLst/>
                <a:latin typeface="Segoe Sans Text" pitchFamily="2" charset="0"/>
                <a:ea typeface="+mn-ea"/>
                <a:cs typeface="+mn-cs"/>
              </a:rPr>
              <a:t> workflow</a:t>
            </a:r>
            <a:br>
              <a:rPr lang="en-GB" sz="900" kern="1200">
                <a:solidFill>
                  <a:schemeClr val="tx1"/>
                </a:solidFill>
                <a:effectLst/>
                <a:latin typeface="Segoe Sans Text" pitchFamily="2" charset="0"/>
                <a:ea typeface="+mn-ea"/>
                <a:cs typeface="+mn-cs"/>
              </a:rPr>
            </a:br>
            <a:r>
              <a:rPr lang="en-GB" sz="900" kern="1200">
                <a:solidFill>
                  <a:schemeClr val="tx1"/>
                </a:solidFill>
                <a:effectLst/>
                <a:latin typeface="Segoe Sans Text" pitchFamily="2" charset="0"/>
                <a:ea typeface="+mn-ea"/>
                <a:cs typeface="+mn-cs"/>
              </a:rPr>
              <a:t>	- Versioning / Tagging</a:t>
            </a:r>
          </a:p>
          <a:p>
            <a:endParaRPr lang="en-GB" sz="900" kern="1200">
              <a:solidFill>
                <a:schemeClr val="tx1"/>
              </a:solidFill>
              <a:effectLst/>
              <a:latin typeface="Segoe Sans Text" pitchFamily="2" charset="0"/>
              <a:ea typeface="+mn-ea"/>
              <a:cs typeface="+mn-cs"/>
            </a:endParaRPr>
          </a:p>
          <a:p>
            <a:r>
              <a:rPr lang="en-GB" sz="900" kern="1200">
                <a:solidFill>
                  <a:schemeClr val="tx1"/>
                </a:solidFill>
                <a:effectLst/>
                <a:latin typeface="Segoe Sans Text" pitchFamily="2" charset="0"/>
                <a:ea typeface="+mn-ea"/>
                <a:cs typeface="+mn-cs"/>
              </a:rPr>
              <a:t>You will see how to promote gen ai solution to test env for UAT and production env. </a:t>
            </a:r>
          </a:p>
          <a:p>
            <a:endParaRPr lang="en-GB" sz="900"/>
          </a:p>
          <a:p>
            <a:endParaRPr lang="en-GB" sz="900"/>
          </a:p>
          <a:p>
            <a:r>
              <a:rPr lang="en-GB" sz="900"/>
              <a:t>1- Version Control: Model versions monitoring in prod and other configurations</a:t>
            </a:r>
          </a:p>
          <a:p>
            <a:r>
              <a:rPr lang="en-GB" sz="900"/>
              <a:t>2- Lineage to data, model, prompt for auditability</a:t>
            </a:r>
          </a:p>
          <a:p>
            <a:endParaRPr lang="en-GB" sz="900"/>
          </a:p>
          <a:p>
            <a:endParaRPr lang="en-GB" sz="900"/>
          </a:p>
        </p:txBody>
      </p:sp>
      <p:sp>
        <p:nvSpPr>
          <p:cNvPr id="2" name="Header Placeholder 1">
            <a:extLst>
              <a:ext uri="{FF2B5EF4-FFF2-40B4-BE49-F238E27FC236}">
                <a16:creationId xmlns:a16="http://schemas.microsoft.com/office/drawing/2014/main" id="{A4BDF84B-34E2-DE53-008B-3250E69E477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6387708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Segoe Sans Text" pitchFamily="2" charset="0"/>
                <a:ea typeface="+mn-ea"/>
                <a:cs typeface="+mn-cs"/>
              </a:rPr>
              <a:t>Yes, how to monitor GenAI Solutions in production…</a:t>
            </a:r>
            <a:endParaRPr lang="en-GB" sz="1200" kern="1200">
              <a:solidFill>
                <a:schemeClr val="tx1"/>
              </a:solidFill>
              <a:effectLst/>
              <a:latin typeface="Segoe Sans Text" pitchFamily="2" charset="0"/>
              <a:ea typeface="+mn-ea"/>
              <a:cs typeface="+mn-cs"/>
            </a:endParaRPr>
          </a:p>
          <a:p>
            <a:endParaRPr lang="en-US"/>
          </a:p>
        </p:txBody>
      </p:sp>
      <p:sp>
        <p:nvSpPr>
          <p:cNvPr id="4" name="Slide Number Placeholder 3"/>
          <p:cNvSpPr>
            <a:spLocks noGrp="1"/>
          </p:cNvSpPr>
          <p:nvPr>
            <p:ph type="sldNum" sz="quarter" idx="5"/>
          </p:nvPr>
        </p:nvSpPr>
        <p:spPr/>
        <p:txBody>
          <a:bodyPr/>
          <a:lstStyle/>
          <a:p>
            <a:fld id="{1D09229F-6F41-4CC3-A51C-EB832A3392C5}" type="slidenum">
              <a:rPr lang="en-US" smtClean="0"/>
              <a:t>61</a:t>
            </a:fld>
            <a:endParaRPr lang="en-US"/>
          </a:p>
        </p:txBody>
      </p:sp>
    </p:spTree>
    <p:extLst>
      <p:ext uri="{BB962C8B-B14F-4D97-AF65-F5344CB8AC3E}">
        <p14:creationId xmlns:p14="http://schemas.microsoft.com/office/powerpoint/2010/main" val="143809553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7B24-7A85-2D41-1D17-FCB4D6B38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EE8B0-E949-6366-369D-D527A18273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44164C-103E-AB07-20AF-F22C183D1EB7}"/>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There are various monitoring options available on Azure and it's crucial to understand how each of these can optimize your operations.</a:t>
            </a:r>
          </a:p>
          <a:p>
            <a:r>
              <a:rPr lang="en-GB" sz="1200" kern="1200">
                <a:solidFill>
                  <a:schemeClr val="tx1"/>
                </a:solidFill>
                <a:effectLst/>
                <a:latin typeface="Segoe Sans Text" pitchFamily="2" charset="0"/>
                <a:ea typeface="+mn-ea"/>
                <a:cs typeface="+mn-cs"/>
              </a:rPr>
              <a:t>At </a:t>
            </a:r>
            <a:r>
              <a:rPr lang="en-GB" sz="1200" b="1" kern="1200">
                <a:solidFill>
                  <a:schemeClr val="tx1"/>
                </a:solidFill>
                <a:effectLst/>
                <a:latin typeface="Segoe Sans Text" pitchFamily="2" charset="0"/>
                <a:ea typeface="+mn-ea"/>
                <a:cs typeface="+mn-cs"/>
              </a:rPr>
              <a:t>the Azure OpenAI Resource Level, </a:t>
            </a:r>
            <a:r>
              <a:rPr lang="en-GB" sz="1200" kern="1200">
                <a:solidFill>
                  <a:schemeClr val="tx1"/>
                </a:solidFill>
                <a:effectLst/>
                <a:latin typeface="Segoe Sans Text" pitchFamily="2" charset="0"/>
                <a:ea typeface="+mn-ea"/>
                <a:cs typeface="+mn-cs"/>
              </a:rPr>
              <a:t>tools such as AI Foundry Built-in Data Collection, Built-in Tracing, Evaluation SDK and Azure Monitor play a vital role. They collect detailed logs and metrics, which are essential for performance evaluation and maintaining resource efficiency.</a:t>
            </a:r>
          </a:p>
          <a:p>
            <a:r>
              <a:rPr lang="en-GB" sz="1200" kern="1200">
                <a:solidFill>
                  <a:schemeClr val="tx1"/>
                </a:solidFill>
                <a:effectLst/>
                <a:latin typeface="Segoe Sans Text" pitchFamily="2" charset="0"/>
                <a:ea typeface="+mn-ea"/>
                <a:cs typeface="+mn-cs"/>
              </a:rPr>
              <a:t>Looking at the capabilities at the </a:t>
            </a:r>
            <a:r>
              <a:rPr lang="en-GB" sz="1200" b="1" kern="1200">
                <a:solidFill>
                  <a:schemeClr val="tx1"/>
                </a:solidFill>
                <a:effectLst/>
                <a:latin typeface="Segoe Sans Text" pitchFamily="2" charset="0"/>
                <a:ea typeface="+mn-ea"/>
                <a:cs typeface="+mn-cs"/>
              </a:rPr>
              <a:t>Application Level</a:t>
            </a:r>
            <a:r>
              <a:rPr lang="en-GB" sz="1200" kern="1200">
                <a:solidFill>
                  <a:schemeClr val="tx1"/>
                </a:solidFill>
                <a:effectLst/>
                <a:latin typeface="Segoe Sans Text" pitchFamily="2" charset="0"/>
                <a:ea typeface="+mn-ea"/>
                <a:cs typeface="+mn-cs"/>
              </a:rPr>
              <a:t>, you have Application Insight for storing logs and metrics in the Log Analytics Workspace. And we can run Evaluation SDK on top of the data collected in the Log Analytics Workspace to measure performance and safety metrics. </a:t>
            </a:r>
          </a:p>
          <a:p>
            <a:r>
              <a:rPr lang="en-GB" sz="1200" kern="1200">
                <a:solidFill>
                  <a:schemeClr val="tx1"/>
                </a:solidFill>
                <a:effectLst/>
                <a:latin typeface="Segoe Sans Text" pitchFamily="2" charset="0"/>
                <a:ea typeface="+mn-ea"/>
                <a:cs typeface="+mn-cs"/>
              </a:rPr>
              <a:t>And at the </a:t>
            </a:r>
            <a:r>
              <a:rPr lang="en-GB" sz="1200" b="1" kern="1200">
                <a:solidFill>
                  <a:schemeClr val="tx1"/>
                </a:solidFill>
                <a:effectLst/>
                <a:latin typeface="Segoe Sans Text" pitchFamily="2" charset="0"/>
                <a:ea typeface="+mn-ea"/>
                <a:cs typeface="+mn-cs"/>
              </a:rPr>
              <a:t>API Management level, </a:t>
            </a:r>
            <a:r>
              <a:rPr lang="en-GB" sz="1200" kern="1200">
                <a:solidFill>
                  <a:schemeClr val="tx1"/>
                </a:solidFill>
                <a:effectLst/>
                <a:latin typeface="Segoe Sans Text" pitchFamily="2" charset="0"/>
                <a:ea typeface="+mn-ea"/>
                <a:cs typeface="+mn-cs"/>
              </a:rPr>
              <a:t>you have built-in monitoring logs, requests and responses. Again, after you collect the data, you can leverage Evaluation SDK for performance and safety metrics, and use those logs for audit trails, chargebacks or SLA monitoring.</a:t>
            </a:r>
            <a:br>
              <a:rPr lang="en-GB" sz="1200" b="1"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To encapsulate, all these monitoring options provide a comprehensive framework to ensure robust and efficient system operations. They allow you to manage production SLAs effectively and roll out new versions of models in production, maintaining high operational standards.</a:t>
            </a: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a:p>
            <a:endParaRPr lang="en-GB" sz="1200" kern="1200">
              <a:solidFill>
                <a:schemeClr val="tx1"/>
              </a:solidFill>
              <a:effectLst/>
              <a:latin typeface="Segoe Sans Text" pitchFamily="2" charset="0"/>
              <a:ea typeface="+mn-ea"/>
              <a:cs typeface="+mn-cs"/>
            </a:endParaRPr>
          </a:p>
        </p:txBody>
      </p:sp>
      <p:sp>
        <p:nvSpPr>
          <p:cNvPr id="4" name="Slide Number Placeholder 3">
            <a:extLst>
              <a:ext uri="{FF2B5EF4-FFF2-40B4-BE49-F238E27FC236}">
                <a16:creationId xmlns:a16="http://schemas.microsoft.com/office/drawing/2014/main" id="{FC0C4867-57CE-0D59-532D-9032046890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51185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This dashboard is out of the box and you can reach this on the AOAI resource level from Overview tab. This is segmented into four key categories: HTTP Requests, Token-based Usage, PTU Utilization, and Fine-Tuning. Each of these categories offers critical metrics to help you monitor and optimize your AI deployments.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For example, you can track Azure OpenAI requests by model name, model version, deployment, and status code. This allows you to understand the usage patterns and performance across different models and deployments, ensuring that you can quickly identify and resolve any issues.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And let's not forget the ability to create alert rules based on specific signals.</a:t>
            </a:r>
          </a:p>
          <a:p>
            <a:r>
              <a:rPr lang="en-GB" sz="1200" kern="1200">
                <a:solidFill>
                  <a:schemeClr val="tx1"/>
                </a:solidFill>
                <a:effectLst/>
                <a:latin typeface="Segoe Sans Text" pitchFamily="2" charset="0"/>
                <a:ea typeface="+mn-ea"/>
                <a:cs typeface="+mn-cs"/>
              </a:rPr>
              <a:t>Additionally, enabling diagnostic settings allows you to collect detailed data, further enhancing your monitoring capabilities.</a:t>
            </a:r>
            <a:br>
              <a:rPr lang="en-GB" sz="1200" b="1"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As large organizations increasingly adopt generative AI models, it becomes crucial to audit and log their usage to ensure responsible use and maintain corporate compliance.</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This leads us to our next topic: API Management Logging Options. </a:t>
            </a:r>
          </a:p>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154338-A073-4661-BF20-52EA06646E26}"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26123815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Yes, the APIM Logging Options solution provides organization-level logging and monitoring capabilities for all interactions with AI models. </a:t>
            </a:r>
          </a:p>
          <a:p>
            <a:r>
              <a:rPr lang="en-GB" sz="1200" kern="1200">
                <a:solidFill>
                  <a:schemeClr val="tx1"/>
                </a:solidFill>
                <a:effectLst/>
                <a:latin typeface="Segoe Sans Text" pitchFamily="2" charset="0"/>
                <a:ea typeface="+mn-ea"/>
                <a:cs typeface="+mn-cs"/>
              </a:rPr>
              <a:t>The various logging options available include Blob Storage, Application Insights, Event Hub, and APIM AI Monitoring. Each of these options offers unique advantages for storing and </a:t>
            </a:r>
            <a:r>
              <a:rPr lang="en-GB" sz="1200" kern="1200" err="1">
                <a:solidFill>
                  <a:schemeClr val="tx1"/>
                </a:solidFill>
                <a:effectLst/>
                <a:latin typeface="Segoe Sans Text" pitchFamily="2" charset="0"/>
                <a:ea typeface="+mn-ea"/>
                <a:cs typeface="+mn-cs"/>
              </a:rPr>
              <a:t>analyzing</a:t>
            </a:r>
            <a:r>
              <a:rPr lang="en-GB" sz="1200" kern="1200">
                <a:solidFill>
                  <a:schemeClr val="tx1"/>
                </a:solidFill>
                <a:effectLst/>
                <a:latin typeface="Segoe Sans Text" pitchFamily="2" charset="0"/>
                <a:ea typeface="+mn-ea"/>
                <a:cs typeface="+mn-cs"/>
              </a:rPr>
              <a:t> log data. For instance, Application Insights provides powerful analytics and visualization capabilities.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You can decide which logging option is best for your company to use while designing APIM in your AI Landing Zone.</a:t>
            </a:r>
          </a:p>
        </p:txBody>
      </p:sp>
      <p:sp>
        <p:nvSpPr>
          <p:cNvPr id="4" name="Slide Number Placeholder 3"/>
          <p:cNvSpPr>
            <a:spLocks noGrp="1"/>
          </p:cNvSpPr>
          <p:nvPr>
            <p:ph type="sldNum" sz="quarter" idx="5"/>
          </p:nvPr>
        </p:nvSpPr>
        <p:spPr/>
        <p:txBody>
          <a:bodyPr/>
          <a:lstStyle/>
          <a:p>
            <a:fld id="{BD154338-A073-4661-BF20-52EA06646E26}" type="slidenum">
              <a:rPr lang="en-US" smtClean="0"/>
              <a:pPr/>
              <a:t>64</a:t>
            </a:fld>
            <a:endParaRPr lang="en-US"/>
          </a:p>
        </p:txBody>
      </p:sp>
    </p:spTree>
    <p:extLst>
      <p:ext uri="{BB962C8B-B14F-4D97-AF65-F5344CB8AC3E}">
        <p14:creationId xmlns:p14="http://schemas.microsoft.com/office/powerpoint/2010/main" val="39174206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8145-1D53-482C-6647-3B3A55F09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9B5B8-2E4F-7AD1-5C75-8A8D74D7F3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31500-48CE-D19C-0C22-2932205C9C5B}"/>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Now, speaking of monitoring, once we have these logging mechanisms in place, the next step is to ensure ongoing performance tracking and continuous improvement, even after going into production. </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Post-production, it's essential to have a robust monitoring system integrated with evaluations in place for continuous performance tracking. Evaluations aren't just for the initial deployment; they are crucial for ongoing monitoring and continuous improvement</a:t>
            </a:r>
            <a:r>
              <a:rPr lang="en-GB" sz="1200" b="1" kern="1200">
                <a:solidFill>
                  <a:schemeClr val="tx1"/>
                </a:solidFill>
                <a:effectLst/>
                <a:latin typeface="Segoe Sans Text" pitchFamily="2" charset="0"/>
                <a:ea typeface="+mn-ea"/>
                <a:cs typeface="+mn-cs"/>
              </a:rPr>
              <a:t>. </a:t>
            </a:r>
          </a:p>
          <a:p>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By doing so, we can maintain high standards of service.</a:t>
            </a:r>
          </a:p>
        </p:txBody>
      </p:sp>
      <p:sp>
        <p:nvSpPr>
          <p:cNvPr id="4" name="Header Placeholder 3">
            <a:extLst>
              <a:ext uri="{FF2B5EF4-FFF2-40B4-BE49-F238E27FC236}">
                <a16:creationId xmlns:a16="http://schemas.microsoft.com/office/drawing/2014/main" id="{7CA4591A-6CAA-803A-AEAA-17A8CE59877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5" name="Footer Placeholder 4">
            <a:extLst>
              <a:ext uri="{FF2B5EF4-FFF2-40B4-BE49-F238E27FC236}">
                <a16:creationId xmlns:a16="http://schemas.microsoft.com/office/drawing/2014/main" id="{29A4EADE-D288-4805-14A2-919216345FBF}"/>
              </a:ext>
            </a:extLst>
          </p:cNvPr>
          <p:cNvSpPr>
            <a:spLocks noGrp="1"/>
          </p:cNvSpPr>
          <p:nvPr>
            <p:ph type="ftr" sz="quarter" idx="4"/>
          </p:nvPr>
        </p:nvSpPr>
        <p:spPr/>
        <p:txBody>
          <a:bodyPr/>
          <a:lstStyle/>
          <a:p>
            <a:pPr marL="603993" marR="0" lvl="0" indent="0" algn="l" defTabSz="966072"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7572E29-8E92-5797-D46F-82FE29B63DC7}"/>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
        <p:nvSpPr>
          <p:cNvPr id="7" name="Slide Number Placeholder 6">
            <a:extLst>
              <a:ext uri="{FF2B5EF4-FFF2-40B4-BE49-F238E27FC236}">
                <a16:creationId xmlns:a16="http://schemas.microsoft.com/office/drawing/2014/main" id="{01A164F8-8493-798F-2B4D-DBE7913B064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0287111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49835-C3E6-ADC5-348A-01C9FEF3ED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7FC9D-D3AE-85CA-C0AE-ABF791530E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4FD01-CC63-98ED-C53B-093C33241EFE}"/>
              </a:ext>
            </a:extLst>
          </p:cNvPr>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a:solidFill>
                  <a:schemeClr val="tx1"/>
                </a:solidFill>
                <a:effectLst/>
                <a:latin typeface="Segoe Sans Text" pitchFamily="2" charset="0"/>
                <a:ea typeface="+mn-ea"/>
                <a:cs typeface="+mn-cs"/>
              </a:rPr>
              <a:t>In that case, let's now delve into the Online Evaluation which is named ad Generative AI App Dashboard. This preview feature is designed to provide real-time insights into the performance and usage of your generative AI applications.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 dashboard offers several key metrics that are essential for monitoring and evaluating AI applications. This provides you to view  Evaluation Metrics to assess the performance of your GenAI solutions. </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The dashboard also supports debugging by offering detailed logs and metrics that help identify and resolve issues quickly. We can see some of these detailed logs in the video being played on the slide.</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By providing a comprehensive view of token consumption, evaluation metrics, and support for debugging, this dashboard empowers developers to manage and optimize their AI applications effectively.</a:t>
            </a:r>
          </a:p>
          <a:p>
            <a:pPr marL="342900" indent="-342900" algn="l">
              <a:buFont typeface="Arial" panose="020B0604020202020204" pitchFamily="34" charset="0"/>
              <a:buChar char="•"/>
            </a:pPr>
            <a:endParaRPr lang="en-GB" sz="1200"/>
          </a:p>
        </p:txBody>
      </p:sp>
      <p:sp>
        <p:nvSpPr>
          <p:cNvPr id="4" name="Header Placeholder 3">
            <a:extLst>
              <a:ext uri="{FF2B5EF4-FFF2-40B4-BE49-F238E27FC236}">
                <a16:creationId xmlns:a16="http://schemas.microsoft.com/office/drawing/2014/main" id="{D6B2B853-0719-6A5F-415D-579BAF5DC683}"/>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95CCCFA9-DF3E-B34F-42DA-6BC71614047A}"/>
              </a:ext>
            </a:extLst>
          </p:cNvPr>
          <p:cNvSpPr>
            <a:spLocks noGrp="1"/>
          </p:cNvSpPr>
          <p:nvPr>
            <p:ph type="ftr" sz="quarter" idx="4"/>
          </p:nvPr>
        </p:nvSpPr>
        <p:spPr/>
        <p:txBody>
          <a:bodyPr/>
          <a:lstStyle/>
          <a:p>
            <a:pPr marL="0" marR="0" lvl="0" indent="0" algn="l" defTabSz="93116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A49A770-E2ED-769B-B456-C00E334F58EC}"/>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E2088-8A48-4824-A1CB-81E9FC54B89E}"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A2B08941-30CB-E7F3-C75E-E9C8859535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1497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FF98E-0BC3-0737-3AF2-658D4B1FC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A52762-4E6D-FB30-16A7-370E42D05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27F31-67FD-3282-47C0-529479CD677A}"/>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And Tracing feature which is designed to provide enhanced observability and debugging tools for any GenAI applications.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It provides Enhanced Observability. This feature offers clear insights into the entire Gen AI Application lifecycle, making it easier to identify and resolve issues.</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This means that developers can spend more time on innovation and less time on troubleshooting.</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Seamless Instrumentation is also a key feature. It allows for the seamless integration of telemetry into the Azure AI Inference API. This ensures that you can monitor performance and debug issues without any additional overhead.</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All these features combined make Tracing on AI Foundry a powerful tool for developers. It enhances observability, simplifies debugging, and ensures secure data handling, all while maintaining a user-centric approach.</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p:txBody>
      </p:sp>
      <p:sp>
        <p:nvSpPr>
          <p:cNvPr id="4" name="Header Placeholder 3">
            <a:extLst>
              <a:ext uri="{FF2B5EF4-FFF2-40B4-BE49-F238E27FC236}">
                <a16:creationId xmlns:a16="http://schemas.microsoft.com/office/drawing/2014/main" id="{4620A025-E0C9-2BF0-F935-C8D687D3D9A3}"/>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B0480850-B4B8-9F58-E066-9793CE918FB0}"/>
              </a:ext>
            </a:extLst>
          </p:cNvPr>
          <p:cNvSpPr>
            <a:spLocks noGrp="1"/>
          </p:cNvSpPr>
          <p:nvPr>
            <p:ph type="ftr" sz="quarter" idx="4"/>
          </p:nvPr>
        </p:nvSpPr>
        <p:spPr/>
        <p:txBody>
          <a:bodyPr/>
          <a:lstStyle/>
          <a:p>
            <a:pPr marL="0" marR="0" lvl="0" indent="0" algn="l" defTabSz="93116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188DDEAE-F230-118D-7BAF-973456BBA4BB}"/>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E2088-8A48-4824-A1CB-81E9FC54B89E}"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D88F70CE-B6A2-32F6-D43E-FF2C02BEE9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24469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790AB-75C3-30DE-A638-6AE4DA6D394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B3254C-AE0F-835D-CCE4-653DBE688200}"/>
              </a:ext>
            </a:extLst>
          </p:cNvPr>
          <p:cNvSpPr>
            <a:spLocks noGrp="1"/>
          </p:cNvSpPr>
          <p:nvPr>
            <p:ph type="sldNum" sz="quarter" idx="10"/>
          </p:nvPr>
        </p:nvSpPr>
        <p:spPr/>
        <p:txBody>
          <a:bodyPr/>
          <a:lstStyle/>
          <a:p>
            <a:fld id="{F475C4C8-7DEA-455A-9336-A4C7DB3AE516}" type="slidenum">
              <a:rPr lang="en-US" smtClean="0"/>
              <a:pPr/>
              <a:t>68</a:t>
            </a:fld>
            <a:endParaRPr lang="en-US"/>
          </a:p>
        </p:txBody>
      </p:sp>
      <p:sp>
        <p:nvSpPr>
          <p:cNvPr id="6" name="Date Placeholder 5">
            <a:extLst>
              <a:ext uri="{FF2B5EF4-FFF2-40B4-BE49-F238E27FC236}">
                <a16:creationId xmlns:a16="http://schemas.microsoft.com/office/drawing/2014/main" id="{1A297600-A51E-547F-0910-6753192D9B5C}"/>
              </a:ext>
            </a:extLst>
          </p:cNvPr>
          <p:cNvSpPr>
            <a:spLocks noGrp="1"/>
          </p:cNvSpPr>
          <p:nvPr>
            <p:ph type="dt" idx="12"/>
          </p:nvPr>
        </p:nvSpPr>
        <p:spPr/>
        <p:txBody>
          <a:bodyPr/>
          <a:lstStyle/>
          <a:p>
            <a:fld id="{997C9337-20C5-41EF-80F6-63D1F94ABC0C}" type="datetime1">
              <a:rPr lang="en-US" smtClean="0"/>
              <a:t>10/19/2026</a:t>
            </a:fld>
            <a:endParaRPr lang="en-US"/>
          </a:p>
        </p:txBody>
      </p:sp>
      <p:sp>
        <p:nvSpPr>
          <p:cNvPr id="10" name="Slide Image Placeholder 9">
            <a:extLst>
              <a:ext uri="{FF2B5EF4-FFF2-40B4-BE49-F238E27FC236}">
                <a16:creationId xmlns:a16="http://schemas.microsoft.com/office/drawing/2014/main" id="{FE1E929B-33F7-C6C9-3BDB-37C47548E345}"/>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A7254DFC-D288-2295-2D9C-61DB64764D38}"/>
              </a:ext>
            </a:extLst>
          </p:cNvPr>
          <p:cNvSpPr>
            <a:spLocks noGrp="1"/>
          </p:cNvSpPr>
          <p:nvPr>
            <p:ph type="body" idx="1"/>
          </p:nvPr>
        </p:nvSpPr>
        <p:spPr>
          <a:xfrm>
            <a:off x="685800" y="4400550"/>
            <a:ext cx="5486400" cy="3600450"/>
          </a:xfrm>
          <a:prstGeom prst="rect">
            <a:avLst/>
          </a:prstGeom>
        </p:spPr>
        <p:txBody>
          <a:bodyPr/>
          <a:lstStyle/>
          <a:p>
            <a:r>
              <a:rPr lang="en-GB" sz="900" kern="1200">
                <a:solidFill>
                  <a:schemeClr val="tx1"/>
                </a:solidFill>
                <a:effectLst/>
                <a:latin typeface="Segoe Sans Text" pitchFamily="2" charset="0"/>
                <a:ea typeface="+mn-ea"/>
                <a:cs typeface="+mn-cs"/>
              </a:rPr>
              <a:t>And our final demo will focus on Monitoring, specifically the "Deploying &amp; Monitoring" stage in the GenAI Lifecycle. This demo will showcase how to effectively monitor GenAI applications to ensure they operate safely and meet both business and ethical standards.</a:t>
            </a:r>
          </a:p>
          <a:p>
            <a:endParaRPr lang="en-GB" sz="900"/>
          </a:p>
        </p:txBody>
      </p:sp>
      <p:sp>
        <p:nvSpPr>
          <p:cNvPr id="2" name="Header Placeholder 1">
            <a:extLst>
              <a:ext uri="{FF2B5EF4-FFF2-40B4-BE49-F238E27FC236}">
                <a16:creationId xmlns:a16="http://schemas.microsoft.com/office/drawing/2014/main" id="{DE6F6A9C-13D2-4E1A-E321-322B7F7AB45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7017043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87BD6-2114-6FAC-E238-F9607EE77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5F598-A1D9-AEC1-50D9-2E809730A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C7374-DCA4-2E94-84B9-EB4B0A72CA1E}"/>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The Management loop encompasses the prototyping, building, and operationalization phases, focusing on governance, security, and compliance. This loop ensures that all activities align with strict standards while preserving the agility required for rapid development. It establishes a framework that balances speed with a rigorous commitment to best practices.</a:t>
            </a:r>
          </a:p>
          <a:p>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Azure AI services are designed to address and simplify the inherent complexities of the Enterprise GenAI Lifecycle. </a:t>
            </a:r>
          </a:p>
        </p:txBody>
      </p:sp>
      <p:sp>
        <p:nvSpPr>
          <p:cNvPr id="4" name="Slide Number Placeholder 3">
            <a:extLst>
              <a:ext uri="{FF2B5EF4-FFF2-40B4-BE49-F238E27FC236}">
                <a16:creationId xmlns:a16="http://schemas.microsoft.com/office/drawing/2014/main" id="{F8006DA4-BAF0-0952-E755-A55900498EC5}"/>
              </a:ext>
            </a:extLst>
          </p:cNvPr>
          <p:cNvSpPr>
            <a:spLocks noGrp="1"/>
          </p:cNvSpPr>
          <p:nvPr>
            <p:ph type="sldNum" sz="quarter" idx="5"/>
          </p:nvPr>
        </p:nvSpPr>
        <p:spPr/>
        <p:txBody>
          <a:bodyPr/>
          <a:lstStyle/>
          <a:p>
            <a:fld id="{BD154338-A073-4661-BF20-52EA06646E26}" type="slidenum">
              <a:rPr lang="en-US" smtClean="0"/>
              <a:pPr/>
              <a:t>69</a:t>
            </a:fld>
            <a:endParaRPr lang="en-US"/>
          </a:p>
        </p:txBody>
      </p:sp>
    </p:spTree>
    <p:extLst>
      <p:ext uri="{BB962C8B-B14F-4D97-AF65-F5344CB8AC3E}">
        <p14:creationId xmlns:p14="http://schemas.microsoft.com/office/powerpoint/2010/main" val="21785308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Lets talk about the specific Azure capabilities for “management” . These include Role-Based Access Control (RBAC), Policies, Azure API Management (APIM), and the Azure AI Foundry Management </a:t>
            </a:r>
            <a:r>
              <a:rPr lang="en-GB" sz="1200" kern="1200" err="1">
                <a:solidFill>
                  <a:schemeClr val="tx1"/>
                </a:solidFill>
                <a:effectLst/>
                <a:latin typeface="Segoe Sans Text" pitchFamily="2" charset="0"/>
                <a:ea typeface="+mn-ea"/>
                <a:cs typeface="+mn-cs"/>
              </a:rPr>
              <a:t>Center</a:t>
            </a:r>
            <a:r>
              <a:rPr lang="en-GB" sz="1200" kern="1200">
                <a:solidFill>
                  <a:schemeClr val="tx1"/>
                </a:solidFill>
                <a:effectLst/>
                <a:latin typeface="Segoe Sans Text" pitchFamily="2" charset="0"/>
                <a:ea typeface="+mn-ea"/>
                <a:cs typeface="+mn-cs"/>
              </a:rPr>
              <a:t>. These tools are integral to ensuring secure, compliant, and efficient AI operations.</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a:p>
            <a:r>
              <a:rPr lang="en-GB" sz="1200" kern="1200">
                <a:solidFill>
                  <a:schemeClr val="tx1"/>
                </a:solidFill>
                <a:effectLst/>
                <a:latin typeface="Segoe Sans Text" pitchFamily="2" charset="0"/>
                <a:ea typeface="+mn-ea"/>
                <a:cs typeface="+mn-cs"/>
              </a:rPr>
              <a:t>One of the foundational elements is Role-Based Access Control, or RBAC. This feature is essential for managing permissions across all Azure AI services. </a:t>
            </a:r>
          </a:p>
          <a:p>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Next, we have Policies. Policies are crucial for maintaining security and compliance across your Azure environment. With policies, you can enforce organizational standards and assess compliance at scale. For example ,you can use built-in policy forcing to use only approved GenAI models in production.</a:t>
            </a:r>
          </a:p>
          <a:p>
            <a:r>
              <a:rPr lang="en-GB" sz="1200" kern="1200">
                <a:solidFill>
                  <a:schemeClr val="tx1"/>
                </a:solidFill>
                <a:effectLst/>
                <a:latin typeface="Segoe Sans Text" pitchFamily="2" charset="0"/>
                <a:ea typeface="+mn-ea"/>
                <a:cs typeface="+mn-cs"/>
              </a:rPr>
              <a:t>Moving on to Azure API Management, or APIM, this tool provides enhanced security controls and allows you to audit and monitor Azure OpenAI models. Through APIM, you can manage authentication, control quotas, and oversee AI services consumption. It's an all-in-one solution for managing API interactions securely and efficiently.</a:t>
            </a:r>
            <a:br>
              <a:rPr lang="en-GB" sz="1200" kern="1200">
                <a:solidFill>
                  <a:schemeClr val="tx1"/>
                </a:solidFill>
                <a:effectLst/>
                <a:latin typeface="Segoe Sans Text" pitchFamily="2" charset="0"/>
                <a:ea typeface="+mn-ea"/>
                <a:cs typeface="+mn-cs"/>
              </a:rPr>
            </a:br>
            <a:br>
              <a:rPr lang="en-GB" sz="1200"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And another powerful feature is the Azure AI Foundry Management </a:t>
            </a:r>
            <a:r>
              <a:rPr lang="en-GB" sz="1200" kern="1200" err="1">
                <a:solidFill>
                  <a:schemeClr val="tx1"/>
                </a:solidFill>
                <a:effectLst/>
                <a:latin typeface="Segoe Sans Text" pitchFamily="2" charset="0"/>
                <a:ea typeface="+mn-ea"/>
                <a:cs typeface="+mn-cs"/>
              </a:rPr>
              <a:t>Center</a:t>
            </a:r>
            <a:r>
              <a:rPr lang="en-GB" sz="1200" kern="1200">
                <a:solidFill>
                  <a:schemeClr val="tx1"/>
                </a:solidFill>
                <a:effectLst/>
                <a:latin typeface="Segoe Sans Text" pitchFamily="2" charset="0"/>
                <a:ea typeface="+mn-ea"/>
                <a:cs typeface="+mn-cs"/>
              </a:rPr>
              <a:t>. This centralized hub brings all essential subscription information into one place. It includes details like connected resources, access privileges, and quota usage. This centralization saves simplifies management of the GenAI project. IT admins can also use the Management </a:t>
            </a:r>
            <a:r>
              <a:rPr lang="en-GB" sz="1200" kern="1200" err="1">
                <a:solidFill>
                  <a:schemeClr val="tx1"/>
                </a:solidFill>
                <a:effectLst/>
                <a:latin typeface="Segoe Sans Text" pitchFamily="2" charset="0"/>
                <a:ea typeface="+mn-ea"/>
                <a:cs typeface="+mn-cs"/>
              </a:rPr>
              <a:t>Center</a:t>
            </a:r>
            <a:r>
              <a:rPr lang="en-GB" sz="1200" kern="1200">
                <a:solidFill>
                  <a:schemeClr val="tx1"/>
                </a:solidFill>
                <a:effectLst/>
                <a:latin typeface="Segoe Sans Text" pitchFamily="2" charset="0"/>
                <a:ea typeface="+mn-ea"/>
                <a:cs typeface="+mn-cs"/>
              </a:rPr>
              <a:t> to enable simplified self-serve experiences for developers, supporting rapid innovation at scale while maintaining enterprise-level security. This balance between flexibility and control is crucial for fostering a productive development environment.</a:t>
            </a:r>
            <a:br>
              <a:rPr lang="en-GB" sz="1200" kern="1200">
                <a:solidFill>
                  <a:schemeClr val="tx1"/>
                </a:solidFill>
                <a:effectLst/>
                <a:latin typeface="Segoe Sans Text" pitchFamily="2" charset="0"/>
                <a:ea typeface="+mn-ea"/>
                <a:cs typeface="+mn-cs"/>
              </a:rPr>
            </a:br>
            <a:endParaRPr lang="en-GB" sz="1200" kern="1200">
              <a:solidFill>
                <a:schemeClr val="tx1"/>
              </a:solidFill>
              <a:effectLst/>
              <a:latin typeface="Segoe Sans Text" pitchFamily="2"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154338-A073-4661-BF20-52EA06646E26}" type="slidenum">
              <a:rPr kumimoji="0" lang="en-US" sz="1200" b="0" i="0" u="none" strike="noStrike" kern="1200" cap="none" spc="0" normalizeH="0" baseline="0" noProof="0" smtClean="0">
                <a:ln>
                  <a:noFill/>
                </a:ln>
                <a:solidFill>
                  <a:prstClr val="black"/>
                </a:solidFill>
                <a:effectLst/>
                <a:uLnTx/>
                <a:uFillTx/>
                <a:latin typeface="Segoe Sans Tex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Segoe Sans Text" pitchFamily="2" charset="0"/>
              <a:ea typeface="+mn-ea"/>
              <a:cs typeface="+mn-cs"/>
            </a:endParaRPr>
          </a:p>
        </p:txBody>
      </p:sp>
    </p:spTree>
    <p:extLst>
      <p:ext uri="{BB962C8B-B14F-4D97-AF65-F5344CB8AC3E}">
        <p14:creationId xmlns:p14="http://schemas.microsoft.com/office/powerpoint/2010/main" val="387861233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28F51-E189-4EA0-0496-72250979E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24960-0FFB-3A34-9F7E-964B8ECD5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85BB58-22D0-AF0C-B63A-2AD7C1FE488D}"/>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And another exciting feature, AI reports for “management” stage in GenAI lifecycle. These reports are a game-changer for governance and compliance. Developers can use templates to quickly assemble key project details, such as model versions, content filters, and evaluation metrics, into a unified report. These reports can then be exported and reviewed by internal stakeholders, ensuring that all AI projects meet governance, risk, and compliance requirements.</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AI reports not only help in documenting project details but also facilitate ongoing audits and ensure production readiness. This is especially valuable for maintaining a high standard of AI governance and simplifying cross-functional collaboration.</a:t>
            </a:r>
            <a:br>
              <a:rPr lang="en-GB" sz="1200"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kern="1200">
                <a:solidFill>
                  <a:schemeClr val="tx1"/>
                </a:solidFill>
                <a:effectLst/>
                <a:latin typeface="Segoe Sans Text" pitchFamily="2" charset="0"/>
                <a:ea typeface="+mn-ea"/>
                <a:cs typeface="+mn-cs"/>
              </a:rPr>
              <a:t>So, as you can see, Azure offers a comprehensive suite of management capabilities that support the entire AI lifecycle.</a:t>
            </a:r>
          </a:p>
          <a:p>
            <a:r>
              <a:rPr lang="en-GB" sz="1200" kern="1200">
                <a:solidFill>
                  <a:schemeClr val="tx1"/>
                </a:solidFill>
                <a:effectLst/>
                <a:latin typeface="Segoe Sans Text" pitchFamily="2" charset="0"/>
                <a:ea typeface="+mn-ea"/>
                <a:cs typeface="+mn-cs"/>
              </a:rPr>
              <a:t>And one last thing remained to consider: Managing costs. </a:t>
            </a:r>
          </a:p>
        </p:txBody>
      </p:sp>
      <p:sp>
        <p:nvSpPr>
          <p:cNvPr id="4" name="Header Placeholder 3">
            <a:extLst>
              <a:ext uri="{FF2B5EF4-FFF2-40B4-BE49-F238E27FC236}">
                <a16:creationId xmlns:a16="http://schemas.microsoft.com/office/drawing/2014/main" id="{011FE3B5-E9BD-AA3C-B10B-28EE2E3F06ED}"/>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AFDC43E3-1D04-5C61-F2E0-9FA001BC8CEC}"/>
              </a:ext>
            </a:extLst>
          </p:cNvPr>
          <p:cNvSpPr>
            <a:spLocks noGrp="1"/>
          </p:cNvSpPr>
          <p:nvPr>
            <p:ph type="ftr" sz="quarter" idx="4"/>
          </p:nvPr>
        </p:nvSpPr>
        <p:spPr/>
        <p:txBody>
          <a:bodyPr/>
          <a:lstStyle/>
          <a:p>
            <a:pPr marL="0" marR="0" lvl="0" indent="0" algn="l" defTabSz="93116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4D21002-F65E-E75A-D2DB-88C6489038A4}"/>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E2088-8A48-4824-A1CB-81E9FC54B89E}"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D5368DE1-CA80-7880-5570-4883C058BA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54734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Segoe Sans Text" pitchFamily="2" charset="0"/>
                <a:ea typeface="+mn-ea"/>
                <a:cs typeface="+mn-cs"/>
              </a:rPr>
              <a:t>Yes, effective cost management is vital for any organization.  Azure provides a comprehensive suite of tools to help you estimate, monitor, and control your spending.</a:t>
            </a:r>
            <a:endParaRPr lang="en-GB" sz="1200" kern="1200">
              <a:solidFill>
                <a:schemeClr val="tx1"/>
              </a:solidFill>
              <a:effectLst/>
              <a:latin typeface="Segoe Sans Text" pitchFamily="2" charset="0"/>
              <a:ea typeface="+mn-ea"/>
              <a:cs typeface="+mn-cs"/>
            </a:endParaRPr>
          </a:p>
          <a:p>
            <a:r>
              <a:rPr lang="en-GB" sz="1200" b="1" kern="1200">
                <a:solidFill>
                  <a:schemeClr val="tx1"/>
                </a:solidFill>
                <a:effectLst/>
                <a:latin typeface="Segoe Sans Text" pitchFamily="2" charset="0"/>
                <a:ea typeface="+mn-ea"/>
                <a:cs typeface="+mn-cs"/>
              </a:rPr>
              <a:t>One of the first tools you can use is the Azure pricing calculator. </a:t>
            </a:r>
          </a:p>
          <a:p>
            <a:endParaRPr lang="en-GB" sz="1200" kern="1200">
              <a:solidFill>
                <a:schemeClr val="tx1"/>
              </a:solidFill>
              <a:effectLst/>
              <a:latin typeface="Segoe Sans Text" pitchFamily="2" charset="0"/>
              <a:ea typeface="+mn-ea"/>
              <a:cs typeface="+mn-cs"/>
            </a:endParaRPr>
          </a:p>
          <a:p>
            <a:r>
              <a:rPr lang="en-GB" sz="1200" b="1" kern="1200">
                <a:solidFill>
                  <a:schemeClr val="tx1"/>
                </a:solidFill>
                <a:effectLst/>
                <a:latin typeface="Segoe Sans Text" pitchFamily="2" charset="0"/>
                <a:ea typeface="+mn-ea"/>
                <a:cs typeface="+mn-cs"/>
              </a:rPr>
              <a:t>Once you have a project underway, understanding the billing model for Azure OpenAI, Open Source Models, Fine-tuned Models, and AI Services becomes essential. By understanding these billing models, you can better predict and manage your costs. </a:t>
            </a:r>
          </a:p>
          <a:p>
            <a:endParaRPr lang="en-GB" sz="1200" b="1" kern="1200">
              <a:solidFill>
                <a:schemeClr val="tx1"/>
              </a:solidFill>
              <a:effectLst/>
              <a:latin typeface="Segoe Sans Text" pitchFamily="2" charset="0"/>
              <a:ea typeface="+mn-ea"/>
              <a:cs typeface="+mn-cs"/>
            </a:endParaRPr>
          </a:p>
          <a:p>
            <a:r>
              <a:rPr lang="en-GB" sz="1200" b="1" kern="1200">
                <a:solidFill>
                  <a:schemeClr val="tx1"/>
                </a:solidFill>
                <a:effectLst/>
                <a:latin typeface="Segoe Sans Text" pitchFamily="2" charset="0"/>
                <a:ea typeface="+mn-ea"/>
                <a:cs typeface="+mn-cs"/>
              </a:rPr>
              <a:t>Customers can set up budgets to keep your spending in check and also can create alerts to notify you when your spending approaches a predefined threshold. </a:t>
            </a:r>
          </a:p>
          <a:p>
            <a:br>
              <a:rPr lang="en-GB" sz="1200" b="1"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They can Monitor their  costs through cost analysis ,allowing you to review forecasted costs and identify trends. This helps you make informed decisions on where to allocate resources and where to cut back.</a:t>
            </a:r>
            <a:br>
              <a:rPr lang="en-GB" sz="1200" b="1"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Finally, they can export cost data for further analysis. This feature is particularly useful for detailed financial planning and reporting, enabling you to integrate Azure cost data with other financial tools and processes.</a:t>
            </a:r>
            <a:br>
              <a:rPr lang="en-GB" sz="1200" b="1"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By leveraging these cost management tools, organizations can maintain financial control over their AI projects, ensuring that they stay within budget while maximizing the value of their investments.</a:t>
            </a:r>
            <a:br>
              <a:rPr lang="en-GB" sz="1200" b="1" kern="1200">
                <a:solidFill>
                  <a:schemeClr val="tx1"/>
                </a:solidFill>
                <a:effectLst/>
                <a:latin typeface="Segoe Sans Text" pitchFamily="2" charset="0"/>
                <a:ea typeface="+mn-ea"/>
                <a:cs typeface="+mn-cs"/>
              </a:rPr>
            </a:br>
            <a:r>
              <a:rPr lang="en-GB" sz="1200" b="1" kern="1200">
                <a:solidFill>
                  <a:schemeClr val="tx1"/>
                </a:solidFill>
                <a:effectLst/>
                <a:latin typeface="Segoe Sans Text" pitchFamily="2" charset="0"/>
                <a:ea typeface="+mn-ea"/>
                <a:cs typeface="+mn-cs"/>
              </a:rPr>
              <a:t>Effective cost management, combined with robust governance and management controls, creates a strong foundation for deploying AI solutions at scale. This holistic approach ensures that AI initiatives are not only innovative but also sustainable and compliant.</a:t>
            </a:r>
            <a:br>
              <a:rPr lang="en-GB" sz="1200" b="1" kern="1200">
                <a:solidFill>
                  <a:schemeClr val="tx1"/>
                </a:solidFill>
                <a:effectLst/>
                <a:latin typeface="Segoe Sans Text" pitchFamily="2" charset="0"/>
                <a:ea typeface="+mn-ea"/>
                <a:cs typeface="+mn-cs"/>
              </a:rPr>
            </a:br>
            <a:br>
              <a:rPr lang="en-GB" sz="1200" b="1" kern="1200">
                <a:solidFill>
                  <a:schemeClr val="tx1"/>
                </a:solidFill>
                <a:effectLst/>
                <a:latin typeface="Segoe Sans Text" pitchFamily="2" charset="0"/>
                <a:ea typeface="+mn-ea"/>
                <a:cs typeface="+mn-cs"/>
              </a:rPr>
            </a:br>
            <a:endParaRPr lang="en-GB" sz="180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A4EC1-C524-ED45-A185-10510AA0C8D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47284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53D2D-C596-70FC-1C6C-5A147F534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18AE8-9D89-D3BC-C5F2-9018ED3F0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53ABF-6774-92F1-611C-3FEC6F538C4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1C210F4-2675-46C6-61B4-5C5E385BB85A}"/>
              </a:ext>
            </a:extLst>
          </p:cNvPr>
          <p:cNvSpPr>
            <a:spLocks noGrp="1"/>
          </p:cNvSpPr>
          <p:nvPr>
            <p:ph type="sldNum" sz="quarter" idx="5"/>
          </p:nvPr>
        </p:nvSpPr>
        <p:spPr/>
        <p:txBody>
          <a:bodyPr/>
          <a:lstStyle/>
          <a:p>
            <a:fld id="{BD154338-A073-4661-BF20-52EA06646E26}" type="slidenum">
              <a:rPr lang="en-US" smtClean="0"/>
              <a:pPr/>
              <a:t>73</a:t>
            </a:fld>
            <a:endParaRPr lang="en-US"/>
          </a:p>
        </p:txBody>
      </p:sp>
    </p:spTree>
    <p:extLst>
      <p:ext uri="{BB962C8B-B14F-4D97-AF65-F5344CB8AC3E}">
        <p14:creationId xmlns:p14="http://schemas.microsoft.com/office/powerpoint/2010/main" val="7786759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211D8-8FCE-E6B8-09B5-ED5113D0F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ED711-D1A1-00BA-4E96-F36CC52BB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C50BE-32C0-5504-8C63-B9D74C5DDB4F}"/>
              </a:ext>
            </a:extLst>
          </p:cNvPr>
          <p:cNvSpPr>
            <a:spLocks noGrp="1"/>
          </p:cNvSpPr>
          <p:nvPr>
            <p:ph type="body" idx="1"/>
          </p:nvPr>
        </p:nvSpPr>
        <p:spPr/>
        <p:txBody>
          <a:bodyPr/>
          <a:lstStyle/>
          <a:p>
            <a:r>
              <a:rPr lang="en-GB" sz="1200" kern="1200">
                <a:solidFill>
                  <a:schemeClr val="tx1"/>
                </a:solidFill>
                <a:effectLst/>
                <a:latin typeface="Segoe Sans Text" pitchFamily="2" charset="0"/>
                <a:ea typeface="+mn-ea"/>
                <a:cs typeface="+mn-cs"/>
              </a:rPr>
              <a:t>To summarize, today's </a:t>
            </a:r>
            <a:r>
              <a:rPr lang="en-GB" sz="1200" kern="1200" err="1">
                <a:solidFill>
                  <a:schemeClr val="tx1"/>
                </a:solidFill>
                <a:effectLst/>
                <a:latin typeface="Segoe Sans Text" pitchFamily="2" charset="0"/>
                <a:ea typeface="+mn-ea"/>
                <a:cs typeface="+mn-cs"/>
              </a:rPr>
              <a:t>GenAIOps</a:t>
            </a:r>
            <a:r>
              <a:rPr lang="en-GB" sz="1200" kern="1200">
                <a:solidFill>
                  <a:schemeClr val="tx1"/>
                </a:solidFill>
                <a:effectLst/>
                <a:latin typeface="Segoe Sans Text" pitchFamily="2" charset="0"/>
                <a:ea typeface="+mn-ea"/>
                <a:cs typeface="+mn-cs"/>
              </a:rPr>
              <a:t> session has provided an extensive overview of how to operationalize generative AI applications from development to production. We've discussed the critical stages of the GenAI lifecycle, including Prototyping, Optimizing, and Operationalizing, and explored the comprehensive suite of Azure tools and capabilities designed to support each phase.</a:t>
            </a:r>
          </a:p>
          <a:p>
            <a:endParaRPr lang="en-GB" sz="1200" b="1" kern="1200">
              <a:solidFill>
                <a:schemeClr val="tx1"/>
              </a:solidFill>
              <a:effectLst/>
              <a:latin typeface="Segoe Sans Text" pitchFamily="2" charset="0"/>
              <a:ea typeface="+mn-ea"/>
              <a:cs typeface="+mn-cs"/>
            </a:endParaRPr>
          </a:p>
          <a:p>
            <a:r>
              <a:rPr lang="en-GB" sz="1200" b="1" kern="1200">
                <a:solidFill>
                  <a:schemeClr val="tx1"/>
                </a:solidFill>
                <a:effectLst/>
                <a:latin typeface="Segoe Sans Text" pitchFamily="2" charset="0"/>
                <a:ea typeface="+mn-ea"/>
                <a:cs typeface="+mn-cs"/>
              </a:rPr>
              <a:t>Key Takeaways:</a:t>
            </a:r>
            <a:endParaRPr lang="en-GB" sz="1200" kern="1200">
              <a:solidFill>
                <a:schemeClr val="tx1"/>
              </a:solidFill>
              <a:effectLst/>
              <a:latin typeface="Segoe Sans Text" pitchFamily="2" charset="0"/>
              <a:ea typeface="+mn-ea"/>
              <a:cs typeface="+mn-cs"/>
            </a:endParaRPr>
          </a:p>
          <a:p>
            <a:pPr lvl="0"/>
            <a:r>
              <a:rPr lang="en-GB" sz="1200" b="1" kern="1200">
                <a:solidFill>
                  <a:schemeClr val="tx1"/>
                </a:solidFill>
                <a:effectLst/>
                <a:latin typeface="Segoe Sans Text" pitchFamily="2" charset="0"/>
                <a:ea typeface="+mn-ea"/>
                <a:cs typeface="+mn-cs"/>
              </a:rPr>
              <a:t>GenAI Lifecycle Stages</a:t>
            </a:r>
            <a:r>
              <a:rPr lang="en-GB" sz="1200" kern="1200">
                <a:solidFill>
                  <a:schemeClr val="tx1"/>
                </a:solidFill>
                <a:effectLst/>
                <a:latin typeface="Segoe Sans Text" pitchFamily="2" charset="0"/>
                <a:ea typeface="+mn-ea"/>
                <a:cs typeface="+mn-cs"/>
              </a:rPr>
              <a:t>: Understanding the distinct activities and focuses of each phase—Prototyping, Optimizing, and Operationalizing—is essential for successful AI model development and deployment.</a:t>
            </a:r>
          </a:p>
          <a:p>
            <a:pPr lvl="0"/>
            <a:r>
              <a:rPr lang="en-GB" sz="1200" b="1" kern="1200">
                <a:solidFill>
                  <a:schemeClr val="tx1"/>
                </a:solidFill>
                <a:effectLst/>
                <a:latin typeface="Segoe Sans Text" pitchFamily="2" charset="0"/>
                <a:ea typeface="+mn-ea"/>
                <a:cs typeface="+mn-cs"/>
              </a:rPr>
              <a:t>Azure Capabilities</a:t>
            </a:r>
            <a:r>
              <a:rPr lang="en-GB" sz="1200" kern="1200">
                <a:solidFill>
                  <a:schemeClr val="tx1"/>
                </a:solidFill>
                <a:effectLst/>
                <a:latin typeface="Segoe Sans Text" pitchFamily="2" charset="0"/>
                <a:ea typeface="+mn-ea"/>
                <a:cs typeface="+mn-cs"/>
              </a:rPr>
              <a:t>: Azure offers a robust set of tools for every stage of the AI lifecycle, including Azure Machine Learning, AI Foundry, Azure DevOps, GitHub Actions, APIM, and Azure Monitor. These tools support everything from model selection and fine-tuning to deployment, monitoring, and cost management.</a:t>
            </a:r>
          </a:p>
          <a:p>
            <a:pPr lvl="0"/>
            <a:r>
              <a:rPr lang="en-GB" sz="1200" b="1" kern="1200">
                <a:solidFill>
                  <a:schemeClr val="tx1"/>
                </a:solidFill>
                <a:effectLst/>
                <a:latin typeface="Segoe Sans Text" pitchFamily="2" charset="0"/>
                <a:ea typeface="+mn-ea"/>
                <a:cs typeface="+mn-cs"/>
              </a:rPr>
              <a:t>Operational Excellence</a:t>
            </a:r>
            <a:r>
              <a:rPr lang="en-GB" sz="1200" kern="1200">
                <a:solidFill>
                  <a:schemeClr val="tx1"/>
                </a:solidFill>
                <a:effectLst/>
                <a:latin typeface="Segoe Sans Text" pitchFamily="2" charset="0"/>
                <a:ea typeface="+mn-ea"/>
                <a:cs typeface="+mn-cs"/>
              </a:rPr>
              <a:t>: Deploying AI models involves not only technical considerations but also governance, security, and compliance. The Management loop ensures that all activities adhere to strict standards while maintaining agility.</a:t>
            </a:r>
          </a:p>
          <a:p>
            <a:pPr lvl="0"/>
            <a:r>
              <a:rPr lang="en-GB" sz="1200" b="1" kern="1200">
                <a:solidFill>
                  <a:schemeClr val="tx1"/>
                </a:solidFill>
                <a:effectLst/>
                <a:latin typeface="Segoe Sans Text" pitchFamily="2" charset="0"/>
                <a:ea typeface="+mn-ea"/>
                <a:cs typeface="+mn-cs"/>
              </a:rPr>
              <a:t>Cost Management</a:t>
            </a:r>
            <a:r>
              <a:rPr lang="en-GB" sz="1200" kern="1200">
                <a:solidFill>
                  <a:schemeClr val="tx1"/>
                </a:solidFill>
                <a:effectLst/>
                <a:latin typeface="Segoe Sans Text" pitchFamily="2" charset="0"/>
                <a:ea typeface="+mn-ea"/>
                <a:cs typeface="+mn-cs"/>
              </a:rPr>
              <a:t>: Effective cost management is crucial for sustaining AI projects. Azure provides tools like the pricing calculator, budgeting, cost alerts, and detailed cost analysis to help organizations maintain financial control over their AI initiatives.</a:t>
            </a:r>
          </a:p>
          <a:p>
            <a:pPr lvl="0"/>
            <a:r>
              <a:rPr lang="en-GB" sz="1200" b="1" kern="1200">
                <a:solidFill>
                  <a:schemeClr val="tx1"/>
                </a:solidFill>
                <a:effectLst/>
                <a:latin typeface="Segoe Sans Text" pitchFamily="2" charset="0"/>
                <a:ea typeface="+mn-ea"/>
                <a:cs typeface="+mn-cs"/>
              </a:rPr>
              <a:t>Monitoring and Tracing</a:t>
            </a:r>
            <a:r>
              <a:rPr lang="en-GB" sz="1200" kern="1200">
                <a:solidFill>
                  <a:schemeClr val="tx1"/>
                </a:solidFill>
                <a:effectLst/>
                <a:latin typeface="Segoe Sans Text" pitchFamily="2" charset="0"/>
                <a:ea typeface="+mn-ea"/>
                <a:cs typeface="+mn-cs"/>
              </a:rPr>
              <a:t>: Robust monitoring and tracing capabilities are essential for maintaining the health and performance of AI applications. Azure's built-in monitoring tools and comprehensive tracing features in AI Foundry ensure continuous evaluation and improvement.</a:t>
            </a:r>
          </a:p>
          <a:p>
            <a:pPr marL="342900" indent="-342900" algn="l">
              <a:buFont typeface="Arial" panose="020B0604020202020204" pitchFamily="34" charset="0"/>
              <a:buChar char="•"/>
            </a:pPr>
            <a:endParaRPr lang="en-GB" sz="1200"/>
          </a:p>
        </p:txBody>
      </p:sp>
      <p:sp>
        <p:nvSpPr>
          <p:cNvPr id="4" name="Header Placeholder 3">
            <a:extLst>
              <a:ext uri="{FF2B5EF4-FFF2-40B4-BE49-F238E27FC236}">
                <a16:creationId xmlns:a16="http://schemas.microsoft.com/office/drawing/2014/main" id="{C0646806-EDA7-96E7-5D74-9AF18F16FF65}"/>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460B335-20C1-D1B0-3E46-A27B36E37937}"/>
              </a:ext>
            </a:extLst>
          </p:cNvPr>
          <p:cNvSpPr>
            <a:spLocks noGrp="1"/>
          </p:cNvSpPr>
          <p:nvPr>
            <p:ph type="ftr" sz="quarter" idx="4"/>
          </p:nvPr>
        </p:nvSpPr>
        <p:spPr/>
        <p:txBody>
          <a:bodyPr/>
          <a:lstStyle/>
          <a:p>
            <a:pPr marL="0" marR="0" lvl="0" indent="0" algn="l" defTabSz="93116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Text" pitchFamily="2" charset="0"/>
                <a:ea typeface="Segoe UI" pitchFamily="34" charset="0"/>
                <a:cs typeface="Segoe Sans Text"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9BBA27F-01B8-C400-E2F4-11C98DF0DEE0}"/>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AE2088-8A48-4824-A1CB-81E9FC54B89E}"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10/19/2026 12:55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43B24577-3BB8-951F-6B96-65BBBB2B55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474047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54E05-F171-A737-E644-1F3B8DDD1E02}"/>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F803ABEB-89D2-5522-81BC-07BAD79596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DD4D51-A058-5BB8-DF9F-8A7E4C88C8B5}"/>
              </a:ext>
            </a:extLst>
          </p:cNvPr>
          <p:cNvSpPr>
            <a:spLocks noGrp="1"/>
          </p:cNvSpPr>
          <p:nvPr>
            <p:ph type="sldNum" sz="quarter" idx="10"/>
          </p:nvPr>
        </p:nvSpPr>
        <p:spPr/>
        <p:txBody>
          <a:bodyPr/>
          <a:lstStyle/>
          <a:p>
            <a:fld id="{B4008EB6-D09E-4580-8CD6-DDB14511944F}" type="slidenum">
              <a:rPr lang="en-US" smtClean="0"/>
              <a:pPr/>
              <a:t>75</a:t>
            </a:fld>
            <a:endParaRPr lang="en-US"/>
          </a:p>
        </p:txBody>
      </p:sp>
      <p:sp>
        <p:nvSpPr>
          <p:cNvPr id="5" name="Footer Placeholder 4">
            <a:extLst>
              <a:ext uri="{FF2B5EF4-FFF2-40B4-BE49-F238E27FC236}">
                <a16:creationId xmlns:a16="http://schemas.microsoft.com/office/drawing/2014/main" id="{DAE8EC3C-70D9-DF24-3491-1E7D2229B1B2}"/>
              </a:ext>
            </a:extLst>
          </p:cNvPr>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CC6DBEEF-BA51-B644-AC5A-C7DD6269F2CF}"/>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76009004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Segoe Sans Text" pitchFamily="2" charset="0"/>
                <a:ea typeface="+mn-ea"/>
                <a:cs typeface="+mn-cs"/>
              </a:rPr>
              <a:t>We hope today's session has provided valuable insights and practical guidance on operationalizing generative AI applications. Thank you for participating!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Segoe Sans Text" pitchFamily="2" charset="0"/>
              <a:ea typeface="+mn-ea"/>
              <a:cs typeface="+mn-cs"/>
            </a:endParaRPr>
          </a:p>
          <a:p>
            <a:endParaRPr lang="en-GB"/>
          </a:p>
        </p:txBody>
      </p:sp>
      <p:sp>
        <p:nvSpPr>
          <p:cNvPr id="4" name="Slide Number Placeholder 3"/>
          <p:cNvSpPr>
            <a:spLocks noGrp="1"/>
          </p:cNvSpPr>
          <p:nvPr>
            <p:ph type="sldNum" sz="quarter" idx="5"/>
          </p:nvPr>
        </p:nvSpPr>
        <p:spPr/>
        <p:txBody>
          <a:bodyPr/>
          <a:lstStyle/>
          <a:p>
            <a:fld id="{BD154338-A073-4661-BF20-52EA06646E26}" type="slidenum">
              <a:rPr lang="en-US" smtClean="0"/>
              <a:pPr/>
              <a:t>76</a:t>
            </a:fld>
            <a:endParaRPr lang="en-US"/>
          </a:p>
        </p:txBody>
      </p:sp>
    </p:spTree>
    <p:extLst>
      <p:ext uri="{BB962C8B-B14F-4D97-AF65-F5344CB8AC3E}">
        <p14:creationId xmlns:p14="http://schemas.microsoft.com/office/powerpoint/2010/main" val="19718779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 Id="rId5" Type="http://schemas.openxmlformats.org/officeDocument/2006/relationships/image" Target="../media/image9.png"/><Relationship Id="rId4" Type="http://schemas.microsoft.com/office/2007/relationships/hdphoto" Target="../media/hdphoto1.wdp"/></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 Id="rId5" Type="http://schemas.openxmlformats.org/officeDocument/2006/relationships/image" Target="../media/image9.png"/><Relationship Id="rId4" Type="http://schemas.microsoft.com/office/2007/relationships/hdphoto" Target="../media/hdphoto1.wdp"/></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4.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 Id="rId5" Type="http://schemas.openxmlformats.org/officeDocument/2006/relationships/image" Target="../media/image9.png"/><Relationship Id="rId4" Type="http://schemas.microsoft.com/office/2007/relationships/hdphoto" Target="../media/hdphoto1.wdp"/></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jpe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GREEN BLANK _ 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err="1">
              <a:solidFill>
                <a:srgbClr val="FFFFFF"/>
              </a:solidFill>
              <a:ea typeface="Segoe Sans Text" pitchFamily="2"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Sans Text" pitchFamily="2"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Sans Text" pitchFamily="2"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998539"/>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Tree>
    <p:extLst>
      <p:ext uri="{BB962C8B-B14F-4D97-AF65-F5344CB8AC3E}">
        <p14:creationId xmlns:p14="http://schemas.microsoft.com/office/powerpoint/2010/main" val="2837743877"/>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 Generic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4A89F4-06BC-05C7-E624-3AD486724073}"/>
              </a:ext>
            </a:extLst>
          </p:cNvPr>
          <p:cNvPicPr>
            <a:picLocks noChangeAspect="1"/>
          </p:cNvPicPr>
          <p:nvPr userDrawn="1"/>
        </p:nvPicPr>
        <p:blipFill>
          <a:blip r:embed="rId3"/>
          <a:srcRect l="6" r="6"/>
          <a:stretch/>
        </p:blipFill>
        <p:spPr>
          <a:xfrm>
            <a:off x="0" y="959"/>
            <a:ext cx="12190515" cy="6856081"/>
          </a:xfrm>
          <a:prstGeom prst="rect">
            <a:avLst/>
          </a:prstGeom>
        </p:spPr>
      </p:pic>
      <p:sp>
        <p:nvSpPr>
          <p:cNvPr id="2" name="Rectangle 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998539"/>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
        <p:nvSpPr>
          <p:cNvPr id="16" name="Content Placeholder 2">
            <a:extLst>
              <a:ext uri="{FF2B5EF4-FFF2-40B4-BE49-F238E27FC236}">
                <a16:creationId xmlns:a16="http://schemas.microsoft.com/office/drawing/2014/main" id="{9FEE9692-7BBB-EE91-31C0-6285D6D4FCC4}"/>
              </a:ext>
            </a:extLst>
          </p:cNvPr>
          <p:cNvSpPr>
            <a:spLocks noGrp="1"/>
          </p:cNvSpPr>
          <p:nvPr>
            <p:ph idx="1" hasCustomPrompt="1"/>
          </p:nvPr>
        </p:nvSpPr>
        <p:spPr>
          <a:xfrm>
            <a:off x="569912" y="1952625"/>
            <a:ext cx="11050588" cy="4311651"/>
          </a:xfrm>
          <a:prstGeom prst="rect">
            <a:avLst/>
          </a:prstGeom>
        </p:spPr>
        <p:txBody>
          <a:bodyPr wrap="square" lIns="0" tIns="0" rIns="0" bIns="0" anchor="t" anchorCtr="0">
            <a:noAutofit/>
          </a:bodyPr>
          <a:lstStyle>
            <a:lvl1pPr>
              <a:defRPr kumimoji="0" lang="en-US" sz="18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text/ content</a:t>
            </a:r>
          </a:p>
        </p:txBody>
      </p:sp>
    </p:spTree>
    <p:extLst>
      <p:ext uri="{BB962C8B-B14F-4D97-AF65-F5344CB8AC3E}">
        <p14:creationId xmlns:p14="http://schemas.microsoft.com/office/powerpoint/2010/main" val="1090242983"/>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2 Sess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A blue and green curved object&#10;&#10;Description automatically generated">
            <a:extLst>
              <a:ext uri="{FF2B5EF4-FFF2-40B4-BE49-F238E27FC236}">
                <a16:creationId xmlns:a16="http://schemas.microsoft.com/office/drawing/2014/main" id="{4130102C-F6DB-B17F-A3E3-A39464815733}"/>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Blur radius="6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6B92EBA-31A5-AF71-1D69-5B223CACAB15}"/>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6" name="Rectangle: Rounded Corners 5">
            <a:extLst>
              <a:ext uri="{FF2B5EF4-FFF2-40B4-BE49-F238E27FC236}">
                <a16:creationId xmlns:a16="http://schemas.microsoft.com/office/drawing/2014/main" id="{9619D37F-A4A5-EB65-3C61-21332240AED4}"/>
              </a:ext>
            </a:extLst>
          </p:cNvPr>
          <p:cNvSpPr/>
          <p:nvPr userDrawn="1"/>
        </p:nvSpPr>
        <p:spPr bwMode="auto">
          <a:xfrm rot="16200000">
            <a:off x="3018259" y="-2422715"/>
            <a:ext cx="6194362" cy="11703424"/>
          </a:xfrm>
          <a:prstGeom prst="roundRect">
            <a:avLst>
              <a:gd name="adj" fmla="val 2616"/>
            </a:avLst>
          </a:prstGeom>
          <a:gradFill flip="none" rotWithShape="1">
            <a:gsLst>
              <a:gs pos="100000">
                <a:schemeClr val="accent2"/>
              </a:gs>
              <a:gs pos="23000">
                <a:srgbClr val="091F2C">
                  <a:alpha val="30000"/>
                </a:srgbClr>
              </a:gs>
            </a:gsLst>
            <a:path path="circle">
              <a:fillToRect t="100000" r="100000"/>
            </a:path>
            <a:tileRect l="-100000" b="-100000"/>
          </a:gradFill>
          <a:ln>
            <a:noFill/>
            <a:headEnd type="none" w="med" len="med"/>
            <a:tailEnd type="none" w="med" len="med"/>
          </a:ln>
          <a:effectLst>
            <a:outerShdw blurRad="266700" algn="ctr" rotWithShape="0">
              <a:schemeClr val="accent2">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useBgFill="1">
        <p:nvSpPr>
          <p:cNvPr id="4" name="Rectangle: Top Corners Rounded 3">
            <a:extLst>
              <a:ext uri="{FF2B5EF4-FFF2-40B4-BE49-F238E27FC236}">
                <a16:creationId xmlns:a16="http://schemas.microsoft.com/office/drawing/2014/main" id="{1CC3CF95-FE3F-B45C-D9CA-92A25805EE11}"/>
              </a:ext>
            </a:extLst>
          </p:cNvPr>
          <p:cNvSpPr/>
          <p:nvPr userDrawn="1"/>
        </p:nvSpPr>
        <p:spPr bwMode="auto">
          <a:xfrm rot="5400000">
            <a:off x="5848648" y="413671"/>
            <a:ext cx="6194362" cy="6030655"/>
          </a:xfrm>
          <a:prstGeom prst="round2SameRect">
            <a:avLst>
              <a:gd name="adj1" fmla="val 1825"/>
              <a:gd name="adj2" fmla="val 0"/>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9" name="Title 13">
            <a:extLst>
              <a:ext uri="{FF2B5EF4-FFF2-40B4-BE49-F238E27FC236}">
                <a16:creationId xmlns:a16="http://schemas.microsoft.com/office/drawing/2014/main" id="{550159F9-2F3D-D4F4-5BE8-E72231BDBCBB}"/>
              </a:ext>
            </a:extLst>
          </p:cNvPr>
          <p:cNvSpPr>
            <a:spLocks noGrp="1"/>
          </p:cNvSpPr>
          <p:nvPr>
            <p:ph type="title" hasCustomPrompt="1"/>
          </p:nvPr>
        </p:nvSpPr>
        <p:spPr>
          <a:xfrm>
            <a:off x="673968" y="2269950"/>
            <a:ext cx="4059079" cy="1292662"/>
          </a:xfrm>
          <a:noFill/>
        </p:spPr>
        <p:txBody>
          <a:bodyPr wrap="square" lIns="0" tIns="0" rIns="0" bIns="0" rtlCol="0">
            <a:noAutofit/>
          </a:bodyPr>
          <a:lstStyle>
            <a:lvl1pPr>
              <a:defRPr kumimoji="0" lang="en-GB" sz="28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a:t>
            </a:r>
            <a:br>
              <a:rPr lang="en-US"/>
            </a:br>
            <a:r>
              <a:rPr lang="en-US"/>
              <a:t>session title up to</a:t>
            </a:r>
            <a:br>
              <a:rPr lang="en-US"/>
            </a:br>
            <a:r>
              <a:rPr lang="en-US"/>
              <a:t>three lines</a:t>
            </a:r>
            <a:endParaRPr lang="en-GB"/>
          </a:p>
        </p:txBody>
      </p:sp>
      <p:sp>
        <p:nvSpPr>
          <p:cNvPr id="23" name="Rectangle: Rounded Corners 22">
            <a:extLst>
              <a:ext uri="{FF2B5EF4-FFF2-40B4-BE49-F238E27FC236}">
                <a16:creationId xmlns:a16="http://schemas.microsoft.com/office/drawing/2014/main" id="{3928CA40-B2FC-3CB3-4971-DD5A5D0CA5B9}"/>
              </a:ext>
            </a:extLst>
          </p:cNvPr>
          <p:cNvSpPr>
            <a:spLocks/>
          </p:cNvSpPr>
          <p:nvPr userDrawn="1"/>
        </p:nvSpPr>
        <p:spPr bwMode="auto">
          <a:xfrm>
            <a:off x="673968" y="4301966"/>
            <a:ext cx="4489289" cy="111067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nvGrpSpPr>
          <p:cNvPr id="16" name="Group 15">
            <a:extLst>
              <a:ext uri="{FF2B5EF4-FFF2-40B4-BE49-F238E27FC236}">
                <a16:creationId xmlns:a16="http://schemas.microsoft.com/office/drawing/2014/main" id="{DF2EF07E-12BF-641D-451C-8DA7028664C5}"/>
              </a:ext>
            </a:extLst>
          </p:cNvPr>
          <p:cNvGrpSpPr/>
          <p:nvPr userDrawn="1"/>
        </p:nvGrpSpPr>
        <p:grpSpPr>
          <a:xfrm>
            <a:off x="752160" y="4380157"/>
            <a:ext cx="954296" cy="954296"/>
            <a:chOff x="1261672" y="4833938"/>
            <a:chExt cx="954296" cy="954296"/>
          </a:xfrm>
        </p:grpSpPr>
        <p:sp>
          <p:nvSpPr>
            <p:cNvPr id="12" name="Rectangle: Rounded Corners 11">
              <a:extLst>
                <a:ext uri="{FF2B5EF4-FFF2-40B4-BE49-F238E27FC236}">
                  <a16:creationId xmlns:a16="http://schemas.microsoft.com/office/drawing/2014/main" id="{E3AF39C7-1B5B-42FC-90FD-2B9A2590A817}"/>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sp>
          <p:nvSpPr>
            <p:cNvPr id="15" name="Rectangle: Rounded Corners 14">
              <a:extLst>
                <a:ext uri="{FF2B5EF4-FFF2-40B4-BE49-F238E27FC236}">
                  <a16:creationId xmlns:a16="http://schemas.microsoft.com/office/drawing/2014/main" id="{D6A60279-164C-A5E9-5744-CA0EA4D5E948}"/>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sp>
        <p:nvSpPr>
          <p:cNvPr id="17" name="Content Placeholder 2">
            <a:extLst>
              <a:ext uri="{FF2B5EF4-FFF2-40B4-BE49-F238E27FC236}">
                <a16:creationId xmlns:a16="http://schemas.microsoft.com/office/drawing/2014/main" id="{10F78AE8-B5D4-9038-FBC2-D4A8C000CB48}"/>
              </a:ext>
            </a:extLst>
          </p:cNvPr>
          <p:cNvSpPr>
            <a:spLocks noGrp="1"/>
          </p:cNvSpPr>
          <p:nvPr>
            <p:ph idx="1" hasCustomPrompt="1"/>
          </p:nvPr>
        </p:nvSpPr>
        <p:spPr>
          <a:xfrm>
            <a:off x="1819585" y="4471104"/>
            <a:ext cx="3247791" cy="276999"/>
          </a:xfrm>
          <a:prstGeom prst="rect">
            <a:avLst/>
          </a:prstGeom>
          <a:noFill/>
        </p:spPr>
        <p:txBody>
          <a:bodyPr wrap="square">
            <a:spAutoFit/>
          </a:bodyPr>
          <a:lstStyle>
            <a:lvl1pPr marL="0" indent="0" algn="l">
              <a:buNone/>
              <a:defRPr kumimoji="0" lang="en-US" sz="1800" b="0" i="0" u="none" strike="noStrike" cap="none" spc="-48" normalizeH="0" dirty="0">
                <a:ln w="3175">
                  <a:noFill/>
                </a:ln>
                <a:solidFill>
                  <a:srgbClr val="8DC8E8"/>
                </a:solidFill>
                <a:effectLst/>
                <a:uLnTx/>
                <a:uFillTx/>
                <a:latin typeface="Segoe Sans Text Semibold"/>
                <a:cs typeface="+mn-cs"/>
              </a:defRPr>
            </a:lvl1pPr>
          </a:lstStyle>
          <a:p>
            <a:pPr marL="0" lvl="0" defTabSz="914400"/>
            <a:r>
              <a:rPr lang="en-US"/>
              <a:t>Click to edit Presenter name</a:t>
            </a:r>
          </a:p>
        </p:txBody>
      </p:sp>
      <p:sp>
        <p:nvSpPr>
          <p:cNvPr id="18" name="Content Placeholder 2">
            <a:extLst>
              <a:ext uri="{FF2B5EF4-FFF2-40B4-BE49-F238E27FC236}">
                <a16:creationId xmlns:a16="http://schemas.microsoft.com/office/drawing/2014/main" id="{FF07C86F-3B7D-6CD6-B8F8-EED7227BF4B6}"/>
              </a:ext>
            </a:extLst>
          </p:cNvPr>
          <p:cNvSpPr>
            <a:spLocks noGrp="1"/>
          </p:cNvSpPr>
          <p:nvPr>
            <p:ph idx="10" hasCustomPrompt="1"/>
          </p:nvPr>
        </p:nvSpPr>
        <p:spPr>
          <a:xfrm>
            <a:off x="1819585" y="4886603"/>
            <a:ext cx="3247791" cy="169277"/>
          </a:xfrm>
          <a:prstGeom prst="rect">
            <a:avLst/>
          </a:prstGeom>
        </p:spPr>
        <p:txBody>
          <a:bodyPr wrap="square" lIns="0" tIns="0" rIns="0" bIns="0" anchor="t" anchorCtr="0">
            <a:spAutoFit/>
          </a:bodyPr>
          <a:lstStyle>
            <a:lvl1pPr>
              <a:defRPr kumimoji="0" lang="en-US" sz="11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role/ title</a:t>
            </a:r>
          </a:p>
        </p:txBody>
      </p:sp>
      <p:sp>
        <p:nvSpPr>
          <p:cNvPr id="22" name="Picture Placeholder 21">
            <a:extLst>
              <a:ext uri="{FF2B5EF4-FFF2-40B4-BE49-F238E27FC236}">
                <a16:creationId xmlns:a16="http://schemas.microsoft.com/office/drawing/2014/main" id="{122C466E-C143-1ACE-5919-0AAF2C6C778F}"/>
              </a:ext>
            </a:extLst>
          </p:cNvPr>
          <p:cNvSpPr>
            <a:spLocks noGrp="1"/>
          </p:cNvSpPr>
          <p:nvPr>
            <p:ph type="pic" sz="quarter" idx="11" hasCustomPrompt="1"/>
          </p:nvPr>
        </p:nvSpPr>
        <p:spPr>
          <a:xfrm>
            <a:off x="752160" y="4380157"/>
            <a:ext cx="954296" cy="954296"/>
          </a:xfrm>
          <a:prstGeom prst="roundRect">
            <a:avLst>
              <a:gd name="adj" fmla="val 10179"/>
            </a:avLst>
          </a:prstGeom>
        </p:spPr>
        <p:txBody>
          <a:bodyPr anchor="ctr" anchorCtr="0">
            <a:noAutofit/>
          </a:bodyPr>
          <a:lstStyle>
            <a:lvl1pPr marL="0" indent="0" algn="ctr">
              <a:buNone/>
              <a:defRPr sz="1100">
                <a:solidFill>
                  <a:schemeClr val="bg1"/>
                </a:solidFill>
              </a:defRPr>
            </a:lvl1pPr>
          </a:lstStyle>
          <a:p>
            <a:r>
              <a:rPr lang="en-GB"/>
              <a:t>Add speaker image</a:t>
            </a:r>
          </a:p>
        </p:txBody>
      </p:sp>
      <p:pic>
        <p:nvPicPr>
          <p:cNvPr id="3" name="Picture 2">
            <a:extLst>
              <a:ext uri="{FF2B5EF4-FFF2-40B4-BE49-F238E27FC236}">
                <a16:creationId xmlns:a16="http://schemas.microsoft.com/office/drawing/2014/main" id="{4D8627F8-D5DC-4319-E9F0-B583DF49597A}"/>
              </a:ext>
            </a:extLst>
          </p:cNvPr>
          <p:cNvPicPr>
            <a:picLocks noChangeAspect="1"/>
          </p:cNvPicPr>
          <p:nvPr userDrawn="1"/>
        </p:nvPicPr>
        <p:blipFill>
          <a:blip r:embed="rId5" cstate="hqprint">
            <a:extLst>
              <a:ext uri="{28A0092B-C50C-407E-A947-70E740481C1C}">
                <a14:useLocalDpi xmlns:a14="http://schemas.microsoft.com/office/drawing/2010/main"/>
              </a:ext>
            </a:extLst>
          </a:blip>
          <a:srcRect l="8" r="8"/>
          <a:stretch/>
        </p:blipFill>
        <p:spPr>
          <a:xfrm>
            <a:off x="230843" y="331816"/>
            <a:ext cx="3728028" cy="1233264"/>
          </a:xfrm>
          <a:prstGeom prst="rect">
            <a:avLst/>
          </a:prstGeom>
        </p:spPr>
      </p:pic>
    </p:spTree>
    <p:extLst>
      <p:ext uri="{BB962C8B-B14F-4D97-AF65-F5344CB8AC3E}">
        <p14:creationId xmlns:p14="http://schemas.microsoft.com/office/powerpoint/2010/main" val="1554699544"/>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3 Sess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A blue and green curved object&#10;&#10;Description automatically generated">
            <a:extLst>
              <a:ext uri="{FF2B5EF4-FFF2-40B4-BE49-F238E27FC236}">
                <a16:creationId xmlns:a16="http://schemas.microsoft.com/office/drawing/2014/main" id="{4130102C-F6DB-B17F-A3E3-A39464815733}"/>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Blur radius="6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6B92EBA-31A5-AF71-1D69-5B223CACAB15}"/>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6" name="Rectangle: Rounded Corners 5">
            <a:extLst>
              <a:ext uri="{FF2B5EF4-FFF2-40B4-BE49-F238E27FC236}">
                <a16:creationId xmlns:a16="http://schemas.microsoft.com/office/drawing/2014/main" id="{9619D37F-A4A5-EB65-3C61-21332240AED4}"/>
              </a:ext>
            </a:extLst>
          </p:cNvPr>
          <p:cNvSpPr/>
          <p:nvPr userDrawn="1"/>
        </p:nvSpPr>
        <p:spPr bwMode="auto">
          <a:xfrm rot="16200000">
            <a:off x="2985375" y="-2422713"/>
            <a:ext cx="6194362" cy="11703424"/>
          </a:xfrm>
          <a:prstGeom prst="roundRect">
            <a:avLst>
              <a:gd name="adj" fmla="val 2616"/>
            </a:avLst>
          </a:prstGeom>
          <a:gradFill flip="none" rotWithShape="1">
            <a:gsLst>
              <a:gs pos="100000">
                <a:schemeClr val="accent2"/>
              </a:gs>
              <a:gs pos="23000">
                <a:srgbClr val="091F2C">
                  <a:alpha val="30000"/>
                </a:srgbClr>
              </a:gs>
            </a:gsLst>
            <a:path path="circle">
              <a:fillToRect t="100000" r="100000"/>
            </a:path>
            <a:tileRect l="-100000" b="-100000"/>
          </a:gradFill>
          <a:ln>
            <a:noFill/>
            <a:headEnd type="none" w="med" len="med"/>
            <a:tailEnd type="none" w="med" len="med"/>
          </a:ln>
          <a:effectLst>
            <a:outerShdw blurRad="266700" algn="ctr" rotWithShape="0">
              <a:schemeClr val="accent2">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useBgFill="1">
        <p:nvSpPr>
          <p:cNvPr id="4" name="Rectangle: Top Corners Rounded 3">
            <a:extLst>
              <a:ext uri="{FF2B5EF4-FFF2-40B4-BE49-F238E27FC236}">
                <a16:creationId xmlns:a16="http://schemas.microsoft.com/office/drawing/2014/main" id="{1CC3CF95-FE3F-B45C-D9CA-92A25805EE11}"/>
              </a:ext>
            </a:extLst>
          </p:cNvPr>
          <p:cNvSpPr/>
          <p:nvPr userDrawn="1"/>
        </p:nvSpPr>
        <p:spPr bwMode="auto">
          <a:xfrm rot="5400000">
            <a:off x="5835204" y="427116"/>
            <a:ext cx="6194362" cy="6003766"/>
          </a:xfrm>
          <a:prstGeom prst="round2SameRect">
            <a:avLst>
              <a:gd name="adj1" fmla="val 1825"/>
              <a:gd name="adj2" fmla="val 0"/>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pic>
        <p:nvPicPr>
          <p:cNvPr id="8" name="Picture 7">
            <a:extLst>
              <a:ext uri="{FF2B5EF4-FFF2-40B4-BE49-F238E27FC236}">
                <a16:creationId xmlns:a16="http://schemas.microsoft.com/office/drawing/2014/main" id="{D8CEBC85-0049-0914-0672-55C6E854274D}"/>
              </a:ext>
            </a:extLst>
          </p:cNvPr>
          <p:cNvPicPr>
            <a:picLocks noChangeAspect="1"/>
          </p:cNvPicPr>
          <p:nvPr userDrawn="1"/>
        </p:nvPicPr>
        <p:blipFill>
          <a:blip r:embed="rId5" cstate="hqprint">
            <a:extLst>
              <a:ext uri="{28A0092B-C50C-407E-A947-70E740481C1C}">
                <a14:useLocalDpi xmlns:a14="http://schemas.microsoft.com/office/drawing/2010/main"/>
              </a:ext>
            </a:extLst>
          </a:blip>
          <a:srcRect l="8" r="8"/>
          <a:stretch/>
        </p:blipFill>
        <p:spPr>
          <a:xfrm>
            <a:off x="230843" y="331816"/>
            <a:ext cx="3728028" cy="1233264"/>
          </a:xfrm>
          <a:prstGeom prst="rect">
            <a:avLst/>
          </a:prstGeom>
        </p:spPr>
      </p:pic>
      <p:sp>
        <p:nvSpPr>
          <p:cNvPr id="9" name="Title 13">
            <a:extLst>
              <a:ext uri="{FF2B5EF4-FFF2-40B4-BE49-F238E27FC236}">
                <a16:creationId xmlns:a16="http://schemas.microsoft.com/office/drawing/2014/main" id="{550159F9-2F3D-D4F4-5BE8-E72231BDBCBB}"/>
              </a:ext>
            </a:extLst>
          </p:cNvPr>
          <p:cNvSpPr>
            <a:spLocks noGrp="1"/>
          </p:cNvSpPr>
          <p:nvPr>
            <p:ph type="title" hasCustomPrompt="1"/>
          </p:nvPr>
        </p:nvSpPr>
        <p:spPr>
          <a:xfrm>
            <a:off x="632460" y="2514082"/>
            <a:ext cx="4059079" cy="1292662"/>
          </a:xfrm>
          <a:noFill/>
        </p:spPr>
        <p:txBody>
          <a:bodyPr wrap="square" lIns="0" tIns="0" rIns="0" bIns="0" rtlCol="0">
            <a:noAutofit/>
          </a:bodyPr>
          <a:lstStyle>
            <a:lvl1pPr>
              <a:defRPr kumimoji="0" lang="en-GB" sz="28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a:t>
            </a:r>
            <a:br>
              <a:rPr lang="en-US"/>
            </a:br>
            <a:r>
              <a:rPr lang="en-US"/>
              <a:t>session title up to</a:t>
            </a:r>
            <a:br>
              <a:rPr lang="en-US"/>
            </a:br>
            <a:r>
              <a:rPr lang="en-US"/>
              <a:t>three lines</a:t>
            </a:r>
            <a:endParaRPr lang="en-GB"/>
          </a:p>
        </p:txBody>
      </p:sp>
      <p:sp>
        <p:nvSpPr>
          <p:cNvPr id="43" name="Rectangle: Rounded Corners 42">
            <a:extLst>
              <a:ext uri="{FF2B5EF4-FFF2-40B4-BE49-F238E27FC236}">
                <a16:creationId xmlns:a16="http://schemas.microsoft.com/office/drawing/2014/main" id="{2D30EFC5-5E19-4EDF-5193-B7717668135F}"/>
              </a:ext>
            </a:extLst>
          </p:cNvPr>
          <p:cNvSpPr>
            <a:spLocks/>
          </p:cNvSpPr>
          <p:nvPr userDrawn="1"/>
        </p:nvSpPr>
        <p:spPr bwMode="auto">
          <a:xfrm>
            <a:off x="632460" y="4755747"/>
            <a:ext cx="2457154" cy="111067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44" name="Rectangle: Rounded Corners 43">
            <a:extLst>
              <a:ext uri="{FF2B5EF4-FFF2-40B4-BE49-F238E27FC236}">
                <a16:creationId xmlns:a16="http://schemas.microsoft.com/office/drawing/2014/main" id="{673B5A1B-A0F3-BE18-0EA7-17538CE9ED6D}"/>
              </a:ext>
            </a:extLst>
          </p:cNvPr>
          <p:cNvSpPr>
            <a:spLocks/>
          </p:cNvSpPr>
          <p:nvPr userDrawn="1"/>
        </p:nvSpPr>
        <p:spPr bwMode="auto">
          <a:xfrm>
            <a:off x="3215614" y="4755747"/>
            <a:ext cx="2457154" cy="111067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nvGrpSpPr>
          <p:cNvPr id="16" name="Group 15">
            <a:extLst>
              <a:ext uri="{FF2B5EF4-FFF2-40B4-BE49-F238E27FC236}">
                <a16:creationId xmlns:a16="http://schemas.microsoft.com/office/drawing/2014/main" id="{DF2EF07E-12BF-641D-451C-8DA7028664C5}"/>
              </a:ext>
            </a:extLst>
          </p:cNvPr>
          <p:cNvGrpSpPr/>
          <p:nvPr userDrawn="1"/>
        </p:nvGrpSpPr>
        <p:grpSpPr>
          <a:xfrm>
            <a:off x="706333" y="4833938"/>
            <a:ext cx="954296" cy="954296"/>
            <a:chOff x="1261672" y="4833938"/>
            <a:chExt cx="954296" cy="954296"/>
          </a:xfrm>
        </p:grpSpPr>
        <p:sp>
          <p:nvSpPr>
            <p:cNvPr id="12" name="Rectangle: Rounded Corners 11">
              <a:extLst>
                <a:ext uri="{FF2B5EF4-FFF2-40B4-BE49-F238E27FC236}">
                  <a16:creationId xmlns:a16="http://schemas.microsoft.com/office/drawing/2014/main" id="{E3AF39C7-1B5B-42FC-90FD-2B9A2590A817}"/>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sp>
          <p:nvSpPr>
            <p:cNvPr id="15" name="Rectangle: Rounded Corners 14">
              <a:extLst>
                <a:ext uri="{FF2B5EF4-FFF2-40B4-BE49-F238E27FC236}">
                  <a16:creationId xmlns:a16="http://schemas.microsoft.com/office/drawing/2014/main" id="{D6A60279-164C-A5E9-5744-CA0EA4D5E948}"/>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sp>
        <p:nvSpPr>
          <p:cNvPr id="17" name="Content Placeholder 2">
            <a:extLst>
              <a:ext uri="{FF2B5EF4-FFF2-40B4-BE49-F238E27FC236}">
                <a16:creationId xmlns:a16="http://schemas.microsoft.com/office/drawing/2014/main" id="{10F78AE8-B5D4-9038-FBC2-D4A8C000CB48}"/>
              </a:ext>
            </a:extLst>
          </p:cNvPr>
          <p:cNvSpPr>
            <a:spLocks noGrp="1"/>
          </p:cNvSpPr>
          <p:nvPr>
            <p:ph idx="1" hasCustomPrompt="1"/>
          </p:nvPr>
        </p:nvSpPr>
        <p:spPr>
          <a:xfrm>
            <a:off x="1734502" y="4924885"/>
            <a:ext cx="1280161" cy="430887"/>
          </a:xfrm>
          <a:prstGeom prst="rect">
            <a:avLst/>
          </a:prstGeom>
          <a:noFill/>
        </p:spPr>
        <p:txBody>
          <a:bodyPr wrap="square">
            <a:noAutofit/>
          </a:bodyPr>
          <a:lstStyle>
            <a:lvl1pPr marL="0" indent="0" algn="l">
              <a:buNone/>
              <a:defRPr kumimoji="0" lang="en-US" sz="1400" b="0" i="0" u="none" strike="noStrike" cap="none" spc="-48" normalizeH="0" dirty="0">
                <a:ln w="3175">
                  <a:noFill/>
                </a:ln>
                <a:solidFill>
                  <a:srgbClr val="8DC8E8"/>
                </a:solidFill>
                <a:effectLst/>
                <a:uLnTx/>
                <a:uFillTx/>
                <a:latin typeface="Segoe Sans Text Semibold"/>
                <a:cs typeface="+mn-cs"/>
              </a:defRPr>
            </a:lvl1pPr>
          </a:lstStyle>
          <a:p>
            <a:pPr marL="0" lvl="0" defTabSz="914400"/>
            <a:r>
              <a:rPr lang="en-US"/>
              <a:t>Click to edit</a:t>
            </a:r>
            <a:br>
              <a:rPr lang="en-US"/>
            </a:br>
            <a:r>
              <a:rPr lang="en-US"/>
              <a:t>Presenter name</a:t>
            </a:r>
          </a:p>
        </p:txBody>
      </p:sp>
      <p:sp>
        <p:nvSpPr>
          <p:cNvPr id="18" name="Content Placeholder 2">
            <a:extLst>
              <a:ext uri="{FF2B5EF4-FFF2-40B4-BE49-F238E27FC236}">
                <a16:creationId xmlns:a16="http://schemas.microsoft.com/office/drawing/2014/main" id="{FF07C86F-3B7D-6CD6-B8F8-EED7227BF4B6}"/>
              </a:ext>
            </a:extLst>
          </p:cNvPr>
          <p:cNvSpPr>
            <a:spLocks noGrp="1"/>
          </p:cNvSpPr>
          <p:nvPr>
            <p:ph idx="10" hasCustomPrompt="1"/>
          </p:nvPr>
        </p:nvSpPr>
        <p:spPr>
          <a:xfrm>
            <a:off x="1734502" y="5425686"/>
            <a:ext cx="1280161" cy="362548"/>
          </a:xfrm>
          <a:prstGeom prst="rect">
            <a:avLst/>
          </a:prstGeom>
        </p:spPr>
        <p:txBody>
          <a:bodyPr wrap="square" lIns="0" tIns="0" rIns="0" bIns="0" anchor="t" anchorCtr="0">
            <a:noAutofit/>
          </a:bodyPr>
          <a:lstStyle>
            <a:lvl1pPr>
              <a:defRPr kumimoji="0" lang="en-US" sz="10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role/ title</a:t>
            </a:r>
          </a:p>
        </p:txBody>
      </p:sp>
      <p:grpSp>
        <p:nvGrpSpPr>
          <p:cNvPr id="36" name="Group 35">
            <a:extLst>
              <a:ext uri="{FF2B5EF4-FFF2-40B4-BE49-F238E27FC236}">
                <a16:creationId xmlns:a16="http://schemas.microsoft.com/office/drawing/2014/main" id="{72546FBC-3F36-520B-1ECA-257DF25FF538}"/>
              </a:ext>
            </a:extLst>
          </p:cNvPr>
          <p:cNvGrpSpPr/>
          <p:nvPr userDrawn="1"/>
        </p:nvGrpSpPr>
        <p:grpSpPr>
          <a:xfrm>
            <a:off x="3286686" y="4833938"/>
            <a:ext cx="954296" cy="954296"/>
            <a:chOff x="1261672" y="4833938"/>
            <a:chExt cx="954296" cy="954296"/>
          </a:xfrm>
        </p:grpSpPr>
        <p:sp>
          <p:nvSpPr>
            <p:cNvPr id="37" name="Rectangle: Rounded Corners 36">
              <a:extLst>
                <a:ext uri="{FF2B5EF4-FFF2-40B4-BE49-F238E27FC236}">
                  <a16:creationId xmlns:a16="http://schemas.microsoft.com/office/drawing/2014/main" id="{BEA83281-843E-3E20-7CA3-E2A14ECF2C26}"/>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sp>
          <p:nvSpPr>
            <p:cNvPr id="38" name="Rectangle: Rounded Corners 37">
              <a:extLst>
                <a:ext uri="{FF2B5EF4-FFF2-40B4-BE49-F238E27FC236}">
                  <a16:creationId xmlns:a16="http://schemas.microsoft.com/office/drawing/2014/main" id="{307D2A7D-2F95-F3FC-ADD9-587BE1966E3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sp>
        <p:nvSpPr>
          <p:cNvPr id="39" name="Content Placeholder 2">
            <a:extLst>
              <a:ext uri="{FF2B5EF4-FFF2-40B4-BE49-F238E27FC236}">
                <a16:creationId xmlns:a16="http://schemas.microsoft.com/office/drawing/2014/main" id="{8D31C110-B68A-D7CF-6CE4-301F56942378}"/>
              </a:ext>
            </a:extLst>
          </p:cNvPr>
          <p:cNvSpPr>
            <a:spLocks noGrp="1"/>
          </p:cNvSpPr>
          <p:nvPr>
            <p:ph idx="11" hasCustomPrompt="1"/>
          </p:nvPr>
        </p:nvSpPr>
        <p:spPr>
          <a:xfrm>
            <a:off x="4314855" y="4924885"/>
            <a:ext cx="1280161" cy="430887"/>
          </a:xfrm>
          <a:prstGeom prst="rect">
            <a:avLst/>
          </a:prstGeom>
          <a:noFill/>
        </p:spPr>
        <p:txBody>
          <a:bodyPr wrap="square">
            <a:noAutofit/>
          </a:bodyPr>
          <a:lstStyle>
            <a:lvl1pPr marL="0" indent="0" algn="l">
              <a:buNone/>
              <a:defRPr kumimoji="0" lang="en-US" sz="1400" b="0" i="0" u="none" strike="noStrike" cap="none" spc="-48" normalizeH="0" dirty="0">
                <a:ln w="3175">
                  <a:noFill/>
                </a:ln>
                <a:solidFill>
                  <a:srgbClr val="8DC8E8"/>
                </a:solidFill>
                <a:effectLst/>
                <a:uLnTx/>
                <a:uFillTx/>
                <a:latin typeface="Segoe Sans Text Semibold"/>
                <a:cs typeface="+mn-cs"/>
              </a:defRPr>
            </a:lvl1pPr>
          </a:lstStyle>
          <a:p>
            <a:pPr marL="0" lvl="0" defTabSz="914400"/>
            <a:r>
              <a:rPr lang="en-US"/>
              <a:t>Click to edit</a:t>
            </a:r>
            <a:br>
              <a:rPr lang="en-US"/>
            </a:br>
            <a:r>
              <a:rPr lang="en-US"/>
              <a:t>Presenter name</a:t>
            </a:r>
          </a:p>
        </p:txBody>
      </p:sp>
      <p:sp>
        <p:nvSpPr>
          <p:cNvPr id="40" name="Content Placeholder 2">
            <a:extLst>
              <a:ext uri="{FF2B5EF4-FFF2-40B4-BE49-F238E27FC236}">
                <a16:creationId xmlns:a16="http://schemas.microsoft.com/office/drawing/2014/main" id="{F97CD0CE-84FE-FB45-4C94-77D3ED56FFA8}"/>
              </a:ext>
            </a:extLst>
          </p:cNvPr>
          <p:cNvSpPr>
            <a:spLocks noGrp="1"/>
          </p:cNvSpPr>
          <p:nvPr>
            <p:ph idx="12" hasCustomPrompt="1"/>
          </p:nvPr>
        </p:nvSpPr>
        <p:spPr>
          <a:xfrm>
            <a:off x="4314855" y="5425686"/>
            <a:ext cx="1280161" cy="362548"/>
          </a:xfrm>
          <a:prstGeom prst="rect">
            <a:avLst/>
          </a:prstGeom>
        </p:spPr>
        <p:txBody>
          <a:bodyPr wrap="square" lIns="0" tIns="0" rIns="0" bIns="0" anchor="t" anchorCtr="0">
            <a:noAutofit/>
          </a:bodyPr>
          <a:lstStyle>
            <a:lvl1pPr>
              <a:defRPr kumimoji="0" lang="en-US" sz="10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role/ title</a:t>
            </a:r>
          </a:p>
        </p:txBody>
      </p:sp>
      <p:sp>
        <p:nvSpPr>
          <p:cNvPr id="41" name="Picture Placeholder 21">
            <a:extLst>
              <a:ext uri="{FF2B5EF4-FFF2-40B4-BE49-F238E27FC236}">
                <a16:creationId xmlns:a16="http://schemas.microsoft.com/office/drawing/2014/main" id="{A2292B56-09CA-CACB-494F-A246B9E354F0}"/>
              </a:ext>
            </a:extLst>
          </p:cNvPr>
          <p:cNvSpPr>
            <a:spLocks noGrp="1"/>
          </p:cNvSpPr>
          <p:nvPr>
            <p:ph type="pic" sz="quarter" idx="13" hasCustomPrompt="1"/>
          </p:nvPr>
        </p:nvSpPr>
        <p:spPr>
          <a:xfrm>
            <a:off x="706333" y="4833938"/>
            <a:ext cx="954296" cy="954296"/>
          </a:xfrm>
          <a:prstGeom prst="roundRect">
            <a:avLst>
              <a:gd name="adj" fmla="val 10179"/>
            </a:avLst>
          </a:prstGeom>
        </p:spPr>
        <p:txBody>
          <a:bodyPr anchor="ctr" anchorCtr="0">
            <a:noAutofit/>
          </a:bodyPr>
          <a:lstStyle>
            <a:lvl1pPr marL="0" indent="0" algn="ctr">
              <a:buNone/>
              <a:defRPr sz="1100">
                <a:solidFill>
                  <a:schemeClr val="bg1"/>
                </a:solidFill>
              </a:defRPr>
            </a:lvl1pPr>
          </a:lstStyle>
          <a:p>
            <a:r>
              <a:rPr lang="en-GB"/>
              <a:t>Add speaker image</a:t>
            </a:r>
          </a:p>
        </p:txBody>
      </p:sp>
      <p:sp>
        <p:nvSpPr>
          <p:cNvPr id="42" name="Picture Placeholder 21">
            <a:extLst>
              <a:ext uri="{FF2B5EF4-FFF2-40B4-BE49-F238E27FC236}">
                <a16:creationId xmlns:a16="http://schemas.microsoft.com/office/drawing/2014/main" id="{E1D0A3BF-33B8-8D9A-C253-23BA3AE1733F}"/>
              </a:ext>
            </a:extLst>
          </p:cNvPr>
          <p:cNvSpPr>
            <a:spLocks noGrp="1"/>
          </p:cNvSpPr>
          <p:nvPr>
            <p:ph type="pic" sz="quarter" idx="14" hasCustomPrompt="1"/>
          </p:nvPr>
        </p:nvSpPr>
        <p:spPr>
          <a:xfrm>
            <a:off x="3286686" y="4833938"/>
            <a:ext cx="954296" cy="954296"/>
          </a:xfrm>
          <a:prstGeom prst="roundRect">
            <a:avLst>
              <a:gd name="adj" fmla="val 10179"/>
            </a:avLst>
          </a:prstGeom>
        </p:spPr>
        <p:txBody>
          <a:bodyPr anchor="ctr" anchorCtr="0">
            <a:noAutofit/>
          </a:bodyPr>
          <a:lstStyle>
            <a:lvl1pPr marL="0" indent="0" algn="ctr">
              <a:buNone/>
              <a:defRPr sz="1100">
                <a:solidFill>
                  <a:schemeClr val="bg1"/>
                </a:solidFill>
              </a:defRPr>
            </a:lvl1pPr>
          </a:lstStyle>
          <a:p>
            <a:r>
              <a:rPr lang="en-GB"/>
              <a:t>Add speaker image</a:t>
            </a:r>
          </a:p>
        </p:txBody>
      </p:sp>
    </p:spTree>
    <p:extLst>
      <p:ext uri="{BB962C8B-B14F-4D97-AF65-F5344CB8AC3E}">
        <p14:creationId xmlns:p14="http://schemas.microsoft.com/office/powerpoint/2010/main" val="1706678920"/>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1 Sta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6" name="Rectangle 5">
            <a:extLst>
              <a:ext uri="{FF2B5EF4-FFF2-40B4-BE49-F238E27FC236}">
                <a16:creationId xmlns:a16="http://schemas.microsoft.com/office/drawing/2014/main" id="{836622C5-62C6-BF0C-1AAB-689F343DF758}"/>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501831"/>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Tree>
    <p:extLst>
      <p:ext uri="{BB962C8B-B14F-4D97-AF65-F5344CB8AC3E}">
        <p14:creationId xmlns:p14="http://schemas.microsoft.com/office/powerpoint/2010/main" val="3501385712"/>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2 Sta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816723BF-C6C2-33DE-DC80-285D68135179}"/>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998539"/>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
        <p:nvSpPr>
          <p:cNvPr id="6" name="Rectangle: Rounded Corners 5">
            <a:extLst>
              <a:ext uri="{FF2B5EF4-FFF2-40B4-BE49-F238E27FC236}">
                <a16:creationId xmlns:a16="http://schemas.microsoft.com/office/drawing/2014/main" id="{BD34697C-6984-97A4-6323-E484A0859F58}"/>
              </a:ext>
            </a:extLst>
          </p:cNvPr>
          <p:cNvSpPr>
            <a:spLocks/>
          </p:cNvSpPr>
          <p:nvPr userDrawn="1"/>
        </p:nvSpPr>
        <p:spPr bwMode="auto">
          <a:xfrm>
            <a:off x="3364059" y="1952624"/>
            <a:ext cx="2668147" cy="4311651"/>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7" name="Rectangle: Rounded Corners 6">
            <a:extLst>
              <a:ext uri="{FF2B5EF4-FFF2-40B4-BE49-F238E27FC236}">
                <a16:creationId xmlns:a16="http://schemas.microsoft.com/office/drawing/2014/main" id="{FC717E7F-A194-CBD6-CB5D-30B47CC54CF9}"/>
              </a:ext>
            </a:extLst>
          </p:cNvPr>
          <p:cNvSpPr>
            <a:spLocks/>
          </p:cNvSpPr>
          <p:nvPr userDrawn="1"/>
        </p:nvSpPr>
        <p:spPr bwMode="auto">
          <a:xfrm>
            <a:off x="6158206" y="1952624"/>
            <a:ext cx="2668147" cy="4311651"/>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 name="Rectangle: Rounded Corners 7">
            <a:extLst>
              <a:ext uri="{FF2B5EF4-FFF2-40B4-BE49-F238E27FC236}">
                <a16:creationId xmlns:a16="http://schemas.microsoft.com/office/drawing/2014/main" id="{0F07FB6C-CC80-5470-7BC4-4496CFCF58AE}"/>
              </a:ext>
            </a:extLst>
          </p:cNvPr>
          <p:cNvSpPr>
            <a:spLocks/>
          </p:cNvSpPr>
          <p:nvPr userDrawn="1"/>
        </p:nvSpPr>
        <p:spPr bwMode="auto">
          <a:xfrm>
            <a:off x="8952353" y="1952624"/>
            <a:ext cx="2668147" cy="4311651"/>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 name="Rectangle: Rounded Corners 8">
            <a:extLst>
              <a:ext uri="{FF2B5EF4-FFF2-40B4-BE49-F238E27FC236}">
                <a16:creationId xmlns:a16="http://schemas.microsoft.com/office/drawing/2014/main" id="{0D8201FC-4B92-4A34-7E5C-2140342B17DD}"/>
              </a:ext>
            </a:extLst>
          </p:cNvPr>
          <p:cNvSpPr>
            <a:spLocks/>
          </p:cNvSpPr>
          <p:nvPr userDrawn="1"/>
        </p:nvSpPr>
        <p:spPr bwMode="auto">
          <a:xfrm>
            <a:off x="569912" y="1952624"/>
            <a:ext cx="2668147" cy="4311651"/>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nvGrpSpPr>
          <p:cNvPr id="10" name="Group 9">
            <a:extLst>
              <a:ext uri="{FF2B5EF4-FFF2-40B4-BE49-F238E27FC236}">
                <a16:creationId xmlns:a16="http://schemas.microsoft.com/office/drawing/2014/main" id="{B0781E62-9362-000A-C766-062C7AF961EB}"/>
              </a:ext>
            </a:extLst>
          </p:cNvPr>
          <p:cNvGrpSpPr/>
          <p:nvPr userDrawn="1"/>
        </p:nvGrpSpPr>
        <p:grpSpPr>
          <a:xfrm>
            <a:off x="690561" y="2097088"/>
            <a:ext cx="1179134" cy="1176908"/>
            <a:chOff x="1261672" y="4833938"/>
            <a:chExt cx="954296" cy="954296"/>
          </a:xfrm>
        </p:grpSpPr>
        <p:sp>
          <p:nvSpPr>
            <p:cNvPr id="11" name="Rectangle: Rounded Corners 10">
              <a:extLst>
                <a:ext uri="{FF2B5EF4-FFF2-40B4-BE49-F238E27FC236}">
                  <a16:creationId xmlns:a16="http://schemas.microsoft.com/office/drawing/2014/main" id="{0E375957-61CD-70B3-6B1A-702C1D24F564}"/>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2" name="Rectangle: Rounded Corners 11">
              <a:extLst>
                <a:ext uri="{FF2B5EF4-FFF2-40B4-BE49-F238E27FC236}">
                  <a16:creationId xmlns:a16="http://schemas.microsoft.com/office/drawing/2014/main" id="{FCD9EDBF-79F7-CEA6-42C9-C884002BE1E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nvGrpSpPr>
          <p:cNvPr id="13" name="Group 12">
            <a:extLst>
              <a:ext uri="{FF2B5EF4-FFF2-40B4-BE49-F238E27FC236}">
                <a16:creationId xmlns:a16="http://schemas.microsoft.com/office/drawing/2014/main" id="{7E1D595D-A137-C07F-0E1B-97B28B575A6E}"/>
              </a:ext>
            </a:extLst>
          </p:cNvPr>
          <p:cNvGrpSpPr/>
          <p:nvPr userDrawn="1"/>
        </p:nvGrpSpPr>
        <p:grpSpPr>
          <a:xfrm>
            <a:off x="3484708" y="2097088"/>
            <a:ext cx="1179134" cy="1176908"/>
            <a:chOff x="1261672" y="4833938"/>
            <a:chExt cx="954296" cy="954296"/>
          </a:xfrm>
        </p:grpSpPr>
        <p:sp>
          <p:nvSpPr>
            <p:cNvPr id="15" name="Rectangle: Rounded Corners 14">
              <a:extLst>
                <a:ext uri="{FF2B5EF4-FFF2-40B4-BE49-F238E27FC236}">
                  <a16:creationId xmlns:a16="http://schemas.microsoft.com/office/drawing/2014/main" id="{4D2C0063-48B3-8F37-51A7-CB4942CEEF39}"/>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7" name="Rectangle: Rounded Corners 16">
              <a:extLst>
                <a:ext uri="{FF2B5EF4-FFF2-40B4-BE49-F238E27FC236}">
                  <a16:creationId xmlns:a16="http://schemas.microsoft.com/office/drawing/2014/main" id="{A9F14434-8BFC-A027-E54F-6437F31954E8}"/>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nvGrpSpPr>
          <p:cNvPr id="18" name="Group 17">
            <a:extLst>
              <a:ext uri="{FF2B5EF4-FFF2-40B4-BE49-F238E27FC236}">
                <a16:creationId xmlns:a16="http://schemas.microsoft.com/office/drawing/2014/main" id="{FA29FC2E-0F3F-A377-25C3-5D3CC120E8EF}"/>
              </a:ext>
            </a:extLst>
          </p:cNvPr>
          <p:cNvGrpSpPr/>
          <p:nvPr userDrawn="1"/>
        </p:nvGrpSpPr>
        <p:grpSpPr>
          <a:xfrm>
            <a:off x="6278855" y="2097088"/>
            <a:ext cx="1179134" cy="1176908"/>
            <a:chOff x="1261672" y="4833938"/>
            <a:chExt cx="954296" cy="954296"/>
          </a:xfrm>
        </p:grpSpPr>
        <p:sp>
          <p:nvSpPr>
            <p:cNvPr id="23" name="Rectangle: Rounded Corners 22">
              <a:extLst>
                <a:ext uri="{FF2B5EF4-FFF2-40B4-BE49-F238E27FC236}">
                  <a16:creationId xmlns:a16="http://schemas.microsoft.com/office/drawing/2014/main" id="{C66FF0DD-FF46-AA9D-484C-F064D1FC09C2}"/>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4" name="Rectangle: Rounded Corners 23">
              <a:extLst>
                <a:ext uri="{FF2B5EF4-FFF2-40B4-BE49-F238E27FC236}">
                  <a16:creationId xmlns:a16="http://schemas.microsoft.com/office/drawing/2014/main" id="{7B8595E0-536A-A8AB-204B-F18AE343925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nvGrpSpPr>
          <p:cNvPr id="25" name="Group 24">
            <a:extLst>
              <a:ext uri="{FF2B5EF4-FFF2-40B4-BE49-F238E27FC236}">
                <a16:creationId xmlns:a16="http://schemas.microsoft.com/office/drawing/2014/main" id="{7D02323E-51E3-FED3-2479-C60828368D00}"/>
              </a:ext>
            </a:extLst>
          </p:cNvPr>
          <p:cNvGrpSpPr/>
          <p:nvPr userDrawn="1"/>
        </p:nvGrpSpPr>
        <p:grpSpPr>
          <a:xfrm>
            <a:off x="9073002" y="2097088"/>
            <a:ext cx="1179134" cy="1176908"/>
            <a:chOff x="1261672" y="4833938"/>
            <a:chExt cx="954296" cy="954296"/>
          </a:xfrm>
        </p:grpSpPr>
        <p:sp>
          <p:nvSpPr>
            <p:cNvPr id="26" name="Rectangle: Rounded Corners 25">
              <a:extLst>
                <a:ext uri="{FF2B5EF4-FFF2-40B4-BE49-F238E27FC236}">
                  <a16:creationId xmlns:a16="http://schemas.microsoft.com/office/drawing/2014/main" id="{B33C780D-7EEA-4654-62AD-117473562FF5}"/>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7" name="Rectangle: Rounded Corners 26">
              <a:extLst>
                <a:ext uri="{FF2B5EF4-FFF2-40B4-BE49-F238E27FC236}">
                  <a16:creationId xmlns:a16="http://schemas.microsoft.com/office/drawing/2014/main" id="{D2B958FF-B818-DA37-CEE5-DB825F652B60}"/>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sp>
        <p:nvSpPr>
          <p:cNvPr id="36" name="Content Placeholder 2">
            <a:extLst>
              <a:ext uri="{FF2B5EF4-FFF2-40B4-BE49-F238E27FC236}">
                <a16:creationId xmlns:a16="http://schemas.microsoft.com/office/drawing/2014/main" id="{F4D0D986-9523-5CFC-31FD-4196D79598CB}"/>
              </a:ext>
            </a:extLst>
          </p:cNvPr>
          <p:cNvSpPr>
            <a:spLocks noGrp="1"/>
          </p:cNvSpPr>
          <p:nvPr>
            <p:ph idx="1" hasCustomPrompt="1"/>
          </p:nvPr>
        </p:nvSpPr>
        <p:spPr>
          <a:xfrm>
            <a:off x="692149" y="3428999"/>
            <a:ext cx="2423673" cy="2719389"/>
          </a:xfrm>
          <a:prstGeom prst="rect">
            <a:avLst/>
          </a:prstGeom>
        </p:spPr>
        <p:txBody>
          <a:bodyPr wrap="square" lIns="0" tIns="0" rIns="0" bIns="0" anchor="t" anchorCtr="0">
            <a:noAutofit/>
          </a:bodyPr>
          <a:lstStyle>
            <a:lvl1pPr>
              <a:defRPr kumimoji="0" lang="en-US" sz="14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text/ content</a:t>
            </a:r>
          </a:p>
        </p:txBody>
      </p:sp>
      <p:sp>
        <p:nvSpPr>
          <p:cNvPr id="37" name="Content Placeholder 2">
            <a:extLst>
              <a:ext uri="{FF2B5EF4-FFF2-40B4-BE49-F238E27FC236}">
                <a16:creationId xmlns:a16="http://schemas.microsoft.com/office/drawing/2014/main" id="{AC156FA3-D969-0FD9-96B8-F1C893BF8540}"/>
              </a:ext>
            </a:extLst>
          </p:cNvPr>
          <p:cNvSpPr>
            <a:spLocks noGrp="1"/>
          </p:cNvSpPr>
          <p:nvPr>
            <p:ph idx="10" hasCustomPrompt="1"/>
          </p:nvPr>
        </p:nvSpPr>
        <p:spPr>
          <a:xfrm>
            <a:off x="3486296" y="3428999"/>
            <a:ext cx="2423673" cy="2719389"/>
          </a:xfrm>
          <a:prstGeom prst="rect">
            <a:avLst/>
          </a:prstGeom>
        </p:spPr>
        <p:txBody>
          <a:bodyPr wrap="square" lIns="0" tIns="0" rIns="0" bIns="0" anchor="t" anchorCtr="0">
            <a:noAutofit/>
          </a:bodyPr>
          <a:lstStyle>
            <a:lvl1pPr>
              <a:defRPr kumimoji="0" lang="en-US" sz="14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text/ content</a:t>
            </a:r>
          </a:p>
        </p:txBody>
      </p:sp>
      <p:sp>
        <p:nvSpPr>
          <p:cNvPr id="38" name="Content Placeholder 2">
            <a:extLst>
              <a:ext uri="{FF2B5EF4-FFF2-40B4-BE49-F238E27FC236}">
                <a16:creationId xmlns:a16="http://schemas.microsoft.com/office/drawing/2014/main" id="{A2B75C5B-946A-69A7-FB64-B2160CE38481}"/>
              </a:ext>
            </a:extLst>
          </p:cNvPr>
          <p:cNvSpPr>
            <a:spLocks noGrp="1"/>
          </p:cNvSpPr>
          <p:nvPr>
            <p:ph idx="11" hasCustomPrompt="1"/>
          </p:nvPr>
        </p:nvSpPr>
        <p:spPr>
          <a:xfrm>
            <a:off x="6280443" y="3428999"/>
            <a:ext cx="2423673" cy="2719389"/>
          </a:xfrm>
          <a:prstGeom prst="rect">
            <a:avLst/>
          </a:prstGeom>
        </p:spPr>
        <p:txBody>
          <a:bodyPr wrap="square" lIns="0" tIns="0" rIns="0" bIns="0" anchor="t" anchorCtr="0">
            <a:noAutofit/>
          </a:bodyPr>
          <a:lstStyle>
            <a:lvl1pPr>
              <a:defRPr kumimoji="0" lang="en-US" sz="14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text/ content</a:t>
            </a:r>
          </a:p>
        </p:txBody>
      </p:sp>
      <p:sp>
        <p:nvSpPr>
          <p:cNvPr id="39" name="Content Placeholder 2">
            <a:extLst>
              <a:ext uri="{FF2B5EF4-FFF2-40B4-BE49-F238E27FC236}">
                <a16:creationId xmlns:a16="http://schemas.microsoft.com/office/drawing/2014/main" id="{859DCBD7-C508-F58C-91A4-DD29208CF34F}"/>
              </a:ext>
            </a:extLst>
          </p:cNvPr>
          <p:cNvSpPr>
            <a:spLocks noGrp="1"/>
          </p:cNvSpPr>
          <p:nvPr>
            <p:ph idx="12" hasCustomPrompt="1"/>
          </p:nvPr>
        </p:nvSpPr>
        <p:spPr>
          <a:xfrm>
            <a:off x="9074590" y="3428999"/>
            <a:ext cx="2423673" cy="2719389"/>
          </a:xfrm>
          <a:prstGeom prst="rect">
            <a:avLst/>
          </a:prstGeom>
        </p:spPr>
        <p:txBody>
          <a:bodyPr wrap="square" lIns="0" tIns="0" rIns="0" bIns="0" anchor="t" anchorCtr="0">
            <a:noAutofit/>
          </a:bodyPr>
          <a:lstStyle>
            <a:lvl1pPr>
              <a:defRPr kumimoji="0" lang="en-US" sz="14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text/ content</a:t>
            </a:r>
          </a:p>
        </p:txBody>
      </p:sp>
      <p:sp>
        <p:nvSpPr>
          <p:cNvPr id="46" name="Content Placeholder 2">
            <a:extLst>
              <a:ext uri="{FF2B5EF4-FFF2-40B4-BE49-F238E27FC236}">
                <a16:creationId xmlns:a16="http://schemas.microsoft.com/office/drawing/2014/main" id="{BA882936-91BE-F9C5-0FA1-73DA70CDE20F}"/>
              </a:ext>
            </a:extLst>
          </p:cNvPr>
          <p:cNvSpPr>
            <a:spLocks noGrp="1"/>
          </p:cNvSpPr>
          <p:nvPr>
            <p:ph idx="19" hasCustomPrompt="1"/>
          </p:nvPr>
        </p:nvSpPr>
        <p:spPr>
          <a:xfrm>
            <a:off x="690561" y="2334267"/>
            <a:ext cx="1179134" cy="691438"/>
          </a:xfrm>
          <a:prstGeom prst="rect">
            <a:avLst/>
          </a:prstGeom>
          <a:noFill/>
        </p:spPr>
        <p:txBody>
          <a:bodyPr wrap="square" anchor="ctr" anchorCtr="0">
            <a:noAutofit/>
          </a:bodyPr>
          <a:lstStyle>
            <a:lvl1pPr marL="0" indent="0" algn="ctr">
              <a:buNone/>
              <a:defRPr kumimoji="0" lang="en-US" sz="1800" b="0" i="0" u="none" strike="noStrike" cap="none" spc="-48" normalizeH="0" dirty="0">
                <a:ln w="3175">
                  <a:noFill/>
                </a:ln>
                <a:solidFill>
                  <a:schemeClr val="bg1"/>
                </a:solidFill>
                <a:effectLst/>
                <a:uLnTx/>
                <a:uFillTx/>
                <a:latin typeface="Segoe Sans Text Semibold"/>
                <a:cs typeface="+mn-cs"/>
              </a:defRPr>
            </a:lvl1pPr>
          </a:lstStyle>
          <a:p>
            <a:pPr marL="0" lvl="0" defTabSz="914400"/>
            <a:r>
              <a:rPr lang="en-US"/>
              <a:t>Click to enter stat</a:t>
            </a:r>
          </a:p>
        </p:txBody>
      </p:sp>
      <p:sp>
        <p:nvSpPr>
          <p:cNvPr id="47" name="Content Placeholder 2">
            <a:extLst>
              <a:ext uri="{FF2B5EF4-FFF2-40B4-BE49-F238E27FC236}">
                <a16:creationId xmlns:a16="http://schemas.microsoft.com/office/drawing/2014/main" id="{F9075C0F-648C-8ABA-FA76-090BBDA11117}"/>
              </a:ext>
            </a:extLst>
          </p:cNvPr>
          <p:cNvSpPr>
            <a:spLocks noGrp="1"/>
          </p:cNvSpPr>
          <p:nvPr>
            <p:ph idx="20" hasCustomPrompt="1"/>
          </p:nvPr>
        </p:nvSpPr>
        <p:spPr>
          <a:xfrm>
            <a:off x="3484708" y="2334267"/>
            <a:ext cx="1179134" cy="691438"/>
          </a:xfrm>
          <a:prstGeom prst="rect">
            <a:avLst/>
          </a:prstGeom>
          <a:noFill/>
        </p:spPr>
        <p:txBody>
          <a:bodyPr wrap="square" anchor="ctr" anchorCtr="0">
            <a:noAutofit/>
          </a:bodyPr>
          <a:lstStyle>
            <a:lvl1pPr marL="0" indent="0" algn="ctr">
              <a:buNone/>
              <a:defRPr kumimoji="0" lang="en-US" sz="1800" b="0" i="0" u="none" strike="noStrike" cap="none" spc="-48" normalizeH="0" dirty="0">
                <a:ln w="3175">
                  <a:noFill/>
                </a:ln>
                <a:solidFill>
                  <a:schemeClr val="bg1"/>
                </a:solidFill>
                <a:effectLst/>
                <a:uLnTx/>
                <a:uFillTx/>
                <a:latin typeface="Segoe Sans Text Semibold"/>
                <a:cs typeface="+mn-cs"/>
              </a:defRPr>
            </a:lvl1pPr>
          </a:lstStyle>
          <a:p>
            <a:pPr marL="0" lvl="0" defTabSz="914400"/>
            <a:r>
              <a:rPr lang="en-US"/>
              <a:t>Click to enter stat</a:t>
            </a:r>
          </a:p>
        </p:txBody>
      </p:sp>
      <p:sp>
        <p:nvSpPr>
          <p:cNvPr id="48" name="Content Placeholder 2">
            <a:extLst>
              <a:ext uri="{FF2B5EF4-FFF2-40B4-BE49-F238E27FC236}">
                <a16:creationId xmlns:a16="http://schemas.microsoft.com/office/drawing/2014/main" id="{9D97D7DB-EF04-80DC-014D-5062C4C3B9E5}"/>
              </a:ext>
            </a:extLst>
          </p:cNvPr>
          <p:cNvSpPr>
            <a:spLocks noGrp="1"/>
          </p:cNvSpPr>
          <p:nvPr>
            <p:ph idx="21" hasCustomPrompt="1"/>
          </p:nvPr>
        </p:nvSpPr>
        <p:spPr>
          <a:xfrm>
            <a:off x="6278855" y="2334267"/>
            <a:ext cx="1179134" cy="691438"/>
          </a:xfrm>
          <a:prstGeom prst="rect">
            <a:avLst/>
          </a:prstGeom>
          <a:noFill/>
        </p:spPr>
        <p:txBody>
          <a:bodyPr wrap="square" anchor="ctr" anchorCtr="0">
            <a:noAutofit/>
          </a:bodyPr>
          <a:lstStyle>
            <a:lvl1pPr marL="0" indent="0" algn="ctr">
              <a:buNone/>
              <a:defRPr kumimoji="0" lang="en-US" sz="1800" b="0" i="0" u="none" strike="noStrike" cap="none" spc="-48" normalizeH="0" dirty="0">
                <a:ln w="3175">
                  <a:noFill/>
                </a:ln>
                <a:solidFill>
                  <a:schemeClr val="bg1"/>
                </a:solidFill>
                <a:effectLst/>
                <a:uLnTx/>
                <a:uFillTx/>
                <a:latin typeface="Segoe Sans Text Semibold"/>
                <a:cs typeface="+mn-cs"/>
              </a:defRPr>
            </a:lvl1pPr>
          </a:lstStyle>
          <a:p>
            <a:pPr marL="0" lvl="0" defTabSz="914400"/>
            <a:r>
              <a:rPr lang="en-US"/>
              <a:t>Click to enter stat</a:t>
            </a:r>
          </a:p>
        </p:txBody>
      </p:sp>
      <p:sp>
        <p:nvSpPr>
          <p:cNvPr id="49" name="Content Placeholder 2">
            <a:extLst>
              <a:ext uri="{FF2B5EF4-FFF2-40B4-BE49-F238E27FC236}">
                <a16:creationId xmlns:a16="http://schemas.microsoft.com/office/drawing/2014/main" id="{C36B2DC7-DB87-CC70-906E-04FB16E21305}"/>
              </a:ext>
            </a:extLst>
          </p:cNvPr>
          <p:cNvSpPr>
            <a:spLocks noGrp="1"/>
          </p:cNvSpPr>
          <p:nvPr>
            <p:ph idx="22" hasCustomPrompt="1"/>
          </p:nvPr>
        </p:nvSpPr>
        <p:spPr>
          <a:xfrm>
            <a:off x="9073002" y="2334267"/>
            <a:ext cx="1179134" cy="691438"/>
          </a:xfrm>
          <a:prstGeom prst="rect">
            <a:avLst/>
          </a:prstGeom>
          <a:noFill/>
        </p:spPr>
        <p:txBody>
          <a:bodyPr wrap="square" anchor="ctr" anchorCtr="0">
            <a:noAutofit/>
          </a:bodyPr>
          <a:lstStyle>
            <a:lvl1pPr marL="0" indent="0" algn="ctr">
              <a:buNone/>
              <a:defRPr kumimoji="0" lang="en-US" sz="1800" b="0" i="0" u="none" strike="noStrike" cap="none" spc="-48" normalizeH="0" dirty="0">
                <a:ln w="3175">
                  <a:noFill/>
                </a:ln>
                <a:solidFill>
                  <a:schemeClr val="bg1"/>
                </a:solidFill>
                <a:effectLst/>
                <a:uLnTx/>
                <a:uFillTx/>
                <a:latin typeface="Segoe Sans Text Semibold"/>
                <a:cs typeface="+mn-cs"/>
              </a:defRPr>
            </a:lvl1pPr>
          </a:lstStyle>
          <a:p>
            <a:pPr marL="0" lvl="0" defTabSz="914400"/>
            <a:r>
              <a:rPr lang="en-US"/>
              <a:t>Click to enter stat</a:t>
            </a:r>
          </a:p>
        </p:txBody>
      </p:sp>
    </p:spTree>
    <p:extLst>
      <p:ext uri="{BB962C8B-B14F-4D97-AF65-F5344CB8AC3E}">
        <p14:creationId xmlns:p14="http://schemas.microsoft.com/office/powerpoint/2010/main" val="1035030334"/>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2.1 full slid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3D0BD591-D55A-58AB-F775-0F7BB7636C65}"/>
              </a:ext>
            </a:extLst>
          </p:cNvPr>
          <p:cNvSpPr/>
          <p:nvPr userDrawn="1"/>
        </p:nvSpPr>
        <p:spPr bwMode="auto">
          <a:xfrm>
            <a:off x="0" y="0"/>
            <a:ext cx="12192000" cy="70104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998539"/>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
        <p:nvSpPr>
          <p:cNvPr id="6" name="Rectangle: Rounded Corners 5">
            <a:extLst>
              <a:ext uri="{FF2B5EF4-FFF2-40B4-BE49-F238E27FC236}">
                <a16:creationId xmlns:a16="http://schemas.microsoft.com/office/drawing/2014/main" id="{8D80B7E4-4FCA-61E8-A2A0-A1C1B385869B}"/>
              </a:ext>
            </a:extLst>
          </p:cNvPr>
          <p:cNvSpPr>
            <a:spLocks/>
          </p:cNvSpPr>
          <p:nvPr userDrawn="1"/>
        </p:nvSpPr>
        <p:spPr bwMode="auto">
          <a:xfrm>
            <a:off x="426244" y="1787665"/>
            <a:ext cx="11339514" cy="464554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 name="Picture Placeholder 8">
            <a:extLst>
              <a:ext uri="{FF2B5EF4-FFF2-40B4-BE49-F238E27FC236}">
                <a16:creationId xmlns:a16="http://schemas.microsoft.com/office/drawing/2014/main" id="{0A667857-5B9D-C859-50DC-97EAFD22A5EE}"/>
              </a:ext>
            </a:extLst>
          </p:cNvPr>
          <p:cNvSpPr>
            <a:spLocks noGrp="1"/>
          </p:cNvSpPr>
          <p:nvPr>
            <p:ph type="pic" sz="quarter" idx="21" hasCustomPrompt="1"/>
          </p:nvPr>
        </p:nvSpPr>
        <p:spPr>
          <a:xfrm>
            <a:off x="606001" y="1968435"/>
            <a:ext cx="10980000" cy="4284000"/>
          </a:xfrm>
          <a:prstGeom prst="roundRect">
            <a:avLst>
              <a:gd name="adj" fmla="val 1144"/>
            </a:avLst>
          </a:prstGeom>
        </p:spPr>
        <p:txBody>
          <a:bodyPr wrap="square" anchor="ctr" anchorCtr="0">
            <a:normAutofit/>
          </a:bodyPr>
          <a:lstStyle>
            <a:lvl1pPr marL="0" indent="0" algn="ctr">
              <a:buNone/>
              <a:defRPr sz="1100">
                <a:solidFill>
                  <a:schemeClr val="bg1"/>
                </a:solidFill>
              </a:defRPr>
            </a:lvl1pPr>
          </a:lstStyle>
          <a:p>
            <a:r>
              <a:rPr lang="en-US"/>
              <a:t>Insert image</a:t>
            </a:r>
          </a:p>
        </p:txBody>
      </p:sp>
    </p:spTree>
    <p:extLst>
      <p:ext uri="{BB962C8B-B14F-4D97-AF65-F5344CB8AC3E}">
        <p14:creationId xmlns:p14="http://schemas.microsoft.com/office/powerpoint/2010/main" val="1481848122"/>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12.2 full slid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pic>
        <p:nvPicPr>
          <p:cNvPr id="9" name="Picture 8">
            <a:extLst>
              <a:ext uri="{FF2B5EF4-FFF2-40B4-BE49-F238E27FC236}">
                <a16:creationId xmlns:a16="http://schemas.microsoft.com/office/drawing/2014/main" id="{6A8F22C3-4E13-5603-B423-3ED79E213E66}"/>
              </a:ext>
            </a:extLst>
          </p:cNvPr>
          <p:cNvPicPr>
            <a:picLocks noChangeAspect="1"/>
          </p:cNvPicPr>
          <p:nvPr userDrawn="1"/>
        </p:nvPicPr>
        <p:blipFill>
          <a:blip r:embed="rId5" cstate="hqprint">
            <a:extLst>
              <a:ext uri="{28A0092B-C50C-407E-A947-70E740481C1C}">
                <a14:useLocalDpi xmlns:a14="http://schemas.microsoft.com/office/drawing/2010/main"/>
              </a:ext>
            </a:extLst>
          </a:blip>
          <a:srcRect l="8" r="8"/>
          <a:stretch/>
        </p:blipFill>
        <p:spPr>
          <a:xfrm>
            <a:off x="230843" y="331816"/>
            <a:ext cx="3728028" cy="1233264"/>
          </a:xfrm>
          <a:prstGeom prst="rect">
            <a:avLst/>
          </a:prstGeom>
        </p:spPr>
      </p:pic>
    </p:spTree>
    <p:extLst>
      <p:ext uri="{BB962C8B-B14F-4D97-AF65-F5344CB8AC3E}">
        <p14:creationId xmlns:p14="http://schemas.microsoft.com/office/powerpoint/2010/main" val="1154450409"/>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2.2 full slid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CFD6D1EF-92CB-B214-AFC4-F22104BE556D}"/>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Text" pitchFamily="2" charset="0"/>
            </a:endParaRPr>
          </a:p>
        </p:txBody>
      </p:sp>
      <p:sp>
        <p:nvSpPr>
          <p:cNvPr id="6" name="Rectangle: Rounded Corners 5">
            <a:extLst>
              <a:ext uri="{FF2B5EF4-FFF2-40B4-BE49-F238E27FC236}">
                <a16:creationId xmlns:a16="http://schemas.microsoft.com/office/drawing/2014/main" id="{8D80B7E4-4FCA-61E8-A2A0-A1C1B385869B}"/>
              </a:ext>
            </a:extLst>
          </p:cNvPr>
          <p:cNvSpPr>
            <a:spLocks/>
          </p:cNvSpPr>
          <p:nvPr userDrawn="1"/>
        </p:nvSpPr>
        <p:spPr bwMode="auto">
          <a:xfrm>
            <a:off x="426244" y="424796"/>
            <a:ext cx="11339514" cy="6008409"/>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 name="Picture Placeholder 8">
            <a:extLst>
              <a:ext uri="{FF2B5EF4-FFF2-40B4-BE49-F238E27FC236}">
                <a16:creationId xmlns:a16="http://schemas.microsoft.com/office/drawing/2014/main" id="{832C0EDE-51C4-FF4A-CF43-3538B9214A25}"/>
              </a:ext>
            </a:extLst>
          </p:cNvPr>
          <p:cNvSpPr>
            <a:spLocks noGrp="1"/>
          </p:cNvSpPr>
          <p:nvPr>
            <p:ph type="pic" sz="quarter" idx="22" hasCustomPrompt="1"/>
          </p:nvPr>
        </p:nvSpPr>
        <p:spPr>
          <a:xfrm>
            <a:off x="606001" y="588962"/>
            <a:ext cx="10980000" cy="5680076"/>
          </a:xfrm>
          <a:prstGeom prst="roundRect">
            <a:avLst>
              <a:gd name="adj" fmla="val 1144"/>
            </a:avLst>
          </a:prstGeom>
        </p:spPr>
        <p:txBody>
          <a:bodyPr wrap="square" anchor="ctr" anchorCtr="0">
            <a:normAutofit/>
          </a:bodyPr>
          <a:lstStyle>
            <a:lvl1pPr marL="0" indent="0" algn="ctr">
              <a:buNone/>
              <a:defRPr sz="1100">
                <a:solidFill>
                  <a:schemeClr val="bg1"/>
                </a:solidFill>
              </a:defRPr>
            </a:lvl1pPr>
          </a:lstStyle>
          <a:p>
            <a:r>
              <a:rPr lang="en-US"/>
              <a:t>Insert image</a:t>
            </a:r>
          </a:p>
        </p:txBody>
      </p:sp>
    </p:spTree>
    <p:extLst>
      <p:ext uri="{BB962C8B-B14F-4D97-AF65-F5344CB8AC3E}">
        <p14:creationId xmlns:p14="http://schemas.microsoft.com/office/powerpoint/2010/main" val="1326401380"/>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2. Blank">
  <p:cSld name="2. Blank">
    <p:spTree>
      <p:nvGrpSpPr>
        <p:cNvPr id="1" name="Shape 1406"/>
        <p:cNvGrpSpPr/>
        <p:nvPr/>
      </p:nvGrpSpPr>
      <p:grpSpPr>
        <a:xfrm>
          <a:off x="0" y="0"/>
          <a:ext cx="0" cy="0"/>
          <a:chOff x="0" y="0"/>
          <a:chExt cx="0" cy="0"/>
        </a:xfrm>
      </p:grpSpPr>
    </p:spTree>
    <p:extLst>
      <p:ext uri="{BB962C8B-B14F-4D97-AF65-F5344CB8AC3E}">
        <p14:creationId xmlns:p14="http://schemas.microsoft.com/office/powerpoint/2010/main" val="2023015532"/>
      </p:ext>
    </p:extLst>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77. Two silos 1">
  <p:cSld name="77. Two silos 1">
    <p:spTree>
      <p:nvGrpSpPr>
        <p:cNvPr id="1" name="Shape 3018"/>
        <p:cNvGrpSpPr/>
        <p:nvPr/>
      </p:nvGrpSpPr>
      <p:grpSpPr>
        <a:xfrm>
          <a:off x="0" y="0"/>
          <a:ext cx="0" cy="0"/>
          <a:chOff x="0" y="0"/>
          <a:chExt cx="0" cy="0"/>
        </a:xfrm>
      </p:grpSpPr>
      <p:sp>
        <p:nvSpPr>
          <p:cNvPr id="3019" name="Google Shape;3019;p256"/>
          <p:cNvSpPr/>
          <p:nvPr/>
        </p:nvSpPr>
        <p:spPr>
          <a:xfrm>
            <a:off x="6291643" y="1524000"/>
            <a:ext cx="4851600" cy="4546800"/>
          </a:xfrm>
          <a:prstGeom prst="roundRect">
            <a:avLst>
              <a:gd name="adj" fmla="val 3159"/>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200" b="0" i="0" u="none" strike="noStrike" cap="none">
              <a:solidFill>
                <a:srgbClr val="6E7681"/>
              </a:solidFill>
              <a:latin typeface="Arial"/>
              <a:ea typeface="Arial"/>
              <a:cs typeface="Arial"/>
              <a:sym typeface="Arial"/>
            </a:endParaRPr>
          </a:p>
        </p:txBody>
      </p:sp>
      <p:sp>
        <p:nvSpPr>
          <p:cNvPr id="3020" name="Google Shape;3020;p256"/>
          <p:cNvSpPr/>
          <p:nvPr/>
        </p:nvSpPr>
        <p:spPr>
          <a:xfrm>
            <a:off x="1084641" y="1524000"/>
            <a:ext cx="4851600" cy="4546800"/>
          </a:xfrm>
          <a:prstGeom prst="roundRect">
            <a:avLst>
              <a:gd name="adj" fmla="val 3159"/>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F6FC"/>
              </a:buClr>
              <a:buSzPts val="900"/>
              <a:buFont typeface="Arial"/>
              <a:buNone/>
            </a:pPr>
            <a:endParaRPr sz="1200" b="0" i="0" u="none" strike="noStrike" cap="none">
              <a:solidFill>
                <a:srgbClr val="6E7681"/>
              </a:solidFill>
              <a:latin typeface="Arial"/>
              <a:ea typeface="Arial"/>
              <a:cs typeface="Arial"/>
              <a:sym typeface="Arial"/>
            </a:endParaRPr>
          </a:p>
        </p:txBody>
      </p:sp>
      <p:pic>
        <p:nvPicPr>
          <p:cNvPr id="3021" name="Google Shape;3021;p256"/>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6208907" y="-877633"/>
            <a:ext cx="6858000" cy="6858000"/>
          </a:xfrm>
          <a:prstGeom prst="rect">
            <a:avLst/>
          </a:prstGeom>
          <a:noFill/>
          <a:ln>
            <a:noFill/>
          </a:ln>
        </p:spPr>
      </p:pic>
      <p:sp>
        <p:nvSpPr>
          <p:cNvPr id="3022" name="Google Shape;3022;p256"/>
          <p:cNvSpPr txBox="1">
            <a:spLocks noGrp="1"/>
          </p:cNvSpPr>
          <p:nvPr>
            <p:ph type="subTitle" idx="1"/>
          </p:nvPr>
        </p:nvSpPr>
        <p:spPr>
          <a:xfrm>
            <a:off x="1480284" y="2059551"/>
            <a:ext cx="4025600" cy="457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b="1">
                <a:solidFill>
                  <a:schemeClr val="dk1"/>
                </a:solidFill>
              </a:defRPr>
            </a:lvl1pPr>
            <a:lvl2pPr lvl="1" rtl="0">
              <a:spcBef>
                <a:spcPts val="0"/>
              </a:spcBef>
              <a:spcAft>
                <a:spcPts val="0"/>
              </a:spcAft>
              <a:buClr>
                <a:schemeClr val="dk1"/>
              </a:buClr>
              <a:buSzPts val="1600"/>
              <a:buNone/>
              <a:defRPr sz="2133" b="1">
                <a:solidFill>
                  <a:schemeClr val="dk1"/>
                </a:solidFill>
              </a:defRPr>
            </a:lvl2pPr>
            <a:lvl3pPr lvl="2" rtl="0">
              <a:spcBef>
                <a:spcPts val="0"/>
              </a:spcBef>
              <a:spcAft>
                <a:spcPts val="0"/>
              </a:spcAft>
              <a:buClr>
                <a:schemeClr val="dk1"/>
              </a:buClr>
              <a:buSzPts val="1600"/>
              <a:buNone/>
              <a:defRPr sz="2133" b="1">
                <a:solidFill>
                  <a:schemeClr val="dk1"/>
                </a:solidFill>
              </a:defRPr>
            </a:lvl3pPr>
            <a:lvl4pPr lvl="3" rtl="0">
              <a:spcBef>
                <a:spcPts val="0"/>
              </a:spcBef>
              <a:spcAft>
                <a:spcPts val="0"/>
              </a:spcAft>
              <a:buClr>
                <a:schemeClr val="dk1"/>
              </a:buClr>
              <a:buSzPts val="1600"/>
              <a:buNone/>
              <a:defRPr sz="2133" b="1">
                <a:solidFill>
                  <a:schemeClr val="dk1"/>
                </a:solidFill>
              </a:defRPr>
            </a:lvl4pPr>
            <a:lvl5pPr lvl="4" rtl="0">
              <a:spcBef>
                <a:spcPts val="0"/>
              </a:spcBef>
              <a:spcAft>
                <a:spcPts val="0"/>
              </a:spcAft>
              <a:buClr>
                <a:schemeClr val="dk1"/>
              </a:buClr>
              <a:buSzPts val="1600"/>
              <a:buNone/>
              <a:defRPr sz="2133" b="1">
                <a:solidFill>
                  <a:schemeClr val="dk1"/>
                </a:solidFill>
              </a:defRPr>
            </a:lvl5pPr>
            <a:lvl6pPr lvl="5" rtl="0">
              <a:spcBef>
                <a:spcPts val="0"/>
              </a:spcBef>
              <a:spcAft>
                <a:spcPts val="0"/>
              </a:spcAft>
              <a:buClr>
                <a:schemeClr val="dk1"/>
              </a:buClr>
              <a:buSzPts val="1600"/>
              <a:buNone/>
              <a:defRPr sz="2133" b="1">
                <a:solidFill>
                  <a:schemeClr val="dk1"/>
                </a:solidFill>
              </a:defRPr>
            </a:lvl6pPr>
            <a:lvl7pPr lvl="6" rtl="0">
              <a:spcBef>
                <a:spcPts val="0"/>
              </a:spcBef>
              <a:spcAft>
                <a:spcPts val="0"/>
              </a:spcAft>
              <a:buClr>
                <a:schemeClr val="dk1"/>
              </a:buClr>
              <a:buSzPts val="1600"/>
              <a:buNone/>
              <a:defRPr sz="2133" b="1">
                <a:solidFill>
                  <a:schemeClr val="dk1"/>
                </a:solidFill>
              </a:defRPr>
            </a:lvl7pPr>
            <a:lvl8pPr lvl="7" rtl="0">
              <a:spcBef>
                <a:spcPts val="0"/>
              </a:spcBef>
              <a:spcAft>
                <a:spcPts val="0"/>
              </a:spcAft>
              <a:buClr>
                <a:schemeClr val="dk1"/>
              </a:buClr>
              <a:buSzPts val="1600"/>
              <a:buNone/>
              <a:defRPr sz="2133" b="1">
                <a:solidFill>
                  <a:schemeClr val="dk1"/>
                </a:solidFill>
              </a:defRPr>
            </a:lvl8pPr>
            <a:lvl9pPr lvl="8" rtl="0">
              <a:spcBef>
                <a:spcPts val="0"/>
              </a:spcBef>
              <a:spcAft>
                <a:spcPts val="0"/>
              </a:spcAft>
              <a:buClr>
                <a:schemeClr val="dk1"/>
              </a:buClr>
              <a:buSzPts val="1600"/>
              <a:buNone/>
              <a:defRPr sz="2133" b="1">
                <a:solidFill>
                  <a:schemeClr val="dk1"/>
                </a:solidFill>
              </a:defRPr>
            </a:lvl9pPr>
          </a:lstStyle>
          <a:p>
            <a:endParaRPr/>
          </a:p>
        </p:txBody>
      </p:sp>
      <p:sp>
        <p:nvSpPr>
          <p:cNvPr id="3023" name="Google Shape;3023;p256"/>
          <p:cNvSpPr/>
          <p:nvPr/>
        </p:nvSpPr>
        <p:spPr>
          <a:xfrm rot="5400000">
            <a:off x="5834451" y="2275951"/>
            <a:ext cx="914400" cy="24400"/>
          </a:xfrm>
          <a:prstGeom prst="roundRect">
            <a:avLst>
              <a:gd name="adj" fmla="val 50000"/>
            </a:avLst>
          </a:prstGeom>
          <a:gradFill>
            <a:gsLst>
              <a:gs pos="0">
                <a:srgbClr val="A371F7"/>
              </a:gs>
              <a:gs pos="100000">
                <a:srgbClr val="DB61A2"/>
              </a:gs>
            </a:gsLst>
            <a:lin ang="80993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024" name="Google Shape;3024;p256"/>
          <p:cNvSpPr/>
          <p:nvPr/>
        </p:nvSpPr>
        <p:spPr>
          <a:xfrm rot="5400000">
            <a:off x="627473" y="2275951"/>
            <a:ext cx="914400" cy="24400"/>
          </a:xfrm>
          <a:prstGeom prst="roundRect">
            <a:avLst>
              <a:gd name="adj" fmla="val 50000"/>
            </a:avLst>
          </a:prstGeom>
          <a:gradFill>
            <a:gsLst>
              <a:gs pos="0">
                <a:srgbClr val="388BFD"/>
              </a:gs>
              <a:gs pos="50000">
                <a:srgbClr val="797EF9"/>
              </a:gs>
              <a:gs pos="100000">
                <a:srgbClr val="A371F7"/>
              </a:gs>
            </a:gsLst>
            <a:lin ang="8099331"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025" name="Google Shape;3025;p256"/>
          <p:cNvSpPr txBox="1">
            <a:spLocks noGrp="1"/>
          </p:cNvSpPr>
          <p:nvPr>
            <p:ph type="subTitle" idx="2"/>
          </p:nvPr>
        </p:nvSpPr>
        <p:spPr>
          <a:xfrm>
            <a:off x="6687284" y="2059551"/>
            <a:ext cx="4025600" cy="457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b="1">
                <a:solidFill>
                  <a:schemeClr val="dk1"/>
                </a:solidFill>
              </a:defRPr>
            </a:lvl1pPr>
            <a:lvl2pPr lvl="1" rtl="0">
              <a:spcBef>
                <a:spcPts val="0"/>
              </a:spcBef>
              <a:spcAft>
                <a:spcPts val="0"/>
              </a:spcAft>
              <a:buClr>
                <a:schemeClr val="dk1"/>
              </a:buClr>
              <a:buSzPts val="1600"/>
              <a:buNone/>
              <a:defRPr sz="2133" b="1">
                <a:solidFill>
                  <a:schemeClr val="dk1"/>
                </a:solidFill>
              </a:defRPr>
            </a:lvl2pPr>
            <a:lvl3pPr lvl="2" rtl="0">
              <a:spcBef>
                <a:spcPts val="0"/>
              </a:spcBef>
              <a:spcAft>
                <a:spcPts val="0"/>
              </a:spcAft>
              <a:buClr>
                <a:schemeClr val="dk1"/>
              </a:buClr>
              <a:buSzPts val="1600"/>
              <a:buNone/>
              <a:defRPr sz="2133" b="1">
                <a:solidFill>
                  <a:schemeClr val="dk1"/>
                </a:solidFill>
              </a:defRPr>
            </a:lvl3pPr>
            <a:lvl4pPr lvl="3" rtl="0">
              <a:spcBef>
                <a:spcPts val="0"/>
              </a:spcBef>
              <a:spcAft>
                <a:spcPts val="0"/>
              </a:spcAft>
              <a:buClr>
                <a:schemeClr val="dk1"/>
              </a:buClr>
              <a:buSzPts val="1600"/>
              <a:buNone/>
              <a:defRPr sz="2133" b="1">
                <a:solidFill>
                  <a:schemeClr val="dk1"/>
                </a:solidFill>
              </a:defRPr>
            </a:lvl4pPr>
            <a:lvl5pPr lvl="4" rtl="0">
              <a:spcBef>
                <a:spcPts val="0"/>
              </a:spcBef>
              <a:spcAft>
                <a:spcPts val="0"/>
              </a:spcAft>
              <a:buClr>
                <a:schemeClr val="dk1"/>
              </a:buClr>
              <a:buSzPts val="1600"/>
              <a:buNone/>
              <a:defRPr sz="2133" b="1">
                <a:solidFill>
                  <a:schemeClr val="dk1"/>
                </a:solidFill>
              </a:defRPr>
            </a:lvl5pPr>
            <a:lvl6pPr lvl="5" rtl="0">
              <a:spcBef>
                <a:spcPts val="0"/>
              </a:spcBef>
              <a:spcAft>
                <a:spcPts val="0"/>
              </a:spcAft>
              <a:buClr>
                <a:schemeClr val="dk1"/>
              </a:buClr>
              <a:buSzPts val="1600"/>
              <a:buNone/>
              <a:defRPr sz="2133" b="1">
                <a:solidFill>
                  <a:schemeClr val="dk1"/>
                </a:solidFill>
              </a:defRPr>
            </a:lvl6pPr>
            <a:lvl7pPr lvl="6" rtl="0">
              <a:spcBef>
                <a:spcPts val="0"/>
              </a:spcBef>
              <a:spcAft>
                <a:spcPts val="0"/>
              </a:spcAft>
              <a:buClr>
                <a:schemeClr val="dk1"/>
              </a:buClr>
              <a:buSzPts val="1600"/>
              <a:buNone/>
              <a:defRPr sz="2133" b="1">
                <a:solidFill>
                  <a:schemeClr val="dk1"/>
                </a:solidFill>
              </a:defRPr>
            </a:lvl7pPr>
            <a:lvl8pPr lvl="7" rtl="0">
              <a:spcBef>
                <a:spcPts val="0"/>
              </a:spcBef>
              <a:spcAft>
                <a:spcPts val="0"/>
              </a:spcAft>
              <a:buClr>
                <a:schemeClr val="dk1"/>
              </a:buClr>
              <a:buSzPts val="1600"/>
              <a:buNone/>
              <a:defRPr sz="2133" b="1">
                <a:solidFill>
                  <a:schemeClr val="dk1"/>
                </a:solidFill>
              </a:defRPr>
            </a:lvl8pPr>
            <a:lvl9pPr lvl="8" rtl="0">
              <a:spcBef>
                <a:spcPts val="0"/>
              </a:spcBef>
              <a:spcAft>
                <a:spcPts val="0"/>
              </a:spcAft>
              <a:buClr>
                <a:schemeClr val="dk1"/>
              </a:buClr>
              <a:buSzPts val="1600"/>
              <a:buNone/>
              <a:defRPr sz="2133" b="1">
                <a:solidFill>
                  <a:schemeClr val="dk1"/>
                </a:solidFill>
              </a:defRPr>
            </a:lvl9pPr>
          </a:lstStyle>
          <a:p>
            <a:endParaRPr/>
          </a:p>
        </p:txBody>
      </p:sp>
      <p:sp>
        <p:nvSpPr>
          <p:cNvPr id="3026" name="Google Shape;3026;p256"/>
          <p:cNvSpPr txBox="1">
            <a:spLocks noGrp="1"/>
          </p:cNvSpPr>
          <p:nvPr>
            <p:ph type="sldNum" idx="12"/>
          </p:nvPr>
        </p:nvSpPr>
        <p:spPr>
          <a:xfrm>
            <a:off x="11409045" y="6333135"/>
            <a:ext cx="731600" cy="524800"/>
          </a:xfrm>
          <a:prstGeom prst="rect">
            <a:avLst/>
          </a:prstGeom>
          <a:noFill/>
          <a:ln>
            <a:noFill/>
          </a:ln>
        </p:spPr>
        <p:txBody>
          <a:bodyPr spcFirstLastPara="1" wrap="square" lIns="91425" tIns="91425" rIns="91425" bIns="91425" anchor="t" anchorCtr="0">
            <a:no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
        <p:nvSpPr>
          <p:cNvPr id="3027" name="Google Shape;3027;p256"/>
          <p:cNvSpPr txBox="1">
            <a:spLocks noGrp="1"/>
          </p:cNvSpPr>
          <p:nvPr>
            <p:ph type="subTitle" idx="3"/>
          </p:nvPr>
        </p:nvSpPr>
        <p:spPr>
          <a:xfrm>
            <a:off x="1481132" y="2817384"/>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28" name="Google Shape;3028;p256"/>
          <p:cNvSpPr txBox="1">
            <a:spLocks noGrp="1"/>
          </p:cNvSpPr>
          <p:nvPr>
            <p:ph type="subTitle" idx="4"/>
          </p:nvPr>
        </p:nvSpPr>
        <p:spPr>
          <a:xfrm>
            <a:off x="1481136" y="3472235"/>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29" name="Google Shape;3029;p256"/>
          <p:cNvSpPr txBox="1">
            <a:spLocks noGrp="1"/>
          </p:cNvSpPr>
          <p:nvPr>
            <p:ph type="subTitle" idx="5"/>
          </p:nvPr>
        </p:nvSpPr>
        <p:spPr>
          <a:xfrm>
            <a:off x="1481136" y="4127085"/>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0" name="Google Shape;3030;p256"/>
          <p:cNvSpPr txBox="1">
            <a:spLocks noGrp="1"/>
          </p:cNvSpPr>
          <p:nvPr>
            <p:ph type="subTitle" idx="6"/>
          </p:nvPr>
        </p:nvSpPr>
        <p:spPr>
          <a:xfrm>
            <a:off x="1481136" y="4781936"/>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1" name="Google Shape;3031;p256"/>
          <p:cNvSpPr txBox="1">
            <a:spLocks noGrp="1"/>
          </p:cNvSpPr>
          <p:nvPr>
            <p:ph type="title"/>
          </p:nvPr>
        </p:nvSpPr>
        <p:spPr>
          <a:xfrm>
            <a:off x="0" y="336863"/>
            <a:ext cx="12192000" cy="820800"/>
          </a:xfrm>
          <a:prstGeom prst="rect">
            <a:avLst/>
          </a:prstGeom>
          <a:noFill/>
          <a:ln>
            <a:noFill/>
          </a:ln>
        </p:spPr>
        <p:txBody>
          <a:bodyPr spcFirstLastPara="1" wrap="square" lIns="34275" tIns="17150" rIns="34275" bIns="17150" anchor="ctr" anchorCtr="0">
            <a:noAutofit/>
          </a:bodyPr>
          <a:lstStyle>
            <a:lvl1pPr marR="0" lvl="0" algn="ctr" rtl="0">
              <a:lnSpc>
                <a:spcPct val="100000"/>
              </a:lnSpc>
              <a:spcBef>
                <a:spcPts val="0"/>
              </a:spcBef>
              <a:spcAft>
                <a:spcPts val="0"/>
              </a:spcAft>
              <a:buClr>
                <a:schemeClr val="dk1"/>
              </a:buClr>
              <a:buSzPts val="4000"/>
              <a:buFont typeface="Arial"/>
              <a:buNone/>
              <a:defRPr sz="5333" b="1"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2pPr>
            <a:lvl3pPr marR="0" lvl="2"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3pPr>
            <a:lvl4pPr marR="0" lvl="3"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4pPr>
            <a:lvl5pPr marR="0" lvl="4"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5pPr>
            <a:lvl6pPr marR="0" lvl="5"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6pPr>
            <a:lvl7pPr marR="0" lvl="6"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7pPr>
            <a:lvl8pPr marR="0" lvl="7"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8pPr>
            <a:lvl9pPr marR="0" lvl="8" algn="ctr" rtl="0">
              <a:lnSpc>
                <a:spcPct val="100000"/>
              </a:lnSpc>
              <a:spcBef>
                <a:spcPts val="0"/>
              </a:spcBef>
              <a:spcAft>
                <a:spcPts val="0"/>
              </a:spcAft>
              <a:buClr>
                <a:srgbClr val="F0F6FC"/>
              </a:buClr>
              <a:buSzPts val="4000"/>
              <a:buFont typeface="Arial"/>
              <a:buNone/>
              <a:defRPr sz="5333" b="1" i="0" u="none" strike="noStrike" cap="none">
                <a:solidFill>
                  <a:srgbClr val="F0F6FC"/>
                </a:solidFill>
                <a:latin typeface="Arial"/>
                <a:ea typeface="Arial"/>
                <a:cs typeface="Arial"/>
                <a:sym typeface="Arial"/>
              </a:defRPr>
            </a:lvl9pPr>
          </a:lstStyle>
          <a:p>
            <a:endParaRPr/>
          </a:p>
        </p:txBody>
      </p:sp>
      <p:sp>
        <p:nvSpPr>
          <p:cNvPr id="3032" name="Google Shape;3032;p256"/>
          <p:cNvSpPr txBox="1">
            <a:spLocks noGrp="1"/>
          </p:cNvSpPr>
          <p:nvPr>
            <p:ph type="subTitle" idx="7"/>
          </p:nvPr>
        </p:nvSpPr>
        <p:spPr>
          <a:xfrm>
            <a:off x="1481136" y="5436787"/>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3" name="Google Shape;3033;p256"/>
          <p:cNvSpPr txBox="1">
            <a:spLocks noGrp="1"/>
          </p:cNvSpPr>
          <p:nvPr>
            <p:ph type="subTitle" idx="8"/>
          </p:nvPr>
        </p:nvSpPr>
        <p:spPr>
          <a:xfrm>
            <a:off x="6687299" y="2817384"/>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4" name="Google Shape;3034;p256"/>
          <p:cNvSpPr txBox="1">
            <a:spLocks noGrp="1"/>
          </p:cNvSpPr>
          <p:nvPr>
            <p:ph type="subTitle" idx="9"/>
          </p:nvPr>
        </p:nvSpPr>
        <p:spPr>
          <a:xfrm>
            <a:off x="6687303" y="3472235"/>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5" name="Google Shape;3035;p256"/>
          <p:cNvSpPr txBox="1">
            <a:spLocks noGrp="1"/>
          </p:cNvSpPr>
          <p:nvPr>
            <p:ph type="subTitle" idx="13"/>
          </p:nvPr>
        </p:nvSpPr>
        <p:spPr>
          <a:xfrm>
            <a:off x="6687303" y="4127085"/>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6" name="Google Shape;3036;p256"/>
          <p:cNvSpPr txBox="1">
            <a:spLocks noGrp="1"/>
          </p:cNvSpPr>
          <p:nvPr>
            <p:ph type="subTitle" idx="14"/>
          </p:nvPr>
        </p:nvSpPr>
        <p:spPr>
          <a:xfrm>
            <a:off x="6687303" y="4781936"/>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
        <p:nvSpPr>
          <p:cNvPr id="3037" name="Google Shape;3037;p256"/>
          <p:cNvSpPr txBox="1">
            <a:spLocks noGrp="1"/>
          </p:cNvSpPr>
          <p:nvPr>
            <p:ph type="subTitle" idx="15"/>
          </p:nvPr>
        </p:nvSpPr>
        <p:spPr>
          <a:xfrm>
            <a:off x="6687303" y="5436787"/>
            <a:ext cx="4155600" cy="634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1400"/>
              <a:buNone/>
              <a:defRPr>
                <a:solidFill>
                  <a:schemeClr val="dk2"/>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Clr>
                <a:schemeClr val="dk2"/>
              </a:buClr>
              <a:buSzPts val="1400"/>
              <a:buNone/>
              <a:defRPr>
                <a:solidFill>
                  <a:schemeClr val="dk2"/>
                </a:solidFill>
              </a:defRPr>
            </a:lvl3pPr>
            <a:lvl4pPr lvl="3" rtl="0">
              <a:spcBef>
                <a:spcPts val="0"/>
              </a:spcBef>
              <a:spcAft>
                <a:spcPts val="0"/>
              </a:spcAft>
              <a:buClr>
                <a:schemeClr val="dk2"/>
              </a:buClr>
              <a:buSzPts val="1400"/>
              <a:buNone/>
              <a:defRPr>
                <a:solidFill>
                  <a:schemeClr val="dk2"/>
                </a:solidFill>
              </a:defRPr>
            </a:lvl4pPr>
            <a:lvl5pPr lvl="4" rtl="0">
              <a:spcBef>
                <a:spcPts val="0"/>
              </a:spcBef>
              <a:spcAft>
                <a:spcPts val="0"/>
              </a:spcAft>
              <a:buClr>
                <a:schemeClr val="dk2"/>
              </a:buClr>
              <a:buSzPts val="1400"/>
              <a:buNone/>
              <a:defRPr>
                <a:solidFill>
                  <a:schemeClr val="dk2"/>
                </a:solidFill>
              </a:defRPr>
            </a:lvl5pPr>
            <a:lvl6pPr lvl="5" rtl="0">
              <a:spcBef>
                <a:spcPts val="0"/>
              </a:spcBef>
              <a:spcAft>
                <a:spcPts val="0"/>
              </a:spcAft>
              <a:buClr>
                <a:schemeClr val="dk2"/>
              </a:buClr>
              <a:buSzPts val="1400"/>
              <a:buNone/>
              <a:defRPr>
                <a:solidFill>
                  <a:schemeClr val="dk2"/>
                </a:solidFill>
              </a:defRPr>
            </a:lvl6pPr>
            <a:lvl7pPr lvl="6" rtl="0">
              <a:spcBef>
                <a:spcPts val="0"/>
              </a:spcBef>
              <a:spcAft>
                <a:spcPts val="0"/>
              </a:spcAft>
              <a:buClr>
                <a:schemeClr val="dk2"/>
              </a:buClr>
              <a:buSzPts val="1400"/>
              <a:buNone/>
              <a:defRPr>
                <a:solidFill>
                  <a:schemeClr val="dk2"/>
                </a:solidFill>
              </a:defRPr>
            </a:lvl7pPr>
            <a:lvl8pPr lvl="7" rtl="0">
              <a:spcBef>
                <a:spcPts val="0"/>
              </a:spcBef>
              <a:spcAft>
                <a:spcPts val="0"/>
              </a:spcAft>
              <a:buClr>
                <a:schemeClr val="dk2"/>
              </a:buClr>
              <a:buSzPts val="1400"/>
              <a:buNone/>
              <a:defRPr>
                <a:solidFill>
                  <a:schemeClr val="dk2"/>
                </a:solidFill>
              </a:defRPr>
            </a:lvl8pPr>
            <a:lvl9pPr lvl="8" rtl="0">
              <a:spcBef>
                <a:spcPts val="0"/>
              </a:spcBef>
              <a:spcAft>
                <a:spcPts val="0"/>
              </a:spcAft>
              <a:buClr>
                <a:schemeClr val="dk2"/>
              </a:buClr>
              <a:buSzPts val="1400"/>
              <a:buNone/>
              <a:defRPr>
                <a:solidFill>
                  <a:schemeClr val="dk2"/>
                </a:solidFill>
              </a:defRPr>
            </a:lvl9pPr>
          </a:lstStyle>
          <a:p>
            <a:endParaRPr/>
          </a:p>
        </p:txBody>
      </p:sp>
    </p:spTree>
    <p:extLst>
      <p:ext uri="{BB962C8B-B14F-4D97-AF65-F5344CB8AC3E}">
        <p14:creationId xmlns:p14="http://schemas.microsoft.com/office/powerpoint/2010/main" val="1216093267"/>
      </p:ext>
    </p:extLst>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1 Sess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A blue and green curved object&#10;&#10;Description automatically generated">
            <a:extLst>
              <a:ext uri="{FF2B5EF4-FFF2-40B4-BE49-F238E27FC236}">
                <a16:creationId xmlns:a16="http://schemas.microsoft.com/office/drawing/2014/main" id="{4130102C-F6DB-B17F-A3E3-A39464815733}"/>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Blur radius="6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6B92EBA-31A5-AF71-1D69-5B223CACAB15}"/>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err="1">
              <a:solidFill>
                <a:srgbClr val="FFFFFF"/>
              </a:solidFill>
              <a:ea typeface="Segoe Sans Text" pitchFamily="2" charset="0"/>
              <a:cs typeface="Segoe Sans Text" pitchFamily="2" charset="0"/>
            </a:endParaRPr>
          </a:p>
        </p:txBody>
      </p:sp>
      <p:sp>
        <p:nvSpPr>
          <p:cNvPr id="6" name="Rectangle: Rounded Corners 5">
            <a:extLst>
              <a:ext uri="{FF2B5EF4-FFF2-40B4-BE49-F238E27FC236}">
                <a16:creationId xmlns:a16="http://schemas.microsoft.com/office/drawing/2014/main" id="{9619D37F-A4A5-EB65-3C61-21332240AED4}"/>
              </a:ext>
            </a:extLst>
          </p:cNvPr>
          <p:cNvSpPr/>
          <p:nvPr userDrawn="1"/>
        </p:nvSpPr>
        <p:spPr bwMode="auto">
          <a:xfrm rot="16200000">
            <a:off x="2985375" y="-2422713"/>
            <a:ext cx="6194362" cy="11703424"/>
          </a:xfrm>
          <a:prstGeom prst="roundRect">
            <a:avLst>
              <a:gd name="adj" fmla="val 2616"/>
            </a:avLst>
          </a:prstGeom>
          <a:gradFill flip="none" rotWithShape="1">
            <a:gsLst>
              <a:gs pos="100000">
                <a:schemeClr val="accent2"/>
              </a:gs>
              <a:gs pos="23000">
                <a:srgbClr val="091F2C">
                  <a:alpha val="30000"/>
                </a:srgbClr>
              </a:gs>
            </a:gsLst>
            <a:path path="circle">
              <a:fillToRect t="100000" r="100000"/>
            </a:path>
            <a:tileRect l="-100000" b="-100000"/>
          </a:gradFill>
          <a:ln>
            <a:noFill/>
            <a:headEnd type="none" w="med" len="med"/>
            <a:tailEnd type="none" w="med" len="med"/>
          </a:ln>
          <a:effectLst>
            <a:outerShdw blurRad="266700" algn="ctr" rotWithShape="0">
              <a:schemeClr val="accent2">
                <a:lumMod val="50000"/>
                <a:alpha val="4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Sans Text" pitchFamily="2" charset="0"/>
              <a:cs typeface="Segoe Sans Text" pitchFamily="2" charset="0"/>
            </a:endParaRPr>
          </a:p>
        </p:txBody>
      </p:sp>
      <p:sp useBgFill="1">
        <p:nvSpPr>
          <p:cNvPr id="4" name="Rectangle: Top Corners Rounded 3">
            <a:extLst>
              <a:ext uri="{FF2B5EF4-FFF2-40B4-BE49-F238E27FC236}">
                <a16:creationId xmlns:a16="http://schemas.microsoft.com/office/drawing/2014/main" id="{1CC3CF95-FE3F-B45C-D9CA-92A25805EE11}"/>
              </a:ext>
            </a:extLst>
          </p:cNvPr>
          <p:cNvSpPr/>
          <p:nvPr userDrawn="1"/>
        </p:nvSpPr>
        <p:spPr bwMode="auto">
          <a:xfrm rot="5400000">
            <a:off x="5835204" y="427116"/>
            <a:ext cx="6194362" cy="6003766"/>
          </a:xfrm>
          <a:prstGeom prst="round2SameRect">
            <a:avLst>
              <a:gd name="adj1" fmla="val 1825"/>
              <a:gd name="adj2" fmla="val 0"/>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Sans Text" pitchFamily="2" charset="0"/>
              <a:cs typeface="Segoe Sans Text" pitchFamily="2" charset="0"/>
            </a:endParaRPr>
          </a:p>
        </p:txBody>
      </p:sp>
      <p:pic>
        <p:nvPicPr>
          <p:cNvPr id="8" name="Picture 7">
            <a:extLst>
              <a:ext uri="{FF2B5EF4-FFF2-40B4-BE49-F238E27FC236}">
                <a16:creationId xmlns:a16="http://schemas.microsoft.com/office/drawing/2014/main" id="{D8CEBC85-0049-0914-0672-55C6E854274D}"/>
              </a:ext>
            </a:extLst>
          </p:cNvPr>
          <p:cNvPicPr>
            <a:picLocks noChangeAspect="1"/>
          </p:cNvPicPr>
          <p:nvPr userDrawn="1"/>
        </p:nvPicPr>
        <p:blipFill>
          <a:blip r:embed="rId5" cstate="hqprint">
            <a:extLst>
              <a:ext uri="{28A0092B-C50C-407E-A947-70E740481C1C}">
                <a14:useLocalDpi xmlns:a14="http://schemas.microsoft.com/office/drawing/2010/main"/>
              </a:ext>
            </a:extLst>
          </a:blip>
          <a:srcRect l="8" r="8"/>
          <a:stretch/>
        </p:blipFill>
        <p:spPr>
          <a:xfrm>
            <a:off x="230843" y="331816"/>
            <a:ext cx="3728028" cy="1233264"/>
          </a:xfrm>
          <a:prstGeom prst="rect">
            <a:avLst/>
          </a:prstGeom>
        </p:spPr>
      </p:pic>
      <p:sp>
        <p:nvSpPr>
          <p:cNvPr id="9" name="Title 13">
            <a:extLst>
              <a:ext uri="{FF2B5EF4-FFF2-40B4-BE49-F238E27FC236}">
                <a16:creationId xmlns:a16="http://schemas.microsoft.com/office/drawing/2014/main" id="{550159F9-2F3D-D4F4-5BE8-E72231BDBCBB}"/>
              </a:ext>
            </a:extLst>
          </p:cNvPr>
          <p:cNvSpPr>
            <a:spLocks noGrp="1"/>
          </p:cNvSpPr>
          <p:nvPr>
            <p:ph type="title" hasCustomPrompt="1"/>
          </p:nvPr>
        </p:nvSpPr>
        <p:spPr>
          <a:xfrm>
            <a:off x="1183481" y="2782667"/>
            <a:ext cx="4059079" cy="1292662"/>
          </a:xfrm>
          <a:noFill/>
        </p:spPr>
        <p:txBody>
          <a:bodyPr wrap="square" lIns="0" tIns="0" rIns="0" bIns="0" rtlCol="0">
            <a:noAutofit/>
          </a:bodyPr>
          <a:lstStyle>
            <a:lvl1pPr>
              <a:defRPr kumimoji="0" lang="en-GB" sz="28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a:t>
            </a:r>
            <a:br>
              <a:rPr lang="en-US"/>
            </a:br>
            <a:r>
              <a:rPr lang="en-US"/>
              <a:t>session title up to</a:t>
            </a:r>
            <a:br>
              <a:rPr lang="en-US"/>
            </a:br>
            <a:r>
              <a:rPr lang="en-US"/>
              <a:t>three lines</a:t>
            </a:r>
            <a:endParaRPr lang="en-GB"/>
          </a:p>
        </p:txBody>
      </p:sp>
      <p:sp>
        <p:nvSpPr>
          <p:cNvPr id="10" name="Content Placeholder 2">
            <a:extLst>
              <a:ext uri="{FF2B5EF4-FFF2-40B4-BE49-F238E27FC236}">
                <a16:creationId xmlns:a16="http://schemas.microsoft.com/office/drawing/2014/main" id="{43140704-0FEA-612C-8A24-91EA995D093B}"/>
              </a:ext>
            </a:extLst>
          </p:cNvPr>
          <p:cNvSpPr>
            <a:spLocks noGrp="1"/>
          </p:cNvSpPr>
          <p:nvPr>
            <p:ph idx="1" hasCustomPrompt="1"/>
          </p:nvPr>
        </p:nvSpPr>
        <p:spPr>
          <a:xfrm>
            <a:off x="1210945" y="4984126"/>
            <a:ext cx="4031615" cy="276999"/>
          </a:xfrm>
          <a:prstGeom prst="rect">
            <a:avLst/>
          </a:prstGeom>
        </p:spPr>
        <p:txBody>
          <a:bodyPr wrap="square" lIns="0" tIns="0" rIns="0" bIns="0" anchor="t" anchorCtr="0">
            <a:spAutoFit/>
          </a:bodyPr>
          <a:lstStyle>
            <a:lvl1pPr>
              <a:defRPr kumimoji="0" lang="en-US" sz="18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Presenter name</a:t>
            </a:r>
          </a:p>
        </p:txBody>
      </p:sp>
      <p:sp>
        <p:nvSpPr>
          <p:cNvPr id="11" name="Content Placeholder 2">
            <a:extLst>
              <a:ext uri="{FF2B5EF4-FFF2-40B4-BE49-F238E27FC236}">
                <a16:creationId xmlns:a16="http://schemas.microsoft.com/office/drawing/2014/main" id="{5838FC83-D988-03FF-EB9B-9784B75AF5A6}"/>
              </a:ext>
            </a:extLst>
          </p:cNvPr>
          <p:cNvSpPr>
            <a:spLocks noGrp="1"/>
          </p:cNvSpPr>
          <p:nvPr>
            <p:ph idx="10" hasCustomPrompt="1"/>
          </p:nvPr>
        </p:nvSpPr>
        <p:spPr>
          <a:xfrm>
            <a:off x="1210945" y="5340384"/>
            <a:ext cx="4031615" cy="276999"/>
          </a:xfrm>
          <a:prstGeom prst="rect">
            <a:avLst/>
          </a:prstGeom>
        </p:spPr>
        <p:txBody>
          <a:bodyPr wrap="square" lIns="0" tIns="0" rIns="0" bIns="0" anchor="t" anchorCtr="0">
            <a:spAutoFit/>
          </a:bodyPr>
          <a:lstStyle>
            <a:lvl1pPr>
              <a:defRPr kumimoji="0" lang="en-US" sz="1800" b="0" i="0" u="none" strike="noStrike" cap="none" spc="-49" normalizeH="0" dirty="0">
                <a:ln w="3175">
                  <a:noFill/>
                </a:ln>
                <a:solidFill>
                  <a:srgbClr val="FFFFFF"/>
                </a:solidFill>
                <a:effectLst/>
                <a:uLnTx/>
                <a:uFillTx/>
                <a:latin typeface="Segoe Sans Text"/>
                <a:cs typeface="+mn-cs"/>
              </a:defRPr>
            </a:lvl1pPr>
          </a:lstStyle>
          <a:p>
            <a:pPr marL="0" lvl="0" indent="0" defTabSz="932384">
              <a:spcBef>
                <a:spcPts val="0"/>
              </a:spcBef>
              <a:spcAft>
                <a:spcPts val="1176"/>
              </a:spcAft>
              <a:buNone/>
            </a:pPr>
            <a:r>
              <a:rPr lang="en-US"/>
              <a:t>Click to edit role/ title</a:t>
            </a:r>
          </a:p>
        </p:txBody>
      </p:sp>
    </p:spTree>
    <p:extLst>
      <p:ext uri="{BB962C8B-B14F-4D97-AF65-F5344CB8AC3E}">
        <p14:creationId xmlns:p14="http://schemas.microsoft.com/office/powerpoint/2010/main" val="498906051"/>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Divider and 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3"/>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err="1">
              <a:solidFill>
                <a:srgbClr val="FFFFFF"/>
              </a:solidFill>
              <a:ea typeface="Segoe Sans Text" pitchFamily="2" charset="0"/>
              <a:cs typeface="Segoe Sans Text" pitchFamily="2" charset="0"/>
            </a:endParaRPr>
          </a:p>
        </p:txBody>
      </p:sp>
    </p:spTree>
    <p:extLst>
      <p:ext uri="{BB962C8B-B14F-4D97-AF65-F5344CB8AC3E}">
        <p14:creationId xmlns:p14="http://schemas.microsoft.com/office/powerpoint/2010/main" val="642688022"/>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GREEN BLANK _ 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Picture 18" descr="A blue and green background with a curved piece of paper&#10;&#10;Description automatically generated">
            <a:extLst>
              <a:ext uri="{FF2B5EF4-FFF2-40B4-BE49-F238E27FC236}">
                <a16:creationId xmlns:a16="http://schemas.microsoft.com/office/drawing/2014/main" id="{56FFFD04-874D-7EEC-2D9B-4629FDDFAC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hidden="1">
            <a:extLst>
              <a:ext uri="{FF2B5EF4-FFF2-40B4-BE49-F238E27FC236}">
                <a16:creationId xmlns:a16="http://schemas.microsoft.com/office/drawing/2014/main" id="{724A89F4-06BC-05C7-E624-3AD486724073}"/>
              </a:ext>
            </a:extLst>
          </p:cNvPr>
          <p:cNvPicPr>
            <a:picLocks noChangeAspect="1"/>
          </p:cNvPicPr>
          <p:nvPr userDrawn="1"/>
        </p:nvPicPr>
        <p:blipFill>
          <a:blip r:embed="rId4"/>
          <a:srcRect l="6" r="6"/>
          <a:stretch/>
        </p:blipFill>
        <p:spPr>
          <a:xfrm>
            <a:off x="0" y="959"/>
            <a:ext cx="12190515" cy="6856081"/>
          </a:xfrm>
          <a:prstGeom prst="rect">
            <a:avLst/>
          </a:prstGeom>
        </p:spPr>
      </p:pic>
      <p:sp>
        <p:nvSpPr>
          <p:cNvPr id="2" name="Rectangle 1" hidden="1">
            <a:extLst>
              <a:ext uri="{FF2B5EF4-FFF2-40B4-BE49-F238E27FC236}">
                <a16:creationId xmlns:a16="http://schemas.microsoft.com/office/drawing/2014/main" id="{0E0E72C2-9BD2-5AD9-B9CA-4BBC87DE030C}"/>
              </a:ext>
            </a:extLst>
          </p:cNvPr>
          <p:cNvSpPr/>
          <p:nvPr userDrawn="1"/>
        </p:nvSpPr>
        <p:spPr bwMode="auto">
          <a:xfrm>
            <a:off x="0" y="0"/>
            <a:ext cx="12192000" cy="6858000"/>
          </a:xfrm>
          <a:prstGeom prst="rect">
            <a:avLst/>
          </a:prstGeom>
          <a:solidFill>
            <a:srgbClr val="091F2C">
              <a:alpha val="5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algn="l" defTabSz="932472" fontAlgn="base">
              <a:spcBef>
                <a:spcPct val="0"/>
              </a:spcBef>
              <a:spcAft>
                <a:spcPct val="0"/>
              </a:spcAft>
            </a:pPr>
            <a:endParaRPr lang="en-US" sz="2000" err="1">
              <a:solidFill>
                <a:srgbClr val="FFFFFF"/>
              </a:solidFill>
              <a:ea typeface="Segoe Sans Text" pitchFamily="2" charset="0"/>
              <a:cs typeface="Segoe Sans Text" pitchFamily="2" charset="0"/>
            </a:endParaRPr>
          </a:p>
        </p:txBody>
      </p:sp>
      <p:sp useBgFill="1">
        <p:nvSpPr>
          <p:cNvPr id="4" name="Rectangle: Rounded Corners 3">
            <a:extLst>
              <a:ext uri="{FF2B5EF4-FFF2-40B4-BE49-F238E27FC236}">
                <a16:creationId xmlns:a16="http://schemas.microsoft.com/office/drawing/2014/main" id="{1CC3CF95-FE3F-B45C-D9CA-92A25805EE11}"/>
              </a:ext>
            </a:extLst>
          </p:cNvPr>
          <p:cNvSpPr/>
          <p:nvPr userDrawn="1"/>
        </p:nvSpPr>
        <p:spPr bwMode="auto">
          <a:xfrm>
            <a:off x="230841" y="229394"/>
            <a:ext cx="11730318" cy="6399212"/>
          </a:xfrm>
          <a:prstGeom prst="roundRect">
            <a:avLst>
              <a:gd name="adj" fmla="val 2410"/>
            </a:avLst>
          </a:prstGeom>
          <a:ln>
            <a:noFill/>
            <a:headEnd type="none" w="med" len="med"/>
            <a:tailEnd type="none" w="med" len="med"/>
          </a:ln>
          <a:effectLst>
            <a:outerShdw blurRad="203200" algn="ctr" rotWithShape="0">
              <a:prstClr val="black">
                <a:alpha val="42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Sans Text" pitchFamily="2" charset="0"/>
              <a:cs typeface="Segoe Sans Text" pitchFamily="2" charset="0"/>
            </a:endParaRPr>
          </a:p>
        </p:txBody>
      </p:sp>
      <p:sp>
        <p:nvSpPr>
          <p:cNvPr id="5" name="Rectangle: Rounded Corners 4">
            <a:extLst>
              <a:ext uri="{FF2B5EF4-FFF2-40B4-BE49-F238E27FC236}">
                <a16:creationId xmlns:a16="http://schemas.microsoft.com/office/drawing/2014/main" id="{45EB6F0F-15F3-B550-08B5-D31FDADC2D88}"/>
              </a:ext>
            </a:extLst>
          </p:cNvPr>
          <p:cNvSpPr/>
          <p:nvPr userDrawn="1"/>
        </p:nvSpPr>
        <p:spPr bwMode="auto">
          <a:xfrm>
            <a:off x="230841" y="229394"/>
            <a:ext cx="11730318" cy="6399212"/>
          </a:xfrm>
          <a:prstGeom prst="roundRect">
            <a:avLst>
              <a:gd name="adj" fmla="val 2410"/>
            </a:avLst>
          </a:prstGeom>
          <a:gradFill>
            <a:gsLst>
              <a:gs pos="100000">
                <a:srgbClr val="091F2C"/>
              </a:gs>
              <a:gs pos="0">
                <a:schemeClr val="accent2">
                  <a:alpha val="44000"/>
                </a:schemeClr>
              </a:gs>
            </a:gsLst>
            <a:path path="circle">
              <a:fillToRect l="50000" t="50000" r="50000" b="50000"/>
            </a:path>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Sans Text" pitchFamily="2" charset="0"/>
              <a:cs typeface="Segoe Sans Text" pitchFamily="2" charset="0"/>
            </a:endParaRPr>
          </a:p>
        </p:txBody>
      </p:sp>
      <p:sp>
        <p:nvSpPr>
          <p:cNvPr id="14" name="Title 13">
            <a:extLst>
              <a:ext uri="{FF2B5EF4-FFF2-40B4-BE49-F238E27FC236}">
                <a16:creationId xmlns:a16="http://schemas.microsoft.com/office/drawing/2014/main" id="{E6F5F079-BC6A-2F8A-3765-785292E0BBD1}"/>
              </a:ext>
            </a:extLst>
          </p:cNvPr>
          <p:cNvSpPr>
            <a:spLocks noGrp="1"/>
          </p:cNvSpPr>
          <p:nvPr>
            <p:ph type="title" hasCustomPrompt="1"/>
          </p:nvPr>
        </p:nvSpPr>
        <p:spPr>
          <a:xfrm>
            <a:off x="588263" y="593724"/>
            <a:ext cx="11018520" cy="998539"/>
          </a:xfrm>
          <a:noFill/>
        </p:spPr>
        <p:txBody>
          <a:bodyPr wrap="square" lIns="0" tIns="0" rIns="0" bIns="0" rtlCol="0">
            <a:noAutofit/>
          </a:bodyPr>
          <a:lstStyle>
            <a:lvl1pPr>
              <a:defRPr kumimoji="0" lang="en-GB" sz="3200" i="0" u="none" strike="noStrike" spc="0" normalizeH="0" dirty="0">
                <a:ln>
                  <a:noFill/>
                </a:ln>
                <a:solidFill>
                  <a:srgbClr val="FFFFFF"/>
                </a:solidFill>
                <a:uLnTx/>
                <a:uFillTx/>
                <a:latin typeface="Segoe Sans Text Semibold"/>
                <a:cs typeface="+mn-cs"/>
              </a:defRPr>
            </a:lvl1pPr>
          </a:lstStyle>
          <a:p>
            <a:pPr marL="0" marR="0" lvl="0" indent="0" defTabSz="914367" fontAlgn="auto">
              <a:spcBef>
                <a:spcPts val="0"/>
              </a:spcBef>
              <a:spcAft>
                <a:spcPts val="0"/>
              </a:spcAft>
              <a:buClrTx/>
              <a:buSzTx/>
              <a:buFontTx/>
              <a:tabLst/>
            </a:pPr>
            <a:r>
              <a:rPr lang="en-US"/>
              <a:t>Click to edit title</a:t>
            </a:r>
            <a:endParaRPr lang="en-GB"/>
          </a:p>
        </p:txBody>
      </p:sp>
    </p:spTree>
    <p:extLst>
      <p:ext uri="{BB962C8B-B14F-4D97-AF65-F5344CB8AC3E}">
        <p14:creationId xmlns:p14="http://schemas.microsoft.com/office/powerpoint/2010/main" val="1386758492"/>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139829297"/>
      </p:ext>
    </p:extLst>
  </p:cSld>
  <p:clrMapOvr>
    <a:masterClrMapping/>
  </p:clrMapOvr>
  <p:transition>
    <p:fade/>
  </p:transition>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71091669"/>
      </p:ext>
    </p:extLst>
  </p:cSld>
  <p:clrMapOvr>
    <a:masterClrMapping/>
  </p:clrMapOvr>
  <p:transition>
    <p:fade/>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image" Target="../media/image5.svg"/><Relationship Id="rId2" Type="http://schemas.openxmlformats.org/officeDocument/2006/relationships/slideLayout" Target="../slideLayouts/slideLayout33.xml"/><Relationship Id="rId16" Type="http://schemas.openxmlformats.org/officeDocument/2006/relationships/theme" Target="../theme/theme2.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113"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947092471"/>
      </p:ext>
    </p:extLst>
  </p:cSld>
  <p:clrMap bg1="lt1" tx1="dk1" bg2="lt2" tx2="dk2" accent1="accent1" accent2="accent2" accent3="accent3" accent4="accent4" accent5="accent5" accent6="accent6" hlink="hlink" folHlink="folHlink"/>
  <p:sldLayoutIdLst>
    <p:sldLayoutId id="2147484100" r:id="rId1"/>
    <p:sldLayoutId id="2147484101" r:id="rId2"/>
    <p:sldLayoutId id="2147484102" r:id="rId3"/>
    <p:sldLayoutId id="2147484103" r:id="rId4"/>
    <p:sldLayoutId id="2147484104" r:id="rId5"/>
    <p:sldLayoutId id="2147484105" r:id="rId6"/>
    <p:sldLayoutId id="2147484106" r:id="rId7"/>
    <p:sldLayoutId id="2147484107" r:id="rId8"/>
    <p:sldLayoutId id="2147484108" r:id="rId9"/>
    <p:sldLayoutId id="2147484109" r:id="rId10"/>
    <p:sldLayoutId id="2147484110" r:id="rId11"/>
    <p:sldLayoutId id="2147484112" r:id="rId12"/>
    <p:sldLayoutId id="2147484114" r:id="rId13"/>
    <p:sldLayoutId id="2147484115" r:id="rId14"/>
    <p:sldLayoutId id="2147484116" r:id="rId15"/>
  </p:sldLayoutIdLst>
  <p:transition spd="med">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4">
          <p15:clr>
            <a:srgbClr val="FF795F"/>
          </p15:clr>
        </p15:guide>
        <p15:guide id="2" orient="horz" pos="1003">
          <p15:clr>
            <a:srgbClr val="FF795F"/>
          </p15:clr>
        </p15:guide>
        <p15:guide id="3" pos="359">
          <p15:clr>
            <a:srgbClr val="FF795F"/>
          </p15:clr>
        </p15:guide>
        <p15:guide id="4" pos="7320">
          <p15:clr>
            <a:srgbClr val="FF795F"/>
          </p15:clr>
        </p15:guide>
        <p15:guide id="5" orient="horz" pos="1230">
          <p15:clr>
            <a:srgbClr val="FF795F"/>
          </p15:clr>
        </p15:guide>
        <p15:guide id="6" orient="horz" pos="3949">
          <p15:clr>
            <a:srgbClr val="FF795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7.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38.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40.xml"/><Relationship Id="rId1" Type="http://schemas.openxmlformats.org/officeDocument/2006/relationships/tags" Target="../tags/tag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37.xml"/><Relationship Id="rId1" Type="http://schemas.openxmlformats.org/officeDocument/2006/relationships/tags" Target="../tags/tag7.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3.xml"/><Relationship Id="rId4" Type="http://schemas.openxmlformats.org/officeDocument/2006/relationships/image" Target="../media/image22.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3.xml"/><Relationship Id="rId5" Type="http://schemas.microsoft.com/office/2007/relationships/hdphoto" Target="../media/hdphoto3.wdp"/><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35.xml"/><Relationship Id="rId5" Type="http://schemas.openxmlformats.org/officeDocument/2006/relationships/image" Target="../media/image26.png"/><Relationship Id="rId4" Type="http://schemas.openxmlformats.org/officeDocument/2006/relationships/hyperlink" Target="https://ai.azure.com/explore/models?selectedCollection"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3.xml"/><Relationship Id="rId5" Type="http://schemas.openxmlformats.org/officeDocument/2006/relationships/image" Target="../media/image30.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sv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35.xml"/><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sv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svg"/></Relationships>
</file>

<file path=ppt/slides/_rels/slide33.xml.rels><?xml version="1.0" encoding="UTF-8" standalone="yes"?>
<Relationships xmlns="http://schemas.openxmlformats.org/package/2006/relationships"><Relationship Id="rId8" Type="http://schemas.openxmlformats.org/officeDocument/2006/relationships/image" Target="../media/image44.svg"/><Relationship Id="rId13" Type="http://schemas.openxmlformats.org/officeDocument/2006/relationships/image" Target="../media/image46.svg"/><Relationship Id="rId3" Type="http://schemas.openxmlformats.org/officeDocument/2006/relationships/image" Target="../media/image31.svg"/><Relationship Id="rId7" Type="http://schemas.openxmlformats.org/officeDocument/2006/relationships/image" Target="../media/image32.png"/><Relationship Id="rId12" Type="http://schemas.openxmlformats.org/officeDocument/2006/relationships/image" Target="../media/image34.svg"/><Relationship Id="rId2" Type="http://schemas.openxmlformats.org/officeDocument/2006/relationships/notesSlide" Target="../notesSlides/notesSlide30.xml"/><Relationship Id="rId1" Type="http://schemas.openxmlformats.org/officeDocument/2006/relationships/slideLayout" Target="../slideLayouts/slideLayout35.xml"/><Relationship Id="rId6" Type="http://schemas.openxmlformats.org/officeDocument/2006/relationships/image" Target="../media/image43.png"/><Relationship Id="rId11" Type="http://schemas.openxmlformats.org/officeDocument/2006/relationships/image" Target="../media/image33.svg"/><Relationship Id="rId5" Type="http://schemas.openxmlformats.org/officeDocument/2006/relationships/image" Target="../media/image42.png"/><Relationship Id="rId15" Type="http://schemas.openxmlformats.org/officeDocument/2006/relationships/image" Target="../media/image48.png"/><Relationship Id="rId10" Type="http://schemas.openxmlformats.org/officeDocument/2006/relationships/image" Target="../media/image38.png"/><Relationship Id="rId4" Type="http://schemas.openxmlformats.org/officeDocument/2006/relationships/image" Target="../media/image37.svg"/><Relationship Id="rId9" Type="http://schemas.openxmlformats.org/officeDocument/2006/relationships/image" Target="../media/image45.svg"/><Relationship Id="rId14" Type="http://schemas.openxmlformats.org/officeDocument/2006/relationships/image" Target="../media/image47.sv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35.xml"/><Relationship Id="rId4" Type="http://schemas.microsoft.com/office/2007/relationships/hdphoto" Target="../media/hdphoto4.wdp"/></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35.xml"/><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8.xml"/><Relationship Id="rId1" Type="http://schemas.openxmlformats.org/officeDocument/2006/relationships/slideLayout" Target="../slideLayouts/slideLayout23.xml"/><Relationship Id="rId5" Type="http://schemas.openxmlformats.org/officeDocument/2006/relationships/image" Target="../media/image54.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9.xml"/><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35.xml"/><Relationship Id="rId5" Type="http://schemas.microsoft.com/office/2007/relationships/hdphoto" Target="../media/hdphoto3.wdp"/><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35.xml"/><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35.xml"/><Relationship Id="rId4" Type="http://schemas.openxmlformats.org/officeDocument/2006/relationships/image" Target="../media/image57.png"/></Relationships>
</file>

<file path=ppt/slides/_rels/slide46.xml.rels><?xml version="1.0" encoding="UTF-8" standalone="yes"?>
<Relationships xmlns="http://schemas.openxmlformats.org/package/2006/relationships"><Relationship Id="rId3" Type="http://schemas.openxmlformats.org/officeDocument/2006/relationships/hyperlink" Target="https://learn.microsoft.com/en-us/azure/ai-services/openai/how-to/evaluations" TargetMode="External"/><Relationship Id="rId2" Type="http://schemas.openxmlformats.org/officeDocument/2006/relationships/notesSlide" Target="../notesSlides/notesSlide43.xml"/><Relationship Id="rId1" Type="http://schemas.openxmlformats.org/officeDocument/2006/relationships/slideLayout" Target="../slideLayouts/slideLayout35.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hyperlink" Target="https://learn.microsoft.com/en-us/azure/ai-services/openai/how-to/fine-tuning"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3" Type="http://schemas.openxmlformats.org/officeDocument/2006/relationships/hyperlink" Target="https://github.com/Azure-Samples/ai-hub-gateway-solution-accelerator" TargetMode="External"/><Relationship Id="rId2" Type="http://schemas.openxmlformats.org/officeDocument/2006/relationships/notesSlide" Target="../notesSlides/notesSlide45.xml"/><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notesSlide" Target="../notesSlides/notesSlide46.xml"/><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1.xml"/><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1.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23.xml"/><Relationship Id="rId5" Type="http://schemas.openxmlformats.org/officeDocument/2006/relationships/image" Target="../media/image65.png"/><Relationship Id="rId4" Type="http://schemas.microsoft.com/office/2007/relationships/hdphoto" Target="../media/hdphoto2.wdp"/></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23.xml"/><Relationship Id="rId4" Type="http://schemas.openxmlformats.org/officeDocument/2006/relationships/image" Target="../media/image66.png"/></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5.xml"/><Relationship Id="rId1" Type="http://schemas.openxmlformats.org/officeDocument/2006/relationships/slideLayout" Target="../slideLayouts/slideLayout23.xml"/><Relationship Id="rId4" Type="http://schemas.openxmlformats.org/officeDocument/2006/relationships/image" Target="../media/image67.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58.xml"/><Relationship Id="rId1" Type="http://schemas.openxmlformats.org/officeDocument/2006/relationships/slideLayout" Target="../slideLayouts/slideLayout35.xml"/><Relationship Id="rId5" Type="http://schemas.openxmlformats.org/officeDocument/2006/relationships/image" Target="../media/image70.emf"/><Relationship Id="rId4" Type="http://schemas.openxmlformats.org/officeDocument/2006/relationships/image" Target="../media/image69.png"/></Relationships>
</file>

<file path=ppt/slides/_rels/slide6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9.xml"/><Relationship Id="rId1" Type="http://schemas.openxmlformats.org/officeDocument/2006/relationships/slideLayout" Target="../slideLayouts/slideLayout35.xml"/><Relationship Id="rId4" Type="http://schemas.openxmlformats.org/officeDocument/2006/relationships/image" Target="../media/image72.png"/></Relationships>
</file>

<file path=ppt/slides/_rels/slide6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0.xml"/><Relationship Id="rId1" Type="http://schemas.openxmlformats.org/officeDocument/2006/relationships/slideLayout" Target="../slideLayouts/slideLayout35.xml"/><Relationship Id="rId4" Type="http://schemas.openxmlformats.org/officeDocument/2006/relationships/image" Target="../media/image74.png"/></Relationships>
</file>

<file path=ppt/slides/_rels/slide6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1.xml"/><Relationship Id="rId1" Type="http://schemas.openxmlformats.org/officeDocument/2006/relationships/slideLayout" Target="../slideLayouts/slideLayout35.xml"/><Relationship Id="rId4" Type="http://schemas.openxmlformats.org/officeDocument/2006/relationships/image" Target="../media/image76.png"/></Relationships>
</file>

<file path=ppt/slides/_rels/slide66.xml.rels><?xml version="1.0" encoding="UTF-8" standalone="yes"?>
<Relationships xmlns="http://schemas.openxmlformats.org/package/2006/relationships"><Relationship Id="rId3" Type="http://schemas.openxmlformats.org/officeDocument/2006/relationships/image" Target="../media/image77.gif"/><Relationship Id="rId2" Type="http://schemas.openxmlformats.org/officeDocument/2006/relationships/notesSlide" Target="../notesSlides/notesSlide62.xml"/><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3" Type="http://schemas.openxmlformats.org/officeDocument/2006/relationships/image" Target="../media/image78.gif"/><Relationship Id="rId2" Type="http://schemas.openxmlformats.org/officeDocument/2006/relationships/notesSlide" Target="../notesSlides/notesSlide63.xml"/><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0.xml"/><Relationship Id="rId1" Type="http://schemas.openxmlformats.org/officeDocument/2006/relationships/tags" Target="../tags/tag12.xml"/></Relationships>
</file>

<file path=ppt/slides/_rels/slide6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5.xml"/><Relationship Id="rId1" Type="http://schemas.openxmlformats.org/officeDocument/2006/relationships/slideLayout" Target="../slideLayouts/slideLayout35.xml"/><Relationship Id="rId4" Type="http://schemas.openxmlformats.org/officeDocument/2006/relationships/image" Target="../media/image22.svg"/></Relationships>
</file>

<file path=ppt/slides/_rels/slide70.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notesSlide" Target="../notesSlides/notesSlide66.xml"/><Relationship Id="rId1" Type="http://schemas.openxmlformats.org/officeDocument/2006/relationships/slideLayout" Target="../slideLayouts/slideLayout35.xml"/><Relationship Id="rId5" Type="http://schemas.openxmlformats.org/officeDocument/2006/relationships/image" Target="../media/image81.svg"/><Relationship Id="rId4" Type="http://schemas.openxmlformats.org/officeDocument/2006/relationships/image" Target="../media/image80.svg"/></Relationships>
</file>

<file path=ppt/slides/_rels/slide7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7.xml"/><Relationship Id="rId1" Type="http://schemas.openxmlformats.org/officeDocument/2006/relationships/slideLayout" Target="../slideLayouts/slideLayout35.xml"/><Relationship Id="rId4" Type="http://schemas.openxmlformats.org/officeDocument/2006/relationships/image" Target="../media/image83.png"/></Relationships>
</file>

<file path=ppt/slides/_rels/slide7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8.xml"/><Relationship Id="rId1" Type="http://schemas.openxmlformats.org/officeDocument/2006/relationships/slideLayout" Target="../slideLayouts/slideLayout35.xml"/></Relationships>
</file>

<file path=ppt/slides/_rels/slide7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9.xml"/><Relationship Id="rId1" Type="http://schemas.openxmlformats.org/officeDocument/2006/relationships/slideLayout" Target="../slideLayouts/slideLayout35.xml"/><Relationship Id="rId6" Type="http://schemas.openxmlformats.org/officeDocument/2006/relationships/image" Target="../media/image87.png"/><Relationship Id="rId5" Type="http://schemas.openxmlformats.org/officeDocument/2006/relationships/image" Target="../media/image76.png"/><Relationship Id="rId4" Type="http://schemas.openxmlformats.org/officeDocument/2006/relationships/image" Target="../media/image86.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5.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46.xml"/><Relationship Id="rId1" Type="http://schemas.openxmlformats.org/officeDocument/2006/relationships/tags" Target="../tags/tag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3318975"/>
            <a:ext cx="7298437" cy="2031325"/>
          </a:xfrm>
        </p:spPr>
        <p:txBody>
          <a:bodyPr/>
          <a:lstStyle/>
          <a:p>
            <a:r>
              <a:rPr lang="en-US">
                <a:latin typeface="Segoe UI Semibold"/>
                <a:cs typeface="Segoe UI Semibold"/>
              </a:rPr>
              <a:t>Workshop </a:t>
            </a:r>
            <a:r>
              <a:rPr lang="en-US" err="1">
                <a:latin typeface="Segoe UI Semibold"/>
                <a:cs typeface="Segoe UI Semibold"/>
              </a:rPr>
              <a:t>GenAIOps</a:t>
            </a:r>
            <a:endParaRPr lang="en-US"/>
          </a:p>
        </p:txBody>
      </p:sp>
      <p:sp>
        <p:nvSpPr>
          <p:cNvPr id="5" name="Text Placeholder 4">
            <a:extLst>
              <a:ext uri="{FF2B5EF4-FFF2-40B4-BE49-F238E27FC236}">
                <a16:creationId xmlns:a16="http://schemas.microsoft.com/office/drawing/2014/main" id="{D1B913AE-0E78-6A74-3779-6D4BCA377434}"/>
              </a:ext>
            </a:extLst>
          </p:cNvPr>
          <p:cNvSpPr>
            <a:spLocks noGrp="1"/>
          </p:cNvSpPr>
          <p:nvPr>
            <p:ph type="body" sz="quarter" idx="12"/>
          </p:nvPr>
        </p:nvSpPr>
        <p:spPr/>
        <p:txBody>
          <a:bodyPr/>
          <a:lstStyle/>
          <a:p>
            <a:endParaRPr lang="en-US"/>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p:txBody>
          <a:bodyPr lIns="0" tIns="0" rIns="0" bIns="0" anchor="t"/>
          <a:lstStyle/>
          <a:p>
            <a:r>
              <a:rPr lang="en-US"/>
              <a:t>Learning Units covered </a:t>
            </a:r>
            <a:br>
              <a:rPr lang="en-US"/>
            </a:br>
            <a:r>
              <a:rPr lang="en-US"/>
              <a:t>in this Module</a:t>
            </a:r>
          </a:p>
        </p:txBody>
      </p:sp>
      <p:graphicFrame>
        <p:nvGraphicFramePr>
          <p:cNvPr id="112" name="Table 3">
            <a:extLst>
              <a:ext uri="{FF2B5EF4-FFF2-40B4-BE49-F238E27FC236}">
                <a16:creationId xmlns:a16="http://schemas.microsoft.com/office/drawing/2014/main" id="{45AD0972-9AFC-406A-BE0A-DFF9FDD00D65}"/>
              </a:ext>
            </a:extLst>
          </p:cNvPr>
          <p:cNvGraphicFramePr>
            <a:graphicFrameLocks noGrp="1"/>
          </p:cNvGraphicFramePr>
          <p:nvPr>
            <p:extLst>
              <p:ext uri="{D42A27DB-BD31-4B8C-83A1-F6EECF244321}">
                <p14:modId xmlns:p14="http://schemas.microsoft.com/office/powerpoint/2010/main" val="3890192342"/>
              </p:ext>
            </p:extLst>
          </p:nvPr>
        </p:nvGraphicFramePr>
        <p:xfrm>
          <a:off x="575481" y="1815577"/>
          <a:ext cx="5669280" cy="4453461"/>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GenAIOps Overview</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GenAIOps Maturity Levels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rgbClr val="000000"/>
                          </a:solidFill>
                          <a:effectLst/>
                          <a:uLnTx/>
                          <a:uFillTx/>
                          <a:latin typeface="+mn-lt"/>
                          <a:ea typeface="+mn-ea"/>
                          <a:cs typeface="Segoe UI" panose="020B0502040204020203" pitchFamily="34" charset="0"/>
                        </a:rPr>
                        <a:t>Enterprise GenAI Lifecycle</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88902310"/>
                  </a:ext>
                </a:extLst>
              </a:tr>
            </a:tbl>
          </a:graphicData>
        </a:graphic>
      </p:graphicFrame>
      <p:grpSp>
        <p:nvGrpSpPr>
          <p:cNvPr id="141" name="Group 140">
            <a:extLst>
              <a:ext uri="{FF2B5EF4-FFF2-40B4-BE49-F238E27FC236}">
                <a16:creationId xmlns:a16="http://schemas.microsoft.com/office/drawing/2014/main" id="{27BF13F4-E0FF-4E0D-8D3F-E5716F8C4FFC}"/>
              </a:ext>
              <a:ext uri="{C183D7F6-B498-43B3-948B-1728B52AA6E4}">
                <adec:decorative xmlns:adec="http://schemas.microsoft.com/office/drawing/2017/decorative" val="1"/>
              </a:ext>
            </a:extLst>
          </p:cNvPr>
          <p:cNvGrpSpPr>
            <a:grpSpLocks noChangeAspect="1"/>
          </p:cNvGrpSpPr>
          <p:nvPr/>
        </p:nvGrpSpPr>
        <p:grpSpPr>
          <a:xfrm>
            <a:off x="722184" y="2307171"/>
            <a:ext cx="522238" cy="522238"/>
            <a:chOff x="10323474" y="1468393"/>
            <a:chExt cx="751672" cy="751672"/>
          </a:xfrm>
        </p:grpSpPr>
        <p:sp>
          <p:nvSpPr>
            <p:cNvPr id="142" name="Oval 141">
              <a:extLst>
                <a:ext uri="{FF2B5EF4-FFF2-40B4-BE49-F238E27FC236}">
                  <a16:creationId xmlns:a16="http://schemas.microsoft.com/office/drawing/2014/main" id="{6C5EA0E7-F61F-4807-8925-4019D8289A8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43" name="Group 142">
              <a:extLst>
                <a:ext uri="{FF2B5EF4-FFF2-40B4-BE49-F238E27FC236}">
                  <a16:creationId xmlns:a16="http://schemas.microsoft.com/office/drawing/2014/main" id="{E17734FA-7052-4385-9C3F-7476E48B2A9D}"/>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44" name="Freeform: Shape 143">
                <a:extLst>
                  <a:ext uri="{FF2B5EF4-FFF2-40B4-BE49-F238E27FC236}">
                    <a16:creationId xmlns:a16="http://schemas.microsoft.com/office/drawing/2014/main" id="{7B30EEDD-248E-40B3-8BDB-830FD42D10D2}"/>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1E7E6FA4-6A0E-4023-A290-81458375DFA0}"/>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1BDFD5CF-E9DB-480F-B75C-67DE7088254C}"/>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F1D18E4A-5504-4BF0-BA73-AF1A27F741E7}"/>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FF7483BE-1FCD-45D4-BDCF-4970A89C4BED}"/>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B83FF2B8-DB01-41ED-A40D-888FD6673EBC}"/>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32CBB42B-C150-4420-A23B-B6E09320C637}"/>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EBC0F9DC-C657-43FE-831D-ECA77D07CBDB}"/>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2" name="Freeform: Shape 151">
                <a:extLst>
                  <a:ext uri="{FF2B5EF4-FFF2-40B4-BE49-F238E27FC236}">
                    <a16:creationId xmlns:a16="http://schemas.microsoft.com/office/drawing/2014/main" id="{FA06B8CA-FC95-4BC2-B74C-EC554BEDE826}"/>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E6CC598E-EC81-457D-9E79-393DE65067FF}"/>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366FC206-3649-4105-BD6F-ADD6A8E9D6FD}"/>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67" name="Straight Connector 166">
            <a:extLst>
              <a:ext uri="{FF2B5EF4-FFF2-40B4-BE49-F238E27FC236}">
                <a16:creationId xmlns:a16="http://schemas.microsoft.com/office/drawing/2014/main" id="{7B195598-F76A-4EA1-BF44-B801A69B2AEB}"/>
              </a:ext>
              <a:ext uri="{C183D7F6-B498-43B3-948B-1728B52AA6E4}">
                <adec:decorative xmlns:adec="http://schemas.microsoft.com/office/drawing/2017/decorative" val="1"/>
              </a:ext>
            </a:extLst>
          </p:cNvPr>
          <p:cNvCxnSpPr>
            <a:cxnSpLocks/>
          </p:cNvCxnSpPr>
          <p:nvPr/>
        </p:nvCxnSpPr>
        <p:spPr>
          <a:xfrm>
            <a:off x="5771254" y="329609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CFA8B499-6B1B-4EFC-93B7-524975374A05}"/>
              </a:ext>
              <a:ext uri="{C183D7F6-B498-43B3-948B-1728B52AA6E4}">
                <adec:decorative xmlns:adec="http://schemas.microsoft.com/office/drawing/2017/decorative" val="1"/>
              </a:ext>
            </a:extLst>
          </p:cNvPr>
          <p:cNvGrpSpPr/>
          <p:nvPr/>
        </p:nvGrpSpPr>
        <p:grpSpPr>
          <a:xfrm>
            <a:off x="722184" y="3802549"/>
            <a:ext cx="522238" cy="522238"/>
            <a:chOff x="724354" y="2781602"/>
            <a:chExt cx="438218" cy="438964"/>
          </a:xfrm>
        </p:grpSpPr>
        <p:sp>
          <p:nvSpPr>
            <p:cNvPr id="179" name="Oval 178">
              <a:extLst>
                <a:ext uri="{FF2B5EF4-FFF2-40B4-BE49-F238E27FC236}">
                  <a16:creationId xmlns:a16="http://schemas.microsoft.com/office/drawing/2014/main" id="{411DDA84-71CD-44BA-9140-44D1A91A6550}"/>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80" name="Trackers_EADF">
              <a:extLst>
                <a:ext uri="{FF2B5EF4-FFF2-40B4-BE49-F238E27FC236}">
                  <a16:creationId xmlns:a16="http://schemas.microsoft.com/office/drawing/2014/main" id="{B21AA2D5-3452-4E03-BA76-5FD47784B1FC}"/>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92" name="Straight Connector 191">
            <a:extLst>
              <a:ext uri="{FF2B5EF4-FFF2-40B4-BE49-F238E27FC236}">
                <a16:creationId xmlns:a16="http://schemas.microsoft.com/office/drawing/2014/main" id="{E0224169-9119-47EF-96EE-DDA203D7C417}"/>
              </a:ext>
              <a:ext uri="{C183D7F6-B498-43B3-948B-1728B52AA6E4}">
                <adec:decorative xmlns:adec="http://schemas.microsoft.com/office/drawing/2017/decorative" val="1"/>
              </a:ext>
            </a:extLst>
          </p:cNvPr>
          <p:cNvCxnSpPr>
            <a:cxnSpLocks/>
          </p:cNvCxnSpPr>
          <p:nvPr/>
        </p:nvCxnSpPr>
        <p:spPr>
          <a:xfrm>
            <a:off x="5771254" y="4787423"/>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9" name="Group 198">
            <a:extLst>
              <a:ext uri="{FF2B5EF4-FFF2-40B4-BE49-F238E27FC236}">
                <a16:creationId xmlns:a16="http://schemas.microsoft.com/office/drawing/2014/main" id="{026E5944-69DF-4321-BDB3-841BA2C11C04}"/>
              </a:ext>
              <a:ext uri="{C183D7F6-B498-43B3-948B-1728B52AA6E4}">
                <adec:decorative xmlns:adec="http://schemas.microsoft.com/office/drawing/2017/decorative" val="1"/>
              </a:ext>
            </a:extLst>
          </p:cNvPr>
          <p:cNvGrpSpPr>
            <a:grpSpLocks/>
          </p:cNvGrpSpPr>
          <p:nvPr/>
        </p:nvGrpSpPr>
        <p:grpSpPr>
          <a:xfrm>
            <a:off x="722184" y="5297927"/>
            <a:ext cx="522238" cy="522238"/>
            <a:chOff x="7039782" y="1468393"/>
            <a:chExt cx="751672" cy="751672"/>
          </a:xfrm>
        </p:grpSpPr>
        <p:sp>
          <p:nvSpPr>
            <p:cNvPr id="200" name="Oval 199">
              <a:extLst>
                <a:ext uri="{FF2B5EF4-FFF2-40B4-BE49-F238E27FC236}">
                  <a16:creationId xmlns:a16="http://schemas.microsoft.com/office/drawing/2014/main" id="{9FCF0032-1DAB-434C-8E68-E23616E5312F}"/>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1" name="list_4">
              <a:extLst>
                <a:ext uri="{FF2B5EF4-FFF2-40B4-BE49-F238E27FC236}">
                  <a16:creationId xmlns:a16="http://schemas.microsoft.com/office/drawing/2014/main" id="{5949B67D-CC59-478A-AB79-3C00B775DB3E}"/>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3" name="Footer Placeholder 4">
            <a:extLst>
              <a:ext uri="{FF2B5EF4-FFF2-40B4-BE49-F238E27FC236}">
                <a16:creationId xmlns:a16="http://schemas.microsoft.com/office/drawing/2014/main" id="{10E54606-57C2-4DE8-9859-0E9A1418A5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14" name="Picture 213" descr="Two young employees sitting in a coffee table working on a laptop">
            <a:extLst>
              <a:ext uri="{FF2B5EF4-FFF2-40B4-BE49-F238E27FC236}">
                <a16:creationId xmlns:a16="http://schemas.microsoft.com/office/drawing/2014/main" id="{862DE29E-5032-41FF-9267-7440425DBBCA}"/>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216" name="Slide Number Placeholder 5">
            <a:extLst>
              <a:ext uri="{FF2B5EF4-FFF2-40B4-BE49-F238E27FC236}">
                <a16:creationId xmlns:a16="http://schemas.microsoft.com/office/drawing/2014/main" id="{063ECB81-19EB-41B2-B6F9-134822DB431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29126996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name="HIDDEN - Slide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132E6D-A6EE-402B-895A-D0B053AB702A}"/>
              </a:ext>
            </a:extLst>
          </p:cNvPr>
          <p:cNvSpPr>
            <a:spLocks noGrp="1"/>
          </p:cNvSpPr>
          <p:nvPr>
            <p:ph type="title"/>
            <p:custDataLst>
              <p:custData r:id="rId2"/>
            </p:custDataLst>
          </p:nvPr>
        </p:nvSpPr>
        <p:spPr/>
        <p:txBody>
          <a:bodyPr/>
          <a:lstStyle/>
          <a:p>
            <a:r>
              <a:rPr lang="en-US" err="1"/>
              <a:t>GenAIOps</a:t>
            </a:r>
            <a:r>
              <a:rPr lang="en-US"/>
              <a:t> Overview </a:t>
            </a:r>
          </a:p>
        </p:txBody>
      </p:sp>
      <p:sp>
        <p:nvSpPr>
          <p:cNvPr id="2" name="Text Placeholder 1">
            <a:extLst>
              <a:ext uri="{FF2B5EF4-FFF2-40B4-BE49-F238E27FC236}">
                <a16:creationId xmlns:a16="http://schemas.microsoft.com/office/drawing/2014/main" id="{482FEA19-2650-4EE7-9268-C5AD0D758CBB}"/>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B6557B7F-8930-45B3-8C92-8E2F48E4CF5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3D1B8DB-CDB5-4538-B1E2-EE9AC4FA8B6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63588133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CA215-9B92-7141-E3D4-83209807E72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EE4513-C3D1-8821-1D89-D05E8B7A0612}"/>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31DE8EDA-5A52-E20A-26C0-6836C52ACA7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Placeholder 5">
            <a:extLst>
              <a:ext uri="{FF2B5EF4-FFF2-40B4-BE49-F238E27FC236}">
                <a16:creationId xmlns:a16="http://schemas.microsoft.com/office/drawing/2014/main" id="{A2EBD606-A809-AA75-F26D-AF12F8EC8D3C}"/>
              </a:ext>
            </a:extLst>
          </p:cNvPr>
          <p:cNvSpPr>
            <a:spLocks noGrp="1"/>
          </p:cNvSpPr>
          <p:nvPr>
            <p:ph type="body" sz="quarter" idx="39"/>
          </p:nvPr>
        </p:nvSpPr>
        <p:spPr/>
        <p:txBody>
          <a:bodyPr/>
          <a:lstStyle/>
          <a:p>
            <a:endParaRPr lang="en-US"/>
          </a:p>
        </p:txBody>
      </p:sp>
      <p:graphicFrame>
        <p:nvGraphicFramePr>
          <p:cNvPr id="4" name="Diagram 3">
            <a:extLst>
              <a:ext uri="{FF2B5EF4-FFF2-40B4-BE49-F238E27FC236}">
                <a16:creationId xmlns:a16="http://schemas.microsoft.com/office/drawing/2014/main" id="{70401813-096A-F0D5-63E5-840C4F8FB6AE}"/>
              </a:ext>
            </a:extLst>
          </p:cNvPr>
          <p:cNvGraphicFramePr/>
          <p:nvPr>
            <p:extLst>
              <p:ext uri="{D42A27DB-BD31-4B8C-83A1-F6EECF244321}">
                <p14:modId xmlns:p14="http://schemas.microsoft.com/office/powerpoint/2010/main" val="1951656514"/>
              </p:ext>
            </p:extLst>
          </p:nvPr>
        </p:nvGraphicFramePr>
        <p:xfrm>
          <a:off x="4244196" y="836762"/>
          <a:ext cx="5915804" cy="5301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426661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a:t>Objectives </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body" sz="quarter" idx="12"/>
            <p:custDataLst>
              <p:custData r:id="rId2"/>
            </p:custDataLst>
          </p:nvPr>
        </p:nvSpPr>
        <p:spPr/>
        <p:txBody>
          <a:bodyPr vert="horz" lIns="0" tIns="0" rIns="0" bIns="0" rtlCol="0" anchor="t">
            <a:normAutofit/>
          </a:bodyPr>
          <a:lstStyle/>
          <a:p>
            <a:r>
              <a:rPr lang="en-US"/>
              <a:t>After completing this Learning, you will be able to:</a:t>
            </a:r>
          </a:p>
        </p:txBody>
      </p:sp>
      <p:sp>
        <p:nvSpPr>
          <p:cNvPr id="29" name="Rectangle 28">
            <a:extLst>
              <a:ext uri="{FF2B5EF4-FFF2-40B4-BE49-F238E27FC236}">
                <a16:creationId xmlns:a16="http://schemas.microsoft.com/office/drawing/2014/main" id="{135AE57B-006B-45B8-B573-5C98485B4112}"/>
              </a:ext>
            </a:extLst>
          </p:cNvPr>
          <p:cNvSpPr/>
          <p:nvPr/>
        </p:nvSpPr>
        <p:spPr>
          <a:xfrm>
            <a:off x="-17461" y="1955801"/>
            <a:ext cx="12209460" cy="584775"/>
          </a:xfrm>
          <a:prstGeom prst="rect">
            <a:avLst/>
          </a:prstGeom>
          <a:solidFill>
            <a:schemeClr val="tx2"/>
          </a:solidFill>
        </p:spPr>
        <p:txBody>
          <a:bodyPr wrap="square" lIns="91440" tIns="137160" rIns="91440" bIns="137160" anchor="t">
            <a:spAutoFit/>
          </a:bodyPr>
          <a:lstStyle/>
          <a:p>
            <a:pPr algn="ctr" defTabSz="932563">
              <a:spcBef>
                <a:spcPts val="204"/>
              </a:spcBef>
              <a:spcAft>
                <a:spcPts val="408"/>
              </a:spcAft>
            </a:pPr>
            <a:r>
              <a:rPr lang="en-US" sz="2000">
                <a:solidFill>
                  <a:schemeClr val="bg1"/>
                </a:solidFill>
                <a:latin typeface="+mj-lt"/>
                <a:cs typeface="Segoe UI Semibold" panose="020B0702040204020203" pitchFamily="34" charset="0"/>
              </a:rPr>
              <a:t>Understand….</a:t>
            </a:r>
          </a:p>
        </p:txBody>
      </p:sp>
      <p:cxnSp>
        <p:nvCxnSpPr>
          <p:cNvPr id="101" name="Straight Connector 100">
            <a:extLst>
              <a:ext uri="{FF2B5EF4-FFF2-40B4-BE49-F238E27FC236}">
                <a16:creationId xmlns:a16="http://schemas.microsoft.com/office/drawing/2014/main" id="{376E7A99-B502-4054-9C2C-BAF18E5E5171}"/>
              </a:ext>
              <a:ext uri="{C183D7F6-B498-43B3-948B-1728B52AA6E4}">
                <adec:decorative xmlns:adec="http://schemas.microsoft.com/office/drawing/2017/decorative" val="1"/>
              </a:ext>
            </a:extLst>
          </p:cNvPr>
          <p:cNvCxnSpPr>
            <a:cxnSpLocks/>
          </p:cNvCxnSpPr>
          <p:nvPr/>
        </p:nvCxnSpPr>
        <p:spPr>
          <a:xfrm>
            <a:off x="571500" y="5214303"/>
            <a:ext cx="11031538" cy="0"/>
          </a:xfrm>
          <a:prstGeom prst="line">
            <a:avLst/>
          </a:prstGeom>
          <a:noFill/>
          <a:ln w="12700" cap="flat" cmpd="sng" algn="ctr">
            <a:solidFill>
              <a:schemeClr val="accent2"/>
            </a:solidFill>
            <a:prstDash val="solid"/>
            <a:headEnd type="none" w="lg" len="med"/>
            <a:tailEnd type="none" w="lg" len="med"/>
          </a:ln>
          <a:effectLst/>
        </p:spPr>
      </p:cxnSp>
      <p:grpSp>
        <p:nvGrpSpPr>
          <p:cNvPr id="6" name="Group 5">
            <a:extLst>
              <a:ext uri="{FF2B5EF4-FFF2-40B4-BE49-F238E27FC236}">
                <a16:creationId xmlns:a16="http://schemas.microsoft.com/office/drawing/2014/main" id="{712EAA30-0D82-4470-B816-03E60E1EF15F}"/>
              </a:ext>
            </a:extLst>
          </p:cNvPr>
          <p:cNvGrpSpPr/>
          <p:nvPr/>
        </p:nvGrpSpPr>
        <p:grpSpPr>
          <a:xfrm>
            <a:off x="571500" y="2740193"/>
            <a:ext cx="2316603" cy="2806533"/>
            <a:chOff x="571500" y="2740193"/>
            <a:chExt cx="2316603" cy="2806533"/>
          </a:xfrm>
        </p:grpSpPr>
        <p:sp>
          <p:nvSpPr>
            <p:cNvPr id="75" name="Rectangle 74">
              <a:extLst>
                <a:ext uri="{FF2B5EF4-FFF2-40B4-BE49-F238E27FC236}">
                  <a16:creationId xmlns:a16="http://schemas.microsoft.com/office/drawing/2014/main" id="{D521F3AE-02DA-4716-8E81-BCE211F1FA3F}"/>
                </a:ext>
              </a:extLst>
            </p:cNvPr>
            <p:cNvSpPr/>
            <p:nvPr/>
          </p:nvSpPr>
          <p:spPr>
            <a:xfrm>
              <a:off x="571500" y="2740193"/>
              <a:ext cx="2316603" cy="1107996"/>
            </a:xfrm>
            <a:prstGeom prst="rect">
              <a:avLst/>
            </a:prstGeom>
            <a:noFill/>
          </p:spPr>
          <p:txBody>
            <a:bodyPr wrap="square" lIns="0" tIns="0" rIns="0" bIns="0">
              <a:spAutoFit/>
            </a:bodyPr>
            <a:lstStyle/>
            <a:p>
              <a:pPr defTabSz="914224" fontAlgn="base">
                <a:spcAft>
                  <a:spcPts val="200"/>
                </a:spcAft>
                <a:defRPr/>
              </a:pPr>
              <a:r>
                <a:rPr lang="en-US">
                  <a:ea typeface="Times New Roman" panose="02020603050405020304" pitchFamily="18" charset="0"/>
                  <a:cs typeface="Times New Roman" panose="02020603050405020304" pitchFamily="18" charset="0"/>
                </a:rPr>
                <a:t>Understanding the operations involved in managing AI workloads </a:t>
              </a:r>
            </a:p>
          </p:txBody>
        </p:sp>
        <p:grpSp>
          <p:nvGrpSpPr>
            <p:cNvPr id="122" name="Group 121" descr="Icon of a person with a box around them">
              <a:extLst>
                <a:ext uri="{FF2B5EF4-FFF2-40B4-BE49-F238E27FC236}">
                  <a16:creationId xmlns:a16="http://schemas.microsoft.com/office/drawing/2014/main" id="{702961B0-EEBA-47B9-8957-73784E6E72CF}"/>
                </a:ext>
              </a:extLst>
            </p:cNvPr>
            <p:cNvGrpSpPr>
              <a:grpSpLocks/>
            </p:cNvGrpSpPr>
            <p:nvPr/>
          </p:nvGrpSpPr>
          <p:grpSpPr>
            <a:xfrm>
              <a:off x="2231789" y="4890415"/>
              <a:ext cx="656314" cy="656311"/>
              <a:chOff x="4850654" y="510655"/>
              <a:chExt cx="751672" cy="751672"/>
            </a:xfrm>
          </p:grpSpPr>
          <p:sp>
            <p:nvSpPr>
              <p:cNvPr id="123" name="Oval 122">
                <a:extLst>
                  <a:ext uri="{FF2B5EF4-FFF2-40B4-BE49-F238E27FC236}">
                    <a16:creationId xmlns:a16="http://schemas.microsoft.com/office/drawing/2014/main" id="{94644C06-1E5A-4880-AF33-FC37A83D58CD}"/>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24" name="people_5">
                <a:extLst>
                  <a:ext uri="{FF2B5EF4-FFF2-40B4-BE49-F238E27FC236}">
                    <a16:creationId xmlns:a16="http://schemas.microsoft.com/office/drawing/2014/main" id="{42BF7F76-EE8F-4FD6-AFAB-B3C918F2B584}"/>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grpSp>
        <p:nvGrpSpPr>
          <p:cNvPr id="5" name="Group 4">
            <a:extLst>
              <a:ext uri="{FF2B5EF4-FFF2-40B4-BE49-F238E27FC236}">
                <a16:creationId xmlns:a16="http://schemas.microsoft.com/office/drawing/2014/main" id="{8FCF99D1-8603-4229-A10D-C9FCC2123D75}"/>
              </a:ext>
            </a:extLst>
          </p:cNvPr>
          <p:cNvGrpSpPr/>
          <p:nvPr/>
        </p:nvGrpSpPr>
        <p:grpSpPr>
          <a:xfrm>
            <a:off x="3185201" y="2740193"/>
            <a:ext cx="2613701" cy="2806533"/>
            <a:chOff x="3185201" y="2740193"/>
            <a:chExt cx="2613701" cy="2806533"/>
          </a:xfrm>
        </p:grpSpPr>
        <p:cxnSp>
          <p:nvCxnSpPr>
            <p:cNvPr id="140" name="Straight Connector 139">
              <a:extLst>
                <a:ext uri="{FF2B5EF4-FFF2-40B4-BE49-F238E27FC236}">
                  <a16:creationId xmlns:a16="http://schemas.microsoft.com/office/drawing/2014/main" id="{594D34D9-A54F-4124-BA8E-155CD0796BBC}"/>
                </a:ext>
                <a:ext uri="{C183D7F6-B498-43B3-948B-1728B52AA6E4}">
                  <adec:decorative xmlns:adec="http://schemas.microsoft.com/office/drawing/2017/decorative" val="1"/>
                </a:ext>
              </a:extLst>
            </p:cNvPr>
            <p:cNvCxnSpPr>
              <a:cxnSpLocks/>
            </p:cNvCxnSpPr>
            <p:nvPr/>
          </p:nvCxnSpPr>
          <p:spPr>
            <a:xfrm>
              <a:off x="3185201"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157E8BE0-257A-45ED-AB34-50EDBFCF2AD9}"/>
                </a:ext>
              </a:extLst>
            </p:cNvPr>
            <p:cNvSpPr/>
            <p:nvPr/>
          </p:nvSpPr>
          <p:spPr>
            <a:xfrm>
              <a:off x="3482299" y="2740193"/>
              <a:ext cx="2316603" cy="830997"/>
            </a:xfrm>
            <a:prstGeom prst="rect">
              <a:avLst/>
            </a:prstGeom>
            <a:noFill/>
          </p:spPr>
          <p:txBody>
            <a:bodyPr wrap="square" lIns="0" tIns="0" rIns="0" bIns="0">
              <a:spAutoFit/>
            </a:bodyPr>
            <a:lstStyle/>
            <a:p>
              <a:pPr defTabSz="914224" fontAlgn="base">
                <a:spcAft>
                  <a:spcPts val="200"/>
                </a:spcAft>
                <a:defRPr/>
              </a:pPr>
              <a:r>
                <a:rPr lang="en-US">
                  <a:ea typeface="Times New Roman" panose="02020603050405020304" pitchFamily="18" charset="0"/>
                  <a:cs typeface="Times New Roman" panose="02020603050405020304" pitchFamily="18" charset="0"/>
                </a:rPr>
                <a:t>Exploring the different levels of complexity in GenAI </a:t>
              </a:r>
            </a:p>
          </p:txBody>
        </p:sp>
        <p:grpSp>
          <p:nvGrpSpPr>
            <p:cNvPr id="173" name="Group 172" descr="Icon of a person wearing a headset">
              <a:extLst>
                <a:ext uri="{FF2B5EF4-FFF2-40B4-BE49-F238E27FC236}">
                  <a16:creationId xmlns:a16="http://schemas.microsoft.com/office/drawing/2014/main" id="{A2A27087-1681-4B2D-87E1-116A3365C347}"/>
                </a:ext>
              </a:extLst>
            </p:cNvPr>
            <p:cNvGrpSpPr>
              <a:grpSpLocks/>
            </p:cNvGrpSpPr>
            <p:nvPr/>
          </p:nvGrpSpPr>
          <p:grpSpPr>
            <a:xfrm>
              <a:off x="5142588" y="4890415"/>
              <a:ext cx="656314" cy="656311"/>
              <a:chOff x="4850654" y="1468393"/>
              <a:chExt cx="751672" cy="751672"/>
            </a:xfrm>
          </p:grpSpPr>
          <p:sp>
            <p:nvSpPr>
              <p:cNvPr id="174" name="Oval 173">
                <a:extLst>
                  <a:ext uri="{FF2B5EF4-FFF2-40B4-BE49-F238E27FC236}">
                    <a16:creationId xmlns:a16="http://schemas.microsoft.com/office/drawing/2014/main" id="{412DC491-22AC-4A6D-B3A8-64A23F8112D2}"/>
                  </a:ext>
                  <a:ext uri="{C183D7F6-B498-43B3-948B-1728B52AA6E4}">
                    <adec:decorative xmlns:adec="http://schemas.microsoft.com/office/drawing/2017/decorative" val="1"/>
                  </a:ext>
                </a:extLst>
              </p:cNvPr>
              <p:cNvSpPr>
                <a:spLocks/>
              </p:cNvSpPr>
              <p:nvPr/>
            </p:nvSpPr>
            <p:spPr bwMode="auto">
              <a:xfrm>
                <a:off x="485065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5" name="Telemarketer_E7B9">
                <a:extLst>
                  <a:ext uri="{FF2B5EF4-FFF2-40B4-BE49-F238E27FC236}">
                    <a16:creationId xmlns:a16="http://schemas.microsoft.com/office/drawing/2014/main" id="{7C2E0D0C-F69B-4C27-9BB2-A7FC9E4CBFF3}"/>
                  </a:ext>
                  <a:ext uri="{C183D7F6-B498-43B3-948B-1728B52AA6E4}">
                    <adec:decorative xmlns:adec="http://schemas.microsoft.com/office/drawing/2017/decorative" val="1"/>
                  </a:ext>
                </a:extLst>
              </p:cNvPr>
              <p:cNvSpPr>
                <a:spLocks noChangeAspect="1" noEditPoints="1"/>
              </p:cNvSpPr>
              <p:nvPr/>
            </p:nvSpPr>
            <p:spPr bwMode="auto">
              <a:xfrm>
                <a:off x="5076466" y="1665306"/>
                <a:ext cx="300048" cy="357846"/>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3" name="Group 2">
            <a:extLst>
              <a:ext uri="{FF2B5EF4-FFF2-40B4-BE49-F238E27FC236}">
                <a16:creationId xmlns:a16="http://schemas.microsoft.com/office/drawing/2014/main" id="{940D0125-9918-41B5-A494-E8DF6585BF4C}"/>
              </a:ext>
            </a:extLst>
          </p:cNvPr>
          <p:cNvGrpSpPr/>
          <p:nvPr/>
        </p:nvGrpSpPr>
        <p:grpSpPr>
          <a:xfrm>
            <a:off x="6096000" y="2740193"/>
            <a:ext cx="2613701" cy="2806533"/>
            <a:chOff x="6096000" y="2740193"/>
            <a:chExt cx="2613701" cy="2806533"/>
          </a:xfrm>
        </p:grpSpPr>
        <p:cxnSp>
          <p:nvCxnSpPr>
            <p:cNvPr id="187" name="Straight Connector 186">
              <a:extLst>
                <a:ext uri="{FF2B5EF4-FFF2-40B4-BE49-F238E27FC236}">
                  <a16:creationId xmlns:a16="http://schemas.microsoft.com/office/drawing/2014/main" id="{96DA2106-45CC-42DE-AE3C-C5187C2EC187}"/>
                </a:ext>
                <a:ext uri="{C183D7F6-B498-43B3-948B-1728B52AA6E4}">
                  <adec:decorative xmlns:adec="http://schemas.microsoft.com/office/drawing/2017/decorative" val="1"/>
                </a:ext>
              </a:extLst>
            </p:cNvPr>
            <p:cNvCxnSpPr>
              <a:cxnSpLocks/>
            </p:cNvCxnSpPr>
            <p:nvPr/>
          </p:nvCxnSpPr>
          <p:spPr>
            <a:xfrm>
              <a:off x="6096000"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8" name="Rectangle 197">
              <a:extLst>
                <a:ext uri="{FF2B5EF4-FFF2-40B4-BE49-F238E27FC236}">
                  <a16:creationId xmlns:a16="http://schemas.microsoft.com/office/drawing/2014/main" id="{89DA1F94-0267-4937-B0EB-354553751953}"/>
                </a:ext>
              </a:extLst>
            </p:cNvPr>
            <p:cNvSpPr/>
            <p:nvPr/>
          </p:nvSpPr>
          <p:spPr>
            <a:xfrm>
              <a:off x="6393098" y="2740193"/>
              <a:ext cx="2316603" cy="830997"/>
            </a:xfrm>
            <a:prstGeom prst="rect">
              <a:avLst/>
            </a:prstGeom>
            <a:noFill/>
          </p:spPr>
          <p:txBody>
            <a:bodyPr wrap="square" lIns="0" tIns="0" rIns="0" bIns="0">
              <a:spAutoFit/>
            </a:bodyPr>
            <a:lstStyle/>
            <a:p>
              <a:pPr defTabSz="914224" fontAlgn="base">
                <a:spcAft>
                  <a:spcPts val="200"/>
                </a:spcAft>
                <a:defRPr/>
              </a:pPr>
              <a:r>
                <a:rPr lang="en-US"/>
                <a:t>Identifying the assets and artifacts associated with GenAI</a:t>
              </a:r>
              <a:endParaRPr lang="en-US">
                <a:ea typeface="Times New Roman" panose="02020603050405020304" pitchFamily="18" charset="0"/>
                <a:cs typeface="Times New Roman" panose="02020603050405020304" pitchFamily="18" charset="0"/>
              </a:endParaRPr>
            </a:p>
          </p:txBody>
        </p:sp>
        <p:grpSp>
          <p:nvGrpSpPr>
            <p:cNvPr id="209" name="Group 208" descr="Icon of three people with an arrow above them pointing down">
              <a:extLst>
                <a:ext uri="{FF2B5EF4-FFF2-40B4-BE49-F238E27FC236}">
                  <a16:creationId xmlns:a16="http://schemas.microsoft.com/office/drawing/2014/main" id="{8B1DCB89-7AA3-4C66-995D-D1902E3F06C5}"/>
                </a:ext>
              </a:extLst>
            </p:cNvPr>
            <p:cNvGrpSpPr>
              <a:grpSpLocks/>
            </p:cNvGrpSpPr>
            <p:nvPr/>
          </p:nvGrpSpPr>
          <p:grpSpPr>
            <a:xfrm>
              <a:off x="8053387" y="4890415"/>
              <a:ext cx="656314" cy="656311"/>
              <a:chOff x="4850654" y="2426131"/>
              <a:chExt cx="751672" cy="751672"/>
            </a:xfrm>
          </p:grpSpPr>
          <p:sp>
            <p:nvSpPr>
              <p:cNvPr id="210" name="Oval 209">
                <a:extLst>
                  <a:ext uri="{FF2B5EF4-FFF2-40B4-BE49-F238E27FC236}">
                    <a16:creationId xmlns:a16="http://schemas.microsoft.com/office/drawing/2014/main" id="{5DE676EE-3A8D-48EB-9CAC-F9A2EC4D2617}"/>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1" name="people_2">
                <a:extLst>
                  <a:ext uri="{FF2B5EF4-FFF2-40B4-BE49-F238E27FC236}">
                    <a16:creationId xmlns:a16="http://schemas.microsoft.com/office/drawing/2014/main" id="{E6DBAC5C-6B90-414F-8BD0-7D63B25582E8}"/>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2" name="Group 1">
            <a:extLst>
              <a:ext uri="{FF2B5EF4-FFF2-40B4-BE49-F238E27FC236}">
                <a16:creationId xmlns:a16="http://schemas.microsoft.com/office/drawing/2014/main" id="{8B696FA0-67CE-4A24-9D09-45AE8A5DF18E}"/>
              </a:ext>
            </a:extLst>
          </p:cNvPr>
          <p:cNvGrpSpPr/>
          <p:nvPr/>
        </p:nvGrpSpPr>
        <p:grpSpPr>
          <a:xfrm>
            <a:off x="9006799" y="2740193"/>
            <a:ext cx="2613701" cy="2806533"/>
            <a:chOff x="9006799" y="2740193"/>
            <a:chExt cx="2613701" cy="2806533"/>
          </a:xfrm>
        </p:grpSpPr>
        <p:cxnSp>
          <p:nvCxnSpPr>
            <p:cNvPr id="220" name="Straight Connector 219">
              <a:extLst>
                <a:ext uri="{FF2B5EF4-FFF2-40B4-BE49-F238E27FC236}">
                  <a16:creationId xmlns:a16="http://schemas.microsoft.com/office/drawing/2014/main" id="{958418FD-4AD9-4AF0-AD84-999BED91B804}"/>
                </a:ext>
                <a:ext uri="{C183D7F6-B498-43B3-948B-1728B52AA6E4}">
                  <adec:decorative xmlns:adec="http://schemas.microsoft.com/office/drawing/2017/decorative" val="1"/>
                </a:ext>
              </a:extLst>
            </p:cNvPr>
            <p:cNvCxnSpPr>
              <a:cxnSpLocks/>
            </p:cNvCxnSpPr>
            <p:nvPr/>
          </p:nvCxnSpPr>
          <p:spPr>
            <a:xfrm>
              <a:off x="9006799"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6" name="Rectangle 225">
              <a:extLst>
                <a:ext uri="{FF2B5EF4-FFF2-40B4-BE49-F238E27FC236}">
                  <a16:creationId xmlns:a16="http://schemas.microsoft.com/office/drawing/2014/main" id="{7576A04A-DB64-4AE2-A020-A9363E3180A2}"/>
                </a:ext>
              </a:extLst>
            </p:cNvPr>
            <p:cNvSpPr/>
            <p:nvPr/>
          </p:nvSpPr>
          <p:spPr>
            <a:xfrm>
              <a:off x="9303897" y="2740193"/>
              <a:ext cx="2316603" cy="1384995"/>
            </a:xfrm>
            <a:prstGeom prst="rect">
              <a:avLst/>
            </a:prstGeom>
            <a:noFill/>
          </p:spPr>
          <p:txBody>
            <a:bodyPr wrap="square" lIns="0" tIns="0" rIns="0" bIns="0">
              <a:spAutoFit/>
            </a:bodyPr>
            <a:lstStyle/>
            <a:p>
              <a:pPr defTabSz="914224" fontAlgn="base">
                <a:spcAft>
                  <a:spcPts val="200"/>
                </a:spcAft>
                <a:defRPr/>
              </a:pPr>
              <a:r>
                <a:rPr lang="en-US"/>
                <a:t>Learning the best practices for GenAI operations and challenges and how to mitigate</a:t>
              </a:r>
              <a:endParaRPr lang="en-US">
                <a:ea typeface="Times New Roman" panose="02020603050405020304" pitchFamily="18" charset="0"/>
                <a:cs typeface="Times New Roman" panose="02020603050405020304" pitchFamily="18" charset="0"/>
              </a:endParaRPr>
            </a:p>
          </p:txBody>
        </p:sp>
        <p:grpSp>
          <p:nvGrpSpPr>
            <p:cNvPr id="232" name="Group 231" descr="Icon of a dotted line circle made of a curved arrow pointing clockwise">
              <a:extLst>
                <a:ext uri="{FF2B5EF4-FFF2-40B4-BE49-F238E27FC236}">
                  <a16:creationId xmlns:a16="http://schemas.microsoft.com/office/drawing/2014/main" id="{BB3035A0-BC21-4B40-AED1-A6A82C189967}"/>
                </a:ext>
              </a:extLst>
            </p:cNvPr>
            <p:cNvGrpSpPr>
              <a:grpSpLocks/>
            </p:cNvGrpSpPr>
            <p:nvPr/>
          </p:nvGrpSpPr>
          <p:grpSpPr>
            <a:xfrm>
              <a:off x="10964186" y="4890415"/>
              <a:ext cx="656314" cy="656311"/>
              <a:chOff x="5945218" y="3383869"/>
              <a:chExt cx="751672" cy="751672"/>
            </a:xfrm>
          </p:grpSpPr>
          <p:sp>
            <p:nvSpPr>
              <p:cNvPr id="233" name="Oval 232">
                <a:extLst>
                  <a:ext uri="{FF2B5EF4-FFF2-40B4-BE49-F238E27FC236}">
                    <a16:creationId xmlns:a16="http://schemas.microsoft.com/office/drawing/2014/main" id="{224AADF5-0B86-45A3-AC2B-70FE0D390DC8}"/>
                  </a:ext>
                  <a:ext uri="{C183D7F6-B498-43B3-948B-1728B52AA6E4}">
                    <adec:decorative xmlns:adec="http://schemas.microsoft.com/office/drawing/2017/decorative" val="1"/>
                  </a:ext>
                </a:extLst>
              </p:cNvPr>
              <p:cNvSpPr>
                <a:spLocks/>
              </p:cNvSpPr>
              <p:nvPr/>
            </p:nvSpPr>
            <p:spPr bwMode="auto">
              <a:xfrm>
                <a:off x="5945218"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34" name="arrow_26">
                <a:extLst>
                  <a:ext uri="{FF2B5EF4-FFF2-40B4-BE49-F238E27FC236}">
                    <a16:creationId xmlns:a16="http://schemas.microsoft.com/office/drawing/2014/main" id="{83FA8140-00D5-4B54-AE34-9770E1C4208F}"/>
                  </a:ext>
                  <a:ext uri="{C183D7F6-B498-43B3-948B-1728B52AA6E4}">
                    <adec:decorative xmlns:adec="http://schemas.microsoft.com/office/drawing/2017/decorative" val="1"/>
                  </a:ext>
                </a:extLst>
              </p:cNvPr>
              <p:cNvSpPr>
                <a:spLocks noChangeAspect="1" noEditPoints="1"/>
              </p:cNvSpPr>
              <p:nvPr/>
            </p:nvSpPr>
            <p:spPr bwMode="auto">
              <a:xfrm>
                <a:off x="6132619" y="3577120"/>
                <a:ext cx="376872" cy="365172"/>
              </a:xfrm>
              <a:custGeom>
                <a:avLst/>
                <a:gdLst>
                  <a:gd name="T0" fmla="*/ 18 w 328"/>
                  <a:gd name="T1" fmla="*/ 80 h 319"/>
                  <a:gd name="T2" fmla="*/ 110 w 328"/>
                  <a:gd name="T3" fmla="*/ 0 h 319"/>
                  <a:gd name="T4" fmla="*/ 8 w 328"/>
                  <a:gd name="T5" fmla="*/ 206 h 319"/>
                  <a:gd name="T6" fmla="*/ 0 w 328"/>
                  <a:gd name="T7" fmla="*/ 155 h 319"/>
                  <a:gd name="T8" fmla="*/ 7 w 328"/>
                  <a:gd name="T9" fmla="*/ 105 h 319"/>
                  <a:gd name="T10" fmla="*/ 88 w 328"/>
                  <a:gd name="T11" fmla="*/ 301 h 319"/>
                  <a:gd name="T12" fmla="*/ 19 w 328"/>
                  <a:gd name="T13" fmla="*/ 232 h 319"/>
                  <a:gd name="T14" fmla="*/ 18 w 328"/>
                  <a:gd name="T15" fmla="*/ 230 h 319"/>
                  <a:gd name="T16" fmla="*/ 213 w 328"/>
                  <a:gd name="T17" fmla="*/ 311 h 319"/>
                  <a:gd name="T18" fmla="*/ 164 w 328"/>
                  <a:gd name="T19" fmla="*/ 319 h 319"/>
                  <a:gd name="T20" fmla="*/ 114 w 328"/>
                  <a:gd name="T21" fmla="*/ 311 h 319"/>
                  <a:gd name="T22" fmla="*/ 309 w 328"/>
                  <a:gd name="T23" fmla="*/ 231 h 319"/>
                  <a:gd name="T24" fmla="*/ 239 w 328"/>
                  <a:gd name="T25" fmla="*/ 301 h 319"/>
                  <a:gd name="T26" fmla="*/ 320 w 328"/>
                  <a:gd name="T27" fmla="*/ 105 h 319"/>
                  <a:gd name="T28" fmla="*/ 328 w 328"/>
                  <a:gd name="T29" fmla="*/ 155 h 319"/>
                  <a:gd name="T30" fmla="*/ 320 w 328"/>
                  <a:gd name="T31" fmla="*/ 204 h 319"/>
                  <a:gd name="T32" fmla="*/ 239 w 328"/>
                  <a:gd name="T33" fmla="*/ 9 h 319"/>
                  <a:gd name="T34" fmla="*/ 310 w 328"/>
                  <a:gd name="T35" fmla="*/ 80 h 319"/>
                  <a:gd name="T36" fmla="*/ 110 w 328"/>
                  <a:gd name="T37" fmla="*/ 75 h 319"/>
                  <a:gd name="T38" fmla="*/ 110 w 328"/>
                  <a:gd name="T39" fmla="*/ 0 h 319"/>
                  <a:gd name="T40" fmla="*/ 36 w 328"/>
                  <a:gd name="T41"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8" h="319">
                    <a:moveTo>
                      <a:pt x="18" y="80"/>
                    </a:moveTo>
                    <a:cubicBezTo>
                      <a:pt x="37" y="43"/>
                      <a:pt x="70" y="14"/>
                      <a:pt x="110" y="0"/>
                    </a:cubicBezTo>
                    <a:moveTo>
                      <a:pt x="8" y="206"/>
                    </a:moveTo>
                    <a:cubicBezTo>
                      <a:pt x="2" y="190"/>
                      <a:pt x="0" y="173"/>
                      <a:pt x="0" y="155"/>
                    </a:cubicBezTo>
                    <a:cubicBezTo>
                      <a:pt x="0" y="138"/>
                      <a:pt x="2" y="121"/>
                      <a:pt x="7" y="105"/>
                    </a:cubicBezTo>
                    <a:moveTo>
                      <a:pt x="88" y="301"/>
                    </a:moveTo>
                    <a:cubicBezTo>
                      <a:pt x="59" y="285"/>
                      <a:pt x="34" y="261"/>
                      <a:pt x="19" y="232"/>
                    </a:cubicBezTo>
                    <a:cubicBezTo>
                      <a:pt x="19" y="231"/>
                      <a:pt x="18" y="231"/>
                      <a:pt x="18" y="230"/>
                    </a:cubicBezTo>
                    <a:moveTo>
                      <a:pt x="213" y="311"/>
                    </a:moveTo>
                    <a:cubicBezTo>
                      <a:pt x="197" y="316"/>
                      <a:pt x="181" y="319"/>
                      <a:pt x="164" y="319"/>
                    </a:cubicBezTo>
                    <a:cubicBezTo>
                      <a:pt x="147" y="319"/>
                      <a:pt x="130" y="316"/>
                      <a:pt x="114" y="311"/>
                    </a:cubicBezTo>
                    <a:moveTo>
                      <a:pt x="309" y="231"/>
                    </a:moveTo>
                    <a:cubicBezTo>
                      <a:pt x="294" y="260"/>
                      <a:pt x="269" y="285"/>
                      <a:pt x="239" y="301"/>
                    </a:cubicBezTo>
                    <a:moveTo>
                      <a:pt x="320" y="105"/>
                    </a:moveTo>
                    <a:cubicBezTo>
                      <a:pt x="325" y="120"/>
                      <a:pt x="328" y="138"/>
                      <a:pt x="328" y="155"/>
                    </a:cubicBezTo>
                    <a:cubicBezTo>
                      <a:pt x="328" y="172"/>
                      <a:pt x="325" y="189"/>
                      <a:pt x="320" y="204"/>
                    </a:cubicBezTo>
                    <a:moveTo>
                      <a:pt x="239" y="9"/>
                    </a:moveTo>
                    <a:cubicBezTo>
                      <a:pt x="269" y="25"/>
                      <a:pt x="294" y="50"/>
                      <a:pt x="310" y="80"/>
                    </a:cubicBezTo>
                    <a:moveTo>
                      <a:pt x="110" y="75"/>
                    </a:moveTo>
                    <a:cubicBezTo>
                      <a:pt x="110" y="0"/>
                      <a:pt x="110" y="0"/>
                      <a:pt x="110" y="0"/>
                    </a:cubicBezTo>
                    <a:cubicBezTo>
                      <a:pt x="36" y="0"/>
                      <a:pt x="36" y="0"/>
                      <a:pt x="36" y="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sp>
        <p:nvSpPr>
          <p:cNvPr id="110" name="Footer Placeholder 7">
            <a:extLst>
              <a:ext uri="{FF2B5EF4-FFF2-40B4-BE49-F238E27FC236}">
                <a16:creationId xmlns:a16="http://schemas.microsoft.com/office/drawing/2014/main" id="{9CAB8FC4-BA4D-40F2-A5E4-7325D132B66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1" name="Slide Number Placeholder 5">
            <a:extLst>
              <a:ext uri="{FF2B5EF4-FFF2-40B4-BE49-F238E27FC236}">
                <a16:creationId xmlns:a16="http://schemas.microsoft.com/office/drawing/2014/main" id="{6B90DC93-3B04-424D-9759-558344B062B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90116063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name="HIDDEN - Slide35">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a:xfrm>
            <a:off x="584200" y="2303312"/>
            <a:ext cx="8023772" cy="3046988"/>
          </a:xfrm>
        </p:spPr>
        <p:txBody>
          <a:bodyPr/>
          <a:lstStyle/>
          <a:p>
            <a:r>
              <a:rPr lang="en-US"/>
              <a:t>Lesson 1 – </a:t>
            </a:r>
            <a:r>
              <a:rPr lang="en-US" err="1"/>
              <a:t>GenAIOps</a:t>
            </a:r>
            <a:r>
              <a:rPr lang="en-US"/>
              <a:t> Overview</a:t>
            </a:r>
          </a:p>
        </p:txBody>
      </p:sp>
      <p:sp>
        <p:nvSpPr>
          <p:cNvPr id="3" name="Text Placeholder 2">
            <a:extLst>
              <a:ext uri="{FF2B5EF4-FFF2-40B4-BE49-F238E27FC236}">
                <a16:creationId xmlns:a16="http://schemas.microsoft.com/office/drawing/2014/main" id="{7762589D-6C89-09C9-0A17-4FD58CD78F79}"/>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29BD8041-BC24-4633-A423-E1FCAB5B1A20}"/>
              </a:ext>
            </a:extLst>
          </p:cNvPr>
          <p:cNvSpPr>
            <a:spLocks noGrp="1"/>
          </p:cNvSpPr>
          <p:nvPr>
            <p:ph type="ftr" sz="quarter" idx="4294967295"/>
          </p:nvPr>
        </p:nvSpPr>
        <p:spPr>
          <a:xfrm>
            <a:off x="0" y="6538913"/>
            <a:ext cx="4114800" cy="1238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0090FC2-EA77-4C2F-A642-01EF67A9CFB3}"/>
              </a:ext>
            </a:extLst>
          </p:cNvPr>
          <p:cNvSpPr>
            <a:spLocks noGrp="1"/>
          </p:cNvSpPr>
          <p:nvPr>
            <p:ph type="sldNum" sz="quarter" idx="4294967295"/>
          </p:nvPr>
        </p:nvSpPr>
        <p:spPr>
          <a:xfrm>
            <a:off x="11787188" y="6538913"/>
            <a:ext cx="404812" cy="1238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37944403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FE823EA-7D8C-7C06-8533-43C42EEAA4F9}"/>
              </a:ext>
            </a:extLst>
          </p:cNvPr>
          <p:cNvSpPr>
            <a:spLocks noGrp="1"/>
          </p:cNvSpPr>
          <p:nvPr>
            <p:ph type="title"/>
          </p:nvPr>
        </p:nvSpPr>
        <p:spPr/>
        <p:txBody>
          <a:bodyPr/>
          <a:lstStyle/>
          <a:p>
            <a:r>
              <a:rPr lang="en-US"/>
              <a:t>Why </a:t>
            </a:r>
            <a:r>
              <a:rPr lang="en-US" err="1"/>
              <a:t>GenAIOps</a:t>
            </a:r>
            <a:r>
              <a:rPr lang="en-US"/>
              <a:t> </a:t>
            </a:r>
          </a:p>
        </p:txBody>
      </p:sp>
      <p:sp>
        <p:nvSpPr>
          <p:cNvPr id="5" name="Slide Number Placeholder 4">
            <a:extLst>
              <a:ext uri="{FF2B5EF4-FFF2-40B4-BE49-F238E27FC236}">
                <a16:creationId xmlns:a16="http://schemas.microsoft.com/office/drawing/2014/main" id="{61A0AA85-9228-63FD-DD92-610D7EE6DEF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
        <p:nvSpPr>
          <p:cNvPr id="7" name="Rectangle: Rounded Corners 6">
            <a:extLst>
              <a:ext uri="{FF2B5EF4-FFF2-40B4-BE49-F238E27FC236}">
                <a16:creationId xmlns:a16="http://schemas.microsoft.com/office/drawing/2014/main" id="{980D7F0B-5FD2-6A06-B2F0-6741BC1EAE99}"/>
              </a:ext>
            </a:extLst>
          </p:cNvPr>
          <p:cNvSpPr>
            <a:spLocks/>
          </p:cNvSpPr>
          <p:nvPr/>
        </p:nvSpPr>
        <p:spPr bwMode="auto">
          <a:xfrm>
            <a:off x="4618153" y="1834327"/>
            <a:ext cx="3332854" cy="1809468"/>
          </a:xfrm>
          <a:prstGeom prst="roundRect">
            <a:avLst>
              <a:gd name="adj" fmla="val 3281"/>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8" name="Rectangle: Rounded Corners 7">
            <a:extLst>
              <a:ext uri="{FF2B5EF4-FFF2-40B4-BE49-F238E27FC236}">
                <a16:creationId xmlns:a16="http://schemas.microsoft.com/office/drawing/2014/main" id="{1F687898-6305-00EF-2FAD-D6C7E75760A2}"/>
              </a:ext>
            </a:extLst>
          </p:cNvPr>
          <p:cNvSpPr>
            <a:spLocks/>
          </p:cNvSpPr>
          <p:nvPr/>
        </p:nvSpPr>
        <p:spPr bwMode="auto">
          <a:xfrm>
            <a:off x="632516" y="1825281"/>
            <a:ext cx="3458758" cy="1809468"/>
          </a:xfrm>
          <a:prstGeom prst="roundRect">
            <a:avLst>
              <a:gd name="adj" fmla="val 3281"/>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9" name="Content Placeholder 2">
            <a:extLst>
              <a:ext uri="{FF2B5EF4-FFF2-40B4-BE49-F238E27FC236}">
                <a16:creationId xmlns:a16="http://schemas.microsoft.com/office/drawing/2014/main" id="{E7C0F771-0F50-45FA-9C0B-DB5692964673}"/>
              </a:ext>
            </a:extLst>
          </p:cNvPr>
          <p:cNvSpPr txBox="1">
            <a:spLocks/>
          </p:cNvSpPr>
          <p:nvPr/>
        </p:nvSpPr>
        <p:spPr>
          <a:xfrm>
            <a:off x="1242222" y="2547452"/>
            <a:ext cx="2839739" cy="385344"/>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sz="1500" spc="0">
                <a:ln>
                  <a:noFill/>
                </a:ln>
                <a:solidFill>
                  <a:schemeClr val="tx1"/>
                </a:solidFill>
                <a:latin typeface="Segoe Sans Text" pitchFamily="2" charset="0"/>
                <a:cs typeface="Segoe Sans Text" pitchFamily="2" charset="0"/>
              </a:rPr>
              <a:t>Does your customer have a clear GenAI strategy for integrating tools, design patterns, and practices to ensure smooth, reliable, and scalable operations without reengineering the infrastructure? </a:t>
            </a:r>
          </a:p>
        </p:txBody>
      </p:sp>
      <p:sp>
        <p:nvSpPr>
          <p:cNvPr id="10" name="Rectangle: Rounded Corners 9">
            <a:extLst>
              <a:ext uri="{FF2B5EF4-FFF2-40B4-BE49-F238E27FC236}">
                <a16:creationId xmlns:a16="http://schemas.microsoft.com/office/drawing/2014/main" id="{F2AA9CFE-6743-7DD4-4270-3AF88DB0CB93}"/>
              </a:ext>
            </a:extLst>
          </p:cNvPr>
          <p:cNvSpPr>
            <a:spLocks/>
          </p:cNvSpPr>
          <p:nvPr/>
        </p:nvSpPr>
        <p:spPr bwMode="auto">
          <a:xfrm>
            <a:off x="644992" y="4193741"/>
            <a:ext cx="3482431" cy="1829603"/>
          </a:xfrm>
          <a:prstGeom prst="roundRect">
            <a:avLst>
              <a:gd name="adj" fmla="val 3281"/>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11" name="Content Placeholder 2">
            <a:extLst>
              <a:ext uri="{FF2B5EF4-FFF2-40B4-BE49-F238E27FC236}">
                <a16:creationId xmlns:a16="http://schemas.microsoft.com/office/drawing/2014/main" id="{FFFA134C-D487-5627-C6A9-37D61A3D981A}"/>
              </a:ext>
            </a:extLst>
          </p:cNvPr>
          <p:cNvSpPr txBox="1">
            <a:spLocks/>
          </p:cNvSpPr>
          <p:nvPr/>
        </p:nvSpPr>
        <p:spPr>
          <a:xfrm>
            <a:off x="1217161" y="4900990"/>
            <a:ext cx="2536758" cy="38963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sz="1500" spc="0">
                <a:ln>
                  <a:noFill/>
                </a:ln>
                <a:solidFill>
                  <a:schemeClr val="tx1"/>
                </a:solidFill>
                <a:latin typeface="Segoe Sans Text" pitchFamily="2" charset="0"/>
                <a:cs typeface="Segoe Sans Text" pitchFamily="2" charset="0"/>
              </a:rPr>
              <a:t>How does your customer monitor development, scaling, and risk indicators to ensure smooth, adaptive real-time GenAI application performance?</a:t>
            </a:r>
            <a:endParaRPr lang="en-GB" sz="1500" spc="0">
              <a:ln>
                <a:noFill/>
              </a:ln>
              <a:solidFill>
                <a:schemeClr val="tx1"/>
              </a:solidFill>
              <a:latin typeface="Segoe Sans Text" pitchFamily="2" charset="0"/>
              <a:cs typeface="Segoe Sans Text" pitchFamily="2" charset="0"/>
            </a:endParaRPr>
          </a:p>
        </p:txBody>
      </p:sp>
      <p:sp>
        <p:nvSpPr>
          <p:cNvPr id="12" name="Rectangle: Rounded Corners 11">
            <a:extLst>
              <a:ext uri="{FF2B5EF4-FFF2-40B4-BE49-F238E27FC236}">
                <a16:creationId xmlns:a16="http://schemas.microsoft.com/office/drawing/2014/main" id="{B6934C59-8A67-3E87-1B2B-AE2FB8372FDC}"/>
              </a:ext>
            </a:extLst>
          </p:cNvPr>
          <p:cNvSpPr>
            <a:spLocks/>
          </p:cNvSpPr>
          <p:nvPr/>
        </p:nvSpPr>
        <p:spPr bwMode="auto">
          <a:xfrm>
            <a:off x="4666019" y="4193741"/>
            <a:ext cx="3316036" cy="1829603"/>
          </a:xfrm>
          <a:prstGeom prst="roundRect">
            <a:avLst>
              <a:gd name="adj" fmla="val 3281"/>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13" name="Content Placeholder 2">
            <a:extLst>
              <a:ext uri="{FF2B5EF4-FFF2-40B4-BE49-F238E27FC236}">
                <a16:creationId xmlns:a16="http://schemas.microsoft.com/office/drawing/2014/main" id="{39853E2A-FADB-473C-52FD-AEBE4BAAC628}"/>
              </a:ext>
            </a:extLst>
          </p:cNvPr>
          <p:cNvSpPr txBox="1">
            <a:spLocks/>
          </p:cNvSpPr>
          <p:nvPr/>
        </p:nvSpPr>
        <p:spPr>
          <a:xfrm>
            <a:off x="5455429" y="4855524"/>
            <a:ext cx="2284138" cy="38650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sz="1500" spc="0">
                <a:ln>
                  <a:noFill/>
                </a:ln>
                <a:solidFill>
                  <a:schemeClr val="tx1"/>
                </a:solidFill>
                <a:latin typeface="Segoe Sans Text" pitchFamily="2" charset="0"/>
                <a:cs typeface="Segoe Sans Text" pitchFamily="2" charset="0"/>
              </a:rPr>
              <a:t>Has your customer already built DevOps or </a:t>
            </a:r>
            <a:r>
              <a:rPr lang="en-US" sz="1500" spc="0" err="1">
                <a:ln>
                  <a:noFill/>
                </a:ln>
                <a:solidFill>
                  <a:schemeClr val="tx1"/>
                </a:solidFill>
                <a:latin typeface="Segoe Sans Text" pitchFamily="2" charset="0"/>
                <a:cs typeface="Segoe Sans Text" pitchFamily="2" charset="0"/>
              </a:rPr>
              <a:t>MLOps</a:t>
            </a:r>
            <a:r>
              <a:rPr lang="en-US" sz="1500" spc="0">
                <a:ln>
                  <a:noFill/>
                </a:ln>
                <a:solidFill>
                  <a:schemeClr val="tx1"/>
                </a:solidFill>
                <a:latin typeface="Segoe Sans Text" pitchFamily="2" charset="0"/>
                <a:cs typeface="Segoe Sans Text" pitchFamily="2" charset="0"/>
              </a:rPr>
              <a:t> and can you use your existing Ops for GenAI solutions?</a:t>
            </a:r>
            <a:endParaRPr lang="en-GB" sz="1500" spc="0">
              <a:ln>
                <a:noFill/>
              </a:ln>
              <a:solidFill>
                <a:schemeClr val="tx1"/>
              </a:solidFill>
              <a:latin typeface="Segoe Sans Text" pitchFamily="2" charset="0"/>
              <a:cs typeface="Segoe Sans Text" pitchFamily="2" charset="0"/>
            </a:endParaRPr>
          </a:p>
        </p:txBody>
      </p:sp>
      <p:sp>
        <p:nvSpPr>
          <p:cNvPr id="14" name="Content Placeholder 2">
            <a:extLst>
              <a:ext uri="{FF2B5EF4-FFF2-40B4-BE49-F238E27FC236}">
                <a16:creationId xmlns:a16="http://schemas.microsoft.com/office/drawing/2014/main" id="{520A5951-3AC9-1EBD-D945-00BD54C8A301}"/>
              </a:ext>
            </a:extLst>
          </p:cNvPr>
          <p:cNvSpPr txBox="1">
            <a:spLocks/>
          </p:cNvSpPr>
          <p:nvPr/>
        </p:nvSpPr>
        <p:spPr>
          <a:xfrm>
            <a:off x="5377745" y="2550946"/>
            <a:ext cx="2604310" cy="385344"/>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sz="1500" spc="0">
                <a:ln>
                  <a:noFill/>
                </a:ln>
                <a:solidFill>
                  <a:schemeClr val="tx1"/>
                </a:solidFill>
                <a:latin typeface="Segoe Sans Text" pitchFamily="2" charset="0"/>
                <a:cs typeface="Segoe Sans Text" pitchFamily="2" charset="0"/>
              </a:rPr>
              <a:t>How does your customer address organizational silos to ensure alignment, collaboration, and             quick problem resolution, including troubleshooting and postmortems?</a:t>
            </a:r>
            <a:endParaRPr lang="en-GB" sz="1500" spc="0">
              <a:ln>
                <a:noFill/>
              </a:ln>
              <a:solidFill>
                <a:schemeClr val="tx1"/>
              </a:solidFill>
              <a:latin typeface="Segoe Sans Text" pitchFamily="2" charset="0"/>
              <a:cs typeface="Segoe Sans Text" pitchFamily="2" charset="0"/>
            </a:endParaRPr>
          </a:p>
        </p:txBody>
      </p:sp>
      <p:sp>
        <p:nvSpPr>
          <p:cNvPr id="15" name="Rectangle: Rounded Corners 14">
            <a:extLst>
              <a:ext uri="{FF2B5EF4-FFF2-40B4-BE49-F238E27FC236}">
                <a16:creationId xmlns:a16="http://schemas.microsoft.com/office/drawing/2014/main" id="{E0313C08-E0CF-437C-8288-D116F07BBBB3}"/>
              </a:ext>
            </a:extLst>
          </p:cNvPr>
          <p:cNvSpPr>
            <a:spLocks/>
          </p:cNvSpPr>
          <p:nvPr/>
        </p:nvSpPr>
        <p:spPr bwMode="auto">
          <a:xfrm>
            <a:off x="8652855" y="1825234"/>
            <a:ext cx="2957335" cy="1829603"/>
          </a:xfrm>
          <a:prstGeom prst="roundRect">
            <a:avLst>
              <a:gd name="adj" fmla="val 3281"/>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16" name="Content Placeholder 2">
            <a:extLst>
              <a:ext uri="{FF2B5EF4-FFF2-40B4-BE49-F238E27FC236}">
                <a16:creationId xmlns:a16="http://schemas.microsoft.com/office/drawing/2014/main" id="{B5C150C1-05C8-82D1-88A2-CD814FE40EE2}"/>
              </a:ext>
            </a:extLst>
          </p:cNvPr>
          <p:cNvSpPr txBox="1">
            <a:spLocks/>
          </p:cNvSpPr>
          <p:nvPr/>
        </p:nvSpPr>
        <p:spPr>
          <a:xfrm>
            <a:off x="9255338" y="2502172"/>
            <a:ext cx="2274021" cy="38650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sz="1500" spc="0">
                <a:ln>
                  <a:noFill/>
                </a:ln>
                <a:solidFill>
                  <a:schemeClr val="tx1"/>
                </a:solidFill>
                <a:latin typeface="Segoe Sans Text" pitchFamily="2" charset="0"/>
                <a:cs typeface="Segoe Sans Text" pitchFamily="2" charset="0"/>
              </a:rPr>
              <a:t>Does your customer have concerns about privacy, security and grounding?</a:t>
            </a:r>
            <a:endParaRPr lang="en-GB" sz="1500" spc="0">
              <a:ln>
                <a:noFill/>
              </a:ln>
              <a:solidFill>
                <a:schemeClr val="tx1"/>
              </a:solidFill>
              <a:latin typeface="Segoe Sans Text" pitchFamily="2" charset="0"/>
              <a:cs typeface="Segoe Sans Text" pitchFamily="2" charset="0"/>
            </a:endParaRPr>
          </a:p>
        </p:txBody>
      </p:sp>
      <p:sp>
        <p:nvSpPr>
          <p:cNvPr id="22" name="Rectangle: Rounded Corners 21">
            <a:extLst>
              <a:ext uri="{FF2B5EF4-FFF2-40B4-BE49-F238E27FC236}">
                <a16:creationId xmlns:a16="http://schemas.microsoft.com/office/drawing/2014/main" id="{FC6CC513-2CDC-592D-E18E-E9C3DFF4AE3F}"/>
              </a:ext>
            </a:extLst>
          </p:cNvPr>
          <p:cNvSpPr>
            <a:spLocks/>
          </p:cNvSpPr>
          <p:nvPr/>
        </p:nvSpPr>
        <p:spPr bwMode="auto">
          <a:xfrm>
            <a:off x="8709267" y="4074186"/>
            <a:ext cx="2957335" cy="1829603"/>
          </a:xfrm>
          <a:prstGeom prst="roundRect">
            <a:avLst>
              <a:gd name="adj" fmla="val 3281"/>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23" name="Content Placeholder 2">
            <a:extLst>
              <a:ext uri="{FF2B5EF4-FFF2-40B4-BE49-F238E27FC236}">
                <a16:creationId xmlns:a16="http://schemas.microsoft.com/office/drawing/2014/main" id="{D150BF99-AECF-20B4-EFBC-493DFEADD54B}"/>
              </a:ext>
            </a:extLst>
          </p:cNvPr>
          <p:cNvSpPr txBox="1">
            <a:spLocks/>
          </p:cNvSpPr>
          <p:nvPr/>
        </p:nvSpPr>
        <p:spPr>
          <a:xfrm>
            <a:off x="9291542" y="4837010"/>
            <a:ext cx="2274021" cy="38650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sz="1500" spc="0">
                <a:ln>
                  <a:noFill/>
                </a:ln>
                <a:solidFill>
                  <a:schemeClr val="tx1"/>
                </a:solidFill>
                <a:latin typeface="Segoe Sans Text" pitchFamily="2" charset="0"/>
                <a:cs typeface="Segoe Sans Text" pitchFamily="2" charset="0"/>
              </a:rPr>
              <a:t>Do developers lack the experience and tools to evaluate, improve and validate the solution for POCs to scale and operate in prod?</a:t>
            </a:r>
            <a:endParaRPr lang="en-GB" sz="1500" spc="0">
              <a:ln>
                <a:noFill/>
              </a:ln>
              <a:solidFill>
                <a:schemeClr val="tx1"/>
              </a:solidFill>
              <a:latin typeface="Segoe Sans Text" pitchFamily="2" charset="0"/>
              <a:cs typeface="Segoe Sans Text" pitchFamily="2" charset="0"/>
            </a:endParaRPr>
          </a:p>
        </p:txBody>
      </p:sp>
      <p:grpSp>
        <p:nvGrpSpPr>
          <p:cNvPr id="24" name="Group 23">
            <a:extLst>
              <a:ext uri="{FF2B5EF4-FFF2-40B4-BE49-F238E27FC236}">
                <a16:creationId xmlns:a16="http://schemas.microsoft.com/office/drawing/2014/main" id="{AD65E23D-AC93-F156-796B-A033DDC349A0}"/>
              </a:ext>
            </a:extLst>
          </p:cNvPr>
          <p:cNvGrpSpPr/>
          <p:nvPr/>
        </p:nvGrpSpPr>
        <p:grpSpPr>
          <a:xfrm>
            <a:off x="345868" y="4613257"/>
            <a:ext cx="827024" cy="788949"/>
            <a:chOff x="1600003" y="1811018"/>
            <a:chExt cx="1641521" cy="1641995"/>
          </a:xfrm>
        </p:grpSpPr>
        <p:sp>
          <p:nvSpPr>
            <p:cNvPr id="25" name="Oval 17">
              <a:extLst>
                <a:ext uri="{FF2B5EF4-FFF2-40B4-BE49-F238E27FC236}">
                  <a16:creationId xmlns:a16="http://schemas.microsoft.com/office/drawing/2014/main" id="{1D86CD89-26E4-5BDD-82E6-F42571C47AD1}"/>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26" name="Group 25">
              <a:extLst>
                <a:ext uri="{FF2B5EF4-FFF2-40B4-BE49-F238E27FC236}">
                  <a16:creationId xmlns:a16="http://schemas.microsoft.com/office/drawing/2014/main" id="{28C95FBE-467F-A1EA-DAC4-BAF4F3F74454}"/>
                </a:ext>
              </a:extLst>
            </p:cNvPr>
            <p:cNvGrpSpPr/>
            <p:nvPr/>
          </p:nvGrpSpPr>
          <p:grpSpPr>
            <a:xfrm>
              <a:off x="1714608" y="1927185"/>
              <a:ext cx="1412311" cy="1409652"/>
              <a:chOff x="1261672" y="4833938"/>
              <a:chExt cx="954296" cy="954302"/>
            </a:xfrm>
          </p:grpSpPr>
          <p:sp>
            <p:nvSpPr>
              <p:cNvPr id="27" name="Rectangle: Rounded Corners 26">
                <a:extLst>
                  <a:ext uri="{FF2B5EF4-FFF2-40B4-BE49-F238E27FC236}">
                    <a16:creationId xmlns:a16="http://schemas.microsoft.com/office/drawing/2014/main" id="{34A15E20-F5CA-36EC-5747-F9613B447259}"/>
                  </a:ext>
                </a:extLst>
              </p:cNvPr>
              <p:cNvSpPr/>
              <p:nvPr userDrawn="1"/>
            </p:nvSpPr>
            <p:spPr bwMode="auto">
              <a:xfrm>
                <a:off x="1261672" y="4833944"/>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8" name="Rectangle: Rounded Corners 27">
                <a:extLst>
                  <a:ext uri="{FF2B5EF4-FFF2-40B4-BE49-F238E27FC236}">
                    <a16:creationId xmlns:a16="http://schemas.microsoft.com/office/drawing/2014/main" id="{D453576F-B980-3184-D037-86A83DB7A20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29" name="Group 28">
            <a:extLst>
              <a:ext uri="{FF2B5EF4-FFF2-40B4-BE49-F238E27FC236}">
                <a16:creationId xmlns:a16="http://schemas.microsoft.com/office/drawing/2014/main" id="{357A5C62-2397-9152-9556-263DE113ECA4}"/>
              </a:ext>
            </a:extLst>
          </p:cNvPr>
          <p:cNvGrpSpPr/>
          <p:nvPr/>
        </p:nvGrpSpPr>
        <p:grpSpPr>
          <a:xfrm>
            <a:off x="336607" y="2371041"/>
            <a:ext cx="827024" cy="788949"/>
            <a:chOff x="1600003" y="1811018"/>
            <a:chExt cx="1641521" cy="1641995"/>
          </a:xfrm>
        </p:grpSpPr>
        <p:sp>
          <p:nvSpPr>
            <p:cNvPr id="30" name="Oval 17">
              <a:extLst>
                <a:ext uri="{FF2B5EF4-FFF2-40B4-BE49-F238E27FC236}">
                  <a16:creationId xmlns:a16="http://schemas.microsoft.com/office/drawing/2014/main" id="{26CA2450-64D3-2F3F-68BA-54FCFE86A3FB}"/>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31" name="Group 30">
              <a:extLst>
                <a:ext uri="{FF2B5EF4-FFF2-40B4-BE49-F238E27FC236}">
                  <a16:creationId xmlns:a16="http://schemas.microsoft.com/office/drawing/2014/main" id="{FEE6E53F-1E0D-6FD9-0C61-664B9EBEB0A6}"/>
                </a:ext>
              </a:extLst>
            </p:cNvPr>
            <p:cNvGrpSpPr/>
            <p:nvPr/>
          </p:nvGrpSpPr>
          <p:grpSpPr>
            <a:xfrm>
              <a:off x="1714608" y="1927185"/>
              <a:ext cx="1412311" cy="1409652"/>
              <a:chOff x="1261672" y="4833938"/>
              <a:chExt cx="954296" cy="954302"/>
            </a:xfrm>
          </p:grpSpPr>
          <p:sp>
            <p:nvSpPr>
              <p:cNvPr id="32" name="Rectangle: Rounded Corners 31">
                <a:extLst>
                  <a:ext uri="{FF2B5EF4-FFF2-40B4-BE49-F238E27FC236}">
                    <a16:creationId xmlns:a16="http://schemas.microsoft.com/office/drawing/2014/main" id="{40841764-D294-E23B-CE11-D555B7365D92}"/>
                  </a:ext>
                </a:extLst>
              </p:cNvPr>
              <p:cNvSpPr/>
              <p:nvPr userDrawn="1"/>
            </p:nvSpPr>
            <p:spPr bwMode="auto">
              <a:xfrm>
                <a:off x="1261672" y="4833944"/>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33" name="Rectangle: Rounded Corners 32">
                <a:extLst>
                  <a:ext uri="{FF2B5EF4-FFF2-40B4-BE49-F238E27FC236}">
                    <a16:creationId xmlns:a16="http://schemas.microsoft.com/office/drawing/2014/main" id="{734545C6-4A8F-2BDC-8F4E-C6D502E4DC53}"/>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34" name="Group 33">
            <a:extLst>
              <a:ext uri="{FF2B5EF4-FFF2-40B4-BE49-F238E27FC236}">
                <a16:creationId xmlns:a16="http://schemas.microsoft.com/office/drawing/2014/main" id="{8DC5FCEF-1AB0-0086-7CB1-A26D3D86CE46}"/>
              </a:ext>
            </a:extLst>
          </p:cNvPr>
          <p:cNvGrpSpPr/>
          <p:nvPr/>
        </p:nvGrpSpPr>
        <p:grpSpPr>
          <a:xfrm>
            <a:off x="4332686" y="2305364"/>
            <a:ext cx="827024" cy="788949"/>
            <a:chOff x="1600003" y="1811018"/>
            <a:chExt cx="1641521" cy="1641995"/>
          </a:xfrm>
        </p:grpSpPr>
        <p:sp>
          <p:nvSpPr>
            <p:cNvPr id="35" name="Oval 17">
              <a:extLst>
                <a:ext uri="{FF2B5EF4-FFF2-40B4-BE49-F238E27FC236}">
                  <a16:creationId xmlns:a16="http://schemas.microsoft.com/office/drawing/2014/main" id="{71D6A40F-187D-F5D3-FF1B-FBDD46DC589D}"/>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36" name="Group 35">
              <a:extLst>
                <a:ext uri="{FF2B5EF4-FFF2-40B4-BE49-F238E27FC236}">
                  <a16:creationId xmlns:a16="http://schemas.microsoft.com/office/drawing/2014/main" id="{7565365B-0CF6-D851-2AEF-C2FC8A37596F}"/>
                </a:ext>
              </a:extLst>
            </p:cNvPr>
            <p:cNvGrpSpPr/>
            <p:nvPr/>
          </p:nvGrpSpPr>
          <p:grpSpPr>
            <a:xfrm>
              <a:off x="1714608" y="1927181"/>
              <a:ext cx="1412311" cy="1409665"/>
              <a:chOff x="1261672" y="4833938"/>
              <a:chExt cx="954296" cy="954311"/>
            </a:xfrm>
          </p:grpSpPr>
          <p:sp>
            <p:nvSpPr>
              <p:cNvPr id="37" name="Rectangle: Rounded Corners 36">
                <a:extLst>
                  <a:ext uri="{FF2B5EF4-FFF2-40B4-BE49-F238E27FC236}">
                    <a16:creationId xmlns:a16="http://schemas.microsoft.com/office/drawing/2014/main" id="{E07387C9-2D11-CFAB-DA5F-B96C80037341}"/>
                  </a:ext>
                </a:extLst>
              </p:cNvPr>
              <p:cNvSpPr/>
              <p:nvPr userDrawn="1"/>
            </p:nvSpPr>
            <p:spPr bwMode="auto">
              <a:xfrm>
                <a:off x="1261672" y="4833949"/>
                <a:ext cx="954296" cy="954300"/>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38" name="Rectangle: Rounded Corners 37">
                <a:extLst>
                  <a:ext uri="{FF2B5EF4-FFF2-40B4-BE49-F238E27FC236}">
                    <a16:creationId xmlns:a16="http://schemas.microsoft.com/office/drawing/2014/main" id="{9C732464-3536-351D-BC48-C77F0A5B0A0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39" name="Group 38">
            <a:extLst>
              <a:ext uri="{FF2B5EF4-FFF2-40B4-BE49-F238E27FC236}">
                <a16:creationId xmlns:a16="http://schemas.microsoft.com/office/drawing/2014/main" id="{4C0C8505-AFCB-44D5-1EC0-C811AD041CC5}"/>
              </a:ext>
            </a:extLst>
          </p:cNvPr>
          <p:cNvGrpSpPr/>
          <p:nvPr/>
        </p:nvGrpSpPr>
        <p:grpSpPr>
          <a:xfrm>
            <a:off x="4423621" y="4598943"/>
            <a:ext cx="827024" cy="788949"/>
            <a:chOff x="1600003" y="1811018"/>
            <a:chExt cx="1641521" cy="1641995"/>
          </a:xfrm>
        </p:grpSpPr>
        <p:sp>
          <p:nvSpPr>
            <p:cNvPr id="40" name="Oval 17">
              <a:extLst>
                <a:ext uri="{FF2B5EF4-FFF2-40B4-BE49-F238E27FC236}">
                  <a16:creationId xmlns:a16="http://schemas.microsoft.com/office/drawing/2014/main" id="{3B60DE01-5798-AAFA-5152-4BAA43CC91D9}"/>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41" name="Group 40">
              <a:extLst>
                <a:ext uri="{FF2B5EF4-FFF2-40B4-BE49-F238E27FC236}">
                  <a16:creationId xmlns:a16="http://schemas.microsoft.com/office/drawing/2014/main" id="{401AB0E7-60A9-899F-C738-12A8D7A75774}"/>
                </a:ext>
              </a:extLst>
            </p:cNvPr>
            <p:cNvGrpSpPr/>
            <p:nvPr/>
          </p:nvGrpSpPr>
          <p:grpSpPr>
            <a:xfrm>
              <a:off x="1714608" y="1927185"/>
              <a:ext cx="1412311" cy="1409652"/>
              <a:chOff x="1261672" y="4833938"/>
              <a:chExt cx="954296" cy="954302"/>
            </a:xfrm>
          </p:grpSpPr>
          <p:sp>
            <p:nvSpPr>
              <p:cNvPr id="42" name="Rectangle: Rounded Corners 41">
                <a:extLst>
                  <a:ext uri="{FF2B5EF4-FFF2-40B4-BE49-F238E27FC236}">
                    <a16:creationId xmlns:a16="http://schemas.microsoft.com/office/drawing/2014/main" id="{74017AFC-D4F7-1EEE-3E21-4A0143276212}"/>
                  </a:ext>
                </a:extLst>
              </p:cNvPr>
              <p:cNvSpPr/>
              <p:nvPr userDrawn="1"/>
            </p:nvSpPr>
            <p:spPr bwMode="auto">
              <a:xfrm>
                <a:off x="1261672" y="4833944"/>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43" name="Rectangle: Rounded Corners 42">
                <a:extLst>
                  <a:ext uri="{FF2B5EF4-FFF2-40B4-BE49-F238E27FC236}">
                    <a16:creationId xmlns:a16="http://schemas.microsoft.com/office/drawing/2014/main" id="{3B49442B-1BB0-0CAE-4F00-A62AAB3D6026}"/>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44" name="Group 43">
            <a:extLst>
              <a:ext uri="{FF2B5EF4-FFF2-40B4-BE49-F238E27FC236}">
                <a16:creationId xmlns:a16="http://schemas.microsoft.com/office/drawing/2014/main" id="{6DA7B05A-D8AB-AFC6-FF22-25DCBAD290BB}"/>
              </a:ext>
            </a:extLst>
          </p:cNvPr>
          <p:cNvGrpSpPr/>
          <p:nvPr/>
        </p:nvGrpSpPr>
        <p:grpSpPr>
          <a:xfrm>
            <a:off x="8298452" y="4609047"/>
            <a:ext cx="827024" cy="788949"/>
            <a:chOff x="1600003" y="1811018"/>
            <a:chExt cx="1641521" cy="1641995"/>
          </a:xfrm>
        </p:grpSpPr>
        <p:sp>
          <p:nvSpPr>
            <p:cNvPr id="45" name="Oval 17">
              <a:extLst>
                <a:ext uri="{FF2B5EF4-FFF2-40B4-BE49-F238E27FC236}">
                  <a16:creationId xmlns:a16="http://schemas.microsoft.com/office/drawing/2014/main" id="{F8DA686B-51AB-FC03-F0C3-F23AB68DE210}"/>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46" name="Group 45">
              <a:extLst>
                <a:ext uri="{FF2B5EF4-FFF2-40B4-BE49-F238E27FC236}">
                  <a16:creationId xmlns:a16="http://schemas.microsoft.com/office/drawing/2014/main" id="{6413A35C-2CC4-DE15-D49C-43CF4C864156}"/>
                </a:ext>
              </a:extLst>
            </p:cNvPr>
            <p:cNvGrpSpPr/>
            <p:nvPr/>
          </p:nvGrpSpPr>
          <p:grpSpPr>
            <a:xfrm>
              <a:off x="1714608" y="1927185"/>
              <a:ext cx="1412311" cy="1409652"/>
              <a:chOff x="1261672" y="4833938"/>
              <a:chExt cx="954296" cy="954302"/>
            </a:xfrm>
          </p:grpSpPr>
          <p:sp>
            <p:nvSpPr>
              <p:cNvPr id="47" name="Rectangle: Rounded Corners 46">
                <a:extLst>
                  <a:ext uri="{FF2B5EF4-FFF2-40B4-BE49-F238E27FC236}">
                    <a16:creationId xmlns:a16="http://schemas.microsoft.com/office/drawing/2014/main" id="{C87676D4-00E8-FCC9-25BB-38DAA8B128E1}"/>
                  </a:ext>
                </a:extLst>
              </p:cNvPr>
              <p:cNvSpPr/>
              <p:nvPr userDrawn="1"/>
            </p:nvSpPr>
            <p:spPr bwMode="auto">
              <a:xfrm>
                <a:off x="1261672" y="4833944"/>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48" name="Rectangle: Rounded Corners 47">
                <a:extLst>
                  <a:ext uri="{FF2B5EF4-FFF2-40B4-BE49-F238E27FC236}">
                    <a16:creationId xmlns:a16="http://schemas.microsoft.com/office/drawing/2014/main" id="{4274C08C-323A-868A-894A-F73CD73957DA}"/>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49" name="Group 48">
            <a:extLst>
              <a:ext uri="{FF2B5EF4-FFF2-40B4-BE49-F238E27FC236}">
                <a16:creationId xmlns:a16="http://schemas.microsoft.com/office/drawing/2014/main" id="{83A3B174-5CF1-8269-B558-6FF584EC7B28}"/>
              </a:ext>
            </a:extLst>
          </p:cNvPr>
          <p:cNvGrpSpPr/>
          <p:nvPr/>
        </p:nvGrpSpPr>
        <p:grpSpPr>
          <a:xfrm>
            <a:off x="336607" y="2371041"/>
            <a:ext cx="827024" cy="788949"/>
            <a:chOff x="1600003" y="1811018"/>
            <a:chExt cx="1641521" cy="1641995"/>
          </a:xfrm>
        </p:grpSpPr>
        <p:sp>
          <p:nvSpPr>
            <p:cNvPr id="50" name="Oval 17">
              <a:extLst>
                <a:ext uri="{FF2B5EF4-FFF2-40B4-BE49-F238E27FC236}">
                  <a16:creationId xmlns:a16="http://schemas.microsoft.com/office/drawing/2014/main" id="{864BF7EA-D0A9-FDF9-D57F-F4FCAC127F4E}"/>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51" name="Group 50">
              <a:extLst>
                <a:ext uri="{FF2B5EF4-FFF2-40B4-BE49-F238E27FC236}">
                  <a16:creationId xmlns:a16="http://schemas.microsoft.com/office/drawing/2014/main" id="{321647FE-26E1-8469-9A1F-58572A36E3FD}"/>
                </a:ext>
              </a:extLst>
            </p:cNvPr>
            <p:cNvGrpSpPr/>
            <p:nvPr/>
          </p:nvGrpSpPr>
          <p:grpSpPr>
            <a:xfrm>
              <a:off x="1714608" y="1927185"/>
              <a:ext cx="1412311" cy="1409652"/>
              <a:chOff x="1261672" y="4833938"/>
              <a:chExt cx="954296" cy="954302"/>
            </a:xfrm>
          </p:grpSpPr>
          <p:sp>
            <p:nvSpPr>
              <p:cNvPr id="52" name="Rectangle: Rounded Corners 51">
                <a:extLst>
                  <a:ext uri="{FF2B5EF4-FFF2-40B4-BE49-F238E27FC236}">
                    <a16:creationId xmlns:a16="http://schemas.microsoft.com/office/drawing/2014/main" id="{7B212EAD-BE69-6C71-6EC0-7D6026484228}"/>
                  </a:ext>
                </a:extLst>
              </p:cNvPr>
              <p:cNvSpPr/>
              <p:nvPr userDrawn="1"/>
            </p:nvSpPr>
            <p:spPr bwMode="auto">
              <a:xfrm>
                <a:off x="1261672" y="4833944"/>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53" name="Rectangle: Rounded Corners 52">
                <a:extLst>
                  <a:ext uri="{FF2B5EF4-FFF2-40B4-BE49-F238E27FC236}">
                    <a16:creationId xmlns:a16="http://schemas.microsoft.com/office/drawing/2014/main" id="{CE56D4F3-DEDD-894C-A746-5A2B0EA0395A}"/>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54" name="Graphic 4">
            <a:extLst>
              <a:ext uri="{FF2B5EF4-FFF2-40B4-BE49-F238E27FC236}">
                <a16:creationId xmlns:a16="http://schemas.microsoft.com/office/drawing/2014/main" id="{1AF7CDAD-F02A-F7DB-426A-BF3065C28874}"/>
              </a:ext>
            </a:extLst>
          </p:cNvPr>
          <p:cNvSpPr/>
          <p:nvPr/>
        </p:nvSpPr>
        <p:spPr>
          <a:xfrm>
            <a:off x="531215" y="2497731"/>
            <a:ext cx="487580" cy="491674"/>
          </a:xfrm>
          <a:custGeom>
            <a:avLst/>
            <a:gdLst>
              <a:gd name="connsiteX0" fmla="*/ 466487 w 546534"/>
              <a:gd name="connsiteY0" fmla="*/ 80002 h 562327"/>
              <a:gd name="connsiteX1" fmla="*/ 80009 w 546534"/>
              <a:gd name="connsiteY1" fmla="*/ 80083 h 562327"/>
              <a:gd name="connsiteX2" fmla="*/ 34809 w 546534"/>
              <a:gd name="connsiteY2" fmla="*/ 406737 h 562327"/>
              <a:gd name="connsiteX3" fmla="*/ 11568 w 546534"/>
              <a:gd name="connsiteY3" fmla="*/ 541773 h 562327"/>
              <a:gd name="connsiteX4" fmla="*/ 25907 w 546534"/>
              <a:gd name="connsiteY4" fmla="*/ 562073 h 562327"/>
              <a:gd name="connsiteX5" fmla="*/ 34963 w 546534"/>
              <a:gd name="connsiteY5" fmla="*/ 561243 h 562327"/>
              <a:gd name="connsiteX6" fmla="*/ 151939 w 546534"/>
              <a:gd name="connsiteY6" fmla="*/ 518122 h 562327"/>
              <a:gd name="connsiteX7" fmla="*/ 518128 w 546534"/>
              <a:gd name="connsiteY7" fmla="*/ 394546 h 562327"/>
              <a:gd name="connsiteX8" fmla="*/ 466487 w 546534"/>
              <a:gd name="connsiteY8" fmla="*/ 80002 h 562327"/>
              <a:gd name="connsiteX9" fmla="*/ 273263 w 546534"/>
              <a:gd name="connsiteY9" fmla="*/ 511338 h 562327"/>
              <a:gd name="connsiteX10" fmla="*/ 161382 w 546534"/>
              <a:gd name="connsiteY10" fmla="*/ 483455 h 562327"/>
              <a:gd name="connsiteX11" fmla="*/ 147032 w 546534"/>
              <a:gd name="connsiteY11" fmla="*/ 482472 h 562327"/>
              <a:gd name="connsiteX12" fmla="*/ 51370 w 546534"/>
              <a:gd name="connsiteY12" fmla="*/ 517734 h 562327"/>
              <a:gd name="connsiteX13" fmla="*/ 70523 w 546534"/>
              <a:gd name="connsiteY13" fmla="*/ 406437 h 562327"/>
              <a:gd name="connsiteX14" fmla="*/ 68317 w 546534"/>
              <a:gd name="connsiteY14" fmla="*/ 394498 h 562327"/>
              <a:gd name="connsiteX15" fmla="*/ 35147 w 546534"/>
              <a:gd name="connsiteY15" fmla="*/ 273232 h 562327"/>
              <a:gd name="connsiteX16" fmla="*/ 273263 w 546534"/>
              <a:gd name="connsiteY16" fmla="*/ 35113 h 562327"/>
              <a:gd name="connsiteX17" fmla="*/ 511376 w 546534"/>
              <a:gd name="connsiteY17" fmla="*/ 273226 h 562327"/>
              <a:gd name="connsiteX18" fmla="*/ 273263 w 546534"/>
              <a:gd name="connsiteY18" fmla="*/ 511338 h 562327"/>
              <a:gd name="connsiteX19" fmla="*/ 337779 w 546534"/>
              <a:gd name="connsiteY19" fmla="*/ 163852 h 562327"/>
              <a:gd name="connsiteX20" fmla="*/ 337779 w 546534"/>
              <a:gd name="connsiteY20" fmla="*/ 292887 h 562327"/>
              <a:gd name="connsiteX21" fmla="*/ 296185 w 546534"/>
              <a:gd name="connsiteY21" fmla="*/ 334483 h 562327"/>
              <a:gd name="connsiteX22" fmla="*/ 290837 w 546534"/>
              <a:gd name="connsiteY22" fmla="*/ 347399 h 562327"/>
              <a:gd name="connsiteX23" fmla="*/ 290837 w 546534"/>
              <a:gd name="connsiteY23" fmla="*/ 365851 h 562327"/>
              <a:gd name="connsiteX24" fmla="*/ 273263 w 546534"/>
              <a:gd name="connsiteY24" fmla="*/ 383425 h 562327"/>
              <a:gd name="connsiteX25" fmla="*/ 255689 w 546534"/>
              <a:gd name="connsiteY25" fmla="*/ 365851 h 562327"/>
              <a:gd name="connsiteX26" fmla="*/ 255689 w 546534"/>
              <a:gd name="connsiteY26" fmla="*/ 347399 h 562327"/>
              <a:gd name="connsiteX27" fmla="*/ 271334 w 546534"/>
              <a:gd name="connsiteY27" fmla="*/ 309630 h 562327"/>
              <a:gd name="connsiteX28" fmla="*/ 312928 w 546534"/>
              <a:gd name="connsiteY28" fmla="*/ 268035 h 562327"/>
              <a:gd name="connsiteX29" fmla="*/ 313053 w 546534"/>
              <a:gd name="connsiteY29" fmla="*/ 188704 h 562327"/>
              <a:gd name="connsiteX30" fmla="*/ 233722 w 546534"/>
              <a:gd name="connsiteY30" fmla="*/ 188580 h 562327"/>
              <a:gd name="connsiteX31" fmla="*/ 218475 w 546534"/>
              <a:gd name="connsiteY31" fmla="*/ 240061 h 562327"/>
              <a:gd name="connsiteX32" fmla="*/ 204886 w 546534"/>
              <a:gd name="connsiteY32" fmla="*/ 260871 h 562327"/>
              <a:gd name="connsiteX33" fmla="*/ 184076 w 546534"/>
              <a:gd name="connsiteY33" fmla="*/ 247282 h 562327"/>
              <a:gd name="connsiteX34" fmla="*/ 254528 w 546534"/>
              <a:gd name="connsiteY34" fmla="*/ 139180 h 562327"/>
              <a:gd name="connsiteX35" fmla="*/ 337781 w 546534"/>
              <a:gd name="connsiteY35" fmla="*/ 163852 h 562327"/>
              <a:gd name="connsiteX36" fmla="*/ 290711 w 546534"/>
              <a:gd name="connsiteY36" fmla="*/ 407481 h 562327"/>
              <a:gd name="connsiteX37" fmla="*/ 290711 w 546534"/>
              <a:gd name="connsiteY37" fmla="*/ 407503 h 562327"/>
              <a:gd name="connsiteX38" fmla="*/ 273126 w 546534"/>
              <a:gd name="connsiteY38" fmla="*/ 425066 h 562327"/>
              <a:gd name="connsiteX39" fmla="*/ 255563 w 546534"/>
              <a:gd name="connsiteY39" fmla="*/ 407481 h 562327"/>
              <a:gd name="connsiteX40" fmla="*/ 273148 w 546534"/>
              <a:gd name="connsiteY40" fmla="*/ 389919 h 562327"/>
              <a:gd name="connsiteX41" fmla="*/ 290711 w 546534"/>
              <a:gd name="connsiteY41" fmla="*/ 407481 h 5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534" h="562327">
                <a:moveTo>
                  <a:pt x="466487" y="80002"/>
                </a:moveTo>
                <a:cubicBezTo>
                  <a:pt x="359742" y="-26699"/>
                  <a:pt x="186710" y="-26663"/>
                  <a:pt x="80009" y="80083"/>
                </a:cubicBezTo>
                <a:cubicBezTo>
                  <a:pt x="-6457" y="166585"/>
                  <a:pt x="-24919" y="300005"/>
                  <a:pt x="34809" y="406737"/>
                </a:cubicBezTo>
                <a:lnTo>
                  <a:pt x="11568" y="541773"/>
                </a:lnTo>
                <a:cubicBezTo>
                  <a:pt x="9922" y="551338"/>
                  <a:pt x="16342" y="560426"/>
                  <a:pt x="25907" y="562073"/>
                </a:cubicBezTo>
                <a:cubicBezTo>
                  <a:pt x="28946" y="562596"/>
                  <a:pt x="32070" y="562310"/>
                  <a:pt x="34963" y="561243"/>
                </a:cubicBezTo>
                <a:lnTo>
                  <a:pt x="151939" y="518122"/>
                </a:lnTo>
                <a:cubicBezTo>
                  <a:pt x="287184" y="585118"/>
                  <a:pt x="451132" y="529791"/>
                  <a:pt x="518128" y="394546"/>
                </a:cubicBezTo>
                <a:cubicBezTo>
                  <a:pt x="570176" y="289477"/>
                  <a:pt x="549397" y="162914"/>
                  <a:pt x="466487" y="80002"/>
                </a:cubicBezTo>
                <a:close/>
                <a:moveTo>
                  <a:pt x="273263" y="511338"/>
                </a:moveTo>
                <a:cubicBezTo>
                  <a:pt x="234250" y="511334"/>
                  <a:pt x="195834" y="501760"/>
                  <a:pt x="161382" y="483455"/>
                </a:cubicBezTo>
                <a:cubicBezTo>
                  <a:pt x="156958" y="481095"/>
                  <a:pt x="151736" y="480738"/>
                  <a:pt x="147032" y="482472"/>
                </a:cubicBezTo>
                <a:lnTo>
                  <a:pt x="51370" y="517734"/>
                </a:lnTo>
                <a:lnTo>
                  <a:pt x="70523" y="406437"/>
                </a:lnTo>
                <a:cubicBezTo>
                  <a:pt x="71229" y="402321"/>
                  <a:pt x="70448" y="398089"/>
                  <a:pt x="68317" y="394498"/>
                </a:cubicBezTo>
                <a:cubicBezTo>
                  <a:pt x="46581" y="357784"/>
                  <a:pt x="35124" y="315898"/>
                  <a:pt x="35147" y="273232"/>
                </a:cubicBezTo>
                <a:cubicBezTo>
                  <a:pt x="35150" y="141930"/>
                  <a:pt x="141967" y="35113"/>
                  <a:pt x="273263" y="35113"/>
                </a:cubicBezTo>
                <a:cubicBezTo>
                  <a:pt x="404559" y="35113"/>
                  <a:pt x="511376" y="141930"/>
                  <a:pt x="511376" y="273226"/>
                </a:cubicBezTo>
                <a:cubicBezTo>
                  <a:pt x="511376" y="404522"/>
                  <a:pt x="404559" y="511338"/>
                  <a:pt x="273263" y="511338"/>
                </a:cubicBezTo>
                <a:close/>
                <a:moveTo>
                  <a:pt x="337779" y="163852"/>
                </a:moveTo>
                <a:cubicBezTo>
                  <a:pt x="373292" y="199533"/>
                  <a:pt x="373292" y="257207"/>
                  <a:pt x="337779" y="292887"/>
                </a:cubicBezTo>
                <a:lnTo>
                  <a:pt x="296185" y="334483"/>
                </a:lnTo>
                <a:cubicBezTo>
                  <a:pt x="292635" y="337823"/>
                  <a:pt x="290688" y="342526"/>
                  <a:pt x="290837" y="347399"/>
                </a:cubicBezTo>
                <a:lnTo>
                  <a:pt x="290837" y="365851"/>
                </a:lnTo>
                <a:cubicBezTo>
                  <a:pt x="290837" y="375557"/>
                  <a:pt x="282969" y="383425"/>
                  <a:pt x="273263" y="383425"/>
                </a:cubicBezTo>
                <a:cubicBezTo>
                  <a:pt x="263557" y="383425"/>
                  <a:pt x="255689" y="375557"/>
                  <a:pt x="255689" y="365851"/>
                </a:cubicBezTo>
                <a:lnTo>
                  <a:pt x="255689" y="347399"/>
                </a:lnTo>
                <a:cubicBezTo>
                  <a:pt x="255572" y="333210"/>
                  <a:pt x="261217" y="319580"/>
                  <a:pt x="271334" y="309630"/>
                </a:cubicBezTo>
                <a:lnTo>
                  <a:pt x="312928" y="268035"/>
                </a:lnTo>
                <a:cubicBezTo>
                  <a:pt x="334869" y="246163"/>
                  <a:pt x="334925" y="210645"/>
                  <a:pt x="313053" y="188704"/>
                </a:cubicBezTo>
                <a:cubicBezTo>
                  <a:pt x="291181" y="166763"/>
                  <a:pt x="255663" y="166708"/>
                  <a:pt x="233722" y="188580"/>
                </a:cubicBezTo>
                <a:cubicBezTo>
                  <a:pt x="220223" y="202036"/>
                  <a:pt x="214481" y="221425"/>
                  <a:pt x="218475" y="240061"/>
                </a:cubicBezTo>
                <a:cubicBezTo>
                  <a:pt x="220468" y="249560"/>
                  <a:pt x="214384" y="258877"/>
                  <a:pt x="204886" y="260871"/>
                </a:cubicBezTo>
                <a:cubicBezTo>
                  <a:pt x="195387" y="262864"/>
                  <a:pt x="186070" y="256780"/>
                  <a:pt x="184076" y="247282"/>
                </a:cubicBezTo>
                <a:cubicBezTo>
                  <a:pt x="173679" y="197975"/>
                  <a:pt x="205222" y="149577"/>
                  <a:pt x="254528" y="139180"/>
                </a:cubicBezTo>
                <a:cubicBezTo>
                  <a:pt x="284664" y="132826"/>
                  <a:pt x="315973" y="142104"/>
                  <a:pt x="337781" y="163852"/>
                </a:cubicBezTo>
                <a:close/>
                <a:moveTo>
                  <a:pt x="290711" y="407481"/>
                </a:moveTo>
                <a:lnTo>
                  <a:pt x="290711" y="407503"/>
                </a:lnTo>
                <a:cubicBezTo>
                  <a:pt x="290704" y="417210"/>
                  <a:pt x="282832" y="425072"/>
                  <a:pt x="273126" y="425066"/>
                </a:cubicBezTo>
                <a:cubicBezTo>
                  <a:pt x="263420" y="425060"/>
                  <a:pt x="255558" y="417188"/>
                  <a:pt x="255563" y="407481"/>
                </a:cubicBezTo>
                <a:cubicBezTo>
                  <a:pt x="255570" y="397775"/>
                  <a:pt x="263442" y="389912"/>
                  <a:pt x="273148" y="389919"/>
                </a:cubicBezTo>
                <a:cubicBezTo>
                  <a:pt x="282845" y="389924"/>
                  <a:pt x="290704" y="397784"/>
                  <a:pt x="290711" y="407481"/>
                </a:cubicBezTo>
                <a:close/>
              </a:path>
            </a:pathLst>
          </a:custGeom>
          <a:gradFill>
            <a:gsLst>
              <a:gs pos="0">
                <a:srgbClr val="BDF2BD"/>
              </a:gs>
              <a:gs pos="55000">
                <a:srgbClr val="C3E9FC"/>
              </a:gs>
            </a:gsLst>
            <a:lin ang="2700000" scaled="1"/>
          </a:gradFill>
          <a:ln w="1098" cap="flat">
            <a:noFill/>
            <a:prstDash val="solid"/>
            <a:miter/>
          </a:ln>
        </p:spPr>
        <p:txBody>
          <a:bodyPr rtlCol="0" anchor="ctr"/>
          <a:lstStyle/>
          <a:p>
            <a:endParaRPr lang="en-GB"/>
          </a:p>
        </p:txBody>
      </p:sp>
      <p:grpSp>
        <p:nvGrpSpPr>
          <p:cNvPr id="55" name="Group 54">
            <a:extLst>
              <a:ext uri="{FF2B5EF4-FFF2-40B4-BE49-F238E27FC236}">
                <a16:creationId xmlns:a16="http://schemas.microsoft.com/office/drawing/2014/main" id="{450F2982-63CB-37D6-C552-E4FE222E3F03}"/>
              </a:ext>
            </a:extLst>
          </p:cNvPr>
          <p:cNvGrpSpPr/>
          <p:nvPr/>
        </p:nvGrpSpPr>
        <p:grpSpPr>
          <a:xfrm>
            <a:off x="4336050" y="2315216"/>
            <a:ext cx="827024" cy="788949"/>
            <a:chOff x="1600003" y="1811018"/>
            <a:chExt cx="1641521" cy="1641995"/>
          </a:xfrm>
        </p:grpSpPr>
        <p:sp>
          <p:nvSpPr>
            <p:cNvPr id="56" name="Oval 17">
              <a:extLst>
                <a:ext uri="{FF2B5EF4-FFF2-40B4-BE49-F238E27FC236}">
                  <a16:creationId xmlns:a16="http://schemas.microsoft.com/office/drawing/2014/main" id="{BB766A19-3502-F7A8-0D88-494E165A2A13}"/>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57" name="Group 56">
              <a:extLst>
                <a:ext uri="{FF2B5EF4-FFF2-40B4-BE49-F238E27FC236}">
                  <a16:creationId xmlns:a16="http://schemas.microsoft.com/office/drawing/2014/main" id="{51A3A47F-A586-64C1-293C-05B4D350F166}"/>
                </a:ext>
              </a:extLst>
            </p:cNvPr>
            <p:cNvGrpSpPr/>
            <p:nvPr/>
          </p:nvGrpSpPr>
          <p:grpSpPr>
            <a:xfrm>
              <a:off x="1714608" y="1927185"/>
              <a:ext cx="1412311" cy="1409652"/>
              <a:chOff x="1261672" y="4833938"/>
              <a:chExt cx="954296" cy="954302"/>
            </a:xfrm>
          </p:grpSpPr>
          <p:sp>
            <p:nvSpPr>
              <p:cNvPr id="58" name="Rectangle: Rounded Corners 57">
                <a:extLst>
                  <a:ext uri="{FF2B5EF4-FFF2-40B4-BE49-F238E27FC236}">
                    <a16:creationId xmlns:a16="http://schemas.microsoft.com/office/drawing/2014/main" id="{36617ED7-E0CD-37AB-19CE-C3180523BD78}"/>
                  </a:ext>
                </a:extLst>
              </p:cNvPr>
              <p:cNvSpPr/>
              <p:nvPr userDrawn="1"/>
            </p:nvSpPr>
            <p:spPr bwMode="auto">
              <a:xfrm>
                <a:off x="1261672" y="4833944"/>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59" name="Rectangle: Rounded Corners 58">
                <a:extLst>
                  <a:ext uri="{FF2B5EF4-FFF2-40B4-BE49-F238E27FC236}">
                    <a16:creationId xmlns:a16="http://schemas.microsoft.com/office/drawing/2014/main" id="{6FB40F43-14B3-1284-492B-63B48079F1B5}"/>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60" name="Graphic 4">
            <a:extLst>
              <a:ext uri="{FF2B5EF4-FFF2-40B4-BE49-F238E27FC236}">
                <a16:creationId xmlns:a16="http://schemas.microsoft.com/office/drawing/2014/main" id="{F5D696F3-A521-AC7A-9C01-D86923C4B33F}"/>
              </a:ext>
            </a:extLst>
          </p:cNvPr>
          <p:cNvSpPr/>
          <p:nvPr/>
        </p:nvSpPr>
        <p:spPr>
          <a:xfrm>
            <a:off x="4530658" y="2441906"/>
            <a:ext cx="487580" cy="491674"/>
          </a:xfrm>
          <a:custGeom>
            <a:avLst/>
            <a:gdLst>
              <a:gd name="connsiteX0" fmla="*/ 466487 w 546534"/>
              <a:gd name="connsiteY0" fmla="*/ 80002 h 562327"/>
              <a:gd name="connsiteX1" fmla="*/ 80009 w 546534"/>
              <a:gd name="connsiteY1" fmla="*/ 80083 h 562327"/>
              <a:gd name="connsiteX2" fmla="*/ 34809 w 546534"/>
              <a:gd name="connsiteY2" fmla="*/ 406737 h 562327"/>
              <a:gd name="connsiteX3" fmla="*/ 11568 w 546534"/>
              <a:gd name="connsiteY3" fmla="*/ 541773 h 562327"/>
              <a:gd name="connsiteX4" fmla="*/ 25907 w 546534"/>
              <a:gd name="connsiteY4" fmla="*/ 562073 h 562327"/>
              <a:gd name="connsiteX5" fmla="*/ 34963 w 546534"/>
              <a:gd name="connsiteY5" fmla="*/ 561243 h 562327"/>
              <a:gd name="connsiteX6" fmla="*/ 151939 w 546534"/>
              <a:gd name="connsiteY6" fmla="*/ 518122 h 562327"/>
              <a:gd name="connsiteX7" fmla="*/ 518128 w 546534"/>
              <a:gd name="connsiteY7" fmla="*/ 394546 h 562327"/>
              <a:gd name="connsiteX8" fmla="*/ 466487 w 546534"/>
              <a:gd name="connsiteY8" fmla="*/ 80002 h 562327"/>
              <a:gd name="connsiteX9" fmla="*/ 273263 w 546534"/>
              <a:gd name="connsiteY9" fmla="*/ 511338 h 562327"/>
              <a:gd name="connsiteX10" fmla="*/ 161382 w 546534"/>
              <a:gd name="connsiteY10" fmla="*/ 483455 h 562327"/>
              <a:gd name="connsiteX11" fmla="*/ 147032 w 546534"/>
              <a:gd name="connsiteY11" fmla="*/ 482472 h 562327"/>
              <a:gd name="connsiteX12" fmla="*/ 51370 w 546534"/>
              <a:gd name="connsiteY12" fmla="*/ 517734 h 562327"/>
              <a:gd name="connsiteX13" fmla="*/ 70523 w 546534"/>
              <a:gd name="connsiteY13" fmla="*/ 406437 h 562327"/>
              <a:gd name="connsiteX14" fmla="*/ 68317 w 546534"/>
              <a:gd name="connsiteY14" fmla="*/ 394498 h 562327"/>
              <a:gd name="connsiteX15" fmla="*/ 35147 w 546534"/>
              <a:gd name="connsiteY15" fmla="*/ 273232 h 562327"/>
              <a:gd name="connsiteX16" fmla="*/ 273263 w 546534"/>
              <a:gd name="connsiteY16" fmla="*/ 35113 h 562327"/>
              <a:gd name="connsiteX17" fmla="*/ 511376 w 546534"/>
              <a:gd name="connsiteY17" fmla="*/ 273226 h 562327"/>
              <a:gd name="connsiteX18" fmla="*/ 273263 w 546534"/>
              <a:gd name="connsiteY18" fmla="*/ 511338 h 562327"/>
              <a:gd name="connsiteX19" fmla="*/ 337779 w 546534"/>
              <a:gd name="connsiteY19" fmla="*/ 163852 h 562327"/>
              <a:gd name="connsiteX20" fmla="*/ 337779 w 546534"/>
              <a:gd name="connsiteY20" fmla="*/ 292887 h 562327"/>
              <a:gd name="connsiteX21" fmla="*/ 296185 w 546534"/>
              <a:gd name="connsiteY21" fmla="*/ 334483 h 562327"/>
              <a:gd name="connsiteX22" fmla="*/ 290837 w 546534"/>
              <a:gd name="connsiteY22" fmla="*/ 347399 h 562327"/>
              <a:gd name="connsiteX23" fmla="*/ 290837 w 546534"/>
              <a:gd name="connsiteY23" fmla="*/ 365851 h 562327"/>
              <a:gd name="connsiteX24" fmla="*/ 273263 w 546534"/>
              <a:gd name="connsiteY24" fmla="*/ 383425 h 562327"/>
              <a:gd name="connsiteX25" fmla="*/ 255689 w 546534"/>
              <a:gd name="connsiteY25" fmla="*/ 365851 h 562327"/>
              <a:gd name="connsiteX26" fmla="*/ 255689 w 546534"/>
              <a:gd name="connsiteY26" fmla="*/ 347399 h 562327"/>
              <a:gd name="connsiteX27" fmla="*/ 271334 w 546534"/>
              <a:gd name="connsiteY27" fmla="*/ 309630 h 562327"/>
              <a:gd name="connsiteX28" fmla="*/ 312928 w 546534"/>
              <a:gd name="connsiteY28" fmla="*/ 268035 h 562327"/>
              <a:gd name="connsiteX29" fmla="*/ 313053 w 546534"/>
              <a:gd name="connsiteY29" fmla="*/ 188704 h 562327"/>
              <a:gd name="connsiteX30" fmla="*/ 233722 w 546534"/>
              <a:gd name="connsiteY30" fmla="*/ 188580 h 562327"/>
              <a:gd name="connsiteX31" fmla="*/ 218475 w 546534"/>
              <a:gd name="connsiteY31" fmla="*/ 240061 h 562327"/>
              <a:gd name="connsiteX32" fmla="*/ 204886 w 546534"/>
              <a:gd name="connsiteY32" fmla="*/ 260871 h 562327"/>
              <a:gd name="connsiteX33" fmla="*/ 184076 w 546534"/>
              <a:gd name="connsiteY33" fmla="*/ 247282 h 562327"/>
              <a:gd name="connsiteX34" fmla="*/ 254528 w 546534"/>
              <a:gd name="connsiteY34" fmla="*/ 139180 h 562327"/>
              <a:gd name="connsiteX35" fmla="*/ 337781 w 546534"/>
              <a:gd name="connsiteY35" fmla="*/ 163852 h 562327"/>
              <a:gd name="connsiteX36" fmla="*/ 290711 w 546534"/>
              <a:gd name="connsiteY36" fmla="*/ 407481 h 562327"/>
              <a:gd name="connsiteX37" fmla="*/ 290711 w 546534"/>
              <a:gd name="connsiteY37" fmla="*/ 407503 h 562327"/>
              <a:gd name="connsiteX38" fmla="*/ 273126 w 546534"/>
              <a:gd name="connsiteY38" fmla="*/ 425066 h 562327"/>
              <a:gd name="connsiteX39" fmla="*/ 255563 w 546534"/>
              <a:gd name="connsiteY39" fmla="*/ 407481 h 562327"/>
              <a:gd name="connsiteX40" fmla="*/ 273148 w 546534"/>
              <a:gd name="connsiteY40" fmla="*/ 389919 h 562327"/>
              <a:gd name="connsiteX41" fmla="*/ 290711 w 546534"/>
              <a:gd name="connsiteY41" fmla="*/ 407481 h 5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534" h="562327">
                <a:moveTo>
                  <a:pt x="466487" y="80002"/>
                </a:moveTo>
                <a:cubicBezTo>
                  <a:pt x="359742" y="-26699"/>
                  <a:pt x="186710" y="-26663"/>
                  <a:pt x="80009" y="80083"/>
                </a:cubicBezTo>
                <a:cubicBezTo>
                  <a:pt x="-6457" y="166585"/>
                  <a:pt x="-24919" y="300005"/>
                  <a:pt x="34809" y="406737"/>
                </a:cubicBezTo>
                <a:lnTo>
                  <a:pt x="11568" y="541773"/>
                </a:lnTo>
                <a:cubicBezTo>
                  <a:pt x="9922" y="551338"/>
                  <a:pt x="16342" y="560426"/>
                  <a:pt x="25907" y="562073"/>
                </a:cubicBezTo>
                <a:cubicBezTo>
                  <a:pt x="28946" y="562596"/>
                  <a:pt x="32070" y="562310"/>
                  <a:pt x="34963" y="561243"/>
                </a:cubicBezTo>
                <a:lnTo>
                  <a:pt x="151939" y="518122"/>
                </a:lnTo>
                <a:cubicBezTo>
                  <a:pt x="287184" y="585118"/>
                  <a:pt x="451132" y="529791"/>
                  <a:pt x="518128" y="394546"/>
                </a:cubicBezTo>
                <a:cubicBezTo>
                  <a:pt x="570176" y="289477"/>
                  <a:pt x="549397" y="162914"/>
                  <a:pt x="466487" y="80002"/>
                </a:cubicBezTo>
                <a:close/>
                <a:moveTo>
                  <a:pt x="273263" y="511338"/>
                </a:moveTo>
                <a:cubicBezTo>
                  <a:pt x="234250" y="511334"/>
                  <a:pt x="195834" y="501760"/>
                  <a:pt x="161382" y="483455"/>
                </a:cubicBezTo>
                <a:cubicBezTo>
                  <a:pt x="156958" y="481095"/>
                  <a:pt x="151736" y="480738"/>
                  <a:pt x="147032" y="482472"/>
                </a:cubicBezTo>
                <a:lnTo>
                  <a:pt x="51370" y="517734"/>
                </a:lnTo>
                <a:lnTo>
                  <a:pt x="70523" y="406437"/>
                </a:lnTo>
                <a:cubicBezTo>
                  <a:pt x="71229" y="402321"/>
                  <a:pt x="70448" y="398089"/>
                  <a:pt x="68317" y="394498"/>
                </a:cubicBezTo>
                <a:cubicBezTo>
                  <a:pt x="46581" y="357784"/>
                  <a:pt x="35124" y="315898"/>
                  <a:pt x="35147" y="273232"/>
                </a:cubicBezTo>
                <a:cubicBezTo>
                  <a:pt x="35150" y="141930"/>
                  <a:pt x="141967" y="35113"/>
                  <a:pt x="273263" y="35113"/>
                </a:cubicBezTo>
                <a:cubicBezTo>
                  <a:pt x="404559" y="35113"/>
                  <a:pt x="511376" y="141930"/>
                  <a:pt x="511376" y="273226"/>
                </a:cubicBezTo>
                <a:cubicBezTo>
                  <a:pt x="511376" y="404522"/>
                  <a:pt x="404559" y="511338"/>
                  <a:pt x="273263" y="511338"/>
                </a:cubicBezTo>
                <a:close/>
                <a:moveTo>
                  <a:pt x="337779" y="163852"/>
                </a:moveTo>
                <a:cubicBezTo>
                  <a:pt x="373292" y="199533"/>
                  <a:pt x="373292" y="257207"/>
                  <a:pt x="337779" y="292887"/>
                </a:cubicBezTo>
                <a:lnTo>
                  <a:pt x="296185" y="334483"/>
                </a:lnTo>
                <a:cubicBezTo>
                  <a:pt x="292635" y="337823"/>
                  <a:pt x="290688" y="342526"/>
                  <a:pt x="290837" y="347399"/>
                </a:cubicBezTo>
                <a:lnTo>
                  <a:pt x="290837" y="365851"/>
                </a:lnTo>
                <a:cubicBezTo>
                  <a:pt x="290837" y="375557"/>
                  <a:pt x="282969" y="383425"/>
                  <a:pt x="273263" y="383425"/>
                </a:cubicBezTo>
                <a:cubicBezTo>
                  <a:pt x="263557" y="383425"/>
                  <a:pt x="255689" y="375557"/>
                  <a:pt x="255689" y="365851"/>
                </a:cubicBezTo>
                <a:lnTo>
                  <a:pt x="255689" y="347399"/>
                </a:lnTo>
                <a:cubicBezTo>
                  <a:pt x="255572" y="333210"/>
                  <a:pt x="261217" y="319580"/>
                  <a:pt x="271334" y="309630"/>
                </a:cubicBezTo>
                <a:lnTo>
                  <a:pt x="312928" y="268035"/>
                </a:lnTo>
                <a:cubicBezTo>
                  <a:pt x="334869" y="246163"/>
                  <a:pt x="334925" y="210645"/>
                  <a:pt x="313053" y="188704"/>
                </a:cubicBezTo>
                <a:cubicBezTo>
                  <a:pt x="291181" y="166763"/>
                  <a:pt x="255663" y="166708"/>
                  <a:pt x="233722" y="188580"/>
                </a:cubicBezTo>
                <a:cubicBezTo>
                  <a:pt x="220223" y="202036"/>
                  <a:pt x="214481" y="221425"/>
                  <a:pt x="218475" y="240061"/>
                </a:cubicBezTo>
                <a:cubicBezTo>
                  <a:pt x="220468" y="249560"/>
                  <a:pt x="214384" y="258877"/>
                  <a:pt x="204886" y="260871"/>
                </a:cubicBezTo>
                <a:cubicBezTo>
                  <a:pt x="195387" y="262864"/>
                  <a:pt x="186070" y="256780"/>
                  <a:pt x="184076" y="247282"/>
                </a:cubicBezTo>
                <a:cubicBezTo>
                  <a:pt x="173679" y="197975"/>
                  <a:pt x="205222" y="149577"/>
                  <a:pt x="254528" y="139180"/>
                </a:cubicBezTo>
                <a:cubicBezTo>
                  <a:pt x="284664" y="132826"/>
                  <a:pt x="315973" y="142104"/>
                  <a:pt x="337781" y="163852"/>
                </a:cubicBezTo>
                <a:close/>
                <a:moveTo>
                  <a:pt x="290711" y="407481"/>
                </a:moveTo>
                <a:lnTo>
                  <a:pt x="290711" y="407503"/>
                </a:lnTo>
                <a:cubicBezTo>
                  <a:pt x="290704" y="417210"/>
                  <a:pt x="282832" y="425072"/>
                  <a:pt x="273126" y="425066"/>
                </a:cubicBezTo>
                <a:cubicBezTo>
                  <a:pt x="263420" y="425060"/>
                  <a:pt x="255558" y="417188"/>
                  <a:pt x="255563" y="407481"/>
                </a:cubicBezTo>
                <a:cubicBezTo>
                  <a:pt x="255570" y="397775"/>
                  <a:pt x="263442" y="389912"/>
                  <a:pt x="273148" y="389919"/>
                </a:cubicBezTo>
                <a:cubicBezTo>
                  <a:pt x="282845" y="389924"/>
                  <a:pt x="290704" y="397784"/>
                  <a:pt x="290711" y="407481"/>
                </a:cubicBezTo>
                <a:close/>
              </a:path>
            </a:pathLst>
          </a:custGeom>
          <a:gradFill>
            <a:gsLst>
              <a:gs pos="0">
                <a:srgbClr val="BDF2BD"/>
              </a:gs>
              <a:gs pos="55000">
                <a:srgbClr val="C3E9FC"/>
              </a:gs>
            </a:gsLst>
            <a:lin ang="2700000" scaled="1"/>
          </a:gradFill>
          <a:ln w="1098" cap="flat">
            <a:noFill/>
            <a:prstDash val="solid"/>
            <a:miter/>
          </a:ln>
        </p:spPr>
        <p:txBody>
          <a:bodyPr rtlCol="0" anchor="ctr"/>
          <a:lstStyle/>
          <a:p>
            <a:endParaRPr lang="en-GB"/>
          </a:p>
        </p:txBody>
      </p:sp>
      <p:grpSp>
        <p:nvGrpSpPr>
          <p:cNvPr id="61" name="Group 60">
            <a:extLst>
              <a:ext uri="{FF2B5EF4-FFF2-40B4-BE49-F238E27FC236}">
                <a16:creationId xmlns:a16="http://schemas.microsoft.com/office/drawing/2014/main" id="{C784F0B1-A6C4-13CC-A641-4D9A3346197F}"/>
              </a:ext>
            </a:extLst>
          </p:cNvPr>
          <p:cNvGrpSpPr/>
          <p:nvPr/>
        </p:nvGrpSpPr>
        <p:grpSpPr>
          <a:xfrm>
            <a:off x="8270391" y="2315216"/>
            <a:ext cx="827024" cy="788949"/>
            <a:chOff x="1600003" y="1811018"/>
            <a:chExt cx="1641521" cy="1641995"/>
          </a:xfrm>
        </p:grpSpPr>
        <p:sp>
          <p:nvSpPr>
            <p:cNvPr id="62" name="Oval 17">
              <a:extLst>
                <a:ext uri="{FF2B5EF4-FFF2-40B4-BE49-F238E27FC236}">
                  <a16:creationId xmlns:a16="http://schemas.microsoft.com/office/drawing/2014/main" id="{5BF55029-0279-D5E5-4E88-B4E21192BBEC}"/>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63" name="Group 62">
              <a:extLst>
                <a:ext uri="{FF2B5EF4-FFF2-40B4-BE49-F238E27FC236}">
                  <a16:creationId xmlns:a16="http://schemas.microsoft.com/office/drawing/2014/main" id="{9CFAF471-943B-B0FD-42A6-84F3C3980980}"/>
                </a:ext>
              </a:extLst>
            </p:cNvPr>
            <p:cNvGrpSpPr/>
            <p:nvPr/>
          </p:nvGrpSpPr>
          <p:grpSpPr>
            <a:xfrm>
              <a:off x="1714608" y="1927185"/>
              <a:ext cx="1412311" cy="1409652"/>
              <a:chOff x="1261672" y="4833938"/>
              <a:chExt cx="954296" cy="954302"/>
            </a:xfrm>
          </p:grpSpPr>
          <p:sp>
            <p:nvSpPr>
              <p:cNvPr id="64" name="Rectangle: Rounded Corners 63">
                <a:extLst>
                  <a:ext uri="{FF2B5EF4-FFF2-40B4-BE49-F238E27FC236}">
                    <a16:creationId xmlns:a16="http://schemas.microsoft.com/office/drawing/2014/main" id="{4D2B8449-54E8-2405-9BB5-0E811321F22B}"/>
                  </a:ext>
                </a:extLst>
              </p:cNvPr>
              <p:cNvSpPr/>
              <p:nvPr userDrawn="1"/>
            </p:nvSpPr>
            <p:spPr bwMode="auto">
              <a:xfrm>
                <a:off x="1261672" y="4833944"/>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65" name="Rectangle: Rounded Corners 64">
                <a:extLst>
                  <a:ext uri="{FF2B5EF4-FFF2-40B4-BE49-F238E27FC236}">
                    <a16:creationId xmlns:a16="http://schemas.microsoft.com/office/drawing/2014/main" id="{D6555814-69B4-DA58-4674-503F6F3ABE29}"/>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66" name="Graphic 4">
            <a:extLst>
              <a:ext uri="{FF2B5EF4-FFF2-40B4-BE49-F238E27FC236}">
                <a16:creationId xmlns:a16="http://schemas.microsoft.com/office/drawing/2014/main" id="{20B2272E-EF48-4714-6FDC-B5421D0A9481}"/>
              </a:ext>
            </a:extLst>
          </p:cNvPr>
          <p:cNvSpPr/>
          <p:nvPr/>
        </p:nvSpPr>
        <p:spPr>
          <a:xfrm>
            <a:off x="8464999" y="2441906"/>
            <a:ext cx="487580" cy="491674"/>
          </a:xfrm>
          <a:custGeom>
            <a:avLst/>
            <a:gdLst>
              <a:gd name="connsiteX0" fmla="*/ 466487 w 546534"/>
              <a:gd name="connsiteY0" fmla="*/ 80002 h 562327"/>
              <a:gd name="connsiteX1" fmla="*/ 80009 w 546534"/>
              <a:gd name="connsiteY1" fmla="*/ 80083 h 562327"/>
              <a:gd name="connsiteX2" fmla="*/ 34809 w 546534"/>
              <a:gd name="connsiteY2" fmla="*/ 406737 h 562327"/>
              <a:gd name="connsiteX3" fmla="*/ 11568 w 546534"/>
              <a:gd name="connsiteY3" fmla="*/ 541773 h 562327"/>
              <a:gd name="connsiteX4" fmla="*/ 25907 w 546534"/>
              <a:gd name="connsiteY4" fmla="*/ 562073 h 562327"/>
              <a:gd name="connsiteX5" fmla="*/ 34963 w 546534"/>
              <a:gd name="connsiteY5" fmla="*/ 561243 h 562327"/>
              <a:gd name="connsiteX6" fmla="*/ 151939 w 546534"/>
              <a:gd name="connsiteY6" fmla="*/ 518122 h 562327"/>
              <a:gd name="connsiteX7" fmla="*/ 518128 w 546534"/>
              <a:gd name="connsiteY7" fmla="*/ 394546 h 562327"/>
              <a:gd name="connsiteX8" fmla="*/ 466487 w 546534"/>
              <a:gd name="connsiteY8" fmla="*/ 80002 h 562327"/>
              <a:gd name="connsiteX9" fmla="*/ 273263 w 546534"/>
              <a:gd name="connsiteY9" fmla="*/ 511338 h 562327"/>
              <a:gd name="connsiteX10" fmla="*/ 161382 w 546534"/>
              <a:gd name="connsiteY10" fmla="*/ 483455 h 562327"/>
              <a:gd name="connsiteX11" fmla="*/ 147032 w 546534"/>
              <a:gd name="connsiteY11" fmla="*/ 482472 h 562327"/>
              <a:gd name="connsiteX12" fmla="*/ 51370 w 546534"/>
              <a:gd name="connsiteY12" fmla="*/ 517734 h 562327"/>
              <a:gd name="connsiteX13" fmla="*/ 70523 w 546534"/>
              <a:gd name="connsiteY13" fmla="*/ 406437 h 562327"/>
              <a:gd name="connsiteX14" fmla="*/ 68317 w 546534"/>
              <a:gd name="connsiteY14" fmla="*/ 394498 h 562327"/>
              <a:gd name="connsiteX15" fmla="*/ 35147 w 546534"/>
              <a:gd name="connsiteY15" fmla="*/ 273232 h 562327"/>
              <a:gd name="connsiteX16" fmla="*/ 273263 w 546534"/>
              <a:gd name="connsiteY16" fmla="*/ 35113 h 562327"/>
              <a:gd name="connsiteX17" fmla="*/ 511376 w 546534"/>
              <a:gd name="connsiteY17" fmla="*/ 273226 h 562327"/>
              <a:gd name="connsiteX18" fmla="*/ 273263 w 546534"/>
              <a:gd name="connsiteY18" fmla="*/ 511338 h 562327"/>
              <a:gd name="connsiteX19" fmla="*/ 337779 w 546534"/>
              <a:gd name="connsiteY19" fmla="*/ 163852 h 562327"/>
              <a:gd name="connsiteX20" fmla="*/ 337779 w 546534"/>
              <a:gd name="connsiteY20" fmla="*/ 292887 h 562327"/>
              <a:gd name="connsiteX21" fmla="*/ 296185 w 546534"/>
              <a:gd name="connsiteY21" fmla="*/ 334483 h 562327"/>
              <a:gd name="connsiteX22" fmla="*/ 290837 w 546534"/>
              <a:gd name="connsiteY22" fmla="*/ 347399 h 562327"/>
              <a:gd name="connsiteX23" fmla="*/ 290837 w 546534"/>
              <a:gd name="connsiteY23" fmla="*/ 365851 h 562327"/>
              <a:gd name="connsiteX24" fmla="*/ 273263 w 546534"/>
              <a:gd name="connsiteY24" fmla="*/ 383425 h 562327"/>
              <a:gd name="connsiteX25" fmla="*/ 255689 w 546534"/>
              <a:gd name="connsiteY25" fmla="*/ 365851 h 562327"/>
              <a:gd name="connsiteX26" fmla="*/ 255689 w 546534"/>
              <a:gd name="connsiteY26" fmla="*/ 347399 h 562327"/>
              <a:gd name="connsiteX27" fmla="*/ 271334 w 546534"/>
              <a:gd name="connsiteY27" fmla="*/ 309630 h 562327"/>
              <a:gd name="connsiteX28" fmla="*/ 312928 w 546534"/>
              <a:gd name="connsiteY28" fmla="*/ 268035 h 562327"/>
              <a:gd name="connsiteX29" fmla="*/ 313053 w 546534"/>
              <a:gd name="connsiteY29" fmla="*/ 188704 h 562327"/>
              <a:gd name="connsiteX30" fmla="*/ 233722 w 546534"/>
              <a:gd name="connsiteY30" fmla="*/ 188580 h 562327"/>
              <a:gd name="connsiteX31" fmla="*/ 218475 w 546534"/>
              <a:gd name="connsiteY31" fmla="*/ 240061 h 562327"/>
              <a:gd name="connsiteX32" fmla="*/ 204886 w 546534"/>
              <a:gd name="connsiteY32" fmla="*/ 260871 h 562327"/>
              <a:gd name="connsiteX33" fmla="*/ 184076 w 546534"/>
              <a:gd name="connsiteY33" fmla="*/ 247282 h 562327"/>
              <a:gd name="connsiteX34" fmla="*/ 254528 w 546534"/>
              <a:gd name="connsiteY34" fmla="*/ 139180 h 562327"/>
              <a:gd name="connsiteX35" fmla="*/ 337781 w 546534"/>
              <a:gd name="connsiteY35" fmla="*/ 163852 h 562327"/>
              <a:gd name="connsiteX36" fmla="*/ 290711 w 546534"/>
              <a:gd name="connsiteY36" fmla="*/ 407481 h 562327"/>
              <a:gd name="connsiteX37" fmla="*/ 290711 w 546534"/>
              <a:gd name="connsiteY37" fmla="*/ 407503 h 562327"/>
              <a:gd name="connsiteX38" fmla="*/ 273126 w 546534"/>
              <a:gd name="connsiteY38" fmla="*/ 425066 h 562327"/>
              <a:gd name="connsiteX39" fmla="*/ 255563 w 546534"/>
              <a:gd name="connsiteY39" fmla="*/ 407481 h 562327"/>
              <a:gd name="connsiteX40" fmla="*/ 273148 w 546534"/>
              <a:gd name="connsiteY40" fmla="*/ 389919 h 562327"/>
              <a:gd name="connsiteX41" fmla="*/ 290711 w 546534"/>
              <a:gd name="connsiteY41" fmla="*/ 407481 h 5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534" h="562327">
                <a:moveTo>
                  <a:pt x="466487" y="80002"/>
                </a:moveTo>
                <a:cubicBezTo>
                  <a:pt x="359742" y="-26699"/>
                  <a:pt x="186710" y="-26663"/>
                  <a:pt x="80009" y="80083"/>
                </a:cubicBezTo>
                <a:cubicBezTo>
                  <a:pt x="-6457" y="166585"/>
                  <a:pt x="-24919" y="300005"/>
                  <a:pt x="34809" y="406737"/>
                </a:cubicBezTo>
                <a:lnTo>
                  <a:pt x="11568" y="541773"/>
                </a:lnTo>
                <a:cubicBezTo>
                  <a:pt x="9922" y="551338"/>
                  <a:pt x="16342" y="560426"/>
                  <a:pt x="25907" y="562073"/>
                </a:cubicBezTo>
                <a:cubicBezTo>
                  <a:pt x="28946" y="562596"/>
                  <a:pt x="32070" y="562310"/>
                  <a:pt x="34963" y="561243"/>
                </a:cubicBezTo>
                <a:lnTo>
                  <a:pt x="151939" y="518122"/>
                </a:lnTo>
                <a:cubicBezTo>
                  <a:pt x="287184" y="585118"/>
                  <a:pt x="451132" y="529791"/>
                  <a:pt x="518128" y="394546"/>
                </a:cubicBezTo>
                <a:cubicBezTo>
                  <a:pt x="570176" y="289477"/>
                  <a:pt x="549397" y="162914"/>
                  <a:pt x="466487" y="80002"/>
                </a:cubicBezTo>
                <a:close/>
                <a:moveTo>
                  <a:pt x="273263" y="511338"/>
                </a:moveTo>
                <a:cubicBezTo>
                  <a:pt x="234250" y="511334"/>
                  <a:pt x="195834" y="501760"/>
                  <a:pt x="161382" y="483455"/>
                </a:cubicBezTo>
                <a:cubicBezTo>
                  <a:pt x="156958" y="481095"/>
                  <a:pt x="151736" y="480738"/>
                  <a:pt x="147032" y="482472"/>
                </a:cubicBezTo>
                <a:lnTo>
                  <a:pt x="51370" y="517734"/>
                </a:lnTo>
                <a:lnTo>
                  <a:pt x="70523" y="406437"/>
                </a:lnTo>
                <a:cubicBezTo>
                  <a:pt x="71229" y="402321"/>
                  <a:pt x="70448" y="398089"/>
                  <a:pt x="68317" y="394498"/>
                </a:cubicBezTo>
                <a:cubicBezTo>
                  <a:pt x="46581" y="357784"/>
                  <a:pt x="35124" y="315898"/>
                  <a:pt x="35147" y="273232"/>
                </a:cubicBezTo>
                <a:cubicBezTo>
                  <a:pt x="35150" y="141930"/>
                  <a:pt x="141967" y="35113"/>
                  <a:pt x="273263" y="35113"/>
                </a:cubicBezTo>
                <a:cubicBezTo>
                  <a:pt x="404559" y="35113"/>
                  <a:pt x="511376" y="141930"/>
                  <a:pt x="511376" y="273226"/>
                </a:cubicBezTo>
                <a:cubicBezTo>
                  <a:pt x="511376" y="404522"/>
                  <a:pt x="404559" y="511338"/>
                  <a:pt x="273263" y="511338"/>
                </a:cubicBezTo>
                <a:close/>
                <a:moveTo>
                  <a:pt x="337779" y="163852"/>
                </a:moveTo>
                <a:cubicBezTo>
                  <a:pt x="373292" y="199533"/>
                  <a:pt x="373292" y="257207"/>
                  <a:pt x="337779" y="292887"/>
                </a:cubicBezTo>
                <a:lnTo>
                  <a:pt x="296185" y="334483"/>
                </a:lnTo>
                <a:cubicBezTo>
                  <a:pt x="292635" y="337823"/>
                  <a:pt x="290688" y="342526"/>
                  <a:pt x="290837" y="347399"/>
                </a:cubicBezTo>
                <a:lnTo>
                  <a:pt x="290837" y="365851"/>
                </a:lnTo>
                <a:cubicBezTo>
                  <a:pt x="290837" y="375557"/>
                  <a:pt x="282969" y="383425"/>
                  <a:pt x="273263" y="383425"/>
                </a:cubicBezTo>
                <a:cubicBezTo>
                  <a:pt x="263557" y="383425"/>
                  <a:pt x="255689" y="375557"/>
                  <a:pt x="255689" y="365851"/>
                </a:cubicBezTo>
                <a:lnTo>
                  <a:pt x="255689" y="347399"/>
                </a:lnTo>
                <a:cubicBezTo>
                  <a:pt x="255572" y="333210"/>
                  <a:pt x="261217" y="319580"/>
                  <a:pt x="271334" y="309630"/>
                </a:cubicBezTo>
                <a:lnTo>
                  <a:pt x="312928" y="268035"/>
                </a:lnTo>
                <a:cubicBezTo>
                  <a:pt x="334869" y="246163"/>
                  <a:pt x="334925" y="210645"/>
                  <a:pt x="313053" y="188704"/>
                </a:cubicBezTo>
                <a:cubicBezTo>
                  <a:pt x="291181" y="166763"/>
                  <a:pt x="255663" y="166708"/>
                  <a:pt x="233722" y="188580"/>
                </a:cubicBezTo>
                <a:cubicBezTo>
                  <a:pt x="220223" y="202036"/>
                  <a:pt x="214481" y="221425"/>
                  <a:pt x="218475" y="240061"/>
                </a:cubicBezTo>
                <a:cubicBezTo>
                  <a:pt x="220468" y="249560"/>
                  <a:pt x="214384" y="258877"/>
                  <a:pt x="204886" y="260871"/>
                </a:cubicBezTo>
                <a:cubicBezTo>
                  <a:pt x="195387" y="262864"/>
                  <a:pt x="186070" y="256780"/>
                  <a:pt x="184076" y="247282"/>
                </a:cubicBezTo>
                <a:cubicBezTo>
                  <a:pt x="173679" y="197975"/>
                  <a:pt x="205222" y="149577"/>
                  <a:pt x="254528" y="139180"/>
                </a:cubicBezTo>
                <a:cubicBezTo>
                  <a:pt x="284664" y="132826"/>
                  <a:pt x="315973" y="142104"/>
                  <a:pt x="337781" y="163852"/>
                </a:cubicBezTo>
                <a:close/>
                <a:moveTo>
                  <a:pt x="290711" y="407481"/>
                </a:moveTo>
                <a:lnTo>
                  <a:pt x="290711" y="407503"/>
                </a:lnTo>
                <a:cubicBezTo>
                  <a:pt x="290704" y="417210"/>
                  <a:pt x="282832" y="425072"/>
                  <a:pt x="273126" y="425066"/>
                </a:cubicBezTo>
                <a:cubicBezTo>
                  <a:pt x="263420" y="425060"/>
                  <a:pt x="255558" y="417188"/>
                  <a:pt x="255563" y="407481"/>
                </a:cubicBezTo>
                <a:cubicBezTo>
                  <a:pt x="255570" y="397775"/>
                  <a:pt x="263442" y="389912"/>
                  <a:pt x="273148" y="389919"/>
                </a:cubicBezTo>
                <a:cubicBezTo>
                  <a:pt x="282845" y="389924"/>
                  <a:pt x="290704" y="397784"/>
                  <a:pt x="290711" y="407481"/>
                </a:cubicBezTo>
                <a:close/>
              </a:path>
            </a:pathLst>
          </a:custGeom>
          <a:gradFill>
            <a:gsLst>
              <a:gs pos="0">
                <a:srgbClr val="BDF2BD"/>
              </a:gs>
              <a:gs pos="55000">
                <a:srgbClr val="C3E9FC"/>
              </a:gs>
            </a:gsLst>
            <a:lin ang="2700000" scaled="1"/>
          </a:gradFill>
          <a:ln w="1098" cap="flat">
            <a:noFill/>
            <a:prstDash val="solid"/>
            <a:miter/>
          </a:ln>
        </p:spPr>
        <p:txBody>
          <a:bodyPr rtlCol="0" anchor="ctr"/>
          <a:lstStyle/>
          <a:p>
            <a:endParaRPr lang="en-GB"/>
          </a:p>
        </p:txBody>
      </p:sp>
      <p:grpSp>
        <p:nvGrpSpPr>
          <p:cNvPr id="67" name="Group 66">
            <a:extLst>
              <a:ext uri="{FF2B5EF4-FFF2-40B4-BE49-F238E27FC236}">
                <a16:creationId xmlns:a16="http://schemas.microsoft.com/office/drawing/2014/main" id="{F29A34B7-7615-0179-DE70-4FE1845D7C81}"/>
              </a:ext>
            </a:extLst>
          </p:cNvPr>
          <p:cNvGrpSpPr/>
          <p:nvPr/>
        </p:nvGrpSpPr>
        <p:grpSpPr>
          <a:xfrm>
            <a:off x="348021" y="4612235"/>
            <a:ext cx="827024" cy="788949"/>
            <a:chOff x="1600003" y="1811018"/>
            <a:chExt cx="1641521" cy="1641995"/>
          </a:xfrm>
        </p:grpSpPr>
        <p:sp>
          <p:nvSpPr>
            <p:cNvPr id="68" name="Oval 17">
              <a:extLst>
                <a:ext uri="{FF2B5EF4-FFF2-40B4-BE49-F238E27FC236}">
                  <a16:creationId xmlns:a16="http://schemas.microsoft.com/office/drawing/2014/main" id="{87497B24-F8F8-8D2A-7259-5FFBE4823B71}"/>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69" name="Group 68">
              <a:extLst>
                <a:ext uri="{FF2B5EF4-FFF2-40B4-BE49-F238E27FC236}">
                  <a16:creationId xmlns:a16="http://schemas.microsoft.com/office/drawing/2014/main" id="{A542152C-77F6-81F7-C3C1-47A9BED8470E}"/>
                </a:ext>
              </a:extLst>
            </p:cNvPr>
            <p:cNvGrpSpPr/>
            <p:nvPr/>
          </p:nvGrpSpPr>
          <p:grpSpPr>
            <a:xfrm>
              <a:off x="1714608" y="1927185"/>
              <a:ext cx="1412311" cy="1409652"/>
              <a:chOff x="1261672" y="4833938"/>
              <a:chExt cx="954296" cy="954302"/>
            </a:xfrm>
          </p:grpSpPr>
          <p:sp>
            <p:nvSpPr>
              <p:cNvPr id="70" name="Rectangle: Rounded Corners 69">
                <a:extLst>
                  <a:ext uri="{FF2B5EF4-FFF2-40B4-BE49-F238E27FC236}">
                    <a16:creationId xmlns:a16="http://schemas.microsoft.com/office/drawing/2014/main" id="{BB5F6D66-37E4-3280-453A-C8829D160AB5}"/>
                  </a:ext>
                </a:extLst>
              </p:cNvPr>
              <p:cNvSpPr/>
              <p:nvPr userDrawn="1"/>
            </p:nvSpPr>
            <p:spPr bwMode="auto">
              <a:xfrm>
                <a:off x="1261672" y="4833944"/>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71" name="Rectangle: Rounded Corners 70">
                <a:extLst>
                  <a:ext uri="{FF2B5EF4-FFF2-40B4-BE49-F238E27FC236}">
                    <a16:creationId xmlns:a16="http://schemas.microsoft.com/office/drawing/2014/main" id="{4873115A-0E96-9630-6155-C22D939D553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72" name="Graphic 4">
            <a:extLst>
              <a:ext uri="{FF2B5EF4-FFF2-40B4-BE49-F238E27FC236}">
                <a16:creationId xmlns:a16="http://schemas.microsoft.com/office/drawing/2014/main" id="{ECFD6102-D2AF-428E-2216-715A1B09CCB6}"/>
              </a:ext>
            </a:extLst>
          </p:cNvPr>
          <p:cNvSpPr/>
          <p:nvPr/>
        </p:nvSpPr>
        <p:spPr>
          <a:xfrm>
            <a:off x="542629" y="4738925"/>
            <a:ext cx="487580" cy="491674"/>
          </a:xfrm>
          <a:custGeom>
            <a:avLst/>
            <a:gdLst>
              <a:gd name="connsiteX0" fmla="*/ 466487 w 546534"/>
              <a:gd name="connsiteY0" fmla="*/ 80002 h 562327"/>
              <a:gd name="connsiteX1" fmla="*/ 80009 w 546534"/>
              <a:gd name="connsiteY1" fmla="*/ 80083 h 562327"/>
              <a:gd name="connsiteX2" fmla="*/ 34809 w 546534"/>
              <a:gd name="connsiteY2" fmla="*/ 406737 h 562327"/>
              <a:gd name="connsiteX3" fmla="*/ 11568 w 546534"/>
              <a:gd name="connsiteY3" fmla="*/ 541773 h 562327"/>
              <a:gd name="connsiteX4" fmla="*/ 25907 w 546534"/>
              <a:gd name="connsiteY4" fmla="*/ 562073 h 562327"/>
              <a:gd name="connsiteX5" fmla="*/ 34963 w 546534"/>
              <a:gd name="connsiteY5" fmla="*/ 561243 h 562327"/>
              <a:gd name="connsiteX6" fmla="*/ 151939 w 546534"/>
              <a:gd name="connsiteY6" fmla="*/ 518122 h 562327"/>
              <a:gd name="connsiteX7" fmla="*/ 518128 w 546534"/>
              <a:gd name="connsiteY7" fmla="*/ 394546 h 562327"/>
              <a:gd name="connsiteX8" fmla="*/ 466487 w 546534"/>
              <a:gd name="connsiteY8" fmla="*/ 80002 h 562327"/>
              <a:gd name="connsiteX9" fmla="*/ 273263 w 546534"/>
              <a:gd name="connsiteY9" fmla="*/ 511338 h 562327"/>
              <a:gd name="connsiteX10" fmla="*/ 161382 w 546534"/>
              <a:gd name="connsiteY10" fmla="*/ 483455 h 562327"/>
              <a:gd name="connsiteX11" fmla="*/ 147032 w 546534"/>
              <a:gd name="connsiteY11" fmla="*/ 482472 h 562327"/>
              <a:gd name="connsiteX12" fmla="*/ 51370 w 546534"/>
              <a:gd name="connsiteY12" fmla="*/ 517734 h 562327"/>
              <a:gd name="connsiteX13" fmla="*/ 70523 w 546534"/>
              <a:gd name="connsiteY13" fmla="*/ 406437 h 562327"/>
              <a:gd name="connsiteX14" fmla="*/ 68317 w 546534"/>
              <a:gd name="connsiteY14" fmla="*/ 394498 h 562327"/>
              <a:gd name="connsiteX15" fmla="*/ 35147 w 546534"/>
              <a:gd name="connsiteY15" fmla="*/ 273232 h 562327"/>
              <a:gd name="connsiteX16" fmla="*/ 273263 w 546534"/>
              <a:gd name="connsiteY16" fmla="*/ 35113 h 562327"/>
              <a:gd name="connsiteX17" fmla="*/ 511376 w 546534"/>
              <a:gd name="connsiteY17" fmla="*/ 273226 h 562327"/>
              <a:gd name="connsiteX18" fmla="*/ 273263 w 546534"/>
              <a:gd name="connsiteY18" fmla="*/ 511338 h 562327"/>
              <a:gd name="connsiteX19" fmla="*/ 337779 w 546534"/>
              <a:gd name="connsiteY19" fmla="*/ 163852 h 562327"/>
              <a:gd name="connsiteX20" fmla="*/ 337779 w 546534"/>
              <a:gd name="connsiteY20" fmla="*/ 292887 h 562327"/>
              <a:gd name="connsiteX21" fmla="*/ 296185 w 546534"/>
              <a:gd name="connsiteY21" fmla="*/ 334483 h 562327"/>
              <a:gd name="connsiteX22" fmla="*/ 290837 w 546534"/>
              <a:gd name="connsiteY22" fmla="*/ 347399 h 562327"/>
              <a:gd name="connsiteX23" fmla="*/ 290837 w 546534"/>
              <a:gd name="connsiteY23" fmla="*/ 365851 h 562327"/>
              <a:gd name="connsiteX24" fmla="*/ 273263 w 546534"/>
              <a:gd name="connsiteY24" fmla="*/ 383425 h 562327"/>
              <a:gd name="connsiteX25" fmla="*/ 255689 w 546534"/>
              <a:gd name="connsiteY25" fmla="*/ 365851 h 562327"/>
              <a:gd name="connsiteX26" fmla="*/ 255689 w 546534"/>
              <a:gd name="connsiteY26" fmla="*/ 347399 h 562327"/>
              <a:gd name="connsiteX27" fmla="*/ 271334 w 546534"/>
              <a:gd name="connsiteY27" fmla="*/ 309630 h 562327"/>
              <a:gd name="connsiteX28" fmla="*/ 312928 w 546534"/>
              <a:gd name="connsiteY28" fmla="*/ 268035 h 562327"/>
              <a:gd name="connsiteX29" fmla="*/ 313053 w 546534"/>
              <a:gd name="connsiteY29" fmla="*/ 188704 h 562327"/>
              <a:gd name="connsiteX30" fmla="*/ 233722 w 546534"/>
              <a:gd name="connsiteY30" fmla="*/ 188580 h 562327"/>
              <a:gd name="connsiteX31" fmla="*/ 218475 w 546534"/>
              <a:gd name="connsiteY31" fmla="*/ 240061 h 562327"/>
              <a:gd name="connsiteX32" fmla="*/ 204886 w 546534"/>
              <a:gd name="connsiteY32" fmla="*/ 260871 h 562327"/>
              <a:gd name="connsiteX33" fmla="*/ 184076 w 546534"/>
              <a:gd name="connsiteY33" fmla="*/ 247282 h 562327"/>
              <a:gd name="connsiteX34" fmla="*/ 254528 w 546534"/>
              <a:gd name="connsiteY34" fmla="*/ 139180 h 562327"/>
              <a:gd name="connsiteX35" fmla="*/ 337781 w 546534"/>
              <a:gd name="connsiteY35" fmla="*/ 163852 h 562327"/>
              <a:gd name="connsiteX36" fmla="*/ 290711 w 546534"/>
              <a:gd name="connsiteY36" fmla="*/ 407481 h 562327"/>
              <a:gd name="connsiteX37" fmla="*/ 290711 w 546534"/>
              <a:gd name="connsiteY37" fmla="*/ 407503 h 562327"/>
              <a:gd name="connsiteX38" fmla="*/ 273126 w 546534"/>
              <a:gd name="connsiteY38" fmla="*/ 425066 h 562327"/>
              <a:gd name="connsiteX39" fmla="*/ 255563 w 546534"/>
              <a:gd name="connsiteY39" fmla="*/ 407481 h 562327"/>
              <a:gd name="connsiteX40" fmla="*/ 273148 w 546534"/>
              <a:gd name="connsiteY40" fmla="*/ 389919 h 562327"/>
              <a:gd name="connsiteX41" fmla="*/ 290711 w 546534"/>
              <a:gd name="connsiteY41" fmla="*/ 407481 h 5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534" h="562327">
                <a:moveTo>
                  <a:pt x="466487" y="80002"/>
                </a:moveTo>
                <a:cubicBezTo>
                  <a:pt x="359742" y="-26699"/>
                  <a:pt x="186710" y="-26663"/>
                  <a:pt x="80009" y="80083"/>
                </a:cubicBezTo>
                <a:cubicBezTo>
                  <a:pt x="-6457" y="166585"/>
                  <a:pt x="-24919" y="300005"/>
                  <a:pt x="34809" y="406737"/>
                </a:cubicBezTo>
                <a:lnTo>
                  <a:pt x="11568" y="541773"/>
                </a:lnTo>
                <a:cubicBezTo>
                  <a:pt x="9922" y="551338"/>
                  <a:pt x="16342" y="560426"/>
                  <a:pt x="25907" y="562073"/>
                </a:cubicBezTo>
                <a:cubicBezTo>
                  <a:pt x="28946" y="562596"/>
                  <a:pt x="32070" y="562310"/>
                  <a:pt x="34963" y="561243"/>
                </a:cubicBezTo>
                <a:lnTo>
                  <a:pt x="151939" y="518122"/>
                </a:lnTo>
                <a:cubicBezTo>
                  <a:pt x="287184" y="585118"/>
                  <a:pt x="451132" y="529791"/>
                  <a:pt x="518128" y="394546"/>
                </a:cubicBezTo>
                <a:cubicBezTo>
                  <a:pt x="570176" y="289477"/>
                  <a:pt x="549397" y="162914"/>
                  <a:pt x="466487" y="80002"/>
                </a:cubicBezTo>
                <a:close/>
                <a:moveTo>
                  <a:pt x="273263" y="511338"/>
                </a:moveTo>
                <a:cubicBezTo>
                  <a:pt x="234250" y="511334"/>
                  <a:pt x="195834" y="501760"/>
                  <a:pt x="161382" y="483455"/>
                </a:cubicBezTo>
                <a:cubicBezTo>
                  <a:pt x="156958" y="481095"/>
                  <a:pt x="151736" y="480738"/>
                  <a:pt x="147032" y="482472"/>
                </a:cubicBezTo>
                <a:lnTo>
                  <a:pt x="51370" y="517734"/>
                </a:lnTo>
                <a:lnTo>
                  <a:pt x="70523" y="406437"/>
                </a:lnTo>
                <a:cubicBezTo>
                  <a:pt x="71229" y="402321"/>
                  <a:pt x="70448" y="398089"/>
                  <a:pt x="68317" y="394498"/>
                </a:cubicBezTo>
                <a:cubicBezTo>
                  <a:pt x="46581" y="357784"/>
                  <a:pt x="35124" y="315898"/>
                  <a:pt x="35147" y="273232"/>
                </a:cubicBezTo>
                <a:cubicBezTo>
                  <a:pt x="35150" y="141930"/>
                  <a:pt x="141967" y="35113"/>
                  <a:pt x="273263" y="35113"/>
                </a:cubicBezTo>
                <a:cubicBezTo>
                  <a:pt x="404559" y="35113"/>
                  <a:pt x="511376" y="141930"/>
                  <a:pt x="511376" y="273226"/>
                </a:cubicBezTo>
                <a:cubicBezTo>
                  <a:pt x="511376" y="404522"/>
                  <a:pt x="404559" y="511338"/>
                  <a:pt x="273263" y="511338"/>
                </a:cubicBezTo>
                <a:close/>
                <a:moveTo>
                  <a:pt x="337779" y="163852"/>
                </a:moveTo>
                <a:cubicBezTo>
                  <a:pt x="373292" y="199533"/>
                  <a:pt x="373292" y="257207"/>
                  <a:pt x="337779" y="292887"/>
                </a:cubicBezTo>
                <a:lnTo>
                  <a:pt x="296185" y="334483"/>
                </a:lnTo>
                <a:cubicBezTo>
                  <a:pt x="292635" y="337823"/>
                  <a:pt x="290688" y="342526"/>
                  <a:pt x="290837" y="347399"/>
                </a:cubicBezTo>
                <a:lnTo>
                  <a:pt x="290837" y="365851"/>
                </a:lnTo>
                <a:cubicBezTo>
                  <a:pt x="290837" y="375557"/>
                  <a:pt x="282969" y="383425"/>
                  <a:pt x="273263" y="383425"/>
                </a:cubicBezTo>
                <a:cubicBezTo>
                  <a:pt x="263557" y="383425"/>
                  <a:pt x="255689" y="375557"/>
                  <a:pt x="255689" y="365851"/>
                </a:cubicBezTo>
                <a:lnTo>
                  <a:pt x="255689" y="347399"/>
                </a:lnTo>
                <a:cubicBezTo>
                  <a:pt x="255572" y="333210"/>
                  <a:pt x="261217" y="319580"/>
                  <a:pt x="271334" y="309630"/>
                </a:cubicBezTo>
                <a:lnTo>
                  <a:pt x="312928" y="268035"/>
                </a:lnTo>
                <a:cubicBezTo>
                  <a:pt x="334869" y="246163"/>
                  <a:pt x="334925" y="210645"/>
                  <a:pt x="313053" y="188704"/>
                </a:cubicBezTo>
                <a:cubicBezTo>
                  <a:pt x="291181" y="166763"/>
                  <a:pt x="255663" y="166708"/>
                  <a:pt x="233722" y="188580"/>
                </a:cubicBezTo>
                <a:cubicBezTo>
                  <a:pt x="220223" y="202036"/>
                  <a:pt x="214481" y="221425"/>
                  <a:pt x="218475" y="240061"/>
                </a:cubicBezTo>
                <a:cubicBezTo>
                  <a:pt x="220468" y="249560"/>
                  <a:pt x="214384" y="258877"/>
                  <a:pt x="204886" y="260871"/>
                </a:cubicBezTo>
                <a:cubicBezTo>
                  <a:pt x="195387" y="262864"/>
                  <a:pt x="186070" y="256780"/>
                  <a:pt x="184076" y="247282"/>
                </a:cubicBezTo>
                <a:cubicBezTo>
                  <a:pt x="173679" y="197975"/>
                  <a:pt x="205222" y="149577"/>
                  <a:pt x="254528" y="139180"/>
                </a:cubicBezTo>
                <a:cubicBezTo>
                  <a:pt x="284664" y="132826"/>
                  <a:pt x="315973" y="142104"/>
                  <a:pt x="337781" y="163852"/>
                </a:cubicBezTo>
                <a:close/>
                <a:moveTo>
                  <a:pt x="290711" y="407481"/>
                </a:moveTo>
                <a:lnTo>
                  <a:pt x="290711" y="407503"/>
                </a:lnTo>
                <a:cubicBezTo>
                  <a:pt x="290704" y="417210"/>
                  <a:pt x="282832" y="425072"/>
                  <a:pt x="273126" y="425066"/>
                </a:cubicBezTo>
                <a:cubicBezTo>
                  <a:pt x="263420" y="425060"/>
                  <a:pt x="255558" y="417188"/>
                  <a:pt x="255563" y="407481"/>
                </a:cubicBezTo>
                <a:cubicBezTo>
                  <a:pt x="255570" y="397775"/>
                  <a:pt x="263442" y="389912"/>
                  <a:pt x="273148" y="389919"/>
                </a:cubicBezTo>
                <a:cubicBezTo>
                  <a:pt x="282845" y="389924"/>
                  <a:pt x="290704" y="397784"/>
                  <a:pt x="290711" y="407481"/>
                </a:cubicBezTo>
                <a:close/>
              </a:path>
            </a:pathLst>
          </a:custGeom>
          <a:gradFill>
            <a:gsLst>
              <a:gs pos="0">
                <a:srgbClr val="BDF2BD"/>
              </a:gs>
              <a:gs pos="55000">
                <a:srgbClr val="C3E9FC"/>
              </a:gs>
            </a:gsLst>
            <a:lin ang="2700000" scaled="1"/>
          </a:gradFill>
          <a:ln w="1098" cap="flat">
            <a:noFill/>
            <a:prstDash val="solid"/>
            <a:miter/>
          </a:ln>
        </p:spPr>
        <p:txBody>
          <a:bodyPr rtlCol="0" anchor="ctr"/>
          <a:lstStyle/>
          <a:p>
            <a:endParaRPr lang="en-GB"/>
          </a:p>
        </p:txBody>
      </p:sp>
      <p:grpSp>
        <p:nvGrpSpPr>
          <p:cNvPr id="73" name="Group 72">
            <a:extLst>
              <a:ext uri="{FF2B5EF4-FFF2-40B4-BE49-F238E27FC236}">
                <a16:creationId xmlns:a16="http://schemas.microsoft.com/office/drawing/2014/main" id="{ED6F1A67-055A-2269-1032-D8A3BC97A305}"/>
              </a:ext>
            </a:extLst>
          </p:cNvPr>
          <p:cNvGrpSpPr/>
          <p:nvPr/>
        </p:nvGrpSpPr>
        <p:grpSpPr>
          <a:xfrm>
            <a:off x="4423621" y="4598943"/>
            <a:ext cx="827024" cy="788949"/>
            <a:chOff x="1600003" y="1811018"/>
            <a:chExt cx="1641521" cy="1641995"/>
          </a:xfrm>
        </p:grpSpPr>
        <p:sp>
          <p:nvSpPr>
            <p:cNvPr id="74" name="Oval 17">
              <a:extLst>
                <a:ext uri="{FF2B5EF4-FFF2-40B4-BE49-F238E27FC236}">
                  <a16:creationId xmlns:a16="http://schemas.microsoft.com/office/drawing/2014/main" id="{C28759BF-0CD9-8BD5-415A-241328B2F35F}"/>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75" name="Group 74">
              <a:extLst>
                <a:ext uri="{FF2B5EF4-FFF2-40B4-BE49-F238E27FC236}">
                  <a16:creationId xmlns:a16="http://schemas.microsoft.com/office/drawing/2014/main" id="{3DDEB72E-D7F0-FFAD-6447-2E3222981F9B}"/>
                </a:ext>
              </a:extLst>
            </p:cNvPr>
            <p:cNvGrpSpPr/>
            <p:nvPr/>
          </p:nvGrpSpPr>
          <p:grpSpPr>
            <a:xfrm>
              <a:off x="1714608" y="1927185"/>
              <a:ext cx="1412311" cy="1409652"/>
              <a:chOff x="1261672" y="4833938"/>
              <a:chExt cx="954296" cy="954302"/>
            </a:xfrm>
          </p:grpSpPr>
          <p:sp>
            <p:nvSpPr>
              <p:cNvPr id="76" name="Rectangle: Rounded Corners 75">
                <a:extLst>
                  <a:ext uri="{FF2B5EF4-FFF2-40B4-BE49-F238E27FC236}">
                    <a16:creationId xmlns:a16="http://schemas.microsoft.com/office/drawing/2014/main" id="{55B2C556-FF7D-7CC9-02F9-A3D6F067B3AB}"/>
                  </a:ext>
                </a:extLst>
              </p:cNvPr>
              <p:cNvSpPr/>
              <p:nvPr userDrawn="1"/>
            </p:nvSpPr>
            <p:spPr bwMode="auto">
              <a:xfrm>
                <a:off x="1261672" y="4833944"/>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77" name="Rectangle: Rounded Corners 76">
                <a:extLst>
                  <a:ext uri="{FF2B5EF4-FFF2-40B4-BE49-F238E27FC236}">
                    <a16:creationId xmlns:a16="http://schemas.microsoft.com/office/drawing/2014/main" id="{9B79C3D0-5E18-7D0F-75E3-0AE5813CAD49}"/>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78" name="Graphic 4">
            <a:extLst>
              <a:ext uri="{FF2B5EF4-FFF2-40B4-BE49-F238E27FC236}">
                <a16:creationId xmlns:a16="http://schemas.microsoft.com/office/drawing/2014/main" id="{A1D6C5A1-BA91-6815-5B31-0E4603DA47CC}"/>
              </a:ext>
            </a:extLst>
          </p:cNvPr>
          <p:cNvSpPr/>
          <p:nvPr/>
        </p:nvSpPr>
        <p:spPr>
          <a:xfrm>
            <a:off x="4618229" y="4725633"/>
            <a:ext cx="487580" cy="491674"/>
          </a:xfrm>
          <a:custGeom>
            <a:avLst/>
            <a:gdLst>
              <a:gd name="connsiteX0" fmla="*/ 466487 w 546534"/>
              <a:gd name="connsiteY0" fmla="*/ 80002 h 562327"/>
              <a:gd name="connsiteX1" fmla="*/ 80009 w 546534"/>
              <a:gd name="connsiteY1" fmla="*/ 80083 h 562327"/>
              <a:gd name="connsiteX2" fmla="*/ 34809 w 546534"/>
              <a:gd name="connsiteY2" fmla="*/ 406737 h 562327"/>
              <a:gd name="connsiteX3" fmla="*/ 11568 w 546534"/>
              <a:gd name="connsiteY3" fmla="*/ 541773 h 562327"/>
              <a:gd name="connsiteX4" fmla="*/ 25907 w 546534"/>
              <a:gd name="connsiteY4" fmla="*/ 562073 h 562327"/>
              <a:gd name="connsiteX5" fmla="*/ 34963 w 546534"/>
              <a:gd name="connsiteY5" fmla="*/ 561243 h 562327"/>
              <a:gd name="connsiteX6" fmla="*/ 151939 w 546534"/>
              <a:gd name="connsiteY6" fmla="*/ 518122 h 562327"/>
              <a:gd name="connsiteX7" fmla="*/ 518128 w 546534"/>
              <a:gd name="connsiteY7" fmla="*/ 394546 h 562327"/>
              <a:gd name="connsiteX8" fmla="*/ 466487 w 546534"/>
              <a:gd name="connsiteY8" fmla="*/ 80002 h 562327"/>
              <a:gd name="connsiteX9" fmla="*/ 273263 w 546534"/>
              <a:gd name="connsiteY9" fmla="*/ 511338 h 562327"/>
              <a:gd name="connsiteX10" fmla="*/ 161382 w 546534"/>
              <a:gd name="connsiteY10" fmla="*/ 483455 h 562327"/>
              <a:gd name="connsiteX11" fmla="*/ 147032 w 546534"/>
              <a:gd name="connsiteY11" fmla="*/ 482472 h 562327"/>
              <a:gd name="connsiteX12" fmla="*/ 51370 w 546534"/>
              <a:gd name="connsiteY12" fmla="*/ 517734 h 562327"/>
              <a:gd name="connsiteX13" fmla="*/ 70523 w 546534"/>
              <a:gd name="connsiteY13" fmla="*/ 406437 h 562327"/>
              <a:gd name="connsiteX14" fmla="*/ 68317 w 546534"/>
              <a:gd name="connsiteY14" fmla="*/ 394498 h 562327"/>
              <a:gd name="connsiteX15" fmla="*/ 35147 w 546534"/>
              <a:gd name="connsiteY15" fmla="*/ 273232 h 562327"/>
              <a:gd name="connsiteX16" fmla="*/ 273263 w 546534"/>
              <a:gd name="connsiteY16" fmla="*/ 35113 h 562327"/>
              <a:gd name="connsiteX17" fmla="*/ 511376 w 546534"/>
              <a:gd name="connsiteY17" fmla="*/ 273226 h 562327"/>
              <a:gd name="connsiteX18" fmla="*/ 273263 w 546534"/>
              <a:gd name="connsiteY18" fmla="*/ 511338 h 562327"/>
              <a:gd name="connsiteX19" fmla="*/ 337779 w 546534"/>
              <a:gd name="connsiteY19" fmla="*/ 163852 h 562327"/>
              <a:gd name="connsiteX20" fmla="*/ 337779 w 546534"/>
              <a:gd name="connsiteY20" fmla="*/ 292887 h 562327"/>
              <a:gd name="connsiteX21" fmla="*/ 296185 w 546534"/>
              <a:gd name="connsiteY21" fmla="*/ 334483 h 562327"/>
              <a:gd name="connsiteX22" fmla="*/ 290837 w 546534"/>
              <a:gd name="connsiteY22" fmla="*/ 347399 h 562327"/>
              <a:gd name="connsiteX23" fmla="*/ 290837 w 546534"/>
              <a:gd name="connsiteY23" fmla="*/ 365851 h 562327"/>
              <a:gd name="connsiteX24" fmla="*/ 273263 w 546534"/>
              <a:gd name="connsiteY24" fmla="*/ 383425 h 562327"/>
              <a:gd name="connsiteX25" fmla="*/ 255689 w 546534"/>
              <a:gd name="connsiteY25" fmla="*/ 365851 h 562327"/>
              <a:gd name="connsiteX26" fmla="*/ 255689 w 546534"/>
              <a:gd name="connsiteY26" fmla="*/ 347399 h 562327"/>
              <a:gd name="connsiteX27" fmla="*/ 271334 w 546534"/>
              <a:gd name="connsiteY27" fmla="*/ 309630 h 562327"/>
              <a:gd name="connsiteX28" fmla="*/ 312928 w 546534"/>
              <a:gd name="connsiteY28" fmla="*/ 268035 h 562327"/>
              <a:gd name="connsiteX29" fmla="*/ 313053 w 546534"/>
              <a:gd name="connsiteY29" fmla="*/ 188704 h 562327"/>
              <a:gd name="connsiteX30" fmla="*/ 233722 w 546534"/>
              <a:gd name="connsiteY30" fmla="*/ 188580 h 562327"/>
              <a:gd name="connsiteX31" fmla="*/ 218475 w 546534"/>
              <a:gd name="connsiteY31" fmla="*/ 240061 h 562327"/>
              <a:gd name="connsiteX32" fmla="*/ 204886 w 546534"/>
              <a:gd name="connsiteY32" fmla="*/ 260871 h 562327"/>
              <a:gd name="connsiteX33" fmla="*/ 184076 w 546534"/>
              <a:gd name="connsiteY33" fmla="*/ 247282 h 562327"/>
              <a:gd name="connsiteX34" fmla="*/ 254528 w 546534"/>
              <a:gd name="connsiteY34" fmla="*/ 139180 h 562327"/>
              <a:gd name="connsiteX35" fmla="*/ 337781 w 546534"/>
              <a:gd name="connsiteY35" fmla="*/ 163852 h 562327"/>
              <a:gd name="connsiteX36" fmla="*/ 290711 w 546534"/>
              <a:gd name="connsiteY36" fmla="*/ 407481 h 562327"/>
              <a:gd name="connsiteX37" fmla="*/ 290711 w 546534"/>
              <a:gd name="connsiteY37" fmla="*/ 407503 h 562327"/>
              <a:gd name="connsiteX38" fmla="*/ 273126 w 546534"/>
              <a:gd name="connsiteY38" fmla="*/ 425066 h 562327"/>
              <a:gd name="connsiteX39" fmla="*/ 255563 w 546534"/>
              <a:gd name="connsiteY39" fmla="*/ 407481 h 562327"/>
              <a:gd name="connsiteX40" fmla="*/ 273148 w 546534"/>
              <a:gd name="connsiteY40" fmla="*/ 389919 h 562327"/>
              <a:gd name="connsiteX41" fmla="*/ 290711 w 546534"/>
              <a:gd name="connsiteY41" fmla="*/ 407481 h 5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534" h="562327">
                <a:moveTo>
                  <a:pt x="466487" y="80002"/>
                </a:moveTo>
                <a:cubicBezTo>
                  <a:pt x="359742" y="-26699"/>
                  <a:pt x="186710" y="-26663"/>
                  <a:pt x="80009" y="80083"/>
                </a:cubicBezTo>
                <a:cubicBezTo>
                  <a:pt x="-6457" y="166585"/>
                  <a:pt x="-24919" y="300005"/>
                  <a:pt x="34809" y="406737"/>
                </a:cubicBezTo>
                <a:lnTo>
                  <a:pt x="11568" y="541773"/>
                </a:lnTo>
                <a:cubicBezTo>
                  <a:pt x="9922" y="551338"/>
                  <a:pt x="16342" y="560426"/>
                  <a:pt x="25907" y="562073"/>
                </a:cubicBezTo>
                <a:cubicBezTo>
                  <a:pt x="28946" y="562596"/>
                  <a:pt x="32070" y="562310"/>
                  <a:pt x="34963" y="561243"/>
                </a:cubicBezTo>
                <a:lnTo>
                  <a:pt x="151939" y="518122"/>
                </a:lnTo>
                <a:cubicBezTo>
                  <a:pt x="287184" y="585118"/>
                  <a:pt x="451132" y="529791"/>
                  <a:pt x="518128" y="394546"/>
                </a:cubicBezTo>
                <a:cubicBezTo>
                  <a:pt x="570176" y="289477"/>
                  <a:pt x="549397" y="162914"/>
                  <a:pt x="466487" y="80002"/>
                </a:cubicBezTo>
                <a:close/>
                <a:moveTo>
                  <a:pt x="273263" y="511338"/>
                </a:moveTo>
                <a:cubicBezTo>
                  <a:pt x="234250" y="511334"/>
                  <a:pt x="195834" y="501760"/>
                  <a:pt x="161382" y="483455"/>
                </a:cubicBezTo>
                <a:cubicBezTo>
                  <a:pt x="156958" y="481095"/>
                  <a:pt x="151736" y="480738"/>
                  <a:pt x="147032" y="482472"/>
                </a:cubicBezTo>
                <a:lnTo>
                  <a:pt x="51370" y="517734"/>
                </a:lnTo>
                <a:lnTo>
                  <a:pt x="70523" y="406437"/>
                </a:lnTo>
                <a:cubicBezTo>
                  <a:pt x="71229" y="402321"/>
                  <a:pt x="70448" y="398089"/>
                  <a:pt x="68317" y="394498"/>
                </a:cubicBezTo>
                <a:cubicBezTo>
                  <a:pt x="46581" y="357784"/>
                  <a:pt x="35124" y="315898"/>
                  <a:pt x="35147" y="273232"/>
                </a:cubicBezTo>
                <a:cubicBezTo>
                  <a:pt x="35150" y="141930"/>
                  <a:pt x="141967" y="35113"/>
                  <a:pt x="273263" y="35113"/>
                </a:cubicBezTo>
                <a:cubicBezTo>
                  <a:pt x="404559" y="35113"/>
                  <a:pt x="511376" y="141930"/>
                  <a:pt x="511376" y="273226"/>
                </a:cubicBezTo>
                <a:cubicBezTo>
                  <a:pt x="511376" y="404522"/>
                  <a:pt x="404559" y="511338"/>
                  <a:pt x="273263" y="511338"/>
                </a:cubicBezTo>
                <a:close/>
                <a:moveTo>
                  <a:pt x="337779" y="163852"/>
                </a:moveTo>
                <a:cubicBezTo>
                  <a:pt x="373292" y="199533"/>
                  <a:pt x="373292" y="257207"/>
                  <a:pt x="337779" y="292887"/>
                </a:cubicBezTo>
                <a:lnTo>
                  <a:pt x="296185" y="334483"/>
                </a:lnTo>
                <a:cubicBezTo>
                  <a:pt x="292635" y="337823"/>
                  <a:pt x="290688" y="342526"/>
                  <a:pt x="290837" y="347399"/>
                </a:cubicBezTo>
                <a:lnTo>
                  <a:pt x="290837" y="365851"/>
                </a:lnTo>
                <a:cubicBezTo>
                  <a:pt x="290837" y="375557"/>
                  <a:pt x="282969" y="383425"/>
                  <a:pt x="273263" y="383425"/>
                </a:cubicBezTo>
                <a:cubicBezTo>
                  <a:pt x="263557" y="383425"/>
                  <a:pt x="255689" y="375557"/>
                  <a:pt x="255689" y="365851"/>
                </a:cubicBezTo>
                <a:lnTo>
                  <a:pt x="255689" y="347399"/>
                </a:lnTo>
                <a:cubicBezTo>
                  <a:pt x="255572" y="333210"/>
                  <a:pt x="261217" y="319580"/>
                  <a:pt x="271334" y="309630"/>
                </a:cubicBezTo>
                <a:lnTo>
                  <a:pt x="312928" y="268035"/>
                </a:lnTo>
                <a:cubicBezTo>
                  <a:pt x="334869" y="246163"/>
                  <a:pt x="334925" y="210645"/>
                  <a:pt x="313053" y="188704"/>
                </a:cubicBezTo>
                <a:cubicBezTo>
                  <a:pt x="291181" y="166763"/>
                  <a:pt x="255663" y="166708"/>
                  <a:pt x="233722" y="188580"/>
                </a:cubicBezTo>
                <a:cubicBezTo>
                  <a:pt x="220223" y="202036"/>
                  <a:pt x="214481" y="221425"/>
                  <a:pt x="218475" y="240061"/>
                </a:cubicBezTo>
                <a:cubicBezTo>
                  <a:pt x="220468" y="249560"/>
                  <a:pt x="214384" y="258877"/>
                  <a:pt x="204886" y="260871"/>
                </a:cubicBezTo>
                <a:cubicBezTo>
                  <a:pt x="195387" y="262864"/>
                  <a:pt x="186070" y="256780"/>
                  <a:pt x="184076" y="247282"/>
                </a:cubicBezTo>
                <a:cubicBezTo>
                  <a:pt x="173679" y="197975"/>
                  <a:pt x="205222" y="149577"/>
                  <a:pt x="254528" y="139180"/>
                </a:cubicBezTo>
                <a:cubicBezTo>
                  <a:pt x="284664" y="132826"/>
                  <a:pt x="315973" y="142104"/>
                  <a:pt x="337781" y="163852"/>
                </a:cubicBezTo>
                <a:close/>
                <a:moveTo>
                  <a:pt x="290711" y="407481"/>
                </a:moveTo>
                <a:lnTo>
                  <a:pt x="290711" y="407503"/>
                </a:lnTo>
                <a:cubicBezTo>
                  <a:pt x="290704" y="417210"/>
                  <a:pt x="282832" y="425072"/>
                  <a:pt x="273126" y="425066"/>
                </a:cubicBezTo>
                <a:cubicBezTo>
                  <a:pt x="263420" y="425060"/>
                  <a:pt x="255558" y="417188"/>
                  <a:pt x="255563" y="407481"/>
                </a:cubicBezTo>
                <a:cubicBezTo>
                  <a:pt x="255570" y="397775"/>
                  <a:pt x="263442" y="389912"/>
                  <a:pt x="273148" y="389919"/>
                </a:cubicBezTo>
                <a:cubicBezTo>
                  <a:pt x="282845" y="389924"/>
                  <a:pt x="290704" y="397784"/>
                  <a:pt x="290711" y="407481"/>
                </a:cubicBezTo>
                <a:close/>
              </a:path>
            </a:pathLst>
          </a:custGeom>
          <a:gradFill>
            <a:gsLst>
              <a:gs pos="0">
                <a:srgbClr val="BDF2BD"/>
              </a:gs>
              <a:gs pos="55000">
                <a:srgbClr val="C3E9FC"/>
              </a:gs>
            </a:gsLst>
            <a:lin ang="2700000" scaled="1"/>
          </a:gradFill>
          <a:ln w="1098" cap="flat">
            <a:noFill/>
            <a:prstDash val="solid"/>
            <a:miter/>
          </a:ln>
        </p:spPr>
        <p:txBody>
          <a:bodyPr rtlCol="0" anchor="ctr"/>
          <a:lstStyle/>
          <a:p>
            <a:endParaRPr lang="en-GB"/>
          </a:p>
        </p:txBody>
      </p:sp>
      <p:grpSp>
        <p:nvGrpSpPr>
          <p:cNvPr id="79" name="Group 78">
            <a:extLst>
              <a:ext uri="{FF2B5EF4-FFF2-40B4-BE49-F238E27FC236}">
                <a16:creationId xmlns:a16="http://schemas.microsoft.com/office/drawing/2014/main" id="{B54C07C8-780B-9485-D697-0EA2949C10E0}"/>
              </a:ext>
            </a:extLst>
          </p:cNvPr>
          <p:cNvGrpSpPr/>
          <p:nvPr/>
        </p:nvGrpSpPr>
        <p:grpSpPr>
          <a:xfrm>
            <a:off x="8319505" y="4600421"/>
            <a:ext cx="827024" cy="788949"/>
            <a:chOff x="1600003" y="1811018"/>
            <a:chExt cx="1641521" cy="1641995"/>
          </a:xfrm>
        </p:grpSpPr>
        <p:sp>
          <p:nvSpPr>
            <p:cNvPr id="80" name="Oval 17">
              <a:extLst>
                <a:ext uri="{FF2B5EF4-FFF2-40B4-BE49-F238E27FC236}">
                  <a16:creationId xmlns:a16="http://schemas.microsoft.com/office/drawing/2014/main" id="{CDE29BCF-D5B6-B1B0-2077-955249BD13F5}"/>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81" name="Group 80">
              <a:extLst>
                <a:ext uri="{FF2B5EF4-FFF2-40B4-BE49-F238E27FC236}">
                  <a16:creationId xmlns:a16="http://schemas.microsoft.com/office/drawing/2014/main" id="{C6914C60-08B8-BD3A-0E69-6FC36AC0DCBB}"/>
                </a:ext>
              </a:extLst>
            </p:cNvPr>
            <p:cNvGrpSpPr/>
            <p:nvPr/>
          </p:nvGrpSpPr>
          <p:grpSpPr>
            <a:xfrm>
              <a:off x="1714608" y="1927185"/>
              <a:ext cx="1412311" cy="1409652"/>
              <a:chOff x="1261672" y="4833938"/>
              <a:chExt cx="954296" cy="954302"/>
            </a:xfrm>
          </p:grpSpPr>
          <p:sp>
            <p:nvSpPr>
              <p:cNvPr id="82" name="Rectangle: Rounded Corners 81">
                <a:extLst>
                  <a:ext uri="{FF2B5EF4-FFF2-40B4-BE49-F238E27FC236}">
                    <a16:creationId xmlns:a16="http://schemas.microsoft.com/office/drawing/2014/main" id="{7974419A-51B4-F230-8EE9-A532F041F214}"/>
                  </a:ext>
                </a:extLst>
              </p:cNvPr>
              <p:cNvSpPr/>
              <p:nvPr userDrawn="1"/>
            </p:nvSpPr>
            <p:spPr bwMode="auto">
              <a:xfrm>
                <a:off x="1261672" y="4833944"/>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83" name="Rectangle: Rounded Corners 82">
                <a:extLst>
                  <a:ext uri="{FF2B5EF4-FFF2-40B4-BE49-F238E27FC236}">
                    <a16:creationId xmlns:a16="http://schemas.microsoft.com/office/drawing/2014/main" id="{3B8A5931-0A77-1815-60F2-B84519DE5E09}"/>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84" name="Graphic 4">
            <a:extLst>
              <a:ext uri="{FF2B5EF4-FFF2-40B4-BE49-F238E27FC236}">
                <a16:creationId xmlns:a16="http://schemas.microsoft.com/office/drawing/2014/main" id="{3669FC17-6838-2344-B98D-F06FD8D9A453}"/>
              </a:ext>
            </a:extLst>
          </p:cNvPr>
          <p:cNvSpPr/>
          <p:nvPr/>
        </p:nvSpPr>
        <p:spPr>
          <a:xfrm>
            <a:off x="8522739" y="4735737"/>
            <a:ext cx="487580" cy="491674"/>
          </a:xfrm>
          <a:custGeom>
            <a:avLst/>
            <a:gdLst>
              <a:gd name="connsiteX0" fmla="*/ 466487 w 546534"/>
              <a:gd name="connsiteY0" fmla="*/ 80002 h 562327"/>
              <a:gd name="connsiteX1" fmla="*/ 80009 w 546534"/>
              <a:gd name="connsiteY1" fmla="*/ 80083 h 562327"/>
              <a:gd name="connsiteX2" fmla="*/ 34809 w 546534"/>
              <a:gd name="connsiteY2" fmla="*/ 406737 h 562327"/>
              <a:gd name="connsiteX3" fmla="*/ 11568 w 546534"/>
              <a:gd name="connsiteY3" fmla="*/ 541773 h 562327"/>
              <a:gd name="connsiteX4" fmla="*/ 25907 w 546534"/>
              <a:gd name="connsiteY4" fmla="*/ 562073 h 562327"/>
              <a:gd name="connsiteX5" fmla="*/ 34963 w 546534"/>
              <a:gd name="connsiteY5" fmla="*/ 561243 h 562327"/>
              <a:gd name="connsiteX6" fmla="*/ 151939 w 546534"/>
              <a:gd name="connsiteY6" fmla="*/ 518122 h 562327"/>
              <a:gd name="connsiteX7" fmla="*/ 518128 w 546534"/>
              <a:gd name="connsiteY7" fmla="*/ 394546 h 562327"/>
              <a:gd name="connsiteX8" fmla="*/ 466487 w 546534"/>
              <a:gd name="connsiteY8" fmla="*/ 80002 h 562327"/>
              <a:gd name="connsiteX9" fmla="*/ 273263 w 546534"/>
              <a:gd name="connsiteY9" fmla="*/ 511338 h 562327"/>
              <a:gd name="connsiteX10" fmla="*/ 161382 w 546534"/>
              <a:gd name="connsiteY10" fmla="*/ 483455 h 562327"/>
              <a:gd name="connsiteX11" fmla="*/ 147032 w 546534"/>
              <a:gd name="connsiteY11" fmla="*/ 482472 h 562327"/>
              <a:gd name="connsiteX12" fmla="*/ 51370 w 546534"/>
              <a:gd name="connsiteY12" fmla="*/ 517734 h 562327"/>
              <a:gd name="connsiteX13" fmla="*/ 70523 w 546534"/>
              <a:gd name="connsiteY13" fmla="*/ 406437 h 562327"/>
              <a:gd name="connsiteX14" fmla="*/ 68317 w 546534"/>
              <a:gd name="connsiteY14" fmla="*/ 394498 h 562327"/>
              <a:gd name="connsiteX15" fmla="*/ 35147 w 546534"/>
              <a:gd name="connsiteY15" fmla="*/ 273232 h 562327"/>
              <a:gd name="connsiteX16" fmla="*/ 273263 w 546534"/>
              <a:gd name="connsiteY16" fmla="*/ 35113 h 562327"/>
              <a:gd name="connsiteX17" fmla="*/ 511376 w 546534"/>
              <a:gd name="connsiteY17" fmla="*/ 273226 h 562327"/>
              <a:gd name="connsiteX18" fmla="*/ 273263 w 546534"/>
              <a:gd name="connsiteY18" fmla="*/ 511338 h 562327"/>
              <a:gd name="connsiteX19" fmla="*/ 337779 w 546534"/>
              <a:gd name="connsiteY19" fmla="*/ 163852 h 562327"/>
              <a:gd name="connsiteX20" fmla="*/ 337779 w 546534"/>
              <a:gd name="connsiteY20" fmla="*/ 292887 h 562327"/>
              <a:gd name="connsiteX21" fmla="*/ 296185 w 546534"/>
              <a:gd name="connsiteY21" fmla="*/ 334483 h 562327"/>
              <a:gd name="connsiteX22" fmla="*/ 290837 w 546534"/>
              <a:gd name="connsiteY22" fmla="*/ 347399 h 562327"/>
              <a:gd name="connsiteX23" fmla="*/ 290837 w 546534"/>
              <a:gd name="connsiteY23" fmla="*/ 365851 h 562327"/>
              <a:gd name="connsiteX24" fmla="*/ 273263 w 546534"/>
              <a:gd name="connsiteY24" fmla="*/ 383425 h 562327"/>
              <a:gd name="connsiteX25" fmla="*/ 255689 w 546534"/>
              <a:gd name="connsiteY25" fmla="*/ 365851 h 562327"/>
              <a:gd name="connsiteX26" fmla="*/ 255689 w 546534"/>
              <a:gd name="connsiteY26" fmla="*/ 347399 h 562327"/>
              <a:gd name="connsiteX27" fmla="*/ 271334 w 546534"/>
              <a:gd name="connsiteY27" fmla="*/ 309630 h 562327"/>
              <a:gd name="connsiteX28" fmla="*/ 312928 w 546534"/>
              <a:gd name="connsiteY28" fmla="*/ 268035 h 562327"/>
              <a:gd name="connsiteX29" fmla="*/ 313053 w 546534"/>
              <a:gd name="connsiteY29" fmla="*/ 188704 h 562327"/>
              <a:gd name="connsiteX30" fmla="*/ 233722 w 546534"/>
              <a:gd name="connsiteY30" fmla="*/ 188580 h 562327"/>
              <a:gd name="connsiteX31" fmla="*/ 218475 w 546534"/>
              <a:gd name="connsiteY31" fmla="*/ 240061 h 562327"/>
              <a:gd name="connsiteX32" fmla="*/ 204886 w 546534"/>
              <a:gd name="connsiteY32" fmla="*/ 260871 h 562327"/>
              <a:gd name="connsiteX33" fmla="*/ 184076 w 546534"/>
              <a:gd name="connsiteY33" fmla="*/ 247282 h 562327"/>
              <a:gd name="connsiteX34" fmla="*/ 254528 w 546534"/>
              <a:gd name="connsiteY34" fmla="*/ 139180 h 562327"/>
              <a:gd name="connsiteX35" fmla="*/ 337781 w 546534"/>
              <a:gd name="connsiteY35" fmla="*/ 163852 h 562327"/>
              <a:gd name="connsiteX36" fmla="*/ 290711 w 546534"/>
              <a:gd name="connsiteY36" fmla="*/ 407481 h 562327"/>
              <a:gd name="connsiteX37" fmla="*/ 290711 w 546534"/>
              <a:gd name="connsiteY37" fmla="*/ 407503 h 562327"/>
              <a:gd name="connsiteX38" fmla="*/ 273126 w 546534"/>
              <a:gd name="connsiteY38" fmla="*/ 425066 h 562327"/>
              <a:gd name="connsiteX39" fmla="*/ 255563 w 546534"/>
              <a:gd name="connsiteY39" fmla="*/ 407481 h 562327"/>
              <a:gd name="connsiteX40" fmla="*/ 273148 w 546534"/>
              <a:gd name="connsiteY40" fmla="*/ 389919 h 562327"/>
              <a:gd name="connsiteX41" fmla="*/ 290711 w 546534"/>
              <a:gd name="connsiteY41" fmla="*/ 407481 h 5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534" h="562327">
                <a:moveTo>
                  <a:pt x="466487" y="80002"/>
                </a:moveTo>
                <a:cubicBezTo>
                  <a:pt x="359742" y="-26699"/>
                  <a:pt x="186710" y="-26663"/>
                  <a:pt x="80009" y="80083"/>
                </a:cubicBezTo>
                <a:cubicBezTo>
                  <a:pt x="-6457" y="166585"/>
                  <a:pt x="-24919" y="300005"/>
                  <a:pt x="34809" y="406737"/>
                </a:cubicBezTo>
                <a:lnTo>
                  <a:pt x="11568" y="541773"/>
                </a:lnTo>
                <a:cubicBezTo>
                  <a:pt x="9922" y="551338"/>
                  <a:pt x="16342" y="560426"/>
                  <a:pt x="25907" y="562073"/>
                </a:cubicBezTo>
                <a:cubicBezTo>
                  <a:pt x="28946" y="562596"/>
                  <a:pt x="32070" y="562310"/>
                  <a:pt x="34963" y="561243"/>
                </a:cubicBezTo>
                <a:lnTo>
                  <a:pt x="151939" y="518122"/>
                </a:lnTo>
                <a:cubicBezTo>
                  <a:pt x="287184" y="585118"/>
                  <a:pt x="451132" y="529791"/>
                  <a:pt x="518128" y="394546"/>
                </a:cubicBezTo>
                <a:cubicBezTo>
                  <a:pt x="570176" y="289477"/>
                  <a:pt x="549397" y="162914"/>
                  <a:pt x="466487" y="80002"/>
                </a:cubicBezTo>
                <a:close/>
                <a:moveTo>
                  <a:pt x="273263" y="511338"/>
                </a:moveTo>
                <a:cubicBezTo>
                  <a:pt x="234250" y="511334"/>
                  <a:pt x="195834" y="501760"/>
                  <a:pt x="161382" y="483455"/>
                </a:cubicBezTo>
                <a:cubicBezTo>
                  <a:pt x="156958" y="481095"/>
                  <a:pt x="151736" y="480738"/>
                  <a:pt x="147032" y="482472"/>
                </a:cubicBezTo>
                <a:lnTo>
                  <a:pt x="51370" y="517734"/>
                </a:lnTo>
                <a:lnTo>
                  <a:pt x="70523" y="406437"/>
                </a:lnTo>
                <a:cubicBezTo>
                  <a:pt x="71229" y="402321"/>
                  <a:pt x="70448" y="398089"/>
                  <a:pt x="68317" y="394498"/>
                </a:cubicBezTo>
                <a:cubicBezTo>
                  <a:pt x="46581" y="357784"/>
                  <a:pt x="35124" y="315898"/>
                  <a:pt x="35147" y="273232"/>
                </a:cubicBezTo>
                <a:cubicBezTo>
                  <a:pt x="35150" y="141930"/>
                  <a:pt x="141967" y="35113"/>
                  <a:pt x="273263" y="35113"/>
                </a:cubicBezTo>
                <a:cubicBezTo>
                  <a:pt x="404559" y="35113"/>
                  <a:pt x="511376" y="141930"/>
                  <a:pt x="511376" y="273226"/>
                </a:cubicBezTo>
                <a:cubicBezTo>
                  <a:pt x="511376" y="404522"/>
                  <a:pt x="404559" y="511338"/>
                  <a:pt x="273263" y="511338"/>
                </a:cubicBezTo>
                <a:close/>
                <a:moveTo>
                  <a:pt x="337779" y="163852"/>
                </a:moveTo>
                <a:cubicBezTo>
                  <a:pt x="373292" y="199533"/>
                  <a:pt x="373292" y="257207"/>
                  <a:pt x="337779" y="292887"/>
                </a:cubicBezTo>
                <a:lnTo>
                  <a:pt x="296185" y="334483"/>
                </a:lnTo>
                <a:cubicBezTo>
                  <a:pt x="292635" y="337823"/>
                  <a:pt x="290688" y="342526"/>
                  <a:pt x="290837" y="347399"/>
                </a:cubicBezTo>
                <a:lnTo>
                  <a:pt x="290837" y="365851"/>
                </a:lnTo>
                <a:cubicBezTo>
                  <a:pt x="290837" y="375557"/>
                  <a:pt x="282969" y="383425"/>
                  <a:pt x="273263" y="383425"/>
                </a:cubicBezTo>
                <a:cubicBezTo>
                  <a:pt x="263557" y="383425"/>
                  <a:pt x="255689" y="375557"/>
                  <a:pt x="255689" y="365851"/>
                </a:cubicBezTo>
                <a:lnTo>
                  <a:pt x="255689" y="347399"/>
                </a:lnTo>
                <a:cubicBezTo>
                  <a:pt x="255572" y="333210"/>
                  <a:pt x="261217" y="319580"/>
                  <a:pt x="271334" y="309630"/>
                </a:cubicBezTo>
                <a:lnTo>
                  <a:pt x="312928" y="268035"/>
                </a:lnTo>
                <a:cubicBezTo>
                  <a:pt x="334869" y="246163"/>
                  <a:pt x="334925" y="210645"/>
                  <a:pt x="313053" y="188704"/>
                </a:cubicBezTo>
                <a:cubicBezTo>
                  <a:pt x="291181" y="166763"/>
                  <a:pt x="255663" y="166708"/>
                  <a:pt x="233722" y="188580"/>
                </a:cubicBezTo>
                <a:cubicBezTo>
                  <a:pt x="220223" y="202036"/>
                  <a:pt x="214481" y="221425"/>
                  <a:pt x="218475" y="240061"/>
                </a:cubicBezTo>
                <a:cubicBezTo>
                  <a:pt x="220468" y="249560"/>
                  <a:pt x="214384" y="258877"/>
                  <a:pt x="204886" y="260871"/>
                </a:cubicBezTo>
                <a:cubicBezTo>
                  <a:pt x="195387" y="262864"/>
                  <a:pt x="186070" y="256780"/>
                  <a:pt x="184076" y="247282"/>
                </a:cubicBezTo>
                <a:cubicBezTo>
                  <a:pt x="173679" y="197975"/>
                  <a:pt x="205222" y="149577"/>
                  <a:pt x="254528" y="139180"/>
                </a:cubicBezTo>
                <a:cubicBezTo>
                  <a:pt x="284664" y="132826"/>
                  <a:pt x="315973" y="142104"/>
                  <a:pt x="337781" y="163852"/>
                </a:cubicBezTo>
                <a:close/>
                <a:moveTo>
                  <a:pt x="290711" y="407481"/>
                </a:moveTo>
                <a:lnTo>
                  <a:pt x="290711" y="407503"/>
                </a:lnTo>
                <a:cubicBezTo>
                  <a:pt x="290704" y="417210"/>
                  <a:pt x="282832" y="425072"/>
                  <a:pt x="273126" y="425066"/>
                </a:cubicBezTo>
                <a:cubicBezTo>
                  <a:pt x="263420" y="425060"/>
                  <a:pt x="255558" y="417188"/>
                  <a:pt x="255563" y="407481"/>
                </a:cubicBezTo>
                <a:cubicBezTo>
                  <a:pt x="255570" y="397775"/>
                  <a:pt x="263442" y="389912"/>
                  <a:pt x="273148" y="389919"/>
                </a:cubicBezTo>
                <a:cubicBezTo>
                  <a:pt x="282845" y="389924"/>
                  <a:pt x="290704" y="397784"/>
                  <a:pt x="290711" y="407481"/>
                </a:cubicBezTo>
                <a:close/>
              </a:path>
            </a:pathLst>
          </a:custGeom>
          <a:gradFill>
            <a:gsLst>
              <a:gs pos="0">
                <a:srgbClr val="BDF2BD"/>
              </a:gs>
              <a:gs pos="55000">
                <a:srgbClr val="C3E9FC"/>
              </a:gs>
            </a:gsLst>
            <a:lin ang="2700000" scaled="1"/>
          </a:gradFill>
          <a:ln w="1098" cap="flat">
            <a:noFill/>
            <a:prstDash val="solid"/>
            <a:miter/>
          </a:ln>
        </p:spPr>
        <p:txBody>
          <a:bodyPr rtlCol="0" anchor="ctr"/>
          <a:lstStyle/>
          <a:p>
            <a:endParaRPr lang="en-GB"/>
          </a:p>
        </p:txBody>
      </p:sp>
    </p:spTree>
    <p:extLst>
      <p:ext uri="{BB962C8B-B14F-4D97-AF65-F5344CB8AC3E}">
        <p14:creationId xmlns:p14="http://schemas.microsoft.com/office/powerpoint/2010/main" val="1251492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23" presetClass="entr" presetSubtype="272" fill="hold" grpId="0" nodeType="withEffect">
                                  <p:stCondLst>
                                    <p:cond delay="250"/>
                                  </p:stCondLst>
                                  <p:childTnLst>
                                    <p:set>
                                      <p:cBhvr>
                                        <p:cTn id="9" dur="1" fill="hold">
                                          <p:stCondLst>
                                            <p:cond delay="0"/>
                                          </p:stCondLst>
                                        </p:cTn>
                                        <p:tgtEl>
                                          <p:spTgt spid="9"/>
                                        </p:tgtEl>
                                        <p:attrNameLst>
                                          <p:attrName>style.visibility</p:attrName>
                                        </p:attrNameLst>
                                      </p:cBhvr>
                                      <p:to>
                                        <p:strVal val="visible"/>
                                      </p:to>
                                    </p:set>
                                    <p:anim calcmode="lin" valueType="num">
                                      <p:cBhvr>
                                        <p:cTn id="10" dur="250" fill="hold"/>
                                        <p:tgtEl>
                                          <p:spTgt spid="9"/>
                                        </p:tgtEl>
                                        <p:attrNameLst>
                                          <p:attrName>ppt_w</p:attrName>
                                        </p:attrNameLst>
                                      </p:cBhvr>
                                      <p:tavLst>
                                        <p:tav tm="0">
                                          <p:val>
                                            <p:strVal val="2/3*#ppt_w"/>
                                          </p:val>
                                        </p:tav>
                                        <p:tav tm="100000">
                                          <p:val>
                                            <p:strVal val="#ppt_w"/>
                                          </p:val>
                                        </p:tav>
                                      </p:tavLst>
                                    </p:anim>
                                    <p:anim calcmode="lin" valueType="num">
                                      <p:cBhvr>
                                        <p:cTn id="11" dur="250" fill="hold"/>
                                        <p:tgtEl>
                                          <p:spTgt spid="9"/>
                                        </p:tgtEl>
                                        <p:attrNameLst>
                                          <p:attrName>ppt_h</p:attrName>
                                        </p:attrNameLst>
                                      </p:cBhvr>
                                      <p:tavLst>
                                        <p:tav tm="0">
                                          <p:val>
                                            <p:strVal val="2/3*#ppt_h"/>
                                          </p:val>
                                        </p:tav>
                                        <p:tav tm="100000">
                                          <p:val>
                                            <p:strVal val="#ppt_h"/>
                                          </p:val>
                                        </p:tav>
                                      </p:tavLst>
                                    </p:anim>
                                  </p:childTnLst>
                                </p:cTn>
                              </p:par>
                              <p:par>
                                <p:cTn id="12" presetID="10" presetClass="entr" presetSubtype="0" fill="hold" grpId="1" nodeType="withEffect">
                                  <p:stCondLst>
                                    <p:cond delay="25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6" presetClass="emph" presetSubtype="0" fill="hold" grpId="2" nodeType="withEffect">
                                  <p:stCondLst>
                                    <p:cond delay="250"/>
                                  </p:stCondLst>
                                  <p:childTnLst>
                                    <p:animScale>
                                      <p:cBhvr>
                                        <p:cTn id="16" dur="10" fill="hold"/>
                                        <p:tgtEl>
                                          <p:spTgt spid="9"/>
                                        </p:tgtEl>
                                      </p:cBhvr>
                                      <p:by x="80000" y="80000"/>
                                    </p:animScale>
                                  </p:childTnLst>
                                </p:cTn>
                              </p:par>
                              <p:par>
                                <p:cTn id="17" presetID="6" presetClass="emph" presetSubtype="0" decel="100000" fill="hold" grpId="3" nodeType="withEffect">
                                  <p:stCondLst>
                                    <p:cond delay="250"/>
                                  </p:stCondLst>
                                  <p:childTnLst>
                                    <p:animScale>
                                      <p:cBhvr>
                                        <p:cTn id="18" dur="1000" fill="hold"/>
                                        <p:tgtEl>
                                          <p:spTgt spid="9"/>
                                        </p:tgtEl>
                                      </p:cBhvr>
                                      <p:by x="125000" y="125000"/>
                                    </p:animScale>
                                  </p:childTnLst>
                                </p:cTn>
                              </p:par>
                              <p:par>
                                <p:cTn id="19" presetID="10" presetClass="entr" presetSubtype="0" fill="hold" grpId="0" nodeType="withEffect">
                                  <p:stCondLst>
                                    <p:cond delay="1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childTnLst>
                                </p:cTn>
                              </p:par>
                              <p:par>
                                <p:cTn id="22" presetID="23" presetClass="entr" presetSubtype="272" fill="hold" grpId="0" nodeType="withEffect">
                                  <p:stCondLst>
                                    <p:cond delay="350"/>
                                  </p:stCondLst>
                                  <p:childTnLst>
                                    <p:set>
                                      <p:cBhvr>
                                        <p:cTn id="23" dur="1" fill="hold">
                                          <p:stCondLst>
                                            <p:cond delay="0"/>
                                          </p:stCondLst>
                                        </p:cTn>
                                        <p:tgtEl>
                                          <p:spTgt spid="11"/>
                                        </p:tgtEl>
                                        <p:attrNameLst>
                                          <p:attrName>style.visibility</p:attrName>
                                        </p:attrNameLst>
                                      </p:cBhvr>
                                      <p:to>
                                        <p:strVal val="visible"/>
                                      </p:to>
                                    </p:set>
                                    <p:anim calcmode="lin" valueType="num">
                                      <p:cBhvr>
                                        <p:cTn id="24" dur="250" fill="hold"/>
                                        <p:tgtEl>
                                          <p:spTgt spid="11"/>
                                        </p:tgtEl>
                                        <p:attrNameLst>
                                          <p:attrName>ppt_w</p:attrName>
                                        </p:attrNameLst>
                                      </p:cBhvr>
                                      <p:tavLst>
                                        <p:tav tm="0">
                                          <p:val>
                                            <p:strVal val="2/3*#ppt_w"/>
                                          </p:val>
                                        </p:tav>
                                        <p:tav tm="100000">
                                          <p:val>
                                            <p:strVal val="#ppt_w"/>
                                          </p:val>
                                        </p:tav>
                                      </p:tavLst>
                                    </p:anim>
                                    <p:anim calcmode="lin" valueType="num">
                                      <p:cBhvr>
                                        <p:cTn id="25" dur="250" fill="hold"/>
                                        <p:tgtEl>
                                          <p:spTgt spid="11"/>
                                        </p:tgtEl>
                                        <p:attrNameLst>
                                          <p:attrName>ppt_h</p:attrName>
                                        </p:attrNameLst>
                                      </p:cBhvr>
                                      <p:tavLst>
                                        <p:tav tm="0">
                                          <p:val>
                                            <p:strVal val="2/3*#ppt_h"/>
                                          </p:val>
                                        </p:tav>
                                        <p:tav tm="100000">
                                          <p:val>
                                            <p:strVal val="#ppt_h"/>
                                          </p:val>
                                        </p:tav>
                                      </p:tavLst>
                                    </p:anim>
                                  </p:childTnLst>
                                </p:cTn>
                              </p:par>
                              <p:par>
                                <p:cTn id="26" presetID="10" presetClass="entr" presetSubtype="0" fill="hold" grpId="1" nodeType="withEffect">
                                  <p:stCondLst>
                                    <p:cond delay="3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6" presetClass="emph" presetSubtype="0" fill="hold" grpId="2" nodeType="withEffect">
                                  <p:stCondLst>
                                    <p:cond delay="350"/>
                                  </p:stCondLst>
                                  <p:childTnLst>
                                    <p:animScale>
                                      <p:cBhvr>
                                        <p:cTn id="30" dur="10" fill="hold"/>
                                        <p:tgtEl>
                                          <p:spTgt spid="11"/>
                                        </p:tgtEl>
                                      </p:cBhvr>
                                      <p:by x="80000" y="80000"/>
                                    </p:animScale>
                                  </p:childTnLst>
                                </p:cTn>
                              </p:par>
                              <p:par>
                                <p:cTn id="31" presetID="6" presetClass="emph" presetSubtype="0" decel="100000" fill="hold" grpId="3" nodeType="withEffect">
                                  <p:stCondLst>
                                    <p:cond delay="350"/>
                                  </p:stCondLst>
                                  <p:childTnLst>
                                    <p:animScale>
                                      <p:cBhvr>
                                        <p:cTn id="32" dur="1000" fill="hold"/>
                                        <p:tgtEl>
                                          <p:spTgt spid="11"/>
                                        </p:tgtEl>
                                      </p:cBhvr>
                                      <p:by x="125000" y="125000"/>
                                    </p:animScale>
                                  </p:childTnLst>
                                </p:cTn>
                              </p:par>
                              <p:par>
                                <p:cTn id="33" presetID="10" presetClass="entr" presetSubtype="0"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childTnLst>
                                </p:cTn>
                              </p:par>
                              <p:par>
                                <p:cTn id="36" presetID="23" presetClass="entr" presetSubtype="272" fill="hold" grpId="0" nodeType="withEffect">
                                  <p:stCondLst>
                                    <p:cond delay="450"/>
                                  </p:stCondLst>
                                  <p:childTnLst>
                                    <p:set>
                                      <p:cBhvr>
                                        <p:cTn id="37" dur="1" fill="hold">
                                          <p:stCondLst>
                                            <p:cond delay="0"/>
                                          </p:stCondLst>
                                        </p:cTn>
                                        <p:tgtEl>
                                          <p:spTgt spid="14"/>
                                        </p:tgtEl>
                                        <p:attrNameLst>
                                          <p:attrName>style.visibility</p:attrName>
                                        </p:attrNameLst>
                                      </p:cBhvr>
                                      <p:to>
                                        <p:strVal val="visible"/>
                                      </p:to>
                                    </p:set>
                                    <p:anim calcmode="lin" valueType="num">
                                      <p:cBhvr>
                                        <p:cTn id="38" dur="250" fill="hold"/>
                                        <p:tgtEl>
                                          <p:spTgt spid="14"/>
                                        </p:tgtEl>
                                        <p:attrNameLst>
                                          <p:attrName>ppt_w</p:attrName>
                                        </p:attrNameLst>
                                      </p:cBhvr>
                                      <p:tavLst>
                                        <p:tav tm="0">
                                          <p:val>
                                            <p:strVal val="2/3*#ppt_w"/>
                                          </p:val>
                                        </p:tav>
                                        <p:tav tm="100000">
                                          <p:val>
                                            <p:strVal val="#ppt_w"/>
                                          </p:val>
                                        </p:tav>
                                      </p:tavLst>
                                    </p:anim>
                                    <p:anim calcmode="lin" valueType="num">
                                      <p:cBhvr>
                                        <p:cTn id="39" dur="250" fill="hold"/>
                                        <p:tgtEl>
                                          <p:spTgt spid="14"/>
                                        </p:tgtEl>
                                        <p:attrNameLst>
                                          <p:attrName>ppt_h</p:attrName>
                                        </p:attrNameLst>
                                      </p:cBhvr>
                                      <p:tavLst>
                                        <p:tav tm="0">
                                          <p:val>
                                            <p:strVal val="2/3*#ppt_h"/>
                                          </p:val>
                                        </p:tav>
                                        <p:tav tm="100000">
                                          <p:val>
                                            <p:strVal val="#ppt_h"/>
                                          </p:val>
                                        </p:tav>
                                      </p:tavLst>
                                    </p:anim>
                                  </p:childTnLst>
                                </p:cTn>
                              </p:par>
                              <p:par>
                                <p:cTn id="40" presetID="10" presetClass="entr" presetSubtype="0" fill="hold" grpId="1" nodeType="withEffect">
                                  <p:stCondLst>
                                    <p:cond delay="45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6" presetClass="emph" presetSubtype="0" fill="hold" grpId="2" nodeType="withEffect">
                                  <p:stCondLst>
                                    <p:cond delay="450"/>
                                  </p:stCondLst>
                                  <p:childTnLst>
                                    <p:animScale>
                                      <p:cBhvr>
                                        <p:cTn id="44" dur="10" fill="hold"/>
                                        <p:tgtEl>
                                          <p:spTgt spid="14"/>
                                        </p:tgtEl>
                                      </p:cBhvr>
                                      <p:by x="80000" y="80000"/>
                                    </p:animScale>
                                  </p:childTnLst>
                                </p:cTn>
                              </p:par>
                              <p:par>
                                <p:cTn id="45" presetID="6" presetClass="emph" presetSubtype="0" decel="100000" fill="hold" grpId="3" nodeType="withEffect">
                                  <p:stCondLst>
                                    <p:cond delay="450"/>
                                  </p:stCondLst>
                                  <p:childTnLst>
                                    <p:animScale>
                                      <p:cBhvr>
                                        <p:cTn id="46" dur="1000" fill="hold"/>
                                        <p:tgtEl>
                                          <p:spTgt spid="14"/>
                                        </p:tgtEl>
                                      </p:cBhvr>
                                      <p:by x="125000" y="125000"/>
                                    </p:animScale>
                                  </p:childTnLst>
                                </p:cTn>
                              </p:par>
                              <p:par>
                                <p:cTn id="47" presetID="10" presetClass="entr" presetSubtype="0" fill="hold" grpId="0" nodeType="withEffect">
                                  <p:stCondLst>
                                    <p:cond delay="30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childTnLst>
                                </p:cTn>
                              </p:par>
                              <p:par>
                                <p:cTn id="50" presetID="23" presetClass="entr" presetSubtype="272" fill="hold" grpId="0" nodeType="withEffect">
                                  <p:stCondLst>
                                    <p:cond delay="550"/>
                                  </p:stCondLst>
                                  <p:childTnLst>
                                    <p:set>
                                      <p:cBhvr>
                                        <p:cTn id="51" dur="1" fill="hold">
                                          <p:stCondLst>
                                            <p:cond delay="0"/>
                                          </p:stCondLst>
                                        </p:cTn>
                                        <p:tgtEl>
                                          <p:spTgt spid="13"/>
                                        </p:tgtEl>
                                        <p:attrNameLst>
                                          <p:attrName>style.visibility</p:attrName>
                                        </p:attrNameLst>
                                      </p:cBhvr>
                                      <p:to>
                                        <p:strVal val="visible"/>
                                      </p:to>
                                    </p:set>
                                    <p:anim calcmode="lin" valueType="num">
                                      <p:cBhvr>
                                        <p:cTn id="52" dur="250" fill="hold"/>
                                        <p:tgtEl>
                                          <p:spTgt spid="13"/>
                                        </p:tgtEl>
                                        <p:attrNameLst>
                                          <p:attrName>ppt_w</p:attrName>
                                        </p:attrNameLst>
                                      </p:cBhvr>
                                      <p:tavLst>
                                        <p:tav tm="0">
                                          <p:val>
                                            <p:strVal val="2/3*#ppt_w"/>
                                          </p:val>
                                        </p:tav>
                                        <p:tav tm="100000">
                                          <p:val>
                                            <p:strVal val="#ppt_w"/>
                                          </p:val>
                                        </p:tav>
                                      </p:tavLst>
                                    </p:anim>
                                    <p:anim calcmode="lin" valueType="num">
                                      <p:cBhvr>
                                        <p:cTn id="53" dur="250" fill="hold"/>
                                        <p:tgtEl>
                                          <p:spTgt spid="13"/>
                                        </p:tgtEl>
                                        <p:attrNameLst>
                                          <p:attrName>ppt_h</p:attrName>
                                        </p:attrNameLst>
                                      </p:cBhvr>
                                      <p:tavLst>
                                        <p:tav tm="0">
                                          <p:val>
                                            <p:strVal val="2/3*#ppt_h"/>
                                          </p:val>
                                        </p:tav>
                                        <p:tav tm="100000">
                                          <p:val>
                                            <p:strVal val="#ppt_h"/>
                                          </p:val>
                                        </p:tav>
                                      </p:tavLst>
                                    </p:anim>
                                  </p:childTnLst>
                                </p:cTn>
                              </p:par>
                              <p:par>
                                <p:cTn id="54" presetID="10" presetClass="entr" presetSubtype="0" fill="hold" grpId="1" nodeType="withEffect">
                                  <p:stCondLst>
                                    <p:cond delay="55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par>
                                <p:cTn id="57" presetID="6" presetClass="emph" presetSubtype="0" fill="hold" grpId="2" nodeType="withEffect">
                                  <p:stCondLst>
                                    <p:cond delay="550"/>
                                  </p:stCondLst>
                                  <p:childTnLst>
                                    <p:animScale>
                                      <p:cBhvr>
                                        <p:cTn id="58" dur="10" fill="hold"/>
                                        <p:tgtEl>
                                          <p:spTgt spid="13"/>
                                        </p:tgtEl>
                                      </p:cBhvr>
                                      <p:by x="80000" y="80000"/>
                                    </p:animScale>
                                  </p:childTnLst>
                                </p:cTn>
                              </p:par>
                              <p:par>
                                <p:cTn id="59" presetID="6" presetClass="emph" presetSubtype="0" decel="100000" fill="hold" grpId="3" nodeType="withEffect">
                                  <p:stCondLst>
                                    <p:cond delay="550"/>
                                  </p:stCondLst>
                                  <p:childTnLst>
                                    <p:animScale>
                                      <p:cBhvr>
                                        <p:cTn id="60" dur="1000" fill="hold"/>
                                        <p:tgtEl>
                                          <p:spTgt spid="13"/>
                                        </p:tgtEl>
                                      </p:cBhvr>
                                      <p:by x="125000" y="125000"/>
                                    </p:animScale>
                                  </p:childTnLst>
                                </p:cTn>
                              </p:par>
                              <p:par>
                                <p:cTn id="61" presetID="10" presetClass="entr" presetSubtype="0" fill="hold" grpId="0" nodeType="withEffect">
                                  <p:stCondLst>
                                    <p:cond delay="30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childTnLst>
                                </p:cTn>
                              </p:par>
                              <p:par>
                                <p:cTn id="64" presetID="23" presetClass="entr" presetSubtype="272" fill="hold" grpId="0" nodeType="withEffect">
                                  <p:stCondLst>
                                    <p:cond delay="550"/>
                                  </p:stCondLst>
                                  <p:childTnLst>
                                    <p:set>
                                      <p:cBhvr>
                                        <p:cTn id="65" dur="1" fill="hold">
                                          <p:stCondLst>
                                            <p:cond delay="0"/>
                                          </p:stCondLst>
                                        </p:cTn>
                                        <p:tgtEl>
                                          <p:spTgt spid="16"/>
                                        </p:tgtEl>
                                        <p:attrNameLst>
                                          <p:attrName>style.visibility</p:attrName>
                                        </p:attrNameLst>
                                      </p:cBhvr>
                                      <p:to>
                                        <p:strVal val="visible"/>
                                      </p:to>
                                    </p:set>
                                    <p:anim calcmode="lin" valueType="num">
                                      <p:cBhvr>
                                        <p:cTn id="66" dur="250" fill="hold"/>
                                        <p:tgtEl>
                                          <p:spTgt spid="16"/>
                                        </p:tgtEl>
                                        <p:attrNameLst>
                                          <p:attrName>ppt_w</p:attrName>
                                        </p:attrNameLst>
                                      </p:cBhvr>
                                      <p:tavLst>
                                        <p:tav tm="0">
                                          <p:val>
                                            <p:strVal val="2/3*#ppt_w"/>
                                          </p:val>
                                        </p:tav>
                                        <p:tav tm="100000">
                                          <p:val>
                                            <p:strVal val="#ppt_w"/>
                                          </p:val>
                                        </p:tav>
                                      </p:tavLst>
                                    </p:anim>
                                    <p:anim calcmode="lin" valueType="num">
                                      <p:cBhvr>
                                        <p:cTn id="67" dur="250" fill="hold"/>
                                        <p:tgtEl>
                                          <p:spTgt spid="16"/>
                                        </p:tgtEl>
                                        <p:attrNameLst>
                                          <p:attrName>ppt_h</p:attrName>
                                        </p:attrNameLst>
                                      </p:cBhvr>
                                      <p:tavLst>
                                        <p:tav tm="0">
                                          <p:val>
                                            <p:strVal val="2/3*#ppt_h"/>
                                          </p:val>
                                        </p:tav>
                                        <p:tav tm="100000">
                                          <p:val>
                                            <p:strVal val="#ppt_h"/>
                                          </p:val>
                                        </p:tav>
                                      </p:tavLst>
                                    </p:anim>
                                  </p:childTnLst>
                                </p:cTn>
                              </p:par>
                              <p:par>
                                <p:cTn id="68" presetID="10" presetClass="entr" presetSubtype="0" fill="hold" grpId="1" nodeType="withEffect">
                                  <p:stCondLst>
                                    <p:cond delay="55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500"/>
                                        <p:tgtEl>
                                          <p:spTgt spid="16"/>
                                        </p:tgtEl>
                                      </p:cBhvr>
                                    </p:animEffect>
                                  </p:childTnLst>
                                </p:cTn>
                              </p:par>
                              <p:par>
                                <p:cTn id="71" presetID="6" presetClass="emph" presetSubtype="0" fill="hold" grpId="2" nodeType="withEffect">
                                  <p:stCondLst>
                                    <p:cond delay="550"/>
                                  </p:stCondLst>
                                  <p:childTnLst>
                                    <p:animScale>
                                      <p:cBhvr>
                                        <p:cTn id="72" dur="10" fill="hold"/>
                                        <p:tgtEl>
                                          <p:spTgt spid="16"/>
                                        </p:tgtEl>
                                      </p:cBhvr>
                                      <p:by x="80000" y="80000"/>
                                    </p:animScale>
                                  </p:childTnLst>
                                </p:cTn>
                              </p:par>
                              <p:par>
                                <p:cTn id="73" presetID="6" presetClass="emph" presetSubtype="0" decel="100000" fill="hold" grpId="3" nodeType="withEffect">
                                  <p:stCondLst>
                                    <p:cond delay="550"/>
                                  </p:stCondLst>
                                  <p:childTnLst>
                                    <p:animScale>
                                      <p:cBhvr>
                                        <p:cTn id="74" dur="1000" fill="hold"/>
                                        <p:tgtEl>
                                          <p:spTgt spid="16"/>
                                        </p:tgtEl>
                                      </p:cBhvr>
                                      <p:by x="125000" y="125000"/>
                                    </p:animScale>
                                  </p:childTnLst>
                                </p:cTn>
                              </p:par>
                              <p:par>
                                <p:cTn id="75" presetID="10" presetClass="entr" presetSubtype="0" fill="hold" grpId="0" nodeType="withEffect">
                                  <p:stCondLst>
                                    <p:cond delay="30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childTnLst>
                                </p:cTn>
                              </p:par>
                              <p:par>
                                <p:cTn id="78" presetID="23" presetClass="entr" presetSubtype="272" fill="hold" grpId="0" nodeType="withEffect">
                                  <p:stCondLst>
                                    <p:cond delay="550"/>
                                  </p:stCondLst>
                                  <p:childTnLst>
                                    <p:set>
                                      <p:cBhvr>
                                        <p:cTn id="79" dur="1" fill="hold">
                                          <p:stCondLst>
                                            <p:cond delay="0"/>
                                          </p:stCondLst>
                                        </p:cTn>
                                        <p:tgtEl>
                                          <p:spTgt spid="23"/>
                                        </p:tgtEl>
                                        <p:attrNameLst>
                                          <p:attrName>style.visibility</p:attrName>
                                        </p:attrNameLst>
                                      </p:cBhvr>
                                      <p:to>
                                        <p:strVal val="visible"/>
                                      </p:to>
                                    </p:set>
                                    <p:anim calcmode="lin" valueType="num">
                                      <p:cBhvr>
                                        <p:cTn id="80" dur="250" fill="hold"/>
                                        <p:tgtEl>
                                          <p:spTgt spid="23"/>
                                        </p:tgtEl>
                                        <p:attrNameLst>
                                          <p:attrName>ppt_w</p:attrName>
                                        </p:attrNameLst>
                                      </p:cBhvr>
                                      <p:tavLst>
                                        <p:tav tm="0">
                                          <p:val>
                                            <p:strVal val="2/3*#ppt_w"/>
                                          </p:val>
                                        </p:tav>
                                        <p:tav tm="100000">
                                          <p:val>
                                            <p:strVal val="#ppt_w"/>
                                          </p:val>
                                        </p:tav>
                                      </p:tavLst>
                                    </p:anim>
                                    <p:anim calcmode="lin" valueType="num">
                                      <p:cBhvr>
                                        <p:cTn id="81" dur="250" fill="hold"/>
                                        <p:tgtEl>
                                          <p:spTgt spid="23"/>
                                        </p:tgtEl>
                                        <p:attrNameLst>
                                          <p:attrName>ppt_h</p:attrName>
                                        </p:attrNameLst>
                                      </p:cBhvr>
                                      <p:tavLst>
                                        <p:tav tm="0">
                                          <p:val>
                                            <p:strVal val="2/3*#ppt_h"/>
                                          </p:val>
                                        </p:tav>
                                        <p:tav tm="100000">
                                          <p:val>
                                            <p:strVal val="#ppt_h"/>
                                          </p:val>
                                        </p:tav>
                                      </p:tavLst>
                                    </p:anim>
                                  </p:childTnLst>
                                </p:cTn>
                              </p:par>
                              <p:par>
                                <p:cTn id="82" presetID="10" presetClass="entr" presetSubtype="0" fill="hold" grpId="1" nodeType="withEffect">
                                  <p:stCondLst>
                                    <p:cond delay="55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500"/>
                                        <p:tgtEl>
                                          <p:spTgt spid="23"/>
                                        </p:tgtEl>
                                      </p:cBhvr>
                                    </p:animEffect>
                                  </p:childTnLst>
                                </p:cTn>
                              </p:par>
                              <p:par>
                                <p:cTn id="85" presetID="6" presetClass="emph" presetSubtype="0" fill="hold" grpId="2" nodeType="withEffect">
                                  <p:stCondLst>
                                    <p:cond delay="550"/>
                                  </p:stCondLst>
                                  <p:childTnLst>
                                    <p:animScale>
                                      <p:cBhvr>
                                        <p:cTn id="86" dur="10" fill="hold"/>
                                        <p:tgtEl>
                                          <p:spTgt spid="23"/>
                                        </p:tgtEl>
                                      </p:cBhvr>
                                      <p:by x="80000" y="80000"/>
                                    </p:animScale>
                                  </p:childTnLst>
                                </p:cTn>
                              </p:par>
                              <p:par>
                                <p:cTn id="87" presetID="6" presetClass="emph" presetSubtype="0" decel="100000" fill="hold" grpId="3" nodeType="withEffect">
                                  <p:stCondLst>
                                    <p:cond delay="550"/>
                                  </p:stCondLst>
                                  <p:childTnLst>
                                    <p:animScale>
                                      <p:cBhvr>
                                        <p:cTn id="88" dur="1000" fill="hold"/>
                                        <p:tgtEl>
                                          <p:spTgt spid="23"/>
                                        </p:tgtEl>
                                      </p:cBhvr>
                                      <p:by x="125000" y="125000"/>
                                    </p:animScale>
                                  </p:childTnLst>
                                </p:cTn>
                              </p:par>
                              <p:par>
                                <p:cTn id="89" presetID="23" presetClass="entr" presetSubtype="272" fill="hold" nodeType="withEffect">
                                  <p:stCondLst>
                                    <p:cond delay="300"/>
                                  </p:stCondLst>
                                  <p:childTnLst>
                                    <p:set>
                                      <p:cBhvr>
                                        <p:cTn id="90" dur="1" fill="hold">
                                          <p:stCondLst>
                                            <p:cond delay="0"/>
                                          </p:stCondLst>
                                        </p:cTn>
                                        <p:tgtEl>
                                          <p:spTgt spid="24"/>
                                        </p:tgtEl>
                                        <p:attrNameLst>
                                          <p:attrName>style.visibility</p:attrName>
                                        </p:attrNameLst>
                                      </p:cBhvr>
                                      <p:to>
                                        <p:strVal val="visible"/>
                                      </p:to>
                                    </p:set>
                                    <p:anim calcmode="lin" valueType="num">
                                      <p:cBhvr>
                                        <p:cTn id="91" dur="250" fill="hold"/>
                                        <p:tgtEl>
                                          <p:spTgt spid="24"/>
                                        </p:tgtEl>
                                        <p:attrNameLst>
                                          <p:attrName>ppt_w</p:attrName>
                                        </p:attrNameLst>
                                      </p:cBhvr>
                                      <p:tavLst>
                                        <p:tav tm="0">
                                          <p:val>
                                            <p:strVal val="2/3*#ppt_w"/>
                                          </p:val>
                                        </p:tav>
                                        <p:tav tm="100000">
                                          <p:val>
                                            <p:strVal val="#ppt_w"/>
                                          </p:val>
                                        </p:tav>
                                      </p:tavLst>
                                    </p:anim>
                                    <p:anim calcmode="lin" valueType="num">
                                      <p:cBhvr>
                                        <p:cTn id="92" dur="250" fill="hold"/>
                                        <p:tgtEl>
                                          <p:spTgt spid="24"/>
                                        </p:tgtEl>
                                        <p:attrNameLst>
                                          <p:attrName>ppt_h</p:attrName>
                                        </p:attrNameLst>
                                      </p:cBhvr>
                                      <p:tavLst>
                                        <p:tav tm="0">
                                          <p:val>
                                            <p:strVal val="2/3*#ppt_h"/>
                                          </p:val>
                                        </p:tav>
                                        <p:tav tm="100000">
                                          <p:val>
                                            <p:strVal val="#ppt_h"/>
                                          </p:val>
                                        </p:tav>
                                      </p:tavLst>
                                    </p:anim>
                                  </p:childTnLst>
                                </p:cTn>
                              </p:par>
                              <p:par>
                                <p:cTn id="93" presetID="10" presetClass="entr" presetSubtype="0" fill="hold" nodeType="withEffect">
                                  <p:stCondLst>
                                    <p:cond delay="30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500"/>
                                        <p:tgtEl>
                                          <p:spTgt spid="24"/>
                                        </p:tgtEl>
                                      </p:cBhvr>
                                    </p:animEffect>
                                  </p:childTnLst>
                                </p:cTn>
                              </p:par>
                              <p:par>
                                <p:cTn id="96" presetID="6" presetClass="emph" presetSubtype="0" fill="hold" nodeType="withEffect">
                                  <p:stCondLst>
                                    <p:cond delay="300"/>
                                  </p:stCondLst>
                                  <p:childTnLst>
                                    <p:animScale>
                                      <p:cBhvr>
                                        <p:cTn id="97" dur="10" fill="hold"/>
                                        <p:tgtEl>
                                          <p:spTgt spid="24"/>
                                        </p:tgtEl>
                                      </p:cBhvr>
                                      <p:by x="80000" y="80000"/>
                                    </p:animScale>
                                  </p:childTnLst>
                                </p:cTn>
                              </p:par>
                              <p:par>
                                <p:cTn id="98" presetID="6" presetClass="emph" presetSubtype="0" decel="100000" fill="hold" nodeType="withEffect">
                                  <p:stCondLst>
                                    <p:cond delay="300"/>
                                  </p:stCondLst>
                                  <p:childTnLst>
                                    <p:animScale>
                                      <p:cBhvr>
                                        <p:cTn id="99" dur="1000" fill="hold"/>
                                        <p:tgtEl>
                                          <p:spTgt spid="24"/>
                                        </p:tgtEl>
                                      </p:cBhvr>
                                      <p:by x="125000" y="125000"/>
                                    </p:animScale>
                                  </p:childTnLst>
                                </p:cTn>
                              </p:par>
                              <p:par>
                                <p:cTn id="100" presetID="23" presetClass="entr" presetSubtype="272" fill="hold" nodeType="withEffect">
                                  <p:stCondLst>
                                    <p:cond delay="300"/>
                                  </p:stCondLst>
                                  <p:childTnLst>
                                    <p:set>
                                      <p:cBhvr>
                                        <p:cTn id="101" dur="1" fill="hold">
                                          <p:stCondLst>
                                            <p:cond delay="0"/>
                                          </p:stCondLst>
                                        </p:cTn>
                                        <p:tgtEl>
                                          <p:spTgt spid="29"/>
                                        </p:tgtEl>
                                        <p:attrNameLst>
                                          <p:attrName>style.visibility</p:attrName>
                                        </p:attrNameLst>
                                      </p:cBhvr>
                                      <p:to>
                                        <p:strVal val="visible"/>
                                      </p:to>
                                    </p:set>
                                    <p:anim calcmode="lin" valueType="num">
                                      <p:cBhvr>
                                        <p:cTn id="102" dur="250" fill="hold"/>
                                        <p:tgtEl>
                                          <p:spTgt spid="29"/>
                                        </p:tgtEl>
                                        <p:attrNameLst>
                                          <p:attrName>ppt_w</p:attrName>
                                        </p:attrNameLst>
                                      </p:cBhvr>
                                      <p:tavLst>
                                        <p:tav tm="0">
                                          <p:val>
                                            <p:strVal val="2/3*#ppt_w"/>
                                          </p:val>
                                        </p:tav>
                                        <p:tav tm="100000">
                                          <p:val>
                                            <p:strVal val="#ppt_w"/>
                                          </p:val>
                                        </p:tav>
                                      </p:tavLst>
                                    </p:anim>
                                    <p:anim calcmode="lin" valueType="num">
                                      <p:cBhvr>
                                        <p:cTn id="103" dur="250" fill="hold"/>
                                        <p:tgtEl>
                                          <p:spTgt spid="29"/>
                                        </p:tgtEl>
                                        <p:attrNameLst>
                                          <p:attrName>ppt_h</p:attrName>
                                        </p:attrNameLst>
                                      </p:cBhvr>
                                      <p:tavLst>
                                        <p:tav tm="0">
                                          <p:val>
                                            <p:strVal val="2/3*#ppt_h"/>
                                          </p:val>
                                        </p:tav>
                                        <p:tav tm="100000">
                                          <p:val>
                                            <p:strVal val="#ppt_h"/>
                                          </p:val>
                                        </p:tav>
                                      </p:tavLst>
                                    </p:anim>
                                  </p:childTnLst>
                                </p:cTn>
                              </p:par>
                              <p:par>
                                <p:cTn id="104" presetID="10" presetClass="entr" presetSubtype="0" fill="hold" nodeType="withEffect">
                                  <p:stCondLst>
                                    <p:cond delay="30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500"/>
                                        <p:tgtEl>
                                          <p:spTgt spid="29"/>
                                        </p:tgtEl>
                                      </p:cBhvr>
                                    </p:animEffect>
                                  </p:childTnLst>
                                </p:cTn>
                              </p:par>
                              <p:par>
                                <p:cTn id="107" presetID="6" presetClass="emph" presetSubtype="0" fill="hold" nodeType="withEffect">
                                  <p:stCondLst>
                                    <p:cond delay="300"/>
                                  </p:stCondLst>
                                  <p:childTnLst>
                                    <p:animScale>
                                      <p:cBhvr>
                                        <p:cTn id="108" dur="10" fill="hold"/>
                                        <p:tgtEl>
                                          <p:spTgt spid="29"/>
                                        </p:tgtEl>
                                      </p:cBhvr>
                                      <p:by x="80000" y="80000"/>
                                    </p:animScale>
                                  </p:childTnLst>
                                </p:cTn>
                              </p:par>
                              <p:par>
                                <p:cTn id="109" presetID="6" presetClass="emph" presetSubtype="0" decel="100000" fill="hold" nodeType="withEffect">
                                  <p:stCondLst>
                                    <p:cond delay="300"/>
                                  </p:stCondLst>
                                  <p:childTnLst>
                                    <p:animScale>
                                      <p:cBhvr>
                                        <p:cTn id="110" dur="1000" fill="hold"/>
                                        <p:tgtEl>
                                          <p:spTgt spid="29"/>
                                        </p:tgtEl>
                                      </p:cBhvr>
                                      <p:by x="125000" y="125000"/>
                                    </p:animScale>
                                  </p:childTnLst>
                                </p:cTn>
                              </p:par>
                              <p:par>
                                <p:cTn id="111" presetID="23" presetClass="entr" presetSubtype="272" fill="hold" nodeType="withEffect">
                                  <p:stCondLst>
                                    <p:cond delay="300"/>
                                  </p:stCondLst>
                                  <p:childTnLst>
                                    <p:set>
                                      <p:cBhvr>
                                        <p:cTn id="112" dur="1" fill="hold">
                                          <p:stCondLst>
                                            <p:cond delay="0"/>
                                          </p:stCondLst>
                                        </p:cTn>
                                        <p:tgtEl>
                                          <p:spTgt spid="34"/>
                                        </p:tgtEl>
                                        <p:attrNameLst>
                                          <p:attrName>style.visibility</p:attrName>
                                        </p:attrNameLst>
                                      </p:cBhvr>
                                      <p:to>
                                        <p:strVal val="visible"/>
                                      </p:to>
                                    </p:set>
                                    <p:anim calcmode="lin" valueType="num">
                                      <p:cBhvr>
                                        <p:cTn id="113" dur="250" fill="hold"/>
                                        <p:tgtEl>
                                          <p:spTgt spid="34"/>
                                        </p:tgtEl>
                                        <p:attrNameLst>
                                          <p:attrName>ppt_w</p:attrName>
                                        </p:attrNameLst>
                                      </p:cBhvr>
                                      <p:tavLst>
                                        <p:tav tm="0">
                                          <p:val>
                                            <p:strVal val="2/3*#ppt_w"/>
                                          </p:val>
                                        </p:tav>
                                        <p:tav tm="100000">
                                          <p:val>
                                            <p:strVal val="#ppt_w"/>
                                          </p:val>
                                        </p:tav>
                                      </p:tavLst>
                                    </p:anim>
                                    <p:anim calcmode="lin" valueType="num">
                                      <p:cBhvr>
                                        <p:cTn id="114" dur="250" fill="hold"/>
                                        <p:tgtEl>
                                          <p:spTgt spid="34"/>
                                        </p:tgtEl>
                                        <p:attrNameLst>
                                          <p:attrName>ppt_h</p:attrName>
                                        </p:attrNameLst>
                                      </p:cBhvr>
                                      <p:tavLst>
                                        <p:tav tm="0">
                                          <p:val>
                                            <p:strVal val="2/3*#ppt_h"/>
                                          </p:val>
                                        </p:tav>
                                        <p:tav tm="100000">
                                          <p:val>
                                            <p:strVal val="#ppt_h"/>
                                          </p:val>
                                        </p:tav>
                                      </p:tavLst>
                                    </p:anim>
                                  </p:childTnLst>
                                </p:cTn>
                              </p:par>
                              <p:par>
                                <p:cTn id="115" presetID="10" presetClass="entr" presetSubtype="0" fill="hold" nodeType="withEffect">
                                  <p:stCondLst>
                                    <p:cond delay="300"/>
                                  </p:stCondLst>
                                  <p:childTnLst>
                                    <p:set>
                                      <p:cBhvr>
                                        <p:cTn id="116" dur="1" fill="hold">
                                          <p:stCondLst>
                                            <p:cond delay="0"/>
                                          </p:stCondLst>
                                        </p:cTn>
                                        <p:tgtEl>
                                          <p:spTgt spid="34"/>
                                        </p:tgtEl>
                                        <p:attrNameLst>
                                          <p:attrName>style.visibility</p:attrName>
                                        </p:attrNameLst>
                                      </p:cBhvr>
                                      <p:to>
                                        <p:strVal val="visible"/>
                                      </p:to>
                                    </p:set>
                                    <p:animEffect transition="in" filter="fade">
                                      <p:cBhvr>
                                        <p:cTn id="117" dur="500"/>
                                        <p:tgtEl>
                                          <p:spTgt spid="34"/>
                                        </p:tgtEl>
                                      </p:cBhvr>
                                    </p:animEffect>
                                  </p:childTnLst>
                                </p:cTn>
                              </p:par>
                              <p:par>
                                <p:cTn id="118" presetID="6" presetClass="emph" presetSubtype="0" fill="hold" nodeType="withEffect">
                                  <p:stCondLst>
                                    <p:cond delay="300"/>
                                  </p:stCondLst>
                                  <p:childTnLst>
                                    <p:animScale>
                                      <p:cBhvr>
                                        <p:cTn id="119" dur="10" fill="hold"/>
                                        <p:tgtEl>
                                          <p:spTgt spid="34"/>
                                        </p:tgtEl>
                                      </p:cBhvr>
                                      <p:by x="80000" y="80000"/>
                                    </p:animScale>
                                  </p:childTnLst>
                                </p:cTn>
                              </p:par>
                              <p:par>
                                <p:cTn id="120" presetID="6" presetClass="emph" presetSubtype="0" decel="100000" fill="hold" nodeType="withEffect">
                                  <p:stCondLst>
                                    <p:cond delay="300"/>
                                  </p:stCondLst>
                                  <p:childTnLst>
                                    <p:animScale>
                                      <p:cBhvr>
                                        <p:cTn id="121" dur="1000" fill="hold"/>
                                        <p:tgtEl>
                                          <p:spTgt spid="34"/>
                                        </p:tgtEl>
                                      </p:cBhvr>
                                      <p:by x="125000" y="125000"/>
                                    </p:animScale>
                                  </p:childTnLst>
                                </p:cTn>
                              </p:par>
                              <p:par>
                                <p:cTn id="122" presetID="23" presetClass="entr" presetSubtype="272" fill="hold" nodeType="withEffect">
                                  <p:stCondLst>
                                    <p:cond delay="300"/>
                                  </p:stCondLst>
                                  <p:childTnLst>
                                    <p:set>
                                      <p:cBhvr>
                                        <p:cTn id="123" dur="1" fill="hold">
                                          <p:stCondLst>
                                            <p:cond delay="0"/>
                                          </p:stCondLst>
                                        </p:cTn>
                                        <p:tgtEl>
                                          <p:spTgt spid="39"/>
                                        </p:tgtEl>
                                        <p:attrNameLst>
                                          <p:attrName>style.visibility</p:attrName>
                                        </p:attrNameLst>
                                      </p:cBhvr>
                                      <p:to>
                                        <p:strVal val="visible"/>
                                      </p:to>
                                    </p:set>
                                    <p:anim calcmode="lin" valueType="num">
                                      <p:cBhvr>
                                        <p:cTn id="124" dur="250" fill="hold"/>
                                        <p:tgtEl>
                                          <p:spTgt spid="39"/>
                                        </p:tgtEl>
                                        <p:attrNameLst>
                                          <p:attrName>ppt_w</p:attrName>
                                        </p:attrNameLst>
                                      </p:cBhvr>
                                      <p:tavLst>
                                        <p:tav tm="0">
                                          <p:val>
                                            <p:strVal val="2/3*#ppt_w"/>
                                          </p:val>
                                        </p:tav>
                                        <p:tav tm="100000">
                                          <p:val>
                                            <p:strVal val="#ppt_w"/>
                                          </p:val>
                                        </p:tav>
                                      </p:tavLst>
                                    </p:anim>
                                    <p:anim calcmode="lin" valueType="num">
                                      <p:cBhvr>
                                        <p:cTn id="125" dur="250" fill="hold"/>
                                        <p:tgtEl>
                                          <p:spTgt spid="39"/>
                                        </p:tgtEl>
                                        <p:attrNameLst>
                                          <p:attrName>ppt_h</p:attrName>
                                        </p:attrNameLst>
                                      </p:cBhvr>
                                      <p:tavLst>
                                        <p:tav tm="0">
                                          <p:val>
                                            <p:strVal val="2/3*#ppt_h"/>
                                          </p:val>
                                        </p:tav>
                                        <p:tav tm="100000">
                                          <p:val>
                                            <p:strVal val="#ppt_h"/>
                                          </p:val>
                                        </p:tav>
                                      </p:tavLst>
                                    </p:anim>
                                  </p:childTnLst>
                                </p:cTn>
                              </p:par>
                              <p:par>
                                <p:cTn id="126" presetID="10" presetClass="entr" presetSubtype="0" fill="hold" nodeType="withEffect">
                                  <p:stCondLst>
                                    <p:cond delay="300"/>
                                  </p:stCondLst>
                                  <p:childTnLst>
                                    <p:set>
                                      <p:cBhvr>
                                        <p:cTn id="127" dur="1" fill="hold">
                                          <p:stCondLst>
                                            <p:cond delay="0"/>
                                          </p:stCondLst>
                                        </p:cTn>
                                        <p:tgtEl>
                                          <p:spTgt spid="39"/>
                                        </p:tgtEl>
                                        <p:attrNameLst>
                                          <p:attrName>style.visibility</p:attrName>
                                        </p:attrNameLst>
                                      </p:cBhvr>
                                      <p:to>
                                        <p:strVal val="visible"/>
                                      </p:to>
                                    </p:set>
                                    <p:animEffect transition="in" filter="fade">
                                      <p:cBhvr>
                                        <p:cTn id="128" dur="500"/>
                                        <p:tgtEl>
                                          <p:spTgt spid="39"/>
                                        </p:tgtEl>
                                      </p:cBhvr>
                                    </p:animEffect>
                                  </p:childTnLst>
                                </p:cTn>
                              </p:par>
                              <p:par>
                                <p:cTn id="129" presetID="6" presetClass="emph" presetSubtype="0" fill="hold" nodeType="withEffect">
                                  <p:stCondLst>
                                    <p:cond delay="300"/>
                                  </p:stCondLst>
                                  <p:childTnLst>
                                    <p:animScale>
                                      <p:cBhvr>
                                        <p:cTn id="130" dur="10" fill="hold"/>
                                        <p:tgtEl>
                                          <p:spTgt spid="39"/>
                                        </p:tgtEl>
                                      </p:cBhvr>
                                      <p:by x="80000" y="80000"/>
                                    </p:animScale>
                                  </p:childTnLst>
                                </p:cTn>
                              </p:par>
                              <p:par>
                                <p:cTn id="131" presetID="6" presetClass="emph" presetSubtype="0" decel="100000" fill="hold" nodeType="withEffect">
                                  <p:stCondLst>
                                    <p:cond delay="300"/>
                                  </p:stCondLst>
                                  <p:childTnLst>
                                    <p:animScale>
                                      <p:cBhvr>
                                        <p:cTn id="132" dur="1000" fill="hold"/>
                                        <p:tgtEl>
                                          <p:spTgt spid="39"/>
                                        </p:tgtEl>
                                      </p:cBhvr>
                                      <p:by x="125000" y="125000"/>
                                    </p:animScale>
                                  </p:childTnLst>
                                </p:cTn>
                              </p:par>
                              <p:par>
                                <p:cTn id="133" presetID="23" presetClass="entr" presetSubtype="272" fill="hold" nodeType="withEffect">
                                  <p:stCondLst>
                                    <p:cond delay="300"/>
                                  </p:stCondLst>
                                  <p:childTnLst>
                                    <p:set>
                                      <p:cBhvr>
                                        <p:cTn id="134" dur="1" fill="hold">
                                          <p:stCondLst>
                                            <p:cond delay="0"/>
                                          </p:stCondLst>
                                        </p:cTn>
                                        <p:tgtEl>
                                          <p:spTgt spid="44"/>
                                        </p:tgtEl>
                                        <p:attrNameLst>
                                          <p:attrName>style.visibility</p:attrName>
                                        </p:attrNameLst>
                                      </p:cBhvr>
                                      <p:to>
                                        <p:strVal val="visible"/>
                                      </p:to>
                                    </p:set>
                                    <p:anim calcmode="lin" valueType="num">
                                      <p:cBhvr>
                                        <p:cTn id="135" dur="250" fill="hold"/>
                                        <p:tgtEl>
                                          <p:spTgt spid="44"/>
                                        </p:tgtEl>
                                        <p:attrNameLst>
                                          <p:attrName>ppt_w</p:attrName>
                                        </p:attrNameLst>
                                      </p:cBhvr>
                                      <p:tavLst>
                                        <p:tav tm="0">
                                          <p:val>
                                            <p:strVal val="2/3*#ppt_w"/>
                                          </p:val>
                                        </p:tav>
                                        <p:tav tm="100000">
                                          <p:val>
                                            <p:strVal val="#ppt_w"/>
                                          </p:val>
                                        </p:tav>
                                      </p:tavLst>
                                    </p:anim>
                                    <p:anim calcmode="lin" valueType="num">
                                      <p:cBhvr>
                                        <p:cTn id="136" dur="250" fill="hold"/>
                                        <p:tgtEl>
                                          <p:spTgt spid="44"/>
                                        </p:tgtEl>
                                        <p:attrNameLst>
                                          <p:attrName>ppt_h</p:attrName>
                                        </p:attrNameLst>
                                      </p:cBhvr>
                                      <p:tavLst>
                                        <p:tav tm="0">
                                          <p:val>
                                            <p:strVal val="2/3*#ppt_h"/>
                                          </p:val>
                                        </p:tav>
                                        <p:tav tm="100000">
                                          <p:val>
                                            <p:strVal val="#ppt_h"/>
                                          </p:val>
                                        </p:tav>
                                      </p:tavLst>
                                    </p:anim>
                                  </p:childTnLst>
                                </p:cTn>
                              </p:par>
                              <p:par>
                                <p:cTn id="137" presetID="10" presetClass="entr" presetSubtype="0" fill="hold" nodeType="withEffect">
                                  <p:stCondLst>
                                    <p:cond delay="300"/>
                                  </p:stCondLst>
                                  <p:childTnLst>
                                    <p:set>
                                      <p:cBhvr>
                                        <p:cTn id="138" dur="1" fill="hold">
                                          <p:stCondLst>
                                            <p:cond delay="0"/>
                                          </p:stCondLst>
                                        </p:cTn>
                                        <p:tgtEl>
                                          <p:spTgt spid="44"/>
                                        </p:tgtEl>
                                        <p:attrNameLst>
                                          <p:attrName>style.visibility</p:attrName>
                                        </p:attrNameLst>
                                      </p:cBhvr>
                                      <p:to>
                                        <p:strVal val="visible"/>
                                      </p:to>
                                    </p:set>
                                    <p:animEffect transition="in" filter="fade">
                                      <p:cBhvr>
                                        <p:cTn id="139" dur="500"/>
                                        <p:tgtEl>
                                          <p:spTgt spid="44"/>
                                        </p:tgtEl>
                                      </p:cBhvr>
                                    </p:animEffect>
                                  </p:childTnLst>
                                </p:cTn>
                              </p:par>
                              <p:par>
                                <p:cTn id="140" presetID="6" presetClass="emph" presetSubtype="0" fill="hold" nodeType="withEffect">
                                  <p:stCondLst>
                                    <p:cond delay="300"/>
                                  </p:stCondLst>
                                  <p:childTnLst>
                                    <p:animScale>
                                      <p:cBhvr>
                                        <p:cTn id="141" dur="10" fill="hold"/>
                                        <p:tgtEl>
                                          <p:spTgt spid="44"/>
                                        </p:tgtEl>
                                      </p:cBhvr>
                                      <p:by x="80000" y="80000"/>
                                    </p:animScale>
                                  </p:childTnLst>
                                </p:cTn>
                              </p:par>
                              <p:par>
                                <p:cTn id="142" presetID="6" presetClass="emph" presetSubtype="0" decel="100000" fill="hold" nodeType="withEffect">
                                  <p:stCondLst>
                                    <p:cond delay="300"/>
                                  </p:stCondLst>
                                  <p:childTnLst>
                                    <p:animScale>
                                      <p:cBhvr>
                                        <p:cTn id="143" dur="1000" fill="hold"/>
                                        <p:tgtEl>
                                          <p:spTgt spid="44"/>
                                        </p:tgtEl>
                                      </p:cBhvr>
                                      <p:by x="125000" y="125000"/>
                                    </p:animScale>
                                  </p:childTnLst>
                                </p:cTn>
                              </p:par>
                              <p:par>
                                <p:cTn id="144" presetID="23" presetClass="entr" presetSubtype="272" fill="hold" nodeType="withEffect">
                                  <p:stCondLst>
                                    <p:cond delay="300"/>
                                  </p:stCondLst>
                                  <p:childTnLst>
                                    <p:set>
                                      <p:cBhvr>
                                        <p:cTn id="145" dur="1" fill="hold">
                                          <p:stCondLst>
                                            <p:cond delay="0"/>
                                          </p:stCondLst>
                                        </p:cTn>
                                        <p:tgtEl>
                                          <p:spTgt spid="49"/>
                                        </p:tgtEl>
                                        <p:attrNameLst>
                                          <p:attrName>style.visibility</p:attrName>
                                        </p:attrNameLst>
                                      </p:cBhvr>
                                      <p:to>
                                        <p:strVal val="visible"/>
                                      </p:to>
                                    </p:set>
                                    <p:anim calcmode="lin" valueType="num">
                                      <p:cBhvr>
                                        <p:cTn id="146" dur="250" fill="hold"/>
                                        <p:tgtEl>
                                          <p:spTgt spid="49"/>
                                        </p:tgtEl>
                                        <p:attrNameLst>
                                          <p:attrName>ppt_w</p:attrName>
                                        </p:attrNameLst>
                                      </p:cBhvr>
                                      <p:tavLst>
                                        <p:tav tm="0">
                                          <p:val>
                                            <p:strVal val="2/3*#ppt_w"/>
                                          </p:val>
                                        </p:tav>
                                        <p:tav tm="100000">
                                          <p:val>
                                            <p:strVal val="#ppt_w"/>
                                          </p:val>
                                        </p:tav>
                                      </p:tavLst>
                                    </p:anim>
                                    <p:anim calcmode="lin" valueType="num">
                                      <p:cBhvr>
                                        <p:cTn id="147" dur="250" fill="hold"/>
                                        <p:tgtEl>
                                          <p:spTgt spid="49"/>
                                        </p:tgtEl>
                                        <p:attrNameLst>
                                          <p:attrName>ppt_h</p:attrName>
                                        </p:attrNameLst>
                                      </p:cBhvr>
                                      <p:tavLst>
                                        <p:tav tm="0">
                                          <p:val>
                                            <p:strVal val="2/3*#ppt_h"/>
                                          </p:val>
                                        </p:tav>
                                        <p:tav tm="100000">
                                          <p:val>
                                            <p:strVal val="#ppt_h"/>
                                          </p:val>
                                        </p:tav>
                                      </p:tavLst>
                                    </p:anim>
                                  </p:childTnLst>
                                </p:cTn>
                              </p:par>
                              <p:par>
                                <p:cTn id="148" presetID="10" presetClass="entr" presetSubtype="0" fill="hold" nodeType="withEffect">
                                  <p:stCondLst>
                                    <p:cond delay="300"/>
                                  </p:stCondLst>
                                  <p:childTnLst>
                                    <p:set>
                                      <p:cBhvr>
                                        <p:cTn id="149" dur="1" fill="hold">
                                          <p:stCondLst>
                                            <p:cond delay="0"/>
                                          </p:stCondLst>
                                        </p:cTn>
                                        <p:tgtEl>
                                          <p:spTgt spid="49"/>
                                        </p:tgtEl>
                                        <p:attrNameLst>
                                          <p:attrName>style.visibility</p:attrName>
                                        </p:attrNameLst>
                                      </p:cBhvr>
                                      <p:to>
                                        <p:strVal val="visible"/>
                                      </p:to>
                                    </p:set>
                                    <p:animEffect transition="in" filter="fade">
                                      <p:cBhvr>
                                        <p:cTn id="150" dur="500"/>
                                        <p:tgtEl>
                                          <p:spTgt spid="49"/>
                                        </p:tgtEl>
                                      </p:cBhvr>
                                    </p:animEffect>
                                  </p:childTnLst>
                                </p:cTn>
                              </p:par>
                              <p:par>
                                <p:cTn id="151" presetID="6" presetClass="emph" presetSubtype="0" fill="hold" nodeType="withEffect">
                                  <p:stCondLst>
                                    <p:cond delay="300"/>
                                  </p:stCondLst>
                                  <p:childTnLst>
                                    <p:animScale>
                                      <p:cBhvr>
                                        <p:cTn id="152" dur="10" fill="hold"/>
                                        <p:tgtEl>
                                          <p:spTgt spid="49"/>
                                        </p:tgtEl>
                                      </p:cBhvr>
                                      <p:by x="80000" y="80000"/>
                                    </p:animScale>
                                  </p:childTnLst>
                                </p:cTn>
                              </p:par>
                              <p:par>
                                <p:cTn id="153" presetID="6" presetClass="emph" presetSubtype="0" decel="100000" fill="hold" nodeType="withEffect">
                                  <p:stCondLst>
                                    <p:cond delay="300"/>
                                  </p:stCondLst>
                                  <p:childTnLst>
                                    <p:animScale>
                                      <p:cBhvr>
                                        <p:cTn id="154" dur="1000" fill="hold"/>
                                        <p:tgtEl>
                                          <p:spTgt spid="49"/>
                                        </p:tgtEl>
                                      </p:cBhvr>
                                      <p:by x="125000" y="125000"/>
                                    </p:animScale>
                                  </p:childTnLst>
                                </p:cTn>
                              </p:par>
                              <p:par>
                                <p:cTn id="155" presetID="23" presetClass="entr" presetSubtype="272" fill="hold" grpId="0" nodeType="withEffect">
                                  <p:stCondLst>
                                    <p:cond delay="550"/>
                                  </p:stCondLst>
                                  <p:childTnLst>
                                    <p:set>
                                      <p:cBhvr>
                                        <p:cTn id="156" dur="1" fill="hold">
                                          <p:stCondLst>
                                            <p:cond delay="0"/>
                                          </p:stCondLst>
                                        </p:cTn>
                                        <p:tgtEl>
                                          <p:spTgt spid="54"/>
                                        </p:tgtEl>
                                        <p:attrNameLst>
                                          <p:attrName>style.visibility</p:attrName>
                                        </p:attrNameLst>
                                      </p:cBhvr>
                                      <p:to>
                                        <p:strVal val="visible"/>
                                      </p:to>
                                    </p:set>
                                    <p:anim calcmode="lin" valueType="num">
                                      <p:cBhvr>
                                        <p:cTn id="157" dur="250" fill="hold"/>
                                        <p:tgtEl>
                                          <p:spTgt spid="54"/>
                                        </p:tgtEl>
                                        <p:attrNameLst>
                                          <p:attrName>ppt_w</p:attrName>
                                        </p:attrNameLst>
                                      </p:cBhvr>
                                      <p:tavLst>
                                        <p:tav tm="0">
                                          <p:val>
                                            <p:strVal val="2/3*#ppt_w"/>
                                          </p:val>
                                        </p:tav>
                                        <p:tav tm="100000">
                                          <p:val>
                                            <p:strVal val="#ppt_w"/>
                                          </p:val>
                                        </p:tav>
                                      </p:tavLst>
                                    </p:anim>
                                    <p:anim calcmode="lin" valueType="num">
                                      <p:cBhvr>
                                        <p:cTn id="158" dur="250" fill="hold"/>
                                        <p:tgtEl>
                                          <p:spTgt spid="54"/>
                                        </p:tgtEl>
                                        <p:attrNameLst>
                                          <p:attrName>ppt_h</p:attrName>
                                        </p:attrNameLst>
                                      </p:cBhvr>
                                      <p:tavLst>
                                        <p:tav tm="0">
                                          <p:val>
                                            <p:strVal val="2/3*#ppt_h"/>
                                          </p:val>
                                        </p:tav>
                                        <p:tav tm="100000">
                                          <p:val>
                                            <p:strVal val="#ppt_h"/>
                                          </p:val>
                                        </p:tav>
                                      </p:tavLst>
                                    </p:anim>
                                  </p:childTnLst>
                                </p:cTn>
                              </p:par>
                              <p:par>
                                <p:cTn id="159" presetID="10" presetClass="entr" presetSubtype="0" fill="hold" grpId="1" nodeType="withEffect">
                                  <p:stCondLst>
                                    <p:cond delay="550"/>
                                  </p:stCondLst>
                                  <p:childTnLst>
                                    <p:set>
                                      <p:cBhvr>
                                        <p:cTn id="160" dur="1" fill="hold">
                                          <p:stCondLst>
                                            <p:cond delay="0"/>
                                          </p:stCondLst>
                                        </p:cTn>
                                        <p:tgtEl>
                                          <p:spTgt spid="54"/>
                                        </p:tgtEl>
                                        <p:attrNameLst>
                                          <p:attrName>style.visibility</p:attrName>
                                        </p:attrNameLst>
                                      </p:cBhvr>
                                      <p:to>
                                        <p:strVal val="visible"/>
                                      </p:to>
                                    </p:set>
                                    <p:animEffect transition="in" filter="fade">
                                      <p:cBhvr>
                                        <p:cTn id="161" dur="500"/>
                                        <p:tgtEl>
                                          <p:spTgt spid="54"/>
                                        </p:tgtEl>
                                      </p:cBhvr>
                                    </p:animEffect>
                                  </p:childTnLst>
                                </p:cTn>
                              </p:par>
                              <p:par>
                                <p:cTn id="162" presetID="6" presetClass="emph" presetSubtype="0" fill="hold" grpId="2" nodeType="withEffect">
                                  <p:stCondLst>
                                    <p:cond delay="550"/>
                                  </p:stCondLst>
                                  <p:childTnLst>
                                    <p:animScale>
                                      <p:cBhvr>
                                        <p:cTn id="163" dur="10" fill="hold"/>
                                        <p:tgtEl>
                                          <p:spTgt spid="54"/>
                                        </p:tgtEl>
                                      </p:cBhvr>
                                      <p:by x="80000" y="80000"/>
                                    </p:animScale>
                                  </p:childTnLst>
                                </p:cTn>
                              </p:par>
                              <p:par>
                                <p:cTn id="164" presetID="6" presetClass="emph" presetSubtype="0" decel="100000" fill="hold" grpId="3" nodeType="withEffect">
                                  <p:stCondLst>
                                    <p:cond delay="550"/>
                                  </p:stCondLst>
                                  <p:childTnLst>
                                    <p:animScale>
                                      <p:cBhvr>
                                        <p:cTn id="165" dur="1000" fill="hold"/>
                                        <p:tgtEl>
                                          <p:spTgt spid="54"/>
                                        </p:tgtEl>
                                      </p:cBhvr>
                                      <p:by x="125000" y="125000"/>
                                    </p:animScale>
                                  </p:childTnLst>
                                </p:cTn>
                              </p:par>
                              <p:par>
                                <p:cTn id="166" presetID="23" presetClass="entr" presetSubtype="272" fill="hold" nodeType="withEffect">
                                  <p:stCondLst>
                                    <p:cond delay="300"/>
                                  </p:stCondLst>
                                  <p:childTnLst>
                                    <p:set>
                                      <p:cBhvr>
                                        <p:cTn id="167" dur="1" fill="hold">
                                          <p:stCondLst>
                                            <p:cond delay="0"/>
                                          </p:stCondLst>
                                        </p:cTn>
                                        <p:tgtEl>
                                          <p:spTgt spid="55"/>
                                        </p:tgtEl>
                                        <p:attrNameLst>
                                          <p:attrName>style.visibility</p:attrName>
                                        </p:attrNameLst>
                                      </p:cBhvr>
                                      <p:to>
                                        <p:strVal val="visible"/>
                                      </p:to>
                                    </p:set>
                                    <p:anim calcmode="lin" valueType="num">
                                      <p:cBhvr>
                                        <p:cTn id="168" dur="250" fill="hold"/>
                                        <p:tgtEl>
                                          <p:spTgt spid="55"/>
                                        </p:tgtEl>
                                        <p:attrNameLst>
                                          <p:attrName>ppt_w</p:attrName>
                                        </p:attrNameLst>
                                      </p:cBhvr>
                                      <p:tavLst>
                                        <p:tav tm="0">
                                          <p:val>
                                            <p:strVal val="2/3*#ppt_w"/>
                                          </p:val>
                                        </p:tav>
                                        <p:tav tm="100000">
                                          <p:val>
                                            <p:strVal val="#ppt_w"/>
                                          </p:val>
                                        </p:tav>
                                      </p:tavLst>
                                    </p:anim>
                                    <p:anim calcmode="lin" valueType="num">
                                      <p:cBhvr>
                                        <p:cTn id="169" dur="250" fill="hold"/>
                                        <p:tgtEl>
                                          <p:spTgt spid="55"/>
                                        </p:tgtEl>
                                        <p:attrNameLst>
                                          <p:attrName>ppt_h</p:attrName>
                                        </p:attrNameLst>
                                      </p:cBhvr>
                                      <p:tavLst>
                                        <p:tav tm="0">
                                          <p:val>
                                            <p:strVal val="2/3*#ppt_h"/>
                                          </p:val>
                                        </p:tav>
                                        <p:tav tm="100000">
                                          <p:val>
                                            <p:strVal val="#ppt_h"/>
                                          </p:val>
                                        </p:tav>
                                      </p:tavLst>
                                    </p:anim>
                                  </p:childTnLst>
                                </p:cTn>
                              </p:par>
                              <p:par>
                                <p:cTn id="170" presetID="10" presetClass="entr" presetSubtype="0" fill="hold" nodeType="withEffect">
                                  <p:stCondLst>
                                    <p:cond delay="300"/>
                                  </p:stCondLst>
                                  <p:childTnLst>
                                    <p:set>
                                      <p:cBhvr>
                                        <p:cTn id="171" dur="1" fill="hold">
                                          <p:stCondLst>
                                            <p:cond delay="0"/>
                                          </p:stCondLst>
                                        </p:cTn>
                                        <p:tgtEl>
                                          <p:spTgt spid="55"/>
                                        </p:tgtEl>
                                        <p:attrNameLst>
                                          <p:attrName>style.visibility</p:attrName>
                                        </p:attrNameLst>
                                      </p:cBhvr>
                                      <p:to>
                                        <p:strVal val="visible"/>
                                      </p:to>
                                    </p:set>
                                    <p:animEffect transition="in" filter="fade">
                                      <p:cBhvr>
                                        <p:cTn id="172" dur="500"/>
                                        <p:tgtEl>
                                          <p:spTgt spid="55"/>
                                        </p:tgtEl>
                                      </p:cBhvr>
                                    </p:animEffect>
                                  </p:childTnLst>
                                </p:cTn>
                              </p:par>
                              <p:par>
                                <p:cTn id="173" presetID="6" presetClass="emph" presetSubtype="0" fill="hold" nodeType="withEffect">
                                  <p:stCondLst>
                                    <p:cond delay="300"/>
                                  </p:stCondLst>
                                  <p:childTnLst>
                                    <p:animScale>
                                      <p:cBhvr>
                                        <p:cTn id="174" dur="10" fill="hold"/>
                                        <p:tgtEl>
                                          <p:spTgt spid="55"/>
                                        </p:tgtEl>
                                      </p:cBhvr>
                                      <p:by x="80000" y="80000"/>
                                    </p:animScale>
                                  </p:childTnLst>
                                </p:cTn>
                              </p:par>
                              <p:par>
                                <p:cTn id="175" presetID="6" presetClass="emph" presetSubtype="0" decel="100000" fill="hold" nodeType="withEffect">
                                  <p:stCondLst>
                                    <p:cond delay="300"/>
                                  </p:stCondLst>
                                  <p:childTnLst>
                                    <p:animScale>
                                      <p:cBhvr>
                                        <p:cTn id="176" dur="1000" fill="hold"/>
                                        <p:tgtEl>
                                          <p:spTgt spid="55"/>
                                        </p:tgtEl>
                                      </p:cBhvr>
                                      <p:by x="125000" y="125000"/>
                                    </p:animScale>
                                  </p:childTnLst>
                                </p:cTn>
                              </p:par>
                              <p:par>
                                <p:cTn id="177" presetID="23" presetClass="entr" presetSubtype="272" fill="hold" grpId="0" nodeType="withEffect">
                                  <p:stCondLst>
                                    <p:cond delay="550"/>
                                  </p:stCondLst>
                                  <p:childTnLst>
                                    <p:set>
                                      <p:cBhvr>
                                        <p:cTn id="178" dur="1" fill="hold">
                                          <p:stCondLst>
                                            <p:cond delay="0"/>
                                          </p:stCondLst>
                                        </p:cTn>
                                        <p:tgtEl>
                                          <p:spTgt spid="60"/>
                                        </p:tgtEl>
                                        <p:attrNameLst>
                                          <p:attrName>style.visibility</p:attrName>
                                        </p:attrNameLst>
                                      </p:cBhvr>
                                      <p:to>
                                        <p:strVal val="visible"/>
                                      </p:to>
                                    </p:set>
                                    <p:anim calcmode="lin" valueType="num">
                                      <p:cBhvr>
                                        <p:cTn id="179" dur="250" fill="hold"/>
                                        <p:tgtEl>
                                          <p:spTgt spid="60"/>
                                        </p:tgtEl>
                                        <p:attrNameLst>
                                          <p:attrName>ppt_w</p:attrName>
                                        </p:attrNameLst>
                                      </p:cBhvr>
                                      <p:tavLst>
                                        <p:tav tm="0">
                                          <p:val>
                                            <p:strVal val="2/3*#ppt_w"/>
                                          </p:val>
                                        </p:tav>
                                        <p:tav tm="100000">
                                          <p:val>
                                            <p:strVal val="#ppt_w"/>
                                          </p:val>
                                        </p:tav>
                                      </p:tavLst>
                                    </p:anim>
                                    <p:anim calcmode="lin" valueType="num">
                                      <p:cBhvr>
                                        <p:cTn id="180" dur="250" fill="hold"/>
                                        <p:tgtEl>
                                          <p:spTgt spid="60"/>
                                        </p:tgtEl>
                                        <p:attrNameLst>
                                          <p:attrName>ppt_h</p:attrName>
                                        </p:attrNameLst>
                                      </p:cBhvr>
                                      <p:tavLst>
                                        <p:tav tm="0">
                                          <p:val>
                                            <p:strVal val="2/3*#ppt_h"/>
                                          </p:val>
                                        </p:tav>
                                        <p:tav tm="100000">
                                          <p:val>
                                            <p:strVal val="#ppt_h"/>
                                          </p:val>
                                        </p:tav>
                                      </p:tavLst>
                                    </p:anim>
                                  </p:childTnLst>
                                </p:cTn>
                              </p:par>
                              <p:par>
                                <p:cTn id="181" presetID="10" presetClass="entr" presetSubtype="0" fill="hold" grpId="1" nodeType="withEffect">
                                  <p:stCondLst>
                                    <p:cond delay="550"/>
                                  </p:stCondLst>
                                  <p:childTnLst>
                                    <p:set>
                                      <p:cBhvr>
                                        <p:cTn id="182" dur="1" fill="hold">
                                          <p:stCondLst>
                                            <p:cond delay="0"/>
                                          </p:stCondLst>
                                        </p:cTn>
                                        <p:tgtEl>
                                          <p:spTgt spid="60"/>
                                        </p:tgtEl>
                                        <p:attrNameLst>
                                          <p:attrName>style.visibility</p:attrName>
                                        </p:attrNameLst>
                                      </p:cBhvr>
                                      <p:to>
                                        <p:strVal val="visible"/>
                                      </p:to>
                                    </p:set>
                                    <p:animEffect transition="in" filter="fade">
                                      <p:cBhvr>
                                        <p:cTn id="183" dur="500"/>
                                        <p:tgtEl>
                                          <p:spTgt spid="60"/>
                                        </p:tgtEl>
                                      </p:cBhvr>
                                    </p:animEffect>
                                  </p:childTnLst>
                                </p:cTn>
                              </p:par>
                              <p:par>
                                <p:cTn id="184" presetID="6" presetClass="emph" presetSubtype="0" fill="hold" grpId="2" nodeType="withEffect">
                                  <p:stCondLst>
                                    <p:cond delay="550"/>
                                  </p:stCondLst>
                                  <p:childTnLst>
                                    <p:animScale>
                                      <p:cBhvr>
                                        <p:cTn id="185" dur="10" fill="hold"/>
                                        <p:tgtEl>
                                          <p:spTgt spid="60"/>
                                        </p:tgtEl>
                                      </p:cBhvr>
                                      <p:by x="80000" y="80000"/>
                                    </p:animScale>
                                  </p:childTnLst>
                                </p:cTn>
                              </p:par>
                              <p:par>
                                <p:cTn id="186" presetID="6" presetClass="emph" presetSubtype="0" decel="100000" fill="hold" grpId="3" nodeType="withEffect">
                                  <p:stCondLst>
                                    <p:cond delay="550"/>
                                  </p:stCondLst>
                                  <p:childTnLst>
                                    <p:animScale>
                                      <p:cBhvr>
                                        <p:cTn id="187" dur="1000" fill="hold"/>
                                        <p:tgtEl>
                                          <p:spTgt spid="60"/>
                                        </p:tgtEl>
                                      </p:cBhvr>
                                      <p:by x="125000" y="125000"/>
                                    </p:animScale>
                                  </p:childTnLst>
                                </p:cTn>
                              </p:par>
                              <p:par>
                                <p:cTn id="188" presetID="23" presetClass="entr" presetSubtype="272" fill="hold" nodeType="withEffect">
                                  <p:stCondLst>
                                    <p:cond delay="300"/>
                                  </p:stCondLst>
                                  <p:childTnLst>
                                    <p:set>
                                      <p:cBhvr>
                                        <p:cTn id="189" dur="1" fill="hold">
                                          <p:stCondLst>
                                            <p:cond delay="0"/>
                                          </p:stCondLst>
                                        </p:cTn>
                                        <p:tgtEl>
                                          <p:spTgt spid="61"/>
                                        </p:tgtEl>
                                        <p:attrNameLst>
                                          <p:attrName>style.visibility</p:attrName>
                                        </p:attrNameLst>
                                      </p:cBhvr>
                                      <p:to>
                                        <p:strVal val="visible"/>
                                      </p:to>
                                    </p:set>
                                    <p:anim calcmode="lin" valueType="num">
                                      <p:cBhvr>
                                        <p:cTn id="190" dur="250" fill="hold"/>
                                        <p:tgtEl>
                                          <p:spTgt spid="61"/>
                                        </p:tgtEl>
                                        <p:attrNameLst>
                                          <p:attrName>ppt_w</p:attrName>
                                        </p:attrNameLst>
                                      </p:cBhvr>
                                      <p:tavLst>
                                        <p:tav tm="0">
                                          <p:val>
                                            <p:strVal val="2/3*#ppt_w"/>
                                          </p:val>
                                        </p:tav>
                                        <p:tav tm="100000">
                                          <p:val>
                                            <p:strVal val="#ppt_w"/>
                                          </p:val>
                                        </p:tav>
                                      </p:tavLst>
                                    </p:anim>
                                    <p:anim calcmode="lin" valueType="num">
                                      <p:cBhvr>
                                        <p:cTn id="191" dur="250" fill="hold"/>
                                        <p:tgtEl>
                                          <p:spTgt spid="61"/>
                                        </p:tgtEl>
                                        <p:attrNameLst>
                                          <p:attrName>ppt_h</p:attrName>
                                        </p:attrNameLst>
                                      </p:cBhvr>
                                      <p:tavLst>
                                        <p:tav tm="0">
                                          <p:val>
                                            <p:strVal val="2/3*#ppt_h"/>
                                          </p:val>
                                        </p:tav>
                                        <p:tav tm="100000">
                                          <p:val>
                                            <p:strVal val="#ppt_h"/>
                                          </p:val>
                                        </p:tav>
                                      </p:tavLst>
                                    </p:anim>
                                  </p:childTnLst>
                                </p:cTn>
                              </p:par>
                              <p:par>
                                <p:cTn id="192" presetID="10" presetClass="entr" presetSubtype="0" fill="hold" nodeType="withEffect">
                                  <p:stCondLst>
                                    <p:cond delay="300"/>
                                  </p:stCondLst>
                                  <p:childTnLst>
                                    <p:set>
                                      <p:cBhvr>
                                        <p:cTn id="193" dur="1" fill="hold">
                                          <p:stCondLst>
                                            <p:cond delay="0"/>
                                          </p:stCondLst>
                                        </p:cTn>
                                        <p:tgtEl>
                                          <p:spTgt spid="61"/>
                                        </p:tgtEl>
                                        <p:attrNameLst>
                                          <p:attrName>style.visibility</p:attrName>
                                        </p:attrNameLst>
                                      </p:cBhvr>
                                      <p:to>
                                        <p:strVal val="visible"/>
                                      </p:to>
                                    </p:set>
                                    <p:animEffect transition="in" filter="fade">
                                      <p:cBhvr>
                                        <p:cTn id="194" dur="500"/>
                                        <p:tgtEl>
                                          <p:spTgt spid="61"/>
                                        </p:tgtEl>
                                      </p:cBhvr>
                                    </p:animEffect>
                                  </p:childTnLst>
                                </p:cTn>
                              </p:par>
                              <p:par>
                                <p:cTn id="195" presetID="6" presetClass="emph" presetSubtype="0" fill="hold" nodeType="withEffect">
                                  <p:stCondLst>
                                    <p:cond delay="300"/>
                                  </p:stCondLst>
                                  <p:childTnLst>
                                    <p:animScale>
                                      <p:cBhvr>
                                        <p:cTn id="196" dur="10" fill="hold"/>
                                        <p:tgtEl>
                                          <p:spTgt spid="61"/>
                                        </p:tgtEl>
                                      </p:cBhvr>
                                      <p:by x="80000" y="80000"/>
                                    </p:animScale>
                                  </p:childTnLst>
                                </p:cTn>
                              </p:par>
                              <p:par>
                                <p:cTn id="197" presetID="6" presetClass="emph" presetSubtype="0" decel="100000" fill="hold" nodeType="withEffect">
                                  <p:stCondLst>
                                    <p:cond delay="300"/>
                                  </p:stCondLst>
                                  <p:childTnLst>
                                    <p:animScale>
                                      <p:cBhvr>
                                        <p:cTn id="198" dur="1000" fill="hold"/>
                                        <p:tgtEl>
                                          <p:spTgt spid="61"/>
                                        </p:tgtEl>
                                      </p:cBhvr>
                                      <p:by x="125000" y="125000"/>
                                    </p:animScale>
                                  </p:childTnLst>
                                </p:cTn>
                              </p:par>
                              <p:par>
                                <p:cTn id="199" presetID="23" presetClass="entr" presetSubtype="272" fill="hold" grpId="0" nodeType="withEffect">
                                  <p:stCondLst>
                                    <p:cond delay="550"/>
                                  </p:stCondLst>
                                  <p:childTnLst>
                                    <p:set>
                                      <p:cBhvr>
                                        <p:cTn id="200" dur="1" fill="hold">
                                          <p:stCondLst>
                                            <p:cond delay="0"/>
                                          </p:stCondLst>
                                        </p:cTn>
                                        <p:tgtEl>
                                          <p:spTgt spid="66"/>
                                        </p:tgtEl>
                                        <p:attrNameLst>
                                          <p:attrName>style.visibility</p:attrName>
                                        </p:attrNameLst>
                                      </p:cBhvr>
                                      <p:to>
                                        <p:strVal val="visible"/>
                                      </p:to>
                                    </p:set>
                                    <p:anim calcmode="lin" valueType="num">
                                      <p:cBhvr>
                                        <p:cTn id="201" dur="250" fill="hold"/>
                                        <p:tgtEl>
                                          <p:spTgt spid="66"/>
                                        </p:tgtEl>
                                        <p:attrNameLst>
                                          <p:attrName>ppt_w</p:attrName>
                                        </p:attrNameLst>
                                      </p:cBhvr>
                                      <p:tavLst>
                                        <p:tav tm="0">
                                          <p:val>
                                            <p:strVal val="2/3*#ppt_w"/>
                                          </p:val>
                                        </p:tav>
                                        <p:tav tm="100000">
                                          <p:val>
                                            <p:strVal val="#ppt_w"/>
                                          </p:val>
                                        </p:tav>
                                      </p:tavLst>
                                    </p:anim>
                                    <p:anim calcmode="lin" valueType="num">
                                      <p:cBhvr>
                                        <p:cTn id="202" dur="250" fill="hold"/>
                                        <p:tgtEl>
                                          <p:spTgt spid="66"/>
                                        </p:tgtEl>
                                        <p:attrNameLst>
                                          <p:attrName>ppt_h</p:attrName>
                                        </p:attrNameLst>
                                      </p:cBhvr>
                                      <p:tavLst>
                                        <p:tav tm="0">
                                          <p:val>
                                            <p:strVal val="2/3*#ppt_h"/>
                                          </p:val>
                                        </p:tav>
                                        <p:tav tm="100000">
                                          <p:val>
                                            <p:strVal val="#ppt_h"/>
                                          </p:val>
                                        </p:tav>
                                      </p:tavLst>
                                    </p:anim>
                                  </p:childTnLst>
                                </p:cTn>
                              </p:par>
                              <p:par>
                                <p:cTn id="203" presetID="10" presetClass="entr" presetSubtype="0" fill="hold" grpId="1" nodeType="withEffect">
                                  <p:stCondLst>
                                    <p:cond delay="550"/>
                                  </p:stCondLst>
                                  <p:childTnLst>
                                    <p:set>
                                      <p:cBhvr>
                                        <p:cTn id="204" dur="1" fill="hold">
                                          <p:stCondLst>
                                            <p:cond delay="0"/>
                                          </p:stCondLst>
                                        </p:cTn>
                                        <p:tgtEl>
                                          <p:spTgt spid="66"/>
                                        </p:tgtEl>
                                        <p:attrNameLst>
                                          <p:attrName>style.visibility</p:attrName>
                                        </p:attrNameLst>
                                      </p:cBhvr>
                                      <p:to>
                                        <p:strVal val="visible"/>
                                      </p:to>
                                    </p:set>
                                    <p:animEffect transition="in" filter="fade">
                                      <p:cBhvr>
                                        <p:cTn id="205" dur="500"/>
                                        <p:tgtEl>
                                          <p:spTgt spid="66"/>
                                        </p:tgtEl>
                                      </p:cBhvr>
                                    </p:animEffect>
                                  </p:childTnLst>
                                </p:cTn>
                              </p:par>
                              <p:par>
                                <p:cTn id="206" presetID="6" presetClass="emph" presetSubtype="0" fill="hold" grpId="2" nodeType="withEffect">
                                  <p:stCondLst>
                                    <p:cond delay="550"/>
                                  </p:stCondLst>
                                  <p:childTnLst>
                                    <p:animScale>
                                      <p:cBhvr>
                                        <p:cTn id="207" dur="10" fill="hold"/>
                                        <p:tgtEl>
                                          <p:spTgt spid="66"/>
                                        </p:tgtEl>
                                      </p:cBhvr>
                                      <p:by x="80000" y="80000"/>
                                    </p:animScale>
                                  </p:childTnLst>
                                </p:cTn>
                              </p:par>
                              <p:par>
                                <p:cTn id="208" presetID="6" presetClass="emph" presetSubtype="0" decel="100000" fill="hold" grpId="3" nodeType="withEffect">
                                  <p:stCondLst>
                                    <p:cond delay="550"/>
                                  </p:stCondLst>
                                  <p:childTnLst>
                                    <p:animScale>
                                      <p:cBhvr>
                                        <p:cTn id="209" dur="1000" fill="hold"/>
                                        <p:tgtEl>
                                          <p:spTgt spid="66"/>
                                        </p:tgtEl>
                                      </p:cBhvr>
                                      <p:by x="125000" y="125000"/>
                                    </p:animScale>
                                  </p:childTnLst>
                                </p:cTn>
                              </p:par>
                              <p:par>
                                <p:cTn id="210" presetID="23" presetClass="entr" presetSubtype="272" fill="hold" nodeType="withEffect">
                                  <p:stCondLst>
                                    <p:cond delay="300"/>
                                  </p:stCondLst>
                                  <p:childTnLst>
                                    <p:set>
                                      <p:cBhvr>
                                        <p:cTn id="211" dur="1" fill="hold">
                                          <p:stCondLst>
                                            <p:cond delay="0"/>
                                          </p:stCondLst>
                                        </p:cTn>
                                        <p:tgtEl>
                                          <p:spTgt spid="67"/>
                                        </p:tgtEl>
                                        <p:attrNameLst>
                                          <p:attrName>style.visibility</p:attrName>
                                        </p:attrNameLst>
                                      </p:cBhvr>
                                      <p:to>
                                        <p:strVal val="visible"/>
                                      </p:to>
                                    </p:set>
                                    <p:anim calcmode="lin" valueType="num">
                                      <p:cBhvr>
                                        <p:cTn id="212" dur="250" fill="hold"/>
                                        <p:tgtEl>
                                          <p:spTgt spid="67"/>
                                        </p:tgtEl>
                                        <p:attrNameLst>
                                          <p:attrName>ppt_w</p:attrName>
                                        </p:attrNameLst>
                                      </p:cBhvr>
                                      <p:tavLst>
                                        <p:tav tm="0">
                                          <p:val>
                                            <p:strVal val="2/3*#ppt_w"/>
                                          </p:val>
                                        </p:tav>
                                        <p:tav tm="100000">
                                          <p:val>
                                            <p:strVal val="#ppt_w"/>
                                          </p:val>
                                        </p:tav>
                                      </p:tavLst>
                                    </p:anim>
                                    <p:anim calcmode="lin" valueType="num">
                                      <p:cBhvr>
                                        <p:cTn id="213" dur="250" fill="hold"/>
                                        <p:tgtEl>
                                          <p:spTgt spid="67"/>
                                        </p:tgtEl>
                                        <p:attrNameLst>
                                          <p:attrName>ppt_h</p:attrName>
                                        </p:attrNameLst>
                                      </p:cBhvr>
                                      <p:tavLst>
                                        <p:tav tm="0">
                                          <p:val>
                                            <p:strVal val="2/3*#ppt_h"/>
                                          </p:val>
                                        </p:tav>
                                        <p:tav tm="100000">
                                          <p:val>
                                            <p:strVal val="#ppt_h"/>
                                          </p:val>
                                        </p:tav>
                                      </p:tavLst>
                                    </p:anim>
                                  </p:childTnLst>
                                </p:cTn>
                              </p:par>
                              <p:par>
                                <p:cTn id="214" presetID="10" presetClass="entr" presetSubtype="0" fill="hold" nodeType="withEffect">
                                  <p:stCondLst>
                                    <p:cond delay="300"/>
                                  </p:stCondLst>
                                  <p:childTnLst>
                                    <p:set>
                                      <p:cBhvr>
                                        <p:cTn id="215" dur="1" fill="hold">
                                          <p:stCondLst>
                                            <p:cond delay="0"/>
                                          </p:stCondLst>
                                        </p:cTn>
                                        <p:tgtEl>
                                          <p:spTgt spid="67"/>
                                        </p:tgtEl>
                                        <p:attrNameLst>
                                          <p:attrName>style.visibility</p:attrName>
                                        </p:attrNameLst>
                                      </p:cBhvr>
                                      <p:to>
                                        <p:strVal val="visible"/>
                                      </p:to>
                                    </p:set>
                                    <p:animEffect transition="in" filter="fade">
                                      <p:cBhvr>
                                        <p:cTn id="216" dur="500"/>
                                        <p:tgtEl>
                                          <p:spTgt spid="67"/>
                                        </p:tgtEl>
                                      </p:cBhvr>
                                    </p:animEffect>
                                  </p:childTnLst>
                                </p:cTn>
                              </p:par>
                              <p:par>
                                <p:cTn id="217" presetID="6" presetClass="emph" presetSubtype="0" fill="hold" nodeType="withEffect">
                                  <p:stCondLst>
                                    <p:cond delay="300"/>
                                  </p:stCondLst>
                                  <p:childTnLst>
                                    <p:animScale>
                                      <p:cBhvr>
                                        <p:cTn id="218" dur="10" fill="hold"/>
                                        <p:tgtEl>
                                          <p:spTgt spid="67"/>
                                        </p:tgtEl>
                                      </p:cBhvr>
                                      <p:by x="80000" y="80000"/>
                                    </p:animScale>
                                  </p:childTnLst>
                                </p:cTn>
                              </p:par>
                              <p:par>
                                <p:cTn id="219" presetID="6" presetClass="emph" presetSubtype="0" decel="100000" fill="hold" nodeType="withEffect">
                                  <p:stCondLst>
                                    <p:cond delay="300"/>
                                  </p:stCondLst>
                                  <p:childTnLst>
                                    <p:animScale>
                                      <p:cBhvr>
                                        <p:cTn id="220" dur="1000" fill="hold"/>
                                        <p:tgtEl>
                                          <p:spTgt spid="67"/>
                                        </p:tgtEl>
                                      </p:cBhvr>
                                      <p:by x="125000" y="125000"/>
                                    </p:animScale>
                                  </p:childTnLst>
                                </p:cTn>
                              </p:par>
                              <p:par>
                                <p:cTn id="221" presetID="23" presetClass="entr" presetSubtype="272" fill="hold" grpId="0" nodeType="withEffect">
                                  <p:stCondLst>
                                    <p:cond delay="550"/>
                                  </p:stCondLst>
                                  <p:childTnLst>
                                    <p:set>
                                      <p:cBhvr>
                                        <p:cTn id="222" dur="1" fill="hold">
                                          <p:stCondLst>
                                            <p:cond delay="0"/>
                                          </p:stCondLst>
                                        </p:cTn>
                                        <p:tgtEl>
                                          <p:spTgt spid="72"/>
                                        </p:tgtEl>
                                        <p:attrNameLst>
                                          <p:attrName>style.visibility</p:attrName>
                                        </p:attrNameLst>
                                      </p:cBhvr>
                                      <p:to>
                                        <p:strVal val="visible"/>
                                      </p:to>
                                    </p:set>
                                    <p:anim calcmode="lin" valueType="num">
                                      <p:cBhvr>
                                        <p:cTn id="223" dur="250" fill="hold"/>
                                        <p:tgtEl>
                                          <p:spTgt spid="72"/>
                                        </p:tgtEl>
                                        <p:attrNameLst>
                                          <p:attrName>ppt_w</p:attrName>
                                        </p:attrNameLst>
                                      </p:cBhvr>
                                      <p:tavLst>
                                        <p:tav tm="0">
                                          <p:val>
                                            <p:strVal val="2/3*#ppt_w"/>
                                          </p:val>
                                        </p:tav>
                                        <p:tav tm="100000">
                                          <p:val>
                                            <p:strVal val="#ppt_w"/>
                                          </p:val>
                                        </p:tav>
                                      </p:tavLst>
                                    </p:anim>
                                    <p:anim calcmode="lin" valueType="num">
                                      <p:cBhvr>
                                        <p:cTn id="224" dur="250" fill="hold"/>
                                        <p:tgtEl>
                                          <p:spTgt spid="72"/>
                                        </p:tgtEl>
                                        <p:attrNameLst>
                                          <p:attrName>ppt_h</p:attrName>
                                        </p:attrNameLst>
                                      </p:cBhvr>
                                      <p:tavLst>
                                        <p:tav tm="0">
                                          <p:val>
                                            <p:strVal val="2/3*#ppt_h"/>
                                          </p:val>
                                        </p:tav>
                                        <p:tav tm="100000">
                                          <p:val>
                                            <p:strVal val="#ppt_h"/>
                                          </p:val>
                                        </p:tav>
                                      </p:tavLst>
                                    </p:anim>
                                  </p:childTnLst>
                                </p:cTn>
                              </p:par>
                              <p:par>
                                <p:cTn id="225" presetID="10" presetClass="entr" presetSubtype="0" fill="hold" grpId="1" nodeType="withEffect">
                                  <p:stCondLst>
                                    <p:cond delay="550"/>
                                  </p:stCondLst>
                                  <p:childTnLst>
                                    <p:set>
                                      <p:cBhvr>
                                        <p:cTn id="226" dur="1" fill="hold">
                                          <p:stCondLst>
                                            <p:cond delay="0"/>
                                          </p:stCondLst>
                                        </p:cTn>
                                        <p:tgtEl>
                                          <p:spTgt spid="72"/>
                                        </p:tgtEl>
                                        <p:attrNameLst>
                                          <p:attrName>style.visibility</p:attrName>
                                        </p:attrNameLst>
                                      </p:cBhvr>
                                      <p:to>
                                        <p:strVal val="visible"/>
                                      </p:to>
                                    </p:set>
                                    <p:animEffect transition="in" filter="fade">
                                      <p:cBhvr>
                                        <p:cTn id="227" dur="500"/>
                                        <p:tgtEl>
                                          <p:spTgt spid="72"/>
                                        </p:tgtEl>
                                      </p:cBhvr>
                                    </p:animEffect>
                                  </p:childTnLst>
                                </p:cTn>
                              </p:par>
                              <p:par>
                                <p:cTn id="228" presetID="6" presetClass="emph" presetSubtype="0" fill="hold" grpId="2" nodeType="withEffect">
                                  <p:stCondLst>
                                    <p:cond delay="550"/>
                                  </p:stCondLst>
                                  <p:childTnLst>
                                    <p:animScale>
                                      <p:cBhvr>
                                        <p:cTn id="229" dur="10" fill="hold"/>
                                        <p:tgtEl>
                                          <p:spTgt spid="72"/>
                                        </p:tgtEl>
                                      </p:cBhvr>
                                      <p:by x="80000" y="80000"/>
                                    </p:animScale>
                                  </p:childTnLst>
                                </p:cTn>
                              </p:par>
                              <p:par>
                                <p:cTn id="230" presetID="6" presetClass="emph" presetSubtype="0" decel="100000" fill="hold" grpId="3" nodeType="withEffect">
                                  <p:stCondLst>
                                    <p:cond delay="550"/>
                                  </p:stCondLst>
                                  <p:childTnLst>
                                    <p:animScale>
                                      <p:cBhvr>
                                        <p:cTn id="231" dur="1000" fill="hold"/>
                                        <p:tgtEl>
                                          <p:spTgt spid="72"/>
                                        </p:tgtEl>
                                      </p:cBhvr>
                                      <p:by x="125000" y="125000"/>
                                    </p:animScale>
                                  </p:childTnLst>
                                </p:cTn>
                              </p:par>
                              <p:par>
                                <p:cTn id="232" presetID="23" presetClass="entr" presetSubtype="272" fill="hold" nodeType="withEffect">
                                  <p:stCondLst>
                                    <p:cond delay="300"/>
                                  </p:stCondLst>
                                  <p:childTnLst>
                                    <p:set>
                                      <p:cBhvr>
                                        <p:cTn id="233" dur="1" fill="hold">
                                          <p:stCondLst>
                                            <p:cond delay="0"/>
                                          </p:stCondLst>
                                        </p:cTn>
                                        <p:tgtEl>
                                          <p:spTgt spid="73"/>
                                        </p:tgtEl>
                                        <p:attrNameLst>
                                          <p:attrName>style.visibility</p:attrName>
                                        </p:attrNameLst>
                                      </p:cBhvr>
                                      <p:to>
                                        <p:strVal val="visible"/>
                                      </p:to>
                                    </p:set>
                                    <p:anim calcmode="lin" valueType="num">
                                      <p:cBhvr>
                                        <p:cTn id="234" dur="250" fill="hold"/>
                                        <p:tgtEl>
                                          <p:spTgt spid="73"/>
                                        </p:tgtEl>
                                        <p:attrNameLst>
                                          <p:attrName>ppt_w</p:attrName>
                                        </p:attrNameLst>
                                      </p:cBhvr>
                                      <p:tavLst>
                                        <p:tav tm="0">
                                          <p:val>
                                            <p:strVal val="2/3*#ppt_w"/>
                                          </p:val>
                                        </p:tav>
                                        <p:tav tm="100000">
                                          <p:val>
                                            <p:strVal val="#ppt_w"/>
                                          </p:val>
                                        </p:tav>
                                      </p:tavLst>
                                    </p:anim>
                                    <p:anim calcmode="lin" valueType="num">
                                      <p:cBhvr>
                                        <p:cTn id="235" dur="250" fill="hold"/>
                                        <p:tgtEl>
                                          <p:spTgt spid="73"/>
                                        </p:tgtEl>
                                        <p:attrNameLst>
                                          <p:attrName>ppt_h</p:attrName>
                                        </p:attrNameLst>
                                      </p:cBhvr>
                                      <p:tavLst>
                                        <p:tav tm="0">
                                          <p:val>
                                            <p:strVal val="2/3*#ppt_h"/>
                                          </p:val>
                                        </p:tav>
                                        <p:tav tm="100000">
                                          <p:val>
                                            <p:strVal val="#ppt_h"/>
                                          </p:val>
                                        </p:tav>
                                      </p:tavLst>
                                    </p:anim>
                                  </p:childTnLst>
                                </p:cTn>
                              </p:par>
                              <p:par>
                                <p:cTn id="236" presetID="10" presetClass="entr" presetSubtype="0" fill="hold" nodeType="withEffect">
                                  <p:stCondLst>
                                    <p:cond delay="300"/>
                                  </p:stCondLst>
                                  <p:childTnLst>
                                    <p:set>
                                      <p:cBhvr>
                                        <p:cTn id="237" dur="1" fill="hold">
                                          <p:stCondLst>
                                            <p:cond delay="0"/>
                                          </p:stCondLst>
                                        </p:cTn>
                                        <p:tgtEl>
                                          <p:spTgt spid="73"/>
                                        </p:tgtEl>
                                        <p:attrNameLst>
                                          <p:attrName>style.visibility</p:attrName>
                                        </p:attrNameLst>
                                      </p:cBhvr>
                                      <p:to>
                                        <p:strVal val="visible"/>
                                      </p:to>
                                    </p:set>
                                    <p:animEffect transition="in" filter="fade">
                                      <p:cBhvr>
                                        <p:cTn id="238" dur="500"/>
                                        <p:tgtEl>
                                          <p:spTgt spid="73"/>
                                        </p:tgtEl>
                                      </p:cBhvr>
                                    </p:animEffect>
                                  </p:childTnLst>
                                </p:cTn>
                              </p:par>
                              <p:par>
                                <p:cTn id="239" presetID="6" presetClass="emph" presetSubtype="0" fill="hold" nodeType="withEffect">
                                  <p:stCondLst>
                                    <p:cond delay="300"/>
                                  </p:stCondLst>
                                  <p:childTnLst>
                                    <p:animScale>
                                      <p:cBhvr>
                                        <p:cTn id="240" dur="10" fill="hold"/>
                                        <p:tgtEl>
                                          <p:spTgt spid="73"/>
                                        </p:tgtEl>
                                      </p:cBhvr>
                                      <p:by x="80000" y="80000"/>
                                    </p:animScale>
                                  </p:childTnLst>
                                </p:cTn>
                              </p:par>
                              <p:par>
                                <p:cTn id="241" presetID="6" presetClass="emph" presetSubtype="0" decel="100000" fill="hold" nodeType="withEffect">
                                  <p:stCondLst>
                                    <p:cond delay="300"/>
                                  </p:stCondLst>
                                  <p:childTnLst>
                                    <p:animScale>
                                      <p:cBhvr>
                                        <p:cTn id="242" dur="1000" fill="hold"/>
                                        <p:tgtEl>
                                          <p:spTgt spid="73"/>
                                        </p:tgtEl>
                                      </p:cBhvr>
                                      <p:by x="125000" y="125000"/>
                                    </p:animScale>
                                  </p:childTnLst>
                                </p:cTn>
                              </p:par>
                              <p:par>
                                <p:cTn id="243" presetID="23" presetClass="entr" presetSubtype="272" fill="hold" grpId="0" nodeType="withEffect">
                                  <p:stCondLst>
                                    <p:cond delay="550"/>
                                  </p:stCondLst>
                                  <p:childTnLst>
                                    <p:set>
                                      <p:cBhvr>
                                        <p:cTn id="244" dur="1" fill="hold">
                                          <p:stCondLst>
                                            <p:cond delay="0"/>
                                          </p:stCondLst>
                                        </p:cTn>
                                        <p:tgtEl>
                                          <p:spTgt spid="78"/>
                                        </p:tgtEl>
                                        <p:attrNameLst>
                                          <p:attrName>style.visibility</p:attrName>
                                        </p:attrNameLst>
                                      </p:cBhvr>
                                      <p:to>
                                        <p:strVal val="visible"/>
                                      </p:to>
                                    </p:set>
                                    <p:anim calcmode="lin" valueType="num">
                                      <p:cBhvr>
                                        <p:cTn id="245" dur="250" fill="hold"/>
                                        <p:tgtEl>
                                          <p:spTgt spid="78"/>
                                        </p:tgtEl>
                                        <p:attrNameLst>
                                          <p:attrName>ppt_w</p:attrName>
                                        </p:attrNameLst>
                                      </p:cBhvr>
                                      <p:tavLst>
                                        <p:tav tm="0">
                                          <p:val>
                                            <p:strVal val="2/3*#ppt_w"/>
                                          </p:val>
                                        </p:tav>
                                        <p:tav tm="100000">
                                          <p:val>
                                            <p:strVal val="#ppt_w"/>
                                          </p:val>
                                        </p:tav>
                                      </p:tavLst>
                                    </p:anim>
                                    <p:anim calcmode="lin" valueType="num">
                                      <p:cBhvr>
                                        <p:cTn id="246" dur="250" fill="hold"/>
                                        <p:tgtEl>
                                          <p:spTgt spid="78"/>
                                        </p:tgtEl>
                                        <p:attrNameLst>
                                          <p:attrName>ppt_h</p:attrName>
                                        </p:attrNameLst>
                                      </p:cBhvr>
                                      <p:tavLst>
                                        <p:tav tm="0">
                                          <p:val>
                                            <p:strVal val="2/3*#ppt_h"/>
                                          </p:val>
                                        </p:tav>
                                        <p:tav tm="100000">
                                          <p:val>
                                            <p:strVal val="#ppt_h"/>
                                          </p:val>
                                        </p:tav>
                                      </p:tavLst>
                                    </p:anim>
                                  </p:childTnLst>
                                </p:cTn>
                              </p:par>
                              <p:par>
                                <p:cTn id="247" presetID="10" presetClass="entr" presetSubtype="0" fill="hold" grpId="1" nodeType="withEffect">
                                  <p:stCondLst>
                                    <p:cond delay="550"/>
                                  </p:stCondLst>
                                  <p:childTnLst>
                                    <p:set>
                                      <p:cBhvr>
                                        <p:cTn id="248" dur="1" fill="hold">
                                          <p:stCondLst>
                                            <p:cond delay="0"/>
                                          </p:stCondLst>
                                        </p:cTn>
                                        <p:tgtEl>
                                          <p:spTgt spid="78"/>
                                        </p:tgtEl>
                                        <p:attrNameLst>
                                          <p:attrName>style.visibility</p:attrName>
                                        </p:attrNameLst>
                                      </p:cBhvr>
                                      <p:to>
                                        <p:strVal val="visible"/>
                                      </p:to>
                                    </p:set>
                                    <p:animEffect transition="in" filter="fade">
                                      <p:cBhvr>
                                        <p:cTn id="249" dur="500"/>
                                        <p:tgtEl>
                                          <p:spTgt spid="78"/>
                                        </p:tgtEl>
                                      </p:cBhvr>
                                    </p:animEffect>
                                  </p:childTnLst>
                                </p:cTn>
                              </p:par>
                              <p:par>
                                <p:cTn id="250" presetID="6" presetClass="emph" presetSubtype="0" fill="hold" grpId="2" nodeType="withEffect">
                                  <p:stCondLst>
                                    <p:cond delay="550"/>
                                  </p:stCondLst>
                                  <p:childTnLst>
                                    <p:animScale>
                                      <p:cBhvr>
                                        <p:cTn id="251" dur="10" fill="hold"/>
                                        <p:tgtEl>
                                          <p:spTgt spid="78"/>
                                        </p:tgtEl>
                                      </p:cBhvr>
                                      <p:by x="80000" y="80000"/>
                                    </p:animScale>
                                  </p:childTnLst>
                                </p:cTn>
                              </p:par>
                              <p:par>
                                <p:cTn id="252" presetID="6" presetClass="emph" presetSubtype="0" decel="100000" fill="hold" grpId="3" nodeType="withEffect">
                                  <p:stCondLst>
                                    <p:cond delay="550"/>
                                  </p:stCondLst>
                                  <p:childTnLst>
                                    <p:animScale>
                                      <p:cBhvr>
                                        <p:cTn id="253" dur="1000" fill="hold"/>
                                        <p:tgtEl>
                                          <p:spTgt spid="78"/>
                                        </p:tgtEl>
                                      </p:cBhvr>
                                      <p:by x="125000" y="125000"/>
                                    </p:animScale>
                                  </p:childTnLst>
                                </p:cTn>
                              </p:par>
                              <p:par>
                                <p:cTn id="254" presetID="23" presetClass="entr" presetSubtype="272" fill="hold" nodeType="withEffect">
                                  <p:stCondLst>
                                    <p:cond delay="300"/>
                                  </p:stCondLst>
                                  <p:childTnLst>
                                    <p:set>
                                      <p:cBhvr>
                                        <p:cTn id="255" dur="1" fill="hold">
                                          <p:stCondLst>
                                            <p:cond delay="0"/>
                                          </p:stCondLst>
                                        </p:cTn>
                                        <p:tgtEl>
                                          <p:spTgt spid="79"/>
                                        </p:tgtEl>
                                        <p:attrNameLst>
                                          <p:attrName>style.visibility</p:attrName>
                                        </p:attrNameLst>
                                      </p:cBhvr>
                                      <p:to>
                                        <p:strVal val="visible"/>
                                      </p:to>
                                    </p:set>
                                    <p:anim calcmode="lin" valueType="num">
                                      <p:cBhvr>
                                        <p:cTn id="256" dur="250" fill="hold"/>
                                        <p:tgtEl>
                                          <p:spTgt spid="79"/>
                                        </p:tgtEl>
                                        <p:attrNameLst>
                                          <p:attrName>ppt_w</p:attrName>
                                        </p:attrNameLst>
                                      </p:cBhvr>
                                      <p:tavLst>
                                        <p:tav tm="0">
                                          <p:val>
                                            <p:strVal val="2/3*#ppt_w"/>
                                          </p:val>
                                        </p:tav>
                                        <p:tav tm="100000">
                                          <p:val>
                                            <p:strVal val="#ppt_w"/>
                                          </p:val>
                                        </p:tav>
                                      </p:tavLst>
                                    </p:anim>
                                    <p:anim calcmode="lin" valueType="num">
                                      <p:cBhvr>
                                        <p:cTn id="257" dur="250" fill="hold"/>
                                        <p:tgtEl>
                                          <p:spTgt spid="79"/>
                                        </p:tgtEl>
                                        <p:attrNameLst>
                                          <p:attrName>ppt_h</p:attrName>
                                        </p:attrNameLst>
                                      </p:cBhvr>
                                      <p:tavLst>
                                        <p:tav tm="0">
                                          <p:val>
                                            <p:strVal val="2/3*#ppt_h"/>
                                          </p:val>
                                        </p:tav>
                                        <p:tav tm="100000">
                                          <p:val>
                                            <p:strVal val="#ppt_h"/>
                                          </p:val>
                                        </p:tav>
                                      </p:tavLst>
                                    </p:anim>
                                  </p:childTnLst>
                                </p:cTn>
                              </p:par>
                              <p:par>
                                <p:cTn id="258" presetID="10" presetClass="entr" presetSubtype="0" fill="hold" nodeType="withEffect">
                                  <p:stCondLst>
                                    <p:cond delay="300"/>
                                  </p:stCondLst>
                                  <p:childTnLst>
                                    <p:set>
                                      <p:cBhvr>
                                        <p:cTn id="259" dur="1" fill="hold">
                                          <p:stCondLst>
                                            <p:cond delay="0"/>
                                          </p:stCondLst>
                                        </p:cTn>
                                        <p:tgtEl>
                                          <p:spTgt spid="79"/>
                                        </p:tgtEl>
                                        <p:attrNameLst>
                                          <p:attrName>style.visibility</p:attrName>
                                        </p:attrNameLst>
                                      </p:cBhvr>
                                      <p:to>
                                        <p:strVal val="visible"/>
                                      </p:to>
                                    </p:set>
                                    <p:animEffect transition="in" filter="fade">
                                      <p:cBhvr>
                                        <p:cTn id="260" dur="500"/>
                                        <p:tgtEl>
                                          <p:spTgt spid="79"/>
                                        </p:tgtEl>
                                      </p:cBhvr>
                                    </p:animEffect>
                                  </p:childTnLst>
                                </p:cTn>
                              </p:par>
                              <p:par>
                                <p:cTn id="261" presetID="6" presetClass="emph" presetSubtype="0" fill="hold" nodeType="withEffect">
                                  <p:stCondLst>
                                    <p:cond delay="300"/>
                                  </p:stCondLst>
                                  <p:childTnLst>
                                    <p:animScale>
                                      <p:cBhvr>
                                        <p:cTn id="262" dur="10" fill="hold"/>
                                        <p:tgtEl>
                                          <p:spTgt spid="79"/>
                                        </p:tgtEl>
                                      </p:cBhvr>
                                      <p:by x="80000" y="80000"/>
                                    </p:animScale>
                                  </p:childTnLst>
                                </p:cTn>
                              </p:par>
                              <p:par>
                                <p:cTn id="263" presetID="6" presetClass="emph" presetSubtype="0" decel="100000" fill="hold" nodeType="withEffect">
                                  <p:stCondLst>
                                    <p:cond delay="300"/>
                                  </p:stCondLst>
                                  <p:childTnLst>
                                    <p:animScale>
                                      <p:cBhvr>
                                        <p:cTn id="264" dur="1000" fill="hold"/>
                                        <p:tgtEl>
                                          <p:spTgt spid="79"/>
                                        </p:tgtEl>
                                      </p:cBhvr>
                                      <p:by x="125000" y="125000"/>
                                    </p:animScale>
                                  </p:childTnLst>
                                </p:cTn>
                              </p:par>
                              <p:par>
                                <p:cTn id="265" presetID="23" presetClass="entr" presetSubtype="272" fill="hold" grpId="0" nodeType="withEffect">
                                  <p:stCondLst>
                                    <p:cond delay="550"/>
                                  </p:stCondLst>
                                  <p:childTnLst>
                                    <p:set>
                                      <p:cBhvr>
                                        <p:cTn id="266" dur="1" fill="hold">
                                          <p:stCondLst>
                                            <p:cond delay="0"/>
                                          </p:stCondLst>
                                        </p:cTn>
                                        <p:tgtEl>
                                          <p:spTgt spid="84"/>
                                        </p:tgtEl>
                                        <p:attrNameLst>
                                          <p:attrName>style.visibility</p:attrName>
                                        </p:attrNameLst>
                                      </p:cBhvr>
                                      <p:to>
                                        <p:strVal val="visible"/>
                                      </p:to>
                                    </p:set>
                                    <p:anim calcmode="lin" valueType="num">
                                      <p:cBhvr>
                                        <p:cTn id="267" dur="250" fill="hold"/>
                                        <p:tgtEl>
                                          <p:spTgt spid="84"/>
                                        </p:tgtEl>
                                        <p:attrNameLst>
                                          <p:attrName>ppt_w</p:attrName>
                                        </p:attrNameLst>
                                      </p:cBhvr>
                                      <p:tavLst>
                                        <p:tav tm="0">
                                          <p:val>
                                            <p:strVal val="2/3*#ppt_w"/>
                                          </p:val>
                                        </p:tav>
                                        <p:tav tm="100000">
                                          <p:val>
                                            <p:strVal val="#ppt_w"/>
                                          </p:val>
                                        </p:tav>
                                      </p:tavLst>
                                    </p:anim>
                                    <p:anim calcmode="lin" valueType="num">
                                      <p:cBhvr>
                                        <p:cTn id="268" dur="250" fill="hold"/>
                                        <p:tgtEl>
                                          <p:spTgt spid="84"/>
                                        </p:tgtEl>
                                        <p:attrNameLst>
                                          <p:attrName>ppt_h</p:attrName>
                                        </p:attrNameLst>
                                      </p:cBhvr>
                                      <p:tavLst>
                                        <p:tav tm="0">
                                          <p:val>
                                            <p:strVal val="2/3*#ppt_h"/>
                                          </p:val>
                                        </p:tav>
                                        <p:tav tm="100000">
                                          <p:val>
                                            <p:strVal val="#ppt_h"/>
                                          </p:val>
                                        </p:tav>
                                      </p:tavLst>
                                    </p:anim>
                                  </p:childTnLst>
                                </p:cTn>
                              </p:par>
                              <p:par>
                                <p:cTn id="269" presetID="10" presetClass="entr" presetSubtype="0" fill="hold" grpId="1" nodeType="withEffect">
                                  <p:stCondLst>
                                    <p:cond delay="550"/>
                                  </p:stCondLst>
                                  <p:childTnLst>
                                    <p:set>
                                      <p:cBhvr>
                                        <p:cTn id="270" dur="1" fill="hold">
                                          <p:stCondLst>
                                            <p:cond delay="0"/>
                                          </p:stCondLst>
                                        </p:cTn>
                                        <p:tgtEl>
                                          <p:spTgt spid="84"/>
                                        </p:tgtEl>
                                        <p:attrNameLst>
                                          <p:attrName>style.visibility</p:attrName>
                                        </p:attrNameLst>
                                      </p:cBhvr>
                                      <p:to>
                                        <p:strVal val="visible"/>
                                      </p:to>
                                    </p:set>
                                    <p:animEffect transition="in" filter="fade">
                                      <p:cBhvr>
                                        <p:cTn id="271" dur="500"/>
                                        <p:tgtEl>
                                          <p:spTgt spid="84"/>
                                        </p:tgtEl>
                                      </p:cBhvr>
                                    </p:animEffect>
                                  </p:childTnLst>
                                </p:cTn>
                              </p:par>
                              <p:par>
                                <p:cTn id="272" presetID="6" presetClass="emph" presetSubtype="0" fill="hold" grpId="2" nodeType="withEffect">
                                  <p:stCondLst>
                                    <p:cond delay="550"/>
                                  </p:stCondLst>
                                  <p:childTnLst>
                                    <p:animScale>
                                      <p:cBhvr>
                                        <p:cTn id="273" dur="10" fill="hold"/>
                                        <p:tgtEl>
                                          <p:spTgt spid="84"/>
                                        </p:tgtEl>
                                      </p:cBhvr>
                                      <p:by x="80000" y="80000"/>
                                    </p:animScale>
                                  </p:childTnLst>
                                </p:cTn>
                              </p:par>
                              <p:par>
                                <p:cTn id="274" presetID="6" presetClass="emph" presetSubtype="0" decel="100000" fill="hold" grpId="3" nodeType="withEffect">
                                  <p:stCondLst>
                                    <p:cond delay="550"/>
                                  </p:stCondLst>
                                  <p:childTnLst>
                                    <p:animScale>
                                      <p:cBhvr>
                                        <p:cTn id="275" dur="1000" fill="hold"/>
                                        <p:tgtEl>
                                          <p:spTgt spid="84"/>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9" grpId="1"/>
      <p:bldP spid="9" grpId="2"/>
      <p:bldP spid="9" grpId="3"/>
      <p:bldP spid="10" grpId="0" animBg="1"/>
      <p:bldP spid="11" grpId="0"/>
      <p:bldP spid="11" grpId="1"/>
      <p:bldP spid="11" grpId="2"/>
      <p:bldP spid="11" grpId="3"/>
      <p:bldP spid="12" grpId="0" animBg="1"/>
      <p:bldP spid="13" grpId="0"/>
      <p:bldP spid="13" grpId="1"/>
      <p:bldP spid="13" grpId="2"/>
      <p:bldP spid="13" grpId="3"/>
      <p:bldP spid="14" grpId="0"/>
      <p:bldP spid="14" grpId="1"/>
      <p:bldP spid="14" grpId="2"/>
      <p:bldP spid="14" grpId="3"/>
      <p:bldP spid="15" grpId="0" animBg="1"/>
      <p:bldP spid="16" grpId="0"/>
      <p:bldP spid="16" grpId="1"/>
      <p:bldP spid="16" grpId="2"/>
      <p:bldP spid="16" grpId="3"/>
      <p:bldP spid="22" grpId="0" animBg="1"/>
      <p:bldP spid="23" grpId="0"/>
      <p:bldP spid="23" grpId="1"/>
      <p:bldP spid="23" grpId="2"/>
      <p:bldP spid="23" grpId="3"/>
      <p:bldP spid="54" grpId="0" animBg="1"/>
      <p:bldP spid="54" grpId="1" animBg="1"/>
      <p:bldP spid="54" grpId="2" animBg="1"/>
      <p:bldP spid="54" grpId="3" animBg="1"/>
      <p:bldP spid="60" grpId="0" animBg="1"/>
      <p:bldP spid="60" grpId="1" animBg="1"/>
      <p:bldP spid="60" grpId="2" animBg="1"/>
      <p:bldP spid="60" grpId="3" animBg="1"/>
      <p:bldP spid="66" grpId="0" animBg="1"/>
      <p:bldP spid="66" grpId="1" animBg="1"/>
      <p:bldP spid="66" grpId="2" animBg="1"/>
      <p:bldP spid="66" grpId="3" animBg="1"/>
      <p:bldP spid="72" grpId="0" animBg="1"/>
      <p:bldP spid="72" grpId="1" animBg="1"/>
      <p:bldP spid="72" grpId="2" animBg="1"/>
      <p:bldP spid="72" grpId="3" animBg="1"/>
      <p:bldP spid="78" grpId="0" animBg="1"/>
      <p:bldP spid="78" grpId="1" animBg="1"/>
      <p:bldP spid="78" grpId="2" animBg="1"/>
      <p:bldP spid="78" grpId="3" animBg="1"/>
      <p:bldP spid="84" grpId="0" animBg="1"/>
      <p:bldP spid="84" grpId="1" animBg="1"/>
      <p:bldP spid="84" grpId="2" animBg="1"/>
      <p:bldP spid="84" grpId="3"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7FE28-EA69-9F3B-09E1-58FBB6D6F66A}"/>
              </a:ext>
            </a:extLst>
          </p:cNvPr>
          <p:cNvSpPr>
            <a:spLocks noGrp="1"/>
          </p:cNvSpPr>
          <p:nvPr>
            <p:ph type="title"/>
          </p:nvPr>
        </p:nvSpPr>
        <p:spPr/>
        <p:txBody>
          <a:bodyPr/>
          <a:lstStyle/>
          <a:p>
            <a:r>
              <a:rPr lang="en-GB"/>
              <a:t>AI Workload Operations</a:t>
            </a:r>
            <a:endParaRPr lang="en-US"/>
          </a:p>
        </p:txBody>
      </p:sp>
      <p:sp>
        <p:nvSpPr>
          <p:cNvPr id="4" name="Slide Number Placeholder 3">
            <a:extLst>
              <a:ext uri="{FF2B5EF4-FFF2-40B4-BE49-F238E27FC236}">
                <a16:creationId xmlns:a16="http://schemas.microsoft.com/office/drawing/2014/main" id="{C0DC8B94-455D-AC20-37B0-9F0D4A8BCB0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C95CD64F-9BA3-A503-54E1-3CABA1C17C1E}"/>
              </a:ext>
            </a:extLst>
          </p:cNvPr>
          <p:cNvGrpSpPr/>
          <p:nvPr/>
        </p:nvGrpSpPr>
        <p:grpSpPr>
          <a:xfrm>
            <a:off x="556196" y="1592264"/>
            <a:ext cx="11064304" cy="4676774"/>
            <a:chOff x="569913" y="1533094"/>
            <a:chExt cx="8416841" cy="4021458"/>
          </a:xfrm>
        </p:grpSpPr>
        <p:sp useBgFill="1">
          <p:nvSpPr>
            <p:cNvPr id="6" name="Rectangle: Rounded Corners 5">
              <a:extLst>
                <a:ext uri="{FF2B5EF4-FFF2-40B4-BE49-F238E27FC236}">
                  <a16:creationId xmlns:a16="http://schemas.microsoft.com/office/drawing/2014/main" id="{C090AE29-2A7E-0572-0BD6-52DB8B4A04D3}"/>
                </a:ext>
              </a:extLst>
            </p:cNvPr>
            <p:cNvSpPr/>
            <p:nvPr/>
          </p:nvSpPr>
          <p:spPr bwMode="auto">
            <a:xfrm>
              <a:off x="569913" y="1533094"/>
              <a:ext cx="8416841" cy="4021458"/>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7" name="Rectangle: Rounded Corners 6">
              <a:extLst>
                <a:ext uri="{FF2B5EF4-FFF2-40B4-BE49-F238E27FC236}">
                  <a16:creationId xmlns:a16="http://schemas.microsoft.com/office/drawing/2014/main" id="{8E8B02C1-0E9B-DA4D-C6DD-DA6D2F1B1004}"/>
                </a:ext>
              </a:extLst>
            </p:cNvPr>
            <p:cNvSpPr/>
            <p:nvPr/>
          </p:nvSpPr>
          <p:spPr bwMode="auto">
            <a:xfrm>
              <a:off x="569913" y="1533094"/>
              <a:ext cx="8416841" cy="4021458"/>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8" name="Rectangle: Rounded Corners 7">
            <a:extLst>
              <a:ext uri="{FF2B5EF4-FFF2-40B4-BE49-F238E27FC236}">
                <a16:creationId xmlns:a16="http://schemas.microsoft.com/office/drawing/2014/main" id="{91A9E8B1-F6CF-87F7-531A-64657629DCE5}"/>
              </a:ext>
            </a:extLst>
          </p:cNvPr>
          <p:cNvSpPr>
            <a:spLocks/>
          </p:cNvSpPr>
          <p:nvPr/>
        </p:nvSpPr>
        <p:spPr bwMode="auto">
          <a:xfrm>
            <a:off x="3236588" y="5433486"/>
            <a:ext cx="5297400" cy="575109"/>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9" name="Rectangle: Rounded Corners 8">
            <a:extLst>
              <a:ext uri="{FF2B5EF4-FFF2-40B4-BE49-F238E27FC236}">
                <a16:creationId xmlns:a16="http://schemas.microsoft.com/office/drawing/2014/main" id="{E688F584-5C58-4D64-73D1-CD552A47C63C}"/>
              </a:ext>
            </a:extLst>
          </p:cNvPr>
          <p:cNvSpPr>
            <a:spLocks/>
          </p:cNvSpPr>
          <p:nvPr/>
        </p:nvSpPr>
        <p:spPr bwMode="auto">
          <a:xfrm>
            <a:off x="2925033" y="2185859"/>
            <a:ext cx="1980000" cy="284160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0" name="Rectangle: Rounded Corners 9">
            <a:extLst>
              <a:ext uri="{FF2B5EF4-FFF2-40B4-BE49-F238E27FC236}">
                <a16:creationId xmlns:a16="http://schemas.microsoft.com/office/drawing/2014/main" id="{E6722B03-0A99-0CF8-860F-9441D87A5F6E}"/>
              </a:ext>
            </a:extLst>
          </p:cNvPr>
          <p:cNvSpPr>
            <a:spLocks/>
          </p:cNvSpPr>
          <p:nvPr/>
        </p:nvSpPr>
        <p:spPr bwMode="auto">
          <a:xfrm>
            <a:off x="7239775" y="2185859"/>
            <a:ext cx="1980000" cy="284160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1" name="Rectangle: Rounded Corners 10">
            <a:extLst>
              <a:ext uri="{FF2B5EF4-FFF2-40B4-BE49-F238E27FC236}">
                <a16:creationId xmlns:a16="http://schemas.microsoft.com/office/drawing/2014/main" id="{01681017-318D-D777-FC1B-8C5F4842EE01}"/>
              </a:ext>
            </a:extLst>
          </p:cNvPr>
          <p:cNvSpPr>
            <a:spLocks/>
          </p:cNvSpPr>
          <p:nvPr/>
        </p:nvSpPr>
        <p:spPr bwMode="auto">
          <a:xfrm>
            <a:off x="757269" y="2199408"/>
            <a:ext cx="1980000" cy="284160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324000" rtl="0" eaLnBrk="1" fontAlgn="base" latinLnBrk="0" hangingPunct="1">
              <a:lnSpc>
                <a:spcPct val="100000"/>
              </a:lnSpc>
              <a:spcBef>
                <a:spcPct val="0"/>
              </a:spcBef>
              <a:spcAft>
                <a:spcPct val="0"/>
              </a:spcAft>
              <a:buClrTx/>
              <a:buSzTx/>
              <a:buFontTx/>
              <a:buNone/>
              <a:tabLst>
                <a:tab pos="324000" algn="l"/>
              </a:tabLst>
              <a:defRPr/>
            </a:pPr>
            <a:endParaRPr kumimoji="0" lang="en-US" sz="2500" b="0" i="0" u="none" strike="noStrike" kern="1200" cap="none" spc="0" normalizeH="0" baseline="0" noProof="0">
              <a:ln>
                <a:noFill/>
              </a:ln>
              <a:solidFill>
                <a:srgbClr val="FFFFFF"/>
              </a:solidFill>
              <a:effectLst/>
              <a:uLnTx/>
              <a:uFillTx/>
              <a:latin typeface="Segoe Sans Text"/>
              <a:ea typeface="Segoe Sans Text" pitchFamily="2" charset="0"/>
              <a:cs typeface="Segoe Sans Text" pitchFamily="2" charset="0"/>
            </a:endParaRPr>
          </a:p>
        </p:txBody>
      </p:sp>
      <p:sp>
        <p:nvSpPr>
          <p:cNvPr id="12" name="Rectangle: Rounded Corners 11">
            <a:extLst>
              <a:ext uri="{FF2B5EF4-FFF2-40B4-BE49-F238E27FC236}">
                <a16:creationId xmlns:a16="http://schemas.microsoft.com/office/drawing/2014/main" id="{45F049D4-E102-015D-5452-FE19297DCA71}"/>
              </a:ext>
            </a:extLst>
          </p:cNvPr>
          <p:cNvSpPr>
            <a:spLocks/>
          </p:cNvSpPr>
          <p:nvPr/>
        </p:nvSpPr>
        <p:spPr bwMode="auto">
          <a:xfrm>
            <a:off x="5067395" y="2208167"/>
            <a:ext cx="1980000" cy="284160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500" b="0" i="0" u="none" strike="noStrike" kern="1200" cap="none" spc="0" normalizeH="0" baseline="0" noProof="0">
              <a:ln>
                <a:noFill/>
              </a:ln>
              <a:solidFill>
                <a:srgbClr val="FFFFFF"/>
              </a:solidFill>
              <a:effectLst/>
              <a:uLnTx/>
              <a:uFillTx/>
              <a:latin typeface="Segoe Sans Text"/>
              <a:ea typeface="Segoe Sans Text" pitchFamily="2" charset="0"/>
              <a:cs typeface="Segoe Sans Text" pitchFamily="2" charset="0"/>
            </a:endParaRPr>
          </a:p>
        </p:txBody>
      </p:sp>
      <p:sp>
        <p:nvSpPr>
          <p:cNvPr id="13" name="Rectangle: Rounded Corners 12">
            <a:extLst>
              <a:ext uri="{FF2B5EF4-FFF2-40B4-BE49-F238E27FC236}">
                <a16:creationId xmlns:a16="http://schemas.microsoft.com/office/drawing/2014/main" id="{4EB5C327-2819-34CC-E10B-830D66A61B67}"/>
              </a:ext>
            </a:extLst>
          </p:cNvPr>
          <p:cNvSpPr>
            <a:spLocks/>
          </p:cNvSpPr>
          <p:nvPr/>
        </p:nvSpPr>
        <p:spPr bwMode="auto">
          <a:xfrm>
            <a:off x="920749" y="2818079"/>
            <a:ext cx="1916978" cy="1478533"/>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24000" fontAlgn="base">
              <a:spcBef>
                <a:spcPct val="0"/>
              </a:spcBef>
              <a:spcAft>
                <a:spcPts val="700"/>
              </a:spcAft>
              <a:tabLst>
                <a:tab pos="324000" algn="l"/>
              </a:tabLst>
            </a:pPr>
            <a:r>
              <a:rPr lang="en-US" sz="1500">
                <a:solidFill>
                  <a:schemeClr val="bg1"/>
                </a:solidFill>
                <a:cs typeface="Segoe Sans Text ExtraBold" pitchFamily="2" charset="0"/>
              </a:rPr>
              <a:t>Code Reproducibility</a:t>
            </a:r>
            <a:endParaRPr lang="en-GB" sz="1500">
              <a:solidFill>
                <a:schemeClr val="bg1"/>
              </a:solidFill>
              <a:cs typeface="Segoe Sans Text ExtraBold" pitchFamily="2" charset="0"/>
            </a:endParaRPr>
          </a:p>
          <a:p>
            <a:pPr defTabSz="324000" fontAlgn="base">
              <a:spcBef>
                <a:spcPct val="0"/>
              </a:spcBef>
              <a:spcAft>
                <a:spcPts val="700"/>
              </a:spcAft>
              <a:tabLst>
                <a:tab pos="324000" algn="l"/>
              </a:tabLst>
            </a:pPr>
            <a:r>
              <a:rPr lang="en-US" sz="1500">
                <a:solidFill>
                  <a:schemeClr val="bg1"/>
                </a:solidFill>
                <a:cs typeface="Segoe Sans Text ExtraBold" pitchFamily="2" charset="0"/>
              </a:rPr>
              <a:t>Code Validation</a:t>
            </a:r>
            <a:endParaRPr lang="en-GB" sz="1500">
              <a:solidFill>
                <a:schemeClr val="bg1"/>
              </a:solidFill>
              <a:cs typeface="Segoe Sans Text ExtraBold" pitchFamily="2" charset="0"/>
            </a:endParaRPr>
          </a:p>
          <a:p>
            <a:pPr defTabSz="324000" fontAlgn="base">
              <a:spcBef>
                <a:spcPct val="0"/>
              </a:spcBef>
              <a:spcAft>
                <a:spcPts val="700"/>
              </a:spcAft>
              <a:tabLst>
                <a:tab pos="324000" algn="l"/>
              </a:tabLst>
            </a:pPr>
            <a:r>
              <a:rPr lang="en-US" sz="1500">
                <a:solidFill>
                  <a:schemeClr val="bg1"/>
                </a:solidFill>
                <a:cs typeface="Segoe Sans Text ExtraBold" pitchFamily="2" charset="0"/>
              </a:rPr>
              <a:t>Applications Deployment</a:t>
            </a:r>
          </a:p>
          <a:p>
            <a:pPr lvl="0" defTabSz="324000" fontAlgn="base">
              <a:spcBef>
                <a:spcPct val="0"/>
              </a:spcBef>
              <a:spcAft>
                <a:spcPts val="700"/>
              </a:spcAft>
              <a:tabLst>
                <a:tab pos="324000" algn="l"/>
              </a:tabLst>
            </a:pPr>
            <a:endParaRPr lang="en-GB" sz="1500">
              <a:solidFill>
                <a:schemeClr val="bg1"/>
              </a:solidFill>
              <a:cs typeface="Segoe Sans Text ExtraBold" pitchFamily="2" charset="0"/>
            </a:endParaRPr>
          </a:p>
        </p:txBody>
      </p:sp>
      <p:sp>
        <p:nvSpPr>
          <p:cNvPr id="14" name="Rectangle: Rounded Corners 13">
            <a:extLst>
              <a:ext uri="{FF2B5EF4-FFF2-40B4-BE49-F238E27FC236}">
                <a16:creationId xmlns:a16="http://schemas.microsoft.com/office/drawing/2014/main" id="{F07644B5-0B68-BFF8-9840-FDD399A9AAF6}"/>
              </a:ext>
            </a:extLst>
          </p:cNvPr>
          <p:cNvSpPr>
            <a:spLocks/>
          </p:cNvSpPr>
          <p:nvPr/>
        </p:nvSpPr>
        <p:spPr bwMode="auto">
          <a:xfrm>
            <a:off x="7286048" y="2900024"/>
            <a:ext cx="1916978" cy="1238771"/>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24000" fontAlgn="base">
              <a:spcBef>
                <a:spcPct val="0"/>
              </a:spcBef>
              <a:spcAft>
                <a:spcPts val="700"/>
              </a:spcAft>
              <a:tabLst>
                <a:tab pos="324000" algn="l"/>
              </a:tabLst>
            </a:pPr>
            <a:r>
              <a:rPr lang="en-US" sz="1500">
                <a:solidFill>
                  <a:schemeClr val="bg1"/>
                </a:solidFill>
                <a:cs typeface="Segoe Sans Text ExtraBold" pitchFamily="2" charset="0"/>
              </a:rPr>
              <a:t>Model Reproducibility</a:t>
            </a:r>
            <a:endParaRPr lang="en-GB" sz="1500">
              <a:solidFill>
                <a:schemeClr val="bg1"/>
              </a:solidFill>
              <a:cs typeface="Segoe Sans Text ExtraBold" pitchFamily="2" charset="0"/>
            </a:endParaRPr>
          </a:p>
          <a:p>
            <a:pPr defTabSz="324000" fontAlgn="base">
              <a:spcBef>
                <a:spcPct val="0"/>
              </a:spcBef>
              <a:spcAft>
                <a:spcPts val="700"/>
              </a:spcAft>
              <a:tabLst>
                <a:tab pos="324000" algn="l"/>
              </a:tabLst>
            </a:pPr>
            <a:r>
              <a:rPr lang="en-US" sz="1500">
                <a:solidFill>
                  <a:schemeClr val="bg1"/>
                </a:solidFill>
                <a:cs typeface="Segoe Sans Text ExtraBold" pitchFamily="2" charset="0"/>
              </a:rPr>
              <a:t>Model Validation</a:t>
            </a:r>
            <a:endParaRPr lang="en-GB" sz="1500">
              <a:solidFill>
                <a:schemeClr val="bg1"/>
              </a:solidFill>
              <a:cs typeface="Segoe Sans Text ExtraBold" pitchFamily="2" charset="0"/>
            </a:endParaRPr>
          </a:p>
          <a:p>
            <a:pPr defTabSz="324000" fontAlgn="base">
              <a:spcBef>
                <a:spcPct val="0"/>
              </a:spcBef>
              <a:spcAft>
                <a:spcPts val="700"/>
              </a:spcAft>
              <a:tabLst>
                <a:tab pos="324000" algn="l"/>
              </a:tabLst>
            </a:pPr>
            <a:r>
              <a:rPr lang="en-US" sz="1500">
                <a:solidFill>
                  <a:schemeClr val="bg1"/>
                </a:solidFill>
                <a:cs typeface="Segoe Sans Text ExtraBold" pitchFamily="2" charset="0"/>
              </a:rPr>
              <a:t>Model Deployment</a:t>
            </a:r>
            <a:endParaRPr lang="en-GB" sz="1500">
              <a:solidFill>
                <a:schemeClr val="bg1"/>
              </a:solidFill>
              <a:cs typeface="Segoe Sans Text ExtraBold" pitchFamily="2" charset="0"/>
            </a:endParaRPr>
          </a:p>
          <a:p>
            <a:pPr defTabSz="324000" fontAlgn="base">
              <a:spcBef>
                <a:spcPct val="0"/>
              </a:spcBef>
              <a:spcAft>
                <a:spcPts val="700"/>
              </a:spcAft>
              <a:tabLst>
                <a:tab pos="324000" algn="l"/>
              </a:tabLst>
            </a:pPr>
            <a:r>
              <a:rPr lang="en-US" sz="1500">
                <a:solidFill>
                  <a:schemeClr val="bg1"/>
                </a:solidFill>
                <a:cs typeface="Segoe Sans Text ExtraBold" pitchFamily="2" charset="0"/>
              </a:rPr>
              <a:t>Model Retraining</a:t>
            </a:r>
            <a:endParaRPr lang="en-GB" sz="1500">
              <a:solidFill>
                <a:schemeClr val="bg1"/>
              </a:solidFill>
              <a:cs typeface="Segoe Sans Text ExtraBold" pitchFamily="2" charset="0"/>
            </a:endParaRPr>
          </a:p>
        </p:txBody>
      </p:sp>
      <p:sp>
        <p:nvSpPr>
          <p:cNvPr id="15" name="Rectangle: Rounded Corners 14">
            <a:extLst>
              <a:ext uri="{FF2B5EF4-FFF2-40B4-BE49-F238E27FC236}">
                <a16:creationId xmlns:a16="http://schemas.microsoft.com/office/drawing/2014/main" id="{552EDE8E-4DAA-23E8-D4F5-068B70BF85A2}"/>
              </a:ext>
            </a:extLst>
          </p:cNvPr>
          <p:cNvSpPr>
            <a:spLocks/>
          </p:cNvSpPr>
          <p:nvPr/>
        </p:nvSpPr>
        <p:spPr bwMode="auto">
          <a:xfrm>
            <a:off x="5258028" y="2856080"/>
            <a:ext cx="1916978" cy="905768"/>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ts val="700"/>
              </a:spcAft>
            </a:pPr>
            <a:r>
              <a:rPr lang="en-GB" sz="1500">
                <a:solidFill>
                  <a:schemeClr val="bg1"/>
                </a:solidFill>
                <a:ea typeface="Segoe UI" pitchFamily="34" charset="0"/>
                <a:cs typeface="Segoe UI" pitchFamily="34" charset="0"/>
              </a:rPr>
              <a:t>Data Quality</a:t>
            </a:r>
          </a:p>
          <a:p>
            <a:pPr defTabSz="932472" fontAlgn="base">
              <a:spcBef>
                <a:spcPct val="0"/>
              </a:spcBef>
              <a:spcAft>
                <a:spcPts val="700"/>
              </a:spcAft>
            </a:pPr>
            <a:r>
              <a:rPr lang="en-GB" sz="1500">
                <a:solidFill>
                  <a:schemeClr val="bg1"/>
                </a:solidFill>
                <a:ea typeface="Segoe UI" pitchFamily="34" charset="0"/>
                <a:cs typeface="Segoe UI" pitchFamily="34" charset="0"/>
              </a:rPr>
              <a:t>Team collaboration</a:t>
            </a:r>
            <a:endParaRPr lang="en-GB" sz="1500">
              <a:solidFill>
                <a:schemeClr val="bg1"/>
              </a:solidFill>
              <a:cs typeface="Segoe Sans Text ExtraBold" pitchFamily="2" charset="0"/>
            </a:endParaRPr>
          </a:p>
          <a:p>
            <a:pPr defTabSz="932472" fontAlgn="base">
              <a:spcBef>
                <a:spcPct val="0"/>
              </a:spcBef>
              <a:spcAft>
                <a:spcPts val="700"/>
              </a:spcAft>
            </a:pPr>
            <a:r>
              <a:rPr lang="en-GB" sz="1500">
                <a:solidFill>
                  <a:schemeClr val="bg1"/>
                </a:solidFill>
                <a:cs typeface="Segoe Sans Text ExtraBold" pitchFamily="2" charset="0"/>
              </a:rPr>
              <a:t>Governance</a:t>
            </a:r>
          </a:p>
        </p:txBody>
      </p:sp>
      <p:sp>
        <p:nvSpPr>
          <p:cNvPr id="16" name="Rectangle: Rounded Corners 15">
            <a:extLst>
              <a:ext uri="{FF2B5EF4-FFF2-40B4-BE49-F238E27FC236}">
                <a16:creationId xmlns:a16="http://schemas.microsoft.com/office/drawing/2014/main" id="{8918D369-D5FA-6D15-B087-7B3D41E793A4}"/>
              </a:ext>
            </a:extLst>
          </p:cNvPr>
          <p:cNvSpPr>
            <a:spLocks/>
          </p:cNvSpPr>
          <p:nvPr/>
        </p:nvSpPr>
        <p:spPr bwMode="auto">
          <a:xfrm>
            <a:off x="3076884" y="2851948"/>
            <a:ext cx="1916978" cy="1478533"/>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24000" fontAlgn="base">
              <a:spcBef>
                <a:spcPct val="0"/>
              </a:spcBef>
              <a:spcAft>
                <a:spcPts val="700"/>
              </a:spcAft>
              <a:tabLst>
                <a:tab pos="324000" algn="l"/>
              </a:tabLst>
            </a:pPr>
            <a:r>
              <a:rPr lang="en-GB" sz="1500">
                <a:solidFill>
                  <a:schemeClr val="bg1"/>
                </a:solidFill>
                <a:cs typeface="Segoe Sans Text ExtraBold" pitchFamily="2" charset="0"/>
              </a:rPr>
              <a:t>Secure Design</a:t>
            </a:r>
          </a:p>
          <a:p>
            <a:pPr defTabSz="324000" fontAlgn="base">
              <a:spcBef>
                <a:spcPct val="0"/>
              </a:spcBef>
              <a:spcAft>
                <a:spcPts val="700"/>
              </a:spcAft>
              <a:tabLst>
                <a:tab pos="324000" algn="l"/>
              </a:tabLst>
            </a:pPr>
            <a:r>
              <a:rPr lang="en-GB" sz="1500">
                <a:solidFill>
                  <a:schemeClr val="bg1"/>
                </a:solidFill>
                <a:cs typeface="Segoe Sans Text ExtraBold" pitchFamily="2" charset="0"/>
              </a:rPr>
              <a:t>Secure Code</a:t>
            </a:r>
          </a:p>
          <a:p>
            <a:pPr defTabSz="324000" fontAlgn="base">
              <a:spcBef>
                <a:spcPct val="0"/>
              </a:spcBef>
              <a:spcAft>
                <a:spcPts val="700"/>
              </a:spcAft>
              <a:tabLst>
                <a:tab pos="324000" algn="l"/>
              </a:tabLst>
            </a:pPr>
            <a:r>
              <a:rPr lang="en-GB" sz="1500">
                <a:solidFill>
                  <a:schemeClr val="bg1"/>
                </a:solidFill>
                <a:cs typeface="Segoe Sans Text ExtraBold" pitchFamily="2" charset="0"/>
              </a:rPr>
              <a:t>Secure CI/CD Pipelines</a:t>
            </a:r>
          </a:p>
          <a:p>
            <a:pPr defTabSz="324000" fontAlgn="base">
              <a:spcBef>
                <a:spcPct val="0"/>
              </a:spcBef>
              <a:spcAft>
                <a:spcPts val="700"/>
              </a:spcAft>
              <a:tabLst>
                <a:tab pos="324000" algn="l"/>
              </a:tabLst>
            </a:pPr>
            <a:r>
              <a:rPr lang="en-GB" sz="1500">
                <a:solidFill>
                  <a:schemeClr val="bg1"/>
                </a:solidFill>
                <a:cs typeface="Segoe Sans Text ExtraBold" pitchFamily="2" charset="0"/>
              </a:rPr>
              <a:t>Secure Operations</a:t>
            </a:r>
          </a:p>
        </p:txBody>
      </p:sp>
      <p:grpSp>
        <p:nvGrpSpPr>
          <p:cNvPr id="20" name="Group 19">
            <a:extLst>
              <a:ext uri="{FF2B5EF4-FFF2-40B4-BE49-F238E27FC236}">
                <a16:creationId xmlns:a16="http://schemas.microsoft.com/office/drawing/2014/main" id="{3853DFBC-A4B6-C87B-B8C4-81400CFE3943}"/>
              </a:ext>
            </a:extLst>
          </p:cNvPr>
          <p:cNvGrpSpPr/>
          <p:nvPr/>
        </p:nvGrpSpPr>
        <p:grpSpPr>
          <a:xfrm>
            <a:off x="815276" y="2284435"/>
            <a:ext cx="1872000" cy="360000"/>
            <a:chOff x="815276" y="1850708"/>
            <a:chExt cx="2438044" cy="404578"/>
          </a:xfrm>
        </p:grpSpPr>
        <p:sp>
          <p:nvSpPr>
            <p:cNvPr id="21" name="Rectangle: Rounded Corners 20">
              <a:extLst>
                <a:ext uri="{FF2B5EF4-FFF2-40B4-BE49-F238E27FC236}">
                  <a16:creationId xmlns:a16="http://schemas.microsoft.com/office/drawing/2014/main" id="{8A407994-3819-372B-63E5-4D9FF805E75F}"/>
                </a:ext>
              </a:extLst>
            </p:cNvPr>
            <p:cNvSpPr>
              <a:spLocks/>
            </p:cNvSpPr>
            <p:nvPr/>
          </p:nvSpPr>
          <p:spPr bwMode="auto">
            <a:xfrm>
              <a:off x="815276" y="1850708"/>
              <a:ext cx="24380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22" name="Group 21">
              <a:extLst>
                <a:ext uri="{FF2B5EF4-FFF2-40B4-BE49-F238E27FC236}">
                  <a16:creationId xmlns:a16="http://schemas.microsoft.com/office/drawing/2014/main" id="{AECE0AA5-52E0-FC26-9029-EBB241E271CC}"/>
                </a:ext>
              </a:extLst>
            </p:cNvPr>
            <p:cNvGrpSpPr/>
            <p:nvPr/>
          </p:nvGrpSpPr>
          <p:grpSpPr>
            <a:xfrm>
              <a:off x="848238" y="1883670"/>
              <a:ext cx="338654" cy="338654"/>
              <a:chOff x="1261672" y="4833938"/>
              <a:chExt cx="954296" cy="954296"/>
            </a:xfrm>
          </p:grpSpPr>
          <p:sp>
            <p:nvSpPr>
              <p:cNvPr id="25" name="Rectangle: Rounded Corners 24">
                <a:extLst>
                  <a:ext uri="{FF2B5EF4-FFF2-40B4-BE49-F238E27FC236}">
                    <a16:creationId xmlns:a16="http://schemas.microsoft.com/office/drawing/2014/main" id="{29419815-B9EA-8E25-EC2B-2EF4BB0F4A61}"/>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26" name="Rectangle: Rounded Corners 25">
                <a:extLst>
                  <a:ext uri="{FF2B5EF4-FFF2-40B4-BE49-F238E27FC236}">
                    <a16:creationId xmlns:a16="http://schemas.microsoft.com/office/drawing/2014/main" id="{5A79FF9C-0D45-3E30-8748-F98EC63A74D6}"/>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3" name="Rectangle: Rounded Corners 22">
              <a:extLst>
                <a:ext uri="{FF2B5EF4-FFF2-40B4-BE49-F238E27FC236}">
                  <a16:creationId xmlns:a16="http://schemas.microsoft.com/office/drawing/2014/main" id="{1D66FC95-28C4-E311-1E97-293A468E73A7}"/>
                </a:ext>
              </a:extLst>
            </p:cNvPr>
            <p:cNvSpPr>
              <a:spLocks/>
            </p:cNvSpPr>
            <p:nvPr/>
          </p:nvSpPr>
          <p:spPr bwMode="auto">
            <a:xfrm>
              <a:off x="1278040" y="1909139"/>
              <a:ext cx="1916978"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GB" sz="1600" b="1">
                  <a:solidFill>
                    <a:srgbClr val="0078D4"/>
                  </a:solidFill>
                  <a:cs typeface="Segoe Sans Text ExtraBold" pitchFamily="2" charset="0"/>
                </a:rPr>
                <a:t>DevOps:</a:t>
              </a:r>
            </a:p>
          </p:txBody>
        </p:sp>
        <p:pic>
          <p:nvPicPr>
            <p:cNvPr id="24" name="Graphic 23">
              <a:extLst>
                <a:ext uri="{FF2B5EF4-FFF2-40B4-BE49-F238E27FC236}">
                  <a16:creationId xmlns:a16="http://schemas.microsoft.com/office/drawing/2014/main" id="{EE351AF6-2DCF-3154-F220-E105038170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842" y="1943429"/>
              <a:ext cx="223520" cy="223520"/>
            </a:xfrm>
            <a:prstGeom prst="rect">
              <a:avLst/>
            </a:prstGeom>
          </p:spPr>
        </p:pic>
      </p:grpSp>
      <p:grpSp>
        <p:nvGrpSpPr>
          <p:cNvPr id="27" name="Group 26">
            <a:extLst>
              <a:ext uri="{FF2B5EF4-FFF2-40B4-BE49-F238E27FC236}">
                <a16:creationId xmlns:a16="http://schemas.microsoft.com/office/drawing/2014/main" id="{FED2BF02-98FC-20A2-5203-420072B3D89B}"/>
              </a:ext>
            </a:extLst>
          </p:cNvPr>
          <p:cNvGrpSpPr/>
          <p:nvPr/>
        </p:nvGrpSpPr>
        <p:grpSpPr>
          <a:xfrm>
            <a:off x="7280155" y="2291375"/>
            <a:ext cx="1872000" cy="360000"/>
            <a:chOff x="3517976" y="1850708"/>
            <a:chExt cx="2438044" cy="404578"/>
          </a:xfrm>
        </p:grpSpPr>
        <p:sp>
          <p:nvSpPr>
            <p:cNvPr id="28" name="Rectangle: Rounded Corners 27">
              <a:extLst>
                <a:ext uri="{FF2B5EF4-FFF2-40B4-BE49-F238E27FC236}">
                  <a16:creationId xmlns:a16="http://schemas.microsoft.com/office/drawing/2014/main" id="{82B8ED69-B26C-1236-70C4-D9503FE169F9}"/>
                </a:ext>
              </a:extLst>
            </p:cNvPr>
            <p:cNvSpPr>
              <a:spLocks/>
            </p:cNvSpPr>
            <p:nvPr/>
          </p:nvSpPr>
          <p:spPr bwMode="auto">
            <a:xfrm>
              <a:off x="3517976" y="1850708"/>
              <a:ext cx="24380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29" name="Group 28">
              <a:extLst>
                <a:ext uri="{FF2B5EF4-FFF2-40B4-BE49-F238E27FC236}">
                  <a16:creationId xmlns:a16="http://schemas.microsoft.com/office/drawing/2014/main" id="{80A66231-5C0A-6E32-1FD3-7C41C0557234}"/>
                </a:ext>
              </a:extLst>
            </p:cNvPr>
            <p:cNvGrpSpPr/>
            <p:nvPr/>
          </p:nvGrpSpPr>
          <p:grpSpPr>
            <a:xfrm>
              <a:off x="3545362" y="1883670"/>
              <a:ext cx="338654" cy="338654"/>
              <a:chOff x="1261672" y="4833938"/>
              <a:chExt cx="954296" cy="954296"/>
            </a:xfrm>
          </p:grpSpPr>
          <p:sp>
            <p:nvSpPr>
              <p:cNvPr id="32" name="Rectangle: Rounded Corners 31">
                <a:extLst>
                  <a:ext uri="{FF2B5EF4-FFF2-40B4-BE49-F238E27FC236}">
                    <a16:creationId xmlns:a16="http://schemas.microsoft.com/office/drawing/2014/main" id="{68484FC9-A18D-46C3-A73A-5966622FB5EE}"/>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33" name="Rectangle: Rounded Corners 32">
                <a:extLst>
                  <a:ext uri="{FF2B5EF4-FFF2-40B4-BE49-F238E27FC236}">
                    <a16:creationId xmlns:a16="http://schemas.microsoft.com/office/drawing/2014/main" id="{8D8B0FD8-B660-F7BF-1AA7-FFF2D4C9833A}"/>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30" name="Rectangle: Rounded Corners 29">
              <a:extLst>
                <a:ext uri="{FF2B5EF4-FFF2-40B4-BE49-F238E27FC236}">
                  <a16:creationId xmlns:a16="http://schemas.microsoft.com/office/drawing/2014/main" id="{980C328C-9878-26C3-8441-61F13132DEA2}"/>
                </a:ext>
              </a:extLst>
            </p:cNvPr>
            <p:cNvSpPr>
              <a:spLocks/>
            </p:cNvSpPr>
            <p:nvPr/>
          </p:nvSpPr>
          <p:spPr bwMode="auto">
            <a:xfrm>
              <a:off x="3983590" y="1909139"/>
              <a:ext cx="1916978"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US" sz="1600" b="1" err="1">
                  <a:solidFill>
                    <a:srgbClr val="0078D4"/>
                  </a:solidFill>
                  <a:cs typeface="Segoe Sans Text ExtraBold" pitchFamily="2" charset="0"/>
                </a:rPr>
                <a:t>MLOps</a:t>
              </a:r>
              <a:r>
                <a:rPr lang="en-US" sz="1600" b="1">
                  <a:solidFill>
                    <a:srgbClr val="0078D4"/>
                  </a:solidFill>
                  <a:cs typeface="Segoe Sans Text ExtraBold" pitchFamily="2" charset="0"/>
                </a:rPr>
                <a:t>: </a:t>
              </a:r>
            </a:p>
          </p:txBody>
        </p:sp>
        <p:pic>
          <p:nvPicPr>
            <p:cNvPr id="31" name="Graphic 30">
              <a:extLst>
                <a:ext uri="{FF2B5EF4-FFF2-40B4-BE49-F238E27FC236}">
                  <a16:creationId xmlns:a16="http://schemas.microsoft.com/office/drawing/2014/main" id="{8B1F7BBD-84D5-FE83-1339-2AA4CC100E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02796" y="1943429"/>
              <a:ext cx="223520" cy="223520"/>
            </a:xfrm>
            <a:prstGeom prst="rect">
              <a:avLst/>
            </a:prstGeom>
          </p:spPr>
        </p:pic>
      </p:grpSp>
      <p:grpSp>
        <p:nvGrpSpPr>
          <p:cNvPr id="34" name="Group 33">
            <a:extLst>
              <a:ext uri="{FF2B5EF4-FFF2-40B4-BE49-F238E27FC236}">
                <a16:creationId xmlns:a16="http://schemas.microsoft.com/office/drawing/2014/main" id="{5EC44B54-F90C-37A4-AEC7-A334AB989973}"/>
              </a:ext>
            </a:extLst>
          </p:cNvPr>
          <p:cNvGrpSpPr/>
          <p:nvPr/>
        </p:nvGrpSpPr>
        <p:grpSpPr>
          <a:xfrm>
            <a:off x="2983189" y="2291209"/>
            <a:ext cx="1872000" cy="360000"/>
            <a:chOff x="8923376" y="1850708"/>
            <a:chExt cx="2438044" cy="404578"/>
          </a:xfrm>
        </p:grpSpPr>
        <p:sp>
          <p:nvSpPr>
            <p:cNvPr id="35" name="Rectangle: Rounded Corners 34">
              <a:extLst>
                <a:ext uri="{FF2B5EF4-FFF2-40B4-BE49-F238E27FC236}">
                  <a16:creationId xmlns:a16="http://schemas.microsoft.com/office/drawing/2014/main" id="{DBEF6C92-C8BB-B5F8-E843-BAD43F3C1DBD}"/>
                </a:ext>
              </a:extLst>
            </p:cNvPr>
            <p:cNvSpPr>
              <a:spLocks/>
            </p:cNvSpPr>
            <p:nvPr/>
          </p:nvSpPr>
          <p:spPr bwMode="auto">
            <a:xfrm>
              <a:off x="8923376" y="1850708"/>
              <a:ext cx="24380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36" name="Group 35">
              <a:extLst>
                <a:ext uri="{FF2B5EF4-FFF2-40B4-BE49-F238E27FC236}">
                  <a16:creationId xmlns:a16="http://schemas.microsoft.com/office/drawing/2014/main" id="{9C24D97E-B0D2-9422-6400-C69B1053806F}"/>
                </a:ext>
              </a:extLst>
            </p:cNvPr>
            <p:cNvGrpSpPr/>
            <p:nvPr/>
          </p:nvGrpSpPr>
          <p:grpSpPr>
            <a:xfrm>
              <a:off x="8939610" y="1883670"/>
              <a:ext cx="338654" cy="338654"/>
              <a:chOff x="1261672" y="4833938"/>
              <a:chExt cx="954296" cy="954296"/>
            </a:xfrm>
          </p:grpSpPr>
          <p:sp>
            <p:nvSpPr>
              <p:cNvPr id="39" name="Rectangle: Rounded Corners 38">
                <a:extLst>
                  <a:ext uri="{FF2B5EF4-FFF2-40B4-BE49-F238E27FC236}">
                    <a16:creationId xmlns:a16="http://schemas.microsoft.com/office/drawing/2014/main" id="{A9F97C64-58AB-F021-0C59-511BED0A5875}"/>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40" name="Rectangle: Rounded Corners 39">
                <a:extLst>
                  <a:ext uri="{FF2B5EF4-FFF2-40B4-BE49-F238E27FC236}">
                    <a16:creationId xmlns:a16="http://schemas.microsoft.com/office/drawing/2014/main" id="{B5C1BC88-6C5F-009D-190E-4300CECF6C32}"/>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37" name="Rectangle: Rounded Corners 36">
              <a:extLst>
                <a:ext uri="{FF2B5EF4-FFF2-40B4-BE49-F238E27FC236}">
                  <a16:creationId xmlns:a16="http://schemas.microsoft.com/office/drawing/2014/main" id="{C6F35391-1D5C-0E9D-4108-40FA84C228EC}"/>
                </a:ext>
              </a:extLst>
            </p:cNvPr>
            <p:cNvSpPr>
              <a:spLocks/>
            </p:cNvSpPr>
            <p:nvPr/>
          </p:nvSpPr>
          <p:spPr bwMode="auto">
            <a:xfrm>
              <a:off x="9394690" y="1909139"/>
              <a:ext cx="1916978"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GB" sz="1600" b="1" err="1">
                  <a:solidFill>
                    <a:srgbClr val="0078D4"/>
                  </a:solidFill>
                  <a:cs typeface="Segoe Sans Text ExtraBold" pitchFamily="2" charset="0"/>
                </a:rPr>
                <a:t>DevSecOps</a:t>
              </a:r>
              <a:r>
                <a:rPr lang="en-GB" sz="1600" b="1">
                  <a:solidFill>
                    <a:srgbClr val="0078D4"/>
                  </a:solidFill>
                  <a:cs typeface="Segoe Sans Text ExtraBold" pitchFamily="2" charset="0"/>
                </a:rPr>
                <a:t>:</a:t>
              </a:r>
            </a:p>
          </p:txBody>
        </p:sp>
        <p:pic>
          <p:nvPicPr>
            <p:cNvPr id="38" name="Graphic 37">
              <a:extLst>
                <a:ext uri="{FF2B5EF4-FFF2-40B4-BE49-F238E27FC236}">
                  <a16:creationId xmlns:a16="http://schemas.microsoft.com/office/drawing/2014/main" id="{EA8EAD65-BFC7-917F-900C-5D1ECC8C94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8606" y="1943429"/>
              <a:ext cx="223520" cy="223520"/>
            </a:xfrm>
            <a:prstGeom prst="rect">
              <a:avLst/>
            </a:prstGeom>
          </p:spPr>
        </p:pic>
      </p:grpSp>
      <p:grpSp>
        <p:nvGrpSpPr>
          <p:cNvPr id="41" name="Group 40">
            <a:extLst>
              <a:ext uri="{FF2B5EF4-FFF2-40B4-BE49-F238E27FC236}">
                <a16:creationId xmlns:a16="http://schemas.microsoft.com/office/drawing/2014/main" id="{59CFB895-A233-C6E5-54F5-B758AC45AD7B}"/>
              </a:ext>
            </a:extLst>
          </p:cNvPr>
          <p:cNvGrpSpPr/>
          <p:nvPr/>
        </p:nvGrpSpPr>
        <p:grpSpPr>
          <a:xfrm>
            <a:off x="3321695" y="5518515"/>
            <a:ext cx="5140744" cy="404578"/>
            <a:chOff x="6220676" y="4800307"/>
            <a:chExt cx="5140744" cy="404578"/>
          </a:xfrm>
        </p:grpSpPr>
        <p:sp>
          <p:nvSpPr>
            <p:cNvPr id="42" name="Rectangle: Rounded Corners 41">
              <a:extLst>
                <a:ext uri="{FF2B5EF4-FFF2-40B4-BE49-F238E27FC236}">
                  <a16:creationId xmlns:a16="http://schemas.microsoft.com/office/drawing/2014/main" id="{07D29C30-77E4-6805-B10F-4A2EBD2BC22B}"/>
                </a:ext>
              </a:extLst>
            </p:cNvPr>
            <p:cNvSpPr>
              <a:spLocks/>
            </p:cNvSpPr>
            <p:nvPr/>
          </p:nvSpPr>
          <p:spPr bwMode="auto">
            <a:xfrm>
              <a:off x="6220676" y="4800307"/>
              <a:ext cx="51407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43" name="Group 42">
              <a:extLst>
                <a:ext uri="{FF2B5EF4-FFF2-40B4-BE49-F238E27FC236}">
                  <a16:creationId xmlns:a16="http://schemas.microsoft.com/office/drawing/2014/main" id="{AF06BE4D-76CD-317B-4CFC-51D1D6B77AE2}"/>
                </a:ext>
              </a:extLst>
            </p:cNvPr>
            <p:cNvGrpSpPr/>
            <p:nvPr/>
          </p:nvGrpSpPr>
          <p:grpSpPr>
            <a:xfrm>
              <a:off x="6242486" y="4833269"/>
              <a:ext cx="338654" cy="338654"/>
              <a:chOff x="1261672" y="4833938"/>
              <a:chExt cx="954296" cy="954296"/>
            </a:xfrm>
          </p:grpSpPr>
          <p:sp>
            <p:nvSpPr>
              <p:cNvPr id="46" name="Rectangle: Rounded Corners 45">
                <a:extLst>
                  <a:ext uri="{FF2B5EF4-FFF2-40B4-BE49-F238E27FC236}">
                    <a16:creationId xmlns:a16="http://schemas.microsoft.com/office/drawing/2014/main" id="{CF1554E8-F39B-0251-CB72-2441B314D0EA}"/>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47" name="Rectangle: Rounded Corners 46">
                <a:extLst>
                  <a:ext uri="{FF2B5EF4-FFF2-40B4-BE49-F238E27FC236}">
                    <a16:creationId xmlns:a16="http://schemas.microsoft.com/office/drawing/2014/main" id="{AC92A9A2-6771-34FF-7B9F-AEB9E3131A10}"/>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44" name="Rectangle: Rounded Corners 43">
              <a:extLst>
                <a:ext uri="{FF2B5EF4-FFF2-40B4-BE49-F238E27FC236}">
                  <a16:creationId xmlns:a16="http://schemas.microsoft.com/office/drawing/2014/main" id="{83D90B70-5CF3-992C-C96D-FE88016AE47E}"/>
                </a:ext>
              </a:extLst>
            </p:cNvPr>
            <p:cNvSpPr>
              <a:spLocks/>
            </p:cNvSpPr>
            <p:nvPr/>
          </p:nvSpPr>
          <p:spPr bwMode="auto">
            <a:xfrm>
              <a:off x="6689140" y="4858738"/>
              <a:ext cx="1916978"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GB" sz="1600" b="1" err="1">
                  <a:solidFill>
                    <a:srgbClr val="0078D4"/>
                  </a:solidFill>
                  <a:cs typeface="Segoe Sans Text ExtraBold" pitchFamily="2" charset="0"/>
                </a:rPr>
                <a:t>GenAIOps</a:t>
              </a:r>
              <a:endParaRPr lang="en-GB" sz="1600" b="1">
                <a:solidFill>
                  <a:srgbClr val="0078D4"/>
                </a:solidFill>
                <a:cs typeface="Segoe Sans Text ExtraBold" pitchFamily="2" charset="0"/>
              </a:endParaRPr>
            </a:p>
          </p:txBody>
        </p:sp>
        <p:pic>
          <p:nvPicPr>
            <p:cNvPr id="45" name="Graphic 44">
              <a:extLst>
                <a:ext uri="{FF2B5EF4-FFF2-40B4-BE49-F238E27FC236}">
                  <a16:creationId xmlns:a16="http://schemas.microsoft.com/office/drawing/2014/main" id="{E28E3800-4FD5-0E1E-9859-7F7493C860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01996" y="4893481"/>
              <a:ext cx="223520" cy="223520"/>
            </a:xfrm>
            <a:prstGeom prst="rect">
              <a:avLst/>
            </a:prstGeom>
          </p:spPr>
        </p:pic>
      </p:grpSp>
      <p:grpSp>
        <p:nvGrpSpPr>
          <p:cNvPr id="48" name="Group 47">
            <a:extLst>
              <a:ext uri="{FF2B5EF4-FFF2-40B4-BE49-F238E27FC236}">
                <a16:creationId xmlns:a16="http://schemas.microsoft.com/office/drawing/2014/main" id="{AA9EAAE2-169F-1590-074F-0653C38929ED}"/>
              </a:ext>
            </a:extLst>
          </p:cNvPr>
          <p:cNvGrpSpPr/>
          <p:nvPr/>
        </p:nvGrpSpPr>
        <p:grpSpPr>
          <a:xfrm>
            <a:off x="5127141" y="2300220"/>
            <a:ext cx="1872000" cy="360000"/>
            <a:chOff x="3517976" y="1850708"/>
            <a:chExt cx="2438044" cy="404578"/>
          </a:xfrm>
        </p:grpSpPr>
        <p:sp>
          <p:nvSpPr>
            <p:cNvPr id="49" name="Rectangle: Rounded Corners 48">
              <a:extLst>
                <a:ext uri="{FF2B5EF4-FFF2-40B4-BE49-F238E27FC236}">
                  <a16:creationId xmlns:a16="http://schemas.microsoft.com/office/drawing/2014/main" id="{FFDBCBB0-954C-F318-0BA8-1D71F49D02FD}"/>
                </a:ext>
              </a:extLst>
            </p:cNvPr>
            <p:cNvSpPr>
              <a:spLocks/>
            </p:cNvSpPr>
            <p:nvPr/>
          </p:nvSpPr>
          <p:spPr bwMode="auto">
            <a:xfrm>
              <a:off x="3517976" y="1850708"/>
              <a:ext cx="24380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50" name="Group 49">
              <a:extLst>
                <a:ext uri="{FF2B5EF4-FFF2-40B4-BE49-F238E27FC236}">
                  <a16:creationId xmlns:a16="http://schemas.microsoft.com/office/drawing/2014/main" id="{C145EF48-DAF3-2068-1376-254D5DBD8A5F}"/>
                </a:ext>
              </a:extLst>
            </p:cNvPr>
            <p:cNvGrpSpPr/>
            <p:nvPr/>
          </p:nvGrpSpPr>
          <p:grpSpPr>
            <a:xfrm>
              <a:off x="3545362" y="1883670"/>
              <a:ext cx="338654" cy="338654"/>
              <a:chOff x="1261672" y="4833938"/>
              <a:chExt cx="954296" cy="954296"/>
            </a:xfrm>
          </p:grpSpPr>
          <p:sp>
            <p:nvSpPr>
              <p:cNvPr id="53" name="Rectangle: Rounded Corners 52">
                <a:extLst>
                  <a:ext uri="{FF2B5EF4-FFF2-40B4-BE49-F238E27FC236}">
                    <a16:creationId xmlns:a16="http://schemas.microsoft.com/office/drawing/2014/main" id="{2F6D7513-632C-79DF-DECE-399C9C1ACCE8}"/>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54" name="Rectangle: Rounded Corners 53">
                <a:extLst>
                  <a:ext uri="{FF2B5EF4-FFF2-40B4-BE49-F238E27FC236}">
                    <a16:creationId xmlns:a16="http://schemas.microsoft.com/office/drawing/2014/main" id="{F3F72739-175D-084F-3BF8-3FB1069333E0}"/>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51" name="Rectangle: Rounded Corners 50">
              <a:extLst>
                <a:ext uri="{FF2B5EF4-FFF2-40B4-BE49-F238E27FC236}">
                  <a16:creationId xmlns:a16="http://schemas.microsoft.com/office/drawing/2014/main" id="{9B0BCABE-45E5-804D-92FD-1A1E309939E3}"/>
                </a:ext>
              </a:extLst>
            </p:cNvPr>
            <p:cNvSpPr>
              <a:spLocks/>
            </p:cNvSpPr>
            <p:nvPr/>
          </p:nvSpPr>
          <p:spPr bwMode="auto">
            <a:xfrm>
              <a:off x="3983590" y="1909139"/>
              <a:ext cx="1916978"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US" sz="1600" b="1" err="1">
                  <a:solidFill>
                    <a:srgbClr val="0078D4"/>
                  </a:solidFill>
                  <a:cs typeface="Segoe Sans Text ExtraBold" pitchFamily="2" charset="0"/>
                </a:rPr>
                <a:t>DataOps</a:t>
              </a:r>
              <a:r>
                <a:rPr lang="en-US" sz="1600" b="1">
                  <a:solidFill>
                    <a:srgbClr val="0078D4"/>
                  </a:solidFill>
                  <a:cs typeface="Segoe Sans Text ExtraBold" pitchFamily="2" charset="0"/>
                </a:rPr>
                <a:t>: </a:t>
              </a:r>
            </a:p>
          </p:txBody>
        </p:sp>
        <p:pic>
          <p:nvPicPr>
            <p:cNvPr id="52" name="Graphic 51">
              <a:extLst>
                <a:ext uri="{FF2B5EF4-FFF2-40B4-BE49-F238E27FC236}">
                  <a16:creationId xmlns:a16="http://schemas.microsoft.com/office/drawing/2014/main" id="{48CC77DB-BE74-DEBB-216E-8BE8609B69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02796" y="1943429"/>
              <a:ext cx="223520" cy="223520"/>
            </a:xfrm>
            <a:prstGeom prst="rect">
              <a:avLst/>
            </a:prstGeom>
          </p:spPr>
        </p:pic>
      </p:grpSp>
      <p:sp>
        <p:nvSpPr>
          <p:cNvPr id="55" name="Rectangle: Rounded Corners 54">
            <a:extLst>
              <a:ext uri="{FF2B5EF4-FFF2-40B4-BE49-F238E27FC236}">
                <a16:creationId xmlns:a16="http://schemas.microsoft.com/office/drawing/2014/main" id="{F8ED2B0A-5971-9B56-86B4-7D5C1481596E}"/>
              </a:ext>
            </a:extLst>
          </p:cNvPr>
          <p:cNvSpPr>
            <a:spLocks/>
          </p:cNvSpPr>
          <p:nvPr/>
        </p:nvSpPr>
        <p:spPr bwMode="auto">
          <a:xfrm>
            <a:off x="9410629" y="2209572"/>
            <a:ext cx="1980000" cy="284160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56" name="Group 55">
            <a:extLst>
              <a:ext uri="{FF2B5EF4-FFF2-40B4-BE49-F238E27FC236}">
                <a16:creationId xmlns:a16="http://schemas.microsoft.com/office/drawing/2014/main" id="{7983AF77-6C53-4748-1D67-02873FF86739}"/>
              </a:ext>
            </a:extLst>
          </p:cNvPr>
          <p:cNvGrpSpPr/>
          <p:nvPr/>
        </p:nvGrpSpPr>
        <p:grpSpPr>
          <a:xfrm>
            <a:off x="9478101" y="2315088"/>
            <a:ext cx="1872000" cy="360000"/>
            <a:chOff x="3517976" y="1850708"/>
            <a:chExt cx="2438044" cy="404578"/>
          </a:xfrm>
        </p:grpSpPr>
        <p:sp>
          <p:nvSpPr>
            <p:cNvPr id="57" name="Rectangle: Rounded Corners 56">
              <a:extLst>
                <a:ext uri="{FF2B5EF4-FFF2-40B4-BE49-F238E27FC236}">
                  <a16:creationId xmlns:a16="http://schemas.microsoft.com/office/drawing/2014/main" id="{BDB28398-25E2-8E87-8A21-4AC81E0D31A2}"/>
                </a:ext>
              </a:extLst>
            </p:cNvPr>
            <p:cNvSpPr>
              <a:spLocks/>
            </p:cNvSpPr>
            <p:nvPr/>
          </p:nvSpPr>
          <p:spPr bwMode="auto">
            <a:xfrm>
              <a:off x="3517976" y="1850708"/>
              <a:ext cx="2438044" cy="404578"/>
            </a:xfrm>
            <a:prstGeom prst="roundRect">
              <a:avLst>
                <a:gd name="adj" fmla="val 5552"/>
              </a:avLst>
            </a:prstGeom>
            <a:solidFill>
              <a:srgbClr val="FFFFFF"/>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58" name="Group 57">
              <a:extLst>
                <a:ext uri="{FF2B5EF4-FFF2-40B4-BE49-F238E27FC236}">
                  <a16:creationId xmlns:a16="http://schemas.microsoft.com/office/drawing/2014/main" id="{C1F30D46-BB07-633B-3EDD-1398FEE0278B}"/>
                </a:ext>
              </a:extLst>
            </p:cNvPr>
            <p:cNvGrpSpPr/>
            <p:nvPr/>
          </p:nvGrpSpPr>
          <p:grpSpPr>
            <a:xfrm>
              <a:off x="3545362" y="1883670"/>
              <a:ext cx="338654" cy="338654"/>
              <a:chOff x="1261672" y="4833938"/>
              <a:chExt cx="954296" cy="954296"/>
            </a:xfrm>
          </p:grpSpPr>
          <p:sp>
            <p:nvSpPr>
              <p:cNvPr id="61" name="Rectangle: Rounded Corners 60">
                <a:extLst>
                  <a:ext uri="{FF2B5EF4-FFF2-40B4-BE49-F238E27FC236}">
                    <a16:creationId xmlns:a16="http://schemas.microsoft.com/office/drawing/2014/main" id="{356F22F3-99E7-0185-BF14-84D48DA0AAD3}"/>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62" name="Rectangle: Rounded Corners 61">
                <a:extLst>
                  <a:ext uri="{FF2B5EF4-FFF2-40B4-BE49-F238E27FC236}">
                    <a16:creationId xmlns:a16="http://schemas.microsoft.com/office/drawing/2014/main" id="{1F90E45F-A842-A962-B646-77ABE6A1C5C3}"/>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59" name="Rectangle: Rounded Corners 58">
              <a:extLst>
                <a:ext uri="{FF2B5EF4-FFF2-40B4-BE49-F238E27FC236}">
                  <a16:creationId xmlns:a16="http://schemas.microsoft.com/office/drawing/2014/main" id="{F3984F21-B9A9-DDCB-AA7F-4FF58006AFC1}"/>
                </a:ext>
              </a:extLst>
            </p:cNvPr>
            <p:cNvSpPr>
              <a:spLocks/>
            </p:cNvSpPr>
            <p:nvPr/>
          </p:nvSpPr>
          <p:spPr bwMode="auto">
            <a:xfrm>
              <a:off x="3983590" y="1909139"/>
              <a:ext cx="1916979" cy="287414"/>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US" sz="1600" b="1" err="1">
                  <a:solidFill>
                    <a:srgbClr val="0078D4"/>
                  </a:solidFill>
                  <a:cs typeface="Segoe Sans Text ExtraBold" pitchFamily="2" charset="0"/>
                </a:rPr>
                <a:t>LLMOps</a:t>
              </a:r>
              <a:r>
                <a:rPr lang="en-US" sz="1600" b="1">
                  <a:solidFill>
                    <a:srgbClr val="0078D4"/>
                  </a:solidFill>
                  <a:cs typeface="Segoe Sans Text ExtraBold" pitchFamily="2" charset="0"/>
                </a:rPr>
                <a:t>: </a:t>
              </a:r>
            </a:p>
          </p:txBody>
        </p:sp>
        <p:pic>
          <p:nvPicPr>
            <p:cNvPr id="60" name="Graphic 59">
              <a:extLst>
                <a:ext uri="{FF2B5EF4-FFF2-40B4-BE49-F238E27FC236}">
                  <a16:creationId xmlns:a16="http://schemas.microsoft.com/office/drawing/2014/main" id="{2E67E847-09B4-5FD1-30C0-3A47145B4E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02796" y="1943429"/>
              <a:ext cx="223520" cy="223520"/>
            </a:xfrm>
            <a:prstGeom prst="rect">
              <a:avLst/>
            </a:prstGeom>
          </p:spPr>
        </p:pic>
      </p:grpSp>
      <p:sp>
        <p:nvSpPr>
          <p:cNvPr id="63" name="Rectangle: Rounded Corners 62">
            <a:extLst>
              <a:ext uri="{FF2B5EF4-FFF2-40B4-BE49-F238E27FC236}">
                <a16:creationId xmlns:a16="http://schemas.microsoft.com/office/drawing/2014/main" id="{A67ADE4A-2F97-2C59-E4F3-7665B9D01695}"/>
              </a:ext>
            </a:extLst>
          </p:cNvPr>
          <p:cNvSpPr>
            <a:spLocks/>
          </p:cNvSpPr>
          <p:nvPr/>
        </p:nvSpPr>
        <p:spPr bwMode="auto">
          <a:xfrm>
            <a:off x="9603102" y="2927199"/>
            <a:ext cx="1916978" cy="1478533"/>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ts val="700"/>
              </a:spcAft>
            </a:pPr>
            <a:r>
              <a:rPr lang="en-GB" sz="1500">
                <a:solidFill>
                  <a:schemeClr val="bg1"/>
                </a:solidFill>
                <a:ea typeface="Segoe UI" pitchFamily="34" charset="0"/>
                <a:cs typeface="Segoe UI" pitchFamily="34" charset="0"/>
              </a:rPr>
              <a:t>Model Discovery</a:t>
            </a:r>
          </a:p>
          <a:p>
            <a:pPr defTabSz="932472" fontAlgn="base">
              <a:spcBef>
                <a:spcPct val="0"/>
              </a:spcBef>
              <a:spcAft>
                <a:spcPts val="700"/>
              </a:spcAft>
            </a:pPr>
            <a:r>
              <a:rPr lang="en-GB" sz="1500">
                <a:solidFill>
                  <a:schemeClr val="bg1"/>
                </a:solidFill>
                <a:ea typeface="Segoe UI" pitchFamily="34" charset="0"/>
                <a:cs typeface="Segoe UI" pitchFamily="34" charset="0"/>
              </a:rPr>
              <a:t>Model Fine-tuning</a:t>
            </a:r>
          </a:p>
          <a:p>
            <a:pPr defTabSz="932472" fontAlgn="base">
              <a:spcBef>
                <a:spcPct val="0"/>
              </a:spcBef>
              <a:spcAft>
                <a:spcPts val="700"/>
              </a:spcAft>
            </a:pPr>
            <a:r>
              <a:rPr lang="en-GB" sz="1500">
                <a:solidFill>
                  <a:schemeClr val="bg1"/>
                </a:solidFill>
                <a:ea typeface="Segoe UI" pitchFamily="34" charset="0"/>
                <a:cs typeface="Segoe UI" pitchFamily="34" charset="0"/>
              </a:rPr>
              <a:t>Model Validation with AI Assisted Metrics</a:t>
            </a:r>
          </a:p>
          <a:p>
            <a:pPr defTabSz="932472" fontAlgn="base">
              <a:spcBef>
                <a:spcPct val="0"/>
              </a:spcBef>
              <a:spcAft>
                <a:spcPts val="700"/>
              </a:spcAft>
            </a:pPr>
            <a:r>
              <a:rPr lang="en-GB" sz="1500">
                <a:solidFill>
                  <a:schemeClr val="bg1"/>
                </a:solidFill>
                <a:cs typeface="Segoe UI" pitchFamily="34" charset="0"/>
              </a:rPr>
              <a:t>Model Deployment</a:t>
            </a:r>
            <a:endParaRPr lang="en-GB" sz="1500">
              <a:solidFill>
                <a:schemeClr val="accent5"/>
              </a:solidFill>
              <a:cs typeface="Segoe Sans Text ExtraBold" pitchFamily="2" charset="0"/>
            </a:endParaRPr>
          </a:p>
        </p:txBody>
      </p:sp>
    </p:spTree>
    <p:extLst>
      <p:ext uri="{BB962C8B-B14F-4D97-AF65-F5344CB8AC3E}">
        <p14:creationId xmlns:p14="http://schemas.microsoft.com/office/powerpoint/2010/main" val="271356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50"/>
                                        <p:tgtEl>
                                          <p:spTgt spid="11"/>
                                        </p:tgtEl>
                                      </p:cBhvr>
                                    </p:animEffect>
                                  </p:childTnLst>
                                </p:cTn>
                              </p:par>
                              <p:par>
                                <p:cTn id="8" presetID="42" presetClass="path" presetSubtype="0" decel="100000" fill="hold" grpId="1" nodeType="withEffect">
                                  <p:stCondLst>
                                    <p:cond delay="150"/>
                                  </p:stCondLst>
                                  <p:childTnLst>
                                    <p:animMotion origin="layout" path="M 8.33333E-7 0.03889 L 8.33333E-7 2.22222E-6 " pathEditMode="relative" rAng="0" ptsTypes="AA">
                                      <p:cBhvr>
                                        <p:cTn id="9" dur="750" fill="hold"/>
                                        <p:tgtEl>
                                          <p:spTgt spid="11"/>
                                        </p:tgtEl>
                                        <p:attrNameLst>
                                          <p:attrName>ppt_x</p:attrName>
                                          <p:attrName>ppt_y</p:attrName>
                                        </p:attrNameLst>
                                      </p:cBhvr>
                                      <p:rCtr x="0" y="-1944"/>
                                    </p:animMotion>
                                  </p:childTnLst>
                                </p:cTn>
                              </p:par>
                              <p:par>
                                <p:cTn id="10" presetID="10" presetClass="entr" presetSubtype="0" fill="hold" grpId="0" nodeType="withEffect">
                                  <p:stCondLst>
                                    <p:cond delay="30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750"/>
                                        <p:tgtEl>
                                          <p:spTgt spid="12"/>
                                        </p:tgtEl>
                                      </p:cBhvr>
                                    </p:animEffect>
                                  </p:childTnLst>
                                </p:cTn>
                              </p:par>
                              <p:par>
                                <p:cTn id="13" presetID="42" presetClass="path" presetSubtype="0" decel="100000" fill="hold" grpId="1" nodeType="withEffect">
                                  <p:stCondLst>
                                    <p:cond delay="300"/>
                                  </p:stCondLst>
                                  <p:childTnLst>
                                    <p:animMotion origin="layout" path="M -4.79167E-6 0.03889 L -4.79167E-6 3.33333E-6 " pathEditMode="relative" rAng="0" ptsTypes="AA">
                                      <p:cBhvr>
                                        <p:cTn id="14" dur="750" fill="hold"/>
                                        <p:tgtEl>
                                          <p:spTgt spid="12"/>
                                        </p:tgtEl>
                                        <p:attrNameLst>
                                          <p:attrName>ppt_x</p:attrName>
                                          <p:attrName>ppt_y</p:attrName>
                                        </p:attrNameLst>
                                      </p:cBhvr>
                                      <p:rCtr x="0" y="-1944"/>
                                    </p:animMotion>
                                  </p:childTnLst>
                                </p:cTn>
                              </p:par>
                              <p:par>
                                <p:cTn id="15" presetID="10" presetClass="entr" presetSubtype="0" fill="hold" grpId="0" nodeType="withEffect">
                                  <p:stCondLst>
                                    <p:cond delay="45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750"/>
                                        <p:tgtEl>
                                          <p:spTgt spid="9"/>
                                        </p:tgtEl>
                                      </p:cBhvr>
                                    </p:animEffect>
                                  </p:childTnLst>
                                </p:cTn>
                              </p:par>
                              <p:par>
                                <p:cTn id="18" presetID="42" presetClass="path" presetSubtype="0" decel="100000" fill="hold" grpId="1" nodeType="withEffect">
                                  <p:stCondLst>
                                    <p:cond delay="450"/>
                                  </p:stCondLst>
                                  <p:childTnLst>
                                    <p:animMotion origin="layout" path="M -3.75E-6 0.03888 L -3.75E-6 4.07407E-6 " pathEditMode="relative" rAng="0" ptsTypes="AA">
                                      <p:cBhvr>
                                        <p:cTn id="19" dur="750" fill="hold"/>
                                        <p:tgtEl>
                                          <p:spTgt spid="9"/>
                                        </p:tgtEl>
                                        <p:attrNameLst>
                                          <p:attrName>ppt_x</p:attrName>
                                          <p:attrName>ppt_y</p:attrName>
                                        </p:attrNameLst>
                                      </p:cBhvr>
                                      <p:rCtr x="0" y="-1944"/>
                                    </p:animMotion>
                                  </p:childTnLst>
                                </p:cTn>
                              </p:par>
                              <p:par>
                                <p:cTn id="20" presetID="10" presetClass="entr" presetSubtype="0" fill="hold" grpId="0" nodeType="withEffect">
                                  <p:stCondLst>
                                    <p:cond delay="6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750"/>
                                        <p:tgtEl>
                                          <p:spTgt spid="10"/>
                                        </p:tgtEl>
                                      </p:cBhvr>
                                    </p:animEffect>
                                  </p:childTnLst>
                                </p:cTn>
                              </p:par>
                              <p:par>
                                <p:cTn id="23" presetID="42" presetClass="path" presetSubtype="0" decel="100000" fill="hold" grpId="1" nodeType="withEffect">
                                  <p:stCondLst>
                                    <p:cond delay="600"/>
                                  </p:stCondLst>
                                  <p:childTnLst>
                                    <p:animMotion origin="layout" path="M 1.11022E-16 0.03888 L 1.11022E-16 4.07407E-6 " pathEditMode="relative" rAng="0" ptsTypes="AA">
                                      <p:cBhvr>
                                        <p:cTn id="24" dur="750" fill="hold"/>
                                        <p:tgtEl>
                                          <p:spTgt spid="10"/>
                                        </p:tgtEl>
                                        <p:attrNameLst>
                                          <p:attrName>ppt_x</p:attrName>
                                          <p:attrName>ppt_y</p:attrName>
                                        </p:attrNameLst>
                                      </p:cBhvr>
                                      <p:rCtr x="0" y="-1944"/>
                                    </p:animMotion>
                                  </p:childTnLst>
                                </p:cTn>
                              </p:par>
                              <p:par>
                                <p:cTn id="25" presetID="10" presetClass="entr" presetSubtype="0" fill="hold" grpId="0" nodeType="withEffect">
                                  <p:stCondLst>
                                    <p:cond delay="9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750"/>
                                        <p:tgtEl>
                                          <p:spTgt spid="8"/>
                                        </p:tgtEl>
                                      </p:cBhvr>
                                    </p:animEffect>
                                  </p:childTnLst>
                                </p:cTn>
                              </p:par>
                              <p:par>
                                <p:cTn id="28" presetID="42" presetClass="path" presetSubtype="0" decel="100000" fill="hold" grpId="1" nodeType="withEffect">
                                  <p:stCondLst>
                                    <p:cond delay="900"/>
                                  </p:stCondLst>
                                  <p:childTnLst>
                                    <p:animMotion origin="layout" path="M -2.29167E-6 0.03889 L -2.29167E-6 7.40741E-7 " pathEditMode="relative" rAng="0" ptsTypes="AA">
                                      <p:cBhvr>
                                        <p:cTn id="29" dur="750" fill="hold"/>
                                        <p:tgtEl>
                                          <p:spTgt spid="8"/>
                                        </p:tgtEl>
                                        <p:attrNameLst>
                                          <p:attrName>ppt_x</p:attrName>
                                          <p:attrName>ppt_y</p:attrName>
                                        </p:attrNameLst>
                                      </p:cBhvr>
                                      <p:rCtr x="0" y="-1944"/>
                                    </p:animMotion>
                                  </p:childTnLst>
                                </p:cTn>
                              </p:par>
                              <p:par>
                                <p:cTn id="30" presetID="10" presetClass="entr" presetSubtype="0" fill="hold" grpId="0" nodeType="withEffect">
                                  <p:stCondLst>
                                    <p:cond delay="30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750"/>
                                        <p:tgtEl>
                                          <p:spTgt spid="13"/>
                                        </p:tgtEl>
                                      </p:cBhvr>
                                    </p:animEffect>
                                  </p:childTnLst>
                                </p:cTn>
                              </p:par>
                              <p:par>
                                <p:cTn id="33" presetID="42" presetClass="path" presetSubtype="0" decel="100000" fill="hold" grpId="1" nodeType="withEffect">
                                  <p:stCondLst>
                                    <p:cond delay="300"/>
                                  </p:stCondLst>
                                  <p:childTnLst>
                                    <p:animMotion origin="layout" path="M 3.33333E-6 0.03889 L 3.33333E-6 2.59259E-6 " pathEditMode="relative" rAng="0" ptsTypes="AA">
                                      <p:cBhvr>
                                        <p:cTn id="34" dur="750" fill="hold"/>
                                        <p:tgtEl>
                                          <p:spTgt spid="13"/>
                                        </p:tgtEl>
                                        <p:attrNameLst>
                                          <p:attrName>ppt_x</p:attrName>
                                          <p:attrName>ppt_y</p:attrName>
                                        </p:attrNameLst>
                                      </p:cBhvr>
                                      <p:rCtr x="0" y="-1944"/>
                                    </p:animMotion>
                                  </p:childTnLst>
                                </p:cTn>
                              </p:par>
                              <p:par>
                                <p:cTn id="35" presetID="10" presetClass="entr" presetSubtype="0" fill="hold" grpId="0" nodeType="withEffect">
                                  <p:stCondLst>
                                    <p:cond delay="4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750"/>
                                        <p:tgtEl>
                                          <p:spTgt spid="14"/>
                                        </p:tgtEl>
                                      </p:cBhvr>
                                    </p:animEffect>
                                  </p:childTnLst>
                                </p:cTn>
                              </p:par>
                              <p:par>
                                <p:cTn id="38" presetID="42" presetClass="path" presetSubtype="0" decel="100000" fill="hold" grpId="1" nodeType="withEffect">
                                  <p:stCondLst>
                                    <p:cond delay="450"/>
                                  </p:stCondLst>
                                  <p:childTnLst>
                                    <p:animMotion origin="layout" path="M -1.875E-6 0.03889 L -1.875E-6 -4.44444E-6 " pathEditMode="relative" rAng="0" ptsTypes="AA">
                                      <p:cBhvr>
                                        <p:cTn id="39" dur="750" fill="hold"/>
                                        <p:tgtEl>
                                          <p:spTgt spid="14"/>
                                        </p:tgtEl>
                                        <p:attrNameLst>
                                          <p:attrName>ppt_x</p:attrName>
                                          <p:attrName>ppt_y</p:attrName>
                                        </p:attrNameLst>
                                      </p:cBhvr>
                                      <p:rCtr x="0" y="-1944"/>
                                    </p:animMotion>
                                  </p:childTnLst>
                                </p:cTn>
                              </p:par>
                              <p:par>
                                <p:cTn id="40" presetID="10" presetClass="entr" presetSubtype="0" fill="hold" grpId="0" nodeType="withEffect">
                                  <p:stCondLst>
                                    <p:cond delay="6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750"/>
                                        <p:tgtEl>
                                          <p:spTgt spid="15"/>
                                        </p:tgtEl>
                                      </p:cBhvr>
                                    </p:animEffect>
                                  </p:childTnLst>
                                </p:cTn>
                              </p:par>
                              <p:par>
                                <p:cTn id="43" presetID="42" presetClass="path" presetSubtype="0" decel="100000" fill="hold" grpId="1" nodeType="withEffect">
                                  <p:stCondLst>
                                    <p:cond delay="600"/>
                                  </p:stCondLst>
                                  <p:childTnLst>
                                    <p:animMotion origin="layout" path="M 4.16667E-6 0.03889 L 4.16667E-6 1.48148E-6 " pathEditMode="relative" rAng="0" ptsTypes="AA">
                                      <p:cBhvr>
                                        <p:cTn id="44" dur="750" fill="hold"/>
                                        <p:tgtEl>
                                          <p:spTgt spid="15"/>
                                        </p:tgtEl>
                                        <p:attrNameLst>
                                          <p:attrName>ppt_x</p:attrName>
                                          <p:attrName>ppt_y</p:attrName>
                                        </p:attrNameLst>
                                      </p:cBhvr>
                                      <p:rCtr x="0" y="-1944"/>
                                    </p:animMotion>
                                  </p:childTnLst>
                                </p:cTn>
                              </p:par>
                              <p:par>
                                <p:cTn id="45" presetID="10" presetClass="entr" presetSubtype="0" fill="hold" grpId="0" nodeType="withEffect">
                                  <p:stCondLst>
                                    <p:cond delay="75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750"/>
                                        <p:tgtEl>
                                          <p:spTgt spid="16"/>
                                        </p:tgtEl>
                                      </p:cBhvr>
                                    </p:animEffect>
                                  </p:childTnLst>
                                </p:cTn>
                              </p:par>
                              <p:par>
                                <p:cTn id="48" presetID="42" presetClass="path" presetSubtype="0" decel="100000" fill="hold" grpId="1" nodeType="withEffect">
                                  <p:stCondLst>
                                    <p:cond delay="750"/>
                                  </p:stCondLst>
                                  <p:childTnLst>
                                    <p:animMotion origin="layout" path="M 4.16667E-7 0.03889 L 4.16667E-7 0 " pathEditMode="relative" rAng="0" ptsTypes="AA">
                                      <p:cBhvr>
                                        <p:cTn id="49" dur="750" fill="hold"/>
                                        <p:tgtEl>
                                          <p:spTgt spid="16"/>
                                        </p:tgtEl>
                                        <p:attrNameLst>
                                          <p:attrName>ppt_x</p:attrName>
                                          <p:attrName>ppt_y</p:attrName>
                                        </p:attrNameLst>
                                      </p:cBhvr>
                                      <p:rCtr x="0" y="-1944"/>
                                    </p:animMotion>
                                  </p:childTnLst>
                                </p:cTn>
                              </p:par>
                              <p:par>
                                <p:cTn id="50" presetID="23" presetClass="entr" presetSubtype="16" fill="hold" nodeType="withEffect">
                                  <p:stCondLst>
                                    <p:cond delay="150"/>
                                  </p:stCondLst>
                                  <p:childTnLst>
                                    <p:set>
                                      <p:cBhvr>
                                        <p:cTn id="51" dur="1" fill="hold">
                                          <p:stCondLst>
                                            <p:cond delay="0"/>
                                          </p:stCondLst>
                                        </p:cTn>
                                        <p:tgtEl>
                                          <p:spTgt spid="20"/>
                                        </p:tgtEl>
                                        <p:attrNameLst>
                                          <p:attrName>style.visibility</p:attrName>
                                        </p:attrNameLst>
                                      </p:cBhvr>
                                      <p:to>
                                        <p:strVal val="visible"/>
                                      </p:to>
                                    </p:set>
                                    <p:anim calcmode="lin" valueType="num">
                                      <p:cBhvr>
                                        <p:cTn id="52" dur="250" fill="hold"/>
                                        <p:tgtEl>
                                          <p:spTgt spid="20"/>
                                        </p:tgtEl>
                                        <p:attrNameLst>
                                          <p:attrName>ppt_w</p:attrName>
                                        </p:attrNameLst>
                                      </p:cBhvr>
                                      <p:tavLst>
                                        <p:tav tm="0">
                                          <p:val>
                                            <p:fltVal val="0"/>
                                          </p:val>
                                        </p:tav>
                                        <p:tav tm="100000">
                                          <p:val>
                                            <p:strVal val="#ppt_w"/>
                                          </p:val>
                                        </p:tav>
                                      </p:tavLst>
                                    </p:anim>
                                    <p:anim calcmode="lin" valueType="num">
                                      <p:cBhvr>
                                        <p:cTn id="53" dur="250" fill="hold"/>
                                        <p:tgtEl>
                                          <p:spTgt spid="20"/>
                                        </p:tgtEl>
                                        <p:attrNameLst>
                                          <p:attrName>ppt_h</p:attrName>
                                        </p:attrNameLst>
                                      </p:cBhvr>
                                      <p:tavLst>
                                        <p:tav tm="0">
                                          <p:val>
                                            <p:fltVal val="0"/>
                                          </p:val>
                                        </p:tav>
                                        <p:tav tm="100000">
                                          <p:val>
                                            <p:strVal val="#ppt_h"/>
                                          </p:val>
                                        </p:tav>
                                      </p:tavLst>
                                    </p:anim>
                                  </p:childTnLst>
                                </p:cTn>
                              </p:par>
                              <p:par>
                                <p:cTn id="54" presetID="10" presetClass="entr" presetSubtype="0" fill="hold" nodeType="withEffect">
                                  <p:stCondLst>
                                    <p:cond delay="15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6" presetClass="emph" presetSubtype="0" fill="hold" nodeType="withEffect">
                                  <p:stCondLst>
                                    <p:cond delay="150"/>
                                  </p:stCondLst>
                                  <p:childTnLst>
                                    <p:animScale>
                                      <p:cBhvr>
                                        <p:cTn id="58" dur="10" fill="hold"/>
                                        <p:tgtEl>
                                          <p:spTgt spid="20"/>
                                        </p:tgtEl>
                                      </p:cBhvr>
                                      <p:by x="80000" y="80000"/>
                                    </p:animScale>
                                  </p:childTnLst>
                                </p:cTn>
                              </p:par>
                              <p:par>
                                <p:cTn id="59" presetID="6" presetClass="emph" presetSubtype="0" decel="100000" fill="hold" nodeType="withEffect">
                                  <p:stCondLst>
                                    <p:cond delay="150"/>
                                  </p:stCondLst>
                                  <p:childTnLst>
                                    <p:animScale>
                                      <p:cBhvr>
                                        <p:cTn id="60" dur="1000" fill="hold"/>
                                        <p:tgtEl>
                                          <p:spTgt spid="20"/>
                                        </p:tgtEl>
                                      </p:cBhvr>
                                      <p:by x="125000" y="125000"/>
                                    </p:animScale>
                                  </p:childTnLst>
                                </p:cTn>
                              </p:par>
                              <p:par>
                                <p:cTn id="61" presetID="23" presetClass="entr" presetSubtype="16" fill="hold" nodeType="withEffect">
                                  <p:stCondLst>
                                    <p:cond delay="300"/>
                                  </p:stCondLst>
                                  <p:childTnLst>
                                    <p:set>
                                      <p:cBhvr>
                                        <p:cTn id="62" dur="1" fill="hold">
                                          <p:stCondLst>
                                            <p:cond delay="0"/>
                                          </p:stCondLst>
                                        </p:cTn>
                                        <p:tgtEl>
                                          <p:spTgt spid="27"/>
                                        </p:tgtEl>
                                        <p:attrNameLst>
                                          <p:attrName>style.visibility</p:attrName>
                                        </p:attrNameLst>
                                      </p:cBhvr>
                                      <p:to>
                                        <p:strVal val="visible"/>
                                      </p:to>
                                    </p:set>
                                    <p:anim calcmode="lin" valueType="num">
                                      <p:cBhvr>
                                        <p:cTn id="63" dur="250" fill="hold"/>
                                        <p:tgtEl>
                                          <p:spTgt spid="27"/>
                                        </p:tgtEl>
                                        <p:attrNameLst>
                                          <p:attrName>ppt_w</p:attrName>
                                        </p:attrNameLst>
                                      </p:cBhvr>
                                      <p:tavLst>
                                        <p:tav tm="0">
                                          <p:val>
                                            <p:fltVal val="0"/>
                                          </p:val>
                                        </p:tav>
                                        <p:tav tm="100000">
                                          <p:val>
                                            <p:strVal val="#ppt_w"/>
                                          </p:val>
                                        </p:tav>
                                      </p:tavLst>
                                    </p:anim>
                                    <p:anim calcmode="lin" valueType="num">
                                      <p:cBhvr>
                                        <p:cTn id="64" dur="250" fill="hold"/>
                                        <p:tgtEl>
                                          <p:spTgt spid="27"/>
                                        </p:tgtEl>
                                        <p:attrNameLst>
                                          <p:attrName>ppt_h</p:attrName>
                                        </p:attrNameLst>
                                      </p:cBhvr>
                                      <p:tavLst>
                                        <p:tav tm="0">
                                          <p:val>
                                            <p:fltVal val="0"/>
                                          </p:val>
                                        </p:tav>
                                        <p:tav tm="100000">
                                          <p:val>
                                            <p:strVal val="#ppt_h"/>
                                          </p:val>
                                        </p:tav>
                                      </p:tavLst>
                                    </p:anim>
                                  </p:childTnLst>
                                </p:cTn>
                              </p:par>
                              <p:par>
                                <p:cTn id="65" presetID="10" presetClass="entr" presetSubtype="0" fill="hold" nodeType="withEffect">
                                  <p:stCondLst>
                                    <p:cond delay="30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par>
                                <p:cTn id="68" presetID="6" presetClass="emph" presetSubtype="0" fill="hold" nodeType="withEffect">
                                  <p:stCondLst>
                                    <p:cond delay="300"/>
                                  </p:stCondLst>
                                  <p:childTnLst>
                                    <p:animScale>
                                      <p:cBhvr>
                                        <p:cTn id="69" dur="10" fill="hold"/>
                                        <p:tgtEl>
                                          <p:spTgt spid="27"/>
                                        </p:tgtEl>
                                      </p:cBhvr>
                                      <p:by x="80000" y="80000"/>
                                    </p:animScale>
                                  </p:childTnLst>
                                </p:cTn>
                              </p:par>
                              <p:par>
                                <p:cTn id="70" presetID="6" presetClass="emph" presetSubtype="0" decel="100000" fill="hold" nodeType="withEffect">
                                  <p:stCondLst>
                                    <p:cond delay="300"/>
                                  </p:stCondLst>
                                  <p:childTnLst>
                                    <p:animScale>
                                      <p:cBhvr>
                                        <p:cTn id="71" dur="1000" fill="hold"/>
                                        <p:tgtEl>
                                          <p:spTgt spid="27"/>
                                        </p:tgtEl>
                                      </p:cBhvr>
                                      <p:by x="125000" y="125000"/>
                                    </p:animScale>
                                  </p:childTnLst>
                                </p:cTn>
                              </p:par>
                              <p:par>
                                <p:cTn id="72" presetID="23" presetClass="entr" presetSubtype="16" fill="hold" nodeType="withEffect">
                                  <p:stCondLst>
                                    <p:cond delay="600"/>
                                  </p:stCondLst>
                                  <p:childTnLst>
                                    <p:set>
                                      <p:cBhvr>
                                        <p:cTn id="73" dur="1" fill="hold">
                                          <p:stCondLst>
                                            <p:cond delay="0"/>
                                          </p:stCondLst>
                                        </p:cTn>
                                        <p:tgtEl>
                                          <p:spTgt spid="34"/>
                                        </p:tgtEl>
                                        <p:attrNameLst>
                                          <p:attrName>style.visibility</p:attrName>
                                        </p:attrNameLst>
                                      </p:cBhvr>
                                      <p:to>
                                        <p:strVal val="visible"/>
                                      </p:to>
                                    </p:set>
                                    <p:anim calcmode="lin" valueType="num">
                                      <p:cBhvr>
                                        <p:cTn id="74" dur="250" fill="hold"/>
                                        <p:tgtEl>
                                          <p:spTgt spid="34"/>
                                        </p:tgtEl>
                                        <p:attrNameLst>
                                          <p:attrName>ppt_w</p:attrName>
                                        </p:attrNameLst>
                                      </p:cBhvr>
                                      <p:tavLst>
                                        <p:tav tm="0">
                                          <p:val>
                                            <p:fltVal val="0"/>
                                          </p:val>
                                        </p:tav>
                                        <p:tav tm="100000">
                                          <p:val>
                                            <p:strVal val="#ppt_w"/>
                                          </p:val>
                                        </p:tav>
                                      </p:tavLst>
                                    </p:anim>
                                    <p:anim calcmode="lin" valueType="num">
                                      <p:cBhvr>
                                        <p:cTn id="75" dur="250" fill="hold"/>
                                        <p:tgtEl>
                                          <p:spTgt spid="34"/>
                                        </p:tgtEl>
                                        <p:attrNameLst>
                                          <p:attrName>ppt_h</p:attrName>
                                        </p:attrNameLst>
                                      </p:cBhvr>
                                      <p:tavLst>
                                        <p:tav tm="0">
                                          <p:val>
                                            <p:fltVal val="0"/>
                                          </p:val>
                                        </p:tav>
                                        <p:tav tm="100000">
                                          <p:val>
                                            <p:strVal val="#ppt_h"/>
                                          </p:val>
                                        </p:tav>
                                      </p:tavLst>
                                    </p:anim>
                                  </p:childTnLst>
                                </p:cTn>
                              </p:par>
                              <p:par>
                                <p:cTn id="76" presetID="10" presetClass="entr" presetSubtype="0" fill="hold" nodeType="withEffect">
                                  <p:stCondLst>
                                    <p:cond delay="60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500"/>
                                        <p:tgtEl>
                                          <p:spTgt spid="34"/>
                                        </p:tgtEl>
                                      </p:cBhvr>
                                    </p:animEffect>
                                  </p:childTnLst>
                                </p:cTn>
                              </p:par>
                              <p:par>
                                <p:cTn id="79" presetID="6" presetClass="emph" presetSubtype="0" fill="hold" nodeType="withEffect">
                                  <p:stCondLst>
                                    <p:cond delay="600"/>
                                  </p:stCondLst>
                                  <p:childTnLst>
                                    <p:animScale>
                                      <p:cBhvr>
                                        <p:cTn id="80" dur="10" fill="hold"/>
                                        <p:tgtEl>
                                          <p:spTgt spid="34"/>
                                        </p:tgtEl>
                                      </p:cBhvr>
                                      <p:by x="80000" y="80000"/>
                                    </p:animScale>
                                  </p:childTnLst>
                                </p:cTn>
                              </p:par>
                              <p:par>
                                <p:cTn id="81" presetID="6" presetClass="emph" presetSubtype="0" decel="100000" fill="hold" nodeType="withEffect">
                                  <p:stCondLst>
                                    <p:cond delay="600"/>
                                  </p:stCondLst>
                                  <p:childTnLst>
                                    <p:animScale>
                                      <p:cBhvr>
                                        <p:cTn id="82" dur="1000" fill="hold"/>
                                        <p:tgtEl>
                                          <p:spTgt spid="34"/>
                                        </p:tgtEl>
                                      </p:cBhvr>
                                      <p:by x="125000" y="125000"/>
                                    </p:animScale>
                                  </p:childTnLst>
                                </p:cTn>
                              </p:par>
                              <p:par>
                                <p:cTn id="83" presetID="23" presetClass="entr" presetSubtype="16" fill="hold" nodeType="withEffect">
                                  <p:stCondLst>
                                    <p:cond delay="900"/>
                                  </p:stCondLst>
                                  <p:childTnLst>
                                    <p:set>
                                      <p:cBhvr>
                                        <p:cTn id="84" dur="1" fill="hold">
                                          <p:stCondLst>
                                            <p:cond delay="0"/>
                                          </p:stCondLst>
                                        </p:cTn>
                                        <p:tgtEl>
                                          <p:spTgt spid="41"/>
                                        </p:tgtEl>
                                        <p:attrNameLst>
                                          <p:attrName>style.visibility</p:attrName>
                                        </p:attrNameLst>
                                      </p:cBhvr>
                                      <p:to>
                                        <p:strVal val="visible"/>
                                      </p:to>
                                    </p:set>
                                    <p:anim calcmode="lin" valueType="num">
                                      <p:cBhvr>
                                        <p:cTn id="85" dur="250" fill="hold"/>
                                        <p:tgtEl>
                                          <p:spTgt spid="41"/>
                                        </p:tgtEl>
                                        <p:attrNameLst>
                                          <p:attrName>ppt_w</p:attrName>
                                        </p:attrNameLst>
                                      </p:cBhvr>
                                      <p:tavLst>
                                        <p:tav tm="0">
                                          <p:val>
                                            <p:fltVal val="0"/>
                                          </p:val>
                                        </p:tav>
                                        <p:tav tm="100000">
                                          <p:val>
                                            <p:strVal val="#ppt_w"/>
                                          </p:val>
                                        </p:tav>
                                      </p:tavLst>
                                    </p:anim>
                                    <p:anim calcmode="lin" valueType="num">
                                      <p:cBhvr>
                                        <p:cTn id="86" dur="250" fill="hold"/>
                                        <p:tgtEl>
                                          <p:spTgt spid="41"/>
                                        </p:tgtEl>
                                        <p:attrNameLst>
                                          <p:attrName>ppt_h</p:attrName>
                                        </p:attrNameLst>
                                      </p:cBhvr>
                                      <p:tavLst>
                                        <p:tav tm="0">
                                          <p:val>
                                            <p:fltVal val="0"/>
                                          </p:val>
                                        </p:tav>
                                        <p:tav tm="100000">
                                          <p:val>
                                            <p:strVal val="#ppt_h"/>
                                          </p:val>
                                        </p:tav>
                                      </p:tavLst>
                                    </p:anim>
                                  </p:childTnLst>
                                </p:cTn>
                              </p:par>
                              <p:par>
                                <p:cTn id="87" presetID="10" presetClass="entr" presetSubtype="0" fill="hold" nodeType="withEffect">
                                  <p:stCondLst>
                                    <p:cond delay="90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500"/>
                                        <p:tgtEl>
                                          <p:spTgt spid="41"/>
                                        </p:tgtEl>
                                      </p:cBhvr>
                                    </p:animEffect>
                                  </p:childTnLst>
                                </p:cTn>
                              </p:par>
                              <p:par>
                                <p:cTn id="90" presetID="6" presetClass="emph" presetSubtype="0" fill="hold" nodeType="withEffect">
                                  <p:stCondLst>
                                    <p:cond delay="900"/>
                                  </p:stCondLst>
                                  <p:childTnLst>
                                    <p:animScale>
                                      <p:cBhvr>
                                        <p:cTn id="91" dur="10" fill="hold"/>
                                        <p:tgtEl>
                                          <p:spTgt spid="41"/>
                                        </p:tgtEl>
                                      </p:cBhvr>
                                      <p:by x="80000" y="80000"/>
                                    </p:animScale>
                                  </p:childTnLst>
                                </p:cTn>
                              </p:par>
                              <p:par>
                                <p:cTn id="92" presetID="6" presetClass="emph" presetSubtype="0" decel="100000" fill="hold" nodeType="withEffect">
                                  <p:stCondLst>
                                    <p:cond delay="900"/>
                                  </p:stCondLst>
                                  <p:childTnLst>
                                    <p:animScale>
                                      <p:cBhvr>
                                        <p:cTn id="93" dur="1000" fill="hold"/>
                                        <p:tgtEl>
                                          <p:spTgt spid="41"/>
                                        </p:tgtEl>
                                      </p:cBhvr>
                                      <p:by x="125000" y="125000"/>
                                    </p:animScale>
                                  </p:childTnLst>
                                </p:cTn>
                              </p:par>
                              <p:par>
                                <p:cTn id="94" presetID="23" presetClass="entr" presetSubtype="16" fill="hold" nodeType="withEffect">
                                  <p:stCondLst>
                                    <p:cond delay="300"/>
                                  </p:stCondLst>
                                  <p:childTnLst>
                                    <p:set>
                                      <p:cBhvr>
                                        <p:cTn id="95" dur="1" fill="hold">
                                          <p:stCondLst>
                                            <p:cond delay="0"/>
                                          </p:stCondLst>
                                        </p:cTn>
                                        <p:tgtEl>
                                          <p:spTgt spid="48"/>
                                        </p:tgtEl>
                                        <p:attrNameLst>
                                          <p:attrName>style.visibility</p:attrName>
                                        </p:attrNameLst>
                                      </p:cBhvr>
                                      <p:to>
                                        <p:strVal val="visible"/>
                                      </p:to>
                                    </p:set>
                                    <p:anim calcmode="lin" valueType="num">
                                      <p:cBhvr>
                                        <p:cTn id="96" dur="250" fill="hold"/>
                                        <p:tgtEl>
                                          <p:spTgt spid="48"/>
                                        </p:tgtEl>
                                        <p:attrNameLst>
                                          <p:attrName>ppt_w</p:attrName>
                                        </p:attrNameLst>
                                      </p:cBhvr>
                                      <p:tavLst>
                                        <p:tav tm="0">
                                          <p:val>
                                            <p:fltVal val="0"/>
                                          </p:val>
                                        </p:tav>
                                        <p:tav tm="100000">
                                          <p:val>
                                            <p:strVal val="#ppt_w"/>
                                          </p:val>
                                        </p:tav>
                                      </p:tavLst>
                                    </p:anim>
                                    <p:anim calcmode="lin" valueType="num">
                                      <p:cBhvr>
                                        <p:cTn id="97" dur="250" fill="hold"/>
                                        <p:tgtEl>
                                          <p:spTgt spid="48"/>
                                        </p:tgtEl>
                                        <p:attrNameLst>
                                          <p:attrName>ppt_h</p:attrName>
                                        </p:attrNameLst>
                                      </p:cBhvr>
                                      <p:tavLst>
                                        <p:tav tm="0">
                                          <p:val>
                                            <p:fltVal val="0"/>
                                          </p:val>
                                        </p:tav>
                                        <p:tav tm="100000">
                                          <p:val>
                                            <p:strVal val="#ppt_h"/>
                                          </p:val>
                                        </p:tav>
                                      </p:tavLst>
                                    </p:anim>
                                  </p:childTnLst>
                                </p:cTn>
                              </p:par>
                              <p:par>
                                <p:cTn id="98" presetID="10" presetClass="entr" presetSubtype="0" fill="hold" nodeType="withEffect">
                                  <p:stCondLst>
                                    <p:cond delay="300"/>
                                  </p:stCondLst>
                                  <p:childTnLst>
                                    <p:set>
                                      <p:cBhvr>
                                        <p:cTn id="99" dur="1" fill="hold">
                                          <p:stCondLst>
                                            <p:cond delay="0"/>
                                          </p:stCondLst>
                                        </p:cTn>
                                        <p:tgtEl>
                                          <p:spTgt spid="48"/>
                                        </p:tgtEl>
                                        <p:attrNameLst>
                                          <p:attrName>style.visibility</p:attrName>
                                        </p:attrNameLst>
                                      </p:cBhvr>
                                      <p:to>
                                        <p:strVal val="visible"/>
                                      </p:to>
                                    </p:set>
                                    <p:animEffect transition="in" filter="fade">
                                      <p:cBhvr>
                                        <p:cTn id="100" dur="500"/>
                                        <p:tgtEl>
                                          <p:spTgt spid="48"/>
                                        </p:tgtEl>
                                      </p:cBhvr>
                                    </p:animEffect>
                                  </p:childTnLst>
                                </p:cTn>
                              </p:par>
                              <p:par>
                                <p:cTn id="101" presetID="6" presetClass="emph" presetSubtype="0" fill="hold" nodeType="withEffect">
                                  <p:stCondLst>
                                    <p:cond delay="300"/>
                                  </p:stCondLst>
                                  <p:childTnLst>
                                    <p:animScale>
                                      <p:cBhvr>
                                        <p:cTn id="102" dur="10" fill="hold"/>
                                        <p:tgtEl>
                                          <p:spTgt spid="48"/>
                                        </p:tgtEl>
                                      </p:cBhvr>
                                      <p:by x="80000" y="80000"/>
                                    </p:animScale>
                                  </p:childTnLst>
                                </p:cTn>
                              </p:par>
                              <p:par>
                                <p:cTn id="103" presetID="6" presetClass="emph" presetSubtype="0" decel="100000" fill="hold" nodeType="withEffect">
                                  <p:stCondLst>
                                    <p:cond delay="300"/>
                                  </p:stCondLst>
                                  <p:childTnLst>
                                    <p:animScale>
                                      <p:cBhvr>
                                        <p:cTn id="104" dur="1000" fill="hold"/>
                                        <p:tgtEl>
                                          <p:spTgt spid="48"/>
                                        </p:tgtEl>
                                      </p:cBhvr>
                                      <p:by x="125000" y="125000"/>
                                    </p:animScale>
                                  </p:childTnLst>
                                </p:cTn>
                              </p:par>
                              <p:par>
                                <p:cTn id="105" presetID="10" presetClass="entr" presetSubtype="0" fill="hold" grpId="0" nodeType="withEffect">
                                  <p:stCondLst>
                                    <p:cond delay="600"/>
                                  </p:stCondLst>
                                  <p:childTnLst>
                                    <p:set>
                                      <p:cBhvr>
                                        <p:cTn id="106" dur="1" fill="hold">
                                          <p:stCondLst>
                                            <p:cond delay="0"/>
                                          </p:stCondLst>
                                        </p:cTn>
                                        <p:tgtEl>
                                          <p:spTgt spid="55"/>
                                        </p:tgtEl>
                                        <p:attrNameLst>
                                          <p:attrName>style.visibility</p:attrName>
                                        </p:attrNameLst>
                                      </p:cBhvr>
                                      <p:to>
                                        <p:strVal val="visible"/>
                                      </p:to>
                                    </p:set>
                                    <p:animEffect transition="in" filter="fade">
                                      <p:cBhvr>
                                        <p:cTn id="107" dur="750"/>
                                        <p:tgtEl>
                                          <p:spTgt spid="55"/>
                                        </p:tgtEl>
                                      </p:cBhvr>
                                    </p:animEffect>
                                  </p:childTnLst>
                                </p:cTn>
                              </p:par>
                              <p:par>
                                <p:cTn id="108" presetID="42" presetClass="path" presetSubtype="0" decel="100000" fill="hold" grpId="1" nodeType="withEffect">
                                  <p:stCondLst>
                                    <p:cond delay="600"/>
                                  </p:stCondLst>
                                  <p:childTnLst>
                                    <p:animMotion origin="layout" path="M -4.79167E-6 0.03889 L -4.79167E-6 1.85185E-6 " pathEditMode="relative" rAng="0" ptsTypes="AA">
                                      <p:cBhvr>
                                        <p:cTn id="109" dur="750" fill="hold"/>
                                        <p:tgtEl>
                                          <p:spTgt spid="55"/>
                                        </p:tgtEl>
                                        <p:attrNameLst>
                                          <p:attrName>ppt_x</p:attrName>
                                          <p:attrName>ppt_y</p:attrName>
                                        </p:attrNameLst>
                                      </p:cBhvr>
                                      <p:rCtr x="0" y="-1944"/>
                                    </p:animMotion>
                                  </p:childTnLst>
                                </p:cTn>
                              </p:par>
                              <p:par>
                                <p:cTn id="110" presetID="23" presetClass="entr" presetSubtype="16" fill="hold" nodeType="withEffect">
                                  <p:stCondLst>
                                    <p:cond delay="300"/>
                                  </p:stCondLst>
                                  <p:childTnLst>
                                    <p:set>
                                      <p:cBhvr>
                                        <p:cTn id="111" dur="1" fill="hold">
                                          <p:stCondLst>
                                            <p:cond delay="0"/>
                                          </p:stCondLst>
                                        </p:cTn>
                                        <p:tgtEl>
                                          <p:spTgt spid="56"/>
                                        </p:tgtEl>
                                        <p:attrNameLst>
                                          <p:attrName>style.visibility</p:attrName>
                                        </p:attrNameLst>
                                      </p:cBhvr>
                                      <p:to>
                                        <p:strVal val="visible"/>
                                      </p:to>
                                    </p:set>
                                    <p:anim calcmode="lin" valueType="num">
                                      <p:cBhvr>
                                        <p:cTn id="112" dur="250" fill="hold"/>
                                        <p:tgtEl>
                                          <p:spTgt spid="56"/>
                                        </p:tgtEl>
                                        <p:attrNameLst>
                                          <p:attrName>ppt_w</p:attrName>
                                        </p:attrNameLst>
                                      </p:cBhvr>
                                      <p:tavLst>
                                        <p:tav tm="0">
                                          <p:val>
                                            <p:fltVal val="0"/>
                                          </p:val>
                                        </p:tav>
                                        <p:tav tm="100000">
                                          <p:val>
                                            <p:strVal val="#ppt_w"/>
                                          </p:val>
                                        </p:tav>
                                      </p:tavLst>
                                    </p:anim>
                                    <p:anim calcmode="lin" valueType="num">
                                      <p:cBhvr>
                                        <p:cTn id="113" dur="250" fill="hold"/>
                                        <p:tgtEl>
                                          <p:spTgt spid="56"/>
                                        </p:tgtEl>
                                        <p:attrNameLst>
                                          <p:attrName>ppt_h</p:attrName>
                                        </p:attrNameLst>
                                      </p:cBhvr>
                                      <p:tavLst>
                                        <p:tav tm="0">
                                          <p:val>
                                            <p:fltVal val="0"/>
                                          </p:val>
                                        </p:tav>
                                        <p:tav tm="100000">
                                          <p:val>
                                            <p:strVal val="#ppt_h"/>
                                          </p:val>
                                        </p:tav>
                                      </p:tavLst>
                                    </p:anim>
                                  </p:childTnLst>
                                </p:cTn>
                              </p:par>
                              <p:par>
                                <p:cTn id="114" presetID="10" presetClass="entr" presetSubtype="0" fill="hold" nodeType="withEffect">
                                  <p:stCondLst>
                                    <p:cond delay="30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500"/>
                                        <p:tgtEl>
                                          <p:spTgt spid="56"/>
                                        </p:tgtEl>
                                      </p:cBhvr>
                                    </p:animEffect>
                                  </p:childTnLst>
                                </p:cTn>
                              </p:par>
                              <p:par>
                                <p:cTn id="117" presetID="6" presetClass="emph" presetSubtype="0" fill="hold" nodeType="withEffect">
                                  <p:stCondLst>
                                    <p:cond delay="300"/>
                                  </p:stCondLst>
                                  <p:childTnLst>
                                    <p:animScale>
                                      <p:cBhvr>
                                        <p:cTn id="118" dur="10" fill="hold"/>
                                        <p:tgtEl>
                                          <p:spTgt spid="56"/>
                                        </p:tgtEl>
                                      </p:cBhvr>
                                      <p:by x="80000" y="80000"/>
                                    </p:animScale>
                                  </p:childTnLst>
                                </p:cTn>
                              </p:par>
                              <p:par>
                                <p:cTn id="119" presetID="6" presetClass="emph" presetSubtype="0" decel="100000" fill="hold" nodeType="withEffect">
                                  <p:stCondLst>
                                    <p:cond delay="300"/>
                                  </p:stCondLst>
                                  <p:childTnLst>
                                    <p:animScale>
                                      <p:cBhvr>
                                        <p:cTn id="120" dur="1000" fill="hold"/>
                                        <p:tgtEl>
                                          <p:spTgt spid="56"/>
                                        </p:tgtEl>
                                      </p:cBhvr>
                                      <p:by x="125000" y="125000"/>
                                    </p:animScale>
                                  </p:childTnLst>
                                </p:cTn>
                              </p:par>
                              <p:par>
                                <p:cTn id="121" presetID="10" presetClass="entr" presetSubtype="0" fill="hold" grpId="0" nodeType="withEffect">
                                  <p:stCondLst>
                                    <p:cond delay="600"/>
                                  </p:stCondLst>
                                  <p:childTnLst>
                                    <p:set>
                                      <p:cBhvr>
                                        <p:cTn id="122" dur="1" fill="hold">
                                          <p:stCondLst>
                                            <p:cond delay="0"/>
                                          </p:stCondLst>
                                        </p:cTn>
                                        <p:tgtEl>
                                          <p:spTgt spid="63"/>
                                        </p:tgtEl>
                                        <p:attrNameLst>
                                          <p:attrName>style.visibility</p:attrName>
                                        </p:attrNameLst>
                                      </p:cBhvr>
                                      <p:to>
                                        <p:strVal val="visible"/>
                                      </p:to>
                                    </p:set>
                                    <p:animEffect transition="in" filter="fade">
                                      <p:cBhvr>
                                        <p:cTn id="123" dur="750"/>
                                        <p:tgtEl>
                                          <p:spTgt spid="63"/>
                                        </p:tgtEl>
                                      </p:cBhvr>
                                    </p:animEffect>
                                  </p:childTnLst>
                                </p:cTn>
                              </p:par>
                              <p:par>
                                <p:cTn id="124" presetID="42" presetClass="path" presetSubtype="0" decel="100000" fill="hold" grpId="1" nodeType="withEffect">
                                  <p:stCondLst>
                                    <p:cond delay="600"/>
                                  </p:stCondLst>
                                  <p:childTnLst>
                                    <p:animMotion origin="layout" path="M 3.95833E-6 0.03889 L 3.95833E-6 -2.59259E-6 " pathEditMode="relative" rAng="0" ptsTypes="AA">
                                      <p:cBhvr>
                                        <p:cTn id="125" dur="750" fill="hold"/>
                                        <p:tgtEl>
                                          <p:spTgt spid="63"/>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p:bldP spid="13" grpId="1"/>
      <p:bldP spid="14" grpId="0"/>
      <p:bldP spid="14" grpId="1"/>
      <p:bldP spid="15" grpId="0"/>
      <p:bldP spid="15" grpId="1"/>
      <p:bldP spid="16" grpId="0"/>
      <p:bldP spid="16" grpId="1"/>
      <p:bldP spid="55" grpId="0" animBg="1"/>
      <p:bldP spid="55" grpId="1" animBg="1"/>
      <p:bldP spid="63" grpId="0"/>
      <p:bldP spid="63"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5B7BC-FCDA-F70C-9288-7BB407A50C3A}"/>
              </a:ext>
            </a:extLst>
          </p:cNvPr>
          <p:cNvSpPr>
            <a:spLocks noGrp="1"/>
          </p:cNvSpPr>
          <p:nvPr>
            <p:ph type="title"/>
          </p:nvPr>
        </p:nvSpPr>
        <p:spPr/>
        <p:txBody>
          <a:bodyPr/>
          <a:lstStyle/>
          <a:p>
            <a:r>
              <a:rPr lang="en-US"/>
              <a:t>Complexity Levels of GenAI</a:t>
            </a:r>
          </a:p>
        </p:txBody>
      </p:sp>
      <p:sp>
        <p:nvSpPr>
          <p:cNvPr id="4" name="Slide Number Placeholder 3">
            <a:extLst>
              <a:ext uri="{FF2B5EF4-FFF2-40B4-BE49-F238E27FC236}">
                <a16:creationId xmlns:a16="http://schemas.microsoft.com/office/drawing/2014/main" id="{0CA9257E-0B73-09F6-6499-DDC7F029CD5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3B8EEDB5-D0AB-5934-C5CB-BA23B4F99126}"/>
              </a:ext>
            </a:extLst>
          </p:cNvPr>
          <p:cNvGrpSpPr/>
          <p:nvPr/>
        </p:nvGrpSpPr>
        <p:grpSpPr>
          <a:xfrm>
            <a:off x="1650936" y="1952625"/>
            <a:ext cx="8874824" cy="4021458"/>
            <a:chOff x="569913" y="1533094"/>
            <a:chExt cx="8416841" cy="4021458"/>
          </a:xfrm>
        </p:grpSpPr>
        <p:sp useBgFill="1">
          <p:nvSpPr>
            <p:cNvPr id="6" name="Rectangle: Rounded Corners 5">
              <a:extLst>
                <a:ext uri="{FF2B5EF4-FFF2-40B4-BE49-F238E27FC236}">
                  <a16:creationId xmlns:a16="http://schemas.microsoft.com/office/drawing/2014/main" id="{E71A89E1-D16E-A751-7631-54D01ABCFBFE}"/>
                </a:ext>
              </a:extLst>
            </p:cNvPr>
            <p:cNvSpPr/>
            <p:nvPr/>
          </p:nvSpPr>
          <p:spPr bwMode="auto">
            <a:xfrm>
              <a:off x="569913" y="1533094"/>
              <a:ext cx="8416841" cy="4021458"/>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7" name="Rectangle: Rounded Corners 6">
              <a:extLst>
                <a:ext uri="{FF2B5EF4-FFF2-40B4-BE49-F238E27FC236}">
                  <a16:creationId xmlns:a16="http://schemas.microsoft.com/office/drawing/2014/main" id="{695C4830-58DC-8CD1-9C9C-9B7D7D0327F1}"/>
                </a:ext>
              </a:extLst>
            </p:cNvPr>
            <p:cNvSpPr/>
            <p:nvPr/>
          </p:nvSpPr>
          <p:spPr bwMode="auto">
            <a:xfrm>
              <a:off x="569913" y="1533094"/>
              <a:ext cx="8416841" cy="4021458"/>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8" name="Rectangle: Rounded Corners 7">
            <a:extLst>
              <a:ext uri="{FF2B5EF4-FFF2-40B4-BE49-F238E27FC236}">
                <a16:creationId xmlns:a16="http://schemas.microsoft.com/office/drawing/2014/main" id="{8784E0FB-ACB3-FA54-B0E2-741EA9D1B720}"/>
              </a:ext>
            </a:extLst>
          </p:cNvPr>
          <p:cNvSpPr>
            <a:spLocks/>
          </p:cNvSpPr>
          <p:nvPr/>
        </p:nvSpPr>
        <p:spPr bwMode="auto">
          <a:xfrm>
            <a:off x="1819615" y="2642844"/>
            <a:ext cx="1620000"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9" name="Rectangle: Rounded Corners 8">
            <a:extLst>
              <a:ext uri="{FF2B5EF4-FFF2-40B4-BE49-F238E27FC236}">
                <a16:creationId xmlns:a16="http://schemas.microsoft.com/office/drawing/2014/main" id="{990A781A-33BC-783D-48F7-E5D107AA79DF}"/>
              </a:ext>
            </a:extLst>
          </p:cNvPr>
          <p:cNvSpPr>
            <a:spLocks/>
          </p:cNvSpPr>
          <p:nvPr/>
        </p:nvSpPr>
        <p:spPr bwMode="auto">
          <a:xfrm>
            <a:off x="3577927" y="2642844"/>
            <a:ext cx="1620000"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10" name="Group 9">
            <a:extLst>
              <a:ext uri="{FF2B5EF4-FFF2-40B4-BE49-F238E27FC236}">
                <a16:creationId xmlns:a16="http://schemas.microsoft.com/office/drawing/2014/main" id="{B1346EA0-5AE1-BBCF-2F7D-AB7EDCB21B14}"/>
              </a:ext>
            </a:extLst>
          </p:cNvPr>
          <p:cNvGrpSpPr/>
          <p:nvPr/>
        </p:nvGrpSpPr>
        <p:grpSpPr>
          <a:xfrm>
            <a:off x="1896907" y="3826935"/>
            <a:ext cx="1440000" cy="66330"/>
            <a:chOff x="704945" y="2877637"/>
            <a:chExt cx="3117755" cy="134578"/>
          </a:xfrm>
        </p:grpSpPr>
        <p:sp>
          <p:nvSpPr>
            <p:cNvPr id="11" name="Freeform: Shape 239">
              <a:extLst>
                <a:ext uri="{FF2B5EF4-FFF2-40B4-BE49-F238E27FC236}">
                  <a16:creationId xmlns:a16="http://schemas.microsoft.com/office/drawing/2014/main" id="{5F848758-FE42-A20A-24CA-7D72158AAC52}"/>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12" name="Straight Connector 11">
              <a:extLst>
                <a:ext uri="{FF2B5EF4-FFF2-40B4-BE49-F238E27FC236}">
                  <a16:creationId xmlns:a16="http://schemas.microsoft.com/office/drawing/2014/main" id="{8B8C9DF1-D810-1DD4-FAE0-5667BD1B6671}"/>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1648A0C-5D07-F542-59EC-DCC14A42D92E}"/>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AB037B11-59FA-29D0-04EA-331AE584CCF6}"/>
              </a:ext>
            </a:extLst>
          </p:cNvPr>
          <p:cNvGrpSpPr/>
          <p:nvPr/>
        </p:nvGrpSpPr>
        <p:grpSpPr>
          <a:xfrm>
            <a:off x="3634890" y="3826935"/>
            <a:ext cx="1440000" cy="66330"/>
            <a:chOff x="704945" y="2877637"/>
            <a:chExt cx="3117755" cy="134578"/>
          </a:xfrm>
        </p:grpSpPr>
        <p:sp>
          <p:nvSpPr>
            <p:cNvPr id="15" name="Freeform: Shape 239">
              <a:extLst>
                <a:ext uri="{FF2B5EF4-FFF2-40B4-BE49-F238E27FC236}">
                  <a16:creationId xmlns:a16="http://schemas.microsoft.com/office/drawing/2014/main" id="{71E5C814-ABB5-6716-2905-F20B4871DE39}"/>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16" name="Straight Connector 15">
              <a:extLst>
                <a:ext uri="{FF2B5EF4-FFF2-40B4-BE49-F238E27FC236}">
                  <a16:creationId xmlns:a16="http://schemas.microsoft.com/office/drawing/2014/main" id="{C7A0BE0F-6FD7-D4B5-7735-EAD121EEA21C}"/>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0B5AA16-64DD-0975-E60A-7053A3430BDD}"/>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E3B3E37B-0596-D2AF-A8D1-8E30B2E5166B}"/>
              </a:ext>
            </a:extLst>
          </p:cNvPr>
          <p:cNvGrpSpPr/>
          <p:nvPr/>
        </p:nvGrpSpPr>
        <p:grpSpPr>
          <a:xfrm>
            <a:off x="5379654" y="3826935"/>
            <a:ext cx="1467092" cy="66330"/>
            <a:chOff x="704945" y="2877637"/>
            <a:chExt cx="3176411" cy="134578"/>
          </a:xfrm>
        </p:grpSpPr>
        <p:sp>
          <p:nvSpPr>
            <p:cNvPr id="19" name="Freeform: Shape 239">
              <a:extLst>
                <a:ext uri="{FF2B5EF4-FFF2-40B4-BE49-F238E27FC236}">
                  <a16:creationId xmlns:a16="http://schemas.microsoft.com/office/drawing/2014/main" id="{31C6AE65-200B-0B04-DEE7-B5FFF53250C1}"/>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20" name="Straight Connector 19">
              <a:extLst>
                <a:ext uri="{FF2B5EF4-FFF2-40B4-BE49-F238E27FC236}">
                  <a16:creationId xmlns:a16="http://schemas.microsoft.com/office/drawing/2014/main" id="{46098B2B-A84C-8F6E-B940-A060F167D4FC}"/>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53871A8-C5A7-6879-63BC-41C0F54AEEA9}"/>
                </a:ext>
              </a:extLst>
            </p:cNvPr>
            <p:cNvCxnSpPr/>
            <p:nvPr userDrawn="1"/>
          </p:nvCxnSpPr>
          <p:spPr>
            <a:xfrm flipH="1">
              <a:off x="2456330"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1EBEEDDF-7CDD-BA10-BD78-D4D9CC3CC50F}"/>
              </a:ext>
            </a:extLst>
          </p:cNvPr>
          <p:cNvGrpSpPr/>
          <p:nvPr/>
        </p:nvGrpSpPr>
        <p:grpSpPr>
          <a:xfrm>
            <a:off x="7144744" y="3826935"/>
            <a:ext cx="1440000" cy="66330"/>
            <a:chOff x="704945" y="2877637"/>
            <a:chExt cx="3117755" cy="134578"/>
          </a:xfrm>
        </p:grpSpPr>
        <p:sp>
          <p:nvSpPr>
            <p:cNvPr id="23" name="Freeform: Shape 239">
              <a:extLst>
                <a:ext uri="{FF2B5EF4-FFF2-40B4-BE49-F238E27FC236}">
                  <a16:creationId xmlns:a16="http://schemas.microsoft.com/office/drawing/2014/main" id="{875165E4-64D3-747B-B216-51926D074BB6}"/>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24" name="Straight Connector 23">
              <a:extLst>
                <a:ext uri="{FF2B5EF4-FFF2-40B4-BE49-F238E27FC236}">
                  <a16:creationId xmlns:a16="http://schemas.microsoft.com/office/drawing/2014/main" id="{A08E0467-CA42-72A0-731F-8BFD132ED34C}"/>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8677E22-C546-AF2A-8B72-6D2D8FDB9E87}"/>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045A4DDE-AD27-7422-EFC3-551A3A183F8C}"/>
              </a:ext>
            </a:extLst>
          </p:cNvPr>
          <p:cNvGrpSpPr/>
          <p:nvPr/>
        </p:nvGrpSpPr>
        <p:grpSpPr>
          <a:xfrm>
            <a:off x="5315919" y="2642844"/>
            <a:ext cx="3357990" cy="1056910"/>
            <a:chOff x="5905196" y="2642844"/>
            <a:chExt cx="3357990" cy="1056910"/>
          </a:xfrm>
        </p:grpSpPr>
        <p:sp>
          <p:nvSpPr>
            <p:cNvPr id="27" name="Rectangle: Rounded Corners 26">
              <a:extLst>
                <a:ext uri="{FF2B5EF4-FFF2-40B4-BE49-F238E27FC236}">
                  <a16:creationId xmlns:a16="http://schemas.microsoft.com/office/drawing/2014/main" id="{848F0BBE-22F4-61E9-DD08-7FA1CC97F044}"/>
                </a:ext>
              </a:extLst>
            </p:cNvPr>
            <p:cNvSpPr>
              <a:spLocks/>
            </p:cNvSpPr>
            <p:nvPr/>
          </p:nvSpPr>
          <p:spPr bwMode="auto">
            <a:xfrm>
              <a:off x="5905196" y="2642844"/>
              <a:ext cx="1620000"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8" name="Rectangle: Rounded Corners 27">
              <a:extLst>
                <a:ext uri="{FF2B5EF4-FFF2-40B4-BE49-F238E27FC236}">
                  <a16:creationId xmlns:a16="http://schemas.microsoft.com/office/drawing/2014/main" id="{26820364-25DE-7A93-9E1D-5B37A68E9FDE}"/>
                </a:ext>
              </a:extLst>
            </p:cNvPr>
            <p:cNvSpPr>
              <a:spLocks/>
            </p:cNvSpPr>
            <p:nvPr/>
          </p:nvSpPr>
          <p:spPr bwMode="auto">
            <a:xfrm>
              <a:off x="7643186" y="2642844"/>
              <a:ext cx="1620000"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29" name="Group 28">
            <a:extLst>
              <a:ext uri="{FF2B5EF4-FFF2-40B4-BE49-F238E27FC236}">
                <a16:creationId xmlns:a16="http://schemas.microsoft.com/office/drawing/2014/main" id="{A75B1045-3CD2-50B0-A88E-8AAEB4C3C3F9}"/>
              </a:ext>
            </a:extLst>
          </p:cNvPr>
          <p:cNvGrpSpPr/>
          <p:nvPr/>
        </p:nvGrpSpPr>
        <p:grpSpPr>
          <a:xfrm>
            <a:off x="3523145" y="2249991"/>
            <a:ext cx="3483464" cy="3426726"/>
            <a:chOff x="3523145" y="1952625"/>
            <a:chExt cx="3483464" cy="4021458"/>
          </a:xfrm>
        </p:grpSpPr>
        <p:cxnSp>
          <p:nvCxnSpPr>
            <p:cNvPr id="30" name="Straight Connector 29">
              <a:extLst>
                <a:ext uri="{FF2B5EF4-FFF2-40B4-BE49-F238E27FC236}">
                  <a16:creationId xmlns:a16="http://schemas.microsoft.com/office/drawing/2014/main" id="{82EA566D-AB76-9644-49B8-9C09182C8362}"/>
                </a:ext>
              </a:extLst>
            </p:cNvPr>
            <p:cNvCxnSpPr>
              <a:cxnSpLocks/>
            </p:cNvCxnSpPr>
            <p:nvPr/>
          </p:nvCxnSpPr>
          <p:spPr>
            <a:xfrm>
              <a:off x="5254776" y="1952625"/>
              <a:ext cx="0" cy="4021458"/>
            </a:xfrm>
            <a:prstGeom prst="line">
              <a:avLst/>
            </a:prstGeom>
            <a:ln w="9525">
              <a:solidFill>
                <a:schemeClr val="accent2">
                  <a:lumMod val="40000"/>
                  <a:lumOff val="60000"/>
                  <a:alpha val="2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CBE942B-7E8F-4CC6-8626-9D41C2864A9F}"/>
                </a:ext>
              </a:extLst>
            </p:cNvPr>
            <p:cNvCxnSpPr>
              <a:cxnSpLocks/>
            </p:cNvCxnSpPr>
            <p:nvPr/>
          </p:nvCxnSpPr>
          <p:spPr>
            <a:xfrm>
              <a:off x="7006609" y="1952625"/>
              <a:ext cx="0" cy="4021458"/>
            </a:xfrm>
            <a:prstGeom prst="line">
              <a:avLst/>
            </a:prstGeom>
            <a:ln w="9525">
              <a:solidFill>
                <a:schemeClr val="accent2">
                  <a:lumMod val="40000"/>
                  <a:lumOff val="60000"/>
                  <a:alpha val="2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89B981D-5D09-5536-AD9A-AF04407945B9}"/>
                </a:ext>
              </a:extLst>
            </p:cNvPr>
            <p:cNvCxnSpPr>
              <a:cxnSpLocks/>
            </p:cNvCxnSpPr>
            <p:nvPr/>
          </p:nvCxnSpPr>
          <p:spPr>
            <a:xfrm>
              <a:off x="3523145" y="1952625"/>
              <a:ext cx="0" cy="4021458"/>
            </a:xfrm>
            <a:prstGeom prst="line">
              <a:avLst/>
            </a:prstGeom>
            <a:ln w="9525">
              <a:solidFill>
                <a:schemeClr val="accent2">
                  <a:lumMod val="40000"/>
                  <a:lumOff val="60000"/>
                  <a:alpha val="2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33" name="Rectangle: Rounded Corners 32">
            <a:extLst>
              <a:ext uri="{FF2B5EF4-FFF2-40B4-BE49-F238E27FC236}">
                <a16:creationId xmlns:a16="http://schemas.microsoft.com/office/drawing/2014/main" id="{4626738C-9CAB-8595-DAF1-719B6608EBB0}"/>
              </a:ext>
            </a:extLst>
          </p:cNvPr>
          <p:cNvSpPr>
            <a:spLocks/>
          </p:cNvSpPr>
          <p:nvPr/>
        </p:nvSpPr>
        <p:spPr bwMode="auto">
          <a:xfrm>
            <a:off x="1811824" y="4060116"/>
            <a:ext cx="1703539" cy="1491853"/>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US" sz="1600">
                <a:solidFill>
                  <a:schemeClr val="bg1"/>
                </a:solidFill>
                <a:cs typeface="Segoe Sans Text ExtraBold" pitchFamily="2" charset="0"/>
              </a:rPr>
              <a:t>Simple Content Generation</a:t>
            </a:r>
          </a:p>
          <a:p>
            <a:pPr algn="ctr" defTabSz="932472" fontAlgn="base">
              <a:spcBef>
                <a:spcPct val="0"/>
              </a:spcBef>
              <a:spcAft>
                <a:spcPts val="800"/>
              </a:spcAft>
            </a:pPr>
            <a:endParaRPr lang="en-US" sz="1600">
              <a:solidFill>
                <a:schemeClr val="bg1"/>
              </a:solidFill>
              <a:cs typeface="Segoe Sans Text ExtraBold" pitchFamily="2" charset="0"/>
            </a:endParaRPr>
          </a:p>
          <a:p>
            <a:pPr algn="ctr" defTabSz="932472" fontAlgn="base">
              <a:spcBef>
                <a:spcPct val="0"/>
              </a:spcBef>
              <a:spcAft>
                <a:spcPts val="800"/>
              </a:spcAft>
            </a:pPr>
            <a:r>
              <a:rPr lang="en-US" sz="1600">
                <a:solidFill>
                  <a:schemeClr val="bg1"/>
                </a:solidFill>
                <a:cs typeface="Segoe Sans Text ExtraBold" pitchFamily="2" charset="0"/>
              </a:rPr>
              <a:t>Ex: Summarization</a:t>
            </a:r>
            <a:endParaRPr lang="en-GB" sz="1600">
              <a:solidFill>
                <a:schemeClr val="bg1"/>
              </a:solidFill>
              <a:cs typeface="Segoe Sans Text ExtraBold" pitchFamily="2" charset="0"/>
            </a:endParaRPr>
          </a:p>
        </p:txBody>
      </p:sp>
      <p:sp>
        <p:nvSpPr>
          <p:cNvPr id="34" name="Rectangle: Rounded Corners 33">
            <a:extLst>
              <a:ext uri="{FF2B5EF4-FFF2-40B4-BE49-F238E27FC236}">
                <a16:creationId xmlns:a16="http://schemas.microsoft.com/office/drawing/2014/main" id="{815EC9E6-E7FB-DA0D-840E-A2545CFF5608}"/>
              </a:ext>
            </a:extLst>
          </p:cNvPr>
          <p:cNvSpPr>
            <a:spLocks/>
          </p:cNvSpPr>
          <p:nvPr/>
        </p:nvSpPr>
        <p:spPr bwMode="auto">
          <a:xfrm>
            <a:off x="3589827" y="4060116"/>
            <a:ext cx="1620000" cy="1236107"/>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US" sz="1600">
                <a:solidFill>
                  <a:schemeClr val="bg1"/>
                </a:solidFill>
                <a:cs typeface="Segoe Sans Text ExtraBold" pitchFamily="2" charset="0"/>
              </a:rPr>
              <a:t>Context-Aware Generation</a:t>
            </a:r>
          </a:p>
          <a:p>
            <a:pPr algn="ctr" defTabSz="932472" fontAlgn="base">
              <a:spcBef>
                <a:spcPct val="0"/>
              </a:spcBef>
              <a:spcAft>
                <a:spcPts val="800"/>
              </a:spcAft>
            </a:pPr>
            <a:endParaRPr lang="en-US" sz="1600">
              <a:solidFill>
                <a:schemeClr val="bg1"/>
              </a:solidFill>
              <a:cs typeface="Segoe Sans Text ExtraBold" pitchFamily="2" charset="0"/>
            </a:endParaRPr>
          </a:p>
          <a:p>
            <a:pPr algn="ctr" defTabSz="932472" fontAlgn="base">
              <a:spcBef>
                <a:spcPct val="0"/>
              </a:spcBef>
              <a:spcAft>
                <a:spcPts val="800"/>
              </a:spcAft>
            </a:pPr>
            <a:r>
              <a:rPr lang="en-US" sz="1600">
                <a:solidFill>
                  <a:schemeClr val="bg1"/>
                </a:solidFill>
                <a:cs typeface="Segoe Sans Text ExtraBold" pitchFamily="2" charset="0"/>
              </a:rPr>
              <a:t>Ex: Internal GPT</a:t>
            </a:r>
            <a:endParaRPr lang="en-GB" sz="1600">
              <a:solidFill>
                <a:schemeClr val="bg1"/>
              </a:solidFill>
              <a:cs typeface="Segoe Sans Text ExtraBold" pitchFamily="2" charset="0"/>
            </a:endParaRPr>
          </a:p>
        </p:txBody>
      </p:sp>
      <p:sp>
        <p:nvSpPr>
          <p:cNvPr id="35" name="Rectangle: Rounded Corners 34">
            <a:extLst>
              <a:ext uri="{FF2B5EF4-FFF2-40B4-BE49-F238E27FC236}">
                <a16:creationId xmlns:a16="http://schemas.microsoft.com/office/drawing/2014/main" id="{B3397DE2-1D8F-44E3-6461-1E752C32841D}"/>
              </a:ext>
            </a:extLst>
          </p:cNvPr>
          <p:cNvSpPr>
            <a:spLocks/>
          </p:cNvSpPr>
          <p:nvPr/>
        </p:nvSpPr>
        <p:spPr bwMode="auto">
          <a:xfrm>
            <a:off x="6986647" y="4060116"/>
            <a:ext cx="1787992" cy="1747599"/>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US" sz="1600">
                <a:solidFill>
                  <a:schemeClr val="bg1"/>
                </a:solidFill>
                <a:cs typeface="Segoe Sans Text ExtraBold" pitchFamily="2" charset="0"/>
              </a:rPr>
              <a:t>Integrated System Integration                                  </a:t>
            </a:r>
          </a:p>
          <a:p>
            <a:pPr algn="ctr" defTabSz="932472" fontAlgn="base">
              <a:spcBef>
                <a:spcPct val="0"/>
              </a:spcBef>
              <a:spcAft>
                <a:spcPts val="800"/>
              </a:spcAft>
            </a:pPr>
            <a:endParaRPr lang="en-US" sz="1600">
              <a:solidFill>
                <a:schemeClr val="bg1"/>
              </a:solidFill>
              <a:cs typeface="Segoe Sans Text ExtraBold" pitchFamily="2" charset="0"/>
            </a:endParaRPr>
          </a:p>
          <a:p>
            <a:pPr algn="ctr" defTabSz="932472" fontAlgn="base">
              <a:spcBef>
                <a:spcPct val="0"/>
              </a:spcBef>
              <a:spcAft>
                <a:spcPts val="800"/>
              </a:spcAft>
            </a:pPr>
            <a:r>
              <a:rPr lang="en-US" sz="1600">
                <a:solidFill>
                  <a:schemeClr val="bg1"/>
                </a:solidFill>
                <a:cs typeface="Segoe Sans Text ExtraBold" pitchFamily="2" charset="0"/>
              </a:rPr>
              <a:t>                            Ex: Automated Customer Support</a:t>
            </a:r>
          </a:p>
        </p:txBody>
      </p:sp>
      <p:sp>
        <p:nvSpPr>
          <p:cNvPr id="36" name="Rectangle: Rounded Corners 35">
            <a:extLst>
              <a:ext uri="{FF2B5EF4-FFF2-40B4-BE49-F238E27FC236}">
                <a16:creationId xmlns:a16="http://schemas.microsoft.com/office/drawing/2014/main" id="{411AD0DD-97F0-75A6-01FE-56BDAC02FFCF}"/>
              </a:ext>
            </a:extLst>
          </p:cNvPr>
          <p:cNvSpPr>
            <a:spLocks/>
          </p:cNvSpPr>
          <p:nvPr/>
        </p:nvSpPr>
        <p:spPr bwMode="auto">
          <a:xfrm>
            <a:off x="8683366" y="4060116"/>
            <a:ext cx="1787992" cy="1598414"/>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US" sz="1600">
                <a:solidFill>
                  <a:schemeClr val="bg1"/>
                </a:solidFill>
                <a:cs typeface="Segoe Sans Text ExtraBold" pitchFamily="2" charset="0"/>
              </a:rPr>
              <a:t>Autonomous systems</a:t>
            </a:r>
          </a:p>
          <a:p>
            <a:pPr algn="ctr" defTabSz="932472" fontAlgn="base">
              <a:spcBef>
                <a:spcPct val="0"/>
              </a:spcBef>
              <a:spcAft>
                <a:spcPts val="800"/>
              </a:spcAft>
            </a:pPr>
            <a:endParaRPr lang="en-US" sz="1600">
              <a:solidFill>
                <a:schemeClr val="bg1"/>
              </a:solidFill>
              <a:cs typeface="Segoe Sans Text ExtraBold" pitchFamily="2" charset="0"/>
            </a:endParaRPr>
          </a:p>
          <a:p>
            <a:pPr algn="ctr" defTabSz="932472" fontAlgn="base">
              <a:spcBef>
                <a:spcPct val="0"/>
              </a:spcBef>
              <a:spcAft>
                <a:spcPts val="800"/>
              </a:spcAft>
            </a:pPr>
            <a:endParaRPr lang="en-US" sz="1600">
              <a:solidFill>
                <a:schemeClr val="bg1"/>
              </a:solidFill>
              <a:cs typeface="Segoe Sans Text ExtraBold" pitchFamily="2" charset="0"/>
            </a:endParaRPr>
          </a:p>
          <a:p>
            <a:pPr algn="ctr" defTabSz="932472" fontAlgn="base">
              <a:spcBef>
                <a:spcPct val="0"/>
              </a:spcBef>
              <a:spcAft>
                <a:spcPts val="800"/>
              </a:spcAft>
            </a:pPr>
            <a:r>
              <a:rPr lang="en-US" sz="1600">
                <a:solidFill>
                  <a:schemeClr val="bg1"/>
                </a:solidFill>
                <a:cs typeface="Segoe Sans Text ExtraBold" pitchFamily="2" charset="0"/>
              </a:rPr>
              <a:t>Ex: Multi Agents</a:t>
            </a:r>
            <a:endParaRPr lang="en-GB" sz="1600">
              <a:solidFill>
                <a:schemeClr val="bg1"/>
              </a:solidFill>
              <a:cs typeface="Segoe Sans Text ExtraBold" pitchFamily="2" charset="0"/>
            </a:endParaRPr>
          </a:p>
        </p:txBody>
      </p:sp>
      <p:sp>
        <p:nvSpPr>
          <p:cNvPr id="37" name="Rectangle: Rounded Corners 36">
            <a:extLst>
              <a:ext uri="{FF2B5EF4-FFF2-40B4-BE49-F238E27FC236}">
                <a16:creationId xmlns:a16="http://schemas.microsoft.com/office/drawing/2014/main" id="{96618A28-970F-339F-6D65-F6738FFD2E62}"/>
              </a:ext>
            </a:extLst>
          </p:cNvPr>
          <p:cNvSpPr>
            <a:spLocks/>
          </p:cNvSpPr>
          <p:nvPr/>
        </p:nvSpPr>
        <p:spPr bwMode="auto">
          <a:xfrm>
            <a:off x="1812338" y="3254265"/>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a:solidFill>
                  <a:srgbClr val="FFFFFF"/>
                </a:solidFill>
                <a:cs typeface="Segoe Sans Text ExtraBold" pitchFamily="2" charset="0"/>
              </a:rPr>
              <a:t>Low</a:t>
            </a:r>
          </a:p>
        </p:txBody>
      </p:sp>
      <p:sp>
        <p:nvSpPr>
          <p:cNvPr id="38" name="Rectangle: Rounded Corners 37">
            <a:extLst>
              <a:ext uri="{FF2B5EF4-FFF2-40B4-BE49-F238E27FC236}">
                <a16:creationId xmlns:a16="http://schemas.microsoft.com/office/drawing/2014/main" id="{DE1A9C91-AB9A-7D0B-563C-37B2702179B9}"/>
              </a:ext>
            </a:extLst>
          </p:cNvPr>
          <p:cNvSpPr>
            <a:spLocks/>
          </p:cNvSpPr>
          <p:nvPr/>
        </p:nvSpPr>
        <p:spPr bwMode="auto">
          <a:xfrm>
            <a:off x="3522601" y="3254265"/>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a:solidFill>
                  <a:srgbClr val="FFFFFF"/>
                </a:solidFill>
                <a:cs typeface="Segoe Sans Text ExtraBold" pitchFamily="2" charset="0"/>
              </a:rPr>
              <a:t>Moderate</a:t>
            </a:r>
          </a:p>
        </p:txBody>
      </p:sp>
      <p:sp>
        <p:nvSpPr>
          <p:cNvPr id="39" name="Rectangle: Rounded Corners 38">
            <a:extLst>
              <a:ext uri="{FF2B5EF4-FFF2-40B4-BE49-F238E27FC236}">
                <a16:creationId xmlns:a16="http://schemas.microsoft.com/office/drawing/2014/main" id="{8DCE9582-BFC5-6712-EB62-2AFCA864CF0E}"/>
              </a:ext>
            </a:extLst>
          </p:cNvPr>
          <p:cNvSpPr>
            <a:spLocks/>
          </p:cNvSpPr>
          <p:nvPr/>
        </p:nvSpPr>
        <p:spPr bwMode="auto">
          <a:xfrm>
            <a:off x="5293826" y="3254265"/>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a:solidFill>
                  <a:srgbClr val="FFFFFF"/>
                </a:solidFill>
                <a:cs typeface="Segoe Sans Text ExtraBold" pitchFamily="2" charset="0"/>
              </a:rPr>
              <a:t>High</a:t>
            </a:r>
          </a:p>
        </p:txBody>
      </p:sp>
      <p:sp>
        <p:nvSpPr>
          <p:cNvPr id="40" name="Rectangle: Rounded Corners 39">
            <a:extLst>
              <a:ext uri="{FF2B5EF4-FFF2-40B4-BE49-F238E27FC236}">
                <a16:creationId xmlns:a16="http://schemas.microsoft.com/office/drawing/2014/main" id="{0237C22D-B0E7-7523-DA07-59E80659A9FD}"/>
              </a:ext>
            </a:extLst>
          </p:cNvPr>
          <p:cNvSpPr>
            <a:spLocks/>
          </p:cNvSpPr>
          <p:nvPr/>
        </p:nvSpPr>
        <p:spPr bwMode="auto">
          <a:xfrm>
            <a:off x="7071829" y="3254265"/>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a:solidFill>
                  <a:srgbClr val="FFFFFF"/>
                </a:solidFill>
                <a:cs typeface="Segoe Sans Text ExtraBold" pitchFamily="2" charset="0"/>
              </a:rPr>
              <a:t>Advanced</a:t>
            </a:r>
          </a:p>
        </p:txBody>
      </p:sp>
      <p:grpSp>
        <p:nvGrpSpPr>
          <p:cNvPr id="41" name="Group 40">
            <a:extLst>
              <a:ext uri="{FF2B5EF4-FFF2-40B4-BE49-F238E27FC236}">
                <a16:creationId xmlns:a16="http://schemas.microsoft.com/office/drawing/2014/main" id="{F3CC349D-3B28-8A47-E473-827284C09E04}"/>
              </a:ext>
            </a:extLst>
          </p:cNvPr>
          <p:cNvGrpSpPr/>
          <p:nvPr/>
        </p:nvGrpSpPr>
        <p:grpSpPr>
          <a:xfrm>
            <a:off x="2289653" y="2244909"/>
            <a:ext cx="826086" cy="826324"/>
            <a:chOff x="1600003" y="1811018"/>
            <a:chExt cx="1641521" cy="1641995"/>
          </a:xfrm>
        </p:grpSpPr>
        <p:sp>
          <p:nvSpPr>
            <p:cNvPr id="42" name="Oval 17">
              <a:extLst>
                <a:ext uri="{FF2B5EF4-FFF2-40B4-BE49-F238E27FC236}">
                  <a16:creationId xmlns:a16="http://schemas.microsoft.com/office/drawing/2014/main" id="{18EE8519-768C-16BA-42BF-34239EB30B53}"/>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43" name="Group 42">
              <a:extLst>
                <a:ext uri="{FF2B5EF4-FFF2-40B4-BE49-F238E27FC236}">
                  <a16:creationId xmlns:a16="http://schemas.microsoft.com/office/drawing/2014/main" id="{FE6952E4-4EA9-A0AB-7CC9-3A2CD8867CB1}"/>
                </a:ext>
              </a:extLst>
            </p:cNvPr>
            <p:cNvGrpSpPr/>
            <p:nvPr/>
          </p:nvGrpSpPr>
          <p:grpSpPr>
            <a:xfrm>
              <a:off x="1714608" y="1927192"/>
              <a:ext cx="1412311" cy="1409646"/>
              <a:chOff x="1261672" y="4833937"/>
              <a:chExt cx="954296" cy="954297"/>
            </a:xfrm>
          </p:grpSpPr>
          <p:sp>
            <p:nvSpPr>
              <p:cNvPr id="44" name="Rectangle: Rounded Corners 43">
                <a:extLst>
                  <a:ext uri="{FF2B5EF4-FFF2-40B4-BE49-F238E27FC236}">
                    <a16:creationId xmlns:a16="http://schemas.microsoft.com/office/drawing/2014/main" id="{8139D338-60E5-9958-FDC1-B88ABDF0C84F}"/>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45" name="Rectangle: Rounded Corners 44">
                <a:extLst>
                  <a:ext uri="{FF2B5EF4-FFF2-40B4-BE49-F238E27FC236}">
                    <a16:creationId xmlns:a16="http://schemas.microsoft.com/office/drawing/2014/main" id="{CB752461-6EB0-1AB2-2B57-952E2869BF12}"/>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46" name="Content Placeholder 2">
            <a:extLst>
              <a:ext uri="{FF2B5EF4-FFF2-40B4-BE49-F238E27FC236}">
                <a16:creationId xmlns:a16="http://schemas.microsoft.com/office/drawing/2014/main" id="{EFF3A29A-752E-72A6-42CC-7C9D0099CA18}"/>
              </a:ext>
            </a:extLst>
          </p:cNvPr>
          <p:cNvSpPr txBox="1">
            <a:spLocks/>
          </p:cNvSpPr>
          <p:nvPr/>
        </p:nvSpPr>
        <p:spPr>
          <a:xfrm>
            <a:off x="2332733" y="2455233"/>
            <a:ext cx="710738" cy="39684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609630" fontAlgn="base">
              <a:spcBef>
                <a:spcPts val="1200"/>
              </a:spcBef>
              <a:spcAft>
                <a:spcPct val="0"/>
              </a:spcAft>
              <a:buNone/>
              <a:defRPr/>
            </a:pPr>
            <a:r>
              <a:rPr lang="en-US" sz="4000">
                <a:latin typeface="Segoe Sans Text Semibold"/>
              </a:rPr>
              <a:t>1</a:t>
            </a:r>
          </a:p>
        </p:txBody>
      </p:sp>
      <p:grpSp>
        <p:nvGrpSpPr>
          <p:cNvPr id="47" name="Group 46">
            <a:extLst>
              <a:ext uri="{FF2B5EF4-FFF2-40B4-BE49-F238E27FC236}">
                <a16:creationId xmlns:a16="http://schemas.microsoft.com/office/drawing/2014/main" id="{CF43F280-163F-D15A-1F4F-D6193C0F8333}"/>
              </a:ext>
            </a:extLst>
          </p:cNvPr>
          <p:cNvGrpSpPr/>
          <p:nvPr/>
        </p:nvGrpSpPr>
        <p:grpSpPr>
          <a:xfrm>
            <a:off x="4015157" y="2244909"/>
            <a:ext cx="826086" cy="826324"/>
            <a:chOff x="1600003" y="1811018"/>
            <a:chExt cx="1641521" cy="1641995"/>
          </a:xfrm>
        </p:grpSpPr>
        <p:sp>
          <p:nvSpPr>
            <p:cNvPr id="48" name="Oval 17">
              <a:extLst>
                <a:ext uri="{FF2B5EF4-FFF2-40B4-BE49-F238E27FC236}">
                  <a16:creationId xmlns:a16="http://schemas.microsoft.com/office/drawing/2014/main" id="{728AD074-EA88-3BE0-63C2-74EFB10870CC}"/>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49" name="Group 48">
              <a:extLst>
                <a:ext uri="{FF2B5EF4-FFF2-40B4-BE49-F238E27FC236}">
                  <a16:creationId xmlns:a16="http://schemas.microsoft.com/office/drawing/2014/main" id="{0E326A38-B79E-CC4B-78C9-6D7C4E5BA4B4}"/>
                </a:ext>
              </a:extLst>
            </p:cNvPr>
            <p:cNvGrpSpPr/>
            <p:nvPr/>
          </p:nvGrpSpPr>
          <p:grpSpPr>
            <a:xfrm>
              <a:off x="1714608" y="1927192"/>
              <a:ext cx="1412311" cy="1409646"/>
              <a:chOff x="1261672" y="4833937"/>
              <a:chExt cx="954296" cy="954297"/>
            </a:xfrm>
          </p:grpSpPr>
          <p:sp>
            <p:nvSpPr>
              <p:cNvPr id="50" name="Rectangle: Rounded Corners 49">
                <a:extLst>
                  <a:ext uri="{FF2B5EF4-FFF2-40B4-BE49-F238E27FC236}">
                    <a16:creationId xmlns:a16="http://schemas.microsoft.com/office/drawing/2014/main" id="{31EEF674-8B86-3E6F-51BF-4EF8DFECD061}"/>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51" name="Rectangle: Rounded Corners 50">
                <a:extLst>
                  <a:ext uri="{FF2B5EF4-FFF2-40B4-BE49-F238E27FC236}">
                    <a16:creationId xmlns:a16="http://schemas.microsoft.com/office/drawing/2014/main" id="{0A920EC6-7611-DE39-743B-97C5AFA5D1C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52" name="Content Placeholder 2">
            <a:extLst>
              <a:ext uri="{FF2B5EF4-FFF2-40B4-BE49-F238E27FC236}">
                <a16:creationId xmlns:a16="http://schemas.microsoft.com/office/drawing/2014/main" id="{F34DAD56-F4B5-AF5D-5382-EC8F9116F373}"/>
              </a:ext>
            </a:extLst>
          </p:cNvPr>
          <p:cNvSpPr txBox="1">
            <a:spLocks/>
          </p:cNvSpPr>
          <p:nvPr/>
        </p:nvSpPr>
        <p:spPr>
          <a:xfrm>
            <a:off x="4092112" y="2455233"/>
            <a:ext cx="710738" cy="39684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609630" fontAlgn="base">
              <a:spcBef>
                <a:spcPts val="1200"/>
              </a:spcBef>
              <a:spcAft>
                <a:spcPct val="0"/>
              </a:spcAft>
              <a:buNone/>
              <a:defRPr/>
            </a:pPr>
            <a:r>
              <a:rPr lang="en-US" sz="4000">
                <a:latin typeface="Segoe Sans Text Semibold"/>
              </a:rPr>
              <a:t>2</a:t>
            </a:r>
          </a:p>
        </p:txBody>
      </p:sp>
      <p:grpSp>
        <p:nvGrpSpPr>
          <p:cNvPr id="53" name="Group 52">
            <a:extLst>
              <a:ext uri="{FF2B5EF4-FFF2-40B4-BE49-F238E27FC236}">
                <a16:creationId xmlns:a16="http://schemas.microsoft.com/office/drawing/2014/main" id="{9A53E595-2BB4-DF8A-1A36-E519E8CFE386}"/>
              </a:ext>
            </a:extLst>
          </p:cNvPr>
          <p:cNvGrpSpPr/>
          <p:nvPr/>
        </p:nvGrpSpPr>
        <p:grpSpPr>
          <a:xfrm>
            <a:off x="5757597" y="2244909"/>
            <a:ext cx="826086" cy="826324"/>
            <a:chOff x="1600003" y="1811018"/>
            <a:chExt cx="1641521" cy="1641995"/>
          </a:xfrm>
        </p:grpSpPr>
        <p:sp>
          <p:nvSpPr>
            <p:cNvPr id="54" name="Oval 17">
              <a:extLst>
                <a:ext uri="{FF2B5EF4-FFF2-40B4-BE49-F238E27FC236}">
                  <a16:creationId xmlns:a16="http://schemas.microsoft.com/office/drawing/2014/main" id="{D1F9B3A5-ED0E-A74E-7806-EB501D91D254}"/>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55" name="Group 54">
              <a:extLst>
                <a:ext uri="{FF2B5EF4-FFF2-40B4-BE49-F238E27FC236}">
                  <a16:creationId xmlns:a16="http://schemas.microsoft.com/office/drawing/2014/main" id="{0EFEA6A7-C1F2-F97D-AC7F-B4D2FF11E521}"/>
                </a:ext>
              </a:extLst>
            </p:cNvPr>
            <p:cNvGrpSpPr/>
            <p:nvPr/>
          </p:nvGrpSpPr>
          <p:grpSpPr>
            <a:xfrm>
              <a:off x="1714608" y="1927192"/>
              <a:ext cx="1412311" cy="1409646"/>
              <a:chOff x="1261672" y="4833937"/>
              <a:chExt cx="954296" cy="954297"/>
            </a:xfrm>
          </p:grpSpPr>
          <p:sp>
            <p:nvSpPr>
              <p:cNvPr id="56" name="Rectangle: Rounded Corners 55">
                <a:extLst>
                  <a:ext uri="{FF2B5EF4-FFF2-40B4-BE49-F238E27FC236}">
                    <a16:creationId xmlns:a16="http://schemas.microsoft.com/office/drawing/2014/main" id="{D8547EEE-89D4-A11A-559E-C73A35B6575B}"/>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57" name="Rectangle: Rounded Corners 56">
                <a:extLst>
                  <a:ext uri="{FF2B5EF4-FFF2-40B4-BE49-F238E27FC236}">
                    <a16:creationId xmlns:a16="http://schemas.microsoft.com/office/drawing/2014/main" id="{482D7BB0-6646-A365-80C0-D15EC9C48377}"/>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58" name="Content Placeholder 2">
            <a:extLst>
              <a:ext uri="{FF2B5EF4-FFF2-40B4-BE49-F238E27FC236}">
                <a16:creationId xmlns:a16="http://schemas.microsoft.com/office/drawing/2014/main" id="{76B1B02A-21D4-5528-7DBC-94320843F2B0}"/>
              </a:ext>
            </a:extLst>
          </p:cNvPr>
          <p:cNvSpPr txBox="1">
            <a:spLocks/>
          </p:cNvSpPr>
          <p:nvPr/>
        </p:nvSpPr>
        <p:spPr>
          <a:xfrm>
            <a:off x="5814230" y="2455233"/>
            <a:ext cx="710738" cy="39684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609630" fontAlgn="base">
              <a:spcBef>
                <a:spcPts val="1200"/>
              </a:spcBef>
              <a:spcAft>
                <a:spcPct val="0"/>
              </a:spcAft>
              <a:buNone/>
              <a:defRPr/>
            </a:pPr>
            <a:r>
              <a:rPr lang="en-US" sz="4000">
                <a:latin typeface="Segoe Sans Text Semibold"/>
              </a:rPr>
              <a:t>3</a:t>
            </a:r>
          </a:p>
        </p:txBody>
      </p:sp>
      <p:grpSp>
        <p:nvGrpSpPr>
          <p:cNvPr id="59" name="Group 58">
            <a:extLst>
              <a:ext uri="{FF2B5EF4-FFF2-40B4-BE49-F238E27FC236}">
                <a16:creationId xmlns:a16="http://schemas.microsoft.com/office/drawing/2014/main" id="{7956FB46-B571-AD12-416D-1388D20C037F}"/>
              </a:ext>
            </a:extLst>
          </p:cNvPr>
          <p:cNvGrpSpPr/>
          <p:nvPr/>
        </p:nvGrpSpPr>
        <p:grpSpPr>
          <a:xfrm>
            <a:off x="7506951" y="2244909"/>
            <a:ext cx="826086" cy="826324"/>
            <a:chOff x="1600003" y="1811018"/>
            <a:chExt cx="1641521" cy="1641995"/>
          </a:xfrm>
        </p:grpSpPr>
        <p:sp>
          <p:nvSpPr>
            <p:cNvPr id="60" name="Oval 17">
              <a:extLst>
                <a:ext uri="{FF2B5EF4-FFF2-40B4-BE49-F238E27FC236}">
                  <a16:creationId xmlns:a16="http://schemas.microsoft.com/office/drawing/2014/main" id="{CAE24575-4B88-CC39-D385-897E8500D1EF}"/>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61" name="Group 60">
              <a:extLst>
                <a:ext uri="{FF2B5EF4-FFF2-40B4-BE49-F238E27FC236}">
                  <a16:creationId xmlns:a16="http://schemas.microsoft.com/office/drawing/2014/main" id="{363B91F1-5E84-5F85-2ED8-09780501154B}"/>
                </a:ext>
              </a:extLst>
            </p:cNvPr>
            <p:cNvGrpSpPr/>
            <p:nvPr/>
          </p:nvGrpSpPr>
          <p:grpSpPr>
            <a:xfrm>
              <a:off x="1714608" y="1927192"/>
              <a:ext cx="1412311" cy="1409646"/>
              <a:chOff x="1261672" y="4833937"/>
              <a:chExt cx="954296" cy="954297"/>
            </a:xfrm>
          </p:grpSpPr>
          <p:sp>
            <p:nvSpPr>
              <p:cNvPr id="62" name="Rectangle: Rounded Corners 61">
                <a:extLst>
                  <a:ext uri="{FF2B5EF4-FFF2-40B4-BE49-F238E27FC236}">
                    <a16:creationId xmlns:a16="http://schemas.microsoft.com/office/drawing/2014/main" id="{99A4BC5C-4FE7-7980-A58B-B4BDA0185E31}"/>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63" name="Rectangle: Rounded Corners 62">
                <a:extLst>
                  <a:ext uri="{FF2B5EF4-FFF2-40B4-BE49-F238E27FC236}">
                    <a16:creationId xmlns:a16="http://schemas.microsoft.com/office/drawing/2014/main" id="{39369D6C-7C72-DAB8-681F-4B685662217C}"/>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64" name="Group 63">
            <a:extLst>
              <a:ext uri="{FF2B5EF4-FFF2-40B4-BE49-F238E27FC236}">
                <a16:creationId xmlns:a16="http://schemas.microsoft.com/office/drawing/2014/main" id="{BF0551B8-16EA-F8AA-5E79-A4AD54173692}"/>
              </a:ext>
            </a:extLst>
          </p:cNvPr>
          <p:cNvGrpSpPr/>
          <p:nvPr/>
        </p:nvGrpSpPr>
        <p:grpSpPr>
          <a:xfrm>
            <a:off x="9203664" y="2248303"/>
            <a:ext cx="826086" cy="826324"/>
            <a:chOff x="1600003" y="1811018"/>
            <a:chExt cx="1641521" cy="1641995"/>
          </a:xfrm>
        </p:grpSpPr>
        <p:sp>
          <p:nvSpPr>
            <p:cNvPr id="65" name="Oval 17">
              <a:extLst>
                <a:ext uri="{FF2B5EF4-FFF2-40B4-BE49-F238E27FC236}">
                  <a16:creationId xmlns:a16="http://schemas.microsoft.com/office/drawing/2014/main" id="{60672F5D-62D3-832F-914B-6D1036EA5E66}"/>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66" name="Group 65">
              <a:extLst>
                <a:ext uri="{FF2B5EF4-FFF2-40B4-BE49-F238E27FC236}">
                  <a16:creationId xmlns:a16="http://schemas.microsoft.com/office/drawing/2014/main" id="{17FD367B-0D3A-270C-4AD5-55B585DD4187}"/>
                </a:ext>
              </a:extLst>
            </p:cNvPr>
            <p:cNvGrpSpPr/>
            <p:nvPr/>
          </p:nvGrpSpPr>
          <p:grpSpPr>
            <a:xfrm>
              <a:off x="1714608" y="1927192"/>
              <a:ext cx="1412311" cy="1409646"/>
              <a:chOff x="1261672" y="4833937"/>
              <a:chExt cx="954296" cy="954297"/>
            </a:xfrm>
          </p:grpSpPr>
          <p:sp>
            <p:nvSpPr>
              <p:cNvPr id="67" name="Rectangle: Rounded Corners 66">
                <a:extLst>
                  <a:ext uri="{FF2B5EF4-FFF2-40B4-BE49-F238E27FC236}">
                    <a16:creationId xmlns:a16="http://schemas.microsoft.com/office/drawing/2014/main" id="{7D20B328-EE7B-05D1-D93D-F49D7536A9CA}"/>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68" name="Rectangle: Rounded Corners 67">
                <a:extLst>
                  <a:ext uri="{FF2B5EF4-FFF2-40B4-BE49-F238E27FC236}">
                    <a16:creationId xmlns:a16="http://schemas.microsoft.com/office/drawing/2014/main" id="{1B61C720-0BDA-C337-11AF-766E9EA7DCCF}"/>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69" name="Content Placeholder 2">
            <a:extLst>
              <a:ext uri="{FF2B5EF4-FFF2-40B4-BE49-F238E27FC236}">
                <a16:creationId xmlns:a16="http://schemas.microsoft.com/office/drawing/2014/main" id="{6F5A89A4-B375-6985-A173-F0B4BFF4D603}"/>
              </a:ext>
            </a:extLst>
          </p:cNvPr>
          <p:cNvSpPr txBox="1">
            <a:spLocks/>
          </p:cNvSpPr>
          <p:nvPr/>
        </p:nvSpPr>
        <p:spPr>
          <a:xfrm>
            <a:off x="7553419" y="2451851"/>
            <a:ext cx="710738" cy="39684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609630" fontAlgn="base">
              <a:spcBef>
                <a:spcPts val="1200"/>
              </a:spcBef>
              <a:spcAft>
                <a:spcPct val="0"/>
              </a:spcAft>
              <a:buNone/>
              <a:defRPr/>
            </a:pPr>
            <a:r>
              <a:rPr lang="en-US" sz="4000">
                <a:latin typeface="Segoe Sans Text Semibold"/>
              </a:rPr>
              <a:t>4</a:t>
            </a:r>
          </a:p>
        </p:txBody>
      </p:sp>
      <p:sp>
        <p:nvSpPr>
          <p:cNvPr id="70" name="Rectangle: Rounded Corners 69">
            <a:extLst>
              <a:ext uri="{FF2B5EF4-FFF2-40B4-BE49-F238E27FC236}">
                <a16:creationId xmlns:a16="http://schemas.microsoft.com/office/drawing/2014/main" id="{176DBAF1-9A68-A948-5B69-0991EE7A863D}"/>
              </a:ext>
            </a:extLst>
          </p:cNvPr>
          <p:cNvSpPr>
            <a:spLocks/>
          </p:cNvSpPr>
          <p:nvPr/>
        </p:nvSpPr>
        <p:spPr bwMode="auto">
          <a:xfrm>
            <a:off x="8804808" y="2666549"/>
            <a:ext cx="1620000"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71" name="Content Placeholder 2">
            <a:extLst>
              <a:ext uri="{FF2B5EF4-FFF2-40B4-BE49-F238E27FC236}">
                <a16:creationId xmlns:a16="http://schemas.microsoft.com/office/drawing/2014/main" id="{151366D3-4D36-4E8E-8DDD-18C4EFDBFC69}"/>
              </a:ext>
            </a:extLst>
          </p:cNvPr>
          <p:cNvSpPr txBox="1">
            <a:spLocks/>
          </p:cNvSpPr>
          <p:nvPr/>
        </p:nvSpPr>
        <p:spPr>
          <a:xfrm>
            <a:off x="9223041" y="2448465"/>
            <a:ext cx="710738" cy="39684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609630" fontAlgn="base">
              <a:spcBef>
                <a:spcPts val="1200"/>
              </a:spcBef>
              <a:spcAft>
                <a:spcPct val="0"/>
              </a:spcAft>
              <a:buNone/>
              <a:defRPr/>
            </a:pPr>
            <a:r>
              <a:rPr lang="en-US" sz="4000">
                <a:latin typeface="Segoe Sans Text Semibold"/>
              </a:rPr>
              <a:t>5</a:t>
            </a:r>
          </a:p>
        </p:txBody>
      </p:sp>
      <p:sp>
        <p:nvSpPr>
          <p:cNvPr id="72" name="Rectangle: Rounded Corners 71">
            <a:extLst>
              <a:ext uri="{FF2B5EF4-FFF2-40B4-BE49-F238E27FC236}">
                <a16:creationId xmlns:a16="http://schemas.microsoft.com/office/drawing/2014/main" id="{B744D3F1-0435-2C28-1511-2A7E8997FA29}"/>
              </a:ext>
            </a:extLst>
          </p:cNvPr>
          <p:cNvSpPr>
            <a:spLocks/>
          </p:cNvSpPr>
          <p:nvPr/>
        </p:nvSpPr>
        <p:spPr bwMode="auto">
          <a:xfrm>
            <a:off x="8761772" y="3250878"/>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a:solidFill>
                  <a:srgbClr val="FFFFFF"/>
                </a:solidFill>
                <a:cs typeface="Segoe Sans Text ExtraBold" pitchFamily="2" charset="0"/>
              </a:rPr>
              <a:t>Sophisticated</a:t>
            </a:r>
          </a:p>
        </p:txBody>
      </p:sp>
      <p:grpSp>
        <p:nvGrpSpPr>
          <p:cNvPr id="73" name="Group 72">
            <a:extLst>
              <a:ext uri="{FF2B5EF4-FFF2-40B4-BE49-F238E27FC236}">
                <a16:creationId xmlns:a16="http://schemas.microsoft.com/office/drawing/2014/main" id="{A4F89BC7-3BA6-F126-7DD1-899EBE31257D}"/>
              </a:ext>
            </a:extLst>
          </p:cNvPr>
          <p:cNvGrpSpPr/>
          <p:nvPr/>
        </p:nvGrpSpPr>
        <p:grpSpPr>
          <a:xfrm>
            <a:off x="8882097" y="3850643"/>
            <a:ext cx="1440000" cy="66330"/>
            <a:chOff x="704945" y="2877637"/>
            <a:chExt cx="3117755" cy="134578"/>
          </a:xfrm>
        </p:grpSpPr>
        <p:sp>
          <p:nvSpPr>
            <p:cNvPr id="74" name="Freeform: Shape 239">
              <a:extLst>
                <a:ext uri="{FF2B5EF4-FFF2-40B4-BE49-F238E27FC236}">
                  <a16:creationId xmlns:a16="http://schemas.microsoft.com/office/drawing/2014/main" id="{31D069BC-252F-E69A-A70A-05EAEFD0577E}"/>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75" name="Straight Connector 74">
              <a:extLst>
                <a:ext uri="{FF2B5EF4-FFF2-40B4-BE49-F238E27FC236}">
                  <a16:creationId xmlns:a16="http://schemas.microsoft.com/office/drawing/2014/main" id="{270890BC-D6E7-9478-46B7-0EC8340BA080}"/>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F1E3CD5-AF53-1A7D-CBF0-9AC01DCC136C}"/>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7" name="Rectangle: Rounded Corners 76">
            <a:extLst>
              <a:ext uri="{FF2B5EF4-FFF2-40B4-BE49-F238E27FC236}">
                <a16:creationId xmlns:a16="http://schemas.microsoft.com/office/drawing/2014/main" id="{2F07669F-CF98-7F3F-E998-C0BFA88622FB}"/>
              </a:ext>
            </a:extLst>
          </p:cNvPr>
          <p:cNvSpPr>
            <a:spLocks/>
          </p:cNvSpPr>
          <p:nvPr/>
        </p:nvSpPr>
        <p:spPr bwMode="auto">
          <a:xfrm>
            <a:off x="5249293" y="4070280"/>
            <a:ext cx="1787992" cy="1491853"/>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US" sz="1600">
                <a:solidFill>
                  <a:schemeClr val="bg1"/>
                </a:solidFill>
                <a:cs typeface="Segoe Sans Text ExtraBold" pitchFamily="2" charset="0"/>
              </a:rPr>
              <a:t>Retrieval Augmented Generation</a:t>
            </a:r>
          </a:p>
          <a:p>
            <a:pPr algn="ctr" defTabSz="932472" fontAlgn="base">
              <a:spcBef>
                <a:spcPct val="0"/>
              </a:spcBef>
              <a:spcAft>
                <a:spcPts val="800"/>
              </a:spcAft>
            </a:pPr>
            <a:endParaRPr lang="en-US" sz="1600">
              <a:solidFill>
                <a:schemeClr val="bg1"/>
              </a:solidFill>
              <a:cs typeface="Segoe Sans Text ExtraBold" pitchFamily="2" charset="0"/>
            </a:endParaRPr>
          </a:p>
          <a:p>
            <a:pPr algn="ctr" defTabSz="932472" fontAlgn="base">
              <a:spcBef>
                <a:spcPct val="0"/>
              </a:spcBef>
              <a:spcAft>
                <a:spcPts val="800"/>
              </a:spcAft>
            </a:pPr>
            <a:r>
              <a:rPr lang="en-US" sz="1600">
                <a:solidFill>
                  <a:schemeClr val="bg1"/>
                </a:solidFill>
                <a:cs typeface="Segoe Sans Text ExtraBold" pitchFamily="2" charset="0"/>
              </a:rPr>
              <a:t>Ex: Advanced Q&amp;A</a:t>
            </a:r>
          </a:p>
        </p:txBody>
      </p:sp>
      <p:cxnSp>
        <p:nvCxnSpPr>
          <p:cNvPr id="78" name="Straight Connector 77">
            <a:extLst>
              <a:ext uri="{FF2B5EF4-FFF2-40B4-BE49-F238E27FC236}">
                <a16:creationId xmlns:a16="http://schemas.microsoft.com/office/drawing/2014/main" id="{57AFFE7F-6929-A6BC-C18A-9B6DFB8F63A9}"/>
              </a:ext>
            </a:extLst>
          </p:cNvPr>
          <p:cNvCxnSpPr>
            <a:cxnSpLocks/>
          </p:cNvCxnSpPr>
          <p:nvPr/>
        </p:nvCxnSpPr>
        <p:spPr>
          <a:xfrm>
            <a:off x="8730164" y="2265987"/>
            <a:ext cx="0" cy="3426726"/>
          </a:xfrm>
          <a:prstGeom prst="line">
            <a:avLst/>
          </a:prstGeom>
          <a:ln w="9525">
            <a:solidFill>
              <a:schemeClr val="accent2">
                <a:lumMod val="40000"/>
                <a:lumOff val="60000"/>
                <a:alpha val="2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2549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40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nodeType="withEffect">
                                  <p:stCondLst>
                                    <p:cond delay="40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par>
                                <p:cTn id="11" presetID="16" presetClass="entr" presetSubtype="21" fill="hold" nodeType="withEffect">
                                  <p:stCondLst>
                                    <p:cond delay="400"/>
                                  </p:stCondLst>
                                  <p:childTnLst>
                                    <p:set>
                                      <p:cBhvr>
                                        <p:cTn id="12" dur="1" fill="hold">
                                          <p:stCondLst>
                                            <p:cond delay="0"/>
                                          </p:stCondLst>
                                        </p:cTn>
                                        <p:tgtEl>
                                          <p:spTgt spid="18"/>
                                        </p:tgtEl>
                                        <p:attrNameLst>
                                          <p:attrName>style.visibility</p:attrName>
                                        </p:attrNameLst>
                                      </p:cBhvr>
                                      <p:to>
                                        <p:strVal val="visible"/>
                                      </p:to>
                                    </p:set>
                                    <p:animEffect transition="in" filter="barn(inVertical)">
                                      <p:cBhvr>
                                        <p:cTn id="13" dur="500"/>
                                        <p:tgtEl>
                                          <p:spTgt spid="18"/>
                                        </p:tgtEl>
                                      </p:cBhvr>
                                    </p:animEffect>
                                  </p:childTnLst>
                                </p:cTn>
                              </p:par>
                              <p:par>
                                <p:cTn id="14" presetID="16" presetClass="entr" presetSubtype="21" fill="hold" nodeType="withEffect">
                                  <p:stCondLst>
                                    <p:cond delay="400"/>
                                  </p:stCondLst>
                                  <p:childTnLst>
                                    <p:set>
                                      <p:cBhvr>
                                        <p:cTn id="15" dur="1" fill="hold">
                                          <p:stCondLst>
                                            <p:cond delay="0"/>
                                          </p:stCondLst>
                                        </p:cTn>
                                        <p:tgtEl>
                                          <p:spTgt spid="22"/>
                                        </p:tgtEl>
                                        <p:attrNameLst>
                                          <p:attrName>style.visibility</p:attrName>
                                        </p:attrNameLst>
                                      </p:cBhvr>
                                      <p:to>
                                        <p:strVal val="visible"/>
                                      </p:to>
                                    </p:set>
                                    <p:animEffect transition="in" filter="barn(inVertical)">
                                      <p:cBhvr>
                                        <p:cTn id="16" dur="500"/>
                                        <p:tgtEl>
                                          <p:spTgt spid="22"/>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750"/>
                                        <p:tgtEl>
                                          <p:spTgt spid="33"/>
                                        </p:tgtEl>
                                      </p:cBhvr>
                                    </p:animEffect>
                                  </p:childTnLst>
                                </p:cTn>
                              </p:par>
                              <p:par>
                                <p:cTn id="20" presetID="42" presetClass="path" presetSubtype="0" decel="100000" fill="hold" grpId="1" nodeType="withEffect">
                                  <p:stCondLst>
                                    <p:cond delay="500"/>
                                  </p:stCondLst>
                                  <p:childTnLst>
                                    <p:animMotion origin="layout" path="M 6.25E-7 0.03889 L 6.25E-7 -4.44444E-6 " pathEditMode="relative" rAng="0" ptsTypes="AA">
                                      <p:cBhvr>
                                        <p:cTn id="21" dur="750" fill="hold"/>
                                        <p:tgtEl>
                                          <p:spTgt spid="33"/>
                                        </p:tgtEl>
                                        <p:attrNameLst>
                                          <p:attrName>ppt_x</p:attrName>
                                          <p:attrName>ppt_y</p:attrName>
                                        </p:attrNameLst>
                                      </p:cBhvr>
                                      <p:rCtr x="0" y="-1944"/>
                                    </p:animMotion>
                                  </p:childTnLst>
                                </p:cTn>
                              </p:par>
                              <p:par>
                                <p:cTn id="22" presetID="10" presetClass="entr" presetSubtype="0" fill="hold" grpId="0" nodeType="withEffect">
                                  <p:stCondLst>
                                    <p:cond delay="50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750"/>
                                        <p:tgtEl>
                                          <p:spTgt spid="34"/>
                                        </p:tgtEl>
                                      </p:cBhvr>
                                    </p:animEffect>
                                  </p:childTnLst>
                                </p:cTn>
                              </p:par>
                              <p:par>
                                <p:cTn id="25" presetID="42" presetClass="path" presetSubtype="0" decel="100000" fill="hold" grpId="1" nodeType="withEffect">
                                  <p:stCondLst>
                                    <p:cond delay="500"/>
                                  </p:stCondLst>
                                  <p:childTnLst>
                                    <p:animMotion origin="layout" path="M 2.70833E-6 0.03888 L 2.70833E-6 4.07407E-6 " pathEditMode="relative" rAng="0" ptsTypes="AA">
                                      <p:cBhvr>
                                        <p:cTn id="26" dur="750" fill="hold"/>
                                        <p:tgtEl>
                                          <p:spTgt spid="34"/>
                                        </p:tgtEl>
                                        <p:attrNameLst>
                                          <p:attrName>ppt_x</p:attrName>
                                          <p:attrName>ppt_y</p:attrName>
                                        </p:attrNameLst>
                                      </p:cBhvr>
                                      <p:rCtr x="0" y="-1944"/>
                                    </p:animMotion>
                                  </p:childTnLst>
                                </p:cTn>
                              </p:par>
                              <p:par>
                                <p:cTn id="27" presetID="10" presetClass="entr" presetSubtype="0" fill="hold" grpId="0" nodeType="withEffect">
                                  <p:stCondLst>
                                    <p:cond delay="5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750"/>
                                        <p:tgtEl>
                                          <p:spTgt spid="35"/>
                                        </p:tgtEl>
                                      </p:cBhvr>
                                    </p:animEffect>
                                  </p:childTnLst>
                                </p:cTn>
                              </p:par>
                              <p:par>
                                <p:cTn id="30" presetID="42" presetClass="path" presetSubtype="0" decel="100000" fill="hold" grpId="1" nodeType="withEffect">
                                  <p:stCondLst>
                                    <p:cond delay="500"/>
                                  </p:stCondLst>
                                  <p:childTnLst>
                                    <p:animMotion origin="layout" path="M -4.16667E-6 0.03889 L -4.16667E-6 -4.44444E-6 " pathEditMode="relative" rAng="0" ptsTypes="AA">
                                      <p:cBhvr>
                                        <p:cTn id="31" dur="750" fill="hold"/>
                                        <p:tgtEl>
                                          <p:spTgt spid="35"/>
                                        </p:tgtEl>
                                        <p:attrNameLst>
                                          <p:attrName>ppt_x</p:attrName>
                                          <p:attrName>ppt_y</p:attrName>
                                        </p:attrNameLst>
                                      </p:cBhvr>
                                      <p:rCtr x="0" y="-1944"/>
                                    </p:animMotion>
                                  </p:childTnLst>
                                </p:cTn>
                              </p:par>
                              <p:par>
                                <p:cTn id="32" presetID="10" presetClass="entr" presetSubtype="0" fill="hold" grpId="0" nodeType="withEffect">
                                  <p:stCondLst>
                                    <p:cond delay="50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750"/>
                                        <p:tgtEl>
                                          <p:spTgt spid="36"/>
                                        </p:tgtEl>
                                      </p:cBhvr>
                                    </p:animEffect>
                                  </p:childTnLst>
                                </p:cTn>
                              </p:par>
                              <p:par>
                                <p:cTn id="35" presetID="42" presetClass="path" presetSubtype="0" decel="100000" fill="hold" grpId="1" nodeType="withEffect">
                                  <p:stCondLst>
                                    <p:cond delay="500"/>
                                  </p:stCondLst>
                                  <p:childTnLst>
                                    <p:animMotion origin="layout" path="M 3.125E-6 0.03889 L 3.125E-6 -4.81481E-6 " pathEditMode="relative" rAng="0" ptsTypes="AA">
                                      <p:cBhvr>
                                        <p:cTn id="36" dur="750" fill="hold"/>
                                        <p:tgtEl>
                                          <p:spTgt spid="36"/>
                                        </p:tgtEl>
                                        <p:attrNameLst>
                                          <p:attrName>ppt_x</p:attrName>
                                          <p:attrName>ppt_y</p:attrName>
                                        </p:attrNameLst>
                                      </p:cBhvr>
                                      <p:rCtr x="0" y="-1944"/>
                                    </p:animMotion>
                                  </p:childTnLst>
                                </p:cTn>
                              </p:par>
                              <p:par>
                                <p:cTn id="37" presetID="10"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par>
                                <p:cTn id="40" presetID="6" presetClass="emph" presetSubtype="0" fill="hold" nodeType="withEffect">
                                  <p:stCondLst>
                                    <p:cond delay="0"/>
                                  </p:stCondLst>
                                  <p:childTnLst>
                                    <p:animScale>
                                      <p:cBhvr>
                                        <p:cTn id="41" dur="10" fill="hold"/>
                                        <p:tgtEl>
                                          <p:spTgt spid="5"/>
                                        </p:tgtEl>
                                      </p:cBhvr>
                                      <p:by x="125000" y="125000"/>
                                    </p:animScale>
                                  </p:childTnLst>
                                </p:cTn>
                              </p:par>
                              <p:par>
                                <p:cTn id="42" presetID="6" presetClass="emph" presetSubtype="0" decel="100000" fill="hold" nodeType="withEffect">
                                  <p:stCondLst>
                                    <p:cond delay="0"/>
                                  </p:stCondLst>
                                  <p:childTnLst>
                                    <p:animScale>
                                      <p:cBhvr>
                                        <p:cTn id="43" dur="750" fill="hold"/>
                                        <p:tgtEl>
                                          <p:spTgt spid="5"/>
                                        </p:tgtEl>
                                      </p:cBhvr>
                                      <p:by x="80000" y="80000"/>
                                    </p:animScale>
                                  </p:childTnLst>
                                </p:cTn>
                              </p:par>
                              <p:par>
                                <p:cTn id="44" presetID="10" presetClass="entr" presetSubtype="0" fill="hold" grpId="0" nodeType="withEffect">
                                  <p:stCondLst>
                                    <p:cond delay="25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750"/>
                                        <p:tgtEl>
                                          <p:spTgt spid="37"/>
                                        </p:tgtEl>
                                      </p:cBhvr>
                                    </p:animEffect>
                                  </p:childTnLst>
                                </p:cTn>
                              </p:par>
                              <p:par>
                                <p:cTn id="47" presetID="42" presetClass="path" presetSubtype="0" decel="100000" fill="hold" grpId="1" nodeType="withEffect">
                                  <p:stCondLst>
                                    <p:cond delay="250"/>
                                  </p:stCondLst>
                                  <p:childTnLst>
                                    <p:animMotion origin="layout" path="M 4.79167E-6 0.03888 L 4.79167E-6 4.44444E-6 " pathEditMode="relative" rAng="0" ptsTypes="AA">
                                      <p:cBhvr>
                                        <p:cTn id="48" dur="750" fill="hold"/>
                                        <p:tgtEl>
                                          <p:spTgt spid="37"/>
                                        </p:tgtEl>
                                        <p:attrNameLst>
                                          <p:attrName>ppt_x</p:attrName>
                                          <p:attrName>ppt_y</p:attrName>
                                        </p:attrNameLst>
                                      </p:cBhvr>
                                      <p:rCtr x="0" y="-1944"/>
                                    </p:animMotion>
                                  </p:childTnLst>
                                </p:cTn>
                              </p:par>
                              <p:par>
                                <p:cTn id="49" presetID="10" presetClass="entr" presetSubtype="0" fill="hold" grpId="0" nodeType="withEffect">
                                  <p:stCondLst>
                                    <p:cond delay="25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750"/>
                                        <p:tgtEl>
                                          <p:spTgt spid="38"/>
                                        </p:tgtEl>
                                      </p:cBhvr>
                                    </p:animEffect>
                                  </p:childTnLst>
                                </p:cTn>
                              </p:par>
                              <p:par>
                                <p:cTn id="52" presetID="42" presetClass="path" presetSubtype="0" decel="100000" fill="hold" grpId="1" nodeType="withEffect">
                                  <p:stCondLst>
                                    <p:cond delay="250"/>
                                  </p:stCondLst>
                                  <p:childTnLst>
                                    <p:animMotion origin="layout" path="M 2.08333E-7 0.03888 L 2.08333E-7 4.44444E-6 " pathEditMode="relative" rAng="0" ptsTypes="AA">
                                      <p:cBhvr>
                                        <p:cTn id="53" dur="750" fill="hold"/>
                                        <p:tgtEl>
                                          <p:spTgt spid="38"/>
                                        </p:tgtEl>
                                        <p:attrNameLst>
                                          <p:attrName>ppt_x</p:attrName>
                                          <p:attrName>ppt_y</p:attrName>
                                        </p:attrNameLst>
                                      </p:cBhvr>
                                      <p:rCtr x="0" y="-1944"/>
                                    </p:animMotion>
                                  </p:childTnLst>
                                </p:cTn>
                              </p:par>
                              <p:par>
                                <p:cTn id="54" presetID="10" presetClass="entr" presetSubtype="0" fill="hold" grpId="0" nodeType="withEffect">
                                  <p:stCondLst>
                                    <p:cond delay="250"/>
                                  </p:stCondLst>
                                  <p:childTnLst>
                                    <p:set>
                                      <p:cBhvr>
                                        <p:cTn id="55" dur="1" fill="hold">
                                          <p:stCondLst>
                                            <p:cond delay="0"/>
                                          </p:stCondLst>
                                        </p:cTn>
                                        <p:tgtEl>
                                          <p:spTgt spid="39"/>
                                        </p:tgtEl>
                                        <p:attrNameLst>
                                          <p:attrName>style.visibility</p:attrName>
                                        </p:attrNameLst>
                                      </p:cBhvr>
                                      <p:to>
                                        <p:strVal val="visible"/>
                                      </p:to>
                                    </p:set>
                                    <p:animEffect transition="in" filter="fade">
                                      <p:cBhvr>
                                        <p:cTn id="56" dur="750"/>
                                        <p:tgtEl>
                                          <p:spTgt spid="39"/>
                                        </p:tgtEl>
                                      </p:cBhvr>
                                    </p:animEffect>
                                  </p:childTnLst>
                                </p:cTn>
                              </p:par>
                              <p:par>
                                <p:cTn id="57" presetID="42" presetClass="path" presetSubtype="0" decel="100000" fill="hold" grpId="1" nodeType="withEffect">
                                  <p:stCondLst>
                                    <p:cond delay="250"/>
                                  </p:stCondLst>
                                  <p:childTnLst>
                                    <p:animMotion origin="layout" path="M -2.08333E-6 0.03888 L -2.08333E-6 4.44444E-6 " pathEditMode="relative" rAng="0" ptsTypes="AA">
                                      <p:cBhvr>
                                        <p:cTn id="58" dur="750" fill="hold"/>
                                        <p:tgtEl>
                                          <p:spTgt spid="39"/>
                                        </p:tgtEl>
                                        <p:attrNameLst>
                                          <p:attrName>ppt_x</p:attrName>
                                          <p:attrName>ppt_y</p:attrName>
                                        </p:attrNameLst>
                                      </p:cBhvr>
                                      <p:rCtr x="0" y="-1944"/>
                                    </p:animMotion>
                                  </p:childTnLst>
                                </p:cTn>
                              </p:par>
                              <p:par>
                                <p:cTn id="59" presetID="10" presetClass="entr" presetSubtype="0" fill="hold" grpId="0" nodeType="withEffect">
                                  <p:stCondLst>
                                    <p:cond delay="25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750"/>
                                        <p:tgtEl>
                                          <p:spTgt spid="40"/>
                                        </p:tgtEl>
                                      </p:cBhvr>
                                    </p:animEffect>
                                  </p:childTnLst>
                                </p:cTn>
                              </p:par>
                              <p:par>
                                <p:cTn id="62" presetID="42" presetClass="path" presetSubtype="0" decel="100000" fill="hold" grpId="1" nodeType="withEffect">
                                  <p:stCondLst>
                                    <p:cond delay="250"/>
                                  </p:stCondLst>
                                  <p:childTnLst>
                                    <p:animMotion origin="layout" path="M 4.58333E-6 0.03888 L 4.58333E-6 4.44444E-6 " pathEditMode="relative" rAng="0" ptsTypes="AA">
                                      <p:cBhvr>
                                        <p:cTn id="63" dur="750" fill="hold"/>
                                        <p:tgtEl>
                                          <p:spTgt spid="40"/>
                                        </p:tgtEl>
                                        <p:attrNameLst>
                                          <p:attrName>ppt_x</p:attrName>
                                          <p:attrName>ppt_y</p:attrName>
                                        </p:attrNameLst>
                                      </p:cBhvr>
                                      <p:rCtr x="0" y="-1944"/>
                                    </p:animMotion>
                                  </p:childTnLst>
                                </p:cTn>
                              </p:par>
                              <p:par>
                                <p:cTn id="64" presetID="10" presetClass="entr" presetSubtype="0" fill="hold" nodeType="withEffect">
                                  <p:stCondLst>
                                    <p:cond delay="25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750"/>
                                        <p:tgtEl>
                                          <p:spTgt spid="26"/>
                                        </p:tgtEl>
                                      </p:cBhvr>
                                    </p:animEffect>
                                  </p:childTnLst>
                                </p:cTn>
                              </p:par>
                              <p:par>
                                <p:cTn id="67" presetID="42" presetClass="path" presetSubtype="0" decel="100000" fill="hold" nodeType="withEffect">
                                  <p:stCondLst>
                                    <p:cond delay="250"/>
                                  </p:stCondLst>
                                  <p:childTnLst>
                                    <p:animMotion origin="layout" path="M 2.08333E-6 0.03889 L 2.08333E-6 0 " pathEditMode="relative" rAng="0" ptsTypes="AA">
                                      <p:cBhvr>
                                        <p:cTn id="68" dur="750" fill="hold"/>
                                        <p:tgtEl>
                                          <p:spTgt spid="26"/>
                                        </p:tgtEl>
                                        <p:attrNameLst>
                                          <p:attrName>ppt_x</p:attrName>
                                          <p:attrName>ppt_y</p:attrName>
                                        </p:attrNameLst>
                                      </p:cBhvr>
                                      <p:rCtr x="0" y="-1944"/>
                                    </p:animMotion>
                                  </p:childTnLst>
                                </p:cTn>
                              </p:par>
                              <p:par>
                                <p:cTn id="69" presetID="10" presetClass="entr" presetSubtype="0" fill="hold" grpId="0" nodeType="withEffect">
                                  <p:stCondLst>
                                    <p:cond delay="250"/>
                                  </p:stCondLst>
                                  <p:childTnLst>
                                    <p:set>
                                      <p:cBhvr>
                                        <p:cTn id="70" dur="1" fill="hold">
                                          <p:stCondLst>
                                            <p:cond delay="0"/>
                                          </p:stCondLst>
                                        </p:cTn>
                                        <p:tgtEl>
                                          <p:spTgt spid="9"/>
                                        </p:tgtEl>
                                        <p:attrNameLst>
                                          <p:attrName>style.visibility</p:attrName>
                                        </p:attrNameLst>
                                      </p:cBhvr>
                                      <p:to>
                                        <p:strVal val="visible"/>
                                      </p:to>
                                    </p:set>
                                    <p:animEffect transition="in" filter="fade">
                                      <p:cBhvr>
                                        <p:cTn id="71" dur="750"/>
                                        <p:tgtEl>
                                          <p:spTgt spid="9"/>
                                        </p:tgtEl>
                                      </p:cBhvr>
                                    </p:animEffect>
                                  </p:childTnLst>
                                </p:cTn>
                              </p:par>
                              <p:par>
                                <p:cTn id="72" presetID="42" presetClass="path" presetSubtype="0" decel="100000" fill="hold" grpId="1" nodeType="withEffect">
                                  <p:stCondLst>
                                    <p:cond delay="250"/>
                                  </p:stCondLst>
                                  <p:childTnLst>
                                    <p:animMotion origin="layout" path="M 4.16667E-6 0.03889 L 4.16667E-6 0 " pathEditMode="relative" rAng="0" ptsTypes="AA">
                                      <p:cBhvr>
                                        <p:cTn id="73" dur="750" fill="hold"/>
                                        <p:tgtEl>
                                          <p:spTgt spid="9"/>
                                        </p:tgtEl>
                                        <p:attrNameLst>
                                          <p:attrName>ppt_x</p:attrName>
                                          <p:attrName>ppt_y</p:attrName>
                                        </p:attrNameLst>
                                      </p:cBhvr>
                                      <p:rCtr x="0" y="-1944"/>
                                    </p:animMotion>
                                  </p:childTnLst>
                                </p:cTn>
                              </p:par>
                              <p:par>
                                <p:cTn id="74" presetID="10" presetClass="entr" presetSubtype="0" fill="hold" grpId="0" nodeType="withEffect">
                                  <p:stCondLst>
                                    <p:cond delay="250"/>
                                  </p:stCondLst>
                                  <p:childTnLst>
                                    <p:set>
                                      <p:cBhvr>
                                        <p:cTn id="75" dur="1" fill="hold">
                                          <p:stCondLst>
                                            <p:cond delay="0"/>
                                          </p:stCondLst>
                                        </p:cTn>
                                        <p:tgtEl>
                                          <p:spTgt spid="8"/>
                                        </p:tgtEl>
                                        <p:attrNameLst>
                                          <p:attrName>style.visibility</p:attrName>
                                        </p:attrNameLst>
                                      </p:cBhvr>
                                      <p:to>
                                        <p:strVal val="visible"/>
                                      </p:to>
                                    </p:set>
                                    <p:animEffect transition="in" filter="fade">
                                      <p:cBhvr>
                                        <p:cTn id="76" dur="750"/>
                                        <p:tgtEl>
                                          <p:spTgt spid="8"/>
                                        </p:tgtEl>
                                      </p:cBhvr>
                                    </p:animEffect>
                                  </p:childTnLst>
                                </p:cTn>
                              </p:par>
                              <p:par>
                                <p:cTn id="77" presetID="42" presetClass="path" presetSubtype="0" decel="100000" fill="hold" grpId="1" nodeType="withEffect">
                                  <p:stCondLst>
                                    <p:cond delay="250"/>
                                  </p:stCondLst>
                                  <p:childTnLst>
                                    <p:animMotion origin="layout" path="M 5E-6 0.03889 L 5E-6 0 " pathEditMode="relative" rAng="0" ptsTypes="AA">
                                      <p:cBhvr>
                                        <p:cTn id="78" dur="750" fill="hold"/>
                                        <p:tgtEl>
                                          <p:spTgt spid="8"/>
                                        </p:tgtEl>
                                        <p:attrNameLst>
                                          <p:attrName>ppt_x</p:attrName>
                                          <p:attrName>ppt_y</p:attrName>
                                        </p:attrNameLst>
                                      </p:cBhvr>
                                      <p:rCtr x="0" y="-1944"/>
                                    </p:animMotion>
                                  </p:childTnLst>
                                </p:cTn>
                              </p:par>
                              <p:par>
                                <p:cTn id="79" presetID="22" presetClass="entr" presetSubtype="1" fill="hold" nodeType="withEffect">
                                  <p:stCondLst>
                                    <p:cond delay="500"/>
                                  </p:stCondLst>
                                  <p:childTnLst>
                                    <p:set>
                                      <p:cBhvr>
                                        <p:cTn id="80" dur="1" fill="hold">
                                          <p:stCondLst>
                                            <p:cond delay="0"/>
                                          </p:stCondLst>
                                        </p:cTn>
                                        <p:tgtEl>
                                          <p:spTgt spid="29"/>
                                        </p:tgtEl>
                                        <p:attrNameLst>
                                          <p:attrName>style.visibility</p:attrName>
                                        </p:attrNameLst>
                                      </p:cBhvr>
                                      <p:to>
                                        <p:strVal val="visible"/>
                                      </p:to>
                                    </p:set>
                                    <p:animEffect transition="in" filter="wipe(up)">
                                      <p:cBhvr>
                                        <p:cTn id="81" dur="500"/>
                                        <p:tgtEl>
                                          <p:spTgt spid="29"/>
                                        </p:tgtEl>
                                      </p:cBhvr>
                                    </p:animEffect>
                                  </p:childTnLst>
                                </p:cTn>
                              </p:par>
                              <p:par>
                                <p:cTn id="82" presetID="23" presetClass="entr" presetSubtype="272" fill="hold" nodeType="withEffect">
                                  <p:stCondLst>
                                    <p:cond delay="0"/>
                                  </p:stCondLst>
                                  <p:childTnLst>
                                    <p:set>
                                      <p:cBhvr>
                                        <p:cTn id="83" dur="1" fill="hold">
                                          <p:stCondLst>
                                            <p:cond delay="0"/>
                                          </p:stCondLst>
                                        </p:cTn>
                                        <p:tgtEl>
                                          <p:spTgt spid="41"/>
                                        </p:tgtEl>
                                        <p:attrNameLst>
                                          <p:attrName>style.visibility</p:attrName>
                                        </p:attrNameLst>
                                      </p:cBhvr>
                                      <p:to>
                                        <p:strVal val="visible"/>
                                      </p:to>
                                    </p:set>
                                    <p:anim calcmode="lin" valueType="num">
                                      <p:cBhvr>
                                        <p:cTn id="84" dur="250" fill="hold"/>
                                        <p:tgtEl>
                                          <p:spTgt spid="41"/>
                                        </p:tgtEl>
                                        <p:attrNameLst>
                                          <p:attrName>ppt_w</p:attrName>
                                        </p:attrNameLst>
                                      </p:cBhvr>
                                      <p:tavLst>
                                        <p:tav tm="0">
                                          <p:val>
                                            <p:strVal val="2/3*#ppt_w"/>
                                          </p:val>
                                        </p:tav>
                                        <p:tav tm="100000">
                                          <p:val>
                                            <p:strVal val="#ppt_w"/>
                                          </p:val>
                                        </p:tav>
                                      </p:tavLst>
                                    </p:anim>
                                    <p:anim calcmode="lin" valueType="num">
                                      <p:cBhvr>
                                        <p:cTn id="85" dur="250" fill="hold"/>
                                        <p:tgtEl>
                                          <p:spTgt spid="41"/>
                                        </p:tgtEl>
                                        <p:attrNameLst>
                                          <p:attrName>ppt_h</p:attrName>
                                        </p:attrNameLst>
                                      </p:cBhvr>
                                      <p:tavLst>
                                        <p:tav tm="0">
                                          <p:val>
                                            <p:strVal val="2/3*#ppt_h"/>
                                          </p:val>
                                        </p:tav>
                                        <p:tav tm="100000">
                                          <p:val>
                                            <p:strVal val="#ppt_h"/>
                                          </p:val>
                                        </p:tav>
                                      </p:tavLst>
                                    </p:anim>
                                  </p:childTnLst>
                                </p:cTn>
                              </p:par>
                              <p:par>
                                <p:cTn id="86" presetID="10" presetClass="entr" presetSubtype="0" fill="hold" nodeType="withEffect">
                                  <p:stCondLst>
                                    <p:cond delay="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500"/>
                                        <p:tgtEl>
                                          <p:spTgt spid="41"/>
                                        </p:tgtEl>
                                      </p:cBhvr>
                                    </p:animEffect>
                                  </p:childTnLst>
                                </p:cTn>
                              </p:par>
                              <p:par>
                                <p:cTn id="89" presetID="6" presetClass="emph" presetSubtype="0" fill="hold" nodeType="withEffect">
                                  <p:stCondLst>
                                    <p:cond delay="0"/>
                                  </p:stCondLst>
                                  <p:childTnLst>
                                    <p:animScale>
                                      <p:cBhvr>
                                        <p:cTn id="90" dur="10" fill="hold"/>
                                        <p:tgtEl>
                                          <p:spTgt spid="41"/>
                                        </p:tgtEl>
                                      </p:cBhvr>
                                      <p:by x="80000" y="80000"/>
                                    </p:animScale>
                                  </p:childTnLst>
                                </p:cTn>
                              </p:par>
                              <p:par>
                                <p:cTn id="91" presetID="6" presetClass="emph" presetSubtype="0" decel="100000" fill="hold" nodeType="withEffect">
                                  <p:stCondLst>
                                    <p:cond delay="0"/>
                                  </p:stCondLst>
                                  <p:childTnLst>
                                    <p:animScale>
                                      <p:cBhvr>
                                        <p:cTn id="92" dur="1000" fill="hold"/>
                                        <p:tgtEl>
                                          <p:spTgt spid="41"/>
                                        </p:tgtEl>
                                      </p:cBhvr>
                                      <p:by x="125000" y="125000"/>
                                    </p:animScale>
                                  </p:childTnLst>
                                </p:cTn>
                              </p:par>
                              <p:par>
                                <p:cTn id="93" presetID="23" presetClass="entr" presetSubtype="272" fill="hold" grpId="0" nodeType="withEffect">
                                  <p:stCondLst>
                                    <p:cond delay="250"/>
                                  </p:stCondLst>
                                  <p:childTnLst>
                                    <p:set>
                                      <p:cBhvr>
                                        <p:cTn id="94" dur="1" fill="hold">
                                          <p:stCondLst>
                                            <p:cond delay="0"/>
                                          </p:stCondLst>
                                        </p:cTn>
                                        <p:tgtEl>
                                          <p:spTgt spid="46"/>
                                        </p:tgtEl>
                                        <p:attrNameLst>
                                          <p:attrName>style.visibility</p:attrName>
                                        </p:attrNameLst>
                                      </p:cBhvr>
                                      <p:to>
                                        <p:strVal val="visible"/>
                                      </p:to>
                                    </p:set>
                                    <p:anim calcmode="lin" valueType="num">
                                      <p:cBhvr>
                                        <p:cTn id="95" dur="250" fill="hold"/>
                                        <p:tgtEl>
                                          <p:spTgt spid="46"/>
                                        </p:tgtEl>
                                        <p:attrNameLst>
                                          <p:attrName>ppt_w</p:attrName>
                                        </p:attrNameLst>
                                      </p:cBhvr>
                                      <p:tavLst>
                                        <p:tav tm="0">
                                          <p:val>
                                            <p:strVal val="2/3*#ppt_w"/>
                                          </p:val>
                                        </p:tav>
                                        <p:tav tm="100000">
                                          <p:val>
                                            <p:strVal val="#ppt_w"/>
                                          </p:val>
                                        </p:tav>
                                      </p:tavLst>
                                    </p:anim>
                                    <p:anim calcmode="lin" valueType="num">
                                      <p:cBhvr>
                                        <p:cTn id="96" dur="250" fill="hold"/>
                                        <p:tgtEl>
                                          <p:spTgt spid="46"/>
                                        </p:tgtEl>
                                        <p:attrNameLst>
                                          <p:attrName>ppt_h</p:attrName>
                                        </p:attrNameLst>
                                      </p:cBhvr>
                                      <p:tavLst>
                                        <p:tav tm="0">
                                          <p:val>
                                            <p:strVal val="2/3*#ppt_h"/>
                                          </p:val>
                                        </p:tav>
                                        <p:tav tm="100000">
                                          <p:val>
                                            <p:strVal val="#ppt_h"/>
                                          </p:val>
                                        </p:tav>
                                      </p:tavLst>
                                    </p:anim>
                                  </p:childTnLst>
                                </p:cTn>
                              </p:par>
                              <p:par>
                                <p:cTn id="97" presetID="10" presetClass="entr" presetSubtype="0" fill="hold" grpId="1" nodeType="withEffect">
                                  <p:stCondLst>
                                    <p:cond delay="250"/>
                                  </p:stCondLst>
                                  <p:childTnLst>
                                    <p:set>
                                      <p:cBhvr>
                                        <p:cTn id="98" dur="1" fill="hold">
                                          <p:stCondLst>
                                            <p:cond delay="0"/>
                                          </p:stCondLst>
                                        </p:cTn>
                                        <p:tgtEl>
                                          <p:spTgt spid="46"/>
                                        </p:tgtEl>
                                        <p:attrNameLst>
                                          <p:attrName>style.visibility</p:attrName>
                                        </p:attrNameLst>
                                      </p:cBhvr>
                                      <p:to>
                                        <p:strVal val="visible"/>
                                      </p:to>
                                    </p:set>
                                    <p:animEffect transition="in" filter="fade">
                                      <p:cBhvr>
                                        <p:cTn id="99" dur="500"/>
                                        <p:tgtEl>
                                          <p:spTgt spid="46"/>
                                        </p:tgtEl>
                                      </p:cBhvr>
                                    </p:animEffect>
                                  </p:childTnLst>
                                </p:cTn>
                              </p:par>
                              <p:par>
                                <p:cTn id="100" presetID="6" presetClass="emph" presetSubtype="0" fill="hold" grpId="2" nodeType="withEffect">
                                  <p:stCondLst>
                                    <p:cond delay="250"/>
                                  </p:stCondLst>
                                  <p:childTnLst>
                                    <p:animScale>
                                      <p:cBhvr>
                                        <p:cTn id="101" dur="10" fill="hold"/>
                                        <p:tgtEl>
                                          <p:spTgt spid="46"/>
                                        </p:tgtEl>
                                      </p:cBhvr>
                                      <p:by x="80000" y="80000"/>
                                    </p:animScale>
                                  </p:childTnLst>
                                </p:cTn>
                              </p:par>
                              <p:par>
                                <p:cTn id="102" presetID="6" presetClass="emph" presetSubtype="0" decel="100000" fill="hold" grpId="3" nodeType="withEffect">
                                  <p:stCondLst>
                                    <p:cond delay="250"/>
                                  </p:stCondLst>
                                  <p:childTnLst>
                                    <p:animScale>
                                      <p:cBhvr>
                                        <p:cTn id="103" dur="1000" fill="hold"/>
                                        <p:tgtEl>
                                          <p:spTgt spid="46"/>
                                        </p:tgtEl>
                                      </p:cBhvr>
                                      <p:by x="125000" y="125000"/>
                                    </p:animScale>
                                  </p:childTnLst>
                                </p:cTn>
                              </p:par>
                              <p:par>
                                <p:cTn id="104" presetID="23" presetClass="entr" presetSubtype="272" fill="hold" nodeType="withEffect">
                                  <p:stCondLst>
                                    <p:cond delay="0"/>
                                  </p:stCondLst>
                                  <p:childTnLst>
                                    <p:set>
                                      <p:cBhvr>
                                        <p:cTn id="105" dur="1" fill="hold">
                                          <p:stCondLst>
                                            <p:cond delay="0"/>
                                          </p:stCondLst>
                                        </p:cTn>
                                        <p:tgtEl>
                                          <p:spTgt spid="47"/>
                                        </p:tgtEl>
                                        <p:attrNameLst>
                                          <p:attrName>style.visibility</p:attrName>
                                        </p:attrNameLst>
                                      </p:cBhvr>
                                      <p:to>
                                        <p:strVal val="visible"/>
                                      </p:to>
                                    </p:set>
                                    <p:anim calcmode="lin" valueType="num">
                                      <p:cBhvr>
                                        <p:cTn id="106" dur="250" fill="hold"/>
                                        <p:tgtEl>
                                          <p:spTgt spid="47"/>
                                        </p:tgtEl>
                                        <p:attrNameLst>
                                          <p:attrName>ppt_w</p:attrName>
                                        </p:attrNameLst>
                                      </p:cBhvr>
                                      <p:tavLst>
                                        <p:tav tm="0">
                                          <p:val>
                                            <p:strVal val="2/3*#ppt_w"/>
                                          </p:val>
                                        </p:tav>
                                        <p:tav tm="100000">
                                          <p:val>
                                            <p:strVal val="#ppt_w"/>
                                          </p:val>
                                        </p:tav>
                                      </p:tavLst>
                                    </p:anim>
                                    <p:anim calcmode="lin" valueType="num">
                                      <p:cBhvr>
                                        <p:cTn id="107" dur="250" fill="hold"/>
                                        <p:tgtEl>
                                          <p:spTgt spid="47"/>
                                        </p:tgtEl>
                                        <p:attrNameLst>
                                          <p:attrName>ppt_h</p:attrName>
                                        </p:attrNameLst>
                                      </p:cBhvr>
                                      <p:tavLst>
                                        <p:tav tm="0">
                                          <p:val>
                                            <p:strVal val="2/3*#ppt_h"/>
                                          </p:val>
                                        </p:tav>
                                        <p:tav tm="100000">
                                          <p:val>
                                            <p:strVal val="#ppt_h"/>
                                          </p:val>
                                        </p:tav>
                                      </p:tavLst>
                                    </p:anim>
                                  </p:childTnLst>
                                </p:cTn>
                              </p:par>
                              <p:par>
                                <p:cTn id="108" presetID="10" presetClass="entr" presetSubtype="0" fill="hold" nodeType="withEffect">
                                  <p:stCondLst>
                                    <p:cond delay="0"/>
                                  </p:stCondLst>
                                  <p:childTnLst>
                                    <p:set>
                                      <p:cBhvr>
                                        <p:cTn id="109" dur="1" fill="hold">
                                          <p:stCondLst>
                                            <p:cond delay="0"/>
                                          </p:stCondLst>
                                        </p:cTn>
                                        <p:tgtEl>
                                          <p:spTgt spid="47"/>
                                        </p:tgtEl>
                                        <p:attrNameLst>
                                          <p:attrName>style.visibility</p:attrName>
                                        </p:attrNameLst>
                                      </p:cBhvr>
                                      <p:to>
                                        <p:strVal val="visible"/>
                                      </p:to>
                                    </p:set>
                                    <p:animEffect transition="in" filter="fade">
                                      <p:cBhvr>
                                        <p:cTn id="110" dur="500"/>
                                        <p:tgtEl>
                                          <p:spTgt spid="47"/>
                                        </p:tgtEl>
                                      </p:cBhvr>
                                    </p:animEffect>
                                  </p:childTnLst>
                                </p:cTn>
                              </p:par>
                              <p:par>
                                <p:cTn id="111" presetID="6" presetClass="emph" presetSubtype="0" fill="hold" nodeType="withEffect">
                                  <p:stCondLst>
                                    <p:cond delay="0"/>
                                  </p:stCondLst>
                                  <p:childTnLst>
                                    <p:animScale>
                                      <p:cBhvr>
                                        <p:cTn id="112" dur="10" fill="hold"/>
                                        <p:tgtEl>
                                          <p:spTgt spid="47"/>
                                        </p:tgtEl>
                                      </p:cBhvr>
                                      <p:by x="80000" y="80000"/>
                                    </p:animScale>
                                  </p:childTnLst>
                                </p:cTn>
                              </p:par>
                              <p:par>
                                <p:cTn id="113" presetID="6" presetClass="emph" presetSubtype="0" decel="100000" fill="hold" nodeType="withEffect">
                                  <p:stCondLst>
                                    <p:cond delay="0"/>
                                  </p:stCondLst>
                                  <p:childTnLst>
                                    <p:animScale>
                                      <p:cBhvr>
                                        <p:cTn id="114" dur="1000" fill="hold"/>
                                        <p:tgtEl>
                                          <p:spTgt spid="47"/>
                                        </p:tgtEl>
                                      </p:cBhvr>
                                      <p:by x="125000" y="125000"/>
                                    </p:animScale>
                                  </p:childTnLst>
                                </p:cTn>
                              </p:par>
                              <p:par>
                                <p:cTn id="115" presetID="23" presetClass="entr" presetSubtype="272" fill="hold" grpId="0" nodeType="withEffect">
                                  <p:stCondLst>
                                    <p:cond delay="250"/>
                                  </p:stCondLst>
                                  <p:childTnLst>
                                    <p:set>
                                      <p:cBhvr>
                                        <p:cTn id="116" dur="1" fill="hold">
                                          <p:stCondLst>
                                            <p:cond delay="0"/>
                                          </p:stCondLst>
                                        </p:cTn>
                                        <p:tgtEl>
                                          <p:spTgt spid="52"/>
                                        </p:tgtEl>
                                        <p:attrNameLst>
                                          <p:attrName>style.visibility</p:attrName>
                                        </p:attrNameLst>
                                      </p:cBhvr>
                                      <p:to>
                                        <p:strVal val="visible"/>
                                      </p:to>
                                    </p:set>
                                    <p:anim calcmode="lin" valueType="num">
                                      <p:cBhvr>
                                        <p:cTn id="117" dur="250" fill="hold"/>
                                        <p:tgtEl>
                                          <p:spTgt spid="52"/>
                                        </p:tgtEl>
                                        <p:attrNameLst>
                                          <p:attrName>ppt_w</p:attrName>
                                        </p:attrNameLst>
                                      </p:cBhvr>
                                      <p:tavLst>
                                        <p:tav tm="0">
                                          <p:val>
                                            <p:strVal val="2/3*#ppt_w"/>
                                          </p:val>
                                        </p:tav>
                                        <p:tav tm="100000">
                                          <p:val>
                                            <p:strVal val="#ppt_w"/>
                                          </p:val>
                                        </p:tav>
                                      </p:tavLst>
                                    </p:anim>
                                    <p:anim calcmode="lin" valueType="num">
                                      <p:cBhvr>
                                        <p:cTn id="118" dur="250" fill="hold"/>
                                        <p:tgtEl>
                                          <p:spTgt spid="52"/>
                                        </p:tgtEl>
                                        <p:attrNameLst>
                                          <p:attrName>ppt_h</p:attrName>
                                        </p:attrNameLst>
                                      </p:cBhvr>
                                      <p:tavLst>
                                        <p:tav tm="0">
                                          <p:val>
                                            <p:strVal val="2/3*#ppt_h"/>
                                          </p:val>
                                        </p:tav>
                                        <p:tav tm="100000">
                                          <p:val>
                                            <p:strVal val="#ppt_h"/>
                                          </p:val>
                                        </p:tav>
                                      </p:tavLst>
                                    </p:anim>
                                  </p:childTnLst>
                                </p:cTn>
                              </p:par>
                              <p:par>
                                <p:cTn id="119" presetID="10" presetClass="entr" presetSubtype="0" fill="hold" grpId="1" nodeType="withEffect">
                                  <p:stCondLst>
                                    <p:cond delay="250"/>
                                  </p:stCondLst>
                                  <p:childTnLst>
                                    <p:set>
                                      <p:cBhvr>
                                        <p:cTn id="120" dur="1" fill="hold">
                                          <p:stCondLst>
                                            <p:cond delay="0"/>
                                          </p:stCondLst>
                                        </p:cTn>
                                        <p:tgtEl>
                                          <p:spTgt spid="52"/>
                                        </p:tgtEl>
                                        <p:attrNameLst>
                                          <p:attrName>style.visibility</p:attrName>
                                        </p:attrNameLst>
                                      </p:cBhvr>
                                      <p:to>
                                        <p:strVal val="visible"/>
                                      </p:to>
                                    </p:set>
                                    <p:animEffect transition="in" filter="fade">
                                      <p:cBhvr>
                                        <p:cTn id="121" dur="500"/>
                                        <p:tgtEl>
                                          <p:spTgt spid="52"/>
                                        </p:tgtEl>
                                      </p:cBhvr>
                                    </p:animEffect>
                                  </p:childTnLst>
                                </p:cTn>
                              </p:par>
                              <p:par>
                                <p:cTn id="122" presetID="6" presetClass="emph" presetSubtype="0" fill="hold" grpId="2" nodeType="withEffect">
                                  <p:stCondLst>
                                    <p:cond delay="250"/>
                                  </p:stCondLst>
                                  <p:childTnLst>
                                    <p:animScale>
                                      <p:cBhvr>
                                        <p:cTn id="123" dur="10" fill="hold"/>
                                        <p:tgtEl>
                                          <p:spTgt spid="52"/>
                                        </p:tgtEl>
                                      </p:cBhvr>
                                      <p:by x="80000" y="80000"/>
                                    </p:animScale>
                                  </p:childTnLst>
                                </p:cTn>
                              </p:par>
                              <p:par>
                                <p:cTn id="124" presetID="6" presetClass="emph" presetSubtype="0" decel="100000" fill="hold" grpId="3" nodeType="withEffect">
                                  <p:stCondLst>
                                    <p:cond delay="250"/>
                                  </p:stCondLst>
                                  <p:childTnLst>
                                    <p:animScale>
                                      <p:cBhvr>
                                        <p:cTn id="125" dur="1000" fill="hold"/>
                                        <p:tgtEl>
                                          <p:spTgt spid="52"/>
                                        </p:tgtEl>
                                      </p:cBhvr>
                                      <p:by x="125000" y="125000"/>
                                    </p:animScale>
                                  </p:childTnLst>
                                </p:cTn>
                              </p:par>
                              <p:par>
                                <p:cTn id="126" presetID="23" presetClass="entr" presetSubtype="272" fill="hold" nodeType="withEffect">
                                  <p:stCondLst>
                                    <p:cond delay="0"/>
                                  </p:stCondLst>
                                  <p:childTnLst>
                                    <p:set>
                                      <p:cBhvr>
                                        <p:cTn id="127" dur="1" fill="hold">
                                          <p:stCondLst>
                                            <p:cond delay="0"/>
                                          </p:stCondLst>
                                        </p:cTn>
                                        <p:tgtEl>
                                          <p:spTgt spid="53"/>
                                        </p:tgtEl>
                                        <p:attrNameLst>
                                          <p:attrName>style.visibility</p:attrName>
                                        </p:attrNameLst>
                                      </p:cBhvr>
                                      <p:to>
                                        <p:strVal val="visible"/>
                                      </p:to>
                                    </p:set>
                                    <p:anim calcmode="lin" valueType="num">
                                      <p:cBhvr>
                                        <p:cTn id="128" dur="250" fill="hold"/>
                                        <p:tgtEl>
                                          <p:spTgt spid="53"/>
                                        </p:tgtEl>
                                        <p:attrNameLst>
                                          <p:attrName>ppt_w</p:attrName>
                                        </p:attrNameLst>
                                      </p:cBhvr>
                                      <p:tavLst>
                                        <p:tav tm="0">
                                          <p:val>
                                            <p:strVal val="2/3*#ppt_w"/>
                                          </p:val>
                                        </p:tav>
                                        <p:tav tm="100000">
                                          <p:val>
                                            <p:strVal val="#ppt_w"/>
                                          </p:val>
                                        </p:tav>
                                      </p:tavLst>
                                    </p:anim>
                                    <p:anim calcmode="lin" valueType="num">
                                      <p:cBhvr>
                                        <p:cTn id="129" dur="250" fill="hold"/>
                                        <p:tgtEl>
                                          <p:spTgt spid="53"/>
                                        </p:tgtEl>
                                        <p:attrNameLst>
                                          <p:attrName>ppt_h</p:attrName>
                                        </p:attrNameLst>
                                      </p:cBhvr>
                                      <p:tavLst>
                                        <p:tav tm="0">
                                          <p:val>
                                            <p:strVal val="2/3*#ppt_h"/>
                                          </p:val>
                                        </p:tav>
                                        <p:tav tm="100000">
                                          <p:val>
                                            <p:strVal val="#ppt_h"/>
                                          </p:val>
                                        </p:tav>
                                      </p:tavLst>
                                    </p:anim>
                                  </p:childTnLst>
                                </p:cTn>
                              </p:par>
                              <p:par>
                                <p:cTn id="130" presetID="10" presetClass="entr" presetSubtype="0" fill="hold" nodeType="withEffect">
                                  <p:stCondLst>
                                    <p:cond delay="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2" dur="500"/>
                                        <p:tgtEl>
                                          <p:spTgt spid="53"/>
                                        </p:tgtEl>
                                      </p:cBhvr>
                                    </p:animEffect>
                                  </p:childTnLst>
                                </p:cTn>
                              </p:par>
                              <p:par>
                                <p:cTn id="133" presetID="6" presetClass="emph" presetSubtype="0" fill="hold" nodeType="withEffect">
                                  <p:stCondLst>
                                    <p:cond delay="0"/>
                                  </p:stCondLst>
                                  <p:childTnLst>
                                    <p:animScale>
                                      <p:cBhvr>
                                        <p:cTn id="134" dur="10" fill="hold"/>
                                        <p:tgtEl>
                                          <p:spTgt spid="53"/>
                                        </p:tgtEl>
                                      </p:cBhvr>
                                      <p:by x="80000" y="80000"/>
                                    </p:animScale>
                                  </p:childTnLst>
                                </p:cTn>
                              </p:par>
                              <p:par>
                                <p:cTn id="135" presetID="6" presetClass="emph" presetSubtype="0" decel="100000" fill="hold" nodeType="withEffect">
                                  <p:stCondLst>
                                    <p:cond delay="0"/>
                                  </p:stCondLst>
                                  <p:childTnLst>
                                    <p:animScale>
                                      <p:cBhvr>
                                        <p:cTn id="136" dur="1000" fill="hold"/>
                                        <p:tgtEl>
                                          <p:spTgt spid="53"/>
                                        </p:tgtEl>
                                      </p:cBhvr>
                                      <p:by x="125000" y="125000"/>
                                    </p:animScale>
                                  </p:childTnLst>
                                </p:cTn>
                              </p:par>
                              <p:par>
                                <p:cTn id="137" presetID="23" presetClass="entr" presetSubtype="272" fill="hold" grpId="0" nodeType="withEffect">
                                  <p:stCondLst>
                                    <p:cond delay="250"/>
                                  </p:stCondLst>
                                  <p:childTnLst>
                                    <p:set>
                                      <p:cBhvr>
                                        <p:cTn id="138" dur="1" fill="hold">
                                          <p:stCondLst>
                                            <p:cond delay="0"/>
                                          </p:stCondLst>
                                        </p:cTn>
                                        <p:tgtEl>
                                          <p:spTgt spid="58"/>
                                        </p:tgtEl>
                                        <p:attrNameLst>
                                          <p:attrName>style.visibility</p:attrName>
                                        </p:attrNameLst>
                                      </p:cBhvr>
                                      <p:to>
                                        <p:strVal val="visible"/>
                                      </p:to>
                                    </p:set>
                                    <p:anim calcmode="lin" valueType="num">
                                      <p:cBhvr>
                                        <p:cTn id="139" dur="250" fill="hold"/>
                                        <p:tgtEl>
                                          <p:spTgt spid="58"/>
                                        </p:tgtEl>
                                        <p:attrNameLst>
                                          <p:attrName>ppt_w</p:attrName>
                                        </p:attrNameLst>
                                      </p:cBhvr>
                                      <p:tavLst>
                                        <p:tav tm="0">
                                          <p:val>
                                            <p:strVal val="2/3*#ppt_w"/>
                                          </p:val>
                                        </p:tav>
                                        <p:tav tm="100000">
                                          <p:val>
                                            <p:strVal val="#ppt_w"/>
                                          </p:val>
                                        </p:tav>
                                      </p:tavLst>
                                    </p:anim>
                                    <p:anim calcmode="lin" valueType="num">
                                      <p:cBhvr>
                                        <p:cTn id="140" dur="250" fill="hold"/>
                                        <p:tgtEl>
                                          <p:spTgt spid="58"/>
                                        </p:tgtEl>
                                        <p:attrNameLst>
                                          <p:attrName>ppt_h</p:attrName>
                                        </p:attrNameLst>
                                      </p:cBhvr>
                                      <p:tavLst>
                                        <p:tav tm="0">
                                          <p:val>
                                            <p:strVal val="2/3*#ppt_h"/>
                                          </p:val>
                                        </p:tav>
                                        <p:tav tm="100000">
                                          <p:val>
                                            <p:strVal val="#ppt_h"/>
                                          </p:val>
                                        </p:tav>
                                      </p:tavLst>
                                    </p:anim>
                                  </p:childTnLst>
                                </p:cTn>
                              </p:par>
                              <p:par>
                                <p:cTn id="141" presetID="10" presetClass="entr" presetSubtype="0" fill="hold" grpId="1" nodeType="withEffect">
                                  <p:stCondLst>
                                    <p:cond delay="250"/>
                                  </p:stCondLst>
                                  <p:childTnLst>
                                    <p:set>
                                      <p:cBhvr>
                                        <p:cTn id="142" dur="1" fill="hold">
                                          <p:stCondLst>
                                            <p:cond delay="0"/>
                                          </p:stCondLst>
                                        </p:cTn>
                                        <p:tgtEl>
                                          <p:spTgt spid="58"/>
                                        </p:tgtEl>
                                        <p:attrNameLst>
                                          <p:attrName>style.visibility</p:attrName>
                                        </p:attrNameLst>
                                      </p:cBhvr>
                                      <p:to>
                                        <p:strVal val="visible"/>
                                      </p:to>
                                    </p:set>
                                    <p:animEffect transition="in" filter="fade">
                                      <p:cBhvr>
                                        <p:cTn id="143" dur="500"/>
                                        <p:tgtEl>
                                          <p:spTgt spid="58"/>
                                        </p:tgtEl>
                                      </p:cBhvr>
                                    </p:animEffect>
                                  </p:childTnLst>
                                </p:cTn>
                              </p:par>
                              <p:par>
                                <p:cTn id="144" presetID="6" presetClass="emph" presetSubtype="0" fill="hold" grpId="2" nodeType="withEffect">
                                  <p:stCondLst>
                                    <p:cond delay="250"/>
                                  </p:stCondLst>
                                  <p:childTnLst>
                                    <p:animScale>
                                      <p:cBhvr>
                                        <p:cTn id="145" dur="10" fill="hold"/>
                                        <p:tgtEl>
                                          <p:spTgt spid="58"/>
                                        </p:tgtEl>
                                      </p:cBhvr>
                                      <p:by x="80000" y="80000"/>
                                    </p:animScale>
                                  </p:childTnLst>
                                </p:cTn>
                              </p:par>
                              <p:par>
                                <p:cTn id="146" presetID="6" presetClass="emph" presetSubtype="0" decel="100000" fill="hold" grpId="3" nodeType="withEffect">
                                  <p:stCondLst>
                                    <p:cond delay="250"/>
                                  </p:stCondLst>
                                  <p:childTnLst>
                                    <p:animScale>
                                      <p:cBhvr>
                                        <p:cTn id="147" dur="1000" fill="hold"/>
                                        <p:tgtEl>
                                          <p:spTgt spid="58"/>
                                        </p:tgtEl>
                                      </p:cBhvr>
                                      <p:by x="125000" y="125000"/>
                                    </p:animScale>
                                  </p:childTnLst>
                                </p:cTn>
                              </p:par>
                              <p:par>
                                <p:cTn id="148" presetID="23" presetClass="entr" presetSubtype="272" fill="hold" nodeType="withEffect">
                                  <p:stCondLst>
                                    <p:cond delay="0"/>
                                  </p:stCondLst>
                                  <p:childTnLst>
                                    <p:set>
                                      <p:cBhvr>
                                        <p:cTn id="149" dur="1" fill="hold">
                                          <p:stCondLst>
                                            <p:cond delay="0"/>
                                          </p:stCondLst>
                                        </p:cTn>
                                        <p:tgtEl>
                                          <p:spTgt spid="59"/>
                                        </p:tgtEl>
                                        <p:attrNameLst>
                                          <p:attrName>style.visibility</p:attrName>
                                        </p:attrNameLst>
                                      </p:cBhvr>
                                      <p:to>
                                        <p:strVal val="visible"/>
                                      </p:to>
                                    </p:set>
                                    <p:anim calcmode="lin" valueType="num">
                                      <p:cBhvr>
                                        <p:cTn id="150" dur="250" fill="hold"/>
                                        <p:tgtEl>
                                          <p:spTgt spid="59"/>
                                        </p:tgtEl>
                                        <p:attrNameLst>
                                          <p:attrName>ppt_w</p:attrName>
                                        </p:attrNameLst>
                                      </p:cBhvr>
                                      <p:tavLst>
                                        <p:tav tm="0">
                                          <p:val>
                                            <p:strVal val="2/3*#ppt_w"/>
                                          </p:val>
                                        </p:tav>
                                        <p:tav tm="100000">
                                          <p:val>
                                            <p:strVal val="#ppt_w"/>
                                          </p:val>
                                        </p:tav>
                                      </p:tavLst>
                                    </p:anim>
                                    <p:anim calcmode="lin" valueType="num">
                                      <p:cBhvr>
                                        <p:cTn id="151" dur="250" fill="hold"/>
                                        <p:tgtEl>
                                          <p:spTgt spid="59"/>
                                        </p:tgtEl>
                                        <p:attrNameLst>
                                          <p:attrName>ppt_h</p:attrName>
                                        </p:attrNameLst>
                                      </p:cBhvr>
                                      <p:tavLst>
                                        <p:tav tm="0">
                                          <p:val>
                                            <p:strVal val="2/3*#ppt_h"/>
                                          </p:val>
                                        </p:tav>
                                        <p:tav tm="100000">
                                          <p:val>
                                            <p:strVal val="#ppt_h"/>
                                          </p:val>
                                        </p:tav>
                                      </p:tavLst>
                                    </p:anim>
                                  </p:childTnLst>
                                </p:cTn>
                              </p:par>
                              <p:par>
                                <p:cTn id="152" presetID="10" presetClass="entr" presetSubtype="0" fill="hold" nodeType="withEffect">
                                  <p:stCondLst>
                                    <p:cond delay="0"/>
                                  </p:stCondLst>
                                  <p:childTnLst>
                                    <p:set>
                                      <p:cBhvr>
                                        <p:cTn id="153" dur="1" fill="hold">
                                          <p:stCondLst>
                                            <p:cond delay="0"/>
                                          </p:stCondLst>
                                        </p:cTn>
                                        <p:tgtEl>
                                          <p:spTgt spid="59"/>
                                        </p:tgtEl>
                                        <p:attrNameLst>
                                          <p:attrName>style.visibility</p:attrName>
                                        </p:attrNameLst>
                                      </p:cBhvr>
                                      <p:to>
                                        <p:strVal val="visible"/>
                                      </p:to>
                                    </p:set>
                                    <p:animEffect transition="in" filter="fade">
                                      <p:cBhvr>
                                        <p:cTn id="154" dur="500"/>
                                        <p:tgtEl>
                                          <p:spTgt spid="59"/>
                                        </p:tgtEl>
                                      </p:cBhvr>
                                    </p:animEffect>
                                  </p:childTnLst>
                                </p:cTn>
                              </p:par>
                              <p:par>
                                <p:cTn id="155" presetID="6" presetClass="emph" presetSubtype="0" fill="hold" nodeType="withEffect">
                                  <p:stCondLst>
                                    <p:cond delay="0"/>
                                  </p:stCondLst>
                                  <p:childTnLst>
                                    <p:animScale>
                                      <p:cBhvr>
                                        <p:cTn id="156" dur="10" fill="hold"/>
                                        <p:tgtEl>
                                          <p:spTgt spid="59"/>
                                        </p:tgtEl>
                                      </p:cBhvr>
                                      <p:by x="80000" y="80000"/>
                                    </p:animScale>
                                  </p:childTnLst>
                                </p:cTn>
                              </p:par>
                              <p:par>
                                <p:cTn id="157" presetID="6" presetClass="emph" presetSubtype="0" decel="100000" fill="hold" nodeType="withEffect">
                                  <p:stCondLst>
                                    <p:cond delay="0"/>
                                  </p:stCondLst>
                                  <p:childTnLst>
                                    <p:animScale>
                                      <p:cBhvr>
                                        <p:cTn id="158" dur="1000" fill="hold"/>
                                        <p:tgtEl>
                                          <p:spTgt spid="59"/>
                                        </p:tgtEl>
                                      </p:cBhvr>
                                      <p:by x="125000" y="125000"/>
                                    </p:animScale>
                                  </p:childTnLst>
                                </p:cTn>
                              </p:par>
                              <p:par>
                                <p:cTn id="159" presetID="23" presetClass="entr" presetSubtype="272" fill="hold" nodeType="withEffect">
                                  <p:stCondLst>
                                    <p:cond delay="0"/>
                                  </p:stCondLst>
                                  <p:childTnLst>
                                    <p:set>
                                      <p:cBhvr>
                                        <p:cTn id="160" dur="1" fill="hold">
                                          <p:stCondLst>
                                            <p:cond delay="0"/>
                                          </p:stCondLst>
                                        </p:cTn>
                                        <p:tgtEl>
                                          <p:spTgt spid="64"/>
                                        </p:tgtEl>
                                        <p:attrNameLst>
                                          <p:attrName>style.visibility</p:attrName>
                                        </p:attrNameLst>
                                      </p:cBhvr>
                                      <p:to>
                                        <p:strVal val="visible"/>
                                      </p:to>
                                    </p:set>
                                    <p:anim calcmode="lin" valueType="num">
                                      <p:cBhvr>
                                        <p:cTn id="161" dur="250" fill="hold"/>
                                        <p:tgtEl>
                                          <p:spTgt spid="64"/>
                                        </p:tgtEl>
                                        <p:attrNameLst>
                                          <p:attrName>ppt_w</p:attrName>
                                        </p:attrNameLst>
                                      </p:cBhvr>
                                      <p:tavLst>
                                        <p:tav tm="0">
                                          <p:val>
                                            <p:strVal val="2/3*#ppt_w"/>
                                          </p:val>
                                        </p:tav>
                                        <p:tav tm="100000">
                                          <p:val>
                                            <p:strVal val="#ppt_w"/>
                                          </p:val>
                                        </p:tav>
                                      </p:tavLst>
                                    </p:anim>
                                    <p:anim calcmode="lin" valueType="num">
                                      <p:cBhvr>
                                        <p:cTn id="162" dur="250" fill="hold"/>
                                        <p:tgtEl>
                                          <p:spTgt spid="64"/>
                                        </p:tgtEl>
                                        <p:attrNameLst>
                                          <p:attrName>ppt_h</p:attrName>
                                        </p:attrNameLst>
                                      </p:cBhvr>
                                      <p:tavLst>
                                        <p:tav tm="0">
                                          <p:val>
                                            <p:strVal val="2/3*#ppt_h"/>
                                          </p:val>
                                        </p:tav>
                                        <p:tav tm="100000">
                                          <p:val>
                                            <p:strVal val="#ppt_h"/>
                                          </p:val>
                                        </p:tav>
                                      </p:tavLst>
                                    </p:anim>
                                  </p:childTnLst>
                                </p:cTn>
                              </p:par>
                              <p:par>
                                <p:cTn id="163" presetID="10" presetClass="entr" presetSubtype="0" fill="hold" nodeType="withEffect">
                                  <p:stCondLst>
                                    <p:cond delay="0"/>
                                  </p:stCondLst>
                                  <p:childTnLst>
                                    <p:set>
                                      <p:cBhvr>
                                        <p:cTn id="164" dur="1" fill="hold">
                                          <p:stCondLst>
                                            <p:cond delay="0"/>
                                          </p:stCondLst>
                                        </p:cTn>
                                        <p:tgtEl>
                                          <p:spTgt spid="64"/>
                                        </p:tgtEl>
                                        <p:attrNameLst>
                                          <p:attrName>style.visibility</p:attrName>
                                        </p:attrNameLst>
                                      </p:cBhvr>
                                      <p:to>
                                        <p:strVal val="visible"/>
                                      </p:to>
                                    </p:set>
                                    <p:animEffect transition="in" filter="fade">
                                      <p:cBhvr>
                                        <p:cTn id="165" dur="500"/>
                                        <p:tgtEl>
                                          <p:spTgt spid="64"/>
                                        </p:tgtEl>
                                      </p:cBhvr>
                                    </p:animEffect>
                                  </p:childTnLst>
                                </p:cTn>
                              </p:par>
                              <p:par>
                                <p:cTn id="166" presetID="6" presetClass="emph" presetSubtype="0" fill="hold" nodeType="withEffect">
                                  <p:stCondLst>
                                    <p:cond delay="0"/>
                                  </p:stCondLst>
                                  <p:childTnLst>
                                    <p:animScale>
                                      <p:cBhvr>
                                        <p:cTn id="167" dur="10" fill="hold"/>
                                        <p:tgtEl>
                                          <p:spTgt spid="64"/>
                                        </p:tgtEl>
                                      </p:cBhvr>
                                      <p:by x="80000" y="80000"/>
                                    </p:animScale>
                                  </p:childTnLst>
                                </p:cTn>
                              </p:par>
                              <p:par>
                                <p:cTn id="168" presetID="6" presetClass="emph" presetSubtype="0" decel="100000" fill="hold" nodeType="withEffect">
                                  <p:stCondLst>
                                    <p:cond delay="0"/>
                                  </p:stCondLst>
                                  <p:childTnLst>
                                    <p:animScale>
                                      <p:cBhvr>
                                        <p:cTn id="169" dur="1000" fill="hold"/>
                                        <p:tgtEl>
                                          <p:spTgt spid="64"/>
                                        </p:tgtEl>
                                      </p:cBhvr>
                                      <p:by x="125000" y="125000"/>
                                    </p:animScale>
                                  </p:childTnLst>
                                </p:cTn>
                              </p:par>
                              <p:par>
                                <p:cTn id="170" presetID="23" presetClass="entr" presetSubtype="272" fill="hold" grpId="0" nodeType="withEffect">
                                  <p:stCondLst>
                                    <p:cond delay="250"/>
                                  </p:stCondLst>
                                  <p:childTnLst>
                                    <p:set>
                                      <p:cBhvr>
                                        <p:cTn id="171" dur="1" fill="hold">
                                          <p:stCondLst>
                                            <p:cond delay="0"/>
                                          </p:stCondLst>
                                        </p:cTn>
                                        <p:tgtEl>
                                          <p:spTgt spid="69"/>
                                        </p:tgtEl>
                                        <p:attrNameLst>
                                          <p:attrName>style.visibility</p:attrName>
                                        </p:attrNameLst>
                                      </p:cBhvr>
                                      <p:to>
                                        <p:strVal val="visible"/>
                                      </p:to>
                                    </p:set>
                                    <p:anim calcmode="lin" valueType="num">
                                      <p:cBhvr>
                                        <p:cTn id="172" dur="250" fill="hold"/>
                                        <p:tgtEl>
                                          <p:spTgt spid="69"/>
                                        </p:tgtEl>
                                        <p:attrNameLst>
                                          <p:attrName>ppt_w</p:attrName>
                                        </p:attrNameLst>
                                      </p:cBhvr>
                                      <p:tavLst>
                                        <p:tav tm="0">
                                          <p:val>
                                            <p:strVal val="2/3*#ppt_w"/>
                                          </p:val>
                                        </p:tav>
                                        <p:tav tm="100000">
                                          <p:val>
                                            <p:strVal val="#ppt_w"/>
                                          </p:val>
                                        </p:tav>
                                      </p:tavLst>
                                    </p:anim>
                                    <p:anim calcmode="lin" valueType="num">
                                      <p:cBhvr>
                                        <p:cTn id="173" dur="250" fill="hold"/>
                                        <p:tgtEl>
                                          <p:spTgt spid="69"/>
                                        </p:tgtEl>
                                        <p:attrNameLst>
                                          <p:attrName>ppt_h</p:attrName>
                                        </p:attrNameLst>
                                      </p:cBhvr>
                                      <p:tavLst>
                                        <p:tav tm="0">
                                          <p:val>
                                            <p:strVal val="2/3*#ppt_h"/>
                                          </p:val>
                                        </p:tav>
                                        <p:tav tm="100000">
                                          <p:val>
                                            <p:strVal val="#ppt_h"/>
                                          </p:val>
                                        </p:tav>
                                      </p:tavLst>
                                    </p:anim>
                                  </p:childTnLst>
                                </p:cTn>
                              </p:par>
                              <p:par>
                                <p:cTn id="174" presetID="10" presetClass="entr" presetSubtype="0" fill="hold" grpId="1" nodeType="withEffect">
                                  <p:stCondLst>
                                    <p:cond delay="250"/>
                                  </p:stCondLst>
                                  <p:childTnLst>
                                    <p:set>
                                      <p:cBhvr>
                                        <p:cTn id="175" dur="1" fill="hold">
                                          <p:stCondLst>
                                            <p:cond delay="0"/>
                                          </p:stCondLst>
                                        </p:cTn>
                                        <p:tgtEl>
                                          <p:spTgt spid="69"/>
                                        </p:tgtEl>
                                        <p:attrNameLst>
                                          <p:attrName>style.visibility</p:attrName>
                                        </p:attrNameLst>
                                      </p:cBhvr>
                                      <p:to>
                                        <p:strVal val="visible"/>
                                      </p:to>
                                    </p:set>
                                    <p:animEffect transition="in" filter="fade">
                                      <p:cBhvr>
                                        <p:cTn id="176" dur="500"/>
                                        <p:tgtEl>
                                          <p:spTgt spid="69"/>
                                        </p:tgtEl>
                                      </p:cBhvr>
                                    </p:animEffect>
                                  </p:childTnLst>
                                </p:cTn>
                              </p:par>
                              <p:par>
                                <p:cTn id="177" presetID="6" presetClass="emph" presetSubtype="0" fill="hold" grpId="2" nodeType="withEffect">
                                  <p:stCondLst>
                                    <p:cond delay="250"/>
                                  </p:stCondLst>
                                  <p:childTnLst>
                                    <p:animScale>
                                      <p:cBhvr>
                                        <p:cTn id="178" dur="10" fill="hold"/>
                                        <p:tgtEl>
                                          <p:spTgt spid="69"/>
                                        </p:tgtEl>
                                      </p:cBhvr>
                                      <p:by x="80000" y="80000"/>
                                    </p:animScale>
                                  </p:childTnLst>
                                </p:cTn>
                              </p:par>
                              <p:par>
                                <p:cTn id="179" presetID="6" presetClass="emph" presetSubtype="0" decel="100000" fill="hold" grpId="3" nodeType="withEffect">
                                  <p:stCondLst>
                                    <p:cond delay="250"/>
                                  </p:stCondLst>
                                  <p:childTnLst>
                                    <p:animScale>
                                      <p:cBhvr>
                                        <p:cTn id="180" dur="1000" fill="hold"/>
                                        <p:tgtEl>
                                          <p:spTgt spid="69"/>
                                        </p:tgtEl>
                                      </p:cBhvr>
                                      <p:by x="125000" y="125000"/>
                                    </p:animScale>
                                  </p:childTnLst>
                                </p:cTn>
                              </p:par>
                              <p:par>
                                <p:cTn id="181" presetID="23" presetClass="entr" presetSubtype="272" fill="hold" grpId="0" nodeType="withEffect">
                                  <p:stCondLst>
                                    <p:cond delay="250"/>
                                  </p:stCondLst>
                                  <p:childTnLst>
                                    <p:set>
                                      <p:cBhvr>
                                        <p:cTn id="182" dur="1" fill="hold">
                                          <p:stCondLst>
                                            <p:cond delay="0"/>
                                          </p:stCondLst>
                                        </p:cTn>
                                        <p:tgtEl>
                                          <p:spTgt spid="71"/>
                                        </p:tgtEl>
                                        <p:attrNameLst>
                                          <p:attrName>style.visibility</p:attrName>
                                        </p:attrNameLst>
                                      </p:cBhvr>
                                      <p:to>
                                        <p:strVal val="visible"/>
                                      </p:to>
                                    </p:set>
                                    <p:anim calcmode="lin" valueType="num">
                                      <p:cBhvr>
                                        <p:cTn id="183" dur="250" fill="hold"/>
                                        <p:tgtEl>
                                          <p:spTgt spid="71"/>
                                        </p:tgtEl>
                                        <p:attrNameLst>
                                          <p:attrName>ppt_w</p:attrName>
                                        </p:attrNameLst>
                                      </p:cBhvr>
                                      <p:tavLst>
                                        <p:tav tm="0">
                                          <p:val>
                                            <p:strVal val="2/3*#ppt_w"/>
                                          </p:val>
                                        </p:tav>
                                        <p:tav tm="100000">
                                          <p:val>
                                            <p:strVal val="#ppt_w"/>
                                          </p:val>
                                        </p:tav>
                                      </p:tavLst>
                                    </p:anim>
                                    <p:anim calcmode="lin" valueType="num">
                                      <p:cBhvr>
                                        <p:cTn id="184" dur="250" fill="hold"/>
                                        <p:tgtEl>
                                          <p:spTgt spid="71"/>
                                        </p:tgtEl>
                                        <p:attrNameLst>
                                          <p:attrName>ppt_h</p:attrName>
                                        </p:attrNameLst>
                                      </p:cBhvr>
                                      <p:tavLst>
                                        <p:tav tm="0">
                                          <p:val>
                                            <p:strVal val="2/3*#ppt_h"/>
                                          </p:val>
                                        </p:tav>
                                        <p:tav tm="100000">
                                          <p:val>
                                            <p:strVal val="#ppt_h"/>
                                          </p:val>
                                        </p:tav>
                                      </p:tavLst>
                                    </p:anim>
                                  </p:childTnLst>
                                </p:cTn>
                              </p:par>
                              <p:par>
                                <p:cTn id="185" presetID="10" presetClass="entr" presetSubtype="0" fill="hold" grpId="1" nodeType="withEffect">
                                  <p:stCondLst>
                                    <p:cond delay="250"/>
                                  </p:stCondLst>
                                  <p:childTnLst>
                                    <p:set>
                                      <p:cBhvr>
                                        <p:cTn id="186" dur="1" fill="hold">
                                          <p:stCondLst>
                                            <p:cond delay="0"/>
                                          </p:stCondLst>
                                        </p:cTn>
                                        <p:tgtEl>
                                          <p:spTgt spid="71"/>
                                        </p:tgtEl>
                                        <p:attrNameLst>
                                          <p:attrName>style.visibility</p:attrName>
                                        </p:attrNameLst>
                                      </p:cBhvr>
                                      <p:to>
                                        <p:strVal val="visible"/>
                                      </p:to>
                                    </p:set>
                                    <p:animEffect transition="in" filter="fade">
                                      <p:cBhvr>
                                        <p:cTn id="187" dur="500"/>
                                        <p:tgtEl>
                                          <p:spTgt spid="71"/>
                                        </p:tgtEl>
                                      </p:cBhvr>
                                    </p:animEffect>
                                  </p:childTnLst>
                                </p:cTn>
                              </p:par>
                              <p:par>
                                <p:cTn id="188" presetID="6" presetClass="emph" presetSubtype="0" fill="hold" grpId="2" nodeType="withEffect">
                                  <p:stCondLst>
                                    <p:cond delay="250"/>
                                  </p:stCondLst>
                                  <p:childTnLst>
                                    <p:animScale>
                                      <p:cBhvr>
                                        <p:cTn id="189" dur="10" fill="hold"/>
                                        <p:tgtEl>
                                          <p:spTgt spid="71"/>
                                        </p:tgtEl>
                                      </p:cBhvr>
                                      <p:by x="80000" y="80000"/>
                                    </p:animScale>
                                  </p:childTnLst>
                                </p:cTn>
                              </p:par>
                              <p:par>
                                <p:cTn id="190" presetID="6" presetClass="emph" presetSubtype="0" decel="100000" fill="hold" grpId="3" nodeType="withEffect">
                                  <p:stCondLst>
                                    <p:cond delay="250"/>
                                  </p:stCondLst>
                                  <p:childTnLst>
                                    <p:animScale>
                                      <p:cBhvr>
                                        <p:cTn id="191" dur="1000" fill="hold"/>
                                        <p:tgtEl>
                                          <p:spTgt spid="71"/>
                                        </p:tgtEl>
                                      </p:cBhvr>
                                      <p:by x="125000" y="125000"/>
                                    </p:animScale>
                                  </p:childTnLst>
                                </p:cTn>
                              </p:par>
                              <p:par>
                                <p:cTn id="192" presetID="10" presetClass="entr" presetSubtype="0" fill="hold" grpId="0" nodeType="withEffect">
                                  <p:stCondLst>
                                    <p:cond delay="250"/>
                                  </p:stCondLst>
                                  <p:childTnLst>
                                    <p:set>
                                      <p:cBhvr>
                                        <p:cTn id="193" dur="1" fill="hold">
                                          <p:stCondLst>
                                            <p:cond delay="0"/>
                                          </p:stCondLst>
                                        </p:cTn>
                                        <p:tgtEl>
                                          <p:spTgt spid="72"/>
                                        </p:tgtEl>
                                        <p:attrNameLst>
                                          <p:attrName>style.visibility</p:attrName>
                                        </p:attrNameLst>
                                      </p:cBhvr>
                                      <p:to>
                                        <p:strVal val="visible"/>
                                      </p:to>
                                    </p:set>
                                    <p:animEffect transition="in" filter="fade">
                                      <p:cBhvr>
                                        <p:cTn id="194" dur="750"/>
                                        <p:tgtEl>
                                          <p:spTgt spid="72"/>
                                        </p:tgtEl>
                                      </p:cBhvr>
                                    </p:animEffect>
                                  </p:childTnLst>
                                </p:cTn>
                              </p:par>
                              <p:par>
                                <p:cTn id="195" presetID="42" presetClass="path" presetSubtype="0" decel="100000" fill="hold" grpId="1" nodeType="withEffect">
                                  <p:stCondLst>
                                    <p:cond delay="250"/>
                                  </p:stCondLst>
                                  <p:childTnLst>
                                    <p:animMotion origin="layout" path="M 2.70833E-6 0.03889 L 2.70833E-6 -2.59259E-6 " pathEditMode="relative" rAng="0" ptsTypes="AA">
                                      <p:cBhvr>
                                        <p:cTn id="196" dur="750" fill="hold"/>
                                        <p:tgtEl>
                                          <p:spTgt spid="72"/>
                                        </p:tgtEl>
                                        <p:attrNameLst>
                                          <p:attrName>ppt_x</p:attrName>
                                          <p:attrName>ppt_y</p:attrName>
                                        </p:attrNameLst>
                                      </p:cBhvr>
                                      <p:rCtr x="0" y="-1944"/>
                                    </p:animMotion>
                                  </p:childTnLst>
                                </p:cTn>
                              </p:par>
                              <p:par>
                                <p:cTn id="197" presetID="16" presetClass="entr" presetSubtype="21" fill="hold" nodeType="withEffect">
                                  <p:stCondLst>
                                    <p:cond delay="400"/>
                                  </p:stCondLst>
                                  <p:childTnLst>
                                    <p:set>
                                      <p:cBhvr>
                                        <p:cTn id="198" dur="1" fill="hold">
                                          <p:stCondLst>
                                            <p:cond delay="0"/>
                                          </p:stCondLst>
                                        </p:cTn>
                                        <p:tgtEl>
                                          <p:spTgt spid="73"/>
                                        </p:tgtEl>
                                        <p:attrNameLst>
                                          <p:attrName>style.visibility</p:attrName>
                                        </p:attrNameLst>
                                      </p:cBhvr>
                                      <p:to>
                                        <p:strVal val="visible"/>
                                      </p:to>
                                    </p:set>
                                    <p:animEffect transition="in" filter="barn(inVertical)">
                                      <p:cBhvr>
                                        <p:cTn id="199" dur="500"/>
                                        <p:tgtEl>
                                          <p:spTgt spid="73"/>
                                        </p:tgtEl>
                                      </p:cBhvr>
                                    </p:animEffect>
                                  </p:childTnLst>
                                </p:cTn>
                              </p:par>
                              <p:par>
                                <p:cTn id="200" presetID="10" presetClass="entr" presetSubtype="0" fill="hold" grpId="0" nodeType="withEffect">
                                  <p:stCondLst>
                                    <p:cond delay="500"/>
                                  </p:stCondLst>
                                  <p:childTnLst>
                                    <p:set>
                                      <p:cBhvr>
                                        <p:cTn id="201" dur="1" fill="hold">
                                          <p:stCondLst>
                                            <p:cond delay="0"/>
                                          </p:stCondLst>
                                        </p:cTn>
                                        <p:tgtEl>
                                          <p:spTgt spid="77"/>
                                        </p:tgtEl>
                                        <p:attrNameLst>
                                          <p:attrName>style.visibility</p:attrName>
                                        </p:attrNameLst>
                                      </p:cBhvr>
                                      <p:to>
                                        <p:strVal val="visible"/>
                                      </p:to>
                                    </p:set>
                                    <p:animEffect transition="in" filter="fade">
                                      <p:cBhvr>
                                        <p:cTn id="202" dur="750"/>
                                        <p:tgtEl>
                                          <p:spTgt spid="77"/>
                                        </p:tgtEl>
                                      </p:cBhvr>
                                    </p:animEffect>
                                  </p:childTnLst>
                                </p:cTn>
                              </p:par>
                              <p:par>
                                <p:cTn id="203" presetID="42" presetClass="path" presetSubtype="0" decel="100000" fill="hold" grpId="1" nodeType="withEffect">
                                  <p:stCondLst>
                                    <p:cond delay="500"/>
                                  </p:stCondLst>
                                  <p:childTnLst>
                                    <p:animMotion origin="layout" path="M 3.75E-6 0.03889 L 3.75E-6 -4.81481E-6 " pathEditMode="relative" rAng="0" ptsTypes="AA">
                                      <p:cBhvr>
                                        <p:cTn id="204" dur="750" fill="hold"/>
                                        <p:tgtEl>
                                          <p:spTgt spid="77"/>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33" grpId="0"/>
      <p:bldP spid="33" grpId="1"/>
      <p:bldP spid="34" grpId="0"/>
      <p:bldP spid="34" grpId="1"/>
      <p:bldP spid="35" grpId="0"/>
      <p:bldP spid="35" grpId="1"/>
      <p:bldP spid="36" grpId="0"/>
      <p:bldP spid="36" grpId="1"/>
      <p:bldP spid="37" grpId="0"/>
      <p:bldP spid="37" grpId="1"/>
      <p:bldP spid="38" grpId="0"/>
      <p:bldP spid="38" grpId="1"/>
      <p:bldP spid="39" grpId="0"/>
      <p:bldP spid="39" grpId="1"/>
      <p:bldP spid="40" grpId="0"/>
      <p:bldP spid="40" grpId="1"/>
      <p:bldP spid="46" grpId="0"/>
      <p:bldP spid="46" grpId="1"/>
      <p:bldP spid="46" grpId="2"/>
      <p:bldP spid="46" grpId="3"/>
      <p:bldP spid="52" grpId="0"/>
      <p:bldP spid="52" grpId="1"/>
      <p:bldP spid="52" grpId="2"/>
      <p:bldP spid="52" grpId="3"/>
      <p:bldP spid="58" grpId="0"/>
      <p:bldP spid="58" grpId="1"/>
      <p:bldP spid="58" grpId="2"/>
      <p:bldP spid="58" grpId="3"/>
      <p:bldP spid="69" grpId="0"/>
      <p:bldP spid="69" grpId="1"/>
      <p:bldP spid="69" grpId="2"/>
      <p:bldP spid="69" grpId="3"/>
      <p:bldP spid="71" grpId="0"/>
      <p:bldP spid="71" grpId="1"/>
      <p:bldP spid="71" grpId="2"/>
      <p:bldP spid="71" grpId="3"/>
      <p:bldP spid="72" grpId="0"/>
      <p:bldP spid="72" grpId="1"/>
      <p:bldP spid="77" grpId="0"/>
      <p:bldP spid="77"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FB77E-98FC-4925-6E52-256AC7DED127}"/>
              </a:ext>
            </a:extLst>
          </p:cNvPr>
          <p:cNvSpPr>
            <a:spLocks noGrp="1"/>
          </p:cNvSpPr>
          <p:nvPr>
            <p:ph type="title"/>
          </p:nvPr>
        </p:nvSpPr>
        <p:spPr/>
        <p:txBody>
          <a:bodyPr/>
          <a:lstStyle/>
          <a:p>
            <a:r>
              <a:rPr lang="en-US"/>
              <a:t>GenAI Assets &amp; Artifacts</a:t>
            </a:r>
          </a:p>
        </p:txBody>
      </p:sp>
      <p:sp>
        <p:nvSpPr>
          <p:cNvPr id="4" name="Slide Number Placeholder 3">
            <a:extLst>
              <a:ext uri="{FF2B5EF4-FFF2-40B4-BE49-F238E27FC236}">
                <a16:creationId xmlns:a16="http://schemas.microsoft.com/office/drawing/2014/main" id="{406D2909-6772-997A-49E2-5C944E30A14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2281237C-ABB2-8940-2055-D3F45CC75B8B}"/>
              </a:ext>
            </a:extLst>
          </p:cNvPr>
          <p:cNvGrpSpPr/>
          <p:nvPr/>
        </p:nvGrpSpPr>
        <p:grpSpPr>
          <a:xfrm>
            <a:off x="1207698" y="1949570"/>
            <a:ext cx="9318062" cy="4024513"/>
            <a:chOff x="569913" y="1533094"/>
            <a:chExt cx="8416841" cy="4021458"/>
          </a:xfrm>
        </p:grpSpPr>
        <p:sp useBgFill="1">
          <p:nvSpPr>
            <p:cNvPr id="6" name="Rectangle: Rounded Corners 5">
              <a:extLst>
                <a:ext uri="{FF2B5EF4-FFF2-40B4-BE49-F238E27FC236}">
                  <a16:creationId xmlns:a16="http://schemas.microsoft.com/office/drawing/2014/main" id="{E2AB3976-06E4-2E2D-56BD-B108667E11D9}"/>
                </a:ext>
              </a:extLst>
            </p:cNvPr>
            <p:cNvSpPr/>
            <p:nvPr/>
          </p:nvSpPr>
          <p:spPr bwMode="auto">
            <a:xfrm>
              <a:off x="569913" y="1533094"/>
              <a:ext cx="8416841" cy="4021458"/>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7" name="Rectangle: Rounded Corners 6">
              <a:extLst>
                <a:ext uri="{FF2B5EF4-FFF2-40B4-BE49-F238E27FC236}">
                  <a16:creationId xmlns:a16="http://schemas.microsoft.com/office/drawing/2014/main" id="{0D1F84EA-891F-07F9-2EFD-08590992DF77}"/>
                </a:ext>
              </a:extLst>
            </p:cNvPr>
            <p:cNvSpPr/>
            <p:nvPr/>
          </p:nvSpPr>
          <p:spPr bwMode="auto">
            <a:xfrm>
              <a:off x="569913" y="1533094"/>
              <a:ext cx="8416841" cy="4021458"/>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8" name="Rectangle: Rounded Corners 7">
            <a:extLst>
              <a:ext uri="{FF2B5EF4-FFF2-40B4-BE49-F238E27FC236}">
                <a16:creationId xmlns:a16="http://schemas.microsoft.com/office/drawing/2014/main" id="{DEE9E50A-5B70-6CBD-4C62-B1DC960C9C54}"/>
              </a:ext>
            </a:extLst>
          </p:cNvPr>
          <p:cNvSpPr>
            <a:spLocks/>
          </p:cNvSpPr>
          <p:nvPr/>
        </p:nvSpPr>
        <p:spPr bwMode="auto">
          <a:xfrm>
            <a:off x="1850986" y="2642041"/>
            <a:ext cx="2045839" cy="1057713"/>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9" name="Rectangle: Rounded Corners 8">
            <a:extLst>
              <a:ext uri="{FF2B5EF4-FFF2-40B4-BE49-F238E27FC236}">
                <a16:creationId xmlns:a16="http://schemas.microsoft.com/office/drawing/2014/main" id="{715CE8AF-EDDF-7F99-04ED-057AA01AFA88}"/>
              </a:ext>
            </a:extLst>
          </p:cNvPr>
          <p:cNvSpPr>
            <a:spLocks/>
          </p:cNvSpPr>
          <p:nvPr/>
        </p:nvSpPr>
        <p:spPr bwMode="auto">
          <a:xfrm>
            <a:off x="3961509" y="2642041"/>
            <a:ext cx="2045839" cy="1057713"/>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10" name="Group 9">
            <a:extLst>
              <a:ext uri="{FF2B5EF4-FFF2-40B4-BE49-F238E27FC236}">
                <a16:creationId xmlns:a16="http://schemas.microsoft.com/office/drawing/2014/main" id="{A1615380-FBBD-77A4-8F51-9E3934284C1C}"/>
              </a:ext>
            </a:extLst>
          </p:cNvPr>
          <p:cNvGrpSpPr/>
          <p:nvPr/>
        </p:nvGrpSpPr>
        <p:grpSpPr>
          <a:xfrm>
            <a:off x="2474617" y="2249372"/>
            <a:ext cx="855212" cy="815151"/>
            <a:chOff x="1261672" y="4833938"/>
            <a:chExt cx="954296" cy="954296"/>
          </a:xfrm>
        </p:grpSpPr>
        <p:sp>
          <p:nvSpPr>
            <p:cNvPr id="11" name="Rectangle: Rounded Corners 10">
              <a:extLst>
                <a:ext uri="{FF2B5EF4-FFF2-40B4-BE49-F238E27FC236}">
                  <a16:creationId xmlns:a16="http://schemas.microsoft.com/office/drawing/2014/main" id="{3378ECCC-2FD2-4145-1583-C6DDA9EAD6D7}"/>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12" name="Rectangle: Rounded Corners 11">
              <a:extLst>
                <a:ext uri="{FF2B5EF4-FFF2-40B4-BE49-F238E27FC236}">
                  <a16:creationId xmlns:a16="http://schemas.microsoft.com/office/drawing/2014/main" id="{8CE58F06-8260-57B2-B607-03105F76402C}"/>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13" name="Group 12">
            <a:extLst>
              <a:ext uri="{FF2B5EF4-FFF2-40B4-BE49-F238E27FC236}">
                <a16:creationId xmlns:a16="http://schemas.microsoft.com/office/drawing/2014/main" id="{FBC698F1-0975-B1AD-AB23-9BC15787BF54}"/>
              </a:ext>
            </a:extLst>
          </p:cNvPr>
          <p:cNvGrpSpPr/>
          <p:nvPr/>
        </p:nvGrpSpPr>
        <p:grpSpPr>
          <a:xfrm>
            <a:off x="4585140" y="2249372"/>
            <a:ext cx="855212" cy="815151"/>
            <a:chOff x="1261672" y="4833938"/>
            <a:chExt cx="954296" cy="954296"/>
          </a:xfrm>
        </p:grpSpPr>
        <p:sp>
          <p:nvSpPr>
            <p:cNvPr id="14" name="Rectangle: Rounded Corners 13">
              <a:extLst>
                <a:ext uri="{FF2B5EF4-FFF2-40B4-BE49-F238E27FC236}">
                  <a16:creationId xmlns:a16="http://schemas.microsoft.com/office/drawing/2014/main" id="{D7136DE7-E055-6E21-A983-209808B2E9CA}"/>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15" name="Rectangle: Rounded Corners 14">
              <a:extLst>
                <a:ext uri="{FF2B5EF4-FFF2-40B4-BE49-F238E27FC236}">
                  <a16:creationId xmlns:a16="http://schemas.microsoft.com/office/drawing/2014/main" id="{0716EF91-1163-29AE-DC89-0E0DBD593026}"/>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16" name="Group 15">
            <a:extLst>
              <a:ext uri="{FF2B5EF4-FFF2-40B4-BE49-F238E27FC236}">
                <a16:creationId xmlns:a16="http://schemas.microsoft.com/office/drawing/2014/main" id="{FD71AC60-7275-45E3-2942-6B910B9C4B4E}"/>
              </a:ext>
            </a:extLst>
          </p:cNvPr>
          <p:cNvGrpSpPr/>
          <p:nvPr/>
        </p:nvGrpSpPr>
        <p:grpSpPr>
          <a:xfrm>
            <a:off x="2055200" y="3826885"/>
            <a:ext cx="1655958" cy="66380"/>
            <a:chOff x="704945" y="2877637"/>
            <a:chExt cx="3117755" cy="134578"/>
          </a:xfrm>
        </p:grpSpPr>
        <p:sp>
          <p:nvSpPr>
            <p:cNvPr id="17" name="Freeform: Shape 239">
              <a:extLst>
                <a:ext uri="{FF2B5EF4-FFF2-40B4-BE49-F238E27FC236}">
                  <a16:creationId xmlns:a16="http://schemas.microsoft.com/office/drawing/2014/main" id="{2874B5B0-8F6C-1E11-DE67-7D235B4AE109}"/>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18" name="Straight Connector 17">
              <a:extLst>
                <a:ext uri="{FF2B5EF4-FFF2-40B4-BE49-F238E27FC236}">
                  <a16:creationId xmlns:a16="http://schemas.microsoft.com/office/drawing/2014/main" id="{15BE1C30-103C-534F-CC09-05F1DBADCCC1}"/>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95A9B66-B10A-9A1B-2E57-D2AE711AE356}"/>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BCB65211-9D54-71D8-8F50-32EB7CEE594F}"/>
              </a:ext>
            </a:extLst>
          </p:cNvPr>
          <p:cNvGrpSpPr/>
          <p:nvPr/>
        </p:nvGrpSpPr>
        <p:grpSpPr>
          <a:xfrm>
            <a:off x="4165723" y="3826885"/>
            <a:ext cx="1655958" cy="66380"/>
            <a:chOff x="704945" y="2877637"/>
            <a:chExt cx="3117755" cy="134578"/>
          </a:xfrm>
        </p:grpSpPr>
        <p:sp>
          <p:nvSpPr>
            <p:cNvPr id="21" name="Freeform: Shape 239">
              <a:extLst>
                <a:ext uri="{FF2B5EF4-FFF2-40B4-BE49-F238E27FC236}">
                  <a16:creationId xmlns:a16="http://schemas.microsoft.com/office/drawing/2014/main" id="{5BCAF599-4535-E801-F27C-4F2DC42A4D4A}"/>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22" name="Straight Connector 21">
              <a:extLst>
                <a:ext uri="{FF2B5EF4-FFF2-40B4-BE49-F238E27FC236}">
                  <a16:creationId xmlns:a16="http://schemas.microsoft.com/office/drawing/2014/main" id="{4A0617D0-B42D-F44F-C426-35FA72CFF5FF}"/>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466CB01-25B8-6B8C-1FA3-295C39FD148B}"/>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DD728C0E-016A-95DD-80B4-BCA2241033A2}"/>
              </a:ext>
            </a:extLst>
          </p:cNvPr>
          <p:cNvGrpSpPr/>
          <p:nvPr/>
        </p:nvGrpSpPr>
        <p:grpSpPr>
          <a:xfrm>
            <a:off x="6276246" y="3826885"/>
            <a:ext cx="1655958" cy="66380"/>
            <a:chOff x="704945" y="2877637"/>
            <a:chExt cx="3117755" cy="134578"/>
          </a:xfrm>
        </p:grpSpPr>
        <p:sp>
          <p:nvSpPr>
            <p:cNvPr id="25" name="Freeform: Shape 239">
              <a:extLst>
                <a:ext uri="{FF2B5EF4-FFF2-40B4-BE49-F238E27FC236}">
                  <a16:creationId xmlns:a16="http://schemas.microsoft.com/office/drawing/2014/main" id="{00AAC931-E3BC-96D6-1D86-4864F0DAB0DC}"/>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26" name="Straight Connector 25">
              <a:extLst>
                <a:ext uri="{FF2B5EF4-FFF2-40B4-BE49-F238E27FC236}">
                  <a16:creationId xmlns:a16="http://schemas.microsoft.com/office/drawing/2014/main" id="{8572359D-2856-209C-4506-7B93B51D8AC7}"/>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01511A8-F8F9-6D15-F29E-E9D745A3AB73}"/>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FB4009FE-D607-8BCC-1224-643E7CAF61D5}"/>
              </a:ext>
            </a:extLst>
          </p:cNvPr>
          <p:cNvGrpSpPr/>
          <p:nvPr/>
        </p:nvGrpSpPr>
        <p:grpSpPr>
          <a:xfrm>
            <a:off x="8386769" y="3826885"/>
            <a:ext cx="1655958" cy="66380"/>
            <a:chOff x="704945" y="2877637"/>
            <a:chExt cx="3117755" cy="134578"/>
          </a:xfrm>
        </p:grpSpPr>
        <p:sp>
          <p:nvSpPr>
            <p:cNvPr id="29" name="Freeform: Shape 239">
              <a:extLst>
                <a:ext uri="{FF2B5EF4-FFF2-40B4-BE49-F238E27FC236}">
                  <a16:creationId xmlns:a16="http://schemas.microsoft.com/office/drawing/2014/main" id="{D9E4F300-1987-E5E4-221F-3F8699FE05A2}"/>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30" name="Straight Connector 29">
              <a:extLst>
                <a:ext uri="{FF2B5EF4-FFF2-40B4-BE49-F238E27FC236}">
                  <a16:creationId xmlns:a16="http://schemas.microsoft.com/office/drawing/2014/main" id="{E7DAB76C-D366-A2EF-5A44-0CAD212F6147}"/>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1E9641D-1ECE-9E92-60AC-29EB304AE2C6}"/>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BA44A07A-76CE-0A4C-E69F-EABC1BB272C4}"/>
              </a:ext>
            </a:extLst>
          </p:cNvPr>
          <p:cNvGrpSpPr/>
          <p:nvPr/>
        </p:nvGrpSpPr>
        <p:grpSpPr>
          <a:xfrm>
            <a:off x="5966626" y="2642041"/>
            <a:ext cx="4261768" cy="1057713"/>
            <a:chOff x="6169348" y="2642844"/>
            <a:chExt cx="4059046" cy="1056910"/>
          </a:xfrm>
        </p:grpSpPr>
        <p:sp>
          <p:nvSpPr>
            <p:cNvPr id="33" name="Rectangle: Rounded Corners 32">
              <a:extLst>
                <a:ext uri="{FF2B5EF4-FFF2-40B4-BE49-F238E27FC236}">
                  <a16:creationId xmlns:a16="http://schemas.microsoft.com/office/drawing/2014/main" id="{C7F31126-6D16-8A61-5574-C33AF9D0C82F}"/>
                </a:ext>
              </a:extLst>
            </p:cNvPr>
            <p:cNvSpPr>
              <a:spLocks/>
            </p:cNvSpPr>
            <p:nvPr/>
          </p:nvSpPr>
          <p:spPr bwMode="auto">
            <a:xfrm>
              <a:off x="6169348" y="2642844"/>
              <a:ext cx="1948523"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34" name="Rectangle: Rounded Corners 33">
              <a:extLst>
                <a:ext uri="{FF2B5EF4-FFF2-40B4-BE49-F238E27FC236}">
                  <a16:creationId xmlns:a16="http://schemas.microsoft.com/office/drawing/2014/main" id="{D5355359-724C-992E-6A5C-070A81261211}"/>
                </a:ext>
              </a:extLst>
            </p:cNvPr>
            <p:cNvSpPr>
              <a:spLocks/>
            </p:cNvSpPr>
            <p:nvPr/>
          </p:nvSpPr>
          <p:spPr bwMode="auto">
            <a:xfrm>
              <a:off x="8279871" y="2642844"/>
              <a:ext cx="1948523"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35" name="Group 34">
            <a:extLst>
              <a:ext uri="{FF2B5EF4-FFF2-40B4-BE49-F238E27FC236}">
                <a16:creationId xmlns:a16="http://schemas.microsoft.com/office/drawing/2014/main" id="{1AE38DD2-2E8E-A8A9-8730-F4CF807BF68F}"/>
              </a:ext>
            </a:extLst>
          </p:cNvPr>
          <p:cNvGrpSpPr/>
          <p:nvPr/>
        </p:nvGrpSpPr>
        <p:grpSpPr>
          <a:xfrm>
            <a:off x="6695663" y="2249372"/>
            <a:ext cx="855212" cy="815151"/>
            <a:chOff x="1261672" y="4833938"/>
            <a:chExt cx="954296" cy="954296"/>
          </a:xfrm>
        </p:grpSpPr>
        <p:sp>
          <p:nvSpPr>
            <p:cNvPr id="36" name="Rectangle: Rounded Corners 35">
              <a:extLst>
                <a:ext uri="{FF2B5EF4-FFF2-40B4-BE49-F238E27FC236}">
                  <a16:creationId xmlns:a16="http://schemas.microsoft.com/office/drawing/2014/main" id="{D106A55D-6AFD-AF5C-7747-4FEB21398E17}"/>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37" name="Rectangle: Rounded Corners 36">
              <a:extLst>
                <a:ext uri="{FF2B5EF4-FFF2-40B4-BE49-F238E27FC236}">
                  <a16:creationId xmlns:a16="http://schemas.microsoft.com/office/drawing/2014/main" id="{362DD1C3-7D8F-ECE4-51EA-B1987598D8A9}"/>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38" name="Group 37">
            <a:extLst>
              <a:ext uri="{FF2B5EF4-FFF2-40B4-BE49-F238E27FC236}">
                <a16:creationId xmlns:a16="http://schemas.microsoft.com/office/drawing/2014/main" id="{34AC9C89-1D1D-D82D-7788-3D0A8A578DEF}"/>
              </a:ext>
            </a:extLst>
          </p:cNvPr>
          <p:cNvGrpSpPr/>
          <p:nvPr/>
        </p:nvGrpSpPr>
        <p:grpSpPr>
          <a:xfrm>
            <a:off x="8806187" y="2249372"/>
            <a:ext cx="855212" cy="815151"/>
            <a:chOff x="1261672" y="4833938"/>
            <a:chExt cx="954296" cy="954296"/>
          </a:xfrm>
        </p:grpSpPr>
        <p:sp>
          <p:nvSpPr>
            <p:cNvPr id="39" name="Rectangle: Rounded Corners 38">
              <a:extLst>
                <a:ext uri="{FF2B5EF4-FFF2-40B4-BE49-F238E27FC236}">
                  <a16:creationId xmlns:a16="http://schemas.microsoft.com/office/drawing/2014/main" id="{C000FDAC-C358-EF97-7752-11B3D911885D}"/>
                </a:ext>
              </a:extLst>
            </p:cNvPr>
            <p:cNvSpPr/>
            <p:nvPr userDrawn="1"/>
          </p:nvSpPr>
          <p:spPr bwMode="auto">
            <a:xfrm>
              <a:off x="1261672" y="4833938"/>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mn-ea"/>
                <a:cs typeface="Segoe Sans Text" pitchFamily="2" charset="0"/>
              </a:endParaRPr>
            </a:p>
          </p:txBody>
        </p:sp>
        <p:sp>
          <p:nvSpPr>
            <p:cNvPr id="40" name="Rectangle: Rounded Corners 39">
              <a:extLst>
                <a:ext uri="{FF2B5EF4-FFF2-40B4-BE49-F238E27FC236}">
                  <a16:creationId xmlns:a16="http://schemas.microsoft.com/office/drawing/2014/main" id="{7B027528-E046-861C-48DC-D057319F66B3}"/>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41" name="Group 40">
            <a:extLst>
              <a:ext uri="{FF2B5EF4-FFF2-40B4-BE49-F238E27FC236}">
                <a16:creationId xmlns:a16="http://schemas.microsoft.com/office/drawing/2014/main" id="{8F78CBB7-1F7B-F88E-BD7F-FCCF53F34863}"/>
              </a:ext>
            </a:extLst>
          </p:cNvPr>
          <p:cNvGrpSpPr/>
          <p:nvPr/>
        </p:nvGrpSpPr>
        <p:grpSpPr>
          <a:xfrm>
            <a:off x="3767012" y="2247388"/>
            <a:ext cx="4431859" cy="3429329"/>
            <a:chOff x="3977825" y="1952625"/>
            <a:chExt cx="4221046" cy="4021458"/>
          </a:xfrm>
        </p:grpSpPr>
        <p:cxnSp>
          <p:nvCxnSpPr>
            <p:cNvPr id="42" name="Straight Connector 41">
              <a:extLst>
                <a:ext uri="{FF2B5EF4-FFF2-40B4-BE49-F238E27FC236}">
                  <a16:creationId xmlns:a16="http://schemas.microsoft.com/office/drawing/2014/main" id="{7DF82F9E-B676-A867-D976-BCFF293833A6}"/>
                </a:ext>
              </a:extLst>
            </p:cNvPr>
            <p:cNvCxnSpPr>
              <a:cxnSpLocks/>
            </p:cNvCxnSpPr>
            <p:nvPr/>
          </p:nvCxnSpPr>
          <p:spPr>
            <a:xfrm>
              <a:off x="6088348" y="1952625"/>
              <a:ext cx="0" cy="4021458"/>
            </a:xfrm>
            <a:prstGeom prst="line">
              <a:avLst/>
            </a:prstGeom>
            <a:ln w="9525">
              <a:solidFill>
                <a:schemeClr val="accent2">
                  <a:lumMod val="40000"/>
                  <a:lumOff val="60000"/>
                  <a:alpha val="2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2D46D93-9886-F40C-8F52-3893630FCFAD}"/>
                </a:ext>
              </a:extLst>
            </p:cNvPr>
            <p:cNvCxnSpPr>
              <a:cxnSpLocks/>
            </p:cNvCxnSpPr>
            <p:nvPr/>
          </p:nvCxnSpPr>
          <p:spPr>
            <a:xfrm>
              <a:off x="8198871" y="1952625"/>
              <a:ext cx="0" cy="4021458"/>
            </a:xfrm>
            <a:prstGeom prst="line">
              <a:avLst/>
            </a:prstGeom>
            <a:ln w="9525">
              <a:solidFill>
                <a:schemeClr val="accent2">
                  <a:lumMod val="40000"/>
                  <a:lumOff val="60000"/>
                  <a:alpha val="2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A2FF80D-82F0-4BB8-FE37-191C6595C752}"/>
                </a:ext>
              </a:extLst>
            </p:cNvPr>
            <p:cNvCxnSpPr>
              <a:cxnSpLocks/>
            </p:cNvCxnSpPr>
            <p:nvPr/>
          </p:nvCxnSpPr>
          <p:spPr>
            <a:xfrm>
              <a:off x="3977825" y="1952625"/>
              <a:ext cx="0" cy="4021458"/>
            </a:xfrm>
            <a:prstGeom prst="line">
              <a:avLst/>
            </a:prstGeom>
            <a:ln w="9525">
              <a:solidFill>
                <a:schemeClr val="accent2">
                  <a:lumMod val="40000"/>
                  <a:lumOff val="60000"/>
                  <a:alpha val="2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5" name="Rectangle: Rounded Corners 44">
            <a:extLst>
              <a:ext uri="{FF2B5EF4-FFF2-40B4-BE49-F238E27FC236}">
                <a16:creationId xmlns:a16="http://schemas.microsoft.com/office/drawing/2014/main" id="{393178D4-3B69-1054-96C7-8A8000E48C40}"/>
              </a:ext>
            </a:extLst>
          </p:cNvPr>
          <p:cNvSpPr>
            <a:spLocks/>
          </p:cNvSpPr>
          <p:nvPr/>
        </p:nvSpPr>
        <p:spPr bwMode="auto">
          <a:xfrm>
            <a:off x="1939270" y="4023978"/>
            <a:ext cx="1877290" cy="1279702"/>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GB" sz="1200" b="1">
                <a:solidFill>
                  <a:schemeClr val="bg1"/>
                </a:solidFill>
                <a:cs typeface="Segoe Sans Text ExtraBold" pitchFamily="2" charset="0"/>
              </a:rPr>
              <a:t>Pre-built Models</a:t>
            </a:r>
          </a:p>
          <a:p>
            <a:pPr algn="ctr" defTabSz="932472" fontAlgn="base">
              <a:spcBef>
                <a:spcPct val="0"/>
              </a:spcBef>
              <a:spcAft>
                <a:spcPts val="800"/>
              </a:spcAft>
            </a:pPr>
            <a:r>
              <a:rPr lang="en-GB" sz="1200">
                <a:solidFill>
                  <a:schemeClr val="bg1"/>
                </a:solidFill>
                <a:cs typeface="Segoe Sans Text ExtraBold" pitchFamily="2" charset="0"/>
              </a:rPr>
              <a:t>[Azure OpenAI or                  Open Source]</a:t>
            </a:r>
          </a:p>
          <a:p>
            <a:pPr algn="ctr" defTabSz="932472" fontAlgn="base">
              <a:spcBef>
                <a:spcPct val="0"/>
              </a:spcBef>
              <a:spcAft>
                <a:spcPts val="800"/>
              </a:spcAft>
            </a:pPr>
            <a:r>
              <a:rPr lang="en-GB" sz="1200" b="1">
                <a:solidFill>
                  <a:schemeClr val="bg1"/>
                </a:solidFill>
                <a:cs typeface="Segoe Sans Text ExtraBold" pitchFamily="2" charset="0"/>
              </a:rPr>
              <a:t>Fine-tuned Models</a:t>
            </a:r>
          </a:p>
          <a:p>
            <a:pPr algn="ctr" defTabSz="932472" fontAlgn="base">
              <a:spcBef>
                <a:spcPct val="0"/>
              </a:spcBef>
              <a:spcAft>
                <a:spcPts val="800"/>
              </a:spcAft>
            </a:pPr>
            <a:endParaRPr lang="en-GB" sz="1200">
              <a:solidFill>
                <a:schemeClr val="bg1"/>
              </a:solidFill>
              <a:cs typeface="Segoe Sans Text ExtraBold" pitchFamily="2" charset="0"/>
            </a:endParaRPr>
          </a:p>
        </p:txBody>
      </p:sp>
      <p:sp>
        <p:nvSpPr>
          <p:cNvPr id="46" name="Rectangle: Rounded Corners 45">
            <a:extLst>
              <a:ext uri="{FF2B5EF4-FFF2-40B4-BE49-F238E27FC236}">
                <a16:creationId xmlns:a16="http://schemas.microsoft.com/office/drawing/2014/main" id="{B9C8A040-B3C4-3574-0313-49D11FFC8FD6}"/>
              </a:ext>
            </a:extLst>
          </p:cNvPr>
          <p:cNvSpPr>
            <a:spLocks/>
          </p:cNvSpPr>
          <p:nvPr/>
        </p:nvSpPr>
        <p:spPr bwMode="auto">
          <a:xfrm>
            <a:off x="4049163" y="4023539"/>
            <a:ext cx="1877290" cy="1855569"/>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GB" sz="1200" b="1">
                <a:solidFill>
                  <a:schemeClr val="bg1"/>
                </a:solidFill>
                <a:cs typeface="Segoe Sans Text ExtraBold" pitchFamily="2" charset="0"/>
              </a:rPr>
              <a:t>Inputs</a:t>
            </a:r>
          </a:p>
          <a:p>
            <a:pPr algn="ctr" defTabSz="932472" fontAlgn="base">
              <a:spcBef>
                <a:spcPct val="0"/>
              </a:spcBef>
              <a:spcAft>
                <a:spcPts val="800"/>
              </a:spcAft>
            </a:pPr>
            <a:r>
              <a:rPr lang="en-GB" sz="1200">
                <a:solidFill>
                  <a:schemeClr val="bg1"/>
                </a:solidFill>
                <a:cs typeface="Segoe Sans Text ExtraBold" pitchFamily="2" charset="0"/>
              </a:rPr>
              <a:t>[Prompt Templates, Knowledge Base, </a:t>
            </a:r>
            <a:r>
              <a:rPr lang="en-GB" sz="1200" err="1">
                <a:solidFill>
                  <a:schemeClr val="bg1"/>
                </a:solidFill>
                <a:cs typeface="Segoe Sans Text ExtraBold" pitchFamily="2" charset="0"/>
              </a:rPr>
              <a:t>VectorDB</a:t>
            </a:r>
            <a:r>
              <a:rPr lang="en-GB" sz="1200">
                <a:solidFill>
                  <a:schemeClr val="bg1"/>
                </a:solidFill>
                <a:cs typeface="Segoe Sans Text ExtraBold" pitchFamily="2" charset="0"/>
              </a:rPr>
              <a:t>, </a:t>
            </a:r>
            <a:r>
              <a:rPr lang="en-GB" sz="1200" err="1">
                <a:solidFill>
                  <a:schemeClr val="bg1"/>
                </a:solidFill>
                <a:cs typeface="Segoe Sans Text ExtraBold" pitchFamily="2" charset="0"/>
              </a:rPr>
              <a:t>Groundtruth</a:t>
            </a:r>
            <a:r>
              <a:rPr lang="en-GB" sz="1200">
                <a:solidFill>
                  <a:schemeClr val="bg1"/>
                </a:solidFill>
                <a:cs typeface="Segoe Sans Text ExtraBold" pitchFamily="2" charset="0"/>
              </a:rPr>
              <a:t> Data, Feedback etc]</a:t>
            </a:r>
          </a:p>
          <a:p>
            <a:pPr algn="ctr" defTabSz="932472" fontAlgn="base">
              <a:spcBef>
                <a:spcPct val="0"/>
              </a:spcBef>
              <a:spcAft>
                <a:spcPts val="800"/>
              </a:spcAft>
            </a:pPr>
            <a:r>
              <a:rPr lang="en-GB" sz="1200" b="1">
                <a:solidFill>
                  <a:schemeClr val="bg1"/>
                </a:solidFill>
                <a:cs typeface="Segoe Sans Text ExtraBold" pitchFamily="2" charset="0"/>
              </a:rPr>
              <a:t>Outputs </a:t>
            </a:r>
          </a:p>
          <a:p>
            <a:pPr algn="ctr" defTabSz="932472" fontAlgn="base">
              <a:spcBef>
                <a:spcPct val="0"/>
              </a:spcBef>
              <a:spcAft>
                <a:spcPts val="800"/>
              </a:spcAft>
            </a:pPr>
            <a:r>
              <a:rPr lang="en-GB" sz="1200">
                <a:solidFill>
                  <a:schemeClr val="bg1"/>
                </a:solidFill>
                <a:cs typeface="Segoe Sans Text ExtraBold" pitchFamily="2" charset="0"/>
              </a:rPr>
              <a:t>[Inference results, </a:t>
            </a:r>
            <a:br>
              <a:rPr lang="en-GB" sz="1200">
                <a:solidFill>
                  <a:schemeClr val="bg1"/>
                </a:solidFill>
                <a:cs typeface="Segoe Sans Text ExtraBold" pitchFamily="2" charset="0"/>
              </a:rPr>
            </a:br>
            <a:r>
              <a:rPr lang="en-GB" sz="1200">
                <a:solidFill>
                  <a:schemeClr val="bg1"/>
                </a:solidFill>
                <a:cs typeface="Segoe Sans Text ExtraBold" pitchFamily="2" charset="0"/>
              </a:rPr>
              <a:t>logs etc]</a:t>
            </a:r>
          </a:p>
        </p:txBody>
      </p:sp>
      <p:sp>
        <p:nvSpPr>
          <p:cNvPr id="47" name="Rectangle: Rounded Corners 46">
            <a:extLst>
              <a:ext uri="{FF2B5EF4-FFF2-40B4-BE49-F238E27FC236}">
                <a16:creationId xmlns:a16="http://schemas.microsoft.com/office/drawing/2014/main" id="{76949B06-593F-C947-61CD-E84381994096}"/>
              </a:ext>
            </a:extLst>
          </p:cNvPr>
          <p:cNvSpPr>
            <a:spLocks/>
          </p:cNvSpPr>
          <p:nvPr/>
        </p:nvSpPr>
        <p:spPr bwMode="auto">
          <a:xfrm>
            <a:off x="6063834" y="4023670"/>
            <a:ext cx="2059086" cy="1684942"/>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GB" sz="1200">
                <a:solidFill>
                  <a:schemeClr val="bg1"/>
                </a:solidFill>
                <a:cs typeface="Segoe Sans Text ExtraBold" pitchFamily="2" charset="0"/>
              </a:rPr>
              <a:t>Plugins</a:t>
            </a:r>
          </a:p>
          <a:p>
            <a:pPr algn="ctr" defTabSz="932472" fontAlgn="base">
              <a:spcBef>
                <a:spcPct val="0"/>
              </a:spcBef>
              <a:spcAft>
                <a:spcPts val="800"/>
              </a:spcAft>
            </a:pPr>
            <a:r>
              <a:rPr lang="en-GB" sz="1200">
                <a:solidFill>
                  <a:schemeClr val="bg1"/>
                </a:solidFill>
                <a:cs typeface="Segoe Sans Text ExtraBold" pitchFamily="2" charset="0"/>
              </a:rPr>
              <a:t>Prompt files (</a:t>
            </a:r>
            <a:r>
              <a:rPr lang="en-GB" sz="1200" err="1">
                <a:solidFill>
                  <a:schemeClr val="bg1"/>
                </a:solidFill>
                <a:cs typeface="Segoe Sans Text ExtraBold" pitchFamily="2" charset="0"/>
              </a:rPr>
              <a:t>prompty</a:t>
            </a:r>
            <a:r>
              <a:rPr lang="en-GB" sz="1200">
                <a:solidFill>
                  <a:schemeClr val="bg1"/>
                </a:solidFill>
                <a:cs typeface="Segoe Sans Text ExtraBold" pitchFamily="2" charset="0"/>
              </a:rPr>
              <a:t>, jinja)</a:t>
            </a:r>
          </a:p>
          <a:p>
            <a:pPr algn="ctr" defTabSz="932472" fontAlgn="base">
              <a:spcBef>
                <a:spcPct val="0"/>
              </a:spcBef>
              <a:spcAft>
                <a:spcPts val="800"/>
              </a:spcAft>
            </a:pPr>
            <a:r>
              <a:rPr lang="en-GB" sz="1200">
                <a:solidFill>
                  <a:schemeClr val="bg1"/>
                </a:solidFill>
                <a:cs typeface="Segoe Sans Text ExtraBold" pitchFamily="2" charset="0"/>
              </a:rPr>
              <a:t>Orchestrators</a:t>
            </a:r>
          </a:p>
          <a:p>
            <a:pPr algn="ctr" defTabSz="932472" fontAlgn="base">
              <a:spcBef>
                <a:spcPct val="0"/>
              </a:spcBef>
              <a:spcAft>
                <a:spcPts val="800"/>
              </a:spcAft>
            </a:pPr>
            <a:r>
              <a:rPr lang="en-GB" sz="1200">
                <a:solidFill>
                  <a:schemeClr val="bg1"/>
                </a:solidFill>
                <a:cs typeface="Segoe Sans Text ExtraBold" pitchFamily="2" charset="0"/>
              </a:rPr>
              <a:t>APIs</a:t>
            </a:r>
          </a:p>
          <a:p>
            <a:pPr algn="ctr" defTabSz="932472" fontAlgn="base">
              <a:spcBef>
                <a:spcPct val="0"/>
              </a:spcBef>
              <a:spcAft>
                <a:spcPts val="800"/>
              </a:spcAft>
            </a:pPr>
            <a:r>
              <a:rPr lang="en-GB" sz="1200">
                <a:solidFill>
                  <a:schemeClr val="bg1"/>
                </a:solidFill>
                <a:cs typeface="Segoe Sans Text ExtraBold" pitchFamily="2" charset="0"/>
              </a:rPr>
              <a:t>Agents</a:t>
            </a:r>
          </a:p>
          <a:p>
            <a:pPr algn="ctr" defTabSz="932472" fontAlgn="base">
              <a:spcBef>
                <a:spcPct val="0"/>
              </a:spcBef>
              <a:spcAft>
                <a:spcPts val="800"/>
              </a:spcAft>
            </a:pPr>
            <a:r>
              <a:rPr lang="en-GB" sz="1200">
                <a:solidFill>
                  <a:schemeClr val="bg1"/>
                </a:solidFill>
                <a:cs typeface="Segoe Sans Text ExtraBold" pitchFamily="2" charset="0"/>
              </a:rPr>
              <a:t>etc</a:t>
            </a:r>
            <a:endParaRPr lang="en-US" sz="1200">
              <a:solidFill>
                <a:schemeClr val="bg1"/>
              </a:solidFill>
              <a:cs typeface="Segoe Sans Text ExtraBold" pitchFamily="2" charset="0"/>
            </a:endParaRPr>
          </a:p>
        </p:txBody>
      </p:sp>
      <p:sp>
        <p:nvSpPr>
          <p:cNvPr id="48" name="Rectangle: Rounded Corners 47">
            <a:extLst>
              <a:ext uri="{FF2B5EF4-FFF2-40B4-BE49-F238E27FC236}">
                <a16:creationId xmlns:a16="http://schemas.microsoft.com/office/drawing/2014/main" id="{A4F131B5-92A0-C476-2F6B-4422713E3BD0}"/>
              </a:ext>
            </a:extLst>
          </p:cNvPr>
          <p:cNvSpPr>
            <a:spLocks/>
          </p:cNvSpPr>
          <p:nvPr/>
        </p:nvSpPr>
        <p:spPr bwMode="auto">
          <a:xfrm>
            <a:off x="8488485" y="4024512"/>
            <a:ext cx="1458155" cy="57586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GB" sz="1200">
                <a:solidFill>
                  <a:schemeClr val="bg1"/>
                </a:solidFill>
                <a:cs typeface="Segoe Sans Text ExtraBold" pitchFamily="2" charset="0"/>
              </a:rPr>
              <a:t>Use case specific required AI services or Storages</a:t>
            </a:r>
            <a:endParaRPr lang="en-US" sz="1200">
              <a:solidFill>
                <a:schemeClr val="bg1"/>
              </a:solidFill>
              <a:cs typeface="Segoe Sans Text ExtraBold" pitchFamily="2" charset="0"/>
            </a:endParaRPr>
          </a:p>
        </p:txBody>
      </p:sp>
      <p:grpSp>
        <p:nvGrpSpPr>
          <p:cNvPr id="49" name="Group 48">
            <a:extLst>
              <a:ext uri="{FF2B5EF4-FFF2-40B4-BE49-F238E27FC236}">
                <a16:creationId xmlns:a16="http://schemas.microsoft.com/office/drawing/2014/main" id="{87CBB6FC-A23E-89F3-ECAB-264131AFED4A}"/>
              </a:ext>
            </a:extLst>
          </p:cNvPr>
          <p:cNvGrpSpPr/>
          <p:nvPr/>
        </p:nvGrpSpPr>
        <p:grpSpPr>
          <a:xfrm>
            <a:off x="2692455" y="2447856"/>
            <a:ext cx="439319" cy="418484"/>
            <a:chOff x="1289547" y="1418500"/>
            <a:chExt cx="219210" cy="219075"/>
          </a:xfrm>
        </p:grpSpPr>
        <p:sp>
          <p:nvSpPr>
            <p:cNvPr id="50" name="Freeform: Shape 23">
              <a:extLst>
                <a:ext uri="{FF2B5EF4-FFF2-40B4-BE49-F238E27FC236}">
                  <a16:creationId xmlns:a16="http://schemas.microsoft.com/office/drawing/2014/main" id="{6C9D822E-5F40-C1C7-55A4-F3CFF8ED5773}"/>
                </a:ext>
              </a:extLst>
            </p:cNvPr>
            <p:cNvSpPr/>
            <p:nvPr/>
          </p:nvSpPr>
          <p:spPr>
            <a:xfrm>
              <a:off x="1289547" y="1418500"/>
              <a:ext cx="95250" cy="219075"/>
            </a:xfrm>
            <a:custGeom>
              <a:avLst/>
              <a:gdLst>
                <a:gd name="connsiteX0" fmla="*/ 82868 w 95250"/>
                <a:gd name="connsiteY0" fmla="*/ 37238 h 219075"/>
                <a:gd name="connsiteX1" fmla="*/ 95250 w 95250"/>
                <a:gd name="connsiteY1" fmla="*/ 15330 h 219075"/>
                <a:gd name="connsiteX2" fmla="*/ 74295 w 95250"/>
                <a:gd name="connsiteY2" fmla="*/ 90 h 219075"/>
                <a:gd name="connsiteX3" fmla="*/ 57150 w 95250"/>
                <a:gd name="connsiteY3" fmla="*/ 19140 h 219075"/>
                <a:gd name="connsiteX4" fmla="*/ 58102 w 95250"/>
                <a:gd name="connsiteY4" fmla="*/ 23903 h 219075"/>
                <a:gd name="connsiteX5" fmla="*/ 55245 w 95250"/>
                <a:gd name="connsiteY5" fmla="*/ 23903 h 219075"/>
                <a:gd name="connsiteX6" fmla="*/ 22860 w 95250"/>
                <a:gd name="connsiteY6" fmla="*/ 43905 h 219075"/>
                <a:gd name="connsiteX7" fmla="*/ 26670 w 95250"/>
                <a:gd name="connsiteY7" fmla="*/ 81053 h 219075"/>
                <a:gd name="connsiteX8" fmla="*/ 0 w 95250"/>
                <a:gd name="connsiteY8" fmla="*/ 109628 h 219075"/>
                <a:gd name="connsiteX9" fmla="*/ 26670 w 95250"/>
                <a:gd name="connsiteY9" fmla="*/ 138203 h 219075"/>
                <a:gd name="connsiteX10" fmla="*/ 22860 w 95250"/>
                <a:gd name="connsiteY10" fmla="*/ 175351 h 219075"/>
                <a:gd name="connsiteX11" fmla="*/ 55245 w 95250"/>
                <a:gd name="connsiteY11" fmla="*/ 195353 h 219075"/>
                <a:gd name="connsiteX12" fmla="*/ 58102 w 95250"/>
                <a:gd name="connsiteY12" fmla="*/ 195353 h 219075"/>
                <a:gd name="connsiteX13" fmla="*/ 71438 w 95250"/>
                <a:gd name="connsiteY13" fmla="*/ 219166 h 219075"/>
                <a:gd name="connsiteX14" fmla="*/ 95250 w 95250"/>
                <a:gd name="connsiteY14" fmla="*/ 206783 h 219075"/>
                <a:gd name="connsiteX15" fmla="*/ 82868 w 95250"/>
                <a:gd name="connsiteY15" fmla="*/ 18297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50" h="219075">
                  <a:moveTo>
                    <a:pt x="82868" y="37238"/>
                  </a:moveTo>
                  <a:cubicBezTo>
                    <a:pt x="92393" y="34380"/>
                    <a:pt x="97155" y="24855"/>
                    <a:pt x="95250" y="15330"/>
                  </a:cubicBezTo>
                  <a:cubicBezTo>
                    <a:pt x="93345" y="5805"/>
                    <a:pt x="83820" y="-862"/>
                    <a:pt x="74295" y="90"/>
                  </a:cubicBezTo>
                  <a:cubicBezTo>
                    <a:pt x="64770" y="1043"/>
                    <a:pt x="57150" y="9615"/>
                    <a:pt x="57150" y="19140"/>
                  </a:cubicBezTo>
                  <a:cubicBezTo>
                    <a:pt x="57150" y="21045"/>
                    <a:pt x="57150" y="22950"/>
                    <a:pt x="58102" y="23903"/>
                  </a:cubicBezTo>
                  <a:cubicBezTo>
                    <a:pt x="57150" y="23903"/>
                    <a:pt x="56198" y="23903"/>
                    <a:pt x="55245" y="23903"/>
                  </a:cubicBezTo>
                  <a:cubicBezTo>
                    <a:pt x="41910" y="23903"/>
                    <a:pt x="29527" y="31523"/>
                    <a:pt x="22860" y="43905"/>
                  </a:cubicBezTo>
                  <a:cubicBezTo>
                    <a:pt x="17145" y="56288"/>
                    <a:pt x="18098" y="70575"/>
                    <a:pt x="26670" y="81053"/>
                  </a:cubicBezTo>
                  <a:cubicBezTo>
                    <a:pt x="11430" y="82005"/>
                    <a:pt x="0" y="94388"/>
                    <a:pt x="0" y="109628"/>
                  </a:cubicBezTo>
                  <a:cubicBezTo>
                    <a:pt x="0" y="124868"/>
                    <a:pt x="11430" y="137251"/>
                    <a:pt x="26670" y="138203"/>
                  </a:cubicBezTo>
                  <a:cubicBezTo>
                    <a:pt x="18098" y="148681"/>
                    <a:pt x="17145" y="163920"/>
                    <a:pt x="22860" y="175351"/>
                  </a:cubicBezTo>
                  <a:cubicBezTo>
                    <a:pt x="28575" y="187733"/>
                    <a:pt x="40957" y="195353"/>
                    <a:pt x="55245" y="195353"/>
                  </a:cubicBezTo>
                  <a:cubicBezTo>
                    <a:pt x="56198" y="195353"/>
                    <a:pt x="57150" y="195353"/>
                    <a:pt x="58102" y="195353"/>
                  </a:cubicBezTo>
                  <a:cubicBezTo>
                    <a:pt x="55245" y="205831"/>
                    <a:pt x="60960" y="215356"/>
                    <a:pt x="71438" y="219166"/>
                  </a:cubicBezTo>
                  <a:cubicBezTo>
                    <a:pt x="80963" y="222023"/>
                    <a:pt x="92393" y="216308"/>
                    <a:pt x="95250" y="206783"/>
                  </a:cubicBezTo>
                  <a:cubicBezTo>
                    <a:pt x="98107" y="197258"/>
                    <a:pt x="93345" y="185828"/>
                    <a:pt x="82868" y="182970"/>
                  </a:cubicBezTo>
                </a:path>
              </a:pathLst>
            </a:custGeom>
            <a:noFill/>
            <a:ln w="15875" cap="rnd">
              <a:solidFill>
                <a:schemeClr val="bg1"/>
              </a:solidFill>
              <a:prstDash val="solid"/>
              <a:round/>
            </a:ln>
          </p:spPr>
          <p:txBody>
            <a:bodyPr rtlCol="0" anchor="ctr"/>
            <a:lstStyle/>
            <a:p>
              <a:endParaRPr lang="en-GB"/>
            </a:p>
          </p:txBody>
        </p:sp>
        <p:sp>
          <p:nvSpPr>
            <p:cNvPr id="51" name="Freeform: Shape 24">
              <a:extLst>
                <a:ext uri="{FF2B5EF4-FFF2-40B4-BE49-F238E27FC236}">
                  <a16:creationId xmlns:a16="http://schemas.microsoft.com/office/drawing/2014/main" id="{E05F0ABF-F7CD-76AB-D07A-DA90268B9CF1}"/>
                </a:ext>
              </a:extLst>
            </p:cNvPr>
            <p:cNvSpPr/>
            <p:nvPr/>
          </p:nvSpPr>
          <p:spPr>
            <a:xfrm>
              <a:off x="1413507" y="1418500"/>
              <a:ext cx="95250" cy="219075"/>
            </a:xfrm>
            <a:custGeom>
              <a:avLst/>
              <a:gdLst>
                <a:gd name="connsiteX0" fmla="*/ 13199 w 95250"/>
                <a:gd name="connsiteY0" fmla="*/ 37238 h 219075"/>
                <a:gd name="connsiteX1" fmla="*/ 817 w 95250"/>
                <a:gd name="connsiteY1" fmla="*/ 15330 h 219075"/>
                <a:gd name="connsiteX2" fmla="*/ 21772 w 95250"/>
                <a:gd name="connsiteY2" fmla="*/ 90 h 219075"/>
                <a:gd name="connsiteX3" fmla="*/ 38917 w 95250"/>
                <a:gd name="connsiteY3" fmla="*/ 19140 h 219075"/>
                <a:gd name="connsiteX4" fmla="*/ 37964 w 95250"/>
                <a:gd name="connsiteY4" fmla="*/ 23903 h 219075"/>
                <a:gd name="connsiteX5" fmla="*/ 40822 w 95250"/>
                <a:gd name="connsiteY5" fmla="*/ 23903 h 219075"/>
                <a:gd name="connsiteX6" fmla="*/ 73207 w 95250"/>
                <a:gd name="connsiteY6" fmla="*/ 43905 h 219075"/>
                <a:gd name="connsiteX7" fmla="*/ 69397 w 95250"/>
                <a:gd name="connsiteY7" fmla="*/ 81053 h 219075"/>
                <a:gd name="connsiteX8" fmla="*/ 96067 w 95250"/>
                <a:gd name="connsiteY8" fmla="*/ 109628 h 219075"/>
                <a:gd name="connsiteX9" fmla="*/ 69397 w 95250"/>
                <a:gd name="connsiteY9" fmla="*/ 138203 h 219075"/>
                <a:gd name="connsiteX10" fmla="*/ 73207 w 95250"/>
                <a:gd name="connsiteY10" fmla="*/ 175351 h 219075"/>
                <a:gd name="connsiteX11" fmla="*/ 40822 w 95250"/>
                <a:gd name="connsiteY11" fmla="*/ 195353 h 219075"/>
                <a:gd name="connsiteX12" fmla="*/ 37964 w 95250"/>
                <a:gd name="connsiteY12" fmla="*/ 195353 h 219075"/>
                <a:gd name="connsiteX13" fmla="*/ 24629 w 95250"/>
                <a:gd name="connsiteY13" fmla="*/ 219166 h 219075"/>
                <a:gd name="connsiteX14" fmla="*/ 817 w 95250"/>
                <a:gd name="connsiteY14" fmla="*/ 206783 h 219075"/>
                <a:gd name="connsiteX15" fmla="*/ 13199 w 95250"/>
                <a:gd name="connsiteY15" fmla="*/ 18297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50" h="219075">
                  <a:moveTo>
                    <a:pt x="13199" y="37238"/>
                  </a:moveTo>
                  <a:cubicBezTo>
                    <a:pt x="3674" y="34380"/>
                    <a:pt x="-1088" y="24855"/>
                    <a:pt x="817" y="15330"/>
                  </a:cubicBezTo>
                  <a:cubicBezTo>
                    <a:pt x="2722" y="5805"/>
                    <a:pt x="12247" y="-862"/>
                    <a:pt x="21772" y="90"/>
                  </a:cubicBezTo>
                  <a:cubicBezTo>
                    <a:pt x="31297" y="1043"/>
                    <a:pt x="38917" y="9615"/>
                    <a:pt x="38917" y="19140"/>
                  </a:cubicBezTo>
                  <a:cubicBezTo>
                    <a:pt x="38917" y="21045"/>
                    <a:pt x="38917" y="22950"/>
                    <a:pt x="37964" y="23903"/>
                  </a:cubicBezTo>
                  <a:cubicBezTo>
                    <a:pt x="38917" y="23903"/>
                    <a:pt x="39869" y="23903"/>
                    <a:pt x="40822" y="23903"/>
                  </a:cubicBezTo>
                  <a:cubicBezTo>
                    <a:pt x="54157" y="23903"/>
                    <a:pt x="66539" y="31523"/>
                    <a:pt x="73207" y="43905"/>
                  </a:cubicBezTo>
                  <a:cubicBezTo>
                    <a:pt x="78922" y="56288"/>
                    <a:pt x="77969" y="70575"/>
                    <a:pt x="69397" y="81053"/>
                  </a:cubicBezTo>
                  <a:cubicBezTo>
                    <a:pt x="84637" y="82005"/>
                    <a:pt x="96067" y="94388"/>
                    <a:pt x="96067" y="109628"/>
                  </a:cubicBezTo>
                  <a:cubicBezTo>
                    <a:pt x="96067" y="124868"/>
                    <a:pt x="84637" y="137251"/>
                    <a:pt x="69397" y="138203"/>
                  </a:cubicBezTo>
                  <a:cubicBezTo>
                    <a:pt x="77969" y="148681"/>
                    <a:pt x="78922" y="163920"/>
                    <a:pt x="73207" y="175351"/>
                  </a:cubicBezTo>
                  <a:cubicBezTo>
                    <a:pt x="67492" y="187733"/>
                    <a:pt x="55109" y="195353"/>
                    <a:pt x="40822" y="195353"/>
                  </a:cubicBezTo>
                  <a:cubicBezTo>
                    <a:pt x="39869" y="195353"/>
                    <a:pt x="38917" y="195353"/>
                    <a:pt x="37964" y="195353"/>
                  </a:cubicBezTo>
                  <a:cubicBezTo>
                    <a:pt x="40822" y="205831"/>
                    <a:pt x="35107" y="215356"/>
                    <a:pt x="24629" y="219166"/>
                  </a:cubicBezTo>
                  <a:cubicBezTo>
                    <a:pt x="15104" y="222023"/>
                    <a:pt x="3674" y="216308"/>
                    <a:pt x="817" y="206783"/>
                  </a:cubicBezTo>
                  <a:cubicBezTo>
                    <a:pt x="-2041" y="197258"/>
                    <a:pt x="2722" y="185828"/>
                    <a:pt x="13199" y="182970"/>
                  </a:cubicBezTo>
                </a:path>
              </a:pathLst>
            </a:custGeom>
            <a:noFill/>
            <a:ln w="15875" cap="rnd">
              <a:solidFill>
                <a:schemeClr val="bg1"/>
              </a:solidFill>
              <a:prstDash val="solid"/>
              <a:round/>
            </a:ln>
          </p:spPr>
          <p:txBody>
            <a:bodyPr rtlCol="0" anchor="ctr"/>
            <a:lstStyle/>
            <a:p>
              <a:endParaRPr lang="en-GB"/>
            </a:p>
          </p:txBody>
        </p:sp>
        <p:sp>
          <p:nvSpPr>
            <p:cNvPr id="52" name="Freeform: Shape 25">
              <a:extLst>
                <a:ext uri="{FF2B5EF4-FFF2-40B4-BE49-F238E27FC236}">
                  <a16:creationId xmlns:a16="http://schemas.microsoft.com/office/drawing/2014/main" id="{F2E9A87A-08EA-5592-D857-506B938A95EC}"/>
                </a:ext>
              </a:extLst>
            </p:cNvPr>
            <p:cNvSpPr/>
            <p:nvPr/>
          </p:nvSpPr>
          <p:spPr>
            <a:xfrm>
              <a:off x="1384797" y="1433116"/>
              <a:ext cx="28575" cy="9525"/>
            </a:xfrm>
            <a:custGeom>
              <a:avLst/>
              <a:gdLst>
                <a:gd name="connsiteX0" fmla="*/ 0 w 28575"/>
                <a:gd name="connsiteY0" fmla="*/ 3572 h 0"/>
                <a:gd name="connsiteX1" fmla="*/ 28575 w 28575"/>
                <a:gd name="connsiteY1" fmla="*/ 3572 h 0"/>
              </a:gdLst>
              <a:ahLst/>
              <a:cxnLst>
                <a:cxn ang="0">
                  <a:pos x="connsiteX0" y="connsiteY0"/>
                </a:cxn>
                <a:cxn ang="0">
                  <a:pos x="connsiteX1" y="connsiteY1"/>
                </a:cxn>
              </a:cxnLst>
              <a:rect l="l" t="t" r="r" b="b"/>
              <a:pathLst>
                <a:path w="28575">
                  <a:moveTo>
                    <a:pt x="0" y="3572"/>
                  </a:moveTo>
                  <a:cubicBezTo>
                    <a:pt x="8573" y="-1191"/>
                    <a:pt x="20002" y="-1191"/>
                    <a:pt x="28575" y="3572"/>
                  </a:cubicBezTo>
                </a:path>
              </a:pathLst>
            </a:custGeom>
            <a:noFill/>
            <a:ln w="15875" cap="rnd">
              <a:solidFill>
                <a:schemeClr val="bg1"/>
              </a:solidFill>
              <a:prstDash val="solid"/>
              <a:round/>
            </a:ln>
          </p:spPr>
          <p:txBody>
            <a:bodyPr rtlCol="0" anchor="ctr"/>
            <a:lstStyle/>
            <a:p>
              <a:endParaRPr lang="en-GB"/>
            </a:p>
          </p:txBody>
        </p:sp>
        <p:sp>
          <p:nvSpPr>
            <p:cNvPr id="53" name="Freeform: Shape 26">
              <a:extLst>
                <a:ext uri="{FF2B5EF4-FFF2-40B4-BE49-F238E27FC236}">
                  <a16:creationId xmlns:a16="http://schemas.microsoft.com/office/drawing/2014/main" id="{D80E5524-01DE-4429-093F-A8226B0D6126}"/>
                </a:ext>
              </a:extLst>
            </p:cNvPr>
            <p:cNvSpPr/>
            <p:nvPr/>
          </p:nvSpPr>
          <p:spPr>
            <a:xfrm>
              <a:off x="1384797" y="1619568"/>
              <a:ext cx="28575" cy="9525"/>
            </a:xfrm>
            <a:custGeom>
              <a:avLst/>
              <a:gdLst>
                <a:gd name="connsiteX0" fmla="*/ 28575 w 28575"/>
                <a:gd name="connsiteY0" fmla="*/ 0 h 0"/>
                <a:gd name="connsiteX1" fmla="*/ 0 w 28575"/>
                <a:gd name="connsiteY1" fmla="*/ 0 h 0"/>
              </a:gdLst>
              <a:ahLst/>
              <a:cxnLst>
                <a:cxn ang="0">
                  <a:pos x="connsiteX0" y="connsiteY0"/>
                </a:cxn>
                <a:cxn ang="0">
                  <a:pos x="connsiteX1" y="connsiteY1"/>
                </a:cxn>
              </a:cxnLst>
              <a:rect l="l" t="t" r="r" b="b"/>
              <a:pathLst>
                <a:path w="28575">
                  <a:moveTo>
                    <a:pt x="28575" y="0"/>
                  </a:moveTo>
                  <a:cubicBezTo>
                    <a:pt x="20002" y="4763"/>
                    <a:pt x="8573" y="4763"/>
                    <a:pt x="0" y="0"/>
                  </a:cubicBezTo>
                </a:path>
              </a:pathLst>
            </a:custGeom>
            <a:noFill/>
            <a:ln w="15875" cap="rnd">
              <a:solidFill>
                <a:schemeClr val="bg1"/>
              </a:solidFill>
              <a:prstDash val="solid"/>
              <a:round/>
            </a:ln>
          </p:spPr>
          <p:txBody>
            <a:bodyPr rtlCol="0" anchor="ctr"/>
            <a:lstStyle/>
            <a:p>
              <a:endParaRPr lang="en-GB"/>
            </a:p>
          </p:txBody>
        </p:sp>
        <p:sp>
          <p:nvSpPr>
            <p:cNvPr id="54" name="Freeform: Shape 27">
              <a:extLst>
                <a:ext uri="{FF2B5EF4-FFF2-40B4-BE49-F238E27FC236}">
                  <a16:creationId xmlns:a16="http://schemas.microsoft.com/office/drawing/2014/main" id="{F6A57087-6C7F-4799-D122-62C601B580AF}"/>
                </a:ext>
              </a:extLst>
            </p:cNvPr>
            <p:cNvSpPr/>
            <p:nvPr/>
          </p:nvSpPr>
          <p:spPr>
            <a:xfrm>
              <a:off x="1360984" y="1490028"/>
              <a:ext cx="76200" cy="76200"/>
            </a:xfrm>
            <a:custGeom>
              <a:avLst/>
              <a:gdLst>
                <a:gd name="connsiteX0" fmla="*/ 0 w 76200"/>
                <a:gd name="connsiteY0" fmla="*/ 9525 h 76200"/>
                <a:gd name="connsiteX1" fmla="*/ 9525 w 76200"/>
                <a:gd name="connsiteY1" fmla="*/ 0 h 76200"/>
                <a:gd name="connsiteX2" fmla="*/ 66675 w 76200"/>
                <a:gd name="connsiteY2" fmla="*/ 0 h 76200"/>
                <a:gd name="connsiteX3" fmla="*/ 76200 w 76200"/>
                <a:gd name="connsiteY3" fmla="*/ 9525 h 76200"/>
                <a:gd name="connsiteX4" fmla="*/ 76200 w 76200"/>
                <a:gd name="connsiteY4" fmla="*/ 66675 h 76200"/>
                <a:gd name="connsiteX5" fmla="*/ 66675 w 76200"/>
                <a:gd name="connsiteY5" fmla="*/ 76200 h 76200"/>
                <a:gd name="connsiteX6" fmla="*/ 9525 w 76200"/>
                <a:gd name="connsiteY6" fmla="*/ 76200 h 76200"/>
                <a:gd name="connsiteX7" fmla="*/ 0 w 76200"/>
                <a:gd name="connsiteY7" fmla="*/ 66675 h 76200"/>
                <a:gd name="connsiteX8" fmla="*/ 0 w 76200"/>
                <a:gd name="connsiteY8"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0" h="76200">
                  <a:moveTo>
                    <a:pt x="0" y="9525"/>
                  </a:moveTo>
                  <a:cubicBezTo>
                    <a:pt x="0" y="3810"/>
                    <a:pt x="3810" y="0"/>
                    <a:pt x="9525" y="0"/>
                  </a:cubicBezTo>
                  <a:lnTo>
                    <a:pt x="66675" y="0"/>
                  </a:lnTo>
                  <a:cubicBezTo>
                    <a:pt x="72390" y="0"/>
                    <a:pt x="76200" y="3810"/>
                    <a:pt x="76200" y="9525"/>
                  </a:cubicBezTo>
                  <a:lnTo>
                    <a:pt x="76200" y="66675"/>
                  </a:lnTo>
                  <a:cubicBezTo>
                    <a:pt x="76200" y="72390"/>
                    <a:pt x="72390" y="76200"/>
                    <a:pt x="66675" y="76200"/>
                  </a:cubicBezTo>
                  <a:lnTo>
                    <a:pt x="9525" y="76200"/>
                  </a:lnTo>
                  <a:cubicBezTo>
                    <a:pt x="3810" y="76200"/>
                    <a:pt x="0" y="72390"/>
                    <a:pt x="0" y="66675"/>
                  </a:cubicBezTo>
                  <a:lnTo>
                    <a:pt x="0" y="9525"/>
                  </a:lnTo>
                  <a:close/>
                </a:path>
              </a:pathLst>
            </a:custGeom>
            <a:noFill/>
            <a:ln w="15875" cap="rnd">
              <a:solidFill>
                <a:schemeClr val="bg1"/>
              </a:solidFill>
              <a:prstDash val="solid"/>
              <a:round/>
            </a:ln>
          </p:spPr>
          <p:txBody>
            <a:bodyPr rtlCol="0" anchor="ctr"/>
            <a:lstStyle/>
            <a:p>
              <a:endParaRPr lang="en-GB"/>
            </a:p>
          </p:txBody>
        </p:sp>
        <p:sp>
          <p:nvSpPr>
            <p:cNvPr id="55" name="Freeform: Shape 28">
              <a:extLst>
                <a:ext uri="{FF2B5EF4-FFF2-40B4-BE49-F238E27FC236}">
                  <a16:creationId xmlns:a16="http://schemas.microsoft.com/office/drawing/2014/main" id="{823C93FC-9D02-0F42-E99A-B969E46A7C57}"/>
                </a:ext>
              </a:extLst>
            </p:cNvPr>
            <p:cNvSpPr/>
            <p:nvPr/>
          </p:nvSpPr>
          <p:spPr>
            <a:xfrm>
              <a:off x="1380034" y="1470977"/>
              <a:ext cx="9525" cy="19050"/>
            </a:xfrm>
            <a:custGeom>
              <a:avLst/>
              <a:gdLst>
                <a:gd name="connsiteX0" fmla="*/ 0 w 0"/>
                <a:gd name="connsiteY0" fmla="*/ 0 h 19050"/>
                <a:gd name="connsiteX1" fmla="*/ 0 w 0"/>
                <a:gd name="connsiteY1" fmla="*/ 19050 h 19050"/>
              </a:gdLst>
              <a:ahLst/>
              <a:cxnLst>
                <a:cxn ang="0">
                  <a:pos x="connsiteX0" y="connsiteY0"/>
                </a:cxn>
                <a:cxn ang="0">
                  <a:pos x="connsiteX1" y="connsiteY1"/>
                </a:cxn>
              </a:cxnLst>
              <a:rect l="l" t="t" r="r" b="b"/>
              <a:pathLst>
                <a:path h="19050">
                  <a:moveTo>
                    <a:pt x="0" y="0"/>
                  </a:moveTo>
                  <a:lnTo>
                    <a:pt x="0" y="19050"/>
                  </a:lnTo>
                </a:path>
              </a:pathLst>
            </a:custGeom>
            <a:noFill/>
            <a:ln w="15875" cap="rnd">
              <a:solidFill>
                <a:schemeClr val="bg1"/>
              </a:solidFill>
              <a:prstDash val="solid"/>
              <a:round/>
            </a:ln>
          </p:spPr>
          <p:txBody>
            <a:bodyPr rtlCol="0" anchor="ctr"/>
            <a:lstStyle/>
            <a:p>
              <a:endParaRPr lang="en-GB"/>
            </a:p>
          </p:txBody>
        </p:sp>
        <p:sp>
          <p:nvSpPr>
            <p:cNvPr id="56" name="Freeform: Shape 29">
              <a:extLst>
                <a:ext uri="{FF2B5EF4-FFF2-40B4-BE49-F238E27FC236}">
                  <a16:creationId xmlns:a16="http://schemas.microsoft.com/office/drawing/2014/main" id="{20FF3F25-B8AC-1557-8346-B3892B02B565}"/>
                </a:ext>
              </a:extLst>
            </p:cNvPr>
            <p:cNvSpPr/>
            <p:nvPr/>
          </p:nvSpPr>
          <p:spPr>
            <a:xfrm>
              <a:off x="1418134" y="1470977"/>
              <a:ext cx="9525" cy="19050"/>
            </a:xfrm>
            <a:custGeom>
              <a:avLst/>
              <a:gdLst>
                <a:gd name="connsiteX0" fmla="*/ 0 w 0"/>
                <a:gd name="connsiteY0" fmla="*/ 0 h 19050"/>
                <a:gd name="connsiteX1" fmla="*/ 0 w 0"/>
                <a:gd name="connsiteY1" fmla="*/ 19050 h 19050"/>
              </a:gdLst>
              <a:ahLst/>
              <a:cxnLst>
                <a:cxn ang="0">
                  <a:pos x="connsiteX0" y="connsiteY0"/>
                </a:cxn>
                <a:cxn ang="0">
                  <a:pos x="connsiteX1" y="connsiteY1"/>
                </a:cxn>
              </a:cxnLst>
              <a:rect l="l" t="t" r="r" b="b"/>
              <a:pathLst>
                <a:path h="19050">
                  <a:moveTo>
                    <a:pt x="0" y="0"/>
                  </a:moveTo>
                  <a:lnTo>
                    <a:pt x="0" y="19050"/>
                  </a:lnTo>
                </a:path>
              </a:pathLst>
            </a:custGeom>
            <a:noFill/>
            <a:ln w="15875" cap="rnd">
              <a:solidFill>
                <a:schemeClr val="bg1"/>
              </a:solidFill>
              <a:prstDash val="solid"/>
              <a:round/>
            </a:ln>
          </p:spPr>
          <p:txBody>
            <a:bodyPr rtlCol="0" anchor="ctr"/>
            <a:lstStyle/>
            <a:p>
              <a:endParaRPr lang="en-GB"/>
            </a:p>
          </p:txBody>
        </p:sp>
        <p:sp>
          <p:nvSpPr>
            <p:cNvPr id="57" name="Freeform: Shape 30">
              <a:extLst>
                <a:ext uri="{FF2B5EF4-FFF2-40B4-BE49-F238E27FC236}">
                  <a16:creationId xmlns:a16="http://schemas.microsoft.com/office/drawing/2014/main" id="{C0CED680-776B-CF57-7D95-590F35B77A6B}"/>
                </a:ext>
              </a:extLst>
            </p:cNvPr>
            <p:cNvSpPr/>
            <p:nvPr/>
          </p:nvSpPr>
          <p:spPr>
            <a:xfrm>
              <a:off x="1341934" y="1547178"/>
              <a:ext cx="19050" cy="9525"/>
            </a:xfrm>
            <a:custGeom>
              <a:avLst/>
              <a:gdLst>
                <a:gd name="connsiteX0" fmla="*/ 0 w 19050"/>
                <a:gd name="connsiteY0" fmla="*/ 0 h 0"/>
                <a:gd name="connsiteX1" fmla="*/ 19050 w 19050"/>
                <a:gd name="connsiteY1" fmla="*/ 0 h 0"/>
              </a:gdLst>
              <a:ahLst/>
              <a:cxnLst>
                <a:cxn ang="0">
                  <a:pos x="connsiteX0" y="connsiteY0"/>
                </a:cxn>
                <a:cxn ang="0">
                  <a:pos x="connsiteX1" y="connsiteY1"/>
                </a:cxn>
              </a:cxnLst>
              <a:rect l="l" t="t" r="r" b="b"/>
              <a:pathLst>
                <a:path w="19050">
                  <a:moveTo>
                    <a:pt x="0" y="0"/>
                  </a:moveTo>
                  <a:lnTo>
                    <a:pt x="19050" y="0"/>
                  </a:lnTo>
                </a:path>
              </a:pathLst>
            </a:custGeom>
            <a:noFill/>
            <a:ln w="15875" cap="rnd">
              <a:solidFill>
                <a:schemeClr val="bg1"/>
              </a:solidFill>
              <a:prstDash val="solid"/>
              <a:round/>
            </a:ln>
          </p:spPr>
          <p:txBody>
            <a:bodyPr rtlCol="0" anchor="ctr"/>
            <a:lstStyle/>
            <a:p>
              <a:endParaRPr lang="en-GB"/>
            </a:p>
          </p:txBody>
        </p:sp>
        <p:sp>
          <p:nvSpPr>
            <p:cNvPr id="58" name="Freeform: Shape 31">
              <a:extLst>
                <a:ext uri="{FF2B5EF4-FFF2-40B4-BE49-F238E27FC236}">
                  <a16:creationId xmlns:a16="http://schemas.microsoft.com/office/drawing/2014/main" id="{C5C09FD5-49B8-4B1D-B4D4-386371265A83}"/>
                </a:ext>
              </a:extLst>
            </p:cNvPr>
            <p:cNvSpPr/>
            <p:nvPr/>
          </p:nvSpPr>
          <p:spPr>
            <a:xfrm>
              <a:off x="1341934" y="1509078"/>
              <a:ext cx="19050" cy="9525"/>
            </a:xfrm>
            <a:custGeom>
              <a:avLst/>
              <a:gdLst>
                <a:gd name="connsiteX0" fmla="*/ 0 w 19050"/>
                <a:gd name="connsiteY0" fmla="*/ 0 h 0"/>
                <a:gd name="connsiteX1" fmla="*/ 19050 w 19050"/>
                <a:gd name="connsiteY1" fmla="*/ 0 h 0"/>
              </a:gdLst>
              <a:ahLst/>
              <a:cxnLst>
                <a:cxn ang="0">
                  <a:pos x="connsiteX0" y="connsiteY0"/>
                </a:cxn>
                <a:cxn ang="0">
                  <a:pos x="connsiteX1" y="connsiteY1"/>
                </a:cxn>
              </a:cxnLst>
              <a:rect l="l" t="t" r="r" b="b"/>
              <a:pathLst>
                <a:path w="19050">
                  <a:moveTo>
                    <a:pt x="0" y="0"/>
                  </a:moveTo>
                  <a:lnTo>
                    <a:pt x="19050" y="0"/>
                  </a:lnTo>
                </a:path>
              </a:pathLst>
            </a:custGeom>
            <a:noFill/>
            <a:ln w="15875" cap="rnd">
              <a:solidFill>
                <a:schemeClr val="bg1"/>
              </a:solidFill>
              <a:prstDash val="solid"/>
              <a:round/>
            </a:ln>
          </p:spPr>
          <p:txBody>
            <a:bodyPr rtlCol="0" anchor="ctr"/>
            <a:lstStyle/>
            <a:p>
              <a:endParaRPr lang="en-GB"/>
            </a:p>
          </p:txBody>
        </p:sp>
        <p:sp>
          <p:nvSpPr>
            <p:cNvPr id="59" name="Freeform: Shape 32">
              <a:extLst>
                <a:ext uri="{FF2B5EF4-FFF2-40B4-BE49-F238E27FC236}">
                  <a16:creationId xmlns:a16="http://schemas.microsoft.com/office/drawing/2014/main" id="{AD077A63-02FE-EF21-DDDF-1BA6F6A68CA8}"/>
                </a:ext>
              </a:extLst>
            </p:cNvPr>
            <p:cNvSpPr/>
            <p:nvPr/>
          </p:nvSpPr>
          <p:spPr>
            <a:xfrm>
              <a:off x="1418134" y="1566228"/>
              <a:ext cx="9525" cy="19050"/>
            </a:xfrm>
            <a:custGeom>
              <a:avLst/>
              <a:gdLst>
                <a:gd name="connsiteX0" fmla="*/ 0 w 0"/>
                <a:gd name="connsiteY0" fmla="*/ 19050 h 19050"/>
                <a:gd name="connsiteX1" fmla="*/ 0 w 0"/>
                <a:gd name="connsiteY1" fmla="*/ 0 h 19050"/>
              </a:gdLst>
              <a:ahLst/>
              <a:cxnLst>
                <a:cxn ang="0">
                  <a:pos x="connsiteX0" y="connsiteY0"/>
                </a:cxn>
                <a:cxn ang="0">
                  <a:pos x="connsiteX1" y="connsiteY1"/>
                </a:cxn>
              </a:cxnLst>
              <a:rect l="l" t="t" r="r" b="b"/>
              <a:pathLst>
                <a:path h="19050">
                  <a:moveTo>
                    <a:pt x="0" y="19050"/>
                  </a:moveTo>
                  <a:lnTo>
                    <a:pt x="0" y="0"/>
                  </a:lnTo>
                </a:path>
              </a:pathLst>
            </a:custGeom>
            <a:noFill/>
            <a:ln w="15875" cap="rnd">
              <a:solidFill>
                <a:schemeClr val="bg1"/>
              </a:solidFill>
              <a:prstDash val="solid"/>
              <a:round/>
            </a:ln>
          </p:spPr>
          <p:txBody>
            <a:bodyPr rtlCol="0" anchor="ctr"/>
            <a:lstStyle/>
            <a:p>
              <a:endParaRPr lang="en-GB"/>
            </a:p>
          </p:txBody>
        </p:sp>
        <p:sp>
          <p:nvSpPr>
            <p:cNvPr id="60" name="Freeform: Shape 33">
              <a:extLst>
                <a:ext uri="{FF2B5EF4-FFF2-40B4-BE49-F238E27FC236}">
                  <a16:creationId xmlns:a16="http://schemas.microsoft.com/office/drawing/2014/main" id="{61971BD5-AF96-EFDB-964E-44CD8EF6173A}"/>
                </a:ext>
              </a:extLst>
            </p:cNvPr>
            <p:cNvSpPr/>
            <p:nvPr/>
          </p:nvSpPr>
          <p:spPr>
            <a:xfrm>
              <a:off x="1380034" y="1566228"/>
              <a:ext cx="9525" cy="19050"/>
            </a:xfrm>
            <a:custGeom>
              <a:avLst/>
              <a:gdLst>
                <a:gd name="connsiteX0" fmla="*/ 0 w 0"/>
                <a:gd name="connsiteY0" fmla="*/ 19050 h 19050"/>
                <a:gd name="connsiteX1" fmla="*/ 0 w 0"/>
                <a:gd name="connsiteY1" fmla="*/ 0 h 19050"/>
              </a:gdLst>
              <a:ahLst/>
              <a:cxnLst>
                <a:cxn ang="0">
                  <a:pos x="connsiteX0" y="connsiteY0"/>
                </a:cxn>
                <a:cxn ang="0">
                  <a:pos x="connsiteX1" y="connsiteY1"/>
                </a:cxn>
              </a:cxnLst>
              <a:rect l="l" t="t" r="r" b="b"/>
              <a:pathLst>
                <a:path h="19050">
                  <a:moveTo>
                    <a:pt x="0" y="19050"/>
                  </a:moveTo>
                  <a:lnTo>
                    <a:pt x="0" y="0"/>
                  </a:lnTo>
                </a:path>
              </a:pathLst>
            </a:custGeom>
            <a:noFill/>
            <a:ln w="15875" cap="rnd">
              <a:solidFill>
                <a:schemeClr val="bg1"/>
              </a:solidFill>
              <a:prstDash val="solid"/>
              <a:round/>
            </a:ln>
          </p:spPr>
          <p:txBody>
            <a:bodyPr rtlCol="0" anchor="ctr"/>
            <a:lstStyle/>
            <a:p>
              <a:endParaRPr lang="en-GB"/>
            </a:p>
          </p:txBody>
        </p:sp>
        <p:sp>
          <p:nvSpPr>
            <p:cNvPr id="61" name="Freeform: Shape 34">
              <a:extLst>
                <a:ext uri="{FF2B5EF4-FFF2-40B4-BE49-F238E27FC236}">
                  <a16:creationId xmlns:a16="http://schemas.microsoft.com/office/drawing/2014/main" id="{73225B0A-052C-A1C6-A6CC-C40E5C7C715B}"/>
                </a:ext>
              </a:extLst>
            </p:cNvPr>
            <p:cNvSpPr/>
            <p:nvPr/>
          </p:nvSpPr>
          <p:spPr>
            <a:xfrm>
              <a:off x="1437184" y="1509078"/>
              <a:ext cx="19050" cy="9525"/>
            </a:xfrm>
            <a:custGeom>
              <a:avLst/>
              <a:gdLst>
                <a:gd name="connsiteX0" fmla="*/ 19050 w 19050"/>
                <a:gd name="connsiteY0" fmla="*/ 0 h 0"/>
                <a:gd name="connsiteX1" fmla="*/ 0 w 19050"/>
                <a:gd name="connsiteY1" fmla="*/ 0 h 0"/>
              </a:gdLst>
              <a:ahLst/>
              <a:cxnLst>
                <a:cxn ang="0">
                  <a:pos x="connsiteX0" y="connsiteY0"/>
                </a:cxn>
                <a:cxn ang="0">
                  <a:pos x="connsiteX1" y="connsiteY1"/>
                </a:cxn>
              </a:cxnLst>
              <a:rect l="l" t="t" r="r" b="b"/>
              <a:pathLst>
                <a:path w="19050">
                  <a:moveTo>
                    <a:pt x="19050" y="0"/>
                  </a:moveTo>
                  <a:lnTo>
                    <a:pt x="0" y="0"/>
                  </a:lnTo>
                </a:path>
              </a:pathLst>
            </a:custGeom>
            <a:noFill/>
            <a:ln w="15875" cap="rnd">
              <a:solidFill>
                <a:schemeClr val="bg1"/>
              </a:solidFill>
              <a:prstDash val="solid"/>
              <a:round/>
            </a:ln>
          </p:spPr>
          <p:txBody>
            <a:bodyPr rtlCol="0" anchor="ctr"/>
            <a:lstStyle/>
            <a:p>
              <a:endParaRPr lang="en-GB"/>
            </a:p>
          </p:txBody>
        </p:sp>
        <p:sp>
          <p:nvSpPr>
            <p:cNvPr id="62" name="Freeform: Shape 35">
              <a:extLst>
                <a:ext uri="{FF2B5EF4-FFF2-40B4-BE49-F238E27FC236}">
                  <a16:creationId xmlns:a16="http://schemas.microsoft.com/office/drawing/2014/main" id="{3D6B9B4C-5E5A-B270-9B6E-D43849AE20C0}"/>
                </a:ext>
              </a:extLst>
            </p:cNvPr>
            <p:cNvSpPr/>
            <p:nvPr/>
          </p:nvSpPr>
          <p:spPr>
            <a:xfrm>
              <a:off x="1437184" y="1547178"/>
              <a:ext cx="19050" cy="9525"/>
            </a:xfrm>
            <a:custGeom>
              <a:avLst/>
              <a:gdLst>
                <a:gd name="connsiteX0" fmla="*/ 19050 w 19050"/>
                <a:gd name="connsiteY0" fmla="*/ 0 h 0"/>
                <a:gd name="connsiteX1" fmla="*/ 0 w 19050"/>
                <a:gd name="connsiteY1" fmla="*/ 0 h 0"/>
              </a:gdLst>
              <a:ahLst/>
              <a:cxnLst>
                <a:cxn ang="0">
                  <a:pos x="connsiteX0" y="connsiteY0"/>
                </a:cxn>
                <a:cxn ang="0">
                  <a:pos x="connsiteX1" y="connsiteY1"/>
                </a:cxn>
              </a:cxnLst>
              <a:rect l="l" t="t" r="r" b="b"/>
              <a:pathLst>
                <a:path w="19050">
                  <a:moveTo>
                    <a:pt x="19050" y="0"/>
                  </a:moveTo>
                  <a:lnTo>
                    <a:pt x="0" y="0"/>
                  </a:lnTo>
                </a:path>
              </a:pathLst>
            </a:custGeom>
            <a:noFill/>
            <a:ln w="15875" cap="rnd">
              <a:solidFill>
                <a:schemeClr val="bg1"/>
              </a:solidFill>
              <a:prstDash val="solid"/>
              <a:round/>
            </a:ln>
          </p:spPr>
          <p:txBody>
            <a:bodyPr rtlCol="0" anchor="ctr"/>
            <a:lstStyle/>
            <a:p>
              <a:endParaRPr lang="en-GB"/>
            </a:p>
          </p:txBody>
        </p:sp>
      </p:grpSp>
      <p:grpSp>
        <p:nvGrpSpPr>
          <p:cNvPr id="63" name="Group 62">
            <a:extLst>
              <a:ext uri="{FF2B5EF4-FFF2-40B4-BE49-F238E27FC236}">
                <a16:creationId xmlns:a16="http://schemas.microsoft.com/office/drawing/2014/main" id="{C0A42288-9C5D-C01D-2E2D-D4345A9832E3}"/>
              </a:ext>
            </a:extLst>
          </p:cNvPr>
          <p:cNvGrpSpPr/>
          <p:nvPr/>
        </p:nvGrpSpPr>
        <p:grpSpPr>
          <a:xfrm>
            <a:off x="4803118" y="2447856"/>
            <a:ext cx="439051" cy="418484"/>
            <a:chOff x="3616644" y="2354263"/>
            <a:chExt cx="219075" cy="219075"/>
          </a:xfrm>
        </p:grpSpPr>
        <p:sp>
          <p:nvSpPr>
            <p:cNvPr id="64" name="Freeform: Shape 125">
              <a:extLst>
                <a:ext uri="{FF2B5EF4-FFF2-40B4-BE49-F238E27FC236}">
                  <a16:creationId xmlns:a16="http://schemas.microsoft.com/office/drawing/2014/main" id="{28A0E583-3114-00A6-3BDA-FE2EAF05DEE9}"/>
                </a:ext>
              </a:extLst>
            </p:cNvPr>
            <p:cNvSpPr/>
            <p:nvPr/>
          </p:nvSpPr>
          <p:spPr>
            <a:xfrm>
              <a:off x="3721419" y="2459038"/>
              <a:ext cx="114300" cy="114300"/>
            </a:xfrm>
            <a:custGeom>
              <a:avLst/>
              <a:gdLst>
                <a:gd name="connsiteX0" fmla="*/ 57150 w 114300"/>
                <a:gd name="connsiteY0" fmla="*/ 114300 h 114300"/>
                <a:gd name="connsiteX1" fmla="*/ 114300 w 114300"/>
                <a:gd name="connsiteY1" fmla="*/ 57150 h 114300"/>
                <a:gd name="connsiteX2" fmla="*/ 57150 w 114300"/>
                <a:gd name="connsiteY2" fmla="*/ 0 h 114300"/>
                <a:gd name="connsiteX3" fmla="*/ 0 w 114300"/>
                <a:gd name="connsiteY3" fmla="*/ 57150 h 114300"/>
                <a:gd name="connsiteX4" fmla="*/ 57150 w 114300"/>
                <a:gd name="connsiteY4" fmla="*/ 11430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57150" y="114300"/>
                  </a:moveTo>
                  <a:cubicBezTo>
                    <a:pt x="88678" y="114300"/>
                    <a:pt x="114300" y="88678"/>
                    <a:pt x="114300" y="57150"/>
                  </a:cubicBezTo>
                  <a:cubicBezTo>
                    <a:pt x="114300" y="25622"/>
                    <a:pt x="88678" y="0"/>
                    <a:pt x="57150" y="0"/>
                  </a:cubicBezTo>
                  <a:cubicBezTo>
                    <a:pt x="25622" y="0"/>
                    <a:pt x="0" y="25622"/>
                    <a:pt x="0" y="57150"/>
                  </a:cubicBezTo>
                  <a:cubicBezTo>
                    <a:pt x="0" y="88678"/>
                    <a:pt x="25622" y="114300"/>
                    <a:pt x="57150" y="114300"/>
                  </a:cubicBezTo>
                  <a:close/>
                </a:path>
              </a:pathLst>
            </a:custGeom>
            <a:noFill/>
            <a:ln w="15875" cap="rnd">
              <a:solidFill>
                <a:schemeClr val="bg1"/>
              </a:solidFill>
              <a:prstDash val="solid"/>
              <a:round/>
            </a:ln>
          </p:spPr>
          <p:txBody>
            <a:bodyPr rtlCol="0" anchor="ctr"/>
            <a:lstStyle/>
            <a:p>
              <a:endParaRPr lang="en-GB"/>
            </a:p>
          </p:txBody>
        </p:sp>
        <p:sp>
          <p:nvSpPr>
            <p:cNvPr id="65" name="Freeform: Shape 117">
              <a:extLst>
                <a:ext uri="{FF2B5EF4-FFF2-40B4-BE49-F238E27FC236}">
                  <a16:creationId xmlns:a16="http://schemas.microsoft.com/office/drawing/2014/main" id="{CC655A4E-298B-721A-315F-A760C0720F33}"/>
                </a:ext>
              </a:extLst>
            </p:cNvPr>
            <p:cNvSpPr/>
            <p:nvPr/>
          </p:nvSpPr>
          <p:spPr>
            <a:xfrm>
              <a:off x="3616644" y="2373313"/>
              <a:ext cx="85725" cy="200025"/>
            </a:xfrm>
            <a:custGeom>
              <a:avLst/>
              <a:gdLst>
                <a:gd name="connsiteX0" fmla="*/ 90488 w 85725"/>
                <a:gd name="connsiteY0" fmla="*/ 200025 h 200025"/>
                <a:gd name="connsiteX1" fmla="*/ 9525 w 85725"/>
                <a:gd name="connsiteY1" fmla="*/ 200025 h 200025"/>
                <a:gd name="connsiteX2" fmla="*/ 0 w 85725"/>
                <a:gd name="connsiteY2" fmla="*/ 190500 h 200025"/>
                <a:gd name="connsiteX3" fmla="*/ 0 w 85725"/>
                <a:gd name="connsiteY3" fmla="*/ 9525 h 200025"/>
                <a:gd name="connsiteX4" fmla="*/ 9525 w 85725"/>
                <a:gd name="connsiteY4" fmla="*/ 0 h 200025"/>
                <a:gd name="connsiteX5" fmla="*/ 28575 w 85725"/>
                <a:gd name="connsiteY5" fmla="*/ 0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 h="200025">
                  <a:moveTo>
                    <a:pt x="90488" y="200025"/>
                  </a:moveTo>
                  <a:lnTo>
                    <a:pt x="9525" y="200025"/>
                  </a:lnTo>
                  <a:cubicBezTo>
                    <a:pt x="4286" y="200025"/>
                    <a:pt x="0" y="195739"/>
                    <a:pt x="0" y="190500"/>
                  </a:cubicBezTo>
                  <a:lnTo>
                    <a:pt x="0" y="9525"/>
                  </a:lnTo>
                  <a:cubicBezTo>
                    <a:pt x="0" y="4286"/>
                    <a:pt x="4286" y="0"/>
                    <a:pt x="9525" y="0"/>
                  </a:cubicBezTo>
                  <a:lnTo>
                    <a:pt x="28575" y="0"/>
                  </a:lnTo>
                </a:path>
              </a:pathLst>
            </a:custGeom>
            <a:noFill/>
            <a:ln w="15875" cap="rnd">
              <a:solidFill>
                <a:schemeClr val="bg1"/>
              </a:solidFill>
              <a:prstDash val="solid"/>
              <a:round/>
            </a:ln>
          </p:spPr>
          <p:txBody>
            <a:bodyPr rtlCol="0" anchor="ctr"/>
            <a:lstStyle/>
            <a:p>
              <a:endParaRPr lang="en-GB"/>
            </a:p>
          </p:txBody>
        </p:sp>
        <p:sp>
          <p:nvSpPr>
            <p:cNvPr id="66" name="Freeform: Shape 118">
              <a:extLst>
                <a:ext uri="{FF2B5EF4-FFF2-40B4-BE49-F238E27FC236}">
                  <a16:creationId xmlns:a16="http://schemas.microsoft.com/office/drawing/2014/main" id="{3B397460-877D-36FE-216C-FA4F3FB7FFB8}"/>
                </a:ext>
              </a:extLst>
            </p:cNvPr>
            <p:cNvSpPr/>
            <p:nvPr/>
          </p:nvSpPr>
          <p:spPr>
            <a:xfrm>
              <a:off x="3759519" y="2373313"/>
              <a:ext cx="28575" cy="66675"/>
            </a:xfrm>
            <a:custGeom>
              <a:avLst/>
              <a:gdLst>
                <a:gd name="connsiteX0" fmla="*/ 0 w 28575"/>
                <a:gd name="connsiteY0" fmla="*/ 0 h 66675"/>
                <a:gd name="connsiteX1" fmla="*/ 19050 w 28575"/>
                <a:gd name="connsiteY1" fmla="*/ 0 h 66675"/>
                <a:gd name="connsiteX2" fmla="*/ 28575 w 28575"/>
                <a:gd name="connsiteY2" fmla="*/ 9525 h 66675"/>
                <a:gd name="connsiteX3" fmla="*/ 28575 w 28575"/>
                <a:gd name="connsiteY3" fmla="*/ 66675 h 66675"/>
              </a:gdLst>
              <a:ahLst/>
              <a:cxnLst>
                <a:cxn ang="0">
                  <a:pos x="connsiteX0" y="connsiteY0"/>
                </a:cxn>
                <a:cxn ang="0">
                  <a:pos x="connsiteX1" y="connsiteY1"/>
                </a:cxn>
                <a:cxn ang="0">
                  <a:pos x="connsiteX2" y="connsiteY2"/>
                </a:cxn>
                <a:cxn ang="0">
                  <a:pos x="connsiteX3" y="connsiteY3"/>
                </a:cxn>
              </a:cxnLst>
              <a:rect l="l" t="t" r="r" b="b"/>
              <a:pathLst>
                <a:path w="28575" h="66675">
                  <a:moveTo>
                    <a:pt x="0" y="0"/>
                  </a:moveTo>
                  <a:lnTo>
                    <a:pt x="19050" y="0"/>
                  </a:lnTo>
                  <a:cubicBezTo>
                    <a:pt x="24289" y="0"/>
                    <a:pt x="28575" y="4286"/>
                    <a:pt x="28575" y="9525"/>
                  </a:cubicBezTo>
                  <a:lnTo>
                    <a:pt x="28575" y="66675"/>
                  </a:lnTo>
                </a:path>
              </a:pathLst>
            </a:custGeom>
            <a:noFill/>
            <a:ln w="15875" cap="rnd">
              <a:solidFill>
                <a:schemeClr val="bg1"/>
              </a:solidFill>
              <a:prstDash val="solid"/>
              <a:round/>
            </a:ln>
          </p:spPr>
          <p:txBody>
            <a:bodyPr rtlCol="0" anchor="ctr"/>
            <a:lstStyle/>
            <a:p>
              <a:endParaRPr lang="en-GB"/>
            </a:p>
          </p:txBody>
        </p:sp>
        <p:sp>
          <p:nvSpPr>
            <p:cNvPr id="67" name="Freeform: Shape 119">
              <a:extLst>
                <a:ext uri="{FF2B5EF4-FFF2-40B4-BE49-F238E27FC236}">
                  <a16:creationId xmlns:a16="http://schemas.microsoft.com/office/drawing/2014/main" id="{1E3B2399-E092-D0FF-4FAA-92F0662C678B}"/>
                </a:ext>
              </a:extLst>
            </p:cNvPr>
            <p:cNvSpPr/>
            <p:nvPr/>
          </p:nvSpPr>
          <p:spPr>
            <a:xfrm>
              <a:off x="3664269" y="2354263"/>
              <a:ext cx="76200" cy="47625"/>
            </a:xfrm>
            <a:custGeom>
              <a:avLst/>
              <a:gdLst>
                <a:gd name="connsiteX0" fmla="*/ 57150 w 76200"/>
                <a:gd name="connsiteY0" fmla="*/ 19050 h 47625"/>
                <a:gd name="connsiteX1" fmla="*/ 38100 w 76200"/>
                <a:gd name="connsiteY1" fmla="*/ 0 h 47625"/>
                <a:gd name="connsiteX2" fmla="*/ 19050 w 76200"/>
                <a:gd name="connsiteY2" fmla="*/ 19050 h 47625"/>
                <a:gd name="connsiteX3" fmla="*/ 0 w 76200"/>
                <a:gd name="connsiteY3" fmla="*/ 19050 h 47625"/>
                <a:gd name="connsiteX4" fmla="*/ 0 w 76200"/>
                <a:gd name="connsiteY4" fmla="*/ 47625 h 47625"/>
                <a:gd name="connsiteX5" fmla="*/ 76200 w 76200"/>
                <a:gd name="connsiteY5" fmla="*/ 47625 h 47625"/>
                <a:gd name="connsiteX6" fmla="*/ 76200 w 76200"/>
                <a:gd name="connsiteY6" fmla="*/ 19050 h 47625"/>
                <a:gd name="connsiteX7" fmla="*/ 57150 w 76200"/>
                <a:gd name="connsiteY7" fmla="*/ 1905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47625">
                  <a:moveTo>
                    <a:pt x="57150" y="19050"/>
                  </a:moveTo>
                  <a:cubicBezTo>
                    <a:pt x="57150" y="8573"/>
                    <a:pt x="48578" y="0"/>
                    <a:pt x="38100" y="0"/>
                  </a:cubicBezTo>
                  <a:cubicBezTo>
                    <a:pt x="27622" y="0"/>
                    <a:pt x="19050" y="8573"/>
                    <a:pt x="19050" y="19050"/>
                  </a:cubicBezTo>
                  <a:lnTo>
                    <a:pt x="0" y="19050"/>
                  </a:lnTo>
                  <a:lnTo>
                    <a:pt x="0" y="47625"/>
                  </a:lnTo>
                  <a:lnTo>
                    <a:pt x="76200" y="47625"/>
                  </a:lnTo>
                  <a:lnTo>
                    <a:pt x="76200" y="19050"/>
                  </a:lnTo>
                  <a:lnTo>
                    <a:pt x="57150" y="19050"/>
                  </a:lnTo>
                  <a:close/>
                </a:path>
              </a:pathLst>
            </a:custGeom>
            <a:noFill/>
            <a:ln w="15875" cap="rnd">
              <a:solidFill>
                <a:schemeClr val="bg1"/>
              </a:solidFill>
              <a:prstDash val="solid"/>
              <a:round/>
            </a:ln>
          </p:spPr>
          <p:txBody>
            <a:bodyPr rtlCol="0" anchor="ctr"/>
            <a:lstStyle/>
            <a:p>
              <a:endParaRPr lang="en-GB"/>
            </a:p>
          </p:txBody>
        </p:sp>
        <p:sp>
          <p:nvSpPr>
            <p:cNvPr id="68" name="Freeform: Shape 120">
              <a:extLst>
                <a:ext uri="{FF2B5EF4-FFF2-40B4-BE49-F238E27FC236}">
                  <a16:creationId xmlns:a16="http://schemas.microsoft.com/office/drawing/2014/main" id="{06D62638-111E-A8AE-C501-0BB9F0009AB5}"/>
                </a:ext>
              </a:extLst>
            </p:cNvPr>
            <p:cNvSpPr/>
            <p:nvPr/>
          </p:nvSpPr>
          <p:spPr>
            <a:xfrm>
              <a:off x="3740469" y="2392363"/>
              <a:ext cx="28575" cy="47625"/>
            </a:xfrm>
            <a:custGeom>
              <a:avLst/>
              <a:gdLst>
                <a:gd name="connsiteX0" fmla="*/ 28575 w 28575"/>
                <a:gd name="connsiteY0" fmla="*/ 47625 h 47625"/>
                <a:gd name="connsiteX1" fmla="*/ 28575 w 28575"/>
                <a:gd name="connsiteY1" fmla="*/ 4763 h 47625"/>
                <a:gd name="connsiteX2" fmla="*/ 23813 w 28575"/>
                <a:gd name="connsiteY2" fmla="*/ 0 h 47625"/>
                <a:gd name="connsiteX3" fmla="*/ 0 w 28575"/>
                <a:gd name="connsiteY3" fmla="*/ 0 h 47625"/>
              </a:gdLst>
              <a:ahLst/>
              <a:cxnLst>
                <a:cxn ang="0">
                  <a:pos x="connsiteX0" y="connsiteY0"/>
                </a:cxn>
                <a:cxn ang="0">
                  <a:pos x="connsiteX1" y="connsiteY1"/>
                </a:cxn>
                <a:cxn ang="0">
                  <a:pos x="connsiteX2" y="connsiteY2"/>
                </a:cxn>
                <a:cxn ang="0">
                  <a:pos x="connsiteX3" y="connsiteY3"/>
                </a:cxn>
              </a:cxnLst>
              <a:rect l="l" t="t" r="r" b="b"/>
              <a:pathLst>
                <a:path w="28575" h="47625">
                  <a:moveTo>
                    <a:pt x="28575" y="47625"/>
                  </a:moveTo>
                  <a:lnTo>
                    <a:pt x="28575" y="4763"/>
                  </a:lnTo>
                  <a:cubicBezTo>
                    <a:pt x="28575" y="2095"/>
                    <a:pt x="26479" y="0"/>
                    <a:pt x="23813" y="0"/>
                  </a:cubicBezTo>
                  <a:lnTo>
                    <a:pt x="0" y="0"/>
                  </a:lnTo>
                </a:path>
              </a:pathLst>
            </a:custGeom>
            <a:noFill/>
            <a:ln w="15875" cap="rnd">
              <a:solidFill>
                <a:schemeClr val="bg1"/>
              </a:solidFill>
              <a:prstDash val="solid"/>
              <a:round/>
            </a:ln>
          </p:spPr>
          <p:txBody>
            <a:bodyPr rtlCol="0" anchor="ctr"/>
            <a:lstStyle/>
            <a:p>
              <a:endParaRPr lang="en-GB"/>
            </a:p>
          </p:txBody>
        </p:sp>
        <p:sp>
          <p:nvSpPr>
            <p:cNvPr id="69" name="Freeform: Shape 121">
              <a:extLst>
                <a:ext uri="{FF2B5EF4-FFF2-40B4-BE49-F238E27FC236}">
                  <a16:creationId xmlns:a16="http://schemas.microsoft.com/office/drawing/2014/main" id="{0E9D440F-1438-552B-87C9-A73985DA3194}"/>
                </a:ext>
              </a:extLst>
            </p:cNvPr>
            <p:cNvSpPr/>
            <p:nvPr/>
          </p:nvSpPr>
          <p:spPr>
            <a:xfrm>
              <a:off x="3635694" y="2392363"/>
              <a:ext cx="66675" cy="161925"/>
            </a:xfrm>
            <a:custGeom>
              <a:avLst/>
              <a:gdLst>
                <a:gd name="connsiteX0" fmla="*/ 28575 w 66675"/>
                <a:gd name="connsiteY0" fmla="*/ 0 h 161925"/>
                <a:gd name="connsiteX1" fmla="*/ 4763 w 66675"/>
                <a:gd name="connsiteY1" fmla="*/ 0 h 161925"/>
                <a:gd name="connsiteX2" fmla="*/ 0 w 66675"/>
                <a:gd name="connsiteY2" fmla="*/ 4763 h 161925"/>
                <a:gd name="connsiteX3" fmla="*/ 0 w 66675"/>
                <a:gd name="connsiteY3" fmla="*/ 157163 h 161925"/>
                <a:gd name="connsiteX4" fmla="*/ 4763 w 66675"/>
                <a:gd name="connsiteY4" fmla="*/ 161925 h 161925"/>
                <a:gd name="connsiteX5" fmla="*/ 71438 w 66675"/>
                <a:gd name="connsiteY5" fmla="*/ 161925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675" h="161925">
                  <a:moveTo>
                    <a:pt x="28575" y="0"/>
                  </a:moveTo>
                  <a:lnTo>
                    <a:pt x="4763" y="0"/>
                  </a:lnTo>
                  <a:cubicBezTo>
                    <a:pt x="2096" y="0"/>
                    <a:pt x="0" y="2095"/>
                    <a:pt x="0" y="4763"/>
                  </a:cubicBezTo>
                  <a:lnTo>
                    <a:pt x="0" y="157163"/>
                  </a:lnTo>
                  <a:cubicBezTo>
                    <a:pt x="0" y="159830"/>
                    <a:pt x="2096" y="161925"/>
                    <a:pt x="4763" y="161925"/>
                  </a:cubicBezTo>
                  <a:lnTo>
                    <a:pt x="71438" y="161925"/>
                  </a:lnTo>
                </a:path>
              </a:pathLst>
            </a:custGeom>
            <a:noFill/>
            <a:ln w="15875" cap="rnd">
              <a:solidFill>
                <a:schemeClr val="bg1"/>
              </a:solidFill>
              <a:prstDash val="solid"/>
              <a:round/>
            </a:ln>
          </p:spPr>
          <p:txBody>
            <a:bodyPr rtlCol="0" anchor="ctr"/>
            <a:lstStyle/>
            <a:p>
              <a:endParaRPr lang="en-GB"/>
            </a:p>
          </p:txBody>
        </p:sp>
        <p:sp>
          <p:nvSpPr>
            <p:cNvPr id="70" name="Freeform: Shape 122">
              <a:extLst>
                <a:ext uri="{FF2B5EF4-FFF2-40B4-BE49-F238E27FC236}">
                  <a16:creationId xmlns:a16="http://schemas.microsoft.com/office/drawing/2014/main" id="{6C2224E8-DE92-DFE7-BB8B-3AFC49382A81}"/>
                </a:ext>
              </a:extLst>
            </p:cNvPr>
            <p:cNvSpPr/>
            <p:nvPr/>
          </p:nvSpPr>
          <p:spPr>
            <a:xfrm>
              <a:off x="3664269" y="2430463"/>
              <a:ext cx="76200" cy="9525"/>
            </a:xfrm>
            <a:custGeom>
              <a:avLst/>
              <a:gdLst>
                <a:gd name="connsiteX0" fmla="*/ 0 w 76200"/>
                <a:gd name="connsiteY0" fmla="*/ 0 h 0"/>
                <a:gd name="connsiteX1" fmla="*/ 76200 w 76200"/>
                <a:gd name="connsiteY1" fmla="*/ 0 h 0"/>
              </a:gdLst>
              <a:ahLst/>
              <a:cxnLst>
                <a:cxn ang="0">
                  <a:pos x="connsiteX0" y="connsiteY0"/>
                </a:cxn>
                <a:cxn ang="0">
                  <a:pos x="connsiteX1" y="connsiteY1"/>
                </a:cxn>
              </a:cxnLst>
              <a:rect l="l" t="t" r="r" b="b"/>
              <a:pathLst>
                <a:path w="76200">
                  <a:moveTo>
                    <a:pt x="0" y="0"/>
                  </a:moveTo>
                  <a:lnTo>
                    <a:pt x="76200" y="0"/>
                  </a:lnTo>
                </a:path>
              </a:pathLst>
            </a:custGeom>
            <a:noFill/>
            <a:ln w="15875" cap="rnd">
              <a:solidFill>
                <a:schemeClr val="bg1"/>
              </a:solidFill>
              <a:prstDash val="solid"/>
              <a:round/>
            </a:ln>
          </p:spPr>
          <p:txBody>
            <a:bodyPr rtlCol="0" anchor="ctr"/>
            <a:lstStyle/>
            <a:p>
              <a:endParaRPr lang="en-GB"/>
            </a:p>
          </p:txBody>
        </p:sp>
        <p:sp>
          <p:nvSpPr>
            <p:cNvPr id="71" name="Freeform: Shape 123">
              <a:extLst>
                <a:ext uri="{FF2B5EF4-FFF2-40B4-BE49-F238E27FC236}">
                  <a16:creationId xmlns:a16="http://schemas.microsoft.com/office/drawing/2014/main" id="{B6D3FB5C-241B-038D-2EFE-1F1340AEE227}"/>
                </a:ext>
              </a:extLst>
            </p:cNvPr>
            <p:cNvSpPr/>
            <p:nvPr/>
          </p:nvSpPr>
          <p:spPr>
            <a:xfrm>
              <a:off x="3664269" y="2459038"/>
              <a:ext cx="57150" cy="9525"/>
            </a:xfrm>
            <a:custGeom>
              <a:avLst/>
              <a:gdLst>
                <a:gd name="connsiteX0" fmla="*/ 0 w 57150"/>
                <a:gd name="connsiteY0" fmla="*/ 0 h 0"/>
                <a:gd name="connsiteX1" fmla="*/ 57150 w 57150"/>
                <a:gd name="connsiteY1" fmla="*/ 0 h 0"/>
              </a:gdLst>
              <a:ahLst/>
              <a:cxnLst>
                <a:cxn ang="0">
                  <a:pos x="connsiteX0" y="connsiteY0"/>
                </a:cxn>
                <a:cxn ang="0">
                  <a:pos x="connsiteX1" y="connsiteY1"/>
                </a:cxn>
              </a:cxnLst>
              <a:rect l="l" t="t" r="r" b="b"/>
              <a:pathLst>
                <a:path w="57150">
                  <a:moveTo>
                    <a:pt x="0" y="0"/>
                  </a:moveTo>
                  <a:lnTo>
                    <a:pt x="57150" y="0"/>
                  </a:lnTo>
                </a:path>
              </a:pathLst>
            </a:custGeom>
            <a:noFill/>
            <a:ln w="15875" cap="rnd">
              <a:solidFill>
                <a:schemeClr val="bg1"/>
              </a:solidFill>
              <a:prstDash val="solid"/>
              <a:round/>
            </a:ln>
          </p:spPr>
          <p:txBody>
            <a:bodyPr rtlCol="0" anchor="ctr"/>
            <a:lstStyle/>
            <a:p>
              <a:endParaRPr lang="en-GB"/>
            </a:p>
          </p:txBody>
        </p:sp>
        <p:sp>
          <p:nvSpPr>
            <p:cNvPr id="72" name="Freeform: Shape 124">
              <a:extLst>
                <a:ext uri="{FF2B5EF4-FFF2-40B4-BE49-F238E27FC236}">
                  <a16:creationId xmlns:a16="http://schemas.microsoft.com/office/drawing/2014/main" id="{C6758312-8A8B-8E03-29E0-45AE6606D2D9}"/>
                </a:ext>
              </a:extLst>
            </p:cNvPr>
            <p:cNvSpPr/>
            <p:nvPr/>
          </p:nvSpPr>
          <p:spPr>
            <a:xfrm>
              <a:off x="3664269" y="2487613"/>
              <a:ext cx="38100" cy="9525"/>
            </a:xfrm>
            <a:custGeom>
              <a:avLst/>
              <a:gdLst>
                <a:gd name="connsiteX0" fmla="*/ 0 w 38100"/>
                <a:gd name="connsiteY0" fmla="*/ 0 h 0"/>
                <a:gd name="connsiteX1" fmla="*/ 38100 w 38100"/>
                <a:gd name="connsiteY1" fmla="*/ 0 h 0"/>
              </a:gdLst>
              <a:ahLst/>
              <a:cxnLst>
                <a:cxn ang="0">
                  <a:pos x="connsiteX0" y="connsiteY0"/>
                </a:cxn>
                <a:cxn ang="0">
                  <a:pos x="connsiteX1" y="connsiteY1"/>
                </a:cxn>
              </a:cxnLst>
              <a:rect l="l" t="t" r="r" b="b"/>
              <a:pathLst>
                <a:path w="38100">
                  <a:moveTo>
                    <a:pt x="0" y="0"/>
                  </a:moveTo>
                  <a:lnTo>
                    <a:pt x="38100" y="0"/>
                  </a:lnTo>
                </a:path>
              </a:pathLst>
            </a:custGeom>
            <a:noFill/>
            <a:ln w="15875" cap="rnd">
              <a:solidFill>
                <a:schemeClr val="bg1"/>
              </a:solidFill>
              <a:prstDash val="solid"/>
              <a:round/>
            </a:ln>
          </p:spPr>
          <p:txBody>
            <a:bodyPr rtlCol="0" anchor="ctr"/>
            <a:lstStyle/>
            <a:p>
              <a:endParaRPr lang="en-GB"/>
            </a:p>
          </p:txBody>
        </p:sp>
        <p:sp>
          <p:nvSpPr>
            <p:cNvPr id="73" name="Freeform: Shape 126">
              <a:extLst>
                <a:ext uri="{FF2B5EF4-FFF2-40B4-BE49-F238E27FC236}">
                  <a16:creationId xmlns:a16="http://schemas.microsoft.com/office/drawing/2014/main" id="{A513B709-6296-D429-BBAB-DC1B780925A5}"/>
                </a:ext>
              </a:extLst>
            </p:cNvPr>
            <p:cNvSpPr/>
            <p:nvPr/>
          </p:nvSpPr>
          <p:spPr>
            <a:xfrm>
              <a:off x="3751327" y="2499519"/>
              <a:ext cx="47625" cy="38100"/>
            </a:xfrm>
            <a:custGeom>
              <a:avLst/>
              <a:gdLst>
                <a:gd name="connsiteX0" fmla="*/ 52673 w 47625"/>
                <a:gd name="connsiteY0" fmla="*/ 0 h 38100"/>
                <a:gd name="connsiteX1" fmla="*/ 25051 w 47625"/>
                <a:gd name="connsiteY1" fmla="*/ 36862 h 38100"/>
                <a:gd name="connsiteX2" fmla="*/ 19812 w 47625"/>
                <a:gd name="connsiteY2" fmla="*/ 39719 h 38100"/>
                <a:gd name="connsiteX3" fmla="*/ 14288 w 47625"/>
                <a:gd name="connsiteY3" fmla="*/ 37624 h 38100"/>
                <a:gd name="connsiteX4" fmla="*/ 0 w 47625"/>
                <a:gd name="connsiteY4" fmla="*/ 2333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38100">
                  <a:moveTo>
                    <a:pt x="52673" y="0"/>
                  </a:moveTo>
                  <a:lnTo>
                    <a:pt x="25051" y="36862"/>
                  </a:lnTo>
                  <a:cubicBezTo>
                    <a:pt x="23813" y="38481"/>
                    <a:pt x="21907" y="39529"/>
                    <a:pt x="19812" y="39719"/>
                  </a:cubicBezTo>
                  <a:cubicBezTo>
                    <a:pt x="17716" y="39910"/>
                    <a:pt x="15716" y="39148"/>
                    <a:pt x="14288" y="37624"/>
                  </a:cubicBezTo>
                  <a:lnTo>
                    <a:pt x="0" y="23336"/>
                  </a:lnTo>
                </a:path>
              </a:pathLst>
            </a:custGeom>
            <a:noFill/>
            <a:ln w="15875" cap="rnd">
              <a:solidFill>
                <a:schemeClr val="bg1"/>
              </a:solidFill>
              <a:prstDash val="solid"/>
              <a:round/>
            </a:ln>
          </p:spPr>
          <p:txBody>
            <a:bodyPr rtlCol="0" anchor="ctr"/>
            <a:lstStyle/>
            <a:p>
              <a:endParaRPr lang="en-GB"/>
            </a:p>
          </p:txBody>
        </p:sp>
      </p:grpSp>
      <p:grpSp>
        <p:nvGrpSpPr>
          <p:cNvPr id="74" name="Group 73">
            <a:extLst>
              <a:ext uri="{FF2B5EF4-FFF2-40B4-BE49-F238E27FC236}">
                <a16:creationId xmlns:a16="http://schemas.microsoft.com/office/drawing/2014/main" id="{FFC6B521-BC21-E520-715B-25B821E5B302}"/>
              </a:ext>
            </a:extLst>
          </p:cNvPr>
          <p:cNvGrpSpPr/>
          <p:nvPr/>
        </p:nvGrpSpPr>
        <p:grpSpPr>
          <a:xfrm>
            <a:off x="6933638" y="2466065"/>
            <a:ext cx="400873" cy="382094"/>
            <a:chOff x="832673" y="4716340"/>
            <a:chExt cx="200025" cy="200025"/>
          </a:xfrm>
        </p:grpSpPr>
        <p:sp>
          <p:nvSpPr>
            <p:cNvPr id="75" name="Freeform: Shape 1407">
              <a:extLst>
                <a:ext uri="{FF2B5EF4-FFF2-40B4-BE49-F238E27FC236}">
                  <a16:creationId xmlns:a16="http://schemas.microsoft.com/office/drawing/2014/main" id="{E337EBAC-ADE2-7A16-30FB-DF5A4425A107}"/>
                </a:ext>
              </a:extLst>
            </p:cNvPr>
            <p:cNvSpPr/>
            <p:nvPr/>
          </p:nvSpPr>
          <p:spPr>
            <a:xfrm>
              <a:off x="915214" y="4829687"/>
              <a:ext cx="28575" cy="47625"/>
            </a:xfrm>
            <a:custGeom>
              <a:avLst/>
              <a:gdLst>
                <a:gd name="connsiteX0" fmla="*/ 36195 w 28575"/>
                <a:gd name="connsiteY0" fmla="*/ 20003 h 47625"/>
                <a:gd name="connsiteX1" fmla="*/ 18098 w 28575"/>
                <a:gd name="connsiteY1" fmla="*/ 53340 h 47625"/>
                <a:gd name="connsiteX2" fmla="*/ 0 w 28575"/>
                <a:gd name="connsiteY2" fmla="*/ 20003 h 47625"/>
                <a:gd name="connsiteX3" fmla="*/ 8573 w 28575"/>
                <a:gd name="connsiteY3" fmla="*/ 2857 h 47625"/>
                <a:gd name="connsiteX4" fmla="*/ 27623 w 28575"/>
                <a:gd name="connsiteY4" fmla="*/ 2857 h 47625"/>
                <a:gd name="connsiteX5" fmla="*/ 36195 w 28575"/>
                <a:gd name="connsiteY5" fmla="*/ 20003 h 47625"/>
                <a:gd name="connsiteX6" fmla="*/ 36195 w 28575"/>
                <a:gd name="connsiteY6" fmla="*/ 20003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5" h="47625">
                  <a:moveTo>
                    <a:pt x="36195" y="20003"/>
                  </a:moveTo>
                  <a:cubicBezTo>
                    <a:pt x="36195" y="34290"/>
                    <a:pt x="18098" y="53340"/>
                    <a:pt x="18098" y="53340"/>
                  </a:cubicBezTo>
                  <a:cubicBezTo>
                    <a:pt x="18098" y="53340"/>
                    <a:pt x="0" y="34290"/>
                    <a:pt x="0" y="20003"/>
                  </a:cubicBezTo>
                  <a:cubicBezTo>
                    <a:pt x="0" y="13335"/>
                    <a:pt x="2858" y="6668"/>
                    <a:pt x="8573" y="2857"/>
                  </a:cubicBezTo>
                  <a:cubicBezTo>
                    <a:pt x="14288" y="-952"/>
                    <a:pt x="21908" y="-952"/>
                    <a:pt x="27623" y="2857"/>
                  </a:cubicBezTo>
                  <a:cubicBezTo>
                    <a:pt x="33338" y="6668"/>
                    <a:pt x="36195" y="13335"/>
                    <a:pt x="36195" y="20003"/>
                  </a:cubicBezTo>
                  <a:lnTo>
                    <a:pt x="36195" y="20003"/>
                  </a:lnTo>
                  <a:close/>
                </a:path>
              </a:pathLst>
            </a:custGeom>
            <a:noFill/>
            <a:ln w="15875" cap="rnd">
              <a:solidFill>
                <a:schemeClr val="bg1"/>
              </a:solidFill>
              <a:prstDash val="solid"/>
              <a:round/>
            </a:ln>
          </p:spPr>
          <p:txBody>
            <a:bodyPr rtlCol="0" anchor="ctr"/>
            <a:lstStyle/>
            <a:p>
              <a:endParaRPr lang="en-GB"/>
            </a:p>
          </p:txBody>
        </p:sp>
        <p:sp>
          <p:nvSpPr>
            <p:cNvPr id="76" name="Freeform: Shape 1408">
              <a:extLst>
                <a:ext uri="{FF2B5EF4-FFF2-40B4-BE49-F238E27FC236}">
                  <a16:creationId xmlns:a16="http://schemas.microsoft.com/office/drawing/2014/main" id="{0E61902A-9D12-358E-7D1B-68BB531B00EF}"/>
                </a:ext>
              </a:extLst>
            </p:cNvPr>
            <p:cNvSpPr/>
            <p:nvPr/>
          </p:nvSpPr>
          <p:spPr>
            <a:xfrm>
              <a:off x="914262" y="4716340"/>
              <a:ext cx="38100" cy="95250"/>
            </a:xfrm>
            <a:custGeom>
              <a:avLst/>
              <a:gdLst>
                <a:gd name="connsiteX0" fmla="*/ 38100 w 38100"/>
                <a:gd name="connsiteY0" fmla="*/ 28575 h 95250"/>
                <a:gd name="connsiteX1" fmla="*/ 19050 w 38100"/>
                <a:gd name="connsiteY1" fmla="*/ 0 h 95250"/>
                <a:gd name="connsiteX2" fmla="*/ 0 w 38100"/>
                <a:gd name="connsiteY2" fmla="*/ 28575 h 95250"/>
                <a:gd name="connsiteX3" fmla="*/ 0 w 38100"/>
                <a:gd name="connsiteY3" fmla="*/ 95250 h 95250"/>
                <a:gd name="connsiteX4" fmla="*/ 38100 w 38100"/>
                <a:gd name="connsiteY4" fmla="*/ 95250 h 95250"/>
                <a:gd name="connsiteX5" fmla="*/ 38100 w 38100"/>
                <a:gd name="connsiteY5" fmla="*/ 2857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00" h="95250">
                  <a:moveTo>
                    <a:pt x="38100" y="28575"/>
                  </a:moveTo>
                  <a:cubicBezTo>
                    <a:pt x="38100" y="12383"/>
                    <a:pt x="19050" y="0"/>
                    <a:pt x="19050" y="0"/>
                  </a:cubicBezTo>
                  <a:cubicBezTo>
                    <a:pt x="19050" y="0"/>
                    <a:pt x="0" y="12383"/>
                    <a:pt x="0" y="28575"/>
                  </a:cubicBezTo>
                  <a:lnTo>
                    <a:pt x="0" y="95250"/>
                  </a:lnTo>
                  <a:lnTo>
                    <a:pt x="38100" y="95250"/>
                  </a:lnTo>
                  <a:lnTo>
                    <a:pt x="38100" y="28575"/>
                  </a:lnTo>
                  <a:close/>
                </a:path>
              </a:pathLst>
            </a:custGeom>
            <a:noFill/>
            <a:ln w="15875" cap="rnd">
              <a:solidFill>
                <a:schemeClr val="bg1"/>
              </a:solidFill>
              <a:prstDash val="solid"/>
              <a:round/>
            </a:ln>
          </p:spPr>
          <p:txBody>
            <a:bodyPr rtlCol="0" anchor="ctr"/>
            <a:lstStyle/>
            <a:p>
              <a:endParaRPr lang="en-GB"/>
            </a:p>
          </p:txBody>
        </p:sp>
        <p:sp>
          <p:nvSpPr>
            <p:cNvPr id="77" name="Freeform: Shape 1409">
              <a:extLst>
                <a:ext uri="{FF2B5EF4-FFF2-40B4-BE49-F238E27FC236}">
                  <a16:creationId xmlns:a16="http://schemas.microsoft.com/office/drawing/2014/main" id="{683C83C9-AAB1-F324-6377-A29B41AF95CB}"/>
                </a:ext>
              </a:extLst>
            </p:cNvPr>
            <p:cNvSpPr/>
            <p:nvPr/>
          </p:nvSpPr>
          <p:spPr>
            <a:xfrm>
              <a:off x="886639" y="4778252"/>
              <a:ext cx="19050" cy="28575"/>
            </a:xfrm>
            <a:custGeom>
              <a:avLst/>
              <a:gdLst>
                <a:gd name="connsiteX0" fmla="*/ 27623 w 19050"/>
                <a:gd name="connsiteY0" fmla="*/ 33338 h 28575"/>
                <a:gd name="connsiteX1" fmla="*/ 4763 w 19050"/>
                <a:gd name="connsiteY1" fmla="*/ 33338 h 28575"/>
                <a:gd name="connsiteX2" fmla="*/ 953 w 19050"/>
                <a:gd name="connsiteY2" fmla="*/ 31433 h 28575"/>
                <a:gd name="connsiteX3" fmla="*/ 0 w 19050"/>
                <a:gd name="connsiteY3" fmla="*/ 27622 h 28575"/>
                <a:gd name="connsiteX4" fmla="*/ 27623 w 19050"/>
                <a:gd name="connsiteY4" fmla="*/ 0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28575">
                  <a:moveTo>
                    <a:pt x="27623" y="33338"/>
                  </a:moveTo>
                  <a:lnTo>
                    <a:pt x="4763" y="33338"/>
                  </a:lnTo>
                  <a:cubicBezTo>
                    <a:pt x="2858" y="33338"/>
                    <a:pt x="1905" y="32385"/>
                    <a:pt x="953" y="31433"/>
                  </a:cubicBezTo>
                  <a:cubicBezTo>
                    <a:pt x="0" y="30480"/>
                    <a:pt x="0" y="28575"/>
                    <a:pt x="0" y="27622"/>
                  </a:cubicBezTo>
                  <a:cubicBezTo>
                    <a:pt x="3810" y="14288"/>
                    <a:pt x="14288" y="3810"/>
                    <a:pt x="27623" y="0"/>
                  </a:cubicBezTo>
                </a:path>
              </a:pathLst>
            </a:custGeom>
            <a:noFill/>
            <a:ln w="15875" cap="rnd">
              <a:solidFill>
                <a:schemeClr val="bg1"/>
              </a:solidFill>
              <a:prstDash val="solid"/>
              <a:round/>
            </a:ln>
          </p:spPr>
          <p:txBody>
            <a:bodyPr rtlCol="0" anchor="ctr"/>
            <a:lstStyle/>
            <a:p>
              <a:endParaRPr lang="en-GB"/>
            </a:p>
          </p:txBody>
        </p:sp>
        <p:sp>
          <p:nvSpPr>
            <p:cNvPr id="78" name="Freeform: Shape 1410">
              <a:extLst>
                <a:ext uri="{FF2B5EF4-FFF2-40B4-BE49-F238E27FC236}">
                  <a16:creationId xmlns:a16="http://schemas.microsoft.com/office/drawing/2014/main" id="{20B9D6AE-97A9-07E6-19DA-5C15AE48D2C4}"/>
                </a:ext>
              </a:extLst>
            </p:cNvPr>
            <p:cNvSpPr/>
            <p:nvPr/>
          </p:nvSpPr>
          <p:spPr>
            <a:xfrm>
              <a:off x="952362" y="4778252"/>
              <a:ext cx="19050" cy="28575"/>
            </a:xfrm>
            <a:custGeom>
              <a:avLst/>
              <a:gdLst>
                <a:gd name="connsiteX0" fmla="*/ 0 w 19050"/>
                <a:gd name="connsiteY0" fmla="*/ 33338 h 28575"/>
                <a:gd name="connsiteX1" fmla="*/ 22860 w 19050"/>
                <a:gd name="connsiteY1" fmla="*/ 33338 h 28575"/>
                <a:gd name="connsiteX2" fmla="*/ 26670 w 19050"/>
                <a:gd name="connsiteY2" fmla="*/ 31433 h 28575"/>
                <a:gd name="connsiteX3" fmla="*/ 27622 w 19050"/>
                <a:gd name="connsiteY3" fmla="*/ 27622 h 28575"/>
                <a:gd name="connsiteX4" fmla="*/ 0 w 19050"/>
                <a:gd name="connsiteY4" fmla="*/ 0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28575">
                  <a:moveTo>
                    <a:pt x="0" y="33338"/>
                  </a:moveTo>
                  <a:lnTo>
                    <a:pt x="22860" y="33338"/>
                  </a:lnTo>
                  <a:cubicBezTo>
                    <a:pt x="24765" y="33338"/>
                    <a:pt x="25717" y="32385"/>
                    <a:pt x="26670" y="31433"/>
                  </a:cubicBezTo>
                  <a:cubicBezTo>
                    <a:pt x="27622" y="30480"/>
                    <a:pt x="27622" y="28575"/>
                    <a:pt x="27622" y="27622"/>
                  </a:cubicBezTo>
                  <a:cubicBezTo>
                    <a:pt x="23813" y="14288"/>
                    <a:pt x="13335" y="3810"/>
                    <a:pt x="0" y="0"/>
                  </a:cubicBezTo>
                </a:path>
              </a:pathLst>
            </a:custGeom>
            <a:noFill/>
            <a:ln w="15875" cap="rnd">
              <a:solidFill>
                <a:schemeClr val="bg1"/>
              </a:solidFill>
              <a:prstDash val="solid"/>
              <a:round/>
            </a:ln>
          </p:spPr>
          <p:txBody>
            <a:bodyPr rtlCol="0" anchor="ctr"/>
            <a:lstStyle/>
            <a:p>
              <a:endParaRPr lang="en-GB"/>
            </a:p>
          </p:txBody>
        </p:sp>
        <p:sp>
          <p:nvSpPr>
            <p:cNvPr id="79" name="Freeform: Shape 1411">
              <a:extLst>
                <a:ext uri="{FF2B5EF4-FFF2-40B4-BE49-F238E27FC236}">
                  <a16:creationId xmlns:a16="http://schemas.microsoft.com/office/drawing/2014/main" id="{B2D95D09-F362-870E-0874-F78735E8A144}"/>
                </a:ext>
              </a:extLst>
            </p:cNvPr>
            <p:cNvSpPr/>
            <p:nvPr/>
          </p:nvSpPr>
          <p:spPr>
            <a:xfrm>
              <a:off x="876161" y="4830397"/>
              <a:ext cx="28575" cy="19050"/>
            </a:xfrm>
            <a:custGeom>
              <a:avLst/>
              <a:gdLst>
                <a:gd name="connsiteX0" fmla="*/ 28575 w 28575"/>
                <a:gd name="connsiteY0" fmla="*/ 243 h 19050"/>
                <a:gd name="connsiteX1" fmla="*/ 19050 w 28575"/>
                <a:gd name="connsiteY1" fmla="*/ 5005 h 19050"/>
                <a:gd name="connsiteX2" fmla="*/ 19050 w 28575"/>
                <a:gd name="connsiteY2" fmla="*/ 9768 h 19050"/>
                <a:gd name="connsiteX3" fmla="*/ 14288 w 28575"/>
                <a:gd name="connsiteY3" fmla="*/ 9768 h 19050"/>
                <a:gd name="connsiteX4" fmla="*/ 0 w 28575"/>
                <a:gd name="connsiteY4" fmla="*/ 24055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19050">
                  <a:moveTo>
                    <a:pt x="28575" y="243"/>
                  </a:moveTo>
                  <a:cubicBezTo>
                    <a:pt x="24765" y="-710"/>
                    <a:pt x="20955" y="1195"/>
                    <a:pt x="19050" y="5005"/>
                  </a:cubicBezTo>
                  <a:cubicBezTo>
                    <a:pt x="18098" y="6910"/>
                    <a:pt x="18098" y="7863"/>
                    <a:pt x="19050" y="9768"/>
                  </a:cubicBezTo>
                  <a:lnTo>
                    <a:pt x="14288" y="9768"/>
                  </a:lnTo>
                  <a:cubicBezTo>
                    <a:pt x="6668" y="9768"/>
                    <a:pt x="0" y="16435"/>
                    <a:pt x="0" y="24055"/>
                  </a:cubicBezTo>
                </a:path>
              </a:pathLst>
            </a:custGeom>
            <a:noFill/>
            <a:ln w="15875" cap="rnd">
              <a:solidFill>
                <a:schemeClr val="bg1"/>
              </a:solidFill>
              <a:prstDash val="solid"/>
              <a:round/>
            </a:ln>
          </p:spPr>
          <p:txBody>
            <a:bodyPr rtlCol="0" anchor="ctr"/>
            <a:lstStyle/>
            <a:p>
              <a:endParaRPr lang="en-GB"/>
            </a:p>
          </p:txBody>
        </p:sp>
        <p:sp>
          <p:nvSpPr>
            <p:cNvPr id="80" name="Freeform: Shape 1412">
              <a:extLst>
                <a:ext uri="{FF2B5EF4-FFF2-40B4-BE49-F238E27FC236}">
                  <a16:creationId xmlns:a16="http://schemas.microsoft.com/office/drawing/2014/main" id="{8DCA8D55-68E4-8C9F-F526-A4B4B6EC84F0}"/>
                </a:ext>
              </a:extLst>
            </p:cNvPr>
            <p:cNvSpPr/>
            <p:nvPr/>
          </p:nvSpPr>
          <p:spPr>
            <a:xfrm>
              <a:off x="961887" y="4830397"/>
              <a:ext cx="28575" cy="19050"/>
            </a:xfrm>
            <a:custGeom>
              <a:avLst/>
              <a:gdLst>
                <a:gd name="connsiteX0" fmla="*/ 0 w 28575"/>
                <a:gd name="connsiteY0" fmla="*/ 243 h 19050"/>
                <a:gd name="connsiteX1" fmla="*/ 9525 w 28575"/>
                <a:gd name="connsiteY1" fmla="*/ 5005 h 19050"/>
                <a:gd name="connsiteX2" fmla="*/ 9525 w 28575"/>
                <a:gd name="connsiteY2" fmla="*/ 9768 h 19050"/>
                <a:gd name="connsiteX3" fmla="*/ 14288 w 28575"/>
                <a:gd name="connsiteY3" fmla="*/ 9768 h 19050"/>
                <a:gd name="connsiteX4" fmla="*/ 28575 w 28575"/>
                <a:gd name="connsiteY4" fmla="*/ 24055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19050">
                  <a:moveTo>
                    <a:pt x="0" y="243"/>
                  </a:moveTo>
                  <a:cubicBezTo>
                    <a:pt x="3810" y="-710"/>
                    <a:pt x="7620" y="1195"/>
                    <a:pt x="9525" y="5005"/>
                  </a:cubicBezTo>
                  <a:cubicBezTo>
                    <a:pt x="10477" y="6910"/>
                    <a:pt x="10477" y="7863"/>
                    <a:pt x="9525" y="9768"/>
                  </a:cubicBezTo>
                  <a:lnTo>
                    <a:pt x="14288" y="9768"/>
                  </a:lnTo>
                  <a:cubicBezTo>
                    <a:pt x="21907" y="9768"/>
                    <a:pt x="28575" y="16435"/>
                    <a:pt x="28575" y="24055"/>
                  </a:cubicBezTo>
                </a:path>
              </a:pathLst>
            </a:custGeom>
            <a:noFill/>
            <a:ln w="15875" cap="rnd">
              <a:solidFill>
                <a:schemeClr val="bg1"/>
              </a:solidFill>
              <a:prstDash val="solid"/>
              <a:round/>
            </a:ln>
          </p:spPr>
          <p:txBody>
            <a:bodyPr rtlCol="0" anchor="ctr"/>
            <a:lstStyle/>
            <a:p>
              <a:endParaRPr lang="en-GB"/>
            </a:p>
          </p:txBody>
        </p:sp>
        <p:sp>
          <p:nvSpPr>
            <p:cNvPr id="81" name="Freeform: Shape 1413">
              <a:extLst>
                <a:ext uri="{FF2B5EF4-FFF2-40B4-BE49-F238E27FC236}">
                  <a16:creationId xmlns:a16="http://schemas.microsoft.com/office/drawing/2014/main" id="{ECB5AF09-BE7B-2238-1A56-819B7E9D01CA}"/>
                </a:ext>
              </a:extLst>
            </p:cNvPr>
            <p:cNvSpPr/>
            <p:nvPr/>
          </p:nvSpPr>
          <p:spPr>
            <a:xfrm>
              <a:off x="832673" y="4868740"/>
              <a:ext cx="200025" cy="47625"/>
            </a:xfrm>
            <a:custGeom>
              <a:avLst/>
              <a:gdLst>
                <a:gd name="connsiteX0" fmla="*/ 172076 w 200025"/>
                <a:gd name="connsiteY0" fmla="*/ 0 h 47625"/>
                <a:gd name="connsiteX1" fmla="*/ 181601 w 200025"/>
                <a:gd name="connsiteY1" fmla="*/ 4763 h 47625"/>
                <a:gd name="connsiteX2" fmla="*/ 205413 w 200025"/>
                <a:gd name="connsiteY2" fmla="*/ 33338 h 47625"/>
                <a:gd name="connsiteX3" fmla="*/ 204461 w 200025"/>
                <a:gd name="connsiteY3" fmla="*/ 42863 h 47625"/>
                <a:gd name="connsiteX4" fmla="*/ 195888 w 200025"/>
                <a:gd name="connsiteY4" fmla="*/ 47625 h 47625"/>
                <a:gd name="connsiteX5" fmla="*/ 10151 w 200025"/>
                <a:gd name="connsiteY5" fmla="*/ 47625 h 47625"/>
                <a:gd name="connsiteX6" fmla="*/ 1578 w 200025"/>
                <a:gd name="connsiteY6" fmla="*/ 42863 h 47625"/>
                <a:gd name="connsiteX7" fmla="*/ 626 w 200025"/>
                <a:gd name="connsiteY7" fmla="*/ 33338 h 47625"/>
                <a:gd name="connsiteX8" fmla="*/ 24438 w 200025"/>
                <a:gd name="connsiteY8" fmla="*/ 4763 h 47625"/>
                <a:gd name="connsiteX9" fmla="*/ 33011 w 200025"/>
                <a:gd name="connsiteY9" fmla="*/ 0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0025" h="47625">
                  <a:moveTo>
                    <a:pt x="172076" y="0"/>
                  </a:moveTo>
                  <a:cubicBezTo>
                    <a:pt x="175886" y="0"/>
                    <a:pt x="179696" y="1905"/>
                    <a:pt x="181601" y="4763"/>
                  </a:cubicBezTo>
                  <a:lnTo>
                    <a:pt x="205413" y="33338"/>
                  </a:lnTo>
                  <a:cubicBezTo>
                    <a:pt x="207318" y="36195"/>
                    <a:pt x="206366" y="40005"/>
                    <a:pt x="204461" y="42863"/>
                  </a:cubicBezTo>
                  <a:cubicBezTo>
                    <a:pt x="202556" y="45720"/>
                    <a:pt x="198746" y="47625"/>
                    <a:pt x="195888" y="47625"/>
                  </a:cubicBezTo>
                  <a:lnTo>
                    <a:pt x="10151" y="47625"/>
                  </a:lnTo>
                  <a:cubicBezTo>
                    <a:pt x="6341" y="47625"/>
                    <a:pt x="3483" y="45720"/>
                    <a:pt x="1578" y="42863"/>
                  </a:cubicBezTo>
                  <a:cubicBezTo>
                    <a:pt x="-327" y="40005"/>
                    <a:pt x="-327" y="36195"/>
                    <a:pt x="626" y="33338"/>
                  </a:cubicBezTo>
                  <a:lnTo>
                    <a:pt x="24438" y="4763"/>
                  </a:lnTo>
                  <a:cubicBezTo>
                    <a:pt x="26343" y="1905"/>
                    <a:pt x="29201" y="0"/>
                    <a:pt x="33011" y="0"/>
                  </a:cubicBezTo>
                </a:path>
              </a:pathLst>
            </a:custGeom>
            <a:noFill/>
            <a:ln w="15875" cap="rnd">
              <a:solidFill>
                <a:schemeClr val="bg1"/>
              </a:solidFill>
              <a:prstDash val="solid"/>
              <a:round/>
            </a:ln>
          </p:spPr>
          <p:txBody>
            <a:bodyPr rtlCol="0" anchor="ctr"/>
            <a:lstStyle/>
            <a:p>
              <a:endParaRPr lang="en-GB"/>
            </a:p>
          </p:txBody>
        </p:sp>
        <p:sp>
          <p:nvSpPr>
            <p:cNvPr id="82" name="Freeform: Shape 1414">
              <a:extLst>
                <a:ext uri="{FF2B5EF4-FFF2-40B4-BE49-F238E27FC236}">
                  <a16:creationId xmlns:a16="http://schemas.microsoft.com/office/drawing/2014/main" id="{A2CA1251-95CC-CB48-956C-0003DDF22849}"/>
                </a:ext>
              </a:extLst>
            </p:cNvPr>
            <p:cNvSpPr/>
            <p:nvPr/>
          </p:nvSpPr>
          <p:spPr>
            <a:xfrm>
              <a:off x="857052" y="4754440"/>
              <a:ext cx="38100" cy="114300"/>
            </a:xfrm>
            <a:custGeom>
              <a:avLst/>
              <a:gdLst>
                <a:gd name="connsiteX0" fmla="*/ 38160 w 38100"/>
                <a:gd name="connsiteY0" fmla="*/ 0 h 114300"/>
                <a:gd name="connsiteX1" fmla="*/ 9585 w 38100"/>
                <a:gd name="connsiteY1" fmla="*/ 0 h 114300"/>
                <a:gd name="connsiteX2" fmla="*/ 60 w 38100"/>
                <a:gd name="connsiteY2" fmla="*/ 9525 h 114300"/>
                <a:gd name="connsiteX3" fmla="*/ 60 w 38100"/>
                <a:gd name="connsiteY3" fmla="*/ 104775 h 114300"/>
                <a:gd name="connsiteX4" fmla="*/ 4822 w 38100"/>
                <a:gd name="connsiteY4" fmla="*/ 114300 h 114300"/>
                <a:gd name="connsiteX5" fmla="*/ 38160 w 38100"/>
                <a:gd name="connsiteY5"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00" h="114300">
                  <a:moveTo>
                    <a:pt x="38160" y="0"/>
                  </a:moveTo>
                  <a:lnTo>
                    <a:pt x="9585" y="0"/>
                  </a:lnTo>
                  <a:cubicBezTo>
                    <a:pt x="3870" y="0"/>
                    <a:pt x="60" y="3810"/>
                    <a:pt x="60" y="9525"/>
                  </a:cubicBezTo>
                  <a:lnTo>
                    <a:pt x="60" y="104775"/>
                  </a:lnTo>
                  <a:cubicBezTo>
                    <a:pt x="60" y="110490"/>
                    <a:pt x="-893" y="114300"/>
                    <a:pt x="4822" y="114300"/>
                  </a:cubicBezTo>
                  <a:lnTo>
                    <a:pt x="38160" y="114300"/>
                  </a:lnTo>
                </a:path>
              </a:pathLst>
            </a:custGeom>
            <a:noFill/>
            <a:ln w="15875" cap="rnd">
              <a:solidFill>
                <a:schemeClr val="bg1"/>
              </a:solidFill>
              <a:prstDash val="solid"/>
              <a:round/>
            </a:ln>
          </p:spPr>
          <p:txBody>
            <a:bodyPr rtlCol="0" anchor="ctr"/>
            <a:lstStyle/>
            <a:p>
              <a:endParaRPr lang="en-GB"/>
            </a:p>
          </p:txBody>
        </p:sp>
        <p:sp>
          <p:nvSpPr>
            <p:cNvPr id="83" name="Freeform: Shape 1415">
              <a:extLst>
                <a:ext uri="{FF2B5EF4-FFF2-40B4-BE49-F238E27FC236}">
                  <a16:creationId xmlns:a16="http://schemas.microsoft.com/office/drawing/2014/main" id="{66B0C749-9E0D-1C48-C44B-2E6085907BD6}"/>
                </a:ext>
              </a:extLst>
            </p:cNvPr>
            <p:cNvSpPr/>
            <p:nvPr/>
          </p:nvSpPr>
          <p:spPr>
            <a:xfrm>
              <a:off x="971412" y="4754440"/>
              <a:ext cx="38100" cy="114300"/>
            </a:xfrm>
            <a:custGeom>
              <a:avLst/>
              <a:gdLst>
                <a:gd name="connsiteX0" fmla="*/ 0 w 38100"/>
                <a:gd name="connsiteY0" fmla="*/ 114300 h 114300"/>
                <a:gd name="connsiteX1" fmla="*/ 33338 w 38100"/>
                <a:gd name="connsiteY1" fmla="*/ 114300 h 114300"/>
                <a:gd name="connsiteX2" fmla="*/ 38100 w 38100"/>
                <a:gd name="connsiteY2" fmla="*/ 104775 h 114300"/>
                <a:gd name="connsiteX3" fmla="*/ 38100 w 38100"/>
                <a:gd name="connsiteY3" fmla="*/ 9525 h 114300"/>
                <a:gd name="connsiteX4" fmla="*/ 28575 w 38100"/>
                <a:gd name="connsiteY4" fmla="*/ 0 h 114300"/>
                <a:gd name="connsiteX5" fmla="*/ 0 w 38100"/>
                <a:gd name="connsiteY5"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00" h="114300">
                  <a:moveTo>
                    <a:pt x="0" y="114300"/>
                  </a:moveTo>
                  <a:lnTo>
                    <a:pt x="33338" y="114300"/>
                  </a:lnTo>
                  <a:cubicBezTo>
                    <a:pt x="39053" y="114300"/>
                    <a:pt x="38100" y="110490"/>
                    <a:pt x="38100" y="104775"/>
                  </a:cubicBezTo>
                  <a:lnTo>
                    <a:pt x="38100" y="9525"/>
                  </a:lnTo>
                  <a:cubicBezTo>
                    <a:pt x="38100" y="3810"/>
                    <a:pt x="34290" y="0"/>
                    <a:pt x="28575" y="0"/>
                  </a:cubicBezTo>
                  <a:lnTo>
                    <a:pt x="0" y="0"/>
                  </a:lnTo>
                </a:path>
              </a:pathLst>
            </a:custGeom>
            <a:noFill/>
            <a:ln w="15875" cap="rnd">
              <a:solidFill>
                <a:schemeClr val="bg1"/>
              </a:solidFill>
              <a:prstDash val="solid"/>
              <a:round/>
            </a:ln>
          </p:spPr>
          <p:txBody>
            <a:bodyPr rtlCol="0" anchor="ctr"/>
            <a:lstStyle/>
            <a:p>
              <a:endParaRPr lang="en-GB"/>
            </a:p>
          </p:txBody>
        </p:sp>
        <p:sp>
          <p:nvSpPr>
            <p:cNvPr id="84" name="Freeform: Shape 1416">
              <a:extLst>
                <a:ext uri="{FF2B5EF4-FFF2-40B4-BE49-F238E27FC236}">
                  <a16:creationId xmlns:a16="http://schemas.microsoft.com/office/drawing/2014/main" id="{352EE501-4F28-A8D1-3574-B4819A23A519}"/>
                </a:ext>
              </a:extLst>
            </p:cNvPr>
            <p:cNvSpPr/>
            <p:nvPr/>
          </p:nvSpPr>
          <p:spPr>
            <a:xfrm>
              <a:off x="919024" y="4897315"/>
              <a:ext cx="28575" cy="9525"/>
            </a:xfrm>
            <a:custGeom>
              <a:avLst/>
              <a:gdLst>
                <a:gd name="connsiteX0" fmla="*/ 0 w 28575"/>
                <a:gd name="connsiteY0" fmla="*/ 0 h 0"/>
                <a:gd name="connsiteX1" fmla="*/ 28575 w 28575"/>
                <a:gd name="connsiteY1" fmla="*/ 0 h 0"/>
              </a:gdLst>
              <a:ahLst/>
              <a:cxnLst>
                <a:cxn ang="0">
                  <a:pos x="connsiteX0" y="connsiteY0"/>
                </a:cxn>
                <a:cxn ang="0">
                  <a:pos x="connsiteX1" y="connsiteY1"/>
                </a:cxn>
              </a:cxnLst>
              <a:rect l="l" t="t" r="r" b="b"/>
              <a:pathLst>
                <a:path w="28575">
                  <a:moveTo>
                    <a:pt x="0" y="0"/>
                  </a:moveTo>
                  <a:lnTo>
                    <a:pt x="28575" y="0"/>
                  </a:lnTo>
                </a:path>
              </a:pathLst>
            </a:custGeom>
            <a:noFill/>
            <a:ln w="15875" cap="rnd">
              <a:solidFill>
                <a:schemeClr val="bg1"/>
              </a:solidFill>
              <a:prstDash val="solid"/>
              <a:round/>
            </a:ln>
          </p:spPr>
          <p:txBody>
            <a:bodyPr rtlCol="0" anchor="ctr"/>
            <a:lstStyle/>
            <a:p>
              <a:endParaRPr lang="en-GB"/>
            </a:p>
          </p:txBody>
        </p:sp>
      </p:grpSp>
      <p:grpSp>
        <p:nvGrpSpPr>
          <p:cNvPr id="85" name="Group 84">
            <a:extLst>
              <a:ext uri="{FF2B5EF4-FFF2-40B4-BE49-F238E27FC236}">
                <a16:creationId xmlns:a16="http://schemas.microsoft.com/office/drawing/2014/main" id="{2096A44A-CE85-2499-456D-CB63F84E26C9}"/>
              </a:ext>
            </a:extLst>
          </p:cNvPr>
          <p:cNvGrpSpPr/>
          <p:nvPr/>
        </p:nvGrpSpPr>
        <p:grpSpPr>
          <a:xfrm>
            <a:off x="9023366" y="2447130"/>
            <a:ext cx="440577" cy="419935"/>
            <a:chOff x="5115103" y="1462595"/>
            <a:chExt cx="219837" cy="219836"/>
          </a:xfrm>
        </p:grpSpPr>
        <p:sp>
          <p:nvSpPr>
            <p:cNvPr id="86" name="Freeform: Shape 42">
              <a:extLst>
                <a:ext uri="{FF2B5EF4-FFF2-40B4-BE49-F238E27FC236}">
                  <a16:creationId xmlns:a16="http://schemas.microsoft.com/office/drawing/2014/main" id="{0EF0D39B-53FD-C7A4-AED8-102DCA97DC76}"/>
                </a:ext>
              </a:extLst>
            </p:cNvPr>
            <p:cNvSpPr/>
            <p:nvPr/>
          </p:nvSpPr>
          <p:spPr>
            <a:xfrm>
              <a:off x="5115103" y="1462595"/>
              <a:ext cx="19050" cy="19050"/>
            </a:xfrm>
            <a:custGeom>
              <a:avLst/>
              <a:gdLst>
                <a:gd name="connsiteX0" fmla="*/ 0 w 19050"/>
                <a:gd name="connsiteY0" fmla="*/ 28004 h 19050"/>
                <a:gd name="connsiteX1" fmla="*/ 0 w 19050"/>
                <a:gd name="connsiteY1" fmla="*/ 9144 h 19050"/>
                <a:gd name="connsiteX2" fmla="*/ 9144 w 19050"/>
                <a:gd name="connsiteY2" fmla="*/ 0 h 19050"/>
                <a:gd name="connsiteX3" fmla="*/ 28003 w 19050"/>
                <a:gd name="connsiteY3" fmla="*/ 0 h 19050"/>
              </a:gdLst>
              <a:ahLst/>
              <a:cxnLst>
                <a:cxn ang="0">
                  <a:pos x="connsiteX0" y="connsiteY0"/>
                </a:cxn>
                <a:cxn ang="0">
                  <a:pos x="connsiteX1" y="connsiteY1"/>
                </a:cxn>
                <a:cxn ang="0">
                  <a:pos x="connsiteX2" y="connsiteY2"/>
                </a:cxn>
                <a:cxn ang="0">
                  <a:pos x="connsiteX3" y="connsiteY3"/>
                </a:cxn>
              </a:cxnLst>
              <a:rect l="l" t="t" r="r" b="b"/>
              <a:pathLst>
                <a:path w="19050" h="19050">
                  <a:moveTo>
                    <a:pt x="0" y="28004"/>
                  </a:moveTo>
                  <a:lnTo>
                    <a:pt x="0" y="9144"/>
                  </a:lnTo>
                  <a:cubicBezTo>
                    <a:pt x="0" y="4096"/>
                    <a:pt x="4096" y="0"/>
                    <a:pt x="9144" y="0"/>
                  </a:cubicBezTo>
                  <a:lnTo>
                    <a:pt x="28003" y="0"/>
                  </a:lnTo>
                </a:path>
              </a:pathLst>
            </a:custGeom>
            <a:noFill/>
            <a:ln w="15875" cap="rnd">
              <a:solidFill>
                <a:schemeClr val="bg1"/>
              </a:solidFill>
              <a:prstDash val="solid"/>
              <a:round/>
            </a:ln>
          </p:spPr>
          <p:txBody>
            <a:bodyPr rtlCol="0" anchor="ctr"/>
            <a:lstStyle/>
            <a:p>
              <a:endParaRPr lang="en-GB"/>
            </a:p>
          </p:txBody>
        </p:sp>
        <p:sp>
          <p:nvSpPr>
            <p:cNvPr id="87" name="Freeform: Shape 43">
              <a:extLst>
                <a:ext uri="{FF2B5EF4-FFF2-40B4-BE49-F238E27FC236}">
                  <a16:creationId xmlns:a16="http://schemas.microsoft.com/office/drawing/2014/main" id="{EF832239-C06D-7CE3-9A47-F3CEF611A43F}"/>
                </a:ext>
              </a:extLst>
            </p:cNvPr>
            <p:cNvSpPr/>
            <p:nvPr/>
          </p:nvSpPr>
          <p:spPr>
            <a:xfrm>
              <a:off x="5115103" y="1644903"/>
              <a:ext cx="19050" cy="19050"/>
            </a:xfrm>
            <a:custGeom>
              <a:avLst/>
              <a:gdLst>
                <a:gd name="connsiteX0" fmla="*/ 28003 w 19050"/>
                <a:gd name="connsiteY0" fmla="*/ 28004 h 19050"/>
                <a:gd name="connsiteX1" fmla="*/ 9144 w 19050"/>
                <a:gd name="connsiteY1" fmla="*/ 28004 h 19050"/>
                <a:gd name="connsiteX2" fmla="*/ 0 w 19050"/>
                <a:gd name="connsiteY2" fmla="*/ 18860 h 19050"/>
                <a:gd name="connsiteX3" fmla="*/ 0 w 19050"/>
                <a:gd name="connsiteY3" fmla="*/ 0 h 19050"/>
              </a:gdLst>
              <a:ahLst/>
              <a:cxnLst>
                <a:cxn ang="0">
                  <a:pos x="connsiteX0" y="connsiteY0"/>
                </a:cxn>
                <a:cxn ang="0">
                  <a:pos x="connsiteX1" y="connsiteY1"/>
                </a:cxn>
                <a:cxn ang="0">
                  <a:pos x="connsiteX2" y="connsiteY2"/>
                </a:cxn>
                <a:cxn ang="0">
                  <a:pos x="connsiteX3" y="connsiteY3"/>
                </a:cxn>
              </a:cxnLst>
              <a:rect l="l" t="t" r="r" b="b"/>
              <a:pathLst>
                <a:path w="19050" h="19050">
                  <a:moveTo>
                    <a:pt x="28003" y="28004"/>
                  </a:moveTo>
                  <a:lnTo>
                    <a:pt x="9144" y="28004"/>
                  </a:lnTo>
                  <a:cubicBezTo>
                    <a:pt x="4096" y="28004"/>
                    <a:pt x="0" y="23908"/>
                    <a:pt x="0" y="18860"/>
                  </a:cubicBezTo>
                  <a:lnTo>
                    <a:pt x="0" y="0"/>
                  </a:lnTo>
                </a:path>
              </a:pathLst>
            </a:custGeom>
            <a:noFill/>
            <a:ln w="15875" cap="rnd">
              <a:solidFill>
                <a:schemeClr val="bg1"/>
              </a:solidFill>
              <a:prstDash val="solid"/>
              <a:round/>
            </a:ln>
          </p:spPr>
          <p:txBody>
            <a:bodyPr rtlCol="0" anchor="ctr"/>
            <a:lstStyle/>
            <a:p>
              <a:endParaRPr lang="en-GB"/>
            </a:p>
          </p:txBody>
        </p:sp>
        <p:sp>
          <p:nvSpPr>
            <p:cNvPr id="88" name="Freeform: Shape 44">
              <a:extLst>
                <a:ext uri="{FF2B5EF4-FFF2-40B4-BE49-F238E27FC236}">
                  <a16:creationId xmlns:a16="http://schemas.microsoft.com/office/drawing/2014/main" id="{C6E01F8E-AC19-FCE0-F522-E87DB304F6F7}"/>
                </a:ext>
              </a:extLst>
            </p:cNvPr>
            <p:cNvSpPr/>
            <p:nvPr/>
          </p:nvSpPr>
          <p:spPr>
            <a:xfrm>
              <a:off x="5115103" y="1525650"/>
              <a:ext cx="9525" cy="19050"/>
            </a:xfrm>
            <a:custGeom>
              <a:avLst/>
              <a:gdLst>
                <a:gd name="connsiteX0" fmla="*/ 0 w 0"/>
                <a:gd name="connsiteY0" fmla="*/ 0 h 19050"/>
                <a:gd name="connsiteX1" fmla="*/ 0 w 0"/>
                <a:gd name="connsiteY1" fmla="*/ 28004 h 19050"/>
              </a:gdLst>
              <a:ahLst/>
              <a:cxnLst>
                <a:cxn ang="0">
                  <a:pos x="connsiteX0" y="connsiteY0"/>
                </a:cxn>
                <a:cxn ang="0">
                  <a:pos x="connsiteX1" y="connsiteY1"/>
                </a:cxn>
              </a:cxnLst>
              <a:rect l="l" t="t" r="r" b="b"/>
              <a:pathLst>
                <a:path h="19050">
                  <a:moveTo>
                    <a:pt x="0" y="0"/>
                  </a:moveTo>
                  <a:lnTo>
                    <a:pt x="0" y="28004"/>
                  </a:lnTo>
                </a:path>
              </a:pathLst>
            </a:custGeom>
            <a:noFill/>
            <a:ln w="15875" cap="rnd">
              <a:solidFill>
                <a:schemeClr val="bg1"/>
              </a:solidFill>
              <a:prstDash val="solid"/>
              <a:round/>
            </a:ln>
          </p:spPr>
          <p:txBody>
            <a:bodyPr rtlCol="0" anchor="ctr"/>
            <a:lstStyle/>
            <a:p>
              <a:endParaRPr lang="en-GB"/>
            </a:p>
          </p:txBody>
        </p:sp>
        <p:sp>
          <p:nvSpPr>
            <p:cNvPr id="89" name="Freeform: Shape 45">
              <a:extLst>
                <a:ext uri="{FF2B5EF4-FFF2-40B4-BE49-F238E27FC236}">
                  <a16:creationId xmlns:a16="http://schemas.microsoft.com/office/drawing/2014/main" id="{A705DD91-5C89-6153-50CE-8BC424B9374F}"/>
                </a:ext>
              </a:extLst>
            </p:cNvPr>
            <p:cNvSpPr/>
            <p:nvPr/>
          </p:nvSpPr>
          <p:spPr>
            <a:xfrm>
              <a:off x="5115103" y="1581752"/>
              <a:ext cx="9525" cy="19050"/>
            </a:xfrm>
            <a:custGeom>
              <a:avLst/>
              <a:gdLst>
                <a:gd name="connsiteX0" fmla="*/ 0 w 0"/>
                <a:gd name="connsiteY0" fmla="*/ 0 h 19050"/>
                <a:gd name="connsiteX1" fmla="*/ 0 w 0"/>
                <a:gd name="connsiteY1" fmla="*/ 28003 h 19050"/>
              </a:gdLst>
              <a:ahLst/>
              <a:cxnLst>
                <a:cxn ang="0">
                  <a:pos x="connsiteX0" y="connsiteY0"/>
                </a:cxn>
                <a:cxn ang="0">
                  <a:pos x="connsiteX1" y="connsiteY1"/>
                </a:cxn>
              </a:cxnLst>
              <a:rect l="l" t="t" r="r" b="b"/>
              <a:pathLst>
                <a:path h="19050">
                  <a:moveTo>
                    <a:pt x="0" y="0"/>
                  </a:moveTo>
                  <a:lnTo>
                    <a:pt x="0" y="28003"/>
                  </a:lnTo>
                </a:path>
              </a:pathLst>
            </a:custGeom>
            <a:noFill/>
            <a:ln w="15875" cap="rnd">
              <a:solidFill>
                <a:schemeClr val="bg1"/>
              </a:solidFill>
              <a:prstDash val="solid"/>
              <a:round/>
            </a:ln>
          </p:spPr>
          <p:txBody>
            <a:bodyPr rtlCol="0" anchor="ctr"/>
            <a:lstStyle/>
            <a:p>
              <a:endParaRPr lang="en-GB"/>
            </a:p>
          </p:txBody>
        </p:sp>
        <p:sp>
          <p:nvSpPr>
            <p:cNvPr id="90" name="Freeform: Shape 46">
              <a:extLst>
                <a:ext uri="{FF2B5EF4-FFF2-40B4-BE49-F238E27FC236}">
                  <a16:creationId xmlns:a16="http://schemas.microsoft.com/office/drawing/2014/main" id="{B69A4A83-1221-CA32-643B-FBCAD77FD529}"/>
                </a:ext>
              </a:extLst>
            </p:cNvPr>
            <p:cNvSpPr/>
            <p:nvPr/>
          </p:nvSpPr>
          <p:spPr>
            <a:xfrm>
              <a:off x="5325415" y="1525650"/>
              <a:ext cx="9525" cy="19050"/>
            </a:xfrm>
            <a:custGeom>
              <a:avLst/>
              <a:gdLst>
                <a:gd name="connsiteX0" fmla="*/ 0 w 0"/>
                <a:gd name="connsiteY0" fmla="*/ 0 h 19050"/>
                <a:gd name="connsiteX1" fmla="*/ 0 w 0"/>
                <a:gd name="connsiteY1" fmla="*/ 28004 h 19050"/>
              </a:gdLst>
              <a:ahLst/>
              <a:cxnLst>
                <a:cxn ang="0">
                  <a:pos x="connsiteX0" y="connsiteY0"/>
                </a:cxn>
                <a:cxn ang="0">
                  <a:pos x="connsiteX1" y="connsiteY1"/>
                </a:cxn>
              </a:cxnLst>
              <a:rect l="l" t="t" r="r" b="b"/>
              <a:pathLst>
                <a:path h="19050">
                  <a:moveTo>
                    <a:pt x="0" y="0"/>
                  </a:moveTo>
                  <a:lnTo>
                    <a:pt x="0" y="28004"/>
                  </a:lnTo>
                </a:path>
              </a:pathLst>
            </a:custGeom>
            <a:noFill/>
            <a:ln w="15875" cap="rnd">
              <a:solidFill>
                <a:schemeClr val="bg1"/>
              </a:solidFill>
              <a:prstDash val="solid"/>
              <a:round/>
            </a:ln>
          </p:spPr>
          <p:txBody>
            <a:bodyPr rtlCol="0" anchor="ctr"/>
            <a:lstStyle/>
            <a:p>
              <a:endParaRPr lang="en-GB"/>
            </a:p>
          </p:txBody>
        </p:sp>
        <p:sp>
          <p:nvSpPr>
            <p:cNvPr id="91" name="Freeform: Shape 47">
              <a:extLst>
                <a:ext uri="{FF2B5EF4-FFF2-40B4-BE49-F238E27FC236}">
                  <a16:creationId xmlns:a16="http://schemas.microsoft.com/office/drawing/2014/main" id="{5E6C94F6-8305-88AA-BFDD-E27A8F9F004B}"/>
                </a:ext>
              </a:extLst>
            </p:cNvPr>
            <p:cNvSpPr/>
            <p:nvPr/>
          </p:nvSpPr>
          <p:spPr>
            <a:xfrm>
              <a:off x="5178158" y="1462595"/>
              <a:ext cx="19050" cy="9525"/>
            </a:xfrm>
            <a:custGeom>
              <a:avLst/>
              <a:gdLst>
                <a:gd name="connsiteX0" fmla="*/ 0 w 19050"/>
                <a:gd name="connsiteY0" fmla="*/ 0 h 0"/>
                <a:gd name="connsiteX1" fmla="*/ 28004 w 19050"/>
                <a:gd name="connsiteY1" fmla="*/ 0 h 0"/>
              </a:gdLst>
              <a:ahLst/>
              <a:cxnLst>
                <a:cxn ang="0">
                  <a:pos x="connsiteX0" y="connsiteY0"/>
                </a:cxn>
                <a:cxn ang="0">
                  <a:pos x="connsiteX1" y="connsiteY1"/>
                </a:cxn>
              </a:cxnLst>
              <a:rect l="l" t="t" r="r" b="b"/>
              <a:pathLst>
                <a:path w="19050">
                  <a:moveTo>
                    <a:pt x="0" y="0"/>
                  </a:moveTo>
                  <a:lnTo>
                    <a:pt x="28004" y="0"/>
                  </a:lnTo>
                </a:path>
              </a:pathLst>
            </a:custGeom>
            <a:noFill/>
            <a:ln w="15875" cap="rnd">
              <a:solidFill>
                <a:schemeClr val="bg1"/>
              </a:solidFill>
              <a:prstDash val="solid"/>
              <a:round/>
            </a:ln>
          </p:spPr>
          <p:txBody>
            <a:bodyPr rtlCol="0" anchor="ctr"/>
            <a:lstStyle/>
            <a:p>
              <a:endParaRPr lang="en-GB"/>
            </a:p>
          </p:txBody>
        </p:sp>
        <p:sp>
          <p:nvSpPr>
            <p:cNvPr id="92" name="Freeform: Shape 48">
              <a:extLst>
                <a:ext uri="{FF2B5EF4-FFF2-40B4-BE49-F238E27FC236}">
                  <a16:creationId xmlns:a16="http://schemas.microsoft.com/office/drawing/2014/main" id="{B14781CF-4EC6-3980-61BE-E838C6C0E68E}"/>
                </a:ext>
              </a:extLst>
            </p:cNvPr>
            <p:cNvSpPr/>
            <p:nvPr/>
          </p:nvSpPr>
          <p:spPr>
            <a:xfrm>
              <a:off x="5234261" y="1462595"/>
              <a:ext cx="19050" cy="9525"/>
            </a:xfrm>
            <a:custGeom>
              <a:avLst/>
              <a:gdLst>
                <a:gd name="connsiteX0" fmla="*/ 0 w 19050"/>
                <a:gd name="connsiteY0" fmla="*/ 0 h 0"/>
                <a:gd name="connsiteX1" fmla="*/ 28003 w 19050"/>
                <a:gd name="connsiteY1" fmla="*/ 0 h 0"/>
              </a:gdLst>
              <a:ahLst/>
              <a:cxnLst>
                <a:cxn ang="0">
                  <a:pos x="connsiteX0" y="connsiteY0"/>
                </a:cxn>
                <a:cxn ang="0">
                  <a:pos x="connsiteX1" y="connsiteY1"/>
                </a:cxn>
              </a:cxnLst>
              <a:rect l="l" t="t" r="r" b="b"/>
              <a:pathLst>
                <a:path w="19050">
                  <a:moveTo>
                    <a:pt x="0" y="0"/>
                  </a:moveTo>
                  <a:lnTo>
                    <a:pt x="28003" y="0"/>
                  </a:lnTo>
                </a:path>
              </a:pathLst>
            </a:custGeom>
            <a:noFill/>
            <a:ln w="15875" cap="rnd">
              <a:solidFill>
                <a:schemeClr val="bg1"/>
              </a:solidFill>
              <a:prstDash val="solid"/>
              <a:round/>
            </a:ln>
          </p:spPr>
          <p:txBody>
            <a:bodyPr rtlCol="0" anchor="ctr"/>
            <a:lstStyle/>
            <a:p>
              <a:endParaRPr lang="en-GB"/>
            </a:p>
          </p:txBody>
        </p:sp>
        <p:sp>
          <p:nvSpPr>
            <p:cNvPr id="93" name="Freeform: Shape 49">
              <a:extLst>
                <a:ext uri="{FF2B5EF4-FFF2-40B4-BE49-F238E27FC236}">
                  <a16:creationId xmlns:a16="http://schemas.microsoft.com/office/drawing/2014/main" id="{A99E54B4-0643-D1F9-8AF0-C0B0C05C01A8}"/>
                </a:ext>
              </a:extLst>
            </p:cNvPr>
            <p:cNvSpPr/>
            <p:nvPr/>
          </p:nvSpPr>
          <p:spPr>
            <a:xfrm>
              <a:off x="5297412" y="1462595"/>
              <a:ext cx="19050" cy="19050"/>
            </a:xfrm>
            <a:custGeom>
              <a:avLst/>
              <a:gdLst>
                <a:gd name="connsiteX0" fmla="*/ 0 w 19050"/>
                <a:gd name="connsiteY0" fmla="*/ 0 h 19050"/>
                <a:gd name="connsiteX1" fmla="*/ 18859 w 19050"/>
                <a:gd name="connsiteY1" fmla="*/ 0 h 19050"/>
                <a:gd name="connsiteX2" fmla="*/ 28003 w 19050"/>
                <a:gd name="connsiteY2" fmla="*/ 9144 h 19050"/>
                <a:gd name="connsiteX3" fmla="*/ 28003 w 19050"/>
                <a:gd name="connsiteY3" fmla="*/ 28004 h 19050"/>
              </a:gdLst>
              <a:ahLst/>
              <a:cxnLst>
                <a:cxn ang="0">
                  <a:pos x="connsiteX0" y="connsiteY0"/>
                </a:cxn>
                <a:cxn ang="0">
                  <a:pos x="connsiteX1" y="connsiteY1"/>
                </a:cxn>
                <a:cxn ang="0">
                  <a:pos x="connsiteX2" y="connsiteY2"/>
                </a:cxn>
                <a:cxn ang="0">
                  <a:pos x="connsiteX3" y="connsiteY3"/>
                </a:cxn>
              </a:cxnLst>
              <a:rect l="l" t="t" r="r" b="b"/>
              <a:pathLst>
                <a:path w="19050" h="19050">
                  <a:moveTo>
                    <a:pt x="0" y="0"/>
                  </a:moveTo>
                  <a:lnTo>
                    <a:pt x="18859" y="0"/>
                  </a:lnTo>
                  <a:cubicBezTo>
                    <a:pt x="23908" y="0"/>
                    <a:pt x="28003" y="4096"/>
                    <a:pt x="28003" y="9144"/>
                  </a:cubicBezTo>
                  <a:lnTo>
                    <a:pt x="28003" y="28004"/>
                  </a:lnTo>
                </a:path>
              </a:pathLst>
            </a:custGeom>
            <a:noFill/>
            <a:ln w="15875" cap="rnd">
              <a:solidFill>
                <a:schemeClr val="bg1"/>
              </a:solidFill>
              <a:prstDash val="solid"/>
              <a:round/>
            </a:ln>
          </p:spPr>
          <p:txBody>
            <a:bodyPr rtlCol="0" anchor="ctr"/>
            <a:lstStyle/>
            <a:p>
              <a:endParaRPr lang="en-GB"/>
            </a:p>
          </p:txBody>
        </p:sp>
        <p:sp>
          <p:nvSpPr>
            <p:cNvPr id="94" name="Freeform: Shape 50">
              <a:extLst>
                <a:ext uri="{FF2B5EF4-FFF2-40B4-BE49-F238E27FC236}">
                  <a16:creationId xmlns:a16="http://schemas.microsoft.com/office/drawing/2014/main" id="{98F6138E-DEE5-A6D8-61F6-AC141B0F279D}"/>
                </a:ext>
              </a:extLst>
            </p:cNvPr>
            <p:cNvSpPr/>
            <p:nvPr/>
          </p:nvSpPr>
          <p:spPr>
            <a:xfrm>
              <a:off x="5178158" y="1672906"/>
              <a:ext cx="19050" cy="9525"/>
            </a:xfrm>
            <a:custGeom>
              <a:avLst/>
              <a:gdLst>
                <a:gd name="connsiteX0" fmla="*/ 28099 w 19050"/>
                <a:gd name="connsiteY0" fmla="*/ 0 h 0"/>
                <a:gd name="connsiteX1" fmla="*/ 0 w 19050"/>
                <a:gd name="connsiteY1" fmla="*/ 0 h 0"/>
              </a:gdLst>
              <a:ahLst/>
              <a:cxnLst>
                <a:cxn ang="0">
                  <a:pos x="connsiteX0" y="connsiteY0"/>
                </a:cxn>
                <a:cxn ang="0">
                  <a:pos x="connsiteX1" y="connsiteY1"/>
                </a:cxn>
              </a:cxnLst>
              <a:rect l="l" t="t" r="r" b="b"/>
              <a:pathLst>
                <a:path w="19050">
                  <a:moveTo>
                    <a:pt x="28099" y="0"/>
                  </a:moveTo>
                  <a:lnTo>
                    <a:pt x="0" y="0"/>
                  </a:lnTo>
                </a:path>
              </a:pathLst>
            </a:custGeom>
            <a:noFill/>
            <a:ln w="15875" cap="rnd">
              <a:solidFill>
                <a:schemeClr val="bg1"/>
              </a:solidFill>
              <a:prstDash val="solid"/>
              <a:round/>
            </a:ln>
          </p:spPr>
          <p:txBody>
            <a:bodyPr rtlCol="0" anchor="ctr"/>
            <a:lstStyle/>
            <a:p>
              <a:endParaRPr lang="en-GB"/>
            </a:p>
          </p:txBody>
        </p:sp>
        <p:sp>
          <p:nvSpPr>
            <p:cNvPr id="95" name="Freeform: Shape 51">
              <a:extLst>
                <a:ext uri="{FF2B5EF4-FFF2-40B4-BE49-F238E27FC236}">
                  <a16:creationId xmlns:a16="http://schemas.microsoft.com/office/drawing/2014/main" id="{FBA9EF34-CBAD-C33C-89D3-22E65608E935}"/>
                </a:ext>
              </a:extLst>
            </p:cNvPr>
            <p:cNvSpPr/>
            <p:nvPr/>
          </p:nvSpPr>
          <p:spPr>
            <a:xfrm>
              <a:off x="5185207" y="1532699"/>
              <a:ext cx="104775" cy="104775"/>
            </a:xfrm>
            <a:custGeom>
              <a:avLst/>
              <a:gdLst>
                <a:gd name="connsiteX0" fmla="*/ 56102 w 104775"/>
                <a:gd name="connsiteY0" fmla="*/ 112204 h 104775"/>
                <a:gd name="connsiteX1" fmla="*/ 112205 w 104775"/>
                <a:gd name="connsiteY1" fmla="*/ 56102 h 104775"/>
                <a:gd name="connsiteX2" fmla="*/ 56102 w 104775"/>
                <a:gd name="connsiteY2" fmla="*/ 0 h 104775"/>
                <a:gd name="connsiteX3" fmla="*/ 0 w 104775"/>
                <a:gd name="connsiteY3" fmla="*/ 56102 h 104775"/>
                <a:gd name="connsiteX4" fmla="*/ 56102 w 104775"/>
                <a:gd name="connsiteY4" fmla="*/ 11220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56102" y="112204"/>
                  </a:moveTo>
                  <a:cubicBezTo>
                    <a:pt x="87059" y="112204"/>
                    <a:pt x="112205" y="87059"/>
                    <a:pt x="112205" y="56102"/>
                  </a:cubicBezTo>
                  <a:cubicBezTo>
                    <a:pt x="112205" y="25146"/>
                    <a:pt x="87059" y="0"/>
                    <a:pt x="56102" y="0"/>
                  </a:cubicBezTo>
                  <a:cubicBezTo>
                    <a:pt x="25146" y="0"/>
                    <a:pt x="0" y="25146"/>
                    <a:pt x="0" y="56102"/>
                  </a:cubicBezTo>
                  <a:cubicBezTo>
                    <a:pt x="0" y="87059"/>
                    <a:pt x="25146" y="112204"/>
                    <a:pt x="56102" y="112204"/>
                  </a:cubicBezTo>
                  <a:close/>
                </a:path>
              </a:pathLst>
            </a:custGeom>
            <a:noFill/>
            <a:ln w="15875" cap="rnd">
              <a:solidFill>
                <a:schemeClr val="bg1"/>
              </a:solidFill>
              <a:prstDash val="solid"/>
              <a:round/>
            </a:ln>
          </p:spPr>
          <p:txBody>
            <a:bodyPr rtlCol="0" anchor="ctr"/>
            <a:lstStyle/>
            <a:p>
              <a:endParaRPr lang="en-GB"/>
            </a:p>
          </p:txBody>
        </p:sp>
        <p:sp>
          <p:nvSpPr>
            <p:cNvPr id="96" name="Freeform: Shape 52">
              <a:extLst>
                <a:ext uri="{FF2B5EF4-FFF2-40B4-BE49-F238E27FC236}">
                  <a16:creationId xmlns:a16="http://schemas.microsoft.com/office/drawing/2014/main" id="{8D394450-6586-D87D-E9E5-90C320411B50}"/>
                </a:ext>
              </a:extLst>
            </p:cNvPr>
            <p:cNvSpPr/>
            <p:nvPr/>
          </p:nvSpPr>
          <p:spPr>
            <a:xfrm>
              <a:off x="5223021" y="1588801"/>
              <a:ext cx="28575" cy="9525"/>
            </a:xfrm>
            <a:custGeom>
              <a:avLst/>
              <a:gdLst>
                <a:gd name="connsiteX0" fmla="*/ 0 w 28575"/>
                <a:gd name="connsiteY0" fmla="*/ 0 h 0"/>
                <a:gd name="connsiteX1" fmla="*/ 36576 w 28575"/>
                <a:gd name="connsiteY1" fmla="*/ 0 h 0"/>
              </a:gdLst>
              <a:ahLst/>
              <a:cxnLst>
                <a:cxn ang="0">
                  <a:pos x="connsiteX0" y="connsiteY0"/>
                </a:cxn>
                <a:cxn ang="0">
                  <a:pos x="connsiteX1" y="connsiteY1"/>
                </a:cxn>
              </a:cxnLst>
              <a:rect l="l" t="t" r="r" b="b"/>
              <a:pathLst>
                <a:path w="28575">
                  <a:moveTo>
                    <a:pt x="0" y="0"/>
                  </a:moveTo>
                  <a:lnTo>
                    <a:pt x="36576" y="0"/>
                  </a:lnTo>
                </a:path>
              </a:pathLst>
            </a:custGeom>
            <a:noFill/>
            <a:ln w="15875" cap="rnd">
              <a:solidFill>
                <a:schemeClr val="bg1"/>
              </a:solidFill>
              <a:prstDash val="solid"/>
              <a:round/>
            </a:ln>
          </p:spPr>
          <p:txBody>
            <a:bodyPr rtlCol="0" anchor="ctr"/>
            <a:lstStyle/>
            <a:p>
              <a:endParaRPr lang="en-GB"/>
            </a:p>
          </p:txBody>
        </p:sp>
        <p:sp>
          <p:nvSpPr>
            <p:cNvPr id="97" name="Freeform: Shape 53">
              <a:extLst>
                <a:ext uri="{FF2B5EF4-FFF2-40B4-BE49-F238E27FC236}">
                  <a16:creationId xmlns:a16="http://schemas.microsoft.com/office/drawing/2014/main" id="{5DF5FB33-4E9B-48B7-69BF-2C94ED420C97}"/>
                </a:ext>
              </a:extLst>
            </p:cNvPr>
            <p:cNvSpPr/>
            <p:nvPr/>
          </p:nvSpPr>
          <p:spPr>
            <a:xfrm>
              <a:off x="5241309" y="1570513"/>
              <a:ext cx="9525" cy="28575"/>
            </a:xfrm>
            <a:custGeom>
              <a:avLst/>
              <a:gdLst>
                <a:gd name="connsiteX0" fmla="*/ 0 w 0"/>
                <a:gd name="connsiteY0" fmla="*/ 0 h 28575"/>
                <a:gd name="connsiteX1" fmla="*/ 0 w 0"/>
                <a:gd name="connsiteY1" fmla="*/ 36576 h 28575"/>
              </a:gdLst>
              <a:ahLst/>
              <a:cxnLst>
                <a:cxn ang="0">
                  <a:pos x="connsiteX0" y="connsiteY0"/>
                </a:cxn>
                <a:cxn ang="0">
                  <a:pos x="connsiteX1" y="connsiteY1"/>
                </a:cxn>
              </a:cxnLst>
              <a:rect l="l" t="t" r="r" b="b"/>
              <a:pathLst>
                <a:path h="28575">
                  <a:moveTo>
                    <a:pt x="0" y="0"/>
                  </a:moveTo>
                  <a:lnTo>
                    <a:pt x="0" y="36576"/>
                  </a:lnTo>
                </a:path>
              </a:pathLst>
            </a:custGeom>
            <a:noFill/>
            <a:ln w="15875" cap="rnd">
              <a:solidFill>
                <a:schemeClr val="bg1"/>
              </a:solidFill>
              <a:prstDash val="solid"/>
              <a:round/>
            </a:ln>
          </p:spPr>
          <p:txBody>
            <a:bodyPr rtlCol="0" anchor="ctr"/>
            <a:lstStyle/>
            <a:p>
              <a:endParaRPr lang="en-GB"/>
            </a:p>
          </p:txBody>
        </p:sp>
        <p:sp>
          <p:nvSpPr>
            <p:cNvPr id="98" name="Freeform: Shape 54">
              <a:extLst>
                <a:ext uri="{FF2B5EF4-FFF2-40B4-BE49-F238E27FC236}">
                  <a16:creationId xmlns:a16="http://schemas.microsoft.com/office/drawing/2014/main" id="{4227BB71-EECD-0B72-870C-63C1EC89D2D4}"/>
                </a:ext>
              </a:extLst>
            </p:cNvPr>
            <p:cNvSpPr/>
            <p:nvPr/>
          </p:nvSpPr>
          <p:spPr>
            <a:xfrm>
              <a:off x="5280933" y="1628425"/>
              <a:ext cx="38100" cy="38100"/>
            </a:xfrm>
            <a:custGeom>
              <a:avLst/>
              <a:gdLst>
                <a:gd name="connsiteX0" fmla="*/ 0 w 38100"/>
                <a:gd name="connsiteY0" fmla="*/ 0 h 38100"/>
                <a:gd name="connsiteX1" fmla="*/ 44482 w 38100"/>
                <a:gd name="connsiteY1" fmla="*/ 44482 h 38100"/>
              </a:gdLst>
              <a:ahLst/>
              <a:cxnLst>
                <a:cxn ang="0">
                  <a:pos x="connsiteX0" y="connsiteY0"/>
                </a:cxn>
                <a:cxn ang="0">
                  <a:pos x="connsiteX1" y="connsiteY1"/>
                </a:cxn>
              </a:cxnLst>
              <a:rect l="l" t="t" r="r" b="b"/>
              <a:pathLst>
                <a:path w="38100" h="38100">
                  <a:moveTo>
                    <a:pt x="0" y="0"/>
                  </a:moveTo>
                  <a:lnTo>
                    <a:pt x="44482" y="44482"/>
                  </a:lnTo>
                </a:path>
              </a:pathLst>
            </a:custGeom>
            <a:noFill/>
            <a:ln w="15875" cap="rnd">
              <a:solidFill>
                <a:schemeClr val="bg1"/>
              </a:solidFill>
              <a:prstDash val="solid"/>
              <a:round/>
            </a:ln>
          </p:spPr>
          <p:txBody>
            <a:bodyPr rtlCol="0" anchor="ctr"/>
            <a:lstStyle/>
            <a:p>
              <a:endParaRPr lang="en-GB"/>
            </a:p>
          </p:txBody>
        </p:sp>
      </p:grpSp>
      <p:sp>
        <p:nvSpPr>
          <p:cNvPr id="99" name="Rectangle: Rounded Corners 98">
            <a:extLst>
              <a:ext uri="{FF2B5EF4-FFF2-40B4-BE49-F238E27FC236}">
                <a16:creationId xmlns:a16="http://schemas.microsoft.com/office/drawing/2014/main" id="{D9BB8FFB-950D-9873-27BC-6A12EA67D2ED}"/>
              </a:ext>
            </a:extLst>
          </p:cNvPr>
          <p:cNvSpPr>
            <a:spLocks/>
          </p:cNvSpPr>
          <p:nvPr/>
        </p:nvSpPr>
        <p:spPr bwMode="auto">
          <a:xfrm>
            <a:off x="2021781" y="3254071"/>
            <a:ext cx="1719761" cy="255940"/>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GB" sz="1600" b="1">
                <a:solidFill>
                  <a:srgbClr val="FFFFFF"/>
                </a:solidFill>
                <a:cs typeface="Segoe Sans Text ExtraBold" pitchFamily="2" charset="0"/>
              </a:rPr>
              <a:t>LLMs</a:t>
            </a:r>
          </a:p>
        </p:txBody>
      </p:sp>
      <p:sp>
        <p:nvSpPr>
          <p:cNvPr id="100" name="Rectangle: Rounded Corners 99">
            <a:extLst>
              <a:ext uri="{FF2B5EF4-FFF2-40B4-BE49-F238E27FC236}">
                <a16:creationId xmlns:a16="http://schemas.microsoft.com/office/drawing/2014/main" id="{1192A59D-0D30-FD08-BD55-7D0FBCB6A7FA}"/>
              </a:ext>
            </a:extLst>
          </p:cNvPr>
          <p:cNvSpPr>
            <a:spLocks/>
          </p:cNvSpPr>
          <p:nvPr/>
        </p:nvSpPr>
        <p:spPr bwMode="auto">
          <a:xfrm>
            <a:off x="4131674" y="3254071"/>
            <a:ext cx="1719761" cy="255940"/>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GB" sz="1600" b="1">
                <a:solidFill>
                  <a:srgbClr val="FFFFFF"/>
                </a:solidFill>
                <a:cs typeface="Segoe Sans Text ExtraBold" pitchFamily="2" charset="0"/>
              </a:rPr>
              <a:t>Data</a:t>
            </a:r>
          </a:p>
        </p:txBody>
      </p:sp>
      <p:sp>
        <p:nvSpPr>
          <p:cNvPr id="101" name="Rectangle: Rounded Corners 100">
            <a:extLst>
              <a:ext uri="{FF2B5EF4-FFF2-40B4-BE49-F238E27FC236}">
                <a16:creationId xmlns:a16="http://schemas.microsoft.com/office/drawing/2014/main" id="{CEE80915-FEB2-4061-DD8D-EB860987A682}"/>
              </a:ext>
            </a:extLst>
          </p:cNvPr>
          <p:cNvSpPr>
            <a:spLocks/>
          </p:cNvSpPr>
          <p:nvPr/>
        </p:nvSpPr>
        <p:spPr bwMode="auto">
          <a:xfrm>
            <a:off x="6241567" y="3254071"/>
            <a:ext cx="1719761" cy="255940"/>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GB" sz="1600" b="1">
                <a:solidFill>
                  <a:srgbClr val="FFFFFF"/>
                </a:solidFill>
                <a:cs typeface="Segoe Sans Text ExtraBold" pitchFamily="2" charset="0"/>
              </a:rPr>
              <a:t>Code</a:t>
            </a:r>
          </a:p>
        </p:txBody>
      </p:sp>
      <p:sp>
        <p:nvSpPr>
          <p:cNvPr id="102" name="Rectangle: Rounded Corners 101">
            <a:extLst>
              <a:ext uri="{FF2B5EF4-FFF2-40B4-BE49-F238E27FC236}">
                <a16:creationId xmlns:a16="http://schemas.microsoft.com/office/drawing/2014/main" id="{745D6D27-3F1A-1C28-D0E6-97BA378386E6}"/>
              </a:ext>
            </a:extLst>
          </p:cNvPr>
          <p:cNvSpPr>
            <a:spLocks/>
          </p:cNvSpPr>
          <p:nvPr/>
        </p:nvSpPr>
        <p:spPr bwMode="auto">
          <a:xfrm>
            <a:off x="8351460" y="3254071"/>
            <a:ext cx="1719761" cy="255940"/>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GB" sz="1600" b="1">
                <a:solidFill>
                  <a:srgbClr val="FFFFFF"/>
                </a:solidFill>
                <a:cs typeface="Segoe Sans Text ExtraBold" pitchFamily="2" charset="0"/>
              </a:rPr>
              <a:t>Integrations</a:t>
            </a:r>
          </a:p>
        </p:txBody>
      </p:sp>
      <p:sp>
        <p:nvSpPr>
          <p:cNvPr id="103" name="Rectangle: Rounded Corners 102">
            <a:extLst>
              <a:ext uri="{FF2B5EF4-FFF2-40B4-BE49-F238E27FC236}">
                <a16:creationId xmlns:a16="http://schemas.microsoft.com/office/drawing/2014/main" id="{09C55F48-6AE2-D79D-DB6B-DAB5E7D90248}"/>
              </a:ext>
            </a:extLst>
          </p:cNvPr>
          <p:cNvSpPr>
            <a:spLocks/>
          </p:cNvSpPr>
          <p:nvPr/>
        </p:nvSpPr>
        <p:spPr bwMode="auto">
          <a:xfrm>
            <a:off x="1262725" y="6108629"/>
            <a:ext cx="9245297" cy="448781"/>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Segoe Sans Text"/>
                <a:ea typeface="Segoe Sans Text" pitchFamily="2" charset="0"/>
                <a:cs typeface="Segoe Sans Text" pitchFamily="2" charset="0"/>
              </a:rPr>
              <a:t>Responsible</a:t>
            </a:r>
            <a:r>
              <a:rPr kumimoji="0" lang="en-US" sz="1200" b="1" i="0" u="none" strike="noStrike" kern="1200" cap="none" spc="0" normalizeH="0" noProof="0">
                <a:ln>
                  <a:noFill/>
                </a:ln>
                <a:solidFill>
                  <a:schemeClr val="tx1"/>
                </a:solidFill>
                <a:effectLst/>
                <a:uLnTx/>
                <a:uFillTx/>
                <a:latin typeface="Segoe Sans Text"/>
                <a:ea typeface="Segoe Sans Text" pitchFamily="2" charset="0"/>
                <a:cs typeface="Segoe Sans Text" pitchFamily="2" charset="0"/>
              </a:rPr>
              <a:t> AI  </a:t>
            </a:r>
            <a:r>
              <a:rPr kumimoji="0" lang="en-US" sz="1200" b="0" i="0" u="none" strike="noStrike" kern="1200" cap="none" spc="0" normalizeH="0" baseline="0" noProof="0">
                <a:ln>
                  <a:noFill/>
                </a:ln>
                <a:solidFill>
                  <a:schemeClr val="tx1"/>
                </a:solidFill>
                <a:effectLst/>
                <a:uLnTx/>
                <a:uFillTx/>
                <a:latin typeface="Segoe Sans Text"/>
                <a:ea typeface="Segoe Sans Text" pitchFamily="2" charset="0"/>
                <a:cs typeface="Segoe Sans Text" pitchFamily="2" charset="0"/>
              </a:rPr>
              <a:t>(Content Safety, red teaming agents, guardrails etc..)</a:t>
            </a:r>
          </a:p>
        </p:txBody>
      </p:sp>
    </p:spTree>
    <p:extLst>
      <p:ext uri="{BB962C8B-B14F-4D97-AF65-F5344CB8AC3E}">
        <p14:creationId xmlns:p14="http://schemas.microsoft.com/office/powerpoint/2010/main" val="19579618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40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par>
                                <p:cTn id="8" presetID="16" presetClass="entr" presetSubtype="21" fill="hold" nodeType="withEffect">
                                  <p:stCondLst>
                                    <p:cond delay="400"/>
                                  </p:stCondLst>
                                  <p:childTnLst>
                                    <p:set>
                                      <p:cBhvr>
                                        <p:cTn id="9" dur="1" fill="hold">
                                          <p:stCondLst>
                                            <p:cond delay="0"/>
                                          </p:stCondLst>
                                        </p:cTn>
                                        <p:tgtEl>
                                          <p:spTgt spid="20"/>
                                        </p:tgtEl>
                                        <p:attrNameLst>
                                          <p:attrName>style.visibility</p:attrName>
                                        </p:attrNameLst>
                                      </p:cBhvr>
                                      <p:to>
                                        <p:strVal val="visible"/>
                                      </p:to>
                                    </p:set>
                                    <p:animEffect transition="in" filter="barn(inVertical)">
                                      <p:cBhvr>
                                        <p:cTn id="10" dur="500"/>
                                        <p:tgtEl>
                                          <p:spTgt spid="20"/>
                                        </p:tgtEl>
                                      </p:cBhvr>
                                    </p:animEffect>
                                  </p:childTnLst>
                                </p:cTn>
                              </p:par>
                              <p:par>
                                <p:cTn id="11" presetID="16" presetClass="entr" presetSubtype="21" fill="hold" nodeType="withEffect">
                                  <p:stCondLst>
                                    <p:cond delay="400"/>
                                  </p:stCondLst>
                                  <p:childTnLst>
                                    <p:set>
                                      <p:cBhvr>
                                        <p:cTn id="12" dur="1" fill="hold">
                                          <p:stCondLst>
                                            <p:cond delay="0"/>
                                          </p:stCondLst>
                                        </p:cTn>
                                        <p:tgtEl>
                                          <p:spTgt spid="24"/>
                                        </p:tgtEl>
                                        <p:attrNameLst>
                                          <p:attrName>style.visibility</p:attrName>
                                        </p:attrNameLst>
                                      </p:cBhvr>
                                      <p:to>
                                        <p:strVal val="visible"/>
                                      </p:to>
                                    </p:set>
                                    <p:animEffect transition="in" filter="barn(inVertical)">
                                      <p:cBhvr>
                                        <p:cTn id="13" dur="500"/>
                                        <p:tgtEl>
                                          <p:spTgt spid="24"/>
                                        </p:tgtEl>
                                      </p:cBhvr>
                                    </p:animEffect>
                                  </p:childTnLst>
                                </p:cTn>
                              </p:par>
                              <p:par>
                                <p:cTn id="14" presetID="16" presetClass="entr" presetSubtype="21" fill="hold" nodeType="withEffect">
                                  <p:stCondLst>
                                    <p:cond delay="400"/>
                                  </p:stCondLst>
                                  <p:childTnLst>
                                    <p:set>
                                      <p:cBhvr>
                                        <p:cTn id="15" dur="1" fill="hold">
                                          <p:stCondLst>
                                            <p:cond delay="0"/>
                                          </p:stCondLst>
                                        </p:cTn>
                                        <p:tgtEl>
                                          <p:spTgt spid="28"/>
                                        </p:tgtEl>
                                        <p:attrNameLst>
                                          <p:attrName>style.visibility</p:attrName>
                                        </p:attrNameLst>
                                      </p:cBhvr>
                                      <p:to>
                                        <p:strVal val="visible"/>
                                      </p:to>
                                    </p:set>
                                    <p:animEffect transition="in" filter="barn(inVertical)">
                                      <p:cBhvr>
                                        <p:cTn id="16" dur="500"/>
                                        <p:tgtEl>
                                          <p:spTgt spid="28"/>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750"/>
                                        <p:tgtEl>
                                          <p:spTgt spid="45"/>
                                        </p:tgtEl>
                                      </p:cBhvr>
                                    </p:animEffect>
                                  </p:childTnLst>
                                </p:cTn>
                              </p:par>
                              <p:par>
                                <p:cTn id="20" presetID="42" presetClass="path" presetSubtype="0" decel="100000" fill="hold" grpId="1" nodeType="withEffect">
                                  <p:stCondLst>
                                    <p:cond delay="500"/>
                                  </p:stCondLst>
                                  <p:childTnLst>
                                    <p:animMotion origin="layout" path="M -3.54167E-6 0.03889 L -3.54167E-6 -2.59259E-6 " pathEditMode="relative" rAng="0" ptsTypes="AA">
                                      <p:cBhvr>
                                        <p:cTn id="21" dur="750" fill="hold"/>
                                        <p:tgtEl>
                                          <p:spTgt spid="45"/>
                                        </p:tgtEl>
                                        <p:attrNameLst>
                                          <p:attrName>ppt_x</p:attrName>
                                          <p:attrName>ppt_y</p:attrName>
                                        </p:attrNameLst>
                                      </p:cBhvr>
                                      <p:rCtr x="0" y="-1944"/>
                                    </p:animMotion>
                                  </p:childTnLst>
                                </p:cTn>
                              </p:par>
                              <p:par>
                                <p:cTn id="22" presetID="10" presetClass="entr" presetSubtype="0" fill="hold" grpId="0" nodeType="withEffect">
                                  <p:stCondLst>
                                    <p:cond delay="50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750"/>
                                        <p:tgtEl>
                                          <p:spTgt spid="46"/>
                                        </p:tgtEl>
                                      </p:cBhvr>
                                    </p:animEffect>
                                  </p:childTnLst>
                                </p:cTn>
                              </p:par>
                              <p:par>
                                <p:cTn id="25" presetID="42" presetClass="path" presetSubtype="0" decel="100000" fill="hold" grpId="1" nodeType="withEffect">
                                  <p:stCondLst>
                                    <p:cond delay="500"/>
                                  </p:stCondLst>
                                  <p:childTnLst>
                                    <p:animMotion origin="layout" path="M -4.16667E-7 0.03889 L -4.16667E-7 -7.40741E-7 " pathEditMode="relative" rAng="0" ptsTypes="AA">
                                      <p:cBhvr>
                                        <p:cTn id="26" dur="750" fill="hold"/>
                                        <p:tgtEl>
                                          <p:spTgt spid="46"/>
                                        </p:tgtEl>
                                        <p:attrNameLst>
                                          <p:attrName>ppt_x</p:attrName>
                                          <p:attrName>ppt_y</p:attrName>
                                        </p:attrNameLst>
                                      </p:cBhvr>
                                      <p:rCtr x="0" y="-1944"/>
                                    </p:animMotion>
                                  </p:childTnLst>
                                </p:cTn>
                              </p:par>
                              <p:par>
                                <p:cTn id="27" presetID="10" presetClass="entr" presetSubtype="0" fill="hold" grpId="0" nodeType="withEffect">
                                  <p:stCondLst>
                                    <p:cond delay="500"/>
                                  </p:stCondLst>
                                  <p:childTnLst>
                                    <p:set>
                                      <p:cBhvr>
                                        <p:cTn id="28" dur="1" fill="hold">
                                          <p:stCondLst>
                                            <p:cond delay="0"/>
                                          </p:stCondLst>
                                        </p:cTn>
                                        <p:tgtEl>
                                          <p:spTgt spid="47"/>
                                        </p:tgtEl>
                                        <p:attrNameLst>
                                          <p:attrName>style.visibility</p:attrName>
                                        </p:attrNameLst>
                                      </p:cBhvr>
                                      <p:to>
                                        <p:strVal val="visible"/>
                                      </p:to>
                                    </p:set>
                                    <p:animEffect transition="in" filter="fade">
                                      <p:cBhvr>
                                        <p:cTn id="29" dur="750"/>
                                        <p:tgtEl>
                                          <p:spTgt spid="47"/>
                                        </p:tgtEl>
                                      </p:cBhvr>
                                    </p:animEffect>
                                  </p:childTnLst>
                                </p:cTn>
                              </p:par>
                              <p:par>
                                <p:cTn id="30" presetID="42" presetClass="path" presetSubtype="0" decel="100000" fill="hold" grpId="1" nodeType="withEffect">
                                  <p:stCondLst>
                                    <p:cond delay="500"/>
                                  </p:stCondLst>
                                  <p:childTnLst>
                                    <p:animMotion origin="layout" path="M 2.70833E-6 0.03889 L 2.70833E-6 -7.40741E-7 " pathEditMode="relative" rAng="0" ptsTypes="AA">
                                      <p:cBhvr>
                                        <p:cTn id="31" dur="750" fill="hold"/>
                                        <p:tgtEl>
                                          <p:spTgt spid="47"/>
                                        </p:tgtEl>
                                        <p:attrNameLst>
                                          <p:attrName>ppt_x</p:attrName>
                                          <p:attrName>ppt_y</p:attrName>
                                        </p:attrNameLst>
                                      </p:cBhvr>
                                      <p:rCtr x="0" y="-1944"/>
                                    </p:animMotion>
                                  </p:childTnLst>
                                </p:cTn>
                              </p:par>
                              <p:par>
                                <p:cTn id="32" presetID="10" presetClass="entr" presetSubtype="0" fill="hold" grpId="0" nodeType="withEffect">
                                  <p:stCondLst>
                                    <p:cond delay="50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750"/>
                                        <p:tgtEl>
                                          <p:spTgt spid="48"/>
                                        </p:tgtEl>
                                      </p:cBhvr>
                                    </p:animEffect>
                                  </p:childTnLst>
                                </p:cTn>
                              </p:par>
                              <p:par>
                                <p:cTn id="35" presetID="42" presetClass="path" presetSubtype="0" decel="100000" fill="hold" grpId="1" nodeType="withEffect">
                                  <p:stCondLst>
                                    <p:cond delay="500"/>
                                  </p:stCondLst>
                                  <p:childTnLst>
                                    <p:animMotion origin="layout" path="M -4.16667E-6 0.03889 L -4.16667E-6 -3.7037E-6 " pathEditMode="relative" rAng="0" ptsTypes="AA">
                                      <p:cBhvr>
                                        <p:cTn id="36" dur="750" fill="hold"/>
                                        <p:tgtEl>
                                          <p:spTgt spid="48"/>
                                        </p:tgtEl>
                                        <p:attrNameLst>
                                          <p:attrName>ppt_x</p:attrName>
                                          <p:attrName>ppt_y</p:attrName>
                                        </p:attrNameLst>
                                      </p:cBhvr>
                                      <p:rCtr x="0" y="-1944"/>
                                    </p:animMotion>
                                  </p:childTnLst>
                                </p:cTn>
                              </p:par>
                              <p:par>
                                <p:cTn id="37" presetID="10"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par>
                                <p:cTn id="40" presetID="6" presetClass="emph" presetSubtype="0" fill="hold" nodeType="withEffect">
                                  <p:stCondLst>
                                    <p:cond delay="0"/>
                                  </p:stCondLst>
                                  <p:childTnLst>
                                    <p:animScale>
                                      <p:cBhvr>
                                        <p:cTn id="41" dur="10" fill="hold"/>
                                        <p:tgtEl>
                                          <p:spTgt spid="5"/>
                                        </p:tgtEl>
                                      </p:cBhvr>
                                      <p:by x="125000" y="125000"/>
                                    </p:animScale>
                                  </p:childTnLst>
                                </p:cTn>
                              </p:par>
                              <p:par>
                                <p:cTn id="42" presetID="6" presetClass="emph" presetSubtype="0" decel="100000" fill="hold" nodeType="withEffect">
                                  <p:stCondLst>
                                    <p:cond delay="0"/>
                                  </p:stCondLst>
                                  <p:childTnLst>
                                    <p:animScale>
                                      <p:cBhvr>
                                        <p:cTn id="43" dur="750" fill="hold"/>
                                        <p:tgtEl>
                                          <p:spTgt spid="5"/>
                                        </p:tgtEl>
                                      </p:cBhvr>
                                      <p:by x="80000" y="80000"/>
                                    </p:animScale>
                                  </p:childTnLst>
                                </p:cTn>
                              </p:par>
                              <p:par>
                                <p:cTn id="44" presetID="23" presetClass="entr" presetSubtype="16" fill="hold" nodeType="withEffect">
                                  <p:stCondLst>
                                    <p:cond delay="150"/>
                                  </p:stCondLst>
                                  <p:childTnLst>
                                    <p:set>
                                      <p:cBhvr>
                                        <p:cTn id="45" dur="1" fill="hold">
                                          <p:stCondLst>
                                            <p:cond delay="0"/>
                                          </p:stCondLst>
                                        </p:cTn>
                                        <p:tgtEl>
                                          <p:spTgt spid="10"/>
                                        </p:tgtEl>
                                        <p:attrNameLst>
                                          <p:attrName>style.visibility</p:attrName>
                                        </p:attrNameLst>
                                      </p:cBhvr>
                                      <p:to>
                                        <p:strVal val="visible"/>
                                      </p:to>
                                    </p:set>
                                    <p:anim calcmode="lin" valueType="num">
                                      <p:cBhvr>
                                        <p:cTn id="46" dur="250" fill="hold"/>
                                        <p:tgtEl>
                                          <p:spTgt spid="10"/>
                                        </p:tgtEl>
                                        <p:attrNameLst>
                                          <p:attrName>ppt_w</p:attrName>
                                        </p:attrNameLst>
                                      </p:cBhvr>
                                      <p:tavLst>
                                        <p:tav tm="0">
                                          <p:val>
                                            <p:fltVal val="0"/>
                                          </p:val>
                                        </p:tav>
                                        <p:tav tm="100000">
                                          <p:val>
                                            <p:strVal val="#ppt_w"/>
                                          </p:val>
                                        </p:tav>
                                      </p:tavLst>
                                    </p:anim>
                                    <p:anim calcmode="lin" valueType="num">
                                      <p:cBhvr>
                                        <p:cTn id="47" dur="250" fill="hold"/>
                                        <p:tgtEl>
                                          <p:spTgt spid="10"/>
                                        </p:tgtEl>
                                        <p:attrNameLst>
                                          <p:attrName>ppt_h</p:attrName>
                                        </p:attrNameLst>
                                      </p:cBhvr>
                                      <p:tavLst>
                                        <p:tav tm="0">
                                          <p:val>
                                            <p:fltVal val="0"/>
                                          </p:val>
                                        </p:tav>
                                        <p:tav tm="100000">
                                          <p:val>
                                            <p:strVal val="#ppt_h"/>
                                          </p:val>
                                        </p:tav>
                                      </p:tavLst>
                                    </p:anim>
                                  </p:childTnLst>
                                </p:cTn>
                              </p:par>
                              <p:par>
                                <p:cTn id="48" presetID="10" presetClass="entr" presetSubtype="0" fill="hold" nodeType="withEffect">
                                  <p:stCondLst>
                                    <p:cond delay="15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childTnLst>
                                </p:cTn>
                              </p:par>
                              <p:par>
                                <p:cTn id="51" presetID="6" presetClass="emph" presetSubtype="0" fill="hold" nodeType="withEffect">
                                  <p:stCondLst>
                                    <p:cond delay="150"/>
                                  </p:stCondLst>
                                  <p:childTnLst>
                                    <p:animScale>
                                      <p:cBhvr>
                                        <p:cTn id="52" dur="10" fill="hold"/>
                                        <p:tgtEl>
                                          <p:spTgt spid="10"/>
                                        </p:tgtEl>
                                      </p:cBhvr>
                                      <p:by x="80000" y="80000"/>
                                    </p:animScale>
                                  </p:childTnLst>
                                </p:cTn>
                              </p:par>
                              <p:par>
                                <p:cTn id="53" presetID="6" presetClass="emph" presetSubtype="0" decel="100000" fill="hold" nodeType="withEffect">
                                  <p:stCondLst>
                                    <p:cond delay="150"/>
                                  </p:stCondLst>
                                  <p:childTnLst>
                                    <p:animScale>
                                      <p:cBhvr>
                                        <p:cTn id="54" dur="1000" fill="hold"/>
                                        <p:tgtEl>
                                          <p:spTgt spid="10"/>
                                        </p:tgtEl>
                                      </p:cBhvr>
                                      <p:by x="125000" y="125000"/>
                                    </p:animScale>
                                  </p:childTnLst>
                                </p:cTn>
                              </p:par>
                              <p:par>
                                <p:cTn id="55" presetID="23" presetClass="entr" presetSubtype="16" fill="hold" nodeType="withEffect">
                                  <p:stCondLst>
                                    <p:cond delay="150"/>
                                  </p:stCondLst>
                                  <p:childTnLst>
                                    <p:set>
                                      <p:cBhvr>
                                        <p:cTn id="56" dur="1" fill="hold">
                                          <p:stCondLst>
                                            <p:cond delay="0"/>
                                          </p:stCondLst>
                                        </p:cTn>
                                        <p:tgtEl>
                                          <p:spTgt spid="13"/>
                                        </p:tgtEl>
                                        <p:attrNameLst>
                                          <p:attrName>style.visibility</p:attrName>
                                        </p:attrNameLst>
                                      </p:cBhvr>
                                      <p:to>
                                        <p:strVal val="visible"/>
                                      </p:to>
                                    </p:set>
                                    <p:anim calcmode="lin" valueType="num">
                                      <p:cBhvr>
                                        <p:cTn id="57" dur="250" fill="hold"/>
                                        <p:tgtEl>
                                          <p:spTgt spid="13"/>
                                        </p:tgtEl>
                                        <p:attrNameLst>
                                          <p:attrName>ppt_w</p:attrName>
                                        </p:attrNameLst>
                                      </p:cBhvr>
                                      <p:tavLst>
                                        <p:tav tm="0">
                                          <p:val>
                                            <p:fltVal val="0"/>
                                          </p:val>
                                        </p:tav>
                                        <p:tav tm="100000">
                                          <p:val>
                                            <p:strVal val="#ppt_w"/>
                                          </p:val>
                                        </p:tav>
                                      </p:tavLst>
                                    </p:anim>
                                    <p:anim calcmode="lin" valueType="num">
                                      <p:cBhvr>
                                        <p:cTn id="58" dur="250" fill="hold"/>
                                        <p:tgtEl>
                                          <p:spTgt spid="13"/>
                                        </p:tgtEl>
                                        <p:attrNameLst>
                                          <p:attrName>ppt_h</p:attrName>
                                        </p:attrNameLst>
                                      </p:cBhvr>
                                      <p:tavLst>
                                        <p:tav tm="0">
                                          <p:val>
                                            <p:fltVal val="0"/>
                                          </p:val>
                                        </p:tav>
                                        <p:tav tm="100000">
                                          <p:val>
                                            <p:strVal val="#ppt_h"/>
                                          </p:val>
                                        </p:tav>
                                      </p:tavLst>
                                    </p:anim>
                                  </p:childTnLst>
                                </p:cTn>
                              </p:par>
                              <p:par>
                                <p:cTn id="59" presetID="10" presetClass="entr" presetSubtype="0" fill="hold" nodeType="withEffect">
                                  <p:stCondLst>
                                    <p:cond delay="15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childTnLst>
                                </p:cTn>
                              </p:par>
                              <p:par>
                                <p:cTn id="62" presetID="6" presetClass="emph" presetSubtype="0" fill="hold" nodeType="withEffect">
                                  <p:stCondLst>
                                    <p:cond delay="150"/>
                                  </p:stCondLst>
                                  <p:childTnLst>
                                    <p:animScale>
                                      <p:cBhvr>
                                        <p:cTn id="63" dur="10" fill="hold"/>
                                        <p:tgtEl>
                                          <p:spTgt spid="13"/>
                                        </p:tgtEl>
                                      </p:cBhvr>
                                      <p:by x="80000" y="80000"/>
                                    </p:animScale>
                                  </p:childTnLst>
                                </p:cTn>
                              </p:par>
                              <p:par>
                                <p:cTn id="64" presetID="6" presetClass="emph" presetSubtype="0" decel="100000" fill="hold" nodeType="withEffect">
                                  <p:stCondLst>
                                    <p:cond delay="150"/>
                                  </p:stCondLst>
                                  <p:childTnLst>
                                    <p:animScale>
                                      <p:cBhvr>
                                        <p:cTn id="65" dur="1000" fill="hold"/>
                                        <p:tgtEl>
                                          <p:spTgt spid="13"/>
                                        </p:tgtEl>
                                      </p:cBhvr>
                                      <p:by x="125000" y="125000"/>
                                    </p:animScale>
                                  </p:childTnLst>
                                </p:cTn>
                              </p:par>
                              <p:par>
                                <p:cTn id="66" presetID="23" presetClass="entr" presetSubtype="16" fill="hold" nodeType="withEffect">
                                  <p:stCondLst>
                                    <p:cond delay="150"/>
                                  </p:stCondLst>
                                  <p:childTnLst>
                                    <p:set>
                                      <p:cBhvr>
                                        <p:cTn id="67" dur="1" fill="hold">
                                          <p:stCondLst>
                                            <p:cond delay="0"/>
                                          </p:stCondLst>
                                        </p:cTn>
                                        <p:tgtEl>
                                          <p:spTgt spid="35"/>
                                        </p:tgtEl>
                                        <p:attrNameLst>
                                          <p:attrName>style.visibility</p:attrName>
                                        </p:attrNameLst>
                                      </p:cBhvr>
                                      <p:to>
                                        <p:strVal val="visible"/>
                                      </p:to>
                                    </p:set>
                                    <p:anim calcmode="lin" valueType="num">
                                      <p:cBhvr>
                                        <p:cTn id="68" dur="250" fill="hold"/>
                                        <p:tgtEl>
                                          <p:spTgt spid="35"/>
                                        </p:tgtEl>
                                        <p:attrNameLst>
                                          <p:attrName>ppt_w</p:attrName>
                                        </p:attrNameLst>
                                      </p:cBhvr>
                                      <p:tavLst>
                                        <p:tav tm="0">
                                          <p:val>
                                            <p:fltVal val="0"/>
                                          </p:val>
                                        </p:tav>
                                        <p:tav tm="100000">
                                          <p:val>
                                            <p:strVal val="#ppt_w"/>
                                          </p:val>
                                        </p:tav>
                                      </p:tavLst>
                                    </p:anim>
                                    <p:anim calcmode="lin" valueType="num">
                                      <p:cBhvr>
                                        <p:cTn id="69" dur="250" fill="hold"/>
                                        <p:tgtEl>
                                          <p:spTgt spid="35"/>
                                        </p:tgtEl>
                                        <p:attrNameLst>
                                          <p:attrName>ppt_h</p:attrName>
                                        </p:attrNameLst>
                                      </p:cBhvr>
                                      <p:tavLst>
                                        <p:tav tm="0">
                                          <p:val>
                                            <p:fltVal val="0"/>
                                          </p:val>
                                        </p:tav>
                                        <p:tav tm="100000">
                                          <p:val>
                                            <p:strVal val="#ppt_h"/>
                                          </p:val>
                                        </p:tav>
                                      </p:tavLst>
                                    </p:anim>
                                  </p:childTnLst>
                                </p:cTn>
                              </p:par>
                              <p:par>
                                <p:cTn id="70" presetID="10" presetClass="entr" presetSubtype="0" fill="hold" nodeType="withEffect">
                                  <p:stCondLst>
                                    <p:cond delay="15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par>
                                <p:cTn id="73" presetID="6" presetClass="emph" presetSubtype="0" fill="hold" nodeType="withEffect">
                                  <p:stCondLst>
                                    <p:cond delay="150"/>
                                  </p:stCondLst>
                                  <p:childTnLst>
                                    <p:animScale>
                                      <p:cBhvr>
                                        <p:cTn id="74" dur="10" fill="hold"/>
                                        <p:tgtEl>
                                          <p:spTgt spid="35"/>
                                        </p:tgtEl>
                                      </p:cBhvr>
                                      <p:by x="80000" y="80000"/>
                                    </p:animScale>
                                  </p:childTnLst>
                                </p:cTn>
                              </p:par>
                              <p:par>
                                <p:cTn id="75" presetID="6" presetClass="emph" presetSubtype="0" decel="100000" fill="hold" nodeType="withEffect">
                                  <p:stCondLst>
                                    <p:cond delay="150"/>
                                  </p:stCondLst>
                                  <p:childTnLst>
                                    <p:animScale>
                                      <p:cBhvr>
                                        <p:cTn id="76" dur="1000" fill="hold"/>
                                        <p:tgtEl>
                                          <p:spTgt spid="35"/>
                                        </p:tgtEl>
                                      </p:cBhvr>
                                      <p:by x="125000" y="125000"/>
                                    </p:animScale>
                                  </p:childTnLst>
                                </p:cTn>
                              </p:par>
                              <p:par>
                                <p:cTn id="77" presetID="23" presetClass="entr" presetSubtype="16" fill="hold" nodeType="withEffect">
                                  <p:stCondLst>
                                    <p:cond delay="150"/>
                                  </p:stCondLst>
                                  <p:childTnLst>
                                    <p:set>
                                      <p:cBhvr>
                                        <p:cTn id="78" dur="1" fill="hold">
                                          <p:stCondLst>
                                            <p:cond delay="0"/>
                                          </p:stCondLst>
                                        </p:cTn>
                                        <p:tgtEl>
                                          <p:spTgt spid="38"/>
                                        </p:tgtEl>
                                        <p:attrNameLst>
                                          <p:attrName>style.visibility</p:attrName>
                                        </p:attrNameLst>
                                      </p:cBhvr>
                                      <p:to>
                                        <p:strVal val="visible"/>
                                      </p:to>
                                    </p:set>
                                    <p:anim calcmode="lin" valueType="num">
                                      <p:cBhvr>
                                        <p:cTn id="79" dur="250" fill="hold"/>
                                        <p:tgtEl>
                                          <p:spTgt spid="38"/>
                                        </p:tgtEl>
                                        <p:attrNameLst>
                                          <p:attrName>ppt_w</p:attrName>
                                        </p:attrNameLst>
                                      </p:cBhvr>
                                      <p:tavLst>
                                        <p:tav tm="0">
                                          <p:val>
                                            <p:fltVal val="0"/>
                                          </p:val>
                                        </p:tav>
                                        <p:tav tm="100000">
                                          <p:val>
                                            <p:strVal val="#ppt_w"/>
                                          </p:val>
                                        </p:tav>
                                      </p:tavLst>
                                    </p:anim>
                                    <p:anim calcmode="lin" valueType="num">
                                      <p:cBhvr>
                                        <p:cTn id="80" dur="250" fill="hold"/>
                                        <p:tgtEl>
                                          <p:spTgt spid="38"/>
                                        </p:tgtEl>
                                        <p:attrNameLst>
                                          <p:attrName>ppt_h</p:attrName>
                                        </p:attrNameLst>
                                      </p:cBhvr>
                                      <p:tavLst>
                                        <p:tav tm="0">
                                          <p:val>
                                            <p:fltVal val="0"/>
                                          </p:val>
                                        </p:tav>
                                        <p:tav tm="100000">
                                          <p:val>
                                            <p:strVal val="#ppt_h"/>
                                          </p:val>
                                        </p:tav>
                                      </p:tavLst>
                                    </p:anim>
                                  </p:childTnLst>
                                </p:cTn>
                              </p:par>
                              <p:par>
                                <p:cTn id="81" presetID="10" presetClass="entr" presetSubtype="0" fill="hold" nodeType="withEffect">
                                  <p:stCondLst>
                                    <p:cond delay="15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500"/>
                                        <p:tgtEl>
                                          <p:spTgt spid="38"/>
                                        </p:tgtEl>
                                      </p:cBhvr>
                                    </p:animEffect>
                                  </p:childTnLst>
                                </p:cTn>
                              </p:par>
                              <p:par>
                                <p:cTn id="84" presetID="6" presetClass="emph" presetSubtype="0" fill="hold" nodeType="withEffect">
                                  <p:stCondLst>
                                    <p:cond delay="150"/>
                                  </p:stCondLst>
                                  <p:childTnLst>
                                    <p:animScale>
                                      <p:cBhvr>
                                        <p:cTn id="85" dur="10" fill="hold"/>
                                        <p:tgtEl>
                                          <p:spTgt spid="38"/>
                                        </p:tgtEl>
                                      </p:cBhvr>
                                      <p:by x="80000" y="80000"/>
                                    </p:animScale>
                                  </p:childTnLst>
                                </p:cTn>
                              </p:par>
                              <p:par>
                                <p:cTn id="86" presetID="6" presetClass="emph" presetSubtype="0" decel="100000" fill="hold" nodeType="withEffect">
                                  <p:stCondLst>
                                    <p:cond delay="150"/>
                                  </p:stCondLst>
                                  <p:childTnLst>
                                    <p:animScale>
                                      <p:cBhvr>
                                        <p:cTn id="87" dur="1000" fill="hold"/>
                                        <p:tgtEl>
                                          <p:spTgt spid="38"/>
                                        </p:tgtEl>
                                      </p:cBhvr>
                                      <p:by x="125000" y="125000"/>
                                    </p:animScale>
                                  </p:childTnLst>
                                </p:cTn>
                              </p:par>
                              <p:par>
                                <p:cTn id="88" presetID="23" presetClass="entr" presetSubtype="16" fill="hold" nodeType="withEffect">
                                  <p:stCondLst>
                                    <p:cond delay="150"/>
                                  </p:stCondLst>
                                  <p:childTnLst>
                                    <p:set>
                                      <p:cBhvr>
                                        <p:cTn id="89" dur="1" fill="hold">
                                          <p:stCondLst>
                                            <p:cond delay="0"/>
                                          </p:stCondLst>
                                        </p:cTn>
                                        <p:tgtEl>
                                          <p:spTgt spid="49"/>
                                        </p:tgtEl>
                                        <p:attrNameLst>
                                          <p:attrName>style.visibility</p:attrName>
                                        </p:attrNameLst>
                                      </p:cBhvr>
                                      <p:to>
                                        <p:strVal val="visible"/>
                                      </p:to>
                                    </p:set>
                                    <p:anim calcmode="lin" valueType="num">
                                      <p:cBhvr>
                                        <p:cTn id="90" dur="250" fill="hold"/>
                                        <p:tgtEl>
                                          <p:spTgt spid="49"/>
                                        </p:tgtEl>
                                        <p:attrNameLst>
                                          <p:attrName>ppt_w</p:attrName>
                                        </p:attrNameLst>
                                      </p:cBhvr>
                                      <p:tavLst>
                                        <p:tav tm="0">
                                          <p:val>
                                            <p:fltVal val="0"/>
                                          </p:val>
                                        </p:tav>
                                        <p:tav tm="100000">
                                          <p:val>
                                            <p:strVal val="#ppt_w"/>
                                          </p:val>
                                        </p:tav>
                                      </p:tavLst>
                                    </p:anim>
                                    <p:anim calcmode="lin" valueType="num">
                                      <p:cBhvr>
                                        <p:cTn id="91" dur="250" fill="hold"/>
                                        <p:tgtEl>
                                          <p:spTgt spid="49"/>
                                        </p:tgtEl>
                                        <p:attrNameLst>
                                          <p:attrName>ppt_h</p:attrName>
                                        </p:attrNameLst>
                                      </p:cBhvr>
                                      <p:tavLst>
                                        <p:tav tm="0">
                                          <p:val>
                                            <p:fltVal val="0"/>
                                          </p:val>
                                        </p:tav>
                                        <p:tav tm="100000">
                                          <p:val>
                                            <p:strVal val="#ppt_h"/>
                                          </p:val>
                                        </p:tav>
                                      </p:tavLst>
                                    </p:anim>
                                  </p:childTnLst>
                                </p:cTn>
                              </p:par>
                              <p:par>
                                <p:cTn id="92" presetID="10" presetClass="entr" presetSubtype="0" fill="hold" nodeType="withEffect">
                                  <p:stCondLst>
                                    <p:cond delay="150"/>
                                  </p:stCondLst>
                                  <p:childTnLst>
                                    <p:set>
                                      <p:cBhvr>
                                        <p:cTn id="93" dur="1" fill="hold">
                                          <p:stCondLst>
                                            <p:cond delay="0"/>
                                          </p:stCondLst>
                                        </p:cTn>
                                        <p:tgtEl>
                                          <p:spTgt spid="49"/>
                                        </p:tgtEl>
                                        <p:attrNameLst>
                                          <p:attrName>style.visibility</p:attrName>
                                        </p:attrNameLst>
                                      </p:cBhvr>
                                      <p:to>
                                        <p:strVal val="visible"/>
                                      </p:to>
                                    </p:set>
                                    <p:animEffect transition="in" filter="fade">
                                      <p:cBhvr>
                                        <p:cTn id="94" dur="500"/>
                                        <p:tgtEl>
                                          <p:spTgt spid="49"/>
                                        </p:tgtEl>
                                      </p:cBhvr>
                                    </p:animEffect>
                                  </p:childTnLst>
                                </p:cTn>
                              </p:par>
                              <p:par>
                                <p:cTn id="95" presetID="6" presetClass="emph" presetSubtype="0" fill="hold" nodeType="withEffect">
                                  <p:stCondLst>
                                    <p:cond delay="150"/>
                                  </p:stCondLst>
                                  <p:childTnLst>
                                    <p:animScale>
                                      <p:cBhvr>
                                        <p:cTn id="96" dur="10" fill="hold"/>
                                        <p:tgtEl>
                                          <p:spTgt spid="49"/>
                                        </p:tgtEl>
                                      </p:cBhvr>
                                      <p:by x="80000" y="80000"/>
                                    </p:animScale>
                                  </p:childTnLst>
                                </p:cTn>
                              </p:par>
                              <p:par>
                                <p:cTn id="97" presetID="6" presetClass="emph" presetSubtype="0" decel="100000" fill="hold" nodeType="withEffect">
                                  <p:stCondLst>
                                    <p:cond delay="150"/>
                                  </p:stCondLst>
                                  <p:childTnLst>
                                    <p:animScale>
                                      <p:cBhvr>
                                        <p:cTn id="98" dur="1000" fill="hold"/>
                                        <p:tgtEl>
                                          <p:spTgt spid="49"/>
                                        </p:tgtEl>
                                      </p:cBhvr>
                                      <p:by x="125000" y="125000"/>
                                    </p:animScale>
                                  </p:childTnLst>
                                </p:cTn>
                              </p:par>
                              <p:par>
                                <p:cTn id="99" presetID="23" presetClass="entr" presetSubtype="16" fill="hold" nodeType="withEffect">
                                  <p:stCondLst>
                                    <p:cond delay="150"/>
                                  </p:stCondLst>
                                  <p:childTnLst>
                                    <p:set>
                                      <p:cBhvr>
                                        <p:cTn id="100" dur="1" fill="hold">
                                          <p:stCondLst>
                                            <p:cond delay="0"/>
                                          </p:stCondLst>
                                        </p:cTn>
                                        <p:tgtEl>
                                          <p:spTgt spid="63"/>
                                        </p:tgtEl>
                                        <p:attrNameLst>
                                          <p:attrName>style.visibility</p:attrName>
                                        </p:attrNameLst>
                                      </p:cBhvr>
                                      <p:to>
                                        <p:strVal val="visible"/>
                                      </p:to>
                                    </p:set>
                                    <p:anim calcmode="lin" valueType="num">
                                      <p:cBhvr>
                                        <p:cTn id="101" dur="250" fill="hold"/>
                                        <p:tgtEl>
                                          <p:spTgt spid="63"/>
                                        </p:tgtEl>
                                        <p:attrNameLst>
                                          <p:attrName>ppt_w</p:attrName>
                                        </p:attrNameLst>
                                      </p:cBhvr>
                                      <p:tavLst>
                                        <p:tav tm="0">
                                          <p:val>
                                            <p:fltVal val="0"/>
                                          </p:val>
                                        </p:tav>
                                        <p:tav tm="100000">
                                          <p:val>
                                            <p:strVal val="#ppt_w"/>
                                          </p:val>
                                        </p:tav>
                                      </p:tavLst>
                                    </p:anim>
                                    <p:anim calcmode="lin" valueType="num">
                                      <p:cBhvr>
                                        <p:cTn id="102" dur="250" fill="hold"/>
                                        <p:tgtEl>
                                          <p:spTgt spid="63"/>
                                        </p:tgtEl>
                                        <p:attrNameLst>
                                          <p:attrName>ppt_h</p:attrName>
                                        </p:attrNameLst>
                                      </p:cBhvr>
                                      <p:tavLst>
                                        <p:tav tm="0">
                                          <p:val>
                                            <p:fltVal val="0"/>
                                          </p:val>
                                        </p:tav>
                                        <p:tav tm="100000">
                                          <p:val>
                                            <p:strVal val="#ppt_h"/>
                                          </p:val>
                                        </p:tav>
                                      </p:tavLst>
                                    </p:anim>
                                  </p:childTnLst>
                                </p:cTn>
                              </p:par>
                              <p:par>
                                <p:cTn id="103" presetID="10" presetClass="entr" presetSubtype="0" fill="hold" nodeType="withEffect">
                                  <p:stCondLst>
                                    <p:cond delay="150"/>
                                  </p:stCondLst>
                                  <p:childTnLst>
                                    <p:set>
                                      <p:cBhvr>
                                        <p:cTn id="104" dur="1" fill="hold">
                                          <p:stCondLst>
                                            <p:cond delay="0"/>
                                          </p:stCondLst>
                                        </p:cTn>
                                        <p:tgtEl>
                                          <p:spTgt spid="63"/>
                                        </p:tgtEl>
                                        <p:attrNameLst>
                                          <p:attrName>style.visibility</p:attrName>
                                        </p:attrNameLst>
                                      </p:cBhvr>
                                      <p:to>
                                        <p:strVal val="visible"/>
                                      </p:to>
                                    </p:set>
                                    <p:animEffect transition="in" filter="fade">
                                      <p:cBhvr>
                                        <p:cTn id="105" dur="500"/>
                                        <p:tgtEl>
                                          <p:spTgt spid="63"/>
                                        </p:tgtEl>
                                      </p:cBhvr>
                                    </p:animEffect>
                                  </p:childTnLst>
                                </p:cTn>
                              </p:par>
                              <p:par>
                                <p:cTn id="106" presetID="6" presetClass="emph" presetSubtype="0" fill="hold" nodeType="withEffect">
                                  <p:stCondLst>
                                    <p:cond delay="150"/>
                                  </p:stCondLst>
                                  <p:childTnLst>
                                    <p:animScale>
                                      <p:cBhvr>
                                        <p:cTn id="107" dur="10" fill="hold"/>
                                        <p:tgtEl>
                                          <p:spTgt spid="63"/>
                                        </p:tgtEl>
                                      </p:cBhvr>
                                      <p:by x="80000" y="80000"/>
                                    </p:animScale>
                                  </p:childTnLst>
                                </p:cTn>
                              </p:par>
                              <p:par>
                                <p:cTn id="108" presetID="6" presetClass="emph" presetSubtype="0" decel="100000" fill="hold" nodeType="withEffect">
                                  <p:stCondLst>
                                    <p:cond delay="150"/>
                                  </p:stCondLst>
                                  <p:childTnLst>
                                    <p:animScale>
                                      <p:cBhvr>
                                        <p:cTn id="109" dur="1000" fill="hold"/>
                                        <p:tgtEl>
                                          <p:spTgt spid="63"/>
                                        </p:tgtEl>
                                      </p:cBhvr>
                                      <p:by x="125000" y="125000"/>
                                    </p:animScale>
                                  </p:childTnLst>
                                </p:cTn>
                              </p:par>
                              <p:par>
                                <p:cTn id="110" presetID="23" presetClass="entr" presetSubtype="16" fill="hold" nodeType="withEffect">
                                  <p:stCondLst>
                                    <p:cond delay="150"/>
                                  </p:stCondLst>
                                  <p:childTnLst>
                                    <p:set>
                                      <p:cBhvr>
                                        <p:cTn id="111" dur="1" fill="hold">
                                          <p:stCondLst>
                                            <p:cond delay="0"/>
                                          </p:stCondLst>
                                        </p:cTn>
                                        <p:tgtEl>
                                          <p:spTgt spid="74"/>
                                        </p:tgtEl>
                                        <p:attrNameLst>
                                          <p:attrName>style.visibility</p:attrName>
                                        </p:attrNameLst>
                                      </p:cBhvr>
                                      <p:to>
                                        <p:strVal val="visible"/>
                                      </p:to>
                                    </p:set>
                                    <p:anim calcmode="lin" valueType="num">
                                      <p:cBhvr>
                                        <p:cTn id="112" dur="250" fill="hold"/>
                                        <p:tgtEl>
                                          <p:spTgt spid="74"/>
                                        </p:tgtEl>
                                        <p:attrNameLst>
                                          <p:attrName>ppt_w</p:attrName>
                                        </p:attrNameLst>
                                      </p:cBhvr>
                                      <p:tavLst>
                                        <p:tav tm="0">
                                          <p:val>
                                            <p:fltVal val="0"/>
                                          </p:val>
                                        </p:tav>
                                        <p:tav tm="100000">
                                          <p:val>
                                            <p:strVal val="#ppt_w"/>
                                          </p:val>
                                        </p:tav>
                                      </p:tavLst>
                                    </p:anim>
                                    <p:anim calcmode="lin" valueType="num">
                                      <p:cBhvr>
                                        <p:cTn id="113" dur="250" fill="hold"/>
                                        <p:tgtEl>
                                          <p:spTgt spid="74"/>
                                        </p:tgtEl>
                                        <p:attrNameLst>
                                          <p:attrName>ppt_h</p:attrName>
                                        </p:attrNameLst>
                                      </p:cBhvr>
                                      <p:tavLst>
                                        <p:tav tm="0">
                                          <p:val>
                                            <p:fltVal val="0"/>
                                          </p:val>
                                        </p:tav>
                                        <p:tav tm="100000">
                                          <p:val>
                                            <p:strVal val="#ppt_h"/>
                                          </p:val>
                                        </p:tav>
                                      </p:tavLst>
                                    </p:anim>
                                  </p:childTnLst>
                                </p:cTn>
                              </p:par>
                              <p:par>
                                <p:cTn id="114" presetID="10" presetClass="entr" presetSubtype="0" fill="hold" nodeType="withEffect">
                                  <p:stCondLst>
                                    <p:cond delay="150"/>
                                  </p:stCondLst>
                                  <p:childTnLst>
                                    <p:set>
                                      <p:cBhvr>
                                        <p:cTn id="115" dur="1" fill="hold">
                                          <p:stCondLst>
                                            <p:cond delay="0"/>
                                          </p:stCondLst>
                                        </p:cTn>
                                        <p:tgtEl>
                                          <p:spTgt spid="74"/>
                                        </p:tgtEl>
                                        <p:attrNameLst>
                                          <p:attrName>style.visibility</p:attrName>
                                        </p:attrNameLst>
                                      </p:cBhvr>
                                      <p:to>
                                        <p:strVal val="visible"/>
                                      </p:to>
                                    </p:set>
                                    <p:animEffect transition="in" filter="fade">
                                      <p:cBhvr>
                                        <p:cTn id="116" dur="500"/>
                                        <p:tgtEl>
                                          <p:spTgt spid="74"/>
                                        </p:tgtEl>
                                      </p:cBhvr>
                                    </p:animEffect>
                                  </p:childTnLst>
                                </p:cTn>
                              </p:par>
                              <p:par>
                                <p:cTn id="117" presetID="6" presetClass="emph" presetSubtype="0" fill="hold" nodeType="withEffect">
                                  <p:stCondLst>
                                    <p:cond delay="150"/>
                                  </p:stCondLst>
                                  <p:childTnLst>
                                    <p:animScale>
                                      <p:cBhvr>
                                        <p:cTn id="118" dur="10" fill="hold"/>
                                        <p:tgtEl>
                                          <p:spTgt spid="74"/>
                                        </p:tgtEl>
                                      </p:cBhvr>
                                      <p:by x="80000" y="80000"/>
                                    </p:animScale>
                                  </p:childTnLst>
                                </p:cTn>
                              </p:par>
                              <p:par>
                                <p:cTn id="119" presetID="6" presetClass="emph" presetSubtype="0" decel="100000" fill="hold" nodeType="withEffect">
                                  <p:stCondLst>
                                    <p:cond delay="150"/>
                                  </p:stCondLst>
                                  <p:childTnLst>
                                    <p:animScale>
                                      <p:cBhvr>
                                        <p:cTn id="120" dur="1000" fill="hold"/>
                                        <p:tgtEl>
                                          <p:spTgt spid="74"/>
                                        </p:tgtEl>
                                      </p:cBhvr>
                                      <p:by x="125000" y="125000"/>
                                    </p:animScale>
                                  </p:childTnLst>
                                </p:cTn>
                              </p:par>
                              <p:par>
                                <p:cTn id="121" presetID="23" presetClass="entr" presetSubtype="16" fill="hold" nodeType="withEffect">
                                  <p:stCondLst>
                                    <p:cond delay="150"/>
                                  </p:stCondLst>
                                  <p:childTnLst>
                                    <p:set>
                                      <p:cBhvr>
                                        <p:cTn id="122" dur="1" fill="hold">
                                          <p:stCondLst>
                                            <p:cond delay="0"/>
                                          </p:stCondLst>
                                        </p:cTn>
                                        <p:tgtEl>
                                          <p:spTgt spid="85"/>
                                        </p:tgtEl>
                                        <p:attrNameLst>
                                          <p:attrName>style.visibility</p:attrName>
                                        </p:attrNameLst>
                                      </p:cBhvr>
                                      <p:to>
                                        <p:strVal val="visible"/>
                                      </p:to>
                                    </p:set>
                                    <p:anim calcmode="lin" valueType="num">
                                      <p:cBhvr>
                                        <p:cTn id="123" dur="250" fill="hold"/>
                                        <p:tgtEl>
                                          <p:spTgt spid="85"/>
                                        </p:tgtEl>
                                        <p:attrNameLst>
                                          <p:attrName>ppt_w</p:attrName>
                                        </p:attrNameLst>
                                      </p:cBhvr>
                                      <p:tavLst>
                                        <p:tav tm="0">
                                          <p:val>
                                            <p:fltVal val="0"/>
                                          </p:val>
                                        </p:tav>
                                        <p:tav tm="100000">
                                          <p:val>
                                            <p:strVal val="#ppt_w"/>
                                          </p:val>
                                        </p:tav>
                                      </p:tavLst>
                                    </p:anim>
                                    <p:anim calcmode="lin" valueType="num">
                                      <p:cBhvr>
                                        <p:cTn id="124" dur="250" fill="hold"/>
                                        <p:tgtEl>
                                          <p:spTgt spid="85"/>
                                        </p:tgtEl>
                                        <p:attrNameLst>
                                          <p:attrName>ppt_h</p:attrName>
                                        </p:attrNameLst>
                                      </p:cBhvr>
                                      <p:tavLst>
                                        <p:tav tm="0">
                                          <p:val>
                                            <p:fltVal val="0"/>
                                          </p:val>
                                        </p:tav>
                                        <p:tav tm="100000">
                                          <p:val>
                                            <p:strVal val="#ppt_h"/>
                                          </p:val>
                                        </p:tav>
                                      </p:tavLst>
                                    </p:anim>
                                  </p:childTnLst>
                                </p:cTn>
                              </p:par>
                              <p:par>
                                <p:cTn id="125" presetID="10" presetClass="entr" presetSubtype="0" fill="hold" nodeType="withEffect">
                                  <p:stCondLst>
                                    <p:cond delay="150"/>
                                  </p:stCondLst>
                                  <p:childTnLst>
                                    <p:set>
                                      <p:cBhvr>
                                        <p:cTn id="126" dur="1" fill="hold">
                                          <p:stCondLst>
                                            <p:cond delay="0"/>
                                          </p:stCondLst>
                                        </p:cTn>
                                        <p:tgtEl>
                                          <p:spTgt spid="85"/>
                                        </p:tgtEl>
                                        <p:attrNameLst>
                                          <p:attrName>style.visibility</p:attrName>
                                        </p:attrNameLst>
                                      </p:cBhvr>
                                      <p:to>
                                        <p:strVal val="visible"/>
                                      </p:to>
                                    </p:set>
                                    <p:animEffect transition="in" filter="fade">
                                      <p:cBhvr>
                                        <p:cTn id="127" dur="500"/>
                                        <p:tgtEl>
                                          <p:spTgt spid="85"/>
                                        </p:tgtEl>
                                      </p:cBhvr>
                                    </p:animEffect>
                                  </p:childTnLst>
                                </p:cTn>
                              </p:par>
                              <p:par>
                                <p:cTn id="128" presetID="6" presetClass="emph" presetSubtype="0" fill="hold" nodeType="withEffect">
                                  <p:stCondLst>
                                    <p:cond delay="150"/>
                                  </p:stCondLst>
                                  <p:childTnLst>
                                    <p:animScale>
                                      <p:cBhvr>
                                        <p:cTn id="129" dur="10" fill="hold"/>
                                        <p:tgtEl>
                                          <p:spTgt spid="85"/>
                                        </p:tgtEl>
                                      </p:cBhvr>
                                      <p:by x="80000" y="80000"/>
                                    </p:animScale>
                                  </p:childTnLst>
                                </p:cTn>
                              </p:par>
                              <p:par>
                                <p:cTn id="130" presetID="6" presetClass="emph" presetSubtype="0" decel="100000" fill="hold" nodeType="withEffect">
                                  <p:stCondLst>
                                    <p:cond delay="150"/>
                                  </p:stCondLst>
                                  <p:childTnLst>
                                    <p:animScale>
                                      <p:cBhvr>
                                        <p:cTn id="131" dur="1000" fill="hold"/>
                                        <p:tgtEl>
                                          <p:spTgt spid="85"/>
                                        </p:tgtEl>
                                      </p:cBhvr>
                                      <p:by x="125000" y="125000"/>
                                    </p:animScale>
                                  </p:childTnLst>
                                </p:cTn>
                              </p:par>
                              <p:par>
                                <p:cTn id="132" presetID="10" presetClass="entr" presetSubtype="0" fill="hold" grpId="0" nodeType="withEffect">
                                  <p:stCondLst>
                                    <p:cond delay="250"/>
                                  </p:stCondLst>
                                  <p:childTnLst>
                                    <p:set>
                                      <p:cBhvr>
                                        <p:cTn id="133" dur="1" fill="hold">
                                          <p:stCondLst>
                                            <p:cond delay="0"/>
                                          </p:stCondLst>
                                        </p:cTn>
                                        <p:tgtEl>
                                          <p:spTgt spid="99"/>
                                        </p:tgtEl>
                                        <p:attrNameLst>
                                          <p:attrName>style.visibility</p:attrName>
                                        </p:attrNameLst>
                                      </p:cBhvr>
                                      <p:to>
                                        <p:strVal val="visible"/>
                                      </p:to>
                                    </p:set>
                                    <p:animEffect transition="in" filter="fade">
                                      <p:cBhvr>
                                        <p:cTn id="134" dur="750"/>
                                        <p:tgtEl>
                                          <p:spTgt spid="99"/>
                                        </p:tgtEl>
                                      </p:cBhvr>
                                    </p:animEffect>
                                  </p:childTnLst>
                                </p:cTn>
                              </p:par>
                              <p:par>
                                <p:cTn id="135" presetID="42" presetClass="path" presetSubtype="0" decel="100000" fill="hold" grpId="1" nodeType="withEffect">
                                  <p:stCondLst>
                                    <p:cond delay="250"/>
                                  </p:stCondLst>
                                  <p:childTnLst>
                                    <p:animMotion origin="layout" path="M -3.54167E-6 0.03888 L -3.54167E-6 4.44444E-6 " pathEditMode="relative" rAng="0" ptsTypes="AA">
                                      <p:cBhvr>
                                        <p:cTn id="136" dur="750" fill="hold"/>
                                        <p:tgtEl>
                                          <p:spTgt spid="99"/>
                                        </p:tgtEl>
                                        <p:attrNameLst>
                                          <p:attrName>ppt_x</p:attrName>
                                          <p:attrName>ppt_y</p:attrName>
                                        </p:attrNameLst>
                                      </p:cBhvr>
                                      <p:rCtr x="0" y="-1944"/>
                                    </p:animMotion>
                                  </p:childTnLst>
                                </p:cTn>
                              </p:par>
                              <p:par>
                                <p:cTn id="137" presetID="10" presetClass="entr" presetSubtype="0" fill="hold" grpId="0" nodeType="withEffect">
                                  <p:stCondLst>
                                    <p:cond delay="250"/>
                                  </p:stCondLst>
                                  <p:childTnLst>
                                    <p:set>
                                      <p:cBhvr>
                                        <p:cTn id="138" dur="1" fill="hold">
                                          <p:stCondLst>
                                            <p:cond delay="0"/>
                                          </p:stCondLst>
                                        </p:cTn>
                                        <p:tgtEl>
                                          <p:spTgt spid="100"/>
                                        </p:tgtEl>
                                        <p:attrNameLst>
                                          <p:attrName>style.visibility</p:attrName>
                                        </p:attrNameLst>
                                      </p:cBhvr>
                                      <p:to>
                                        <p:strVal val="visible"/>
                                      </p:to>
                                    </p:set>
                                    <p:animEffect transition="in" filter="fade">
                                      <p:cBhvr>
                                        <p:cTn id="139" dur="750"/>
                                        <p:tgtEl>
                                          <p:spTgt spid="100"/>
                                        </p:tgtEl>
                                      </p:cBhvr>
                                    </p:animEffect>
                                  </p:childTnLst>
                                </p:cTn>
                              </p:par>
                              <p:par>
                                <p:cTn id="140" presetID="42" presetClass="path" presetSubtype="0" decel="100000" fill="hold" grpId="1" nodeType="withEffect">
                                  <p:stCondLst>
                                    <p:cond delay="250"/>
                                  </p:stCondLst>
                                  <p:childTnLst>
                                    <p:animMotion origin="layout" path="M -4.16667E-7 0.03888 L -4.16667E-7 4.44444E-6 " pathEditMode="relative" rAng="0" ptsTypes="AA">
                                      <p:cBhvr>
                                        <p:cTn id="141" dur="750" fill="hold"/>
                                        <p:tgtEl>
                                          <p:spTgt spid="100"/>
                                        </p:tgtEl>
                                        <p:attrNameLst>
                                          <p:attrName>ppt_x</p:attrName>
                                          <p:attrName>ppt_y</p:attrName>
                                        </p:attrNameLst>
                                      </p:cBhvr>
                                      <p:rCtr x="0" y="-1944"/>
                                    </p:animMotion>
                                  </p:childTnLst>
                                </p:cTn>
                              </p:par>
                              <p:par>
                                <p:cTn id="142" presetID="10" presetClass="entr" presetSubtype="0" fill="hold" grpId="0" nodeType="withEffect">
                                  <p:stCondLst>
                                    <p:cond delay="250"/>
                                  </p:stCondLst>
                                  <p:childTnLst>
                                    <p:set>
                                      <p:cBhvr>
                                        <p:cTn id="143" dur="1" fill="hold">
                                          <p:stCondLst>
                                            <p:cond delay="0"/>
                                          </p:stCondLst>
                                        </p:cTn>
                                        <p:tgtEl>
                                          <p:spTgt spid="101"/>
                                        </p:tgtEl>
                                        <p:attrNameLst>
                                          <p:attrName>style.visibility</p:attrName>
                                        </p:attrNameLst>
                                      </p:cBhvr>
                                      <p:to>
                                        <p:strVal val="visible"/>
                                      </p:to>
                                    </p:set>
                                    <p:animEffect transition="in" filter="fade">
                                      <p:cBhvr>
                                        <p:cTn id="144" dur="750"/>
                                        <p:tgtEl>
                                          <p:spTgt spid="101"/>
                                        </p:tgtEl>
                                      </p:cBhvr>
                                    </p:animEffect>
                                  </p:childTnLst>
                                </p:cTn>
                              </p:par>
                              <p:par>
                                <p:cTn id="145" presetID="42" presetClass="path" presetSubtype="0" decel="100000" fill="hold" grpId="1" nodeType="withEffect">
                                  <p:stCondLst>
                                    <p:cond delay="250"/>
                                  </p:stCondLst>
                                  <p:childTnLst>
                                    <p:animMotion origin="layout" path="M 2.70833E-6 0.03888 L 2.70833E-6 4.44444E-6 " pathEditMode="relative" rAng="0" ptsTypes="AA">
                                      <p:cBhvr>
                                        <p:cTn id="146" dur="750" fill="hold"/>
                                        <p:tgtEl>
                                          <p:spTgt spid="101"/>
                                        </p:tgtEl>
                                        <p:attrNameLst>
                                          <p:attrName>ppt_x</p:attrName>
                                          <p:attrName>ppt_y</p:attrName>
                                        </p:attrNameLst>
                                      </p:cBhvr>
                                      <p:rCtr x="0" y="-1944"/>
                                    </p:animMotion>
                                  </p:childTnLst>
                                </p:cTn>
                              </p:par>
                              <p:par>
                                <p:cTn id="147" presetID="10" presetClass="entr" presetSubtype="0" fill="hold" grpId="0" nodeType="withEffect">
                                  <p:stCondLst>
                                    <p:cond delay="250"/>
                                  </p:stCondLst>
                                  <p:childTnLst>
                                    <p:set>
                                      <p:cBhvr>
                                        <p:cTn id="148" dur="1" fill="hold">
                                          <p:stCondLst>
                                            <p:cond delay="0"/>
                                          </p:stCondLst>
                                        </p:cTn>
                                        <p:tgtEl>
                                          <p:spTgt spid="102"/>
                                        </p:tgtEl>
                                        <p:attrNameLst>
                                          <p:attrName>style.visibility</p:attrName>
                                        </p:attrNameLst>
                                      </p:cBhvr>
                                      <p:to>
                                        <p:strVal val="visible"/>
                                      </p:to>
                                    </p:set>
                                    <p:animEffect transition="in" filter="fade">
                                      <p:cBhvr>
                                        <p:cTn id="149" dur="750"/>
                                        <p:tgtEl>
                                          <p:spTgt spid="102"/>
                                        </p:tgtEl>
                                      </p:cBhvr>
                                    </p:animEffect>
                                  </p:childTnLst>
                                </p:cTn>
                              </p:par>
                              <p:par>
                                <p:cTn id="150" presetID="42" presetClass="path" presetSubtype="0" decel="100000" fill="hold" grpId="1" nodeType="withEffect">
                                  <p:stCondLst>
                                    <p:cond delay="250"/>
                                  </p:stCondLst>
                                  <p:childTnLst>
                                    <p:animMotion origin="layout" path="M -4.16667E-6 0.03888 L -4.16667E-6 4.44444E-6 " pathEditMode="relative" rAng="0" ptsTypes="AA">
                                      <p:cBhvr>
                                        <p:cTn id="151" dur="750" fill="hold"/>
                                        <p:tgtEl>
                                          <p:spTgt spid="102"/>
                                        </p:tgtEl>
                                        <p:attrNameLst>
                                          <p:attrName>ppt_x</p:attrName>
                                          <p:attrName>ppt_y</p:attrName>
                                        </p:attrNameLst>
                                      </p:cBhvr>
                                      <p:rCtr x="0" y="-1944"/>
                                    </p:animMotion>
                                  </p:childTnLst>
                                </p:cTn>
                              </p:par>
                              <p:par>
                                <p:cTn id="152" presetID="10" presetClass="entr" presetSubtype="0" fill="hold" nodeType="withEffect">
                                  <p:stCondLst>
                                    <p:cond delay="250"/>
                                  </p:stCondLst>
                                  <p:childTnLst>
                                    <p:set>
                                      <p:cBhvr>
                                        <p:cTn id="153" dur="1" fill="hold">
                                          <p:stCondLst>
                                            <p:cond delay="0"/>
                                          </p:stCondLst>
                                        </p:cTn>
                                        <p:tgtEl>
                                          <p:spTgt spid="32"/>
                                        </p:tgtEl>
                                        <p:attrNameLst>
                                          <p:attrName>style.visibility</p:attrName>
                                        </p:attrNameLst>
                                      </p:cBhvr>
                                      <p:to>
                                        <p:strVal val="visible"/>
                                      </p:to>
                                    </p:set>
                                    <p:animEffect transition="in" filter="fade">
                                      <p:cBhvr>
                                        <p:cTn id="154" dur="750"/>
                                        <p:tgtEl>
                                          <p:spTgt spid="32"/>
                                        </p:tgtEl>
                                      </p:cBhvr>
                                    </p:animEffect>
                                  </p:childTnLst>
                                </p:cTn>
                              </p:par>
                              <p:par>
                                <p:cTn id="155" presetID="42" presetClass="path" presetSubtype="0" decel="100000" fill="hold" nodeType="withEffect">
                                  <p:stCondLst>
                                    <p:cond delay="250"/>
                                  </p:stCondLst>
                                  <p:childTnLst>
                                    <p:animMotion origin="layout" path="M 1.25E-6 0.03889 L 1.25E-6 1.85185E-6 " pathEditMode="relative" rAng="0" ptsTypes="AA">
                                      <p:cBhvr>
                                        <p:cTn id="156" dur="750" fill="hold"/>
                                        <p:tgtEl>
                                          <p:spTgt spid="32"/>
                                        </p:tgtEl>
                                        <p:attrNameLst>
                                          <p:attrName>ppt_x</p:attrName>
                                          <p:attrName>ppt_y</p:attrName>
                                        </p:attrNameLst>
                                      </p:cBhvr>
                                      <p:rCtr x="0" y="-1944"/>
                                    </p:animMotion>
                                  </p:childTnLst>
                                </p:cTn>
                              </p:par>
                              <p:par>
                                <p:cTn id="157" presetID="10" presetClass="entr" presetSubtype="0" fill="hold" grpId="0" nodeType="withEffect">
                                  <p:stCondLst>
                                    <p:cond delay="250"/>
                                  </p:stCondLst>
                                  <p:childTnLst>
                                    <p:set>
                                      <p:cBhvr>
                                        <p:cTn id="158" dur="1" fill="hold">
                                          <p:stCondLst>
                                            <p:cond delay="0"/>
                                          </p:stCondLst>
                                        </p:cTn>
                                        <p:tgtEl>
                                          <p:spTgt spid="9"/>
                                        </p:tgtEl>
                                        <p:attrNameLst>
                                          <p:attrName>style.visibility</p:attrName>
                                        </p:attrNameLst>
                                      </p:cBhvr>
                                      <p:to>
                                        <p:strVal val="visible"/>
                                      </p:to>
                                    </p:set>
                                    <p:animEffect transition="in" filter="fade">
                                      <p:cBhvr>
                                        <p:cTn id="159" dur="750"/>
                                        <p:tgtEl>
                                          <p:spTgt spid="9"/>
                                        </p:tgtEl>
                                      </p:cBhvr>
                                    </p:animEffect>
                                  </p:childTnLst>
                                </p:cTn>
                              </p:par>
                              <p:par>
                                <p:cTn id="160" presetID="42" presetClass="path" presetSubtype="0" decel="100000" fill="hold" grpId="1" nodeType="withEffect">
                                  <p:stCondLst>
                                    <p:cond delay="250"/>
                                  </p:stCondLst>
                                  <p:childTnLst>
                                    <p:animMotion origin="layout" path="M 1.25E-6 0.03889 L 1.25E-6 1.85185E-6 " pathEditMode="relative" rAng="0" ptsTypes="AA">
                                      <p:cBhvr>
                                        <p:cTn id="161" dur="750" fill="hold"/>
                                        <p:tgtEl>
                                          <p:spTgt spid="9"/>
                                        </p:tgtEl>
                                        <p:attrNameLst>
                                          <p:attrName>ppt_x</p:attrName>
                                          <p:attrName>ppt_y</p:attrName>
                                        </p:attrNameLst>
                                      </p:cBhvr>
                                      <p:rCtr x="0" y="-1944"/>
                                    </p:animMotion>
                                  </p:childTnLst>
                                </p:cTn>
                              </p:par>
                              <p:par>
                                <p:cTn id="162" presetID="10" presetClass="entr" presetSubtype="0" fill="hold" grpId="0" nodeType="withEffect">
                                  <p:stCondLst>
                                    <p:cond delay="250"/>
                                  </p:stCondLst>
                                  <p:childTnLst>
                                    <p:set>
                                      <p:cBhvr>
                                        <p:cTn id="163" dur="1" fill="hold">
                                          <p:stCondLst>
                                            <p:cond delay="0"/>
                                          </p:stCondLst>
                                        </p:cTn>
                                        <p:tgtEl>
                                          <p:spTgt spid="8"/>
                                        </p:tgtEl>
                                        <p:attrNameLst>
                                          <p:attrName>style.visibility</p:attrName>
                                        </p:attrNameLst>
                                      </p:cBhvr>
                                      <p:to>
                                        <p:strVal val="visible"/>
                                      </p:to>
                                    </p:set>
                                    <p:animEffect transition="in" filter="fade">
                                      <p:cBhvr>
                                        <p:cTn id="164" dur="750"/>
                                        <p:tgtEl>
                                          <p:spTgt spid="8"/>
                                        </p:tgtEl>
                                      </p:cBhvr>
                                    </p:animEffect>
                                  </p:childTnLst>
                                </p:cTn>
                              </p:par>
                              <p:par>
                                <p:cTn id="165" presetID="42" presetClass="path" presetSubtype="0" decel="100000" fill="hold" grpId="1" nodeType="withEffect">
                                  <p:stCondLst>
                                    <p:cond delay="250"/>
                                  </p:stCondLst>
                                  <p:childTnLst>
                                    <p:animMotion origin="layout" path="M 1.25E-6 0.03889 L 1.25E-6 1.85185E-6 " pathEditMode="relative" rAng="0" ptsTypes="AA">
                                      <p:cBhvr>
                                        <p:cTn id="166" dur="750" fill="hold"/>
                                        <p:tgtEl>
                                          <p:spTgt spid="8"/>
                                        </p:tgtEl>
                                        <p:attrNameLst>
                                          <p:attrName>ppt_x</p:attrName>
                                          <p:attrName>ppt_y</p:attrName>
                                        </p:attrNameLst>
                                      </p:cBhvr>
                                      <p:rCtr x="0" y="-1944"/>
                                    </p:animMotion>
                                  </p:childTnLst>
                                </p:cTn>
                              </p:par>
                              <p:par>
                                <p:cTn id="167" presetID="22" presetClass="entr" presetSubtype="1" fill="hold" nodeType="withEffect">
                                  <p:stCondLst>
                                    <p:cond delay="500"/>
                                  </p:stCondLst>
                                  <p:childTnLst>
                                    <p:set>
                                      <p:cBhvr>
                                        <p:cTn id="168" dur="1" fill="hold">
                                          <p:stCondLst>
                                            <p:cond delay="0"/>
                                          </p:stCondLst>
                                        </p:cTn>
                                        <p:tgtEl>
                                          <p:spTgt spid="41"/>
                                        </p:tgtEl>
                                        <p:attrNameLst>
                                          <p:attrName>style.visibility</p:attrName>
                                        </p:attrNameLst>
                                      </p:cBhvr>
                                      <p:to>
                                        <p:strVal val="visible"/>
                                      </p:to>
                                    </p:set>
                                    <p:animEffect transition="in" filter="wipe(up)">
                                      <p:cBhvr>
                                        <p:cTn id="169" dur="500"/>
                                        <p:tgtEl>
                                          <p:spTgt spid="41"/>
                                        </p:tgtEl>
                                      </p:cBhvr>
                                    </p:animEffect>
                                  </p:childTnLst>
                                </p:cTn>
                              </p:par>
                              <p:par>
                                <p:cTn id="170" presetID="10" presetClass="entr" presetSubtype="0" fill="hold" grpId="0" nodeType="withEffect">
                                  <p:stCondLst>
                                    <p:cond delay="250"/>
                                  </p:stCondLst>
                                  <p:childTnLst>
                                    <p:set>
                                      <p:cBhvr>
                                        <p:cTn id="171" dur="1" fill="hold">
                                          <p:stCondLst>
                                            <p:cond delay="0"/>
                                          </p:stCondLst>
                                        </p:cTn>
                                        <p:tgtEl>
                                          <p:spTgt spid="103"/>
                                        </p:tgtEl>
                                        <p:attrNameLst>
                                          <p:attrName>style.visibility</p:attrName>
                                        </p:attrNameLst>
                                      </p:cBhvr>
                                      <p:to>
                                        <p:strVal val="visible"/>
                                      </p:to>
                                    </p:set>
                                    <p:animEffect transition="in" filter="fade">
                                      <p:cBhvr>
                                        <p:cTn id="172" dur="750"/>
                                        <p:tgtEl>
                                          <p:spTgt spid="103"/>
                                        </p:tgtEl>
                                      </p:cBhvr>
                                    </p:animEffect>
                                  </p:childTnLst>
                                </p:cTn>
                              </p:par>
                              <p:par>
                                <p:cTn id="173" presetID="42" presetClass="path" presetSubtype="0" decel="100000" fill="hold" grpId="1" nodeType="withEffect">
                                  <p:stCondLst>
                                    <p:cond delay="250"/>
                                  </p:stCondLst>
                                  <p:childTnLst>
                                    <p:animMotion origin="layout" path="M 1.25E-6 0.03889 L 1.25E-6 1.85185E-6 " pathEditMode="relative" rAng="0" ptsTypes="AA">
                                      <p:cBhvr>
                                        <p:cTn id="174" dur="750" fill="hold"/>
                                        <p:tgtEl>
                                          <p:spTgt spid="103"/>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45" grpId="0"/>
      <p:bldP spid="45" grpId="1"/>
      <p:bldP spid="46" grpId="0"/>
      <p:bldP spid="46" grpId="1"/>
      <p:bldP spid="47" grpId="0"/>
      <p:bldP spid="47" grpId="1"/>
      <p:bldP spid="48" grpId="0"/>
      <p:bldP spid="48" grpId="1"/>
      <p:bldP spid="99" grpId="0"/>
      <p:bldP spid="99" grpId="1"/>
      <p:bldP spid="100" grpId="0"/>
      <p:bldP spid="100" grpId="1"/>
      <p:bldP spid="101" grpId="0"/>
      <p:bldP spid="101" grpId="1"/>
      <p:bldP spid="102" grpId="0"/>
      <p:bldP spid="102" grpId="1"/>
      <p:bldP spid="103" grpId="0" animBg="1"/>
      <p:bldP spid="103"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34662-B236-9AB8-2720-A2D924080223}"/>
              </a:ext>
            </a:extLst>
          </p:cNvPr>
          <p:cNvSpPr>
            <a:spLocks noGrp="1"/>
          </p:cNvSpPr>
          <p:nvPr>
            <p:ph type="title"/>
          </p:nvPr>
        </p:nvSpPr>
        <p:spPr>
          <a:xfrm>
            <a:off x="575481" y="599436"/>
            <a:ext cx="11018520" cy="1107996"/>
          </a:xfrm>
        </p:spPr>
        <p:txBody>
          <a:bodyPr/>
          <a:lstStyle/>
          <a:p>
            <a:r>
              <a:rPr lang="en-US" err="1"/>
              <a:t>GenAIOps</a:t>
            </a:r>
            <a:r>
              <a:rPr lang="en-US"/>
              <a:t> =To bring LLM-infused Apps to Production</a:t>
            </a:r>
          </a:p>
        </p:txBody>
      </p:sp>
      <p:sp>
        <p:nvSpPr>
          <p:cNvPr id="4" name="Slide Number Placeholder 3">
            <a:extLst>
              <a:ext uri="{FF2B5EF4-FFF2-40B4-BE49-F238E27FC236}">
                <a16:creationId xmlns:a16="http://schemas.microsoft.com/office/drawing/2014/main" id="{1DD128E7-BC14-5B50-F282-19185F798D5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206F4634-54AC-C269-F62F-A9EAD7598D78}"/>
              </a:ext>
            </a:extLst>
          </p:cNvPr>
          <p:cNvGrpSpPr/>
          <p:nvPr/>
        </p:nvGrpSpPr>
        <p:grpSpPr>
          <a:xfrm>
            <a:off x="4527035" y="2179609"/>
            <a:ext cx="3137931" cy="3370580"/>
            <a:chOff x="4527035" y="2179609"/>
            <a:chExt cx="3137931" cy="3370580"/>
          </a:xfrm>
        </p:grpSpPr>
        <p:sp>
          <p:nvSpPr>
            <p:cNvPr id="42" name="Rectangle: Rounded Corners 41">
              <a:extLst>
                <a:ext uri="{FF2B5EF4-FFF2-40B4-BE49-F238E27FC236}">
                  <a16:creationId xmlns:a16="http://schemas.microsoft.com/office/drawing/2014/main" id="{8F5F9883-93E2-7E7F-300B-15BA1200C266}"/>
                </a:ext>
              </a:extLst>
            </p:cNvPr>
            <p:cNvSpPr>
              <a:spLocks/>
            </p:cNvSpPr>
            <p:nvPr/>
          </p:nvSpPr>
          <p:spPr bwMode="auto">
            <a:xfrm>
              <a:off x="4527035" y="2179609"/>
              <a:ext cx="3137931" cy="337058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43" name="TextBox 42">
              <a:extLst>
                <a:ext uri="{FF2B5EF4-FFF2-40B4-BE49-F238E27FC236}">
                  <a16:creationId xmlns:a16="http://schemas.microsoft.com/office/drawing/2014/main" id="{83586CAB-439F-1742-9297-72044F142288}"/>
                </a:ext>
              </a:extLst>
            </p:cNvPr>
            <p:cNvSpPr txBox="1"/>
            <p:nvPr/>
          </p:nvSpPr>
          <p:spPr>
            <a:xfrm>
              <a:off x="5087075" y="4836928"/>
              <a:ext cx="2017850" cy="276999"/>
            </a:xfrm>
            <a:prstGeom prst="rect">
              <a:avLst/>
            </a:prstGeom>
            <a:noFill/>
          </p:spPr>
          <p:txBody>
            <a:bodyPr wrap="square" lIns="0" tIns="0" rIns="0" bIns="0" rtlCol="0">
              <a:spAutoFit/>
            </a:bodyPr>
            <a:lstStyle/>
            <a:p>
              <a:pPr algn="ctr" defTabSz="609630" fontAlgn="base">
                <a:lnSpc>
                  <a:spcPct val="90000"/>
                </a:lnSpc>
                <a:spcBef>
                  <a:spcPts val="1200"/>
                </a:spcBef>
                <a:spcAft>
                  <a:spcPct val="0"/>
                </a:spcAft>
                <a:defRPr/>
              </a:pPr>
              <a:r>
                <a:rPr lang="en-US" sz="2000">
                  <a:latin typeface="Segoe Sans Text Semibold"/>
                </a:rPr>
                <a:t>Process</a:t>
              </a:r>
            </a:p>
          </p:txBody>
        </p:sp>
        <p:sp>
          <p:nvSpPr>
            <p:cNvPr id="44" name="Oval 17">
              <a:extLst>
                <a:ext uri="{FF2B5EF4-FFF2-40B4-BE49-F238E27FC236}">
                  <a16:creationId xmlns:a16="http://schemas.microsoft.com/office/drawing/2014/main" id="{6CA6B4D4-2A1F-34B7-00A8-1F32A9ED108D}"/>
                </a:ext>
              </a:extLst>
            </p:cNvPr>
            <p:cNvSpPr>
              <a:spLocks/>
            </p:cNvSpPr>
            <p:nvPr/>
          </p:nvSpPr>
          <p:spPr bwMode="auto">
            <a:xfrm>
              <a:off x="5594287" y="3543093"/>
              <a:ext cx="1004700" cy="1004990"/>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45" name="Group 44">
              <a:extLst>
                <a:ext uri="{FF2B5EF4-FFF2-40B4-BE49-F238E27FC236}">
                  <a16:creationId xmlns:a16="http://schemas.microsoft.com/office/drawing/2014/main" id="{8F2A7AE9-6595-5D53-2423-6CFA670E05CC}"/>
                </a:ext>
              </a:extLst>
            </p:cNvPr>
            <p:cNvGrpSpPr/>
            <p:nvPr/>
          </p:nvGrpSpPr>
          <p:grpSpPr>
            <a:xfrm>
              <a:off x="5664431" y="3614198"/>
              <a:ext cx="864411" cy="862780"/>
              <a:chOff x="1261672" y="4833937"/>
              <a:chExt cx="954296" cy="954297"/>
            </a:xfrm>
          </p:grpSpPr>
          <p:sp>
            <p:nvSpPr>
              <p:cNvPr id="47" name="Rectangle: Rounded Corners 46">
                <a:extLst>
                  <a:ext uri="{FF2B5EF4-FFF2-40B4-BE49-F238E27FC236}">
                    <a16:creationId xmlns:a16="http://schemas.microsoft.com/office/drawing/2014/main" id="{CADA71D7-FAE4-CCB2-3C3B-7DF752946188}"/>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chemeClr val="tx1"/>
                  </a:solidFill>
                  <a:effectLst/>
                  <a:uLnTx/>
                  <a:uFillTx/>
                  <a:latin typeface="Segoe Sans Text Semibold"/>
                  <a:ea typeface="+mn-ea"/>
                  <a:cs typeface="+mn-cs"/>
                </a:endParaRPr>
              </a:p>
            </p:txBody>
          </p:sp>
          <p:sp>
            <p:nvSpPr>
              <p:cNvPr id="48" name="Rectangle: Rounded Corners 47">
                <a:extLst>
                  <a:ext uri="{FF2B5EF4-FFF2-40B4-BE49-F238E27FC236}">
                    <a16:creationId xmlns:a16="http://schemas.microsoft.com/office/drawing/2014/main" id="{C33BEF7D-FF04-7B57-E04C-F5B7272750BC}"/>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sp>
          <p:nvSpPr>
            <p:cNvPr id="46" name="Freeform: Shape 45">
              <a:extLst>
                <a:ext uri="{FF2B5EF4-FFF2-40B4-BE49-F238E27FC236}">
                  <a16:creationId xmlns:a16="http://schemas.microsoft.com/office/drawing/2014/main" id="{28A5A69D-E0EF-3803-9251-A065F21F04A7}"/>
                </a:ext>
                <a:ext uri="{C183D7F6-B498-43B3-948B-1728B52AA6E4}">
                  <adec:decorative xmlns:adec="http://schemas.microsoft.com/office/drawing/2017/decorative" val="1"/>
                </a:ext>
              </a:extLst>
            </p:cNvPr>
            <p:cNvSpPr>
              <a:spLocks noChangeAspect="1"/>
            </p:cNvSpPr>
            <p:nvPr/>
          </p:nvSpPr>
          <p:spPr>
            <a:xfrm>
              <a:off x="5872193" y="3785484"/>
              <a:ext cx="427470" cy="516726"/>
            </a:xfrm>
            <a:custGeom>
              <a:avLst/>
              <a:gdLst>
                <a:gd name="connsiteX0" fmla="*/ 141060 w 348497"/>
                <a:gd name="connsiteY0" fmla="*/ 240570 h 421268"/>
                <a:gd name="connsiteX1" fmla="*/ 107182 w 348497"/>
                <a:gd name="connsiteY1" fmla="*/ 274931 h 421268"/>
                <a:gd name="connsiteX2" fmla="*/ 140578 w 348497"/>
                <a:gd name="connsiteY2" fmla="*/ 308327 h 421268"/>
                <a:gd name="connsiteX3" fmla="*/ 174939 w 348497"/>
                <a:gd name="connsiteY3" fmla="*/ 274448 h 421268"/>
                <a:gd name="connsiteX4" fmla="*/ 141060 w 348497"/>
                <a:gd name="connsiteY4" fmla="*/ 240570 h 421268"/>
                <a:gd name="connsiteX5" fmla="*/ 141060 w 348497"/>
                <a:gd name="connsiteY5" fmla="*/ 217984 h 421268"/>
                <a:gd name="connsiteX6" fmla="*/ 197525 w 348497"/>
                <a:gd name="connsiteY6" fmla="*/ 274448 h 421268"/>
                <a:gd name="connsiteX7" fmla="*/ 141060 w 348497"/>
                <a:gd name="connsiteY7" fmla="*/ 330913 h 421268"/>
                <a:gd name="connsiteX8" fmla="*/ 84596 w 348497"/>
                <a:gd name="connsiteY8" fmla="*/ 274448 h 421268"/>
                <a:gd name="connsiteX9" fmla="*/ 141060 w 348497"/>
                <a:gd name="connsiteY9" fmla="*/ 217984 h 421268"/>
                <a:gd name="connsiteX10" fmla="*/ 141253 w 348497"/>
                <a:gd name="connsiteY10" fmla="*/ 150227 h 421268"/>
                <a:gd name="connsiteX11" fmla="*/ 120839 w 348497"/>
                <a:gd name="connsiteY11" fmla="*/ 152012 h 421268"/>
                <a:gd name="connsiteX12" fmla="*/ 119343 w 348497"/>
                <a:gd name="connsiteY12" fmla="*/ 165622 h 421268"/>
                <a:gd name="connsiteX13" fmla="*/ 96516 w 348497"/>
                <a:gd name="connsiteY13" fmla="*/ 200321 h 421268"/>
                <a:gd name="connsiteX14" fmla="*/ 58632 w 348497"/>
                <a:gd name="connsiteY14" fmla="*/ 201769 h 421268"/>
                <a:gd name="connsiteX15" fmla="*/ 45120 w 348497"/>
                <a:gd name="connsiteY15" fmla="*/ 195833 h 421268"/>
                <a:gd name="connsiteX16" fmla="*/ 24802 w 348497"/>
                <a:gd name="connsiteY16" fmla="*/ 230725 h 421268"/>
                <a:gd name="connsiteX17" fmla="*/ 35950 w 348497"/>
                <a:gd name="connsiteY17" fmla="*/ 238929 h 421268"/>
                <a:gd name="connsiteX18" fmla="*/ 54578 w 348497"/>
                <a:gd name="connsiteY18" fmla="*/ 276041 h 421268"/>
                <a:gd name="connsiteX19" fmla="*/ 36867 w 348497"/>
                <a:gd name="connsiteY19" fmla="*/ 309533 h 421268"/>
                <a:gd name="connsiteX20" fmla="*/ 24850 w 348497"/>
                <a:gd name="connsiteY20" fmla="*/ 318365 h 421268"/>
                <a:gd name="connsiteX21" fmla="*/ 45168 w 348497"/>
                <a:gd name="connsiteY21" fmla="*/ 353354 h 421268"/>
                <a:gd name="connsiteX22" fmla="*/ 58777 w 348497"/>
                <a:gd name="connsiteY22" fmla="*/ 347369 h 421268"/>
                <a:gd name="connsiteX23" fmla="*/ 115917 w 348497"/>
                <a:gd name="connsiteY23" fmla="*/ 369762 h 421268"/>
                <a:gd name="connsiteX24" fmla="*/ 119247 w 348497"/>
                <a:gd name="connsiteY24" fmla="*/ 382261 h 421268"/>
                <a:gd name="connsiteX25" fmla="*/ 120888 w 348497"/>
                <a:gd name="connsiteY25" fmla="*/ 397077 h 421268"/>
                <a:gd name="connsiteX26" fmla="*/ 161378 w 348497"/>
                <a:gd name="connsiteY26" fmla="*/ 397077 h 421268"/>
                <a:gd name="connsiteX27" fmla="*/ 163019 w 348497"/>
                <a:gd name="connsiteY27" fmla="*/ 382261 h 421268"/>
                <a:gd name="connsiteX28" fmla="*/ 210941 w 348497"/>
                <a:gd name="connsiteY28" fmla="*/ 343943 h 421268"/>
                <a:gd name="connsiteX29" fmla="*/ 223537 w 348497"/>
                <a:gd name="connsiteY29" fmla="*/ 347321 h 421268"/>
                <a:gd name="connsiteX30" fmla="*/ 237146 w 348497"/>
                <a:gd name="connsiteY30" fmla="*/ 353305 h 421268"/>
                <a:gd name="connsiteX31" fmla="*/ 257415 w 348497"/>
                <a:gd name="connsiteY31" fmla="*/ 318413 h 421268"/>
                <a:gd name="connsiteX32" fmla="*/ 245399 w 348497"/>
                <a:gd name="connsiteY32" fmla="*/ 309582 h 421268"/>
                <a:gd name="connsiteX33" fmla="*/ 236133 w 348497"/>
                <a:gd name="connsiteY33" fmla="*/ 248919 h 421268"/>
                <a:gd name="connsiteX34" fmla="*/ 245399 w 348497"/>
                <a:gd name="connsiteY34" fmla="*/ 239653 h 421268"/>
                <a:gd name="connsiteX35" fmla="*/ 257367 w 348497"/>
                <a:gd name="connsiteY35" fmla="*/ 230821 h 421268"/>
                <a:gd name="connsiteX36" fmla="*/ 237050 w 348497"/>
                <a:gd name="connsiteY36" fmla="*/ 195929 h 421268"/>
                <a:gd name="connsiteX37" fmla="*/ 223537 w 348497"/>
                <a:gd name="connsiteY37" fmla="*/ 201865 h 421268"/>
                <a:gd name="connsiteX38" fmla="*/ 166349 w 348497"/>
                <a:gd name="connsiteY38" fmla="*/ 179472 h 421268"/>
                <a:gd name="connsiteX39" fmla="*/ 162970 w 348497"/>
                <a:gd name="connsiteY39" fmla="*/ 166828 h 421268"/>
                <a:gd name="connsiteX40" fmla="*/ 161330 w 348497"/>
                <a:gd name="connsiteY40" fmla="*/ 152109 h 421268"/>
                <a:gd name="connsiteX41" fmla="*/ 141253 w 348497"/>
                <a:gd name="connsiteY41" fmla="*/ 150323 h 421268"/>
                <a:gd name="connsiteX42" fmla="*/ 141109 w 348497"/>
                <a:gd name="connsiteY42" fmla="*/ 127448 h 421268"/>
                <a:gd name="connsiteX43" fmla="*/ 141253 w 348497"/>
                <a:gd name="connsiteY43" fmla="*/ 127641 h 421268"/>
                <a:gd name="connsiteX44" fmla="*/ 173974 w 348497"/>
                <a:gd name="connsiteY44" fmla="*/ 131405 h 421268"/>
                <a:gd name="connsiteX45" fmla="*/ 182854 w 348497"/>
                <a:gd name="connsiteY45" fmla="*/ 141202 h 421268"/>
                <a:gd name="connsiteX46" fmla="*/ 185315 w 348497"/>
                <a:gd name="connsiteY46" fmla="*/ 163498 h 421268"/>
                <a:gd name="connsiteX47" fmla="*/ 194967 w 348497"/>
                <a:gd name="connsiteY47" fmla="*/ 179521 h 421268"/>
                <a:gd name="connsiteX48" fmla="*/ 214416 w 348497"/>
                <a:gd name="connsiteY48" fmla="*/ 180968 h 421268"/>
                <a:gd name="connsiteX49" fmla="*/ 235505 w 348497"/>
                <a:gd name="connsiteY49" fmla="*/ 171703 h 421268"/>
                <a:gd name="connsiteX50" fmla="*/ 248391 w 348497"/>
                <a:gd name="connsiteY50" fmla="*/ 174453 h 421268"/>
                <a:gd name="connsiteX51" fmla="*/ 281449 w 348497"/>
                <a:gd name="connsiteY51" fmla="*/ 231304 h 421268"/>
                <a:gd name="connsiteX52" fmla="*/ 277395 w 348497"/>
                <a:gd name="connsiteY52" fmla="*/ 243851 h 421268"/>
                <a:gd name="connsiteX53" fmla="*/ 258670 w 348497"/>
                <a:gd name="connsiteY53" fmla="*/ 257654 h 421268"/>
                <a:gd name="connsiteX54" fmla="*/ 254230 w 348497"/>
                <a:gd name="connsiteY54" fmla="*/ 286706 h 421268"/>
                <a:gd name="connsiteX55" fmla="*/ 258670 w 348497"/>
                <a:gd name="connsiteY55" fmla="*/ 291146 h 421268"/>
                <a:gd name="connsiteX56" fmla="*/ 277395 w 348497"/>
                <a:gd name="connsiteY56" fmla="*/ 304949 h 421268"/>
                <a:gd name="connsiteX57" fmla="*/ 281449 w 348497"/>
                <a:gd name="connsiteY57" fmla="*/ 317545 h 421268"/>
                <a:gd name="connsiteX58" fmla="*/ 248391 w 348497"/>
                <a:gd name="connsiteY58" fmla="*/ 374395 h 421268"/>
                <a:gd name="connsiteX59" fmla="*/ 235553 w 348497"/>
                <a:gd name="connsiteY59" fmla="*/ 377146 h 421268"/>
                <a:gd name="connsiteX60" fmla="*/ 214995 w 348497"/>
                <a:gd name="connsiteY60" fmla="*/ 368121 h 421268"/>
                <a:gd name="connsiteX61" fmla="*/ 196270 w 348497"/>
                <a:gd name="connsiteY61" fmla="*/ 368459 h 421268"/>
                <a:gd name="connsiteX62" fmla="*/ 185315 w 348497"/>
                <a:gd name="connsiteY62" fmla="*/ 384626 h 421268"/>
                <a:gd name="connsiteX63" fmla="*/ 182757 w 348497"/>
                <a:gd name="connsiteY63" fmla="*/ 407598 h 421268"/>
                <a:gd name="connsiteX64" fmla="*/ 173974 w 348497"/>
                <a:gd name="connsiteY64" fmla="*/ 417395 h 421268"/>
                <a:gd name="connsiteX65" fmla="*/ 107906 w 348497"/>
                <a:gd name="connsiteY65" fmla="*/ 417395 h 421268"/>
                <a:gd name="connsiteX66" fmla="*/ 99171 w 348497"/>
                <a:gd name="connsiteY66" fmla="*/ 407598 h 421268"/>
                <a:gd name="connsiteX67" fmla="*/ 96661 w 348497"/>
                <a:gd name="connsiteY67" fmla="*/ 384626 h 421268"/>
                <a:gd name="connsiteX68" fmla="*/ 73641 w 348497"/>
                <a:gd name="connsiteY68" fmla="*/ 366287 h 421268"/>
                <a:gd name="connsiteX69" fmla="*/ 67657 w 348497"/>
                <a:gd name="connsiteY69" fmla="*/ 367880 h 421268"/>
                <a:gd name="connsiteX70" fmla="*/ 46471 w 348497"/>
                <a:gd name="connsiteY70" fmla="*/ 377146 h 421268"/>
                <a:gd name="connsiteX71" fmla="*/ 33585 w 348497"/>
                <a:gd name="connsiteY71" fmla="*/ 374395 h 421268"/>
                <a:gd name="connsiteX72" fmla="*/ 527 w 348497"/>
                <a:gd name="connsiteY72" fmla="*/ 317448 h 421268"/>
                <a:gd name="connsiteX73" fmla="*/ 4581 w 348497"/>
                <a:gd name="connsiteY73" fmla="*/ 304852 h 421268"/>
                <a:gd name="connsiteX74" fmla="*/ 23306 w 348497"/>
                <a:gd name="connsiteY74" fmla="*/ 291050 h 421268"/>
                <a:gd name="connsiteX75" fmla="*/ 27794 w 348497"/>
                <a:gd name="connsiteY75" fmla="*/ 261997 h 421268"/>
                <a:gd name="connsiteX76" fmla="*/ 23306 w 348497"/>
                <a:gd name="connsiteY76" fmla="*/ 257509 h 421268"/>
                <a:gd name="connsiteX77" fmla="*/ 4581 w 348497"/>
                <a:gd name="connsiteY77" fmla="*/ 243755 h 421268"/>
                <a:gd name="connsiteX78" fmla="*/ 527 w 348497"/>
                <a:gd name="connsiteY78" fmla="*/ 231207 h 421268"/>
                <a:gd name="connsiteX79" fmla="*/ 33585 w 348497"/>
                <a:gd name="connsiteY79" fmla="*/ 174309 h 421268"/>
                <a:gd name="connsiteX80" fmla="*/ 46471 w 348497"/>
                <a:gd name="connsiteY80" fmla="*/ 171558 h 421268"/>
                <a:gd name="connsiteX81" fmla="*/ 67560 w 348497"/>
                <a:gd name="connsiteY81" fmla="*/ 180824 h 421268"/>
                <a:gd name="connsiteX82" fmla="*/ 95020 w 348497"/>
                <a:gd name="connsiteY82" fmla="*/ 169965 h 421268"/>
                <a:gd name="connsiteX83" fmla="*/ 96613 w 348497"/>
                <a:gd name="connsiteY83" fmla="*/ 163981 h 421268"/>
                <a:gd name="connsiteX84" fmla="*/ 99171 w 348497"/>
                <a:gd name="connsiteY84" fmla="*/ 141009 h 421268"/>
                <a:gd name="connsiteX85" fmla="*/ 108099 w 348497"/>
                <a:gd name="connsiteY85" fmla="*/ 131212 h 421268"/>
                <a:gd name="connsiteX86" fmla="*/ 141109 w 348497"/>
                <a:gd name="connsiteY86" fmla="*/ 127448 h 421268"/>
                <a:gd name="connsiteX87" fmla="*/ 257850 w 348497"/>
                <a:gd name="connsiteY87" fmla="*/ 58003 h 421268"/>
                <a:gd name="connsiteX88" fmla="*/ 245544 w 348497"/>
                <a:gd name="connsiteY88" fmla="*/ 87200 h 421268"/>
                <a:gd name="connsiteX89" fmla="*/ 274741 w 348497"/>
                <a:gd name="connsiteY89" fmla="*/ 99555 h 421268"/>
                <a:gd name="connsiteX90" fmla="*/ 287096 w 348497"/>
                <a:gd name="connsiteY90" fmla="*/ 70309 h 421268"/>
                <a:gd name="connsiteX91" fmla="*/ 257850 w 348497"/>
                <a:gd name="connsiteY91" fmla="*/ 58003 h 421268"/>
                <a:gd name="connsiteX92" fmla="*/ 241442 w 348497"/>
                <a:gd name="connsiteY92" fmla="*/ 380 h 421268"/>
                <a:gd name="connsiteX93" fmla="*/ 251432 w 348497"/>
                <a:gd name="connsiteY93" fmla="*/ 4482 h 421268"/>
                <a:gd name="connsiteX94" fmla="*/ 252928 w 348497"/>
                <a:gd name="connsiteY94" fmla="*/ 7185 h 421268"/>
                <a:gd name="connsiteX95" fmla="*/ 258140 w 348497"/>
                <a:gd name="connsiteY95" fmla="*/ 14086 h 421268"/>
                <a:gd name="connsiteX96" fmla="*/ 298823 w 348497"/>
                <a:gd name="connsiteY96" fmla="*/ 13555 h 421268"/>
                <a:gd name="connsiteX97" fmla="*/ 300898 w 348497"/>
                <a:gd name="connsiteY97" fmla="*/ 11432 h 421268"/>
                <a:gd name="connsiteX98" fmla="*/ 311805 w 348497"/>
                <a:gd name="connsiteY98" fmla="*/ 10273 h 421268"/>
                <a:gd name="connsiteX99" fmla="*/ 321602 w 348497"/>
                <a:gd name="connsiteY99" fmla="*/ 17850 h 421268"/>
                <a:gd name="connsiteX100" fmla="*/ 323194 w 348497"/>
                <a:gd name="connsiteY100" fmla="*/ 28709 h 421268"/>
                <a:gd name="connsiteX101" fmla="*/ 321602 w 348497"/>
                <a:gd name="connsiteY101" fmla="*/ 31315 h 421268"/>
                <a:gd name="connsiteX102" fmla="*/ 318223 w 348497"/>
                <a:gd name="connsiteY102" fmla="*/ 39326 h 421268"/>
                <a:gd name="connsiteX103" fmla="*/ 339024 w 348497"/>
                <a:gd name="connsiteY103" fmla="*/ 74218 h 421268"/>
                <a:gd name="connsiteX104" fmla="*/ 342064 w 348497"/>
                <a:gd name="connsiteY104" fmla="*/ 74990 h 421268"/>
                <a:gd name="connsiteX105" fmla="*/ 348482 w 348497"/>
                <a:gd name="connsiteY105" fmla="*/ 83870 h 421268"/>
                <a:gd name="connsiteX106" fmla="*/ 346745 w 348497"/>
                <a:gd name="connsiteY106" fmla="*/ 96176 h 421268"/>
                <a:gd name="connsiteX107" fmla="*/ 338107 w 348497"/>
                <a:gd name="connsiteY107" fmla="*/ 102933 h 421268"/>
                <a:gd name="connsiteX108" fmla="*/ 335018 w 348497"/>
                <a:gd name="connsiteY108" fmla="*/ 102836 h 421268"/>
                <a:gd name="connsiteX109" fmla="*/ 326428 w 348497"/>
                <a:gd name="connsiteY109" fmla="*/ 103898 h 421268"/>
                <a:gd name="connsiteX110" fmla="*/ 306593 w 348497"/>
                <a:gd name="connsiteY110" fmla="*/ 139369 h 421268"/>
                <a:gd name="connsiteX111" fmla="*/ 307461 w 348497"/>
                <a:gd name="connsiteY111" fmla="*/ 142361 h 421268"/>
                <a:gd name="connsiteX112" fmla="*/ 303118 w 348497"/>
                <a:gd name="connsiteY112" fmla="*/ 152303 h 421268"/>
                <a:gd name="connsiteX113" fmla="*/ 291246 w 348497"/>
                <a:gd name="connsiteY113" fmla="*/ 157129 h 421268"/>
                <a:gd name="connsiteX114" fmla="*/ 281208 w 348497"/>
                <a:gd name="connsiteY114" fmla="*/ 153027 h 421268"/>
                <a:gd name="connsiteX115" fmla="*/ 279712 w 348497"/>
                <a:gd name="connsiteY115" fmla="*/ 150276 h 421268"/>
                <a:gd name="connsiteX116" fmla="*/ 274548 w 348497"/>
                <a:gd name="connsiteY116" fmla="*/ 143471 h 421268"/>
                <a:gd name="connsiteX117" fmla="*/ 233865 w 348497"/>
                <a:gd name="connsiteY117" fmla="*/ 143954 h 421268"/>
                <a:gd name="connsiteX118" fmla="*/ 231742 w 348497"/>
                <a:gd name="connsiteY118" fmla="*/ 146126 h 421268"/>
                <a:gd name="connsiteX119" fmla="*/ 220835 w 348497"/>
                <a:gd name="connsiteY119" fmla="*/ 147284 h 421268"/>
                <a:gd name="connsiteX120" fmla="*/ 210990 w 348497"/>
                <a:gd name="connsiteY120" fmla="*/ 139659 h 421268"/>
                <a:gd name="connsiteX121" fmla="*/ 209397 w 348497"/>
                <a:gd name="connsiteY121" fmla="*/ 128800 h 421268"/>
                <a:gd name="connsiteX122" fmla="*/ 210990 w 348497"/>
                <a:gd name="connsiteY122" fmla="*/ 126194 h 421268"/>
                <a:gd name="connsiteX123" fmla="*/ 214368 w 348497"/>
                <a:gd name="connsiteY123" fmla="*/ 118183 h 421268"/>
                <a:gd name="connsiteX124" fmla="*/ 193568 w 348497"/>
                <a:gd name="connsiteY124" fmla="*/ 83291 h 421268"/>
                <a:gd name="connsiteX125" fmla="*/ 190576 w 348497"/>
                <a:gd name="connsiteY125" fmla="*/ 82519 h 421268"/>
                <a:gd name="connsiteX126" fmla="*/ 184157 w 348497"/>
                <a:gd name="connsiteY126" fmla="*/ 73639 h 421268"/>
                <a:gd name="connsiteX127" fmla="*/ 185895 w 348497"/>
                <a:gd name="connsiteY127" fmla="*/ 61333 h 421268"/>
                <a:gd name="connsiteX128" fmla="*/ 194485 w 348497"/>
                <a:gd name="connsiteY128" fmla="*/ 54576 h 421268"/>
                <a:gd name="connsiteX129" fmla="*/ 197525 w 348497"/>
                <a:gd name="connsiteY129" fmla="*/ 54673 h 421268"/>
                <a:gd name="connsiteX130" fmla="*/ 209011 w 348497"/>
                <a:gd name="connsiteY130" fmla="*/ 52646 h 421268"/>
                <a:gd name="connsiteX131" fmla="*/ 225854 w 348497"/>
                <a:gd name="connsiteY131" fmla="*/ 17512 h 421268"/>
                <a:gd name="connsiteX132" fmla="*/ 225178 w 348497"/>
                <a:gd name="connsiteY132" fmla="*/ 15148 h 421268"/>
                <a:gd name="connsiteX133" fmla="*/ 229473 w 348497"/>
                <a:gd name="connsiteY133" fmla="*/ 5254 h 421268"/>
                <a:gd name="connsiteX134" fmla="*/ 235409 w 348497"/>
                <a:gd name="connsiteY134" fmla="*/ 2503 h 421268"/>
                <a:gd name="connsiteX135" fmla="*/ 241442 w 348497"/>
                <a:gd name="connsiteY135" fmla="*/ 380 h 42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48497" h="421268">
                  <a:moveTo>
                    <a:pt x="141060" y="240570"/>
                  </a:moveTo>
                  <a:cubicBezTo>
                    <a:pt x="122191" y="240570"/>
                    <a:pt x="106892" y="256013"/>
                    <a:pt x="107182" y="274931"/>
                  </a:cubicBezTo>
                  <a:cubicBezTo>
                    <a:pt x="107471" y="293849"/>
                    <a:pt x="122577" y="308086"/>
                    <a:pt x="140578" y="308327"/>
                  </a:cubicBezTo>
                  <a:cubicBezTo>
                    <a:pt x="159496" y="308568"/>
                    <a:pt x="174939" y="293318"/>
                    <a:pt x="174939" y="274448"/>
                  </a:cubicBezTo>
                  <a:cubicBezTo>
                    <a:pt x="174939" y="255579"/>
                    <a:pt x="159785" y="240570"/>
                    <a:pt x="141060" y="240570"/>
                  </a:cubicBezTo>
                  <a:close/>
                  <a:moveTo>
                    <a:pt x="141060" y="217984"/>
                  </a:moveTo>
                  <a:cubicBezTo>
                    <a:pt x="172236" y="217984"/>
                    <a:pt x="197525" y="243272"/>
                    <a:pt x="197525" y="274448"/>
                  </a:cubicBezTo>
                  <a:cubicBezTo>
                    <a:pt x="197525" y="305624"/>
                    <a:pt x="172236" y="330913"/>
                    <a:pt x="141060" y="330913"/>
                  </a:cubicBezTo>
                  <a:cubicBezTo>
                    <a:pt x="109884" y="330913"/>
                    <a:pt x="84596" y="305624"/>
                    <a:pt x="84596" y="274448"/>
                  </a:cubicBezTo>
                  <a:cubicBezTo>
                    <a:pt x="84596" y="243272"/>
                    <a:pt x="109884" y="217984"/>
                    <a:pt x="141060" y="217984"/>
                  </a:cubicBezTo>
                  <a:close/>
                  <a:moveTo>
                    <a:pt x="141253" y="150227"/>
                  </a:moveTo>
                  <a:cubicBezTo>
                    <a:pt x="134401" y="150323"/>
                    <a:pt x="127596" y="150902"/>
                    <a:pt x="120839" y="152012"/>
                  </a:cubicBezTo>
                  <a:lnTo>
                    <a:pt x="119343" y="165622"/>
                  </a:lnTo>
                  <a:cubicBezTo>
                    <a:pt x="117703" y="180196"/>
                    <a:pt x="109498" y="193516"/>
                    <a:pt x="96516" y="200321"/>
                  </a:cubicBezTo>
                  <a:cubicBezTo>
                    <a:pt x="84210" y="206739"/>
                    <a:pt x="70408" y="206884"/>
                    <a:pt x="58632" y="201769"/>
                  </a:cubicBezTo>
                  <a:lnTo>
                    <a:pt x="45120" y="195833"/>
                  </a:lnTo>
                  <a:cubicBezTo>
                    <a:pt x="36481" y="206305"/>
                    <a:pt x="29628" y="218080"/>
                    <a:pt x="24802" y="230725"/>
                  </a:cubicBezTo>
                  <a:lnTo>
                    <a:pt x="35950" y="238929"/>
                  </a:lnTo>
                  <a:cubicBezTo>
                    <a:pt x="47726" y="247616"/>
                    <a:pt x="55158" y="261418"/>
                    <a:pt x="54578" y="276041"/>
                  </a:cubicBezTo>
                  <a:cubicBezTo>
                    <a:pt x="53999" y="289892"/>
                    <a:pt x="47195" y="301908"/>
                    <a:pt x="36867" y="309533"/>
                  </a:cubicBezTo>
                  <a:lnTo>
                    <a:pt x="24850" y="318365"/>
                  </a:lnTo>
                  <a:cubicBezTo>
                    <a:pt x="29676" y="331057"/>
                    <a:pt x="36529" y="342833"/>
                    <a:pt x="45168" y="353354"/>
                  </a:cubicBezTo>
                  <a:lnTo>
                    <a:pt x="58777" y="347369"/>
                  </a:lnTo>
                  <a:cubicBezTo>
                    <a:pt x="80735" y="337766"/>
                    <a:pt x="106313" y="347804"/>
                    <a:pt x="115917" y="369762"/>
                  </a:cubicBezTo>
                  <a:cubicBezTo>
                    <a:pt x="117654" y="373719"/>
                    <a:pt x="118764" y="377966"/>
                    <a:pt x="119247" y="382261"/>
                  </a:cubicBezTo>
                  <a:lnTo>
                    <a:pt x="120888" y="397077"/>
                  </a:lnTo>
                  <a:cubicBezTo>
                    <a:pt x="134256" y="399346"/>
                    <a:pt x="147962" y="399346"/>
                    <a:pt x="161378" y="397077"/>
                  </a:cubicBezTo>
                  <a:lnTo>
                    <a:pt x="163019" y="382261"/>
                  </a:lnTo>
                  <a:cubicBezTo>
                    <a:pt x="165673" y="358421"/>
                    <a:pt x="187100" y="341289"/>
                    <a:pt x="210941" y="343943"/>
                  </a:cubicBezTo>
                  <a:cubicBezTo>
                    <a:pt x="215284" y="344425"/>
                    <a:pt x="219531" y="345584"/>
                    <a:pt x="223537" y="347321"/>
                  </a:cubicBezTo>
                  <a:lnTo>
                    <a:pt x="237146" y="353305"/>
                  </a:lnTo>
                  <a:cubicBezTo>
                    <a:pt x="245736" y="342833"/>
                    <a:pt x="252589" y="331057"/>
                    <a:pt x="257415" y="318413"/>
                  </a:cubicBezTo>
                  <a:lnTo>
                    <a:pt x="245399" y="309582"/>
                  </a:lnTo>
                  <a:cubicBezTo>
                    <a:pt x="226095" y="295393"/>
                    <a:pt x="221944" y="268223"/>
                    <a:pt x="236133" y="248919"/>
                  </a:cubicBezTo>
                  <a:cubicBezTo>
                    <a:pt x="238739" y="245396"/>
                    <a:pt x="241876" y="242259"/>
                    <a:pt x="245399" y="239653"/>
                  </a:cubicBezTo>
                  <a:lnTo>
                    <a:pt x="257367" y="230821"/>
                  </a:lnTo>
                  <a:cubicBezTo>
                    <a:pt x="252541" y="218177"/>
                    <a:pt x="245688" y="206402"/>
                    <a:pt x="237050" y="195929"/>
                  </a:cubicBezTo>
                  <a:lnTo>
                    <a:pt x="223537" y="201865"/>
                  </a:lnTo>
                  <a:cubicBezTo>
                    <a:pt x="201578" y="211469"/>
                    <a:pt x="175952" y="201479"/>
                    <a:pt x="166349" y="179472"/>
                  </a:cubicBezTo>
                  <a:cubicBezTo>
                    <a:pt x="164611" y="175467"/>
                    <a:pt x="163453" y="171220"/>
                    <a:pt x="162970" y="166828"/>
                  </a:cubicBezTo>
                  <a:lnTo>
                    <a:pt x="161330" y="152109"/>
                  </a:lnTo>
                  <a:cubicBezTo>
                    <a:pt x="154670" y="151047"/>
                    <a:pt x="147962" y="150420"/>
                    <a:pt x="141253" y="150323"/>
                  </a:cubicBezTo>
                  <a:close/>
                  <a:moveTo>
                    <a:pt x="141109" y="127448"/>
                  </a:moveTo>
                  <a:lnTo>
                    <a:pt x="141253" y="127641"/>
                  </a:lnTo>
                  <a:cubicBezTo>
                    <a:pt x="152257" y="127738"/>
                    <a:pt x="163212" y="129041"/>
                    <a:pt x="173974" y="131405"/>
                  </a:cubicBezTo>
                  <a:cubicBezTo>
                    <a:pt x="178703" y="132467"/>
                    <a:pt x="182323" y="136376"/>
                    <a:pt x="182854" y="141202"/>
                  </a:cubicBezTo>
                  <a:lnTo>
                    <a:pt x="185315" y="163498"/>
                  </a:lnTo>
                  <a:cubicBezTo>
                    <a:pt x="186039" y="170013"/>
                    <a:pt x="189369" y="176094"/>
                    <a:pt x="194967" y="179521"/>
                  </a:cubicBezTo>
                  <a:cubicBezTo>
                    <a:pt x="201144" y="183333"/>
                    <a:pt x="208383" y="183623"/>
                    <a:pt x="214416" y="180968"/>
                  </a:cubicBezTo>
                  <a:lnTo>
                    <a:pt x="235505" y="171703"/>
                  </a:lnTo>
                  <a:cubicBezTo>
                    <a:pt x="239945" y="169772"/>
                    <a:pt x="245109" y="170882"/>
                    <a:pt x="248391" y="174453"/>
                  </a:cubicBezTo>
                  <a:cubicBezTo>
                    <a:pt x="263544" y="190669"/>
                    <a:pt x="274837" y="210118"/>
                    <a:pt x="281449" y="231304"/>
                  </a:cubicBezTo>
                  <a:cubicBezTo>
                    <a:pt x="282897" y="235937"/>
                    <a:pt x="281304" y="241004"/>
                    <a:pt x="277395" y="243851"/>
                  </a:cubicBezTo>
                  <a:lnTo>
                    <a:pt x="258670" y="257654"/>
                  </a:lnTo>
                  <a:cubicBezTo>
                    <a:pt x="249404" y="264458"/>
                    <a:pt x="247425" y="277489"/>
                    <a:pt x="254230" y="286706"/>
                  </a:cubicBezTo>
                  <a:cubicBezTo>
                    <a:pt x="255485" y="288395"/>
                    <a:pt x="256981" y="289892"/>
                    <a:pt x="258670" y="291146"/>
                  </a:cubicBezTo>
                  <a:lnTo>
                    <a:pt x="277395" y="304949"/>
                  </a:lnTo>
                  <a:cubicBezTo>
                    <a:pt x="281304" y="307844"/>
                    <a:pt x="282897" y="312912"/>
                    <a:pt x="281449" y="317545"/>
                  </a:cubicBezTo>
                  <a:cubicBezTo>
                    <a:pt x="274837" y="338731"/>
                    <a:pt x="263544" y="358180"/>
                    <a:pt x="248391" y="374395"/>
                  </a:cubicBezTo>
                  <a:cubicBezTo>
                    <a:pt x="245109" y="377918"/>
                    <a:pt x="239945" y="379076"/>
                    <a:pt x="235553" y="377146"/>
                  </a:cubicBezTo>
                  <a:lnTo>
                    <a:pt x="214995" y="368121"/>
                  </a:lnTo>
                  <a:cubicBezTo>
                    <a:pt x="209010" y="365515"/>
                    <a:pt x="202013" y="365322"/>
                    <a:pt x="196270" y="368459"/>
                  </a:cubicBezTo>
                  <a:cubicBezTo>
                    <a:pt x="189900" y="371934"/>
                    <a:pt x="186039" y="378063"/>
                    <a:pt x="185315" y="384626"/>
                  </a:cubicBezTo>
                  <a:lnTo>
                    <a:pt x="182757" y="407598"/>
                  </a:lnTo>
                  <a:cubicBezTo>
                    <a:pt x="182226" y="412376"/>
                    <a:pt x="178703" y="416285"/>
                    <a:pt x="173974" y="417395"/>
                  </a:cubicBezTo>
                  <a:cubicBezTo>
                    <a:pt x="152257" y="422559"/>
                    <a:pt x="129623" y="422559"/>
                    <a:pt x="107906" y="417395"/>
                  </a:cubicBezTo>
                  <a:cubicBezTo>
                    <a:pt x="103225" y="416285"/>
                    <a:pt x="99702" y="412424"/>
                    <a:pt x="99171" y="407598"/>
                  </a:cubicBezTo>
                  <a:lnTo>
                    <a:pt x="96661" y="384626"/>
                  </a:lnTo>
                  <a:cubicBezTo>
                    <a:pt x="95358" y="373189"/>
                    <a:pt x="85031" y="364984"/>
                    <a:pt x="73641" y="366287"/>
                  </a:cubicBezTo>
                  <a:cubicBezTo>
                    <a:pt x="71566" y="366529"/>
                    <a:pt x="69587" y="367059"/>
                    <a:pt x="67657" y="367880"/>
                  </a:cubicBezTo>
                  <a:lnTo>
                    <a:pt x="46471" y="377146"/>
                  </a:lnTo>
                  <a:cubicBezTo>
                    <a:pt x="42031" y="379076"/>
                    <a:pt x="36915" y="377966"/>
                    <a:pt x="33585" y="374395"/>
                  </a:cubicBezTo>
                  <a:cubicBezTo>
                    <a:pt x="18432" y="358131"/>
                    <a:pt x="7139" y="338683"/>
                    <a:pt x="527" y="317448"/>
                  </a:cubicBezTo>
                  <a:cubicBezTo>
                    <a:pt x="-921" y="312815"/>
                    <a:pt x="672" y="307748"/>
                    <a:pt x="4581" y="304852"/>
                  </a:cubicBezTo>
                  <a:lnTo>
                    <a:pt x="23306" y="291050"/>
                  </a:lnTo>
                  <a:cubicBezTo>
                    <a:pt x="32572" y="284245"/>
                    <a:pt x="34551" y="271263"/>
                    <a:pt x="27794" y="261997"/>
                  </a:cubicBezTo>
                  <a:cubicBezTo>
                    <a:pt x="26539" y="260308"/>
                    <a:pt x="25043" y="258764"/>
                    <a:pt x="23306" y="257509"/>
                  </a:cubicBezTo>
                  <a:lnTo>
                    <a:pt x="4581" y="243755"/>
                  </a:lnTo>
                  <a:cubicBezTo>
                    <a:pt x="672" y="240859"/>
                    <a:pt x="-921" y="235840"/>
                    <a:pt x="527" y="231207"/>
                  </a:cubicBezTo>
                  <a:cubicBezTo>
                    <a:pt x="7139" y="210021"/>
                    <a:pt x="18432" y="190572"/>
                    <a:pt x="33585" y="174309"/>
                  </a:cubicBezTo>
                  <a:cubicBezTo>
                    <a:pt x="36915" y="170786"/>
                    <a:pt x="42031" y="169627"/>
                    <a:pt x="46471" y="171558"/>
                  </a:cubicBezTo>
                  <a:lnTo>
                    <a:pt x="67560" y="180824"/>
                  </a:lnTo>
                  <a:cubicBezTo>
                    <a:pt x="78129" y="185408"/>
                    <a:pt x="90436" y="180534"/>
                    <a:pt x="95020" y="169965"/>
                  </a:cubicBezTo>
                  <a:cubicBezTo>
                    <a:pt x="95841" y="168083"/>
                    <a:pt x="96372" y="166056"/>
                    <a:pt x="96613" y="163981"/>
                  </a:cubicBezTo>
                  <a:lnTo>
                    <a:pt x="99171" y="141009"/>
                  </a:lnTo>
                  <a:cubicBezTo>
                    <a:pt x="99702" y="136135"/>
                    <a:pt x="103321" y="132226"/>
                    <a:pt x="108099" y="131212"/>
                  </a:cubicBezTo>
                  <a:cubicBezTo>
                    <a:pt x="118861" y="128848"/>
                    <a:pt x="129864" y="127593"/>
                    <a:pt x="141109" y="127448"/>
                  </a:cubicBezTo>
                  <a:close/>
                  <a:moveTo>
                    <a:pt x="257850" y="58003"/>
                  </a:moveTo>
                  <a:cubicBezTo>
                    <a:pt x="246364" y="62636"/>
                    <a:pt x="240863" y="75762"/>
                    <a:pt x="245544" y="87200"/>
                  </a:cubicBezTo>
                  <a:cubicBezTo>
                    <a:pt x="250177" y="98686"/>
                    <a:pt x="263255" y="104236"/>
                    <a:pt x="274741" y="99555"/>
                  </a:cubicBezTo>
                  <a:cubicBezTo>
                    <a:pt x="286227" y="94922"/>
                    <a:pt x="291777" y="81795"/>
                    <a:pt x="287096" y="70309"/>
                  </a:cubicBezTo>
                  <a:cubicBezTo>
                    <a:pt x="282463" y="58871"/>
                    <a:pt x="269336" y="53321"/>
                    <a:pt x="257850" y="58003"/>
                  </a:cubicBezTo>
                  <a:close/>
                  <a:moveTo>
                    <a:pt x="241442" y="380"/>
                  </a:moveTo>
                  <a:cubicBezTo>
                    <a:pt x="245303" y="-826"/>
                    <a:pt x="249501" y="911"/>
                    <a:pt x="251432" y="4482"/>
                  </a:cubicBezTo>
                  <a:lnTo>
                    <a:pt x="252928" y="7185"/>
                  </a:lnTo>
                  <a:cubicBezTo>
                    <a:pt x="254279" y="9742"/>
                    <a:pt x="256065" y="12059"/>
                    <a:pt x="258140" y="14086"/>
                  </a:cubicBezTo>
                  <a:cubicBezTo>
                    <a:pt x="269529" y="25186"/>
                    <a:pt x="287723" y="24944"/>
                    <a:pt x="298823" y="13555"/>
                  </a:cubicBezTo>
                  <a:lnTo>
                    <a:pt x="300898" y="11432"/>
                  </a:lnTo>
                  <a:cubicBezTo>
                    <a:pt x="303794" y="8488"/>
                    <a:pt x="308378" y="8005"/>
                    <a:pt x="311805" y="10273"/>
                  </a:cubicBezTo>
                  <a:cubicBezTo>
                    <a:pt x="315231" y="12542"/>
                    <a:pt x="318513" y="15099"/>
                    <a:pt x="321602" y="17850"/>
                  </a:cubicBezTo>
                  <a:cubicBezTo>
                    <a:pt x="324690" y="20601"/>
                    <a:pt x="325366" y="25186"/>
                    <a:pt x="323194" y="28709"/>
                  </a:cubicBezTo>
                  <a:lnTo>
                    <a:pt x="321602" y="31315"/>
                  </a:lnTo>
                  <a:cubicBezTo>
                    <a:pt x="320106" y="33824"/>
                    <a:pt x="318947" y="36527"/>
                    <a:pt x="318223" y="39326"/>
                  </a:cubicBezTo>
                  <a:cubicBezTo>
                    <a:pt x="314363" y="54721"/>
                    <a:pt x="323677" y="70357"/>
                    <a:pt x="339024" y="74218"/>
                  </a:cubicBezTo>
                  <a:lnTo>
                    <a:pt x="342064" y="74990"/>
                  </a:lnTo>
                  <a:cubicBezTo>
                    <a:pt x="346069" y="76004"/>
                    <a:pt x="348724" y="79720"/>
                    <a:pt x="348482" y="83870"/>
                  </a:cubicBezTo>
                  <a:cubicBezTo>
                    <a:pt x="348241" y="88020"/>
                    <a:pt x="347662" y="92171"/>
                    <a:pt x="346745" y="96176"/>
                  </a:cubicBezTo>
                  <a:cubicBezTo>
                    <a:pt x="345828" y="100182"/>
                    <a:pt x="342209" y="103078"/>
                    <a:pt x="338107" y="102933"/>
                  </a:cubicBezTo>
                  <a:lnTo>
                    <a:pt x="335018" y="102836"/>
                  </a:lnTo>
                  <a:cubicBezTo>
                    <a:pt x="332122" y="102740"/>
                    <a:pt x="329227" y="103126"/>
                    <a:pt x="326428" y="103898"/>
                  </a:cubicBezTo>
                  <a:cubicBezTo>
                    <a:pt x="311177" y="108241"/>
                    <a:pt x="302298" y="124119"/>
                    <a:pt x="306593" y="139369"/>
                  </a:cubicBezTo>
                  <a:lnTo>
                    <a:pt x="307461" y="142361"/>
                  </a:lnTo>
                  <a:cubicBezTo>
                    <a:pt x="308571" y="146270"/>
                    <a:pt x="306979" y="150372"/>
                    <a:pt x="303118" y="152303"/>
                  </a:cubicBezTo>
                  <a:cubicBezTo>
                    <a:pt x="299257" y="154233"/>
                    <a:pt x="295155" y="155874"/>
                    <a:pt x="291246" y="157129"/>
                  </a:cubicBezTo>
                  <a:cubicBezTo>
                    <a:pt x="287337" y="158384"/>
                    <a:pt x="283138" y="156598"/>
                    <a:pt x="281208" y="153027"/>
                  </a:cubicBezTo>
                  <a:lnTo>
                    <a:pt x="279712" y="150276"/>
                  </a:lnTo>
                  <a:cubicBezTo>
                    <a:pt x="278312" y="147766"/>
                    <a:pt x="276575" y="145450"/>
                    <a:pt x="274548" y="143471"/>
                  </a:cubicBezTo>
                  <a:cubicBezTo>
                    <a:pt x="263159" y="132371"/>
                    <a:pt x="244965" y="132564"/>
                    <a:pt x="233865" y="143954"/>
                  </a:cubicBezTo>
                  <a:lnTo>
                    <a:pt x="231742" y="146126"/>
                  </a:lnTo>
                  <a:cubicBezTo>
                    <a:pt x="228846" y="149069"/>
                    <a:pt x="224310" y="149552"/>
                    <a:pt x="220835" y="147284"/>
                  </a:cubicBezTo>
                  <a:cubicBezTo>
                    <a:pt x="217360" y="145016"/>
                    <a:pt x="214078" y="142410"/>
                    <a:pt x="210990" y="139659"/>
                  </a:cubicBezTo>
                  <a:cubicBezTo>
                    <a:pt x="207901" y="136908"/>
                    <a:pt x="207225" y="132323"/>
                    <a:pt x="209397" y="128800"/>
                  </a:cubicBezTo>
                  <a:lnTo>
                    <a:pt x="210990" y="126194"/>
                  </a:lnTo>
                  <a:cubicBezTo>
                    <a:pt x="212534" y="123685"/>
                    <a:pt x="213692" y="120982"/>
                    <a:pt x="214368" y="118183"/>
                  </a:cubicBezTo>
                  <a:cubicBezTo>
                    <a:pt x="218277" y="102788"/>
                    <a:pt x="208963" y="87152"/>
                    <a:pt x="193568" y="83291"/>
                  </a:cubicBezTo>
                  <a:lnTo>
                    <a:pt x="190576" y="82519"/>
                  </a:lnTo>
                  <a:cubicBezTo>
                    <a:pt x="186570" y="81505"/>
                    <a:pt x="183916" y="77789"/>
                    <a:pt x="184157" y="73639"/>
                  </a:cubicBezTo>
                  <a:cubicBezTo>
                    <a:pt x="184398" y="69488"/>
                    <a:pt x="184978" y="65338"/>
                    <a:pt x="185895" y="61333"/>
                  </a:cubicBezTo>
                  <a:cubicBezTo>
                    <a:pt x="186811" y="57327"/>
                    <a:pt x="190383" y="54480"/>
                    <a:pt x="194485" y="54576"/>
                  </a:cubicBezTo>
                  <a:lnTo>
                    <a:pt x="197525" y="54673"/>
                  </a:lnTo>
                  <a:cubicBezTo>
                    <a:pt x="201434" y="54769"/>
                    <a:pt x="205343" y="54045"/>
                    <a:pt x="209011" y="52646"/>
                  </a:cubicBezTo>
                  <a:cubicBezTo>
                    <a:pt x="222862" y="47385"/>
                    <a:pt x="229859" y="31797"/>
                    <a:pt x="225854" y="17512"/>
                  </a:cubicBezTo>
                  <a:lnTo>
                    <a:pt x="225178" y="15148"/>
                  </a:lnTo>
                  <a:cubicBezTo>
                    <a:pt x="224068" y="11287"/>
                    <a:pt x="225854" y="7088"/>
                    <a:pt x="229473" y="5254"/>
                  </a:cubicBezTo>
                  <a:cubicBezTo>
                    <a:pt x="231404" y="4241"/>
                    <a:pt x="233382" y="3324"/>
                    <a:pt x="235409" y="2503"/>
                  </a:cubicBezTo>
                  <a:cubicBezTo>
                    <a:pt x="237388" y="1731"/>
                    <a:pt x="239415" y="1007"/>
                    <a:pt x="241442" y="380"/>
                  </a:cubicBezTo>
                  <a:close/>
                </a:path>
              </a:pathLst>
            </a:custGeom>
            <a:gradFill>
              <a:gsLst>
                <a:gs pos="0">
                  <a:srgbClr val="C3E9FC"/>
                </a:gs>
                <a:gs pos="100000">
                  <a:srgbClr val="BDF2BD"/>
                </a:gs>
              </a:gsLst>
              <a:lin ang="13500000" scaled="0"/>
            </a:gradFill>
            <a:ln w="21902" cap="flat">
              <a:noFill/>
              <a:prstDash val="solid"/>
              <a:miter/>
            </a:ln>
            <a:effectLst/>
          </p:spPr>
          <p:txBody>
            <a:bodyPr rot="0" spcFirstLastPara="0" vertOverflow="overflow" horzOverflow="overflow" vert="horz" wrap="square" lIns="0" tIns="18288" rIns="0" bIns="45720" numCol="1" spcCol="0" rtlCol="0" fromWordArt="0" anchor="ctr" anchorCtr="0" forceAA="0" compatLnSpc="1">
              <a:prstTxWarp prst="textNoShape">
                <a:avLst/>
              </a:prstTxWarp>
              <a:noAutofit/>
            </a:bodyPr>
            <a:lstStyle/>
            <a:p>
              <a:pPr algn="ctr" defTabSz="914367" fontAlgn="base">
                <a:spcBef>
                  <a:spcPct val="0"/>
                </a:spcBef>
                <a:spcAft>
                  <a:spcPct val="0"/>
                </a:spcAft>
              </a:pPr>
              <a:endParaRPr lang="en-US" sz="2000" b="1">
                <a:ln w="3175">
                  <a:noFill/>
                </a:ln>
                <a:latin typeface="Segoe Sans Text" pitchFamily="2" charset="0"/>
                <a:cs typeface="Segoe Sans Text" pitchFamily="2" charset="0"/>
              </a:endParaRPr>
            </a:p>
          </p:txBody>
        </p:sp>
      </p:grpSp>
      <p:grpSp>
        <p:nvGrpSpPr>
          <p:cNvPr id="49" name="Group 48">
            <a:extLst>
              <a:ext uri="{FF2B5EF4-FFF2-40B4-BE49-F238E27FC236}">
                <a16:creationId xmlns:a16="http://schemas.microsoft.com/office/drawing/2014/main" id="{7D40F21F-1556-1B6B-ED26-173FDFDB0D37}"/>
              </a:ext>
            </a:extLst>
          </p:cNvPr>
          <p:cNvGrpSpPr/>
          <p:nvPr/>
        </p:nvGrpSpPr>
        <p:grpSpPr>
          <a:xfrm>
            <a:off x="1164409" y="2179609"/>
            <a:ext cx="3137931" cy="3370580"/>
            <a:chOff x="1164409" y="2179609"/>
            <a:chExt cx="3137931" cy="3370580"/>
          </a:xfrm>
        </p:grpSpPr>
        <p:sp useBgFill="1">
          <p:nvSpPr>
            <p:cNvPr id="50" name="Rectangle: Rounded Corners 49">
              <a:extLst>
                <a:ext uri="{FF2B5EF4-FFF2-40B4-BE49-F238E27FC236}">
                  <a16:creationId xmlns:a16="http://schemas.microsoft.com/office/drawing/2014/main" id="{DE511AEC-A330-6973-E4B6-8CB339B37FD3}"/>
                </a:ext>
              </a:extLst>
            </p:cNvPr>
            <p:cNvSpPr>
              <a:spLocks/>
            </p:cNvSpPr>
            <p:nvPr/>
          </p:nvSpPr>
          <p:spPr bwMode="auto">
            <a:xfrm>
              <a:off x="1164409" y="2179609"/>
              <a:ext cx="3137931" cy="337058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chemeClr val="tx1"/>
                </a:solidFill>
                <a:latin typeface="Segoe Sans Text"/>
                <a:cs typeface="Segoe Sans Text" pitchFamily="2" charset="0"/>
              </a:endParaRPr>
            </a:p>
          </p:txBody>
        </p:sp>
        <p:sp>
          <p:nvSpPr>
            <p:cNvPr id="51" name="TextBox 50">
              <a:extLst>
                <a:ext uri="{FF2B5EF4-FFF2-40B4-BE49-F238E27FC236}">
                  <a16:creationId xmlns:a16="http://schemas.microsoft.com/office/drawing/2014/main" id="{6611C769-FA1D-2123-6612-AF0B9A3A610D}"/>
                </a:ext>
              </a:extLst>
            </p:cNvPr>
            <p:cNvSpPr txBox="1"/>
            <p:nvPr/>
          </p:nvSpPr>
          <p:spPr>
            <a:xfrm>
              <a:off x="1656034" y="4836928"/>
              <a:ext cx="2154680" cy="276999"/>
            </a:xfrm>
            <a:prstGeom prst="rect">
              <a:avLst/>
            </a:prstGeom>
            <a:noFill/>
          </p:spPr>
          <p:txBody>
            <a:bodyPr wrap="square" lIns="0" tIns="0" rIns="0" bIns="0" rtlCol="0">
              <a:spAutoFit/>
            </a:bodyPr>
            <a:lstStyle/>
            <a:p>
              <a:pPr indent="0" algn="ctr" defTabSz="609630" fontAlgn="base">
                <a:lnSpc>
                  <a:spcPct val="90000"/>
                </a:lnSpc>
                <a:spcBef>
                  <a:spcPts val="1200"/>
                </a:spcBef>
                <a:spcAft>
                  <a:spcPct val="0"/>
                </a:spcAft>
                <a:buNone/>
                <a:defRPr/>
              </a:pPr>
              <a:r>
                <a:rPr lang="en-US" sz="2000">
                  <a:latin typeface="Segoe Sans Text Semibold"/>
                </a:rPr>
                <a:t>People</a:t>
              </a:r>
            </a:p>
          </p:txBody>
        </p:sp>
        <p:sp>
          <p:nvSpPr>
            <p:cNvPr id="52" name="Oval 17">
              <a:extLst>
                <a:ext uri="{FF2B5EF4-FFF2-40B4-BE49-F238E27FC236}">
                  <a16:creationId xmlns:a16="http://schemas.microsoft.com/office/drawing/2014/main" id="{DB6AFD23-2E09-CA8F-E061-3FCEC7781624}"/>
                </a:ext>
              </a:extLst>
            </p:cNvPr>
            <p:cNvSpPr>
              <a:spLocks/>
            </p:cNvSpPr>
            <p:nvPr/>
          </p:nvSpPr>
          <p:spPr bwMode="auto">
            <a:xfrm>
              <a:off x="2231661" y="3543093"/>
              <a:ext cx="1004700" cy="1004990"/>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53" name="Group 52">
              <a:extLst>
                <a:ext uri="{FF2B5EF4-FFF2-40B4-BE49-F238E27FC236}">
                  <a16:creationId xmlns:a16="http://schemas.microsoft.com/office/drawing/2014/main" id="{6760472A-0699-586D-E6B7-8815B69898BE}"/>
                </a:ext>
              </a:extLst>
            </p:cNvPr>
            <p:cNvGrpSpPr/>
            <p:nvPr/>
          </p:nvGrpSpPr>
          <p:grpSpPr>
            <a:xfrm>
              <a:off x="2301805" y="3614199"/>
              <a:ext cx="864411" cy="862779"/>
              <a:chOff x="1261672" y="4833937"/>
              <a:chExt cx="954296" cy="954296"/>
            </a:xfrm>
          </p:grpSpPr>
          <p:sp>
            <p:nvSpPr>
              <p:cNvPr id="59" name="Rectangle: Rounded Corners 58">
                <a:extLst>
                  <a:ext uri="{FF2B5EF4-FFF2-40B4-BE49-F238E27FC236}">
                    <a16:creationId xmlns:a16="http://schemas.microsoft.com/office/drawing/2014/main" id="{33530F88-8B31-AF9E-8B56-EE4ABD855D00}"/>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chemeClr val="tx1"/>
                  </a:solidFill>
                  <a:effectLst/>
                  <a:uLnTx/>
                  <a:uFillTx/>
                  <a:latin typeface="Segoe Sans Text Semibold"/>
                  <a:ea typeface="+mn-ea"/>
                  <a:cs typeface="+mn-cs"/>
                </a:endParaRPr>
              </a:p>
            </p:txBody>
          </p:sp>
          <p:sp>
            <p:nvSpPr>
              <p:cNvPr id="60" name="Rectangle: Rounded Corners 59">
                <a:extLst>
                  <a:ext uri="{FF2B5EF4-FFF2-40B4-BE49-F238E27FC236}">
                    <a16:creationId xmlns:a16="http://schemas.microsoft.com/office/drawing/2014/main" id="{E3319749-53A5-0B3A-58F6-ADA4E3280FD5}"/>
                  </a:ext>
                </a:extLst>
              </p:cNvPr>
              <p:cNvSpPr/>
              <p:nvPr userDrawn="1"/>
            </p:nvSpPr>
            <p:spPr bwMode="auto">
              <a:xfrm>
                <a:off x="1261672" y="4833937"/>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nvGrpSpPr>
            <p:cNvPr id="54" name="Group 53">
              <a:extLst>
                <a:ext uri="{FF2B5EF4-FFF2-40B4-BE49-F238E27FC236}">
                  <a16:creationId xmlns:a16="http://schemas.microsoft.com/office/drawing/2014/main" id="{8172A80C-CC99-F6DA-E0CC-8BFAB2AE5CF0}"/>
                </a:ext>
              </a:extLst>
            </p:cNvPr>
            <p:cNvGrpSpPr/>
            <p:nvPr/>
          </p:nvGrpSpPr>
          <p:grpSpPr>
            <a:xfrm>
              <a:off x="2488698" y="3839772"/>
              <a:ext cx="506777" cy="420210"/>
              <a:chOff x="2483674" y="3849820"/>
              <a:chExt cx="506777" cy="420210"/>
            </a:xfrm>
            <a:gradFill>
              <a:gsLst>
                <a:gs pos="0">
                  <a:srgbClr val="C3E9FC"/>
                </a:gs>
                <a:gs pos="100000">
                  <a:srgbClr val="BDF2BD"/>
                </a:gs>
              </a:gsLst>
              <a:lin ang="13500000" scaled="0"/>
            </a:gradFill>
          </p:grpSpPr>
          <p:sp>
            <p:nvSpPr>
              <p:cNvPr id="55" name="Freeform: Shape 54">
                <a:extLst>
                  <a:ext uri="{FF2B5EF4-FFF2-40B4-BE49-F238E27FC236}">
                    <a16:creationId xmlns:a16="http://schemas.microsoft.com/office/drawing/2014/main" id="{13D35AD3-0E0D-0C46-0FCE-814A60315A95}"/>
                  </a:ext>
                </a:extLst>
              </p:cNvPr>
              <p:cNvSpPr/>
              <p:nvPr/>
            </p:nvSpPr>
            <p:spPr>
              <a:xfrm>
                <a:off x="2483674" y="4033874"/>
                <a:ext cx="506777" cy="236156"/>
              </a:xfrm>
              <a:custGeom>
                <a:avLst/>
                <a:gdLst>
                  <a:gd name="connsiteX0" fmla="*/ 432542 w 506777"/>
                  <a:gd name="connsiteY0" fmla="*/ 38080 h 236156"/>
                  <a:gd name="connsiteX1" fmla="*/ 382935 w 506777"/>
                  <a:gd name="connsiteY1" fmla="*/ 38080 h 236156"/>
                  <a:gd name="connsiteX2" fmla="*/ 363426 w 506777"/>
                  <a:gd name="connsiteY2" fmla="*/ 40699 h 236156"/>
                  <a:gd name="connsiteX3" fmla="*/ 297232 w 506777"/>
                  <a:gd name="connsiteY3" fmla="*/ 0 h 236156"/>
                  <a:gd name="connsiteX4" fmla="*/ 209545 w 506777"/>
                  <a:gd name="connsiteY4" fmla="*/ 0 h 236156"/>
                  <a:gd name="connsiteX5" fmla="*/ 143351 w 506777"/>
                  <a:gd name="connsiteY5" fmla="*/ 40699 h 236156"/>
                  <a:gd name="connsiteX6" fmla="*/ 123842 w 506777"/>
                  <a:gd name="connsiteY6" fmla="*/ 38080 h 236156"/>
                  <a:gd name="connsiteX7" fmla="*/ 74235 w 506777"/>
                  <a:gd name="connsiteY7" fmla="*/ 38080 h 236156"/>
                  <a:gd name="connsiteX8" fmla="*/ 0 w 506777"/>
                  <a:gd name="connsiteY8" fmla="*/ 112314 h 236156"/>
                  <a:gd name="connsiteX9" fmla="*/ 0 w 506777"/>
                  <a:gd name="connsiteY9" fmla="*/ 191615 h 236156"/>
                  <a:gd name="connsiteX10" fmla="*/ 44541 w 506777"/>
                  <a:gd name="connsiteY10" fmla="*/ 236156 h 236156"/>
                  <a:gd name="connsiteX11" fmla="*/ 462236 w 506777"/>
                  <a:gd name="connsiteY11" fmla="*/ 236156 h 236156"/>
                  <a:gd name="connsiteX12" fmla="*/ 506777 w 506777"/>
                  <a:gd name="connsiteY12" fmla="*/ 191615 h 236156"/>
                  <a:gd name="connsiteX13" fmla="*/ 506777 w 506777"/>
                  <a:gd name="connsiteY13" fmla="*/ 112314 h 236156"/>
                  <a:gd name="connsiteX14" fmla="*/ 432542 w 506777"/>
                  <a:gd name="connsiteY14" fmla="*/ 38080 h 236156"/>
                  <a:gd name="connsiteX15" fmla="*/ 135310 w 506777"/>
                  <a:gd name="connsiteY15" fmla="*/ 74237 h 236156"/>
                  <a:gd name="connsiteX16" fmla="*/ 135310 w 506777"/>
                  <a:gd name="connsiteY16" fmla="*/ 206463 h 236156"/>
                  <a:gd name="connsiteX17" fmla="*/ 44541 w 506777"/>
                  <a:gd name="connsiteY17" fmla="*/ 206463 h 236156"/>
                  <a:gd name="connsiteX18" fmla="*/ 29694 w 506777"/>
                  <a:gd name="connsiteY18" fmla="*/ 191616 h 236156"/>
                  <a:gd name="connsiteX19" fmla="*/ 29694 w 506777"/>
                  <a:gd name="connsiteY19" fmla="*/ 112315 h 236156"/>
                  <a:gd name="connsiteX20" fmla="*/ 74235 w 506777"/>
                  <a:gd name="connsiteY20" fmla="*/ 67775 h 236156"/>
                  <a:gd name="connsiteX21" fmla="*/ 123842 w 506777"/>
                  <a:gd name="connsiteY21" fmla="*/ 67775 h 236156"/>
                  <a:gd name="connsiteX22" fmla="*/ 135491 w 506777"/>
                  <a:gd name="connsiteY22" fmla="*/ 69330 h 236156"/>
                  <a:gd name="connsiteX23" fmla="*/ 135310 w 506777"/>
                  <a:gd name="connsiteY23" fmla="*/ 74237 h 236156"/>
                  <a:gd name="connsiteX24" fmla="*/ 341773 w 506777"/>
                  <a:gd name="connsiteY24" fmla="*/ 206463 h 236156"/>
                  <a:gd name="connsiteX25" fmla="*/ 165004 w 506777"/>
                  <a:gd name="connsiteY25" fmla="*/ 206463 h 236156"/>
                  <a:gd name="connsiteX26" fmla="*/ 165004 w 506777"/>
                  <a:gd name="connsiteY26" fmla="*/ 74236 h 236156"/>
                  <a:gd name="connsiteX27" fmla="*/ 209545 w 506777"/>
                  <a:gd name="connsiteY27" fmla="*/ 29695 h 236156"/>
                  <a:gd name="connsiteX28" fmla="*/ 297232 w 506777"/>
                  <a:gd name="connsiteY28" fmla="*/ 29695 h 236156"/>
                  <a:gd name="connsiteX29" fmla="*/ 341773 w 506777"/>
                  <a:gd name="connsiteY29" fmla="*/ 74236 h 236156"/>
                  <a:gd name="connsiteX30" fmla="*/ 341773 w 506777"/>
                  <a:gd name="connsiteY30" fmla="*/ 206463 h 236156"/>
                  <a:gd name="connsiteX31" fmla="*/ 477083 w 506777"/>
                  <a:gd name="connsiteY31" fmla="*/ 191616 h 236156"/>
                  <a:gd name="connsiteX32" fmla="*/ 462236 w 506777"/>
                  <a:gd name="connsiteY32" fmla="*/ 206463 h 236156"/>
                  <a:gd name="connsiteX33" fmla="*/ 371467 w 506777"/>
                  <a:gd name="connsiteY33" fmla="*/ 206463 h 236156"/>
                  <a:gd name="connsiteX34" fmla="*/ 371467 w 506777"/>
                  <a:gd name="connsiteY34" fmla="*/ 74236 h 236156"/>
                  <a:gd name="connsiteX35" fmla="*/ 371286 w 506777"/>
                  <a:gd name="connsiteY35" fmla="*/ 69329 h 236156"/>
                  <a:gd name="connsiteX36" fmla="*/ 382935 w 506777"/>
                  <a:gd name="connsiteY36" fmla="*/ 67774 h 236156"/>
                  <a:gd name="connsiteX37" fmla="*/ 432542 w 506777"/>
                  <a:gd name="connsiteY37" fmla="*/ 67774 h 236156"/>
                  <a:gd name="connsiteX38" fmla="*/ 477083 w 506777"/>
                  <a:gd name="connsiteY38" fmla="*/ 112314 h 236156"/>
                  <a:gd name="connsiteX39" fmla="*/ 477083 w 506777"/>
                  <a:gd name="connsiteY39" fmla="*/ 191616 h 236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06777" h="236156">
                    <a:moveTo>
                      <a:pt x="432542" y="38080"/>
                    </a:moveTo>
                    <a:lnTo>
                      <a:pt x="382935" y="38080"/>
                    </a:lnTo>
                    <a:cubicBezTo>
                      <a:pt x="376184" y="38080"/>
                      <a:pt x="369647" y="39002"/>
                      <a:pt x="363426" y="40699"/>
                    </a:cubicBezTo>
                    <a:cubicBezTo>
                      <a:pt x="351155" y="16575"/>
                      <a:pt x="326101" y="0"/>
                      <a:pt x="297232" y="0"/>
                    </a:cubicBezTo>
                    <a:lnTo>
                      <a:pt x="209545" y="0"/>
                    </a:lnTo>
                    <a:cubicBezTo>
                      <a:pt x="180676" y="0"/>
                      <a:pt x="155622" y="16575"/>
                      <a:pt x="143351" y="40699"/>
                    </a:cubicBezTo>
                    <a:cubicBezTo>
                      <a:pt x="137130" y="39002"/>
                      <a:pt x="130593" y="38080"/>
                      <a:pt x="123842" y="38080"/>
                    </a:cubicBezTo>
                    <a:lnTo>
                      <a:pt x="74235" y="38080"/>
                    </a:lnTo>
                    <a:cubicBezTo>
                      <a:pt x="33302" y="38080"/>
                      <a:pt x="0" y="71381"/>
                      <a:pt x="0" y="112314"/>
                    </a:cubicBezTo>
                    <a:lnTo>
                      <a:pt x="0" y="191615"/>
                    </a:lnTo>
                    <a:cubicBezTo>
                      <a:pt x="0" y="216175"/>
                      <a:pt x="19981" y="236156"/>
                      <a:pt x="44541" y="236156"/>
                    </a:cubicBezTo>
                    <a:lnTo>
                      <a:pt x="462236" y="236156"/>
                    </a:lnTo>
                    <a:cubicBezTo>
                      <a:pt x="486796" y="236156"/>
                      <a:pt x="506777" y="216175"/>
                      <a:pt x="506777" y="191615"/>
                    </a:cubicBezTo>
                    <a:lnTo>
                      <a:pt x="506777" y="112314"/>
                    </a:lnTo>
                    <a:cubicBezTo>
                      <a:pt x="506777" y="71381"/>
                      <a:pt x="473475" y="38080"/>
                      <a:pt x="432542" y="38080"/>
                    </a:cubicBezTo>
                    <a:close/>
                    <a:moveTo>
                      <a:pt x="135310" y="74237"/>
                    </a:moveTo>
                    <a:lnTo>
                      <a:pt x="135310" y="206463"/>
                    </a:lnTo>
                    <a:lnTo>
                      <a:pt x="44541" y="206463"/>
                    </a:lnTo>
                    <a:cubicBezTo>
                      <a:pt x="36354" y="206463"/>
                      <a:pt x="29694" y="199803"/>
                      <a:pt x="29694" y="191616"/>
                    </a:cubicBezTo>
                    <a:lnTo>
                      <a:pt x="29694" y="112315"/>
                    </a:lnTo>
                    <a:cubicBezTo>
                      <a:pt x="29694" y="87756"/>
                      <a:pt x="49675" y="67775"/>
                      <a:pt x="74235" y="67775"/>
                    </a:cubicBezTo>
                    <a:lnTo>
                      <a:pt x="123842" y="67775"/>
                    </a:lnTo>
                    <a:cubicBezTo>
                      <a:pt x="127872" y="67775"/>
                      <a:pt x="131775" y="68322"/>
                      <a:pt x="135491" y="69330"/>
                    </a:cubicBezTo>
                    <a:cubicBezTo>
                      <a:pt x="135384" y="70955"/>
                      <a:pt x="135310" y="72588"/>
                      <a:pt x="135310" y="74237"/>
                    </a:cubicBezTo>
                    <a:close/>
                    <a:moveTo>
                      <a:pt x="341773" y="206463"/>
                    </a:moveTo>
                    <a:lnTo>
                      <a:pt x="165004" y="206463"/>
                    </a:lnTo>
                    <a:lnTo>
                      <a:pt x="165004" y="74236"/>
                    </a:lnTo>
                    <a:cubicBezTo>
                      <a:pt x="165004" y="49676"/>
                      <a:pt x="184985" y="29695"/>
                      <a:pt x="209545" y="29695"/>
                    </a:cubicBezTo>
                    <a:lnTo>
                      <a:pt x="297232" y="29695"/>
                    </a:lnTo>
                    <a:cubicBezTo>
                      <a:pt x="321792" y="29695"/>
                      <a:pt x="341773" y="49676"/>
                      <a:pt x="341773" y="74236"/>
                    </a:cubicBezTo>
                    <a:lnTo>
                      <a:pt x="341773" y="206463"/>
                    </a:lnTo>
                    <a:close/>
                    <a:moveTo>
                      <a:pt x="477083" y="191616"/>
                    </a:moveTo>
                    <a:cubicBezTo>
                      <a:pt x="477083" y="199803"/>
                      <a:pt x="470423" y="206463"/>
                      <a:pt x="462236" y="206463"/>
                    </a:cubicBezTo>
                    <a:lnTo>
                      <a:pt x="371467" y="206463"/>
                    </a:lnTo>
                    <a:lnTo>
                      <a:pt x="371467" y="74236"/>
                    </a:lnTo>
                    <a:cubicBezTo>
                      <a:pt x="371467" y="72586"/>
                      <a:pt x="371393" y="70953"/>
                      <a:pt x="371286" y="69329"/>
                    </a:cubicBezTo>
                    <a:cubicBezTo>
                      <a:pt x="375002" y="68322"/>
                      <a:pt x="378905" y="67774"/>
                      <a:pt x="382935" y="67774"/>
                    </a:cubicBezTo>
                    <a:lnTo>
                      <a:pt x="432542" y="67774"/>
                    </a:lnTo>
                    <a:cubicBezTo>
                      <a:pt x="457102" y="67774"/>
                      <a:pt x="477083" y="87755"/>
                      <a:pt x="477083" y="112314"/>
                    </a:cubicBezTo>
                    <a:lnTo>
                      <a:pt x="477083" y="191616"/>
                    </a:lnTo>
                    <a:close/>
                  </a:path>
                </a:pathLst>
              </a:custGeom>
              <a:grpFill/>
              <a:ln w="986" cap="flat">
                <a:noFill/>
                <a:prstDash val="solid"/>
                <a:miter/>
              </a:ln>
            </p:spPr>
            <p:txBody>
              <a:bodyPr rtlCol="0" anchor="ctr"/>
              <a:lstStyle/>
              <a:p>
                <a:endParaRPr lang="en-GB"/>
              </a:p>
            </p:txBody>
          </p:sp>
          <p:sp>
            <p:nvSpPr>
              <p:cNvPr id="56" name="Freeform: Shape 55">
                <a:extLst>
                  <a:ext uri="{FF2B5EF4-FFF2-40B4-BE49-F238E27FC236}">
                    <a16:creationId xmlns:a16="http://schemas.microsoft.com/office/drawing/2014/main" id="{685CB441-E933-234D-85B9-6AE1A008A90B}"/>
                  </a:ext>
                </a:extLst>
              </p:cNvPr>
              <p:cNvSpPr/>
              <p:nvPr/>
            </p:nvSpPr>
            <p:spPr>
              <a:xfrm>
                <a:off x="2516747" y="3931751"/>
                <a:ext cx="131932" cy="131932"/>
              </a:xfrm>
              <a:custGeom>
                <a:avLst/>
                <a:gdLst>
                  <a:gd name="connsiteX0" fmla="*/ 65966 w 131932"/>
                  <a:gd name="connsiteY0" fmla="*/ 0 h 131932"/>
                  <a:gd name="connsiteX1" fmla="*/ 0 w 131932"/>
                  <a:gd name="connsiteY1" fmla="*/ 65966 h 131932"/>
                  <a:gd name="connsiteX2" fmla="*/ 65966 w 131932"/>
                  <a:gd name="connsiteY2" fmla="*/ 131932 h 131932"/>
                  <a:gd name="connsiteX3" fmla="*/ 131932 w 131932"/>
                  <a:gd name="connsiteY3" fmla="*/ 65966 h 131932"/>
                  <a:gd name="connsiteX4" fmla="*/ 65966 w 131932"/>
                  <a:gd name="connsiteY4" fmla="*/ 0 h 131932"/>
                  <a:gd name="connsiteX5" fmla="*/ 65965 w 131932"/>
                  <a:gd name="connsiteY5" fmla="*/ 102238 h 131932"/>
                  <a:gd name="connsiteX6" fmla="*/ 29693 w 131932"/>
                  <a:gd name="connsiteY6" fmla="*/ 65966 h 131932"/>
                  <a:gd name="connsiteX7" fmla="*/ 65965 w 131932"/>
                  <a:gd name="connsiteY7" fmla="*/ 29694 h 131932"/>
                  <a:gd name="connsiteX8" fmla="*/ 102237 w 131932"/>
                  <a:gd name="connsiteY8" fmla="*/ 65966 h 131932"/>
                  <a:gd name="connsiteX9" fmla="*/ 65965 w 131932"/>
                  <a:gd name="connsiteY9" fmla="*/ 102238 h 131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932" h="131932">
                    <a:moveTo>
                      <a:pt x="65966" y="0"/>
                    </a:moveTo>
                    <a:cubicBezTo>
                      <a:pt x="29592" y="0"/>
                      <a:pt x="0" y="29592"/>
                      <a:pt x="0" y="65966"/>
                    </a:cubicBezTo>
                    <a:cubicBezTo>
                      <a:pt x="-1" y="102340"/>
                      <a:pt x="29592" y="131932"/>
                      <a:pt x="65966" y="131932"/>
                    </a:cubicBezTo>
                    <a:cubicBezTo>
                      <a:pt x="102339" y="131932"/>
                      <a:pt x="131932" y="102340"/>
                      <a:pt x="131932" y="65966"/>
                    </a:cubicBezTo>
                    <a:cubicBezTo>
                      <a:pt x="131932" y="29592"/>
                      <a:pt x="102340" y="0"/>
                      <a:pt x="65966" y="0"/>
                    </a:cubicBezTo>
                    <a:close/>
                    <a:moveTo>
                      <a:pt x="65965" y="102238"/>
                    </a:moveTo>
                    <a:cubicBezTo>
                      <a:pt x="45964" y="102238"/>
                      <a:pt x="29693" y="85967"/>
                      <a:pt x="29693" y="65966"/>
                    </a:cubicBezTo>
                    <a:cubicBezTo>
                      <a:pt x="29693" y="45965"/>
                      <a:pt x="45964" y="29694"/>
                      <a:pt x="65965" y="29694"/>
                    </a:cubicBezTo>
                    <a:cubicBezTo>
                      <a:pt x="85966" y="29694"/>
                      <a:pt x="102237" y="45965"/>
                      <a:pt x="102237" y="65966"/>
                    </a:cubicBezTo>
                    <a:cubicBezTo>
                      <a:pt x="102237" y="85967"/>
                      <a:pt x="85966" y="102238"/>
                      <a:pt x="65965" y="102238"/>
                    </a:cubicBezTo>
                    <a:close/>
                  </a:path>
                </a:pathLst>
              </a:custGeom>
              <a:grpFill/>
              <a:ln w="986"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B7D7C7AC-E9A1-55E7-4D09-256A5E6AC5FA}"/>
                  </a:ext>
                </a:extLst>
              </p:cNvPr>
              <p:cNvSpPr/>
              <p:nvPr/>
            </p:nvSpPr>
            <p:spPr>
              <a:xfrm>
                <a:off x="2648932" y="3849820"/>
                <a:ext cx="176259" cy="176259"/>
              </a:xfrm>
              <a:custGeom>
                <a:avLst/>
                <a:gdLst>
                  <a:gd name="connsiteX0" fmla="*/ 88130 w 176259"/>
                  <a:gd name="connsiteY0" fmla="*/ 0 h 176259"/>
                  <a:gd name="connsiteX1" fmla="*/ 0 w 176259"/>
                  <a:gd name="connsiteY1" fmla="*/ 88130 h 176259"/>
                  <a:gd name="connsiteX2" fmla="*/ 88130 w 176259"/>
                  <a:gd name="connsiteY2" fmla="*/ 176259 h 176259"/>
                  <a:gd name="connsiteX3" fmla="*/ 176259 w 176259"/>
                  <a:gd name="connsiteY3" fmla="*/ 88130 h 176259"/>
                  <a:gd name="connsiteX4" fmla="*/ 88130 w 176259"/>
                  <a:gd name="connsiteY4" fmla="*/ 0 h 176259"/>
                  <a:gd name="connsiteX5" fmla="*/ 88130 w 176259"/>
                  <a:gd name="connsiteY5" fmla="*/ 146565 h 176259"/>
                  <a:gd name="connsiteX6" fmla="*/ 29694 w 176259"/>
                  <a:gd name="connsiteY6" fmla="*/ 88130 h 176259"/>
                  <a:gd name="connsiteX7" fmla="*/ 88130 w 176259"/>
                  <a:gd name="connsiteY7" fmla="*/ 29694 h 176259"/>
                  <a:gd name="connsiteX8" fmla="*/ 146565 w 176259"/>
                  <a:gd name="connsiteY8" fmla="*/ 88130 h 176259"/>
                  <a:gd name="connsiteX9" fmla="*/ 88130 w 176259"/>
                  <a:gd name="connsiteY9" fmla="*/ 146565 h 17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6259" h="176259">
                    <a:moveTo>
                      <a:pt x="88130" y="0"/>
                    </a:moveTo>
                    <a:cubicBezTo>
                      <a:pt x="39535" y="0"/>
                      <a:pt x="0" y="39535"/>
                      <a:pt x="0" y="88130"/>
                    </a:cubicBezTo>
                    <a:cubicBezTo>
                      <a:pt x="0" y="136725"/>
                      <a:pt x="39535" y="176259"/>
                      <a:pt x="88130" y="176259"/>
                    </a:cubicBezTo>
                    <a:cubicBezTo>
                      <a:pt x="136725" y="176259"/>
                      <a:pt x="176259" y="136725"/>
                      <a:pt x="176259" y="88130"/>
                    </a:cubicBezTo>
                    <a:cubicBezTo>
                      <a:pt x="176259" y="39536"/>
                      <a:pt x="136725" y="0"/>
                      <a:pt x="88130" y="0"/>
                    </a:cubicBezTo>
                    <a:close/>
                    <a:moveTo>
                      <a:pt x="88130" y="146565"/>
                    </a:moveTo>
                    <a:cubicBezTo>
                      <a:pt x="55908" y="146565"/>
                      <a:pt x="29694" y="120352"/>
                      <a:pt x="29694" y="88130"/>
                    </a:cubicBezTo>
                    <a:cubicBezTo>
                      <a:pt x="29694" y="55909"/>
                      <a:pt x="55908" y="29694"/>
                      <a:pt x="88130" y="29694"/>
                    </a:cubicBezTo>
                    <a:cubicBezTo>
                      <a:pt x="120352" y="29694"/>
                      <a:pt x="146565" y="55908"/>
                      <a:pt x="146565" y="88130"/>
                    </a:cubicBezTo>
                    <a:cubicBezTo>
                      <a:pt x="146565" y="120352"/>
                      <a:pt x="120352" y="146565"/>
                      <a:pt x="88130" y="146565"/>
                    </a:cubicBezTo>
                    <a:close/>
                  </a:path>
                </a:pathLst>
              </a:custGeom>
              <a:grpFill/>
              <a:ln w="986" cap="flat">
                <a:noFill/>
                <a:prstDash val="solid"/>
                <a:miter/>
              </a:ln>
            </p:spPr>
            <p:txBody>
              <a:bodyPr rtlCol="0" anchor="ctr"/>
              <a:lstStyle/>
              <a:p>
                <a:endParaRPr lang="en-GB"/>
              </a:p>
            </p:txBody>
          </p:sp>
          <p:sp>
            <p:nvSpPr>
              <p:cNvPr id="58" name="Freeform: Shape 57">
                <a:extLst>
                  <a:ext uri="{FF2B5EF4-FFF2-40B4-BE49-F238E27FC236}">
                    <a16:creationId xmlns:a16="http://schemas.microsoft.com/office/drawing/2014/main" id="{5C170C23-B97F-BF5E-11D2-53004A298E68}"/>
                  </a:ext>
                </a:extLst>
              </p:cNvPr>
              <p:cNvSpPr/>
              <p:nvPr/>
            </p:nvSpPr>
            <p:spPr>
              <a:xfrm>
                <a:off x="2825445" y="3931751"/>
                <a:ext cx="131932" cy="131932"/>
              </a:xfrm>
              <a:custGeom>
                <a:avLst/>
                <a:gdLst>
                  <a:gd name="connsiteX0" fmla="*/ 65966 w 131932"/>
                  <a:gd name="connsiteY0" fmla="*/ 0 h 131932"/>
                  <a:gd name="connsiteX1" fmla="*/ 0 w 131932"/>
                  <a:gd name="connsiteY1" fmla="*/ 65966 h 131932"/>
                  <a:gd name="connsiteX2" fmla="*/ 65966 w 131932"/>
                  <a:gd name="connsiteY2" fmla="*/ 131932 h 131932"/>
                  <a:gd name="connsiteX3" fmla="*/ 131932 w 131932"/>
                  <a:gd name="connsiteY3" fmla="*/ 65966 h 131932"/>
                  <a:gd name="connsiteX4" fmla="*/ 65966 w 131932"/>
                  <a:gd name="connsiteY4" fmla="*/ 0 h 131932"/>
                  <a:gd name="connsiteX5" fmla="*/ 65966 w 131932"/>
                  <a:gd name="connsiteY5" fmla="*/ 102238 h 131932"/>
                  <a:gd name="connsiteX6" fmla="*/ 29694 w 131932"/>
                  <a:gd name="connsiteY6" fmla="*/ 65966 h 131932"/>
                  <a:gd name="connsiteX7" fmla="*/ 65966 w 131932"/>
                  <a:gd name="connsiteY7" fmla="*/ 29694 h 131932"/>
                  <a:gd name="connsiteX8" fmla="*/ 102238 w 131932"/>
                  <a:gd name="connsiteY8" fmla="*/ 65966 h 131932"/>
                  <a:gd name="connsiteX9" fmla="*/ 65966 w 131932"/>
                  <a:gd name="connsiteY9" fmla="*/ 102238 h 131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932" h="131932">
                    <a:moveTo>
                      <a:pt x="65966" y="0"/>
                    </a:moveTo>
                    <a:cubicBezTo>
                      <a:pt x="29593" y="0"/>
                      <a:pt x="0" y="29592"/>
                      <a:pt x="0" y="65966"/>
                    </a:cubicBezTo>
                    <a:cubicBezTo>
                      <a:pt x="1" y="102340"/>
                      <a:pt x="29593" y="131932"/>
                      <a:pt x="65966" y="131932"/>
                    </a:cubicBezTo>
                    <a:cubicBezTo>
                      <a:pt x="102340" y="131932"/>
                      <a:pt x="131932" y="102340"/>
                      <a:pt x="131932" y="65966"/>
                    </a:cubicBezTo>
                    <a:cubicBezTo>
                      <a:pt x="131932" y="29592"/>
                      <a:pt x="102340" y="0"/>
                      <a:pt x="65966" y="0"/>
                    </a:cubicBezTo>
                    <a:close/>
                    <a:moveTo>
                      <a:pt x="65966" y="102238"/>
                    </a:moveTo>
                    <a:cubicBezTo>
                      <a:pt x="45966" y="102238"/>
                      <a:pt x="29694" y="85967"/>
                      <a:pt x="29694" y="65966"/>
                    </a:cubicBezTo>
                    <a:cubicBezTo>
                      <a:pt x="29695" y="45965"/>
                      <a:pt x="45966" y="29694"/>
                      <a:pt x="65966" y="29694"/>
                    </a:cubicBezTo>
                    <a:cubicBezTo>
                      <a:pt x="85967" y="29694"/>
                      <a:pt x="102238" y="45965"/>
                      <a:pt x="102238" y="65966"/>
                    </a:cubicBezTo>
                    <a:cubicBezTo>
                      <a:pt x="102238" y="85967"/>
                      <a:pt x="85967" y="102238"/>
                      <a:pt x="65966" y="102238"/>
                    </a:cubicBezTo>
                    <a:close/>
                  </a:path>
                </a:pathLst>
              </a:custGeom>
              <a:grpFill/>
              <a:ln w="986" cap="flat">
                <a:noFill/>
                <a:prstDash val="solid"/>
                <a:miter/>
              </a:ln>
            </p:spPr>
            <p:txBody>
              <a:bodyPr rtlCol="0" anchor="ctr"/>
              <a:lstStyle/>
              <a:p>
                <a:endParaRPr lang="en-GB"/>
              </a:p>
            </p:txBody>
          </p:sp>
        </p:grpSp>
      </p:grpSp>
      <p:grpSp>
        <p:nvGrpSpPr>
          <p:cNvPr id="61" name="Group 60">
            <a:extLst>
              <a:ext uri="{FF2B5EF4-FFF2-40B4-BE49-F238E27FC236}">
                <a16:creationId xmlns:a16="http://schemas.microsoft.com/office/drawing/2014/main" id="{83CC5E54-D24F-98C4-1FDA-DA21E553781A}"/>
              </a:ext>
            </a:extLst>
          </p:cNvPr>
          <p:cNvGrpSpPr/>
          <p:nvPr/>
        </p:nvGrpSpPr>
        <p:grpSpPr>
          <a:xfrm>
            <a:off x="7889480" y="2179609"/>
            <a:ext cx="3137931" cy="3370580"/>
            <a:chOff x="7889480" y="2179609"/>
            <a:chExt cx="3137931" cy="3370580"/>
          </a:xfrm>
        </p:grpSpPr>
        <p:sp>
          <p:nvSpPr>
            <p:cNvPr id="62" name="Rectangle: Rounded Corners 61">
              <a:extLst>
                <a:ext uri="{FF2B5EF4-FFF2-40B4-BE49-F238E27FC236}">
                  <a16:creationId xmlns:a16="http://schemas.microsoft.com/office/drawing/2014/main" id="{5F6B5566-54F4-FF3C-DE95-F515D2EAB4E4}"/>
                </a:ext>
              </a:extLst>
            </p:cNvPr>
            <p:cNvSpPr>
              <a:spLocks/>
            </p:cNvSpPr>
            <p:nvPr/>
          </p:nvSpPr>
          <p:spPr bwMode="auto">
            <a:xfrm>
              <a:off x="7889480" y="2179609"/>
              <a:ext cx="3137931" cy="337058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63" name="TextBox 62">
              <a:extLst>
                <a:ext uri="{FF2B5EF4-FFF2-40B4-BE49-F238E27FC236}">
                  <a16:creationId xmlns:a16="http://schemas.microsoft.com/office/drawing/2014/main" id="{EDEFEBFF-FDE8-EA29-1F94-8D992642DAAD}"/>
                </a:ext>
              </a:extLst>
            </p:cNvPr>
            <p:cNvSpPr txBox="1"/>
            <p:nvPr/>
          </p:nvSpPr>
          <p:spPr>
            <a:xfrm>
              <a:off x="8473867" y="4836928"/>
              <a:ext cx="1969156" cy="276999"/>
            </a:xfrm>
            <a:prstGeom prst="rect">
              <a:avLst/>
            </a:prstGeom>
            <a:noFill/>
          </p:spPr>
          <p:txBody>
            <a:bodyPr wrap="square" lIns="0" tIns="0" rIns="0" bIns="0" rtlCol="0">
              <a:spAutoFit/>
            </a:bodyPr>
            <a:lstStyle/>
            <a:p>
              <a:pPr algn="ctr" defTabSz="609630" fontAlgn="base">
                <a:lnSpc>
                  <a:spcPct val="90000"/>
                </a:lnSpc>
                <a:spcBef>
                  <a:spcPts val="1200"/>
                </a:spcBef>
                <a:spcAft>
                  <a:spcPct val="0"/>
                </a:spcAft>
                <a:defRPr/>
              </a:pPr>
              <a:r>
                <a:rPr lang="en-US" sz="2000">
                  <a:latin typeface="Segoe Sans Text Semibold"/>
                </a:rPr>
                <a:t>Platform</a:t>
              </a:r>
            </a:p>
          </p:txBody>
        </p:sp>
        <p:sp>
          <p:nvSpPr>
            <p:cNvPr id="64" name="Oval 17">
              <a:extLst>
                <a:ext uri="{FF2B5EF4-FFF2-40B4-BE49-F238E27FC236}">
                  <a16:creationId xmlns:a16="http://schemas.microsoft.com/office/drawing/2014/main" id="{0F92BD45-5737-08D0-D39E-2BE3156985A0}"/>
                </a:ext>
              </a:extLst>
            </p:cNvPr>
            <p:cNvSpPr>
              <a:spLocks/>
            </p:cNvSpPr>
            <p:nvPr/>
          </p:nvSpPr>
          <p:spPr bwMode="auto">
            <a:xfrm>
              <a:off x="8956732" y="3543093"/>
              <a:ext cx="1004700" cy="1004990"/>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65" name="Group 64">
              <a:extLst>
                <a:ext uri="{FF2B5EF4-FFF2-40B4-BE49-F238E27FC236}">
                  <a16:creationId xmlns:a16="http://schemas.microsoft.com/office/drawing/2014/main" id="{7CA859CF-4809-576B-5023-A37B2828BE5B}"/>
                </a:ext>
              </a:extLst>
            </p:cNvPr>
            <p:cNvGrpSpPr/>
            <p:nvPr/>
          </p:nvGrpSpPr>
          <p:grpSpPr>
            <a:xfrm>
              <a:off x="9026876" y="3614198"/>
              <a:ext cx="864411" cy="862780"/>
              <a:chOff x="1261672" y="4833937"/>
              <a:chExt cx="954296" cy="954297"/>
            </a:xfrm>
          </p:grpSpPr>
          <p:sp>
            <p:nvSpPr>
              <p:cNvPr id="69" name="Rectangle: Rounded Corners 68">
                <a:extLst>
                  <a:ext uri="{FF2B5EF4-FFF2-40B4-BE49-F238E27FC236}">
                    <a16:creationId xmlns:a16="http://schemas.microsoft.com/office/drawing/2014/main" id="{AFB0C315-D3EA-E6BC-1C7E-1AD258D96807}"/>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chemeClr val="tx1"/>
                  </a:solidFill>
                  <a:effectLst/>
                  <a:uLnTx/>
                  <a:uFillTx/>
                  <a:latin typeface="Segoe Sans Text Semibold"/>
                  <a:ea typeface="+mn-ea"/>
                  <a:cs typeface="+mn-cs"/>
                </a:endParaRPr>
              </a:p>
            </p:txBody>
          </p:sp>
          <p:sp>
            <p:nvSpPr>
              <p:cNvPr id="70" name="Rectangle: Rounded Corners 69">
                <a:extLst>
                  <a:ext uri="{FF2B5EF4-FFF2-40B4-BE49-F238E27FC236}">
                    <a16:creationId xmlns:a16="http://schemas.microsoft.com/office/drawing/2014/main" id="{985AF478-8B12-CB15-6230-9B9589325AF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nvGrpSpPr>
            <p:cNvPr id="66" name="Graphic 232">
              <a:extLst>
                <a:ext uri="{FF2B5EF4-FFF2-40B4-BE49-F238E27FC236}">
                  <a16:creationId xmlns:a16="http://schemas.microsoft.com/office/drawing/2014/main" id="{05D30A26-4715-40A5-12E1-A0EC1E83EAFC}"/>
                </a:ext>
              </a:extLst>
            </p:cNvPr>
            <p:cNvGrpSpPr/>
            <p:nvPr/>
          </p:nvGrpSpPr>
          <p:grpSpPr>
            <a:xfrm>
              <a:off x="9255868" y="3829724"/>
              <a:ext cx="413697" cy="468342"/>
              <a:chOff x="6140960" y="3438019"/>
              <a:chExt cx="544256" cy="616146"/>
            </a:xfrm>
            <a:gradFill>
              <a:gsLst>
                <a:gs pos="0">
                  <a:srgbClr val="C3E9FC"/>
                </a:gs>
                <a:gs pos="100000">
                  <a:srgbClr val="BDF2BD"/>
                </a:gs>
              </a:gsLst>
              <a:lin ang="13500000" scaled="0"/>
            </a:gradFill>
          </p:grpSpPr>
          <p:sp>
            <p:nvSpPr>
              <p:cNvPr id="67" name="Freeform: Shape 66">
                <a:extLst>
                  <a:ext uri="{FF2B5EF4-FFF2-40B4-BE49-F238E27FC236}">
                    <a16:creationId xmlns:a16="http://schemas.microsoft.com/office/drawing/2014/main" id="{03C6E661-5C34-356A-12ED-A05C426F0ADF}"/>
                  </a:ext>
                </a:extLst>
              </p:cNvPr>
              <p:cNvSpPr/>
              <p:nvPr/>
            </p:nvSpPr>
            <p:spPr>
              <a:xfrm>
                <a:off x="6285103" y="3584293"/>
                <a:ext cx="255969" cy="99235"/>
              </a:xfrm>
              <a:custGeom>
                <a:avLst/>
                <a:gdLst>
                  <a:gd name="connsiteX0" fmla="*/ 136919 w 255969"/>
                  <a:gd name="connsiteY0" fmla="*/ 96865 h 99235"/>
                  <a:gd name="connsiteX1" fmla="*/ 194073 w 255969"/>
                  <a:gd name="connsiteY1" fmla="*/ 64163 h 99235"/>
                  <a:gd name="connsiteX2" fmla="*/ 194643 w 255969"/>
                  <a:gd name="connsiteY2" fmla="*/ 63663 h 99235"/>
                  <a:gd name="connsiteX3" fmla="*/ 246996 w 255969"/>
                  <a:gd name="connsiteY3" fmla="*/ 33550 h 99235"/>
                  <a:gd name="connsiteX4" fmla="*/ 253543 w 255969"/>
                  <a:gd name="connsiteY4" fmla="*/ 8993 h 99235"/>
                  <a:gd name="connsiteX5" fmla="*/ 228986 w 255969"/>
                  <a:gd name="connsiteY5" fmla="*/ 2445 h 99235"/>
                  <a:gd name="connsiteX6" fmla="*/ 127985 w 255969"/>
                  <a:gd name="connsiteY6" fmla="*/ 60547 h 99235"/>
                  <a:gd name="connsiteX7" fmla="*/ 26983 w 255969"/>
                  <a:gd name="connsiteY7" fmla="*/ 2446 h 99235"/>
                  <a:gd name="connsiteX8" fmla="*/ 2426 w 255969"/>
                  <a:gd name="connsiteY8" fmla="*/ 8993 h 99235"/>
                  <a:gd name="connsiteX9" fmla="*/ 8973 w 255969"/>
                  <a:gd name="connsiteY9" fmla="*/ 33550 h 99235"/>
                  <a:gd name="connsiteX10" fmla="*/ 61326 w 255969"/>
                  <a:gd name="connsiteY10" fmla="*/ 63663 h 99235"/>
                  <a:gd name="connsiteX11" fmla="*/ 61896 w 255969"/>
                  <a:gd name="connsiteY11" fmla="*/ 64164 h 99235"/>
                  <a:gd name="connsiteX12" fmla="*/ 119050 w 255969"/>
                  <a:gd name="connsiteY12" fmla="*/ 96865 h 99235"/>
                  <a:gd name="connsiteX13" fmla="*/ 127985 w 255969"/>
                  <a:gd name="connsiteY13" fmla="*/ 99235 h 99235"/>
                  <a:gd name="connsiteX14" fmla="*/ 136919 w 255969"/>
                  <a:gd name="connsiteY14" fmla="*/ 96865 h 99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969" h="99235">
                    <a:moveTo>
                      <a:pt x="136919" y="96865"/>
                    </a:moveTo>
                    <a:lnTo>
                      <a:pt x="194073" y="64163"/>
                    </a:lnTo>
                    <a:cubicBezTo>
                      <a:pt x="194301" y="64032"/>
                      <a:pt x="194421" y="63803"/>
                      <a:pt x="194643" y="63663"/>
                    </a:cubicBezTo>
                    <a:lnTo>
                      <a:pt x="246996" y="33550"/>
                    </a:lnTo>
                    <a:cubicBezTo>
                      <a:pt x="255580" y="28582"/>
                      <a:pt x="258528" y="17594"/>
                      <a:pt x="253543" y="8993"/>
                    </a:cubicBezTo>
                    <a:cubicBezTo>
                      <a:pt x="248593" y="392"/>
                      <a:pt x="237605" y="-2575"/>
                      <a:pt x="228986" y="2445"/>
                    </a:cubicBezTo>
                    <a:lnTo>
                      <a:pt x="127985" y="60547"/>
                    </a:lnTo>
                    <a:lnTo>
                      <a:pt x="26983" y="2446"/>
                    </a:lnTo>
                    <a:cubicBezTo>
                      <a:pt x="18312" y="-2575"/>
                      <a:pt x="7376" y="392"/>
                      <a:pt x="2426" y="8993"/>
                    </a:cubicBezTo>
                    <a:cubicBezTo>
                      <a:pt x="-2559" y="17594"/>
                      <a:pt x="390" y="28582"/>
                      <a:pt x="8973" y="33550"/>
                    </a:cubicBezTo>
                    <a:lnTo>
                      <a:pt x="61326" y="63663"/>
                    </a:lnTo>
                    <a:cubicBezTo>
                      <a:pt x="61547" y="63804"/>
                      <a:pt x="61668" y="64032"/>
                      <a:pt x="61896" y="64164"/>
                    </a:cubicBezTo>
                    <a:lnTo>
                      <a:pt x="119050" y="96865"/>
                    </a:lnTo>
                    <a:cubicBezTo>
                      <a:pt x="121823" y="98445"/>
                      <a:pt x="124895" y="99235"/>
                      <a:pt x="127985" y="99235"/>
                    </a:cubicBezTo>
                    <a:cubicBezTo>
                      <a:pt x="131074" y="99235"/>
                      <a:pt x="134146" y="98445"/>
                      <a:pt x="136919" y="96865"/>
                    </a:cubicBezTo>
                    <a:close/>
                  </a:path>
                </a:pathLst>
              </a:custGeom>
              <a:grpFill/>
              <a:ln w="35719" cap="flat">
                <a:noFill/>
                <a:prstDash val="solid"/>
                <a:miter/>
              </a:ln>
            </p:spPr>
            <p:txBody>
              <a:bodyPr rtlCol="0" anchor="ctr"/>
              <a:lstStyle/>
              <a:p>
                <a:endParaRPr lang="en-GB"/>
              </a:p>
            </p:txBody>
          </p:sp>
          <p:sp>
            <p:nvSpPr>
              <p:cNvPr id="68" name="Freeform: Shape 67">
                <a:extLst>
                  <a:ext uri="{FF2B5EF4-FFF2-40B4-BE49-F238E27FC236}">
                    <a16:creationId xmlns:a16="http://schemas.microsoft.com/office/drawing/2014/main" id="{F8054F08-5F52-9C7D-B282-790F5F43F8BA}"/>
                  </a:ext>
                </a:extLst>
              </p:cNvPr>
              <p:cNvSpPr/>
              <p:nvPr/>
            </p:nvSpPr>
            <p:spPr>
              <a:xfrm>
                <a:off x="6140960" y="3438019"/>
                <a:ext cx="544256" cy="616146"/>
              </a:xfrm>
              <a:custGeom>
                <a:avLst/>
                <a:gdLst>
                  <a:gd name="connsiteX0" fmla="*/ 544257 w 544256"/>
                  <a:gd name="connsiteY0" fmla="*/ 308069 h 616146"/>
                  <a:gd name="connsiteX1" fmla="*/ 535252 w 544256"/>
                  <a:gd name="connsiteY1" fmla="*/ 292499 h 616146"/>
                  <a:gd name="connsiteX2" fmla="*/ 437461 w 544256"/>
                  <a:gd name="connsiteY2" fmla="*/ 236131 h 616146"/>
                  <a:gd name="connsiteX3" fmla="*/ 535252 w 544256"/>
                  <a:gd name="connsiteY3" fmla="*/ 179842 h 616146"/>
                  <a:gd name="connsiteX4" fmla="*/ 544257 w 544256"/>
                  <a:gd name="connsiteY4" fmla="*/ 164272 h 616146"/>
                  <a:gd name="connsiteX5" fmla="*/ 535252 w 544256"/>
                  <a:gd name="connsiteY5" fmla="*/ 148703 h 616146"/>
                  <a:gd name="connsiteX6" fmla="*/ 281098 w 544256"/>
                  <a:gd name="connsiteY6" fmla="*/ 2396 h 616146"/>
                  <a:gd name="connsiteX7" fmla="*/ 263159 w 544256"/>
                  <a:gd name="connsiteY7" fmla="*/ 2396 h 616146"/>
                  <a:gd name="connsiteX8" fmla="*/ 9005 w 544256"/>
                  <a:gd name="connsiteY8" fmla="*/ 148703 h 616146"/>
                  <a:gd name="connsiteX9" fmla="*/ 0 w 544256"/>
                  <a:gd name="connsiteY9" fmla="*/ 164272 h 616146"/>
                  <a:gd name="connsiteX10" fmla="*/ 9005 w 544256"/>
                  <a:gd name="connsiteY10" fmla="*/ 179842 h 616146"/>
                  <a:gd name="connsiteX11" fmla="*/ 106797 w 544256"/>
                  <a:gd name="connsiteY11" fmla="*/ 236132 h 616146"/>
                  <a:gd name="connsiteX12" fmla="*/ 9005 w 544256"/>
                  <a:gd name="connsiteY12" fmla="*/ 292499 h 616146"/>
                  <a:gd name="connsiteX13" fmla="*/ 0 w 544256"/>
                  <a:gd name="connsiteY13" fmla="*/ 308069 h 616146"/>
                  <a:gd name="connsiteX14" fmla="*/ 9005 w 544256"/>
                  <a:gd name="connsiteY14" fmla="*/ 323639 h 616146"/>
                  <a:gd name="connsiteX15" fmla="*/ 106788 w 544256"/>
                  <a:gd name="connsiteY15" fmla="*/ 379932 h 616146"/>
                  <a:gd name="connsiteX16" fmla="*/ 9005 w 544256"/>
                  <a:gd name="connsiteY16" fmla="*/ 436296 h 616146"/>
                  <a:gd name="connsiteX17" fmla="*/ 0 w 544256"/>
                  <a:gd name="connsiteY17" fmla="*/ 451866 h 616146"/>
                  <a:gd name="connsiteX18" fmla="*/ 9005 w 544256"/>
                  <a:gd name="connsiteY18" fmla="*/ 467435 h 616146"/>
                  <a:gd name="connsiteX19" fmla="*/ 263159 w 544256"/>
                  <a:gd name="connsiteY19" fmla="*/ 613742 h 616146"/>
                  <a:gd name="connsiteX20" fmla="*/ 272128 w 544256"/>
                  <a:gd name="connsiteY20" fmla="*/ 616147 h 616146"/>
                  <a:gd name="connsiteX21" fmla="*/ 281098 w 544256"/>
                  <a:gd name="connsiteY21" fmla="*/ 613742 h 616146"/>
                  <a:gd name="connsiteX22" fmla="*/ 535252 w 544256"/>
                  <a:gd name="connsiteY22" fmla="*/ 467435 h 616146"/>
                  <a:gd name="connsiteX23" fmla="*/ 544257 w 544256"/>
                  <a:gd name="connsiteY23" fmla="*/ 451866 h 616146"/>
                  <a:gd name="connsiteX24" fmla="*/ 535252 w 544256"/>
                  <a:gd name="connsiteY24" fmla="*/ 436296 h 616146"/>
                  <a:gd name="connsiteX25" fmla="*/ 437469 w 544256"/>
                  <a:gd name="connsiteY25" fmla="*/ 379932 h 616146"/>
                  <a:gd name="connsiteX26" fmla="*/ 535252 w 544256"/>
                  <a:gd name="connsiteY26" fmla="*/ 323639 h 616146"/>
                  <a:gd name="connsiteX27" fmla="*/ 544257 w 544256"/>
                  <a:gd name="connsiteY27" fmla="*/ 308069 h 616146"/>
                  <a:gd name="connsiteX28" fmla="*/ 53994 w 544256"/>
                  <a:gd name="connsiteY28" fmla="*/ 164290 h 616146"/>
                  <a:gd name="connsiteX29" fmla="*/ 272128 w 544256"/>
                  <a:gd name="connsiteY29" fmla="*/ 38714 h 616146"/>
                  <a:gd name="connsiteX30" fmla="*/ 490263 w 544256"/>
                  <a:gd name="connsiteY30" fmla="*/ 164290 h 616146"/>
                  <a:gd name="connsiteX31" fmla="*/ 272128 w 544256"/>
                  <a:gd name="connsiteY31" fmla="*/ 289814 h 616146"/>
                  <a:gd name="connsiteX32" fmla="*/ 490263 w 544256"/>
                  <a:gd name="connsiteY32" fmla="*/ 451848 h 616146"/>
                  <a:gd name="connsiteX33" fmla="*/ 272128 w 544256"/>
                  <a:gd name="connsiteY33" fmla="*/ 577424 h 616146"/>
                  <a:gd name="connsiteX34" fmla="*/ 53994 w 544256"/>
                  <a:gd name="connsiteY34" fmla="*/ 451848 h 616146"/>
                  <a:gd name="connsiteX35" fmla="*/ 142791 w 544256"/>
                  <a:gd name="connsiteY35" fmla="*/ 400658 h 616146"/>
                  <a:gd name="connsiteX36" fmla="*/ 263176 w 544256"/>
                  <a:gd name="connsiteY36" fmla="*/ 469963 h 616146"/>
                  <a:gd name="connsiteX37" fmla="*/ 272128 w 544256"/>
                  <a:gd name="connsiteY37" fmla="*/ 472351 h 616146"/>
                  <a:gd name="connsiteX38" fmla="*/ 281080 w 544256"/>
                  <a:gd name="connsiteY38" fmla="*/ 469963 h 616146"/>
                  <a:gd name="connsiteX39" fmla="*/ 401465 w 544256"/>
                  <a:gd name="connsiteY39" fmla="*/ 400658 h 616146"/>
                  <a:gd name="connsiteX40" fmla="*/ 272128 w 544256"/>
                  <a:gd name="connsiteY40" fmla="*/ 433645 h 616146"/>
                  <a:gd name="connsiteX41" fmla="*/ 53959 w 544256"/>
                  <a:gd name="connsiteY41" fmla="*/ 308069 h 616146"/>
                  <a:gd name="connsiteX42" fmla="*/ 142802 w 544256"/>
                  <a:gd name="connsiteY42" fmla="*/ 256855 h 616146"/>
                  <a:gd name="connsiteX43" fmla="*/ 258858 w 544256"/>
                  <a:gd name="connsiteY43" fmla="*/ 323657 h 616146"/>
                  <a:gd name="connsiteX44" fmla="*/ 258864 w 544256"/>
                  <a:gd name="connsiteY44" fmla="*/ 323659 h 616146"/>
                  <a:gd name="connsiteX45" fmla="*/ 263088 w 544256"/>
                  <a:gd name="connsiteY45" fmla="*/ 326114 h 616146"/>
                  <a:gd name="connsiteX46" fmla="*/ 272128 w 544256"/>
                  <a:gd name="connsiteY46" fmla="*/ 328554 h 616146"/>
                  <a:gd name="connsiteX47" fmla="*/ 281167 w 544256"/>
                  <a:gd name="connsiteY47" fmla="*/ 326114 h 616146"/>
                  <a:gd name="connsiteX48" fmla="*/ 285393 w 544256"/>
                  <a:gd name="connsiteY48" fmla="*/ 323659 h 616146"/>
                  <a:gd name="connsiteX49" fmla="*/ 285398 w 544256"/>
                  <a:gd name="connsiteY49" fmla="*/ 323657 h 616146"/>
                  <a:gd name="connsiteX50" fmla="*/ 401453 w 544256"/>
                  <a:gd name="connsiteY50" fmla="*/ 256855 h 616146"/>
                  <a:gd name="connsiteX51" fmla="*/ 490298 w 544256"/>
                  <a:gd name="connsiteY51" fmla="*/ 308069 h 616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44256" h="616146">
                    <a:moveTo>
                      <a:pt x="544257" y="308069"/>
                    </a:moveTo>
                    <a:cubicBezTo>
                      <a:pt x="544257" y="301645"/>
                      <a:pt x="540834" y="295711"/>
                      <a:pt x="535252" y="292499"/>
                    </a:cubicBezTo>
                    <a:lnTo>
                      <a:pt x="437461" y="236131"/>
                    </a:lnTo>
                    <a:lnTo>
                      <a:pt x="535252" y="179842"/>
                    </a:lnTo>
                    <a:cubicBezTo>
                      <a:pt x="540834" y="176630"/>
                      <a:pt x="544257" y="170697"/>
                      <a:pt x="544257" y="164272"/>
                    </a:cubicBezTo>
                    <a:cubicBezTo>
                      <a:pt x="544257" y="157848"/>
                      <a:pt x="540816" y="151897"/>
                      <a:pt x="535252" y="148703"/>
                    </a:cubicBezTo>
                    <a:lnTo>
                      <a:pt x="281098" y="2396"/>
                    </a:lnTo>
                    <a:cubicBezTo>
                      <a:pt x="275551" y="-799"/>
                      <a:pt x="268705" y="-799"/>
                      <a:pt x="263159" y="2396"/>
                    </a:cubicBezTo>
                    <a:lnTo>
                      <a:pt x="9005" y="148703"/>
                    </a:lnTo>
                    <a:cubicBezTo>
                      <a:pt x="3440" y="151897"/>
                      <a:pt x="0" y="157848"/>
                      <a:pt x="0" y="164272"/>
                    </a:cubicBezTo>
                    <a:cubicBezTo>
                      <a:pt x="0" y="170697"/>
                      <a:pt x="3423" y="176630"/>
                      <a:pt x="9005" y="179842"/>
                    </a:cubicBezTo>
                    <a:lnTo>
                      <a:pt x="106797" y="236132"/>
                    </a:lnTo>
                    <a:lnTo>
                      <a:pt x="9005" y="292499"/>
                    </a:lnTo>
                    <a:cubicBezTo>
                      <a:pt x="3423" y="295711"/>
                      <a:pt x="0" y="301645"/>
                      <a:pt x="0" y="308069"/>
                    </a:cubicBezTo>
                    <a:cubicBezTo>
                      <a:pt x="0" y="314493"/>
                      <a:pt x="3423" y="320427"/>
                      <a:pt x="9005" y="323639"/>
                    </a:cubicBezTo>
                    <a:lnTo>
                      <a:pt x="106788" y="379932"/>
                    </a:lnTo>
                    <a:lnTo>
                      <a:pt x="9005" y="436296"/>
                    </a:lnTo>
                    <a:cubicBezTo>
                      <a:pt x="3423" y="439508"/>
                      <a:pt x="0" y="445441"/>
                      <a:pt x="0" y="451866"/>
                    </a:cubicBezTo>
                    <a:cubicBezTo>
                      <a:pt x="0" y="458290"/>
                      <a:pt x="3440" y="464241"/>
                      <a:pt x="9005" y="467435"/>
                    </a:cubicBezTo>
                    <a:lnTo>
                      <a:pt x="263159" y="613742"/>
                    </a:lnTo>
                    <a:cubicBezTo>
                      <a:pt x="265932" y="615339"/>
                      <a:pt x="269039" y="616147"/>
                      <a:pt x="272128" y="616147"/>
                    </a:cubicBezTo>
                    <a:cubicBezTo>
                      <a:pt x="275218" y="616147"/>
                      <a:pt x="278325" y="615339"/>
                      <a:pt x="281098" y="613742"/>
                    </a:cubicBezTo>
                    <a:lnTo>
                      <a:pt x="535252" y="467435"/>
                    </a:lnTo>
                    <a:cubicBezTo>
                      <a:pt x="540816" y="464241"/>
                      <a:pt x="544257" y="458290"/>
                      <a:pt x="544257" y="451866"/>
                    </a:cubicBezTo>
                    <a:cubicBezTo>
                      <a:pt x="544257" y="445441"/>
                      <a:pt x="540834" y="439508"/>
                      <a:pt x="535252" y="436296"/>
                    </a:cubicBezTo>
                    <a:lnTo>
                      <a:pt x="437469" y="379932"/>
                    </a:lnTo>
                    <a:lnTo>
                      <a:pt x="535252" y="323639"/>
                    </a:lnTo>
                    <a:cubicBezTo>
                      <a:pt x="540834" y="320427"/>
                      <a:pt x="544257" y="314493"/>
                      <a:pt x="544257" y="308069"/>
                    </a:cubicBezTo>
                    <a:close/>
                    <a:moveTo>
                      <a:pt x="53994" y="164290"/>
                    </a:moveTo>
                    <a:lnTo>
                      <a:pt x="272128" y="38714"/>
                    </a:lnTo>
                    <a:lnTo>
                      <a:pt x="490263" y="164290"/>
                    </a:lnTo>
                    <a:lnTo>
                      <a:pt x="272128" y="289814"/>
                    </a:lnTo>
                    <a:close/>
                    <a:moveTo>
                      <a:pt x="490263" y="451848"/>
                    </a:moveTo>
                    <a:lnTo>
                      <a:pt x="272128" y="577424"/>
                    </a:lnTo>
                    <a:lnTo>
                      <a:pt x="53994" y="451848"/>
                    </a:lnTo>
                    <a:lnTo>
                      <a:pt x="142791" y="400658"/>
                    </a:lnTo>
                    <a:lnTo>
                      <a:pt x="263176" y="469963"/>
                    </a:lnTo>
                    <a:cubicBezTo>
                      <a:pt x="265949" y="471561"/>
                      <a:pt x="269039" y="472351"/>
                      <a:pt x="272128" y="472351"/>
                    </a:cubicBezTo>
                    <a:cubicBezTo>
                      <a:pt x="275217" y="472351"/>
                      <a:pt x="278307" y="471561"/>
                      <a:pt x="281080" y="469963"/>
                    </a:cubicBezTo>
                    <a:lnTo>
                      <a:pt x="401465" y="400658"/>
                    </a:lnTo>
                    <a:close/>
                    <a:moveTo>
                      <a:pt x="272128" y="433645"/>
                    </a:moveTo>
                    <a:lnTo>
                      <a:pt x="53959" y="308069"/>
                    </a:lnTo>
                    <a:lnTo>
                      <a:pt x="142802" y="256855"/>
                    </a:lnTo>
                    <a:lnTo>
                      <a:pt x="258858" y="323657"/>
                    </a:lnTo>
                    <a:cubicBezTo>
                      <a:pt x="258860" y="323659"/>
                      <a:pt x="258862" y="323657"/>
                      <a:pt x="258864" y="323659"/>
                    </a:cubicBezTo>
                    <a:lnTo>
                      <a:pt x="263088" y="326114"/>
                    </a:lnTo>
                    <a:cubicBezTo>
                      <a:pt x="265879" y="327746"/>
                      <a:pt x="269003" y="328554"/>
                      <a:pt x="272128" y="328554"/>
                    </a:cubicBezTo>
                    <a:cubicBezTo>
                      <a:pt x="275252" y="328554"/>
                      <a:pt x="278377" y="327746"/>
                      <a:pt x="281167" y="326114"/>
                    </a:cubicBezTo>
                    <a:lnTo>
                      <a:pt x="285393" y="323659"/>
                    </a:lnTo>
                    <a:cubicBezTo>
                      <a:pt x="285395" y="323659"/>
                      <a:pt x="285395" y="323657"/>
                      <a:pt x="285398" y="323657"/>
                    </a:cubicBezTo>
                    <a:lnTo>
                      <a:pt x="401453" y="256855"/>
                    </a:lnTo>
                    <a:lnTo>
                      <a:pt x="490298" y="308069"/>
                    </a:lnTo>
                    <a:close/>
                  </a:path>
                </a:pathLst>
              </a:custGeom>
              <a:grpFill/>
              <a:ln w="35719" cap="flat">
                <a:noFill/>
                <a:prstDash val="solid"/>
                <a:miter/>
              </a:ln>
            </p:spPr>
            <p:txBody>
              <a:bodyPr rtlCol="0" anchor="ctr"/>
              <a:lstStyle/>
              <a:p>
                <a:endParaRPr lang="en-GB"/>
              </a:p>
            </p:txBody>
          </p:sp>
        </p:grpSp>
      </p:grpSp>
      <p:sp>
        <p:nvSpPr>
          <p:cNvPr id="71" name="Title 55">
            <a:extLst>
              <a:ext uri="{FF2B5EF4-FFF2-40B4-BE49-F238E27FC236}">
                <a16:creationId xmlns:a16="http://schemas.microsoft.com/office/drawing/2014/main" id="{D160E0DC-5B87-DF6B-68B0-48B2F6F114A8}"/>
              </a:ext>
            </a:extLst>
          </p:cNvPr>
          <p:cNvSpPr txBox="1">
            <a:spLocks/>
          </p:cNvSpPr>
          <p:nvPr/>
        </p:nvSpPr>
        <p:spPr>
          <a:xfrm>
            <a:off x="1683415" y="1385883"/>
            <a:ext cx="6059120" cy="336328"/>
          </a:xfrm>
          <a:prstGeom prst="rect">
            <a:avLst/>
          </a:prstGeom>
          <a:noFill/>
        </p:spPr>
        <p:txBody>
          <a:bodyPr vert="horz" wrap="square" lIns="0" tIns="0" rIns="0" bIns="0" rtlCol="0" anchor="t">
            <a:noAutofit/>
          </a:bodyPr>
          <a:lstStyle>
            <a:lvl1pPr algn="l" defTabSz="932742" rtl="0" eaLnBrk="1" latinLnBrk="0" hangingPunct="1">
              <a:lnSpc>
                <a:spcPct val="100000"/>
              </a:lnSpc>
              <a:spcBef>
                <a:spcPct val="0"/>
              </a:spcBef>
              <a:buNone/>
              <a:defRPr kumimoji="0" lang="en-GB" sz="3200" b="0" i="0" u="none" strike="noStrike" kern="1200" cap="none" spc="0" normalizeH="0" baseline="0" dirty="0">
                <a:ln>
                  <a:noFill/>
                </a:ln>
                <a:solidFill>
                  <a:srgbClr val="FFFFFF"/>
                </a:solidFill>
                <a:effectLst/>
                <a:uLnTx/>
                <a:uFillTx/>
                <a:latin typeface="Segoe Sans Text Semibold"/>
                <a:ea typeface="+mn-ea"/>
                <a:cs typeface="+mn-cs"/>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Sans Text"/>
              <a:ea typeface="+mn-ea"/>
              <a:cs typeface="+mn-cs"/>
            </a:endParaRPr>
          </a:p>
        </p:txBody>
      </p:sp>
      <p:grpSp>
        <p:nvGrpSpPr>
          <p:cNvPr id="72" name="Group 71">
            <a:extLst>
              <a:ext uri="{FF2B5EF4-FFF2-40B4-BE49-F238E27FC236}">
                <a16:creationId xmlns:a16="http://schemas.microsoft.com/office/drawing/2014/main" id="{C8D2AF7B-340B-00B7-0A67-31A0C03683F7}"/>
              </a:ext>
              <a:ext uri="{C183D7F6-B498-43B3-948B-1728B52AA6E4}">
                <adec:decorative xmlns:adec="http://schemas.microsoft.com/office/drawing/2017/decorative" val="1"/>
              </a:ext>
            </a:extLst>
          </p:cNvPr>
          <p:cNvGrpSpPr/>
          <p:nvPr/>
        </p:nvGrpSpPr>
        <p:grpSpPr>
          <a:xfrm>
            <a:off x="923310" y="2122896"/>
            <a:ext cx="10302410" cy="855058"/>
            <a:chOff x="1208514" y="1824989"/>
            <a:chExt cx="10247833" cy="830353"/>
          </a:xfrm>
          <a:solidFill>
            <a:schemeClr val="accent3">
              <a:lumMod val="20000"/>
              <a:lumOff val="80000"/>
            </a:schemeClr>
          </a:solidFill>
        </p:grpSpPr>
        <p:sp>
          <p:nvSpPr>
            <p:cNvPr id="73" name="Rectangle: Rounded Corners 72">
              <a:extLst>
                <a:ext uri="{FF2B5EF4-FFF2-40B4-BE49-F238E27FC236}">
                  <a16:creationId xmlns:a16="http://schemas.microsoft.com/office/drawing/2014/main" id="{12FA5CE1-DB53-0A0F-D502-364AC41CD201}"/>
                </a:ext>
              </a:extLst>
            </p:cNvPr>
            <p:cNvSpPr/>
            <p:nvPr/>
          </p:nvSpPr>
          <p:spPr bwMode="auto">
            <a:xfrm>
              <a:off x="1208514" y="1824989"/>
              <a:ext cx="10247833" cy="811527"/>
            </a:xfrm>
            <a:prstGeom prst="roundRect">
              <a:avLst>
                <a:gd name="adj" fmla="val 6575"/>
              </a:avLst>
            </a:prstGeom>
            <a:blipFill dpi="0" rotWithShape="1">
              <a:blip r:embed="rId3" cstate="hqprint">
                <a:extLst>
                  <a:ext uri="{28A0092B-C50C-407E-A947-70E740481C1C}">
                    <a14:useLocalDpi xmlns:a14="http://schemas.microsoft.com/office/drawing/2010/main"/>
                  </a:ext>
                </a:extLst>
              </a:blip>
              <a:srcRect/>
              <a:stretch>
                <a:fillRect/>
              </a:stretch>
            </a:blipFill>
            <a:ln w="6350" cap="flat" cmpd="sng" algn="ctr">
              <a:solidFill>
                <a:schemeClr val="bg2">
                  <a:lumMod val="20000"/>
                  <a:lumOff val="80000"/>
                </a:schemeClr>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CA" sz="2400" b="0" i="0" u="none" strike="noStrike" kern="0" cap="none" spc="0" normalizeH="0" baseline="0" noProof="0">
                <a:ln>
                  <a:noFill/>
                </a:ln>
                <a:solidFill>
                  <a:schemeClr val="bg1"/>
                </a:solidFill>
                <a:effectLst/>
                <a:uLnTx/>
                <a:uFillTx/>
                <a:latin typeface="Segoe Sans Text" pitchFamily="2" charset="0"/>
                <a:ea typeface="Segoe UI" pitchFamily="34" charset="0"/>
                <a:cs typeface="Segoe Sans Text" pitchFamily="2" charset="0"/>
              </a:endParaRPr>
            </a:p>
          </p:txBody>
        </p:sp>
        <p:sp>
          <p:nvSpPr>
            <p:cNvPr id="74" name="TextBox 73">
              <a:extLst>
                <a:ext uri="{FF2B5EF4-FFF2-40B4-BE49-F238E27FC236}">
                  <a16:creationId xmlns:a16="http://schemas.microsoft.com/office/drawing/2014/main" id="{BFBE0292-1487-7633-D9BD-2D9363FCEB5D}"/>
                </a:ext>
              </a:extLst>
            </p:cNvPr>
            <p:cNvSpPr txBox="1"/>
            <p:nvPr/>
          </p:nvSpPr>
          <p:spPr>
            <a:xfrm>
              <a:off x="1788545" y="1830423"/>
              <a:ext cx="9087771" cy="824919"/>
            </a:xfrm>
            <a:prstGeom prst="rect">
              <a:avLst/>
            </a:prstGeom>
            <a:noFill/>
          </p:spPr>
          <p:txBody>
            <a:bodyPr wrap="square" lIns="182880" tIns="146304" rIns="182880" bIns="146304" rtlCol="0">
              <a:spAutoFit/>
            </a:bodyPr>
            <a:lstStyle>
              <a:defPPr>
                <a:defRPr lang="en-US"/>
              </a:defPPr>
              <a:lvl1pPr>
                <a:lnSpc>
                  <a:spcPct val="90000"/>
                </a:lnSpc>
                <a:spcAft>
                  <a:spcPts val="600"/>
                </a:spcAft>
                <a:defRPr sz="1100">
                  <a:solidFill>
                    <a:schemeClr val="bg2">
                      <a:lumMod val="60000"/>
                      <a:lumOff val="40000"/>
                    </a:schemeClr>
                  </a:solidFill>
                </a:defRPr>
              </a:lvl1pPr>
            </a:lstStyle>
            <a:p>
              <a:pPr algn="ctr">
                <a:defRPr/>
              </a:pPr>
              <a:r>
                <a:rPr lang="en-US" sz="2000">
                  <a:solidFill>
                    <a:schemeClr val="bg1"/>
                  </a:solidFill>
                </a:rPr>
                <a:t>Bring together </a:t>
              </a:r>
              <a:r>
                <a:rPr lang="en-US" sz="2000">
                  <a:solidFill>
                    <a:schemeClr val="bg1"/>
                  </a:solidFill>
                  <a:latin typeface="+mj-lt"/>
                </a:rPr>
                <a:t>People, Process, and Platform </a:t>
              </a:r>
              <a:r>
                <a:rPr lang="en-US" sz="2000">
                  <a:solidFill>
                    <a:schemeClr val="bg1"/>
                  </a:solidFill>
                </a:rPr>
                <a:t>to automate LLM-infused software delivery &amp; provide continuous value to your users</a:t>
              </a:r>
            </a:p>
          </p:txBody>
        </p:sp>
      </p:grpSp>
    </p:spTree>
    <p:extLst>
      <p:ext uri="{BB962C8B-B14F-4D97-AF65-F5344CB8AC3E}">
        <p14:creationId xmlns:p14="http://schemas.microsoft.com/office/powerpoint/2010/main" val="32479630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500"/>
                                        <p:tgtEl>
                                          <p:spTgt spid="72"/>
                                        </p:tgtEl>
                                      </p:cBhvr>
                                    </p:animEffect>
                                    <p:anim calcmode="lin" valueType="num">
                                      <p:cBhvr>
                                        <p:cTn id="8" dur="500" fill="hold"/>
                                        <p:tgtEl>
                                          <p:spTgt spid="72"/>
                                        </p:tgtEl>
                                        <p:attrNameLst>
                                          <p:attrName>ppt_x</p:attrName>
                                        </p:attrNameLst>
                                      </p:cBhvr>
                                      <p:tavLst>
                                        <p:tav tm="0">
                                          <p:val>
                                            <p:strVal val="#ppt_x"/>
                                          </p:val>
                                        </p:tav>
                                        <p:tav tm="100000">
                                          <p:val>
                                            <p:strVal val="#ppt_x"/>
                                          </p:val>
                                        </p:tav>
                                      </p:tavLst>
                                    </p:anim>
                                    <p:anim calcmode="lin" valueType="num">
                                      <p:cBhvr>
                                        <p:cTn id="9" dur="500" fill="hold"/>
                                        <p:tgtEl>
                                          <p:spTgt spid="72"/>
                                        </p:tgtEl>
                                        <p:attrNameLst>
                                          <p:attrName>ppt_y</p:attrName>
                                        </p:attrNameLst>
                                      </p:cBhvr>
                                      <p:tavLst>
                                        <p:tav tm="0">
                                          <p:val>
                                            <p:strVal val="#ppt_y+.1"/>
                                          </p:val>
                                        </p:tav>
                                        <p:tav tm="100000">
                                          <p:val>
                                            <p:strVal val="#ppt_y"/>
                                          </p:val>
                                        </p:tav>
                                      </p:tavLst>
                                    </p:anim>
                                  </p:childTnLst>
                                </p:cTn>
                              </p:par>
                              <p:par>
                                <p:cTn id="10" presetID="23" presetClass="entr" presetSubtype="272" fill="hold" nodeType="withEffect">
                                  <p:stCondLst>
                                    <p:cond delay="250"/>
                                  </p:stCondLst>
                                  <p:childTnLst>
                                    <p:set>
                                      <p:cBhvr>
                                        <p:cTn id="11" dur="1" fill="hold">
                                          <p:stCondLst>
                                            <p:cond delay="0"/>
                                          </p:stCondLst>
                                        </p:cTn>
                                        <p:tgtEl>
                                          <p:spTgt spid="49"/>
                                        </p:tgtEl>
                                        <p:attrNameLst>
                                          <p:attrName>style.visibility</p:attrName>
                                        </p:attrNameLst>
                                      </p:cBhvr>
                                      <p:to>
                                        <p:strVal val="visible"/>
                                      </p:to>
                                    </p:set>
                                    <p:anim calcmode="lin" valueType="num">
                                      <p:cBhvr>
                                        <p:cTn id="12" dur="250" fill="hold"/>
                                        <p:tgtEl>
                                          <p:spTgt spid="49"/>
                                        </p:tgtEl>
                                        <p:attrNameLst>
                                          <p:attrName>ppt_w</p:attrName>
                                        </p:attrNameLst>
                                      </p:cBhvr>
                                      <p:tavLst>
                                        <p:tav tm="0">
                                          <p:val>
                                            <p:strVal val="2/3*#ppt_w"/>
                                          </p:val>
                                        </p:tav>
                                        <p:tav tm="100000">
                                          <p:val>
                                            <p:strVal val="#ppt_w"/>
                                          </p:val>
                                        </p:tav>
                                      </p:tavLst>
                                    </p:anim>
                                    <p:anim calcmode="lin" valueType="num">
                                      <p:cBhvr>
                                        <p:cTn id="13" dur="250" fill="hold"/>
                                        <p:tgtEl>
                                          <p:spTgt spid="49"/>
                                        </p:tgtEl>
                                        <p:attrNameLst>
                                          <p:attrName>ppt_h</p:attrName>
                                        </p:attrNameLst>
                                      </p:cBhvr>
                                      <p:tavLst>
                                        <p:tav tm="0">
                                          <p:val>
                                            <p:strVal val="2/3*#ppt_h"/>
                                          </p:val>
                                        </p:tav>
                                        <p:tav tm="100000">
                                          <p:val>
                                            <p:strVal val="#ppt_h"/>
                                          </p:val>
                                        </p:tav>
                                      </p:tavLst>
                                    </p:anim>
                                  </p:childTnLst>
                                </p:cTn>
                              </p:par>
                              <p:par>
                                <p:cTn id="14" presetID="10" presetClass="entr" presetSubtype="0" fill="hold" nodeType="withEffect">
                                  <p:stCondLst>
                                    <p:cond delay="250"/>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500"/>
                                        <p:tgtEl>
                                          <p:spTgt spid="49"/>
                                        </p:tgtEl>
                                      </p:cBhvr>
                                    </p:animEffect>
                                  </p:childTnLst>
                                </p:cTn>
                              </p:par>
                              <p:par>
                                <p:cTn id="17" presetID="6" presetClass="emph" presetSubtype="0" fill="hold" nodeType="withEffect">
                                  <p:stCondLst>
                                    <p:cond delay="250"/>
                                  </p:stCondLst>
                                  <p:childTnLst>
                                    <p:animScale>
                                      <p:cBhvr>
                                        <p:cTn id="18" dur="10" fill="hold"/>
                                        <p:tgtEl>
                                          <p:spTgt spid="49"/>
                                        </p:tgtEl>
                                      </p:cBhvr>
                                      <p:by x="80000" y="80000"/>
                                    </p:animScale>
                                  </p:childTnLst>
                                </p:cTn>
                              </p:par>
                              <p:par>
                                <p:cTn id="19" presetID="6" presetClass="emph" presetSubtype="0" decel="100000" fill="hold" nodeType="withEffect">
                                  <p:stCondLst>
                                    <p:cond delay="250"/>
                                  </p:stCondLst>
                                  <p:childTnLst>
                                    <p:animScale>
                                      <p:cBhvr>
                                        <p:cTn id="20" dur="1000" fill="hold"/>
                                        <p:tgtEl>
                                          <p:spTgt spid="49"/>
                                        </p:tgtEl>
                                      </p:cBhvr>
                                      <p:by x="125000" y="125000"/>
                                    </p:animScale>
                                  </p:childTnLst>
                                </p:cTn>
                              </p:par>
                              <p:par>
                                <p:cTn id="21" presetID="23" presetClass="entr" presetSubtype="272" fill="hold" nodeType="withEffect">
                                  <p:stCondLst>
                                    <p:cond delay="350"/>
                                  </p:stCondLst>
                                  <p:childTnLst>
                                    <p:set>
                                      <p:cBhvr>
                                        <p:cTn id="22" dur="1" fill="hold">
                                          <p:stCondLst>
                                            <p:cond delay="0"/>
                                          </p:stCondLst>
                                        </p:cTn>
                                        <p:tgtEl>
                                          <p:spTgt spid="41"/>
                                        </p:tgtEl>
                                        <p:attrNameLst>
                                          <p:attrName>style.visibility</p:attrName>
                                        </p:attrNameLst>
                                      </p:cBhvr>
                                      <p:to>
                                        <p:strVal val="visible"/>
                                      </p:to>
                                    </p:set>
                                    <p:anim calcmode="lin" valueType="num">
                                      <p:cBhvr>
                                        <p:cTn id="23" dur="250" fill="hold"/>
                                        <p:tgtEl>
                                          <p:spTgt spid="41"/>
                                        </p:tgtEl>
                                        <p:attrNameLst>
                                          <p:attrName>ppt_w</p:attrName>
                                        </p:attrNameLst>
                                      </p:cBhvr>
                                      <p:tavLst>
                                        <p:tav tm="0">
                                          <p:val>
                                            <p:strVal val="2/3*#ppt_w"/>
                                          </p:val>
                                        </p:tav>
                                        <p:tav tm="100000">
                                          <p:val>
                                            <p:strVal val="#ppt_w"/>
                                          </p:val>
                                        </p:tav>
                                      </p:tavLst>
                                    </p:anim>
                                    <p:anim calcmode="lin" valueType="num">
                                      <p:cBhvr>
                                        <p:cTn id="24" dur="250" fill="hold"/>
                                        <p:tgtEl>
                                          <p:spTgt spid="41"/>
                                        </p:tgtEl>
                                        <p:attrNameLst>
                                          <p:attrName>ppt_h</p:attrName>
                                        </p:attrNameLst>
                                      </p:cBhvr>
                                      <p:tavLst>
                                        <p:tav tm="0">
                                          <p:val>
                                            <p:strVal val="2/3*#ppt_h"/>
                                          </p:val>
                                        </p:tav>
                                        <p:tav tm="100000">
                                          <p:val>
                                            <p:strVal val="#ppt_h"/>
                                          </p:val>
                                        </p:tav>
                                      </p:tavLst>
                                    </p:anim>
                                  </p:childTnLst>
                                </p:cTn>
                              </p:par>
                              <p:par>
                                <p:cTn id="25" presetID="10" presetClass="entr" presetSubtype="0" fill="hold" nodeType="withEffect">
                                  <p:stCondLst>
                                    <p:cond delay="35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par>
                                <p:cTn id="28" presetID="6" presetClass="emph" presetSubtype="0" fill="hold" nodeType="withEffect">
                                  <p:stCondLst>
                                    <p:cond delay="350"/>
                                  </p:stCondLst>
                                  <p:childTnLst>
                                    <p:animScale>
                                      <p:cBhvr>
                                        <p:cTn id="29" dur="10" fill="hold"/>
                                        <p:tgtEl>
                                          <p:spTgt spid="41"/>
                                        </p:tgtEl>
                                      </p:cBhvr>
                                      <p:by x="80000" y="80000"/>
                                    </p:animScale>
                                  </p:childTnLst>
                                </p:cTn>
                              </p:par>
                              <p:par>
                                <p:cTn id="30" presetID="6" presetClass="emph" presetSubtype="0" decel="100000" fill="hold" nodeType="withEffect">
                                  <p:stCondLst>
                                    <p:cond delay="350"/>
                                  </p:stCondLst>
                                  <p:childTnLst>
                                    <p:animScale>
                                      <p:cBhvr>
                                        <p:cTn id="31" dur="1000" fill="hold"/>
                                        <p:tgtEl>
                                          <p:spTgt spid="41"/>
                                        </p:tgtEl>
                                      </p:cBhvr>
                                      <p:by x="125000" y="125000"/>
                                    </p:animScale>
                                  </p:childTnLst>
                                </p:cTn>
                              </p:par>
                              <p:par>
                                <p:cTn id="32" presetID="23" presetClass="entr" presetSubtype="272" fill="hold" nodeType="withEffect">
                                  <p:stCondLst>
                                    <p:cond delay="450"/>
                                  </p:stCondLst>
                                  <p:childTnLst>
                                    <p:set>
                                      <p:cBhvr>
                                        <p:cTn id="33" dur="1" fill="hold">
                                          <p:stCondLst>
                                            <p:cond delay="0"/>
                                          </p:stCondLst>
                                        </p:cTn>
                                        <p:tgtEl>
                                          <p:spTgt spid="61"/>
                                        </p:tgtEl>
                                        <p:attrNameLst>
                                          <p:attrName>style.visibility</p:attrName>
                                        </p:attrNameLst>
                                      </p:cBhvr>
                                      <p:to>
                                        <p:strVal val="visible"/>
                                      </p:to>
                                    </p:set>
                                    <p:anim calcmode="lin" valueType="num">
                                      <p:cBhvr>
                                        <p:cTn id="34" dur="250" fill="hold"/>
                                        <p:tgtEl>
                                          <p:spTgt spid="61"/>
                                        </p:tgtEl>
                                        <p:attrNameLst>
                                          <p:attrName>ppt_w</p:attrName>
                                        </p:attrNameLst>
                                      </p:cBhvr>
                                      <p:tavLst>
                                        <p:tav tm="0">
                                          <p:val>
                                            <p:strVal val="2/3*#ppt_w"/>
                                          </p:val>
                                        </p:tav>
                                        <p:tav tm="100000">
                                          <p:val>
                                            <p:strVal val="#ppt_w"/>
                                          </p:val>
                                        </p:tav>
                                      </p:tavLst>
                                    </p:anim>
                                    <p:anim calcmode="lin" valueType="num">
                                      <p:cBhvr>
                                        <p:cTn id="35" dur="250" fill="hold"/>
                                        <p:tgtEl>
                                          <p:spTgt spid="61"/>
                                        </p:tgtEl>
                                        <p:attrNameLst>
                                          <p:attrName>ppt_h</p:attrName>
                                        </p:attrNameLst>
                                      </p:cBhvr>
                                      <p:tavLst>
                                        <p:tav tm="0">
                                          <p:val>
                                            <p:strVal val="2/3*#ppt_h"/>
                                          </p:val>
                                        </p:tav>
                                        <p:tav tm="100000">
                                          <p:val>
                                            <p:strVal val="#ppt_h"/>
                                          </p:val>
                                        </p:tav>
                                      </p:tavLst>
                                    </p:anim>
                                  </p:childTnLst>
                                </p:cTn>
                              </p:par>
                              <p:par>
                                <p:cTn id="36" presetID="10" presetClass="entr" presetSubtype="0" fill="hold" nodeType="withEffect">
                                  <p:stCondLst>
                                    <p:cond delay="450"/>
                                  </p:stCondLst>
                                  <p:childTnLst>
                                    <p:set>
                                      <p:cBhvr>
                                        <p:cTn id="37" dur="1" fill="hold">
                                          <p:stCondLst>
                                            <p:cond delay="0"/>
                                          </p:stCondLst>
                                        </p:cTn>
                                        <p:tgtEl>
                                          <p:spTgt spid="61"/>
                                        </p:tgtEl>
                                        <p:attrNameLst>
                                          <p:attrName>style.visibility</p:attrName>
                                        </p:attrNameLst>
                                      </p:cBhvr>
                                      <p:to>
                                        <p:strVal val="visible"/>
                                      </p:to>
                                    </p:set>
                                    <p:animEffect transition="in" filter="fade">
                                      <p:cBhvr>
                                        <p:cTn id="38" dur="500"/>
                                        <p:tgtEl>
                                          <p:spTgt spid="61"/>
                                        </p:tgtEl>
                                      </p:cBhvr>
                                    </p:animEffect>
                                  </p:childTnLst>
                                </p:cTn>
                              </p:par>
                              <p:par>
                                <p:cTn id="39" presetID="6" presetClass="emph" presetSubtype="0" fill="hold" nodeType="withEffect">
                                  <p:stCondLst>
                                    <p:cond delay="450"/>
                                  </p:stCondLst>
                                  <p:childTnLst>
                                    <p:animScale>
                                      <p:cBhvr>
                                        <p:cTn id="40" dur="10" fill="hold"/>
                                        <p:tgtEl>
                                          <p:spTgt spid="61"/>
                                        </p:tgtEl>
                                      </p:cBhvr>
                                      <p:by x="80000" y="80000"/>
                                    </p:animScale>
                                  </p:childTnLst>
                                </p:cTn>
                              </p:par>
                              <p:par>
                                <p:cTn id="41" presetID="6" presetClass="emph" presetSubtype="0" decel="100000" fill="hold" nodeType="withEffect">
                                  <p:stCondLst>
                                    <p:cond delay="450"/>
                                  </p:stCondLst>
                                  <p:childTnLst>
                                    <p:animScale>
                                      <p:cBhvr>
                                        <p:cTn id="42" dur="1000" fill="hold"/>
                                        <p:tgtEl>
                                          <p:spTgt spid="61"/>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75112-273B-5086-765E-A9EC4ADD8910}"/>
              </a:ext>
            </a:extLst>
          </p:cNvPr>
          <p:cNvSpPr>
            <a:spLocks noGrp="1"/>
          </p:cNvSpPr>
          <p:nvPr>
            <p:ph type="title"/>
          </p:nvPr>
        </p:nvSpPr>
        <p:spPr/>
        <p:txBody>
          <a:bodyPr/>
          <a:lstStyle/>
          <a:p>
            <a:r>
              <a:rPr lang="en-US"/>
              <a:t>“Operating Model” Importance</a:t>
            </a:r>
          </a:p>
        </p:txBody>
      </p:sp>
      <p:sp>
        <p:nvSpPr>
          <p:cNvPr id="4" name="Slide Number Placeholder 3">
            <a:extLst>
              <a:ext uri="{FF2B5EF4-FFF2-40B4-BE49-F238E27FC236}">
                <a16:creationId xmlns:a16="http://schemas.microsoft.com/office/drawing/2014/main" id="{C462702E-7239-062D-60C9-DF9958CE4B78}"/>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5" name="Picture 4">
            <a:extLst>
              <a:ext uri="{FF2B5EF4-FFF2-40B4-BE49-F238E27FC236}">
                <a16:creationId xmlns:a16="http://schemas.microsoft.com/office/drawing/2014/main" id="{56CD2526-3B77-4323-B6D9-30943DEFEF57}"/>
              </a:ext>
            </a:extLst>
          </p:cNvPr>
          <p:cNvPicPr>
            <a:picLocks noChangeAspect="1"/>
          </p:cNvPicPr>
          <p:nvPr/>
        </p:nvPicPr>
        <p:blipFill>
          <a:blip r:embed="rId3">
            <a:alphaModFix amt="35000"/>
            <a:extLst>
              <a:ext uri="{BEBA8EAE-BF5A-486C-A8C5-ECC9F3942E4B}">
                <a14:imgProps xmlns:a14="http://schemas.microsoft.com/office/drawing/2010/main">
                  <a14:imgLayer r:embed="rId4">
                    <a14:imgEffect>
                      <a14:artisticBlur radius="25"/>
                    </a14:imgEffect>
                  </a14:imgLayer>
                </a14:imgProps>
              </a:ext>
            </a:extLst>
          </a:blip>
          <a:srcRect l="6531" t="35217" r="56935" b="25837"/>
          <a:stretch/>
        </p:blipFill>
        <p:spPr>
          <a:xfrm>
            <a:off x="661603" y="3793484"/>
            <a:ext cx="2399654" cy="1328617"/>
          </a:xfrm>
          <a:prstGeom prst="rect">
            <a:avLst/>
          </a:prstGeom>
        </p:spPr>
      </p:pic>
      <p:sp>
        <p:nvSpPr>
          <p:cNvPr id="6" name="Free-form: Shape 58">
            <a:extLst>
              <a:ext uri="{FF2B5EF4-FFF2-40B4-BE49-F238E27FC236}">
                <a16:creationId xmlns:a16="http://schemas.microsoft.com/office/drawing/2014/main" id="{19C7142E-2C80-3C2D-075A-A8DCE33D13A7}"/>
              </a:ext>
            </a:extLst>
          </p:cNvPr>
          <p:cNvSpPr>
            <a:spLocks/>
          </p:cNvSpPr>
          <p:nvPr/>
        </p:nvSpPr>
        <p:spPr bwMode="auto">
          <a:xfrm>
            <a:off x="3442030" y="2669843"/>
            <a:ext cx="2426837" cy="2452258"/>
          </a:xfrm>
          <a:custGeom>
            <a:avLst/>
            <a:gdLst>
              <a:gd name="connsiteX0" fmla="*/ 160572 w 4742247"/>
              <a:gd name="connsiteY0" fmla="*/ 0 h 4791921"/>
              <a:gd name="connsiteX1" fmla="*/ 4581675 w 4742247"/>
              <a:gd name="connsiteY1" fmla="*/ 0 h 4791921"/>
              <a:gd name="connsiteX2" fmla="*/ 4742247 w 4742247"/>
              <a:gd name="connsiteY2" fmla="*/ 160572 h 4791921"/>
              <a:gd name="connsiteX3" fmla="*/ 4742247 w 4742247"/>
              <a:gd name="connsiteY3" fmla="*/ 1644945 h 4791921"/>
              <a:gd name="connsiteX4" fmla="*/ 4704143 w 4742247"/>
              <a:gd name="connsiteY4" fmla="*/ 1665633 h 4791921"/>
              <a:gd name="connsiteX5" fmla="*/ 4330698 w 4742247"/>
              <a:gd name="connsiteY5" fmla="*/ 2368203 h 4791921"/>
              <a:gd name="connsiteX6" fmla="*/ 4704143 w 4742247"/>
              <a:gd name="connsiteY6" fmla="*/ 3070774 h 4791921"/>
              <a:gd name="connsiteX7" fmla="*/ 4742247 w 4742247"/>
              <a:gd name="connsiteY7" fmla="*/ 3091462 h 4791921"/>
              <a:gd name="connsiteX8" fmla="*/ 4742247 w 4742247"/>
              <a:gd name="connsiteY8" fmla="*/ 4631349 h 4791921"/>
              <a:gd name="connsiteX9" fmla="*/ 4581675 w 4742247"/>
              <a:gd name="connsiteY9" fmla="*/ 4791921 h 4791921"/>
              <a:gd name="connsiteX10" fmla="*/ 160572 w 4742247"/>
              <a:gd name="connsiteY10" fmla="*/ 4791921 h 4791921"/>
              <a:gd name="connsiteX11" fmla="*/ 0 w 4742247"/>
              <a:gd name="connsiteY11" fmla="*/ 4631349 h 4791921"/>
              <a:gd name="connsiteX12" fmla="*/ 0 w 4742247"/>
              <a:gd name="connsiteY12" fmla="*/ 3128810 h 4791921"/>
              <a:gd name="connsiteX13" fmla="*/ 106894 w 4742247"/>
              <a:gd name="connsiteY13" fmla="*/ 3070774 h 4791921"/>
              <a:gd name="connsiteX14" fmla="*/ 480339 w 4742247"/>
              <a:gd name="connsiteY14" fmla="*/ 2368203 h 4791921"/>
              <a:gd name="connsiteX15" fmla="*/ 106894 w 4742247"/>
              <a:gd name="connsiteY15" fmla="*/ 1665633 h 4791921"/>
              <a:gd name="connsiteX16" fmla="*/ 0 w 4742247"/>
              <a:gd name="connsiteY16" fmla="*/ 1607596 h 4791921"/>
              <a:gd name="connsiteX17" fmla="*/ 0 w 4742247"/>
              <a:gd name="connsiteY17" fmla="*/ 160572 h 4791921"/>
              <a:gd name="connsiteX18" fmla="*/ 160572 w 4742247"/>
              <a:gd name="connsiteY18" fmla="*/ 0 h 479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42247" h="4791921">
                <a:moveTo>
                  <a:pt x="160572" y="0"/>
                </a:moveTo>
                <a:lnTo>
                  <a:pt x="4581675" y="0"/>
                </a:lnTo>
                <a:cubicBezTo>
                  <a:pt x="4670356" y="0"/>
                  <a:pt x="4742247" y="71891"/>
                  <a:pt x="4742247" y="160572"/>
                </a:cubicBezTo>
                <a:lnTo>
                  <a:pt x="4742247" y="1644945"/>
                </a:lnTo>
                <a:lnTo>
                  <a:pt x="4704143" y="1665633"/>
                </a:lnTo>
                <a:cubicBezTo>
                  <a:pt x="4478833" y="1817894"/>
                  <a:pt x="4330698" y="2075744"/>
                  <a:pt x="4330698" y="2368203"/>
                </a:cubicBezTo>
                <a:cubicBezTo>
                  <a:pt x="4330698" y="2660663"/>
                  <a:pt x="4478833" y="2918513"/>
                  <a:pt x="4704143" y="3070774"/>
                </a:cubicBezTo>
                <a:lnTo>
                  <a:pt x="4742247" y="3091462"/>
                </a:lnTo>
                <a:lnTo>
                  <a:pt x="4742247" y="4631349"/>
                </a:lnTo>
                <a:cubicBezTo>
                  <a:pt x="4742247" y="4720030"/>
                  <a:pt x="4670356" y="4791921"/>
                  <a:pt x="4581675" y="4791921"/>
                </a:cubicBezTo>
                <a:lnTo>
                  <a:pt x="160572" y="4791921"/>
                </a:lnTo>
                <a:cubicBezTo>
                  <a:pt x="71891" y="4791921"/>
                  <a:pt x="0" y="4720030"/>
                  <a:pt x="0" y="4631349"/>
                </a:cubicBezTo>
                <a:lnTo>
                  <a:pt x="0" y="3128810"/>
                </a:lnTo>
                <a:lnTo>
                  <a:pt x="106894" y="3070774"/>
                </a:lnTo>
                <a:cubicBezTo>
                  <a:pt x="332204" y="2918513"/>
                  <a:pt x="480339" y="2660663"/>
                  <a:pt x="480339" y="2368203"/>
                </a:cubicBezTo>
                <a:cubicBezTo>
                  <a:pt x="480339" y="2075744"/>
                  <a:pt x="332204" y="1817894"/>
                  <a:pt x="106894" y="1665633"/>
                </a:cubicBezTo>
                <a:lnTo>
                  <a:pt x="0" y="1607596"/>
                </a:lnTo>
                <a:lnTo>
                  <a:pt x="0" y="160572"/>
                </a:lnTo>
                <a:cubicBezTo>
                  <a:pt x="0" y="71891"/>
                  <a:pt x="71891" y="0"/>
                  <a:pt x="160572" y="0"/>
                </a:cubicBezTo>
                <a:close/>
              </a:path>
            </a:pathLst>
          </a:custGeom>
          <a:solidFill>
            <a:schemeClr val="accent2"/>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GB" sz="2000">
              <a:solidFill>
                <a:srgbClr val="FFFFFF"/>
              </a:solidFill>
              <a:latin typeface="Segoe Sans Text"/>
              <a:cs typeface="Segoe Sans Text" pitchFamily="2" charset="0"/>
            </a:endParaRPr>
          </a:p>
        </p:txBody>
      </p:sp>
      <p:sp>
        <p:nvSpPr>
          <p:cNvPr id="7" name="Free-form: Shape 50">
            <a:extLst>
              <a:ext uri="{FF2B5EF4-FFF2-40B4-BE49-F238E27FC236}">
                <a16:creationId xmlns:a16="http://schemas.microsoft.com/office/drawing/2014/main" id="{3B667A16-BB32-9DCB-259B-33EF0A973B16}"/>
              </a:ext>
            </a:extLst>
          </p:cNvPr>
          <p:cNvSpPr>
            <a:spLocks/>
          </p:cNvSpPr>
          <p:nvPr/>
        </p:nvSpPr>
        <p:spPr bwMode="auto">
          <a:xfrm>
            <a:off x="634787" y="2669843"/>
            <a:ext cx="2426837" cy="2452258"/>
          </a:xfrm>
          <a:custGeom>
            <a:avLst/>
            <a:gdLst>
              <a:gd name="connsiteX0" fmla="*/ 160572 w 4742247"/>
              <a:gd name="connsiteY0" fmla="*/ 0 h 4791921"/>
              <a:gd name="connsiteX1" fmla="*/ 4581675 w 4742247"/>
              <a:gd name="connsiteY1" fmla="*/ 0 h 4791921"/>
              <a:gd name="connsiteX2" fmla="*/ 4742247 w 4742247"/>
              <a:gd name="connsiteY2" fmla="*/ 160572 h 4791921"/>
              <a:gd name="connsiteX3" fmla="*/ 4742247 w 4742247"/>
              <a:gd name="connsiteY3" fmla="*/ 1627812 h 4791921"/>
              <a:gd name="connsiteX4" fmla="*/ 4672588 w 4742247"/>
              <a:gd name="connsiteY4" fmla="*/ 1665633 h 4791921"/>
              <a:gd name="connsiteX5" fmla="*/ 4299142 w 4742247"/>
              <a:gd name="connsiteY5" fmla="*/ 2368203 h 4791921"/>
              <a:gd name="connsiteX6" fmla="*/ 4672588 w 4742247"/>
              <a:gd name="connsiteY6" fmla="*/ 3070774 h 4791921"/>
              <a:gd name="connsiteX7" fmla="*/ 4742247 w 4742247"/>
              <a:gd name="connsiteY7" fmla="*/ 3108595 h 4791921"/>
              <a:gd name="connsiteX8" fmla="*/ 4742247 w 4742247"/>
              <a:gd name="connsiteY8" fmla="*/ 4631349 h 4791921"/>
              <a:gd name="connsiteX9" fmla="*/ 4581675 w 4742247"/>
              <a:gd name="connsiteY9" fmla="*/ 4791921 h 4791921"/>
              <a:gd name="connsiteX10" fmla="*/ 160572 w 4742247"/>
              <a:gd name="connsiteY10" fmla="*/ 4791921 h 4791921"/>
              <a:gd name="connsiteX11" fmla="*/ 0 w 4742247"/>
              <a:gd name="connsiteY11" fmla="*/ 4631349 h 4791921"/>
              <a:gd name="connsiteX12" fmla="*/ 0 w 4742247"/>
              <a:gd name="connsiteY12" fmla="*/ 160572 h 4791921"/>
              <a:gd name="connsiteX13" fmla="*/ 160572 w 4742247"/>
              <a:gd name="connsiteY13" fmla="*/ 0 h 479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2247" h="4791921">
                <a:moveTo>
                  <a:pt x="160572" y="0"/>
                </a:moveTo>
                <a:lnTo>
                  <a:pt x="4581675" y="0"/>
                </a:lnTo>
                <a:cubicBezTo>
                  <a:pt x="4670356" y="0"/>
                  <a:pt x="4742247" y="71891"/>
                  <a:pt x="4742247" y="160572"/>
                </a:cubicBezTo>
                <a:lnTo>
                  <a:pt x="4742247" y="1627812"/>
                </a:lnTo>
                <a:lnTo>
                  <a:pt x="4672588" y="1665633"/>
                </a:lnTo>
                <a:cubicBezTo>
                  <a:pt x="4447277" y="1817894"/>
                  <a:pt x="4299142" y="2075744"/>
                  <a:pt x="4299142" y="2368203"/>
                </a:cubicBezTo>
                <a:cubicBezTo>
                  <a:pt x="4299142" y="2660663"/>
                  <a:pt x="4447277" y="2918513"/>
                  <a:pt x="4672588" y="3070774"/>
                </a:cubicBezTo>
                <a:lnTo>
                  <a:pt x="4742247" y="3108595"/>
                </a:lnTo>
                <a:lnTo>
                  <a:pt x="4742247" y="4631349"/>
                </a:lnTo>
                <a:cubicBezTo>
                  <a:pt x="4742247" y="4720030"/>
                  <a:pt x="4670356" y="4791921"/>
                  <a:pt x="4581675" y="4791921"/>
                </a:cubicBezTo>
                <a:lnTo>
                  <a:pt x="160572" y="4791921"/>
                </a:lnTo>
                <a:cubicBezTo>
                  <a:pt x="71891" y="4791921"/>
                  <a:pt x="0" y="4720030"/>
                  <a:pt x="0" y="4631349"/>
                </a:cubicBezTo>
                <a:lnTo>
                  <a:pt x="0" y="160572"/>
                </a:lnTo>
                <a:cubicBezTo>
                  <a:pt x="0" y="71891"/>
                  <a:pt x="71891" y="0"/>
                  <a:pt x="160572" y="0"/>
                </a:cubicBezTo>
                <a:close/>
              </a:path>
            </a:pathLst>
          </a:custGeom>
          <a:solidFill>
            <a:srgbClr val="103D5A"/>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GB" sz="2000">
              <a:solidFill>
                <a:srgbClr val="FFFFFF"/>
              </a:solidFill>
              <a:latin typeface="Segoe Sans Text"/>
              <a:cs typeface="Segoe Sans Text" pitchFamily="2" charset="0"/>
            </a:endParaRPr>
          </a:p>
        </p:txBody>
      </p:sp>
      <p:sp>
        <p:nvSpPr>
          <p:cNvPr id="8" name="Free-form: Shape 50">
            <a:extLst>
              <a:ext uri="{FF2B5EF4-FFF2-40B4-BE49-F238E27FC236}">
                <a16:creationId xmlns:a16="http://schemas.microsoft.com/office/drawing/2014/main" id="{87113887-224A-5A7D-5D31-C69EBC1122A3}"/>
              </a:ext>
            </a:extLst>
          </p:cNvPr>
          <p:cNvSpPr>
            <a:spLocks/>
          </p:cNvSpPr>
          <p:nvPr/>
        </p:nvSpPr>
        <p:spPr bwMode="auto">
          <a:xfrm>
            <a:off x="634787" y="2669843"/>
            <a:ext cx="2426837" cy="2452258"/>
          </a:xfrm>
          <a:custGeom>
            <a:avLst/>
            <a:gdLst>
              <a:gd name="connsiteX0" fmla="*/ 160572 w 4742247"/>
              <a:gd name="connsiteY0" fmla="*/ 0 h 4791921"/>
              <a:gd name="connsiteX1" fmla="*/ 4581675 w 4742247"/>
              <a:gd name="connsiteY1" fmla="*/ 0 h 4791921"/>
              <a:gd name="connsiteX2" fmla="*/ 4742247 w 4742247"/>
              <a:gd name="connsiteY2" fmla="*/ 160572 h 4791921"/>
              <a:gd name="connsiteX3" fmla="*/ 4742247 w 4742247"/>
              <a:gd name="connsiteY3" fmla="*/ 1627812 h 4791921"/>
              <a:gd name="connsiteX4" fmla="*/ 4672588 w 4742247"/>
              <a:gd name="connsiteY4" fmla="*/ 1665633 h 4791921"/>
              <a:gd name="connsiteX5" fmla="*/ 4299142 w 4742247"/>
              <a:gd name="connsiteY5" fmla="*/ 2368203 h 4791921"/>
              <a:gd name="connsiteX6" fmla="*/ 4672588 w 4742247"/>
              <a:gd name="connsiteY6" fmla="*/ 3070774 h 4791921"/>
              <a:gd name="connsiteX7" fmla="*/ 4742247 w 4742247"/>
              <a:gd name="connsiteY7" fmla="*/ 3108595 h 4791921"/>
              <a:gd name="connsiteX8" fmla="*/ 4742247 w 4742247"/>
              <a:gd name="connsiteY8" fmla="*/ 4631349 h 4791921"/>
              <a:gd name="connsiteX9" fmla="*/ 4581675 w 4742247"/>
              <a:gd name="connsiteY9" fmla="*/ 4791921 h 4791921"/>
              <a:gd name="connsiteX10" fmla="*/ 160572 w 4742247"/>
              <a:gd name="connsiteY10" fmla="*/ 4791921 h 4791921"/>
              <a:gd name="connsiteX11" fmla="*/ 0 w 4742247"/>
              <a:gd name="connsiteY11" fmla="*/ 4631349 h 4791921"/>
              <a:gd name="connsiteX12" fmla="*/ 0 w 4742247"/>
              <a:gd name="connsiteY12" fmla="*/ 160572 h 4791921"/>
              <a:gd name="connsiteX13" fmla="*/ 160572 w 4742247"/>
              <a:gd name="connsiteY13" fmla="*/ 0 h 479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2247" h="4791921">
                <a:moveTo>
                  <a:pt x="160572" y="0"/>
                </a:moveTo>
                <a:lnTo>
                  <a:pt x="4581675" y="0"/>
                </a:lnTo>
                <a:cubicBezTo>
                  <a:pt x="4670356" y="0"/>
                  <a:pt x="4742247" y="71891"/>
                  <a:pt x="4742247" y="160572"/>
                </a:cubicBezTo>
                <a:lnTo>
                  <a:pt x="4742247" y="1627812"/>
                </a:lnTo>
                <a:lnTo>
                  <a:pt x="4672588" y="1665633"/>
                </a:lnTo>
                <a:cubicBezTo>
                  <a:pt x="4447277" y="1817894"/>
                  <a:pt x="4299142" y="2075744"/>
                  <a:pt x="4299142" y="2368203"/>
                </a:cubicBezTo>
                <a:cubicBezTo>
                  <a:pt x="4299142" y="2660663"/>
                  <a:pt x="4447277" y="2918513"/>
                  <a:pt x="4672588" y="3070774"/>
                </a:cubicBezTo>
                <a:lnTo>
                  <a:pt x="4742247" y="3108595"/>
                </a:lnTo>
                <a:lnTo>
                  <a:pt x="4742247" y="4631349"/>
                </a:lnTo>
                <a:cubicBezTo>
                  <a:pt x="4742247" y="4720030"/>
                  <a:pt x="4670356" y="4791921"/>
                  <a:pt x="4581675" y="4791921"/>
                </a:cubicBezTo>
                <a:lnTo>
                  <a:pt x="160572" y="4791921"/>
                </a:lnTo>
                <a:cubicBezTo>
                  <a:pt x="71891" y="4791921"/>
                  <a:pt x="0" y="4720030"/>
                  <a:pt x="0" y="4631349"/>
                </a:cubicBezTo>
                <a:lnTo>
                  <a:pt x="0" y="160572"/>
                </a:lnTo>
                <a:cubicBezTo>
                  <a:pt x="0" y="71891"/>
                  <a:pt x="71891" y="0"/>
                  <a:pt x="160572" y="0"/>
                </a:cubicBezTo>
                <a:close/>
              </a:path>
            </a:pathLst>
          </a:custGeom>
          <a:solidFill>
            <a:schemeClr val="accent2"/>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GB" sz="2000">
              <a:solidFill>
                <a:srgbClr val="FFFFFF"/>
              </a:solidFill>
              <a:latin typeface="Segoe Sans Text"/>
              <a:cs typeface="Segoe Sans Text" pitchFamily="2" charset="0"/>
            </a:endParaRPr>
          </a:p>
        </p:txBody>
      </p:sp>
      <p:grpSp>
        <p:nvGrpSpPr>
          <p:cNvPr id="9" name="Group 8">
            <a:extLst>
              <a:ext uri="{FF2B5EF4-FFF2-40B4-BE49-F238E27FC236}">
                <a16:creationId xmlns:a16="http://schemas.microsoft.com/office/drawing/2014/main" id="{540D00A7-BC64-201E-6584-27220D08B9EE}"/>
              </a:ext>
            </a:extLst>
          </p:cNvPr>
          <p:cNvGrpSpPr/>
          <p:nvPr/>
        </p:nvGrpSpPr>
        <p:grpSpPr>
          <a:xfrm>
            <a:off x="1296870" y="2106079"/>
            <a:ext cx="1102671" cy="1102989"/>
            <a:chOff x="1600003" y="1811018"/>
            <a:chExt cx="1641521" cy="1641995"/>
          </a:xfrm>
        </p:grpSpPr>
        <p:sp>
          <p:nvSpPr>
            <p:cNvPr id="10" name="Oval 17">
              <a:extLst>
                <a:ext uri="{FF2B5EF4-FFF2-40B4-BE49-F238E27FC236}">
                  <a16:creationId xmlns:a16="http://schemas.microsoft.com/office/drawing/2014/main" id="{64526177-3BE5-3CED-A9E4-732CC971C593}"/>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11" name="Group 10">
              <a:extLst>
                <a:ext uri="{FF2B5EF4-FFF2-40B4-BE49-F238E27FC236}">
                  <a16:creationId xmlns:a16="http://schemas.microsoft.com/office/drawing/2014/main" id="{52CB9287-94AE-D67D-8D3E-5F3B3A9E3CC7}"/>
                </a:ext>
              </a:extLst>
            </p:cNvPr>
            <p:cNvGrpSpPr/>
            <p:nvPr/>
          </p:nvGrpSpPr>
          <p:grpSpPr>
            <a:xfrm>
              <a:off x="1714608" y="1927192"/>
              <a:ext cx="1412311" cy="1409646"/>
              <a:chOff x="1261672" y="4833937"/>
              <a:chExt cx="954296" cy="954297"/>
            </a:xfrm>
          </p:grpSpPr>
          <p:sp>
            <p:nvSpPr>
              <p:cNvPr id="12" name="Rectangle: Rounded Corners 11">
                <a:extLst>
                  <a:ext uri="{FF2B5EF4-FFF2-40B4-BE49-F238E27FC236}">
                    <a16:creationId xmlns:a16="http://schemas.microsoft.com/office/drawing/2014/main" id="{761A88ED-C6F7-733A-55D9-58CE04551444}"/>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3" name="Rectangle: Rounded Corners 12">
                <a:extLst>
                  <a:ext uri="{FF2B5EF4-FFF2-40B4-BE49-F238E27FC236}">
                    <a16:creationId xmlns:a16="http://schemas.microsoft.com/office/drawing/2014/main" id="{11EAFFBC-1363-B4B0-7EBE-7AEBE5DE17B8}"/>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14" name="TextBox 13">
            <a:extLst>
              <a:ext uri="{FF2B5EF4-FFF2-40B4-BE49-F238E27FC236}">
                <a16:creationId xmlns:a16="http://schemas.microsoft.com/office/drawing/2014/main" id="{5D471EF0-E262-31E0-7822-658DD4A44620}"/>
              </a:ext>
            </a:extLst>
          </p:cNvPr>
          <p:cNvSpPr txBox="1"/>
          <p:nvPr/>
        </p:nvSpPr>
        <p:spPr>
          <a:xfrm>
            <a:off x="751909" y="3591108"/>
            <a:ext cx="2192592" cy="263149"/>
          </a:xfrm>
          <a:prstGeom prst="rect">
            <a:avLst/>
          </a:prstGeom>
          <a:noFill/>
        </p:spPr>
        <p:txBody>
          <a:bodyPr wrap="square" lIns="0" tIns="0" rIns="0" bIns="0" rtlCol="0">
            <a:spAutoFit/>
          </a:bodyPr>
          <a:lstStyle/>
          <a:p>
            <a:pPr algn="ctr" defTabSz="609630" fontAlgn="base">
              <a:lnSpc>
                <a:spcPct val="90000"/>
              </a:lnSpc>
              <a:spcBef>
                <a:spcPts val="1200"/>
              </a:spcBef>
              <a:spcAft>
                <a:spcPct val="0"/>
              </a:spcAft>
              <a:defRPr/>
            </a:pPr>
            <a:r>
              <a:rPr lang="en-IN" sz="1900" b="1">
                <a:gradFill>
                  <a:gsLst>
                    <a:gs pos="0">
                      <a:srgbClr val="BDF2BD"/>
                    </a:gs>
                    <a:gs pos="100000">
                      <a:srgbClr val="C3E9FC"/>
                    </a:gs>
                  </a:gsLst>
                  <a:lin ang="5400000" scaled="1"/>
                </a:gradFill>
              </a:rPr>
              <a:t>Control</a:t>
            </a:r>
            <a:endParaRPr lang="en-US" sz="1900" b="1">
              <a:solidFill>
                <a:srgbClr val="FFFFFF"/>
              </a:solidFill>
            </a:endParaRPr>
          </a:p>
        </p:txBody>
      </p:sp>
      <p:grpSp>
        <p:nvGrpSpPr>
          <p:cNvPr id="15" name="Group 14">
            <a:extLst>
              <a:ext uri="{FF2B5EF4-FFF2-40B4-BE49-F238E27FC236}">
                <a16:creationId xmlns:a16="http://schemas.microsoft.com/office/drawing/2014/main" id="{4F14E542-680B-7BAD-0C12-96DB298207ED}"/>
              </a:ext>
            </a:extLst>
          </p:cNvPr>
          <p:cNvGrpSpPr/>
          <p:nvPr/>
        </p:nvGrpSpPr>
        <p:grpSpPr>
          <a:xfrm>
            <a:off x="2932102" y="3543408"/>
            <a:ext cx="647655" cy="647842"/>
            <a:chOff x="5660733" y="4542971"/>
            <a:chExt cx="1490912" cy="1491344"/>
          </a:xfrm>
          <a:effectLst>
            <a:outerShdw blurRad="50800" dist="38100" dir="2700000" algn="tl" rotWithShape="0">
              <a:prstClr val="black">
                <a:alpha val="22000"/>
              </a:prstClr>
            </a:outerShdw>
          </a:effectLst>
        </p:grpSpPr>
        <p:sp>
          <p:nvSpPr>
            <p:cNvPr id="16" name="Oval 15">
              <a:extLst>
                <a:ext uri="{FF2B5EF4-FFF2-40B4-BE49-F238E27FC236}">
                  <a16:creationId xmlns:a16="http://schemas.microsoft.com/office/drawing/2014/main" id="{650F1183-B0A1-57ED-EEAD-C245E971B18B}"/>
                </a:ext>
              </a:extLst>
            </p:cNvPr>
            <p:cNvSpPr>
              <a:spLocks/>
            </p:cNvSpPr>
            <p:nvPr/>
          </p:nvSpPr>
          <p:spPr bwMode="auto">
            <a:xfrm>
              <a:off x="5660733" y="4542971"/>
              <a:ext cx="1490912" cy="1491344"/>
            </a:xfrm>
            <a:prstGeom prst="ellipse">
              <a:avLst/>
            </a:prstGeom>
            <a:solidFill>
              <a:schemeClr val="bg1"/>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sp>
          <p:nvSpPr>
            <p:cNvPr id="17" name="Graphic 83">
              <a:extLst>
                <a:ext uri="{FF2B5EF4-FFF2-40B4-BE49-F238E27FC236}">
                  <a16:creationId xmlns:a16="http://schemas.microsoft.com/office/drawing/2014/main" id="{5B7F86BE-53B5-0F98-7D8C-C8B2F91DA51B}"/>
                </a:ext>
              </a:extLst>
            </p:cNvPr>
            <p:cNvSpPr/>
            <p:nvPr/>
          </p:nvSpPr>
          <p:spPr>
            <a:xfrm rot="16200000">
              <a:off x="6117375" y="5030111"/>
              <a:ext cx="622078" cy="517064"/>
            </a:xfrm>
            <a:custGeom>
              <a:avLst/>
              <a:gdLst>
                <a:gd name="connsiteX0" fmla="*/ 219046 w 219046"/>
                <a:gd name="connsiteY0" fmla="*/ 4761 h 182068"/>
                <a:gd name="connsiteX1" fmla="*/ 219046 w 219046"/>
                <a:gd name="connsiteY1" fmla="*/ 72932 h 182068"/>
                <a:gd name="connsiteX2" fmla="*/ 217656 w 219046"/>
                <a:gd name="connsiteY2" fmla="*/ 76304 h 182068"/>
                <a:gd name="connsiteX3" fmla="*/ 113043 w 219046"/>
                <a:gd name="connsiteY3" fmla="*/ 180679 h 182068"/>
                <a:gd name="connsiteX4" fmla="*/ 106318 w 219046"/>
                <a:gd name="connsiteY4" fmla="*/ 180679 h 182068"/>
                <a:gd name="connsiteX5" fmla="*/ 1448 w 219046"/>
                <a:gd name="connsiteY5" fmla="*/ 76351 h 182068"/>
                <a:gd name="connsiteX6" fmla="*/ 0 w 219046"/>
                <a:gd name="connsiteY6" fmla="*/ 72932 h 182068"/>
                <a:gd name="connsiteX7" fmla="*/ 0 w 219046"/>
                <a:gd name="connsiteY7" fmla="*/ 4800 h 182068"/>
                <a:gd name="connsiteX8" fmla="*/ 4782 w 219046"/>
                <a:gd name="connsiteY8" fmla="*/ 57 h 182068"/>
                <a:gd name="connsiteX9" fmla="*/ 8115 w 219046"/>
                <a:gd name="connsiteY9" fmla="*/ 1437 h 182068"/>
                <a:gd name="connsiteX10" fmla="*/ 107994 w 219046"/>
                <a:gd name="connsiteY10" fmla="*/ 101240 h 182068"/>
                <a:gd name="connsiteX11" fmla="*/ 111366 w 219046"/>
                <a:gd name="connsiteY11" fmla="*/ 101240 h 182068"/>
                <a:gd name="connsiteX12" fmla="*/ 210912 w 219046"/>
                <a:gd name="connsiteY12" fmla="*/ 1399 h 182068"/>
                <a:gd name="connsiteX13" fmla="*/ 217647 w 219046"/>
                <a:gd name="connsiteY13" fmla="*/ 1391 h 182068"/>
                <a:gd name="connsiteX14" fmla="*/ 219046 w 219046"/>
                <a:gd name="connsiteY14" fmla="*/ 4761 h 18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9046" h="182068">
                  <a:moveTo>
                    <a:pt x="219046" y="4761"/>
                  </a:moveTo>
                  <a:lnTo>
                    <a:pt x="219046" y="72932"/>
                  </a:lnTo>
                  <a:cubicBezTo>
                    <a:pt x="219048" y="74196"/>
                    <a:pt x="218548" y="75408"/>
                    <a:pt x="217656" y="76304"/>
                  </a:cubicBezTo>
                  <a:lnTo>
                    <a:pt x="113043" y="180679"/>
                  </a:lnTo>
                  <a:cubicBezTo>
                    <a:pt x="111184" y="182531"/>
                    <a:pt x="108176" y="182531"/>
                    <a:pt x="106318" y="180679"/>
                  </a:cubicBezTo>
                  <a:lnTo>
                    <a:pt x="1448" y="76351"/>
                  </a:lnTo>
                  <a:cubicBezTo>
                    <a:pt x="522" y="75454"/>
                    <a:pt x="0" y="74221"/>
                    <a:pt x="0" y="72932"/>
                  </a:cubicBezTo>
                  <a:lnTo>
                    <a:pt x="0" y="4800"/>
                  </a:lnTo>
                  <a:cubicBezTo>
                    <a:pt x="11" y="2169"/>
                    <a:pt x="2152" y="46"/>
                    <a:pt x="4782" y="57"/>
                  </a:cubicBezTo>
                  <a:cubicBezTo>
                    <a:pt x="6031" y="62"/>
                    <a:pt x="7228" y="558"/>
                    <a:pt x="8115" y="1437"/>
                  </a:cubicBezTo>
                  <a:lnTo>
                    <a:pt x="107994" y="101240"/>
                  </a:lnTo>
                  <a:cubicBezTo>
                    <a:pt x="108927" y="102168"/>
                    <a:pt x="110434" y="102168"/>
                    <a:pt x="111366" y="101240"/>
                  </a:cubicBezTo>
                  <a:lnTo>
                    <a:pt x="210912" y="1399"/>
                  </a:lnTo>
                  <a:cubicBezTo>
                    <a:pt x="212769" y="-463"/>
                    <a:pt x="215785" y="-467"/>
                    <a:pt x="217647" y="1391"/>
                  </a:cubicBezTo>
                  <a:cubicBezTo>
                    <a:pt x="218543" y="2284"/>
                    <a:pt x="219046" y="3497"/>
                    <a:pt x="219046" y="4761"/>
                  </a:cubicBezTo>
                  <a:close/>
                </a:path>
              </a:pathLst>
            </a:custGeom>
            <a:solidFill>
              <a:schemeClr val="accent2"/>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pPr>
              <a:endParaRPr lang="en-GB" sz="1333">
                <a:solidFill>
                  <a:srgbClr val="FFFFFF"/>
                </a:solidFill>
                <a:latin typeface="Segoe Sans Text" pitchFamily="2" charset="0"/>
                <a:cs typeface="Segoe Sans Text" pitchFamily="2" charset="0"/>
              </a:endParaRPr>
            </a:p>
          </p:txBody>
        </p:sp>
      </p:grpSp>
      <p:grpSp>
        <p:nvGrpSpPr>
          <p:cNvPr id="18" name="Group 17">
            <a:extLst>
              <a:ext uri="{FF2B5EF4-FFF2-40B4-BE49-F238E27FC236}">
                <a16:creationId xmlns:a16="http://schemas.microsoft.com/office/drawing/2014/main" id="{250470CA-80BC-B535-0E0C-063185B0084C}"/>
              </a:ext>
            </a:extLst>
          </p:cNvPr>
          <p:cNvGrpSpPr/>
          <p:nvPr/>
        </p:nvGrpSpPr>
        <p:grpSpPr>
          <a:xfrm>
            <a:off x="4104113" y="2106079"/>
            <a:ext cx="1102671" cy="1102989"/>
            <a:chOff x="5275240" y="1811018"/>
            <a:chExt cx="1641521" cy="1641995"/>
          </a:xfrm>
        </p:grpSpPr>
        <p:sp>
          <p:nvSpPr>
            <p:cNvPr id="19" name="Oval 20">
              <a:extLst>
                <a:ext uri="{FF2B5EF4-FFF2-40B4-BE49-F238E27FC236}">
                  <a16:creationId xmlns:a16="http://schemas.microsoft.com/office/drawing/2014/main" id="{0B3BF219-2275-8380-EED9-0800E66E2FF0}"/>
                </a:ext>
              </a:extLst>
            </p:cNvPr>
            <p:cNvSpPr>
              <a:spLocks/>
            </p:cNvSpPr>
            <p:nvPr/>
          </p:nvSpPr>
          <p:spPr bwMode="auto">
            <a:xfrm>
              <a:off x="5275240"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20" name="Group 19">
              <a:extLst>
                <a:ext uri="{FF2B5EF4-FFF2-40B4-BE49-F238E27FC236}">
                  <a16:creationId xmlns:a16="http://schemas.microsoft.com/office/drawing/2014/main" id="{8BF0DDAA-C643-B7F5-EF2B-03FA643228A4}"/>
                </a:ext>
              </a:extLst>
            </p:cNvPr>
            <p:cNvGrpSpPr/>
            <p:nvPr/>
          </p:nvGrpSpPr>
          <p:grpSpPr>
            <a:xfrm>
              <a:off x="5389845" y="1927192"/>
              <a:ext cx="1412311" cy="1409646"/>
              <a:chOff x="1261672" y="4833937"/>
              <a:chExt cx="954296" cy="954297"/>
            </a:xfrm>
          </p:grpSpPr>
          <p:sp>
            <p:nvSpPr>
              <p:cNvPr id="21" name="Rectangle: Rounded Corners 20">
                <a:extLst>
                  <a:ext uri="{FF2B5EF4-FFF2-40B4-BE49-F238E27FC236}">
                    <a16:creationId xmlns:a16="http://schemas.microsoft.com/office/drawing/2014/main" id="{F6599FFD-D8A3-3451-DB08-411F1C5B7DAC}"/>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2" name="Rectangle: Rounded Corners 21">
                <a:extLst>
                  <a:ext uri="{FF2B5EF4-FFF2-40B4-BE49-F238E27FC236}">
                    <a16:creationId xmlns:a16="http://schemas.microsoft.com/office/drawing/2014/main" id="{73AC7A2D-76F6-186A-4561-322EEFD02A0B}"/>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23" name="TextBox 22">
            <a:extLst>
              <a:ext uri="{FF2B5EF4-FFF2-40B4-BE49-F238E27FC236}">
                <a16:creationId xmlns:a16="http://schemas.microsoft.com/office/drawing/2014/main" id="{4F10FBC9-7540-029E-A436-18400AF5D37D}"/>
              </a:ext>
            </a:extLst>
          </p:cNvPr>
          <p:cNvSpPr txBox="1"/>
          <p:nvPr/>
        </p:nvSpPr>
        <p:spPr>
          <a:xfrm>
            <a:off x="3671778" y="3591108"/>
            <a:ext cx="1967340" cy="263149"/>
          </a:xfrm>
          <a:prstGeom prst="rect">
            <a:avLst/>
          </a:prstGeom>
          <a:noFill/>
        </p:spPr>
        <p:txBody>
          <a:bodyPr wrap="square" lIns="0" tIns="0" rIns="0" bIns="0" rtlCol="0">
            <a:spAutoFit/>
          </a:bodyPr>
          <a:lstStyle/>
          <a:p>
            <a:pPr marR="0" indent="0" algn="ctr" defTabSz="609630" fontAlgn="base">
              <a:lnSpc>
                <a:spcPct val="90000"/>
              </a:lnSpc>
              <a:spcBef>
                <a:spcPts val="1200"/>
              </a:spcBef>
              <a:spcAft>
                <a:spcPct val="0"/>
              </a:spcAft>
              <a:buClrTx/>
              <a:buSzTx/>
              <a:buFont typeface="Arial" panose="020B0604020202020204" pitchFamily="34" charset="0"/>
              <a:buNone/>
              <a:tabLst/>
              <a:defRPr/>
            </a:pPr>
            <a:r>
              <a:rPr lang="en-US" sz="1900" b="1">
                <a:gradFill>
                  <a:gsLst>
                    <a:gs pos="0">
                      <a:srgbClr val="BDF2BD"/>
                    </a:gs>
                    <a:gs pos="100000">
                      <a:srgbClr val="C3E9FC"/>
                    </a:gs>
                  </a:gsLst>
                  <a:lin ang="5400000" scaled="1"/>
                </a:gradFill>
              </a:rPr>
              <a:t>Innovation</a:t>
            </a:r>
            <a:endParaRPr lang="en-US" sz="1900" b="1">
              <a:solidFill>
                <a:srgbClr val="FFFFFF"/>
              </a:solidFill>
            </a:endParaRPr>
          </a:p>
        </p:txBody>
      </p:sp>
      <p:sp>
        <p:nvSpPr>
          <p:cNvPr id="24" name="Free-form: Shape 58">
            <a:extLst>
              <a:ext uri="{FF2B5EF4-FFF2-40B4-BE49-F238E27FC236}">
                <a16:creationId xmlns:a16="http://schemas.microsoft.com/office/drawing/2014/main" id="{053A2119-1AF6-01EB-7901-BABC5233A3C8}"/>
              </a:ext>
            </a:extLst>
          </p:cNvPr>
          <p:cNvSpPr>
            <a:spLocks/>
          </p:cNvSpPr>
          <p:nvPr/>
        </p:nvSpPr>
        <p:spPr bwMode="auto">
          <a:xfrm>
            <a:off x="6273643" y="2669843"/>
            <a:ext cx="2426837" cy="2452258"/>
          </a:xfrm>
          <a:custGeom>
            <a:avLst/>
            <a:gdLst>
              <a:gd name="connsiteX0" fmla="*/ 160572 w 4742247"/>
              <a:gd name="connsiteY0" fmla="*/ 0 h 4791921"/>
              <a:gd name="connsiteX1" fmla="*/ 4581675 w 4742247"/>
              <a:gd name="connsiteY1" fmla="*/ 0 h 4791921"/>
              <a:gd name="connsiteX2" fmla="*/ 4742247 w 4742247"/>
              <a:gd name="connsiteY2" fmla="*/ 160572 h 4791921"/>
              <a:gd name="connsiteX3" fmla="*/ 4742247 w 4742247"/>
              <a:gd name="connsiteY3" fmla="*/ 1644945 h 4791921"/>
              <a:gd name="connsiteX4" fmla="*/ 4704143 w 4742247"/>
              <a:gd name="connsiteY4" fmla="*/ 1665633 h 4791921"/>
              <a:gd name="connsiteX5" fmla="*/ 4330698 w 4742247"/>
              <a:gd name="connsiteY5" fmla="*/ 2368203 h 4791921"/>
              <a:gd name="connsiteX6" fmla="*/ 4704143 w 4742247"/>
              <a:gd name="connsiteY6" fmla="*/ 3070774 h 4791921"/>
              <a:gd name="connsiteX7" fmla="*/ 4742247 w 4742247"/>
              <a:gd name="connsiteY7" fmla="*/ 3091462 h 4791921"/>
              <a:gd name="connsiteX8" fmla="*/ 4742247 w 4742247"/>
              <a:gd name="connsiteY8" fmla="*/ 4631349 h 4791921"/>
              <a:gd name="connsiteX9" fmla="*/ 4581675 w 4742247"/>
              <a:gd name="connsiteY9" fmla="*/ 4791921 h 4791921"/>
              <a:gd name="connsiteX10" fmla="*/ 160572 w 4742247"/>
              <a:gd name="connsiteY10" fmla="*/ 4791921 h 4791921"/>
              <a:gd name="connsiteX11" fmla="*/ 0 w 4742247"/>
              <a:gd name="connsiteY11" fmla="*/ 4631349 h 4791921"/>
              <a:gd name="connsiteX12" fmla="*/ 0 w 4742247"/>
              <a:gd name="connsiteY12" fmla="*/ 3128810 h 4791921"/>
              <a:gd name="connsiteX13" fmla="*/ 106894 w 4742247"/>
              <a:gd name="connsiteY13" fmla="*/ 3070774 h 4791921"/>
              <a:gd name="connsiteX14" fmla="*/ 480339 w 4742247"/>
              <a:gd name="connsiteY14" fmla="*/ 2368203 h 4791921"/>
              <a:gd name="connsiteX15" fmla="*/ 106894 w 4742247"/>
              <a:gd name="connsiteY15" fmla="*/ 1665633 h 4791921"/>
              <a:gd name="connsiteX16" fmla="*/ 0 w 4742247"/>
              <a:gd name="connsiteY16" fmla="*/ 1607596 h 4791921"/>
              <a:gd name="connsiteX17" fmla="*/ 0 w 4742247"/>
              <a:gd name="connsiteY17" fmla="*/ 160572 h 4791921"/>
              <a:gd name="connsiteX18" fmla="*/ 160572 w 4742247"/>
              <a:gd name="connsiteY18" fmla="*/ 0 h 479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42247" h="4791921">
                <a:moveTo>
                  <a:pt x="160572" y="0"/>
                </a:moveTo>
                <a:lnTo>
                  <a:pt x="4581675" y="0"/>
                </a:lnTo>
                <a:cubicBezTo>
                  <a:pt x="4670356" y="0"/>
                  <a:pt x="4742247" y="71891"/>
                  <a:pt x="4742247" y="160572"/>
                </a:cubicBezTo>
                <a:lnTo>
                  <a:pt x="4742247" y="1644945"/>
                </a:lnTo>
                <a:lnTo>
                  <a:pt x="4704143" y="1665633"/>
                </a:lnTo>
                <a:cubicBezTo>
                  <a:pt x="4478833" y="1817894"/>
                  <a:pt x="4330698" y="2075744"/>
                  <a:pt x="4330698" y="2368203"/>
                </a:cubicBezTo>
                <a:cubicBezTo>
                  <a:pt x="4330698" y="2660663"/>
                  <a:pt x="4478833" y="2918513"/>
                  <a:pt x="4704143" y="3070774"/>
                </a:cubicBezTo>
                <a:lnTo>
                  <a:pt x="4742247" y="3091462"/>
                </a:lnTo>
                <a:lnTo>
                  <a:pt x="4742247" y="4631349"/>
                </a:lnTo>
                <a:cubicBezTo>
                  <a:pt x="4742247" y="4720030"/>
                  <a:pt x="4670356" y="4791921"/>
                  <a:pt x="4581675" y="4791921"/>
                </a:cubicBezTo>
                <a:lnTo>
                  <a:pt x="160572" y="4791921"/>
                </a:lnTo>
                <a:cubicBezTo>
                  <a:pt x="71891" y="4791921"/>
                  <a:pt x="0" y="4720030"/>
                  <a:pt x="0" y="4631349"/>
                </a:cubicBezTo>
                <a:lnTo>
                  <a:pt x="0" y="3128810"/>
                </a:lnTo>
                <a:lnTo>
                  <a:pt x="106894" y="3070774"/>
                </a:lnTo>
                <a:cubicBezTo>
                  <a:pt x="332204" y="2918513"/>
                  <a:pt x="480339" y="2660663"/>
                  <a:pt x="480339" y="2368203"/>
                </a:cubicBezTo>
                <a:cubicBezTo>
                  <a:pt x="480339" y="2075744"/>
                  <a:pt x="332204" y="1817894"/>
                  <a:pt x="106894" y="1665633"/>
                </a:cubicBezTo>
                <a:lnTo>
                  <a:pt x="0" y="1607596"/>
                </a:lnTo>
                <a:lnTo>
                  <a:pt x="0" y="160572"/>
                </a:lnTo>
                <a:cubicBezTo>
                  <a:pt x="0" y="71891"/>
                  <a:pt x="71891" y="0"/>
                  <a:pt x="160572" y="0"/>
                </a:cubicBezTo>
                <a:close/>
              </a:path>
            </a:pathLst>
          </a:custGeom>
          <a:solidFill>
            <a:schemeClr val="accent2"/>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GB" sz="2000">
              <a:solidFill>
                <a:srgbClr val="FFFFFF"/>
              </a:solidFill>
              <a:latin typeface="Segoe Sans Text"/>
              <a:cs typeface="Segoe Sans Text" pitchFamily="2" charset="0"/>
            </a:endParaRPr>
          </a:p>
        </p:txBody>
      </p:sp>
      <p:grpSp>
        <p:nvGrpSpPr>
          <p:cNvPr id="25" name="Group 24">
            <a:extLst>
              <a:ext uri="{FF2B5EF4-FFF2-40B4-BE49-F238E27FC236}">
                <a16:creationId xmlns:a16="http://schemas.microsoft.com/office/drawing/2014/main" id="{26EF2E7B-D7E4-24F7-60B3-52FCF232A83D}"/>
              </a:ext>
            </a:extLst>
          </p:cNvPr>
          <p:cNvGrpSpPr/>
          <p:nvPr/>
        </p:nvGrpSpPr>
        <p:grpSpPr>
          <a:xfrm>
            <a:off x="6935726" y="2106079"/>
            <a:ext cx="1102671" cy="1102989"/>
            <a:chOff x="5275240" y="1811018"/>
            <a:chExt cx="1641521" cy="1641995"/>
          </a:xfrm>
        </p:grpSpPr>
        <p:sp>
          <p:nvSpPr>
            <p:cNvPr id="26" name="Oval 20">
              <a:extLst>
                <a:ext uri="{FF2B5EF4-FFF2-40B4-BE49-F238E27FC236}">
                  <a16:creationId xmlns:a16="http://schemas.microsoft.com/office/drawing/2014/main" id="{B84973E9-C1F0-017C-3734-2BF36B76AF00}"/>
                </a:ext>
              </a:extLst>
            </p:cNvPr>
            <p:cNvSpPr>
              <a:spLocks/>
            </p:cNvSpPr>
            <p:nvPr/>
          </p:nvSpPr>
          <p:spPr bwMode="auto">
            <a:xfrm>
              <a:off x="5275240"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27" name="Group 26">
              <a:extLst>
                <a:ext uri="{FF2B5EF4-FFF2-40B4-BE49-F238E27FC236}">
                  <a16:creationId xmlns:a16="http://schemas.microsoft.com/office/drawing/2014/main" id="{7E8F0D97-EA07-3825-50C4-B2AFC1B55C01}"/>
                </a:ext>
              </a:extLst>
            </p:cNvPr>
            <p:cNvGrpSpPr/>
            <p:nvPr/>
          </p:nvGrpSpPr>
          <p:grpSpPr>
            <a:xfrm>
              <a:off x="5389845" y="1927192"/>
              <a:ext cx="1412311" cy="1409646"/>
              <a:chOff x="1261672" y="4833937"/>
              <a:chExt cx="954296" cy="954297"/>
            </a:xfrm>
          </p:grpSpPr>
          <p:sp>
            <p:nvSpPr>
              <p:cNvPr id="28" name="Rectangle: Rounded Corners 27">
                <a:extLst>
                  <a:ext uri="{FF2B5EF4-FFF2-40B4-BE49-F238E27FC236}">
                    <a16:creationId xmlns:a16="http://schemas.microsoft.com/office/drawing/2014/main" id="{35249452-14BB-FEAD-F5EE-1FED8EB5E673}"/>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9" name="Rectangle: Rounded Corners 28">
                <a:extLst>
                  <a:ext uri="{FF2B5EF4-FFF2-40B4-BE49-F238E27FC236}">
                    <a16:creationId xmlns:a16="http://schemas.microsoft.com/office/drawing/2014/main" id="{7EDC63DC-211A-39B8-1283-FA2DDE7897C7}"/>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30" name="TextBox 29">
            <a:extLst>
              <a:ext uri="{FF2B5EF4-FFF2-40B4-BE49-F238E27FC236}">
                <a16:creationId xmlns:a16="http://schemas.microsoft.com/office/drawing/2014/main" id="{7CA6D14D-1400-3099-D1A3-09B1AB82D278}"/>
              </a:ext>
            </a:extLst>
          </p:cNvPr>
          <p:cNvSpPr txBox="1"/>
          <p:nvPr/>
        </p:nvSpPr>
        <p:spPr>
          <a:xfrm>
            <a:off x="6609770" y="3591108"/>
            <a:ext cx="1754584" cy="263149"/>
          </a:xfrm>
          <a:prstGeom prst="rect">
            <a:avLst/>
          </a:prstGeom>
          <a:noFill/>
        </p:spPr>
        <p:txBody>
          <a:bodyPr wrap="square" lIns="0" tIns="0" rIns="0" bIns="0" rtlCol="0">
            <a:spAutoFit/>
          </a:bodyPr>
          <a:lstStyle/>
          <a:p>
            <a:pPr algn="ctr" fontAlgn="base">
              <a:lnSpc>
                <a:spcPct val="90000"/>
              </a:lnSpc>
              <a:spcBef>
                <a:spcPts val="1000"/>
              </a:spcBef>
              <a:spcAft>
                <a:spcPct val="0"/>
              </a:spcAft>
              <a:defRPr/>
            </a:pPr>
            <a:r>
              <a:rPr lang="en-IN" sz="1900" b="1">
                <a:gradFill>
                  <a:gsLst>
                    <a:gs pos="0">
                      <a:srgbClr val="BDF2BD"/>
                    </a:gs>
                    <a:gs pos="100000">
                      <a:srgbClr val="C3E9FC"/>
                    </a:gs>
                  </a:gsLst>
                  <a:lin ang="5400000" scaled="1"/>
                </a:gradFill>
              </a:rPr>
              <a:t>Speed/Agility</a:t>
            </a:r>
          </a:p>
        </p:txBody>
      </p:sp>
      <p:grpSp>
        <p:nvGrpSpPr>
          <p:cNvPr id="31" name="Group 30">
            <a:extLst>
              <a:ext uri="{FF2B5EF4-FFF2-40B4-BE49-F238E27FC236}">
                <a16:creationId xmlns:a16="http://schemas.microsoft.com/office/drawing/2014/main" id="{D2C5C156-C0C1-CA6C-2D5B-6DDB42639366}"/>
              </a:ext>
            </a:extLst>
          </p:cNvPr>
          <p:cNvGrpSpPr/>
          <p:nvPr/>
        </p:nvGrpSpPr>
        <p:grpSpPr>
          <a:xfrm>
            <a:off x="5763798" y="3543408"/>
            <a:ext cx="647655" cy="647842"/>
            <a:chOff x="11197140" y="4542971"/>
            <a:chExt cx="1490912" cy="1491344"/>
          </a:xfrm>
          <a:effectLst>
            <a:outerShdw blurRad="50800" dist="38100" dir="2700000" algn="tl" rotWithShape="0">
              <a:prstClr val="black">
                <a:alpha val="22000"/>
              </a:prstClr>
            </a:outerShdw>
          </a:effectLst>
        </p:grpSpPr>
        <p:sp>
          <p:nvSpPr>
            <p:cNvPr id="32" name="Oval 31">
              <a:extLst>
                <a:ext uri="{FF2B5EF4-FFF2-40B4-BE49-F238E27FC236}">
                  <a16:creationId xmlns:a16="http://schemas.microsoft.com/office/drawing/2014/main" id="{A2EA22D9-CA69-D04E-4312-6FC504EED368}"/>
                </a:ext>
              </a:extLst>
            </p:cNvPr>
            <p:cNvSpPr>
              <a:spLocks/>
            </p:cNvSpPr>
            <p:nvPr/>
          </p:nvSpPr>
          <p:spPr bwMode="auto">
            <a:xfrm>
              <a:off x="11197140" y="4542971"/>
              <a:ext cx="1490912" cy="1491344"/>
            </a:xfrm>
            <a:prstGeom prst="ellipse">
              <a:avLst/>
            </a:prstGeom>
            <a:solidFill>
              <a:schemeClr val="bg1"/>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sp>
          <p:nvSpPr>
            <p:cNvPr id="33" name="Graphic 83">
              <a:extLst>
                <a:ext uri="{FF2B5EF4-FFF2-40B4-BE49-F238E27FC236}">
                  <a16:creationId xmlns:a16="http://schemas.microsoft.com/office/drawing/2014/main" id="{0F58C5D1-077D-CF7A-FDDE-3F38D159112A}"/>
                </a:ext>
              </a:extLst>
            </p:cNvPr>
            <p:cNvSpPr/>
            <p:nvPr/>
          </p:nvSpPr>
          <p:spPr>
            <a:xfrm rot="16200000">
              <a:off x="11673516" y="5030111"/>
              <a:ext cx="622078" cy="517064"/>
            </a:xfrm>
            <a:custGeom>
              <a:avLst/>
              <a:gdLst>
                <a:gd name="connsiteX0" fmla="*/ 219046 w 219046"/>
                <a:gd name="connsiteY0" fmla="*/ 4761 h 182068"/>
                <a:gd name="connsiteX1" fmla="*/ 219046 w 219046"/>
                <a:gd name="connsiteY1" fmla="*/ 72932 h 182068"/>
                <a:gd name="connsiteX2" fmla="*/ 217656 w 219046"/>
                <a:gd name="connsiteY2" fmla="*/ 76304 h 182068"/>
                <a:gd name="connsiteX3" fmla="*/ 113043 w 219046"/>
                <a:gd name="connsiteY3" fmla="*/ 180679 h 182068"/>
                <a:gd name="connsiteX4" fmla="*/ 106318 w 219046"/>
                <a:gd name="connsiteY4" fmla="*/ 180679 h 182068"/>
                <a:gd name="connsiteX5" fmla="*/ 1448 w 219046"/>
                <a:gd name="connsiteY5" fmla="*/ 76351 h 182068"/>
                <a:gd name="connsiteX6" fmla="*/ 0 w 219046"/>
                <a:gd name="connsiteY6" fmla="*/ 72932 h 182068"/>
                <a:gd name="connsiteX7" fmla="*/ 0 w 219046"/>
                <a:gd name="connsiteY7" fmla="*/ 4800 h 182068"/>
                <a:gd name="connsiteX8" fmla="*/ 4782 w 219046"/>
                <a:gd name="connsiteY8" fmla="*/ 57 h 182068"/>
                <a:gd name="connsiteX9" fmla="*/ 8115 w 219046"/>
                <a:gd name="connsiteY9" fmla="*/ 1437 h 182068"/>
                <a:gd name="connsiteX10" fmla="*/ 107994 w 219046"/>
                <a:gd name="connsiteY10" fmla="*/ 101240 h 182068"/>
                <a:gd name="connsiteX11" fmla="*/ 111366 w 219046"/>
                <a:gd name="connsiteY11" fmla="*/ 101240 h 182068"/>
                <a:gd name="connsiteX12" fmla="*/ 210912 w 219046"/>
                <a:gd name="connsiteY12" fmla="*/ 1399 h 182068"/>
                <a:gd name="connsiteX13" fmla="*/ 217647 w 219046"/>
                <a:gd name="connsiteY13" fmla="*/ 1391 h 182068"/>
                <a:gd name="connsiteX14" fmla="*/ 219046 w 219046"/>
                <a:gd name="connsiteY14" fmla="*/ 4761 h 18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9046" h="182068">
                  <a:moveTo>
                    <a:pt x="219046" y="4761"/>
                  </a:moveTo>
                  <a:lnTo>
                    <a:pt x="219046" y="72932"/>
                  </a:lnTo>
                  <a:cubicBezTo>
                    <a:pt x="219048" y="74196"/>
                    <a:pt x="218548" y="75408"/>
                    <a:pt x="217656" y="76304"/>
                  </a:cubicBezTo>
                  <a:lnTo>
                    <a:pt x="113043" y="180679"/>
                  </a:lnTo>
                  <a:cubicBezTo>
                    <a:pt x="111184" y="182531"/>
                    <a:pt x="108176" y="182531"/>
                    <a:pt x="106318" y="180679"/>
                  </a:cubicBezTo>
                  <a:lnTo>
                    <a:pt x="1448" y="76351"/>
                  </a:lnTo>
                  <a:cubicBezTo>
                    <a:pt x="522" y="75454"/>
                    <a:pt x="0" y="74221"/>
                    <a:pt x="0" y="72932"/>
                  </a:cubicBezTo>
                  <a:lnTo>
                    <a:pt x="0" y="4800"/>
                  </a:lnTo>
                  <a:cubicBezTo>
                    <a:pt x="11" y="2169"/>
                    <a:pt x="2152" y="46"/>
                    <a:pt x="4782" y="57"/>
                  </a:cubicBezTo>
                  <a:cubicBezTo>
                    <a:pt x="6031" y="62"/>
                    <a:pt x="7228" y="558"/>
                    <a:pt x="8115" y="1437"/>
                  </a:cubicBezTo>
                  <a:lnTo>
                    <a:pt x="107994" y="101240"/>
                  </a:lnTo>
                  <a:cubicBezTo>
                    <a:pt x="108927" y="102168"/>
                    <a:pt x="110434" y="102168"/>
                    <a:pt x="111366" y="101240"/>
                  </a:cubicBezTo>
                  <a:lnTo>
                    <a:pt x="210912" y="1399"/>
                  </a:lnTo>
                  <a:cubicBezTo>
                    <a:pt x="212769" y="-463"/>
                    <a:pt x="215785" y="-467"/>
                    <a:pt x="217647" y="1391"/>
                  </a:cubicBezTo>
                  <a:cubicBezTo>
                    <a:pt x="218543" y="2284"/>
                    <a:pt x="219046" y="3497"/>
                    <a:pt x="219046" y="4761"/>
                  </a:cubicBezTo>
                  <a:close/>
                </a:path>
              </a:pathLst>
            </a:custGeom>
            <a:solidFill>
              <a:schemeClr val="accent2"/>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pPr>
              <a:endParaRPr lang="en-GB" sz="1333">
                <a:solidFill>
                  <a:srgbClr val="FFFFFF"/>
                </a:solidFill>
                <a:latin typeface="Segoe Sans Text" pitchFamily="2" charset="0"/>
                <a:cs typeface="Segoe Sans Text" pitchFamily="2" charset="0"/>
              </a:endParaRPr>
            </a:p>
          </p:txBody>
        </p:sp>
      </p:grpSp>
      <p:sp>
        <p:nvSpPr>
          <p:cNvPr id="34" name="Free-form: Shape 62">
            <a:extLst>
              <a:ext uri="{FF2B5EF4-FFF2-40B4-BE49-F238E27FC236}">
                <a16:creationId xmlns:a16="http://schemas.microsoft.com/office/drawing/2014/main" id="{D7EC46E3-5693-9DD3-E53E-877796FDEB56}"/>
              </a:ext>
            </a:extLst>
          </p:cNvPr>
          <p:cNvSpPr>
            <a:spLocks/>
          </p:cNvSpPr>
          <p:nvPr/>
        </p:nvSpPr>
        <p:spPr bwMode="auto">
          <a:xfrm>
            <a:off x="9094837" y="2669843"/>
            <a:ext cx="2426837" cy="2452258"/>
          </a:xfrm>
          <a:custGeom>
            <a:avLst/>
            <a:gdLst>
              <a:gd name="connsiteX0" fmla="*/ 160572 w 4742246"/>
              <a:gd name="connsiteY0" fmla="*/ 0 h 4791921"/>
              <a:gd name="connsiteX1" fmla="*/ 4581674 w 4742246"/>
              <a:gd name="connsiteY1" fmla="*/ 0 h 4791921"/>
              <a:gd name="connsiteX2" fmla="*/ 4742246 w 4742246"/>
              <a:gd name="connsiteY2" fmla="*/ 160572 h 4791921"/>
              <a:gd name="connsiteX3" fmla="*/ 4742246 w 4742246"/>
              <a:gd name="connsiteY3" fmla="*/ 4631349 h 4791921"/>
              <a:gd name="connsiteX4" fmla="*/ 4581674 w 4742246"/>
              <a:gd name="connsiteY4" fmla="*/ 4791921 h 4791921"/>
              <a:gd name="connsiteX5" fmla="*/ 160572 w 4742246"/>
              <a:gd name="connsiteY5" fmla="*/ 4791921 h 4791921"/>
              <a:gd name="connsiteX6" fmla="*/ 0 w 4742246"/>
              <a:gd name="connsiteY6" fmla="*/ 4631349 h 4791921"/>
              <a:gd name="connsiteX7" fmla="*/ 0 w 4742246"/>
              <a:gd name="connsiteY7" fmla="*/ 3145944 h 4791921"/>
              <a:gd name="connsiteX8" fmla="*/ 138451 w 4742246"/>
              <a:gd name="connsiteY8" fmla="*/ 3070774 h 4791921"/>
              <a:gd name="connsiteX9" fmla="*/ 511896 w 4742246"/>
              <a:gd name="connsiteY9" fmla="*/ 2368203 h 4791921"/>
              <a:gd name="connsiteX10" fmla="*/ 138451 w 4742246"/>
              <a:gd name="connsiteY10" fmla="*/ 1665633 h 4791921"/>
              <a:gd name="connsiteX11" fmla="*/ 0 w 4742246"/>
              <a:gd name="connsiteY11" fmla="*/ 1590463 h 4791921"/>
              <a:gd name="connsiteX12" fmla="*/ 0 w 4742246"/>
              <a:gd name="connsiteY12" fmla="*/ 160572 h 4791921"/>
              <a:gd name="connsiteX13" fmla="*/ 160572 w 4742246"/>
              <a:gd name="connsiteY13" fmla="*/ 0 h 479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2246" h="4791921">
                <a:moveTo>
                  <a:pt x="160572" y="0"/>
                </a:moveTo>
                <a:lnTo>
                  <a:pt x="4581674" y="0"/>
                </a:lnTo>
                <a:cubicBezTo>
                  <a:pt x="4670356" y="0"/>
                  <a:pt x="4742246" y="71891"/>
                  <a:pt x="4742246" y="160572"/>
                </a:cubicBezTo>
                <a:lnTo>
                  <a:pt x="4742246" y="4631349"/>
                </a:lnTo>
                <a:cubicBezTo>
                  <a:pt x="4742246" y="4720030"/>
                  <a:pt x="4670356" y="4791921"/>
                  <a:pt x="4581674" y="4791921"/>
                </a:cubicBezTo>
                <a:lnTo>
                  <a:pt x="160572" y="4791921"/>
                </a:lnTo>
                <a:cubicBezTo>
                  <a:pt x="71891" y="4791921"/>
                  <a:pt x="0" y="4720030"/>
                  <a:pt x="0" y="4631349"/>
                </a:cubicBezTo>
                <a:lnTo>
                  <a:pt x="0" y="3145944"/>
                </a:lnTo>
                <a:lnTo>
                  <a:pt x="138451" y="3070774"/>
                </a:lnTo>
                <a:cubicBezTo>
                  <a:pt x="363761" y="2918513"/>
                  <a:pt x="511896" y="2660663"/>
                  <a:pt x="511896" y="2368203"/>
                </a:cubicBezTo>
                <a:cubicBezTo>
                  <a:pt x="511896" y="2075744"/>
                  <a:pt x="363761" y="1817894"/>
                  <a:pt x="138451" y="1665633"/>
                </a:cubicBezTo>
                <a:lnTo>
                  <a:pt x="0" y="1590463"/>
                </a:lnTo>
                <a:lnTo>
                  <a:pt x="0" y="160572"/>
                </a:lnTo>
                <a:cubicBezTo>
                  <a:pt x="0" y="71891"/>
                  <a:pt x="71891" y="0"/>
                  <a:pt x="160572" y="0"/>
                </a:cubicBezTo>
                <a:close/>
              </a:path>
            </a:pathLst>
          </a:custGeom>
          <a:solidFill>
            <a:schemeClr val="accent2"/>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GB" sz="2000">
              <a:solidFill>
                <a:srgbClr val="FFFFFF"/>
              </a:solidFill>
              <a:latin typeface="Segoe Sans Text"/>
              <a:cs typeface="Segoe Sans Text" pitchFamily="2" charset="0"/>
            </a:endParaRPr>
          </a:p>
        </p:txBody>
      </p:sp>
      <p:grpSp>
        <p:nvGrpSpPr>
          <p:cNvPr id="35" name="Group 34">
            <a:extLst>
              <a:ext uri="{FF2B5EF4-FFF2-40B4-BE49-F238E27FC236}">
                <a16:creationId xmlns:a16="http://schemas.microsoft.com/office/drawing/2014/main" id="{E80F4D0C-6FE6-5811-DF2B-30158289A117}"/>
              </a:ext>
            </a:extLst>
          </p:cNvPr>
          <p:cNvGrpSpPr/>
          <p:nvPr/>
        </p:nvGrpSpPr>
        <p:grpSpPr>
          <a:xfrm>
            <a:off x="9756920" y="2106079"/>
            <a:ext cx="1102671" cy="1102989"/>
            <a:chOff x="8950476" y="1811018"/>
            <a:chExt cx="1641521" cy="1641995"/>
          </a:xfrm>
        </p:grpSpPr>
        <p:sp>
          <p:nvSpPr>
            <p:cNvPr id="36" name="Oval 23">
              <a:extLst>
                <a:ext uri="{FF2B5EF4-FFF2-40B4-BE49-F238E27FC236}">
                  <a16:creationId xmlns:a16="http://schemas.microsoft.com/office/drawing/2014/main" id="{DEDDC72F-9D4A-F96E-3BC0-9F632B3487B3}"/>
                </a:ext>
              </a:extLst>
            </p:cNvPr>
            <p:cNvSpPr>
              <a:spLocks/>
            </p:cNvSpPr>
            <p:nvPr/>
          </p:nvSpPr>
          <p:spPr bwMode="auto">
            <a:xfrm>
              <a:off x="8950476"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37" name="Group 36">
              <a:extLst>
                <a:ext uri="{FF2B5EF4-FFF2-40B4-BE49-F238E27FC236}">
                  <a16:creationId xmlns:a16="http://schemas.microsoft.com/office/drawing/2014/main" id="{E78227EA-6FC6-B50F-B143-076EE877E638}"/>
                </a:ext>
              </a:extLst>
            </p:cNvPr>
            <p:cNvGrpSpPr/>
            <p:nvPr/>
          </p:nvGrpSpPr>
          <p:grpSpPr>
            <a:xfrm>
              <a:off x="9065081" y="1927192"/>
              <a:ext cx="1412311" cy="1409646"/>
              <a:chOff x="1261672" y="4833937"/>
              <a:chExt cx="954296" cy="954297"/>
            </a:xfrm>
          </p:grpSpPr>
          <p:sp>
            <p:nvSpPr>
              <p:cNvPr id="38" name="Rectangle: Rounded Corners 37">
                <a:extLst>
                  <a:ext uri="{FF2B5EF4-FFF2-40B4-BE49-F238E27FC236}">
                    <a16:creationId xmlns:a16="http://schemas.microsoft.com/office/drawing/2014/main" id="{AB33068A-7C2F-EA56-049C-88454C1D098C}"/>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39" name="Rectangle: Rounded Corners 38">
                <a:extLst>
                  <a:ext uri="{FF2B5EF4-FFF2-40B4-BE49-F238E27FC236}">
                    <a16:creationId xmlns:a16="http://schemas.microsoft.com/office/drawing/2014/main" id="{9EF352B8-6DF0-899C-FA0C-3E83E960CB77}"/>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40" name="TextBox 39">
            <a:extLst>
              <a:ext uri="{FF2B5EF4-FFF2-40B4-BE49-F238E27FC236}">
                <a16:creationId xmlns:a16="http://schemas.microsoft.com/office/drawing/2014/main" id="{59E324EA-050C-4D4E-4732-8357E91CEF54}"/>
              </a:ext>
            </a:extLst>
          </p:cNvPr>
          <p:cNvSpPr txBox="1"/>
          <p:nvPr/>
        </p:nvSpPr>
        <p:spPr>
          <a:xfrm>
            <a:off x="9400368" y="3591108"/>
            <a:ext cx="1815774" cy="263149"/>
          </a:xfrm>
          <a:prstGeom prst="rect">
            <a:avLst/>
          </a:prstGeom>
          <a:noFill/>
        </p:spPr>
        <p:txBody>
          <a:bodyPr wrap="square" lIns="0" tIns="0" rIns="0" bIns="0" rtlCol="0">
            <a:spAutoFit/>
          </a:bodyPr>
          <a:lstStyle/>
          <a:p>
            <a:pPr lvl="0" algn="ctr" defTabSz="609630" fontAlgn="base">
              <a:lnSpc>
                <a:spcPct val="90000"/>
              </a:lnSpc>
              <a:spcBef>
                <a:spcPts val="1200"/>
              </a:spcBef>
              <a:spcAft>
                <a:spcPct val="0"/>
              </a:spcAft>
              <a:defRPr/>
            </a:pPr>
            <a:r>
              <a:rPr lang="en-IN" sz="1900" b="1">
                <a:gradFill>
                  <a:gsLst>
                    <a:gs pos="0">
                      <a:srgbClr val="BDF2BD"/>
                    </a:gs>
                    <a:gs pos="100000">
                      <a:srgbClr val="C3E9FC"/>
                    </a:gs>
                  </a:gsLst>
                  <a:lin ang="5400000" scaled="1"/>
                </a:gradFill>
              </a:rPr>
              <a:t>Costs</a:t>
            </a:r>
          </a:p>
        </p:txBody>
      </p:sp>
      <p:grpSp>
        <p:nvGrpSpPr>
          <p:cNvPr id="41" name="Group 40">
            <a:extLst>
              <a:ext uri="{FF2B5EF4-FFF2-40B4-BE49-F238E27FC236}">
                <a16:creationId xmlns:a16="http://schemas.microsoft.com/office/drawing/2014/main" id="{DCDB42EC-76DB-3512-EAA5-8200FB7EB2DF}"/>
              </a:ext>
            </a:extLst>
          </p:cNvPr>
          <p:cNvGrpSpPr/>
          <p:nvPr/>
        </p:nvGrpSpPr>
        <p:grpSpPr>
          <a:xfrm>
            <a:off x="8595411" y="3543408"/>
            <a:ext cx="647655" cy="647842"/>
            <a:chOff x="11197140" y="4542971"/>
            <a:chExt cx="1490912" cy="1491344"/>
          </a:xfrm>
          <a:effectLst>
            <a:outerShdw blurRad="50800" dist="38100" dir="2700000" algn="tl" rotWithShape="0">
              <a:prstClr val="black">
                <a:alpha val="22000"/>
              </a:prstClr>
            </a:outerShdw>
          </a:effectLst>
        </p:grpSpPr>
        <p:sp>
          <p:nvSpPr>
            <p:cNvPr id="42" name="Oval 41">
              <a:extLst>
                <a:ext uri="{FF2B5EF4-FFF2-40B4-BE49-F238E27FC236}">
                  <a16:creationId xmlns:a16="http://schemas.microsoft.com/office/drawing/2014/main" id="{A7D4EAAE-DD61-EF17-A157-73775DA7EC62}"/>
                </a:ext>
              </a:extLst>
            </p:cNvPr>
            <p:cNvSpPr>
              <a:spLocks/>
            </p:cNvSpPr>
            <p:nvPr/>
          </p:nvSpPr>
          <p:spPr bwMode="auto">
            <a:xfrm>
              <a:off x="11197140" y="4542971"/>
              <a:ext cx="1490912" cy="1491344"/>
            </a:xfrm>
            <a:prstGeom prst="ellipse">
              <a:avLst/>
            </a:prstGeom>
            <a:solidFill>
              <a:schemeClr val="bg1"/>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sp>
          <p:nvSpPr>
            <p:cNvPr id="43" name="Graphic 83">
              <a:extLst>
                <a:ext uri="{FF2B5EF4-FFF2-40B4-BE49-F238E27FC236}">
                  <a16:creationId xmlns:a16="http://schemas.microsoft.com/office/drawing/2014/main" id="{3BC4AF4E-1F59-A5DE-E1AA-D424AEBE135B}"/>
                </a:ext>
              </a:extLst>
            </p:cNvPr>
            <p:cNvSpPr/>
            <p:nvPr/>
          </p:nvSpPr>
          <p:spPr>
            <a:xfrm rot="16200000">
              <a:off x="11673516" y="5030111"/>
              <a:ext cx="622078" cy="517064"/>
            </a:xfrm>
            <a:custGeom>
              <a:avLst/>
              <a:gdLst>
                <a:gd name="connsiteX0" fmla="*/ 219046 w 219046"/>
                <a:gd name="connsiteY0" fmla="*/ 4761 h 182068"/>
                <a:gd name="connsiteX1" fmla="*/ 219046 w 219046"/>
                <a:gd name="connsiteY1" fmla="*/ 72932 h 182068"/>
                <a:gd name="connsiteX2" fmla="*/ 217656 w 219046"/>
                <a:gd name="connsiteY2" fmla="*/ 76304 h 182068"/>
                <a:gd name="connsiteX3" fmla="*/ 113043 w 219046"/>
                <a:gd name="connsiteY3" fmla="*/ 180679 h 182068"/>
                <a:gd name="connsiteX4" fmla="*/ 106318 w 219046"/>
                <a:gd name="connsiteY4" fmla="*/ 180679 h 182068"/>
                <a:gd name="connsiteX5" fmla="*/ 1448 w 219046"/>
                <a:gd name="connsiteY5" fmla="*/ 76351 h 182068"/>
                <a:gd name="connsiteX6" fmla="*/ 0 w 219046"/>
                <a:gd name="connsiteY6" fmla="*/ 72932 h 182068"/>
                <a:gd name="connsiteX7" fmla="*/ 0 w 219046"/>
                <a:gd name="connsiteY7" fmla="*/ 4800 h 182068"/>
                <a:gd name="connsiteX8" fmla="*/ 4782 w 219046"/>
                <a:gd name="connsiteY8" fmla="*/ 57 h 182068"/>
                <a:gd name="connsiteX9" fmla="*/ 8115 w 219046"/>
                <a:gd name="connsiteY9" fmla="*/ 1437 h 182068"/>
                <a:gd name="connsiteX10" fmla="*/ 107994 w 219046"/>
                <a:gd name="connsiteY10" fmla="*/ 101240 h 182068"/>
                <a:gd name="connsiteX11" fmla="*/ 111366 w 219046"/>
                <a:gd name="connsiteY11" fmla="*/ 101240 h 182068"/>
                <a:gd name="connsiteX12" fmla="*/ 210912 w 219046"/>
                <a:gd name="connsiteY12" fmla="*/ 1399 h 182068"/>
                <a:gd name="connsiteX13" fmla="*/ 217647 w 219046"/>
                <a:gd name="connsiteY13" fmla="*/ 1391 h 182068"/>
                <a:gd name="connsiteX14" fmla="*/ 219046 w 219046"/>
                <a:gd name="connsiteY14" fmla="*/ 4761 h 18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9046" h="182068">
                  <a:moveTo>
                    <a:pt x="219046" y="4761"/>
                  </a:moveTo>
                  <a:lnTo>
                    <a:pt x="219046" y="72932"/>
                  </a:lnTo>
                  <a:cubicBezTo>
                    <a:pt x="219048" y="74196"/>
                    <a:pt x="218548" y="75408"/>
                    <a:pt x="217656" y="76304"/>
                  </a:cubicBezTo>
                  <a:lnTo>
                    <a:pt x="113043" y="180679"/>
                  </a:lnTo>
                  <a:cubicBezTo>
                    <a:pt x="111184" y="182531"/>
                    <a:pt x="108176" y="182531"/>
                    <a:pt x="106318" y="180679"/>
                  </a:cubicBezTo>
                  <a:lnTo>
                    <a:pt x="1448" y="76351"/>
                  </a:lnTo>
                  <a:cubicBezTo>
                    <a:pt x="522" y="75454"/>
                    <a:pt x="0" y="74221"/>
                    <a:pt x="0" y="72932"/>
                  </a:cubicBezTo>
                  <a:lnTo>
                    <a:pt x="0" y="4800"/>
                  </a:lnTo>
                  <a:cubicBezTo>
                    <a:pt x="11" y="2169"/>
                    <a:pt x="2152" y="46"/>
                    <a:pt x="4782" y="57"/>
                  </a:cubicBezTo>
                  <a:cubicBezTo>
                    <a:pt x="6031" y="62"/>
                    <a:pt x="7228" y="558"/>
                    <a:pt x="8115" y="1437"/>
                  </a:cubicBezTo>
                  <a:lnTo>
                    <a:pt x="107994" y="101240"/>
                  </a:lnTo>
                  <a:cubicBezTo>
                    <a:pt x="108927" y="102168"/>
                    <a:pt x="110434" y="102168"/>
                    <a:pt x="111366" y="101240"/>
                  </a:cubicBezTo>
                  <a:lnTo>
                    <a:pt x="210912" y="1399"/>
                  </a:lnTo>
                  <a:cubicBezTo>
                    <a:pt x="212769" y="-463"/>
                    <a:pt x="215785" y="-467"/>
                    <a:pt x="217647" y="1391"/>
                  </a:cubicBezTo>
                  <a:cubicBezTo>
                    <a:pt x="218543" y="2284"/>
                    <a:pt x="219046" y="3497"/>
                    <a:pt x="219046" y="4761"/>
                  </a:cubicBezTo>
                  <a:close/>
                </a:path>
              </a:pathLst>
            </a:custGeom>
            <a:solidFill>
              <a:schemeClr val="accent2"/>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pPr>
              <a:endParaRPr lang="en-GB" sz="1333">
                <a:solidFill>
                  <a:srgbClr val="FFFFFF"/>
                </a:solidFill>
                <a:latin typeface="Segoe Sans Text" pitchFamily="2" charset="0"/>
                <a:cs typeface="Segoe Sans Text" pitchFamily="2" charset="0"/>
              </a:endParaRPr>
            </a:p>
          </p:txBody>
        </p:sp>
      </p:grpSp>
      <p:grpSp>
        <p:nvGrpSpPr>
          <p:cNvPr id="45" name="Graphic 238">
            <a:extLst>
              <a:ext uri="{FF2B5EF4-FFF2-40B4-BE49-F238E27FC236}">
                <a16:creationId xmlns:a16="http://schemas.microsoft.com/office/drawing/2014/main" id="{DFB95B22-38D9-20AB-ACC8-ED4EEA1AAE19}"/>
              </a:ext>
            </a:extLst>
          </p:cNvPr>
          <p:cNvGrpSpPr/>
          <p:nvPr/>
        </p:nvGrpSpPr>
        <p:grpSpPr>
          <a:xfrm>
            <a:off x="7208332" y="2421232"/>
            <a:ext cx="527570" cy="535940"/>
            <a:chOff x="1585822" y="2448575"/>
            <a:chExt cx="479640" cy="487250"/>
          </a:xfrm>
          <a:gradFill>
            <a:gsLst>
              <a:gs pos="0">
                <a:srgbClr val="BDF2BD"/>
              </a:gs>
              <a:gs pos="55000">
                <a:srgbClr val="C3E9FC"/>
              </a:gs>
            </a:gsLst>
            <a:lin ang="2700000" scaled="1"/>
          </a:gradFill>
        </p:grpSpPr>
        <p:sp>
          <p:nvSpPr>
            <p:cNvPr id="46" name="Freeform: Shape 45">
              <a:extLst>
                <a:ext uri="{FF2B5EF4-FFF2-40B4-BE49-F238E27FC236}">
                  <a16:creationId xmlns:a16="http://schemas.microsoft.com/office/drawing/2014/main" id="{032413C9-02CB-7771-55AD-F8BA9F9F9050}"/>
                </a:ext>
              </a:extLst>
            </p:cNvPr>
            <p:cNvSpPr/>
            <p:nvPr/>
          </p:nvSpPr>
          <p:spPr>
            <a:xfrm>
              <a:off x="1626469" y="2448575"/>
              <a:ext cx="438993" cy="389800"/>
            </a:xfrm>
            <a:custGeom>
              <a:avLst/>
              <a:gdLst>
                <a:gd name="connsiteX0" fmla="*/ 406475 w 438993"/>
                <a:gd name="connsiteY0" fmla="*/ 0 h 389800"/>
                <a:gd name="connsiteX1" fmla="*/ 32518 w 438993"/>
                <a:gd name="connsiteY1" fmla="*/ 0 h 389800"/>
                <a:gd name="connsiteX2" fmla="*/ 0 w 438993"/>
                <a:gd name="connsiteY2" fmla="*/ 32483 h 389800"/>
                <a:gd name="connsiteX3" fmla="*/ 0 w 438993"/>
                <a:gd name="connsiteY3" fmla="*/ 227383 h 389800"/>
                <a:gd name="connsiteX4" fmla="*/ 16259 w 438993"/>
                <a:gd name="connsiteY4" fmla="*/ 227383 h 389800"/>
                <a:gd name="connsiteX5" fmla="*/ 16259 w 438993"/>
                <a:gd name="connsiteY5" fmla="*/ 32483 h 389800"/>
                <a:gd name="connsiteX6" fmla="*/ 32518 w 438993"/>
                <a:gd name="connsiteY6" fmla="*/ 16242 h 389800"/>
                <a:gd name="connsiteX7" fmla="*/ 406475 w 438993"/>
                <a:gd name="connsiteY7" fmla="*/ 16242 h 389800"/>
                <a:gd name="connsiteX8" fmla="*/ 422734 w 438993"/>
                <a:gd name="connsiteY8" fmla="*/ 32483 h 389800"/>
                <a:gd name="connsiteX9" fmla="*/ 422734 w 438993"/>
                <a:gd name="connsiteY9" fmla="*/ 357317 h 389800"/>
                <a:gd name="connsiteX10" fmla="*/ 406475 w 438993"/>
                <a:gd name="connsiteY10" fmla="*/ 373558 h 389800"/>
                <a:gd name="connsiteX11" fmla="*/ 235756 w 438993"/>
                <a:gd name="connsiteY11" fmla="*/ 373558 h 389800"/>
                <a:gd name="connsiteX12" fmla="*/ 235756 w 438993"/>
                <a:gd name="connsiteY12" fmla="*/ 389800 h 389800"/>
                <a:gd name="connsiteX13" fmla="*/ 406475 w 438993"/>
                <a:gd name="connsiteY13" fmla="*/ 389800 h 389800"/>
                <a:gd name="connsiteX14" fmla="*/ 438993 w 438993"/>
                <a:gd name="connsiteY14" fmla="*/ 357317 h 389800"/>
                <a:gd name="connsiteX15" fmla="*/ 438993 w 438993"/>
                <a:gd name="connsiteY15" fmla="*/ 32483 h 389800"/>
                <a:gd name="connsiteX16" fmla="*/ 406475 w 438993"/>
                <a:gd name="connsiteY16" fmla="*/ 0 h 389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8993" h="389800">
                  <a:moveTo>
                    <a:pt x="406475" y="0"/>
                  </a:moveTo>
                  <a:lnTo>
                    <a:pt x="32518" y="0"/>
                  </a:lnTo>
                  <a:cubicBezTo>
                    <a:pt x="14560" y="0"/>
                    <a:pt x="0" y="14544"/>
                    <a:pt x="0" y="32483"/>
                  </a:cubicBezTo>
                  <a:lnTo>
                    <a:pt x="0" y="227383"/>
                  </a:lnTo>
                  <a:lnTo>
                    <a:pt x="16259" y="227383"/>
                  </a:lnTo>
                  <a:lnTo>
                    <a:pt x="16259" y="32483"/>
                  </a:lnTo>
                  <a:cubicBezTo>
                    <a:pt x="16259" y="23512"/>
                    <a:pt x="23537" y="16242"/>
                    <a:pt x="32518" y="16242"/>
                  </a:cubicBezTo>
                  <a:lnTo>
                    <a:pt x="406475" y="16242"/>
                  </a:lnTo>
                  <a:cubicBezTo>
                    <a:pt x="415456" y="16242"/>
                    <a:pt x="422734" y="23512"/>
                    <a:pt x="422734" y="32483"/>
                  </a:cubicBezTo>
                  <a:lnTo>
                    <a:pt x="422734" y="357317"/>
                  </a:lnTo>
                  <a:cubicBezTo>
                    <a:pt x="422734" y="366288"/>
                    <a:pt x="415456" y="373558"/>
                    <a:pt x="406475" y="373558"/>
                  </a:cubicBezTo>
                  <a:lnTo>
                    <a:pt x="235756" y="373558"/>
                  </a:lnTo>
                  <a:lnTo>
                    <a:pt x="235756" y="389800"/>
                  </a:lnTo>
                  <a:lnTo>
                    <a:pt x="406475" y="389800"/>
                  </a:lnTo>
                  <a:cubicBezTo>
                    <a:pt x="424433" y="389800"/>
                    <a:pt x="438993" y="375256"/>
                    <a:pt x="438993" y="357317"/>
                  </a:cubicBezTo>
                  <a:lnTo>
                    <a:pt x="438993" y="32483"/>
                  </a:lnTo>
                  <a:cubicBezTo>
                    <a:pt x="438993" y="14544"/>
                    <a:pt x="424433" y="0"/>
                    <a:pt x="406475" y="0"/>
                  </a:cubicBezTo>
                  <a:close/>
                </a:path>
              </a:pathLst>
            </a:custGeom>
            <a:grpFill/>
            <a:ln w="518" cap="flat">
              <a:noFill/>
              <a:prstDash val="solid"/>
              <a:miter/>
            </a:ln>
          </p:spPr>
          <p:txBody>
            <a:bodyPr rtlCol="0" anchor="ctr"/>
            <a:lstStyle/>
            <a:p>
              <a:endParaRPr lang="en-GB"/>
            </a:p>
          </p:txBody>
        </p:sp>
        <p:sp>
          <p:nvSpPr>
            <p:cNvPr id="47" name="Freeform: Shape 46">
              <a:extLst>
                <a:ext uri="{FF2B5EF4-FFF2-40B4-BE49-F238E27FC236}">
                  <a16:creationId xmlns:a16="http://schemas.microsoft.com/office/drawing/2014/main" id="{012CC1F6-37EA-993E-5786-CB8467193B83}"/>
                </a:ext>
              </a:extLst>
            </p:cNvPr>
            <p:cNvSpPr/>
            <p:nvPr/>
          </p:nvSpPr>
          <p:spPr>
            <a:xfrm>
              <a:off x="1658987" y="2481058"/>
              <a:ext cx="16259" cy="16241"/>
            </a:xfrm>
            <a:custGeom>
              <a:avLst/>
              <a:gdLst>
                <a:gd name="connsiteX0" fmla="*/ 0 w 16259"/>
                <a:gd name="connsiteY0" fmla="*/ 0 h 16241"/>
                <a:gd name="connsiteX1" fmla="*/ 16259 w 16259"/>
                <a:gd name="connsiteY1" fmla="*/ 0 h 16241"/>
                <a:gd name="connsiteX2" fmla="*/ 16259 w 16259"/>
                <a:gd name="connsiteY2" fmla="*/ 16242 h 16241"/>
                <a:gd name="connsiteX3" fmla="*/ 0 w 16259"/>
                <a:gd name="connsiteY3" fmla="*/ 16242 h 16241"/>
              </a:gdLst>
              <a:ahLst/>
              <a:cxnLst>
                <a:cxn ang="0">
                  <a:pos x="connsiteX0" y="connsiteY0"/>
                </a:cxn>
                <a:cxn ang="0">
                  <a:pos x="connsiteX1" y="connsiteY1"/>
                </a:cxn>
                <a:cxn ang="0">
                  <a:pos x="connsiteX2" y="connsiteY2"/>
                </a:cxn>
                <a:cxn ang="0">
                  <a:pos x="connsiteX3" y="connsiteY3"/>
                </a:cxn>
              </a:cxnLst>
              <a:rect l="l" t="t" r="r" b="b"/>
              <a:pathLst>
                <a:path w="16259" h="16241">
                  <a:moveTo>
                    <a:pt x="0" y="0"/>
                  </a:moveTo>
                  <a:lnTo>
                    <a:pt x="16259" y="0"/>
                  </a:lnTo>
                  <a:lnTo>
                    <a:pt x="16259" y="16242"/>
                  </a:lnTo>
                  <a:lnTo>
                    <a:pt x="0" y="16242"/>
                  </a:lnTo>
                  <a:close/>
                </a:path>
              </a:pathLst>
            </a:custGeom>
            <a:grpFill/>
            <a:ln w="518" cap="flat">
              <a:noFill/>
              <a:prstDash val="solid"/>
              <a:miter/>
            </a:ln>
          </p:spPr>
          <p:txBody>
            <a:bodyPr rtlCol="0" anchor="ctr"/>
            <a:lstStyle/>
            <a:p>
              <a:endParaRPr lang="en-GB"/>
            </a:p>
          </p:txBody>
        </p:sp>
        <p:sp>
          <p:nvSpPr>
            <p:cNvPr id="48" name="Freeform: Shape 47">
              <a:extLst>
                <a:ext uri="{FF2B5EF4-FFF2-40B4-BE49-F238E27FC236}">
                  <a16:creationId xmlns:a16="http://schemas.microsoft.com/office/drawing/2014/main" id="{03F10E81-FBCB-3CF6-D78F-1945750178B6}"/>
                </a:ext>
              </a:extLst>
            </p:cNvPr>
            <p:cNvSpPr/>
            <p:nvPr/>
          </p:nvSpPr>
          <p:spPr>
            <a:xfrm>
              <a:off x="1691505" y="2481058"/>
              <a:ext cx="16259" cy="16241"/>
            </a:xfrm>
            <a:custGeom>
              <a:avLst/>
              <a:gdLst>
                <a:gd name="connsiteX0" fmla="*/ 0 w 16259"/>
                <a:gd name="connsiteY0" fmla="*/ 0 h 16241"/>
                <a:gd name="connsiteX1" fmla="*/ 16259 w 16259"/>
                <a:gd name="connsiteY1" fmla="*/ 0 h 16241"/>
                <a:gd name="connsiteX2" fmla="*/ 16259 w 16259"/>
                <a:gd name="connsiteY2" fmla="*/ 16242 h 16241"/>
                <a:gd name="connsiteX3" fmla="*/ 0 w 16259"/>
                <a:gd name="connsiteY3" fmla="*/ 16242 h 16241"/>
              </a:gdLst>
              <a:ahLst/>
              <a:cxnLst>
                <a:cxn ang="0">
                  <a:pos x="connsiteX0" y="connsiteY0"/>
                </a:cxn>
                <a:cxn ang="0">
                  <a:pos x="connsiteX1" y="connsiteY1"/>
                </a:cxn>
                <a:cxn ang="0">
                  <a:pos x="connsiteX2" y="connsiteY2"/>
                </a:cxn>
                <a:cxn ang="0">
                  <a:pos x="connsiteX3" y="connsiteY3"/>
                </a:cxn>
              </a:cxnLst>
              <a:rect l="l" t="t" r="r" b="b"/>
              <a:pathLst>
                <a:path w="16259" h="16241">
                  <a:moveTo>
                    <a:pt x="0" y="0"/>
                  </a:moveTo>
                  <a:lnTo>
                    <a:pt x="16259" y="0"/>
                  </a:lnTo>
                  <a:lnTo>
                    <a:pt x="16259" y="16242"/>
                  </a:lnTo>
                  <a:lnTo>
                    <a:pt x="0" y="16242"/>
                  </a:lnTo>
                  <a:close/>
                </a:path>
              </a:pathLst>
            </a:custGeom>
            <a:grpFill/>
            <a:ln w="518" cap="flat">
              <a:noFill/>
              <a:prstDash val="solid"/>
              <a:miter/>
            </a:ln>
          </p:spPr>
          <p:txBody>
            <a:bodyPr rtlCol="0" anchor="ctr"/>
            <a:lstStyle/>
            <a:p>
              <a:endParaRPr lang="en-GB"/>
            </a:p>
          </p:txBody>
        </p:sp>
        <p:sp>
          <p:nvSpPr>
            <p:cNvPr id="49" name="Freeform: Shape 48">
              <a:extLst>
                <a:ext uri="{FF2B5EF4-FFF2-40B4-BE49-F238E27FC236}">
                  <a16:creationId xmlns:a16="http://schemas.microsoft.com/office/drawing/2014/main" id="{E644E87D-2FD5-6AF5-49CF-7BA4557ADA25}"/>
                </a:ext>
              </a:extLst>
            </p:cNvPr>
            <p:cNvSpPr/>
            <p:nvPr/>
          </p:nvSpPr>
          <p:spPr>
            <a:xfrm>
              <a:off x="1724023" y="2481058"/>
              <a:ext cx="16259" cy="16241"/>
            </a:xfrm>
            <a:custGeom>
              <a:avLst/>
              <a:gdLst>
                <a:gd name="connsiteX0" fmla="*/ 0 w 16259"/>
                <a:gd name="connsiteY0" fmla="*/ 0 h 16241"/>
                <a:gd name="connsiteX1" fmla="*/ 16259 w 16259"/>
                <a:gd name="connsiteY1" fmla="*/ 0 h 16241"/>
                <a:gd name="connsiteX2" fmla="*/ 16259 w 16259"/>
                <a:gd name="connsiteY2" fmla="*/ 16242 h 16241"/>
                <a:gd name="connsiteX3" fmla="*/ 0 w 16259"/>
                <a:gd name="connsiteY3" fmla="*/ 16242 h 16241"/>
              </a:gdLst>
              <a:ahLst/>
              <a:cxnLst>
                <a:cxn ang="0">
                  <a:pos x="connsiteX0" y="connsiteY0"/>
                </a:cxn>
                <a:cxn ang="0">
                  <a:pos x="connsiteX1" y="connsiteY1"/>
                </a:cxn>
                <a:cxn ang="0">
                  <a:pos x="connsiteX2" y="connsiteY2"/>
                </a:cxn>
                <a:cxn ang="0">
                  <a:pos x="connsiteX3" y="connsiteY3"/>
                </a:cxn>
              </a:cxnLst>
              <a:rect l="l" t="t" r="r" b="b"/>
              <a:pathLst>
                <a:path w="16259" h="16241">
                  <a:moveTo>
                    <a:pt x="0" y="0"/>
                  </a:moveTo>
                  <a:lnTo>
                    <a:pt x="16259" y="0"/>
                  </a:lnTo>
                  <a:lnTo>
                    <a:pt x="16259" y="16242"/>
                  </a:lnTo>
                  <a:lnTo>
                    <a:pt x="0" y="16242"/>
                  </a:lnTo>
                  <a:close/>
                </a:path>
              </a:pathLst>
            </a:custGeom>
            <a:grpFill/>
            <a:ln w="518" cap="flat">
              <a:noFill/>
              <a:prstDash val="solid"/>
              <a:miter/>
            </a:ln>
          </p:spPr>
          <p:txBody>
            <a:bodyPr rtlCol="0" anchor="ctr"/>
            <a:lstStyle/>
            <a:p>
              <a:endParaRPr lang="en-GB"/>
            </a:p>
          </p:txBody>
        </p:sp>
        <p:sp>
          <p:nvSpPr>
            <p:cNvPr id="50" name="Freeform: Shape 49">
              <a:extLst>
                <a:ext uri="{FF2B5EF4-FFF2-40B4-BE49-F238E27FC236}">
                  <a16:creationId xmlns:a16="http://schemas.microsoft.com/office/drawing/2014/main" id="{A145D650-899E-27AD-ABD8-616B347B5B4C}"/>
                </a:ext>
              </a:extLst>
            </p:cNvPr>
            <p:cNvSpPr/>
            <p:nvPr/>
          </p:nvSpPr>
          <p:spPr>
            <a:xfrm>
              <a:off x="1658987" y="2513541"/>
              <a:ext cx="373957" cy="16241"/>
            </a:xfrm>
            <a:custGeom>
              <a:avLst/>
              <a:gdLst>
                <a:gd name="connsiteX0" fmla="*/ 0 w 373957"/>
                <a:gd name="connsiteY0" fmla="*/ 0 h 16241"/>
                <a:gd name="connsiteX1" fmla="*/ 373957 w 373957"/>
                <a:gd name="connsiteY1" fmla="*/ 0 h 16241"/>
                <a:gd name="connsiteX2" fmla="*/ 373957 w 373957"/>
                <a:gd name="connsiteY2" fmla="*/ 16242 h 16241"/>
                <a:gd name="connsiteX3" fmla="*/ 0 w 373957"/>
                <a:gd name="connsiteY3" fmla="*/ 16242 h 16241"/>
              </a:gdLst>
              <a:ahLst/>
              <a:cxnLst>
                <a:cxn ang="0">
                  <a:pos x="connsiteX0" y="connsiteY0"/>
                </a:cxn>
                <a:cxn ang="0">
                  <a:pos x="connsiteX1" y="connsiteY1"/>
                </a:cxn>
                <a:cxn ang="0">
                  <a:pos x="connsiteX2" y="connsiteY2"/>
                </a:cxn>
                <a:cxn ang="0">
                  <a:pos x="connsiteX3" y="connsiteY3"/>
                </a:cxn>
              </a:cxnLst>
              <a:rect l="l" t="t" r="r" b="b"/>
              <a:pathLst>
                <a:path w="373957" h="16241">
                  <a:moveTo>
                    <a:pt x="0" y="0"/>
                  </a:moveTo>
                  <a:lnTo>
                    <a:pt x="373957" y="0"/>
                  </a:lnTo>
                  <a:lnTo>
                    <a:pt x="373957" y="16242"/>
                  </a:lnTo>
                  <a:lnTo>
                    <a:pt x="0" y="16242"/>
                  </a:lnTo>
                  <a:close/>
                </a:path>
              </a:pathLst>
            </a:custGeom>
            <a:grpFill/>
            <a:ln w="518"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2725EF42-3E65-BDE9-518F-97E841E2DCDB}"/>
                </a:ext>
              </a:extLst>
            </p:cNvPr>
            <p:cNvSpPr/>
            <p:nvPr/>
          </p:nvSpPr>
          <p:spPr>
            <a:xfrm>
              <a:off x="1658987" y="2554145"/>
              <a:ext cx="113813" cy="97450"/>
            </a:xfrm>
            <a:custGeom>
              <a:avLst/>
              <a:gdLst>
                <a:gd name="connsiteX0" fmla="*/ 0 w 113813"/>
                <a:gd name="connsiteY0" fmla="*/ 89329 h 97450"/>
                <a:gd name="connsiteX1" fmla="*/ 8130 w 113813"/>
                <a:gd name="connsiteY1" fmla="*/ 97450 h 97450"/>
                <a:gd name="connsiteX2" fmla="*/ 105684 w 113813"/>
                <a:gd name="connsiteY2" fmla="*/ 97450 h 97450"/>
                <a:gd name="connsiteX3" fmla="*/ 113813 w 113813"/>
                <a:gd name="connsiteY3" fmla="*/ 89329 h 97450"/>
                <a:gd name="connsiteX4" fmla="*/ 113813 w 113813"/>
                <a:gd name="connsiteY4" fmla="*/ 24363 h 97450"/>
                <a:gd name="connsiteX5" fmla="*/ 105684 w 113813"/>
                <a:gd name="connsiteY5" fmla="*/ 16242 h 97450"/>
                <a:gd name="connsiteX6" fmla="*/ 68402 w 113813"/>
                <a:gd name="connsiteY6" fmla="*/ 16242 h 97450"/>
                <a:gd name="connsiteX7" fmla="*/ 54525 w 113813"/>
                <a:gd name="connsiteY7" fmla="*/ 2379 h 97450"/>
                <a:gd name="connsiteX8" fmla="*/ 48777 w 113813"/>
                <a:gd name="connsiteY8" fmla="*/ 0 h 97450"/>
                <a:gd name="connsiteX9" fmla="*/ 8130 w 113813"/>
                <a:gd name="connsiteY9" fmla="*/ 0 h 97450"/>
                <a:gd name="connsiteX10" fmla="*/ 0 w 113813"/>
                <a:gd name="connsiteY10" fmla="*/ 8121 h 97450"/>
                <a:gd name="connsiteX11" fmla="*/ 16259 w 113813"/>
                <a:gd name="connsiteY11" fmla="*/ 16242 h 97450"/>
                <a:gd name="connsiteX12" fmla="*/ 45411 w 113813"/>
                <a:gd name="connsiteY12" fmla="*/ 16242 h 97450"/>
                <a:gd name="connsiteX13" fmla="*/ 59288 w 113813"/>
                <a:gd name="connsiteY13" fmla="*/ 30104 h 97450"/>
                <a:gd name="connsiteX14" fmla="*/ 65036 w 113813"/>
                <a:gd name="connsiteY14" fmla="*/ 32483 h 97450"/>
                <a:gd name="connsiteX15" fmla="*/ 97554 w 113813"/>
                <a:gd name="connsiteY15" fmla="*/ 32483 h 97450"/>
                <a:gd name="connsiteX16" fmla="*/ 97554 w 113813"/>
                <a:gd name="connsiteY16" fmla="*/ 81208 h 97450"/>
                <a:gd name="connsiteX17" fmla="*/ 16259 w 113813"/>
                <a:gd name="connsiteY17" fmla="*/ 81208 h 9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3813" h="97450">
                  <a:moveTo>
                    <a:pt x="0" y="89329"/>
                  </a:moveTo>
                  <a:cubicBezTo>
                    <a:pt x="0" y="93816"/>
                    <a:pt x="3638" y="97450"/>
                    <a:pt x="8130" y="97450"/>
                  </a:cubicBezTo>
                  <a:lnTo>
                    <a:pt x="105684" y="97450"/>
                  </a:lnTo>
                  <a:cubicBezTo>
                    <a:pt x="110175" y="97450"/>
                    <a:pt x="113813" y="93816"/>
                    <a:pt x="113813" y="89329"/>
                  </a:cubicBezTo>
                  <a:lnTo>
                    <a:pt x="113813" y="24363"/>
                  </a:lnTo>
                  <a:cubicBezTo>
                    <a:pt x="113813" y="19876"/>
                    <a:pt x="110175" y="16242"/>
                    <a:pt x="105684" y="16242"/>
                  </a:cubicBezTo>
                  <a:lnTo>
                    <a:pt x="68402" y="16242"/>
                  </a:lnTo>
                  <a:lnTo>
                    <a:pt x="54525" y="2379"/>
                  </a:lnTo>
                  <a:cubicBezTo>
                    <a:pt x="53000" y="857"/>
                    <a:pt x="50934" y="0"/>
                    <a:pt x="48777" y="0"/>
                  </a:cubicBezTo>
                  <a:lnTo>
                    <a:pt x="8130" y="0"/>
                  </a:lnTo>
                  <a:cubicBezTo>
                    <a:pt x="3638" y="0"/>
                    <a:pt x="0" y="3634"/>
                    <a:pt x="0" y="8121"/>
                  </a:cubicBezTo>
                  <a:close/>
                  <a:moveTo>
                    <a:pt x="16259" y="16242"/>
                  </a:moveTo>
                  <a:lnTo>
                    <a:pt x="45411" y="16242"/>
                  </a:lnTo>
                  <a:lnTo>
                    <a:pt x="59288" y="30104"/>
                  </a:lnTo>
                  <a:cubicBezTo>
                    <a:pt x="60813" y="31627"/>
                    <a:pt x="62879" y="32483"/>
                    <a:pt x="65036" y="32483"/>
                  </a:cubicBezTo>
                  <a:lnTo>
                    <a:pt x="97554" y="32483"/>
                  </a:lnTo>
                  <a:lnTo>
                    <a:pt x="97554" y="81208"/>
                  </a:lnTo>
                  <a:lnTo>
                    <a:pt x="16259" y="81208"/>
                  </a:lnTo>
                  <a:close/>
                </a:path>
              </a:pathLst>
            </a:custGeom>
            <a:grpFill/>
            <a:ln w="518"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1353271A-FB34-9714-A880-C9293F5A300D}"/>
                </a:ext>
              </a:extLst>
            </p:cNvPr>
            <p:cNvSpPr/>
            <p:nvPr/>
          </p:nvSpPr>
          <p:spPr>
            <a:xfrm>
              <a:off x="1789059" y="2554145"/>
              <a:ext cx="113813" cy="97450"/>
            </a:xfrm>
            <a:custGeom>
              <a:avLst/>
              <a:gdLst>
                <a:gd name="connsiteX0" fmla="*/ 113813 w 113813"/>
                <a:gd name="connsiteY0" fmla="*/ 24363 h 97450"/>
                <a:gd name="connsiteX1" fmla="*/ 105684 w 113813"/>
                <a:gd name="connsiteY1" fmla="*/ 16242 h 97450"/>
                <a:gd name="connsiteX2" fmla="*/ 68402 w 113813"/>
                <a:gd name="connsiteY2" fmla="*/ 16242 h 97450"/>
                <a:gd name="connsiteX3" fmla="*/ 54525 w 113813"/>
                <a:gd name="connsiteY3" fmla="*/ 2379 h 97450"/>
                <a:gd name="connsiteX4" fmla="*/ 48777 w 113813"/>
                <a:gd name="connsiteY4" fmla="*/ 0 h 97450"/>
                <a:gd name="connsiteX5" fmla="*/ 8130 w 113813"/>
                <a:gd name="connsiteY5" fmla="*/ 0 h 97450"/>
                <a:gd name="connsiteX6" fmla="*/ 0 w 113813"/>
                <a:gd name="connsiteY6" fmla="*/ 8121 h 97450"/>
                <a:gd name="connsiteX7" fmla="*/ 0 w 113813"/>
                <a:gd name="connsiteY7" fmla="*/ 89329 h 97450"/>
                <a:gd name="connsiteX8" fmla="*/ 8130 w 113813"/>
                <a:gd name="connsiteY8" fmla="*/ 97450 h 97450"/>
                <a:gd name="connsiteX9" fmla="*/ 105684 w 113813"/>
                <a:gd name="connsiteY9" fmla="*/ 97450 h 97450"/>
                <a:gd name="connsiteX10" fmla="*/ 113813 w 113813"/>
                <a:gd name="connsiteY10" fmla="*/ 89329 h 97450"/>
                <a:gd name="connsiteX11" fmla="*/ 97554 w 113813"/>
                <a:gd name="connsiteY11" fmla="*/ 81208 h 97450"/>
                <a:gd name="connsiteX12" fmla="*/ 16259 w 113813"/>
                <a:gd name="connsiteY12" fmla="*/ 81208 h 97450"/>
                <a:gd name="connsiteX13" fmla="*/ 16259 w 113813"/>
                <a:gd name="connsiteY13" fmla="*/ 16242 h 97450"/>
                <a:gd name="connsiteX14" fmla="*/ 45411 w 113813"/>
                <a:gd name="connsiteY14" fmla="*/ 16242 h 97450"/>
                <a:gd name="connsiteX15" fmla="*/ 59288 w 113813"/>
                <a:gd name="connsiteY15" fmla="*/ 30104 h 97450"/>
                <a:gd name="connsiteX16" fmla="*/ 65036 w 113813"/>
                <a:gd name="connsiteY16" fmla="*/ 32483 h 97450"/>
                <a:gd name="connsiteX17" fmla="*/ 97554 w 113813"/>
                <a:gd name="connsiteY17" fmla="*/ 32483 h 9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3813" h="97450">
                  <a:moveTo>
                    <a:pt x="113813" y="24363"/>
                  </a:moveTo>
                  <a:cubicBezTo>
                    <a:pt x="113813" y="19876"/>
                    <a:pt x="110175" y="16242"/>
                    <a:pt x="105684" y="16242"/>
                  </a:cubicBezTo>
                  <a:lnTo>
                    <a:pt x="68402" y="16242"/>
                  </a:lnTo>
                  <a:lnTo>
                    <a:pt x="54525" y="2379"/>
                  </a:lnTo>
                  <a:cubicBezTo>
                    <a:pt x="53000" y="857"/>
                    <a:pt x="50934" y="0"/>
                    <a:pt x="48777" y="0"/>
                  </a:cubicBezTo>
                  <a:lnTo>
                    <a:pt x="8130" y="0"/>
                  </a:lnTo>
                  <a:cubicBezTo>
                    <a:pt x="3638" y="0"/>
                    <a:pt x="0" y="3634"/>
                    <a:pt x="0" y="8121"/>
                  </a:cubicBezTo>
                  <a:lnTo>
                    <a:pt x="0" y="89329"/>
                  </a:lnTo>
                  <a:cubicBezTo>
                    <a:pt x="0" y="93816"/>
                    <a:pt x="3638" y="97450"/>
                    <a:pt x="8130" y="97450"/>
                  </a:cubicBezTo>
                  <a:lnTo>
                    <a:pt x="105684" y="97450"/>
                  </a:lnTo>
                  <a:cubicBezTo>
                    <a:pt x="110175" y="97450"/>
                    <a:pt x="113813" y="93816"/>
                    <a:pt x="113813" y="89329"/>
                  </a:cubicBezTo>
                  <a:close/>
                  <a:moveTo>
                    <a:pt x="97554" y="81208"/>
                  </a:moveTo>
                  <a:lnTo>
                    <a:pt x="16259" y="81208"/>
                  </a:lnTo>
                  <a:lnTo>
                    <a:pt x="16259" y="16242"/>
                  </a:lnTo>
                  <a:lnTo>
                    <a:pt x="45411" y="16242"/>
                  </a:lnTo>
                  <a:lnTo>
                    <a:pt x="59288" y="30104"/>
                  </a:lnTo>
                  <a:cubicBezTo>
                    <a:pt x="60813" y="31627"/>
                    <a:pt x="62879" y="32483"/>
                    <a:pt x="65036" y="32483"/>
                  </a:cubicBezTo>
                  <a:lnTo>
                    <a:pt x="97554" y="32483"/>
                  </a:lnTo>
                  <a:close/>
                </a:path>
              </a:pathLst>
            </a:custGeom>
            <a:grpFill/>
            <a:ln w="518"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45B63C8E-4B6E-4881-F441-09F91B0F7705}"/>
                </a:ext>
              </a:extLst>
            </p:cNvPr>
            <p:cNvSpPr/>
            <p:nvPr/>
          </p:nvSpPr>
          <p:spPr>
            <a:xfrm>
              <a:off x="1919131" y="2554145"/>
              <a:ext cx="113813" cy="97450"/>
            </a:xfrm>
            <a:custGeom>
              <a:avLst/>
              <a:gdLst>
                <a:gd name="connsiteX0" fmla="*/ 113813 w 113813"/>
                <a:gd name="connsiteY0" fmla="*/ 24363 h 97450"/>
                <a:gd name="connsiteX1" fmla="*/ 105684 w 113813"/>
                <a:gd name="connsiteY1" fmla="*/ 16242 h 97450"/>
                <a:gd name="connsiteX2" fmla="*/ 68402 w 113813"/>
                <a:gd name="connsiteY2" fmla="*/ 16242 h 97450"/>
                <a:gd name="connsiteX3" fmla="*/ 54525 w 113813"/>
                <a:gd name="connsiteY3" fmla="*/ 2379 h 97450"/>
                <a:gd name="connsiteX4" fmla="*/ 48777 w 113813"/>
                <a:gd name="connsiteY4" fmla="*/ 0 h 97450"/>
                <a:gd name="connsiteX5" fmla="*/ 8130 w 113813"/>
                <a:gd name="connsiteY5" fmla="*/ 0 h 97450"/>
                <a:gd name="connsiteX6" fmla="*/ 0 w 113813"/>
                <a:gd name="connsiteY6" fmla="*/ 8121 h 97450"/>
                <a:gd name="connsiteX7" fmla="*/ 0 w 113813"/>
                <a:gd name="connsiteY7" fmla="*/ 89329 h 97450"/>
                <a:gd name="connsiteX8" fmla="*/ 8130 w 113813"/>
                <a:gd name="connsiteY8" fmla="*/ 97450 h 97450"/>
                <a:gd name="connsiteX9" fmla="*/ 105684 w 113813"/>
                <a:gd name="connsiteY9" fmla="*/ 97450 h 97450"/>
                <a:gd name="connsiteX10" fmla="*/ 113813 w 113813"/>
                <a:gd name="connsiteY10" fmla="*/ 89329 h 97450"/>
                <a:gd name="connsiteX11" fmla="*/ 97554 w 113813"/>
                <a:gd name="connsiteY11" fmla="*/ 81208 h 97450"/>
                <a:gd name="connsiteX12" fmla="*/ 16259 w 113813"/>
                <a:gd name="connsiteY12" fmla="*/ 81208 h 97450"/>
                <a:gd name="connsiteX13" fmla="*/ 16259 w 113813"/>
                <a:gd name="connsiteY13" fmla="*/ 16242 h 97450"/>
                <a:gd name="connsiteX14" fmla="*/ 45411 w 113813"/>
                <a:gd name="connsiteY14" fmla="*/ 16242 h 97450"/>
                <a:gd name="connsiteX15" fmla="*/ 59288 w 113813"/>
                <a:gd name="connsiteY15" fmla="*/ 30104 h 97450"/>
                <a:gd name="connsiteX16" fmla="*/ 65036 w 113813"/>
                <a:gd name="connsiteY16" fmla="*/ 32483 h 97450"/>
                <a:gd name="connsiteX17" fmla="*/ 97554 w 113813"/>
                <a:gd name="connsiteY17" fmla="*/ 32483 h 9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3813" h="97450">
                  <a:moveTo>
                    <a:pt x="113813" y="24363"/>
                  </a:moveTo>
                  <a:cubicBezTo>
                    <a:pt x="113813" y="19876"/>
                    <a:pt x="110175" y="16242"/>
                    <a:pt x="105684" y="16242"/>
                  </a:cubicBezTo>
                  <a:lnTo>
                    <a:pt x="68402" y="16242"/>
                  </a:lnTo>
                  <a:lnTo>
                    <a:pt x="54525" y="2379"/>
                  </a:lnTo>
                  <a:cubicBezTo>
                    <a:pt x="53000" y="857"/>
                    <a:pt x="50934" y="0"/>
                    <a:pt x="48777" y="0"/>
                  </a:cubicBezTo>
                  <a:lnTo>
                    <a:pt x="8130" y="0"/>
                  </a:lnTo>
                  <a:cubicBezTo>
                    <a:pt x="3638" y="0"/>
                    <a:pt x="0" y="3634"/>
                    <a:pt x="0" y="8121"/>
                  </a:cubicBezTo>
                  <a:lnTo>
                    <a:pt x="0" y="89329"/>
                  </a:lnTo>
                  <a:cubicBezTo>
                    <a:pt x="0" y="93816"/>
                    <a:pt x="3638" y="97450"/>
                    <a:pt x="8130" y="97450"/>
                  </a:cubicBezTo>
                  <a:lnTo>
                    <a:pt x="105684" y="97450"/>
                  </a:lnTo>
                  <a:cubicBezTo>
                    <a:pt x="110175" y="97450"/>
                    <a:pt x="113813" y="93816"/>
                    <a:pt x="113813" y="89329"/>
                  </a:cubicBezTo>
                  <a:close/>
                  <a:moveTo>
                    <a:pt x="97554" y="81208"/>
                  </a:moveTo>
                  <a:lnTo>
                    <a:pt x="16259" y="81208"/>
                  </a:lnTo>
                  <a:lnTo>
                    <a:pt x="16259" y="16242"/>
                  </a:lnTo>
                  <a:lnTo>
                    <a:pt x="45411" y="16242"/>
                  </a:lnTo>
                  <a:lnTo>
                    <a:pt x="59288" y="30104"/>
                  </a:lnTo>
                  <a:cubicBezTo>
                    <a:pt x="60813" y="31627"/>
                    <a:pt x="62879" y="32483"/>
                    <a:pt x="65036" y="32483"/>
                  </a:cubicBezTo>
                  <a:lnTo>
                    <a:pt x="97554" y="32483"/>
                  </a:lnTo>
                  <a:close/>
                </a:path>
              </a:pathLst>
            </a:custGeom>
            <a:grpFill/>
            <a:ln w="518"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E14C1690-6335-15F0-75FB-C61349881C85}"/>
                </a:ext>
              </a:extLst>
            </p:cNvPr>
            <p:cNvSpPr/>
            <p:nvPr/>
          </p:nvSpPr>
          <p:spPr>
            <a:xfrm>
              <a:off x="1813448" y="2684079"/>
              <a:ext cx="89424" cy="97450"/>
            </a:xfrm>
            <a:custGeom>
              <a:avLst/>
              <a:gdLst>
                <a:gd name="connsiteX0" fmla="*/ 48777 w 89424"/>
                <a:gd name="connsiteY0" fmla="*/ 81208 h 97450"/>
                <a:gd name="connsiteX1" fmla="*/ 48777 w 89424"/>
                <a:gd name="connsiteY1" fmla="*/ 97450 h 97450"/>
                <a:gd name="connsiteX2" fmla="*/ 81295 w 89424"/>
                <a:gd name="connsiteY2" fmla="*/ 97450 h 97450"/>
                <a:gd name="connsiteX3" fmla="*/ 89425 w 89424"/>
                <a:gd name="connsiteY3" fmla="*/ 89329 h 97450"/>
                <a:gd name="connsiteX4" fmla="*/ 89425 w 89424"/>
                <a:gd name="connsiteY4" fmla="*/ 24363 h 97450"/>
                <a:gd name="connsiteX5" fmla="*/ 81295 w 89424"/>
                <a:gd name="connsiteY5" fmla="*/ 16242 h 97450"/>
                <a:gd name="connsiteX6" fmla="*/ 44013 w 89424"/>
                <a:gd name="connsiteY6" fmla="*/ 16242 h 97450"/>
                <a:gd name="connsiteX7" fmla="*/ 30136 w 89424"/>
                <a:gd name="connsiteY7" fmla="*/ 2379 h 97450"/>
                <a:gd name="connsiteX8" fmla="*/ 24389 w 89424"/>
                <a:gd name="connsiteY8" fmla="*/ 0 h 97450"/>
                <a:gd name="connsiteX9" fmla="*/ 0 w 89424"/>
                <a:gd name="connsiteY9" fmla="*/ 0 h 97450"/>
                <a:gd name="connsiteX10" fmla="*/ 0 w 89424"/>
                <a:gd name="connsiteY10" fmla="*/ 16242 h 97450"/>
                <a:gd name="connsiteX11" fmla="*/ 21023 w 89424"/>
                <a:gd name="connsiteY11" fmla="*/ 16242 h 97450"/>
                <a:gd name="connsiteX12" fmla="*/ 34900 w 89424"/>
                <a:gd name="connsiteY12" fmla="*/ 30104 h 97450"/>
                <a:gd name="connsiteX13" fmla="*/ 40648 w 89424"/>
                <a:gd name="connsiteY13" fmla="*/ 32483 h 97450"/>
                <a:gd name="connsiteX14" fmla="*/ 73166 w 89424"/>
                <a:gd name="connsiteY14" fmla="*/ 32483 h 97450"/>
                <a:gd name="connsiteX15" fmla="*/ 73166 w 89424"/>
                <a:gd name="connsiteY15" fmla="*/ 81208 h 9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424" h="97450">
                  <a:moveTo>
                    <a:pt x="48777" y="81208"/>
                  </a:moveTo>
                  <a:lnTo>
                    <a:pt x="48777" y="97450"/>
                  </a:lnTo>
                  <a:lnTo>
                    <a:pt x="81295" y="97450"/>
                  </a:lnTo>
                  <a:cubicBezTo>
                    <a:pt x="85787" y="97450"/>
                    <a:pt x="89425" y="93816"/>
                    <a:pt x="89425" y="89329"/>
                  </a:cubicBezTo>
                  <a:lnTo>
                    <a:pt x="89425" y="24363"/>
                  </a:lnTo>
                  <a:cubicBezTo>
                    <a:pt x="89425" y="19876"/>
                    <a:pt x="85787" y="16242"/>
                    <a:pt x="81295" y="16242"/>
                  </a:cubicBezTo>
                  <a:lnTo>
                    <a:pt x="44013" y="16242"/>
                  </a:lnTo>
                  <a:lnTo>
                    <a:pt x="30136" y="2379"/>
                  </a:lnTo>
                  <a:cubicBezTo>
                    <a:pt x="28612" y="857"/>
                    <a:pt x="26545" y="0"/>
                    <a:pt x="24389" y="0"/>
                  </a:cubicBezTo>
                  <a:lnTo>
                    <a:pt x="0" y="0"/>
                  </a:lnTo>
                  <a:lnTo>
                    <a:pt x="0" y="16242"/>
                  </a:lnTo>
                  <a:lnTo>
                    <a:pt x="21023" y="16242"/>
                  </a:lnTo>
                  <a:lnTo>
                    <a:pt x="34900" y="30104"/>
                  </a:lnTo>
                  <a:cubicBezTo>
                    <a:pt x="36424" y="31627"/>
                    <a:pt x="38491" y="32483"/>
                    <a:pt x="40648" y="32483"/>
                  </a:cubicBezTo>
                  <a:lnTo>
                    <a:pt x="73166" y="32483"/>
                  </a:lnTo>
                  <a:lnTo>
                    <a:pt x="73166" y="81208"/>
                  </a:lnTo>
                  <a:close/>
                </a:path>
              </a:pathLst>
            </a:custGeom>
            <a:grpFill/>
            <a:ln w="518" cap="flat">
              <a:no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56988B12-F785-870D-3D81-2969A83CA46C}"/>
                </a:ext>
              </a:extLst>
            </p:cNvPr>
            <p:cNvSpPr/>
            <p:nvPr/>
          </p:nvSpPr>
          <p:spPr>
            <a:xfrm>
              <a:off x="1919131" y="2684079"/>
              <a:ext cx="113813" cy="97450"/>
            </a:xfrm>
            <a:custGeom>
              <a:avLst/>
              <a:gdLst>
                <a:gd name="connsiteX0" fmla="*/ 105684 w 113813"/>
                <a:gd name="connsiteY0" fmla="*/ 16242 h 97450"/>
                <a:gd name="connsiteX1" fmla="*/ 68402 w 113813"/>
                <a:gd name="connsiteY1" fmla="*/ 16242 h 97450"/>
                <a:gd name="connsiteX2" fmla="*/ 54525 w 113813"/>
                <a:gd name="connsiteY2" fmla="*/ 2379 h 97450"/>
                <a:gd name="connsiteX3" fmla="*/ 48777 w 113813"/>
                <a:gd name="connsiteY3" fmla="*/ 0 h 97450"/>
                <a:gd name="connsiteX4" fmla="*/ 8130 w 113813"/>
                <a:gd name="connsiteY4" fmla="*/ 0 h 97450"/>
                <a:gd name="connsiteX5" fmla="*/ 0 w 113813"/>
                <a:gd name="connsiteY5" fmla="*/ 8121 h 97450"/>
                <a:gd name="connsiteX6" fmla="*/ 0 w 113813"/>
                <a:gd name="connsiteY6" fmla="*/ 89329 h 97450"/>
                <a:gd name="connsiteX7" fmla="*/ 8130 w 113813"/>
                <a:gd name="connsiteY7" fmla="*/ 97450 h 97450"/>
                <a:gd name="connsiteX8" fmla="*/ 105684 w 113813"/>
                <a:gd name="connsiteY8" fmla="*/ 97450 h 97450"/>
                <a:gd name="connsiteX9" fmla="*/ 113813 w 113813"/>
                <a:gd name="connsiteY9" fmla="*/ 89329 h 97450"/>
                <a:gd name="connsiteX10" fmla="*/ 113813 w 113813"/>
                <a:gd name="connsiteY10" fmla="*/ 24363 h 97450"/>
                <a:gd name="connsiteX11" fmla="*/ 105684 w 113813"/>
                <a:gd name="connsiteY11" fmla="*/ 16242 h 97450"/>
                <a:gd name="connsiteX12" fmla="*/ 97554 w 113813"/>
                <a:gd name="connsiteY12" fmla="*/ 81208 h 97450"/>
                <a:gd name="connsiteX13" fmla="*/ 16259 w 113813"/>
                <a:gd name="connsiteY13" fmla="*/ 81208 h 97450"/>
                <a:gd name="connsiteX14" fmla="*/ 16259 w 113813"/>
                <a:gd name="connsiteY14" fmla="*/ 16242 h 97450"/>
                <a:gd name="connsiteX15" fmla="*/ 45411 w 113813"/>
                <a:gd name="connsiteY15" fmla="*/ 16242 h 97450"/>
                <a:gd name="connsiteX16" fmla="*/ 59288 w 113813"/>
                <a:gd name="connsiteY16" fmla="*/ 30104 h 97450"/>
                <a:gd name="connsiteX17" fmla="*/ 65036 w 113813"/>
                <a:gd name="connsiteY17" fmla="*/ 32483 h 97450"/>
                <a:gd name="connsiteX18" fmla="*/ 97554 w 113813"/>
                <a:gd name="connsiteY18" fmla="*/ 32483 h 9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3813" h="97450">
                  <a:moveTo>
                    <a:pt x="105684" y="16242"/>
                  </a:moveTo>
                  <a:lnTo>
                    <a:pt x="68402" y="16242"/>
                  </a:lnTo>
                  <a:lnTo>
                    <a:pt x="54525" y="2379"/>
                  </a:lnTo>
                  <a:cubicBezTo>
                    <a:pt x="53000" y="857"/>
                    <a:pt x="50934" y="0"/>
                    <a:pt x="48777" y="0"/>
                  </a:cubicBezTo>
                  <a:lnTo>
                    <a:pt x="8130" y="0"/>
                  </a:lnTo>
                  <a:cubicBezTo>
                    <a:pt x="3638" y="0"/>
                    <a:pt x="0" y="3634"/>
                    <a:pt x="0" y="8121"/>
                  </a:cubicBezTo>
                  <a:lnTo>
                    <a:pt x="0" y="89329"/>
                  </a:lnTo>
                  <a:cubicBezTo>
                    <a:pt x="0" y="93816"/>
                    <a:pt x="3638" y="97450"/>
                    <a:pt x="8130" y="97450"/>
                  </a:cubicBezTo>
                  <a:lnTo>
                    <a:pt x="105684" y="97450"/>
                  </a:lnTo>
                  <a:cubicBezTo>
                    <a:pt x="110175" y="97450"/>
                    <a:pt x="113813" y="93816"/>
                    <a:pt x="113813" y="89329"/>
                  </a:cubicBezTo>
                  <a:lnTo>
                    <a:pt x="113813" y="24363"/>
                  </a:lnTo>
                  <a:cubicBezTo>
                    <a:pt x="113813" y="19876"/>
                    <a:pt x="110175" y="16242"/>
                    <a:pt x="105684" y="16242"/>
                  </a:cubicBezTo>
                  <a:close/>
                  <a:moveTo>
                    <a:pt x="97554" y="81208"/>
                  </a:moveTo>
                  <a:lnTo>
                    <a:pt x="16259" y="81208"/>
                  </a:lnTo>
                  <a:lnTo>
                    <a:pt x="16259" y="16242"/>
                  </a:lnTo>
                  <a:lnTo>
                    <a:pt x="45411" y="16242"/>
                  </a:lnTo>
                  <a:lnTo>
                    <a:pt x="59288" y="30104"/>
                  </a:lnTo>
                  <a:cubicBezTo>
                    <a:pt x="60813" y="31627"/>
                    <a:pt x="62879" y="32483"/>
                    <a:pt x="65036" y="32483"/>
                  </a:cubicBezTo>
                  <a:lnTo>
                    <a:pt x="97554" y="32483"/>
                  </a:lnTo>
                  <a:close/>
                </a:path>
              </a:pathLst>
            </a:custGeom>
            <a:grpFill/>
            <a:ln w="518" cap="flat">
              <a:noFill/>
              <a:prstDash val="solid"/>
              <a:miter/>
            </a:ln>
          </p:spPr>
          <p:txBody>
            <a:bodyPr rtlCol="0" anchor="ctr"/>
            <a:lstStyle/>
            <a:p>
              <a:endParaRPr lang="en-GB"/>
            </a:p>
          </p:txBody>
        </p:sp>
        <p:sp>
          <p:nvSpPr>
            <p:cNvPr id="56" name="Freeform: Shape 55">
              <a:extLst>
                <a:ext uri="{FF2B5EF4-FFF2-40B4-BE49-F238E27FC236}">
                  <a16:creationId xmlns:a16="http://schemas.microsoft.com/office/drawing/2014/main" id="{1F26FACE-4ECE-638C-5AF3-DFF8EEEDD2EE}"/>
                </a:ext>
              </a:extLst>
            </p:cNvPr>
            <p:cNvSpPr/>
            <p:nvPr/>
          </p:nvSpPr>
          <p:spPr>
            <a:xfrm>
              <a:off x="1585822" y="2675958"/>
              <a:ext cx="260144" cy="259866"/>
            </a:xfrm>
            <a:custGeom>
              <a:avLst/>
              <a:gdLst>
                <a:gd name="connsiteX0" fmla="*/ 29616 w 260144"/>
                <a:gd name="connsiteY0" fmla="*/ 97450 h 259866"/>
                <a:gd name="connsiteX1" fmla="*/ 8130 w 260144"/>
                <a:gd name="connsiteY1" fmla="*/ 97450 h 259866"/>
                <a:gd name="connsiteX2" fmla="*/ 0 w 260144"/>
                <a:gd name="connsiteY2" fmla="*/ 105571 h 259866"/>
                <a:gd name="connsiteX3" fmla="*/ 0 w 260144"/>
                <a:gd name="connsiteY3" fmla="*/ 154296 h 259866"/>
                <a:gd name="connsiteX4" fmla="*/ 8130 w 260144"/>
                <a:gd name="connsiteY4" fmla="*/ 162417 h 259866"/>
                <a:gd name="connsiteX5" fmla="*/ 29616 w 260144"/>
                <a:gd name="connsiteY5" fmla="*/ 162417 h 259866"/>
                <a:gd name="connsiteX6" fmla="*/ 36038 w 260144"/>
                <a:gd name="connsiteY6" fmla="*/ 177928 h 259866"/>
                <a:gd name="connsiteX7" fmla="*/ 20852 w 260144"/>
                <a:gd name="connsiteY7" fmla="*/ 193095 h 259866"/>
                <a:gd name="connsiteX8" fmla="*/ 20852 w 260144"/>
                <a:gd name="connsiteY8" fmla="*/ 204580 h 259866"/>
                <a:gd name="connsiteX9" fmla="*/ 55346 w 260144"/>
                <a:gd name="connsiteY9" fmla="*/ 239037 h 259866"/>
                <a:gd name="connsiteX10" fmla="*/ 66843 w 260144"/>
                <a:gd name="connsiteY10" fmla="*/ 239037 h 259866"/>
                <a:gd name="connsiteX11" fmla="*/ 82027 w 260144"/>
                <a:gd name="connsiteY11" fmla="*/ 223867 h 259866"/>
                <a:gd name="connsiteX12" fmla="*/ 97554 w 260144"/>
                <a:gd name="connsiteY12" fmla="*/ 230282 h 259866"/>
                <a:gd name="connsiteX13" fmla="*/ 97554 w 260144"/>
                <a:gd name="connsiteY13" fmla="*/ 251746 h 259866"/>
                <a:gd name="connsiteX14" fmla="*/ 105684 w 260144"/>
                <a:gd name="connsiteY14" fmla="*/ 259867 h 259866"/>
                <a:gd name="connsiteX15" fmla="*/ 154461 w 260144"/>
                <a:gd name="connsiteY15" fmla="*/ 259867 h 259866"/>
                <a:gd name="connsiteX16" fmla="*/ 162590 w 260144"/>
                <a:gd name="connsiteY16" fmla="*/ 251746 h 259866"/>
                <a:gd name="connsiteX17" fmla="*/ 162590 w 260144"/>
                <a:gd name="connsiteY17" fmla="*/ 230282 h 259866"/>
                <a:gd name="connsiteX18" fmla="*/ 178118 w 260144"/>
                <a:gd name="connsiteY18" fmla="*/ 223867 h 259866"/>
                <a:gd name="connsiteX19" fmla="*/ 193301 w 260144"/>
                <a:gd name="connsiteY19" fmla="*/ 239037 h 259866"/>
                <a:gd name="connsiteX20" fmla="*/ 204798 w 260144"/>
                <a:gd name="connsiteY20" fmla="*/ 239037 h 259866"/>
                <a:gd name="connsiteX21" fmla="*/ 239292 w 260144"/>
                <a:gd name="connsiteY21" fmla="*/ 204580 h 259866"/>
                <a:gd name="connsiteX22" fmla="*/ 239292 w 260144"/>
                <a:gd name="connsiteY22" fmla="*/ 193095 h 259866"/>
                <a:gd name="connsiteX23" fmla="*/ 224106 w 260144"/>
                <a:gd name="connsiteY23" fmla="*/ 177928 h 259866"/>
                <a:gd name="connsiteX24" fmla="*/ 230528 w 260144"/>
                <a:gd name="connsiteY24" fmla="*/ 162417 h 259866"/>
                <a:gd name="connsiteX25" fmla="*/ 252015 w 260144"/>
                <a:gd name="connsiteY25" fmla="*/ 162417 h 259866"/>
                <a:gd name="connsiteX26" fmla="*/ 260144 w 260144"/>
                <a:gd name="connsiteY26" fmla="*/ 154296 h 259866"/>
                <a:gd name="connsiteX27" fmla="*/ 260144 w 260144"/>
                <a:gd name="connsiteY27" fmla="*/ 105571 h 259866"/>
                <a:gd name="connsiteX28" fmla="*/ 252015 w 260144"/>
                <a:gd name="connsiteY28" fmla="*/ 97450 h 259866"/>
                <a:gd name="connsiteX29" fmla="*/ 230528 w 260144"/>
                <a:gd name="connsiteY29" fmla="*/ 97450 h 259866"/>
                <a:gd name="connsiteX30" fmla="*/ 224106 w 260144"/>
                <a:gd name="connsiteY30" fmla="*/ 81939 h 259866"/>
                <a:gd name="connsiteX31" fmla="*/ 239292 w 260144"/>
                <a:gd name="connsiteY31" fmla="*/ 66772 h 259866"/>
                <a:gd name="connsiteX32" fmla="*/ 239292 w 260144"/>
                <a:gd name="connsiteY32" fmla="*/ 55287 h 259866"/>
                <a:gd name="connsiteX33" fmla="*/ 204798 w 260144"/>
                <a:gd name="connsiteY33" fmla="*/ 20830 h 259866"/>
                <a:gd name="connsiteX34" fmla="*/ 193301 w 260144"/>
                <a:gd name="connsiteY34" fmla="*/ 20830 h 259866"/>
                <a:gd name="connsiteX35" fmla="*/ 178118 w 260144"/>
                <a:gd name="connsiteY35" fmla="*/ 36000 h 259866"/>
                <a:gd name="connsiteX36" fmla="*/ 162590 w 260144"/>
                <a:gd name="connsiteY36" fmla="*/ 29584 h 259866"/>
                <a:gd name="connsiteX37" fmla="*/ 162590 w 260144"/>
                <a:gd name="connsiteY37" fmla="*/ 8121 h 259866"/>
                <a:gd name="connsiteX38" fmla="*/ 154461 w 260144"/>
                <a:gd name="connsiteY38" fmla="*/ 0 h 259866"/>
                <a:gd name="connsiteX39" fmla="*/ 105684 w 260144"/>
                <a:gd name="connsiteY39" fmla="*/ 0 h 259866"/>
                <a:gd name="connsiteX40" fmla="*/ 97554 w 260144"/>
                <a:gd name="connsiteY40" fmla="*/ 8121 h 259866"/>
                <a:gd name="connsiteX41" fmla="*/ 97554 w 260144"/>
                <a:gd name="connsiteY41" fmla="*/ 29584 h 259866"/>
                <a:gd name="connsiteX42" fmla="*/ 82027 w 260144"/>
                <a:gd name="connsiteY42" fmla="*/ 36000 h 259866"/>
                <a:gd name="connsiteX43" fmla="*/ 66843 w 260144"/>
                <a:gd name="connsiteY43" fmla="*/ 20830 h 259866"/>
                <a:gd name="connsiteX44" fmla="*/ 55346 w 260144"/>
                <a:gd name="connsiteY44" fmla="*/ 20830 h 259866"/>
                <a:gd name="connsiteX45" fmla="*/ 20852 w 260144"/>
                <a:gd name="connsiteY45" fmla="*/ 55287 h 259866"/>
                <a:gd name="connsiteX46" fmla="*/ 20852 w 260144"/>
                <a:gd name="connsiteY46" fmla="*/ 66772 h 259866"/>
                <a:gd name="connsiteX47" fmla="*/ 36038 w 260144"/>
                <a:gd name="connsiteY47" fmla="*/ 81939 h 259866"/>
                <a:gd name="connsiteX48" fmla="*/ 34093 w 260144"/>
                <a:gd name="connsiteY48" fmla="*/ 85941 h 259866"/>
                <a:gd name="connsiteX49" fmla="*/ 29616 w 260144"/>
                <a:gd name="connsiteY49" fmla="*/ 97450 h 259866"/>
                <a:gd name="connsiteX50" fmla="*/ 43590 w 260144"/>
                <a:gd name="connsiteY50" fmla="*/ 107601 h 259866"/>
                <a:gd name="connsiteX51" fmla="*/ 53102 w 260144"/>
                <a:gd name="connsiteY51" fmla="*/ 84635 h 259866"/>
                <a:gd name="connsiteX52" fmla="*/ 51850 w 260144"/>
                <a:gd name="connsiteY52" fmla="*/ 74768 h 259866"/>
                <a:gd name="connsiteX53" fmla="*/ 38095 w 260144"/>
                <a:gd name="connsiteY53" fmla="*/ 61030 h 259866"/>
                <a:gd name="connsiteX54" fmla="*/ 61095 w 260144"/>
                <a:gd name="connsiteY54" fmla="*/ 38054 h 259866"/>
                <a:gd name="connsiteX55" fmla="*/ 74848 w 260144"/>
                <a:gd name="connsiteY55" fmla="*/ 51795 h 259866"/>
                <a:gd name="connsiteX56" fmla="*/ 84726 w 260144"/>
                <a:gd name="connsiteY56" fmla="*/ 53045 h 259866"/>
                <a:gd name="connsiteX57" fmla="*/ 107716 w 260144"/>
                <a:gd name="connsiteY57" fmla="*/ 43544 h 259866"/>
                <a:gd name="connsiteX58" fmla="*/ 113813 w 260144"/>
                <a:gd name="connsiteY58" fmla="*/ 35683 h 259866"/>
                <a:gd name="connsiteX59" fmla="*/ 113813 w 260144"/>
                <a:gd name="connsiteY59" fmla="*/ 16242 h 259866"/>
                <a:gd name="connsiteX60" fmla="*/ 146331 w 260144"/>
                <a:gd name="connsiteY60" fmla="*/ 16242 h 259866"/>
                <a:gd name="connsiteX61" fmla="*/ 146331 w 260144"/>
                <a:gd name="connsiteY61" fmla="*/ 35683 h 259866"/>
                <a:gd name="connsiteX62" fmla="*/ 152428 w 260144"/>
                <a:gd name="connsiteY62" fmla="*/ 43544 h 259866"/>
                <a:gd name="connsiteX63" fmla="*/ 175418 w 260144"/>
                <a:gd name="connsiteY63" fmla="*/ 53045 h 259866"/>
                <a:gd name="connsiteX64" fmla="*/ 185296 w 260144"/>
                <a:gd name="connsiteY64" fmla="*/ 51795 h 259866"/>
                <a:gd name="connsiteX65" fmla="*/ 199049 w 260144"/>
                <a:gd name="connsiteY65" fmla="*/ 38054 h 259866"/>
                <a:gd name="connsiteX66" fmla="*/ 222049 w 260144"/>
                <a:gd name="connsiteY66" fmla="*/ 61030 h 259866"/>
                <a:gd name="connsiteX67" fmla="*/ 208294 w 260144"/>
                <a:gd name="connsiteY67" fmla="*/ 74768 h 259866"/>
                <a:gd name="connsiteX68" fmla="*/ 207042 w 260144"/>
                <a:gd name="connsiteY68" fmla="*/ 84635 h 259866"/>
                <a:gd name="connsiteX69" fmla="*/ 216554 w 260144"/>
                <a:gd name="connsiteY69" fmla="*/ 107601 h 259866"/>
                <a:gd name="connsiteX70" fmla="*/ 224423 w 260144"/>
                <a:gd name="connsiteY70" fmla="*/ 113692 h 259866"/>
                <a:gd name="connsiteX71" fmla="*/ 243885 w 260144"/>
                <a:gd name="connsiteY71" fmla="*/ 113692 h 259866"/>
                <a:gd name="connsiteX72" fmla="*/ 243885 w 260144"/>
                <a:gd name="connsiteY72" fmla="*/ 146175 h 259866"/>
                <a:gd name="connsiteX73" fmla="*/ 224423 w 260144"/>
                <a:gd name="connsiteY73" fmla="*/ 146175 h 259866"/>
                <a:gd name="connsiteX74" fmla="*/ 216554 w 260144"/>
                <a:gd name="connsiteY74" fmla="*/ 152266 h 259866"/>
                <a:gd name="connsiteX75" fmla="*/ 207042 w 260144"/>
                <a:gd name="connsiteY75" fmla="*/ 175231 h 259866"/>
                <a:gd name="connsiteX76" fmla="*/ 208294 w 260144"/>
                <a:gd name="connsiteY76" fmla="*/ 185098 h 259866"/>
                <a:gd name="connsiteX77" fmla="*/ 222049 w 260144"/>
                <a:gd name="connsiteY77" fmla="*/ 198837 h 259866"/>
                <a:gd name="connsiteX78" fmla="*/ 199049 w 260144"/>
                <a:gd name="connsiteY78" fmla="*/ 221812 h 259866"/>
                <a:gd name="connsiteX79" fmla="*/ 185296 w 260144"/>
                <a:gd name="connsiteY79" fmla="*/ 208072 h 259866"/>
                <a:gd name="connsiteX80" fmla="*/ 175418 w 260144"/>
                <a:gd name="connsiteY80" fmla="*/ 206822 h 259866"/>
                <a:gd name="connsiteX81" fmla="*/ 152428 w 260144"/>
                <a:gd name="connsiteY81" fmla="*/ 216323 h 259866"/>
                <a:gd name="connsiteX82" fmla="*/ 146331 w 260144"/>
                <a:gd name="connsiteY82" fmla="*/ 224184 h 259866"/>
                <a:gd name="connsiteX83" fmla="*/ 146331 w 260144"/>
                <a:gd name="connsiteY83" fmla="*/ 243625 h 259866"/>
                <a:gd name="connsiteX84" fmla="*/ 113813 w 260144"/>
                <a:gd name="connsiteY84" fmla="*/ 243625 h 259866"/>
                <a:gd name="connsiteX85" fmla="*/ 113813 w 260144"/>
                <a:gd name="connsiteY85" fmla="*/ 224184 h 259866"/>
                <a:gd name="connsiteX86" fmla="*/ 107716 w 260144"/>
                <a:gd name="connsiteY86" fmla="*/ 216323 h 259866"/>
                <a:gd name="connsiteX87" fmla="*/ 84726 w 260144"/>
                <a:gd name="connsiteY87" fmla="*/ 206822 h 259866"/>
                <a:gd name="connsiteX88" fmla="*/ 74848 w 260144"/>
                <a:gd name="connsiteY88" fmla="*/ 208072 h 259866"/>
                <a:gd name="connsiteX89" fmla="*/ 61095 w 260144"/>
                <a:gd name="connsiteY89" fmla="*/ 221812 h 259866"/>
                <a:gd name="connsiteX90" fmla="*/ 38095 w 260144"/>
                <a:gd name="connsiteY90" fmla="*/ 198837 h 259866"/>
                <a:gd name="connsiteX91" fmla="*/ 51850 w 260144"/>
                <a:gd name="connsiteY91" fmla="*/ 185098 h 259866"/>
                <a:gd name="connsiteX92" fmla="*/ 53102 w 260144"/>
                <a:gd name="connsiteY92" fmla="*/ 175231 h 259866"/>
                <a:gd name="connsiteX93" fmla="*/ 43590 w 260144"/>
                <a:gd name="connsiteY93" fmla="*/ 152266 h 259866"/>
                <a:gd name="connsiteX94" fmla="*/ 35721 w 260144"/>
                <a:gd name="connsiteY94" fmla="*/ 146175 h 259866"/>
                <a:gd name="connsiteX95" fmla="*/ 16259 w 260144"/>
                <a:gd name="connsiteY95" fmla="*/ 146175 h 259866"/>
                <a:gd name="connsiteX96" fmla="*/ 16259 w 260144"/>
                <a:gd name="connsiteY96" fmla="*/ 113692 h 259866"/>
                <a:gd name="connsiteX97" fmla="*/ 35721 w 260144"/>
                <a:gd name="connsiteY97" fmla="*/ 113692 h 259866"/>
                <a:gd name="connsiteX98" fmla="*/ 43590 w 260144"/>
                <a:gd name="connsiteY98" fmla="*/ 107601 h 25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260144" h="259866">
                  <a:moveTo>
                    <a:pt x="29616" y="97450"/>
                  </a:moveTo>
                  <a:lnTo>
                    <a:pt x="8130" y="97450"/>
                  </a:lnTo>
                  <a:cubicBezTo>
                    <a:pt x="3638" y="97450"/>
                    <a:pt x="0" y="101084"/>
                    <a:pt x="0" y="105571"/>
                  </a:cubicBezTo>
                  <a:lnTo>
                    <a:pt x="0" y="154296"/>
                  </a:lnTo>
                  <a:cubicBezTo>
                    <a:pt x="0" y="158783"/>
                    <a:pt x="3638" y="162417"/>
                    <a:pt x="8130" y="162417"/>
                  </a:cubicBezTo>
                  <a:lnTo>
                    <a:pt x="29616" y="162417"/>
                  </a:lnTo>
                  <a:cubicBezTo>
                    <a:pt x="31339" y="167748"/>
                    <a:pt x="33485" y="172935"/>
                    <a:pt x="36038" y="177928"/>
                  </a:cubicBezTo>
                  <a:lnTo>
                    <a:pt x="20852" y="193095"/>
                  </a:lnTo>
                  <a:cubicBezTo>
                    <a:pt x="17682" y="196269"/>
                    <a:pt x="17682" y="201407"/>
                    <a:pt x="20852" y="204580"/>
                  </a:cubicBezTo>
                  <a:lnTo>
                    <a:pt x="55346" y="239037"/>
                  </a:lnTo>
                  <a:cubicBezTo>
                    <a:pt x="58522" y="242204"/>
                    <a:pt x="63666" y="242204"/>
                    <a:pt x="66843" y="239037"/>
                  </a:cubicBezTo>
                  <a:lnTo>
                    <a:pt x="82027" y="223867"/>
                  </a:lnTo>
                  <a:cubicBezTo>
                    <a:pt x="87024" y="226417"/>
                    <a:pt x="92217" y="228561"/>
                    <a:pt x="97554" y="230282"/>
                  </a:cubicBezTo>
                  <a:lnTo>
                    <a:pt x="97554" y="251746"/>
                  </a:lnTo>
                  <a:cubicBezTo>
                    <a:pt x="97554" y="256233"/>
                    <a:pt x="101192" y="259867"/>
                    <a:pt x="105684" y="259867"/>
                  </a:cubicBezTo>
                  <a:lnTo>
                    <a:pt x="154461" y="259867"/>
                  </a:lnTo>
                  <a:cubicBezTo>
                    <a:pt x="158952" y="259867"/>
                    <a:pt x="162590" y="256233"/>
                    <a:pt x="162590" y="251746"/>
                  </a:cubicBezTo>
                  <a:lnTo>
                    <a:pt x="162590" y="230282"/>
                  </a:lnTo>
                  <a:cubicBezTo>
                    <a:pt x="167927" y="228561"/>
                    <a:pt x="173120" y="226417"/>
                    <a:pt x="178118" y="223867"/>
                  </a:cubicBezTo>
                  <a:lnTo>
                    <a:pt x="193301" y="239037"/>
                  </a:lnTo>
                  <a:cubicBezTo>
                    <a:pt x="196478" y="242204"/>
                    <a:pt x="201622" y="242204"/>
                    <a:pt x="204798" y="239037"/>
                  </a:cubicBezTo>
                  <a:lnTo>
                    <a:pt x="239292" y="204580"/>
                  </a:lnTo>
                  <a:cubicBezTo>
                    <a:pt x="242463" y="201407"/>
                    <a:pt x="242463" y="196269"/>
                    <a:pt x="239292" y="193095"/>
                  </a:cubicBezTo>
                  <a:lnTo>
                    <a:pt x="224106" y="177928"/>
                  </a:lnTo>
                  <a:cubicBezTo>
                    <a:pt x="226659" y="172935"/>
                    <a:pt x="228805" y="167748"/>
                    <a:pt x="230528" y="162417"/>
                  </a:cubicBezTo>
                  <a:lnTo>
                    <a:pt x="252015" y="162417"/>
                  </a:lnTo>
                  <a:cubicBezTo>
                    <a:pt x="256506" y="162417"/>
                    <a:pt x="260144" y="158783"/>
                    <a:pt x="260144" y="154296"/>
                  </a:cubicBezTo>
                  <a:lnTo>
                    <a:pt x="260144" y="105571"/>
                  </a:lnTo>
                  <a:cubicBezTo>
                    <a:pt x="260144" y="101084"/>
                    <a:pt x="256506" y="97450"/>
                    <a:pt x="252015" y="97450"/>
                  </a:cubicBezTo>
                  <a:lnTo>
                    <a:pt x="230528" y="97450"/>
                  </a:lnTo>
                  <a:cubicBezTo>
                    <a:pt x="228805" y="92119"/>
                    <a:pt x="226659" y="86932"/>
                    <a:pt x="224106" y="81939"/>
                  </a:cubicBezTo>
                  <a:lnTo>
                    <a:pt x="239292" y="66772"/>
                  </a:lnTo>
                  <a:cubicBezTo>
                    <a:pt x="242463" y="63598"/>
                    <a:pt x="242463" y="58460"/>
                    <a:pt x="239292" y="55287"/>
                  </a:cubicBezTo>
                  <a:lnTo>
                    <a:pt x="204798" y="20830"/>
                  </a:lnTo>
                  <a:cubicBezTo>
                    <a:pt x="201622" y="17663"/>
                    <a:pt x="196478" y="17663"/>
                    <a:pt x="193301" y="20830"/>
                  </a:cubicBezTo>
                  <a:lnTo>
                    <a:pt x="178118" y="36000"/>
                  </a:lnTo>
                  <a:cubicBezTo>
                    <a:pt x="173120" y="33450"/>
                    <a:pt x="167927" y="31306"/>
                    <a:pt x="162590" y="29584"/>
                  </a:cubicBezTo>
                  <a:lnTo>
                    <a:pt x="162590" y="8121"/>
                  </a:lnTo>
                  <a:cubicBezTo>
                    <a:pt x="162590" y="3634"/>
                    <a:pt x="158952" y="0"/>
                    <a:pt x="154461" y="0"/>
                  </a:cubicBezTo>
                  <a:lnTo>
                    <a:pt x="105684" y="0"/>
                  </a:lnTo>
                  <a:cubicBezTo>
                    <a:pt x="101192" y="0"/>
                    <a:pt x="97554" y="3634"/>
                    <a:pt x="97554" y="8121"/>
                  </a:cubicBezTo>
                  <a:lnTo>
                    <a:pt x="97554" y="29584"/>
                  </a:lnTo>
                  <a:cubicBezTo>
                    <a:pt x="92217" y="31306"/>
                    <a:pt x="87024" y="33450"/>
                    <a:pt x="82027" y="36000"/>
                  </a:cubicBezTo>
                  <a:lnTo>
                    <a:pt x="66843" y="20830"/>
                  </a:lnTo>
                  <a:cubicBezTo>
                    <a:pt x="63666" y="17663"/>
                    <a:pt x="58522" y="17663"/>
                    <a:pt x="55346" y="20830"/>
                  </a:cubicBezTo>
                  <a:lnTo>
                    <a:pt x="20852" y="55287"/>
                  </a:lnTo>
                  <a:cubicBezTo>
                    <a:pt x="17682" y="58460"/>
                    <a:pt x="17682" y="63598"/>
                    <a:pt x="20852" y="66772"/>
                  </a:cubicBezTo>
                  <a:lnTo>
                    <a:pt x="36038" y="81939"/>
                  </a:lnTo>
                  <a:cubicBezTo>
                    <a:pt x="35363" y="83255"/>
                    <a:pt x="34713" y="84597"/>
                    <a:pt x="34093" y="85941"/>
                  </a:cubicBezTo>
                  <a:cubicBezTo>
                    <a:pt x="32378" y="89685"/>
                    <a:pt x="30882" y="93530"/>
                    <a:pt x="29616" y="97450"/>
                  </a:cubicBezTo>
                  <a:close/>
                  <a:moveTo>
                    <a:pt x="43590" y="107601"/>
                  </a:moveTo>
                  <a:cubicBezTo>
                    <a:pt x="45665" y="99537"/>
                    <a:pt x="48866" y="91806"/>
                    <a:pt x="53102" y="84635"/>
                  </a:cubicBezTo>
                  <a:cubicBezTo>
                    <a:pt x="54986" y="81448"/>
                    <a:pt x="54468" y="77387"/>
                    <a:pt x="51850" y="74768"/>
                  </a:cubicBezTo>
                  <a:lnTo>
                    <a:pt x="38095" y="61030"/>
                  </a:lnTo>
                  <a:lnTo>
                    <a:pt x="61095" y="38054"/>
                  </a:lnTo>
                  <a:lnTo>
                    <a:pt x="74848" y="51795"/>
                  </a:lnTo>
                  <a:cubicBezTo>
                    <a:pt x="77470" y="54410"/>
                    <a:pt x="81535" y="54928"/>
                    <a:pt x="84726" y="53045"/>
                  </a:cubicBezTo>
                  <a:cubicBezTo>
                    <a:pt x="91904" y="48817"/>
                    <a:pt x="99647" y="45619"/>
                    <a:pt x="107716" y="43544"/>
                  </a:cubicBezTo>
                  <a:cubicBezTo>
                    <a:pt x="111303" y="42618"/>
                    <a:pt x="113813" y="39386"/>
                    <a:pt x="113813" y="35683"/>
                  </a:cubicBezTo>
                  <a:lnTo>
                    <a:pt x="113813" y="16242"/>
                  </a:lnTo>
                  <a:lnTo>
                    <a:pt x="146331" y="16242"/>
                  </a:lnTo>
                  <a:lnTo>
                    <a:pt x="146331" y="35683"/>
                  </a:lnTo>
                  <a:cubicBezTo>
                    <a:pt x="146331" y="39386"/>
                    <a:pt x="148841" y="42618"/>
                    <a:pt x="152428" y="43544"/>
                  </a:cubicBezTo>
                  <a:cubicBezTo>
                    <a:pt x="160497" y="45619"/>
                    <a:pt x="168240" y="48817"/>
                    <a:pt x="175418" y="53045"/>
                  </a:cubicBezTo>
                  <a:cubicBezTo>
                    <a:pt x="178609" y="54928"/>
                    <a:pt x="182674" y="54410"/>
                    <a:pt x="185296" y="51795"/>
                  </a:cubicBezTo>
                  <a:lnTo>
                    <a:pt x="199049" y="38054"/>
                  </a:lnTo>
                  <a:lnTo>
                    <a:pt x="222049" y="61030"/>
                  </a:lnTo>
                  <a:lnTo>
                    <a:pt x="208294" y="74768"/>
                  </a:lnTo>
                  <a:cubicBezTo>
                    <a:pt x="205676" y="77387"/>
                    <a:pt x="205158" y="81448"/>
                    <a:pt x="207042" y="84635"/>
                  </a:cubicBezTo>
                  <a:cubicBezTo>
                    <a:pt x="211276" y="91806"/>
                    <a:pt x="214477" y="99541"/>
                    <a:pt x="216554" y="107601"/>
                  </a:cubicBezTo>
                  <a:cubicBezTo>
                    <a:pt x="217480" y="111185"/>
                    <a:pt x="220716" y="113692"/>
                    <a:pt x="224423" y="113692"/>
                  </a:cubicBezTo>
                  <a:lnTo>
                    <a:pt x="243885" y="113692"/>
                  </a:lnTo>
                  <a:lnTo>
                    <a:pt x="243885" y="146175"/>
                  </a:lnTo>
                  <a:lnTo>
                    <a:pt x="224423" y="146175"/>
                  </a:lnTo>
                  <a:cubicBezTo>
                    <a:pt x="220716" y="146175"/>
                    <a:pt x="217480" y="148682"/>
                    <a:pt x="216554" y="152266"/>
                  </a:cubicBezTo>
                  <a:cubicBezTo>
                    <a:pt x="214477" y="160326"/>
                    <a:pt x="211276" y="168061"/>
                    <a:pt x="207042" y="175231"/>
                  </a:cubicBezTo>
                  <a:cubicBezTo>
                    <a:pt x="205158" y="178419"/>
                    <a:pt x="205676" y="182479"/>
                    <a:pt x="208294" y="185098"/>
                  </a:cubicBezTo>
                  <a:lnTo>
                    <a:pt x="222049" y="198837"/>
                  </a:lnTo>
                  <a:lnTo>
                    <a:pt x="199049" y="221812"/>
                  </a:lnTo>
                  <a:lnTo>
                    <a:pt x="185296" y="208072"/>
                  </a:lnTo>
                  <a:cubicBezTo>
                    <a:pt x="182674" y="205457"/>
                    <a:pt x="178609" y="204939"/>
                    <a:pt x="175418" y="206822"/>
                  </a:cubicBezTo>
                  <a:cubicBezTo>
                    <a:pt x="168240" y="211050"/>
                    <a:pt x="160497" y="214248"/>
                    <a:pt x="152428" y="216323"/>
                  </a:cubicBezTo>
                  <a:cubicBezTo>
                    <a:pt x="148841" y="217249"/>
                    <a:pt x="146331" y="220481"/>
                    <a:pt x="146331" y="224184"/>
                  </a:cubicBezTo>
                  <a:lnTo>
                    <a:pt x="146331" y="243625"/>
                  </a:lnTo>
                  <a:lnTo>
                    <a:pt x="113813" y="243625"/>
                  </a:lnTo>
                  <a:lnTo>
                    <a:pt x="113813" y="224184"/>
                  </a:lnTo>
                  <a:cubicBezTo>
                    <a:pt x="113813" y="220481"/>
                    <a:pt x="111303" y="217249"/>
                    <a:pt x="107716" y="216323"/>
                  </a:cubicBezTo>
                  <a:cubicBezTo>
                    <a:pt x="99647" y="214248"/>
                    <a:pt x="91904" y="211050"/>
                    <a:pt x="84726" y="206822"/>
                  </a:cubicBezTo>
                  <a:cubicBezTo>
                    <a:pt x="81535" y="204939"/>
                    <a:pt x="77470" y="205457"/>
                    <a:pt x="74848" y="208072"/>
                  </a:cubicBezTo>
                  <a:lnTo>
                    <a:pt x="61095" y="221812"/>
                  </a:lnTo>
                  <a:lnTo>
                    <a:pt x="38095" y="198837"/>
                  </a:lnTo>
                  <a:lnTo>
                    <a:pt x="51850" y="185098"/>
                  </a:lnTo>
                  <a:cubicBezTo>
                    <a:pt x="54468" y="182479"/>
                    <a:pt x="54986" y="178419"/>
                    <a:pt x="53102" y="175231"/>
                  </a:cubicBezTo>
                  <a:cubicBezTo>
                    <a:pt x="48868" y="168061"/>
                    <a:pt x="45667" y="160326"/>
                    <a:pt x="43590" y="152266"/>
                  </a:cubicBezTo>
                  <a:cubicBezTo>
                    <a:pt x="42664" y="148682"/>
                    <a:pt x="39428" y="146175"/>
                    <a:pt x="35721" y="146175"/>
                  </a:cubicBezTo>
                  <a:lnTo>
                    <a:pt x="16259" y="146175"/>
                  </a:lnTo>
                  <a:lnTo>
                    <a:pt x="16259" y="113692"/>
                  </a:lnTo>
                  <a:lnTo>
                    <a:pt x="35721" y="113692"/>
                  </a:lnTo>
                  <a:cubicBezTo>
                    <a:pt x="39428" y="113692"/>
                    <a:pt x="42664" y="111185"/>
                    <a:pt x="43590" y="107601"/>
                  </a:cubicBezTo>
                  <a:close/>
                </a:path>
              </a:pathLst>
            </a:custGeom>
            <a:grpFill/>
            <a:ln w="518"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73BF41BA-75B1-5EBC-7164-13D5EB43E624}"/>
                </a:ext>
              </a:extLst>
            </p:cNvPr>
            <p:cNvSpPr/>
            <p:nvPr/>
          </p:nvSpPr>
          <p:spPr>
            <a:xfrm>
              <a:off x="1658987" y="2749045"/>
              <a:ext cx="113813" cy="113691"/>
            </a:xfrm>
            <a:custGeom>
              <a:avLst/>
              <a:gdLst>
                <a:gd name="connsiteX0" fmla="*/ 56907 w 113813"/>
                <a:gd name="connsiteY0" fmla="*/ 113692 h 113691"/>
                <a:gd name="connsiteX1" fmla="*/ 113813 w 113813"/>
                <a:gd name="connsiteY1" fmla="*/ 56846 h 113691"/>
                <a:gd name="connsiteX2" fmla="*/ 56907 w 113813"/>
                <a:gd name="connsiteY2" fmla="*/ 0 h 113691"/>
                <a:gd name="connsiteX3" fmla="*/ 0 w 113813"/>
                <a:gd name="connsiteY3" fmla="*/ 56846 h 113691"/>
                <a:gd name="connsiteX4" fmla="*/ 56907 w 113813"/>
                <a:gd name="connsiteY4" fmla="*/ 113692 h 113691"/>
                <a:gd name="connsiteX5" fmla="*/ 56907 w 113813"/>
                <a:gd name="connsiteY5" fmla="*/ 16242 h 113691"/>
                <a:gd name="connsiteX6" fmla="*/ 97554 w 113813"/>
                <a:gd name="connsiteY6" fmla="*/ 56846 h 113691"/>
                <a:gd name="connsiteX7" fmla="*/ 56907 w 113813"/>
                <a:gd name="connsiteY7" fmla="*/ 97450 h 113691"/>
                <a:gd name="connsiteX8" fmla="*/ 16259 w 113813"/>
                <a:gd name="connsiteY8" fmla="*/ 56846 h 113691"/>
                <a:gd name="connsiteX9" fmla="*/ 56907 w 113813"/>
                <a:gd name="connsiteY9" fmla="*/ 16242 h 113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813" h="113691">
                  <a:moveTo>
                    <a:pt x="56907" y="113692"/>
                  </a:moveTo>
                  <a:cubicBezTo>
                    <a:pt x="88337" y="113692"/>
                    <a:pt x="113813" y="88243"/>
                    <a:pt x="113813" y="56846"/>
                  </a:cubicBezTo>
                  <a:cubicBezTo>
                    <a:pt x="113813" y="25449"/>
                    <a:pt x="88337" y="0"/>
                    <a:pt x="56907" y="0"/>
                  </a:cubicBezTo>
                  <a:cubicBezTo>
                    <a:pt x="25476" y="0"/>
                    <a:pt x="0" y="25449"/>
                    <a:pt x="0" y="56846"/>
                  </a:cubicBezTo>
                  <a:cubicBezTo>
                    <a:pt x="36" y="88225"/>
                    <a:pt x="25494" y="113655"/>
                    <a:pt x="56907" y="113692"/>
                  </a:cubicBezTo>
                  <a:close/>
                  <a:moveTo>
                    <a:pt x="56907" y="16242"/>
                  </a:moveTo>
                  <a:cubicBezTo>
                    <a:pt x="79354" y="16242"/>
                    <a:pt x="97554" y="34422"/>
                    <a:pt x="97554" y="56846"/>
                  </a:cubicBezTo>
                  <a:cubicBezTo>
                    <a:pt x="97554" y="79270"/>
                    <a:pt x="79354" y="97450"/>
                    <a:pt x="56907" y="97450"/>
                  </a:cubicBezTo>
                  <a:cubicBezTo>
                    <a:pt x="34459" y="97450"/>
                    <a:pt x="16259" y="79270"/>
                    <a:pt x="16259" y="56846"/>
                  </a:cubicBezTo>
                  <a:cubicBezTo>
                    <a:pt x="16288" y="34432"/>
                    <a:pt x="34469" y="16270"/>
                    <a:pt x="56907" y="16242"/>
                  </a:cubicBezTo>
                  <a:close/>
                </a:path>
              </a:pathLst>
            </a:custGeom>
            <a:grpFill/>
            <a:ln w="518" cap="flat">
              <a:noFill/>
              <a:prstDash val="solid"/>
              <a:miter/>
            </a:ln>
          </p:spPr>
          <p:txBody>
            <a:bodyPr rtlCol="0" anchor="ctr"/>
            <a:lstStyle/>
            <a:p>
              <a:endParaRPr lang="en-GB"/>
            </a:p>
          </p:txBody>
        </p:sp>
      </p:grpSp>
      <p:grpSp>
        <p:nvGrpSpPr>
          <p:cNvPr id="58" name="Graphic 253">
            <a:extLst>
              <a:ext uri="{FF2B5EF4-FFF2-40B4-BE49-F238E27FC236}">
                <a16:creationId xmlns:a16="http://schemas.microsoft.com/office/drawing/2014/main" id="{D9A1E811-B497-14DA-DF5D-054AF235BC00}"/>
              </a:ext>
            </a:extLst>
          </p:cNvPr>
          <p:cNvGrpSpPr/>
          <p:nvPr/>
        </p:nvGrpSpPr>
        <p:grpSpPr>
          <a:xfrm>
            <a:off x="1577402" y="2403233"/>
            <a:ext cx="548284" cy="547974"/>
            <a:chOff x="4382321" y="2393916"/>
            <a:chExt cx="548284" cy="547974"/>
          </a:xfrm>
          <a:gradFill>
            <a:gsLst>
              <a:gs pos="0">
                <a:srgbClr val="BDF2BD"/>
              </a:gs>
              <a:gs pos="55000">
                <a:srgbClr val="C3E9FC"/>
              </a:gs>
            </a:gsLst>
            <a:lin ang="2700000" scaled="1"/>
          </a:gradFill>
        </p:grpSpPr>
        <p:sp>
          <p:nvSpPr>
            <p:cNvPr id="59" name="Freeform: Shape 58">
              <a:extLst>
                <a:ext uri="{FF2B5EF4-FFF2-40B4-BE49-F238E27FC236}">
                  <a16:creationId xmlns:a16="http://schemas.microsoft.com/office/drawing/2014/main" id="{52DC8AB4-DFE1-D2D1-E7BD-FFF6FD42AB72}"/>
                </a:ext>
              </a:extLst>
            </p:cNvPr>
            <p:cNvSpPr/>
            <p:nvPr/>
          </p:nvSpPr>
          <p:spPr>
            <a:xfrm>
              <a:off x="4435690" y="2446976"/>
              <a:ext cx="106119" cy="106119"/>
            </a:xfrm>
            <a:custGeom>
              <a:avLst/>
              <a:gdLst>
                <a:gd name="connsiteX0" fmla="*/ 53060 w 106119"/>
                <a:gd name="connsiteY0" fmla="*/ 0 h 106119"/>
                <a:gd name="connsiteX1" fmla="*/ 0 w 106119"/>
                <a:gd name="connsiteY1" fmla="*/ 53060 h 106119"/>
                <a:gd name="connsiteX2" fmla="*/ 53060 w 106119"/>
                <a:gd name="connsiteY2" fmla="*/ 106120 h 106119"/>
                <a:gd name="connsiteX3" fmla="*/ 106120 w 106119"/>
                <a:gd name="connsiteY3" fmla="*/ 53060 h 106119"/>
                <a:gd name="connsiteX4" fmla="*/ 53060 w 106119"/>
                <a:gd name="connsiteY4" fmla="*/ 0 h 106119"/>
                <a:gd name="connsiteX5" fmla="*/ 53060 w 106119"/>
                <a:gd name="connsiteY5" fmla="*/ 88433 h 106119"/>
                <a:gd name="connsiteX6" fmla="*/ 17687 w 106119"/>
                <a:gd name="connsiteY6" fmla="*/ 53060 h 106119"/>
                <a:gd name="connsiteX7" fmla="*/ 53060 w 106119"/>
                <a:gd name="connsiteY7" fmla="*/ 17687 h 106119"/>
                <a:gd name="connsiteX8" fmla="*/ 88433 w 106119"/>
                <a:gd name="connsiteY8" fmla="*/ 53060 h 106119"/>
                <a:gd name="connsiteX9" fmla="*/ 53060 w 106119"/>
                <a:gd name="connsiteY9" fmla="*/ 88433 h 106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119" h="106119">
                  <a:moveTo>
                    <a:pt x="53060" y="0"/>
                  </a:moveTo>
                  <a:cubicBezTo>
                    <a:pt x="23797" y="0"/>
                    <a:pt x="0" y="23797"/>
                    <a:pt x="0" y="53060"/>
                  </a:cubicBezTo>
                  <a:cubicBezTo>
                    <a:pt x="0" y="82322"/>
                    <a:pt x="23797" y="106120"/>
                    <a:pt x="53060" y="106120"/>
                  </a:cubicBezTo>
                  <a:cubicBezTo>
                    <a:pt x="82322" y="106120"/>
                    <a:pt x="106120" y="82322"/>
                    <a:pt x="106120" y="53060"/>
                  </a:cubicBezTo>
                  <a:cubicBezTo>
                    <a:pt x="106120" y="23797"/>
                    <a:pt x="82322" y="0"/>
                    <a:pt x="53060" y="0"/>
                  </a:cubicBezTo>
                  <a:close/>
                  <a:moveTo>
                    <a:pt x="53060" y="88433"/>
                  </a:moveTo>
                  <a:cubicBezTo>
                    <a:pt x="33551" y="88433"/>
                    <a:pt x="17687" y="72568"/>
                    <a:pt x="17687" y="53060"/>
                  </a:cubicBezTo>
                  <a:cubicBezTo>
                    <a:pt x="17687" y="33551"/>
                    <a:pt x="33551" y="17687"/>
                    <a:pt x="53060" y="17687"/>
                  </a:cubicBezTo>
                  <a:cubicBezTo>
                    <a:pt x="72568" y="17687"/>
                    <a:pt x="88433" y="33551"/>
                    <a:pt x="88433" y="53060"/>
                  </a:cubicBezTo>
                  <a:cubicBezTo>
                    <a:pt x="88433" y="72568"/>
                    <a:pt x="72568" y="88433"/>
                    <a:pt x="53060" y="88433"/>
                  </a:cubicBezTo>
                  <a:close/>
                </a:path>
              </a:pathLst>
            </a:custGeom>
            <a:grpFill/>
            <a:ln w="8781" cap="flat">
              <a:noFill/>
              <a:prstDash val="solid"/>
              <a:miter/>
            </a:ln>
          </p:spPr>
          <p:txBody>
            <a:bodyPr rtlCol="0" anchor="ctr"/>
            <a:lstStyle/>
            <a:p>
              <a:endParaRPr lang="en-GB"/>
            </a:p>
          </p:txBody>
        </p:sp>
        <p:sp>
          <p:nvSpPr>
            <p:cNvPr id="60" name="Freeform: Shape 59">
              <a:extLst>
                <a:ext uri="{FF2B5EF4-FFF2-40B4-BE49-F238E27FC236}">
                  <a16:creationId xmlns:a16="http://schemas.microsoft.com/office/drawing/2014/main" id="{534EF275-FA6E-62BF-C68E-09BCC453B3ED}"/>
                </a:ext>
              </a:extLst>
            </p:cNvPr>
            <p:cNvSpPr/>
            <p:nvPr/>
          </p:nvSpPr>
          <p:spPr>
            <a:xfrm>
              <a:off x="4782860" y="2802990"/>
              <a:ext cx="100937" cy="89503"/>
            </a:xfrm>
            <a:custGeom>
              <a:avLst/>
              <a:gdLst>
                <a:gd name="connsiteX0" fmla="*/ 100937 w 100937"/>
                <a:gd name="connsiteY0" fmla="*/ 12504 h 89503"/>
                <a:gd name="connsiteX1" fmla="*/ 88433 w 100937"/>
                <a:gd name="connsiteY1" fmla="*/ 0 h 89503"/>
                <a:gd name="connsiteX2" fmla="*/ 23939 w 100937"/>
                <a:gd name="connsiteY2" fmla="*/ 64494 h 89503"/>
                <a:gd name="connsiteX3" fmla="*/ 12504 w 100937"/>
                <a:gd name="connsiteY3" fmla="*/ 53060 h 89503"/>
                <a:gd name="connsiteX4" fmla="*/ 0 w 100937"/>
                <a:gd name="connsiteY4" fmla="*/ 65564 h 89503"/>
                <a:gd name="connsiteX5" fmla="*/ 23939 w 100937"/>
                <a:gd name="connsiteY5" fmla="*/ 89503 h 89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937" h="89503">
                  <a:moveTo>
                    <a:pt x="100937" y="12504"/>
                  </a:moveTo>
                  <a:lnTo>
                    <a:pt x="88433" y="0"/>
                  </a:lnTo>
                  <a:lnTo>
                    <a:pt x="23939" y="64494"/>
                  </a:lnTo>
                  <a:lnTo>
                    <a:pt x="12504" y="53060"/>
                  </a:lnTo>
                  <a:lnTo>
                    <a:pt x="0" y="65564"/>
                  </a:lnTo>
                  <a:lnTo>
                    <a:pt x="23939" y="89503"/>
                  </a:lnTo>
                  <a:close/>
                </a:path>
              </a:pathLst>
            </a:custGeom>
            <a:grpFill/>
            <a:ln w="8781" cap="flat">
              <a:noFill/>
              <a:prstDash val="solid"/>
              <a:miter/>
            </a:ln>
          </p:spPr>
          <p:txBody>
            <a:bodyPr rtlCol="0" anchor="ctr"/>
            <a:lstStyle/>
            <a:p>
              <a:endParaRPr lang="en-GB"/>
            </a:p>
          </p:txBody>
        </p:sp>
        <p:sp>
          <p:nvSpPr>
            <p:cNvPr id="61" name="Freeform: Shape 60">
              <a:extLst>
                <a:ext uri="{FF2B5EF4-FFF2-40B4-BE49-F238E27FC236}">
                  <a16:creationId xmlns:a16="http://schemas.microsoft.com/office/drawing/2014/main" id="{D9B48B64-31B4-8072-5640-B7276A3EB91E}"/>
                </a:ext>
              </a:extLst>
            </p:cNvPr>
            <p:cNvSpPr/>
            <p:nvPr/>
          </p:nvSpPr>
          <p:spPr>
            <a:xfrm>
              <a:off x="4682993" y="2490883"/>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62" name="Freeform: Shape 61">
              <a:extLst>
                <a:ext uri="{FF2B5EF4-FFF2-40B4-BE49-F238E27FC236}">
                  <a16:creationId xmlns:a16="http://schemas.microsoft.com/office/drawing/2014/main" id="{6B41D389-D12A-08B1-7A25-E817F2D0AC9D}"/>
                </a:ext>
              </a:extLst>
            </p:cNvPr>
            <p:cNvSpPr/>
            <p:nvPr/>
          </p:nvSpPr>
          <p:spPr>
            <a:xfrm>
              <a:off x="4789112" y="2490883"/>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63" name="Freeform: Shape 62">
              <a:extLst>
                <a:ext uri="{FF2B5EF4-FFF2-40B4-BE49-F238E27FC236}">
                  <a16:creationId xmlns:a16="http://schemas.microsoft.com/office/drawing/2014/main" id="{FB8A1746-8BF6-EAD9-DA54-9B464D475718}"/>
                </a:ext>
              </a:extLst>
            </p:cNvPr>
            <p:cNvSpPr/>
            <p:nvPr/>
          </p:nvSpPr>
          <p:spPr>
            <a:xfrm>
              <a:off x="4753739" y="2490883"/>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64" name="Freeform: Shape 63">
              <a:extLst>
                <a:ext uri="{FF2B5EF4-FFF2-40B4-BE49-F238E27FC236}">
                  <a16:creationId xmlns:a16="http://schemas.microsoft.com/office/drawing/2014/main" id="{B9FE27FF-A975-D386-2A6A-D662A3E04743}"/>
                </a:ext>
              </a:extLst>
            </p:cNvPr>
            <p:cNvSpPr/>
            <p:nvPr/>
          </p:nvSpPr>
          <p:spPr>
            <a:xfrm>
              <a:off x="4718366" y="2490883"/>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65" name="Freeform: Shape 64">
              <a:extLst>
                <a:ext uri="{FF2B5EF4-FFF2-40B4-BE49-F238E27FC236}">
                  <a16:creationId xmlns:a16="http://schemas.microsoft.com/office/drawing/2014/main" id="{E50F16F9-9C31-B0C4-5BD0-973FED81095F}"/>
                </a:ext>
              </a:extLst>
            </p:cNvPr>
            <p:cNvSpPr/>
            <p:nvPr/>
          </p:nvSpPr>
          <p:spPr>
            <a:xfrm>
              <a:off x="4382321" y="2393916"/>
              <a:ext cx="548284" cy="547974"/>
            </a:xfrm>
            <a:custGeom>
              <a:avLst/>
              <a:gdLst>
                <a:gd name="connsiteX0" fmla="*/ 203396 w 548284"/>
                <a:gd name="connsiteY0" fmla="*/ 318049 h 547974"/>
                <a:gd name="connsiteX1" fmla="*/ 344889 w 548284"/>
                <a:gd name="connsiteY1" fmla="*/ 318049 h 547974"/>
                <a:gd name="connsiteX2" fmla="*/ 371418 w 548284"/>
                <a:gd name="connsiteY2" fmla="*/ 291519 h 547974"/>
                <a:gd name="connsiteX3" fmla="*/ 371418 w 548284"/>
                <a:gd name="connsiteY3" fmla="*/ 282676 h 547974"/>
                <a:gd name="connsiteX4" fmla="*/ 486381 w 548284"/>
                <a:gd name="connsiteY4" fmla="*/ 282676 h 547974"/>
                <a:gd name="connsiteX5" fmla="*/ 548284 w 548284"/>
                <a:gd name="connsiteY5" fmla="*/ 220773 h 547974"/>
                <a:gd name="connsiteX6" fmla="*/ 548284 w 548284"/>
                <a:gd name="connsiteY6" fmla="*/ 158870 h 547974"/>
                <a:gd name="connsiteX7" fmla="*/ 486381 w 548284"/>
                <a:gd name="connsiteY7" fmla="*/ 96967 h 547974"/>
                <a:gd name="connsiteX8" fmla="*/ 459851 w 548284"/>
                <a:gd name="connsiteY8" fmla="*/ 96967 h 547974"/>
                <a:gd name="connsiteX9" fmla="*/ 459851 w 548284"/>
                <a:gd name="connsiteY9" fmla="*/ 88123 h 547974"/>
                <a:gd name="connsiteX10" fmla="*/ 433322 w 548284"/>
                <a:gd name="connsiteY10" fmla="*/ 61594 h 547974"/>
                <a:gd name="connsiteX11" fmla="*/ 291829 w 548284"/>
                <a:gd name="connsiteY11" fmla="*/ 61594 h 547974"/>
                <a:gd name="connsiteX12" fmla="*/ 265299 w 548284"/>
                <a:gd name="connsiteY12" fmla="*/ 88123 h 547974"/>
                <a:gd name="connsiteX13" fmla="*/ 265299 w 548284"/>
                <a:gd name="connsiteY13" fmla="*/ 96967 h 547974"/>
                <a:gd name="connsiteX14" fmla="*/ 212549 w 548284"/>
                <a:gd name="connsiteY14" fmla="*/ 96967 h 547974"/>
                <a:gd name="connsiteX15" fmla="*/ 212549 w 548284"/>
                <a:gd name="connsiteY15" fmla="*/ 81686 h 547974"/>
                <a:gd name="connsiteX16" fmla="*/ 189335 w 548284"/>
                <a:gd name="connsiteY16" fmla="*/ 75345 h 547974"/>
                <a:gd name="connsiteX17" fmla="*/ 186806 w 548284"/>
                <a:gd name="connsiteY17" fmla="*/ 69287 h 547974"/>
                <a:gd name="connsiteX18" fmla="*/ 198753 w 548284"/>
                <a:gd name="connsiteY18" fmla="*/ 48364 h 547974"/>
                <a:gd name="connsiteX19" fmla="*/ 164193 w 548284"/>
                <a:gd name="connsiteY19" fmla="*/ 13804 h 547974"/>
                <a:gd name="connsiteX20" fmla="*/ 143279 w 548284"/>
                <a:gd name="connsiteY20" fmla="*/ 25743 h 547974"/>
                <a:gd name="connsiteX21" fmla="*/ 137221 w 548284"/>
                <a:gd name="connsiteY21" fmla="*/ 23214 h 547974"/>
                <a:gd name="connsiteX22" fmla="*/ 130872 w 548284"/>
                <a:gd name="connsiteY22" fmla="*/ 0 h 547974"/>
                <a:gd name="connsiteX23" fmla="*/ 81995 w 548284"/>
                <a:gd name="connsiteY23" fmla="*/ 0 h 547974"/>
                <a:gd name="connsiteX24" fmla="*/ 75646 w 548284"/>
                <a:gd name="connsiteY24" fmla="*/ 23214 h 547974"/>
                <a:gd name="connsiteX25" fmla="*/ 69597 w 548284"/>
                <a:gd name="connsiteY25" fmla="*/ 25743 h 547974"/>
                <a:gd name="connsiteX26" fmla="*/ 48674 w 548284"/>
                <a:gd name="connsiteY26" fmla="*/ 13804 h 547974"/>
                <a:gd name="connsiteX27" fmla="*/ 14114 w 548284"/>
                <a:gd name="connsiteY27" fmla="*/ 48364 h 547974"/>
                <a:gd name="connsiteX28" fmla="*/ 26052 w 548284"/>
                <a:gd name="connsiteY28" fmla="*/ 69287 h 547974"/>
                <a:gd name="connsiteX29" fmla="*/ 23523 w 548284"/>
                <a:gd name="connsiteY29" fmla="*/ 75345 h 547974"/>
                <a:gd name="connsiteX30" fmla="*/ 310 w 548284"/>
                <a:gd name="connsiteY30" fmla="*/ 81686 h 547974"/>
                <a:gd name="connsiteX31" fmla="*/ 310 w 548284"/>
                <a:gd name="connsiteY31" fmla="*/ 130554 h 547974"/>
                <a:gd name="connsiteX32" fmla="*/ 23523 w 548284"/>
                <a:gd name="connsiteY32" fmla="*/ 136903 h 547974"/>
                <a:gd name="connsiteX33" fmla="*/ 26052 w 548284"/>
                <a:gd name="connsiteY33" fmla="*/ 142961 h 547974"/>
                <a:gd name="connsiteX34" fmla="*/ 14105 w 548284"/>
                <a:gd name="connsiteY34" fmla="*/ 163884 h 547974"/>
                <a:gd name="connsiteX35" fmla="*/ 48665 w 548284"/>
                <a:gd name="connsiteY35" fmla="*/ 198435 h 547974"/>
                <a:gd name="connsiteX36" fmla="*/ 69588 w 548284"/>
                <a:gd name="connsiteY36" fmla="*/ 186496 h 547974"/>
                <a:gd name="connsiteX37" fmla="*/ 75637 w 548284"/>
                <a:gd name="connsiteY37" fmla="*/ 189025 h 547974"/>
                <a:gd name="connsiteX38" fmla="*/ 81986 w 548284"/>
                <a:gd name="connsiteY38" fmla="*/ 212239 h 547974"/>
                <a:gd name="connsiteX39" fmla="*/ 130863 w 548284"/>
                <a:gd name="connsiteY39" fmla="*/ 212239 h 547974"/>
                <a:gd name="connsiteX40" fmla="*/ 137213 w 548284"/>
                <a:gd name="connsiteY40" fmla="*/ 189025 h 547974"/>
                <a:gd name="connsiteX41" fmla="*/ 143270 w 548284"/>
                <a:gd name="connsiteY41" fmla="*/ 186496 h 547974"/>
                <a:gd name="connsiteX42" fmla="*/ 164185 w 548284"/>
                <a:gd name="connsiteY42" fmla="*/ 198426 h 547974"/>
                <a:gd name="connsiteX43" fmla="*/ 198744 w 548284"/>
                <a:gd name="connsiteY43" fmla="*/ 163875 h 547974"/>
                <a:gd name="connsiteX44" fmla="*/ 186797 w 548284"/>
                <a:gd name="connsiteY44" fmla="*/ 142952 h 547974"/>
                <a:gd name="connsiteX45" fmla="*/ 189326 w 548284"/>
                <a:gd name="connsiteY45" fmla="*/ 136894 h 547974"/>
                <a:gd name="connsiteX46" fmla="*/ 212540 w 548284"/>
                <a:gd name="connsiteY46" fmla="*/ 130545 h 547974"/>
                <a:gd name="connsiteX47" fmla="*/ 212540 w 548284"/>
                <a:gd name="connsiteY47" fmla="*/ 114653 h 547974"/>
                <a:gd name="connsiteX48" fmla="*/ 265299 w 548284"/>
                <a:gd name="connsiteY48" fmla="*/ 114653 h 547974"/>
                <a:gd name="connsiteX49" fmla="*/ 265299 w 548284"/>
                <a:gd name="connsiteY49" fmla="*/ 123497 h 547974"/>
                <a:gd name="connsiteX50" fmla="*/ 291829 w 548284"/>
                <a:gd name="connsiteY50" fmla="*/ 150027 h 547974"/>
                <a:gd name="connsiteX51" fmla="*/ 433322 w 548284"/>
                <a:gd name="connsiteY51" fmla="*/ 150027 h 547974"/>
                <a:gd name="connsiteX52" fmla="*/ 459851 w 548284"/>
                <a:gd name="connsiteY52" fmla="*/ 123497 h 547974"/>
                <a:gd name="connsiteX53" fmla="*/ 459851 w 548284"/>
                <a:gd name="connsiteY53" fmla="*/ 114653 h 547974"/>
                <a:gd name="connsiteX54" fmla="*/ 486381 w 548284"/>
                <a:gd name="connsiteY54" fmla="*/ 114653 h 547974"/>
                <a:gd name="connsiteX55" fmla="*/ 530598 w 548284"/>
                <a:gd name="connsiteY55" fmla="*/ 158870 h 547974"/>
                <a:gd name="connsiteX56" fmla="*/ 530598 w 548284"/>
                <a:gd name="connsiteY56" fmla="*/ 220773 h 547974"/>
                <a:gd name="connsiteX57" fmla="*/ 486381 w 548284"/>
                <a:gd name="connsiteY57" fmla="*/ 264989 h 547974"/>
                <a:gd name="connsiteX58" fmla="*/ 371418 w 548284"/>
                <a:gd name="connsiteY58" fmla="*/ 264989 h 547974"/>
                <a:gd name="connsiteX59" fmla="*/ 371418 w 548284"/>
                <a:gd name="connsiteY59" fmla="*/ 256146 h 547974"/>
                <a:gd name="connsiteX60" fmla="*/ 344889 w 548284"/>
                <a:gd name="connsiteY60" fmla="*/ 229616 h 547974"/>
                <a:gd name="connsiteX61" fmla="*/ 203396 w 548284"/>
                <a:gd name="connsiteY61" fmla="*/ 229616 h 547974"/>
                <a:gd name="connsiteX62" fmla="*/ 176866 w 548284"/>
                <a:gd name="connsiteY62" fmla="*/ 256146 h 547974"/>
                <a:gd name="connsiteX63" fmla="*/ 176866 w 548284"/>
                <a:gd name="connsiteY63" fmla="*/ 264989 h 547974"/>
                <a:gd name="connsiteX64" fmla="*/ 61903 w 548284"/>
                <a:gd name="connsiteY64" fmla="*/ 264989 h 547974"/>
                <a:gd name="connsiteX65" fmla="*/ 0 w 548284"/>
                <a:gd name="connsiteY65" fmla="*/ 326892 h 547974"/>
                <a:gd name="connsiteX66" fmla="*/ 0 w 548284"/>
                <a:gd name="connsiteY66" fmla="*/ 397639 h 547974"/>
                <a:gd name="connsiteX67" fmla="*/ 61903 w 548284"/>
                <a:gd name="connsiteY67" fmla="*/ 459542 h 547974"/>
                <a:gd name="connsiteX68" fmla="*/ 88433 w 548284"/>
                <a:gd name="connsiteY68" fmla="*/ 459542 h 547974"/>
                <a:gd name="connsiteX69" fmla="*/ 88433 w 548284"/>
                <a:gd name="connsiteY69" fmla="*/ 468385 h 547974"/>
                <a:gd name="connsiteX70" fmla="*/ 114963 w 548284"/>
                <a:gd name="connsiteY70" fmla="*/ 494915 h 547974"/>
                <a:gd name="connsiteX71" fmla="*/ 256456 w 548284"/>
                <a:gd name="connsiteY71" fmla="*/ 494915 h 547974"/>
                <a:gd name="connsiteX72" fmla="*/ 282986 w 548284"/>
                <a:gd name="connsiteY72" fmla="*/ 468385 h 547974"/>
                <a:gd name="connsiteX73" fmla="*/ 282986 w 548284"/>
                <a:gd name="connsiteY73" fmla="*/ 459542 h 547974"/>
                <a:gd name="connsiteX74" fmla="*/ 354183 w 548284"/>
                <a:gd name="connsiteY74" fmla="*/ 459542 h 547974"/>
                <a:gd name="connsiteX75" fmla="*/ 451008 w 548284"/>
                <a:gd name="connsiteY75" fmla="*/ 547975 h 547974"/>
                <a:gd name="connsiteX76" fmla="*/ 548284 w 548284"/>
                <a:gd name="connsiteY76" fmla="*/ 450699 h 547974"/>
                <a:gd name="connsiteX77" fmla="*/ 451008 w 548284"/>
                <a:gd name="connsiteY77" fmla="*/ 353422 h 547974"/>
                <a:gd name="connsiteX78" fmla="*/ 354183 w 548284"/>
                <a:gd name="connsiteY78" fmla="*/ 441855 h 547974"/>
                <a:gd name="connsiteX79" fmla="*/ 282986 w 548284"/>
                <a:gd name="connsiteY79" fmla="*/ 441855 h 547974"/>
                <a:gd name="connsiteX80" fmla="*/ 282986 w 548284"/>
                <a:gd name="connsiteY80" fmla="*/ 433012 h 547974"/>
                <a:gd name="connsiteX81" fmla="*/ 256456 w 548284"/>
                <a:gd name="connsiteY81" fmla="*/ 406482 h 547974"/>
                <a:gd name="connsiteX82" fmla="*/ 114963 w 548284"/>
                <a:gd name="connsiteY82" fmla="*/ 406482 h 547974"/>
                <a:gd name="connsiteX83" fmla="*/ 88433 w 548284"/>
                <a:gd name="connsiteY83" fmla="*/ 433012 h 547974"/>
                <a:gd name="connsiteX84" fmla="*/ 88433 w 548284"/>
                <a:gd name="connsiteY84" fmla="*/ 441855 h 547974"/>
                <a:gd name="connsiteX85" fmla="*/ 61903 w 548284"/>
                <a:gd name="connsiteY85" fmla="*/ 441855 h 547974"/>
                <a:gd name="connsiteX86" fmla="*/ 17687 w 548284"/>
                <a:gd name="connsiteY86" fmla="*/ 397639 h 547974"/>
                <a:gd name="connsiteX87" fmla="*/ 17687 w 548284"/>
                <a:gd name="connsiteY87" fmla="*/ 326892 h 547974"/>
                <a:gd name="connsiteX88" fmla="*/ 61903 w 548284"/>
                <a:gd name="connsiteY88" fmla="*/ 282676 h 547974"/>
                <a:gd name="connsiteX89" fmla="*/ 176866 w 548284"/>
                <a:gd name="connsiteY89" fmla="*/ 282676 h 547974"/>
                <a:gd name="connsiteX90" fmla="*/ 176866 w 548284"/>
                <a:gd name="connsiteY90" fmla="*/ 291519 h 547974"/>
                <a:gd name="connsiteX91" fmla="*/ 203396 w 548284"/>
                <a:gd name="connsiteY91" fmla="*/ 318049 h 547974"/>
                <a:gd name="connsiteX92" fmla="*/ 194862 w 548284"/>
                <a:gd name="connsiteY92" fmla="*/ 117059 h 547974"/>
                <a:gd name="connsiteX93" fmla="*/ 175469 w 548284"/>
                <a:gd name="connsiteY93" fmla="*/ 122365 h 547974"/>
                <a:gd name="connsiteX94" fmla="*/ 174045 w 548284"/>
                <a:gd name="connsiteY94" fmla="*/ 127007 h 547974"/>
                <a:gd name="connsiteX95" fmla="*/ 168987 w 548284"/>
                <a:gd name="connsiteY95" fmla="*/ 139123 h 547974"/>
                <a:gd name="connsiteX96" fmla="*/ 166705 w 548284"/>
                <a:gd name="connsiteY96" fmla="*/ 143421 h 547974"/>
                <a:gd name="connsiteX97" fmla="*/ 176698 w 548284"/>
                <a:gd name="connsiteY97" fmla="*/ 160921 h 547974"/>
                <a:gd name="connsiteX98" fmla="*/ 161240 w 548284"/>
                <a:gd name="connsiteY98" fmla="*/ 176388 h 547974"/>
                <a:gd name="connsiteX99" fmla="*/ 143730 w 548284"/>
                <a:gd name="connsiteY99" fmla="*/ 166404 h 547974"/>
                <a:gd name="connsiteX100" fmla="*/ 139441 w 548284"/>
                <a:gd name="connsiteY100" fmla="*/ 168677 h 547974"/>
                <a:gd name="connsiteX101" fmla="*/ 127326 w 548284"/>
                <a:gd name="connsiteY101" fmla="*/ 173727 h 547974"/>
                <a:gd name="connsiteX102" fmla="*/ 122692 w 548284"/>
                <a:gd name="connsiteY102" fmla="*/ 175159 h 547974"/>
                <a:gd name="connsiteX103" fmla="*/ 117377 w 548284"/>
                <a:gd name="connsiteY103" fmla="*/ 194553 h 547974"/>
                <a:gd name="connsiteX104" fmla="*/ 95508 w 548284"/>
                <a:gd name="connsiteY104" fmla="*/ 194553 h 547974"/>
                <a:gd name="connsiteX105" fmla="*/ 90193 w 548284"/>
                <a:gd name="connsiteY105" fmla="*/ 175159 h 547974"/>
                <a:gd name="connsiteX106" fmla="*/ 85559 w 548284"/>
                <a:gd name="connsiteY106" fmla="*/ 173727 h 547974"/>
                <a:gd name="connsiteX107" fmla="*/ 73444 w 548284"/>
                <a:gd name="connsiteY107" fmla="*/ 168677 h 547974"/>
                <a:gd name="connsiteX108" fmla="*/ 69146 w 548284"/>
                <a:gd name="connsiteY108" fmla="*/ 166404 h 547974"/>
                <a:gd name="connsiteX109" fmla="*/ 51645 w 548284"/>
                <a:gd name="connsiteY109" fmla="*/ 176388 h 547974"/>
                <a:gd name="connsiteX110" fmla="*/ 36169 w 548284"/>
                <a:gd name="connsiteY110" fmla="*/ 160921 h 547974"/>
                <a:gd name="connsiteX111" fmla="*/ 46162 w 548284"/>
                <a:gd name="connsiteY111" fmla="*/ 143421 h 547974"/>
                <a:gd name="connsiteX112" fmla="*/ 43880 w 548284"/>
                <a:gd name="connsiteY112" fmla="*/ 139123 h 547974"/>
                <a:gd name="connsiteX113" fmla="*/ 38822 w 548284"/>
                <a:gd name="connsiteY113" fmla="*/ 127007 h 547974"/>
                <a:gd name="connsiteX114" fmla="*/ 37398 w 548284"/>
                <a:gd name="connsiteY114" fmla="*/ 122365 h 547974"/>
                <a:gd name="connsiteX115" fmla="*/ 18005 w 548284"/>
                <a:gd name="connsiteY115" fmla="*/ 117059 h 547974"/>
                <a:gd name="connsiteX116" fmla="*/ 18005 w 548284"/>
                <a:gd name="connsiteY116" fmla="*/ 95180 h 547974"/>
                <a:gd name="connsiteX117" fmla="*/ 37398 w 548284"/>
                <a:gd name="connsiteY117" fmla="*/ 89883 h 547974"/>
                <a:gd name="connsiteX118" fmla="*/ 38831 w 548284"/>
                <a:gd name="connsiteY118" fmla="*/ 85241 h 547974"/>
                <a:gd name="connsiteX119" fmla="*/ 43880 w 548284"/>
                <a:gd name="connsiteY119" fmla="*/ 73134 h 547974"/>
                <a:gd name="connsiteX120" fmla="*/ 46162 w 548284"/>
                <a:gd name="connsiteY120" fmla="*/ 68827 h 547974"/>
                <a:gd name="connsiteX121" fmla="*/ 36169 w 548284"/>
                <a:gd name="connsiteY121" fmla="*/ 51326 h 547974"/>
                <a:gd name="connsiteX122" fmla="*/ 51627 w 548284"/>
                <a:gd name="connsiteY122" fmla="*/ 35860 h 547974"/>
                <a:gd name="connsiteX123" fmla="*/ 69128 w 548284"/>
                <a:gd name="connsiteY123" fmla="*/ 45844 h 547974"/>
                <a:gd name="connsiteX124" fmla="*/ 73426 w 548284"/>
                <a:gd name="connsiteY124" fmla="*/ 43571 h 547974"/>
                <a:gd name="connsiteX125" fmla="*/ 85541 w 548284"/>
                <a:gd name="connsiteY125" fmla="*/ 38513 h 547974"/>
                <a:gd name="connsiteX126" fmla="*/ 90175 w 548284"/>
                <a:gd name="connsiteY126" fmla="*/ 37080 h 547974"/>
                <a:gd name="connsiteX127" fmla="*/ 95490 w 548284"/>
                <a:gd name="connsiteY127" fmla="*/ 17687 h 547974"/>
                <a:gd name="connsiteX128" fmla="*/ 117359 w 548284"/>
                <a:gd name="connsiteY128" fmla="*/ 17687 h 547974"/>
                <a:gd name="connsiteX129" fmla="*/ 122674 w 548284"/>
                <a:gd name="connsiteY129" fmla="*/ 37080 h 547974"/>
                <a:gd name="connsiteX130" fmla="*/ 127308 w 548284"/>
                <a:gd name="connsiteY130" fmla="*/ 38513 h 547974"/>
                <a:gd name="connsiteX131" fmla="*/ 139423 w 548284"/>
                <a:gd name="connsiteY131" fmla="*/ 43571 h 547974"/>
                <a:gd name="connsiteX132" fmla="*/ 143712 w 548284"/>
                <a:gd name="connsiteY132" fmla="*/ 45844 h 547974"/>
                <a:gd name="connsiteX133" fmla="*/ 161222 w 548284"/>
                <a:gd name="connsiteY133" fmla="*/ 35860 h 547974"/>
                <a:gd name="connsiteX134" fmla="*/ 176680 w 548284"/>
                <a:gd name="connsiteY134" fmla="*/ 51326 h 547974"/>
                <a:gd name="connsiteX135" fmla="*/ 166687 w 548284"/>
                <a:gd name="connsiteY135" fmla="*/ 68827 h 547974"/>
                <a:gd name="connsiteX136" fmla="*/ 168969 w 548284"/>
                <a:gd name="connsiteY136" fmla="*/ 73125 h 547974"/>
                <a:gd name="connsiteX137" fmla="*/ 174018 w 548284"/>
                <a:gd name="connsiteY137" fmla="*/ 85232 h 547974"/>
                <a:gd name="connsiteX138" fmla="*/ 175451 w 548284"/>
                <a:gd name="connsiteY138" fmla="*/ 89874 h 547974"/>
                <a:gd name="connsiteX139" fmla="*/ 194844 w 548284"/>
                <a:gd name="connsiteY139" fmla="*/ 95172 h 547974"/>
                <a:gd name="connsiteX140" fmla="*/ 194844 w 548284"/>
                <a:gd name="connsiteY140" fmla="*/ 117059 h 547974"/>
                <a:gd name="connsiteX141" fmla="*/ 442165 w 548284"/>
                <a:gd name="connsiteY141" fmla="*/ 123497 h 547974"/>
                <a:gd name="connsiteX142" fmla="*/ 433322 w 548284"/>
                <a:gd name="connsiteY142" fmla="*/ 132340 h 547974"/>
                <a:gd name="connsiteX143" fmla="*/ 291829 w 548284"/>
                <a:gd name="connsiteY143" fmla="*/ 132340 h 547974"/>
                <a:gd name="connsiteX144" fmla="*/ 282986 w 548284"/>
                <a:gd name="connsiteY144" fmla="*/ 123497 h 547974"/>
                <a:gd name="connsiteX145" fmla="*/ 282986 w 548284"/>
                <a:gd name="connsiteY145" fmla="*/ 88123 h 547974"/>
                <a:gd name="connsiteX146" fmla="*/ 291829 w 548284"/>
                <a:gd name="connsiteY146" fmla="*/ 79280 h 547974"/>
                <a:gd name="connsiteX147" fmla="*/ 433322 w 548284"/>
                <a:gd name="connsiteY147" fmla="*/ 79280 h 547974"/>
                <a:gd name="connsiteX148" fmla="*/ 442165 w 548284"/>
                <a:gd name="connsiteY148" fmla="*/ 88123 h 547974"/>
                <a:gd name="connsiteX149" fmla="*/ 451008 w 548284"/>
                <a:gd name="connsiteY149" fmla="*/ 371109 h 547974"/>
                <a:gd name="connsiteX150" fmla="*/ 530598 w 548284"/>
                <a:gd name="connsiteY150" fmla="*/ 450699 h 547974"/>
                <a:gd name="connsiteX151" fmla="*/ 451008 w 548284"/>
                <a:gd name="connsiteY151" fmla="*/ 530288 h 547974"/>
                <a:gd name="connsiteX152" fmla="*/ 371418 w 548284"/>
                <a:gd name="connsiteY152" fmla="*/ 450699 h 547974"/>
                <a:gd name="connsiteX153" fmla="*/ 451008 w 548284"/>
                <a:gd name="connsiteY153" fmla="*/ 371109 h 547974"/>
                <a:gd name="connsiteX154" fmla="*/ 106120 w 548284"/>
                <a:gd name="connsiteY154" fmla="*/ 433012 h 547974"/>
                <a:gd name="connsiteX155" fmla="*/ 114963 w 548284"/>
                <a:gd name="connsiteY155" fmla="*/ 424169 h 547974"/>
                <a:gd name="connsiteX156" fmla="*/ 256456 w 548284"/>
                <a:gd name="connsiteY156" fmla="*/ 424169 h 547974"/>
                <a:gd name="connsiteX157" fmla="*/ 265299 w 548284"/>
                <a:gd name="connsiteY157" fmla="*/ 433012 h 547974"/>
                <a:gd name="connsiteX158" fmla="*/ 265299 w 548284"/>
                <a:gd name="connsiteY158" fmla="*/ 468385 h 547974"/>
                <a:gd name="connsiteX159" fmla="*/ 256456 w 548284"/>
                <a:gd name="connsiteY159" fmla="*/ 477229 h 547974"/>
                <a:gd name="connsiteX160" fmla="*/ 114963 w 548284"/>
                <a:gd name="connsiteY160" fmla="*/ 477229 h 547974"/>
                <a:gd name="connsiteX161" fmla="*/ 106120 w 548284"/>
                <a:gd name="connsiteY161" fmla="*/ 468385 h 547974"/>
                <a:gd name="connsiteX162" fmla="*/ 194553 w 548284"/>
                <a:gd name="connsiteY162" fmla="*/ 256146 h 547974"/>
                <a:gd name="connsiteX163" fmla="*/ 203396 w 548284"/>
                <a:gd name="connsiteY163" fmla="*/ 247303 h 547974"/>
                <a:gd name="connsiteX164" fmla="*/ 344889 w 548284"/>
                <a:gd name="connsiteY164" fmla="*/ 247303 h 547974"/>
                <a:gd name="connsiteX165" fmla="*/ 353732 w 548284"/>
                <a:gd name="connsiteY165" fmla="*/ 256146 h 547974"/>
                <a:gd name="connsiteX166" fmla="*/ 353732 w 548284"/>
                <a:gd name="connsiteY166" fmla="*/ 291519 h 547974"/>
                <a:gd name="connsiteX167" fmla="*/ 344889 w 548284"/>
                <a:gd name="connsiteY167" fmla="*/ 300363 h 547974"/>
                <a:gd name="connsiteX168" fmla="*/ 203396 w 548284"/>
                <a:gd name="connsiteY168" fmla="*/ 300363 h 547974"/>
                <a:gd name="connsiteX169" fmla="*/ 194553 w 548284"/>
                <a:gd name="connsiteY169" fmla="*/ 291519 h 547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Lst>
              <a:rect l="l" t="t" r="r" b="b"/>
              <a:pathLst>
                <a:path w="548284" h="547974">
                  <a:moveTo>
                    <a:pt x="203396" y="318049"/>
                  </a:moveTo>
                  <a:lnTo>
                    <a:pt x="344889" y="318049"/>
                  </a:lnTo>
                  <a:cubicBezTo>
                    <a:pt x="359515" y="318049"/>
                    <a:pt x="371418" y="306146"/>
                    <a:pt x="371418" y="291519"/>
                  </a:cubicBezTo>
                  <a:lnTo>
                    <a:pt x="371418" y="282676"/>
                  </a:lnTo>
                  <a:lnTo>
                    <a:pt x="486381" y="282676"/>
                  </a:lnTo>
                  <a:cubicBezTo>
                    <a:pt x="520508" y="282676"/>
                    <a:pt x="548284" y="254908"/>
                    <a:pt x="548284" y="220773"/>
                  </a:cubicBezTo>
                  <a:lnTo>
                    <a:pt x="548284" y="158870"/>
                  </a:lnTo>
                  <a:cubicBezTo>
                    <a:pt x="548284" y="124735"/>
                    <a:pt x="520508" y="96967"/>
                    <a:pt x="486381" y="96967"/>
                  </a:cubicBezTo>
                  <a:lnTo>
                    <a:pt x="459851" y="96967"/>
                  </a:lnTo>
                  <a:lnTo>
                    <a:pt x="459851" y="88123"/>
                  </a:lnTo>
                  <a:cubicBezTo>
                    <a:pt x="459851" y="73497"/>
                    <a:pt x="447948" y="61594"/>
                    <a:pt x="433322" y="61594"/>
                  </a:cubicBezTo>
                  <a:lnTo>
                    <a:pt x="291829" y="61594"/>
                  </a:lnTo>
                  <a:cubicBezTo>
                    <a:pt x="277202" y="61594"/>
                    <a:pt x="265299" y="73497"/>
                    <a:pt x="265299" y="88123"/>
                  </a:cubicBezTo>
                  <a:lnTo>
                    <a:pt x="265299" y="96967"/>
                  </a:lnTo>
                  <a:lnTo>
                    <a:pt x="212549" y="96967"/>
                  </a:lnTo>
                  <a:lnTo>
                    <a:pt x="212549" y="81686"/>
                  </a:lnTo>
                  <a:lnTo>
                    <a:pt x="189335" y="75345"/>
                  </a:lnTo>
                  <a:cubicBezTo>
                    <a:pt x="188574" y="73311"/>
                    <a:pt x="187726" y="71286"/>
                    <a:pt x="186806" y="69287"/>
                  </a:cubicBezTo>
                  <a:lnTo>
                    <a:pt x="198753" y="48364"/>
                  </a:lnTo>
                  <a:lnTo>
                    <a:pt x="164193" y="13804"/>
                  </a:lnTo>
                  <a:lnTo>
                    <a:pt x="143279" y="25743"/>
                  </a:lnTo>
                  <a:cubicBezTo>
                    <a:pt x="141272" y="24823"/>
                    <a:pt x="139255" y="23974"/>
                    <a:pt x="137221" y="23214"/>
                  </a:cubicBezTo>
                  <a:lnTo>
                    <a:pt x="130872" y="0"/>
                  </a:lnTo>
                  <a:lnTo>
                    <a:pt x="81995" y="0"/>
                  </a:lnTo>
                  <a:lnTo>
                    <a:pt x="75646" y="23214"/>
                  </a:lnTo>
                  <a:cubicBezTo>
                    <a:pt x="73612" y="23974"/>
                    <a:pt x="71595" y="24814"/>
                    <a:pt x="69597" y="25743"/>
                  </a:cubicBezTo>
                  <a:lnTo>
                    <a:pt x="48674" y="13804"/>
                  </a:lnTo>
                  <a:lnTo>
                    <a:pt x="14114" y="48364"/>
                  </a:lnTo>
                  <a:lnTo>
                    <a:pt x="26052" y="69287"/>
                  </a:lnTo>
                  <a:cubicBezTo>
                    <a:pt x="25133" y="71286"/>
                    <a:pt x="24284" y="73311"/>
                    <a:pt x="23523" y="75345"/>
                  </a:cubicBezTo>
                  <a:lnTo>
                    <a:pt x="310" y="81686"/>
                  </a:lnTo>
                  <a:lnTo>
                    <a:pt x="310" y="130554"/>
                  </a:lnTo>
                  <a:lnTo>
                    <a:pt x="23523" y="136903"/>
                  </a:lnTo>
                  <a:cubicBezTo>
                    <a:pt x="24284" y="138937"/>
                    <a:pt x="25133" y="140962"/>
                    <a:pt x="26052" y="142961"/>
                  </a:cubicBezTo>
                  <a:lnTo>
                    <a:pt x="14105" y="163884"/>
                  </a:lnTo>
                  <a:lnTo>
                    <a:pt x="48665" y="198435"/>
                  </a:lnTo>
                  <a:lnTo>
                    <a:pt x="69588" y="186496"/>
                  </a:lnTo>
                  <a:cubicBezTo>
                    <a:pt x="71586" y="187416"/>
                    <a:pt x="73603" y="188265"/>
                    <a:pt x="75637" y="189025"/>
                  </a:cubicBezTo>
                  <a:lnTo>
                    <a:pt x="81986" y="212239"/>
                  </a:lnTo>
                  <a:lnTo>
                    <a:pt x="130863" y="212239"/>
                  </a:lnTo>
                  <a:lnTo>
                    <a:pt x="137213" y="189025"/>
                  </a:lnTo>
                  <a:cubicBezTo>
                    <a:pt x="139238" y="188265"/>
                    <a:pt x="141263" y="187416"/>
                    <a:pt x="143270" y="186496"/>
                  </a:cubicBezTo>
                  <a:lnTo>
                    <a:pt x="164185" y="198426"/>
                  </a:lnTo>
                  <a:lnTo>
                    <a:pt x="198744" y="163875"/>
                  </a:lnTo>
                  <a:lnTo>
                    <a:pt x="186797" y="142952"/>
                  </a:lnTo>
                  <a:cubicBezTo>
                    <a:pt x="187717" y="140953"/>
                    <a:pt x="188566" y="138928"/>
                    <a:pt x="189326" y="136894"/>
                  </a:cubicBezTo>
                  <a:lnTo>
                    <a:pt x="212540" y="130545"/>
                  </a:lnTo>
                  <a:lnTo>
                    <a:pt x="212540" y="114653"/>
                  </a:lnTo>
                  <a:lnTo>
                    <a:pt x="265299" y="114653"/>
                  </a:lnTo>
                  <a:lnTo>
                    <a:pt x="265299" y="123497"/>
                  </a:lnTo>
                  <a:cubicBezTo>
                    <a:pt x="265299" y="138123"/>
                    <a:pt x="277202" y="150027"/>
                    <a:pt x="291829" y="150027"/>
                  </a:cubicBezTo>
                  <a:lnTo>
                    <a:pt x="433322" y="150027"/>
                  </a:lnTo>
                  <a:cubicBezTo>
                    <a:pt x="447948" y="150027"/>
                    <a:pt x="459851" y="138123"/>
                    <a:pt x="459851" y="123497"/>
                  </a:cubicBezTo>
                  <a:lnTo>
                    <a:pt x="459851" y="114653"/>
                  </a:lnTo>
                  <a:lnTo>
                    <a:pt x="486381" y="114653"/>
                  </a:lnTo>
                  <a:cubicBezTo>
                    <a:pt x="510762" y="114653"/>
                    <a:pt x="530598" y="134489"/>
                    <a:pt x="530598" y="158870"/>
                  </a:cubicBezTo>
                  <a:lnTo>
                    <a:pt x="530598" y="220773"/>
                  </a:lnTo>
                  <a:cubicBezTo>
                    <a:pt x="530598" y="245154"/>
                    <a:pt x="510762" y="264989"/>
                    <a:pt x="486381" y="264989"/>
                  </a:cubicBezTo>
                  <a:lnTo>
                    <a:pt x="371418" y="264989"/>
                  </a:lnTo>
                  <a:lnTo>
                    <a:pt x="371418" y="256146"/>
                  </a:lnTo>
                  <a:cubicBezTo>
                    <a:pt x="371418" y="241519"/>
                    <a:pt x="359515" y="229616"/>
                    <a:pt x="344889" y="229616"/>
                  </a:cubicBezTo>
                  <a:lnTo>
                    <a:pt x="203396" y="229616"/>
                  </a:lnTo>
                  <a:cubicBezTo>
                    <a:pt x="188769" y="229616"/>
                    <a:pt x="176866" y="241519"/>
                    <a:pt x="176866" y="256146"/>
                  </a:cubicBezTo>
                  <a:lnTo>
                    <a:pt x="176866" y="264989"/>
                  </a:lnTo>
                  <a:lnTo>
                    <a:pt x="61903" y="264989"/>
                  </a:lnTo>
                  <a:cubicBezTo>
                    <a:pt x="27777" y="264989"/>
                    <a:pt x="0" y="292766"/>
                    <a:pt x="0" y="326892"/>
                  </a:cubicBezTo>
                  <a:lnTo>
                    <a:pt x="0" y="397639"/>
                  </a:lnTo>
                  <a:cubicBezTo>
                    <a:pt x="0" y="431765"/>
                    <a:pt x="27777" y="459542"/>
                    <a:pt x="61903" y="459542"/>
                  </a:cubicBezTo>
                  <a:lnTo>
                    <a:pt x="88433" y="459542"/>
                  </a:lnTo>
                  <a:lnTo>
                    <a:pt x="88433" y="468385"/>
                  </a:lnTo>
                  <a:cubicBezTo>
                    <a:pt x="88433" y="483012"/>
                    <a:pt x="100336" y="494915"/>
                    <a:pt x="114963" y="494915"/>
                  </a:cubicBezTo>
                  <a:lnTo>
                    <a:pt x="256456" y="494915"/>
                  </a:lnTo>
                  <a:cubicBezTo>
                    <a:pt x="271082" y="494915"/>
                    <a:pt x="282986" y="483012"/>
                    <a:pt x="282986" y="468385"/>
                  </a:cubicBezTo>
                  <a:lnTo>
                    <a:pt x="282986" y="459542"/>
                  </a:lnTo>
                  <a:lnTo>
                    <a:pt x="354183" y="459542"/>
                  </a:lnTo>
                  <a:cubicBezTo>
                    <a:pt x="358666" y="509047"/>
                    <a:pt x="400354" y="547975"/>
                    <a:pt x="451008" y="547975"/>
                  </a:cubicBezTo>
                  <a:cubicBezTo>
                    <a:pt x="504643" y="547975"/>
                    <a:pt x="548284" y="504333"/>
                    <a:pt x="548284" y="450699"/>
                  </a:cubicBezTo>
                  <a:cubicBezTo>
                    <a:pt x="548284" y="397064"/>
                    <a:pt x="504643" y="353422"/>
                    <a:pt x="451008" y="353422"/>
                  </a:cubicBezTo>
                  <a:cubicBezTo>
                    <a:pt x="400354" y="353422"/>
                    <a:pt x="358666" y="392351"/>
                    <a:pt x="354183" y="441855"/>
                  </a:cubicBezTo>
                  <a:lnTo>
                    <a:pt x="282986" y="441855"/>
                  </a:lnTo>
                  <a:lnTo>
                    <a:pt x="282986" y="433012"/>
                  </a:lnTo>
                  <a:cubicBezTo>
                    <a:pt x="282986" y="418385"/>
                    <a:pt x="271082" y="406482"/>
                    <a:pt x="256456" y="406482"/>
                  </a:cubicBezTo>
                  <a:lnTo>
                    <a:pt x="114963" y="406482"/>
                  </a:lnTo>
                  <a:cubicBezTo>
                    <a:pt x="100336" y="406482"/>
                    <a:pt x="88433" y="418385"/>
                    <a:pt x="88433" y="433012"/>
                  </a:cubicBezTo>
                  <a:lnTo>
                    <a:pt x="88433" y="441855"/>
                  </a:lnTo>
                  <a:lnTo>
                    <a:pt x="61903" y="441855"/>
                  </a:lnTo>
                  <a:cubicBezTo>
                    <a:pt x="37522" y="441855"/>
                    <a:pt x="17687" y="422020"/>
                    <a:pt x="17687" y="397639"/>
                  </a:cubicBezTo>
                  <a:lnTo>
                    <a:pt x="17687" y="326892"/>
                  </a:lnTo>
                  <a:cubicBezTo>
                    <a:pt x="17687" y="302512"/>
                    <a:pt x="37522" y="282676"/>
                    <a:pt x="61903" y="282676"/>
                  </a:cubicBezTo>
                  <a:lnTo>
                    <a:pt x="176866" y="282676"/>
                  </a:lnTo>
                  <a:lnTo>
                    <a:pt x="176866" y="291519"/>
                  </a:lnTo>
                  <a:cubicBezTo>
                    <a:pt x="176866" y="306146"/>
                    <a:pt x="188769" y="318049"/>
                    <a:pt x="203396" y="318049"/>
                  </a:cubicBezTo>
                  <a:close/>
                  <a:moveTo>
                    <a:pt x="194862" y="117059"/>
                  </a:moveTo>
                  <a:lnTo>
                    <a:pt x="175469" y="122365"/>
                  </a:lnTo>
                  <a:lnTo>
                    <a:pt x="174045" y="127007"/>
                  </a:lnTo>
                  <a:cubicBezTo>
                    <a:pt x="172772" y="131102"/>
                    <a:pt x="171074" y="135179"/>
                    <a:pt x="168987" y="139123"/>
                  </a:cubicBezTo>
                  <a:lnTo>
                    <a:pt x="166705" y="143421"/>
                  </a:lnTo>
                  <a:lnTo>
                    <a:pt x="176698" y="160921"/>
                  </a:lnTo>
                  <a:lnTo>
                    <a:pt x="161240" y="176388"/>
                  </a:lnTo>
                  <a:lnTo>
                    <a:pt x="143730" y="166404"/>
                  </a:lnTo>
                  <a:lnTo>
                    <a:pt x="139441" y="168677"/>
                  </a:lnTo>
                  <a:cubicBezTo>
                    <a:pt x="135506" y="170764"/>
                    <a:pt x="131429" y="172462"/>
                    <a:pt x="127326" y="173727"/>
                  </a:cubicBezTo>
                  <a:lnTo>
                    <a:pt x="122692" y="175159"/>
                  </a:lnTo>
                  <a:lnTo>
                    <a:pt x="117377" y="194553"/>
                  </a:lnTo>
                  <a:lnTo>
                    <a:pt x="95508" y="194553"/>
                  </a:lnTo>
                  <a:lnTo>
                    <a:pt x="90193" y="175159"/>
                  </a:lnTo>
                  <a:lnTo>
                    <a:pt x="85559" y="173727"/>
                  </a:lnTo>
                  <a:cubicBezTo>
                    <a:pt x="81473" y="172462"/>
                    <a:pt x="77397" y="170773"/>
                    <a:pt x="73444" y="168677"/>
                  </a:cubicBezTo>
                  <a:lnTo>
                    <a:pt x="69146" y="166404"/>
                  </a:lnTo>
                  <a:lnTo>
                    <a:pt x="51645" y="176388"/>
                  </a:lnTo>
                  <a:lnTo>
                    <a:pt x="36169" y="160921"/>
                  </a:lnTo>
                  <a:lnTo>
                    <a:pt x="46162" y="143421"/>
                  </a:lnTo>
                  <a:lnTo>
                    <a:pt x="43880" y="139123"/>
                  </a:lnTo>
                  <a:cubicBezTo>
                    <a:pt x="41793" y="135179"/>
                    <a:pt x="40087" y="131102"/>
                    <a:pt x="38822" y="127007"/>
                  </a:cubicBezTo>
                  <a:lnTo>
                    <a:pt x="37398" y="122365"/>
                  </a:lnTo>
                  <a:lnTo>
                    <a:pt x="18005" y="117059"/>
                  </a:lnTo>
                  <a:lnTo>
                    <a:pt x="18005" y="95180"/>
                  </a:lnTo>
                  <a:lnTo>
                    <a:pt x="37398" y="89883"/>
                  </a:lnTo>
                  <a:lnTo>
                    <a:pt x="38831" y="85241"/>
                  </a:lnTo>
                  <a:cubicBezTo>
                    <a:pt x="40096" y="81146"/>
                    <a:pt x="41793" y="77069"/>
                    <a:pt x="43880" y="73134"/>
                  </a:cubicBezTo>
                  <a:lnTo>
                    <a:pt x="46162" y="68827"/>
                  </a:lnTo>
                  <a:lnTo>
                    <a:pt x="36169" y="51326"/>
                  </a:lnTo>
                  <a:lnTo>
                    <a:pt x="51627" y="35860"/>
                  </a:lnTo>
                  <a:lnTo>
                    <a:pt x="69128" y="45844"/>
                  </a:lnTo>
                  <a:lnTo>
                    <a:pt x="73426" y="43571"/>
                  </a:lnTo>
                  <a:cubicBezTo>
                    <a:pt x="77397" y="41475"/>
                    <a:pt x="81473" y="39768"/>
                    <a:pt x="85541" y="38513"/>
                  </a:cubicBezTo>
                  <a:lnTo>
                    <a:pt x="90175" y="37080"/>
                  </a:lnTo>
                  <a:lnTo>
                    <a:pt x="95490" y="17687"/>
                  </a:lnTo>
                  <a:lnTo>
                    <a:pt x="117359" y="17687"/>
                  </a:lnTo>
                  <a:lnTo>
                    <a:pt x="122674" y="37080"/>
                  </a:lnTo>
                  <a:lnTo>
                    <a:pt x="127308" y="38513"/>
                  </a:lnTo>
                  <a:cubicBezTo>
                    <a:pt x="131394" y="39777"/>
                    <a:pt x="135470" y="41475"/>
                    <a:pt x="139423" y="43571"/>
                  </a:cubicBezTo>
                  <a:lnTo>
                    <a:pt x="143712" y="45844"/>
                  </a:lnTo>
                  <a:lnTo>
                    <a:pt x="161222" y="35860"/>
                  </a:lnTo>
                  <a:lnTo>
                    <a:pt x="176680" y="51326"/>
                  </a:lnTo>
                  <a:lnTo>
                    <a:pt x="166687" y="68827"/>
                  </a:lnTo>
                  <a:lnTo>
                    <a:pt x="168969" y="73125"/>
                  </a:lnTo>
                  <a:cubicBezTo>
                    <a:pt x="171056" y="77060"/>
                    <a:pt x="172763" y="81137"/>
                    <a:pt x="174018" y="85232"/>
                  </a:cubicBezTo>
                  <a:lnTo>
                    <a:pt x="175451" y="89874"/>
                  </a:lnTo>
                  <a:lnTo>
                    <a:pt x="194844" y="95172"/>
                  </a:lnTo>
                  <a:lnTo>
                    <a:pt x="194844" y="117059"/>
                  </a:lnTo>
                  <a:close/>
                  <a:moveTo>
                    <a:pt x="442165" y="123497"/>
                  </a:moveTo>
                  <a:cubicBezTo>
                    <a:pt x="442165" y="128369"/>
                    <a:pt x="438203" y="132340"/>
                    <a:pt x="433322" y="132340"/>
                  </a:cubicBezTo>
                  <a:lnTo>
                    <a:pt x="291829" y="132340"/>
                  </a:lnTo>
                  <a:cubicBezTo>
                    <a:pt x="286947" y="132340"/>
                    <a:pt x="282986" y="128369"/>
                    <a:pt x="282986" y="123497"/>
                  </a:cubicBezTo>
                  <a:lnTo>
                    <a:pt x="282986" y="88123"/>
                  </a:lnTo>
                  <a:cubicBezTo>
                    <a:pt x="282986" y="83251"/>
                    <a:pt x="286947" y="79280"/>
                    <a:pt x="291829" y="79280"/>
                  </a:cubicBezTo>
                  <a:lnTo>
                    <a:pt x="433322" y="79280"/>
                  </a:lnTo>
                  <a:cubicBezTo>
                    <a:pt x="438203" y="79280"/>
                    <a:pt x="442165" y="83251"/>
                    <a:pt x="442165" y="88123"/>
                  </a:cubicBezTo>
                  <a:close/>
                  <a:moveTo>
                    <a:pt x="451008" y="371109"/>
                  </a:moveTo>
                  <a:cubicBezTo>
                    <a:pt x="494897" y="371109"/>
                    <a:pt x="530598" y="406809"/>
                    <a:pt x="530598" y="450699"/>
                  </a:cubicBezTo>
                  <a:cubicBezTo>
                    <a:pt x="530598" y="494588"/>
                    <a:pt x="494897" y="530288"/>
                    <a:pt x="451008" y="530288"/>
                  </a:cubicBezTo>
                  <a:cubicBezTo>
                    <a:pt x="407119" y="530288"/>
                    <a:pt x="371418" y="494588"/>
                    <a:pt x="371418" y="450699"/>
                  </a:cubicBezTo>
                  <a:cubicBezTo>
                    <a:pt x="371418" y="406809"/>
                    <a:pt x="407119" y="371109"/>
                    <a:pt x="451008" y="371109"/>
                  </a:cubicBezTo>
                  <a:close/>
                  <a:moveTo>
                    <a:pt x="106120" y="433012"/>
                  </a:moveTo>
                  <a:cubicBezTo>
                    <a:pt x="106120" y="428131"/>
                    <a:pt x="110081" y="424169"/>
                    <a:pt x="114963" y="424169"/>
                  </a:cubicBezTo>
                  <a:lnTo>
                    <a:pt x="256456" y="424169"/>
                  </a:lnTo>
                  <a:cubicBezTo>
                    <a:pt x="261337" y="424169"/>
                    <a:pt x="265299" y="428131"/>
                    <a:pt x="265299" y="433012"/>
                  </a:cubicBezTo>
                  <a:lnTo>
                    <a:pt x="265299" y="468385"/>
                  </a:lnTo>
                  <a:cubicBezTo>
                    <a:pt x="265299" y="473267"/>
                    <a:pt x="261337" y="477229"/>
                    <a:pt x="256456" y="477229"/>
                  </a:cubicBezTo>
                  <a:lnTo>
                    <a:pt x="114963" y="477229"/>
                  </a:lnTo>
                  <a:cubicBezTo>
                    <a:pt x="110081" y="477229"/>
                    <a:pt x="106120" y="473267"/>
                    <a:pt x="106120" y="468385"/>
                  </a:cubicBezTo>
                  <a:close/>
                  <a:moveTo>
                    <a:pt x="194553" y="256146"/>
                  </a:moveTo>
                  <a:cubicBezTo>
                    <a:pt x="194553" y="251273"/>
                    <a:pt x="198514" y="247303"/>
                    <a:pt x="203396" y="247303"/>
                  </a:cubicBezTo>
                  <a:lnTo>
                    <a:pt x="344889" y="247303"/>
                  </a:lnTo>
                  <a:cubicBezTo>
                    <a:pt x="349770" y="247303"/>
                    <a:pt x="353732" y="251273"/>
                    <a:pt x="353732" y="256146"/>
                  </a:cubicBezTo>
                  <a:lnTo>
                    <a:pt x="353732" y="291519"/>
                  </a:lnTo>
                  <a:cubicBezTo>
                    <a:pt x="353732" y="296401"/>
                    <a:pt x="349770" y="300363"/>
                    <a:pt x="344889" y="300363"/>
                  </a:cubicBezTo>
                  <a:lnTo>
                    <a:pt x="203396" y="300363"/>
                  </a:lnTo>
                  <a:cubicBezTo>
                    <a:pt x="198514" y="300363"/>
                    <a:pt x="194553" y="296401"/>
                    <a:pt x="194553" y="291519"/>
                  </a:cubicBezTo>
                  <a:close/>
                </a:path>
              </a:pathLst>
            </a:custGeom>
            <a:grpFill/>
            <a:ln w="8781" cap="flat">
              <a:noFill/>
              <a:prstDash val="solid"/>
              <a:miter/>
            </a:ln>
          </p:spPr>
          <p:txBody>
            <a:bodyPr rtlCol="0" anchor="ctr"/>
            <a:lstStyle/>
            <a:p>
              <a:endParaRPr lang="en-GB"/>
            </a:p>
          </p:txBody>
        </p:sp>
        <p:sp>
          <p:nvSpPr>
            <p:cNvPr id="66" name="Freeform: Shape 65">
              <a:extLst>
                <a:ext uri="{FF2B5EF4-FFF2-40B4-BE49-F238E27FC236}">
                  <a16:creationId xmlns:a16="http://schemas.microsoft.com/office/drawing/2014/main" id="{9A8DDED3-021C-5047-55FD-901B8E717D39}"/>
                </a:ext>
              </a:extLst>
            </p:cNvPr>
            <p:cNvSpPr/>
            <p:nvPr/>
          </p:nvSpPr>
          <p:spPr>
            <a:xfrm>
              <a:off x="4665306" y="2658906"/>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67" name="Freeform: Shape 66">
              <a:extLst>
                <a:ext uri="{FF2B5EF4-FFF2-40B4-BE49-F238E27FC236}">
                  <a16:creationId xmlns:a16="http://schemas.microsoft.com/office/drawing/2014/main" id="{BB081451-1874-BBBC-1C28-0931EE688715}"/>
                </a:ext>
              </a:extLst>
            </p:cNvPr>
            <p:cNvSpPr/>
            <p:nvPr/>
          </p:nvSpPr>
          <p:spPr>
            <a:xfrm>
              <a:off x="4629933" y="2658906"/>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68" name="Freeform: Shape 67">
              <a:extLst>
                <a:ext uri="{FF2B5EF4-FFF2-40B4-BE49-F238E27FC236}">
                  <a16:creationId xmlns:a16="http://schemas.microsoft.com/office/drawing/2014/main" id="{9443431F-B4AB-1FEB-D1E1-77599E4E1C36}"/>
                </a:ext>
              </a:extLst>
            </p:cNvPr>
            <p:cNvSpPr/>
            <p:nvPr/>
          </p:nvSpPr>
          <p:spPr>
            <a:xfrm>
              <a:off x="4594560" y="2658906"/>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69" name="Freeform: Shape 68">
              <a:extLst>
                <a:ext uri="{FF2B5EF4-FFF2-40B4-BE49-F238E27FC236}">
                  <a16:creationId xmlns:a16="http://schemas.microsoft.com/office/drawing/2014/main" id="{F9CBC81B-5151-D5D2-3595-09ED5FA549D8}"/>
                </a:ext>
              </a:extLst>
            </p:cNvPr>
            <p:cNvSpPr/>
            <p:nvPr/>
          </p:nvSpPr>
          <p:spPr>
            <a:xfrm>
              <a:off x="4700679" y="2658906"/>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70" name="Freeform: Shape 69">
              <a:extLst>
                <a:ext uri="{FF2B5EF4-FFF2-40B4-BE49-F238E27FC236}">
                  <a16:creationId xmlns:a16="http://schemas.microsoft.com/office/drawing/2014/main" id="{A4839C3A-0D27-F2FC-BD37-090D58D2A1A6}"/>
                </a:ext>
              </a:extLst>
            </p:cNvPr>
            <p:cNvSpPr/>
            <p:nvPr/>
          </p:nvSpPr>
          <p:spPr>
            <a:xfrm>
              <a:off x="4541500" y="2835772"/>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71" name="Freeform: Shape 70">
              <a:extLst>
                <a:ext uri="{FF2B5EF4-FFF2-40B4-BE49-F238E27FC236}">
                  <a16:creationId xmlns:a16="http://schemas.microsoft.com/office/drawing/2014/main" id="{B4388BB5-3211-9F6E-344A-5FF83C0FD8E6}"/>
                </a:ext>
              </a:extLst>
            </p:cNvPr>
            <p:cNvSpPr/>
            <p:nvPr/>
          </p:nvSpPr>
          <p:spPr>
            <a:xfrm>
              <a:off x="4612247" y="2835772"/>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72" name="Freeform: Shape 71">
              <a:extLst>
                <a:ext uri="{FF2B5EF4-FFF2-40B4-BE49-F238E27FC236}">
                  <a16:creationId xmlns:a16="http://schemas.microsoft.com/office/drawing/2014/main" id="{4873EE31-D1DD-7DB9-2284-99DC06AE40CD}"/>
                </a:ext>
              </a:extLst>
            </p:cNvPr>
            <p:cNvSpPr/>
            <p:nvPr/>
          </p:nvSpPr>
          <p:spPr>
            <a:xfrm>
              <a:off x="4576873" y="2835772"/>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sp>
          <p:nvSpPr>
            <p:cNvPr id="73" name="Freeform: Shape 72">
              <a:extLst>
                <a:ext uri="{FF2B5EF4-FFF2-40B4-BE49-F238E27FC236}">
                  <a16:creationId xmlns:a16="http://schemas.microsoft.com/office/drawing/2014/main" id="{2A31457C-45B6-FE0D-379E-214CAB22B33F}"/>
                </a:ext>
              </a:extLst>
            </p:cNvPr>
            <p:cNvSpPr/>
            <p:nvPr/>
          </p:nvSpPr>
          <p:spPr>
            <a:xfrm>
              <a:off x="4506127" y="2835772"/>
              <a:ext cx="17686" cy="17686"/>
            </a:xfrm>
            <a:custGeom>
              <a:avLst/>
              <a:gdLst>
                <a:gd name="connsiteX0" fmla="*/ 0 w 17686"/>
                <a:gd name="connsiteY0" fmla="*/ 0 h 17686"/>
                <a:gd name="connsiteX1" fmla="*/ 17687 w 17686"/>
                <a:gd name="connsiteY1" fmla="*/ 0 h 17686"/>
                <a:gd name="connsiteX2" fmla="*/ 17687 w 17686"/>
                <a:gd name="connsiteY2" fmla="*/ 17687 h 17686"/>
                <a:gd name="connsiteX3" fmla="*/ 0 w 17686"/>
                <a:gd name="connsiteY3" fmla="*/ 17687 h 17686"/>
              </a:gdLst>
              <a:ahLst/>
              <a:cxnLst>
                <a:cxn ang="0">
                  <a:pos x="connsiteX0" y="connsiteY0"/>
                </a:cxn>
                <a:cxn ang="0">
                  <a:pos x="connsiteX1" y="connsiteY1"/>
                </a:cxn>
                <a:cxn ang="0">
                  <a:pos x="connsiteX2" y="connsiteY2"/>
                </a:cxn>
                <a:cxn ang="0">
                  <a:pos x="connsiteX3" y="connsiteY3"/>
                </a:cxn>
              </a:cxnLst>
              <a:rect l="l" t="t" r="r" b="b"/>
              <a:pathLst>
                <a:path w="17686" h="17686">
                  <a:moveTo>
                    <a:pt x="0" y="0"/>
                  </a:moveTo>
                  <a:lnTo>
                    <a:pt x="17687" y="0"/>
                  </a:lnTo>
                  <a:lnTo>
                    <a:pt x="17687" y="17687"/>
                  </a:lnTo>
                  <a:lnTo>
                    <a:pt x="0" y="17687"/>
                  </a:lnTo>
                  <a:close/>
                </a:path>
              </a:pathLst>
            </a:custGeom>
            <a:grpFill/>
            <a:ln w="8781" cap="flat">
              <a:noFill/>
              <a:prstDash val="solid"/>
              <a:miter/>
            </a:ln>
          </p:spPr>
          <p:txBody>
            <a:bodyPr rtlCol="0" anchor="ctr"/>
            <a:lstStyle/>
            <a:p>
              <a:endParaRPr lang="en-GB"/>
            </a:p>
          </p:txBody>
        </p:sp>
      </p:grpSp>
      <p:grpSp>
        <p:nvGrpSpPr>
          <p:cNvPr id="74" name="Group 73">
            <a:extLst>
              <a:ext uri="{FF2B5EF4-FFF2-40B4-BE49-F238E27FC236}">
                <a16:creationId xmlns:a16="http://schemas.microsoft.com/office/drawing/2014/main" id="{BB9E39BC-6CD7-A491-32CA-9ADAD3FE5268}"/>
              </a:ext>
            </a:extLst>
          </p:cNvPr>
          <p:cNvGrpSpPr/>
          <p:nvPr/>
        </p:nvGrpSpPr>
        <p:grpSpPr>
          <a:xfrm>
            <a:off x="4378593" y="2375953"/>
            <a:ext cx="592342" cy="592340"/>
            <a:chOff x="5951395" y="1850161"/>
            <a:chExt cx="608908" cy="608908"/>
          </a:xfrm>
          <a:gradFill>
            <a:gsLst>
              <a:gs pos="0">
                <a:srgbClr val="BDF2BD"/>
              </a:gs>
              <a:gs pos="55000">
                <a:srgbClr val="C3E9FC"/>
              </a:gs>
            </a:gsLst>
            <a:lin ang="2700000" scaled="1"/>
          </a:gradFill>
        </p:grpSpPr>
        <p:sp>
          <p:nvSpPr>
            <p:cNvPr id="75" name="Freeform: Shape 74">
              <a:extLst>
                <a:ext uri="{FF2B5EF4-FFF2-40B4-BE49-F238E27FC236}">
                  <a16:creationId xmlns:a16="http://schemas.microsoft.com/office/drawing/2014/main" id="{D371296B-6FBE-6FA9-5814-451292DE21E1}"/>
                </a:ext>
              </a:extLst>
            </p:cNvPr>
            <p:cNvSpPr/>
            <p:nvPr/>
          </p:nvSpPr>
          <p:spPr>
            <a:xfrm>
              <a:off x="6196922" y="2017119"/>
              <a:ext cx="117853" cy="117853"/>
            </a:xfrm>
            <a:custGeom>
              <a:avLst/>
              <a:gdLst>
                <a:gd name="connsiteX0" fmla="*/ 58927 w 117853"/>
                <a:gd name="connsiteY0" fmla="*/ 117853 h 117853"/>
                <a:gd name="connsiteX1" fmla="*/ 117853 w 117853"/>
                <a:gd name="connsiteY1" fmla="*/ 58927 h 117853"/>
                <a:gd name="connsiteX2" fmla="*/ 58927 w 117853"/>
                <a:gd name="connsiteY2" fmla="*/ 0 h 117853"/>
                <a:gd name="connsiteX3" fmla="*/ 0 w 117853"/>
                <a:gd name="connsiteY3" fmla="*/ 58927 h 117853"/>
                <a:gd name="connsiteX4" fmla="*/ 58927 w 117853"/>
                <a:gd name="connsiteY4" fmla="*/ 117853 h 117853"/>
                <a:gd name="connsiteX5" fmla="*/ 58927 w 117853"/>
                <a:gd name="connsiteY5" fmla="*/ 19642 h 117853"/>
                <a:gd name="connsiteX6" fmla="*/ 98211 w 117853"/>
                <a:gd name="connsiteY6" fmla="*/ 58927 h 117853"/>
                <a:gd name="connsiteX7" fmla="*/ 58927 w 117853"/>
                <a:gd name="connsiteY7" fmla="*/ 98211 h 117853"/>
                <a:gd name="connsiteX8" fmla="*/ 19642 w 117853"/>
                <a:gd name="connsiteY8" fmla="*/ 58927 h 117853"/>
                <a:gd name="connsiteX9" fmla="*/ 58927 w 117853"/>
                <a:gd name="connsiteY9" fmla="*/ 19642 h 11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853" h="117853">
                  <a:moveTo>
                    <a:pt x="58927" y="117853"/>
                  </a:moveTo>
                  <a:cubicBezTo>
                    <a:pt x="91471" y="117853"/>
                    <a:pt x="117853" y="91471"/>
                    <a:pt x="117853" y="58927"/>
                  </a:cubicBezTo>
                  <a:cubicBezTo>
                    <a:pt x="117853" y="26382"/>
                    <a:pt x="91471" y="0"/>
                    <a:pt x="58927" y="0"/>
                  </a:cubicBezTo>
                  <a:cubicBezTo>
                    <a:pt x="26382" y="0"/>
                    <a:pt x="0" y="26382"/>
                    <a:pt x="0" y="58927"/>
                  </a:cubicBezTo>
                  <a:cubicBezTo>
                    <a:pt x="32" y="91457"/>
                    <a:pt x="26396" y="117821"/>
                    <a:pt x="58927" y="117853"/>
                  </a:cubicBezTo>
                  <a:close/>
                  <a:moveTo>
                    <a:pt x="58927" y="19642"/>
                  </a:moveTo>
                  <a:cubicBezTo>
                    <a:pt x="80623" y="19642"/>
                    <a:pt x="98211" y="37230"/>
                    <a:pt x="98211" y="58927"/>
                  </a:cubicBezTo>
                  <a:cubicBezTo>
                    <a:pt x="98211" y="80623"/>
                    <a:pt x="80623" y="98211"/>
                    <a:pt x="58927" y="98211"/>
                  </a:cubicBezTo>
                  <a:cubicBezTo>
                    <a:pt x="37230" y="98211"/>
                    <a:pt x="19642" y="80623"/>
                    <a:pt x="19642" y="58927"/>
                  </a:cubicBezTo>
                  <a:cubicBezTo>
                    <a:pt x="19642" y="37230"/>
                    <a:pt x="37230" y="19642"/>
                    <a:pt x="58927" y="19642"/>
                  </a:cubicBezTo>
                  <a:close/>
                </a:path>
              </a:pathLst>
            </a:custGeom>
            <a:grpFill/>
            <a:ln w="9674" cap="flat">
              <a:noFill/>
              <a:prstDash val="solid"/>
              <a:miter/>
            </a:ln>
          </p:spPr>
          <p:txBody>
            <a:bodyPr rtlCol="0" anchor="ctr"/>
            <a:lstStyle/>
            <a:p>
              <a:endParaRPr lang="en-GB"/>
            </a:p>
          </p:txBody>
        </p:sp>
        <p:sp>
          <p:nvSpPr>
            <p:cNvPr id="76" name="Freeform: Shape 75">
              <a:extLst>
                <a:ext uri="{FF2B5EF4-FFF2-40B4-BE49-F238E27FC236}">
                  <a16:creationId xmlns:a16="http://schemas.microsoft.com/office/drawing/2014/main" id="{65EDF182-CBEE-25F8-1FEF-47BD86863874}"/>
                </a:ext>
              </a:extLst>
            </p:cNvPr>
            <p:cNvSpPr/>
            <p:nvPr/>
          </p:nvSpPr>
          <p:spPr>
            <a:xfrm>
              <a:off x="6157638" y="2144794"/>
              <a:ext cx="196422" cy="117853"/>
            </a:xfrm>
            <a:custGeom>
              <a:avLst/>
              <a:gdLst>
                <a:gd name="connsiteX0" fmla="*/ 137496 w 196422"/>
                <a:gd name="connsiteY0" fmla="*/ 0 h 117853"/>
                <a:gd name="connsiteX1" fmla="*/ 58927 w 196422"/>
                <a:gd name="connsiteY1" fmla="*/ 0 h 117853"/>
                <a:gd name="connsiteX2" fmla="*/ 0 w 196422"/>
                <a:gd name="connsiteY2" fmla="*/ 58927 h 117853"/>
                <a:gd name="connsiteX3" fmla="*/ 0 w 196422"/>
                <a:gd name="connsiteY3" fmla="*/ 108032 h 117853"/>
                <a:gd name="connsiteX4" fmla="*/ 9821 w 196422"/>
                <a:gd name="connsiteY4" fmla="*/ 117853 h 117853"/>
                <a:gd name="connsiteX5" fmla="*/ 186601 w 196422"/>
                <a:gd name="connsiteY5" fmla="*/ 117853 h 117853"/>
                <a:gd name="connsiteX6" fmla="*/ 196422 w 196422"/>
                <a:gd name="connsiteY6" fmla="*/ 108032 h 117853"/>
                <a:gd name="connsiteX7" fmla="*/ 196422 w 196422"/>
                <a:gd name="connsiteY7" fmla="*/ 58927 h 117853"/>
                <a:gd name="connsiteX8" fmla="*/ 137496 w 196422"/>
                <a:gd name="connsiteY8" fmla="*/ 0 h 117853"/>
                <a:gd name="connsiteX9" fmla="*/ 176780 w 196422"/>
                <a:gd name="connsiteY9" fmla="*/ 98211 h 117853"/>
                <a:gd name="connsiteX10" fmla="*/ 19642 w 196422"/>
                <a:gd name="connsiteY10" fmla="*/ 98211 h 117853"/>
                <a:gd name="connsiteX11" fmla="*/ 19642 w 196422"/>
                <a:gd name="connsiteY11" fmla="*/ 58927 h 117853"/>
                <a:gd name="connsiteX12" fmla="*/ 58927 w 196422"/>
                <a:gd name="connsiteY12" fmla="*/ 19642 h 117853"/>
                <a:gd name="connsiteX13" fmla="*/ 137496 w 196422"/>
                <a:gd name="connsiteY13" fmla="*/ 19642 h 117853"/>
                <a:gd name="connsiteX14" fmla="*/ 176780 w 196422"/>
                <a:gd name="connsiteY14" fmla="*/ 58927 h 11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6422" h="117853">
                  <a:moveTo>
                    <a:pt x="137496" y="0"/>
                  </a:moveTo>
                  <a:lnTo>
                    <a:pt x="58927" y="0"/>
                  </a:lnTo>
                  <a:cubicBezTo>
                    <a:pt x="26396" y="32"/>
                    <a:pt x="32" y="26396"/>
                    <a:pt x="0" y="58927"/>
                  </a:cubicBezTo>
                  <a:lnTo>
                    <a:pt x="0" y="108032"/>
                  </a:lnTo>
                  <a:cubicBezTo>
                    <a:pt x="0" y="113456"/>
                    <a:pt x="4397" y="117853"/>
                    <a:pt x="9821" y="117853"/>
                  </a:cubicBezTo>
                  <a:lnTo>
                    <a:pt x="186601" y="117853"/>
                  </a:lnTo>
                  <a:cubicBezTo>
                    <a:pt x="192025" y="117853"/>
                    <a:pt x="196422" y="113456"/>
                    <a:pt x="196422" y="108032"/>
                  </a:cubicBezTo>
                  <a:lnTo>
                    <a:pt x="196422" y="58927"/>
                  </a:lnTo>
                  <a:cubicBezTo>
                    <a:pt x="196390" y="26396"/>
                    <a:pt x="170026" y="32"/>
                    <a:pt x="137496" y="0"/>
                  </a:cubicBezTo>
                  <a:close/>
                  <a:moveTo>
                    <a:pt x="176780" y="98211"/>
                  </a:moveTo>
                  <a:lnTo>
                    <a:pt x="19642" y="98211"/>
                  </a:lnTo>
                  <a:lnTo>
                    <a:pt x="19642" y="58927"/>
                  </a:lnTo>
                  <a:cubicBezTo>
                    <a:pt x="19642" y="37230"/>
                    <a:pt x="37230" y="19642"/>
                    <a:pt x="58927" y="19642"/>
                  </a:cubicBezTo>
                  <a:lnTo>
                    <a:pt x="137496" y="19642"/>
                  </a:lnTo>
                  <a:cubicBezTo>
                    <a:pt x="159192" y="19642"/>
                    <a:pt x="176780" y="37230"/>
                    <a:pt x="176780" y="58927"/>
                  </a:cubicBezTo>
                  <a:close/>
                </a:path>
              </a:pathLst>
            </a:custGeom>
            <a:grpFill/>
            <a:ln w="9674" cap="flat">
              <a:noFill/>
              <a:prstDash val="solid"/>
              <a:miter/>
            </a:ln>
          </p:spPr>
          <p:txBody>
            <a:bodyPr rtlCol="0" anchor="ctr"/>
            <a:lstStyle/>
            <a:p>
              <a:endParaRPr lang="en-GB"/>
            </a:p>
          </p:txBody>
        </p:sp>
        <p:sp>
          <p:nvSpPr>
            <p:cNvPr id="77" name="Freeform: Shape 76">
              <a:extLst>
                <a:ext uri="{FF2B5EF4-FFF2-40B4-BE49-F238E27FC236}">
                  <a16:creationId xmlns:a16="http://schemas.microsoft.com/office/drawing/2014/main" id="{69D873AF-9CB9-64E3-D0AF-E4B67FB1459C}"/>
                </a:ext>
              </a:extLst>
            </p:cNvPr>
            <p:cNvSpPr/>
            <p:nvPr/>
          </p:nvSpPr>
          <p:spPr>
            <a:xfrm>
              <a:off x="5951395" y="1850161"/>
              <a:ext cx="608908" cy="608908"/>
            </a:xfrm>
            <a:custGeom>
              <a:avLst/>
              <a:gdLst>
                <a:gd name="connsiteX0" fmla="*/ 569624 w 608908"/>
                <a:gd name="connsiteY0" fmla="*/ 265170 h 608908"/>
                <a:gd name="connsiteX1" fmla="*/ 566393 w 608908"/>
                <a:gd name="connsiteY1" fmla="*/ 265494 h 608908"/>
                <a:gd name="connsiteX2" fmla="*/ 522709 w 608908"/>
                <a:gd name="connsiteY2" fmla="*/ 140658 h 608908"/>
                <a:gd name="connsiteX3" fmla="*/ 533673 w 608908"/>
                <a:gd name="connsiteY3" fmla="*/ 86194 h 608908"/>
                <a:gd name="connsiteX4" fmla="*/ 479209 w 608908"/>
                <a:gd name="connsiteY4" fmla="*/ 75230 h 608908"/>
                <a:gd name="connsiteX5" fmla="*/ 468241 w 608908"/>
                <a:gd name="connsiteY5" fmla="*/ 86200 h 608908"/>
                <a:gd name="connsiteX6" fmla="*/ 343415 w 608908"/>
                <a:gd name="connsiteY6" fmla="*/ 42516 h 608908"/>
                <a:gd name="connsiteX7" fmla="*/ 343739 w 608908"/>
                <a:gd name="connsiteY7" fmla="*/ 39284 h 608908"/>
                <a:gd name="connsiteX8" fmla="*/ 304454 w 608908"/>
                <a:gd name="connsiteY8" fmla="*/ 0 h 608908"/>
                <a:gd name="connsiteX9" fmla="*/ 265170 w 608908"/>
                <a:gd name="connsiteY9" fmla="*/ 39284 h 608908"/>
                <a:gd name="connsiteX10" fmla="*/ 265494 w 608908"/>
                <a:gd name="connsiteY10" fmla="*/ 42516 h 608908"/>
                <a:gd name="connsiteX11" fmla="*/ 140668 w 608908"/>
                <a:gd name="connsiteY11" fmla="*/ 86210 h 608908"/>
                <a:gd name="connsiteX12" fmla="*/ 86206 w 608908"/>
                <a:gd name="connsiteY12" fmla="*/ 75236 h 608908"/>
                <a:gd name="connsiteX13" fmla="*/ 75232 w 608908"/>
                <a:gd name="connsiteY13" fmla="*/ 129698 h 608908"/>
                <a:gd name="connsiteX14" fmla="*/ 86200 w 608908"/>
                <a:gd name="connsiteY14" fmla="*/ 140668 h 608908"/>
                <a:gd name="connsiteX15" fmla="*/ 42516 w 608908"/>
                <a:gd name="connsiteY15" fmla="*/ 265494 h 608908"/>
                <a:gd name="connsiteX16" fmla="*/ 39284 w 608908"/>
                <a:gd name="connsiteY16" fmla="*/ 265170 h 608908"/>
                <a:gd name="connsiteX17" fmla="*/ 0 w 608908"/>
                <a:gd name="connsiteY17" fmla="*/ 304454 h 608908"/>
                <a:gd name="connsiteX18" fmla="*/ 39284 w 608908"/>
                <a:gd name="connsiteY18" fmla="*/ 343739 h 608908"/>
                <a:gd name="connsiteX19" fmla="*/ 42516 w 608908"/>
                <a:gd name="connsiteY19" fmla="*/ 343415 h 608908"/>
                <a:gd name="connsiteX20" fmla="*/ 86210 w 608908"/>
                <a:gd name="connsiteY20" fmla="*/ 468241 h 608908"/>
                <a:gd name="connsiteX21" fmla="*/ 75236 w 608908"/>
                <a:gd name="connsiteY21" fmla="*/ 522703 h 608908"/>
                <a:gd name="connsiteX22" fmla="*/ 129698 w 608908"/>
                <a:gd name="connsiteY22" fmla="*/ 533677 h 608908"/>
                <a:gd name="connsiteX23" fmla="*/ 140668 w 608908"/>
                <a:gd name="connsiteY23" fmla="*/ 522709 h 608908"/>
                <a:gd name="connsiteX24" fmla="*/ 265494 w 608908"/>
                <a:gd name="connsiteY24" fmla="*/ 566393 h 608908"/>
                <a:gd name="connsiteX25" fmla="*/ 265170 w 608908"/>
                <a:gd name="connsiteY25" fmla="*/ 569624 h 608908"/>
                <a:gd name="connsiteX26" fmla="*/ 304454 w 608908"/>
                <a:gd name="connsiteY26" fmla="*/ 608909 h 608908"/>
                <a:gd name="connsiteX27" fmla="*/ 343739 w 608908"/>
                <a:gd name="connsiteY27" fmla="*/ 569624 h 608908"/>
                <a:gd name="connsiteX28" fmla="*/ 343415 w 608908"/>
                <a:gd name="connsiteY28" fmla="*/ 566393 h 608908"/>
                <a:gd name="connsiteX29" fmla="*/ 468241 w 608908"/>
                <a:gd name="connsiteY29" fmla="*/ 522699 h 608908"/>
                <a:gd name="connsiteX30" fmla="*/ 522697 w 608908"/>
                <a:gd name="connsiteY30" fmla="*/ 533702 h 608908"/>
                <a:gd name="connsiteX31" fmla="*/ 533700 w 608908"/>
                <a:gd name="connsiteY31" fmla="*/ 479246 h 608908"/>
                <a:gd name="connsiteX32" fmla="*/ 522709 w 608908"/>
                <a:gd name="connsiteY32" fmla="*/ 468251 h 608908"/>
                <a:gd name="connsiteX33" fmla="*/ 566393 w 608908"/>
                <a:gd name="connsiteY33" fmla="*/ 343415 h 608908"/>
                <a:gd name="connsiteX34" fmla="*/ 569624 w 608908"/>
                <a:gd name="connsiteY34" fmla="*/ 343739 h 608908"/>
                <a:gd name="connsiteX35" fmla="*/ 608909 w 608908"/>
                <a:gd name="connsiteY35" fmla="*/ 304454 h 608908"/>
                <a:gd name="connsiteX36" fmla="*/ 569624 w 608908"/>
                <a:gd name="connsiteY36" fmla="*/ 265170 h 608908"/>
                <a:gd name="connsiteX37" fmla="*/ 547792 w 608908"/>
                <a:gd name="connsiteY37" fmla="*/ 271829 h 608908"/>
                <a:gd name="connsiteX38" fmla="*/ 531735 w 608908"/>
                <a:gd name="connsiteY38" fmla="*/ 294633 h 608908"/>
                <a:gd name="connsiteX39" fmla="*/ 500376 w 608908"/>
                <a:gd name="connsiteY39" fmla="*/ 294633 h 608908"/>
                <a:gd name="connsiteX40" fmla="*/ 449895 w 608908"/>
                <a:gd name="connsiteY40" fmla="*/ 172901 h 608908"/>
                <a:gd name="connsiteX41" fmla="*/ 481048 w 608908"/>
                <a:gd name="connsiteY41" fmla="*/ 141748 h 608908"/>
                <a:gd name="connsiteX42" fmla="*/ 500877 w 608908"/>
                <a:gd name="connsiteY42" fmla="*/ 147317 h 608908"/>
                <a:gd name="connsiteX43" fmla="*/ 504108 w 608908"/>
                <a:gd name="connsiteY43" fmla="*/ 146993 h 608908"/>
                <a:gd name="connsiteX44" fmla="*/ 304454 w 608908"/>
                <a:gd name="connsiteY44" fmla="*/ 481234 h 608908"/>
                <a:gd name="connsiteX45" fmla="*/ 127674 w 608908"/>
                <a:gd name="connsiteY45" fmla="*/ 304454 h 608908"/>
                <a:gd name="connsiteX46" fmla="*/ 304454 w 608908"/>
                <a:gd name="connsiteY46" fmla="*/ 127674 h 608908"/>
                <a:gd name="connsiteX47" fmla="*/ 481234 w 608908"/>
                <a:gd name="connsiteY47" fmla="*/ 304454 h 608908"/>
                <a:gd name="connsiteX48" fmla="*/ 304454 w 608908"/>
                <a:gd name="connsiteY48" fmla="*/ 481234 h 608908"/>
                <a:gd name="connsiteX49" fmla="*/ 500877 w 608908"/>
                <a:gd name="connsiteY49" fmla="*/ 88390 h 608908"/>
                <a:gd name="connsiteX50" fmla="*/ 520519 w 608908"/>
                <a:gd name="connsiteY50" fmla="*/ 108032 h 608908"/>
                <a:gd name="connsiteX51" fmla="*/ 500877 w 608908"/>
                <a:gd name="connsiteY51" fmla="*/ 127674 h 608908"/>
                <a:gd name="connsiteX52" fmla="*/ 481234 w 608908"/>
                <a:gd name="connsiteY52" fmla="*/ 108032 h 608908"/>
                <a:gd name="connsiteX53" fmla="*/ 500877 w 608908"/>
                <a:gd name="connsiteY53" fmla="*/ 88390 h 608908"/>
                <a:gd name="connsiteX54" fmla="*/ 461916 w 608908"/>
                <a:gd name="connsiteY54" fmla="*/ 104801 h 608908"/>
                <a:gd name="connsiteX55" fmla="*/ 461592 w 608908"/>
                <a:gd name="connsiteY55" fmla="*/ 108032 h 608908"/>
                <a:gd name="connsiteX56" fmla="*/ 467161 w 608908"/>
                <a:gd name="connsiteY56" fmla="*/ 127861 h 608908"/>
                <a:gd name="connsiteX57" fmla="*/ 436057 w 608908"/>
                <a:gd name="connsiteY57" fmla="*/ 159014 h 608908"/>
                <a:gd name="connsiteX58" fmla="*/ 314276 w 608908"/>
                <a:gd name="connsiteY58" fmla="*/ 108533 h 608908"/>
                <a:gd name="connsiteX59" fmla="*/ 314276 w 608908"/>
                <a:gd name="connsiteY59" fmla="*/ 77174 h 608908"/>
                <a:gd name="connsiteX60" fmla="*/ 337090 w 608908"/>
                <a:gd name="connsiteY60" fmla="*/ 61107 h 608908"/>
                <a:gd name="connsiteX61" fmla="*/ 304454 w 608908"/>
                <a:gd name="connsiteY61" fmla="*/ 19642 h 608908"/>
                <a:gd name="connsiteX62" fmla="*/ 324097 w 608908"/>
                <a:gd name="connsiteY62" fmla="*/ 39284 h 608908"/>
                <a:gd name="connsiteX63" fmla="*/ 304454 w 608908"/>
                <a:gd name="connsiteY63" fmla="*/ 58927 h 608908"/>
                <a:gd name="connsiteX64" fmla="*/ 284812 w 608908"/>
                <a:gd name="connsiteY64" fmla="*/ 39284 h 608908"/>
                <a:gd name="connsiteX65" fmla="*/ 304454 w 608908"/>
                <a:gd name="connsiteY65" fmla="*/ 19642 h 608908"/>
                <a:gd name="connsiteX66" fmla="*/ 271819 w 608908"/>
                <a:gd name="connsiteY66" fmla="*/ 61107 h 608908"/>
                <a:gd name="connsiteX67" fmla="*/ 294633 w 608908"/>
                <a:gd name="connsiteY67" fmla="*/ 77174 h 608908"/>
                <a:gd name="connsiteX68" fmla="*/ 294633 w 608908"/>
                <a:gd name="connsiteY68" fmla="*/ 108533 h 608908"/>
                <a:gd name="connsiteX69" fmla="*/ 172901 w 608908"/>
                <a:gd name="connsiteY69" fmla="*/ 159014 h 608908"/>
                <a:gd name="connsiteX70" fmla="*/ 141748 w 608908"/>
                <a:gd name="connsiteY70" fmla="*/ 127861 h 608908"/>
                <a:gd name="connsiteX71" fmla="*/ 147317 w 608908"/>
                <a:gd name="connsiteY71" fmla="*/ 108032 h 608908"/>
                <a:gd name="connsiteX72" fmla="*/ 146993 w 608908"/>
                <a:gd name="connsiteY72" fmla="*/ 104801 h 608908"/>
                <a:gd name="connsiteX73" fmla="*/ 108032 w 608908"/>
                <a:gd name="connsiteY73" fmla="*/ 88390 h 608908"/>
                <a:gd name="connsiteX74" fmla="*/ 127674 w 608908"/>
                <a:gd name="connsiteY74" fmla="*/ 108032 h 608908"/>
                <a:gd name="connsiteX75" fmla="*/ 108032 w 608908"/>
                <a:gd name="connsiteY75" fmla="*/ 127674 h 608908"/>
                <a:gd name="connsiteX76" fmla="*/ 88390 w 608908"/>
                <a:gd name="connsiteY76" fmla="*/ 108032 h 608908"/>
                <a:gd name="connsiteX77" fmla="*/ 108032 w 608908"/>
                <a:gd name="connsiteY77" fmla="*/ 88390 h 608908"/>
                <a:gd name="connsiteX78" fmla="*/ 104801 w 608908"/>
                <a:gd name="connsiteY78" fmla="*/ 146993 h 608908"/>
                <a:gd name="connsiteX79" fmla="*/ 108032 w 608908"/>
                <a:gd name="connsiteY79" fmla="*/ 147317 h 608908"/>
                <a:gd name="connsiteX80" fmla="*/ 127861 w 608908"/>
                <a:gd name="connsiteY80" fmla="*/ 141748 h 608908"/>
                <a:gd name="connsiteX81" fmla="*/ 159014 w 608908"/>
                <a:gd name="connsiteY81" fmla="*/ 172901 h 608908"/>
                <a:gd name="connsiteX82" fmla="*/ 108533 w 608908"/>
                <a:gd name="connsiteY82" fmla="*/ 294633 h 608908"/>
                <a:gd name="connsiteX83" fmla="*/ 77174 w 608908"/>
                <a:gd name="connsiteY83" fmla="*/ 294633 h 608908"/>
                <a:gd name="connsiteX84" fmla="*/ 61117 w 608908"/>
                <a:gd name="connsiteY84" fmla="*/ 271829 h 608908"/>
                <a:gd name="connsiteX85" fmla="*/ 19642 w 608908"/>
                <a:gd name="connsiteY85" fmla="*/ 304454 h 608908"/>
                <a:gd name="connsiteX86" fmla="*/ 39284 w 608908"/>
                <a:gd name="connsiteY86" fmla="*/ 284812 h 608908"/>
                <a:gd name="connsiteX87" fmla="*/ 58927 w 608908"/>
                <a:gd name="connsiteY87" fmla="*/ 304454 h 608908"/>
                <a:gd name="connsiteX88" fmla="*/ 39284 w 608908"/>
                <a:gd name="connsiteY88" fmla="*/ 324097 h 608908"/>
                <a:gd name="connsiteX89" fmla="*/ 19642 w 608908"/>
                <a:gd name="connsiteY89" fmla="*/ 304454 h 608908"/>
                <a:gd name="connsiteX90" fmla="*/ 61107 w 608908"/>
                <a:gd name="connsiteY90" fmla="*/ 337090 h 608908"/>
                <a:gd name="connsiteX91" fmla="*/ 77174 w 608908"/>
                <a:gd name="connsiteY91" fmla="*/ 314276 h 608908"/>
                <a:gd name="connsiteX92" fmla="*/ 108533 w 608908"/>
                <a:gd name="connsiteY92" fmla="*/ 314276 h 608908"/>
                <a:gd name="connsiteX93" fmla="*/ 159014 w 608908"/>
                <a:gd name="connsiteY93" fmla="*/ 436057 h 608908"/>
                <a:gd name="connsiteX94" fmla="*/ 127861 w 608908"/>
                <a:gd name="connsiteY94" fmla="*/ 467210 h 608908"/>
                <a:gd name="connsiteX95" fmla="*/ 108032 w 608908"/>
                <a:gd name="connsiteY95" fmla="*/ 461592 h 608908"/>
                <a:gd name="connsiteX96" fmla="*/ 104801 w 608908"/>
                <a:gd name="connsiteY96" fmla="*/ 461916 h 608908"/>
                <a:gd name="connsiteX97" fmla="*/ 108032 w 608908"/>
                <a:gd name="connsiteY97" fmla="*/ 520519 h 608908"/>
                <a:gd name="connsiteX98" fmla="*/ 88390 w 608908"/>
                <a:gd name="connsiteY98" fmla="*/ 500877 h 608908"/>
                <a:gd name="connsiteX99" fmla="*/ 108032 w 608908"/>
                <a:gd name="connsiteY99" fmla="*/ 481234 h 608908"/>
                <a:gd name="connsiteX100" fmla="*/ 127674 w 608908"/>
                <a:gd name="connsiteY100" fmla="*/ 500877 h 608908"/>
                <a:gd name="connsiteX101" fmla="*/ 108032 w 608908"/>
                <a:gd name="connsiteY101" fmla="*/ 520519 h 608908"/>
                <a:gd name="connsiteX102" fmla="*/ 146993 w 608908"/>
                <a:gd name="connsiteY102" fmla="*/ 504108 h 608908"/>
                <a:gd name="connsiteX103" fmla="*/ 147317 w 608908"/>
                <a:gd name="connsiteY103" fmla="*/ 500877 h 608908"/>
                <a:gd name="connsiteX104" fmla="*/ 141748 w 608908"/>
                <a:gd name="connsiteY104" fmla="*/ 481048 h 608908"/>
                <a:gd name="connsiteX105" fmla="*/ 172901 w 608908"/>
                <a:gd name="connsiteY105" fmla="*/ 449895 h 608908"/>
                <a:gd name="connsiteX106" fmla="*/ 294633 w 608908"/>
                <a:gd name="connsiteY106" fmla="*/ 500376 h 608908"/>
                <a:gd name="connsiteX107" fmla="*/ 294633 w 608908"/>
                <a:gd name="connsiteY107" fmla="*/ 531735 h 608908"/>
                <a:gd name="connsiteX108" fmla="*/ 271819 w 608908"/>
                <a:gd name="connsiteY108" fmla="*/ 547802 h 608908"/>
                <a:gd name="connsiteX109" fmla="*/ 304454 w 608908"/>
                <a:gd name="connsiteY109" fmla="*/ 589267 h 608908"/>
                <a:gd name="connsiteX110" fmla="*/ 284812 w 608908"/>
                <a:gd name="connsiteY110" fmla="*/ 569624 h 608908"/>
                <a:gd name="connsiteX111" fmla="*/ 304454 w 608908"/>
                <a:gd name="connsiteY111" fmla="*/ 549982 h 608908"/>
                <a:gd name="connsiteX112" fmla="*/ 324097 w 608908"/>
                <a:gd name="connsiteY112" fmla="*/ 569624 h 608908"/>
                <a:gd name="connsiteX113" fmla="*/ 304454 w 608908"/>
                <a:gd name="connsiteY113" fmla="*/ 589267 h 608908"/>
                <a:gd name="connsiteX114" fmla="*/ 337090 w 608908"/>
                <a:gd name="connsiteY114" fmla="*/ 547802 h 608908"/>
                <a:gd name="connsiteX115" fmla="*/ 314276 w 608908"/>
                <a:gd name="connsiteY115" fmla="*/ 531735 h 608908"/>
                <a:gd name="connsiteX116" fmla="*/ 314276 w 608908"/>
                <a:gd name="connsiteY116" fmla="*/ 500376 h 608908"/>
                <a:gd name="connsiteX117" fmla="*/ 436057 w 608908"/>
                <a:gd name="connsiteY117" fmla="*/ 449895 h 608908"/>
                <a:gd name="connsiteX118" fmla="*/ 467210 w 608908"/>
                <a:gd name="connsiteY118" fmla="*/ 481048 h 608908"/>
                <a:gd name="connsiteX119" fmla="*/ 461592 w 608908"/>
                <a:gd name="connsiteY119" fmla="*/ 500877 h 608908"/>
                <a:gd name="connsiteX120" fmla="*/ 461916 w 608908"/>
                <a:gd name="connsiteY120" fmla="*/ 504108 h 608908"/>
                <a:gd name="connsiteX121" fmla="*/ 500877 w 608908"/>
                <a:gd name="connsiteY121" fmla="*/ 520519 h 608908"/>
                <a:gd name="connsiteX122" fmla="*/ 481234 w 608908"/>
                <a:gd name="connsiteY122" fmla="*/ 500877 h 608908"/>
                <a:gd name="connsiteX123" fmla="*/ 500877 w 608908"/>
                <a:gd name="connsiteY123" fmla="*/ 481234 h 608908"/>
                <a:gd name="connsiteX124" fmla="*/ 520519 w 608908"/>
                <a:gd name="connsiteY124" fmla="*/ 500877 h 608908"/>
                <a:gd name="connsiteX125" fmla="*/ 500877 w 608908"/>
                <a:gd name="connsiteY125" fmla="*/ 520519 h 608908"/>
                <a:gd name="connsiteX126" fmla="*/ 504108 w 608908"/>
                <a:gd name="connsiteY126" fmla="*/ 461916 h 608908"/>
                <a:gd name="connsiteX127" fmla="*/ 500877 w 608908"/>
                <a:gd name="connsiteY127" fmla="*/ 461592 h 608908"/>
                <a:gd name="connsiteX128" fmla="*/ 481048 w 608908"/>
                <a:gd name="connsiteY128" fmla="*/ 467161 h 608908"/>
                <a:gd name="connsiteX129" fmla="*/ 449895 w 608908"/>
                <a:gd name="connsiteY129" fmla="*/ 436057 h 608908"/>
                <a:gd name="connsiteX130" fmla="*/ 500376 w 608908"/>
                <a:gd name="connsiteY130" fmla="*/ 314276 h 608908"/>
                <a:gd name="connsiteX131" fmla="*/ 531735 w 608908"/>
                <a:gd name="connsiteY131" fmla="*/ 314276 h 608908"/>
                <a:gd name="connsiteX132" fmla="*/ 547792 w 608908"/>
                <a:gd name="connsiteY132" fmla="*/ 337080 h 608908"/>
                <a:gd name="connsiteX133" fmla="*/ 569624 w 608908"/>
                <a:gd name="connsiteY133" fmla="*/ 324097 h 608908"/>
                <a:gd name="connsiteX134" fmla="*/ 549982 w 608908"/>
                <a:gd name="connsiteY134" fmla="*/ 304454 h 608908"/>
                <a:gd name="connsiteX135" fmla="*/ 569624 w 608908"/>
                <a:gd name="connsiteY135" fmla="*/ 284812 h 608908"/>
                <a:gd name="connsiteX136" fmla="*/ 589267 w 608908"/>
                <a:gd name="connsiteY136" fmla="*/ 304454 h 608908"/>
                <a:gd name="connsiteX137" fmla="*/ 569624 w 608908"/>
                <a:gd name="connsiteY137" fmla="*/ 324097 h 608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608908" h="608908">
                  <a:moveTo>
                    <a:pt x="569624" y="265170"/>
                  </a:moveTo>
                  <a:cubicBezTo>
                    <a:pt x="568515" y="265170"/>
                    <a:pt x="567483" y="265406"/>
                    <a:pt x="566393" y="265494"/>
                  </a:cubicBezTo>
                  <a:lnTo>
                    <a:pt x="522709" y="140658"/>
                  </a:lnTo>
                  <a:cubicBezTo>
                    <a:pt x="540776" y="128646"/>
                    <a:pt x="545685" y="104261"/>
                    <a:pt x="533673" y="86194"/>
                  </a:cubicBezTo>
                  <a:cubicBezTo>
                    <a:pt x="521661" y="68127"/>
                    <a:pt x="497277" y="63218"/>
                    <a:pt x="479209" y="75230"/>
                  </a:cubicBezTo>
                  <a:cubicBezTo>
                    <a:pt x="474860" y="78121"/>
                    <a:pt x="471132" y="81851"/>
                    <a:pt x="468241" y="86200"/>
                  </a:cubicBezTo>
                  <a:lnTo>
                    <a:pt x="343415" y="42516"/>
                  </a:lnTo>
                  <a:cubicBezTo>
                    <a:pt x="343503" y="41435"/>
                    <a:pt x="343739" y="40394"/>
                    <a:pt x="343739" y="39284"/>
                  </a:cubicBezTo>
                  <a:cubicBezTo>
                    <a:pt x="343739" y="17588"/>
                    <a:pt x="326151" y="0"/>
                    <a:pt x="304454" y="0"/>
                  </a:cubicBezTo>
                  <a:cubicBezTo>
                    <a:pt x="282758" y="0"/>
                    <a:pt x="265170" y="17588"/>
                    <a:pt x="265170" y="39284"/>
                  </a:cubicBezTo>
                  <a:cubicBezTo>
                    <a:pt x="265170" y="40394"/>
                    <a:pt x="265406" y="41435"/>
                    <a:pt x="265494" y="42516"/>
                  </a:cubicBezTo>
                  <a:lnTo>
                    <a:pt x="140668" y="86210"/>
                  </a:lnTo>
                  <a:cubicBezTo>
                    <a:pt x="128659" y="68140"/>
                    <a:pt x="104275" y="63227"/>
                    <a:pt x="86206" y="75236"/>
                  </a:cubicBezTo>
                  <a:cubicBezTo>
                    <a:pt x="68136" y="87245"/>
                    <a:pt x="63223" y="111628"/>
                    <a:pt x="75232" y="129698"/>
                  </a:cubicBezTo>
                  <a:cubicBezTo>
                    <a:pt x="78122" y="134047"/>
                    <a:pt x="81851" y="137776"/>
                    <a:pt x="86200" y="140668"/>
                  </a:cubicBezTo>
                  <a:lnTo>
                    <a:pt x="42516" y="265494"/>
                  </a:lnTo>
                  <a:cubicBezTo>
                    <a:pt x="41435" y="265406"/>
                    <a:pt x="40394" y="265170"/>
                    <a:pt x="39284" y="265170"/>
                  </a:cubicBezTo>
                  <a:cubicBezTo>
                    <a:pt x="17588" y="265170"/>
                    <a:pt x="0" y="282758"/>
                    <a:pt x="0" y="304454"/>
                  </a:cubicBezTo>
                  <a:cubicBezTo>
                    <a:pt x="0" y="326151"/>
                    <a:pt x="17588" y="343739"/>
                    <a:pt x="39284" y="343739"/>
                  </a:cubicBezTo>
                  <a:cubicBezTo>
                    <a:pt x="40394" y="343739"/>
                    <a:pt x="41435" y="343503"/>
                    <a:pt x="42516" y="343415"/>
                  </a:cubicBezTo>
                  <a:lnTo>
                    <a:pt x="86210" y="468241"/>
                  </a:lnTo>
                  <a:cubicBezTo>
                    <a:pt x="68140" y="480250"/>
                    <a:pt x="63227" y="504633"/>
                    <a:pt x="75236" y="522703"/>
                  </a:cubicBezTo>
                  <a:cubicBezTo>
                    <a:pt x="87245" y="540773"/>
                    <a:pt x="111628" y="545686"/>
                    <a:pt x="129698" y="533677"/>
                  </a:cubicBezTo>
                  <a:cubicBezTo>
                    <a:pt x="134047" y="530786"/>
                    <a:pt x="137776" y="527058"/>
                    <a:pt x="140668" y="522709"/>
                  </a:cubicBezTo>
                  <a:lnTo>
                    <a:pt x="265494" y="566393"/>
                  </a:lnTo>
                  <a:cubicBezTo>
                    <a:pt x="265406" y="567474"/>
                    <a:pt x="265170" y="568515"/>
                    <a:pt x="265170" y="569624"/>
                  </a:cubicBezTo>
                  <a:cubicBezTo>
                    <a:pt x="265170" y="591321"/>
                    <a:pt x="282758" y="608909"/>
                    <a:pt x="304454" y="608909"/>
                  </a:cubicBezTo>
                  <a:cubicBezTo>
                    <a:pt x="326151" y="608909"/>
                    <a:pt x="343739" y="591321"/>
                    <a:pt x="343739" y="569624"/>
                  </a:cubicBezTo>
                  <a:cubicBezTo>
                    <a:pt x="343739" y="568515"/>
                    <a:pt x="343503" y="567474"/>
                    <a:pt x="343415" y="566393"/>
                  </a:cubicBezTo>
                  <a:lnTo>
                    <a:pt x="468241" y="522699"/>
                  </a:lnTo>
                  <a:cubicBezTo>
                    <a:pt x="480240" y="540775"/>
                    <a:pt x="504621" y="545701"/>
                    <a:pt x="522697" y="533702"/>
                  </a:cubicBezTo>
                  <a:cubicBezTo>
                    <a:pt x="540773" y="521703"/>
                    <a:pt x="545700" y="497322"/>
                    <a:pt x="533700" y="479246"/>
                  </a:cubicBezTo>
                  <a:cubicBezTo>
                    <a:pt x="530806" y="474885"/>
                    <a:pt x="527069" y="471147"/>
                    <a:pt x="522709" y="468251"/>
                  </a:cubicBezTo>
                  <a:lnTo>
                    <a:pt x="566393" y="343415"/>
                  </a:lnTo>
                  <a:cubicBezTo>
                    <a:pt x="567483" y="343503"/>
                    <a:pt x="568515" y="343739"/>
                    <a:pt x="569624" y="343739"/>
                  </a:cubicBezTo>
                  <a:cubicBezTo>
                    <a:pt x="591321" y="343739"/>
                    <a:pt x="608909" y="326151"/>
                    <a:pt x="608909" y="304454"/>
                  </a:cubicBezTo>
                  <a:cubicBezTo>
                    <a:pt x="608909" y="282758"/>
                    <a:pt x="591321" y="265170"/>
                    <a:pt x="569624" y="265170"/>
                  </a:cubicBezTo>
                  <a:close/>
                  <a:moveTo>
                    <a:pt x="547792" y="271829"/>
                  </a:moveTo>
                  <a:cubicBezTo>
                    <a:pt x="539830" y="277210"/>
                    <a:pt x="534118" y="285324"/>
                    <a:pt x="531735" y="294633"/>
                  </a:cubicBezTo>
                  <a:lnTo>
                    <a:pt x="500376" y="294633"/>
                  </a:lnTo>
                  <a:cubicBezTo>
                    <a:pt x="498150" y="249435"/>
                    <a:pt x="480308" y="206410"/>
                    <a:pt x="449895" y="172901"/>
                  </a:cubicBezTo>
                  <a:lnTo>
                    <a:pt x="481048" y="141748"/>
                  </a:lnTo>
                  <a:cubicBezTo>
                    <a:pt x="487034" y="145358"/>
                    <a:pt x="493886" y="147282"/>
                    <a:pt x="500877" y="147317"/>
                  </a:cubicBezTo>
                  <a:cubicBezTo>
                    <a:pt x="501986" y="147317"/>
                    <a:pt x="503018" y="147081"/>
                    <a:pt x="504108" y="146993"/>
                  </a:cubicBezTo>
                  <a:close/>
                  <a:moveTo>
                    <a:pt x="304454" y="481234"/>
                  </a:moveTo>
                  <a:cubicBezTo>
                    <a:pt x="206822" y="481234"/>
                    <a:pt x="127674" y="402087"/>
                    <a:pt x="127674" y="304454"/>
                  </a:cubicBezTo>
                  <a:cubicBezTo>
                    <a:pt x="127674" y="206822"/>
                    <a:pt x="206822" y="127674"/>
                    <a:pt x="304454" y="127674"/>
                  </a:cubicBezTo>
                  <a:cubicBezTo>
                    <a:pt x="402087" y="127674"/>
                    <a:pt x="481234" y="206822"/>
                    <a:pt x="481234" y="304454"/>
                  </a:cubicBezTo>
                  <a:cubicBezTo>
                    <a:pt x="481121" y="402040"/>
                    <a:pt x="402040" y="481121"/>
                    <a:pt x="304454" y="481234"/>
                  </a:cubicBezTo>
                  <a:close/>
                  <a:moveTo>
                    <a:pt x="500877" y="88390"/>
                  </a:moveTo>
                  <a:cubicBezTo>
                    <a:pt x="511725" y="88390"/>
                    <a:pt x="520519" y="97184"/>
                    <a:pt x="520519" y="108032"/>
                  </a:cubicBezTo>
                  <a:cubicBezTo>
                    <a:pt x="520519" y="118880"/>
                    <a:pt x="511725" y="127674"/>
                    <a:pt x="500877" y="127674"/>
                  </a:cubicBezTo>
                  <a:cubicBezTo>
                    <a:pt x="490029" y="127674"/>
                    <a:pt x="481234" y="118880"/>
                    <a:pt x="481234" y="108032"/>
                  </a:cubicBezTo>
                  <a:cubicBezTo>
                    <a:pt x="481234" y="97184"/>
                    <a:pt x="490029" y="88390"/>
                    <a:pt x="500877" y="88390"/>
                  </a:cubicBezTo>
                  <a:close/>
                  <a:moveTo>
                    <a:pt x="461916" y="104801"/>
                  </a:moveTo>
                  <a:cubicBezTo>
                    <a:pt x="461828" y="105881"/>
                    <a:pt x="461592" y="106922"/>
                    <a:pt x="461592" y="108032"/>
                  </a:cubicBezTo>
                  <a:cubicBezTo>
                    <a:pt x="461626" y="115023"/>
                    <a:pt x="463550" y="121874"/>
                    <a:pt x="467161" y="127861"/>
                  </a:cubicBezTo>
                  <a:lnTo>
                    <a:pt x="436057" y="159014"/>
                  </a:lnTo>
                  <a:cubicBezTo>
                    <a:pt x="402539" y="128584"/>
                    <a:pt x="359493" y="110740"/>
                    <a:pt x="314276" y="108533"/>
                  </a:cubicBezTo>
                  <a:lnTo>
                    <a:pt x="314276" y="77174"/>
                  </a:lnTo>
                  <a:cubicBezTo>
                    <a:pt x="323590" y="74791"/>
                    <a:pt x="331708" y="69074"/>
                    <a:pt x="337090" y="61107"/>
                  </a:cubicBezTo>
                  <a:close/>
                  <a:moveTo>
                    <a:pt x="304454" y="19642"/>
                  </a:moveTo>
                  <a:cubicBezTo>
                    <a:pt x="315302" y="19642"/>
                    <a:pt x="324097" y="28436"/>
                    <a:pt x="324097" y="39284"/>
                  </a:cubicBezTo>
                  <a:cubicBezTo>
                    <a:pt x="324097" y="50133"/>
                    <a:pt x="315302" y="58927"/>
                    <a:pt x="304454" y="58927"/>
                  </a:cubicBezTo>
                  <a:cubicBezTo>
                    <a:pt x="293606" y="58927"/>
                    <a:pt x="284812" y="50133"/>
                    <a:pt x="284812" y="39284"/>
                  </a:cubicBezTo>
                  <a:cubicBezTo>
                    <a:pt x="284812" y="28436"/>
                    <a:pt x="293606" y="19642"/>
                    <a:pt x="304454" y="19642"/>
                  </a:cubicBezTo>
                  <a:close/>
                  <a:moveTo>
                    <a:pt x="271819" y="61107"/>
                  </a:moveTo>
                  <a:cubicBezTo>
                    <a:pt x="277201" y="69074"/>
                    <a:pt x="285318" y="74791"/>
                    <a:pt x="294633" y="77174"/>
                  </a:cubicBezTo>
                  <a:lnTo>
                    <a:pt x="294633" y="108533"/>
                  </a:lnTo>
                  <a:cubicBezTo>
                    <a:pt x="249433" y="110751"/>
                    <a:pt x="206406" y="128594"/>
                    <a:pt x="172901" y="159014"/>
                  </a:cubicBezTo>
                  <a:lnTo>
                    <a:pt x="141748" y="127861"/>
                  </a:lnTo>
                  <a:cubicBezTo>
                    <a:pt x="145358" y="121874"/>
                    <a:pt x="147282" y="115023"/>
                    <a:pt x="147317" y="108032"/>
                  </a:cubicBezTo>
                  <a:cubicBezTo>
                    <a:pt x="147317" y="106922"/>
                    <a:pt x="147081" y="105881"/>
                    <a:pt x="146993" y="104801"/>
                  </a:cubicBezTo>
                  <a:close/>
                  <a:moveTo>
                    <a:pt x="108032" y="88390"/>
                  </a:moveTo>
                  <a:cubicBezTo>
                    <a:pt x="118880" y="88390"/>
                    <a:pt x="127674" y="97184"/>
                    <a:pt x="127674" y="108032"/>
                  </a:cubicBezTo>
                  <a:cubicBezTo>
                    <a:pt x="127674" y="118880"/>
                    <a:pt x="118880" y="127674"/>
                    <a:pt x="108032" y="127674"/>
                  </a:cubicBezTo>
                  <a:cubicBezTo>
                    <a:pt x="97184" y="127674"/>
                    <a:pt x="88390" y="118880"/>
                    <a:pt x="88390" y="108032"/>
                  </a:cubicBezTo>
                  <a:cubicBezTo>
                    <a:pt x="88390" y="97184"/>
                    <a:pt x="97184" y="88390"/>
                    <a:pt x="108032" y="88390"/>
                  </a:cubicBezTo>
                  <a:close/>
                  <a:moveTo>
                    <a:pt x="104801" y="146993"/>
                  </a:moveTo>
                  <a:cubicBezTo>
                    <a:pt x="105881" y="147081"/>
                    <a:pt x="106922" y="147317"/>
                    <a:pt x="108032" y="147317"/>
                  </a:cubicBezTo>
                  <a:cubicBezTo>
                    <a:pt x="115023" y="147282"/>
                    <a:pt x="121874" y="145358"/>
                    <a:pt x="127861" y="141748"/>
                  </a:cubicBezTo>
                  <a:lnTo>
                    <a:pt x="159014" y="172901"/>
                  </a:lnTo>
                  <a:cubicBezTo>
                    <a:pt x="128594" y="206406"/>
                    <a:pt x="110751" y="249433"/>
                    <a:pt x="108533" y="294633"/>
                  </a:cubicBezTo>
                  <a:lnTo>
                    <a:pt x="77174" y="294633"/>
                  </a:lnTo>
                  <a:cubicBezTo>
                    <a:pt x="74791" y="285324"/>
                    <a:pt x="69078" y="277210"/>
                    <a:pt x="61117" y="271829"/>
                  </a:cubicBezTo>
                  <a:close/>
                  <a:moveTo>
                    <a:pt x="19642" y="304454"/>
                  </a:moveTo>
                  <a:cubicBezTo>
                    <a:pt x="19642" y="293606"/>
                    <a:pt x="28436" y="284812"/>
                    <a:pt x="39284" y="284812"/>
                  </a:cubicBezTo>
                  <a:cubicBezTo>
                    <a:pt x="50133" y="284812"/>
                    <a:pt x="58927" y="293606"/>
                    <a:pt x="58927" y="304454"/>
                  </a:cubicBezTo>
                  <a:cubicBezTo>
                    <a:pt x="58927" y="315302"/>
                    <a:pt x="50133" y="324097"/>
                    <a:pt x="39284" y="324097"/>
                  </a:cubicBezTo>
                  <a:cubicBezTo>
                    <a:pt x="28436" y="324097"/>
                    <a:pt x="19642" y="315302"/>
                    <a:pt x="19642" y="304454"/>
                  </a:cubicBezTo>
                  <a:close/>
                  <a:moveTo>
                    <a:pt x="61107" y="337090"/>
                  </a:moveTo>
                  <a:cubicBezTo>
                    <a:pt x="69074" y="331708"/>
                    <a:pt x="74791" y="323590"/>
                    <a:pt x="77174" y="314276"/>
                  </a:cubicBezTo>
                  <a:lnTo>
                    <a:pt x="108533" y="314276"/>
                  </a:lnTo>
                  <a:cubicBezTo>
                    <a:pt x="110740" y="359493"/>
                    <a:pt x="128584" y="402539"/>
                    <a:pt x="159014" y="436057"/>
                  </a:cubicBezTo>
                  <a:lnTo>
                    <a:pt x="127861" y="467210"/>
                  </a:lnTo>
                  <a:cubicBezTo>
                    <a:pt x="121879" y="463582"/>
                    <a:pt x="115028" y="461641"/>
                    <a:pt x="108032" y="461592"/>
                  </a:cubicBezTo>
                  <a:cubicBezTo>
                    <a:pt x="106922" y="461592"/>
                    <a:pt x="105881" y="461828"/>
                    <a:pt x="104801" y="461916"/>
                  </a:cubicBezTo>
                  <a:close/>
                  <a:moveTo>
                    <a:pt x="108032" y="520519"/>
                  </a:moveTo>
                  <a:cubicBezTo>
                    <a:pt x="97184" y="520519"/>
                    <a:pt x="88390" y="511725"/>
                    <a:pt x="88390" y="500877"/>
                  </a:cubicBezTo>
                  <a:cubicBezTo>
                    <a:pt x="88390" y="490029"/>
                    <a:pt x="97184" y="481234"/>
                    <a:pt x="108032" y="481234"/>
                  </a:cubicBezTo>
                  <a:cubicBezTo>
                    <a:pt x="118880" y="481234"/>
                    <a:pt x="127674" y="490029"/>
                    <a:pt x="127674" y="500877"/>
                  </a:cubicBezTo>
                  <a:cubicBezTo>
                    <a:pt x="127674" y="511725"/>
                    <a:pt x="118880" y="520519"/>
                    <a:pt x="108032" y="520519"/>
                  </a:cubicBezTo>
                  <a:close/>
                  <a:moveTo>
                    <a:pt x="146993" y="504108"/>
                  </a:moveTo>
                  <a:cubicBezTo>
                    <a:pt x="147081" y="503027"/>
                    <a:pt x="147317" y="501986"/>
                    <a:pt x="147317" y="500877"/>
                  </a:cubicBezTo>
                  <a:cubicBezTo>
                    <a:pt x="147282" y="493886"/>
                    <a:pt x="145358" y="487034"/>
                    <a:pt x="141748" y="481048"/>
                  </a:cubicBezTo>
                  <a:lnTo>
                    <a:pt x="172901" y="449895"/>
                  </a:lnTo>
                  <a:cubicBezTo>
                    <a:pt x="206406" y="480315"/>
                    <a:pt x="249433" y="498158"/>
                    <a:pt x="294633" y="500376"/>
                  </a:cubicBezTo>
                  <a:lnTo>
                    <a:pt x="294633" y="531735"/>
                  </a:lnTo>
                  <a:cubicBezTo>
                    <a:pt x="285318" y="534118"/>
                    <a:pt x="277201" y="539835"/>
                    <a:pt x="271819" y="547802"/>
                  </a:cubicBezTo>
                  <a:close/>
                  <a:moveTo>
                    <a:pt x="304454" y="589267"/>
                  </a:moveTo>
                  <a:cubicBezTo>
                    <a:pt x="293606" y="589267"/>
                    <a:pt x="284812" y="580472"/>
                    <a:pt x="284812" y="569624"/>
                  </a:cubicBezTo>
                  <a:cubicBezTo>
                    <a:pt x="284812" y="558776"/>
                    <a:pt x="293606" y="549982"/>
                    <a:pt x="304454" y="549982"/>
                  </a:cubicBezTo>
                  <a:cubicBezTo>
                    <a:pt x="315302" y="549982"/>
                    <a:pt x="324097" y="558776"/>
                    <a:pt x="324097" y="569624"/>
                  </a:cubicBezTo>
                  <a:cubicBezTo>
                    <a:pt x="324097" y="580472"/>
                    <a:pt x="315302" y="589267"/>
                    <a:pt x="304454" y="589267"/>
                  </a:cubicBezTo>
                  <a:close/>
                  <a:moveTo>
                    <a:pt x="337090" y="547802"/>
                  </a:moveTo>
                  <a:cubicBezTo>
                    <a:pt x="331708" y="539835"/>
                    <a:pt x="323590" y="534118"/>
                    <a:pt x="314276" y="531735"/>
                  </a:cubicBezTo>
                  <a:lnTo>
                    <a:pt x="314276" y="500376"/>
                  </a:lnTo>
                  <a:cubicBezTo>
                    <a:pt x="359492" y="498168"/>
                    <a:pt x="402539" y="480325"/>
                    <a:pt x="436057" y="449895"/>
                  </a:cubicBezTo>
                  <a:lnTo>
                    <a:pt x="467210" y="481048"/>
                  </a:lnTo>
                  <a:cubicBezTo>
                    <a:pt x="463584" y="487030"/>
                    <a:pt x="461643" y="493881"/>
                    <a:pt x="461592" y="500877"/>
                  </a:cubicBezTo>
                  <a:cubicBezTo>
                    <a:pt x="461592" y="501986"/>
                    <a:pt x="461828" y="503027"/>
                    <a:pt x="461916" y="504108"/>
                  </a:cubicBezTo>
                  <a:close/>
                  <a:moveTo>
                    <a:pt x="500877" y="520519"/>
                  </a:moveTo>
                  <a:cubicBezTo>
                    <a:pt x="490029" y="520519"/>
                    <a:pt x="481234" y="511725"/>
                    <a:pt x="481234" y="500877"/>
                  </a:cubicBezTo>
                  <a:cubicBezTo>
                    <a:pt x="481234" y="490029"/>
                    <a:pt x="490029" y="481234"/>
                    <a:pt x="500877" y="481234"/>
                  </a:cubicBezTo>
                  <a:cubicBezTo>
                    <a:pt x="511725" y="481234"/>
                    <a:pt x="520519" y="490029"/>
                    <a:pt x="520519" y="500877"/>
                  </a:cubicBezTo>
                  <a:cubicBezTo>
                    <a:pt x="520519" y="511725"/>
                    <a:pt x="511725" y="520519"/>
                    <a:pt x="500877" y="520519"/>
                  </a:cubicBezTo>
                  <a:close/>
                  <a:moveTo>
                    <a:pt x="504108" y="461916"/>
                  </a:moveTo>
                  <a:cubicBezTo>
                    <a:pt x="503018" y="461828"/>
                    <a:pt x="501986" y="461592"/>
                    <a:pt x="500877" y="461592"/>
                  </a:cubicBezTo>
                  <a:cubicBezTo>
                    <a:pt x="493886" y="461631"/>
                    <a:pt x="487036" y="463555"/>
                    <a:pt x="481048" y="467161"/>
                  </a:cubicBezTo>
                  <a:lnTo>
                    <a:pt x="449895" y="436057"/>
                  </a:lnTo>
                  <a:cubicBezTo>
                    <a:pt x="480325" y="402539"/>
                    <a:pt x="498169" y="359493"/>
                    <a:pt x="500376" y="314276"/>
                  </a:cubicBezTo>
                  <a:lnTo>
                    <a:pt x="531735" y="314276"/>
                  </a:lnTo>
                  <a:cubicBezTo>
                    <a:pt x="534118" y="323585"/>
                    <a:pt x="539830" y="331698"/>
                    <a:pt x="547792" y="337080"/>
                  </a:cubicBezTo>
                  <a:close/>
                  <a:moveTo>
                    <a:pt x="569624" y="324097"/>
                  </a:moveTo>
                  <a:cubicBezTo>
                    <a:pt x="558776" y="324097"/>
                    <a:pt x="549982" y="315302"/>
                    <a:pt x="549982" y="304454"/>
                  </a:cubicBezTo>
                  <a:cubicBezTo>
                    <a:pt x="549982" y="293606"/>
                    <a:pt x="558776" y="284812"/>
                    <a:pt x="569624" y="284812"/>
                  </a:cubicBezTo>
                  <a:cubicBezTo>
                    <a:pt x="580472" y="284812"/>
                    <a:pt x="589267" y="293606"/>
                    <a:pt x="589267" y="304454"/>
                  </a:cubicBezTo>
                  <a:cubicBezTo>
                    <a:pt x="589267" y="315302"/>
                    <a:pt x="580472" y="324097"/>
                    <a:pt x="569624" y="324097"/>
                  </a:cubicBezTo>
                  <a:close/>
                </a:path>
              </a:pathLst>
            </a:custGeom>
            <a:grpFill/>
            <a:ln w="9674" cap="flat">
              <a:noFill/>
              <a:prstDash val="solid"/>
              <a:miter/>
            </a:ln>
          </p:spPr>
          <p:txBody>
            <a:bodyPr rtlCol="0" anchor="ctr"/>
            <a:lstStyle/>
            <a:p>
              <a:endParaRPr lang="en-GB"/>
            </a:p>
          </p:txBody>
        </p:sp>
      </p:grpSp>
      <p:sp>
        <p:nvSpPr>
          <p:cNvPr id="78" name="TextBox 77">
            <a:extLst>
              <a:ext uri="{FF2B5EF4-FFF2-40B4-BE49-F238E27FC236}">
                <a16:creationId xmlns:a16="http://schemas.microsoft.com/office/drawing/2014/main" id="{DBA5F6E4-6BAF-7E41-58BB-4E92CD16F43F}"/>
              </a:ext>
            </a:extLst>
          </p:cNvPr>
          <p:cNvSpPr txBox="1"/>
          <p:nvPr/>
        </p:nvSpPr>
        <p:spPr>
          <a:xfrm>
            <a:off x="820637" y="3871876"/>
            <a:ext cx="2047326" cy="923330"/>
          </a:xfrm>
          <a:prstGeom prst="rect">
            <a:avLst/>
          </a:prstGeom>
          <a:noFill/>
        </p:spPr>
        <p:txBody>
          <a:bodyPr wrap="square">
            <a:spAutoFit/>
          </a:bodyPr>
          <a:lstStyle/>
          <a:p>
            <a:pPr algn="ctr" defTabSz="609630" fontAlgn="base">
              <a:lnSpc>
                <a:spcPct val="90000"/>
              </a:lnSpc>
              <a:spcBef>
                <a:spcPts val="1200"/>
              </a:spcBef>
              <a:spcAft>
                <a:spcPct val="0"/>
              </a:spcAft>
              <a:defRPr/>
            </a:pPr>
            <a:r>
              <a:rPr lang="en-US" sz="1500">
                <a:solidFill>
                  <a:srgbClr val="FFFFFF"/>
                </a:solidFill>
                <a:latin typeface="+mj-lt"/>
              </a:rPr>
              <a:t>Secure, predictable, and flexible </a:t>
            </a:r>
            <a:r>
              <a:rPr lang="en-US" sz="1500">
                <a:solidFill>
                  <a:srgbClr val="FFFFFF"/>
                </a:solidFill>
              </a:rPr>
              <a:t>service delivery and operations capability</a:t>
            </a:r>
          </a:p>
        </p:txBody>
      </p:sp>
      <p:sp>
        <p:nvSpPr>
          <p:cNvPr id="79" name="TextBox 78">
            <a:extLst>
              <a:ext uri="{FF2B5EF4-FFF2-40B4-BE49-F238E27FC236}">
                <a16:creationId xmlns:a16="http://schemas.microsoft.com/office/drawing/2014/main" id="{855C1A06-6F44-6548-CE13-1B49BAE1BB79}"/>
              </a:ext>
            </a:extLst>
          </p:cNvPr>
          <p:cNvSpPr txBox="1"/>
          <p:nvPr/>
        </p:nvSpPr>
        <p:spPr>
          <a:xfrm>
            <a:off x="3610631" y="3871876"/>
            <a:ext cx="2047326" cy="923330"/>
          </a:xfrm>
          <a:prstGeom prst="rect">
            <a:avLst/>
          </a:prstGeom>
          <a:noFill/>
        </p:spPr>
        <p:txBody>
          <a:bodyPr wrap="square">
            <a:spAutoFit/>
          </a:bodyPr>
          <a:lstStyle/>
          <a:p>
            <a:pPr marR="0" lvl="0" indent="0" algn="ctr" defTabSz="609630" fontAlgn="base">
              <a:lnSpc>
                <a:spcPct val="90000"/>
              </a:lnSpc>
              <a:spcBef>
                <a:spcPts val="1200"/>
              </a:spcBef>
              <a:spcAft>
                <a:spcPct val="0"/>
              </a:spcAft>
              <a:buClrTx/>
              <a:buSzTx/>
              <a:buFontTx/>
              <a:buNone/>
              <a:tabLst/>
              <a:defRPr/>
            </a:pPr>
            <a:r>
              <a:rPr lang="en-US" sz="1500">
                <a:solidFill>
                  <a:srgbClr val="FFFFFF"/>
                </a:solidFill>
                <a:latin typeface="+mj-lt"/>
              </a:rPr>
              <a:t>Faster business innovation </a:t>
            </a:r>
            <a:r>
              <a:rPr lang="en-US" sz="1500">
                <a:solidFill>
                  <a:srgbClr val="FFFFFF"/>
                </a:solidFill>
              </a:rPr>
              <a:t>through adoption of                      AI Services</a:t>
            </a:r>
          </a:p>
        </p:txBody>
      </p:sp>
      <p:sp>
        <p:nvSpPr>
          <p:cNvPr id="80" name="TextBox 79">
            <a:extLst>
              <a:ext uri="{FF2B5EF4-FFF2-40B4-BE49-F238E27FC236}">
                <a16:creationId xmlns:a16="http://schemas.microsoft.com/office/drawing/2014/main" id="{6CD637F9-9947-8C71-2F31-01EEB1A80491}"/>
              </a:ext>
            </a:extLst>
          </p:cNvPr>
          <p:cNvSpPr txBox="1"/>
          <p:nvPr/>
        </p:nvSpPr>
        <p:spPr>
          <a:xfrm>
            <a:off x="6403476" y="3871876"/>
            <a:ext cx="2167170" cy="1131079"/>
          </a:xfrm>
          <a:prstGeom prst="rect">
            <a:avLst/>
          </a:prstGeom>
          <a:noFill/>
        </p:spPr>
        <p:txBody>
          <a:bodyPr wrap="square">
            <a:spAutoFit/>
          </a:bodyPr>
          <a:lstStyle/>
          <a:p>
            <a:pPr marR="0" lvl="0" indent="0" algn="ctr" defTabSz="609630" fontAlgn="base">
              <a:lnSpc>
                <a:spcPct val="90000"/>
              </a:lnSpc>
              <a:spcBef>
                <a:spcPts val="1200"/>
              </a:spcBef>
              <a:spcAft>
                <a:spcPct val="0"/>
              </a:spcAft>
              <a:buClrTx/>
              <a:buSzTx/>
              <a:buFontTx/>
              <a:buNone/>
              <a:tabLst/>
              <a:defRPr/>
            </a:pPr>
            <a:r>
              <a:rPr lang="en-US" sz="1500">
                <a:solidFill>
                  <a:srgbClr val="FFFFFF"/>
                </a:solidFill>
                <a:latin typeface="+mj-lt"/>
              </a:rPr>
              <a:t>Business agility</a:t>
            </a:r>
            <a:br>
              <a:rPr lang="en-US" sz="1500">
                <a:solidFill>
                  <a:srgbClr val="FFFFFF"/>
                </a:solidFill>
                <a:latin typeface="+mj-lt"/>
              </a:rPr>
            </a:br>
            <a:r>
              <a:rPr lang="en-US" sz="1500">
                <a:solidFill>
                  <a:srgbClr val="FFFFFF"/>
                </a:solidFill>
                <a:latin typeface="+mj-lt"/>
              </a:rPr>
              <a:t>and reduced</a:t>
            </a:r>
            <a:br>
              <a:rPr lang="en-US" sz="1500">
                <a:solidFill>
                  <a:srgbClr val="FFFFFF"/>
                </a:solidFill>
                <a:latin typeface="+mj-lt"/>
              </a:rPr>
            </a:br>
            <a:r>
              <a:rPr lang="en-US" sz="1500">
                <a:solidFill>
                  <a:srgbClr val="FFFFFF"/>
                </a:solidFill>
                <a:latin typeface="+mj-lt"/>
              </a:rPr>
              <a:t>time-to-market </a:t>
            </a:r>
            <a:r>
              <a:rPr lang="en-US" sz="1500">
                <a:solidFill>
                  <a:srgbClr val="FFFFFF"/>
                </a:solidFill>
              </a:rPr>
              <a:t>through efficient DevOps teams</a:t>
            </a:r>
          </a:p>
        </p:txBody>
      </p:sp>
      <p:sp>
        <p:nvSpPr>
          <p:cNvPr id="81" name="TextBox 80">
            <a:extLst>
              <a:ext uri="{FF2B5EF4-FFF2-40B4-BE49-F238E27FC236}">
                <a16:creationId xmlns:a16="http://schemas.microsoft.com/office/drawing/2014/main" id="{F51AC640-DEB5-472B-AA2D-5AF7A62BFE6C}"/>
              </a:ext>
            </a:extLst>
          </p:cNvPr>
          <p:cNvSpPr txBox="1"/>
          <p:nvPr/>
        </p:nvSpPr>
        <p:spPr>
          <a:xfrm>
            <a:off x="9455887" y="3871876"/>
            <a:ext cx="1704736" cy="507831"/>
          </a:xfrm>
          <a:prstGeom prst="rect">
            <a:avLst/>
          </a:prstGeom>
          <a:noFill/>
        </p:spPr>
        <p:txBody>
          <a:bodyPr wrap="square">
            <a:spAutoFit/>
          </a:bodyPr>
          <a:lstStyle/>
          <a:p>
            <a:pPr marR="0" lvl="0" indent="0" algn="ctr" defTabSz="609630" fontAlgn="base">
              <a:lnSpc>
                <a:spcPct val="90000"/>
              </a:lnSpc>
              <a:spcBef>
                <a:spcPts val="1200"/>
              </a:spcBef>
              <a:spcAft>
                <a:spcPct val="0"/>
              </a:spcAft>
              <a:buClrTx/>
              <a:buSzTx/>
              <a:buFontTx/>
              <a:buNone/>
              <a:tabLst/>
              <a:defRPr/>
            </a:pPr>
            <a:r>
              <a:rPr lang="en-US" sz="1500">
                <a:solidFill>
                  <a:srgbClr val="FFFFFF"/>
                </a:solidFill>
                <a:latin typeface="+mj-lt"/>
              </a:rPr>
              <a:t>Efficient use </a:t>
            </a:r>
            <a:r>
              <a:rPr lang="en-US" sz="1500">
                <a:solidFill>
                  <a:srgbClr val="FFFFFF"/>
                </a:solidFill>
              </a:rPr>
              <a:t>of public cloud scale</a:t>
            </a:r>
          </a:p>
        </p:txBody>
      </p:sp>
      <p:grpSp>
        <p:nvGrpSpPr>
          <p:cNvPr id="82" name="Group 81">
            <a:extLst>
              <a:ext uri="{FF2B5EF4-FFF2-40B4-BE49-F238E27FC236}">
                <a16:creationId xmlns:a16="http://schemas.microsoft.com/office/drawing/2014/main" id="{BE60C881-5728-3ED4-9A49-CD8D3B3339E9}"/>
              </a:ext>
            </a:extLst>
          </p:cNvPr>
          <p:cNvGrpSpPr/>
          <p:nvPr/>
        </p:nvGrpSpPr>
        <p:grpSpPr>
          <a:xfrm>
            <a:off x="10003459" y="2429557"/>
            <a:ext cx="609592" cy="495486"/>
            <a:chOff x="8323367" y="1196832"/>
            <a:chExt cx="609592" cy="495486"/>
          </a:xfrm>
        </p:grpSpPr>
        <p:sp>
          <p:nvSpPr>
            <p:cNvPr id="83" name="Freeform: Shape 82">
              <a:extLst>
                <a:ext uri="{FF2B5EF4-FFF2-40B4-BE49-F238E27FC236}">
                  <a16:creationId xmlns:a16="http://schemas.microsoft.com/office/drawing/2014/main" id="{04712A8C-9E46-C2D2-4CEA-00051EC2D833}"/>
                </a:ext>
              </a:extLst>
            </p:cNvPr>
            <p:cNvSpPr/>
            <p:nvPr/>
          </p:nvSpPr>
          <p:spPr>
            <a:xfrm>
              <a:off x="8523410" y="1444495"/>
              <a:ext cx="209550" cy="209550"/>
            </a:xfrm>
            <a:custGeom>
              <a:avLst/>
              <a:gdLst>
                <a:gd name="connsiteX0" fmla="*/ 104775 w 209550"/>
                <a:gd name="connsiteY0" fmla="*/ 0 h 209550"/>
                <a:gd name="connsiteX1" fmla="*/ 0 w 209550"/>
                <a:gd name="connsiteY1" fmla="*/ 104775 h 209550"/>
                <a:gd name="connsiteX2" fmla="*/ 104775 w 209550"/>
                <a:gd name="connsiteY2" fmla="*/ 209550 h 209550"/>
                <a:gd name="connsiteX3" fmla="*/ 209550 w 209550"/>
                <a:gd name="connsiteY3" fmla="*/ 104775 h 209550"/>
                <a:gd name="connsiteX4" fmla="*/ 104775 w 209550"/>
                <a:gd name="connsiteY4" fmla="*/ 0 h 209550"/>
                <a:gd name="connsiteX5" fmla="*/ 104775 w 209550"/>
                <a:gd name="connsiteY5" fmla="*/ 190500 h 209550"/>
                <a:gd name="connsiteX6" fmla="*/ 19050 w 209550"/>
                <a:gd name="connsiteY6" fmla="*/ 104775 h 209550"/>
                <a:gd name="connsiteX7" fmla="*/ 104775 w 209550"/>
                <a:gd name="connsiteY7" fmla="*/ 19050 h 209550"/>
                <a:gd name="connsiteX8" fmla="*/ 190500 w 209550"/>
                <a:gd name="connsiteY8" fmla="*/ 104775 h 209550"/>
                <a:gd name="connsiteX9" fmla="*/ 104775 w 209550"/>
                <a:gd name="connsiteY9" fmla="*/ 1905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550" h="209550">
                  <a:moveTo>
                    <a:pt x="104775" y="0"/>
                  </a:moveTo>
                  <a:cubicBezTo>
                    <a:pt x="46909" y="0"/>
                    <a:pt x="0" y="46909"/>
                    <a:pt x="0" y="104775"/>
                  </a:cubicBezTo>
                  <a:cubicBezTo>
                    <a:pt x="0" y="162641"/>
                    <a:pt x="46909" y="209550"/>
                    <a:pt x="104775" y="209550"/>
                  </a:cubicBezTo>
                  <a:cubicBezTo>
                    <a:pt x="162641" y="209550"/>
                    <a:pt x="209550" y="162641"/>
                    <a:pt x="209550" y="104775"/>
                  </a:cubicBezTo>
                  <a:cubicBezTo>
                    <a:pt x="209482" y="46938"/>
                    <a:pt x="162612" y="68"/>
                    <a:pt x="104775" y="0"/>
                  </a:cubicBezTo>
                  <a:close/>
                  <a:moveTo>
                    <a:pt x="104775" y="190500"/>
                  </a:moveTo>
                  <a:cubicBezTo>
                    <a:pt x="57430" y="190500"/>
                    <a:pt x="19050" y="152120"/>
                    <a:pt x="19050" y="104775"/>
                  </a:cubicBezTo>
                  <a:cubicBezTo>
                    <a:pt x="19050" y="57430"/>
                    <a:pt x="57430" y="19050"/>
                    <a:pt x="104775" y="19050"/>
                  </a:cubicBezTo>
                  <a:cubicBezTo>
                    <a:pt x="152120" y="19050"/>
                    <a:pt x="190500" y="57430"/>
                    <a:pt x="190500" y="104775"/>
                  </a:cubicBezTo>
                  <a:cubicBezTo>
                    <a:pt x="190442" y="152096"/>
                    <a:pt x="152096" y="190442"/>
                    <a:pt x="104775" y="190500"/>
                  </a:cubicBezTo>
                  <a:close/>
                </a:path>
              </a:pathLst>
            </a:custGeom>
            <a:gradFill>
              <a:gsLst>
                <a:gs pos="0">
                  <a:srgbClr val="C3E9FC"/>
                </a:gs>
                <a:gs pos="100000">
                  <a:srgbClr val="BDF2BD"/>
                </a:gs>
              </a:gsLst>
              <a:lin ang="13500000" scaled="0"/>
            </a:gradFill>
            <a:ln w="9525" cap="flat">
              <a:noFill/>
              <a:prstDash val="solid"/>
              <a:miter/>
            </a:ln>
          </p:spPr>
          <p:txBody>
            <a:bodyPr rtlCol="0" anchor="ctr"/>
            <a:lstStyle/>
            <a:p>
              <a:endParaRPr lang="en-GB"/>
            </a:p>
          </p:txBody>
        </p:sp>
        <p:sp>
          <p:nvSpPr>
            <p:cNvPr id="84" name="Freeform: Shape 83">
              <a:extLst>
                <a:ext uri="{FF2B5EF4-FFF2-40B4-BE49-F238E27FC236}">
                  <a16:creationId xmlns:a16="http://schemas.microsoft.com/office/drawing/2014/main" id="{709684DF-25AF-8A67-4377-D3A75E41C2DC}"/>
                </a:ext>
              </a:extLst>
            </p:cNvPr>
            <p:cNvSpPr/>
            <p:nvPr/>
          </p:nvSpPr>
          <p:spPr>
            <a:xfrm>
              <a:off x="8594826" y="1482595"/>
              <a:ext cx="66716" cy="133350"/>
            </a:xfrm>
            <a:custGeom>
              <a:avLst/>
              <a:gdLst>
                <a:gd name="connsiteX0" fmla="*/ 33358 w 66716"/>
                <a:gd name="connsiteY0" fmla="*/ 28575 h 133350"/>
                <a:gd name="connsiteX1" fmla="*/ 47646 w 66716"/>
                <a:gd name="connsiteY1" fmla="*/ 42863 h 133350"/>
                <a:gd name="connsiteX2" fmla="*/ 57171 w 66716"/>
                <a:gd name="connsiteY2" fmla="*/ 52388 h 133350"/>
                <a:gd name="connsiteX3" fmla="*/ 66696 w 66716"/>
                <a:gd name="connsiteY3" fmla="*/ 42863 h 133350"/>
                <a:gd name="connsiteX4" fmla="*/ 42883 w 66716"/>
                <a:gd name="connsiteY4" fmla="*/ 11078 h 133350"/>
                <a:gd name="connsiteX5" fmla="*/ 42883 w 66716"/>
                <a:gd name="connsiteY5" fmla="*/ 9525 h 133350"/>
                <a:gd name="connsiteX6" fmla="*/ 33358 w 66716"/>
                <a:gd name="connsiteY6" fmla="*/ 0 h 133350"/>
                <a:gd name="connsiteX7" fmla="*/ 23833 w 66716"/>
                <a:gd name="connsiteY7" fmla="*/ 9525 h 133350"/>
                <a:gd name="connsiteX8" fmla="*/ 23833 w 66716"/>
                <a:gd name="connsiteY8" fmla="*/ 11078 h 133350"/>
                <a:gd name="connsiteX9" fmla="*/ 1371 w 66716"/>
                <a:gd name="connsiteY9" fmla="*/ 52375 h 133350"/>
                <a:gd name="connsiteX10" fmla="*/ 33358 w 66716"/>
                <a:gd name="connsiteY10" fmla="*/ 76200 h 133350"/>
                <a:gd name="connsiteX11" fmla="*/ 47646 w 66716"/>
                <a:gd name="connsiteY11" fmla="*/ 90488 h 133350"/>
                <a:gd name="connsiteX12" fmla="*/ 33358 w 66716"/>
                <a:gd name="connsiteY12" fmla="*/ 104775 h 133350"/>
                <a:gd name="connsiteX13" fmla="*/ 19071 w 66716"/>
                <a:gd name="connsiteY13" fmla="*/ 90488 h 133350"/>
                <a:gd name="connsiteX14" fmla="*/ 9546 w 66716"/>
                <a:gd name="connsiteY14" fmla="*/ 80963 h 133350"/>
                <a:gd name="connsiteX15" fmla="*/ 21 w 66716"/>
                <a:gd name="connsiteY15" fmla="*/ 90488 h 133350"/>
                <a:gd name="connsiteX16" fmla="*/ 23833 w 66716"/>
                <a:gd name="connsiteY16" fmla="*/ 122272 h 133350"/>
                <a:gd name="connsiteX17" fmla="*/ 23833 w 66716"/>
                <a:gd name="connsiteY17" fmla="*/ 123825 h 133350"/>
                <a:gd name="connsiteX18" fmla="*/ 33358 w 66716"/>
                <a:gd name="connsiteY18" fmla="*/ 133350 h 133350"/>
                <a:gd name="connsiteX19" fmla="*/ 42883 w 66716"/>
                <a:gd name="connsiteY19" fmla="*/ 123825 h 133350"/>
                <a:gd name="connsiteX20" fmla="*/ 42883 w 66716"/>
                <a:gd name="connsiteY20" fmla="*/ 122272 h 133350"/>
                <a:gd name="connsiteX21" fmla="*/ 65346 w 66716"/>
                <a:gd name="connsiteY21" fmla="*/ 80975 h 133350"/>
                <a:gd name="connsiteX22" fmla="*/ 33358 w 66716"/>
                <a:gd name="connsiteY22" fmla="*/ 57150 h 133350"/>
                <a:gd name="connsiteX23" fmla="*/ 19071 w 66716"/>
                <a:gd name="connsiteY23" fmla="*/ 42863 h 133350"/>
                <a:gd name="connsiteX24" fmla="*/ 33358 w 66716"/>
                <a:gd name="connsiteY24" fmla="*/ 28575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6716" h="133350">
                  <a:moveTo>
                    <a:pt x="33358" y="28575"/>
                  </a:moveTo>
                  <a:cubicBezTo>
                    <a:pt x="41249" y="28575"/>
                    <a:pt x="47646" y="34972"/>
                    <a:pt x="47646" y="42863"/>
                  </a:cubicBezTo>
                  <a:cubicBezTo>
                    <a:pt x="47646" y="48123"/>
                    <a:pt x="51910" y="52388"/>
                    <a:pt x="57171" y="52388"/>
                  </a:cubicBezTo>
                  <a:cubicBezTo>
                    <a:pt x="62431" y="52388"/>
                    <a:pt x="66696" y="48123"/>
                    <a:pt x="66696" y="42863"/>
                  </a:cubicBezTo>
                  <a:cubicBezTo>
                    <a:pt x="66643" y="28173"/>
                    <a:pt x="56966" y="15256"/>
                    <a:pt x="42883" y="11078"/>
                  </a:cubicBezTo>
                  <a:lnTo>
                    <a:pt x="42883" y="9525"/>
                  </a:lnTo>
                  <a:cubicBezTo>
                    <a:pt x="42883" y="4264"/>
                    <a:pt x="38619" y="0"/>
                    <a:pt x="33358" y="0"/>
                  </a:cubicBezTo>
                  <a:cubicBezTo>
                    <a:pt x="28098" y="0"/>
                    <a:pt x="23833" y="4264"/>
                    <a:pt x="23833" y="9525"/>
                  </a:cubicBezTo>
                  <a:lnTo>
                    <a:pt x="23833" y="11078"/>
                  </a:lnTo>
                  <a:cubicBezTo>
                    <a:pt x="6226" y="16279"/>
                    <a:pt x="-3831" y="34768"/>
                    <a:pt x="1371" y="52375"/>
                  </a:cubicBezTo>
                  <a:cubicBezTo>
                    <a:pt x="5555" y="66542"/>
                    <a:pt x="18587" y="76248"/>
                    <a:pt x="33358" y="76200"/>
                  </a:cubicBezTo>
                  <a:cubicBezTo>
                    <a:pt x="41249" y="76200"/>
                    <a:pt x="47646" y="82597"/>
                    <a:pt x="47646" y="90488"/>
                  </a:cubicBezTo>
                  <a:cubicBezTo>
                    <a:pt x="47646" y="98378"/>
                    <a:pt x="41249" y="104775"/>
                    <a:pt x="33358" y="104775"/>
                  </a:cubicBezTo>
                  <a:cubicBezTo>
                    <a:pt x="25468" y="104775"/>
                    <a:pt x="19071" y="98378"/>
                    <a:pt x="19071" y="90488"/>
                  </a:cubicBezTo>
                  <a:cubicBezTo>
                    <a:pt x="19071" y="85227"/>
                    <a:pt x="14806" y="80963"/>
                    <a:pt x="9546" y="80963"/>
                  </a:cubicBezTo>
                  <a:cubicBezTo>
                    <a:pt x="4285" y="80963"/>
                    <a:pt x="21" y="85227"/>
                    <a:pt x="21" y="90488"/>
                  </a:cubicBezTo>
                  <a:cubicBezTo>
                    <a:pt x="74" y="105177"/>
                    <a:pt x="9751" y="118094"/>
                    <a:pt x="23833" y="122272"/>
                  </a:cubicBezTo>
                  <a:lnTo>
                    <a:pt x="23833" y="123825"/>
                  </a:lnTo>
                  <a:cubicBezTo>
                    <a:pt x="23833" y="129086"/>
                    <a:pt x="28098" y="133350"/>
                    <a:pt x="33358" y="133350"/>
                  </a:cubicBezTo>
                  <a:cubicBezTo>
                    <a:pt x="38619" y="133350"/>
                    <a:pt x="42883" y="129086"/>
                    <a:pt x="42883" y="123825"/>
                  </a:cubicBezTo>
                  <a:lnTo>
                    <a:pt x="42883" y="122272"/>
                  </a:lnTo>
                  <a:cubicBezTo>
                    <a:pt x="60490" y="117071"/>
                    <a:pt x="70547" y="98582"/>
                    <a:pt x="65346" y="80975"/>
                  </a:cubicBezTo>
                  <a:cubicBezTo>
                    <a:pt x="61161" y="66808"/>
                    <a:pt x="48130" y="57102"/>
                    <a:pt x="33358" y="57150"/>
                  </a:cubicBezTo>
                  <a:cubicBezTo>
                    <a:pt x="25468" y="57150"/>
                    <a:pt x="19071" y="50753"/>
                    <a:pt x="19071" y="42863"/>
                  </a:cubicBezTo>
                  <a:cubicBezTo>
                    <a:pt x="19071" y="34972"/>
                    <a:pt x="25468" y="28575"/>
                    <a:pt x="33358" y="28575"/>
                  </a:cubicBezTo>
                  <a:close/>
                </a:path>
              </a:pathLst>
            </a:custGeom>
            <a:gradFill>
              <a:gsLst>
                <a:gs pos="0">
                  <a:srgbClr val="C3E9FC"/>
                </a:gs>
                <a:gs pos="100000">
                  <a:srgbClr val="BDF2BD"/>
                </a:gs>
              </a:gsLst>
              <a:lin ang="13500000" scaled="0"/>
            </a:gradFill>
            <a:ln w="9525" cap="flat">
              <a:noFill/>
              <a:prstDash val="solid"/>
              <a:miter/>
            </a:ln>
          </p:spPr>
          <p:txBody>
            <a:bodyPr rtlCol="0" anchor="ctr"/>
            <a:lstStyle/>
            <a:p>
              <a:endParaRPr lang="en-GB"/>
            </a:p>
          </p:txBody>
        </p:sp>
        <p:sp>
          <p:nvSpPr>
            <p:cNvPr id="85" name="Freeform: Shape 84">
              <a:extLst>
                <a:ext uri="{FF2B5EF4-FFF2-40B4-BE49-F238E27FC236}">
                  <a16:creationId xmlns:a16="http://schemas.microsoft.com/office/drawing/2014/main" id="{4662C631-28C4-2E36-DA76-81AA67057830}"/>
                </a:ext>
              </a:extLst>
            </p:cNvPr>
            <p:cNvSpPr/>
            <p:nvPr/>
          </p:nvSpPr>
          <p:spPr>
            <a:xfrm>
              <a:off x="8323367" y="1196832"/>
              <a:ext cx="609592" cy="495486"/>
            </a:xfrm>
            <a:custGeom>
              <a:avLst/>
              <a:gdLst>
                <a:gd name="connsiteX0" fmla="*/ 533265 w 609592"/>
                <a:gd name="connsiteY0" fmla="*/ 156432 h 495486"/>
                <a:gd name="connsiteX1" fmla="*/ 533417 w 609592"/>
                <a:gd name="connsiteY1" fmla="*/ 152412 h 495486"/>
                <a:gd name="connsiteX2" fmla="*/ 438167 w 609592"/>
                <a:gd name="connsiteY2" fmla="*/ 57162 h 495486"/>
                <a:gd name="connsiteX3" fmla="*/ 403515 w 609592"/>
                <a:gd name="connsiteY3" fmla="*/ 63830 h 495486"/>
                <a:gd name="connsiteX4" fmla="*/ 235735 w 609592"/>
                <a:gd name="connsiteY4" fmla="*/ 15400 h 495486"/>
                <a:gd name="connsiteX5" fmla="*/ 203624 w 609592"/>
                <a:gd name="connsiteY5" fmla="*/ 40903 h 495486"/>
                <a:gd name="connsiteX6" fmla="*/ 78912 w 609592"/>
                <a:gd name="connsiteY6" fmla="*/ 118396 h 495486"/>
                <a:gd name="connsiteX7" fmla="*/ 77170 w 609592"/>
                <a:gd name="connsiteY7" fmla="*/ 156222 h 495486"/>
                <a:gd name="connsiteX8" fmla="*/ 3722 w 609592"/>
                <a:gd name="connsiteY8" fmla="*/ 284819 h 495486"/>
                <a:gd name="connsiteX9" fmla="*/ 104792 w 609592"/>
                <a:gd name="connsiteY9" fmla="*/ 361962 h 495486"/>
                <a:gd name="connsiteX10" fmla="*/ 162428 w 609592"/>
                <a:gd name="connsiteY10" fmla="*/ 361962 h 495486"/>
                <a:gd name="connsiteX11" fmla="*/ 314002 w 609592"/>
                <a:gd name="connsiteY11" fmla="*/ 495186 h 495486"/>
                <a:gd name="connsiteX12" fmla="*/ 447225 w 609592"/>
                <a:gd name="connsiteY12" fmla="*/ 361962 h 495486"/>
                <a:gd name="connsiteX13" fmla="*/ 504842 w 609592"/>
                <a:gd name="connsiteY13" fmla="*/ 361962 h 495486"/>
                <a:gd name="connsiteX14" fmla="*/ 609592 w 609592"/>
                <a:gd name="connsiteY14" fmla="*/ 257257 h 495486"/>
                <a:gd name="connsiteX15" fmla="*/ 533265 w 609592"/>
                <a:gd name="connsiteY15" fmla="*/ 156432 h 495486"/>
                <a:gd name="connsiteX16" fmla="*/ 304817 w 609592"/>
                <a:gd name="connsiteY16" fmla="*/ 476262 h 495486"/>
                <a:gd name="connsiteX17" fmla="*/ 180992 w 609592"/>
                <a:gd name="connsiteY17" fmla="*/ 352437 h 495486"/>
                <a:gd name="connsiteX18" fmla="*/ 304817 w 609592"/>
                <a:gd name="connsiteY18" fmla="*/ 228612 h 495486"/>
                <a:gd name="connsiteX19" fmla="*/ 428642 w 609592"/>
                <a:gd name="connsiteY19" fmla="*/ 352437 h 495486"/>
                <a:gd name="connsiteX20" fmla="*/ 304817 w 609592"/>
                <a:gd name="connsiteY20" fmla="*/ 476262 h 495486"/>
                <a:gd name="connsiteX21" fmla="*/ 504842 w 609592"/>
                <a:gd name="connsiteY21" fmla="*/ 342912 h 495486"/>
                <a:gd name="connsiteX22" fmla="*/ 447206 w 609592"/>
                <a:gd name="connsiteY22" fmla="*/ 342912 h 495486"/>
                <a:gd name="connsiteX23" fmla="*/ 295633 w 609592"/>
                <a:gd name="connsiteY23" fmla="*/ 209689 h 495486"/>
                <a:gd name="connsiteX24" fmla="*/ 162409 w 609592"/>
                <a:gd name="connsiteY24" fmla="*/ 342912 h 495486"/>
                <a:gd name="connsiteX25" fmla="*/ 104792 w 609592"/>
                <a:gd name="connsiteY25" fmla="*/ 342912 h 495486"/>
                <a:gd name="connsiteX26" fmla="*/ 19145 w 609592"/>
                <a:gd name="connsiteY26" fmla="*/ 257110 h 495486"/>
                <a:gd name="connsiteX27" fmla="*/ 104947 w 609592"/>
                <a:gd name="connsiteY27" fmla="*/ 171462 h 495486"/>
                <a:gd name="connsiteX28" fmla="*/ 130510 w 609592"/>
                <a:gd name="connsiteY28" fmla="*/ 175387 h 495486"/>
                <a:gd name="connsiteX29" fmla="*/ 142454 w 609592"/>
                <a:gd name="connsiteY29" fmla="*/ 169157 h 495486"/>
                <a:gd name="connsiteX30" fmla="*/ 136225 w 609592"/>
                <a:gd name="connsiteY30" fmla="*/ 157213 h 495486"/>
                <a:gd name="connsiteX31" fmla="*/ 104792 w 609592"/>
                <a:gd name="connsiteY31" fmla="*/ 152412 h 495486"/>
                <a:gd name="connsiteX32" fmla="*/ 95915 w 609592"/>
                <a:gd name="connsiteY32" fmla="*/ 152860 h 495486"/>
                <a:gd name="connsiteX33" fmla="*/ 95267 w 609592"/>
                <a:gd name="connsiteY33" fmla="*/ 142887 h 495486"/>
                <a:gd name="connsiteX34" fmla="*/ 180992 w 609592"/>
                <a:gd name="connsiteY34" fmla="*/ 57162 h 495486"/>
                <a:gd name="connsiteX35" fmla="*/ 190698 w 609592"/>
                <a:gd name="connsiteY35" fmla="*/ 57858 h 495486"/>
                <a:gd name="connsiteX36" fmla="*/ 171467 w 609592"/>
                <a:gd name="connsiteY36" fmla="*/ 123837 h 495486"/>
                <a:gd name="connsiteX37" fmla="*/ 180992 w 609592"/>
                <a:gd name="connsiteY37" fmla="*/ 133362 h 495486"/>
                <a:gd name="connsiteX38" fmla="*/ 190517 w 609592"/>
                <a:gd name="connsiteY38" fmla="*/ 123837 h 495486"/>
                <a:gd name="connsiteX39" fmla="*/ 295292 w 609592"/>
                <a:gd name="connsiteY39" fmla="*/ 19062 h 495486"/>
                <a:gd name="connsiteX40" fmla="*/ 400067 w 609592"/>
                <a:gd name="connsiteY40" fmla="*/ 123837 h 495486"/>
                <a:gd name="connsiteX41" fmla="*/ 409592 w 609592"/>
                <a:gd name="connsiteY41" fmla="*/ 133362 h 495486"/>
                <a:gd name="connsiteX42" fmla="*/ 419117 w 609592"/>
                <a:gd name="connsiteY42" fmla="*/ 123837 h 495486"/>
                <a:gd name="connsiteX43" fmla="*/ 411373 w 609592"/>
                <a:gd name="connsiteY43" fmla="*/ 81137 h 495486"/>
                <a:gd name="connsiteX44" fmla="*/ 438167 w 609592"/>
                <a:gd name="connsiteY44" fmla="*/ 76212 h 495486"/>
                <a:gd name="connsiteX45" fmla="*/ 514367 w 609592"/>
                <a:gd name="connsiteY45" fmla="*/ 152412 h 495486"/>
                <a:gd name="connsiteX46" fmla="*/ 514367 w 609592"/>
                <a:gd name="connsiteY46" fmla="*/ 152898 h 495486"/>
                <a:gd name="connsiteX47" fmla="*/ 504842 w 609592"/>
                <a:gd name="connsiteY47" fmla="*/ 152412 h 495486"/>
                <a:gd name="connsiteX48" fmla="*/ 473410 w 609592"/>
                <a:gd name="connsiteY48" fmla="*/ 157175 h 495486"/>
                <a:gd name="connsiteX49" fmla="*/ 467180 w 609592"/>
                <a:gd name="connsiteY49" fmla="*/ 169119 h 495486"/>
                <a:gd name="connsiteX50" fmla="*/ 479125 w 609592"/>
                <a:gd name="connsiteY50" fmla="*/ 175348 h 495486"/>
                <a:gd name="connsiteX51" fmla="*/ 586481 w 609592"/>
                <a:gd name="connsiteY51" fmla="*/ 231670 h 495486"/>
                <a:gd name="connsiteX52" fmla="*/ 530160 w 609592"/>
                <a:gd name="connsiteY52" fmla="*/ 339027 h 495486"/>
                <a:gd name="connsiteX53" fmla="*/ 504842 w 609592"/>
                <a:gd name="connsiteY53" fmla="*/ 342912 h 49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09592" h="495486">
                  <a:moveTo>
                    <a:pt x="533265" y="156432"/>
                  </a:moveTo>
                  <a:cubicBezTo>
                    <a:pt x="533331" y="155079"/>
                    <a:pt x="533417" y="153717"/>
                    <a:pt x="533417" y="152412"/>
                  </a:cubicBezTo>
                  <a:cubicBezTo>
                    <a:pt x="533359" y="99831"/>
                    <a:pt x="490748" y="57220"/>
                    <a:pt x="438167" y="57162"/>
                  </a:cubicBezTo>
                  <a:cubicBezTo>
                    <a:pt x="426299" y="57170"/>
                    <a:pt x="414539" y="59433"/>
                    <a:pt x="403515" y="63830"/>
                  </a:cubicBezTo>
                  <a:cubicBezTo>
                    <a:pt x="370558" y="4125"/>
                    <a:pt x="295440" y="-17558"/>
                    <a:pt x="235735" y="15400"/>
                  </a:cubicBezTo>
                  <a:cubicBezTo>
                    <a:pt x="223685" y="22052"/>
                    <a:pt x="212831" y="30672"/>
                    <a:pt x="203624" y="40903"/>
                  </a:cubicBezTo>
                  <a:cubicBezTo>
                    <a:pt x="147786" y="27864"/>
                    <a:pt x="91951" y="62559"/>
                    <a:pt x="78912" y="118396"/>
                  </a:cubicBezTo>
                  <a:cubicBezTo>
                    <a:pt x="76017" y="130792"/>
                    <a:pt x="75427" y="143613"/>
                    <a:pt x="77170" y="156222"/>
                  </a:cubicBezTo>
                  <a:cubicBezTo>
                    <a:pt x="21377" y="171451"/>
                    <a:pt x="-11507" y="229026"/>
                    <a:pt x="3722" y="284819"/>
                  </a:cubicBezTo>
                  <a:cubicBezTo>
                    <a:pt x="16159" y="330384"/>
                    <a:pt x="57560" y="361984"/>
                    <a:pt x="104792" y="361962"/>
                  </a:cubicBezTo>
                  <a:lnTo>
                    <a:pt x="162428" y="361962"/>
                  </a:lnTo>
                  <a:cubicBezTo>
                    <a:pt x="167495" y="440607"/>
                    <a:pt x="235357" y="500253"/>
                    <a:pt x="314002" y="495186"/>
                  </a:cubicBezTo>
                  <a:cubicBezTo>
                    <a:pt x="385582" y="490574"/>
                    <a:pt x="442613" y="433542"/>
                    <a:pt x="447225" y="361962"/>
                  </a:cubicBezTo>
                  <a:lnTo>
                    <a:pt x="504842" y="361962"/>
                  </a:lnTo>
                  <a:cubicBezTo>
                    <a:pt x="562682" y="361975"/>
                    <a:pt x="609580" y="315097"/>
                    <a:pt x="609592" y="257257"/>
                  </a:cubicBezTo>
                  <a:cubicBezTo>
                    <a:pt x="609602" y="210347"/>
                    <a:pt x="578417" y="169153"/>
                    <a:pt x="533265" y="156432"/>
                  </a:cubicBezTo>
                  <a:close/>
                  <a:moveTo>
                    <a:pt x="304817" y="476262"/>
                  </a:moveTo>
                  <a:cubicBezTo>
                    <a:pt x="236431" y="476262"/>
                    <a:pt x="180992" y="420824"/>
                    <a:pt x="180992" y="352437"/>
                  </a:cubicBezTo>
                  <a:cubicBezTo>
                    <a:pt x="180992" y="284051"/>
                    <a:pt x="236431" y="228612"/>
                    <a:pt x="304817" y="228612"/>
                  </a:cubicBezTo>
                  <a:cubicBezTo>
                    <a:pt x="373204" y="228612"/>
                    <a:pt x="428642" y="284051"/>
                    <a:pt x="428642" y="352437"/>
                  </a:cubicBezTo>
                  <a:cubicBezTo>
                    <a:pt x="428563" y="420791"/>
                    <a:pt x="373171" y="476184"/>
                    <a:pt x="304817" y="476262"/>
                  </a:cubicBezTo>
                  <a:close/>
                  <a:moveTo>
                    <a:pt x="504842" y="342912"/>
                  </a:moveTo>
                  <a:lnTo>
                    <a:pt x="447206" y="342912"/>
                  </a:lnTo>
                  <a:cubicBezTo>
                    <a:pt x="442139" y="264268"/>
                    <a:pt x="374277" y="204621"/>
                    <a:pt x="295633" y="209689"/>
                  </a:cubicBezTo>
                  <a:cubicBezTo>
                    <a:pt x="224053" y="214301"/>
                    <a:pt x="167021" y="271332"/>
                    <a:pt x="162409" y="342912"/>
                  </a:cubicBezTo>
                  <a:lnTo>
                    <a:pt x="104792" y="342912"/>
                  </a:lnTo>
                  <a:cubicBezTo>
                    <a:pt x="57448" y="342870"/>
                    <a:pt x="19102" y="304455"/>
                    <a:pt x="19145" y="257110"/>
                  </a:cubicBezTo>
                  <a:cubicBezTo>
                    <a:pt x="19187" y="209765"/>
                    <a:pt x="57602" y="171420"/>
                    <a:pt x="104947" y="171462"/>
                  </a:cubicBezTo>
                  <a:cubicBezTo>
                    <a:pt x="113617" y="171470"/>
                    <a:pt x="122236" y="172793"/>
                    <a:pt x="130510" y="175387"/>
                  </a:cubicBezTo>
                  <a:cubicBezTo>
                    <a:pt x="135528" y="176965"/>
                    <a:pt x="140876" y="174176"/>
                    <a:pt x="142454" y="169157"/>
                  </a:cubicBezTo>
                  <a:cubicBezTo>
                    <a:pt x="144032" y="164139"/>
                    <a:pt x="141243" y="158791"/>
                    <a:pt x="136225" y="157213"/>
                  </a:cubicBezTo>
                  <a:cubicBezTo>
                    <a:pt x="126054" y="154018"/>
                    <a:pt x="115453" y="152399"/>
                    <a:pt x="104792" y="152412"/>
                  </a:cubicBezTo>
                  <a:cubicBezTo>
                    <a:pt x="101792" y="152412"/>
                    <a:pt x="98849" y="152612"/>
                    <a:pt x="95915" y="152860"/>
                  </a:cubicBezTo>
                  <a:cubicBezTo>
                    <a:pt x="95497" y="149552"/>
                    <a:pt x="95281" y="146222"/>
                    <a:pt x="95267" y="142887"/>
                  </a:cubicBezTo>
                  <a:cubicBezTo>
                    <a:pt x="95325" y="95567"/>
                    <a:pt x="133672" y="57220"/>
                    <a:pt x="180992" y="57162"/>
                  </a:cubicBezTo>
                  <a:cubicBezTo>
                    <a:pt x="184238" y="57201"/>
                    <a:pt x="187480" y="57433"/>
                    <a:pt x="190698" y="57858"/>
                  </a:cubicBezTo>
                  <a:cubicBezTo>
                    <a:pt x="178142" y="77574"/>
                    <a:pt x="171471" y="100463"/>
                    <a:pt x="171467" y="123837"/>
                  </a:cubicBezTo>
                  <a:cubicBezTo>
                    <a:pt x="171467" y="129098"/>
                    <a:pt x="175732" y="133362"/>
                    <a:pt x="180992" y="133362"/>
                  </a:cubicBezTo>
                  <a:cubicBezTo>
                    <a:pt x="186253" y="133362"/>
                    <a:pt x="190517" y="129098"/>
                    <a:pt x="190517" y="123837"/>
                  </a:cubicBezTo>
                  <a:cubicBezTo>
                    <a:pt x="190517" y="65972"/>
                    <a:pt x="237427" y="19062"/>
                    <a:pt x="295292" y="19062"/>
                  </a:cubicBezTo>
                  <a:cubicBezTo>
                    <a:pt x="353158" y="19062"/>
                    <a:pt x="400067" y="65972"/>
                    <a:pt x="400067" y="123837"/>
                  </a:cubicBezTo>
                  <a:cubicBezTo>
                    <a:pt x="400067" y="129098"/>
                    <a:pt x="404332" y="133362"/>
                    <a:pt x="409592" y="133362"/>
                  </a:cubicBezTo>
                  <a:cubicBezTo>
                    <a:pt x="414853" y="133362"/>
                    <a:pt x="419117" y="129098"/>
                    <a:pt x="419117" y="123837"/>
                  </a:cubicBezTo>
                  <a:cubicBezTo>
                    <a:pt x="419084" y="109258"/>
                    <a:pt x="416462" y="94800"/>
                    <a:pt x="411373" y="81137"/>
                  </a:cubicBezTo>
                  <a:cubicBezTo>
                    <a:pt x="419929" y="77873"/>
                    <a:pt x="429010" y="76204"/>
                    <a:pt x="438167" y="76212"/>
                  </a:cubicBezTo>
                  <a:cubicBezTo>
                    <a:pt x="480232" y="76260"/>
                    <a:pt x="514320" y="110348"/>
                    <a:pt x="514367" y="152412"/>
                  </a:cubicBezTo>
                  <a:cubicBezTo>
                    <a:pt x="514367" y="152565"/>
                    <a:pt x="514367" y="152736"/>
                    <a:pt x="514367" y="152898"/>
                  </a:cubicBezTo>
                  <a:cubicBezTo>
                    <a:pt x="511233" y="152612"/>
                    <a:pt x="508071" y="152412"/>
                    <a:pt x="504842" y="152412"/>
                  </a:cubicBezTo>
                  <a:cubicBezTo>
                    <a:pt x="494183" y="152387"/>
                    <a:pt x="483583" y="153993"/>
                    <a:pt x="473410" y="157175"/>
                  </a:cubicBezTo>
                  <a:cubicBezTo>
                    <a:pt x="468391" y="158753"/>
                    <a:pt x="465602" y="164101"/>
                    <a:pt x="467180" y="169119"/>
                  </a:cubicBezTo>
                  <a:cubicBezTo>
                    <a:pt x="468758" y="174138"/>
                    <a:pt x="474106" y="176927"/>
                    <a:pt x="479125" y="175348"/>
                  </a:cubicBezTo>
                  <a:cubicBezTo>
                    <a:pt x="524323" y="161256"/>
                    <a:pt x="572388" y="186471"/>
                    <a:pt x="586481" y="231670"/>
                  </a:cubicBezTo>
                  <a:cubicBezTo>
                    <a:pt x="600574" y="276868"/>
                    <a:pt x="575358" y="324934"/>
                    <a:pt x="530160" y="339027"/>
                  </a:cubicBezTo>
                  <a:cubicBezTo>
                    <a:pt x="521963" y="341582"/>
                    <a:pt x="513428" y="342892"/>
                    <a:pt x="504842" y="342912"/>
                  </a:cubicBezTo>
                  <a:close/>
                </a:path>
              </a:pathLst>
            </a:custGeom>
            <a:gradFill>
              <a:gsLst>
                <a:gs pos="0">
                  <a:srgbClr val="C3E9FC"/>
                </a:gs>
                <a:gs pos="100000">
                  <a:srgbClr val="BDF2BD"/>
                </a:gs>
              </a:gsLst>
              <a:lin ang="13500000" scaled="0"/>
            </a:grad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15325705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par>
                                <p:cTn id="11" presetID="23" presetClass="entr" presetSubtype="272"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 calcmode="lin" valueType="num">
                                      <p:cBhvr>
                                        <p:cTn id="13" dur="250" fill="hold"/>
                                        <p:tgtEl>
                                          <p:spTgt spid="14"/>
                                        </p:tgtEl>
                                        <p:attrNameLst>
                                          <p:attrName>ppt_w</p:attrName>
                                        </p:attrNameLst>
                                      </p:cBhvr>
                                      <p:tavLst>
                                        <p:tav tm="0">
                                          <p:val>
                                            <p:strVal val="2/3*#ppt_w"/>
                                          </p:val>
                                        </p:tav>
                                        <p:tav tm="100000">
                                          <p:val>
                                            <p:strVal val="#ppt_w"/>
                                          </p:val>
                                        </p:tav>
                                      </p:tavLst>
                                    </p:anim>
                                    <p:anim calcmode="lin" valueType="num">
                                      <p:cBhvr>
                                        <p:cTn id="14" dur="250" fill="hold"/>
                                        <p:tgtEl>
                                          <p:spTgt spid="14"/>
                                        </p:tgtEl>
                                        <p:attrNameLst>
                                          <p:attrName>ppt_h</p:attrName>
                                        </p:attrNameLst>
                                      </p:cBhvr>
                                      <p:tavLst>
                                        <p:tav tm="0">
                                          <p:val>
                                            <p:strVal val="2/3*#ppt_h"/>
                                          </p:val>
                                        </p:tav>
                                        <p:tav tm="100000">
                                          <p:val>
                                            <p:strVal val="#ppt_h"/>
                                          </p:val>
                                        </p:tav>
                                      </p:tavLst>
                                    </p:anim>
                                  </p:childTnLst>
                                </p:cTn>
                              </p:par>
                              <p:par>
                                <p:cTn id="15" presetID="10" presetClass="entr" presetSubtype="0" fill="hold" grpId="1" nodeType="withEffect">
                                  <p:stCondLst>
                                    <p:cond delay="25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6" presetClass="emph" presetSubtype="0" fill="hold" grpId="2" nodeType="withEffect">
                                  <p:stCondLst>
                                    <p:cond delay="250"/>
                                  </p:stCondLst>
                                  <p:childTnLst>
                                    <p:animScale>
                                      <p:cBhvr>
                                        <p:cTn id="19" dur="10" fill="hold"/>
                                        <p:tgtEl>
                                          <p:spTgt spid="14"/>
                                        </p:tgtEl>
                                      </p:cBhvr>
                                      <p:by x="80000" y="80000"/>
                                    </p:animScale>
                                  </p:childTnLst>
                                </p:cTn>
                              </p:par>
                              <p:par>
                                <p:cTn id="20" presetID="6" presetClass="emph" presetSubtype="0" decel="100000" fill="hold" grpId="3" nodeType="withEffect">
                                  <p:stCondLst>
                                    <p:cond delay="250"/>
                                  </p:stCondLst>
                                  <p:childTnLst>
                                    <p:animScale>
                                      <p:cBhvr>
                                        <p:cTn id="21" dur="1000" fill="hold"/>
                                        <p:tgtEl>
                                          <p:spTgt spid="14"/>
                                        </p:tgtEl>
                                      </p:cBhvr>
                                      <p:by x="125000" y="125000"/>
                                    </p:animScale>
                                  </p:childTnLst>
                                </p:cTn>
                              </p:par>
                              <p:par>
                                <p:cTn id="22" presetID="23" presetClass="entr" presetSubtype="272" fill="hold" nodeType="withEffect">
                                  <p:stCondLst>
                                    <p:cond delay="250"/>
                                  </p:stCondLst>
                                  <p:childTnLst>
                                    <p:set>
                                      <p:cBhvr>
                                        <p:cTn id="23" dur="1" fill="hold">
                                          <p:stCondLst>
                                            <p:cond delay="0"/>
                                          </p:stCondLst>
                                        </p:cTn>
                                        <p:tgtEl>
                                          <p:spTgt spid="18"/>
                                        </p:tgtEl>
                                        <p:attrNameLst>
                                          <p:attrName>style.visibility</p:attrName>
                                        </p:attrNameLst>
                                      </p:cBhvr>
                                      <p:to>
                                        <p:strVal val="visible"/>
                                      </p:to>
                                    </p:set>
                                    <p:anim calcmode="lin" valueType="num">
                                      <p:cBhvr>
                                        <p:cTn id="24" dur="250" fill="hold"/>
                                        <p:tgtEl>
                                          <p:spTgt spid="18"/>
                                        </p:tgtEl>
                                        <p:attrNameLst>
                                          <p:attrName>ppt_w</p:attrName>
                                        </p:attrNameLst>
                                      </p:cBhvr>
                                      <p:tavLst>
                                        <p:tav tm="0">
                                          <p:val>
                                            <p:strVal val="2/3*#ppt_w"/>
                                          </p:val>
                                        </p:tav>
                                        <p:tav tm="100000">
                                          <p:val>
                                            <p:strVal val="#ppt_w"/>
                                          </p:val>
                                        </p:tav>
                                      </p:tavLst>
                                    </p:anim>
                                    <p:anim calcmode="lin" valueType="num">
                                      <p:cBhvr>
                                        <p:cTn id="25" dur="250" fill="hold"/>
                                        <p:tgtEl>
                                          <p:spTgt spid="18"/>
                                        </p:tgtEl>
                                        <p:attrNameLst>
                                          <p:attrName>ppt_h</p:attrName>
                                        </p:attrNameLst>
                                      </p:cBhvr>
                                      <p:tavLst>
                                        <p:tav tm="0">
                                          <p:val>
                                            <p:strVal val="2/3*#ppt_h"/>
                                          </p:val>
                                        </p:tav>
                                        <p:tav tm="100000">
                                          <p:val>
                                            <p:strVal val="#ppt_h"/>
                                          </p:val>
                                        </p:tav>
                                      </p:tavLst>
                                    </p:anim>
                                  </p:childTnLst>
                                </p:cTn>
                              </p:par>
                              <p:par>
                                <p:cTn id="26" presetID="10" presetClass="entr" presetSubtype="0" fill="hold" nodeType="withEffect">
                                  <p:stCondLst>
                                    <p:cond delay="25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6" presetClass="emph" presetSubtype="0" fill="hold" nodeType="withEffect">
                                  <p:stCondLst>
                                    <p:cond delay="250"/>
                                  </p:stCondLst>
                                  <p:childTnLst>
                                    <p:animScale>
                                      <p:cBhvr>
                                        <p:cTn id="30" dur="10" fill="hold"/>
                                        <p:tgtEl>
                                          <p:spTgt spid="18"/>
                                        </p:tgtEl>
                                      </p:cBhvr>
                                      <p:by x="80000" y="80000"/>
                                    </p:animScale>
                                  </p:childTnLst>
                                </p:cTn>
                              </p:par>
                              <p:par>
                                <p:cTn id="31" presetID="6" presetClass="emph" presetSubtype="0" decel="100000" fill="hold" nodeType="withEffect">
                                  <p:stCondLst>
                                    <p:cond delay="250"/>
                                  </p:stCondLst>
                                  <p:childTnLst>
                                    <p:animScale>
                                      <p:cBhvr>
                                        <p:cTn id="32" dur="1000" fill="hold"/>
                                        <p:tgtEl>
                                          <p:spTgt spid="18"/>
                                        </p:tgtEl>
                                      </p:cBhvr>
                                      <p:by x="125000" y="125000"/>
                                    </p:animScale>
                                  </p:childTnLst>
                                </p:cTn>
                              </p:par>
                              <p:par>
                                <p:cTn id="33" presetID="10" presetClass="entr" presetSubtype="0" fill="hold" grpId="0" nodeType="withEffect">
                                  <p:stCondLst>
                                    <p:cond delay="25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childTnLst>
                                </p:cTn>
                              </p:par>
                              <p:par>
                                <p:cTn id="36" presetID="23" presetClass="entr" presetSubtype="272" fill="hold" nodeType="withEffect">
                                  <p:stCondLst>
                                    <p:cond delay="250"/>
                                  </p:stCondLst>
                                  <p:childTnLst>
                                    <p:set>
                                      <p:cBhvr>
                                        <p:cTn id="37" dur="1" fill="hold">
                                          <p:stCondLst>
                                            <p:cond delay="0"/>
                                          </p:stCondLst>
                                        </p:cTn>
                                        <p:tgtEl>
                                          <p:spTgt spid="15"/>
                                        </p:tgtEl>
                                        <p:attrNameLst>
                                          <p:attrName>style.visibility</p:attrName>
                                        </p:attrNameLst>
                                      </p:cBhvr>
                                      <p:to>
                                        <p:strVal val="visible"/>
                                      </p:to>
                                    </p:set>
                                    <p:anim calcmode="lin" valueType="num">
                                      <p:cBhvr>
                                        <p:cTn id="38" dur="250" fill="hold"/>
                                        <p:tgtEl>
                                          <p:spTgt spid="15"/>
                                        </p:tgtEl>
                                        <p:attrNameLst>
                                          <p:attrName>ppt_w</p:attrName>
                                        </p:attrNameLst>
                                      </p:cBhvr>
                                      <p:tavLst>
                                        <p:tav tm="0">
                                          <p:val>
                                            <p:strVal val="2/3*#ppt_w"/>
                                          </p:val>
                                        </p:tav>
                                        <p:tav tm="100000">
                                          <p:val>
                                            <p:strVal val="#ppt_w"/>
                                          </p:val>
                                        </p:tav>
                                      </p:tavLst>
                                    </p:anim>
                                    <p:anim calcmode="lin" valueType="num">
                                      <p:cBhvr>
                                        <p:cTn id="39" dur="250" fill="hold"/>
                                        <p:tgtEl>
                                          <p:spTgt spid="15"/>
                                        </p:tgtEl>
                                        <p:attrNameLst>
                                          <p:attrName>ppt_h</p:attrName>
                                        </p:attrNameLst>
                                      </p:cBhvr>
                                      <p:tavLst>
                                        <p:tav tm="0">
                                          <p:val>
                                            <p:strVal val="2/3*#ppt_h"/>
                                          </p:val>
                                        </p:tav>
                                        <p:tav tm="100000">
                                          <p:val>
                                            <p:strVal val="#ppt_h"/>
                                          </p:val>
                                        </p:tav>
                                      </p:tavLst>
                                    </p:anim>
                                  </p:childTnLst>
                                </p:cTn>
                              </p:par>
                              <p:par>
                                <p:cTn id="40" presetID="10" presetClass="entr" presetSubtype="0" fill="hold" nodeType="withEffect">
                                  <p:stCondLst>
                                    <p:cond delay="2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6" presetClass="emph" presetSubtype="0" fill="hold" nodeType="withEffect">
                                  <p:stCondLst>
                                    <p:cond delay="250"/>
                                  </p:stCondLst>
                                  <p:childTnLst>
                                    <p:animScale>
                                      <p:cBhvr>
                                        <p:cTn id="44" dur="10" fill="hold"/>
                                        <p:tgtEl>
                                          <p:spTgt spid="15"/>
                                        </p:tgtEl>
                                      </p:cBhvr>
                                      <p:by x="80000" y="80000"/>
                                    </p:animScale>
                                  </p:childTnLst>
                                </p:cTn>
                              </p:par>
                              <p:par>
                                <p:cTn id="45" presetID="6" presetClass="emph" presetSubtype="0" decel="100000" fill="hold" nodeType="withEffect">
                                  <p:stCondLst>
                                    <p:cond delay="250"/>
                                  </p:stCondLst>
                                  <p:childTnLst>
                                    <p:animScale>
                                      <p:cBhvr>
                                        <p:cTn id="46" dur="1000" fill="hold"/>
                                        <p:tgtEl>
                                          <p:spTgt spid="15"/>
                                        </p:tgtEl>
                                      </p:cBhvr>
                                      <p:by x="125000" y="125000"/>
                                    </p:animScale>
                                  </p:childTnLst>
                                </p:cTn>
                              </p:par>
                              <p:par>
                                <p:cTn id="47" presetID="23" presetClass="entr" presetSubtype="272" fill="hold" grpId="0" nodeType="withEffect">
                                  <p:stCondLst>
                                    <p:cond delay="500"/>
                                  </p:stCondLst>
                                  <p:childTnLst>
                                    <p:set>
                                      <p:cBhvr>
                                        <p:cTn id="48" dur="1" fill="hold">
                                          <p:stCondLst>
                                            <p:cond delay="0"/>
                                          </p:stCondLst>
                                        </p:cTn>
                                        <p:tgtEl>
                                          <p:spTgt spid="23"/>
                                        </p:tgtEl>
                                        <p:attrNameLst>
                                          <p:attrName>style.visibility</p:attrName>
                                        </p:attrNameLst>
                                      </p:cBhvr>
                                      <p:to>
                                        <p:strVal val="visible"/>
                                      </p:to>
                                    </p:set>
                                    <p:anim calcmode="lin" valueType="num">
                                      <p:cBhvr>
                                        <p:cTn id="49" dur="250" fill="hold"/>
                                        <p:tgtEl>
                                          <p:spTgt spid="23"/>
                                        </p:tgtEl>
                                        <p:attrNameLst>
                                          <p:attrName>ppt_w</p:attrName>
                                        </p:attrNameLst>
                                      </p:cBhvr>
                                      <p:tavLst>
                                        <p:tav tm="0">
                                          <p:val>
                                            <p:strVal val="2/3*#ppt_w"/>
                                          </p:val>
                                        </p:tav>
                                        <p:tav tm="100000">
                                          <p:val>
                                            <p:strVal val="#ppt_w"/>
                                          </p:val>
                                        </p:tav>
                                      </p:tavLst>
                                    </p:anim>
                                    <p:anim calcmode="lin" valueType="num">
                                      <p:cBhvr>
                                        <p:cTn id="50" dur="250" fill="hold"/>
                                        <p:tgtEl>
                                          <p:spTgt spid="23"/>
                                        </p:tgtEl>
                                        <p:attrNameLst>
                                          <p:attrName>ppt_h</p:attrName>
                                        </p:attrNameLst>
                                      </p:cBhvr>
                                      <p:tavLst>
                                        <p:tav tm="0">
                                          <p:val>
                                            <p:strVal val="2/3*#ppt_h"/>
                                          </p:val>
                                        </p:tav>
                                        <p:tav tm="100000">
                                          <p:val>
                                            <p:strVal val="#ppt_h"/>
                                          </p:val>
                                        </p:tav>
                                      </p:tavLst>
                                    </p:anim>
                                  </p:childTnLst>
                                </p:cTn>
                              </p:par>
                              <p:par>
                                <p:cTn id="51" presetID="10" presetClass="entr" presetSubtype="0" fill="hold" grpId="1" nodeType="withEffect">
                                  <p:stCondLst>
                                    <p:cond delay="50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par>
                                <p:cTn id="54" presetID="6" presetClass="emph" presetSubtype="0" fill="hold" grpId="2" nodeType="withEffect">
                                  <p:stCondLst>
                                    <p:cond delay="500"/>
                                  </p:stCondLst>
                                  <p:childTnLst>
                                    <p:animScale>
                                      <p:cBhvr>
                                        <p:cTn id="55" dur="10" fill="hold"/>
                                        <p:tgtEl>
                                          <p:spTgt spid="23"/>
                                        </p:tgtEl>
                                      </p:cBhvr>
                                      <p:by x="80000" y="80000"/>
                                    </p:animScale>
                                  </p:childTnLst>
                                </p:cTn>
                              </p:par>
                              <p:par>
                                <p:cTn id="56" presetID="6" presetClass="emph" presetSubtype="0" decel="100000" fill="hold" grpId="3" nodeType="withEffect">
                                  <p:stCondLst>
                                    <p:cond delay="500"/>
                                  </p:stCondLst>
                                  <p:childTnLst>
                                    <p:animScale>
                                      <p:cBhvr>
                                        <p:cTn id="57" dur="1000" fill="hold"/>
                                        <p:tgtEl>
                                          <p:spTgt spid="23"/>
                                        </p:tgtEl>
                                      </p:cBhvr>
                                      <p:by x="125000" y="125000"/>
                                    </p:animScale>
                                  </p:childTnLst>
                                </p:cTn>
                              </p:par>
                              <p:par>
                                <p:cTn id="58" presetID="23" presetClass="entr" presetSubtype="272" fill="hold" nodeType="withEffect">
                                  <p:stCondLst>
                                    <p:cond delay="650"/>
                                  </p:stCondLst>
                                  <p:childTnLst>
                                    <p:set>
                                      <p:cBhvr>
                                        <p:cTn id="59" dur="1" fill="hold">
                                          <p:stCondLst>
                                            <p:cond delay="0"/>
                                          </p:stCondLst>
                                        </p:cTn>
                                        <p:tgtEl>
                                          <p:spTgt spid="25"/>
                                        </p:tgtEl>
                                        <p:attrNameLst>
                                          <p:attrName>style.visibility</p:attrName>
                                        </p:attrNameLst>
                                      </p:cBhvr>
                                      <p:to>
                                        <p:strVal val="visible"/>
                                      </p:to>
                                    </p:set>
                                    <p:anim calcmode="lin" valueType="num">
                                      <p:cBhvr>
                                        <p:cTn id="60" dur="250" fill="hold"/>
                                        <p:tgtEl>
                                          <p:spTgt spid="25"/>
                                        </p:tgtEl>
                                        <p:attrNameLst>
                                          <p:attrName>ppt_w</p:attrName>
                                        </p:attrNameLst>
                                      </p:cBhvr>
                                      <p:tavLst>
                                        <p:tav tm="0">
                                          <p:val>
                                            <p:strVal val="2/3*#ppt_w"/>
                                          </p:val>
                                        </p:tav>
                                        <p:tav tm="100000">
                                          <p:val>
                                            <p:strVal val="#ppt_w"/>
                                          </p:val>
                                        </p:tav>
                                      </p:tavLst>
                                    </p:anim>
                                    <p:anim calcmode="lin" valueType="num">
                                      <p:cBhvr>
                                        <p:cTn id="61" dur="250" fill="hold"/>
                                        <p:tgtEl>
                                          <p:spTgt spid="25"/>
                                        </p:tgtEl>
                                        <p:attrNameLst>
                                          <p:attrName>ppt_h</p:attrName>
                                        </p:attrNameLst>
                                      </p:cBhvr>
                                      <p:tavLst>
                                        <p:tav tm="0">
                                          <p:val>
                                            <p:strVal val="2/3*#ppt_h"/>
                                          </p:val>
                                        </p:tav>
                                        <p:tav tm="100000">
                                          <p:val>
                                            <p:strVal val="#ppt_h"/>
                                          </p:val>
                                        </p:tav>
                                      </p:tavLst>
                                    </p:anim>
                                  </p:childTnLst>
                                </p:cTn>
                              </p:par>
                              <p:par>
                                <p:cTn id="62" presetID="10" presetClass="entr" presetSubtype="0" fill="hold" nodeType="withEffect">
                                  <p:stCondLst>
                                    <p:cond delay="65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6" presetClass="emph" presetSubtype="0" fill="hold" nodeType="withEffect">
                                  <p:stCondLst>
                                    <p:cond delay="650"/>
                                  </p:stCondLst>
                                  <p:childTnLst>
                                    <p:animScale>
                                      <p:cBhvr>
                                        <p:cTn id="66" dur="10" fill="hold"/>
                                        <p:tgtEl>
                                          <p:spTgt spid="25"/>
                                        </p:tgtEl>
                                      </p:cBhvr>
                                      <p:by x="80000" y="80000"/>
                                    </p:animScale>
                                  </p:childTnLst>
                                </p:cTn>
                              </p:par>
                              <p:par>
                                <p:cTn id="67" presetID="6" presetClass="emph" presetSubtype="0" decel="100000" fill="hold" nodeType="withEffect">
                                  <p:stCondLst>
                                    <p:cond delay="650"/>
                                  </p:stCondLst>
                                  <p:childTnLst>
                                    <p:animScale>
                                      <p:cBhvr>
                                        <p:cTn id="68" dur="1000" fill="hold"/>
                                        <p:tgtEl>
                                          <p:spTgt spid="25"/>
                                        </p:tgtEl>
                                      </p:cBhvr>
                                      <p:by x="125000" y="125000"/>
                                    </p:animScale>
                                  </p:childTnLst>
                                </p:cTn>
                              </p:par>
                              <p:par>
                                <p:cTn id="69" presetID="10" presetClass="entr" presetSubtype="0" fill="hold" grpId="0" nodeType="withEffect">
                                  <p:stCondLst>
                                    <p:cond delay="65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1000"/>
                                        <p:tgtEl>
                                          <p:spTgt spid="24"/>
                                        </p:tgtEl>
                                      </p:cBhvr>
                                    </p:animEffect>
                                  </p:childTnLst>
                                </p:cTn>
                              </p:par>
                              <p:par>
                                <p:cTn id="72" presetID="23" presetClass="entr" presetSubtype="272" fill="hold" nodeType="withEffect">
                                  <p:stCondLst>
                                    <p:cond delay="650"/>
                                  </p:stCondLst>
                                  <p:childTnLst>
                                    <p:set>
                                      <p:cBhvr>
                                        <p:cTn id="73" dur="1" fill="hold">
                                          <p:stCondLst>
                                            <p:cond delay="0"/>
                                          </p:stCondLst>
                                        </p:cTn>
                                        <p:tgtEl>
                                          <p:spTgt spid="31"/>
                                        </p:tgtEl>
                                        <p:attrNameLst>
                                          <p:attrName>style.visibility</p:attrName>
                                        </p:attrNameLst>
                                      </p:cBhvr>
                                      <p:to>
                                        <p:strVal val="visible"/>
                                      </p:to>
                                    </p:set>
                                    <p:anim calcmode="lin" valueType="num">
                                      <p:cBhvr>
                                        <p:cTn id="74" dur="250" fill="hold"/>
                                        <p:tgtEl>
                                          <p:spTgt spid="31"/>
                                        </p:tgtEl>
                                        <p:attrNameLst>
                                          <p:attrName>ppt_w</p:attrName>
                                        </p:attrNameLst>
                                      </p:cBhvr>
                                      <p:tavLst>
                                        <p:tav tm="0">
                                          <p:val>
                                            <p:strVal val="2/3*#ppt_w"/>
                                          </p:val>
                                        </p:tav>
                                        <p:tav tm="100000">
                                          <p:val>
                                            <p:strVal val="#ppt_w"/>
                                          </p:val>
                                        </p:tav>
                                      </p:tavLst>
                                    </p:anim>
                                    <p:anim calcmode="lin" valueType="num">
                                      <p:cBhvr>
                                        <p:cTn id="75" dur="250" fill="hold"/>
                                        <p:tgtEl>
                                          <p:spTgt spid="31"/>
                                        </p:tgtEl>
                                        <p:attrNameLst>
                                          <p:attrName>ppt_h</p:attrName>
                                        </p:attrNameLst>
                                      </p:cBhvr>
                                      <p:tavLst>
                                        <p:tav tm="0">
                                          <p:val>
                                            <p:strVal val="2/3*#ppt_h"/>
                                          </p:val>
                                        </p:tav>
                                        <p:tav tm="100000">
                                          <p:val>
                                            <p:strVal val="#ppt_h"/>
                                          </p:val>
                                        </p:tav>
                                      </p:tavLst>
                                    </p:anim>
                                  </p:childTnLst>
                                </p:cTn>
                              </p:par>
                              <p:par>
                                <p:cTn id="76" presetID="10" presetClass="entr" presetSubtype="0" fill="hold" nodeType="withEffect">
                                  <p:stCondLst>
                                    <p:cond delay="65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79" presetID="6" presetClass="emph" presetSubtype="0" fill="hold" nodeType="withEffect">
                                  <p:stCondLst>
                                    <p:cond delay="650"/>
                                  </p:stCondLst>
                                  <p:childTnLst>
                                    <p:animScale>
                                      <p:cBhvr>
                                        <p:cTn id="80" dur="10" fill="hold"/>
                                        <p:tgtEl>
                                          <p:spTgt spid="31"/>
                                        </p:tgtEl>
                                      </p:cBhvr>
                                      <p:by x="80000" y="80000"/>
                                    </p:animScale>
                                  </p:childTnLst>
                                </p:cTn>
                              </p:par>
                              <p:par>
                                <p:cTn id="81" presetID="6" presetClass="emph" presetSubtype="0" decel="100000" fill="hold" nodeType="withEffect">
                                  <p:stCondLst>
                                    <p:cond delay="650"/>
                                  </p:stCondLst>
                                  <p:childTnLst>
                                    <p:animScale>
                                      <p:cBhvr>
                                        <p:cTn id="82" dur="1000" fill="hold"/>
                                        <p:tgtEl>
                                          <p:spTgt spid="31"/>
                                        </p:tgtEl>
                                      </p:cBhvr>
                                      <p:by x="125000" y="125000"/>
                                    </p:animScale>
                                  </p:childTnLst>
                                </p:cTn>
                              </p:par>
                              <p:par>
                                <p:cTn id="83" presetID="23" presetClass="entr" presetSubtype="272" fill="hold" grpId="0" nodeType="withEffect">
                                  <p:stCondLst>
                                    <p:cond delay="900"/>
                                  </p:stCondLst>
                                  <p:childTnLst>
                                    <p:set>
                                      <p:cBhvr>
                                        <p:cTn id="84" dur="1" fill="hold">
                                          <p:stCondLst>
                                            <p:cond delay="0"/>
                                          </p:stCondLst>
                                        </p:cTn>
                                        <p:tgtEl>
                                          <p:spTgt spid="30"/>
                                        </p:tgtEl>
                                        <p:attrNameLst>
                                          <p:attrName>style.visibility</p:attrName>
                                        </p:attrNameLst>
                                      </p:cBhvr>
                                      <p:to>
                                        <p:strVal val="visible"/>
                                      </p:to>
                                    </p:set>
                                    <p:anim calcmode="lin" valueType="num">
                                      <p:cBhvr>
                                        <p:cTn id="85" dur="250" fill="hold"/>
                                        <p:tgtEl>
                                          <p:spTgt spid="30"/>
                                        </p:tgtEl>
                                        <p:attrNameLst>
                                          <p:attrName>ppt_w</p:attrName>
                                        </p:attrNameLst>
                                      </p:cBhvr>
                                      <p:tavLst>
                                        <p:tav tm="0">
                                          <p:val>
                                            <p:strVal val="2/3*#ppt_w"/>
                                          </p:val>
                                        </p:tav>
                                        <p:tav tm="100000">
                                          <p:val>
                                            <p:strVal val="#ppt_w"/>
                                          </p:val>
                                        </p:tav>
                                      </p:tavLst>
                                    </p:anim>
                                    <p:anim calcmode="lin" valueType="num">
                                      <p:cBhvr>
                                        <p:cTn id="86" dur="250" fill="hold"/>
                                        <p:tgtEl>
                                          <p:spTgt spid="30"/>
                                        </p:tgtEl>
                                        <p:attrNameLst>
                                          <p:attrName>ppt_h</p:attrName>
                                        </p:attrNameLst>
                                      </p:cBhvr>
                                      <p:tavLst>
                                        <p:tav tm="0">
                                          <p:val>
                                            <p:strVal val="2/3*#ppt_h"/>
                                          </p:val>
                                        </p:tav>
                                        <p:tav tm="100000">
                                          <p:val>
                                            <p:strVal val="#ppt_h"/>
                                          </p:val>
                                        </p:tav>
                                      </p:tavLst>
                                    </p:anim>
                                  </p:childTnLst>
                                </p:cTn>
                              </p:par>
                              <p:par>
                                <p:cTn id="87" presetID="10" presetClass="entr" presetSubtype="0" fill="hold" grpId="1" nodeType="withEffect">
                                  <p:stCondLst>
                                    <p:cond delay="90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6" presetClass="emph" presetSubtype="0" fill="hold" grpId="2" nodeType="withEffect">
                                  <p:stCondLst>
                                    <p:cond delay="900"/>
                                  </p:stCondLst>
                                  <p:childTnLst>
                                    <p:animScale>
                                      <p:cBhvr>
                                        <p:cTn id="91" dur="10" fill="hold"/>
                                        <p:tgtEl>
                                          <p:spTgt spid="30"/>
                                        </p:tgtEl>
                                      </p:cBhvr>
                                      <p:by x="80000" y="80000"/>
                                    </p:animScale>
                                  </p:childTnLst>
                                </p:cTn>
                              </p:par>
                              <p:par>
                                <p:cTn id="92" presetID="6" presetClass="emph" presetSubtype="0" decel="100000" fill="hold" grpId="3" nodeType="withEffect">
                                  <p:stCondLst>
                                    <p:cond delay="900"/>
                                  </p:stCondLst>
                                  <p:childTnLst>
                                    <p:animScale>
                                      <p:cBhvr>
                                        <p:cTn id="93" dur="1000" fill="hold"/>
                                        <p:tgtEl>
                                          <p:spTgt spid="30"/>
                                        </p:tgtEl>
                                      </p:cBhvr>
                                      <p:by x="125000" y="125000"/>
                                    </p:animScale>
                                  </p:childTnLst>
                                </p:cTn>
                              </p:par>
                              <p:par>
                                <p:cTn id="94" presetID="23" presetClass="entr" presetSubtype="272" fill="hold" nodeType="withEffect">
                                  <p:stCondLst>
                                    <p:cond delay="1050"/>
                                  </p:stCondLst>
                                  <p:childTnLst>
                                    <p:set>
                                      <p:cBhvr>
                                        <p:cTn id="95" dur="1" fill="hold">
                                          <p:stCondLst>
                                            <p:cond delay="0"/>
                                          </p:stCondLst>
                                        </p:cTn>
                                        <p:tgtEl>
                                          <p:spTgt spid="35"/>
                                        </p:tgtEl>
                                        <p:attrNameLst>
                                          <p:attrName>style.visibility</p:attrName>
                                        </p:attrNameLst>
                                      </p:cBhvr>
                                      <p:to>
                                        <p:strVal val="visible"/>
                                      </p:to>
                                    </p:set>
                                    <p:anim calcmode="lin" valueType="num">
                                      <p:cBhvr>
                                        <p:cTn id="96" dur="250" fill="hold"/>
                                        <p:tgtEl>
                                          <p:spTgt spid="35"/>
                                        </p:tgtEl>
                                        <p:attrNameLst>
                                          <p:attrName>ppt_w</p:attrName>
                                        </p:attrNameLst>
                                      </p:cBhvr>
                                      <p:tavLst>
                                        <p:tav tm="0">
                                          <p:val>
                                            <p:strVal val="2/3*#ppt_w"/>
                                          </p:val>
                                        </p:tav>
                                        <p:tav tm="100000">
                                          <p:val>
                                            <p:strVal val="#ppt_w"/>
                                          </p:val>
                                        </p:tav>
                                      </p:tavLst>
                                    </p:anim>
                                    <p:anim calcmode="lin" valueType="num">
                                      <p:cBhvr>
                                        <p:cTn id="97" dur="250" fill="hold"/>
                                        <p:tgtEl>
                                          <p:spTgt spid="35"/>
                                        </p:tgtEl>
                                        <p:attrNameLst>
                                          <p:attrName>ppt_h</p:attrName>
                                        </p:attrNameLst>
                                      </p:cBhvr>
                                      <p:tavLst>
                                        <p:tav tm="0">
                                          <p:val>
                                            <p:strVal val="2/3*#ppt_h"/>
                                          </p:val>
                                        </p:tav>
                                        <p:tav tm="100000">
                                          <p:val>
                                            <p:strVal val="#ppt_h"/>
                                          </p:val>
                                        </p:tav>
                                      </p:tavLst>
                                    </p:anim>
                                  </p:childTnLst>
                                </p:cTn>
                              </p:par>
                              <p:par>
                                <p:cTn id="98" presetID="10" presetClass="entr" presetSubtype="0" fill="hold" nodeType="withEffect">
                                  <p:stCondLst>
                                    <p:cond delay="105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500"/>
                                        <p:tgtEl>
                                          <p:spTgt spid="35"/>
                                        </p:tgtEl>
                                      </p:cBhvr>
                                    </p:animEffect>
                                  </p:childTnLst>
                                </p:cTn>
                              </p:par>
                              <p:par>
                                <p:cTn id="101" presetID="6" presetClass="emph" presetSubtype="0" fill="hold" nodeType="withEffect">
                                  <p:stCondLst>
                                    <p:cond delay="1050"/>
                                  </p:stCondLst>
                                  <p:childTnLst>
                                    <p:animScale>
                                      <p:cBhvr>
                                        <p:cTn id="102" dur="10" fill="hold"/>
                                        <p:tgtEl>
                                          <p:spTgt spid="35"/>
                                        </p:tgtEl>
                                      </p:cBhvr>
                                      <p:by x="80000" y="80000"/>
                                    </p:animScale>
                                  </p:childTnLst>
                                </p:cTn>
                              </p:par>
                              <p:par>
                                <p:cTn id="103" presetID="6" presetClass="emph" presetSubtype="0" decel="100000" fill="hold" nodeType="withEffect">
                                  <p:stCondLst>
                                    <p:cond delay="1050"/>
                                  </p:stCondLst>
                                  <p:childTnLst>
                                    <p:animScale>
                                      <p:cBhvr>
                                        <p:cTn id="104" dur="1000" fill="hold"/>
                                        <p:tgtEl>
                                          <p:spTgt spid="35"/>
                                        </p:tgtEl>
                                      </p:cBhvr>
                                      <p:by x="125000" y="125000"/>
                                    </p:animScale>
                                  </p:childTnLst>
                                </p:cTn>
                              </p:par>
                              <p:par>
                                <p:cTn id="105" presetID="10" presetClass="entr" presetSubtype="0" fill="hold" grpId="0" nodeType="withEffect">
                                  <p:stCondLst>
                                    <p:cond delay="105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1000"/>
                                        <p:tgtEl>
                                          <p:spTgt spid="34"/>
                                        </p:tgtEl>
                                      </p:cBhvr>
                                    </p:animEffect>
                                  </p:childTnLst>
                                </p:cTn>
                              </p:par>
                              <p:par>
                                <p:cTn id="108" presetID="23" presetClass="entr" presetSubtype="272" fill="hold" nodeType="withEffect">
                                  <p:stCondLst>
                                    <p:cond delay="1050"/>
                                  </p:stCondLst>
                                  <p:childTnLst>
                                    <p:set>
                                      <p:cBhvr>
                                        <p:cTn id="109" dur="1" fill="hold">
                                          <p:stCondLst>
                                            <p:cond delay="0"/>
                                          </p:stCondLst>
                                        </p:cTn>
                                        <p:tgtEl>
                                          <p:spTgt spid="41"/>
                                        </p:tgtEl>
                                        <p:attrNameLst>
                                          <p:attrName>style.visibility</p:attrName>
                                        </p:attrNameLst>
                                      </p:cBhvr>
                                      <p:to>
                                        <p:strVal val="visible"/>
                                      </p:to>
                                    </p:set>
                                    <p:anim calcmode="lin" valueType="num">
                                      <p:cBhvr>
                                        <p:cTn id="110" dur="250" fill="hold"/>
                                        <p:tgtEl>
                                          <p:spTgt spid="41"/>
                                        </p:tgtEl>
                                        <p:attrNameLst>
                                          <p:attrName>ppt_w</p:attrName>
                                        </p:attrNameLst>
                                      </p:cBhvr>
                                      <p:tavLst>
                                        <p:tav tm="0">
                                          <p:val>
                                            <p:strVal val="2/3*#ppt_w"/>
                                          </p:val>
                                        </p:tav>
                                        <p:tav tm="100000">
                                          <p:val>
                                            <p:strVal val="#ppt_w"/>
                                          </p:val>
                                        </p:tav>
                                      </p:tavLst>
                                    </p:anim>
                                    <p:anim calcmode="lin" valueType="num">
                                      <p:cBhvr>
                                        <p:cTn id="111" dur="250" fill="hold"/>
                                        <p:tgtEl>
                                          <p:spTgt spid="41"/>
                                        </p:tgtEl>
                                        <p:attrNameLst>
                                          <p:attrName>ppt_h</p:attrName>
                                        </p:attrNameLst>
                                      </p:cBhvr>
                                      <p:tavLst>
                                        <p:tav tm="0">
                                          <p:val>
                                            <p:strVal val="2/3*#ppt_h"/>
                                          </p:val>
                                        </p:tav>
                                        <p:tav tm="100000">
                                          <p:val>
                                            <p:strVal val="#ppt_h"/>
                                          </p:val>
                                        </p:tav>
                                      </p:tavLst>
                                    </p:anim>
                                  </p:childTnLst>
                                </p:cTn>
                              </p:par>
                              <p:par>
                                <p:cTn id="112" presetID="10" presetClass="entr" presetSubtype="0" fill="hold" nodeType="withEffect">
                                  <p:stCondLst>
                                    <p:cond delay="105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500"/>
                                        <p:tgtEl>
                                          <p:spTgt spid="41"/>
                                        </p:tgtEl>
                                      </p:cBhvr>
                                    </p:animEffect>
                                  </p:childTnLst>
                                </p:cTn>
                              </p:par>
                              <p:par>
                                <p:cTn id="115" presetID="6" presetClass="emph" presetSubtype="0" fill="hold" nodeType="withEffect">
                                  <p:stCondLst>
                                    <p:cond delay="1050"/>
                                  </p:stCondLst>
                                  <p:childTnLst>
                                    <p:animScale>
                                      <p:cBhvr>
                                        <p:cTn id="116" dur="10" fill="hold"/>
                                        <p:tgtEl>
                                          <p:spTgt spid="41"/>
                                        </p:tgtEl>
                                      </p:cBhvr>
                                      <p:by x="80000" y="80000"/>
                                    </p:animScale>
                                  </p:childTnLst>
                                </p:cTn>
                              </p:par>
                              <p:par>
                                <p:cTn id="117" presetID="6" presetClass="emph" presetSubtype="0" decel="100000" fill="hold" nodeType="withEffect">
                                  <p:stCondLst>
                                    <p:cond delay="1050"/>
                                  </p:stCondLst>
                                  <p:childTnLst>
                                    <p:animScale>
                                      <p:cBhvr>
                                        <p:cTn id="118" dur="1000" fill="hold"/>
                                        <p:tgtEl>
                                          <p:spTgt spid="41"/>
                                        </p:tgtEl>
                                      </p:cBhvr>
                                      <p:by x="125000" y="125000"/>
                                    </p:animScale>
                                  </p:childTnLst>
                                </p:cTn>
                              </p:par>
                              <p:par>
                                <p:cTn id="119" presetID="23" presetClass="entr" presetSubtype="272" fill="hold" grpId="0" nodeType="withEffect">
                                  <p:stCondLst>
                                    <p:cond delay="1300"/>
                                  </p:stCondLst>
                                  <p:childTnLst>
                                    <p:set>
                                      <p:cBhvr>
                                        <p:cTn id="120" dur="1" fill="hold">
                                          <p:stCondLst>
                                            <p:cond delay="0"/>
                                          </p:stCondLst>
                                        </p:cTn>
                                        <p:tgtEl>
                                          <p:spTgt spid="40"/>
                                        </p:tgtEl>
                                        <p:attrNameLst>
                                          <p:attrName>style.visibility</p:attrName>
                                        </p:attrNameLst>
                                      </p:cBhvr>
                                      <p:to>
                                        <p:strVal val="visible"/>
                                      </p:to>
                                    </p:set>
                                    <p:anim calcmode="lin" valueType="num">
                                      <p:cBhvr>
                                        <p:cTn id="121" dur="250" fill="hold"/>
                                        <p:tgtEl>
                                          <p:spTgt spid="40"/>
                                        </p:tgtEl>
                                        <p:attrNameLst>
                                          <p:attrName>ppt_w</p:attrName>
                                        </p:attrNameLst>
                                      </p:cBhvr>
                                      <p:tavLst>
                                        <p:tav tm="0">
                                          <p:val>
                                            <p:strVal val="2/3*#ppt_w"/>
                                          </p:val>
                                        </p:tav>
                                        <p:tav tm="100000">
                                          <p:val>
                                            <p:strVal val="#ppt_w"/>
                                          </p:val>
                                        </p:tav>
                                      </p:tavLst>
                                    </p:anim>
                                    <p:anim calcmode="lin" valueType="num">
                                      <p:cBhvr>
                                        <p:cTn id="122" dur="250" fill="hold"/>
                                        <p:tgtEl>
                                          <p:spTgt spid="40"/>
                                        </p:tgtEl>
                                        <p:attrNameLst>
                                          <p:attrName>ppt_h</p:attrName>
                                        </p:attrNameLst>
                                      </p:cBhvr>
                                      <p:tavLst>
                                        <p:tav tm="0">
                                          <p:val>
                                            <p:strVal val="2/3*#ppt_h"/>
                                          </p:val>
                                        </p:tav>
                                        <p:tav tm="100000">
                                          <p:val>
                                            <p:strVal val="#ppt_h"/>
                                          </p:val>
                                        </p:tav>
                                      </p:tavLst>
                                    </p:anim>
                                  </p:childTnLst>
                                </p:cTn>
                              </p:par>
                              <p:par>
                                <p:cTn id="123" presetID="10" presetClass="entr" presetSubtype="0" fill="hold" grpId="1" nodeType="withEffect">
                                  <p:stCondLst>
                                    <p:cond delay="1300"/>
                                  </p:stCondLst>
                                  <p:childTnLst>
                                    <p:set>
                                      <p:cBhvr>
                                        <p:cTn id="124" dur="1" fill="hold">
                                          <p:stCondLst>
                                            <p:cond delay="0"/>
                                          </p:stCondLst>
                                        </p:cTn>
                                        <p:tgtEl>
                                          <p:spTgt spid="40"/>
                                        </p:tgtEl>
                                        <p:attrNameLst>
                                          <p:attrName>style.visibility</p:attrName>
                                        </p:attrNameLst>
                                      </p:cBhvr>
                                      <p:to>
                                        <p:strVal val="visible"/>
                                      </p:to>
                                    </p:set>
                                    <p:animEffect transition="in" filter="fade">
                                      <p:cBhvr>
                                        <p:cTn id="125" dur="500"/>
                                        <p:tgtEl>
                                          <p:spTgt spid="40"/>
                                        </p:tgtEl>
                                      </p:cBhvr>
                                    </p:animEffect>
                                  </p:childTnLst>
                                </p:cTn>
                              </p:par>
                              <p:par>
                                <p:cTn id="126" presetID="6" presetClass="emph" presetSubtype="0" fill="hold" grpId="2" nodeType="withEffect">
                                  <p:stCondLst>
                                    <p:cond delay="1300"/>
                                  </p:stCondLst>
                                  <p:childTnLst>
                                    <p:animScale>
                                      <p:cBhvr>
                                        <p:cTn id="127" dur="10" fill="hold"/>
                                        <p:tgtEl>
                                          <p:spTgt spid="40"/>
                                        </p:tgtEl>
                                      </p:cBhvr>
                                      <p:by x="80000" y="80000"/>
                                    </p:animScale>
                                  </p:childTnLst>
                                </p:cTn>
                              </p:par>
                              <p:par>
                                <p:cTn id="128" presetID="6" presetClass="emph" presetSubtype="0" decel="100000" fill="hold" grpId="3" nodeType="withEffect">
                                  <p:stCondLst>
                                    <p:cond delay="1300"/>
                                  </p:stCondLst>
                                  <p:childTnLst>
                                    <p:animScale>
                                      <p:cBhvr>
                                        <p:cTn id="129" dur="1000" fill="hold"/>
                                        <p:tgtEl>
                                          <p:spTgt spid="40"/>
                                        </p:tgtEl>
                                      </p:cBhvr>
                                      <p:by x="125000" y="125000"/>
                                    </p:animScale>
                                  </p:childTnLst>
                                </p:cTn>
                              </p:par>
                              <p:par>
                                <p:cTn id="130" presetID="23" presetClass="entr" presetSubtype="272" fill="hold" nodeType="withEffect">
                                  <p:stCondLst>
                                    <p:cond delay="1300"/>
                                  </p:stCondLst>
                                  <p:childTnLst>
                                    <p:set>
                                      <p:cBhvr>
                                        <p:cTn id="131" dur="1" fill="hold">
                                          <p:stCondLst>
                                            <p:cond delay="0"/>
                                          </p:stCondLst>
                                        </p:cTn>
                                        <p:tgtEl>
                                          <p:spTgt spid="82"/>
                                        </p:tgtEl>
                                        <p:attrNameLst>
                                          <p:attrName>style.visibility</p:attrName>
                                        </p:attrNameLst>
                                      </p:cBhvr>
                                      <p:to>
                                        <p:strVal val="visible"/>
                                      </p:to>
                                    </p:set>
                                    <p:anim calcmode="lin" valueType="num">
                                      <p:cBhvr>
                                        <p:cTn id="132" dur="250" fill="hold"/>
                                        <p:tgtEl>
                                          <p:spTgt spid="82"/>
                                        </p:tgtEl>
                                        <p:attrNameLst>
                                          <p:attrName>ppt_w</p:attrName>
                                        </p:attrNameLst>
                                      </p:cBhvr>
                                      <p:tavLst>
                                        <p:tav tm="0">
                                          <p:val>
                                            <p:strVal val="2/3*#ppt_w"/>
                                          </p:val>
                                        </p:tav>
                                        <p:tav tm="100000">
                                          <p:val>
                                            <p:strVal val="#ppt_w"/>
                                          </p:val>
                                        </p:tav>
                                      </p:tavLst>
                                    </p:anim>
                                    <p:anim calcmode="lin" valueType="num">
                                      <p:cBhvr>
                                        <p:cTn id="133" dur="250" fill="hold"/>
                                        <p:tgtEl>
                                          <p:spTgt spid="82"/>
                                        </p:tgtEl>
                                        <p:attrNameLst>
                                          <p:attrName>ppt_h</p:attrName>
                                        </p:attrNameLst>
                                      </p:cBhvr>
                                      <p:tavLst>
                                        <p:tav tm="0">
                                          <p:val>
                                            <p:strVal val="2/3*#ppt_h"/>
                                          </p:val>
                                        </p:tav>
                                        <p:tav tm="100000">
                                          <p:val>
                                            <p:strVal val="#ppt_h"/>
                                          </p:val>
                                        </p:tav>
                                      </p:tavLst>
                                    </p:anim>
                                  </p:childTnLst>
                                </p:cTn>
                              </p:par>
                              <p:par>
                                <p:cTn id="134" presetID="10" presetClass="entr" presetSubtype="0" fill="hold" nodeType="withEffect">
                                  <p:stCondLst>
                                    <p:cond delay="1300"/>
                                  </p:stCondLst>
                                  <p:childTnLst>
                                    <p:set>
                                      <p:cBhvr>
                                        <p:cTn id="135" dur="1" fill="hold">
                                          <p:stCondLst>
                                            <p:cond delay="0"/>
                                          </p:stCondLst>
                                        </p:cTn>
                                        <p:tgtEl>
                                          <p:spTgt spid="82"/>
                                        </p:tgtEl>
                                        <p:attrNameLst>
                                          <p:attrName>style.visibility</p:attrName>
                                        </p:attrNameLst>
                                      </p:cBhvr>
                                      <p:to>
                                        <p:strVal val="visible"/>
                                      </p:to>
                                    </p:set>
                                    <p:animEffect transition="in" filter="fade">
                                      <p:cBhvr>
                                        <p:cTn id="136" dur="500"/>
                                        <p:tgtEl>
                                          <p:spTgt spid="82"/>
                                        </p:tgtEl>
                                      </p:cBhvr>
                                    </p:animEffect>
                                  </p:childTnLst>
                                </p:cTn>
                              </p:par>
                              <p:par>
                                <p:cTn id="137" presetID="6" presetClass="emph" presetSubtype="0" fill="hold" nodeType="withEffect">
                                  <p:stCondLst>
                                    <p:cond delay="1300"/>
                                  </p:stCondLst>
                                  <p:childTnLst>
                                    <p:animScale>
                                      <p:cBhvr>
                                        <p:cTn id="138" dur="10" fill="hold"/>
                                        <p:tgtEl>
                                          <p:spTgt spid="82"/>
                                        </p:tgtEl>
                                      </p:cBhvr>
                                      <p:by x="80000" y="80000"/>
                                    </p:animScale>
                                  </p:childTnLst>
                                </p:cTn>
                              </p:par>
                              <p:par>
                                <p:cTn id="139" presetID="6" presetClass="emph" presetSubtype="0" decel="100000" fill="hold" nodeType="withEffect">
                                  <p:stCondLst>
                                    <p:cond delay="1300"/>
                                  </p:stCondLst>
                                  <p:childTnLst>
                                    <p:animScale>
                                      <p:cBhvr>
                                        <p:cTn id="140" dur="1000" fill="hold"/>
                                        <p:tgtEl>
                                          <p:spTgt spid="82"/>
                                        </p:tgtEl>
                                      </p:cBhvr>
                                      <p:by x="125000" y="125000"/>
                                    </p:animScale>
                                  </p:childTnLst>
                                </p:cTn>
                              </p:par>
                              <p:par>
                                <p:cTn id="141" presetID="23" presetClass="entr" presetSubtype="272" fill="hold" nodeType="withEffect">
                                  <p:stCondLst>
                                    <p:cond delay="250"/>
                                  </p:stCondLst>
                                  <p:childTnLst>
                                    <p:set>
                                      <p:cBhvr>
                                        <p:cTn id="142" dur="1" fill="hold">
                                          <p:stCondLst>
                                            <p:cond delay="0"/>
                                          </p:stCondLst>
                                        </p:cTn>
                                        <p:tgtEl>
                                          <p:spTgt spid="9"/>
                                        </p:tgtEl>
                                        <p:attrNameLst>
                                          <p:attrName>style.visibility</p:attrName>
                                        </p:attrNameLst>
                                      </p:cBhvr>
                                      <p:to>
                                        <p:strVal val="visible"/>
                                      </p:to>
                                    </p:set>
                                    <p:anim calcmode="lin" valueType="num">
                                      <p:cBhvr>
                                        <p:cTn id="143" dur="250" fill="hold"/>
                                        <p:tgtEl>
                                          <p:spTgt spid="9"/>
                                        </p:tgtEl>
                                        <p:attrNameLst>
                                          <p:attrName>ppt_w</p:attrName>
                                        </p:attrNameLst>
                                      </p:cBhvr>
                                      <p:tavLst>
                                        <p:tav tm="0">
                                          <p:val>
                                            <p:strVal val="2/3*#ppt_w"/>
                                          </p:val>
                                        </p:tav>
                                        <p:tav tm="100000">
                                          <p:val>
                                            <p:strVal val="#ppt_w"/>
                                          </p:val>
                                        </p:tav>
                                      </p:tavLst>
                                    </p:anim>
                                    <p:anim calcmode="lin" valueType="num">
                                      <p:cBhvr>
                                        <p:cTn id="144" dur="250" fill="hold"/>
                                        <p:tgtEl>
                                          <p:spTgt spid="9"/>
                                        </p:tgtEl>
                                        <p:attrNameLst>
                                          <p:attrName>ppt_h</p:attrName>
                                        </p:attrNameLst>
                                      </p:cBhvr>
                                      <p:tavLst>
                                        <p:tav tm="0">
                                          <p:val>
                                            <p:strVal val="2/3*#ppt_h"/>
                                          </p:val>
                                        </p:tav>
                                        <p:tav tm="100000">
                                          <p:val>
                                            <p:strVal val="#ppt_h"/>
                                          </p:val>
                                        </p:tav>
                                      </p:tavLst>
                                    </p:anim>
                                  </p:childTnLst>
                                </p:cTn>
                              </p:par>
                              <p:par>
                                <p:cTn id="145" presetID="10" presetClass="entr" presetSubtype="0" fill="hold" nodeType="withEffect">
                                  <p:stCondLst>
                                    <p:cond delay="250"/>
                                  </p:stCondLst>
                                  <p:childTnLst>
                                    <p:set>
                                      <p:cBhvr>
                                        <p:cTn id="146" dur="1" fill="hold">
                                          <p:stCondLst>
                                            <p:cond delay="0"/>
                                          </p:stCondLst>
                                        </p:cTn>
                                        <p:tgtEl>
                                          <p:spTgt spid="9"/>
                                        </p:tgtEl>
                                        <p:attrNameLst>
                                          <p:attrName>style.visibility</p:attrName>
                                        </p:attrNameLst>
                                      </p:cBhvr>
                                      <p:to>
                                        <p:strVal val="visible"/>
                                      </p:to>
                                    </p:set>
                                    <p:animEffect transition="in" filter="fade">
                                      <p:cBhvr>
                                        <p:cTn id="147" dur="500"/>
                                        <p:tgtEl>
                                          <p:spTgt spid="9"/>
                                        </p:tgtEl>
                                      </p:cBhvr>
                                    </p:animEffect>
                                  </p:childTnLst>
                                </p:cTn>
                              </p:par>
                              <p:par>
                                <p:cTn id="148" presetID="6" presetClass="emph" presetSubtype="0" fill="hold" nodeType="withEffect">
                                  <p:stCondLst>
                                    <p:cond delay="250"/>
                                  </p:stCondLst>
                                  <p:childTnLst>
                                    <p:animScale>
                                      <p:cBhvr>
                                        <p:cTn id="149" dur="10" fill="hold"/>
                                        <p:tgtEl>
                                          <p:spTgt spid="9"/>
                                        </p:tgtEl>
                                      </p:cBhvr>
                                      <p:by x="80000" y="80000"/>
                                    </p:animScale>
                                  </p:childTnLst>
                                </p:cTn>
                              </p:par>
                              <p:par>
                                <p:cTn id="150" presetID="6" presetClass="emph" presetSubtype="0" decel="100000" fill="hold" nodeType="withEffect">
                                  <p:stCondLst>
                                    <p:cond delay="250"/>
                                  </p:stCondLst>
                                  <p:childTnLst>
                                    <p:animScale>
                                      <p:cBhvr>
                                        <p:cTn id="151" dur="1000" fill="hold"/>
                                        <p:tgtEl>
                                          <p:spTgt spid="9"/>
                                        </p:tgtEl>
                                      </p:cBhvr>
                                      <p:by x="125000" y="125000"/>
                                    </p:animScale>
                                  </p:childTnLst>
                                </p:cTn>
                              </p:par>
                              <p:par>
                                <p:cTn id="152" presetID="23" presetClass="entr" presetSubtype="272" fill="hold" nodeType="withEffect">
                                  <p:stCondLst>
                                    <p:cond delay="250"/>
                                  </p:stCondLst>
                                  <p:childTnLst>
                                    <p:set>
                                      <p:cBhvr>
                                        <p:cTn id="153" dur="1" fill="hold">
                                          <p:stCondLst>
                                            <p:cond delay="0"/>
                                          </p:stCondLst>
                                        </p:cTn>
                                        <p:tgtEl>
                                          <p:spTgt spid="58"/>
                                        </p:tgtEl>
                                        <p:attrNameLst>
                                          <p:attrName>style.visibility</p:attrName>
                                        </p:attrNameLst>
                                      </p:cBhvr>
                                      <p:to>
                                        <p:strVal val="visible"/>
                                      </p:to>
                                    </p:set>
                                    <p:anim calcmode="lin" valueType="num">
                                      <p:cBhvr>
                                        <p:cTn id="154" dur="250" fill="hold"/>
                                        <p:tgtEl>
                                          <p:spTgt spid="58"/>
                                        </p:tgtEl>
                                        <p:attrNameLst>
                                          <p:attrName>ppt_w</p:attrName>
                                        </p:attrNameLst>
                                      </p:cBhvr>
                                      <p:tavLst>
                                        <p:tav tm="0">
                                          <p:val>
                                            <p:strVal val="2/3*#ppt_w"/>
                                          </p:val>
                                        </p:tav>
                                        <p:tav tm="100000">
                                          <p:val>
                                            <p:strVal val="#ppt_w"/>
                                          </p:val>
                                        </p:tav>
                                      </p:tavLst>
                                    </p:anim>
                                    <p:anim calcmode="lin" valueType="num">
                                      <p:cBhvr>
                                        <p:cTn id="155" dur="250" fill="hold"/>
                                        <p:tgtEl>
                                          <p:spTgt spid="58"/>
                                        </p:tgtEl>
                                        <p:attrNameLst>
                                          <p:attrName>ppt_h</p:attrName>
                                        </p:attrNameLst>
                                      </p:cBhvr>
                                      <p:tavLst>
                                        <p:tav tm="0">
                                          <p:val>
                                            <p:strVal val="2/3*#ppt_h"/>
                                          </p:val>
                                        </p:tav>
                                        <p:tav tm="100000">
                                          <p:val>
                                            <p:strVal val="#ppt_h"/>
                                          </p:val>
                                        </p:tav>
                                      </p:tavLst>
                                    </p:anim>
                                  </p:childTnLst>
                                </p:cTn>
                              </p:par>
                              <p:par>
                                <p:cTn id="156" presetID="10" presetClass="entr" presetSubtype="0" fill="hold" nodeType="withEffect">
                                  <p:stCondLst>
                                    <p:cond delay="250"/>
                                  </p:stCondLst>
                                  <p:childTnLst>
                                    <p:set>
                                      <p:cBhvr>
                                        <p:cTn id="157" dur="1" fill="hold">
                                          <p:stCondLst>
                                            <p:cond delay="0"/>
                                          </p:stCondLst>
                                        </p:cTn>
                                        <p:tgtEl>
                                          <p:spTgt spid="58"/>
                                        </p:tgtEl>
                                        <p:attrNameLst>
                                          <p:attrName>style.visibility</p:attrName>
                                        </p:attrNameLst>
                                      </p:cBhvr>
                                      <p:to>
                                        <p:strVal val="visible"/>
                                      </p:to>
                                    </p:set>
                                    <p:animEffect transition="in" filter="fade">
                                      <p:cBhvr>
                                        <p:cTn id="158" dur="500"/>
                                        <p:tgtEl>
                                          <p:spTgt spid="58"/>
                                        </p:tgtEl>
                                      </p:cBhvr>
                                    </p:animEffect>
                                  </p:childTnLst>
                                </p:cTn>
                              </p:par>
                              <p:par>
                                <p:cTn id="159" presetID="6" presetClass="emph" presetSubtype="0" fill="hold" nodeType="withEffect">
                                  <p:stCondLst>
                                    <p:cond delay="250"/>
                                  </p:stCondLst>
                                  <p:childTnLst>
                                    <p:animScale>
                                      <p:cBhvr>
                                        <p:cTn id="160" dur="10" fill="hold"/>
                                        <p:tgtEl>
                                          <p:spTgt spid="58"/>
                                        </p:tgtEl>
                                      </p:cBhvr>
                                      <p:by x="80000" y="80000"/>
                                    </p:animScale>
                                  </p:childTnLst>
                                </p:cTn>
                              </p:par>
                              <p:par>
                                <p:cTn id="161" presetID="6" presetClass="emph" presetSubtype="0" decel="100000" fill="hold" nodeType="withEffect">
                                  <p:stCondLst>
                                    <p:cond delay="250"/>
                                  </p:stCondLst>
                                  <p:childTnLst>
                                    <p:animScale>
                                      <p:cBhvr>
                                        <p:cTn id="162" dur="1000" fill="hold"/>
                                        <p:tgtEl>
                                          <p:spTgt spid="58"/>
                                        </p:tgtEl>
                                      </p:cBhvr>
                                      <p:by x="125000" y="125000"/>
                                    </p:animScale>
                                  </p:childTnLst>
                                </p:cTn>
                              </p:par>
                              <p:par>
                                <p:cTn id="163" presetID="23" presetClass="entr" presetSubtype="272" fill="hold" nodeType="withEffect">
                                  <p:stCondLst>
                                    <p:cond delay="500"/>
                                  </p:stCondLst>
                                  <p:childTnLst>
                                    <p:set>
                                      <p:cBhvr>
                                        <p:cTn id="164" dur="1" fill="hold">
                                          <p:stCondLst>
                                            <p:cond delay="0"/>
                                          </p:stCondLst>
                                        </p:cTn>
                                        <p:tgtEl>
                                          <p:spTgt spid="74"/>
                                        </p:tgtEl>
                                        <p:attrNameLst>
                                          <p:attrName>style.visibility</p:attrName>
                                        </p:attrNameLst>
                                      </p:cBhvr>
                                      <p:to>
                                        <p:strVal val="visible"/>
                                      </p:to>
                                    </p:set>
                                    <p:anim calcmode="lin" valueType="num">
                                      <p:cBhvr>
                                        <p:cTn id="165" dur="250" fill="hold"/>
                                        <p:tgtEl>
                                          <p:spTgt spid="74"/>
                                        </p:tgtEl>
                                        <p:attrNameLst>
                                          <p:attrName>ppt_w</p:attrName>
                                        </p:attrNameLst>
                                      </p:cBhvr>
                                      <p:tavLst>
                                        <p:tav tm="0">
                                          <p:val>
                                            <p:strVal val="2/3*#ppt_w"/>
                                          </p:val>
                                        </p:tav>
                                        <p:tav tm="100000">
                                          <p:val>
                                            <p:strVal val="#ppt_w"/>
                                          </p:val>
                                        </p:tav>
                                      </p:tavLst>
                                    </p:anim>
                                    <p:anim calcmode="lin" valueType="num">
                                      <p:cBhvr>
                                        <p:cTn id="166" dur="250" fill="hold"/>
                                        <p:tgtEl>
                                          <p:spTgt spid="74"/>
                                        </p:tgtEl>
                                        <p:attrNameLst>
                                          <p:attrName>ppt_h</p:attrName>
                                        </p:attrNameLst>
                                      </p:cBhvr>
                                      <p:tavLst>
                                        <p:tav tm="0">
                                          <p:val>
                                            <p:strVal val="2/3*#ppt_h"/>
                                          </p:val>
                                        </p:tav>
                                        <p:tav tm="100000">
                                          <p:val>
                                            <p:strVal val="#ppt_h"/>
                                          </p:val>
                                        </p:tav>
                                      </p:tavLst>
                                    </p:anim>
                                  </p:childTnLst>
                                </p:cTn>
                              </p:par>
                              <p:par>
                                <p:cTn id="167" presetID="10" presetClass="entr" presetSubtype="0" fill="hold" nodeType="withEffect">
                                  <p:stCondLst>
                                    <p:cond delay="500"/>
                                  </p:stCondLst>
                                  <p:childTnLst>
                                    <p:set>
                                      <p:cBhvr>
                                        <p:cTn id="168" dur="1" fill="hold">
                                          <p:stCondLst>
                                            <p:cond delay="0"/>
                                          </p:stCondLst>
                                        </p:cTn>
                                        <p:tgtEl>
                                          <p:spTgt spid="74"/>
                                        </p:tgtEl>
                                        <p:attrNameLst>
                                          <p:attrName>style.visibility</p:attrName>
                                        </p:attrNameLst>
                                      </p:cBhvr>
                                      <p:to>
                                        <p:strVal val="visible"/>
                                      </p:to>
                                    </p:set>
                                    <p:animEffect transition="in" filter="fade">
                                      <p:cBhvr>
                                        <p:cTn id="169" dur="500"/>
                                        <p:tgtEl>
                                          <p:spTgt spid="74"/>
                                        </p:tgtEl>
                                      </p:cBhvr>
                                    </p:animEffect>
                                  </p:childTnLst>
                                </p:cTn>
                              </p:par>
                              <p:par>
                                <p:cTn id="170" presetID="6" presetClass="emph" presetSubtype="0" fill="hold" nodeType="withEffect">
                                  <p:stCondLst>
                                    <p:cond delay="500"/>
                                  </p:stCondLst>
                                  <p:childTnLst>
                                    <p:animScale>
                                      <p:cBhvr>
                                        <p:cTn id="171" dur="10" fill="hold"/>
                                        <p:tgtEl>
                                          <p:spTgt spid="74"/>
                                        </p:tgtEl>
                                      </p:cBhvr>
                                      <p:by x="80000" y="80000"/>
                                    </p:animScale>
                                  </p:childTnLst>
                                </p:cTn>
                              </p:par>
                              <p:par>
                                <p:cTn id="172" presetID="6" presetClass="emph" presetSubtype="0" decel="100000" fill="hold" nodeType="withEffect">
                                  <p:stCondLst>
                                    <p:cond delay="500"/>
                                  </p:stCondLst>
                                  <p:childTnLst>
                                    <p:animScale>
                                      <p:cBhvr>
                                        <p:cTn id="173" dur="1000" fill="hold"/>
                                        <p:tgtEl>
                                          <p:spTgt spid="74"/>
                                        </p:tgtEl>
                                      </p:cBhvr>
                                      <p:by x="125000" y="125000"/>
                                    </p:animScale>
                                  </p:childTnLst>
                                </p:cTn>
                              </p:par>
                              <p:par>
                                <p:cTn id="174" presetID="23" presetClass="entr" presetSubtype="272" fill="hold" nodeType="withEffect">
                                  <p:stCondLst>
                                    <p:cond delay="900"/>
                                  </p:stCondLst>
                                  <p:childTnLst>
                                    <p:set>
                                      <p:cBhvr>
                                        <p:cTn id="175" dur="1" fill="hold">
                                          <p:stCondLst>
                                            <p:cond delay="0"/>
                                          </p:stCondLst>
                                        </p:cTn>
                                        <p:tgtEl>
                                          <p:spTgt spid="45"/>
                                        </p:tgtEl>
                                        <p:attrNameLst>
                                          <p:attrName>style.visibility</p:attrName>
                                        </p:attrNameLst>
                                      </p:cBhvr>
                                      <p:to>
                                        <p:strVal val="visible"/>
                                      </p:to>
                                    </p:set>
                                    <p:anim calcmode="lin" valueType="num">
                                      <p:cBhvr>
                                        <p:cTn id="176" dur="250" fill="hold"/>
                                        <p:tgtEl>
                                          <p:spTgt spid="45"/>
                                        </p:tgtEl>
                                        <p:attrNameLst>
                                          <p:attrName>ppt_w</p:attrName>
                                        </p:attrNameLst>
                                      </p:cBhvr>
                                      <p:tavLst>
                                        <p:tav tm="0">
                                          <p:val>
                                            <p:strVal val="2/3*#ppt_w"/>
                                          </p:val>
                                        </p:tav>
                                        <p:tav tm="100000">
                                          <p:val>
                                            <p:strVal val="#ppt_w"/>
                                          </p:val>
                                        </p:tav>
                                      </p:tavLst>
                                    </p:anim>
                                    <p:anim calcmode="lin" valueType="num">
                                      <p:cBhvr>
                                        <p:cTn id="177" dur="250" fill="hold"/>
                                        <p:tgtEl>
                                          <p:spTgt spid="45"/>
                                        </p:tgtEl>
                                        <p:attrNameLst>
                                          <p:attrName>ppt_h</p:attrName>
                                        </p:attrNameLst>
                                      </p:cBhvr>
                                      <p:tavLst>
                                        <p:tav tm="0">
                                          <p:val>
                                            <p:strVal val="2/3*#ppt_h"/>
                                          </p:val>
                                        </p:tav>
                                        <p:tav tm="100000">
                                          <p:val>
                                            <p:strVal val="#ppt_h"/>
                                          </p:val>
                                        </p:tav>
                                      </p:tavLst>
                                    </p:anim>
                                  </p:childTnLst>
                                </p:cTn>
                              </p:par>
                              <p:par>
                                <p:cTn id="178" presetID="10" presetClass="entr" presetSubtype="0" fill="hold" nodeType="withEffect">
                                  <p:stCondLst>
                                    <p:cond delay="900"/>
                                  </p:stCondLst>
                                  <p:childTnLst>
                                    <p:set>
                                      <p:cBhvr>
                                        <p:cTn id="179" dur="1" fill="hold">
                                          <p:stCondLst>
                                            <p:cond delay="0"/>
                                          </p:stCondLst>
                                        </p:cTn>
                                        <p:tgtEl>
                                          <p:spTgt spid="45"/>
                                        </p:tgtEl>
                                        <p:attrNameLst>
                                          <p:attrName>style.visibility</p:attrName>
                                        </p:attrNameLst>
                                      </p:cBhvr>
                                      <p:to>
                                        <p:strVal val="visible"/>
                                      </p:to>
                                    </p:set>
                                    <p:animEffect transition="in" filter="fade">
                                      <p:cBhvr>
                                        <p:cTn id="180" dur="500"/>
                                        <p:tgtEl>
                                          <p:spTgt spid="45"/>
                                        </p:tgtEl>
                                      </p:cBhvr>
                                    </p:animEffect>
                                  </p:childTnLst>
                                </p:cTn>
                              </p:par>
                              <p:par>
                                <p:cTn id="181" presetID="6" presetClass="emph" presetSubtype="0" fill="hold" nodeType="withEffect">
                                  <p:stCondLst>
                                    <p:cond delay="900"/>
                                  </p:stCondLst>
                                  <p:childTnLst>
                                    <p:animScale>
                                      <p:cBhvr>
                                        <p:cTn id="182" dur="10" fill="hold"/>
                                        <p:tgtEl>
                                          <p:spTgt spid="45"/>
                                        </p:tgtEl>
                                      </p:cBhvr>
                                      <p:by x="80000" y="80000"/>
                                    </p:animScale>
                                  </p:childTnLst>
                                </p:cTn>
                              </p:par>
                              <p:par>
                                <p:cTn id="183" presetID="6" presetClass="emph" presetSubtype="0" decel="100000" fill="hold" nodeType="withEffect">
                                  <p:stCondLst>
                                    <p:cond delay="900"/>
                                  </p:stCondLst>
                                  <p:childTnLst>
                                    <p:animScale>
                                      <p:cBhvr>
                                        <p:cTn id="184" dur="1000" fill="hold"/>
                                        <p:tgtEl>
                                          <p:spTgt spid="45"/>
                                        </p:tgtEl>
                                      </p:cBhvr>
                                      <p:by x="125000" y="125000"/>
                                    </p:animScale>
                                  </p:childTnLst>
                                </p:cTn>
                              </p:par>
                              <p:par>
                                <p:cTn id="185" presetID="10" presetClass="entr" presetSubtype="0" fill="hold" grpId="0" nodeType="withEffect">
                                  <p:stCondLst>
                                    <p:cond delay="250"/>
                                  </p:stCondLst>
                                  <p:childTnLst>
                                    <p:set>
                                      <p:cBhvr>
                                        <p:cTn id="186" dur="1" fill="hold">
                                          <p:stCondLst>
                                            <p:cond delay="0"/>
                                          </p:stCondLst>
                                        </p:cTn>
                                        <p:tgtEl>
                                          <p:spTgt spid="78"/>
                                        </p:tgtEl>
                                        <p:attrNameLst>
                                          <p:attrName>style.visibility</p:attrName>
                                        </p:attrNameLst>
                                      </p:cBhvr>
                                      <p:to>
                                        <p:strVal val="visible"/>
                                      </p:to>
                                    </p:set>
                                    <p:animEffect transition="in" filter="fade">
                                      <p:cBhvr>
                                        <p:cTn id="187" dur="500"/>
                                        <p:tgtEl>
                                          <p:spTgt spid="78"/>
                                        </p:tgtEl>
                                      </p:cBhvr>
                                    </p:animEffect>
                                  </p:childTnLst>
                                </p:cTn>
                              </p:par>
                              <p:par>
                                <p:cTn id="188" presetID="10" presetClass="entr" presetSubtype="0" fill="hold" grpId="0" nodeType="withEffect">
                                  <p:stCondLst>
                                    <p:cond delay="500"/>
                                  </p:stCondLst>
                                  <p:childTnLst>
                                    <p:set>
                                      <p:cBhvr>
                                        <p:cTn id="189" dur="1" fill="hold">
                                          <p:stCondLst>
                                            <p:cond delay="0"/>
                                          </p:stCondLst>
                                        </p:cTn>
                                        <p:tgtEl>
                                          <p:spTgt spid="79"/>
                                        </p:tgtEl>
                                        <p:attrNameLst>
                                          <p:attrName>style.visibility</p:attrName>
                                        </p:attrNameLst>
                                      </p:cBhvr>
                                      <p:to>
                                        <p:strVal val="visible"/>
                                      </p:to>
                                    </p:set>
                                    <p:animEffect transition="in" filter="fade">
                                      <p:cBhvr>
                                        <p:cTn id="190" dur="500"/>
                                        <p:tgtEl>
                                          <p:spTgt spid="79"/>
                                        </p:tgtEl>
                                      </p:cBhvr>
                                    </p:animEffect>
                                  </p:childTnLst>
                                </p:cTn>
                              </p:par>
                              <p:par>
                                <p:cTn id="191" presetID="10" presetClass="entr" presetSubtype="0" fill="hold" grpId="0" nodeType="withEffect">
                                  <p:stCondLst>
                                    <p:cond delay="900"/>
                                  </p:stCondLst>
                                  <p:childTnLst>
                                    <p:set>
                                      <p:cBhvr>
                                        <p:cTn id="192" dur="1" fill="hold">
                                          <p:stCondLst>
                                            <p:cond delay="0"/>
                                          </p:stCondLst>
                                        </p:cTn>
                                        <p:tgtEl>
                                          <p:spTgt spid="80"/>
                                        </p:tgtEl>
                                        <p:attrNameLst>
                                          <p:attrName>style.visibility</p:attrName>
                                        </p:attrNameLst>
                                      </p:cBhvr>
                                      <p:to>
                                        <p:strVal val="visible"/>
                                      </p:to>
                                    </p:set>
                                    <p:animEffect transition="in" filter="fade">
                                      <p:cBhvr>
                                        <p:cTn id="193" dur="500"/>
                                        <p:tgtEl>
                                          <p:spTgt spid="80"/>
                                        </p:tgtEl>
                                      </p:cBhvr>
                                    </p:animEffect>
                                  </p:childTnLst>
                                </p:cTn>
                              </p:par>
                              <p:par>
                                <p:cTn id="194" presetID="10" presetClass="entr" presetSubtype="0" fill="hold" grpId="0" nodeType="withEffect">
                                  <p:stCondLst>
                                    <p:cond delay="1300"/>
                                  </p:stCondLst>
                                  <p:childTnLst>
                                    <p:set>
                                      <p:cBhvr>
                                        <p:cTn id="195" dur="1" fill="hold">
                                          <p:stCondLst>
                                            <p:cond delay="0"/>
                                          </p:stCondLst>
                                        </p:cTn>
                                        <p:tgtEl>
                                          <p:spTgt spid="81"/>
                                        </p:tgtEl>
                                        <p:attrNameLst>
                                          <p:attrName>style.visibility</p:attrName>
                                        </p:attrNameLst>
                                      </p:cBhvr>
                                      <p:to>
                                        <p:strVal val="visible"/>
                                      </p:to>
                                    </p:set>
                                    <p:animEffect transition="in" filter="fade">
                                      <p:cBhvr>
                                        <p:cTn id="196"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4" grpId="0"/>
      <p:bldP spid="14" grpId="1"/>
      <p:bldP spid="14" grpId="2"/>
      <p:bldP spid="14" grpId="3"/>
      <p:bldP spid="23" grpId="0"/>
      <p:bldP spid="23" grpId="1"/>
      <p:bldP spid="23" grpId="2"/>
      <p:bldP spid="23" grpId="3"/>
      <p:bldP spid="24" grpId="0" animBg="1"/>
      <p:bldP spid="30" grpId="0"/>
      <p:bldP spid="30" grpId="1"/>
      <p:bldP spid="30" grpId="2"/>
      <p:bldP spid="30" grpId="3"/>
      <p:bldP spid="34" grpId="0" animBg="1"/>
      <p:bldP spid="40" grpId="0"/>
      <p:bldP spid="40" grpId="1"/>
      <p:bldP spid="40" grpId="2"/>
      <p:bldP spid="40" grpId="3"/>
      <p:bldP spid="78" grpId="0"/>
      <p:bldP spid="79" grpId="0"/>
      <p:bldP spid="80" grpId="0"/>
      <p:bldP spid="8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0B407-0490-7BA6-37A1-CC3C988D915E}"/>
              </a:ext>
            </a:extLst>
          </p:cNvPr>
          <p:cNvSpPr>
            <a:spLocks noGrp="1"/>
          </p:cNvSpPr>
          <p:nvPr>
            <p:ph type="title"/>
          </p:nvPr>
        </p:nvSpPr>
        <p:spPr>
          <a:xfrm>
            <a:off x="575481" y="599436"/>
            <a:ext cx="11018520" cy="1107996"/>
          </a:xfrm>
        </p:spPr>
        <p:txBody>
          <a:bodyPr/>
          <a:lstStyle/>
          <a:p>
            <a:r>
              <a:rPr lang="en-US"/>
              <a:t>“Operations” Common Best Practices</a:t>
            </a:r>
            <a:br>
              <a:rPr lang="en-US"/>
            </a:br>
            <a:endParaRPr lang="en-US"/>
          </a:p>
        </p:txBody>
      </p:sp>
      <p:sp>
        <p:nvSpPr>
          <p:cNvPr id="4" name="Slide Number Placeholder 3">
            <a:extLst>
              <a:ext uri="{FF2B5EF4-FFF2-40B4-BE49-F238E27FC236}">
                <a16:creationId xmlns:a16="http://schemas.microsoft.com/office/drawing/2014/main" id="{D1AD69C8-0DC7-2D68-0EC1-04FD03D2DDD6}"/>
              </a:ext>
            </a:extLst>
          </p:cNvPr>
          <p:cNvSpPr>
            <a:spLocks noGrp="1"/>
          </p:cNvSpPr>
          <p:nvPr>
            <p:ph type="sldNum" sz="quarter" idx="4"/>
          </p:nvPr>
        </p:nvSpPr>
        <p:spPr>
          <a:xfrm>
            <a:off x="11697272" y="6477963"/>
            <a:ext cx="404240" cy="24622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16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Rounded Corners 7">
            <a:extLst>
              <a:ext uri="{FF2B5EF4-FFF2-40B4-BE49-F238E27FC236}">
                <a16:creationId xmlns:a16="http://schemas.microsoft.com/office/drawing/2014/main" id="{5CA1A8A6-7C89-1D4D-2816-28029EAED370}"/>
              </a:ext>
            </a:extLst>
          </p:cNvPr>
          <p:cNvSpPr>
            <a:spLocks/>
          </p:cNvSpPr>
          <p:nvPr/>
        </p:nvSpPr>
        <p:spPr bwMode="auto">
          <a:xfrm>
            <a:off x="834485" y="1753703"/>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9" name="Content Placeholder 2">
            <a:extLst>
              <a:ext uri="{FF2B5EF4-FFF2-40B4-BE49-F238E27FC236}">
                <a16:creationId xmlns:a16="http://schemas.microsoft.com/office/drawing/2014/main" id="{F0B89151-D28C-2EAB-1A4C-72EE9217F5F2}"/>
              </a:ext>
            </a:extLst>
          </p:cNvPr>
          <p:cNvSpPr txBox="1">
            <a:spLocks/>
          </p:cNvSpPr>
          <p:nvPr/>
        </p:nvSpPr>
        <p:spPr>
          <a:xfrm>
            <a:off x="1440240" y="1847539"/>
            <a:ext cx="3701851"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Role based Access (RBAC)</a:t>
            </a:r>
          </a:p>
        </p:txBody>
      </p:sp>
      <p:sp>
        <p:nvSpPr>
          <p:cNvPr id="10" name="Rectangle: Rounded Corners 9">
            <a:extLst>
              <a:ext uri="{FF2B5EF4-FFF2-40B4-BE49-F238E27FC236}">
                <a16:creationId xmlns:a16="http://schemas.microsoft.com/office/drawing/2014/main" id="{3413D419-6BC6-2021-CE30-A4746F75DA3E}"/>
              </a:ext>
            </a:extLst>
          </p:cNvPr>
          <p:cNvSpPr>
            <a:spLocks/>
          </p:cNvSpPr>
          <p:nvPr/>
        </p:nvSpPr>
        <p:spPr bwMode="auto">
          <a:xfrm>
            <a:off x="834485" y="2506258"/>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11" name="Content Placeholder 2">
            <a:extLst>
              <a:ext uri="{FF2B5EF4-FFF2-40B4-BE49-F238E27FC236}">
                <a16:creationId xmlns:a16="http://schemas.microsoft.com/office/drawing/2014/main" id="{7AE24006-54C0-512D-974E-780080317FBF}"/>
              </a:ext>
            </a:extLst>
          </p:cNvPr>
          <p:cNvSpPr txBox="1">
            <a:spLocks/>
          </p:cNvSpPr>
          <p:nvPr/>
        </p:nvSpPr>
        <p:spPr>
          <a:xfrm>
            <a:off x="1446811" y="2545077"/>
            <a:ext cx="3789529" cy="5067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Network Isolation</a:t>
            </a:r>
          </a:p>
        </p:txBody>
      </p:sp>
      <p:sp>
        <p:nvSpPr>
          <p:cNvPr id="12" name="Rectangle: Rounded Corners 11">
            <a:extLst>
              <a:ext uri="{FF2B5EF4-FFF2-40B4-BE49-F238E27FC236}">
                <a16:creationId xmlns:a16="http://schemas.microsoft.com/office/drawing/2014/main" id="{907DEC2A-0A24-8C05-5E08-7E71DD9F2471}"/>
              </a:ext>
            </a:extLst>
          </p:cNvPr>
          <p:cNvSpPr>
            <a:spLocks/>
          </p:cNvSpPr>
          <p:nvPr/>
        </p:nvSpPr>
        <p:spPr bwMode="auto">
          <a:xfrm>
            <a:off x="834485" y="3258813"/>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13" name="Content Placeholder 2">
            <a:extLst>
              <a:ext uri="{FF2B5EF4-FFF2-40B4-BE49-F238E27FC236}">
                <a16:creationId xmlns:a16="http://schemas.microsoft.com/office/drawing/2014/main" id="{699984EC-F4F6-F5A1-C6DF-C44E7EB6925B}"/>
              </a:ext>
            </a:extLst>
          </p:cNvPr>
          <p:cNvSpPr txBox="1">
            <a:spLocks/>
          </p:cNvSpPr>
          <p:nvPr/>
        </p:nvSpPr>
        <p:spPr>
          <a:xfrm>
            <a:off x="1422734" y="3303745"/>
            <a:ext cx="3468323" cy="5067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Infrastructure as a Code (</a:t>
            </a:r>
            <a:r>
              <a:rPr lang="en-GB" sz="1600" err="1">
                <a:solidFill>
                  <a:schemeClr val="tx1"/>
                </a:solidFill>
              </a:rPr>
              <a:t>IaC</a:t>
            </a:r>
            <a:r>
              <a:rPr lang="en-GB" sz="1600">
                <a:solidFill>
                  <a:schemeClr val="tx1"/>
                </a:solidFill>
              </a:rPr>
              <a:t>)</a:t>
            </a:r>
          </a:p>
        </p:txBody>
      </p:sp>
      <p:sp>
        <p:nvSpPr>
          <p:cNvPr id="14" name="Rectangle: Rounded Corners 13">
            <a:extLst>
              <a:ext uri="{FF2B5EF4-FFF2-40B4-BE49-F238E27FC236}">
                <a16:creationId xmlns:a16="http://schemas.microsoft.com/office/drawing/2014/main" id="{EB5CBA4E-9B9B-79D4-D608-7F2D59B5375D}"/>
              </a:ext>
            </a:extLst>
          </p:cNvPr>
          <p:cNvSpPr>
            <a:spLocks/>
          </p:cNvSpPr>
          <p:nvPr/>
        </p:nvSpPr>
        <p:spPr bwMode="auto">
          <a:xfrm>
            <a:off x="834485" y="4011368"/>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15" name="Content Placeholder 2">
            <a:extLst>
              <a:ext uri="{FF2B5EF4-FFF2-40B4-BE49-F238E27FC236}">
                <a16:creationId xmlns:a16="http://schemas.microsoft.com/office/drawing/2014/main" id="{AA8D6C5E-792B-6D3D-DE66-BD096B5E3E11}"/>
              </a:ext>
            </a:extLst>
          </p:cNvPr>
          <p:cNvSpPr txBox="1">
            <a:spLocks/>
          </p:cNvSpPr>
          <p:nvPr/>
        </p:nvSpPr>
        <p:spPr>
          <a:xfrm>
            <a:off x="1440240" y="4062413"/>
            <a:ext cx="3701851" cy="5067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Monitoring</a:t>
            </a:r>
          </a:p>
        </p:txBody>
      </p:sp>
      <p:grpSp>
        <p:nvGrpSpPr>
          <p:cNvPr id="16" name="Group 15">
            <a:extLst>
              <a:ext uri="{FF2B5EF4-FFF2-40B4-BE49-F238E27FC236}">
                <a16:creationId xmlns:a16="http://schemas.microsoft.com/office/drawing/2014/main" id="{F713004D-546C-2C6A-C108-A06416EB966A}"/>
              </a:ext>
            </a:extLst>
          </p:cNvPr>
          <p:cNvGrpSpPr/>
          <p:nvPr/>
        </p:nvGrpSpPr>
        <p:grpSpPr>
          <a:xfrm>
            <a:off x="623563" y="1879789"/>
            <a:ext cx="423818" cy="423940"/>
            <a:chOff x="1600003" y="1811018"/>
            <a:chExt cx="1641521" cy="1641995"/>
          </a:xfrm>
        </p:grpSpPr>
        <p:sp>
          <p:nvSpPr>
            <p:cNvPr id="17" name="Oval 17">
              <a:extLst>
                <a:ext uri="{FF2B5EF4-FFF2-40B4-BE49-F238E27FC236}">
                  <a16:creationId xmlns:a16="http://schemas.microsoft.com/office/drawing/2014/main" id="{DC8533DE-72F3-DEC9-848B-5C8345F90B50}"/>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18" name="Group 17">
              <a:extLst>
                <a:ext uri="{FF2B5EF4-FFF2-40B4-BE49-F238E27FC236}">
                  <a16:creationId xmlns:a16="http://schemas.microsoft.com/office/drawing/2014/main" id="{25F674C7-1E29-7C50-262C-C57AD2252FDB}"/>
                </a:ext>
              </a:extLst>
            </p:cNvPr>
            <p:cNvGrpSpPr/>
            <p:nvPr/>
          </p:nvGrpSpPr>
          <p:grpSpPr>
            <a:xfrm>
              <a:off x="1714605" y="1927192"/>
              <a:ext cx="1412316" cy="1409646"/>
              <a:chOff x="1261669" y="4833937"/>
              <a:chExt cx="954299" cy="954297"/>
            </a:xfrm>
          </p:grpSpPr>
          <p:sp>
            <p:nvSpPr>
              <p:cNvPr id="19" name="Rectangle: Rounded Corners 18">
                <a:extLst>
                  <a:ext uri="{FF2B5EF4-FFF2-40B4-BE49-F238E27FC236}">
                    <a16:creationId xmlns:a16="http://schemas.microsoft.com/office/drawing/2014/main" id="{2B318F6D-BA94-EB6D-5BB1-8F1FEA3F1FD7}"/>
                  </a:ext>
                </a:extLst>
              </p:cNvPr>
              <p:cNvSpPr/>
              <p:nvPr userDrawn="1"/>
            </p:nvSpPr>
            <p:spPr bwMode="auto">
              <a:xfrm>
                <a:off x="1261669" y="4833937"/>
                <a:ext cx="954296" cy="954297"/>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1</a:t>
                </a:r>
              </a:p>
            </p:txBody>
          </p:sp>
          <p:sp>
            <p:nvSpPr>
              <p:cNvPr id="20" name="Rectangle: Rounded Corners 19">
                <a:extLst>
                  <a:ext uri="{FF2B5EF4-FFF2-40B4-BE49-F238E27FC236}">
                    <a16:creationId xmlns:a16="http://schemas.microsoft.com/office/drawing/2014/main" id="{A1FD6938-8B5B-9B9F-292F-4A38F88FE10F}"/>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grpSp>
        <p:nvGrpSpPr>
          <p:cNvPr id="21" name="Group 20">
            <a:extLst>
              <a:ext uri="{FF2B5EF4-FFF2-40B4-BE49-F238E27FC236}">
                <a16:creationId xmlns:a16="http://schemas.microsoft.com/office/drawing/2014/main" id="{F6B00439-1ACC-AAE0-2631-E831862CF0B5}"/>
              </a:ext>
            </a:extLst>
          </p:cNvPr>
          <p:cNvGrpSpPr/>
          <p:nvPr/>
        </p:nvGrpSpPr>
        <p:grpSpPr>
          <a:xfrm>
            <a:off x="623563" y="2625863"/>
            <a:ext cx="423818" cy="423940"/>
            <a:chOff x="1600003" y="1811018"/>
            <a:chExt cx="1641521" cy="1641995"/>
          </a:xfrm>
        </p:grpSpPr>
        <p:sp>
          <p:nvSpPr>
            <p:cNvPr id="22" name="Oval 17">
              <a:extLst>
                <a:ext uri="{FF2B5EF4-FFF2-40B4-BE49-F238E27FC236}">
                  <a16:creationId xmlns:a16="http://schemas.microsoft.com/office/drawing/2014/main" id="{3350638E-DB8C-2E0C-53F3-07E51AF8A21B}"/>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23" name="Group 22">
              <a:extLst>
                <a:ext uri="{FF2B5EF4-FFF2-40B4-BE49-F238E27FC236}">
                  <a16:creationId xmlns:a16="http://schemas.microsoft.com/office/drawing/2014/main" id="{C60E6900-B743-D50F-477E-CF6C785DDC6C}"/>
                </a:ext>
              </a:extLst>
            </p:cNvPr>
            <p:cNvGrpSpPr/>
            <p:nvPr/>
          </p:nvGrpSpPr>
          <p:grpSpPr>
            <a:xfrm>
              <a:off x="1714608" y="1927192"/>
              <a:ext cx="1412311" cy="1409646"/>
              <a:chOff x="1261672" y="4833937"/>
              <a:chExt cx="954296" cy="954297"/>
            </a:xfrm>
          </p:grpSpPr>
          <p:sp>
            <p:nvSpPr>
              <p:cNvPr id="24" name="Rectangle: Rounded Corners 23">
                <a:extLst>
                  <a:ext uri="{FF2B5EF4-FFF2-40B4-BE49-F238E27FC236}">
                    <a16:creationId xmlns:a16="http://schemas.microsoft.com/office/drawing/2014/main" id="{C9ACA4A7-AA13-A673-2776-3EE74317AFA4}"/>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2</a:t>
                </a:r>
              </a:p>
            </p:txBody>
          </p:sp>
          <p:sp>
            <p:nvSpPr>
              <p:cNvPr id="25" name="Rectangle: Rounded Corners 24">
                <a:extLst>
                  <a:ext uri="{FF2B5EF4-FFF2-40B4-BE49-F238E27FC236}">
                    <a16:creationId xmlns:a16="http://schemas.microsoft.com/office/drawing/2014/main" id="{A7C75696-E9D8-D38E-492B-0A412EAA9B25}"/>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grpSp>
        <p:nvGrpSpPr>
          <p:cNvPr id="26" name="Group 25">
            <a:extLst>
              <a:ext uri="{FF2B5EF4-FFF2-40B4-BE49-F238E27FC236}">
                <a16:creationId xmlns:a16="http://schemas.microsoft.com/office/drawing/2014/main" id="{CD11D4AD-EF3C-35FD-FBAB-EA84E846D9A8}"/>
              </a:ext>
            </a:extLst>
          </p:cNvPr>
          <p:cNvGrpSpPr/>
          <p:nvPr/>
        </p:nvGrpSpPr>
        <p:grpSpPr>
          <a:xfrm>
            <a:off x="623563" y="3371937"/>
            <a:ext cx="423818" cy="423940"/>
            <a:chOff x="1600003" y="1811018"/>
            <a:chExt cx="1641521" cy="1641995"/>
          </a:xfrm>
        </p:grpSpPr>
        <p:sp>
          <p:nvSpPr>
            <p:cNvPr id="27" name="Oval 17">
              <a:extLst>
                <a:ext uri="{FF2B5EF4-FFF2-40B4-BE49-F238E27FC236}">
                  <a16:creationId xmlns:a16="http://schemas.microsoft.com/office/drawing/2014/main" id="{1F9892E8-6605-91FC-D837-8C1BCBB3AFF2}"/>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28" name="Group 27">
              <a:extLst>
                <a:ext uri="{FF2B5EF4-FFF2-40B4-BE49-F238E27FC236}">
                  <a16:creationId xmlns:a16="http://schemas.microsoft.com/office/drawing/2014/main" id="{3F265A1F-E738-9F65-07B2-28BDEB2D49CE}"/>
                </a:ext>
              </a:extLst>
            </p:cNvPr>
            <p:cNvGrpSpPr/>
            <p:nvPr/>
          </p:nvGrpSpPr>
          <p:grpSpPr>
            <a:xfrm>
              <a:off x="1714608" y="1927192"/>
              <a:ext cx="1412311" cy="1409646"/>
              <a:chOff x="1261672" y="4833937"/>
              <a:chExt cx="954296" cy="954297"/>
            </a:xfrm>
          </p:grpSpPr>
          <p:sp>
            <p:nvSpPr>
              <p:cNvPr id="29" name="Rectangle: Rounded Corners 28">
                <a:extLst>
                  <a:ext uri="{FF2B5EF4-FFF2-40B4-BE49-F238E27FC236}">
                    <a16:creationId xmlns:a16="http://schemas.microsoft.com/office/drawing/2014/main" id="{A5345339-19EA-C412-8479-9DECADF41570}"/>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3</a:t>
                </a:r>
              </a:p>
            </p:txBody>
          </p:sp>
          <p:sp>
            <p:nvSpPr>
              <p:cNvPr id="30" name="Rectangle: Rounded Corners 29">
                <a:extLst>
                  <a:ext uri="{FF2B5EF4-FFF2-40B4-BE49-F238E27FC236}">
                    <a16:creationId xmlns:a16="http://schemas.microsoft.com/office/drawing/2014/main" id="{59EB5B2A-3C42-48BC-B724-0178D5ED8F93}"/>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grpSp>
        <p:nvGrpSpPr>
          <p:cNvPr id="31" name="Group 30">
            <a:extLst>
              <a:ext uri="{FF2B5EF4-FFF2-40B4-BE49-F238E27FC236}">
                <a16:creationId xmlns:a16="http://schemas.microsoft.com/office/drawing/2014/main" id="{EEBC7DFD-24E2-A28A-8518-CFFFFE43E196}"/>
              </a:ext>
            </a:extLst>
          </p:cNvPr>
          <p:cNvGrpSpPr/>
          <p:nvPr/>
        </p:nvGrpSpPr>
        <p:grpSpPr>
          <a:xfrm>
            <a:off x="623563" y="4118011"/>
            <a:ext cx="423818" cy="423940"/>
            <a:chOff x="1600003" y="1811018"/>
            <a:chExt cx="1641521" cy="1641995"/>
          </a:xfrm>
        </p:grpSpPr>
        <p:sp>
          <p:nvSpPr>
            <p:cNvPr id="32" name="Oval 17">
              <a:extLst>
                <a:ext uri="{FF2B5EF4-FFF2-40B4-BE49-F238E27FC236}">
                  <a16:creationId xmlns:a16="http://schemas.microsoft.com/office/drawing/2014/main" id="{2E700026-9C1A-5ED8-6D64-8533ECBEB367}"/>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33" name="Group 32">
              <a:extLst>
                <a:ext uri="{FF2B5EF4-FFF2-40B4-BE49-F238E27FC236}">
                  <a16:creationId xmlns:a16="http://schemas.microsoft.com/office/drawing/2014/main" id="{96FA7F19-2BEF-6240-7F51-BF497AE6251B}"/>
                </a:ext>
              </a:extLst>
            </p:cNvPr>
            <p:cNvGrpSpPr/>
            <p:nvPr/>
          </p:nvGrpSpPr>
          <p:grpSpPr>
            <a:xfrm>
              <a:off x="1714608" y="1927192"/>
              <a:ext cx="1412311" cy="1409646"/>
              <a:chOff x="1261672" y="4833937"/>
              <a:chExt cx="954296" cy="954297"/>
            </a:xfrm>
          </p:grpSpPr>
          <p:sp>
            <p:nvSpPr>
              <p:cNvPr id="34" name="Rectangle: Rounded Corners 33">
                <a:extLst>
                  <a:ext uri="{FF2B5EF4-FFF2-40B4-BE49-F238E27FC236}">
                    <a16:creationId xmlns:a16="http://schemas.microsoft.com/office/drawing/2014/main" id="{85BA67FD-7F82-9B11-DE60-E11BF14503E4}"/>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4</a:t>
                </a:r>
              </a:p>
            </p:txBody>
          </p:sp>
          <p:sp>
            <p:nvSpPr>
              <p:cNvPr id="35" name="Rectangle: Rounded Corners 34">
                <a:extLst>
                  <a:ext uri="{FF2B5EF4-FFF2-40B4-BE49-F238E27FC236}">
                    <a16:creationId xmlns:a16="http://schemas.microsoft.com/office/drawing/2014/main" id="{ED7D86F9-CCA3-35F9-7F26-A350551CEC1C}"/>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sp>
        <p:nvSpPr>
          <p:cNvPr id="36" name="Rectangle: Rounded Corners 35">
            <a:extLst>
              <a:ext uri="{FF2B5EF4-FFF2-40B4-BE49-F238E27FC236}">
                <a16:creationId xmlns:a16="http://schemas.microsoft.com/office/drawing/2014/main" id="{A457ECB8-3EB1-5064-E958-98D39CDD19E4}"/>
              </a:ext>
            </a:extLst>
          </p:cNvPr>
          <p:cNvSpPr>
            <a:spLocks/>
          </p:cNvSpPr>
          <p:nvPr/>
        </p:nvSpPr>
        <p:spPr bwMode="auto">
          <a:xfrm>
            <a:off x="834485" y="4763923"/>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37" name="Content Placeholder 2">
            <a:extLst>
              <a:ext uri="{FF2B5EF4-FFF2-40B4-BE49-F238E27FC236}">
                <a16:creationId xmlns:a16="http://schemas.microsoft.com/office/drawing/2014/main" id="{CE855C72-7F8B-E6DE-8249-BA8ADCF096B3}"/>
              </a:ext>
            </a:extLst>
          </p:cNvPr>
          <p:cNvSpPr txBox="1">
            <a:spLocks/>
          </p:cNvSpPr>
          <p:nvPr/>
        </p:nvSpPr>
        <p:spPr>
          <a:xfrm>
            <a:off x="1422734" y="4821081"/>
            <a:ext cx="3468323" cy="5067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Data Encryption</a:t>
            </a:r>
          </a:p>
        </p:txBody>
      </p:sp>
      <p:sp>
        <p:nvSpPr>
          <p:cNvPr id="38" name="Rectangle: Rounded Corners 37">
            <a:extLst>
              <a:ext uri="{FF2B5EF4-FFF2-40B4-BE49-F238E27FC236}">
                <a16:creationId xmlns:a16="http://schemas.microsoft.com/office/drawing/2014/main" id="{78516F1A-B072-4330-C990-DC621B099B2B}"/>
              </a:ext>
            </a:extLst>
          </p:cNvPr>
          <p:cNvSpPr>
            <a:spLocks/>
          </p:cNvSpPr>
          <p:nvPr/>
        </p:nvSpPr>
        <p:spPr bwMode="auto">
          <a:xfrm>
            <a:off x="834485" y="5516479"/>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39" name="Content Placeholder 2">
            <a:extLst>
              <a:ext uri="{FF2B5EF4-FFF2-40B4-BE49-F238E27FC236}">
                <a16:creationId xmlns:a16="http://schemas.microsoft.com/office/drawing/2014/main" id="{ACCBB531-9855-7819-68A4-259A1F98DE3C}"/>
              </a:ext>
            </a:extLst>
          </p:cNvPr>
          <p:cNvSpPr txBox="1">
            <a:spLocks/>
          </p:cNvSpPr>
          <p:nvPr/>
        </p:nvSpPr>
        <p:spPr>
          <a:xfrm>
            <a:off x="1440240" y="5579750"/>
            <a:ext cx="3701851" cy="5067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Version Control for models, data and code </a:t>
            </a:r>
          </a:p>
        </p:txBody>
      </p:sp>
      <p:grpSp>
        <p:nvGrpSpPr>
          <p:cNvPr id="40" name="Group 39">
            <a:extLst>
              <a:ext uri="{FF2B5EF4-FFF2-40B4-BE49-F238E27FC236}">
                <a16:creationId xmlns:a16="http://schemas.microsoft.com/office/drawing/2014/main" id="{01E32789-91D9-6215-2ED3-57F53BB53210}"/>
              </a:ext>
            </a:extLst>
          </p:cNvPr>
          <p:cNvGrpSpPr/>
          <p:nvPr/>
        </p:nvGrpSpPr>
        <p:grpSpPr>
          <a:xfrm>
            <a:off x="623563" y="4864085"/>
            <a:ext cx="423818" cy="423940"/>
            <a:chOff x="1600003" y="1811018"/>
            <a:chExt cx="1641521" cy="1641995"/>
          </a:xfrm>
        </p:grpSpPr>
        <p:sp>
          <p:nvSpPr>
            <p:cNvPr id="41" name="Oval 17">
              <a:extLst>
                <a:ext uri="{FF2B5EF4-FFF2-40B4-BE49-F238E27FC236}">
                  <a16:creationId xmlns:a16="http://schemas.microsoft.com/office/drawing/2014/main" id="{5BB26A01-13D1-5A90-966F-7E46974B8B08}"/>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42" name="Group 41">
              <a:extLst>
                <a:ext uri="{FF2B5EF4-FFF2-40B4-BE49-F238E27FC236}">
                  <a16:creationId xmlns:a16="http://schemas.microsoft.com/office/drawing/2014/main" id="{5B1BC968-1178-328D-B0B6-3C697B08FBE2}"/>
                </a:ext>
              </a:extLst>
            </p:cNvPr>
            <p:cNvGrpSpPr/>
            <p:nvPr/>
          </p:nvGrpSpPr>
          <p:grpSpPr>
            <a:xfrm>
              <a:off x="1714608" y="1927192"/>
              <a:ext cx="1412311" cy="1409646"/>
              <a:chOff x="1261672" y="4833937"/>
              <a:chExt cx="954296" cy="954297"/>
            </a:xfrm>
          </p:grpSpPr>
          <p:sp>
            <p:nvSpPr>
              <p:cNvPr id="43" name="Rectangle: Rounded Corners 42">
                <a:extLst>
                  <a:ext uri="{FF2B5EF4-FFF2-40B4-BE49-F238E27FC236}">
                    <a16:creationId xmlns:a16="http://schemas.microsoft.com/office/drawing/2014/main" id="{9F796F9C-7549-5404-BE11-67FB16B4C3AF}"/>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5</a:t>
                </a:r>
              </a:p>
            </p:txBody>
          </p:sp>
          <p:sp>
            <p:nvSpPr>
              <p:cNvPr id="44" name="Rectangle: Rounded Corners 43">
                <a:extLst>
                  <a:ext uri="{FF2B5EF4-FFF2-40B4-BE49-F238E27FC236}">
                    <a16:creationId xmlns:a16="http://schemas.microsoft.com/office/drawing/2014/main" id="{BCC1772D-C560-47D2-69EE-8D003E9284DC}"/>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grpSp>
        <p:nvGrpSpPr>
          <p:cNvPr id="45" name="Group 44">
            <a:extLst>
              <a:ext uri="{FF2B5EF4-FFF2-40B4-BE49-F238E27FC236}">
                <a16:creationId xmlns:a16="http://schemas.microsoft.com/office/drawing/2014/main" id="{831E935C-8026-5931-B325-D5196901AC53}"/>
              </a:ext>
            </a:extLst>
          </p:cNvPr>
          <p:cNvGrpSpPr/>
          <p:nvPr/>
        </p:nvGrpSpPr>
        <p:grpSpPr>
          <a:xfrm>
            <a:off x="623563" y="5610158"/>
            <a:ext cx="423818" cy="423940"/>
            <a:chOff x="1600003" y="1811018"/>
            <a:chExt cx="1641521" cy="1641995"/>
          </a:xfrm>
        </p:grpSpPr>
        <p:sp>
          <p:nvSpPr>
            <p:cNvPr id="46" name="Oval 17">
              <a:extLst>
                <a:ext uri="{FF2B5EF4-FFF2-40B4-BE49-F238E27FC236}">
                  <a16:creationId xmlns:a16="http://schemas.microsoft.com/office/drawing/2014/main" id="{D6B9DFE8-BD6A-48D5-FF94-D6AEDD81A442}"/>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47" name="Group 46">
              <a:extLst>
                <a:ext uri="{FF2B5EF4-FFF2-40B4-BE49-F238E27FC236}">
                  <a16:creationId xmlns:a16="http://schemas.microsoft.com/office/drawing/2014/main" id="{5D3797E0-9C33-8C8D-0352-521119598027}"/>
                </a:ext>
              </a:extLst>
            </p:cNvPr>
            <p:cNvGrpSpPr/>
            <p:nvPr/>
          </p:nvGrpSpPr>
          <p:grpSpPr>
            <a:xfrm>
              <a:off x="1714608" y="1927192"/>
              <a:ext cx="1412311" cy="1409646"/>
              <a:chOff x="1261672" y="4833937"/>
              <a:chExt cx="954296" cy="954297"/>
            </a:xfrm>
          </p:grpSpPr>
          <p:sp>
            <p:nvSpPr>
              <p:cNvPr id="48" name="Rectangle: Rounded Corners 47">
                <a:extLst>
                  <a:ext uri="{FF2B5EF4-FFF2-40B4-BE49-F238E27FC236}">
                    <a16:creationId xmlns:a16="http://schemas.microsoft.com/office/drawing/2014/main" id="{CDA6CF64-E792-1D01-9432-19EF2D98F6F7}"/>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6</a:t>
                </a:r>
              </a:p>
            </p:txBody>
          </p:sp>
          <p:sp>
            <p:nvSpPr>
              <p:cNvPr id="49" name="Rectangle: Rounded Corners 48">
                <a:extLst>
                  <a:ext uri="{FF2B5EF4-FFF2-40B4-BE49-F238E27FC236}">
                    <a16:creationId xmlns:a16="http://schemas.microsoft.com/office/drawing/2014/main" id="{0BD6CD38-2379-EAE3-1D2E-C41362A63052}"/>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sp>
        <p:nvSpPr>
          <p:cNvPr id="50" name="Rectangle: Rounded Corners 49">
            <a:extLst>
              <a:ext uri="{FF2B5EF4-FFF2-40B4-BE49-F238E27FC236}">
                <a16:creationId xmlns:a16="http://schemas.microsoft.com/office/drawing/2014/main" id="{8CC77158-6CEF-DDED-32CF-2EB92943A887}"/>
              </a:ext>
            </a:extLst>
          </p:cNvPr>
          <p:cNvSpPr>
            <a:spLocks/>
          </p:cNvSpPr>
          <p:nvPr/>
        </p:nvSpPr>
        <p:spPr bwMode="auto">
          <a:xfrm>
            <a:off x="6407154" y="1753703"/>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51" name="Content Placeholder 2">
            <a:extLst>
              <a:ext uri="{FF2B5EF4-FFF2-40B4-BE49-F238E27FC236}">
                <a16:creationId xmlns:a16="http://schemas.microsoft.com/office/drawing/2014/main" id="{FC84535C-E083-5240-DA2D-4166E096EC66}"/>
              </a:ext>
            </a:extLst>
          </p:cNvPr>
          <p:cNvSpPr txBox="1">
            <a:spLocks/>
          </p:cNvSpPr>
          <p:nvPr/>
        </p:nvSpPr>
        <p:spPr>
          <a:xfrm>
            <a:off x="7012909" y="1847539"/>
            <a:ext cx="516584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Using simple version naming scheme for resource management</a:t>
            </a:r>
          </a:p>
        </p:txBody>
      </p:sp>
      <p:sp>
        <p:nvSpPr>
          <p:cNvPr id="52" name="Rectangle: Rounded Corners 51">
            <a:extLst>
              <a:ext uri="{FF2B5EF4-FFF2-40B4-BE49-F238E27FC236}">
                <a16:creationId xmlns:a16="http://schemas.microsoft.com/office/drawing/2014/main" id="{56F4CD29-C039-2A99-5C75-2617BB079D22}"/>
              </a:ext>
            </a:extLst>
          </p:cNvPr>
          <p:cNvSpPr>
            <a:spLocks/>
          </p:cNvSpPr>
          <p:nvPr/>
        </p:nvSpPr>
        <p:spPr bwMode="auto">
          <a:xfrm>
            <a:off x="6407154" y="2506258"/>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53" name="Content Placeholder 2">
            <a:extLst>
              <a:ext uri="{FF2B5EF4-FFF2-40B4-BE49-F238E27FC236}">
                <a16:creationId xmlns:a16="http://schemas.microsoft.com/office/drawing/2014/main" id="{F4784747-747F-7F48-751A-D898FD756E34}"/>
              </a:ext>
            </a:extLst>
          </p:cNvPr>
          <p:cNvSpPr txBox="1">
            <a:spLocks/>
          </p:cNvSpPr>
          <p:nvPr/>
        </p:nvSpPr>
        <p:spPr>
          <a:xfrm>
            <a:off x="7019480" y="2545077"/>
            <a:ext cx="3789529" cy="5067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Automate Testing at All Stages</a:t>
            </a:r>
          </a:p>
        </p:txBody>
      </p:sp>
      <p:sp>
        <p:nvSpPr>
          <p:cNvPr id="54" name="Rectangle: Rounded Corners 53">
            <a:extLst>
              <a:ext uri="{FF2B5EF4-FFF2-40B4-BE49-F238E27FC236}">
                <a16:creationId xmlns:a16="http://schemas.microsoft.com/office/drawing/2014/main" id="{8C4CB9EB-BCCC-2D37-9DC8-678324683AB7}"/>
              </a:ext>
            </a:extLst>
          </p:cNvPr>
          <p:cNvSpPr>
            <a:spLocks/>
          </p:cNvSpPr>
          <p:nvPr/>
        </p:nvSpPr>
        <p:spPr bwMode="auto">
          <a:xfrm>
            <a:off x="6407154" y="3258813"/>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55" name="Content Placeholder 2">
            <a:extLst>
              <a:ext uri="{FF2B5EF4-FFF2-40B4-BE49-F238E27FC236}">
                <a16:creationId xmlns:a16="http://schemas.microsoft.com/office/drawing/2014/main" id="{791098FE-77FD-FAC6-1B23-09C48FD6F882}"/>
              </a:ext>
            </a:extLst>
          </p:cNvPr>
          <p:cNvSpPr txBox="1">
            <a:spLocks/>
          </p:cNvSpPr>
          <p:nvPr/>
        </p:nvSpPr>
        <p:spPr>
          <a:xfrm>
            <a:off x="6995403" y="3303745"/>
            <a:ext cx="3468323" cy="5067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Monitor for Drift, Bias, and Ethics</a:t>
            </a:r>
          </a:p>
        </p:txBody>
      </p:sp>
      <p:sp>
        <p:nvSpPr>
          <p:cNvPr id="56" name="Rectangle: Rounded Corners 55">
            <a:extLst>
              <a:ext uri="{FF2B5EF4-FFF2-40B4-BE49-F238E27FC236}">
                <a16:creationId xmlns:a16="http://schemas.microsoft.com/office/drawing/2014/main" id="{60F81F35-51B0-669A-A014-8C158700B6F5}"/>
              </a:ext>
            </a:extLst>
          </p:cNvPr>
          <p:cNvSpPr>
            <a:spLocks/>
          </p:cNvSpPr>
          <p:nvPr/>
        </p:nvSpPr>
        <p:spPr bwMode="auto">
          <a:xfrm>
            <a:off x="6407154" y="4011368"/>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57" name="Content Placeholder 2">
            <a:extLst>
              <a:ext uri="{FF2B5EF4-FFF2-40B4-BE49-F238E27FC236}">
                <a16:creationId xmlns:a16="http://schemas.microsoft.com/office/drawing/2014/main" id="{567BEF9D-B23C-BCDD-FD03-225C17B51B9F}"/>
              </a:ext>
            </a:extLst>
          </p:cNvPr>
          <p:cNvSpPr txBox="1">
            <a:spLocks/>
          </p:cNvSpPr>
          <p:nvPr/>
        </p:nvSpPr>
        <p:spPr>
          <a:xfrm>
            <a:off x="7012909" y="4062413"/>
            <a:ext cx="3701851" cy="5067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Secure the Entire Pipeline</a:t>
            </a:r>
          </a:p>
        </p:txBody>
      </p:sp>
      <p:grpSp>
        <p:nvGrpSpPr>
          <p:cNvPr id="58" name="Group 57">
            <a:extLst>
              <a:ext uri="{FF2B5EF4-FFF2-40B4-BE49-F238E27FC236}">
                <a16:creationId xmlns:a16="http://schemas.microsoft.com/office/drawing/2014/main" id="{E88D388D-5A1D-A57B-34C0-2374EA573EB8}"/>
              </a:ext>
            </a:extLst>
          </p:cNvPr>
          <p:cNvGrpSpPr/>
          <p:nvPr/>
        </p:nvGrpSpPr>
        <p:grpSpPr>
          <a:xfrm>
            <a:off x="6196232" y="1879789"/>
            <a:ext cx="423818" cy="423940"/>
            <a:chOff x="1600003" y="1811018"/>
            <a:chExt cx="1641521" cy="1641995"/>
          </a:xfrm>
        </p:grpSpPr>
        <p:sp>
          <p:nvSpPr>
            <p:cNvPr id="59" name="Oval 17">
              <a:extLst>
                <a:ext uri="{FF2B5EF4-FFF2-40B4-BE49-F238E27FC236}">
                  <a16:creationId xmlns:a16="http://schemas.microsoft.com/office/drawing/2014/main" id="{F63B1D45-1E3E-7F36-8433-D58FFBC46411}"/>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60" name="Group 59">
              <a:extLst>
                <a:ext uri="{FF2B5EF4-FFF2-40B4-BE49-F238E27FC236}">
                  <a16:creationId xmlns:a16="http://schemas.microsoft.com/office/drawing/2014/main" id="{06028E44-38D6-A5D9-026C-CE67BB632ABF}"/>
                </a:ext>
              </a:extLst>
            </p:cNvPr>
            <p:cNvGrpSpPr/>
            <p:nvPr/>
          </p:nvGrpSpPr>
          <p:grpSpPr>
            <a:xfrm>
              <a:off x="1714605" y="1927192"/>
              <a:ext cx="1412316" cy="1409646"/>
              <a:chOff x="1261669" y="4833937"/>
              <a:chExt cx="954299" cy="954297"/>
            </a:xfrm>
          </p:grpSpPr>
          <p:sp>
            <p:nvSpPr>
              <p:cNvPr id="61" name="Rectangle: Rounded Corners 60">
                <a:extLst>
                  <a:ext uri="{FF2B5EF4-FFF2-40B4-BE49-F238E27FC236}">
                    <a16:creationId xmlns:a16="http://schemas.microsoft.com/office/drawing/2014/main" id="{D361DA42-95D3-7E82-D0A2-47F934D7BECB}"/>
                  </a:ext>
                </a:extLst>
              </p:cNvPr>
              <p:cNvSpPr/>
              <p:nvPr userDrawn="1"/>
            </p:nvSpPr>
            <p:spPr bwMode="auto">
              <a:xfrm>
                <a:off x="1261669" y="4833937"/>
                <a:ext cx="954296" cy="954297"/>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7</a:t>
                </a:r>
              </a:p>
            </p:txBody>
          </p:sp>
          <p:sp>
            <p:nvSpPr>
              <p:cNvPr id="62" name="Rectangle: Rounded Corners 61">
                <a:extLst>
                  <a:ext uri="{FF2B5EF4-FFF2-40B4-BE49-F238E27FC236}">
                    <a16:creationId xmlns:a16="http://schemas.microsoft.com/office/drawing/2014/main" id="{010CAF31-521A-834A-3CDB-B9E1C9E1FE62}"/>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grpSp>
        <p:nvGrpSpPr>
          <p:cNvPr id="63" name="Group 62">
            <a:extLst>
              <a:ext uri="{FF2B5EF4-FFF2-40B4-BE49-F238E27FC236}">
                <a16:creationId xmlns:a16="http://schemas.microsoft.com/office/drawing/2014/main" id="{EAB55982-B33D-72ED-A61C-5FB69D42287C}"/>
              </a:ext>
            </a:extLst>
          </p:cNvPr>
          <p:cNvGrpSpPr/>
          <p:nvPr/>
        </p:nvGrpSpPr>
        <p:grpSpPr>
          <a:xfrm>
            <a:off x="6196232" y="2625863"/>
            <a:ext cx="423818" cy="423940"/>
            <a:chOff x="1600003" y="1811018"/>
            <a:chExt cx="1641521" cy="1641995"/>
          </a:xfrm>
        </p:grpSpPr>
        <p:sp>
          <p:nvSpPr>
            <p:cNvPr id="64" name="Oval 17">
              <a:extLst>
                <a:ext uri="{FF2B5EF4-FFF2-40B4-BE49-F238E27FC236}">
                  <a16:creationId xmlns:a16="http://schemas.microsoft.com/office/drawing/2014/main" id="{63EF8D38-2463-0805-BAA8-E8EFC56B288D}"/>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65" name="Group 64">
              <a:extLst>
                <a:ext uri="{FF2B5EF4-FFF2-40B4-BE49-F238E27FC236}">
                  <a16:creationId xmlns:a16="http://schemas.microsoft.com/office/drawing/2014/main" id="{7228A0B2-33A9-AA39-A229-B098AFA076E0}"/>
                </a:ext>
              </a:extLst>
            </p:cNvPr>
            <p:cNvGrpSpPr/>
            <p:nvPr/>
          </p:nvGrpSpPr>
          <p:grpSpPr>
            <a:xfrm>
              <a:off x="1714608" y="1927192"/>
              <a:ext cx="1412311" cy="1409646"/>
              <a:chOff x="1261672" y="4833937"/>
              <a:chExt cx="954296" cy="954297"/>
            </a:xfrm>
          </p:grpSpPr>
          <p:sp>
            <p:nvSpPr>
              <p:cNvPr id="66" name="Rectangle: Rounded Corners 65">
                <a:extLst>
                  <a:ext uri="{FF2B5EF4-FFF2-40B4-BE49-F238E27FC236}">
                    <a16:creationId xmlns:a16="http://schemas.microsoft.com/office/drawing/2014/main" id="{57195826-5FC0-5AD1-8F11-5C2AFD6C8755}"/>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8</a:t>
                </a:r>
              </a:p>
            </p:txBody>
          </p:sp>
          <p:sp>
            <p:nvSpPr>
              <p:cNvPr id="67" name="Rectangle: Rounded Corners 66">
                <a:extLst>
                  <a:ext uri="{FF2B5EF4-FFF2-40B4-BE49-F238E27FC236}">
                    <a16:creationId xmlns:a16="http://schemas.microsoft.com/office/drawing/2014/main" id="{8EB93990-B33B-F64E-9840-B131E1AA14F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grpSp>
        <p:nvGrpSpPr>
          <p:cNvPr id="68" name="Group 67">
            <a:extLst>
              <a:ext uri="{FF2B5EF4-FFF2-40B4-BE49-F238E27FC236}">
                <a16:creationId xmlns:a16="http://schemas.microsoft.com/office/drawing/2014/main" id="{104E316C-E75B-4103-98AB-958F030BF20E}"/>
              </a:ext>
            </a:extLst>
          </p:cNvPr>
          <p:cNvGrpSpPr/>
          <p:nvPr/>
        </p:nvGrpSpPr>
        <p:grpSpPr>
          <a:xfrm>
            <a:off x="6196232" y="3371937"/>
            <a:ext cx="423818" cy="423940"/>
            <a:chOff x="1600003" y="1811018"/>
            <a:chExt cx="1641521" cy="1641995"/>
          </a:xfrm>
        </p:grpSpPr>
        <p:sp>
          <p:nvSpPr>
            <p:cNvPr id="69" name="Oval 17">
              <a:extLst>
                <a:ext uri="{FF2B5EF4-FFF2-40B4-BE49-F238E27FC236}">
                  <a16:creationId xmlns:a16="http://schemas.microsoft.com/office/drawing/2014/main" id="{1474D32F-C835-A3D5-1A85-971689802853}"/>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70" name="Group 69">
              <a:extLst>
                <a:ext uri="{FF2B5EF4-FFF2-40B4-BE49-F238E27FC236}">
                  <a16:creationId xmlns:a16="http://schemas.microsoft.com/office/drawing/2014/main" id="{60C26C00-6327-2526-075C-325513EC05B5}"/>
                </a:ext>
              </a:extLst>
            </p:cNvPr>
            <p:cNvGrpSpPr/>
            <p:nvPr/>
          </p:nvGrpSpPr>
          <p:grpSpPr>
            <a:xfrm>
              <a:off x="1714608" y="1927192"/>
              <a:ext cx="1412311" cy="1409646"/>
              <a:chOff x="1261672" y="4833937"/>
              <a:chExt cx="954296" cy="954297"/>
            </a:xfrm>
          </p:grpSpPr>
          <p:sp>
            <p:nvSpPr>
              <p:cNvPr id="71" name="Rectangle: Rounded Corners 70">
                <a:extLst>
                  <a:ext uri="{FF2B5EF4-FFF2-40B4-BE49-F238E27FC236}">
                    <a16:creationId xmlns:a16="http://schemas.microsoft.com/office/drawing/2014/main" id="{99D1053D-A77F-496E-8908-05452B3E4ACA}"/>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9</a:t>
                </a:r>
              </a:p>
            </p:txBody>
          </p:sp>
          <p:sp>
            <p:nvSpPr>
              <p:cNvPr id="72" name="Rectangle: Rounded Corners 71">
                <a:extLst>
                  <a:ext uri="{FF2B5EF4-FFF2-40B4-BE49-F238E27FC236}">
                    <a16:creationId xmlns:a16="http://schemas.microsoft.com/office/drawing/2014/main" id="{5DF31E3F-1185-918B-2BF5-C8EB69680B0A}"/>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1600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grpSp>
        <p:nvGrpSpPr>
          <p:cNvPr id="73" name="Group 72">
            <a:extLst>
              <a:ext uri="{FF2B5EF4-FFF2-40B4-BE49-F238E27FC236}">
                <a16:creationId xmlns:a16="http://schemas.microsoft.com/office/drawing/2014/main" id="{234895C8-0ABA-B982-8D89-652EF1399E3E}"/>
              </a:ext>
            </a:extLst>
          </p:cNvPr>
          <p:cNvGrpSpPr/>
          <p:nvPr/>
        </p:nvGrpSpPr>
        <p:grpSpPr>
          <a:xfrm>
            <a:off x="6196232" y="4118011"/>
            <a:ext cx="423818" cy="423940"/>
            <a:chOff x="1600003" y="1811018"/>
            <a:chExt cx="1641521" cy="1641995"/>
          </a:xfrm>
        </p:grpSpPr>
        <p:sp>
          <p:nvSpPr>
            <p:cNvPr id="74" name="Oval 17">
              <a:extLst>
                <a:ext uri="{FF2B5EF4-FFF2-40B4-BE49-F238E27FC236}">
                  <a16:creationId xmlns:a16="http://schemas.microsoft.com/office/drawing/2014/main" id="{3CCC3070-EF11-5C38-767F-0FB85A31330F}"/>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97536" rIns="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75" name="Group 74">
              <a:extLst>
                <a:ext uri="{FF2B5EF4-FFF2-40B4-BE49-F238E27FC236}">
                  <a16:creationId xmlns:a16="http://schemas.microsoft.com/office/drawing/2014/main" id="{C33BB069-7344-78AC-CBDD-1970D17A6D5C}"/>
                </a:ext>
              </a:extLst>
            </p:cNvPr>
            <p:cNvGrpSpPr/>
            <p:nvPr/>
          </p:nvGrpSpPr>
          <p:grpSpPr>
            <a:xfrm>
              <a:off x="1714608" y="1927192"/>
              <a:ext cx="1412311" cy="1409646"/>
              <a:chOff x="1261672" y="4833937"/>
              <a:chExt cx="954296" cy="954297"/>
            </a:xfrm>
          </p:grpSpPr>
          <p:sp>
            <p:nvSpPr>
              <p:cNvPr id="76" name="Rectangle: Rounded Corners 75">
                <a:extLst>
                  <a:ext uri="{FF2B5EF4-FFF2-40B4-BE49-F238E27FC236}">
                    <a16:creationId xmlns:a16="http://schemas.microsoft.com/office/drawing/2014/main" id="{9D508882-4B78-4A98-7D56-B4900FF8E8B1}"/>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146304" rIns="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10</a:t>
                </a:r>
              </a:p>
            </p:txBody>
          </p:sp>
          <p:sp>
            <p:nvSpPr>
              <p:cNvPr id="77" name="Rectangle: Rounded Corners 76">
                <a:extLst>
                  <a:ext uri="{FF2B5EF4-FFF2-40B4-BE49-F238E27FC236}">
                    <a16:creationId xmlns:a16="http://schemas.microsoft.com/office/drawing/2014/main" id="{E5D869FB-6A08-DE06-90C2-001CEAA6181A}"/>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146304" rIns="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sp>
        <p:nvSpPr>
          <p:cNvPr id="78" name="Rectangle: Rounded Corners 77">
            <a:extLst>
              <a:ext uri="{FF2B5EF4-FFF2-40B4-BE49-F238E27FC236}">
                <a16:creationId xmlns:a16="http://schemas.microsoft.com/office/drawing/2014/main" id="{36A69C24-2CEE-4D8A-DACC-0F8579649DDF}"/>
              </a:ext>
            </a:extLst>
          </p:cNvPr>
          <p:cNvSpPr>
            <a:spLocks/>
          </p:cNvSpPr>
          <p:nvPr/>
        </p:nvSpPr>
        <p:spPr bwMode="auto">
          <a:xfrm>
            <a:off x="6407154" y="4763923"/>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79" name="Content Placeholder 2">
            <a:extLst>
              <a:ext uri="{FF2B5EF4-FFF2-40B4-BE49-F238E27FC236}">
                <a16:creationId xmlns:a16="http://schemas.microsoft.com/office/drawing/2014/main" id="{267ECADC-65B9-100B-A9D8-88E6985C558C}"/>
              </a:ext>
            </a:extLst>
          </p:cNvPr>
          <p:cNvSpPr txBox="1">
            <a:spLocks/>
          </p:cNvSpPr>
          <p:nvPr/>
        </p:nvSpPr>
        <p:spPr>
          <a:xfrm>
            <a:off x="6995403" y="4821081"/>
            <a:ext cx="3468323" cy="5067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Optimize for Scalability and Resource Efficiency</a:t>
            </a:r>
          </a:p>
        </p:txBody>
      </p:sp>
      <p:sp>
        <p:nvSpPr>
          <p:cNvPr id="80" name="Rectangle: Rounded Corners 79">
            <a:extLst>
              <a:ext uri="{FF2B5EF4-FFF2-40B4-BE49-F238E27FC236}">
                <a16:creationId xmlns:a16="http://schemas.microsoft.com/office/drawing/2014/main" id="{4B8DB842-F2A0-9F75-5FCA-8C2CFDED9C1D}"/>
              </a:ext>
            </a:extLst>
          </p:cNvPr>
          <p:cNvSpPr>
            <a:spLocks/>
          </p:cNvSpPr>
          <p:nvPr/>
        </p:nvSpPr>
        <p:spPr bwMode="auto">
          <a:xfrm>
            <a:off x="6407154" y="5516479"/>
            <a:ext cx="5150825" cy="63329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Segoe Sans Text"/>
              <a:ea typeface="Segoe UI" pitchFamily="34" charset="0"/>
              <a:cs typeface="Segoe Sans Text" pitchFamily="2" charset="0"/>
            </a:endParaRPr>
          </a:p>
        </p:txBody>
      </p:sp>
      <p:sp>
        <p:nvSpPr>
          <p:cNvPr id="81" name="Content Placeholder 2">
            <a:extLst>
              <a:ext uri="{FF2B5EF4-FFF2-40B4-BE49-F238E27FC236}">
                <a16:creationId xmlns:a16="http://schemas.microsoft.com/office/drawing/2014/main" id="{D06EF0A3-5C7D-999F-223B-09F53A3B085A}"/>
              </a:ext>
            </a:extLst>
          </p:cNvPr>
          <p:cNvSpPr txBox="1">
            <a:spLocks/>
          </p:cNvSpPr>
          <p:nvPr/>
        </p:nvSpPr>
        <p:spPr>
          <a:xfrm>
            <a:off x="7012909" y="5579750"/>
            <a:ext cx="3701851" cy="5067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a:solidFill>
                  <a:schemeClr val="tx1"/>
                </a:solidFill>
              </a:rPr>
              <a:t>Continuously Improve</a:t>
            </a:r>
          </a:p>
        </p:txBody>
      </p:sp>
      <p:grpSp>
        <p:nvGrpSpPr>
          <p:cNvPr id="82" name="Group 81">
            <a:extLst>
              <a:ext uri="{FF2B5EF4-FFF2-40B4-BE49-F238E27FC236}">
                <a16:creationId xmlns:a16="http://schemas.microsoft.com/office/drawing/2014/main" id="{4216D2EE-3C88-268F-FA69-5135EEA2D0B3}"/>
              </a:ext>
            </a:extLst>
          </p:cNvPr>
          <p:cNvGrpSpPr/>
          <p:nvPr/>
        </p:nvGrpSpPr>
        <p:grpSpPr>
          <a:xfrm>
            <a:off x="6196232" y="4864085"/>
            <a:ext cx="423818" cy="423940"/>
            <a:chOff x="1600003" y="1811018"/>
            <a:chExt cx="1641521" cy="1641995"/>
          </a:xfrm>
        </p:grpSpPr>
        <p:sp>
          <p:nvSpPr>
            <p:cNvPr id="83" name="Oval 17">
              <a:extLst>
                <a:ext uri="{FF2B5EF4-FFF2-40B4-BE49-F238E27FC236}">
                  <a16:creationId xmlns:a16="http://schemas.microsoft.com/office/drawing/2014/main" id="{DFC3573E-6D6A-C6F2-52AB-6D2C76A54AC3}"/>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97536" rIns="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84" name="Group 83">
              <a:extLst>
                <a:ext uri="{FF2B5EF4-FFF2-40B4-BE49-F238E27FC236}">
                  <a16:creationId xmlns:a16="http://schemas.microsoft.com/office/drawing/2014/main" id="{5A7EC5E0-7A6A-ECBE-A3B0-4086E4836CBC}"/>
                </a:ext>
              </a:extLst>
            </p:cNvPr>
            <p:cNvGrpSpPr/>
            <p:nvPr/>
          </p:nvGrpSpPr>
          <p:grpSpPr>
            <a:xfrm>
              <a:off x="1714608" y="1927192"/>
              <a:ext cx="1412311" cy="1409646"/>
              <a:chOff x="1261672" y="4833937"/>
              <a:chExt cx="954296" cy="954297"/>
            </a:xfrm>
          </p:grpSpPr>
          <p:sp>
            <p:nvSpPr>
              <p:cNvPr id="85" name="Rectangle: Rounded Corners 84">
                <a:extLst>
                  <a:ext uri="{FF2B5EF4-FFF2-40B4-BE49-F238E27FC236}">
                    <a16:creationId xmlns:a16="http://schemas.microsoft.com/office/drawing/2014/main" id="{52E4F1E9-C266-1495-6FC4-492F041CE1C2}"/>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146304" rIns="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11</a:t>
                </a:r>
              </a:p>
            </p:txBody>
          </p:sp>
          <p:sp>
            <p:nvSpPr>
              <p:cNvPr id="86" name="Rectangle: Rounded Corners 85">
                <a:extLst>
                  <a:ext uri="{FF2B5EF4-FFF2-40B4-BE49-F238E27FC236}">
                    <a16:creationId xmlns:a16="http://schemas.microsoft.com/office/drawing/2014/main" id="{5E3AF5E0-6DA1-D85D-A338-B55B50099B73}"/>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146304" rIns="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grpSp>
        <p:nvGrpSpPr>
          <p:cNvPr id="87" name="Group 86">
            <a:extLst>
              <a:ext uri="{FF2B5EF4-FFF2-40B4-BE49-F238E27FC236}">
                <a16:creationId xmlns:a16="http://schemas.microsoft.com/office/drawing/2014/main" id="{55DC218D-B176-64C2-F22A-36F92CE3F650}"/>
              </a:ext>
            </a:extLst>
          </p:cNvPr>
          <p:cNvGrpSpPr/>
          <p:nvPr/>
        </p:nvGrpSpPr>
        <p:grpSpPr>
          <a:xfrm>
            <a:off x="6196232" y="5610158"/>
            <a:ext cx="423818" cy="423940"/>
            <a:chOff x="1600003" y="1811018"/>
            <a:chExt cx="1641521" cy="1641995"/>
          </a:xfrm>
        </p:grpSpPr>
        <p:sp>
          <p:nvSpPr>
            <p:cNvPr id="88" name="Oval 17">
              <a:extLst>
                <a:ext uri="{FF2B5EF4-FFF2-40B4-BE49-F238E27FC236}">
                  <a16:creationId xmlns:a16="http://schemas.microsoft.com/office/drawing/2014/main" id="{116CDB1F-1B95-780F-48D7-9534A878ACE6}"/>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97536" rIns="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89" name="Group 88">
              <a:extLst>
                <a:ext uri="{FF2B5EF4-FFF2-40B4-BE49-F238E27FC236}">
                  <a16:creationId xmlns:a16="http://schemas.microsoft.com/office/drawing/2014/main" id="{1C3A4962-E135-A366-5305-D18FAC329E25}"/>
                </a:ext>
              </a:extLst>
            </p:cNvPr>
            <p:cNvGrpSpPr/>
            <p:nvPr/>
          </p:nvGrpSpPr>
          <p:grpSpPr>
            <a:xfrm>
              <a:off x="1714608" y="1927192"/>
              <a:ext cx="1412311" cy="1409646"/>
              <a:chOff x="1261672" y="4833937"/>
              <a:chExt cx="954296" cy="954297"/>
            </a:xfrm>
          </p:grpSpPr>
          <p:sp>
            <p:nvSpPr>
              <p:cNvPr id="90" name="Rectangle: Rounded Corners 89">
                <a:extLst>
                  <a:ext uri="{FF2B5EF4-FFF2-40B4-BE49-F238E27FC236}">
                    <a16:creationId xmlns:a16="http://schemas.microsoft.com/office/drawing/2014/main" id="{44853B22-CB6B-B9F9-70BE-746F882C883C}"/>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146304" rIns="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300" normalizeH="0" baseline="0" noProof="0">
                    <a:ln>
                      <a:noFill/>
                    </a:ln>
                    <a:solidFill>
                      <a:schemeClr val="tx1"/>
                    </a:solidFill>
                    <a:effectLst/>
                    <a:uLnTx/>
                    <a:uFillTx/>
                    <a:latin typeface="Segoe Sans Text Semibold"/>
                    <a:ea typeface="+mn-ea"/>
                    <a:cs typeface="+mn-cs"/>
                  </a:rPr>
                  <a:t>12</a:t>
                </a:r>
              </a:p>
            </p:txBody>
          </p:sp>
          <p:sp>
            <p:nvSpPr>
              <p:cNvPr id="91" name="Rectangle: Rounded Corners 90">
                <a:extLst>
                  <a:ext uri="{FF2B5EF4-FFF2-40B4-BE49-F238E27FC236}">
                    <a16:creationId xmlns:a16="http://schemas.microsoft.com/office/drawing/2014/main" id="{986CDC8B-C77A-AD7D-BA34-B741EAA51AC7}"/>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000" tIns="146304" rIns="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chemeClr val="tx1"/>
                  </a:solidFill>
                  <a:effectLst/>
                  <a:uLnTx/>
                  <a:uFillTx/>
                  <a:latin typeface="Segoe Sans Text"/>
                  <a:ea typeface="Segoe UI" pitchFamily="34" charset="0"/>
                  <a:cs typeface="Segoe Sans Text" pitchFamily="2" charset="0"/>
                </a:endParaRPr>
              </a:p>
            </p:txBody>
          </p:sp>
        </p:grpSp>
      </p:grpSp>
    </p:spTree>
    <p:extLst>
      <p:ext uri="{BB962C8B-B14F-4D97-AF65-F5344CB8AC3E}">
        <p14:creationId xmlns:p14="http://schemas.microsoft.com/office/powerpoint/2010/main" val="18283343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23" presetClass="entr" presetSubtype="272" fill="hold" grpId="0" nodeType="withEffect">
                                  <p:stCondLst>
                                    <p:cond delay="150"/>
                                  </p:stCondLst>
                                  <p:childTnLst>
                                    <p:set>
                                      <p:cBhvr>
                                        <p:cTn id="9" dur="1" fill="hold">
                                          <p:stCondLst>
                                            <p:cond delay="0"/>
                                          </p:stCondLst>
                                        </p:cTn>
                                        <p:tgtEl>
                                          <p:spTgt spid="9"/>
                                        </p:tgtEl>
                                        <p:attrNameLst>
                                          <p:attrName>style.visibility</p:attrName>
                                        </p:attrNameLst>
                                      </p:cBhvr>
                                      <p:to>
                                        <p:strVal val="visible"/>
                                      </p:to>
                                    </p:set>
                                    <p:anim calcmode="lin" valueType="num">
                                      <p:cBhvr>
                                        <p:cTn id="10" dur="250" fill="hold"/>
                                        <p:tgtEl>
                                          <p:spTgt spid="9"/>
                                        </p:tgtEl>
                                        <p:attrNameLst>
                                          <p:attrName>ppt_w</p:attrName>
                                        </p:attrNameLst>
                                      </p:cBhvr>
                                      <p:tavLst>
                                        <p:tav tm="0">
                                          <p:val>
                                            <p:strVal val="2/3*#ppt_w"/>
                                          </p:val>
                                        </p:tav>
                                        <p:tav tm="100000">
                                          <p:val>
                                            <p:strVal val="#ppt_w"/>
                                          </p:val>
                                        </p:tav>
                                      </p:tavLst>
                                    </p:anim>
                                    <p:anim calcmode="lin" valueType="num">
                                      <p:cBhvr>
                                        <p:cTn id="11" dur="250" fill="hold"/>
                                        <p:tgtEl>
                                          <p:spTgt spid="9"/>
                                        </p:tgtEl>
                                        <p:attrNameLst>
                                          <p:attrName>ppt_h</p:attrName>
                                        </p:attrNameLst>
                                      </p:cBhvr>
                                      <p:tavLst>
                                        <p:tav tm="0">
                                          <p:val>
                                            <p:strVal val="2/3*#ppt_h"/>
                                          </p:val>
                                        </p:tav>
                                        <p:tav tm="100000">
                                          <p:val>
                                            <p:strVal val="#ppt_h"/>
                                          </p:val>
                                        </p:tav>
                                      </p:tavLst>
                                    </p:anim>
                                  </p:childTnLst>
                                </p:cTn>
                              </p:par>
                              <p:par>
                                <p:cTn id="12" presetID="10" presetClass="entr" presetSubtype="0" fill="hold" grpId="1" nodeType="withEffect">
                                  <p:stCondLst>
                                    <p:cond delay="15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6" presetClass="emph" presetSubtype="0" fill="hold" grpId="2" nodeType="withEffect">
                                  <p:stCondLst>
                                    <p:cond delay="150"/>
                                  </p:stCondLst>
                                  <p:childTnLst>
                                    <p:animScale>
                                      <p:cBhvr>
                                        <p:cTn id="16" dur="10" fill="hold"/>
                                        <p:tgtEl>
                                          <p:spTgt spid="9"/>
                                        </p:tgtEl>
                                      </p:cBhvr>
                                      <p:by x="80000" y="80000"/>
                                    </p:animScale>
                                  </p:childTnLst>
                                </p:cTn>
                              </p:par>
                              <p:par>
                                <p:cTn id="17" presetID="6" presetClass="emph" presetSubtype="0" decel="100000" fill="hold" grpId="3" nodeType="withEffect">
                                  <p:stCondLst>
                                    <p:cond delay="150"/>
                                  </p:stCondLst>
                                  <p:childTnLst>
                                    <p:animScale>
                                      <p:cBhvr>
                                        <p:cTn id="18" dur="1000" fill="hold"/>
                                        <p:tgtEl>
                                          <p:spTgt spid="9"/>
                                        </p:tgtEl>
                                      </p:cBhvr>
                                      <p:by x="125000" y="125000"/>
                                    </p:animScale>
                                  </p:childTnLst>
                                </p:cTn>
                              </p:par>
                              <p:par>
                                <p:cTn id="19" presetID="10" presetClass="entr" presetSubtype="0" fill="hold" grpId="0" nodeType="withEffect">
                                  <p:stCondLst>
                                    <p:cond delay="15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childTnLst>
                                </p:cTn>
                              </p:par>
                              <p:par>
                                <p:cTn id="22" presetID="23" presetClass="entr" presetSubtype="272" fill="hold" grpId="0" nodeType="withEffect">
                                  <p:stCondLst>
                                    <p:cond delay="150"/>
                                  </p:stCondLst>
                                  <p:childTnLst>
                                    <p:set>
                                      <p:cBhvr>
                                        <p:cTn id="23" dur="1" fill="hold">
                                          <p:stCondLst>
                                            <p:cond delay="0"/>
                                          </p:stCondLst>
                                        </p:cTn>
                                        <p:tgtEl>
                                          <p:spTgt spid="11"/>
                                        </p:tgtEl>
                                        <p:attrNameLst>
                                          <p:attrName>style.visibility</p:attrName>
                                        </p:attrNameLst>
                                      </p:cBhvr>
                                      <p:to>
                                        <p:strVal val="visible"/>
                                      </p:to>
                                    </p:set>
                                    <p:anim calcmode="lin" valueType="num">
                                      <p:cBhvr>
                                        <p:cTn id="24" dur="250" fill="hold"/>
                                        <p:tgtEl>
                                          <p:spTgt spid="11"/>
                                        </p:tgtEl>
                                        <p:attrNameLst>
                                          <p:attrName>ppt_w</p:attrName>
                                        </p:attrNameLst>
                                      </p:cBhvr>
                                      <p:tavLst>
                                        <p:tav tm="0">
                                          <p:val>
                                            <p:strVal val="2/3*#ppt_w"/>
                                          </p:val>
                                        </p:tav>
                                        <p:tav tm="100000">
                                          <p:val>
                                            <p:strVal val="#ppt_w"/>
                                          </p:val>
                                        </p:tav>
                                      </p:tavLst>
                                    </p:anim>
                                    <p:anim calcmode="lin" valueType="num">
                                      <p:cBhvr>
                                        <p:cTn id="25" dur="250" fill="hold"/>
                                        <p:tgtEl>
                                          <p:spTgt spid="11"/>
                                        </p:tgtEl>
                                        <p:attrNameLst>
                                          <p:attrName>ppt_h</p:attrName>
                                        </p:attrNameLst>
                                      </p:cBhvr>
                                      <p:tavLst>
                                        <p:tav tm="0">
                                          <p:val>
                                            <p:strVal val="2/3*#ppt_h"/>
                                          </p:val>
                                        </p:tav>
                                        <p:tav tm="100000">
                                          <p:val>
                                            <p:strVal val="#ppt_h"/>
                                          </p:val>
                                        </p:tav>
                                      </p:tavLst>
                                    </p:anim>
                                  </p:childTnLst>
                                </p:cTn>
                              </p:par>
                              <p:par>
                                <p:cTn id="26" presetID="10" presetClass="entr" presetSubtype="0" fill="hold" grpId="1" nodeType="withEffect">
                                  <p:stCondLst>
                                    <p:cond delay="1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6" presetClass="emph" presetSubtype="0" fill="hold" grpId="2" nodeType="withEffect">
                                  <p:stCondLst>
                                    <p:cond delay="150"/>
                                  </p:stCondLst>
                                  <p:childTnLst>
                                    <p:animScale>
                                      <p:cBhvr>
                                        <p:cTn id="30" dur="10" fill="hold"/>
                                        <p:tgtEl>
                                          <p:spTgt spid="11"/>
                                        </p:tgtEl>
                                      </p:cBhvr>
                                      <p:by x="80000" y="80000"/>
                                    </p:animScale>
                                  </p:childTnLst>
                                </p:cTn>
                              </p:par>
                              <p:par>
                                <p:cTn id="31" presetID="6" presetClass="emph" presetSubtype="0" decel="100000" fill="hold" grpId="3" nodeType="withEffect">
                                  <p:stCondLst>
                                    <p:cond delay="150"/>
                                  </p:stCondLst>
                                  <p:childTnLst>
                                    <p:animScale>
                                      <p:cBhvr>
                                        <p:cTn id="32" dur="1000" fill="hold"/>
                                        <p:tgtEl>
                                          <p:spTgt spid="11"/>
                                        </p:tgtEl>
                                      </p:cBhvr>
                                      <p:by x="125000" y="125000"/>
                                    </p:animScale>
                                  </p:childTnLst>
                                </p:cTn>
                              </p:par>
                              <p:par>
                                <p:cTn id="33" presetID="10" presetClass="entr" presetSubtype="0" fill="hold" grpId="0" nodeType="withEffect">
                                  <p:stCondLst>
                                    <p:cond delay="15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childTnLst>
                                </p:cTn>
                              </p:par>
                              <p:par>
                                <p:cTn id="36" presetID="23" presetClass="entr" presetSubtype="272" fill="hold" grpId="0" nodeType="withEffect">
                                  <p:stCondLst>
                                    <p:cond delay="150"/>
                                  </p:stCondLst>
                                  <p:childTnLst>
                                    <p:set>
                                      <p:cBhvr>
                                        <p:cTn id="37" dur="1" fill="hold">
                                          <p:stCondLst>
                                            <p:cond delay="0"/>
                                          </p:stCondLst>
                                        </p:cTn>
                                        <p:tgtEl>
                                          <p:spTgt spid="13"/>
                                        </p:tgtEl>
                                        <p:attrNameLst>
                                          <p:attrName>style.visibility</p:attrName>
                                        </p:attrNameLst>
                                      </p:cBhvr>
                                      <p:to>
                                        <p:strVal val="visible"/>
                                      </p:to>
                                    </p:set>
                                    <p:anim calcmode="lin" valueType="num">
                                      <p:cBhvr>
                                        <p:cTn id="38" dur="250" fill="hold"/>
                                        <p:tgtEl>
                                          <p:spTgt spid="13"/>
                                        </p:tgtEl>
                                        <p:attrNameLst>
                                          <p:attrName>ppt_w</p:attrName>
                                        </p:attrNameLst>
                                      </p:cBhvr>
                                      <p:tavLst>
                                        <p:tav tm="0">
                                          <p:val>
                                            <p:strVal val="2/3*#ppt_w"/>
                                          </p:val>
                                        </p:tav>
                                        <p:tav tm="100000">
                                          <p:val>
                                            <p:strVal val="#ppt_w"/>
                                          </p:val>
                                        </p:tav>
                                      </p:tavLst>
                                    </p:anim>
                                    <p:anim calcmode="lin" valueType="num">
                                      <p:cBhvr>
                                        <p:cTn id="39" dur="250" fill="hold"/>
                                        <p:tgtEl>
                                          <p:spTgt spid="13"/>
                                        </p:tgtEl>
                                        <p:attrNameLst>
                                          <p:attrName>ppt_h</p:attrName>
                                        </p:attrNameLst>
                                      </p:cBhvr>
                                      <p:tavLst>
                                        <p:tav tm="0">
                                          <p:val>
                                            <p:strVal val="2/3*#ppt_h"/>
                                          </p:val>
                                        </p:tav>
                                        <p:tav tm="100000">
                                          <p:val>
                                            <p:strVal val="#ppt_h"/>
                                          </p:val>
                                        </p:tav>
                                      </p:tavLst>
                                    </p:anim>
                                  </p:childTnLst>
                                </p:cTn>
                              </p:par>
                              <p:par>
                                <p:cTn id="40" presetID="10" presetClass="entr" presetSubtype="0" fill="hold" grpId="1" nodeType="withEffect">
                                  <p:stCondLst>
                                    <p:cond delay="15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6" presetClass="emph" presetSubtype="0" fill="hold" grpId="2" nodeType="withEffect">
                                  <p:stCondLst>
                                    <p:cond delay="150"/>
                                  </p:stCondLst>
                                  <p:childTnLst>
                                    <p:animScale>
                                      <p:cBhvr>
                                        <p:cTn id="44" dur="10" fill="hold"/>
                                        <p:tgtEl>
                                          <p:spTgt spid="13"/>
                                        </p:tgtEl>
                                      </p:cBhvr>
                                      <p:by x="80000" y="80000"/>
                                    </p:animScale>
                                  </p:childTnLst>
                                </p:cTn>
                              </p:par>
                              <p:par>
                                <p:cTn id="45" presetID="6" presetClass="emph" presetSubtype="0" decel="100000" fill="hold" grpId="3" nodeType="withEffect">
                                  <p:stCondLst>
                                    <p:cond delay="150"/>
                                  </p:stCondLst>
                                  <p:childTnLst>
                                    <p:animScale>
                                      <p:cBhvr>
                                        <p:cTn id="46" dur="1000" fill="hold"/>
                                        <p:tgtEl>
                                          <p:spTgt spid="13"/>
                                        </p:tgtEl>
                                      </p:cBhvr>
                                      <p:by x="125000" y="125000"/>
                                    </p:animScale>
                                  </p:childTnLst>
                                </p:cTn>
                              </p:par>
                              <p:par>
                                <p:cTn id="47" presetID="10" presetClass="entr" presetSubtype="0" fill="hold" grpId="0" nodeType="withEffect">
                                  <p:stCondLst>
                                    <p:cond delay="15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1000"/>
                                        <p:tgtEl>
                                          <p:spTgt spid="14"/>
                                        </p:tgtEl>
                                      </p:cBhvr>
                                    </p:animEffect>
                                  </p:childTnLst>
                                </p:cTn>
                              </p:par>
                              <p:par>
                                <p:cTn id="50" presetID="23" presetClass="entr" presetSubtype="272" fill="hold" grpId="0" nodeType="withEffect">
                                  <p:stCondLst>
                                    <p:cond delay="150"/>
                                  </p:stCondLst>
                                  <p:childTnLst>
                                    <p:set>
                                      <p:cBhvr>
                                        <p:cTn id="51" dur="1" fill="hold">
                                          <p:stCondLst>
                                            <p:cond delay="0"/>
                                          </p:stCondLst>
                                        </p:cTn>
                                        <p:tgtEl>
                                          <p:spTgt spid="15"/>
                                        </p:tgtEl>
                                        <p:attrNameLst>
                                          <p:attrName>style.visibility</p:attrName>
                                        </p:attrNameLst>
                                      </p:cBhvr>
                                      <p:to>
                                        <p:strVal val="visible"/>
                                      </p:to>
                                    </p:set>
                                    <p:anim calcmode="lin" valueType="num">
                                      <p:cBhvr>
                                        <p:cTn id="52" dur="250" fill="hold"/>
                                        <p:tgtEl>
                                          <p:spTgt spid="15"/>
                                        </p:tgtEl>
                                        <p:attrNameLst>
                                          <p:attrName>ppt_w</p:attrName>
                                        </p:attrNameLst>
                                      </p:cBhvr>
                                      <p:tavLst>
                                        <p:tav tm="0">
                                          <p:val>
                                            <p:strVal val="2/3*#ppt_w"/>
                                          </p:val>
                                        </p:tav>
                                        <p:tav tm="100000">
                                          <p:val>
                                            <p:strVal val="#ppt_w"/>
                                          </p:val>
                                        </p:tav>
                                      </p:tavLst>
                                    </p:anim>
                                    <p:anim calcmode="lin" valueType="num">
                                      <p:cBhvr>
                                        <p:cTn id="53" dur="250" fill="hold"/>
                                        <p:tgtEl>
                                          <p:spTgt spid="15"/>
                                        </p:tgtEl>
                                        <p:attrNameLst>
                                          <p:attrName>ppt_h</p:attrName>
                                        </p:attrNameLst>
                                      </p:cBhvr>
                                      <p:tavLst>
                                        <p:tav tm="0">
                                          <p:val>
                                            <p:strVal val="2/3*#ppt_h"/>
                                          </p:val>
                                        </p:tav>
                                        <p:tav tm="100000">
                                          <p:val>
                                            <p:strVal val="#ppt_h"/>
                                          </p:val>
                                        </p:tav>
                                      </p:tavLst>
                                    </p:anim>
                                  </p:childTnLst>
                                </p:cTn>
                              </p:par>
                              <p:par>
                                <p:cTn id="54" presetID="10" presetClass="entr" presetSubtype="0" fill="hold" grpId="1" nodeType="withEffect">
                                  <p:stCondLst>
                                    <p:cond delay="15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par>
                                <p:cTn id="57" presetID="6" presetClass="emph" presetSubtype="0" fill="hold" grpId="2" nodeType="withEffect">
                                  <p:stCondLst>
                                    <p:cond delay="150"/>
                                  </p:stCondLst>
                                  <p:childTnLst>
                                    <p:animScale>
                                      <p:cBhvr>
                                        <p:cTn id="58" dur="10" fill="hold"/>
                                        <p:tgtEl>
                                          <p:spTgt spid="15"/>
                                        </p:tgtEl>
                                      </p:cBhvr>
                                      <p:by x="80000" y="80000"/>
                                    </p:animScale>
                                  </p:childTnLst>
                                </p:cTn>
                              </p:par>
                              <p:par>
                                <p:cTn id="59" presetID="6" presetClass="emph" presetSubtype="0" decel="100000" fill="hold" grpId="3" nodeType="withEffect">
                                  <p:stCondLst>
                                    <p:cond delay="150"/>
                                  </p:stCondLst>
                                  <p:childTnLst>
                                    <p:animScale>
                                      <p:cBhvr>
                                        <p:cTn id="60" dur="1000" fill="hold"/>
                                        <p:tgtEl>
                                          <p:spTgt spid="15"/>
                                        </p:tgtEl>
                                      </p:cBhvr>
                                      <p:by x="125000" y="125000"/>
                                    </p:animScale>
                                  </p:childTnLst>
                                </p:cTn>
                              </p:par>
                              <p:par>
                                <p:cTn id="61" presetID="23" presetClass="entr" presetSubtype="272" fill="hold" nodeType="withEffect">
                                  <p:stCondLst>
                                    <p:cond delay="150"/>
                                  </p:stCondLst>
                                  <p:childTnLst>
                                    <p:set>
                                      <p:cBhvr>
                                        <p:cTn id="62" dur="1" fill="hold">
                                          <p:stCondLst>
                                            <p:cond delay="0"/>
                                          </p:stCondLst>
                                        </p:cTn>
                                        <p:tgtEl>
                                          <p:spTgt spid="16"/>
                                        </p:tgtEl>
                                        <p:attrNameLst>
                                          <p:attrName>style.visibility</p:attrName>
                                        </p:attrNameLst>
                                      </p:cBhvr>
                                      <p:to>
                                        <p:strVal val="visible"/>
                                      </p:to>
                                    </p:set>
                                    <p:anim calcmode="lin" valueType="num">
                                      <p:cBhvr>
                                        <p:cTn id="63" dur="250" fill="hold"/>
                                        <p:tgtEl>
                                          <p:spTgt spid="16"/>
                                        </p:tgtEl>
                                        <p:attrNameLst>
                                          <p:attrName>ppt_w</p:attrName>
                                        </p:attrNameLst>
                                      </p:cBhvr>
                                      <p:tavLst>
                                        <p:tav tm="0">
                                          <p:val>
                                            <p:strVal val="2/3*#ppt_w"/>
                                          </p:val>
                                        </p:tav>
                                        <p:tav tm="100000">
                                          <p:val>
                                            <p:strVal val="#ppt_w"/>
                                          </p:val>
                                        </p:tav>
                                      </p:tavLst>
                                    </p:anim>
                                    <p:anim calcmode="lin" valueType="num">
                                      <p:cBhvr>
                                        <p:cTn id="64" dur="250" fill="hold"/>
                                        <p:tgtEl>
                                          <p:spTgt spid="16"/>
                                        </p:tgtEl>
                                        <p:attrNameLst>
                                          <p:attrName>ppt_h</p:attrName>
                                        </p:attrNameLst>
                                      </p:cBhvr>
                                      <p:tavLst>
                                        <p:tav tm="0">
                                          <p:val>
                                            <p:strVal val="2/3*#ppt_h"/>
                                          </p:val>
                                        </p:tav>
                                        <p:tav tm="100000">
                                          <p:val>
                                            <p:strVal val="#ppt_h"/>
                                          </p:val>
                                        </p:tav>
                                      </p:tavLst>
                                    </p:anim>
                                  </p:childTnLst>
                                </p:cTn>
                              </p:par>
                              <p:par>
                                <p:cTn id="65" presetID="10" presetClass="entr" presetSubtype="0" fill="hold" nodeType="withEffect">
                                  <p:stCondLst>
                                    <p:cond delay="15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68" presetID="6" presetClass="emph" presetSubtype="0" fill="hold" nodeType="withEffect">
                                  <p:stCondLst>
                                    <p:cond delay="150"/>
                                  </p:stCondLst>
                                  <p:childTnLst>
                                    <p:animScale>
                                      <p:cBhvr>
                                        <p:cTn id="69" dur="10" fill="hold"/>
                                        <p:tgtEl>
                                          <p:spTgt spid="16"/>
                                        </p:tgtEl>
                                      </p:cBhvr>
                                      <p:by x="80000" y="80000"/>
                                    </p:animScale>
                                  </p:childTnLst>
                                </p:cTn>
                              </p:par>
                              <p:par>
                                <p:cTn id="70" presetID="6" presetClass="emph" presetSubtype="0" decel="100000" fill="hold" nodeType="withEffect">
                                  <p:stCondLst>
                                    <p:cond delay="150"/>
                                  </p:stCondLst>
                                  <p:childTnLst>
                                    <p:animScale>
                                      <p:cBhvr>
                                        <p:cTn id="71" dur="1000" fill="hold"/>
                                        <p:tgtEl>
                                          <p:spTgt spid="16"/>
                                        </p:tgtEl>
                                      </p:cBhvr>
                                      <p:by x="125000" y="125000"/>
                                    </p:animScale>
                                  </p:childTnLst>
                                </p:cTn>
                              </p:par>
                              <p:par>
                                <p:cTn id="72" presetID="23" presetClass="entr" presetSubtype="272" fill="hold" nodeType="withEffect">
                                  <p:stCondLst>
                                    <p:cond delay="150"/>
                                  </p:stCondLst>
                                  <p:childTnLst>
                                    <p:set>
                                      <p:cBhvr>
                                        <p:cTn id="73" dur="1" fill="hold">
                                          <p:stCondLst>
                                            <p:cond delay="0"/>
                                          </p:stCondLst>
                                        </p:cTn>
                                        <p:tgtEl>
                                          <p:spTgt spid="21"/>
                                        </p:tgtEl>
                                        <p:attrNameLst>
                                          <p:attrName>style.visibility</p:attrName>
                                        </p:attrNameLst>
                                      </p:cBhvr>
                                      <p:to>
                                        <p:strVal val="visible"/>
                                      </p:to>
                                    </p:set>
                                    <p:anim calcmode="lin" valueType="num">
                                      <p:cBhvr>
                                        <p:cTn id="74" dur="250" fill="hold"/>
                                        <p:tgtEl>
                                          <p:spTgt spid="21"/>
                                        </p:tgtEl>
                                        <p:attrNameLst>
                                          <p:attrName>ppt_w</p:attrName>
                                        </p:attrNameLst>
                                      </p:cBhvr>
                                      <p:tavLst>
                                        <p:tav tm="0">
                                          <p:val>
                                            <p:strVal val="2/3*#ppt_w"/>
                                          </p:val>
                                        </p:tav>
                                        <p:tav tm="100000">
                                          <p:val>
                                            <p:strVal val="#ppt_w"/>
                                          </p:val>
                                        </p:tav>
                                      </p:tavLst>
                                    </p:anim>
                                    <p:anim calcmode="lin" valueType="num">
                                      <p:cBhvr>
                                        <p:cTn id="75" dur="250" fill="hold"/>
                                        <p:tgtEl>
                                          <p:spTgt spid="21"/>
                                        </p:tgtEl>
                                        <p:attrNameLst>
                                          <p:attrName>ppt_h</p:attrName>
                                        </p:attrNameLst>
                                      </p:cBhvr>
                                      <p:tavLst>
                                        <p:tav tm="0">
                                          <p:val>
                                            <p:strVal val="2/3*#ppt_h"/>
                                          </p:val>
                                        </p:tav>
                                        <p:tav tm="100000">
                                          <p:val>
                                            <p:strVal val="#ppt_h"/>
                                          </p:val>
                                        </p:tav>
                                      </p:tavLst>
                                    </p:anim>
                                  </p:childTnLst>
                                </p:cTn>
                              </p:par>
                              <p:par>
                                <p:cTn id="76" presetID="10" presetClass="entr" presetSubtype="0" fill="hold" nodeType="withEffect">
                                  <p:stCondLst>
                                    <p:cond delay="15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childTnLst>
                                </p:cTn>
                              </p:par>
                              <p:par>
                                <p:cTn id="79" presetID="6" presetClass="emph" presetSubtype="0" fill="hold" nodeType="withEffect">
                                  <p:stCondLst>
                                    <p:cond delay="150"/>
                                  </p:stCondLst>
                                  <p:childTnLst>
                                    <p:animScale>
                                      <p:cBhvr>
                                        <p:cTn id="80" dur="10" fill="hold"/>
                                        <p:tgtEl>
                                          <p:spTgt spid="21"/>
                                        </p:tgtEl>
                                      </p:cBhvr>
                                      <p:by x="80000" y="80000"/>
                                    </p:animScale>
                                  </p:childTnLst>
                                </p:cTn>
                              </p:par>
                              <p:par>
                                <p:cTn id="81" presetID="6" presetClass="emph" presetSubtype="0" decel="100000" fill="hold" nodeType="withEffect">
                                  <p:stCondLst>
                                    <p:cond delay="150"/>
                                  </p:stCondLst>
                                  <p:childTnLst>
                                    <p:animScale>
                                      <p:cBhvr>
                                        <p:cTn id="82" dur="1000" fill="hold"/>
                                        <p:tgtEl>
                                          <p:spTgt spid="21"/>
                                        </p:tgtEl>
                                      </p:cBhvr>
                                      <p:by x="125000" y="125000"/>
                                    </p:animScale>
                                  </p:childTnLst>
                                </p:cTn>
                              </p:par>
                              <p:par>
                                <p:cTn id="83" presetID="23" presetClass="entr" presetSubtype="272" fill="hold" nodeType="withEffect">
                                  <p:stCondLst>
                                    <p:cond delay="150"/>
                                  </p:stCondLst>
                                  <p:childTnLst>
                                    <p:set>
                                      <p:cBhvr>
                                        <p:cTn id="84" dur="1" fill="hold">
                                          <p:stCondLst>
                                            <p:cond delay="0"/>
                                          </p:stCondLst>
                                        </p:cTn>
                                        <p:tgtEl>
                                          <p:spTgt spid="26"/>
                                        </p:tgtEl>
                                        <p:attrNameLst>
                                          <p:attrName>style.visibility</p:attrName>
                                        </p:attrNameLst>
                                      </p:cBhvr>
                                      <p:to>
                                        <p:strVal val="visible"/>
                                      </p:to>
                                    </p:set>
                                    <p:anim calcmode="lin" valueType="num">
                                      <p:cBhvr>
                                        <p:cTn id="85" dur="250" fill="hold"/>
                                        <p:tgtEl>
                                          <p:spTgt spid="26"/>
                                        </p:tgtEl>
                                        <p:attrNameLst>
                                          <p:attrName>ppt_w</p:attrName>
                                        </p:attrNameLst>
                                      </p:cBhvr>
                                      <p:tavLst>
                                        <p:tav tm="0">
                                          <p:val>
                                            <p:strVal val="2/3*#ppt_w"/>
                                          </p:val>
                                        </p:tav>
                                        <p:tav tm="100000">
                                          <p:val>
                                            <p:strVal val="#ppt_w"/>
                                          </p:val>
                                        </p:tav>
                                      </p:tavLst>
                                    </p:anim>
                                    <p:anim calcmode="lin" valueType="num">
                                      <p:cBhvr>
                                        <p:cTn id="86" dur="250" fill="hold"/>
                                        <p:tgtEl>
                                          <p:spTgt spid="26"/>
                                        </p:tgtEl>
                                        <p:attrNameLst>
                                          <p:attrName>ppt_h</p:attrName>
                                        </p:attrNameLst>
                                      </p:cBhvr>
                                      <p:tavLst>
                                        <p:tav tm="0">
                                          <p:val>
                                            <p:strVal val="2/3*#ppt_h"/>
                                          </p:val>
                                        </p:tav>
                                        <p:tav tm="100000">
                                          <p:val>
                                            <p:strVal val="#ppt_h"/>
                                          </p:val>
                                        </p:tav>
                                      </p:tavLst>
                                    </p:anim>
                                  </p:childTnLst>
                                </p:cTn>
                              </p:par>
                              <p:par>
                                <p:cTn id="87" presetID="10" presetClass="entr" presetSubtype="0" fill="hold" nodeType="withEffect">
                                  <p:stCondLst>
                                    <p:cond delay="15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500"/>
                                        <p:tgtEl>
                                          <p:spTgt spid="26"/>
                                        </p:tgtEl>
                                      </p:cBhvr>
                                    </p:animEffect>
                                  </p:childTnLst>
                                </p:cTn>
                              </p:par>
                              <p:par>
                                <p:cTn id="90" presetID="6" presetClass="emph" presetSubtype="0" fill="hold" nodeType="withEffect">
                                  <p:stCondLst>
                                    <p:cond delay="150"/>
                                  </p:stCondLst>
                                  <p:childTnLst>
                                    <p:animScale>
                                      <p:cBhvr>
                                        <p:cTn id="91" dur="10" fill="hold"/>
                                        <p:tgtEl>
                                          <p:spTgt spid="26"/>
                                        </p:tgtEl>
                                      </p:cBhvr>
                                      <p:by x="80000" y="80000"/>
                                    </p:animScale>
                                  </p:childTnLst>
                                </p:cTn>
                              </p:par>
                              <p:par>
                                <p:cTn id="92" presetID="6" presetClass="emph" presetSubtype="0" decel="100000" fill="hold" nodeType="withEffect">
                                  <p:stCondLst>
                                    <p:cond delay="150"/>
                                  </p:stCondLst>
                                  <p:childTnLst>
                                    <p:animScale>
                                      <p:cBhvr>
                                        <p:cTn id="93" dur="1000" fill="hold"/>
                                        <p:tgtEl>
                                          <p:spTgt spid="26"/>
                                        </p:tgtEl>
                                      </p:cBhvr>
                                      <p:by x="125000" y="125000"/>
                                    </p:animScale>
                                  </p:childTnLst>
                                </p:cTn>
                              </p:par>
                              <p:par>
                                <p:cTn id="94" presetID="23" presetClass="entr" presetSubtype="272" fill="hold" nodeType="withEffect">
                                  <p:stCondLst>
                                    <p:cond delay="150"/>
                                  </p:stCondLst>
                                  <p:childTnLst>
                                    <p:set>
                                      <p:cBhvr>
                                        <p:cTn id="95" dur="1" fill="hold">
                                          <p:stCondLst>
                                            <p:cond delay="0"/>
                                          </p:stCondLst>
                                        </p:cTn>
                                        <p:tgtEl>
                                          <p:spTgt spid="31"/>
                                        </p:tgtEl>
                                        <p:attrNameLst>
                                          <p:attrName>style.visibility</p:attrName>
                                        </p:attrNameLst>
                                      </p:cBhvr>
                                      <p:to>
                                        <p:strVal val="visible"/>
                                      </p:to>
                                    </p:set>
                                    <p:anim calcmode="lin" valueType="num">
                                      <p:cBhvr>
                                        <p:cTn id="96" dur="250" fill="hold"/>
                                        <p:tgtEl>
                                          <p:spTgt spid="31"/>
                                        </p:tgtEl>
                                        <p:attrNameLst>
                                          <p:attrName>ppt_w</p:attrName>
                                        </p:attrNameLst>
                                      </p:cBhvr>
                                      <p:tavLst>
                                        <p:tav tm="0">
                                          <p:val>
                                            <p:strVal val="2/3*#ppt_w"/>
                                          </p:val>
                                        </p:tav>
                                        <p:tav tm="100000">
                                          <p:val>
                                            <p:strVal val="#ppt_w"/>
                                          </p:val>
                                        </p:tav>
                                      </p:tavLst>
                                    </p:anim>
                                    <p:anim calcmode="lin" valueType="num">
                                      <p:cBhvr>
                                        <p:cTn id="97" dur="250" fill="hold"/>
                                        <p:tgtEl>
                                          <p:spTgt spid="31"/>
                                        </p:tgtEl>
                                        <p:attrNameLst>
                                          <p:attrName>ppt_h</p:attrName>
                                        </p:attrNameLst>
                                      </p:cBhvr>
                                      <p:tavLst>
                                        <p:tav tm="0">
                                          <p:val>
                                            <p:strVal val="2/3*#ppt_h"/>
                                          </p:val>
                                        </p:tav>
                                        <p:tav tm="100000">
                                          <p:val>
                                            <p:strVal val="#ppt_h"/>
                                          </p:val>
                                        </p:tav>
                                      </p:tavLst>
                                    </p:anim>
                                  </p:childTnLst>
                                </p:cTn>
                              </p:par>
                              <p:par>
                                <p:cTn id="98" presetID="10" presetClass="entr" presetSubtype="0" fill="hold" nodeType="withEffect">
                                  <p:stCondLst>
                                    <p:cond delay="150"/>
                                  </p:stCondLst>
                                  <p:childTnLst>
                                    <p:set>
                                      <p:cBhvr>
                                        <p:cTn id="99" dur="1" fill="hold">
                                          <p:stCondLst>
                                            <p:cond delay="0"/>
                                          </p:stCondLst>
                                        </p:cTn>
                                        <p:tgtEl>
                                          <p:spTgt spid="31"/>
                                        </p:tgtEl>
                                        <p:attrNameLst>
                                          <p:attrName>style.visibility</p:attrName>
                                        </p:attrNameLst>
                                      </p:cBhvr>
                                      <p:to>
                                        <p:strVal val="visible"/>
                                      </p:to>
                                    </p:set>
                                    <p:animEffect transition="in" filter="fade">
                                      <p:cBhvr>
                                        <p:cTn id="100" dur="500"/>
                                        <p:tgtEl>
                                          <p:spTgt spid="31"/>
                                        </p:tgtEl>
                                      </p:cBhvr>
                                    </p:animEffect>
                                  </p:childTnLst>
                                </p:cTn>
                              </p:par>
                              <p:par>
                                <p:cTn id="101" presetID="6" presetClass="emph" presetSubtype="0" fill="hold" nodeType="withEffect">
                                  <p:stCondLst>
                                    <p:cond delay="150"/>
                                  </p:stCondLst>
                                  <p:childTnLst>
                                    <p:animScale>
                                      <p:cBhvr>
                                        <p:cTn id="102" dur="10" fill="hold"/>
                                        <p:tgtEl>
                                          <p:spTgt spid="31"/>
                                        </p:tgtEl>
                                      </p:cBhvr>
                                      <p:by x="80000" y="80000"/>
                                    </p:animScale>
                                  </p:childTnLst>
                                </p:cTn>
                              </p:par>
                              <p:par>
                                <p:cTn id="103" presetID="6" presetClass="emph" presetSubtype="0" decel="100000" fill="hold" nodeType="withEffect">
                                  <p:stCondLst>
                                    <p:cond delay="150"/>
                                  </p:stCondLst>
                                  <p:childTnLst>
                                    <p:animScale>
                                      <p:cBhvr>
                                        <p:cTn id="104" dur="1000" fill="hold"/>
                                        <p:tgtEl>
                                          <p:spTgt spid="31"/>
                                        </p:tgtEl>
                                      </p:cBhvr>
                                      <p:by x="125000" y="125000"/>
                                    </p:animScale>
                                  </p:childTnLst>
                                </p:cTn>
                              </p:par>
                              <p:par>
                                <p:cTn id="105" presetID="10" presetClass="entr" presetSubtype="0" fill="hold" grpId="0" nodeType="withEffect">
                                  <p:stCondLst>
                                    <p:cond delay="15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1000"/>
                                        <p:tgtEl>
                                          <p:spTgt spid="36"/>
                                        </p:tgtEl>
                                      </p:cBhvr>
                                    </p:animEffect>
                                  </p:childTnLst>
                                </p:cTn>
                              </p:par>
                              <p:par>
                                <p:cTn id="108" presetID="23" presetClass="entr" presetSubtype="272" fill="hold" grpId="0" nodeType="withEffect">
                                  <p:stCondLst>
                                    <p:cond delay="150"/>
                                  </p:stCondLst>
                                  <p:childTnLst>
                                    <p:set>
                                      <p:cBhvr>
                                        <p:cTn id="109" dur="1" fill="hold">
                                          <p:stCondLst>
                                            <p:cond delay="0"/>
                                          </p:stCondLst>
                                        </p:cTn>
                                        <p:tgtEl>
                                          <p:spTgt spid="37"/>
                                        </p:tgtEl>
                                        <p:attrNameLst>
                                          <p:attrName>style.visibility</p:attrName>
                                        </p:attrNameLst>
                                      </p:cBhvr>
                                      <p:to>
                                        <p:strVal val="visible"/>
                                      </p:to>
                                    </p:set>
                                    <p:anim calcmode="lin" valueType="num">
                                      <p:cBhvr>
                                        <p:cTn id="110" dur="250" fill="hold"/>
                                        <p:tgtEl>
                                          <p:spTgt spid="37"/>
                                        </p:tgtEl>
                                        <p:attrNameLst>
                                          <p:attrName>ppt_w</p:attrName>
                                        </p:attrNameLst>
                                      </p:cBhvr>
                                      <p:tavLst>
                                        <p:tav tm="0">
                                          <p:val>
                                            <p:strVal val="2/3*#ppt_w"/>
                                          </p:val>
                                        </p:tav>
                                        <p:tav tm="100000">
                                          <p:val>
                                            <p:strVal val="#ppt_w"/>
                                          </p:val>
                                        </p:tav>
                                      </p:tavLst>
                                    </p:anim>
                                    <p:anim calcmode="lin" valueType="num">
                                      <p:cBhvr>
                                        <p:cTn id="111" dur="250" fill="hold"/>
                                        <p:tgtEl>
                                          <p:spTgt spid="37"/>
                                        </p:tgtEl>
                                        <p:attrNameLst>
                                          <p:attrName>ppt_h</p:attrName>
                                        </p:attrNameLst>
                                      </p:cBhvr>
                                      <p:tavLst>
                                        <p:tav tm="0">
                                          <p:val>
                                            <p:strVal val="2/3*#ppt_h"/>
                                          </p:val>
                                        </p:tav>
                                        <p:tav tm="100000">
                                          <p:val>
                                            <p:strVal val="#ppt_h"/>
                                          </p:val>
                                        </p:tav>
                                      </p:tavLst>
                                    </p:anim>
                                  </p:childTnLst>
                                </p:cTn>
                              </p:par>
                              <p:par>
                                <p:cTn id="112" presetID="10" presetClass="entr" presetSubtype="0" fill="hold" grpId="1" nodeType="withEffect">
                                  <p:stCondLst>
                                    <p:cond delay="150"/>
                                  </p:stCondLst>
                                  <p:childTnLst>
                                    <p:set>
                                      <p:cBhvr>
                                        <p:cTn id="113" dur="1" fill="hold">
                                          <p:stCondLst>
                                            <p:cond delay="0"/>
                                          </p:stCondLst>
                                        </p:cTn>
                                        <p:tgtEl>
                                          <p:spTgt spid="37"/>
                                        </p:tgtEl>
                                        <p:attrNameLst>
                                          <p:attrName>style.visibility</p:attrName>
                                        </p:attrNameLst>
                                      </p:cBhvr>
                                      <p:to>
                                        <p:strVal val="visible"/>
                                      </p:to>
                                    </p:set>
                                    <p:animEffect transition="in" filter="fade">
                                      <p:cBhvr>
                                        <p:cTn id="114" dur="500"/>
                                        <p:tgtEl>
                                          <p:spTgt spid="37"/>
                                        </p:tgtEl>
                                      </p:cBhvr>
                                    </p:animEffect>
                                  </p:childTnLst>
                                </p:cTn>
                              </p:par>
                              <p:par>
                                <p:cTn id="115" presetID="6" presetClass="emph" presetSubtype="0" fill="hold" grpId="2" nodeType="withEffect">
                                  <p:stCondLst>
                                    <p:cond delay="150"/>
                                  </p:stCondLst>
                                  <p:childTnLst>
                                    <p:animScale>
                                      <p:cBhvr>
                                        <p:cTn id="116" dur="10" fill="hold"/>
                                        <p:tgtEl>
                                          <p:spTgt spid="37"/>
                                        </p:tgtEl>
                                      </p:cBhvr>
                                      <p:by x="80000" y="80000"/>
                                    </p:animScale>
                                  </p:childTnLst>
                                </p:cTn>
                              </p:par>
                              <p:par>
                                <p:cTn id="117" presetID="6" presetClass="emph" presetSubtype="0" decel="100000" fill="hold" grpId="3" nodeType="withEffect">
                                  <p:stCondLst>
                                    <p:cond delay="150"/>
                                  </p:stCondLst>
                                  <p:childTnLst>
                                    <p:animScale>
                                      <p:cBhvr>
                                        <p:cTn id="118" dur="1000" fill="hold"/>
                                        <p:tgtEl>
                                          <p:spTgt spid="37"/>
                                        </p:tgtEl>
                                      </p:cBhvr>
                                      <p:by x="125000" y="125000"/>
                                    </p:animScale>
                                  </p:childTnLst>
                                </p:cTn>
                              </p:par>
                              <p:par>
                                <p:cTn id="119" presetID="10" presetClass="entr" presetSubtype="0" fill="hold" grpId="0" nodeType="withEffect">
                                  <p:stCondLst>
                                    <p:cond delay="15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21" dur="1000"/>
                                        <p:tgtEl>
                                          <p:spTgt spid="38"/>
                                        </p:tgtEl>
                                      </p:cBhvr>
                                    </p:animEffect>
                                  </p:childTnLst>
                                </p:cTn>
                              </p:par>
                              <p:par>
                                <p:cTn id="122" presetID="23" presetClass="entr" presetSubtype="272" fill="hold" grpId="0" nodeType="withEffect">
                                  <p:stCondLst>
                                    <p:cond delay="150"/>
                                  </p:stCondLst>
                                  <p:childTnLst>
                                    <p:set>
                                      <p:cBhvr>
                                        <p:cTn id="123" dur="1" fill="hold">
                                          <p:stCondLst>
                                            <p:cond delay="0"/>
                                          </p:stCondLst>
                                        </p:cTn>
                                        <p:tgtEl>
                                          <p:spTgt spid="39"/>
                                        </p:tgtEl>
                                        <p:attrNameLst>
                                          <p:attrName>style.visibility</p:attrName>
                                        </p:attrNameLst>
                                      </p:cBhvr>
                                      <p:to>
                                        <p:strVal val="visible"/>
                                      </p:to>
                                    </p:set>
                                    <p:anim calcmode="lin" valueType="num">
                                      <p:cBhvr>
                                        <p:cTn id="124" dur="250" fill="hold"/>
                                        <p:tgtEl>
                                          <p:spTgt spid="39"/>
                                        </p:tgtEl>
                                        <p:attrNameLst>
                                          <p:attrName>ppt_w</p:attrName>
                                        </p:attrNameLst>
                                      </p:cBhvr>
                                      <p:tavLst>
                                        <p:tav tm="0">
                                          <p:val>
                                            <p:strVal val="2/3*#ppt_w"/>
                                          </p:val>
                                        </p:tav>
                                        <p:tav tm="100000">
                                          <p:val>
                                            <p:strVal val="#ppt_w"/>
                                          </p:val>
                                        </p:tav>
                                      </p:tavLst>
                                    </p:anim>
                                    <p:anim calcmode="lin" valueType="num">
                                      <p:cBhvr>
                                        <p:cTn id="125" dur="250" fill="hold"/>
                                        <p:tgtEl>
                                          <p:spTgt spid="39"/>
                                        </p:tgtEl>
                                        <p:attrNameLst>
                                          <p:attrName>ppt_h</p:attrName>
                                        </p:attrNameLst>
                                      </p:cBhvr>
                                      <p:tavLst>
                                        <p:tav tm="0">
                                          <p:val>
                                            <p:strVal val="2/3*#ppt_h"/>
                                          </p:val>
                                        </p:tav>
                                        <p:tav tm="100000">
                                          <p:val>
                                            <p:strVal val="#ppt_h"/>
                                          </p:val>
                                        </p:tav>
                                      </p:tavLst>
                                    </p:anim>
                                  </p:childTnLst>
                                </p:cTn>
                              </p:par>
                              <p:par>
                                <p:cTn id="126" presetID="10" presetClass="entr" presetSubtype="0" fill="hold" grpId="1" nodeType="withEffect">
                                  <p:stCondLst>
                                    <p:cond delay="150"/>
                                  </p:stCondLst>
                                  <p:childTnLst>
                                    <p:set>
                                      <p:cBhvr>
                                        <p:cTn id="127" dur="1" fill="hold">
                                          <p:stCondLst>
                                            <p:cond delay="0"/>
                                          </p:stCondLst>
                                        </p:cTn>
                                        <p:tgtEl>
                                          <p:spTgt spid="39"/>
                                        </p:tgtEl>
                                        <p:attrNameLst>
                                          <p:attrName>style.visibility</p:attrName>
                                        </p:attrNameLst>
                                      </p:cBhvr>
                                      <p:to>
                                        <p:strVal val="visible"/>
                                      </p:to>
                                    </p:set>
                                    <p:animEffect transition="in" filter="fade">
                                      <p:cBhvr>
                                        <p:cTn id="128" dur="500"/>
                                        <p:tgtEl>
                                          <p:spTgt spid="39"/>
                                        </p:tgtEl>
                                      </p:cBhvr>
                                    </p:animEffect>
                                  </p:childTnLst>
                                </p:cTn>
                              </p:par>
                              <p:par>
                                <p:cTn id="129" presetID="6" presetClass="emph" presetSubtype="0" fill="hold" grpId="2" nodeType="withEffect">
                                  <p:stCondLst>
                                    <p:cond delay="150"/>
                                  </p:stCondLst>
                                  <p:childTnLst>
                                    <p:animScale>
                                      <p:cBhvr>
                                        <p:cTn id="130" dur="10" fill="hold"/>
                                        <p:tgtEl>
                                          <p:spTgt spid="39"/>
                                        </p:tgtEl>
                                      </p:cBhvr>
                                      <p:by x="80000" y="80000"/>
                                    </p:animScale>
                                  </p:childTnLst>
                                </p:cTn>
                              </p:par>
                              <p:par>
                                <p:cTn id="131" presetID="6" presetClass="emph" presetSubtype="0" decel="100000" fill="hold" grpId="3" nodeType="withEffect">
                                  <p:stCondLst>
                                    <p:cond delay="150"/>
                                  </p:stCondLst>
                                  <p:childTnLst>
                                    <p:animScale>
                                      <p:cBhvr>
                                        <p:cTn id="132" dur="1000" fill="hold"/>
                                        <p:tgtEl>
                                          <p:spTgt spid="39"/>
                                        </p:tgtEl>
                                      </p:cBhvr>
                                      <p:by x="125000" y="125000"/>
                                    </p:animScale>
                                  </p:childTnLst>
                                </p:cTn>
                              </p:par>
                              <p:par>
                                <p:cTn id="133" presetID="23" presetClass="entr" presetSubtype="272" fill="hold" nodeType="withEffect">
                                  <p:stCondLst>
                                    <p:cond delay="150"/>
                                  </p:stCondLst>
                                  <p:childTnLst>
                                    <p:set>
                                      <p:cBhvr>
                                        <p:cTn id="134" dur="1" fill="hold">
                                          <p:stCondLst>
                                            <p:cond delay="0"/>
                                          </p:stCondLst>
                                        </p:cTn>
                                        <p:tgtEl>
                                          <p:spTgt spid="40"/>
                                        </p:tgtEl>
                                        <p:attrNameLst>
                                          <p:attrName>style.visibility</p:attrName>
                                        </p:attrNameLst>
                                      </p:cBhvr>
                                      <p:to>
                                        <p:strVal val="visible"/>
                                      </p:to>
                                    </p:set>
                                    <p:anim calcmode="lin" valueType="num">
                                      <p:cBhvr>
                                        <p:cTn id="135" dur="250" fill="hold"/>
                                        <p:tgtEl>
                                          <p:spTgt spid="40"/>
                                        </p:tgtEl>
                                        <p:attrNameLst>
                                          <p:attrName>ppt_w</p:attrName>
                                        </p:attrNameLst>
                                      </p:cBhvr>
                                      <p:tavLst>
                                        <p:tav tm="0">
                                          <p:val>
                                            <p:strVal val="2/3*#ppt_w"/>
                                          </p:val>
                                        </p:tav>
                                        <p:tav tm="100000">
                                          <p:val>
                                            <p:strVal val="#ppt_w"/>
                                          </p:val>
                                        </p:tav>
                                      </p:tavLst>
                                    </p:anim>
                                    <p:anim calcmode="lin" valueType="num">
                                      <p:cBhvr>
                                        <p:cTn id="136" dur="250" fill="hold"/>
                                        <p:tgtEl>
                                          <p:spTgt spid="40"/>
                                        </p:tgtEl>
                                        <p:attrNameLst>
                                          <p:attrName>ppt_h</p:attrName>
                                        </p:attrNameLst>
                                      </p:cBhvr>
                                      <p:tavLst>
                                        <p:tav tm="0">
                                          <p:val>
                                            <p:strVal val="2/3*#ppt_h"/>
                                          </p:val>
                                        </p:tav>
                                        <p:tav tm="100000">
                                          <p:val>
                                            <p:strVal val="#ppt_h"/>
                                          </p:val>
                                        </p:tav>
                                      </p:tavLst>
                                    </p:anim>
                                  </p:childTnLst>
                                </p:cTn>
                              </p:par>
                              <p:par>
                                <p:cTn id="137" presetID="10" presetClass="entr" presetSubtype="0" fill="hold" nodeType="withEffect">
                                  <p:stCondLst>
                                    <p:cond delay="150"/>
                                  </p:stCondLst>
                                  <p:childTnLst>
                                    <p:set>
                                      <p:cBhvr>
                                        <p:cTn id="138" dur="1" fill="hold">
                                          <p:stCondLst>
                                            <p:cond delay="0"/>
                                          </p:stCondLst>
                                        </p:cTn>
                                        <p:tgtEl>
                                          <p:spTgt spid="40"/>
                                        </p:tgtEl>
                                        <p:attrNameLst>
                                          <p:attrName>style.visibility</p:attrName>
                                        </p:attrNameLst>
                                      </p:cBhvr>
                                      <p:to>
                                        <p:strVal val="visible"/>
                                      </p:to>
                                    </p:set>
                                    <p:animEffect transition="in" filter="fade">
                                      <p:cBhvr>
                                        <p:cTn id="139" dur="500"/>
                                        <p:tgtEl>
                                          <p:spTgt spid="40"/>
                                        </p:tgtEl>
                                      </p:cBhvr>
                                    </p:animEffect>
                                  </p:childTnLst>
                                </p:cTn>
                              </p:par>
                              <p:par>
                                <p:cTn id="140" presetID="6" presetClass="emph" presetSubtype="0" fill="hold" nodeType="withEffect">
                                  <p:stCondLst>
                                    <p:cond delay="150"/>
                                  </p:stCondLst>
                                  <p:childTnLst>
                                    <p:animScale>
                                      <p:cBhvr>
                                        <p:cTn id="141" dur="10" fill="hold"/>
                                        <p:tgtEl>
                                          <p:spTgt spid="40"/>
                                        </p:tgtEl>
                                      </p:cBhvr>
                                      <p:by x="80000" y="80000"/>
                                    </p:animScale>
                                  </p:childTnLst>
                                </p:cTn>
                              </p:par>
                              <p:par>
                                <p:cTn id="142" presetID="6" presetClass="emph" presetSubtype="0" decel="100000" fill="hold" nodeType="withEffect">
                                  <p:stCondLst>
                                    <p:cond delay="150"/>
                                  </p:stCondLst>
                                  <p:childTnLst>
                                    <p:animScale>
                                      <p:cBhvr>
                                        <p:cTn id="143" dur="1000" fill="hold"/>
                                        <p:tgtEl>
                                          <p:spTgt spid="40"/>
                                        </p:tgtEl>
                                      </p:cBhvr>
                                      <p:by x="125000" y="125000"/>
                                    </p:animScale>
                                  </p:childTnLst>
                                </p:cTn>
                              </p:par>
                              <p:par>
                                <p:cTn id="144" presetID="23" presetClass="entr" presetSubtype="272" fill="hold" nodeType="withEffect">
                                  <p:stCondLst>
                                    <p:cond delay="150"/>
                                  </p:stCondLst>
                                  <p:childTnLst>
                                    <p:set>
                                      <p:cBhvr>
                                        <p:cTn id="145" dur="1" fill="hold">
                                          <p:stCondLst>
                                            <p:cond delay="0"/>
                                          </p:stCondLst>
                                        </p:cTn>
                                        <p:tgtEl>
                                          <p:spTgt spid="45"/>
                                        </p:tgtEl>
                                        <p:attrNameLst>
                                          <p:attrName>style.visibility</p:attrName>
                                        </p:attrNameLst>
                                      </p:cBhvr>
                                      <p:to>
                                        <p:strVal val="visible"/>
                                      </p:to>
                                    </p:set>
                                    <p:anim calcmode="lin" valueType="num">
                                      <p:cBhvr>
                                        <p:cTn id="146" dur="250" fill="hold"/>
                                        <p:tgtEl>
                                          <p:spTgt spid="45"/>
                                        </p:tgtEl>
                                        <p:attrNameLst>
                                          <p:attrName>ppt_w</p:attrName>
                                        </p:attrNameLst>
                                      </p:cBhvr>
                                      <p:tavLst>
                                        <p:tav tm="0">
                                          <p:val>
                                            <p:strVal val="2/3*#ppt_w"/>
                                          </p:val>
                                        </p:tav>
                                        <p:tav tm="100000">
                                          <p:val>
                                            <p:strVal val="#ppt_w"/>
                                          </p:val>
                                        </p:tav>
                                      </p:tavLst>
                                    </p:anim>
                                    <p:anim calcmode="lin" valueType="num">
                                      <p:cBhvr>
                                        <p:cTn id="147" dur="250" fill="hold"/>
                                        <p:tgtEl>
                                          <p:spTgt spid="45"/>
                                        </p:tgtEl>
                                        <p:attrNameLst>
                                          <p:attrName>ppt_h</p:attrName>
                                        </p:attrNameLst>
                                      </p:cBhvr>
                                      <p:tavLst>
                                        <p:tav tm="0">
                                          <p:val>
                                            <p:strVal val="2/3*#ppt_h"/>
                                          </p:val>
                                        </p:tav>
                                        <p:tav tm="100000">
                                          <p:val>
                                            <p:strVal val="#ppt_h"/>
                                          </p:val>
                                        </p:tav>
                                      </p:tavLst>
                                    </p:anim>
                                  </p:childTnLst>
                                </p:cTn>
                              </p:par>
                              <p:par>
                                <p:cTn id="148" presetID="10" presetClass="entr" presetSubtype="0" fill="hold" nodeType="withEffect">
                                  <p:stCondLst>
                                    <p:cond delay="150"/>
                                  </p:stCondLst>
                                  <p:childTnLst>
                                    <p:set>
                                      <p:cBhvr>
                                        <p:cTn id="149" dur="1" fill="hold">
                                          <p:stCondLst>
                                            <p:cond delay="0"/>
                                          </p:stCondLst>
                                        </p:cTn>
                                        <p:tgtEl>
                                          <p:spTgt spid="45"/>
                                        </p:tgtEl>
                                        <p:attrNameLst>
                                          <p:attrName>style.visibility</p:attrName>
                                        </p:attrNameLst>
                                      </p:cBhvr>
                                      <p:to>
                                        <p:strVal val="visible"/>
                                      </p:to>
                                    </p:set>
                                    <p:animEffect transition="in" filter="fade">
                                      <p:cBhvr>
                                        <p:cTn id="150" dur="500"/>
                                        <p:tgtEl>
                                          <p:spTgt spid="45"/>
                                        </p:tgtEl>
                                      </p:cBhvr>
                                    </p:animEffect>
                                  </p:childTnLst>
                                </p:cTn>
                              </p:par>
                              <p:par>
                                <p:cTn id="151" presetID="6" presetClass="emph" presetSubtype="0" fill="hold" nodeType="withEffect">
                                  <p:stCondLst>
                                    <p:cond delay="150"/>
                                  </p:stCondLst>
                                  <p:childTnLst>
                                    <p:animScale>
                                      <p:cBhvr>
                                        <p:cTn id="152" dur="10" fill="hold"/>
                                        <p:tgtEl>
                                          <p:spTgt spid="45"/>
                                        </p:tgtEl>
                                      </p:cBhvr>
                                      <p:by x="80000" y="80000"/>
                                    </p:animScale>
                                  </p:childTnLst>
                                </p:cTn>
                              </p:par>
                              <p:par>
                                <p:cTn id="153" presetID="6" presetClass="emph" presetSubtype="0" decel="100000" fill="hold" nodeType="withEffect">
                                  <p:stCondLst>
                                    <p:cond delay="150"/>
                                  </p:stCondLst>
                                  <p:childTnLst>
                                    <p:animScale>
                                      <p:cBhvr>
                                        <p:cTn id="154" dur="1000" fill="hold"/>
                                        <p:tgtEl>
                                          <p:spTgt spid="45"/>
                                        </p:tgtEl>
                                      </p:cBhvr>
                                      <p:by x="125000" y="125000"/>
                                    </p:animScale>
                                  </p:childTnLst>
                                </p:cTn>
                              </p:par>
                              <p:par>
                                <p:cTn id="155" presetID="10" presetClass="entr" presetSubtype="0" fill="hold" grpId="0" nodeType="withEffect">
                                  <p:stCondLst>
                                    <p:cond delay="150"/>
                                  </p:stCondLst>
                                  <p:childTnLst>
                                    <p:set>
                                      <p:cBhvr>
                                        <p:cTn id="156" dur="1" fill="hold">
                                          <p:stCondLst>
                                            <p:cond delay="0"/>
                                          </p:stCondLst>
                                        </p:cTn>
                                        <p:tgtEl>
                                          <p:spTgt spid="50"/>
                                        </p:tgtEl>
                                        <p:attrNameLst>
                                          <p:attrName>style.visibility</p:attrName>
                                        </p:attrNameLst>
                                      </p:cBhvr>
                                      <p:to>
                                        <p:strVal val="visible"/>
                                      </p:to>
                                    </p:set>
                                    <p:animEffect transition="in" filter="fade">
                                      <p:cBhvr>
                                        <p:cTn id="157" dur="1000"/>
                                        <p:tgtEl>
                                          <p:spTgt spid="50"/>
                                        </p:tgtEl>
                                      </p:cBhvr>
                                    </p:animEffect>
                                  </p:childTnLst>
                                </p:cTn>
                              </p:par>
                              <p:par>
                                <p:cTn id="158" presetID="23" presetClass="entr" presetSubtype="272" fill="hold" grpId="0" nodeType="withEffect">
                                  <p:stCondLst>
                                    <p:cond delay="150"/>
                                  </p:stCondLst>
                                  <p:childTnLst>
                                    <p:set>
                                      <p:cBhvr>
                                        <p:cTn id="159" dur="1" fill="hold">
                                          <p:stCondLst>
                                            <p:cond delay="0"/>
                                          </p:stCondLst>
                                        </p:cTn>
                                        <p:tgtEl>
                                          <p:spTgt spid="51"/>
                                        </p:tgtEl>
                                        <p:attrNameLst>
                                          <p:attrName>style.visibility</p:attrName>
                                        </p:attrNameLst>
                                      </p:cBhvr>
                                      <p:to>
                                        <p:strVal val="visible"/>
                                      </p:to>
                                    </p:set>
                                    <p:anim calcmode="lin" valueType="num">
                                      <p:cBhvr>
                                        <p:cTn id="160" dur="250" fill="hold"/>
                                        <p:tgtEl>
                                          <p:spTgt spid="51"/>
                                        </p:tgtEl>
                                        <p:attrNameLst>
                                          <p:attrName>ppt_w</p:attrName>
                                        </p:attrNameLst>
                                      </p:cBhvr>
                                      <p:tavLst>
                                        <p:tav tm="0">
                                          <p:val>
                                            <p:strVal val="2/3*#ppt_w"/>
                                          </p:val>
                                        </p:tav>
                                        <p:tav tm="100000">
                                          <p:val>
                                            <p:strVal val="#ppt_w"/>
                                          </p:val>
                                        </p:tav>
                                      </p:tavLst>
                                    </p:anim>
                                    <p:anim calcmode="lin" valueType="num">
                                      <p:cBhvr>
                                        <p:cTn id="161" dur="250" fill="hold"/>
                                        <p:tgtEl>
                                          <p:spTgt spid="51"/>
                                        </p:tgtEl>
                                        <p:attrNameLst>
                                          <p:attrName>ppt_h</p:attrName>
                                        </p:attrNameLst>
                                      </p:cBhvr>
                                      <p:tavLst>
                                        <p:tav tm="0">
                                          <p:val>
                                            <p:strVal val="2/3*#ppt_h"/>
                                          </p:val>
                                        </p:tav>
                                        <p:tav tm="100000">
                                          <p:val>
                                            <p:strVal val="#ppt_h"/>
                                          </p:val>
                                        </p:tav>
                                      </p:tavLst>
                                    </p:anim>
                                  </p:childTnLst>
                                </p:cTn>
                              </p:par>
                              <p:par>
                                <p:cTn id="162" presetID="10" presetClass="entr" presetSubtype="0" fill="hold" grpId="1" nodeType="withEffect">
                                  <p:stCondLst>
                                    <p:cond delay="150"/>
                                  </p:stCondLst>
                                  <p:childTnLst>
                                    <p:set>
                                      <p:cBhvr>
                                        <p:cTn id="163" dur="1" fill="hold">
                                          <p:stCondLst>
                                            <p:cond delay="0"/>
                                          </p:stCondLst>
                                        </p:cTn>
                                        <p:tgtEl>
                                          <p:spTgt spid="51"/>
                                        </p:tgtEl>
                                        <p:attrNameLst>
                                          <p:attrName>style.visibility</p:attrName>
                                        </p:attrNameLst>
                                      </p:cBhvr>
                                      <p:to>
                                        <p:strVal val="visible"/>
                                      </p:to>
                                    </p:set>
                                    <p:animEffect transition="in" filter="fade">
                                      <p:cBhvr>
                                        <p:cTn id="164" dur="500"/>
                                        <p:tgtEl>
                                          <p:spTgt spid="51"/>
                                        </p:tgtEl>
                                      </p:cBhvr>
                                    </p:animEffect>
                                  </p:childTnLst>
                                </p:cTn>
                              </p:par>
                              <p:par>
                                <p:cTn id="165" presetID="6" presetClass="emph" presetSubtype="0" fill="hold" grpId="2" nodeType="withEffect">
                                  <p:stCondLst>
                                    <p:cond delay="150"/>
                                  </p:stCondLst>
                                  <p:childTnLst>
                                    <p:animScale>
                                      <p:cBhvr>
                                        <p:cTn id="166" dur="10" fill="hold"/>
                                        <p:tgtEl>
                                          <p:spTgt spid="51"/>
                                        </p:tgtEl>
                                      </p:cBhvr>
                                      <p:by x="80000" y="80000"/>
                                    </p:animScale>
                                  </p:childTnLst>
                                </p:cTn>
                              </p:par>
                              <p:par>
                                <p:cTn id="167" presetID="6" presetClass="emph" presetSubtype="0" decel="100000" fill="hold" grpId="3" nodeType="withEffect">
                                  <p:stCondLst>
                                    <p:cond delay="150"/>
                                  </p:stCondLst>
                                  <p:childTnLst>
                                    <p:animScale>
                                      <p:cBhvr>
                                        <p:cTn id="168" dur="1000" fill="hold"/>
                                        <p:tgtEl>
                                          <p:spTgt spid="51"/>
                                        </p:tgtEl>
                                      </p:cBhvr>
                                      <p:by x="125000" y="125000"/>
                                    </p:animScale>
                                  </p:childTnLst>
                                </p:cTn>
                              </p:par>
                              <p:par>
                                <p:cTn id="169" presetID="10" presetClass="entr" presetSubtype="0" fill="hold" grpId="0" nodeType="withEffect">
                                  <p:stCondLst>
                                    <p:cond delay="150"/>
                                  </p:stCondLst>
                                  <p:childTnLst>
                                    <p:set>
                                      <p:cBhvr>
                                        <p:cTn id="170" dur="1" fill="hold">
                                          <p:stCondLst>
                                            <p:cond delay="0"/>
                                          </p:stCondLst>
                                        </p:cTn>
                                        <p:tgtEl>
                                          <p:spTgt spid="52"/>
                                        </p:tgtEl>
                                        <p:attrNameLst>
                                          <p:attrName>style.visibility</p:attrName>
                                        </p:attrNameLst>
                                      </p:cBhvr>
                                      <p:to>
                                        <p:strVal val="visible"/>
                                      </p:to>
                                    </p:set>
                                    <p:animEffect transition="in" filter="fade">
                                      <p:cBhvr>
                                        <p:cTn id="171" dur="1000"/>
                                        <p:tgtEl>
                                          <p:spTgt spid="52"/>
                                        </p:tgtEl>
                                      </p:cBhvr>
                                    </p:animEffect>
                                  </p:childTnLst>
                                </p:cTn>
                              </p:par>
                              <p:par>
                                <p:cTn id="172" presetID="23" presetClass="entr" presetSubtype="272" fill="hold" grpId="0" nodeType="withEffect">
                                  <p:stCondLst>
                                    <p:cond delay="150"/>
                                  </p:stCondLst>
                                  <p:childTnLst>
                                    <p:set>
                                      <p:cBhvr>
                                        <p:cTn id="173" dur="1" fill="hold">
                                          <p:stCondLst>
                                            <p:cond delay="0"/>
                                          </p:stCondLst>
                                        </p:cTn>
                                        <p:tgtEl>
                                          <p:spTgt spid="53"/>
                                        </p:tgtEl>
                                        <p:attrNameLst>
                                          <p:attrName>style.visibility</p:attrName>
                                        </p:attrNameLst>
                                      </p:cBhvr>
                                      <p:to>
                                        <p:strVal val="visible"/>
                                      </p:to>
                                    </p:set>
                                    <p:anim calcmode="lin" valueType="num">
                                      <p:cBhvr>
                                        <p:cTn id="174" dur="250" fill="hold"/>
                                        <p:tgtEl>
                                          <p:spTgt spid="53"/>
                                        </p:tgtEl>
                                        <p:attrNameLst>
                                          <p:attrName>ppt_w</p:attrName>
                                        </p:attrNameLst>
                                      </p:cBhvr>
                                      <p:tavLst>
                                        <p:tav tm="0">
                                          <p:val>
                                            <p:strVal val="2/3*#ppt_w"/>
                                          </p:val>
                                        </p:tav>
                                        <p:tav tm="100000">
                                          <p:val>
                                            <p:strVal val="#ppt_w"/>
                                          </p:val>
                                        </p:tav>
                                      </p:tavLst>
                                    </p:anim>
                                    <p:anim calcmode="lin" valueType="num">
                                      <p:cBhvr>
                                        <p:cTn id="175" dur="250" fill="hold"/>
                                        <p:tgtEl>
                                          <p:spTgt spid="53"/>
                                        </p:tgtEl>
                                        <p:attrNameLst>
                                          <p:attrName>ppt_h</p:attrName>
                                        </p:attrNameLst>
                                      </p:cBhvr>
                                      <p:tavLst>
                                        <p:tav tm="0">
                                          <p:val>
                                            <p:strVal val="2/3*#ppt_h"/>
                                          </p:val>
                                        </p:tav>
                                        <p:tav tm="100000">
                                          <p:val>
                                            <p:strVal val="#ppt_h"/>
                                          </p:val>
                                        </p:tav>
                                      </p:tavLst>
                                    </p:anim>
                                  </p:childTnLst>
                                </p:cTn>
                              </p:par>
                              <p:par>
                                <p:cTn id="176" presetID="10" presetClass="entr" presetSubtype="0" fill="hold" grpId="1" nodeType="withEffect">
                                  <p:stCondLst>
                                    <p:cond delay="150"/>
                                  </p:stCondLst>
                                  <p:childTnLst>
                                    <p:set>
                                      <p:cBhvr>
                                        <p:cTn id="177" dur="1" fill="hold">
                                          <p:stCondLst>
                                            <p:cond delay="0"/>
                                          </p:stCondLst>
                                        </p:cTn>
                                        <p:tgtEl>
                                          <p:spTgt spid="53"/>
                                        </p:tgtEl>
                                        <p:attrNameLst>
                                          <p:attrName>style.visibility</p:attrName>
                                        </p:attrNameLst>
                                      </p:cBhvr>
                                      <p:to>
                                        <p:strVal val="visible"/>
                                      </p:to>
                                    </p:set>
                                    <p:animEffect transition="in" filter="fade">
                                      <p:cBhvr>
                                        <p:cTn id="178" dur="500"/>
                                        <p:tgtEl>
                                          <p:spTgt spid="53"/>
                                        </p:tgtEl>
                                      </p:cBhvr>
                                    </p:animEffect>
                                  </p:childTnLst>
                                </p:cTn>
                              </p:par>
                              <p:par>
                                <p:cTn id="179" presetID="6" presetClass="emph" presetSubtype="0" fill="hold" grpId="2" nodeType="withEffect">
                                  <p:stCondLst>
                                    <p:cond delay="150"/>
                                  </p:stCondLst>
                                  <p:childTnLst>
                                    <p:animScale>
                                      <p:cBhvr>
                                        <p:cTn id="180" dur="10" fill="hold"/>
                                        <p:tgtEl>
                                          <p:spTgt spid="53"/>
                                        </p:tgtEl>
                                      </p:cBhvr>
                                      <p:by x="80000" y="80000"/>
                                    </p:animScale>
                                  </p:childTnLst>
                                </p:cTn>
                              </p:par>
                              <p:par>
                                <p:cTn id="181" presetID="6" presetClass="emph" presetSubtype="0" decel="100000" fill="hold" grpId="3" nodeType="withEffect">
                                  <p:stCondLst>
                                    <p:cond delay="150"/>
                                  </p:stCondLst>
                                  <p:childTnLst>
                                    <p:animScale>
                                      <p:cBhvr>
                                        <p:cTn id="182" dur="1000" fill="hold"/>
                                        <p:tgtEl>
                                          <p:spTgt spid="53"/>
                                        </p:tgtEl>
                                      </p:cBhvr>
                                      <p:by x="125000" y="125000"/>
                                    </p:animScale>
                                  </p:childTnLst>
                                </p:cTn>
                              </p:par>
                              <p:par>
                                <p:cTn id="183" presetID="10" presetClass="entr" presetSubtype="0" fill="hold" grpId="0" nodeType="withEffect">
                                  <p:stCondLst>
                                    <p:cond delay="150"/>
                                  </p:stCondLst>
                                  <p:childTnLst>
                                    <p:set>
                                      <p:cBhvr>
                                        <p:cTn id="184" dur="1" fill="hold">
                                          <p:stCondLst>
                                            <p:cond delay="0"/>
                                          </p:stCondLst>
                                        </p:cTn>
                                        <p:tgtEl>
                                          <p:spTgt spid="54"/>
                                        </p:tgtEl>
                                        <p:attrNameLst>
                                          <p:attrName>style.visibility</p:attrName>
                                        </p:attrNameLst>
                                      </p:cBhvr>
                                      <p:to>
                                        <p:strVal val="visible"/>
                                      </p:to>
                                    </p:set>
                                    <p:animEffect transition="in" filter="fade">
                                      <p:cBhvr>
                                        <p:cTn id="185" dur="1000"/>
                                        <p:tgtEl>
                                          <p:spTgt spid="54"/>
                                        </p:tgtEl>
                                      </p:cBhvr>
                                    </p:animEffect>
                                  </p:childTnLst>
                                </p:cTn>
                              </p:par>
                              <p:par>
                                <p:cTn id="186" presetID="23" presetClass="entr" presetSubtype="272" fill="hold" grpId="0" nodeType="withEffect">
                                  <p:stCondLst>
                                    <p:cond delay="150"/>
                                  </p:stCondLst>
                                  <p:childTnLst>
                                    <p:set>
                                      <p:cBhvr>
                                        <p:cTn id="187" dur="1" fill="hold">
                                          <p:stCondLst>
                                            <p:cond delay="0"/>
                                          </p:stCondLst>
                                        </p:cTn>
                                        <p:tgtEl>
                                          <p:spTgt spid="55"/>
                                        </p:tgtEl>
                                        <p:attrNameLst>
                                          <p:attrName>style.visibility</p:attrName>
                                        </p:attrNameLst>
                                      </p:cBhvr>
                                      <p:to>
                                        <p:strVal val="visible"/>
                                      </p:to>
                                    </p:set>
                                    <p:anim calcmode="lin" valueType="num">
                                      <p:cBhvr>
                                        <p:cTn id="188" dur="250" fill="hold"/>
                                        <p:tgtEl>
                                          <p:spTgt spid="55"/>
                                        </p:tgtEl>
                                        <p:attrNameLst>
                                          <p:attrName>ppt_w</p:attrName>
                                        </p:attrNameLst>
                                      </p:cBhvr>
                                      <p:tavLst>
                                        <p:tav tm="0">
                                          <p:val>
                                            <p:strVal val="2/3*#ppt_w"/>
                                          </p:val>
                                        </p:tav>
                                        <p:tav tm="100000">
                                          <p:val>
                                            <p:strVal val="#ppt_w"/>
                                          </p:val>
                                        </p:tav>
                                      </p:tavLst>
                                    </p:anim>
                                    <p:anim calcmode="lin" valueType="num">
                                      <p:cBhvr>
                                        <p:cTn id="189" dur="250" fill="hold"/>
                                        <p:tgtEl>
                                          <p:spTgt spid="55"/>
                                        </p:tgtEl>
                                        <p:attrNameLst>
                                          <p:attrName>ppt_h</p:attrName>
                                        </p:attrNameLst>
                                      </p:cBhvr>
                                      <p:tavLst>
                                        <p:tav tm="0">
                                          <p:val>
                                            <p:strVal val="2/3*#ppt_h"/>
                                          </p:val>
                                        </p:tav>
                                        <p:tav tm="100000">
                                          <p:val>
                                            <p:strVal val="#ppt_h"/>
                                          </p:val>
                                        </p:tav>
                                      </p:tavLst>
                                    </p:anim>
                                  </p:childTnLst>
                                </p:cTn>
                              </p:par>
                              <p:par>
                                <p:cTn id="190" presetID="10" presetClass="entr" presetSubtype="0" fill="hold" grpId="1" nodeType="withEffect">
                                  <p:stCondLst>
                                    <p:cond delay="150"/>
                                  </p:stCondLst>
                                  <p:childTnLst>
                                    <p:set>
                                      <p:cBhvr>
                                        <p:cTn id="191" dur="1" fill="hold">
                                          <p:stCondLst>
                                            <p:cond delay="0"/>
                                          </p:stCondLst>
                                        </p:cTn>
                                        <p:tgtEl>
                                          <p:spTgt spid="55"/>
                                        </p:tgtEl>
                                        <p:attrNameLst>
                                          <p:attrName>style.visibility</p:attrName>
                                        </p:attrNameLst>
                                      </p:cBhvr>
                                      <p:to>
                                        <p:strVal val="visible"/>
                                      </p:to>
                                    </p:set>
                                    <p:animEffect transition="in" filter="fade">
                                      <p:cBhvr>
                                        <p:cTn id="192" dur="500"/>
                                        <p:tgtEl>
                                          <p:spTgt spid="55"/>
                                        </p:tgtEl>
                                      </p:cBhvr>
                                    </p:animEffect>
                                  </p:childTnLst>
                                </p:cTn>
                              </p:par>
                              <p:par>
                                <p:cTn id="193" presetID="6" presetClass="emph" presetSubtype="0" fill="hold" grpId="2" nodeType="withEffect">
                                  <p:stCondLst>
                                    <p:cond delay="150"/>
                                  </p:stCondLst>
                                  <p:childTnLst>
                                    <p:animScale>
                                      <p:cBhvr>
                                        <p:cTn id="194" dur="10" fill="hold"/>
                                        <p:tgtEl>
                                          <p:spTgt spid="55"/>
                                        </p:tgtEl>
                                      </p:cBhvr>
                                      <p:by x="80000" y="80000"/>
                                    </p:animScale>
                                  </p:childTnLst>
                                </p:cTn>
                              </p:par>
                              <p:par>
                                <p:cTn id="195" presetID="6" presetClass="emph" presetSubtype="0" decel="100000" fill="hold" grpId="3" nodeType="withEffect">
                                  <p:stCondLst>
                                    <p:cond delay="150"/>
                                  </p:stCondLst>
                                  <p:childTnLst>
                                    <p:animScale>
                                      <p:cBhvr>
                                        <p:cTn id="196" dur="1000" fill="hold"/>
                                        <p:tgtEl>
                                          <p:spTgt spid="55"/>
                                        </p:tgtEl>
                                      </p:cBhvr>
                                      <p:by x="125000" y="125000"/>
                                    </p:animScale>
                                  </p:childTnLst>
                                </p:cTn>
                              </p:par>
                              <p:par>
                                <p:cTn id="197" presetID="10" presetClass="entr" presetSubtype="0" fill="hold" grpId="0" nodeType="withEffect">
                                  <p:stCondLst>
                                    <p:cond delay="150"/>
                                  </p:stCondLst>
                                  <p:childTnLst>
                                    <p:set>
                                      <p:cBhvr>
                                        <p:cTn id="198" dur="1" fill="hold">
                                          <p:stCondLst>
                                            <p:cond delay="0"/>
                                          </p:stCondLst>
                                        </p:cTn>
                                        <p:tgtEl>
                                          <p:spTgt spid="56"/>
                                        </p:tgtEl>
                                        <p:attrNameLst>
                                          <p:attrName>style.visibility</p:attrName>
                                        </p:attrNameLst>
                                      </p:cBhvr>
                                      <p:to>
                                        <p:strVal val="visible"/>
                                      </p:to>
                                    </p:set>
                                    <p:animEffect transition="in" filter="fade">
                                      <p:cBhvr>
                                        <p:cTn id="199" dur="1000"/>
                                        <p:tgtEl>
                                          <p:spTgt spid="56"/>
                                        </p:tgtEl>
                                      </p:cBhvr>
                                    </p:animEffect>
                                  </p:childTnLst>
                                </p:cTn>
                              </p:par>
                              <p:par>
                                <p:cTn id="200" presetID="23" presetClass="entr" presetSubtype="272" fill="hold" grpId="0" nodeType="withEffect">
                                  <p:stCondLst>
                                    <p:cond delay="150"/>
                                  </p:stCondLst>
                                  <p:childTnLst>
                                    <p:set>
                                      <p:cBhvr>
                                        <p:cTn id="201" dur="1" fill="hold">
                                          <p:stCondLst>
                                            <p:cond delay="0"/>
                                          </p:stCondLst>
                                        </p:cTn>
                                        <p:tgtEl>
                                          <p:spTgt spid="57"/>
                                        </p:tgtEl>
                                        <p:attrNameLst>
                                          <p:attrName>style.visibility</p:attrName>
                                        </p:attrNameLst>
                                      </p:cBhvr>
                                      <p:to>
                                        <p:strVal val="visible"/>
                                      </p:to>
                                    </p:set>
                                    <p:anim calcmode="lin" valueType="num">
                                      <p:cBhvr>
                                        <p:cTn id="202" dur="250" fill="hold"/>
                                        <p:tgtEl>
                                          <p:spTgt spid="57"/>
                                        </p:tgtEl>
                                        <p:attrNameLst>
                                          <p:attrName>ppt_w</p:attrName>
                                        </p:attrNameLst>
                                      </p:cBhvr>
                                      <p:tavLst>
                                        <p:tav tm="0">
                                          <p:val>
                                            <p:strVal val="2/3*#ppt_w"/>
                                          </p:val>
                                        </p:tav>
                                        <p:tav tm="100000">
                                          <p:val>
                                            <p:strVal val="#ppt_w"/>
                                          </p:val>
                                        </p:tav>
                                      </p:tavLst>
                                    </p:anim>
                                    <p:anim calcmode="lin" valueType="num">
                                      <p:cBhvr>
                                        <p:cTn id="203" dur="250" fill="hold"/>
                                        <p:tgtEl>
                                          <p:spTgt spid="57"/>
                                        </p:tgtEl>
                                        <p:attrNameLst>
                                          <p:attrName>ppt_h</p:attrName>
                                        </p:attrNameLst>
                                      </p:cBhvr>
                                      <p:tavLst>
                                        <p:tav tm="0">
                                          <p:val>
                                            <p:strVal val="2/3*#ppt_h"/>
                                          </p:val>
                                        </p:tav>
                                        <p:tav tm="100000">
                                          <p:val>
                                            <p:strVal val="#ppt_h"/>
                                          </p:val>
                                        </p:tav>
                                      </p:tavLst>
                                    </p:anim>
                                  </p:childTnLst>
                                </p:cTn>
                              </p:par>
                              <p:par>
                                <p:cTn id="204" presetID="10" presetClass="entr" presetSubtype="0" fill="hold" grpId="1" nodeType="withEffect">
                                  <p:stCondLst>
                                    <p:cond delay="150"/>
                                  </p:stCondLst>
                                  <p:childTnLst>
                                    <p:set>
                                      <p:cBhvr>
                                        <p:cTn id="205" dur="1" fill="hold">
                                          <p:stCondLst>
                                            <p:cond delay="0"/>
                                          </p:stCondLst>
                                        </p:cTn>
                                        <p:tgtEl>
                                          <p:spTgt spid="57"/>
                                        </p:tgtEl>
                                        <p:attrNameLst>
                                          <p:attrName>style.visibility</p:attrName>
                                        </p:attrNameLst>
                                      </p:cBhvr>
                                      <p:to>
                                        <p:strVal val="visible"/>
                                      </p:to>
                                    </p:set>
                                    <p:animEffect transition="in" filter="fade">
                                      <p:cBhvr>
                                        <p:cTn id="206" dur="500"/>
                                        <p:tgtEl>
                                          <p:spTgt spid="57"/>
                                        </p:tgtEl>
                                      </p:cBhvr>
                                    </p:animEffect>
                                  </p:childTnLst>
                                </p:cTn>
                              </p:par>
                              <p:par>
                                <p:cTn id="207" presetID="6" presetClass="emph" presetSubtype="0" fill="hold" grpId="2" nodeType="withEffect">
                                  <p:stCondLst>
                                    <p:cond delay="150"/>
                                  </p:stCondLst>
                                  <p:childTnLst>
                                    <p:animScale>
                                      <p:cBhvr>
                                        <p:cTn id="208" dur="10" fill="hold"/>
                                        <p:tgtEl>
                                          <p:spTgt spid="57"/>
                                        </p:tgtEl>
                                      </p:cBhvr>
                                      <p:by x="80000" y="80000"/>
                                    </p:animScale>
                                  </p:childTnLst>
                                </p:cTn>
                              </p:par>
                              <p:par>
                                <p:cTn id="209" presetID="6" presetClass="emph" presetSubtype="0" decel="100000" fill="hold" grpId="3" nodeType="withEffect">
                                  <p:stCondLst>
                                    <p:cond delay="150"/>
                                  </p:stCondLst>
                                  <p:childTnLst>
                                    <p:animScale>
                                      <p:cBhvr>
                                        <p:cTn id="210" dur="1000" fill="hold"/>
                                        <p:tgtEl>
                                          <p:spTgt spid="57"/>
                                        </p:tgtEl>
                                      </p:cBhvr>
                                      <p:by x="125000" y="125000"/>
                                    </p:animScale>
                                  </p:childTnLst>
                                </p:cTn>
                              </p:par>
                              <p:par>
                                <p:cTn id="211" presetID="23" presetClass="entr" presetSubtype="272" fill="hold" nodeType="withEffect">
                                  <p:stCondLst>
                                    <p:cond delay="150"/>
                                  </p:stCondLst>
                                  <p:childTnLst>
                                    <p:set>
                                      <p:cBhvr>
                                        <p:cTn id="212" dur="1" fill="hold">
                                          <p:stCondLst>
                                            <p:cond delay="0"/>
                                          </p:stCondLst>
                                        </p:cTn>
                                        <p:tgtEl>
                                          <p:spTgt spid="58"/>
                                        </p:tgtEl>
                                        <p:attrNameLst>
                                          <p:attrName>style.visibility</p:attrName>
                                        </p:attrNameLst>
                                      </p:cBhvr>
                                      <p:to>
                                        <p:strVal val="visible"/>
                                      </p:to>
                                    </p:set>
                                    <p:anim calcmode="lin" valueType="num">
                                      <p:cBhvr>
                                        <p:cTn id="213" dur="250" fill="hold"/>
                                        <p:tgtEl>
                                          <p:spTgt spid="58"/>
                                        </p:tgtEl>
                                        <p:attrNameLst>
                                          <p:attrName>ppt_w</p:attrName>
                                        </p:attrNameLst>
                                      </p:cBhvr>
                                      <p:tavLst>
                                        <p:tav tm="0">
                                          <p:val>
                                            <p:strVal val="2/3*#ppt_w"/>
                                          </p:val>
                                        </p:tav>
                                        <p:tav tm="100000">
                                          <p:val>
                                            <p:strVal val="#ppt_w"/>
                                          </p:val>
                                        </p:tav>
                                      </p:tavLst>
                                    </p:anim>
                                    <p:anim calcmode="lin" valueType="num">
                                      <p:cBhvr>
                                        <p:cTn id="214" dur="250" fill="hold"/>
                                        <p:tgtEl>
                                          <p:spTgt spid="58"/>
                                        </p:tgtEl>
                                        <p:attrNameLst>
                                          <p:attrName>ppt_h</p:attrName>
                                        </p:attrNameLst>
                                      </p:cBhvr>
                                      <p:tavLst>
                                        <p:tav tm="0">
                                          <p:val>
                                            <p:strVal val="2/3*#ppt_h"/>
                                          </p:val>
                                        </p:tav>
                                        <p:tav tm="100000">
                                          <p:val>
                                            <p:strVal val="#ppt_h"/>
                                          </p:val>
                                        </p:tav>
                                      </p:tavLst>
                                    </p:anim>
                                  </p:childTnLst>
                                </p:cTn>
                              </p:par>
                              <p:par>
                                <p:cTn id="215" presetID="10" presetClass="entr" presetSubtype="0" fill="hold" nodeType="withEffect">
                                  <p:stCondLst>
                                    <p:cond delay="150"/>
                                  </p:stCondLst>
                                  <p:childTnLst>
                                    <p:set>
                                      <p:cBhvr>
                                        <p:cTn id="216" dur="1" fill="hold">
                                          <p:stCondLst>
                                            <p:cond delay="0"/>
                                          </p:stCondLst>
                                        </p:cTn>
                                        <p:tgtEl>
                                          <p:spTgt spid="58"/>
                                        </p:tgtEl>
                                        <p:attrNameLst>
                                          <p:attrName>style.visibility</p:attrName>
                                        </p:attrNameLst>
                                      </p:cBhvr>
                                      <p:to>
                                        <p:strVal val="visible"/>
                                      </p:to>
                                    </p:set>
                                    <p:animEffect transition="in" filter="fade">
                                      <p:cBhvr>
                                        <p:cTn id="217" dur="500"/>
                                        <p:tgtEl>
                                          <p:spTgt spid="58"/>
                                        </p:tgtEl>
                                      </p:cBhvr>
                                    </p:animEffect>
                                  </p:childTnLst>
                                </p:cTn>
                              </p:par>
                              <p:par>
                                <p:cTn id="218" presetID="6" presetClass="emph" presetSubtype="0" fill="hold" nodeType="withEffect">
                                  <p:stCondLst>
                                    <p:cond delay="150"/>
                                  </p:stCondLst>
                                  <p:childTnLst>
                                    <p:animScale>
                                      <p:cBhvr>
                                        <p:cTn id="219" dur="10" fill="hold"/>
                                        <p:tgtEl>
                                          <p:spTgt spid="58"/>
                                        </p:tgtEl>
                                      </p:cBhvr>
                                      <p:by x="80000" y="80000"/>
                                    </p:animScale>
                                  </p:childTnLst>
                                </p:cTn>
                              </p:par>
                              <p:par>
                                <p:cTn id="220" presetID="6" presetClass="emph" presetSubtype="0" decel="100000" fill="hold" nodeType="withEffect">
                                  <p:stCondLst>
                                    <p:cond delay="150"/>
                                  </p:stCondLst>
                                  <p:childTnLst>
                                    <p:animScale>
                                      <p:cBhvr>
                                        <p:cTn id="221" dur="1000" fill="hold"/>
                                        <p:tgtEl>
                                          <p:spTgt spid="58"/>
                                        </p:tgtEl>
                                      </p:cBhvr>
                                      <p:by x="125000" y="125000"/>
                                    </p:animScale>
                                  </p:childTnLst>
                                </p:cTn>
                              </p:par>
                              <p:par>
                                <p:cTn id="222" presetID="23" presetClass="entr" presetSubtype="272" fill="hold" nodeType="withEffect">
                                  <p:stCondLst>
                                    <p:cond delay="150"/>
                                  </p:stCondLst>
                                  <p:childTnLst>
                                    <p:set>
                                      <p:cBhvr>
                                        <p:cTn id="223" dur="1" fill="hold">
                                          <p:stCondLst>
                                            <p:cond delay="0"/>
                                          </p:stCondLst>
                                        </p:cTn>
                                        <p:tgtEl>
                                          <p:spTgt spid="63"/>
                                        </p:tgtEl>
                                        <p:attrNameLst>
                                          <p:attrName>style.visibility</p:attrName>
                                        </p:attrNameLst>
                                      </p:cBhvr>
                                      <p:to>
                                        <p:strVal val="visible"/>
                                      </p:to>
                                    </p:set>
                                    <p:anim calcmode="lin" valueType="num">
                                      <p:cBhvr>
                                        <p:cTn id="224" dur="250" fill="hold"/>
                                        <p:tgtEl>
                                          <p:spTgt spid="63"/>
                                        </p:tgtEl>
                                        <p:attrNameLst>
                                          <p:attrName>ppt_w</p:attrName>
                                        </p:attrNameLst>
                                      </p:cBhvr>
                                      <p:tavLst>
                                        <p:tav tm="0">
                                          <p:val>
                                            <p:strVal val="2/3*#ppt_w"/>
                                          </p:val>
                                        </p:tav>
                                        <p:tav tm="100000">
                                          <p:val>
                                            <p:strVal val="#ppt_w"/>
                                          </p:val>
                                        </p:tav>
                                      </p:tavLst>
                                    </p:anim>
                                    <p:anim calcmode="lin" valueType="num">
                                      <p:cBhvr>
                                        <p:cTn id="225" dur="250" fill="hold"/>
                                        <p:tgtEl>
                                          <p:spTgt spid="63"/>
                                        </p:tgtEl>
                                        <p:attrNameLst>
                                          <p:attrName>ppt_h</p:attrName>
                                        </p:attrNameLst>
                                      </p:cBhvr>
                                      <p:tavLst>
                                        <p:tav tm="0">
                                          <p:val>
                                            <p:strVal val="2/3*#ppt_h"/>
                                          </p:val>
                                        </p:tav>
                                        <p:tav tm="100000">
                                          <p:val>
                                            <p:strVal val="#ppt_h"/>
                                          </p:val>
                                        </p:tav>
                                      </p:tavLst>
                                    </p:anim>
                                  </p:childTnLst>
                                </p:cTn>
                              </p:par>
                              <p:par>
                                <p:cTn id="226" presetID="10" presetClass="entr" presetSubtype="0" fill="hold" nodeType="withEffect">
                                  <p:stCondLst>
                                    <p:cond delay="150"/>
                                  </p:stCondLst>
                                  <p:childTnLst>
                                    <p:set>
                                      <p:cBhvr>
                                        <p:cTn id="227" dur="1" fill="hold">
                                          <p:stCondLst>
                                            <p:cond delay="0"/>
                                          </p:stCondLst>
                                        </p:cTn>
                                        <p:tgtEl>
                                          <p:spTgt spid="63"/>
                                        </p:tgtEl>
                                        <p:attrNameLst>
                                          <p:attrName>style.visibility</p:attrName>
                                        </p:attrNameLst>
                                      </p:cBhvr>
                                      <p:to>
                                        <p:strVal val="visible"/>
                                      </p:to>
                                    </p:set>
                                    <p:animEffect transition="in" filter="fade">
                                      <p:cBhvr>
                                        <p:cTn id="228" dur="500"/>
                                        <p:tgtEl>
                                          <p:spTgt spid="63"/>
                                        </p:tgtEl>
                                      </p:cBhvr>
                                    </p:animEffect>
                                  </p:childTnLst>
                                </p:cTn>
                              </p:par>
                              <p:par>
                                <p:cTn id="229" presetID="6" presetClass="emph" presetSubtype="0" fill="hold" nodeType="withEffect">
                                  <p:stCondLst>
                                    <p:cond delay="150"/>
                                  </p:stCondLst>
                                  <p:childTnLst>
                                    <p:animScale>
                                      <p:cBhvr>
                                        <p:cTn id="230" dur="10" fill="hold"/>
                                        <p:tgtEl>
                                          <p:spTgt spid="63"/>
                                        </p:tgtEl>
                                      </p:cBhvr>
                                      <p:by x="80000" y="80000"/>
                                    </p:animScale>
                                  </p:childTnLst>
                                </p:cTn>
                              </p:par>
                              <p:par>
                                <p:cTn id="231" presetID="6" presetClass="emph" presetSubtype="0" decel="100000" fill="hold" nodeType="withEffect">
                                  <p:stCondLst>
                                    <p:cond delay="150"/>
                                  </p:stCondLst>
                                  <p:childTnLst>
                                    <p:animScale>
                                      <p:cBhvr>
                                        <p:cTn id="232" dur="1000" fill="hold"/>
                                        <p:tgtEl>
                                          <p:spTgt spid="63"/>
                                        </p:tgtEl>
                                      </p:cBhvr>
                                      <p:by x="125000" y="125000"/>
                                    </p:animScale>
                                  </p:childTnLst>
                                </p:cTn>
                              </p:par>
                              <p:par>
                                <p:cTn id="233" presetID="23" presetClass="entr" presetSubtype="272" fill="hold" nodeType="withEffect">
                                  <p:stCondLst>
                                    <p:cond delay="150"/>
                                  </p:stCondLst>
                                  <p:childTnLst>
                                    <p:set>
                                      <p:cBhvr>
                                        <p:cTn id="234" dur="1" fill="hold">
                                          <p:stCondLst>
                                            <p:cond delay="0"/>
                                          </p:stCondLst>
                                        </p:cTn>
                                        <p:tgtEl>
                                          <p:spTgt spid="68"/>
                                        </p:tgtEl>
                                        <p:attrNameLst>
                                          <p:attrName>style.visibility</p:attrName>
                                        </p:attrNameLst>
                                      </p:cBhvr>
                                      <p:to>
                                        <p:strVal val="visible"/>
                                      </p:to>
                                    </p:set>
                                    <p:anim calcmode="lin" valueType="num">
                                      <p:cBhvr>
                                        <p:cTn id="235" dur="250" fill="hold"/>
                                        <p:tgtEl>
                                          <p:spTgt spid="68"/>
                                        </p:tgtEl>
                                        <p:attrNameLst>
                                          <p:attrName>ppt_w</p:attrName>
                                        </p:attrNameLst>
                                      </p:cBhvr>
                                      <p:tavLst>
                                        <p:tav tm="0">
                                          <p:val>
                                            <p:strVal val="2/3*#ppt_w"/>
                                          </p:val>
                                        </p:tav>
                                        <p:tav tm="100000">
                                          <p:val>
                                            <p:strVal val="#ppt_w"/>
                                          </p:val>
                                        </p:tav>
                                      </p:tavLst>
                                    </p:anim>
                                    <p:anim calcmode="lin" valueType="num">
                                      <p:cBhvr>
                                        <p:cTn id="236" dur="250" fill="hold"/>
                                        <p:tgtEl>
                                          <p:spTgt spid="68"/>
                                        </p:tgtEl>
                                        <p:attrNameLst>
                                          <p:attrName>ppt_h</p:attrName>
                                        </p:attrNameLst>
                                      </p:cBhvr>
                                      <p:tavLst>
                                        <p:tav tm="0">
                                          <p:val>
                                            <p:strVal val="2/3*#ppt_h"/>
                                          </p:val>
                                        </p:tav>
                                        <p:tav tm="100000">
                                          <p:val>
                                            <p:strVal val="#ppt_h"/>
                                          </p:val>
                                        </p:tav>
                                      </p:tavLst>
                                    </p:anim>
                                  </p:childTnLst>
                                </p:cTn>
                              </p:par>
                              <p:par>
                                <p:cTn id="237" presetID="10" presetClass="entr" presetSubtype="0" fill="hold" nodeType="withEffect">
                                  <p:stCondLst>
                                    <p:cond delay="150"/>
                                  </p:stCondLst>
                                  <p:childTnLst>
                                    <p:set>
                                      <p:cBhvr>
                                        <p:cTn id="238" dur="1" fill="hold">
                                          <p:stCondLst>
                                            <p:cond delay="0"/>
                                          </p:stCondLst>
                                        </p:cTn>
                                        <p:tgtEl>
                                          <p:spTgt spid="68"/>
                                        </p:tgtEl>
                                        <p:attrNameLst>
                                          <p:attrName>style.visibility</p:attrName>
                                        </p:attrNameLst>
                                      </p:cBhvr>
                                      <p:to>
                                        <p:strVal val="visible"/>
                                      </p:to>
                                    </p:set>
                                    <p:animEffect transition="in" filter="fade">
                                      <p:cBhvr>
                                        <p:cTn id="239" dur="500"/>
                                        <p:tgtEl>
                                          <p:spTgt spid="68"/>
                                        </p:tgtEl>
                                      </p:cBhvr>
                                    </p:animEffect>
                                  </p:childTnLst>
                                </p:cTn>
                              </p:par>
                              <p:par>
                                <p:cTn id="240" presetID="6" presetClass="emph" presetSubtype="0" fill="hold" nodeType="withEffect">
                                  <p:stCondLst>
                                    <p:cond delay="150"/>
                                  </p:stCondLst>
                                  <p:childTnLst>
                                    <p:animScale>
                                      <p:cBhvr>
                                        <p:cTn id="241" dur="10" fill="hold"/>
                                        <p:tgtEl>
                                          <p:spTgt spid="68"/>
                                        </p:tgtEl>
                                      </p:cBhvr>
                                      <p:by x="80000" y="80000"/>
                                    </p:animScale>
                                  </p:childTnLst>
                                </p:cTn>
                              </p:par>
                              <p:par>
                                <p:cTn id="242" presetID="6" presetClass="emph" presetSubtype="0" decel="100000" fill="hold" nodeType="withEffect">
                                  <p:stCondLst>
                                    <p:cond delay="150"/>
                                  </p:stCondLst>
                                  <p:childTnLst>
                                    <p:animScale>
                                      <p:cBhvr>
                                        <p:cTn id="243" dur="1000" fill="hold"/>
                                        <p:tgtEl>
                                          <p:spTgt spid="68"/>
                                        </p:tgtEl>
                                      </p:cBhvr>
                                      <p:by x="125000" y="125000"/>
                                    </p:animScale>
                                  </p:childTnLst>
                                </p:cTn>
                              </p:par>
                              <p:par>
                                <p:cTn id="244" presetID="23" presetClass="entr" presetSubtype="272" fill="hold" nodeType="withEffect">
                                  <p:stCondLst>
                                    <p:cond delay="150"/>
                                  </p:stCondLst>
                                  <p:childTnLst>
                                    <p:set>
                                      <p:cBhvr>
                                        <p:cTn id="245" dur="1" fill="hold">
                                          <p:stCondLst>
                                            <p:cond delay="0"/>
                                          </p:stCondLst>
                                        </p:cTn>
                                        <p:tgtEl>
                                          <p:spTgt spid="73"/>
                                        </p:tgtEl>
                                        <p:attrNameLst>
                                          <p:attrName>style.visibility</p:attrName>
                                        </p:attrNameLst>
                                      </p:cBhvr>
                                      <p:to>
                                        <p:strVal val="visible"/>
                                      </p:to>
                                    </p:set>
                                    <p:anim calcmode="lin" valueType="num">
                                      <p:cBhvr>
                                        <p:cTn id="246" dur="250" fill="hold"/>
                                        <p:tgtEl>
                                          <p:spTgt spid="73"/>
                                        </p:tgtEl>
                                        <p:attrNameLst>
                                          <p:attrName>ppt_w</p:attrName>
                                        </p:attrNameLst>
                                      </p:cBhvr>
                                      <p:tavLst>
                                        <p:tav tm="0">
                                          <p:val>
                                            <p:strVal val="2/3*#ppt_w"/>
                                          </p:val>
                                        </p:tav>
                                        <p:tav tm="100000">
                                          <p:val>
                                            <p:strVal val="#ppt_w"/>
                                          </p:val>
                                        </p:tav>
                                      </p:tavLst>
                                    </p:anim>
                                    <p:anim calcmode="lin" valueType="num">
                                      <p:cBhvr>
                                        <p:cTn id="247" dur="250" fill="hold"/>
                                        <p:tgtEl>
                                          <p:spTgt spid="73"/>
                                        </p:tgtEl>
                                        <p:attrNameLst>
                                          <p:attrName>ppt_h</p:attrName>
                                        </p:attrNameLst>
                                      </p:cBhvr>
                                      <p:tavLst>
                                        <p:tav tm="0">
                                          <p:val>
                                            <p:strVal val="2/3*#ppt_h"/>
                                          </p:val>
                                        </p:tav>
                                        <p:tav tm="100000">
                                          <p:val>
                                            <p:strVal val="#ppt_h"/>
                                          </p:val>
                                        </p:tav>
                                      </p:tavLst>
                                    </p:anim>
                                  </p:childTnLst>
                                </p:cTn>
                              </p:par>
                              <p:par>
                                <p:cTn id="248" presetID="10" presetClass="entr" presetSubtype="0" fill="hold" nodeType="withEffect">
                                  <p:stCondLst>
                                    <p:cond delay="150"/>
                                  </p:stCondLst>
                                  <p:childTnLst>
                                    <p:set>
                                      <p:cBhvr>
                                        <p:cTn id="249" dur="1" fill="hold">
                                          <p:stCondLst>
                                            <p:cond delay="0"/>
                                          </p:stCondLst>
                                        </p:cTn>
                                        <p:tgtEl>
                                          <p:spTgt spid="73"/>
                                        </p:tgtEl>
                                        <p:attrNameLst>
                                          <p:attrName>style.visibility</p:attrName>
                                        </p:attrNameLst>
                                      </p:cBhvr>
                                      <p:to>
                                        <p:strVal val="visible"/>
                                      </p:to>
                                    </p:set>
                                    <p:animEffect transition="in" filter="fade">
                                      <p:cBhvr>
                                        <p:cTn id="250" dur="500"/>
                                        <p:tgtEl>
                                          <p:spTgt spid="73"/>
                                        </p:tgtEl>
                                      </p:cBhvr>
                                    </p:animEffect>
                                  </p:childTnLst>
                                </p:cTn>
                              </p:par>
                              <p:par>
                                <p:cTn id="251" presetID="6" presetClass="emph" presetSubtype="0" fill="hold" nodeType="withEffect">
                                  <p:stCondLst>
                                    <p:cond delay="150"/>
                                  </p:stCondLst>
                                  <p:childTnLst>
                                    <p:animScale>
                                      <p:cBhvr>
                                        <p:cTn id="252" dur="10" fill="hold"/>
                                        <p:tgtEl>
                                          <p:spTgt spid="73"/>
                                        </p:tgtEl>
                                      </p:cBhvr>
                                      <p:by x="80000" y="80000"/>
                                    </p:animScale>
                                  </p:childTnLst>
                                </p:cTn>
                              </p:par>
                              <p:par>
                                <p:cTn id="253" presetID="6" presetClass="emph" presetSubtype="0" decel="100000" fill="hold" nodeType="withEffect">
                                  <p:stCondLst>
                                    <p:cond delay="150"/>
                                  </p:stCondLst>
                                  <p:childTnLst>
                                    <p:animScale>
                                      <p:cBhvr>
                                        <p:cTn id="254" dur="1000" fill="hold"/>
                                        <p:tgtEl>
                                          <p:spTgt spid="73"/>
                                        </p:tgtEl>
                                      </p:cBhvr>
                                      <p:by x="125000" y="125000"/>
                                    </p:animScale>
                                  </p:childTnLst>
                                </p:cTn>
                              </p:par>
                              <p:par>
                                <p:cTn id="255" presetID="10" presetClass="entr" presetSubtype="0" fill="hold" grpId="0" nodeType="withEffect">
                                  <p:stCondLst>
                                    <p:cond delay="150"/>
                                  </p:stCondLst>
                                  <p:childTnLst>
                                    <p:set>
                                      <p:cBhvr>
                                        <p:cTn id="256" dur="1" fill="hold">
                                          <p:stCondLst>
                                            <p:cond delay="0"/>
                                          </p:stCondLst>
                                        </p:cTn>
                                        <p:tgtEl>
                                          <p:spTgt spid="78"/>
                                        </p:tgtEl>
                                        <p:attrNameLst>
                                          <p:attrName>style.visibility</p:attrName>
                                        </p:attrNameLst>
                                      </p:cBhvr>
                                      <p:to>
                                        <p:strVal val="visible"/>
                                      </p:to>
                                    </p:set>
                                    <p:animEffect transition="in" filter="fade">
                                      <p:cBhvr>
                                        <p:cTn id="257" dur="1000"/>
                                        <p:tgtEl>
                                          <p:spTgt spid="78"/>
                                        </p:tgtEl>
                                      </p:cBhvr>
                                    </p:animEffect>
                                  </p:childTnLst>
                                </p:cTn>
                              </p:par>
                              <p:par>
                                <p:cTn id="258" presetID="23" presetClass="entr" presetSubtype="272" fill="hold" grpId="0" nodeType="withEffect">
                                  <p:stCondLst>
                                    <p:cond delay="150"/>
                                  </p:stCondLst>
                                  <p:childTnLst>
                                    <p:set>
                                      <p:cBhvr>
                                        <p:cTn id="259" dur="1" fill="hold">
                                          <p:stCondLst>
                                            <p:cond delay="0"/>
                                          </p:stCondLst>
                                        </p:cTn>
                                        <p:tgtEl>
                                          <p:spTgt spid="79"/>
                                        </p:tgtEl>
                                        <p:attrNameLst>
                                          <p:attrName>style.visibility</p:attrName>
                                        </p:attrNameLst>
                                      </p:cBhvr>
                                      <p:to>
                                        <p:strVal val="visible"/>
                                      </p:to>
                                    </p:set>
                                    <p:anim calcmode="lin" valueType="num">
                                      <p:cBhvr>
                                        <p:cTn id="260" dur="250" fill="hold"/>
                                        <p:tgtEl>
                                          <p:spTgt spid="79"/>
                                        </p:tgtEl>
                                        <p:attrNameLst>
                                          <p:attrName>ppt_w</p:attrName>
                                        </p:attrNameLst>
                                      </p:cBhvr>
                                      <p:tavLst>
                                        <p:tav tm="0">
                                          <p:val>
                                            <p:strVal val="2/3*#ppt_w"/>
                                          </p:val>
                                        </p:tav>
                                        <p:tav tm="100000">
                                          <p:val>
                                            <p:strVal val="#ppt_w"/>
                                          </p:val>
                                        </p:tav>
                                      </p:tavLst>
                                    </p:anim>
                                    <p:anim calcmode="lin" valueType="num">
                                      <p:cBhvr>
                                        <p:cTn id="261" dur="250" fill="hold"/>
                                        <p:tgtEl>
                                          <p:spTgt spid="79"/>
                                        </p:tgtEl>
                                        <p:attrNameLst>
                                          <p:attrName>ppt_h</p:attrName>
                                        </p:attrNameLst>
                                      </p:cBhvr>
                                      <p:tavLst>
                                        <p:tav tm="0">
                                          <p:val>
                                            <p:strVal val="2/3*#ppt_h"/>
                                          </p:val>
                                        </p:tav>
                                        <p:tav tm="100000">
                                          <p:val>
                                            <p:strVal val="#ppt_h"/>
                                          </p:val>
                                        </p:tav>
                                      </p:tavLst>
                                    </p:anim>
                                  </p:childTnLst>
                                </p:cTn>
                              </p:par>
                              <p:par>
                                <p:cTn id="262" presetID="10" presetClass="entr" presetSubtype="0" fill="hold" grpId="1" nodeType="withEffect">
                                  <p:stCondLst>
                                    <p:cond delay="150"/>
                                  </p:stCondLst>
                                  <p:childTnLst>
                                    <p:set>
                                      <p:cBhvr>
                                        <p:cTn id="263" dur="1" fill="hold">
                                          <p:stCondLst>
                                            <p:cond delay="0"/>
                                          </p:stCondLst>
                                        </p:cTn>
                                        <p:tgtEl>
                                          <p:spTgt spid="79"/>
                                        </p:tgtEl>
                                        <p:attrNameLst>
                                          <p:attrName>style.visibility</p:attrName>
                                        </p:attrNameLst>
                                      </p:cBhvr>
                                      <p:to>
                                        <p:strVal val="visible"/>
                                      </p:to>
                                    </p:set>
                                    <p:animEffect transition="in" filter="fade">
                                      <p:cBhvr>
                                        <p:cTn id="264" dur="500"/>
                                        <p:tgtEl>
                                          <p:spTgt spid="79"/>
                                        </p:tgtEl>
                                      </p:cBhvr>
                                    </p:animEffect>
                                  </p:childTnLst>
                                </p:cTn>
                              </p:par>
                              <p:par>
                                <p:cTn id="265" presetID="6" presetClass="emph" presetSubtype="0" fill="hold" grpId="2" nodeType="withEffect">
                                  <p:stCondLst>
                                    <p:cond delay="150"/>
                                  </p:stCondLst>
                                  <p:childTnLst>
                                    <p:animScale>
                                      <p:cBhvr>
                                        <p:cTn id="266" dur="10" fill="hold"/>
                                        <p:tgtEl>
                                          <p:spTgt spid="79"/>
                                        </p:tgtEl>
                                      </p:cBhvr>
                                      <p:by x="80000" y="80000"/>
                                    </p:animScale>
                                  </p:childTnLst>
                                </p:cTn>
                              </p:par>
                              <p:par>
                                <p:cTn id="267" presetID="6" presetClass="emph" presetSubtype="0" decel="100000" fill="hold" grpId="3" nodeType="withEffect">
                                  <p:stCondLst>
                                    <p:cond delay="150"/>
                                  </p:stCondLst>
                                  <p:childTnLst>
                                    <p:animScale>
                                      <p:cBhvr>
                                        <p:cTn id="268" dur="1000" fill="hold"/>
                                        <p:tgtEl>
                                          <p:spTgt spid="79"/>
                                        </p:tgtEl>
                                      </p:cBhvr>
                                      <p:by x="125000" y="125000"/>
                                    </p:animScale>
                                  </p:childTnLst>
                                </p:cTn>
                              </p:par>
                              <p:par>
                                <p:cTn id="269" presetID="10" presetClass="entr" presetSubtype="0" fill="hold" grpId="0" nodeType="withEffect">
                                  <p:stCondLst>
                                    <p:cond delay="150"/>
                                  </p:stCondLst>
                                  <p:childTnLst>
                                    <p:set>
                                      <p:cBhvr>
                                        <p:cTn id="270" dur="1" fill="hold">
                                          <p:stCondLst>
                                            <p:cond delay="0"/>
                                          </p:stCondLst>
                                        </p:cTn>
                                        <p:tgtEl>
                                          <p:spTgt spid="80"/>
                                        </p:tgtEl>
                                        <p:attrNameLst>
                                          <p:attrName>style.visibility</p:attrName>
                                        </p:attrNameLst>
                                      </p:cBhvr>
                                      <p:to>
                                        <p:strVal val="visible"/>
                                      </p:to>
                                    </p:set>
                                    <p:animEffect transition="in" filter="fade">
                                      <p:cBhvr>
                                        <p:cTn id="271" dur="1000"/>
                                        <p:tgtEl>
                                          <p:spTgt spid="80"/>
                                        </p:tgtEl>
                                      </p:cBhvr>
                                    </p:animEffect>
                                  </p:childTnLst>
                                </p:cTn>
                              </p:par>
                              <p:par>
                                <p:cTn id="272" presetID="23" presetClass="entr" presetSubtype="272" fill="hold" grpId="0" nodeType="withEffect">
                                  <p:stCondLst>
                                    <p:cond delay="150"/>
                                  </p:stCondLst>
                                  <p:childTnLst>
                                    <p:set>
                                      <p:cBhvr>
                                        <p:cTn id="273" dur="1" fill="hold">
                                          <p:stCondLst>
                                            <p:cond delay="0"/>
                                          </p:stCondLst>
                                        </p:cTn>
                                        <p:tgtEl>
                                          <p:spTgt spid="81"/>
                                        </p:tgtEl>
                                        <p:attrNameLst>
                                          <p:attrName>style.visibility</p:attrName>
                                        </p:attrNameLst>
                                      </p:cBhvr>
                                      <p:to>
                                        <p:strVal val="visible"/>
                                      </p:to>
                                    </p:set>
                                    <p:anim calcmode="lin" valueType="num">
                                      <p:cBhvr>
                                        <p:cTn id="274" dur="250" fill="hold"/>
                                        <p:tgtEl>
                                          <p:spTgt spid="81"/>
                                        </p:tgtEl>
                                        <p:attrNameLst>
                                          <p:attrName>ppt_w</p:attrName>
                                        </p:attrNameLst>
                                      </p:cBhvr>
                                      <p:tavLst>
                                        <p:tav tm="0">
                                          <p:val>
                                            <p:strVal val="2/3*#ppt_w"/>
                                          </p:val>
                                        </p:tav>
                                        <p:tav tm="100000">
                                          <p:val>
                                            <p:strVal val="#ppt_w"/>
                                          </p:val>
                                        </p:tav>
                                      </p:tavLst>
                                    </p:anim>
                                    <p:anim calcmode="lin" valueType="num">
                                      <p:cBhvr>
                                        <p:cTn id="275" dur="250" fill="hold"/>
                                        <p:tgtEl>
                                          <p:spTgt spid="81"/>
                                        </p:tgtEl>
                                        <p:attrNameLst>
                                          <p:attrName>ppt_h</p:attrName>
                                        </p:attrNameLst>
                                      </p:cBhvr>
                                      <p:tavLst>
                                        <p:tav tm="0">
                                          <p:val>
                                            <p:strVal val="2/3*#ppt_h"/>
                                          </p:val>
                                        </p:tav>
                                        <p:tav tm="100000">
                                          <p:val>
                                            <p:strVal val="#ppt_h"/>
                                          </p:val>
                                        </p:tav>
                                      </p:tavLst>
                                    </p:anim>
                                  </p:childTnLst>
                                </p:cTn>
                              </p:par>
                              <p:par>
                                <p:cTn id="276" presetID="10" presetClass="entr" presetSubtype="0" fill="hold" grpId="1" nodeType="withEffect">
                                  <p:stCondLst>
                                    <p:cond delay="150"/>
                                  </p:stCondLst>
                                  <p:childTnLst>
                                    <p:set>
                                      <p:cBhvr>
                                        <p:cTn id="277" dur="1" fill="hold">
                                          <p:stCondLst>
                                            <p:cond delay="0"/>
                                          </p:stCondLst>
                                        </p:cTn>
                                        <p:tgtEl>
                                          <p:spTgt spid="81"/>
                                        </p:tgtEl>
                                        <p:attrNameLst>
                                          <p:attrName>style.visibility</p:attrName>
                                        </p:attrNameLst>
                                      </p:cBhvr>
                                      <p:to>
                                        <p:strVal val="visible"/>
                                      </p:to>
                                    </p:set>
                                    <p:animEffect transition="in" filter="fade">
                                      <p:cBhvr>
                                        <p:cTn id="278" dur="500"/>
                                        <p:tgtEl>
                                          <p:spTgt spid="81"/>
                                        </p:tgtEl>
                                      </p:cBhvr>
                                    </p:animEffect>
                                  </p:childTnLst>
                                </p:cTn>
                              </p:par>
                              <p:par>
                                <p:cTn id="279" presetID="6" presetClass="emph" presetSubtype="0" fill="hold" grpId="2" nodeType="withEffect">
                                  <p:stCondLst>
                                    <p:cond delay="150"/>
                                  </p:stCondLst>
                                  <p:childTnLst>
                                    <p:animScale>
                                      <p:cBhvr>
                                        <p:cTn id="280" dur="10" fill="hold"/>
                                        <p:tgtEl>
                                          <p:spTgt spid="81"/>
                                        </p:tgtEl>
                                      </p:cBhvr>
                                      <p:by x="80000" y="80000"/>
                                    </p:animScale>
                                  </p:childTnLst>
                                </p:cTn>
                              </p:par>
                              <p:par>
                                <p:cTn id="281" presetID="6" presetClass="emph" presetSubtype="0" decel="100000" fill="hold" grpId="3" nodeType="withEffect">
                                  <p:stCondLst>
                                    <p:cond delay="150"/>
                                  </p:stCondLst>
                                  <p:childTnLst>
                                    <p:animScale>
                                      <p:cBhvr>
                                        <p:cTn id="282" dur="1000" fill="hold"/>
                                        <p:tgtEl>
                                          <p:spTgt spid="81"/>
                                        </p:tgtEl>
                                      </p:cBhvr>
                                      <p:by x="125000" y="125000"/>
                                    </p:animScale>
                                  </p:childTnLst>
                                </p:cTn>
                              </p:par>
                              <p:par>
                                <p:cTn id="283" presetID="23" presetClass="entr" presetSubtype="272" fill="hold" nodeType="withEffect">
                                  <p:stCondLst>
                                    <p:cond delay="150"/>
                                  </p:stCondLst>
                                  <p:childTnLst>
                                    <p:set>
                                      <p:cBhvr>
                                        <p:cTn id="284" dur="1" fill="hold">
                                          <p:stCondLst>
                                            <p:cond delay="0"/>
                                          </p:stCondLst>
                                        </p:cTn>
                                        <p:tgtEl>
                                          <p:spTgt spid="82"/>
                                        </p:tgtEl>
                                        <p:attrNameLst>
                                          <p:attrName>style.visibility</p:attrName>
                                        </p:attrNameLst>
                                      </p:cBhvr>
                                      <p:to>
                                        <p:strVal val="visible"/>
                                      </p:to>
                                    </p:set>
                                    <p:anim calcmode="lin" valueType="num">
                                      <p:cBhvr>
                                        <p:cTn id="285" dur="250" fill="hold"/>
                                        <p:tgtEl>
                                          <p:spTgt spid="82"/>
                                        </p:tgtEl>
                                        <p:attrNameLst>
                                          <p:attrName>ppt_w</p:attrName>
                                        </p:attrNameLst>
                                      </p:cBhvr>
                                      <p:tavLst>
                                        <p:tav tm="0">
                                          <p:val>
                                            <p:strVal val="2/3*#ppt_w"/>
                                          </p:val>
                                        </p:tav>
                                        <p:tav tm="100000">
                                          <p:val>
                                            <p:strVal val="#ppt_w"/>
                                          </p:val>
                                        </p:tav>
                                      </p:tavLst>
                                    </p:anim>
                                    <p:anim calcmode="lin" valueType="num">
                                      <p:cBhvr>
                                        <p:cTn id="286" dur="250" fill="hold"/>
                                        <p:tgtEl>
                                          <p:spTgt spid="82"/>
                                        </p:tgtEl>
                                        <p:attrNameLst>
                                          <p:attrName>ppt_h</p:attrName>
                                        </p:attrNameLst>
                                      </p:cBhvr>
                                      <p:tavLst>
                                        <p:tav tm="0">
                                          <p:val>
                                            <p:strVal val="2/3*#ppt_h"/>
                                          </p:val>
                                        </p:tav>
                                        <p:tav tm="100000">
                                          <p:val>
                                            <p:strVal val="#ppt_h"/>
                                          </p:val>
                                        </p:tav>
                                      </p:tavLst>
                                    </p:anim>
                                  </p:childTnLst>
                                </p:cTn>
                              </p:par>
                              <p:par>
                                <p:cTn id="287" presetID="10" presetClass="entr" presetSubtype="0" fill="hold" nodeType="withEffect">
                                  <p:stCondLst>
                                    <p:cond delay="150"/>
                                  </p:stCondLst>
                                  <p:childTnLst>
                                    <p:set>
                                      <p:cBhvr>
                                        <p:cTn id="288" dur="1" fill="hold">
                                          <p:stCondLst>
                                            <p:cond delay="0"/>
                                          </p:stCondLst>
                                        </p:cTn>
                                        <p:tgtEl>
                                          <p:spTgt spid="82"/>
                                        </p:tgtEl>
                                        <p:attrNameLst>
                                          <p:attrName>style.visibility</p:attrName>
                                        </p:attrNameLst>
                                      </p:cBhvr>
                                      <p:to>
                                        <p:strVal val="visible"/>
                                      </p:to>
                                    </p:set>
                                    <p:animEffect transition="in" filter="fade">
                                      <p:cBhvr>
                                        <p:cTn id="289" dur="500"/>
                                        <p:tgtEl>
                                          <p:spTgt spid="82"/>
                                        </p:tgtEl>
                                      </p:cBhvr>
                                    </p:animEffect>
                                  </p:childTnLst>
                                </p:cTn>
                              </p:par>
                              <p:par>
                                <p:cTn id="290" presetID="6" presetClass="emph" presetSubtype="0" fill="hold" nodeType="withEffect">
                                  <p:stCondLst>
                                    <p:cond delay="150"/>
                                  </p:stCondLst>
                                  <p:childTnLst>
                                    <p:animScale>
                                      <p:cBhvr>
                                        <p:cTn id="291" dur="10" fill="hold"/>
                                        <p:tgtEl>
                                          <p:spTgt spid="82"/>
                                        </p:tgtEl>
                                      </p:cBhvr>
                                      <p:by x="80000" y="80000"/>
                                    </p:animScale>
                                  </p:childTnLst>
                                </p:cTn>
                              </p:par>
                              <p:par>
                                <p:cTn id="292" presetID="6" presetClass="emph" presetSubtype="0" decel="100000" fill="hold" nodeType="withEffect">
                                  <p:stCondLst>
                                    <p:cond delay="150"/>
                                  </p:stCondLst>
                                  <p:childTnLst>
                                    <p:animScale>
                                      <p:cBhvr>
                                        <p:cTn id="293" dur="1000" fill="hold"/>
                                        <p:tgtEl>
                                          <p:spTgt spid="82"/>
                                        </p:tgtEl>
                                      </p:cBhvr>
                                      <p:by x="125000" y="125000"/>
                                    </p:animScale>
                                  </p:childTnLst>
                                </p:cTn>
                              </p:par>
                              <p:par>
                                <p:cTn id="294" presetID="23" presetClass="entr" presetSubtype="272" fill="hold" nodeType="withEffect">
                                  <p:stCondLst>
                                    <p:cond delay="150"/>
                                  </p:stCondLst>
                                  <p:childTnLst>
                                    <p:set>
                                      <p:cBhvr>
                                        <p:cTn id="295" dur="1" fill="hold">
                                          <p:stCondLst>
                                            <p:cond delay="0"/>
                                          </p:stCondLst>
                                        </p:cTn>
                                        <p:tgtEl>
                                          <p:spTgt spid="87"/>
                                        </p:tgtEl>
                                        <p:attrNameLst>
                                          <p:attrName>style.visibility</p:attrName>
                                        </p:attrNameLst>
                                      </p:cBhvr>
                                      <p:to>
                                        <p:strVal val="visible"/>
                                      </p:to>
                                    </p:set>
                                    <p:anim calcmode="lin" valueType="num">
                                      <p:cBhvr>
                                        <p:cTn id="296" dur="250" fill="hold"/>
                                        <p:tgtEl>
                                          <p:spTgt spid="87"/>
                                        </p:tgtEl>
                                        <p:attrNameLst>
                                          <p:attrName>ppt_w</p:attrName>
                                        </p:attrNameLst>
                                      </p:cBhvr>
                                      <p:tavLst>
                                        <p:tav tm="0">
                                          <p:val>
                                            <p:strVal val="2/3*#ppt_w"/>
                                          </p:val>
                                        </p:tav>
                                        <p:tav tm="100000">
                                          <p:val>
                                            <p:strVal val="#ppt_w"/>
                                          </p:val>
                                        </p:tav>
                                      </p:tavLst>
                                    </p:anim>
                                    <p:anim calcmode="lin" valueType="num">
                                      <p:cBhvr>
                                        <p:cTn id="297" dur="250" fill="hold"/>
                                        <p:tgtEl>
                                          <p:spTgt spid="87"/>
                                        </p:tgtEl>
                                        <p:attrNameLst>
                                          <p:attrName>ppt_h</p:attrName>
                                        </p:attrNameLst>
                                      </p:cBhvr>
                                      <p:tavLst>
                                        <p:tav tm="0">
                                          <p:val>
                                            <p:strVal val="2/3*#ppt_h"/>
                                          </p:val>
                                        </p:tav>
                                        <p:tav tm="100000">
                                          <p:val>
                                            <p:strVal val="#ppt_h"/>
                                          </p:val>
                                        </p:tav>
                                      </p:tavLst>
                                    </p:anim>
                                  </p:childTnLst>
                                </p:cTn>
                              </p:par>
                              <p:par>
                                <p:cTn id="298" presetID="10" presetClass="entr" presetSubtype="0" fill="hold" nodeType="withEffect">
                                  <p:stCondLst>
                                    <p:cond delay="150"/>
                                  </p:stCondLst>
                                  <p:childTnLst>
                                    <p:set>
                                      <p:cBhvr>
                                        <p:cTn id="299" dur="1" fill="hold">
                                          <p:stCondLst>
                                            <p:cond delay="0"/>
                                          </p:stCondLst>
                                        </p:cTn>
                                        <p:tgtEl>
                                          <p:spTgt spid="87"/>
                                        </p:tgtEl>
                                        <p:attrNameLst>
                                          <p:attrName>style.visibility</p:attrName>
                                        </p:attrNameLst>
                                      </p:cBhvr>
                                      <p:to>
                                        <p:strVal val="visible"/>
                                      </p:to>
                                    </p:set>
                                    <p:animEffect transition="in" filter="fade">
                                      <p:cBhvr>
                                        <p:cTn id="300" dur="500"/>
                                        <p:tgtEl>
                                          <p:spTgt spid="87"/>
                                        </p:tgtEl>
                                      </p:cBhvr>
                                    </p:animEffect>
                                  </p:childTnLst>
                                </p:cTn>
                              </p:par>
                              <p:par>
                                <p:cTn id="301" presetID="6" presetClass="emph" presetSubtype="0" fill="hold" nodeType="withEffect">
                                  <p:stCondLst>
                                    <p:cond delay="150"/>
                                  </p:stCondLst>
                                  <p:childTnLst>
                                    <p:animScale>
                                      <p:cBhvr>
                                        <p:cTn id="302" dur="10" fill="hold"/>
                                        <p:tgtEl>
                                          <p:spTgt spid="87"/>
                                        </p:tgtEl>
                                      </p:cBhvr>
                                      <p:by x="80000" y="80000"/>
                                    </p:animScale>
                                  </p:childTnLst>
                                </p:cTn>
                              </p:par>
                              <p:par>
                                <p:cTn id="303" presetID="6" presetClass="emph" presetSubtype="0" decel="100000" fill="hold" nodeType="withEffect">
                                  <p:stCondLst>
                                    <p:cond delay="150"/>
                                  </p:stCondLst>
                                  <p:childTnLst>
                                    <p:animScale>
                                      <p:cBhvr>
                                        <p:cTn id="304" dur="1000" fill="hold"/>
                                        <p:tgtEl>
                                          <p:spTgt spid="87"/>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9" grpId="1"/>
      <p:bldP spid="9" grpId="2"/>
      <p:bldP spid="9" grpId="3"/>
      <p:bldP spid="10" grpId="0" animBg="1"/>
      <p:bldP spid="11" grpId="0"/>
      <p:bldP spid="11" grpId="1"/>
      <p:bldP spid="11" grpId="2"/>
      <p:bldP spid="11" grpId="3"/>
      <p:bldP spid="12" grpId="0" animBg="1"/>
      <p:bldP spid="13" grpId="0"/>
      <p:bldP spid="13" grpId="1"/>
      <p:bldP spid="13" grpId="2"/>
      <p:bldP spid="13" grpId="3"/>
      <p:bldP spid="14" grpId="0" animBg="1"/>
      <p:bldP spid="15" grpId="0"/>
      <p:bldP spid="15" grpId="1"/>
      <p:bldP spid="15" grpId="2"/>
      <p:bldP spid="15" grpId="3"/>
      <p:bldP spid="36" grpId="0" animBg="1"/>
      <p:bldP spid="37" grpId="0"/>
      <p:bldP spid="37" grpId="1"/>
      <p:bldP spid="37" grpId="2"/>
      <p:bldP spid="37" grpId="3"/>
      <p:bldP spid="38" grpId="0" animBg="1"/>
      <p:bldP spid="39" grpId="0"/>
      <p:bldP spid="39" grpId="1"/>
      <p:bldP spid="39" grpId="2"/>
      <p:bldP spid="39" grpId="3"/>
      <p:bldP spid="50" grpId="0" animBg="1"/>
      <p:bldP spid="51" grpId="0"/>
      <p:bldP spid="51" grpId="1"/>
      <p:bldP spid="51" grpId="2"/>
      <p:bldP spid="51" grpId="3"/>
      <p:bldP spid="52" grpId="0" animBg="1"/>
      <p:bldP spid="53" grpId="0"/>
      <p:bldP spid="53" grpId="1"/>
      <p:bldP spid="53" grpId="2"/>
      <p:bldP spid="53" grpId="3"/>
      <p:bldP spid="54" grpId="0" animBg="1"/>
      <p:bldP spid="55" grpId="0"/>
      <p:bldP spid="55" grpId="1"/>
      <p:bldP spid="55" grpId="2"/>
      <p:bldP spid="55" grpId="3"/>
      <p:bldP spid="56" grpId="0" animBg="1"/>
      <p:bldP spid="57" grpId="0"/>
      <p:bldP spid="57" grpId="1"/>
      <p:bldP spid="57" grpId="2"/>
      <p:bldP spid="57" grpId="3"/>
      <p:bldP spid="78" grpId="0" animBg="1"/>
      <p:bldP spid="79" grpId="0"/>
      <p:bldP spid="79" grpId="1"/>
      <p:bldP spid="79" grpId="2"/>
      <p:bldP spid="79" grpId="3"/>
      <p:bldP spid="80" grpId="0" animBg="1"/>
      <p:bldP spid="81" grpId="0"/>
      <p:bldP spid="81" grpId="1"/>
      <p:bldP spid="81" grpId="2"/>
      <p:bldP spid="81" grpId="3"/>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1F2276-C11C-4028-60CC-BA5C03AD48F4}"/>
              </a:ext>
            </a:extLst>
          </p:cNvPr>
          <p:cNvSpPr>
            <a:spLocks noGrp="1"/>
          </p:cNvSpPr>
          <p:nvPr>
            <p:ph type="title"/>
          </p:nvPr>
        </p:nvSpPr>
        <p:spPr>
          <a:xfrm>
            <a:off x="584200" y="2303312"/>
            <a:ext cx="9169400" cy="3046988"/>
          </a:xfrm>
        </p:spPr>
        <p:txBody>
          <a:bodyPr/>
          <a:lstStyle/>
          <a:p>
            <a:r>
              <a:rPr lang="en-US"/>
              <a:t>Why does </a:t>
            </a:r>
            <a:r>
              <a:rPr lang="en-US" err="1"/>
              <a:t>GenAIOps</a:t>
            </a:r>
            <a:r>
              <a:rPr lang="en-US"/>
              <a:t> matter? </a:t>
            </a:r>
            <a:br>
              <a:rPr lang="en-US"/>
            </a:br>
            <a:endParaRPr lang="en-US"/>
          </a:p>
        </p:txBody>
      </p:sp>
      <p:sp>
        <p:nvSpPr>
          <p:cNvPr id="6" name="Text Placeholder 5">
            <a:extLst>
              <a:ext uri="{FF2B5EF4-FFF2-40B4-BE49-F238E27FC236}">
                <a16:creationId xmlns:a16="http://schemas.microsoft.com/office/drawing/2014/main" id="{E9CABC99-0E79-89E0-25D8-7AA7720EF5AE}"/>
              </a:ext>
            </a:extLst>
          </p:cNvPr>
          <p:cNvSpPr>
            <a:spLocks noGrp="1"/>
          </p:cNvSpPr>
          <p:nvPr>
            <p:ph type="body" sz="quarter" idx="12"/>
          </p:nvPr>
        </p:nvSpPr>
        <p:spPr/>
        <p:txBody>
          <a:bodyPr/>
          <a:lstStyle/>
          <a:p>
            <a:endParaRPr lang="en-US"/>
          </a:p>
        </p:txBody>
      </p:sp>
      <p:sp>
        <p:nvSpPr>
          <p:cNvPr id="4" name="Slide Number Placeholder 3">
            <a:extLst>
              <a:ext uri="{FF2B5EF4-FFF2-40B4-BE49-F238E27FC236}">
                <a16:creationId xmlns:a16="http://schemas.microsoft.com/office/drawing/2014/main" id="{0EDAE376-4A6C-E6BB-20A9-E7294247949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43504789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2D6D1F4E-DDFA-4E70-2EC1-A053A224FCF9}"/>
              </a:ext>
            </a:extLst>
          </p:cNvPr>
          <p:cNvSpPr>
            <a:spLocks noGrp="1"/>
          </p:cNvSpPr>
          <p:nvPr>
            <p:ph type="title"/>
          </p:nvPr>
        </p:nvSpPr>
        <p:spPr/>
        <p:txBody>
          <a:bodyPr>
            <a:spAutoFit/>
          </a:bodyPr>
          <a:lstStyle/>
          <a:p>
            <a:r>
              <a:rPr lang="nl-NL">
                <a:solidFill>
                  <a:schemeClr val="bg1"/>
                </a:solidFill>
              </a:rPr>
              <a:t>Benefits of GenAI Ops</a:t>
            </a:r>
            <a:endParaRPr lang="en-GB">
              <a:solidFill>
                <a:schemeClr val="bg1"/>
              </a:solidFill>
            </a:endParaRPr>
          </a:p>
        </p:txBody>
      </p:sp>
      <p:grpSp>
        <p:nvGrpSpPr>
          <p:cNvPr id="26" name="Group 25">
            <a:extLst>
              <a:ext uri="{FF2B5EF4-FFF2-40B4-BE49-F238E27FC236}">
                <a16:creationId xmlns:a16="http://schemas.microsoft.com/office/drawing/2014/main" id="{51E4D34D-B175-3CD0-A3F0-6B21A101AB6E}"/>
              </a:ext>
            </a:extLst>
          </p:cNvPr>
          <p:cNvGrpSpPr>
            <a:grpSpLocks/>
          </p:cNvGrpSpPr>
          <p:nvPr/>
        </p:nvGrpSpPr>
        <p:grpSpPr>
          <a:xfrm>
            <a:off x="8032472" y="2587932"/>
            <a:ext cx="1675586" cy="1217309"/>
            <a:chOff x="556578" y="1051172"/>
            <a:chExt cx="2591837" cy="6187827"/>
          </a:xfrm>
        </p:grpSpPr>
        <p:sp useBgFill="1">
          <p:nvSpPr>
            <p:cNvPr id="27" name="Rectangle: Rounded Corners 26">
              <a:extLst>
                <a:ext uri="{FF2B5EF4-FFF2-40B4-BE49-F238E27FC236}">
                  <a16:creationId xmlns:a16="http://schemas.microsoft.com/office/drawing/2014/main" id="{2308C47C-8809-D758-4B34-51DA2CA4ACF1}"/>
                </a:ext>
              </a:extLst>
            </p:cNvPr>
            <p:cNvSpPr/>
            <p:nvPr/>
          </p:nvSpPr>
          <p:spPr bwMode="auto">
            <a:xfrm>
              <a:off x="556578" y="1051172"/>
              <a:ext cx="2591837" cy="6187827"/>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8" name="Rectangle: Rounded Corners 27">
              <a:extLst>
                <a:ext uri="{FF2B5EF4-FFF2-40B4-BE49-F238E27FC236}">
                  <a16:creationId xmlns:a16="http://schemas.microsoft.com/office/drawing/2014/main" id="{335054ED-072B-9874-2422-7FFBB0CE0BDB}"/>
                </a:ext>
              </a:extLst>
            </p:cNvPr>
            <p:cNvSpPr/>
            <p:nvPr/>
          </p:nvSpPr>
          <p:spPr bwMode="auto">
            <a:xfrm>
              <a:off x="556578" y="1051172"/>
              <a:ext cx="2591837" cy="6187827"/>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55" name="TextBox 54">
            <a:extLst>
              <a:ext uri="{FF2B5EF4-FFF2-40B4-BE49-F238E27FC236}">
                <a16:creationId xmlns:a16="http://schemas.microsoft.com/office/drawing/2014/main" id="{019F8D77-7A38-6A99-7CB4-21C022BB8AFA}"/>
              </a:ext>
            </a:extLst>
          </p:cNvPr>
          <p:cNvSpPr txBox="1"/>
          <p:nvPr/>
        </p:nvSpPr>
        <p:spPr>
          <a:xfrm>
            <a:off x="8038169" y="3155711"/>
            <a:ext cx="1675586" cy="215444"/>
          </a:xfrm>
          <a:prstGeom prst="rect">
            <a:avLst/>
          </a:prstGeom>
          <a:noFill/>
        </p:spPr>
        <p:txBody>
          <a:bodyPr wrap="square" lIns="0" tIns="0" rIns="0" bIns="0" anchor="t" anchorCtr="0">
            <a:spAutoFit/>
          </a:bodyPr>
          <a:lstStyle/>
          <a:p>
            <a:pPr algn="ctr" defTabSz="914016" fontAlgn="base">
              <a:spcAft>
                <a:spcPts val="1000"/>
              </a:spcAft>
              <a:defRPr/>
            </a:pPr>
            <a:r>
              <a:rPr lang="en-US" sz="1400" b="1" spc="-49">
                <a:solidFill>
                  <a:srgbClr val="FFFFFF"/>
                </a:solidFill>
                <a:cs typeface="Segoe Sans Text" pitchFamily="2" charset="0"/>
                <a:sym typeface="Arial"/>
              </a:rPr>
              <a:t>Deployments</a:t>
            </a:r>
            <a:endParaRPr lang="en-US" sz="1400" b="1" spc="-49">
              <a:solidFill>
                <a:srgbClr val="FFFFFF"/>
              </a:solidFill>
              <a:cs typeface="Segoe Sans Text" pitchFamily="2" charset="0"/>
            </a:endParaRPr>
          </a:p>
        </p:txBody>
      </p:sp>
      <p:grpSp>
        <p:nvGrpSpPr>
          <p:cNvPr id="260" name="Group 259">
            <a:extLst>
              <a:ext uri="{FF2B5EF4-FFF2-40B4-BE49-F238E27FC236}">
                <a16:creationId xmlns:a16="http://schemas.microsoft.com/office/drawing/2014/main" id="{AFED3191-50C1-0AE2-539F-BF50571D3237}"/>
              </a:ext>
            </a:extLst>
          </p:cNvPr>
          <p:cNvGrpSpPr>
            <a:grpSpLocks/>
          </p:cNvGrpSpPr>
          <p:nvPr/>
        </p:nvGrpSpPr>
        <p:grpSpPr>
          <a:xfrm>
            <a:off x="611924" y="2587932"/>
            <a:ext cx="1675586" cy="1217309"/>
            <a:chOff x="556578" y="1051172"/>
            <a:chExt cx="2591837" cy="6187827"/>
          </a:xfrm>
        </p:grpSpPr>
        <p:sp useBgFill="1">
          <p:nvSpPr>
            <p:cNvPr id="269" name="Rectangle: Rounded Corners 268">
              <a:extLst>
                <a:ext uri="{FF2B5EF4-FFF2-40B4-BE49-F238E27FC236}">
                  <a16:creationId xmlns:a16="http://schemas.microsoft.com/office/drawing/2014/main" id="{CB926555-149E-B3B5-4380-07921C9C6ECC}"/>
                </a:ext>
              </a:extLst>
            </p:cNvPr>
            <p:cNvSpPr/>
            <p:nvPr/>
          </p:nvSpPr>
          <p:spPr bwMode="auto">
            <a:xfrm>
              <a:off x="556578" y="1051172"/>
              <a:ext cx="2591837" cy="6187827"/>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70" name="Rectangle: Rounded Corners 269">
              <a:extLst>
                <a:ext uri="{FF2B5EF4-FFF2-40B4-BE49-F238E27FC236}">
                  <a16:creationId xmlns:a16="http://schemas.microsoft.com/office/drawing/2014/main" id="{8BF8C8CC-AAEF-B4F0-9F62-3192E5C30463}"/>
                </a:ext>
              </a:extLst>
            </p:cNvPr>
            <p:cNvSpPr/>
            <p:nvPr/>
          </p:nvSpPr>
          <p:spPr bwMode="auto">
            <a:xfrm>
              <a:off x="556578" y="1051172"/>
              <a:ext cx="2591837" cy="6187827"/>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62" name="TextBox 261">
            <a:extLst>
              <a:ext uri="{FF2B5EF4-FFF2-40B4-BE49-F238E27FC236}">
                <a16:creationId xmlns:a16="http://schemas.microsoft.com/office/drawing/2014/main" id="{D93B346A-A282-3197-B7AF-00B2F76E1F23}"/>
              </a:ext>
            </a:extLst>
          </p:cNvPr>
          <p:cNvSpPr txBox="1"/>
          <p:nvPr/>
        </p:nvSpPr>
        <p:spPr>
          <a:xfrm>
            <a:off x="611924" y="3155711"/>
            <a:ext cx="1675586" cy="215444"/>
          </a:xfrm>
          <a:prstGeom prst="rect">
            <a:avLst/>
          </a:prstGeom>
          <a:noFill/>
        </p:spPr>
        <p:txBody>
          <a:bodyPr wrap="square" lIns="0" tIns="0" rIns="0" bIns="0" anchor="t" anchorCtr="0">
            <a:spAutoFit/>
          </a:bodyPr>
          <a:lstStyle/>
          <a:p>
            <a:pPr algn="ctr" defTabSz="914016" fontAlgn="base">
              <a:spcAft>
                <a:spcPts val="1000"/>
              </a:spcAft>
              <a:defRPr/>
            </a:pPr>
            <a:r>
              <a:rPr lang="en-US" sz="1400" b="1" spc="-49">
                <a:solidFill>
                  <a:srgbClr val="FFFFFF"/>
                </a:solidFill>
                <a:cs typeface="Segoe Sans Text" pitchFamily="2" charset="0"/>
                <a:sym typeface="Arial"/>
              </a:rPr>
              <a:t>Automation</a:t>
            </a:r>
            <a:endParaRPr lang="en-US" sz="1400" b="1" spc="-49">
              <a:solidFill>
                <a:srgbClr val="FFFFFF"/>
              </a:solidFill>
              <a:cs typeface="Segoe Sans Text" pitchFamily="2" charset="0"/>
            </a:endParaRPr>
          </a:p>
        </p:txBody>
      </p:sp>
      <p:grpSp>
        <p:nvGrpSpPr>
          <p:cNvPr id="272" name="Group 271">
            <a:extLst>
              <a:ext uri="{FF2B5EF4-FFF2-40B4-BE49-F238E27FC236}">
                <a16:creationId xmlns:a16="http://schemas.microsoft.com/office/drawing/2014/main" id="{0C48CE79-4B95-6959-81C5-FBE60F718106}"/>
              </a:ext>
            </a:extLst>
          </p:cNvPr>
          <p:cNvGrpSpPr>
            <a:grpSpLocks/>
          </p:cNvGrpSpPr>
          <p:nvPr/>
        </p:nvGrpSpPr>
        <p:grpSpPr>
          <a:xfrm>
            <a:off x="2467061" y="2587932"/>
            <a:ext cx="1675586" cy="1217309"/>
            <a:chOff x="556578" y="1051172"/>
            <a:chExt cx="2591837" cy="6187827"/>
          </a:xfrm>
        </p:grpSpPr>
        <p:sp useBgFill="1">
          <p:nvSpPr>
            <p:cNvPr id="281" name="Rectangle: Rounded Corners 280">
              <a:extLst>
                <a:ext uri="{FF2B5EF4-FFF2-40B4-BE49-F238E27FC236}">
                  <a16:creationId xmlns:a16="http://schemas.microsoft.com/office/drawing/2014/main" id="{7FD33624-C7B8-C25D-773D-7761D5ED7273}"/>
                </a:ext>
              </a:extLst>
            </p:cNvPr>
            <p:cNvSpPr/>
            <p:nvPr/>
          </p:nvSpPr>
          <p:spPr bwMode="auto">
            <a:xfrm>
              <a:off x="556578" y="1051172"/>
              <a:ext cx="2591837" cy="6187827"/>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82" name="Rectangle: Rounded Corners 281">
              <a:extLst>
                <a:ext uri="{FF2B5EF4-FFF2-40B4-BE49-F238E27FC236}">
                  <a16:creationId xmlns:a16="http://schemas.microsoft.com/office/drawing/2014/main" id="{CE7570EC-0096-9D29-CB02-945A87ADE65B}"/>
                </a:ext>
              </a:extLst>
            </p:cNvPr>
            <p:cNvSpPr/>
            <p:nvPr/>
          </p:nvSpPr>
          <p:spPr bwMode="auto">
            <a:xfrm>
              <a:off x="556578" y="1051172"/>
              <a:ext cx="2591837" cy="6187827"/>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74" name="TextBox 273">
            <a:extLst>
              <a:ext uri="{FF2B5EF4-FFF2-40B4-BE49-F238E27FC236}">
                <a16:creationId xmlns:a16="http://schemas.microsoft.com/office/drawing/2014/main" id="{CFA7C941-6158-6B52-BE50-19F725B7A522}"/>
              </a:ext>
            </a:extLst>
          </p:cNvPr>
          <p:cNvSpPr txBox="1"/>
          <p:nvPr/>
        </p:nvSpPr>
        <p:spPr>
          <a:xfrm>
            <a:off x="2467059" y="3155711"/>
            <a:ext cx="1675586" cy="430887"/>
          </a:xfrm>
          <a:prstGeom prst="rect">
            <a:avLst/>
          </a:prstGeom>
          <a:noFill/>
        </p:spPr>
        <p:txBody>
          <a:bodyPr wrap="square" lIns="0" tIns="0" rIns="0" bIns="0" anchor="t" anchorCtr="0">
            <a:spAutoFit/>
          </a:bodyPr>
          <a:lstStyle/>
          <a:p>
            <a:pPr algn="ctr" defTabSz="914016" fontAlgn="base">
              <a:spcAft>
                <a:spcPts val="1000"/>
              </a:spcAft>
              <a:defRPr/>
            </a:pPr>
            <a:r>
              <a:rPr lang="en-US" sz="1400" b="1" spc="-49">
                <a:solidFill>
                  <a:srgbClr val="FFFFFF"/>
                </a:solidFill>
                <a:cs typeface="Segoe Sans Text" pitchFamily="2" charset="0"/>
                <a:sym typeface="Arial"/>
              </a:rPr>
              <a:t>Cross Functional Integration</a:t>
            </a:r>
            <a:endParaRPr lang="en-US" sz="1400" b="1" spc="-49">
              <a:solidFill>
                <a:srgbClr val="FFFFFF"/>
              </a:solidFill>
              <a:cs typeface="Segoe Sans Text" pitchFamily="2" charset="0"/>
            </a:endParaRPr>
          </a:p>
        </p:txBody>
      </p:sp>
      <p:grpSp>
        <p:nvGrpSpPr>
          <p:cNvPr id="284" name="Group 283">
            <a:extLst>
              <a:ext uri="{FF2B5EF4-FFF2-40B4-BE49-F238E27FC236}">
                <a16:creationId xmlns:a16="http://schemas.microsoft.com/office/drawing/2014/main" id="{AAD90F56-464A-88FA-F9E3-4EC648695B9A}"/>
              </a:ext>
            </a:extLst>
          </p:cNvPr>
          <p:cNvGrpSpPr>
            <a:grpSpLocks/>
          </p:cNvGrpSpPr>
          <p:nvPr/>
        </p:nvGrpSpPr>
        <p:grpSpPr>
          <a:xfrm>
            <a:off x="4322198" y="2587932"/>
            <a:ext cx="1675586" cy="1217309"/>
            <a:chOff x="556578" y="1051172"/>
            <a:chExt cx="2591837" cy="6187827"/>
          </a:xfrm>
        </p:grpSpPr>
        <p:sp useBgFill="1">
          <p:nvSpPr>
            <p:cNvPr id="293" name="Rectangle: Rounded Corners 292">
              <a:extLst>
                <a:ext uri="{FF2B5EF4-FFF2-40B4-BE49-F238E27FC236}">
                  <a16:creationId xmlns:a16="http://schemas.microsoft.com/office/drawing/2014/main" id="{205C54E1-A901-3B57-15F9-F48438C79B4E}"/>
                </a:ext>
              </a:extLst>
            </p:cNvPr>
            <p:cNvSpPr/>
            <p:nvPr/>
          </p:nvSpPr>
          <p:spPr bwMode="auto">
            <a:xfrm>
              <a:off x="556578" y="1051172"/>
              <a:ext cx="2591837" cy="6187827"/>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94" name="Rectangle: Rounded Corners 293">
              <a:extLst>
                <a:ext uri="{FF2B5EF4-FFF2-40B4-BE49-F238E27FC236}">
                  <a16:creationId xmlns:a16="http://schemas.microsoft.com/office/drawing/2014/main" id="{2D200BE1-F1F0-A6F6-A3A0-54F7AFD3F0FA}"/>
                </a:ext>
              </a:extLst>
            </p:cNvPr>
            <p:cNvSpPr/>
            <p:nvPr/>
          </p:nvSpPr>
          <p:spPr bwMode="auto">
            <a:xfrm>
              <a:off x="556578" y="1051172"/>
              <a:ext cx="2591837" cy="6187827"/>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86" name="TextBox 285">
            <a:extLst>
              <a:ext uri="{FF2B5EF4-FFF2-40B4-BE49-F238E27FC236}">
                <a16:creationId xmlns:a16="http://schemas.microsoft.com/office/drawing/2014/main" id="{A7BF0C51-4608-222F-A1FF-BCB4ED24DED1}"/>
              </a:ext>
            </a:extLst>
          </p:cNvPr>
          <p:cNvSpPr txBox="1"/>
          <p:nvPr/>
        </p:nvSpPr>
        <p:spPr>
          <a:xfrm>
            <a:off x="4327141" y="3155711"/>
            <a:ext cx="1675586" cy="215444"/>
          </a:xfrm>
          <a:prstGeom prst="rect">
            <a:avLst/>
          </a:prstGeom>
          <a:noFill/>
        </p:spPr>
        <p:txBody>
          <a:bodyPr wrap="square" lIns="0" tIns="0" rIns="0" bIns="0" anchor="t" anchorCtr="0">
            <a:spAutoFit/>
          </a:bodyPr>
          <a:lstStyle/>
          <a:p>
            <a:pPr algn="ctr" defTabSz="914016" fontAlgn="base">
              <a:spcAft>
                <a:spcPts val="1000"/>
              </a:spcAft>
              <a:defRPr/>
            </a:pPr>
            <a:r>
              <a:rPr lang="en-US" sz="1400" b="1" spc="-49">
                <a:solidFill>
                  <a:srgbClr val="FFFFFF"/>
                </a:solidFill>
                <a:cs typeface="Segoe Sans Text" pitchFamily="2" charset="0"/>
                <a:sym typeface="Arial"/>
              </a:rPr>
              <a:t>Reproducibility</a:t>
            </a:r>
            <a:endParaRPr lang="en-US" sz="1400" b="1" spc="-49">
              <a:solidFill>
                <a:srgbClr val="FFFFFF"/>
              </a:solidFill>
              <a:cs typeface="Segoe Sans Text" pitchFamily="2" charset="0"/>
            </a:endParaRPr>
          </a:p>
        </p:txBody>
      </p:sp>
      <p:grpSp>
        <p:nvGrpSpPr>
          <p:cNvPr id="296" name="Group 295">
            <a:extLst>
              <a:ext uri="{FF2B5EF4-FFF2-40B4-BE49-F238E27FC236}">
                <a16:creationId xmlns:a16="http://schemas.microsoft.com/office/drawing/2014/main" id="{50E40067-6B13-7698-0A95-85CF5B8FF6B4}"/>
              </a:ext>
            </a:extLst>
          </p:cNvPr>
          <p:cNvGrpSpPr>
            <a:grpSpLocks/>
          </p:cNvGrpSpPr>
          <p:nvPr/>
        </p:nvGrpSpPr>
        <p:grpSpPr>
          <a:xfrm>
            <a:off x="6177335" y="2587932"/>
            <a:ext cx="1675586" cy="1217309"/>
            <a:chOff x="556578" y="1051172"/>
            <a:chExt cx="2591837" cy="6187827"/>
          </a:xfrm>
        </p:grpSpPr>
        <p:sp useBgFill="1">
          <p:nvSpPr>
            <p:cNvPr id="305" name="Rectangle: Rounded Corners 304">
              <a:extLst>
                <a:ext uri="{FF2B5EF4-FFF2-40B4-BE49-F238E27FC236}">
                  <a16:creationId xmlns:a16="http://schemas.microsoft.com/office/drawing/2014/main" id="{0399C00B-44EB-BE50-F43E-720CA452CE1E}"/>
                </a:ext>
              </a:extLst>
            </p:cNvPr>
            <p:cNvSpPr/>
            <p:nvPr/>
          </p:nvSpPr>
          <p:spPr bwMode="auto">
            <a:xfrm>
              <a:off x="556578" y="1051172"/>
              <a:ext cx="2591837" cy="6187827"/>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306" name="Rectangle: Rounded Corners 305">
              <a:extLst>
                <a:ext uri="{FF2B5EF4-FFF2-40B4-BE49-F238E27FC236}">
                  <a16:creationId xmlns:a16="http://schemas.microsoft.com/office/drawing/2014/main" id="{39BB1576-C634-862A-4E25-41F4A4B47C69}"/>
                </a:ext>
              </a:extLst>
            </p:cNvPr>
            <p:cNvSpPr/>
            <p:nvPr/>
          </p:nvSpPr>
          <p:spPr bwMode="auto">
            <a:xfrm>
              <a:off x="556578" y="1051172"/>
              <a:ext cx="2591837" cy="6187827"/>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98" name="TextBox 297">
            <a:extLst>
              <a:ext uri="{FF2B5EF4-FFF2-40B4-BE49-F238E27FC236}">
                <a16:creationId xmlns:a16="http://schemas.microsoft.com/office/drawing/2014/main" id="{12CF34F8-5FBB-6ED5-9A9A-33BD9C559AB3}"/>
              </a:ext>
            </a:extLst>
          </p:cNvPr>
          <p:cNvSpPr txBox="1"/>
          <p:nvPr/>
        </p:nvSpPr>
        <p:spPr>
          <a:xfrm>
            <a:off x="6279729" y="3155711"/>
            <a:ext cx="1477480" cy="215444"/>
          </a:xfrm>
          <a:prstGeom prst="rect">
            <a:avLst/>
          </a:prstGeom>
          <a:noFill/>
        </p:spPr>
        <p:txBody>
          <a:bodyPr wrap="square" lIns="0" tIns="0" rIns="0" bIns="0" anchor="t" anchorCtr="0">
            <a:spAutoFit/>
          </a:bodyPr>
          <a:lstStyle/>
          <a:p>
            <a:pPr algn="ctr" defTabSz="914016" fontAlgn="base">
              <a:spcAft>
                <a:spcPts val="1000"/>
              </a:spcAft>
              <a:defRPr/>
            </a:pPr>
            <a:r>
              <a:rPr lang="en-US" sz="1400" b="1" spc="-49">
                <a:solidFill>
                  <a:srgbClr val="FFFFFF"/>
                </a:solidFill>
                <a:cs typeface="Segoe Sans Text" pitchFamily="2" charset="0"/>
                <a:sym typeface="Arial"/>
              </a:rPr>
              <a:t>Reusability</a:t>
            </a:r>
            <a:endParaRPr lang="en-US" sz="1400" b="1" spc="-49">
              <a:solidFill>
                <a:srgbClr val="FFFFFF"/>
              </a:solidFill>
              <a:cs typeface="Segoe Sans Text" pitchFamily="2" charset="0"/>
            </a:endParaRPr>
          </a:p>
        </p:txBody>
      </p:sp>
      <p:sp>
        <p:nvSpPr>
          <p:cNvPr id="357" name="Rectangle: Rounded Corners 356">
            <a:extLst>
              <a:ext uri="{FF2B5EF4-FFF2-40B4-BE49-F238E27FC236}">
                <a16:creationId xmlns:a16="http://schemas.microsoft.com/office/drawing/2014/main" id="{313D1153-861F-72B7-34DC-94ACBF121314}"/>
              </a:ext>
            </a:extLst>
          </p:cNvPr>
          <p:cNvSpPr/>
          <p:nvPr/>
        </p:nvSpPr>
        <p:spPr bwMode="auto">
          <a:xfrm>
            <a:off x="3098612" y="4354839"/>
            <a:ext cx="5437409" cy="680414"/>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algn="ctr" defTabSz="932472" fontAlgn="base">
              <a:spcBef>
                <a:spcPct val="0"/>
              </a:spcBef>
              <a:spcAft>
                <a:spcPct val="0"/>
              </a:spcAft>
            </a:pPr>
            <a:r>
              <a:rPr lang="en-US" sz="2000">
                <a:solidFill>
                  <a:srgbClr val="FFFFFF"/>
                </a:solidFill>
                <a:latin typeface="Segoe Sans Text ExtraBold" pitchFamily="2" charset="0"/>
                <a:cs typeface="Segoe Sans Text ExtraBold" pitchFamily="2" charset="0"/>
                <a:sym typeface="Arial"/>
              </a:rPr>
              <a:t>= VELOCITY &amp; SECURITY &amp; RAI</a:t>
            </a:r>
            <a:endParaRPr lang="en-US" sz="2000">
              <a:solidFill>
                <a:srgbClr val="FFFFFF"/>
              </a:solidFill>
              <a:latin typeface="Segoe Sans Text ExtraBold" pitchFamily="2" charset="0"/>
              <a:cs typeface="Segoe Sans Text ExtraBold" pitchFamily="2" charset="0"/>
            </a:endParaRPr>
          </a:p>
        </p:txBody>
      </p:sp>
      <p:sp>
        <p:nvSpPr>
          <p:cNvPr id="359" name="Rectangle: Rounded Corners 358">
            <a:extLst>
              <a:ext uri="{FF2B5EF4-FFF2-40B4-BE49-F238E27FC236}">
                <a16:creationId xmlns:a16="http://schemas.microsoft.com/office/drawing/2014/main" id="{884E742C-8D95-F3F3-8D6F-A4045218D45F}"/>
              </a:ext>
            </a:extLst>
          </p:cNvPr>
          <p:cNvSpPr/>
          <p:nvPr/>
        </p:nvSpPr>
        <p:spPr bwMode="auto">
          <a:xfrm>
            <a:off x="1363087" y="3733251"/>
            <a:ext cx="173260" cy="173260"/>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fontScale="62500" lnSpcReduction="20000"/>
          </a:bodyPr>
          <a:lstStyle/>
          <a:p>
            <a:pPr lvl="0" algn="ctr" defTabSz="932472" fontAlgn="base">
              <a:spcBef>
                <a:spcPct val="0"/>
              </a:spcBef>
              <a:spcAft>
                <a:spcPct val="0"/>
              </a:spcAft>
            </a:pPr>
            <a:endParaRPr lang="en-GB" sz="2000">
              <a:solidFill>
                <a:srgbClr val="FFFFFF"/>
              </a:solidFill>
              <a:latin typeface="Segoe Sans Text ExtraBold" pitchFamily="2" charset="0"/>
              <a:cs typeface="Segoe Sans Text ExtraBold" pitchFamily="2" charset="0"/>
            </a:endParaRPr>
          </a:p>
        </p:txBody>
      </p:sp>
      <p:cxnSp>
        <p:nvCxnSpPr>
          <p:cNvPr id="361" name="Connector: Elbow 360">
            <a:extLst>
              <a:ext uri="{FF2B5EF4-FFF2-40B4-BE49-F238E27FC236}">
                <a16:creationId xmlns:a16="http://schemas.microsoft.com/office/drawing/2014/main" id="{274F165F-1E65-21DC-ED46-971BEB03D741}"/>
              </a:ext>
            </a:extLst>
          </p:cNvPr>
          <p:cNvCxnSpPr>
            <a:cxnSpLocks/>
            <a:stCxn id="357" idx="1"/>
            <a:endCxn id="359" idx="2"/>
          </p:cNvCxnSpPr>
          <p:nvPr/>
        </p:nvCxnSpPr>
        <p:spPr>
          <a:xfrm rot="10800000">
            <a:off x="1449718" y="3906512"/>
            <a:ext cx="1648895" cy="788535"/>
          </a:xfrm>
          <a:prstGeom prst="bentConnector2">
            <a:avLst/>
          </a:prstGeom>
          <a:ln w="19050">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2" name="Connector: Elbow 361">
            <a:extLst>
              <a:ext uri="{FF2B5EF4-FFF2-40B4-BE49-F238E27FC236}">
                <a16:creationId xmlns:a16="http://schemas.microsoft.com/office/drawing/2014/main" id="{0A43FE5C-F919-5B25-3E1F-714A93D0B9E6}"/>
              </a:ext>
            </a:extLst>
          </p:cNvPr>
          <p:cNvCxnSpPr>
            <a:cxnSpLocks/>
            <a:endCxn id="358" idx="2"/>
          </p:cNvCxnSpPr>
          <p:nvPr/>
        </p:nvCxnSpPr>
        <p:spPr>
          <a:xfrm flipV="1">
            <a:off x="8500000" y="3906511"/>
            <a:ext cx="2268715" cy="803126"/>
          </a:xfrm>
          <a:prstGeom prst="bentConnector2">
            <a:avLst/>
          </a:prstGeom>
          <a:ln w="19050">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98FDF905-EBAB-624B-3981-2304E435BFB5}"/>
              </a:ext>
            </a:extLst>
          </p:cNvPr>
          <p:cNvGrpSpPr>
            <a:grpSpLocks/>
          </p:cNvGrpSpPr>
          <p:nvPr/>
        </p:nvGrpSpPr>
        <p:grpSpPr>
          <a:xfrm>
            <a:off x="9887607" y="2587932"/>
            <a:ext cx="1675586" cy="1217309"/>
            <a:chOff x="556578" y="1051172"/>
            <a:chExt cx="2591837" cy="6187827"/>
          </a:xfrm>
        </p:grpSpPr>
        <p:sp useBgFill="1">
          <p:nvSpPr>
            <p:cNvPr id="4" name="Rectangle: Rounded Corners 3">
              <a:extLst>
                <a:ext uri="{FF2B5EF4-FFF2-40B4-BE49-F238E27FC236}">
                  <a16:creationId xmlns:a16="http://schemas.microsoft.com/office/drawing/2014/main" id="{C147BED3-28CF-A123-F8CA-F3628A88A47C}"/>
                </a:ext>
              </a:extLst>
            </p:cNvPr>
            <p:cNvSpPr/>
            <p:nvPr/>
          </p:nvSpPr>
          <p:spPr bwMode="auto">
            <a:xfrm>
              <a:off x="556578" y="1051172"/>
              <a:ext cx="2591837" cy="6187827"/>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5" name="Rectangle: Rounded Corners 4">
              <a:extLst>
                <a:ext uri="{FF2B5EF4-FFF2-40B4-BE49-F238E27FC236}">
                  <a16:creationId xmlns:a16="http://schemas.microsoft.com/office/drawing/2014/main" id="{2507B318-7A92-A426-FE05-FB600521457A}"/>
                </a:ext>
              </a:extLst>
            </p:cNvPr>
            <p:cNvSpPr/>
            <p:nvPr/>
          </p:nvSpPr>
          <p:spPr bwMode="auto">
            <a:xfrm>
              <a:off x="556578" y="1051172"/>
              <a:ext cx="2591837" cy="6187827"/>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6" name="TextBox 5">
            <a:extLst>
              <a:ext uri="{FF2B5EF4-FFF2-40B4-BE49-F238E27FC236}">
                <a16:creationId xmlns:a16="http://schemas.microsoft.com/office/drawing/2014/main" id="{C1805FFC-754B-000A-277D-16D808CF34A9}"/>
              </a:ext>
            </a:extLst>
          </p:cNvPr>
          <p:cNvSpPr txBox="1"/>
          <p:nvPr/>
        </p:nvSpPr>
        <p:spPr>
          <a:xfrm>
            <a:off x="9887607" y="3155711"/>
            <a:ext cx="1675586" cy="215444"/>
          </a:xfrm>
          <a:prstGeom prst="rect">
            <a:avLst/>
          </a:prstGeom>
          <a:noFill/>
        </p:spPr>
        <p:txBody>
          <a:bodyPr wrap="square" lIns="0" tIns="0" rIns="0" bIns="0" anchor="t" anchorCtr="0">
            <a:spAutoFit/>
          </a:bodyPr>
          <a:lstStyle/>
          <a:p>
            <a:pPr algn="ctr" defTabSz="914016" fontAlgn="base">
              <a:spcAft>
                <a:spcPts val="1000"/>
              </a:spcAft>
              <a:defRPr/>
            </a:pPr>
            <a:r>
              <a:rPr lang="en-GB" sz="1400" b="1" spc="-49">
                <a:solidFill>
                  <a:srgbClr val="FFFFFF"/>
                </a:solidFill>
                <a:cs typeface="Segoe Sans Text" pitchFamily="2" charset="0"/>
              </a:rPr>
              <a:t>Governance</a:t>
            </a:r>
          </a:p>
        </p:txBody>
      </p:sp>
      <p:sp>
        <p:nvSpPr>
          <p:cNvPr id="358" name="Rectangle: Rounded Corners 357">
            <a:extLst>
              <a:ext uri="{FF2B5EF4-FFF2-40B4-BE49-F238E27FC236}">
                <a16:creationId xmlns:a16="http://schemas.microsoft.com/office/drawing/2014/main" id="{A05E27D3-BAB6-22D6-E9F6-F66E4A42A147}"/>
              </a:ext>
            </a:extLst>
          </p:cNvPr>
          <p:cNvSpPr/>
          <p:nvPr/>
        </p:nvSpPr>
        <p:spPr bwMode="auto">
          <a:xfrm>
            <a:off x="10682085" y="3733251"/>
            <a:ext cx="173260" cy="173260"/>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fontScale="62500" lnSpcReduction="20000"/>
          </a:bodyPr>
          <a:lstStyle/>
          <a:p>
            <a:pPr lvl="0" algn="ctr" defTabSz="932472" fontAlgn="base">
              <a:spcBef>
                <a:spcPct val="0"/>
              </a:spcBef>
              <a:spcAft>
                <a:spcPct val="0"/>
              </a:spcAft>
            </a:pPr>
            <a:endParaRPr lang="en-GB" sz="2000">
              <a:solidFill>
                <a:srgbClr val="FFFFFF"/>
              </a:solidFill>
              <a:latin typeface="Segoe Sans Text ExtraBold" pitchFamily="2" charset="0"/>
              <a:cs typeface="Segoe Sans Text ExtraBold" pitchFamily="2" charset="0"/>
            </a:endParaRPr>
          </a:p>
        </p:txBody>
      </p:sp>
      <p:grpSp>
        <p:nvGrpSpPr>
          <p:cNvPr id="398" name="Group 397">
            <a:extLst>
              <a:ext uri="{FF2B5EF4-FFF2-40B4-BE49-F238E27FC236}">
                <a16:creationId xmlns:a16="http://schemas.microsoft.com/office/drawing/2014/main" id="{842FA88E-2F55-D21C-95D3-57B1C0F6DD4A}"/>
              </a:ext>
            </a:extLst>
          </p:cNvPr>
          <p:cNvGrpSpPr/>
          <p:nvPr/>
        </p:nvGrpSpPr>
        <p:grpSpPr>
          <a:xfrm>
            <a:off x="1142574" y="2325309"/>
            <a:ext cx="614286" cy="614286"/>
            <a:chOff x="1142574" y="2325309"/>
            <a:chExt cx="614286" cy="614286"/>
          </a:xfrm>
        </p:grpSpPr>
        <p:sp>
          <p:nvSpPr>
            <p:cNvPr id="261" name="Rectangle: Rounded Corners 260">
              <a:extLst>
                <a:ext uri="{FF2B5EF4-FFF2-40B4-BE49-F238E27FC236}">
                  <a16:creationId xmlns:a16="http://schemas.microsoft.com/office/drawing/2014/main" id="{282B87C8-9D22-E800-CE39-35A86AB96351}"/>
                </a:ext>
              </a:extLst>
            </p:cNvPr>
            <p:cNvSpPr/>
            <p:nvPr/>
          </p:nvSpPr>
          <p:spPr bwMode="auto">
            <a:xfrm>
              <a:off x="1142574" y="2325309"/>
              <a:ext cx="614286" cy="614286"/>
            </a:xfrm>
            <a:prstGeom prst="roundRect">
              <a:avLst>
                <a:gd name="adj" fmla="val 7046"/>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Segoe Sans Text ExtraBold" pitchFamily="2" charset="0"/>
                <a:ea typeface="Segoe Sans Text" pitchFamily="2" charset="0"/>
                <a:cs typeface="Segoe Sans Text ExtraBold" pitchFamily="2" charset="0"/>
              </a:endParaRPr>
            </a:p>
          </p:txBody>
        </p:sp>
        <p:pic>
          <p:nvPicPr>
            <p:cNvPr id="387" name="Graphic 386">
              <a:extLst>
                <a:ext uri="{FF2B5EF4-FFF2-40B4-BE49-F238E27FC236}">
                  <a16:creationId xmlns:a16="http://schemas.microsoft.com/office/drawing/2014/main" id="{9C02D8D1-862D-EE75-D3FC-F1D4B4BEF5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6442" y="2423440"/>
              <a:ext cx="420504" cy="420504"/>
            </a:xfrm>
            <a:prstGeom prst="rect">
              <a:avLst/>
            </a:prstGeom>
          </p:spPr>
        </p:pic>
      </p:grpSp>
      <p:grpSp>
        <p:nvGrpSpPr>
          <p:cNvPr id="399" name="Group 398">
            <a:extLst>
              <a:ext uri="{FF2B5EF4-FFF2-40B4-BE49-F238E27FC236}">
                <a16:creationId xmlns:a16="http://schemas.microsoft.com/office/drawing/2014/main" id="{9F981F62-4874-6AC9-F221-F7C0C44D5834}"/>
              </a:ext>
            </a:extLst>
          </p:cNvPr>
          <p:cNvGrpSpPr/>
          <p:nvPr/>
        </p:nvGrpSpPr>
        <p:grpSpPr>
          <a:xfrm>
            <a:off x="2997711" y="2325309"/>
            <a:ext cx="614286" cy="614286"/>
            <a:chOff x="2997711" y="2325309"/>
            <a:chExt cx="614286" cy="614286"/>
          </a:xfrm>
        </p:grpSpPr>
        <p:sp>
          <p:nvSpPr>
            <p:cNvPr id="273" name="Rectangle: Rounded Corners 272">
              <a:extLst>
                <a:ext uri="{FF2B5EF4-FFF2-40B4-BE49-F238E27FC236}">
                  <a16:creationId xmlns:a16="http://schemas.microsoft.com/office/drawing/2014/main" id="{6A773D09-A2F0-D643-5AEA-74CC9F0D22E1}"/>
                </a:ext>
              </a:extLst>
            </p:cNvPr>
            <p:cNvSpPr/>
            <p:nvPr/>
          </p:nvSpPr>
          <p:spPr bwMode="auto">
            <a:xfrm>
              <a:off x="2997711" y="2325309"/>
              <a:ext cx="614286" cy="614286"/>
            </a:xfrm>
            <a:prstGeom prst="roundRect">
              <a:avLst>
                <a:gd name="adj" fmla="val 7046"/>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Segoe Sans Text ExtraBold" pitchFamily="2" charset="0"/>
                <a:ea typeface="Segoe Sans Text" pitchFamily="2" charset="0"/>
                <a:cs typeface="Segoe Sans Text ExtraBold" pitchFamily="2" charset="0"/>
              </a:endParaRPr>
            </a:p>
          </p:txBody>
        </p:sp>
        <p:pic>
          <p:nvPicPr>
            <p:cNvPr id="389" name="Graphic 388">
              <a:extLst>
                <a:ext uri="{FF2B5EF4-FFF2-40B4-BE49-F238E27FC236}">
                  <a16:creationId xmlns:a16="http://schemas.microsoft.com/office/drawing/2014/main" id="{65774089-5E41-0B72-DD0B-78B4D3587F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71615" y="2410741"/>
              <a:ext cx="450406" cy="450406"/>
            </a:xfrm>
            <a:prstGeom prst="rect">
              <a:avLst/>
            </a:prstGeom>
          </p:spPr>
        </p:pic>
      </p:grpSp>
      <p:grpSp>
        <p:nvGrpSpPr>
          <p:cNvPr id="400" name="Group 399">
            <a:extLst>
              <a:ext uri="{FF2B5EF4-FFF2-40B4-BE49-F238E27FC236}">
                <a16:creationId xmlns:a16="http://schemas.microsoft.com/office/drawing/2014/main" id="{F1A0298D-CB2A-7EB4-12C2-1C4BBB771D40}"/>
              </a:ext>
            </a:extLst>
          </p:cNvPr>
          <p:cNvGrpSpPr/>
          <p:nvPr/>
        </p:nvGrpSpPr>
        <p:grpSpPr>
          <a:xfrm>
            <a:off x="4852848" y="2325309"/>
            <a:ext cx="614286" cy="614286"/>
            <a:chOff x="4852848" y="2325309"/>
            <a:chExt cx="614286" cy="614286"/>
          </a:xfrm>
        </p:grpSpPr>
        <p:sp>
          <p:nvSpPr>
            <p:cNvPr id="285" name="Rectangle: Rounded Corners 284">
              <a:extLst>
                <a:ext uri="{FF2B5EF4-FFF2-40B4-BE49-F238E27FC236}">
                  <a16:creationId xmlns:a16="http://schemas.microsoft.com/office/drawing/2014/main" id="{D20514DD-08E1-34DD-F18D-48E9546E0C1C}"/>
                </a:ext>
              </a:extLst>
            </p:cNvPr>
            <p:cNvSpPr/>
            <p:nvPr/>
          </p:nvSpPr>
          <p:spPr bwMode="auto">
            <a:xfrm>
              <a:off x="4852848" y="2325309"/>
              <a:ext cx="614286" cy="614286"/>
            </a:xfrm>
            <a:prstGeom prst="roundRect">
              <a:avLst>
                <a:gd name="adj" fmla="val 7046"/>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Segoe Sans Text ExtraBold" pitchFamily="2" charset="0"/>
                <a:ea typeface="Segoe Sans Text" pitchFamily="2" charset="0"/>
                <a:cs typeface="Segoe Sans Text ExtraBold" pitchFamily="2" charset="0"/>
              </a:endParaRPr>
            </a:p>
          </p:txBody>
        </p:sp>
        <p:pic>
          <p:nvPicPr>
            <p:cNvPr id="391" name="Graphic 390">
              <a:extLst>
                <a:ext uri="{FF2B5EF4-FFF2-40B4-BE49-F238E27FC236}">
                  <a16:creationId xmlns:a16="http://schemas.microsoft.com/office/drawing/2014/main" id="{B0A0B881-2720-2F1F-7755-57B27DEA0E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35484" y="2414001"/>
              <a:ext cx="440267" cy="440267"/>
            </a:xfrm>
            <a:prstGeom prst="rect">
              <a:avLst/>
            </a:prstGeom>
          </p:spPr>
        </p:pic>
      </p:grpSp>
      <p:grpSp>
        <p:nvGrpSpPr>
          <p:cNvPr id="401" name="Group 400">
            <a:extLst>
              <a:ext uri="{FF2B5EF4-FFF2-40B4-BE49-F238E27FC236}">
                <a16:creationId xmlns:a16="http://schemas.microsoft.com/office/drawing/2014/main" id="{0156DC1D-773A-C72B-D653-C445BA8E0C73}"/>
              </a:ext>
            </a:extLst>
          </p:cNvPr>
          <p:cNvGrpSpPr/>
          <p:nvPr/>
        </p:nvGrpSpPr>
        <p:grpSpPr>
          <a:xfrm>
            <a:off x="6707985" y="2325309"/>
            <a:ext cx="614286" cy="614286"/>
            <a:chOff x="6707985" y="2325309"/>
            <a:chExt cx="614286" cy="614286"/>
          </a:xfrm>
        </p:grpSpPr>
        <p:sp>
          <p:nvSpPr>
            <p:cNvPr id="297" name="Rectangle: Rounded Corners 296">
              <a:extLst>
                <a:ext uri="{FF2B5EF4-FFF2-40B4-BE49-F238E27FC236}">
                  <a16:creationId xmlns:a16="http://schemas.microsoft.com/office/drawing/2014/main" id="{08A64E2A-20DE-0E06-25E8-F86FB863E22B}"/>
                </a:ext>
              </a:extLst>
            </p:cNvPr>
            <p:cNvSpPr/>
            <p:nvPr/>
          </p:nvSpPr>
          <p:spPr bwMode="auto">
            <a:xfrm>
              <a:off x="6707985" y="2325309"/>
              <a:ext cx="614286" cy="614286"/>
            </a:xfrm>
            <a:prstGeom prst="roundRect">
              <a:avLst>
                <a:gd name="adj" fmla="val 7046"/>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Segoe Sans Text ExtraBold" pitchFamily="2" charset="0"/>
                <a:ea typeface="Segoe Sans Text" pitchFamily="2" charset="0"/>
                <a:cs typeface="Segoe Sans Text ExtraBold" pitchFamily="2" charset="0"/>
              </a:endParaRPr>
            </a:p>
          </p:txBody>
        </p:sp>
        <p:pic>
          <p:nvPicPr>
            <p:cNvPr id="393" name="Graphic 392">
              <a:extLst>
                <a:ext uri="{FF2B5EF4-FFF2-40B4-BE49-F238E27FC236}">
                  <a16:creationId xmlns:a16="http://schemas.microsoft.com/office/drawing/2014/main" id="{4720A8D0-3515-96A5-8E4C-BF3057F52A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02237" y="2419208"/>
              <a:ext cx="433203" cy="433203"/>
            </a:xfrm>
            <a:prstGeom prst="rect">
              <a:avLst/>
            </a:prstGeom>
          </p:spPr>
        </p:pic>
      </p:grpSp>
      <p:grpSp>
        <p:nvGrpSpPr>
          <p:cNvPr id="402" name="Group 401">
            <a:extLst>
              <a:ext uri="{FF2B5EF4-FFF2-40B4-BE49-F238E27FC236}">
                <a16:creationId xmlns:a16="http://schemas.microsoft.com/office/drawing/2014/main" id="{E07DDF51-FCCC-35EA-D009-762A76652D34}"/>
              </a:ext>
            </a:extLst>
          </p:cNvPr>
          <p:cNvGrpSpPr/>
          <p:nvPr/>
        </p:nvGrpSpPr>
        <p:grpSpPr>
          <a:xfrm>
            <a:off x="8563122" y="2325309"/>
            <a:ext cx="614286" cy="614286"/>
            <a:chOff x="8563122" y="2325309"/>
            <a:chExt cx="614286" cy="614286"/>
          </a:xfrm>
        </p:grpSpPr>
        <p:sp>
          <p:nvSpPr>
            <p:cNvPr id="32" name="Rectangle: Rounded Corners 31">
              <a:extLst>
                <a:ext uri="{FF2B5EF4-FFF2-40B4-BE49-F238E27FC236}">
                  <a16:creationId xmlns:a16="http://schemas.microsoft.com/office/drawing/2014/main" id="{36B56A14-AF29-7DDC-87FB-EEF40AB3A93B}"/>
                </a:ext>
              </a:extLst>
            </p:cNvPr>
            <p:cNvSpPr/>
            <p:nvPr/>
          </p:nvSpPr>
          <p:spPr bwMode="auto">
            <a:xfrm>
              <a:off x="8563122" y="2325309"/>
              <a:ext cx="614286" cy="614286"/>
            </a:xfrm>
            <a:prstGeom prst="roundRect">
              <a:avLst>
                <a:gd name="adj" fmla="val 7046"/>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Segoe Sans Text ExtraBold" pitchFamily="2" charset="0"/>
                <a:ea typeface="Segoe Sans Text" pitchFamily="2" charset="0"/>
                <a:cs typeface="Segoe Sans Text ExtraBold" pitchFamily="2" charset="0"/>
              </a:endParaRPr>
            </a:p>
          </p:txBody>
        </p:sp>
        <p:pic>
          <p:nvPicPr>
            <p:cNvPr id="395" name="Graphic 394">
              <a:extLst>
                <a:ext uri="{FF2B5EF4-FFF2-40B4-BE49-F238E27FC236}">
                  <a16:creationId xmlns:a16="http://schemas.microsoft.com/office/drawing/2014/main" id="{6B4B8417-2C85-F851-DC75-A9A95F93289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95684" y="2462095"/>
              <a:ext cx="364770" cy="364770"/>
            </a:xfrm>
            <a:prstGeom prst="rect">
              <a:avLst/>
            </a:prstGeom>
          </p:spPr>
        </p:pic>
      </p:grpSp>
      <p:grpSp>
        <p:nvGrpSpPr>
          <p:cNvPr id="403" name="Group 402">
            <a:extLst>
              <a:ext uri="{FF2B5EF4-FFF2-40B4-BE49-F238E27FC236}">
                <a16:creationId xmlns:a16="http://schemas.microsoft.com/office/drawing/2014/main" id="{B0BD64FB-155D-FDD2-CDB8-C2E8C7A13214}"/>
              </a:ext>
            </a:extLst>
          </p:cNvPr>
          <p:cNvGrpSpPr/>
          <p:nvPr/>
        </p:nvGrpSpPr>
        <p:grpSpPr>
          <a:xfrm>
            <a:off x="10418257" y="2325309"/>
            <a:ext cx="614286" cy="614286"/>
            <a:chOff x="10418257" y="2325309"/>
            <a:chExt cx="614286" cy="614286"/>
          </a:xfrm>
        </p:grpSpPr>
        <p:sp>
          <p:nvSpPr>
            <p:cNvPr id="8" name="Rectangle: Rounded Corners 7">
              <a:extLst>
                <a:ext uri="{FF2B5EF4-FFF2-40B4-BE49-F238E27FC236}">
                  <a16:creationId xmlns:a16="http://schemas.microsoft.com/office/drawing/2014/main" id="{2FDE0605-3496-109A-2969-2F2B9A7A3672}"/>
                </a:ext>
              </a:extLst>
            </p:cNvPr>
            <p:cNvSpPr/>
            <p:nvPr/>
          </p:nvSpPr>
          <p:spPr bwMode="auto">
            <a:xfrm>
              <a:off x="10418257" y="2325309"/>
              <a:ext cx="614286" cy="614286"/>
            </a:xfrm>
            <a:prstGeom prst="roundRect">
              <a:avLst>
                <a:gd name="adj" fmla="val 7046"/>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Segoe Sans Text ExtraBold" pitchFamily="2" charset="0"/>
                <a:ea typeface="Segoe Sans Text" pitchFamily="2" charset="0"/>
                <a:cs typeface="Segoe Sans Text ExtraBold" pitchFamily="2" charset="0"/>
              </a:endParaRPr>
            </a:p>
          </p:txBody>
        </p:sp>
        <p:pic>
          <p:nvPicPr>
            <p:cNvPr id="397" name="Graphic 396">
              <a:extLst>
                <a:ext uri="{FF2B5EF4-FFF2-40B4-BE49-F238E27FC236}">
                  <a16:creationId xmlns:a16="http://schemas.microsoft.com/office/drawing/2014/main" id="{DBCAE4D1-83E5-EAF7-4D55-0E2A10F4E9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20666" y="2428263"/>
              <a:ext cx="424855" cy="424855"/>
            </a:xfrm>
            <a:prstGeom prst="rect">
              <a:avLst/>
            </a:prstGeom>
          </p:spPr>
        </p:pic>
      </p:grpSp>
    </p:spTree>
    <p:extLst>
      <p:ext uri="{BB962C8B-B14F-4D97-AF65-F5344CB8AC3E}">
        <p14:creationId xmlns:p14="http://schemas.microsoft.com/office/powerpoint/2010/main" val="37444099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260"/>
                                        </p:tgtEl>
                                        <p:attrNameLst>
                                          <p:attrName>style.visibility</p:attrName>
                                        </p:attrNameLst>
                                      </p:cBhvr>
                                      <p:to>
                                        <p:strVal val="visible"/>
                                      </p:to>
                                    </p:set>
                                    <p:animEffect transition="in" filter="fade">
                                      <p:cBhvr>
                                        <p:cTn id="7" dur="750"/>
                                        <p:tgtEl>
                                          <p:spTgt spid="260"/>
                                        </p:tgtEl>
                                      </p:cBhvr>
                                    </p:animEffect>
                                  </p:childTnLst>
                                </p:cTn>
                              </p:par>
                              <p:par>
                                <p:cTn id="8" presetID="42" presetClass="path" presetSubtype="0" decel="100000" fill="hold" nodeType="withEffect">
                                  <p:stCondLst>
                                    <p:cond delay="100"/>
                                  </p:stCondLst>
                                  <p:childTnLst>
                                    <p:animMotion origin="layout" path="M -2.08333E-7 0.03889 L -2.08333E-7 -2.22222E-6 " pathEditMode="relative" rAng="0" ptsTypes="AA">
                                      <p:cBhvr>
                                        <p:cTn id="9" dur="750" fill="hold"/>
                                        <p:tgtEl>
                                          <p:spTgt spid="260"/>
                                        </p:tgtEl>
                                        <p:attrNameLst>
                                          <p:attrName>ppt_x</p:attrName>
                                          <p:attrName>ppt_y</p:attrName>
                                        </p:attrNameLst>
                                      </p:cBhvr>
                                      <p:rCtr x="0" y="-1944"/>
                                    </p:animMotion>
                                  </p:childTnLst>
                                </p:cTn>
                              </p:par>
                              <p:par>
                                <p:cTn id="10" presetID="10" presetClass="entr" presetSubtype="0" fill="hold" nodeType="withEffect">
                                  <p:stCondLst>
                                    <p:cond delay="100"/>
                                  </p:stCondLst>
                                  <p:childTnLst>
                                    <p:set>
                                      <p:cBhvr>
                                        <p:cTn id="11" dur="1" fill="hold">
                                          <p:stCondLst>
                                            <p:cond delay="0"/>
                                          </p:stCondLst>
                                        </p:cTn>
                                        <p:tgtEl>
                                          <p:spTgt spid="272"/>
                                        </p:tgtEl>
                                        <p:attrNameLst>
                                          <p:attrName>style.visibility</p:attrName>
                                        </p:attrNameLst>
                                      </p:cBhvr>
                                      <p:to>
                                        <p:strVal val="visible"/>
                                      </p:to>
                                    </p:set>
                                    <p:animEffect transition="in" filter="fade">
                                      <p:cBhvr>
                                        <p:cTn id="12" dur="750"/>
                                        <p:tgtEl>
                                          <p:spTgt spid="272"/>
                                        </p:tgtEl>
                                      </p:cBhvr>
                                    </p:animEffect>
                                  </p:childTnLst>
                                </p:cTn>
                              </p:par>
                              <p:par>
                                <p:cTn id="13" presetID="42" presetClass="path" presetSubtype="0" decel="100000" fill="hold" nodeType="withEffect">
                                  <p:stCondLst>
                                    <p:cond delay="100"/>
                                  </p:stCondLst>
                                  <p:childTnLst>
                                    <p:animMotion origin="layout" path="M -3.75E-6 0.03889 L -3.75E-6 -2.22222E-6 " pathEditMode="relative" rAng="0" ptsTypes="AA">
                                      <p:cBhvr>
                                        <p:cTn id="14" dur="750" fill="hold"/>
                                        <p:tgtEl>
                                          <p:spTgt spid="272"/>
                                        </p:tgtEl>
                                        <p:attrNameLst>
                                          <p:attrName>ppt_x</p:attrName>
                                          <p:attrName>ppt_y</p:attrName>
                                        </p:attrNameLst>
                                      </p:cBhvr>
                                      <p:rCtr x="0" y="-1944"/>
                                    </p:animMotion>
                                  </p:childTnLst>
                                </p:cTn>
                              </p:par>
                              <p:par>
                                <p:cTn id="15" presetID="10" presetClass="entr" presetSubtype="0" fill="hold" nodeType="withEffect">
                                  <p:stCondLst>
                                    <p:cond delay="100"/>
                                  </p:stCondLst>
                                  <p:childTnLst>
                                    <p:set>
                                      <p:cBhvr>
                                        <p:cTn id="16" dur="1" fill="hold">
                                          <p:stCondLst>
                                            <p:cond delay="0"/>
                                          </p:stCondLst>
                                        </p:cTn>
                                        <p:tgtEl>
                                          <p:spTgt spid="284"/>
                                        </p:tgtEl>
                                        <p:attrNameLst>
                                          <p:attrName>style.visibility</p:attrName>
                                        </p:attrNameLst>
                                      </p:cBhvr>
                                      <p:to>
                                        <p:strVal val="visible"/>
                                      </p:to>
                                    </p:set>
                                    <p:animEffect transition="in" filter="fade">
                                      <p:cBhvr>
                                        <p:cTn id="17" dur="750"/>
                                        <p:tgtEl>
                                          <p:spTgt spid="284"/>
                                        </p:tgtEl>
                                      </p:cBhvr>
                                    </p:animEffect>
                                  </p:childTnLst>
                                </p:cTn>
                              </p:par>
                              <p:par>
                                <p:cTn id="18" presetID="42" presetClass="path" presetSubtype="0" decel="100000" fill="hold" nodeType="withEffect">
                                  <p:stCondLst>
                                    <p:cond delay="100"/>
                                  </p:stCondLst>
                                  <p:childTnLst>
                                    <p:animMotion origin="layout" path="M 2.91667E-6 0.03889 L 2.91667E-6 -2.22222E-6 " pathEditMode="relative" rAng="0" ptsTypes="AA">
                                      <p:cBhvr>
                                        <p:cTn id="19" dur="750" fill="hold"/>
                                        <p:tgtEl>
                                          <p:spTgt spid="284"/>
                                        </p:tgtEl>
                                        <p:attrNameLst>
                                          <p:attrName>ppt_x</p:attrName>
                                          <p:attrName>ppt_y</p:attrName>
                                        </p:attrNameLst>
                                      </p:cBhvr>
                                      <p:rCtr x="0" y="-1944"/>
                                    </p:animMotion>
                                  </p:childTnLst>
                                </p:cTn>
                              </p:par>
                              <p:par>
                                <p:cTn id="20" presetID="10" presetClass="entr" presetSubtype="0" fill="hold" nodeType="withEffect">
                                  <p:stCondLst>
                                    <p:cond delay="100"/>
                                  </p:stCondLst>
                                  <p:childTnLst>
                                    <p:set>
                                      <p:cBhvr>
                                        <p:cTn id="21" dur="1" fill="hold">
                                          <p:stCondLst>
                                            <p:cond delay="0"/>
                                          </p:stCondLst>
                                        </p:cTn>
                                        <p:tgtEl>
                                          <p:spTgt spid="296"/>
                                        </p:tgtEl>
                                        <p:attrNameLst>
                                          <p:attrName>style.visibility</p:attrName>
                                        </p:attrNameLst>
                                      </p:cBhvr>
                                      <p:to>
                                        <p:strVal val="visible"/>
                                      </p:to>
                                    </p:set>
                                    <p:animEffect transition="in" filter="fade">
                                      <p:cBhvr>
                                        <p:cTn id="22" dur="750"/>
                                        <p:tgtEl>
                                          <p:spTgt spid="296"/>
                                        </p:tgtEl>
                                      </p:cBhvr>
                                    </p:animEffect>
                                  </p:childTnLst>
                                </p:cTn>
                              </p:par>
                              <p:par>
                                <p:cTn id="23" presetID="42" presetClass="path" presetSubtype="0" decel="100000" fill="hold" nodeType="withEffect">
                                  <p:stCondLst>
                                    <p:cond delay="100"/>
                                  </p:stCondLst>
                                  <p:childTnLst>
                                    <p:animMotion origin="layout" path="M -6.25E-7 0.03889 L -6.25E-7 -2.22222E-6 " pathEditMode="relative" rAng="0" ptsTypes="AA">
                                      <p:cBhvr>
                                        <p:cTn id="24" dur="750" fill="hold"/>
                                        <p:tgtEl>
                                          <p:spTgt spid="296"/>
                                        </p:tgtEl>
                                        <p:attrNameLst>
                                          <p:attrName>ppt_x</p:attrName>
                                          <p:attrName>ppt_y</p:attrName>
                                        </p:attrNameLst>
                                      </p:cBhvr>
                                      <p:rCtr x="0" y="-1944"/>
                                    </p:animMotion>
                                  </p:childTnLst>
                                </p:cTn>
                              </p:par>
                              <p:par>
                                <p:cTn id="25" presetID="10" presetClass="entr" presetSubtype="0" fill="hold" nodeType="withEffect">
                                  <p:stCondLst>
                                    <p:cond delay="10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750"/>
                                        <p:tgtEl>
                                          <p:spTgt spid="26"/>
                                        </p:tgtEl>
                                      </p:cBhvr>
                                    </p:animEffect>
                                  </p:childTnLst>
                                </p:cTn>
                              </p:par>
                              <p:par>
                                <p:cTn id="28" presetID="42" presetClass="path" presetSubtype="0" decel="100000" fill="hold" nodeType="withEffect">
                                  <p:stCondLst>
                                    <p:cond delay="100"/>
                                  </p:stCondLst>
                                  <p:childTnLst>
                                    <p:animMotion origin="layout" path="M -3.95833E-6 0.03889 L -3.95833E-6 -2.22222E-6 " pathEditMode="relative" rAng="0" ptsTypes="AA">
                                      <p:cBhvr>
                                        <p:cTn id="29" dur="750" fill="hold"/>
                                        <p:tgtEl>
                                          <p:spTgt spid="26"/>
                                        </p:tgtEl>
                                        <p:attrNameLst>
                                          <p:attrName>ppt_x</p:attrName>
                                          <p:attrName>ppt_y</p:attrName>
                                        </p:attrNameLst>
                                      </p:cBhvr>
                                      <p:rCtr x="0" y="-1944"/>
                                    </p:animMotion>
                                  </p:childTnLst>
                                </p:cTn>
                              </p:par>
                              <p:par>
                                <p:cTn id="30" presetID="10" presetClass="entr" presetSubtype="0" fill="hold" grpId="0" nodeType="withEffect">
                                  <p:stCondLst>
                                    <p:cond delay="250"/>
                                  </p:stCondLst>
                                  <p:childTnLst>
                                    <p:set>
                                      <p:cBhvr>
                                        <p:cTn id="31" dur="1" fill="hold">
                                          <p:stCondLst>
                                            <p:cond delay="0"/>
                                          </p:stCondLst>
                                        </p:cTn>
                                        <p:tgtEl>
                                          <p:spTgt spid="55"/>
                                        </p:tgtEl>
                                        <p:attrNameLst>
                                          <p:attrName>style.visibility</p:attrName>
                                        </p:attrNameLst>
                                      </p:cBhvr>
                                      <p:to>
                                        <p:strVal val="visible"/>
                                      </p:to>
                                    </p:set>
                                    <p:animEffect transition="in" filter="fade">
                                      <p:cBhvr>
                                        <p:cTn id="32" dur="750"/>
                                        <p:tgtEl>
                                          <p:spTgt spid="55"/>
                                        </p:tgtEl>
                                      </p:cBhvr>
                                    </p:animEffect>
                                  </p:childTnLst>
                                </p:cTn>
                              </p:par>
                              <p:par>
                                <p:cTn id="33" presetID="42" presetClass="path" presetSubtype="0" decel="100000" fill="hold" grpId="1" nodeType="withEffect">
                                  <p:stCondLst>
                                    <p:cond delay="250"/>
                                  </p:stCondLst>
                                  <p:childTnLst>
                                    <p:animMotion origin="layout" path="M -4.79167E-6 -0.03473 L -4.79167E-6 4.07407E-6 " pathEditMode="relative" rAng="0" ptsTypes="AA">
                                      <p:cBhvr>
                                        <p:cTn id="34" dur="750" fill="hold"/>
                                        <p:tgtEl>
                                          <p:spTgt spid="55"/>
                                        </p:tgtEl>
                                        <p:attrNameLst>
                                          <p:attrName>ppt_x</p:attrName>
                                          <p:attrName>ppt_y</p:attrName>
                                        </p:attrNameLst>
                                      </p:cBhvr>
                                      <p:rCtr x="0" y="1736"/>
                                    </p:animMotion>
                                  </p:childTnLst>
                                </p:cTn>
                              </p:par>
                              <p:par>
                                <p:cTn id="35" presetID="10" presetClass="entr" presetSubtype="0" fill="hold" grpId="0" nodeType="withEffect">
                                  <p:stCondLst>
                                    <p:cond delay="250"/>
                                  </p:stCondLst>
                                  <p:childTnLst>
                                    <p:set>
                                      <p:cBhvr>
                                        <p:cTn id="36" dur="1" fill="hold">
                                          <p:stCondLst>
                                            <p:cond delay="0"/>
                                          </p:stCondLst>
                                        </p:cTn>
                                        <p:tgtEl>
                                          <p:spTgt spid="298"/>
                                        </p:tgtEl>
                                        <p:attrNameLst>
                                          <p:attrName>style.visibility</p:attrName>
                                        </p:attrNameLst>
                                      </p:cBhvr>
                                      <p:to>
                                        <p:strVal val="visible"/>
                                      </p:to>
                                    </p:set>
                                    <p:animEffect transition="in" filter="fade">
                                      <p:cBhvr>
                                        <p:cTn id="37" dur="750"/>
                                        <p:tgtEl>
                                          <p:spTgt spid="298"/>
                                        </p:tgtEl>
                                      </p:cBhvr>
                                    </p:animEffect>
                                  </p:childTnLst>
                                </p:cTn>
                              </p:par>
                              <p:par>
                                <p:cTn id="38" presetID="42" presetClass="path" presetSubtype="0" decel="100000" fill="hold" grpId="1" nodeType="withEffect">
                                  <p:stCondLst>
                                    <p:cond delay="250"/>
                                  </p:stCondLst>
                                  <p:childTnLst>
                                    <p:animMotion origin="layout" path="M -1.04167E-6 -0.03473 L -1.04167E-6 4.07407E-6 " pathEditMode="relative" rAng="0" ptsTypes="AA">
                                      <p:cBhvr>
                                        <p:cTn id="39" dur="750" fill="hold"/>
                                        <p:tgtEl>
                                          <p:spTgt spid="298"/>
                                        </p:tgtEl>
                                        <p:attrNameLst>
                                          <p:attrName>ppt_x</p:attrName>
                                          <p:attrName>ppt_y</p:attrName>
                                        </p:attrNameLst>
                                      </p:cBhvr>
                                      <p:rCtr x="0" y="1736"/>
                                    </p:animMotion>
                                  </p:childTnLst>
                                </p:cTn>
                              </p:par>
                              <p:par>
                                <p:cTn id="40" presetID="10" presetClass="entr" presetSubtype="0" fill="hold" grpId="0" nodeType="withEffect">
                                  <p:stCondLst>
                                    <p:cond delay="250"/>
                                  </p:stCondLst>
                                  <p:childTnLst>
                                    <p:set>
                                      <p:cBhvr>
                                        <p:cTn id="41" dur="1" fill="hold">
                                          <p:stCondLst>
                                            <p:cond delay="0"/>
                                          </p:stCondLst>
                                        </p:cTn>
                                        <p:tgtEl>
                                          <p:spTgt spid="286"/>
                                        </p:tgtEl>
                                        <p:attrNameLst>
                                          <p:attrName>style.visibility</p:attrName>
                                        </p:attrNameLst>
                                      </p:cBhvr>
                                      <p:to>
                                        <p:strVal val="visible"/>
                                      </p:to>
                                    </p:set>
                                    <p:animEffect transition="in" filter="fade">
                                      <p:cBhvr>
                                        <p:cTn id="42" dur="750"/>
                                        <p:tgtEl>
                                          <p:spTgt spid="286"/>
                                        </p:tgtEl>
                                      </p:cBhvr>
                                    </p:animEffect>
                                  </p:childTnLst>
                                </p:cTn>
                              </p:par>
                              <p:par>
                                <p:cTn id="43" presetID="42" presetClass="path" presetSubtype="0" decel="100000" fill="hold" grpId="1" nodeType="withEffect">
                                  <p:stCondLst>
                                    <p:cond delay="250"/>
                                  </p:stCondLst>
                                  <p:childTnLst>
                                    <p:animMotion origin="layout" path="M 2.29167E-6 -0.03473 L 2.29167E-6 4.07407E-6 " pathEditMode="relative" rAng="0" ptsTypes="AA">
                                      <p:cBhvr>
                                        <p:cTn id="44" dur="750" fill="hold"/>
                                        <p:tgtEl>
                                          <p:spTgt spid="286"/>
                                        </p:tgtEl>
                                        <p:attrNameLst>
                                          <p:attrName>ppt_x</p:attrName>
                                          <p:attrName>ppt_y</p:attrName>
                                        </p:attrNameLst>
                                      </p:cBhvr>
                                      <p:rCtr x="0" y="1736"/>
                                    </p:animMotion>
                                  </p:childTnLst>
                                </p:cTn>
                              </p:par>
                              <p:par>
                                <p:cTn id="45" presetID="10" presetClass="entr" presetSubtype="0" fill="hold" grpId="0" nodeType="withEffect">
                                  <p:stCondLst>
                                    <p:cond delay="250"/>
                                  </p:stCondLst>
                                  <p:childTnLst>
                                    <p:set>
                                      <p:cBhvr>
                                        <p:cTn id="46" dur="1" fill="hold">
                                          <p:stCondLst>
                                            <p:cond delay="0"/>
                                          </p:stCondLst>
                                        </p:cTn>
                                        <p:tgtEl>
                                          <p:spTgt spid="274"/>
                                        </p:tgtEl>
                                        <p:attrNameLst>
                                          <p:attrName>style.visibility</p:attrName>
                                        </p:attrNameLst>
                                      </p:cBhvr>
                                      <p:to>
                                        <p:strVal val="visible"/>
                                      </p:to>
                                    </p:set>
                                    <p:animEffect transition="in" filter="fade">
                                      <p:cBhvr>
                                        <p:cTn id="47" dur="750"/>
                                        <p:tgtEl>
                                          <p:spTgt spid="274"/>
                                        </p:tgtEl>
                                      </p:cBhvr>
                                    </p:animEffect>
                                  </p:childTnLst>
                                </p:cTn>
                              </p:par>
                              <p:par>
                                <p:cTn id="48" presetID="42" presetClass="path" presetSubtype="0" decel="100000" fill="hold" grpId="1" nodeType="withEffect">
                                  <p:stCondLst>
                                    <p:cond delay="250"/>
                                  </p:stCondLst>
                                  <p:childTnLst>
                                    <p:animMotion origin="layout" path="M -3.75E-6 -0.03473 L -3.75E-6 4.81481E-6 " pathEditMode="relative" rAng="0" ptsTypes="AA">
                                      <p:cBhvr>
                                        <p:cTn id="49" dur="750" fill="hold"/>
                                        <p:tgtEl>
                                          <p:spTgt spid="274"/>
                                        </p:tgtEl>
                                        <p:attrNameLst>
                                          <p:attrName>ppt_x</p:attrName>
                                          <p:attrName>ppt_y</p:attrName>
                                        </p:attrNameLst>
                                      </p:cBhvr>
                                      <p:rCtr x="0" y="1736"/>
                                    </p:animMotion>
                                  </p:childTnLst>
                                </p:cTn>
                              </p:par>
                              <p:par>
                                <p:cTn id="50" presetID="10" presetClass="entr" presetSubtype="0" fill="hold" grpId="0" nodeType="withEffect">
                                  <p:stCondLst>
                                    <p:cond delay="250"/>
                                  </p:stCondLst>
                                  <p:childTnLst>
                                    <p:set>
                                      <p:cBhvr>
                                        <p:cTn id="51" dur="1" fill="hold">
                                          <p:stCondLst>
                                            <p:cond delay="0"/>
                                          </p:stCondLst>
                                        </p:cTn>
                                        <p:tgtEl>
                                          <p:spTgt spid="262"/>
                                        </p:tgtEl>
                                        <p:attrNameLst>
                                          <p:attrName>style.visibility</p:attrName>
                                        </p:attrNameLst>
                                      </p:cBhvr>
                                      <p:to>
                                        <p:strVal val="visible"/>
                                      </p:to>
                                    </p:set>
                                    <p:animEffect transition="in" filter="fade">
                                      <p:cBhvr>
                                        <p:cTn id="52" dur="750"/>
                                        <p:tgtEl>
                                          <p:spTgt spid="262"/>
                                        </p:tgtEl>
                                      </p:cBhvr>
                                    </p:animEffect>
                                  </p:childTnLst>
                                </p:cTn>
                              </p:par>
                              <p:par>
                                <p:cTn id="53" presetID="42" presetClass="path" presetSubtype="0" decel="100000" fill="hold" grpId="1" nodeType="withEffect">
                                  <p:stCondLst>
                                    <p:cond delay="250"/>
                                  </p:stCondLst>
                                  <p:childTnLst>
                                    <p:animMotion origin="layout" path="M -2.08333E-7 -0.03473 L -2.08333E-7 4.07407E-6 " pathEditMode="relative" rAng="0" ptsTypes="AA">
                                      <p:cBhvr>
                                        <p:cTn id="54" dur="750" fill="hold"/>
                                        <p:tgtEl>
                                          <p:spTgt spid="262"/>
                                        </p:tgtEl>
                                        <p:attrNameLst>
                                          <p:attrName>ppt_x</p:attrName>
                                          <p:attrName>ppt_y</p:attrName>
                                        </p:attrNameLst>
                                      </p:cBhvr>
                                      <p:rCtr x="0" y="1736"/>
                                    </p:animMotion>
                                  </p:childTnLst>
                                </p:cTn>
                              </p:par>
                              <p:par>
                                <p:cTn id="55" presetID="10" presetClass="entr" presetSubtype="0" fill="hold" grpId="0" nodeType="withEffect">
                                  <p:stCondLst>
                                    <p:cond delay="500"/>
                                  </p:stCondLst>
                                  <p:childTnLst>
                                    <p:set>
                                      <p:cBhvr>
                                        <p:cTn id="56" dur="1" fill="hold">
                                          <p:stCondLst>
                                            <p:cond delay="0"/>
                                          </p:stCondLst>
                                        </p:cTn>
                                        <p:tgtEl>
                                          <p:spTgt spid="358"/>
                                        </p:tgtEl>
                                        <p:attrNameLst>
                                          <p:attrName>style.visibility</p:attrName>
                                        </p:attrNameLst>
                                      </p:cBhvr>
                                      <p:to>
                                        <p:strVal val="visible"/>
                                      </p:to>
                                    </p:set>
                                    <p:animEffect transition="in" filter="fade">
                                      <p:cBhvr>
                                        <p:cTn id="57" dur="500"/>
                                        <p:tgtEl>
                                          <p:spTgt spid="358"/>
                                        </p:tgtEl>
                                      </p:cBhvr>
                                    </p:animEffect>
                                  </p:childTnLst>
                                </p:cTn>
                              </p:par>
                              <p:par>
                                <p:cTn id="58" presetID="6" presetClass="emph" presetSubtype="0" fill="hold" grpId="1" nodeType="withEffect">
                                  <p:stCondLst>
                                    <p:cond delay="500"/>
                                  </p:stCondLst>
                                  <p:childTnLst>
                                    <p:animScale>
                                      <p:cBhvr>
                                        <p:cTn id="59" dur="10" fill="hold"/>
                                        <p:tgtEl>
                                          <p:spTgt spid="358"/>
                                        </p:tgtEl>
                                      </p:cBhvr>
                                      <p:by x="125000" y="125000"/>
                                    </p:animScale>
                                  </p:childTnLst>
                                </p:cTn>
                              </p:par>
                              <p:par>
                                <p:cTn id="60" presetID="6" presetClass="emph" presetSubtype="0" decel="100000" fill="hold" grpId="2" nodeType="withEffect">
                                  <p:stCondLst>
                                    <p:cond delay="500"/>
                                  </p:stCondLst>
                                  <p:childTnLst>
                                    <p:animScale>
                                      <p:cBhvr>
                                        <p:cTn id="61" dur="750" fill="hold"/>
                                        <p:tgtEl>
                                          <p:spTgt spid="358"/>
                                        </p:tgtEl>
                                      </p:cBhvr>
                                      <p:by x="80000" y="80000"/>
                                    </p:animScale>
                                  </p:childTnLst>
                                </p:cTn>
                              </p:par>
                              <p:par>
                                <p:cTn id="62" presetID="10" presetClass="entr" presetSubtype="0" fill="hold" grpId="0" nodeType="withEffect">
                                  <p:stCondLst>
                                    <p:cond delay="500"/>
                                  </p:stCondLst>
                                  <p:childTnLst>
                                    <p:set>
                                      <p:cBhvr>
                                        <p:cTn id="63" dur="1" fill="hold">
                                          <p:stCondLst>
                                            <p:cond delay="0"/>
                                          </p:stCondLst>
                                        </p:cTn>
                                        <p:tgtEl>
                                          <p:spTgt spid="359"/>
                                        </p:tgtEl>
                                        <p:attrNameLst>
                                          <p:attrName>style.visibility</p:attrName>
                                        </p:attrNameLst>
                                      </p:cBhvr>
                                      <p:to>
                                        <p:strVal val="visible"/>
                                      </p:to>
                                    </p:set>
                                    <p:animEffect transition="in" filter="fade">
                                      <p:cBhvr>
                                        <p:cTn id="64" dur="500"/>
                                        <p:tgtEl>
                                          <p:spTgt spid="359"/>
                                        </p:tgtEl>
                                      </p:cBhvr>
                                    </p:animEffect>
                                  </p:childTnLst>
                                </p:cTn>
                              </p:par>
                              <p:par>
                                <p:cTn id="65" presetID="6" presetClass="emph" presetSubtype="0" fill="hold" grpId="1" nodeType="withEffect">
                                  <p:stCondLst>
                                    <p:cond delay="500"/>
                                  </p:stCondLst>
                                  <p:childTnLst>
                                    <p:animScale>
                                      <p:cBhvr>
                                        <p:cTn id="66" dur="10" fill="hold"/>
                                        <p:tgtEl>
                                          <p:spTgt spid="359"/>
                                        </p:tgtEl>
                                      </p:cBhvr>
                                      <p:by x="125000" y="125000"/>
                                    </p:animScale>
                                  </p:childTnLst>
                                </p:cTn>
                              </p:par>
                              <p:par>
                                <p:cTn id="67" presetID="6" presetClass="emph" presetSubtype="0" decel="100000" fill="hold" grpId="2" nodeType="withEffect">
                                  <p:stCondLst>
                                    <p:cond delay="500"/>
                                  </p:stCondLst>
                                  <p:childTnLst>
                                    <p:animScale>
                                      <p:cBhvr>
                                        <p:cTn id="68" dur="750" fill="hold"/>
                                        <p:tgtEl>
                                          <p:spTgt spid="359"/>
                                        </p:tgtEl>
                                      </p:cBhvr>
                                      <p:by x="80000" y="80000"/>
                                    </p:animScale>
                                  </p:childTnLst>
                                </p:cTn>
                              </p:par>
                              <p:par>
                                <p:cTn id="69" presetID="23" presetClass="entr" presetSubtype="16" fill="hold" grpId="0" nodeType="withEffect">
                                  <p:stCondLst>
                                    <p:cond delay="500"/>
                                  </p:stCondLst>
                                  <p:childTnLst>
                                    <p:set>
                                      <p:cBhvr>
                                        <p:cTn id="70" dur="1" fill="hold">
                                          <p:stCondLst>
                                            <p:cond delay="0"/>
                                          </p:stCondLst>
                                        </p:cTn>
                                        <p:tgtEl>
                                          <p:spTgt spid="357"/>
                                        </p:tgtEl>
                                        <p:attrNameLst>
                                          <p:attrName>style.visibility</p:attrName>
                                        </p:attrNameLst>
                                      </p:cBhvr>
                                      <p:to>
                                        <p:strVal val="visible"/>
                                      </p:to>
                                    </p:set>
                                    <p:anim calcmode="lin" valueType="num">
                                      <p:cBhvr>
                                        <p:cTn id="71" dur="250" fill="hold"/>
                                        <p:tgtEl>
                                          <p:spTgt spid="357"/>
                                        </p:tgtEl>
                                        <p:attrNameLst>
                                          <p:attrName>ppt_w</p:attrName>
                                        </p:attrNameLst>
                                      </p:cBhvr>
                                      <p:tavLst>
                                        <p:tav tm="0">
                                          <p:val>
                                            <p:fltVal val="0"/>
                                          </p:val>
                                        </p:tav>
                                        <p:tav tm="100000">
                                          <p:val>
                                            <p:strVal val="#ppt_w"/>
                                          </p:val>
                                        </p:tav>
                                      </p:tavLst>
                                    </p:anim>
                                    <p:anim calcmode="lin" valueType="num">
                                      <p:cBhvr>
                                        <p:cTn id="72" dur="250" fill="hold"/>
                                        <p:tgtEl>
                                          <p:spTgt spid="357"/>
                                        </p:tgtEl>
                                        <p:attrNameLst>
                                          <p:attrName>ppt_h</p:attrName>
                                        </p:attrNameLst>
                                      </p:cBhvr>
                                      <p:tavLst>
                                        <p:tav tm="0">
                                          <p:val>
                                            <p:fltVal val="0"/>
                                          </p:val>
                                        </p:tav>
                                        <p:tav tm="100000">
                                          <p:val>
                                            <p:strVal val="#ppt_h"/>
                                          </p:val>
                                        </p:tav>
                                      </p:tavLst>
                                    </p:anim>
                                  </p:childTnLst>
                                </p:cTn>
                              </p:par>
                              <p:par>
                                <p:cTn id="73" presetID="10" presetClass="entr" presetSubtype="0" fill="hold" grpId="1" nodeType="withEffect">
                                  <p:stCondLst>
                                    <p:cond delay="500"/>
                                  </p:stCondLst>
                                  <p:childTnLst>
                                    <p:set>
                                      <p:cBhvr>
                                        <p:cTn id="74" dur="1" fill="hold">
                                          <p:stCondLst>
                                            <p:cond delay="0"/>
                                          </p:stCondLst>
                                        </p:cTn>
                                        <p:tgtEl>
                                          <p:spTgt spid="357"/>
                                        </p:tgtEl>
                                        <p:attrNameLst>
                                          <p:attrName>style.visibility</p:attrName>
                                        </p:attrNameLst>
                                      </p:cBhvr>
                                      <p:to>
                                        <p:strVal val="visible"/>
                                      </p:to>
                                    </p:set>
                                    <p:animEffect transition="in" filter="fade">
                                      <p:cBhvr>
                                        <p:cTn id="75" dur="500"/>
                                        <p:tgtEl>
                                          <p:spTgt spid="357"/>
                                        </p:tgtEl>
                                      </p:cBhvr>
                                    </p:animEffect>
                                  </p:childTnLst>
                                </p:cTn>
                              </p:par>
                              <p:par>
                                <p:cTn id="76" presetID="6" presetClass="emph" presetSubtype="0" fill="hold" grpId="2" nodeType="withEffect">
                                  <p:stCondLst>
                                    <p:cond delay="500"/>
                                  </p:stCondLst>
                                  <p:childTnLst>
                                    <p:animScale>
                                      <p:cBhvr>
                                        <p:cTn id="77" dur="10" fill="hold"/>
                                        <p:tgtEl>
                                          <p:spTgt spid="357"/>
                                        </p:tgtEl>
                                      </p:cBhvr>
                                      <p:by x="80000" y="80000"/>
                                    </p:animScale>
                                  </p:childTnLst>
                                </p:cTn>
                              </p:par>
                              <p:par>
                                <p:cTn id="78" presetID="6" presetClass="emph" presetSubtype="0" decel="100000" fill="hold" grpId="3" nodeType="withEffect">
                                  <p:stCondLst>
                                    <p:cond delay="500"/>
                                  </p:stCondLst>
                                  <p:childTnLst>
                                    <p:animScale>
                                      <p:cBhvr>
                                        <p:cTn id="79" dur="1000" fill="hold"/>
                                        <p:tgtEl>
                                          <p:spTgt spid="357"/>
                                        </p:tgtEl>
                                      </p:cBhvr>
                                      <p:by x="125000" y="125000"/>
                                    </p:animScale>
                                  </p:childTnLst>
                                </p:cTn>
                              </p:par>
                              <p:par>
                                <p:cTn id="80" presetID="18" presetClass="entr" presetSubtype="12" fill="hold" nodeType="withEffect">
                                  <p:stCondLst>
                                    <p:cond delay="650"/>
                                  </p:stCondLst>
                                  <p:childTnLst>
                                    <p:set>
                                      <p:cBhvr>
                                        <p:cTn id="81" dur="1" fill="hold">
                                          <p:stCondLst>
                                            <p:cond delay="0"/>
                                          </p:stCondLst>
                                        </p:cTn>
                                        <p:tgtEl>
                                          <p:spTgt spid="362"/>
                                        </p:tgtEl>
                                        <p:attrNameLst>
                                          <p:attrName>style.visibility</p:attrName>
                                        </p:attrNameLst>
                                      </p:cBhvr>
                                      <p:to>
                                        <p:strVal val="visible"/>
                                      </p:to>
                                    </p:set>
                                    <p:animEffect transition="in" filter="strips(downLeft)">
                                      <p:cBhvr>
                                        <p:cTn id="82" dur="500"/>
                                        <p:tgtEl>
                                          <p:spTgt spid="362"/>
                                        </p:tgtEl>
                                      </p:cBhvr>
                                    </p:animEffect>
                                  </p:childTnLst>
                                </p:cTn>
                              </p:par>
                              <p:par>
                                <p:cTn id="83" presetID="18" presetClass="entr" presetSubtype="6" fill="hold" nodeType="withEffect">
                                  <p:stCondLst>
                                    <p:cond delay="650"/>
                                  </p:stCondLst>
                                  <p:childTnLst>
                                    <p:set>
                                      <p:cBhvr>
                                        <p:cTn id="84" dur="1" fill="hold">
                                          <p:stCondLst>
                                            <p:cond delay="0"/>
                                          </p:stCondLst>
                                        </p:cTn>
                                        <p:tgtEl>
                                          <p:spTgt spid="361"/>
                                        </p:tgtEl>
                                        <p:attrNameLst>
                                          <p:attrName>style.visibility</p:attrName>
                                        </p:attrNameLst>
                                      </p:cBhvr>
                                      <p:to>
                                        <p:strVal val="visible"/>
                                      </p:to>
                                    </p:set>
                                    <p:animEffect transition="in" filter="strips(downRight)">
                                      <p:cBhvr>
                                        <p:cTn id="85" dur="500"/>
                                        <p:tgtEl>
                                          <p:spTgt spid="361"/>
                                        </p:tgtEl>
                                      </p:cBhvr>
                                    </p:animEffect>
                                  </p:childTnLst>
                                </p:cTn>
                              </p:par>
                              <p:par>
                                <p:cTn id="86" presetID="10" presetClass="entr" presetSubtype="0" fill="hold" nodeType="withEffect">
                                  <p:stCondLst>
                                    <p:cond delay="100"/>
                                  </p:stCondLst>
                                  <p:childTnLst>
                                    <p:set>
                                      <p:cBhvr>
                                        <p:cTn id="87" dur="1" fill="hold">
                                          <p:stCondLst>
                                            <p:cond delay="0"/>
                                          </p:stCondLst>
                                        </p:cTn>
                                        <p:tgtEl>
                                          <p:spTgt spid="3"/>
                                        </p:tgtEl>
                                        <p:attrNameLst>
                                          <p:attrName>style.visibility</p:attrName>
                                        </p:attrNameLst>
                                      </p:cBhvr>
                                      <p:to>
                                        <p:strVal val="visible"/>
                                      </p:to>
                                    </p:set>
                                    <p:animEffect transition="in" filter="fade">
                                      <p:cBhvr>
                                        <p:cTn id="88" dur="750"/>
                                        <p:tgtEl>
                                          <p:spTgt spid="3"/>
                                        </p:tgtEl>
                                      </p:cBhvr>
                                    </p:animEffect>
                                  </p:childTnLst>
                                </p:cTn>
                              </p:par>
                              <p:par>
                                <p:cTn id="89" presetID="42" presetClass="path" presetSubtype="0" decel="100000" fill="hold" nodeType="withEffect">
                                  <p:stCondLst>
                                    <p:cond delay="100"/>
                                  </p:stCondLst>
                                  <p:childTnLst>
                                    <p:animMotion origin="layout" path="M 2.5E-6 0.03889 L 2.5E-6 -2.22222E-6 " pathEditMode="relative" rAng="0" ptsTypes="AA">
                                      <p:cBhvr>
                                        <p:cTn id="90" dur="750" fill="hold"/>
                                        <p:tgtEl>
                                          <p:spTgt spid="3"/>
                                        </p:tgtEl>
                                        <p:attrNameLst>
                                          <p:attrName>ppt_x</p:attrName>
                                          <p:attrName>ppt_y</p:attrName>
                                        </p:attrNameLst>
                                      </p:cBhvr>
                                      <p:rCtr x="0" y="-1944"/>
                                    </p:animMotion>
                                  </p:childTnLst>
                                </p:cTn>
                              </p:par>
                              <p:par>
                                <p:cTn id="91" presetID="10" presetClass="entr" presetSubtype="0" fill="hold" grpId="0" nodeType="withEffect">
                                  <p:stCondLst>
                                    <p:cond delay="250"/>
                                  </p:stCondLst>
                                  <p:childTnLst>
                                    <p:set>
                                      <p:cBhvr>
                                        <p:cTn id="92" dur="1" fill="hold">
                                          <p:stCondLst>
                                            <p:cond delay="0"/>
                                          </p:stCondLst>
                                        </p:cTn>
                                        <p:tgtEl>
                                          <p:spTgt spid="6"/>
                                        </p:tgtEl>
                                        <p:attrNameLst>
                                          <p:attrName>style.visibility</p:attrName>
                                        </p:attrNameLst>
                                      </p:cBhvr>
                                      <p:to>
                                        <p:strVal val="visible"/>
                                      </p:to>
                                    </p:set>
                                    <p:animEffect transition="in" filter="fade">
                                      <p:cBhvr>
                                        <p:cTn id="93" dur="750"/>
                                        <p:tgtEl>
                                          <p:spTgt spid="6"/>
                                        </p:tgtEl>
                                      </p:cBhvr>
                                    </p:animEffect>
                                  </p:childTnLst>
                                </p:cTn>
                              </p:par>
                              <p:par>
                                <p:cTn id="94" presetID="42" presetClass="path" presetSubtype="0" decel="100000" fill="hold" grpId="1" nodeType="withEffect">
                                  <p:stCondLst>
                                    <p:cond delay="250"/>
                                  </p:stCondLst>
                                  <p:childTnLst>
                                    <p:animMotion origin="layout" path="M 2.5E-6 -0.03473 L 2.5E-6 4.07407E-6 " pathEditMode="relative" rAng="0" ptsTypes="AA">
                                      <p:cBhvr>
                                        <p:cTn id="95" dur="750" fill="hold"/>
                                        <p:tgtEl>
                                          <p:spTgt spid="6"/>
                                        </p:tgtEl>
                                        <p:attrNameLst>
                                          <p:attrName>ppt_x</p:attrName>
                                          <p:attrName>ppt_y</p:attrName>
                                        </p:attrNameLst>
                                      </p:cBhvr>
                                      <p:rCtr x="0" y="1736"/>
                                    </p:animMotion>
                                  </p:childTnLst>
                                </p:cTn>
                              </p:par>
                              <p:par>
                                <p:cTn id="96" presetID="23" presetClass="entr" presetSubtype="16" fill="hold" nodeType="withEffect">
                                  <p:stCondLst>
                                    <p:cond delay="0"/>
                                  </p:stCondLst>
                                  <p:childTnLst>
                                    <p:set>
                                      <p:cBhvr>
                                        <p:cTn id="97" dur="1" fill="hold">
                                          <p:stCondLst>
                                            <p:cond delay="0"/>
                                          </p:stCondLst>
                                        </p:cTn>
                                        <p:tgtEl>
                                          <p:spTgt spid="398"/>
                                        </p:tgtEl>
                                        <p:attrNameLst>
                                          <p:attrName>style.visibility</p:attrName>
                                        </p:attrNameLst>
                                      </p:cBhvr>
                                      <p:to>
                                        <p:strVal val="visible"/>
                                      </p:to>
                                    </p:set>
                                    <p:anim calcmode="lin" valueType="num">
                                      <p:cBhvr>
                                        <p:cTn id="98" dur="250" fill="hold"/>
                                        <p:tgtEl>
                                          <p:spTgt spid="398"/>
                                        </p:tgtEl>
                                        <p:attrNameLst>
                                          <p:attrName>ppt_w</p:attrName>
                                        </p:attrNameLst>
                                      </p:cBhvr>
                                      <p:tavLst>
                                        <p:tav tm="0">
                                          <p:val>
                                            <p:fltVal val="0"/>
                                          </p:val>
                                        </p:tav>
                                        <p:tav tm="100000">
                                          <p:val>
                                            <p:strVal val="#ppt_w"/>
                                          </p:val>
                                        </p:tav>
                                      </p:tavLst>
                                    </p:anim>
                                    <p:anim calcmode="lin" valueType="num">
                                      <p:cBhvr>
                                        <p:cTn id="99" dur="250" fill="hold"/>
                                        <p:tgtEl>
                                          <p:spTgt spid="398"/>
                                        </p:tgtEl>
                                        <p:attrNameLst>
                                          <p:attrName>ppt_h</p:attrName>
                                        </p:attrNameLst>
                                      </p:cBhvr>
                                      <p:tavLst>
                                        <p:tav tm="0">
                                          <p:val>
                                            <p:fltVal val="0"/>
                                          </p:val>
                                        </p:tav>
                                        <p:tav tm="100000">
                                          <p:val>
                                            <p:strVal val="#ppt_h"/>
                                          </p:val>
                                        </p:tav>
                                      </p:tavLst>
                                    </p:anim>
                                  </p:childTnLst>
                                </p:cTn>
                              </p:par>
                              <p:par>
                                <p:cTn id="100" presetID="10" presetClass="entr" presetSubtype="0" fill="hold" nodeType="withEffect">
                                  <p:stCondLst>
                                    <p:cond delay="0"/>
                                  </p:stCondLst>
                                  <p:childTnLst>
                                    <p:set>
                                      <p:cBhvr>
                                        <p:cTn id="101" dur="1" fill="hold">
                                          <p:stCondLst>
                                            <p:cond delay="0"/>
                                          </p:stCondLst>
                                        </p:cTn>
                                        <p:tgtEl>
                                          <p:spTgt spid="398"/>
                                        </p:tgtEl>
                                        <p:attrNameLst>
                                          <p:attrName>style.visibility</p:attrName>
                                        </p:attrNameLst>
                                      </p:cBhvr>
                                      <p:to>
                                        <p:strVal val="visible"/>
                                      </p:to>
                                    </p:set>
                                    <p:animEffect transition="in" filter="fade">
                                      <p:cBhvr>
                                        <p:cTn id="102" dur="500"/>
                                        <p:tgtEl>
                                          <p:spTgt spid="398"/>
                                        </p:tgtEl>
                                      </p:cBhvr>
                                    </p:animEffect>
                                  </p:childTnLst>
                                </p:cTn>
                              </p:par>
                              <p:par>
                                <p:cTn id="103" presetID="6" presetClass="emph" presetSubtype="0" fill="hold" nodeType="withEffect">
                                  <p:stCondLst>
                                    <p:cond delay="0"/>
                                  </p:stCondLst>
                                  <p:childTnLst>
                                    <p:animScale>
                                      <p:cBhvr>
                                        <p:cTn id="104" dur="10" fill="hold"/>
                                        <p:tgtEl>
                                          <p:spTgt spid="398"/>
                                        </p:tgtEl>
                                      </p:cBhvr>
                                      <p:by x="80000" y="80000"/>
                                    </p:animScale>
                                  </p:childTnLst>
                                </p:cTn>
                              </p:par>
                              <p:par>
                                <p:cTn id="105" presetID="6" presetClass="emph" presetSubtype="0" decel="100000" fill="hold" nodeType="withEffect">
                                  <p:stCondLst>
                                    <p:cond delay="0"/>
                                  </p:stCondLst>
                                  <p:childTnLst>
                                    <p:animScale>
                                      <p:cBhvr>
                                        <p:cTn id="106" dur="1000" fill="hold"/>
                                        <p:tgtEl>
                                          <p:spTgt spid="398"/>
                                        </p:tgtEl>
                                      </p:cBhvr>
                                      <p:by x="125000" y="125000"/>
                                    </p:animScale>
                                  </p:childTnLst>
                                </p:cTn>
                              </p:par>
                              <p:par>
                                <p:cTn id="107" presetID="23" presetClass="entr" presetSubtype="16" fill="hold" nodeType="withEffect">
                                  <p:stCondLst>
                                    <p:cond delay="0"/>
                                  </p:stCondLst>
                                  <p:childTnLst>
                                    <p:set>
                                      <p:cBhvr>
                                        <p:cTn id="108" dur="1" fill="hold">
                                          <p:stCondLst>
                                            <p:cond delay="0"/>
                                          </p:stCondLst>
                                        </p:cTn>
                                        <p:tgtEl>
                                          <p:spTgt spid="399"/>
                                        </p:tgtEl>
                                        <p:attrNameLst>
                                          <p:attrName>style.visibility</p:attrName>
                                        </p:attrNameLst>
                                      </p:cBhvr>
                                      <p:to>
                                        <p:strVal val="visible"/>
                                      </p:to>
                                    </p:set>
                                    <p:anim calcmode="lin" valueType="num">
                                      <p:cBhvr>
                                        <p:cTn id="109" dur="250" fill="hold"/>
                                        <p:tgtEl>
                                          <p:spTgt spid="399"/>
                                        </p:tgtEl>
                                        <p:attrNameLst>
                                          <p:attrName>ppt_w</p:attrName>
                                        </p:attrNameLst>
                                      </p:cBhvr>
                                      <p:tavLst>
                                        <p:tav tm="0">
                                          <p:val>
                                            <p:fltVal val="0"/>
                                          </p:val>
                                        </p:tav>
                                        <p:tav tm="100000">
                                          <p:val>
                                            <p:strVal val="#ppt_w"/>
                                          </p:val>
                                        </p:tav>
                                      </p:tavLst>
                                    </p:anim>
                                    <p:anim calcmode="lin" valueType="num">
                                      <p:cBhvr>
                                        <p:cTn id="110" dur="250" fill="hold"/>
                                        <p:tgtEl>
                                          <p:spTgt spid="399"/>
                                        </p:tgtEl>
                                        <p:attrNameLst>
                                          <p:attrName>ppt_h</p:attrName>
                                        </p:attrNameLst>
                                      </p:cBhvr>
                                      <p:tavLst>
                                        <p:tav tm="0">
                                          <p:val>
                                            <p:fltVal val="0"/>
                                          </p:val>
                                        </p:tav>
                                        <p:tav tm="100000">
                                          <p:val>
                                            <p:strVal val="#ppt_h"/>
                                          </p:val>
                                        </p:tav>
                                      </p:tavLst>
                                    </p:anim>
                                  </p:childTnLst>
                                </p:cTn>
                              </p:par>
                              <p:par>
                                <p:cTn id="111" presetID="10" presetClass="entr" presetSubtype="0" fill="hold" nodeType="withEffect">
                                  <p:stCondLst>
                                    <p:cond delay="0"/>
                                  </p:stCondLst>
                                  <p:childTnLst>
                                    <p:set>
                                      <p:cBhvr>
                                        <p:cTn id="112" dur="1" fill="hold">
                                          <p:stCondLst>
                                            <p:cond delay="0"/>
                                          </p:stCondLst>
                                        </p:cTn>
                                        <p:tgtEl>
                                          <p:spTgt spid="399"/>
                                        </p:tgtEl>
                                        <p:attrNameLst>
                                          <p:attrName>style.visibility</p:attrName>
                                        </p:attrNameLst>
                                      </p:cBhvr>
                                      <p:to>
                                        <p:strVal val="visible"/>
                                      </p:to>
                                    </p:set>
                                    <p:animEffect transition="in" filter="fade">
                                      <p:cBhvr>
                                        <p:cTn id="113" dur="500"/>
                                        <p:tgtEl>
                                          <p:spTgt spid="399"/>
                                        </p:tgtEl>
                                      </p:cBhvr>
                                    </p:animEffect>
                                  </p:childTnLst>
                                </p:cTn>
                              </p:par>
                              <p:par>
                                <p:cTn id="114" presetID="6" presetClass="emph" presetSubtype="0" fill="hold" nodeType="withEffect">
                                  <p:stCondLst>
                                    <p:cond delay="0"/>
                                  </p:stCondLst>
                                  <p:childTnLst>
                                    <p:animScale>
                                      <p:cBhvr>
                                        <p:cTn id="115" dur="10" fill="hold"/>
                                        <p:tgtEl>
                                          <p:spTgt spid="399"/>
                                        </p:tgtEl>
                                      </p:cBhvr>
                                      <p:by x="80000" y="80000"/>
                                    </p:animScale>
                                  </p:childTnLst>
                                </p:cTn>
                              </p:par>
                              <p:par>
                                <p:cTn id="116" presetID="6" presetClass="emph" presetSubtype="0" decel="100000" fill="hold" nodeType="withEffect">
                                  <p:stCondLst>
                                    <p:cond delay="0"/>
                                  </p:stCondLst>
                                  <p:childTnLst>
                                    <p:animScale>
                                      <p:cBhvr>
                                        <p:cTn id="117" dur="1000" fill="hold"/>
                                        <p:tgtEl>
                                          <p:spTgt spid="399"/>
                                        </p:tgtEl>
                                      </p:cBhvr>
                                      <p:by x="125000" y="125000"/>
                                    </p:animScale>
                                  </p:childTnLst>
                                </p:cTn>
                              </p:par>
                              <p:par>
                                <p:cTn id="118" presetID="23" presetClass="entr" presetSubtype="16" fill="hold" nodeType="withEffect">
                                  <p:stCondLst>
                                    <p:cond delay="0"/>
                                  </p:stCondLst>
                                  <p:childTnLst>
                                    <p:set>
                                      <p:cBhvr>
                                        <p:cTn id="119" dur="1" fill="hold">
                                          <p:stCondLst>
                                            <p:cond delay="0"/>
                                          </p:stCondLst>
                                        </p:cTn>
                                        <p:tgtEl>
                                          <p:spTgt spid="400"/>
                                        </p:tgtEl>
                                        <p:attrNameLst>
                                          <p:attrName>style.visibility</p:attrName>
                                        </p:attrNameLst>
                                      </p:cBhvr>
                                      <p:to>
                                        <p:strVal val="visible"/>
                                      </p:to>
                                    </p:set>
                                    <p:anim calcmode="lin" valueType="num">
                                      <p:cBhvr>
                                        <p:cTn id="120" dur="250" fill="hold"/>
                                        <p:tgtEl>
                                          <p:spTgt spid="400"/>
                                        </p:tgtEl>
                                        <p:attrNameLst>
                                          <p:attrName>ppt_w</p:attrName>
                                        </p:attrNameLst>
                                      </p:cBhvr>
                                      <p:tavLst>
                                        <p:tav tm="0">
                                          <p:val>
                                            <p:fltVal val="0"/>
                                          </p:val>
                                        </p:tav>
                                        <p:tav tm="100000">
                                          <p:val>
                                            <p:strVal val="#ppt_w"/>
                                          </p:val>
                                        </p:tav>
                                      </p:tavLst>
                                    </p:anim>
                                    <p:anim calcmode="lin" valueType="num">
                                      <p:cBhvr>
                                        <p:cTn id="121" dur="250" fill="hold"/>
                                        <p:tgtEl>
                                          <p:spTgt spid="400"/>
                                        </p:tgtEl>
                                        <p:attrNameLst>
                                          <p:attrName>ppt_h</p:attrName>
                                        </p:attrNameLst>
                                      </p:cBhvr>
                                      <p:tavLst>
                                        <p:tav tm="0">
                                          <p:val>
                                            <p:fltVal val="0"/>
                                          </p:val>
                                        </p:tav>
                                        <p:tav tm="100000">
                                          <p:val>
                                            <p:strVal val="#ppt_h"/>
                                          </p:val>
                                        </p:tav>
                                      </p:tavLst>
                                    </p:anim>
                                  </p:childTnLst>
                                </p:cTn>
                              </p:par>
                              <p:par>
                                <p:cTn id="122" presetID="10" presetClass="entr" presetSubtype="0" fill="hold" nodeType="withEffect">
                                  <p:stCondLst>
                                    <p:cond delay="0"/>
                                  </p:stCondLst>
                                  <p:childTnLst>
                                    <p:set>
                                      <p:cBhvr>
                                        <p:cTn id="123" dur="1" fill="hold">
                                          <p:stCondLst>
                                            <p:cond delay="0"/>
                                          </p:stCondLst>
                                        </p:cTn>
                                        <p:tgtEl>
                                          <p:spTgt spid="400"/>
                                        </p:tgtEl>
                                        <p:attrNameLst>
                                          <p:attrName>style.visibility</p:attrName>
                                        </p:attrNameLst>
                                      </p:cBhvr>
                                      <p:to>
                                        <p:strVal val="visible"/>
                                      </p:to>
                                    </p:set>
                                    <p:animEffect transition="in" filter="fade">
                                      <p:cBhvr>
                                        <p:cTn id="124" dur="500"/>
                                        <p:tgtEl>
                                          <p:spTgt spid="400"/>
                                        </p:tgtEl>
                                      </p:cBhvr>
                                    </p:animEffect>
                                  </p:childTnLst>
                                </p:cTn>
                              </p:par>
                              <p:par>
                                <p:cTn id="125" presetID="6" presetClass="emph" presetSubtype="0" fill="hold" nodeType="withEffect">
                                  <p:stCondLst>
                                    <p:cond delay="0"/>
                                  </p:stCondLst>
                                  <p:childTnLst>
                                    <p:animScale>
                                      <p:cBhvr>
                                        <p:cTn id="126" dur="10" fill="hold"/>
                                        <p:tgtEl>
                                          <p:spTgt spid="400"/>
                                        </p:tgtEl>
                                      </p:cBhvr>
                                      <p:by x="80000" y="80000"/>
                                    </p:animScale>
                                  </p:childTnLst>
                                </p:cTn>
                              </p:par>
                              <p:par>
                                <p:cTn id="127" presetID="6" presetClass="emph" presetSubtype="0" decel="100000" fill="hold" nodeType="withEffect">
                                  <p:stCondLst>
                                    <p:cond delay="0"/>
                                  </p:stCondLst>
                                  <p:childTnLst>
                                    <p:animScale>
                                      <p:cBhvr>
                                        <p:cTn id="128" dur="1000" fill="hold"/>
                                        <p:tgtEl>
                                          <p:spTgt spid="400"/>
                                        </p:tgtEl>
                                      </p:cBhvr>
                                      <p:by x="125000" y="125000"/>
                                    </p:animScale>
                                  </p:childTnLst>
                                </p:cTn>
                              </p:par>
                              <p:par>
                                <p:cTn id="129" presetID="23" presetClass="entr" presetSubtype="16" fill="hold" nodeType="withEffect">
                                  <p:stCondLst>
                                    <p:cond delay="0"/>
                                  </p:stCondLst>
                                  <p:childTnLst>
                                    <p:set>
                                      <p:cBhvr>
                                        <p:cTn id="130" dur="1" fill="hold">
                                          <p:stCondLst>
                                            <p:cond delay="0"/>
                                          </p:stCondLst>
                                        </p:cTn>
                                        <p:tgtEl>
                                          <p:spTgt spid="401"/>
                                        </p:tgtEl>
                                        <p:attrNameLst>
                                          <p:attrName>style.visibility</p:attrName>
                                        </p:attrNameLst>
                                      </p:cBhvr>
                                      <p:to>
                                        <p:strVal val="visible"/>
                                      </p:to>
                                    </p:set>
                                    <p:anim calcmode="lin" valueType="num">
                                      <p:cBhvr>
                                        <p:cTn id="131" dur="250" fill="hold"/>
                                        <p:tgtEl>
                                          <p:spTgt spid="401"/>
                                        </p:tgtEl>
                                        <p:attrNameLst>
                                          <p:attrName>ppt_w</p:attrName>
                                        </p:attrNameLst>
                                      </p:cBhvr>
                                      <p:tavLst>
                                        <p:tav tm="0">
                                          <p:val>
                                            <p:fltVal val="0"/>
                                          </p:val>
                                        </p:tav>
                                        <p:tav tm="100000">
                                          <p:val>
                                            <p:strVal val="#ppt_w"/>
                                          </p:val>
                                        </p:tav>
                                      </p:tavLst>
                                    </p:anim>
                                    <p:anim calcmode="lin" valueType="num">
                                      <p:cBhvr>
                                        <p:cTn id="132" dur="250" fill="hold"/>
                                        <p:tgtEl>
                                          <p:spTgt spid="401"/>
                                        </p:tgtEl>
                                        <p:attrNameLst>
                                          <p:attrName>ppt_h</p:attrName>
                                        </p:attrNameLst>
                                      </p:cBhvr>
                                      <p:tavLst>
                                        <p:tav tm="0">
                                          <p:val>
                                            <p:fltVal val="0"/>
                                          </p:val>
                                        </p:tav>
                                        <p:tav tm="100000">
                                          <p:val>
                                            <p:strVal val="#ppt_h"/>
                                          </p:val>
                                        </p:tav>
                                      </p:tavLst>
                                    </p:anim>
                                  </p:childTnLst>
                                </p:cTn>
                              </p:par>
                              <p:par>
                                <p:cTn id="133" presetID="10" presetClass="entr" presetSubtype="0" fill="hold" nodeType="withEffect">
                                  <p:stCondLst>
                                    <p:cond delay="0"/>
                                  </p:stCondLst>
                                  <p:childTnLst>
                                    <p:set>
                                      <p:cBhvr>
                                        <p:cTn id="134" dur="1" fill="hold">
                                          <p:stCondLst>
                                            <p:cond delay="0"/>
                                          </p:stCondLst>
                                        </p:cTn>
                                        <p:tgtEl>
                                          <p:spTgt spid="401"/>
                                        </p:tgtEl>
                                        <p:attrNameLst>
                                          <p:attrName>style.visibility</p:attrName>
                                        </p:attrNameLst>
                                      </p:cBhvr>
                                      <p:to>
                                        <p:strVal val="visible"/>
                                      </p:to>
                                    </p:set>
                                    <p:animEffect transition="in" filter="fade">
                                      <p:cBhvr>
                                        <p:cTn id="135" dur="500"/>
                                        <p:tgtEl>
                                          <p:spTgt spid="401"/>
                                        </p:tgtEl>
                                      </p:cBhvr>
                                    </p:animEffect>
                                  </p:childTnLst>
                                </p:cTn>
                              </p:par>
                              <p:par>
                                <p:cTn id="136" presetID="6" presetClass="emph" presetSubtype="0" fill="hold" nodeType="withEffect">
                                  <p:stCondLst>
                                    <p:cond delay="0"/>
                                  </p:stCondLst>
                                  <p:childTnLst>
                                    <p:animScale>
                                      <p:cBhvr>
                                        <p:cTn id="137" dur="10" fill="hold"/>
                                        <p:tgtEl>
                                          <p:spTgt spid="401"/>
                                        </p:tgtEl>
                                      </p:cBhvr>
                                      <p:by x="80000" y="80000"/>
                                    </p:animScale>
                                  </p:childTnLst>
                                </p:cTn>
                              </p:par>
                              <p:par>
                                <p:cTn id="138" presetID="6" presetClass="emph" presetSubtype="0" decel="100000" fill="hold" nodeType="withEffect">
                                  <p:stCondLst>
                                    <p:cond delay="0"/>
                                  </p:stCondLst>
                                  <p:childTnLst>
                                    <p:animScale>
                                      <p:cBhvr>
                                        <p:cTn id="139" dur="1000" fill="hold"/>
                                        <p:tgtEl>
                                          <p:spTgt spid="401"/>
                                        </p:tgtEl>
                                      </p:cBhvr>
                                      <p:by x="125000" y="125000"/>
                                    </p:animScale>
                                  </p:childTnLst>
                                </p:cTn>
                              </p:par>
                              <p:par>
                                <p:cTn id="140" presetID="23" presetClass="entr" presetSubtype="16" fill="hold" nodeType="withEffect">
                                  <p:stCondLst>
                                    <p:cond delay="0"/>
                                  </p:stCondLst>
                                  <p:childTnLst>
                                    <p:set>
                                      <p:cBhvr>
                                        <p:cTn id="141" dur="1" fill="hold">
                                          <p:stCondLst>
                                            <p:cond delay="0"/>
                                          </p:stCondLst>
                                        </p:cTn>
                                        <p:tgtEl>
                                          <p:spTgt spid="402"/>
                                        </p:tgtEl>
                                        <p:attrNameLst>
                                          <p:attrName>style.visibility</p:attrName>
                                        </p:attrNameLst>
                                      </p:cBhvr>
                                      <p:to>
                                        <p:strVal val="visible"/>
                                      </p:to>
                                    </p:set>
                                    <p:anim calcmode="lin" valueType="num">
                                      <p:cBhvr>
                                        <p:cTn id="142" dur="250" fill="hold"/>
                                        <p:tgtEl>
                                          <p:spTgt spid="402"/>
                                        </p:tgtEl>
                                        <p:attrNameLst>
                                          <p:attrName>ppt_w</p:attrName>
                                        </p:attrNameLst>
                                      </p:cBhvr>
                                      <p:tavLst>
                                        <p:tav tm="0">
                                          <p:val>
                                            <p:fltVal val="0"/>
                                          </p:val>
                                        </p:tav>
                                        <p:tav tm="100000">
                                          <p:val>
                                            <p:strVal val="#ppt_w"/>
                                          </p:val>
                                        </p:tav>
                                      </p:tavLst>
                                    </p:anim>
                                    <p:anim calcmode="lin" valueType="num">
                                      <p:cBhvr>
                                        <p:cTn id="143" dur="250" fill="hold"/>
                                        <p:tgtEl>
                                          <p:spTgt spid="402"/>
                                        </p:tgtEl>
                                        <p:attrNameLst>
                                          <p:attrName>ppt_h</p:attrName>
                                        </p:attrNameLst>
                                      </p:cBhvr>
                                      <p:tavLst>
                                        <p:tav tm="0">
                                          <p:val>
                                            <p:fltVal val="0"/>
                                          </p:val>
                                        </p:tav>
                                        <p:tav tm="100000">
                                          <p:val>
                                            <p:strVal val="#ppt_h"/>
                                          </p:val>
                                        </p:tav>
                                      </p:tavLst>
                                    </p:anim>
                                  </p:childTnLst>
                                </p:cTn>
                              </p:par>
                              <p:par>
                                <p:cTn id="144" presetID="10" presetClass="entr" presetSubtype="0" fill="hold" nodeType="withEffect">
                                  <p:stCondLst>
                                    <p:cond delay="0"/>
                                  </p:stCondLst>
                                  <p:childTnLst>
                                    <p:set>
                                      <p:cBhvr>
                                        <p:cTn id="145" dur="1" fill="hold">
                                          <p:stCondLst>
                                            <p:cond delay="0"/>
                                          </p:stCondLst>
                                        </p:cTn>
                                        <p:tgtEl>
                                          <p:spTgt spid="402"/>
                                        </p:tgtEl>
                                        <p:attrNameLst>
                                          <p:attrName>style.visibility</p:attrName>
                                        </p:attrNameLst>
                                      </p:cBhvr>
                                      <p:to>
                                        <p:strVal val="visible"/>
                                      </p:to>
                                    </p:set>
                                    <p:animEffect transition="in" filter="fade">
                                      <p:cBhvr>
                                        <p:cTn id="146" dur="500"/>
                                        <p:tgtEl>
                                          <p:spTgt spid="402"/>
                                        </p:tgtEl>
                                      </p:cBhvr>
                                    </p:animEffect>
                                  </p:childTnLst>
                                </p:cTn>
                              </p:par>
                              <p:par>
                                <p:cTn id="147" presetID="6" presetClass="emph" presetSubtype="0" fill="hold" nodeType="withEffect">
                                  <p:stCondLst>
                                    <p:cond delay="0"/>
                                  </p:stCondLst>
                                  <p:childTnLst>
                                    <p:animScale>
                                      <p:cBhvr>
                                        <p:cTn id="148" dur="10" fill="hold"/>
                                        <p:tgtEl>
                                          <p:spTgt spid="402"/>
                                        </p:tgtEl>
                                      </p:cBhvr>
                                      <p:by x="80000" y="80000"/>
                                    </p:animScale>
                                  </p:childTnLst>
                                </p:cTn>
                              </p:par>
                              <p:par>
                                <p:cTn id="149" presetID="6" presetClass="emph" presetSubtype="0" decel="100000" fill="hold" nodeType="withEffect">
                                  <p:stCondLst>
                                    <p:cond delay="0"/>
                                  </p:stCondLst>
                                  <p:childTnLst>
                                    <p:animScale>
                                      <p:cBhvr>
                                        <p:cTn id="150" dur="1000" fill="hold"/>
                                        <p:tgtEl>
                                          <p:spTgt spid="402"/>
                                        </p:tgtEl>
                                      </p:cBhvr>
                                      <p:by x="125000" y="125000"/>
                                    </p:animScale>
                                  </p:childTnLst>
                                </p:cTn>
                              </p:par>
                              <p:par>
                                <p:cTn id="151" presetID="23" presetClass="entr" presetSubtype="16" fill="hold" nodeType="withEffect">
                                  <p:stCondLst>
                                    <p:cond delay="0"/>
                                  </p:stCondLst>
                                  <p:childTnLst>
                                    <p:set>
                                      <p:cBhvr>
                                        <p:cTn id="152" dur="1" fill="hold">
                                          <p:stCondLst>
                                            <p:cond delay="0"/>
                                          </p:stCondLst>
                                        </p:cTn>
                                        <p:tgtEl>
                                          <p:spTgt spid="403"/>
                                        </p:tgtEl>
                                        <p:attrNameLst>
                                          <p:attrName>style.visibility</p:attrName>
                                        </p:attrNameLst>
                                      </p:cBhvr>
                                      <p:to>
                                        <p:strVal val="visible"/>
                                      </p:to>
                                    </p:set>
                                    <p:anim calcmode="lin" valueType="num">
                                      <p:cBhvr>
                                        <p:cTn id="153" dur="250" fill="hold"/>
                                        <p:tgtEl>
                                          <p:spTgt spid="403"/>
                                        </p:tgtEl>
                                        <p:attrNameLst>
                                          <p:attrName>ppt_w</p:attrName>
                                        </p:attrNameLst>
                                      </p:cBhvr>
                                      <p:tavLst>
                                        <p:tav tm="0">
                                          <p:val>
                                            <p:fltVal val="0"/>
                                          </p:val>
                                        </p:tav>
                                        <p:tav tm="100000">
                                          <p:val>
                                            <p:strVal val="#ppt_w"/>
                                          </p:val>
                                        </p:tav>
                                      </p:tavLst>
                                    </p:anim>
                                    <p:anim calcmode="lin" valueType="num">
                                      <p:cBhvr>
                                        <p:cTn id="154" dur="250" fill="hold"/>
                                        <p:tgtEl>
                                          <p:spTgt spid="403"/>
                                        </p:tgtEl>
                                        <p:attrNameLst>
                                          <p:attrName>ppt_h</p:attrName>
                                        </p:attrNameLst>
                                      </p:cBhvr>
                                      <p:tavLst>
                                        <p:tav tm="0">
                                          <p:val>
                                            <p:fltVal val="0"/>
                                          </p:val>
                                        </p:tav>
                                        <p:tav tm="100000">
                                          <p:val>
                                            <p:strVal val="#ppt_h"/>
                                          </p:val>
                                        </p:tav>
                                      </p:tavLst>
                                    </p:anim>
                                  </p:childTnLst>
                                </p:cTn>
                              </p:par>
                              <p:par>
                                <p:cTn id="155" presetID="10" presetClass="entr" presetSubtype="0" fill="hold" nodeType="withEffect">
                                  <p:stCondLst>
                                    <p:cond delay="0"/>
                                  </p:stCondLst>
                                  <p:childTnLst>
                                    <p:set>
                                      <p:cBhvr>
                                        <p:cTn id="156" dur="1" fill="hold">
                                          <p:stCondLst>
                                            <p:cond delay="0"/>
                                          </p:stCondLst>
                                        </p:cTn>
                                        <p:tgtEl>
                                          <p:spTgt spid="403"/>
                                        </p:tgtEl>
                                        <p:attrNameLst>
                                          <p:attrName>style.visibility</p:attrName>
                                        </p:attrNameLst>
                                      </p:cBhvr>
                                      <p:to>
                                        <p:strVal val="visible"/>
                                      </p:to>
                                    </p:set>
                                    <p:animEffect transition="in" filter="fade">
                                      <p:cBhvr>
                                        <p:cTn id="157" dur="500"/>
                                        <p:tgtEl>
                                          <p:spTgt spid="403"/>
                                        </p:tgtEl>
                                      </p:cBhvr>
                                    </p:animEffect>
                                  </p:childTnLst>
                                </p:cTn>
                              </p:par>
                              <p:par>
                                <p:cTn id="158" presetID="6" presetClass="emph" presetSubtype="0" fill="hold" nodeType="withEffect">
                                  <p:stCondLst>
                                    <p:cond delay="0"/>
                                  </p:stCondLst>
                                  <p:childTnLst>
                                    <p:animScale>
                                      <p:cBhvr>
                                        <p:cTn id="159" dur="10" fill="hold"/>
                                        <p:tgtEl>
                                          <p:spTgt spid="403"/>
                                        </p:tgtEl>
                                      </p:cBhvr>
                                      <p:by x="80000" y="80000"/>
                                    </p:animScale>
                                  </p:childTnLst>
                                </p:cTn>
                              </p:par>
                              <p:par>
                                <p:cTn id="160" presetID="6" presetClass="emph" presetSubtype="0" decel="100000" fill="hold" nodeType="withEffect">
                                  <p:stCondLst>
                                    <p:cond delay="0"/>
                                  </p:stCondLst>
                                  <p:childTnLst>
                                    <p:animScale>
                                      <p:cBhvr>
                                        <p:cTn id="161" dur="1000" fill="hold"/>
                                        <p:tgtEl>
                                          <p:spTgt spid="403"/>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5" grpId="1"/>
      <p:bldP spid="262" grpId="0"/>
      <p:bldP spid="262" grpId="1"/>
      <p:bldP spid="274" grpId="0"/>
      <p:bldP spid="274" grpId="1"/>
      <p:bldP spid="286" grpId="0"/>
      <p:bldP spid="286" grpId="1"/>
      <p:bldP spid="298" grpId="0"/>
      <p:bldP spid="298" grpId="1"/>
      <p:bldP spid="357" grpId="0" animBg="1"/>
      <p:bldP spid="357" grpId="1" animBg="1"/>
      <p:bldP spid="357" grpId="2" animBg="1"/>
      <p:bldP spid="357" grpId="3" animBg="1"/>
      <p:bldP spid="359" grpId="0" animBg="1"/>
      <p:bldP spid="359" grpId="1" animBg="1"/>
      <p:bldP spid="359" grpId="2" animBg="1"/>
      <p:bldP spid="6" grpId="0"/>
      <p:bldP spid="6" grpId="1"/>
      <p:bldP spid="358" grpId="0" animBg="1"/>
      <p:bldP spid="358" grpId="1" animBg="1"/>
      <p:bldP spid="358" grpId="2"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DD2D7-349F-B9E1-242A-710CAB1C4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110D6-2EFB-058F-AC53-9C2588BFDF05}"/>
              </a:ext>
            </a:extLst>
          </p:cNvPr>
          <p:cNvSpPr>
            <a:spLocks noGrp="1"/>
          </p:cNvSpPr>
          <p:nvPr>
            <p:ph type="title"/>
          </p:nvPr>
        </p:nvSpPr>
        <p:spPr/>
        <p:txBody>
          <a:bodyPr/>
          <a:lstStyle/>
          <a:p>
            <a:r>
              <a:rPr lang="en-GB" err="1">
                <a:solidFill>
                  <a:schemeClr val="bg1"/>
                </a:solidFill>
              </a:rPr>
              <a:t>GenAIOps</a:t>
            </a:r>
            <a:r>
              <a:rPr lang="en-GB">
                <a:solidFill>
                  <a:schemeClr val="bg1"/>
                </a:solidFill>
              </a:rPr>
              <a:t> Challenges </a:t>
            </a:r>
          </a:p>
        </p:txBody>
      </p:sp>
      <p:sp>
        <p:nvSpPr>
          <p:cNvPr id="21" name="Rectangle: Rounded Corners 20">
            <a:extLst>
              <a:ext uri="{FF2B5EF4-FFF2-40B4-BE49-F238E27FC236}">
                <a16:creationId xmlns:a16="http://schemas.microsoft.com/office/drawing/2014/main" id="{6E71AA02-0967-2BB8-0E49-BB08C6CE098B}"/>
              </a:ext>
            </a:extLst>
          </p:cNvPr>
          <p:cNvSpPr/>
          <p:nvPr/>
        </p:nvSpPr>
        <p:spPr bwMode="auto">
          <a:xfrm>
            <a:off x="569753" y="2093466"/>
            <a:ext cx="11033984" cy="443224"/>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GB" sz="1600" b="1">
                <a:solidFill>
                  <a:srgbClr val="FFFFFF"/>
                </a:solidFill>
                <a:cs typeface="Segoe Sans Text ExtraBold" pitchFamily="2" charset="0"/>
              </a:rPr>
              <a:t>Data Quality or Context</a:t>
            </a:r>
          </a:p>
        </p:txBody>
      </p:sp>
      <p:grpSp>
        <p:nvGrpSpPr>
          <p:cNvPr id="23" name="Group 22">
            <a:extLst>
              <a:ext uri="{FF2B5EF4-FFF2-40B4-BE49-F238E27FC236}">
                <a16:creationId xmlns:a16="http://schemas.microsoft.com/office/drawing/2014/main" id="{BBF03FBB-DBC3-DE75-3E5E-B59F28CF24C0}"/>
              </a:ext>
            </a:extLst>
          </p:cNvPr>
          <p:cNvGrpSpPr/>
          <p:nvPr/>
        </p:nvGrpSpPr>
        <p:grpSpPr>
          <a:xfrm>
            <a:off x="6019800" y="2154014"/>
            <a:ext cx="5532008" cy="322128"/>
            <a:chOff x="1697038" y="5367338"/>
            <a:chExt cx="8797924" cy="754062"/>
          </a:xfrm>
        </p:grpSpPr>
        <p:sp>
          <p:nvSpPr>
            <p:cNvPr id="24" name="Rectangle: Rounded Corners 23">
              <a:extLst>
                <a:ext uri="{FF2B5EF4-FFF2-40B4-BE49-F238E27FC236}">
                  <a16:creationId xmlns:a16="http://schemas.microsoft.com/office/drawing/2014/main" id="{FA381BE2-B772-A35F-22ED-EEA3421116E1}"/>
                </a:ext>
              </a:extLst>
            </p:cNvPr>
            <p:cNvSpPr>
              <a:spLocks/>
            </p:cNvSpPr>
            <p:nvPr/>
          </p:nvSpPr>
          <p:spPr bwMode="auto">
            <a:xfrm>
              <a:off x="1697038" y="5367338"/>
              <a:ext cx="8797924" cy="754062"/>
            </a:xfrm>
            <a:prstGeom prst="roundRect">
              <a:avLst>
                <a:gd name="adj" fmla="val 884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050">
                <a:solidFill>
                  <a:schemeClr val="tx2"/>
                </a:solidFill>
                <a:latin typeface="+mj-lt"/>
                <a:cs typeface="Segoe Sans Text" pitchFamily="2" charset="0"/>
              </a:endParaRPr>
            </a:p>
          </p:txBody>
        </p:sp>
        <p:sp>
          <p:nvSpPr>
            <p:cNvPr id="25" name="TextBox 24">
              <a:extLst>
                <a:ext uri="{FF2B5EF4-FFF2-40B4-BE49-F238E27FC236}">
                  <a16:creationId xmlns:a16="http://schemas.microsoft.com/office/drawing/2014/main" id="{926D2CCA-C53A-DE2A-A2FA-97AAD36EE07B}"/>
                </a:ext>
              </a:extLst>
            </p:cNvPr>
            <p:cNvSpPr txBox="1"/>
            <p:nvPr/>
          </p:nvSpPr>
          <p:spPr>
            <a:xfrm>
              <a:off x="1896311" y="5458526"/>
              <a:ext cx="7457768" cy="432280"/>
            </a:xfrm>
            <a:prstGeom prst="rect">
              <a:avLst/>
            </a:prstGeom>
            <a:noFill/>
          </p:spPr>
          <p:txBody>
            <a:bodyPr wrap="square" lIns="0" tIns="0" rIns="0" bIns="0" rtlCol="0" anchor="ctr" anchorCtr="0">
              <a:spAutoFit/>
            </a:bodyPr>
            <a:lstStyle/>
            <a:p>
              <a:pPr>
                <a:spcAft>
                  <a:spcPts val="1333"/>
                </a:spcAft>
                <a:buSzPct val="100000"/>
              </a:pPr>
              <a:r>
                <a:rPr lang="en-GB" sz="1200">
                  <a:solidFill>
                    <a:schemeClr val="tx2"/>
                  </a:solidFill>
                  <a:latin typeface="+mj-lt"/>
                  <a:cs typeface="Segoe Sans Text" pitchFamily="2" charset="0"/>
                </a:rPr>
                <a:t>Model </a:t>
              </a:r>
              <a:r>
                <a:rPr lang="en-GB" sz="1200" err="1">
                  <a:solidFill>
                    <a:schemeClr val="tx2"/>
                  </a:solidFill>
                  <a:latin typeface="+mj-lt"/>
                  <a:cs typeface="Segoe Sans Text" pitchFamily="2" charset="0"/>
                </a:rPr>
                <a:t>Catalog</a:t>
              </a:r>
              <a:r>
                <a:rPr lang="en-GB" sz="1200">
                  <a:solidFill>
                    <a:schemeClr val="tx2"/>
                  </a:solidFill>
                  <a:latin typeface="+mj-lt"/>
                  <a:cs typeface="Segoe Sans Text" pitchFamily="2" charset="0"/>
                </a:rPr>
                <a:t> ,Prompt Eng,  Finetuning , RAG , Azure AI Simulator</a:t>
              </a:r>
            </a:p>
          </p:txBody>
        </p:sp>
      </p:grpSp>
      <p:sp>
        <p:nvSpPr>
          <p:cNvPr id="30" name="Rectangle: Rounded Corners 29">
            <a:extLst>
              <a:ext uri="{FF2B5EF4-FFF2-40B4-BE49-F238E27FC236}">
                <a16:creationId xmlns:a16="http://schemas.microsoft.com/office/drawing/2014/main" id="{92C64011-1C33-F1E9-5AB8-2263B7B2F441}"/>
              </a:ext>
            </a:extLst>
          </p:cNvPr>
          <p:cNvSpPr/>
          <p:nvPr/>
        </p:nvSpPr>
        <p:spPr bwMode="auto">
          <a:xfrm>
            <a:off x="569753" y="2668003"/>
            <a:ext cx="11033984" cy="443224"/>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US" sz="1600" b="1">
                <a:solidFill>
                  <a:srgbClr val="FFFFFF"/>
                </a:solidFill>
                <a:cs typeface="Segoe Sans Text ExtraBold" pitchFamily="2" charset="0"/>
              </a:rPr>
              <a:t>Evaluation</a:t>
            </a:r>
          </a:p>
        </p:txBody>
      </p:sp>
      <p:grpSp>
        <p:nvGrpSpPr>
          <p:cNvPr id="31" name="Group 30">
            <a:extLst>
              <a:ext uri="{FF2B5EF4-FFF2-40B4-BE49-F238E27FC236}">
                <a16:creationId xmlns:a16="http://schemas.microsoft.com/office/drawing/2014/main" id="{59431F4C-B900-170C-81F9-3C0FF3BEDDFA}"/>
              </a:ext>
            </a:extLst>
          </p:cNvPr>
          <p:cNvGrpSpPr/>
          <p:nvPr/>
        </p:nvGrpSpPr>
        <p:grpSpPr>
          <a:xfrm>
            <a:off x="6019800" y="2728551"/>
            <a:ext cx="5532008" cy="322128"/>
            <a:chOff x="1697038" y="5367338"/>
            <a:chExt cx="8797924" cy="754062"/>
          </a:xfrm>
        </p:grpSpPr>
        <p:sp>
          <p:nvSpPr>
            <p:cNvPr id="32" name="Rectangle: Rounded Corners 31">
              <a:extLst>
                <a:ext uri="{FF2B5EF4-FFF2-40B4-BE49-F238E27FC236}">
                  <a16:creationId xmlns:a16="http://schemas.microsoft.com/office/drawing/2014/main" id="{CA8F8C89-7FBE-E730-DA4C-467AE5DDFD47}"/>
                </a:ext>
              </a:extLst>
            </p:cNvPr>
            <p:cNvSpPr>
              <a:spLocks/>
            </p:cNvSpPr>
            <p:nvPr/>
          </p:nvSpPr>
          <p:spPr bwMode="auto">
            <a:xfrm>
              <a:off x="1697038" y="5367338"/>
              <a:ext cx="8797924" cy="754062"/>
            </a:xfrm>
            <a:prstGeom prst="roundRect">
              <a:avLst>
                <a:gd name="adj" fmla="val 884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050">
                <a:solidFill>
                  <a:schemeClr val="tx2"/>
                </a:solidFill>
                <a:latin typeface="+mj-lt"/>
                <a:cs typeface="Segoe Sans Text" pitchFamily="2" charset="0"/>
              </a:endParaRPr>
            </a:p>
          </p:txBody>
        </p:sp>
        <p:sp>
          <p:nvSpPr>
            <p:cNvPr id="33" name="TextBox 32">
              <a:extLst>
                <a:ext uri="{FF2B5EF4-FFF2-40B4-BE49-F238E27FC236}">
                  <a16:creationId xmlns:a16="http://schemas.microsoft.com/office/drawing/2014/main" id="{FAD1DB8B-AC47-C3A8-3144-9A5B93582200}"/>
                </a:ext>
              </a:extLst>
            </p:cNvPr>
            <p:cNvSpPr txBox="1"/>
            <p:nvPr/>
          </p:nvSpPr>
          <p:spPr>
            <a:xfrm>
              <a:off x="1896313" y="5528231"/>
              <a:ext cx="5943600" cy="432280"/>
            </a:xfrm>
            <a:prstGeom prst="rect">
              <a:avLst/>
            </a:prstGeom>
            <a:noFill/>
          </p:spPr>
          <p:txBody>
            <a:bodyPr wrap="square" lIns="0" tIns="0" rIns="0" bIns="0" rtlCol="0" anchor="ctr" anchorCtr="0">
              <a:spAutoFit/>
            </a:bodyPr>
            <a:lstStyle/>
            <a:p>
              <a:pPr>
                <a:spcAft>
                  <a:spcPts val="1333"/>
                </a:spcAft>
                <a:buSzPct val="100000"/>
              </a:pPr>
              <a:r>
                <a:rPr lang="en-GB" sz="1200">
                  <a:solidFill>
                    <a:schemeClr val="tx2"/>
                  </a:solidFill>
                  <a:latin typeface="+mj-lt"/>
                  <a:cs typeface="Segoe Sans Text" pitchFamily="2" charset="0"/>
                </a:rPr>
                <a:t>Evaluations SDK or AI Foundry Studio</a:t>
              </a:r>
            </a:p>
          </p:txBody>
        </p:sp>
      </p:grpSp>
      <p:sp>
        <p:nvSpPr>
          <p:cNvPr id="34" name="Rectangle: Rounded Corners 33">
            <a:extLst>
              <a:ext uri="{FF2B5EF4-FFF2-40B4-BE49-F238E27FC236}">
                <a16:creationId xmlns:a16="http://schemas.microsoft.com/office/drawing/2014/main" id="{1C366EFA-6D87-C8F2-D356-9DA151D576C2}"/>
              </a:ext>
            </a:extLst>
          </p:cNvPr>
          <p:cNvSpPr/>
          <p:nvPr/>
        </p:nvSpPr>
        <p:spPr bwMode="auto">
          <a:xfrm>
            <a:off x="569753" y="3242540"/>
            <a:ext cx="11033984" cy="443224"/>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GB" sz="1600" b="1">
                <a:solidFill>
                  <a:srgbClr val="FFFFFF"/>
                </a:solidFill>
                <a:cs typeface="Segoe Sans Text ExtraBold" pitchFamily="2" charset="0"/>
              </a:rPr>
              <a:t>Scalability</a:t>
            </a:r>
          </a:p>
        </p:txBody>
      </p:sp>
      <p:grpSp>
        <p:nvGrpSpPr>
          <p:cNvPr id="35" name="Group 34">
            <a:extLst>
              <a:ext uri="{FF2B5EF4-FFF2-40B4-BE49-F238E27FC236}">
                <a16:creationId xmlns:a16="http://schemas.microsoft.com/office/drawing/2014/main" id="{0160F262-DFAF-D70A-FCF2-DA82B89F1912}"/>
              </a:ext>
            </a:extLst>
          </p:cNvPr>
          <p:cNvGrpSpPr/>
          <p:nvPr/>
        </p:nvGrpSpPr>
        <p:grpSpPr>
          <a:xfrm>
            <a:off x="6019800" y="3303088"/>
            <a:ext cx="5532008" cy="322128"/>
            <a:chOff x="1697038" y="5367338"/>
            <a:chExt cx="8797924" cy="754062"/>
          </a:xfrm>
        </p:grpSpPr>
        <p:sp>
          <p:nvSpPr>
            <p:cNvPr id="36" name="Rectangle: Rounded Corners 35">
              <a:extLst>
                <a:ext uri="{FF2B5EF4-FFF2-40B4-BE49-F238E27FC236}">
                  <a16:creationId xmlns:a16="http://schemas.microsoft.com/office/drawing/2014/main" id="{1A7A70D9-5D32-5257-886B-FF356A153667}"/>
                </a:ext>
              </a:extLst>
            </p:cNvPr>
            <p:cNvSpPr>
              <a:spLocks/>
            </p:cNvSpPr>
            <p:nvPr/>
          </p:nvSpPr>
          <p:spPr bwMode="auto">
            <a:xfrm>
              <a:off x="1697038" y="5367338"/>
              <a:ext cx="8797924" cy="754062"/>
            </a:xfrm>
            <a:prstGeom prst="roundRect">
              <a:avLst>
                <a:gd name="adj" fmla="val 884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050">
                <a:solidFill>
                  <a:schemeClr val="tx2"/>
                </a:solidFill>
                <a:latin typeface="+mj-lt"/>
                <a:cs typeface="Segoe Sans Text" pitchFamily="2" charset="0"/>
              </a:endParaRPr>
            </a:p>
          </p:txBody>
        </p:sp>
        <p:sp>
          <p:nvSpPr>
            <p:cNvPr id="37" name="TextBox 36">
              <a:extLst>
                <a:ext uri="{FF2B5EF4-FFF2-40B4-BE49-F238E27FC236}">
                  <a16:creationId xmlns:a16="http://schemas.microsoft.com/office/drawing/2014/main" id="{4DA5EEB4-A358-A5A1-96F6-F6F340DF5FBF}"/>
                </a:ext>
              </a:extLst>
            </p:cNvPr>
            <p:cNvSpPr txBox="1"/>
            <p:nvPr/>
          </p:nvSpPr>
          <p:spPr>
            <a:xfrm>
              <a:off x="1896313" y="5528231"/>
              <a:ext cx="5943600" cy="432280"/>
            </a:xfrm>
            <a:prstGeom prst="rect">
              <a:avLst/>
            </a:prstGeom>
            <a:noFill/>
          </p:spPr>
          <p:txBody>
            <a:bodyPr wrap="square" lIns="0" tIns="0" rIns="0" bIns="0" rtlCol="0" anchor="ctr" anchorCtr="0">
              <a:spAutoFit/>
            </a:bodyPr>
            <a:lstStyle/>
            <a:p>
              <a:pPr>
                <a:spcAft>
                  <a:spcPts val="1333"/>
                </a:spcAft>
                <a:buSzPct val="100000"/>
              </a:pPr>
              <a:r>
                <a:rPr lang="en-GB" sz="1200">
                  <a:solidFill>
                    <a:schemeClr val="tx2"/>
                  </a:solidFill>
                  <a:latin typeface="+mj-lt"/>
                  <a:cs typeface="Segoe Sans Text" pitchFamily="2" charset="0"/>
                </a:rPr>
                <a:t>By Design: APIM, Scalable Endpoints</a:t>
              </a:r>
            </a:p>
          </p:txBody>
        </p:sp>
      </p:grpSp>
      <p:sp>
        <p:nvSpPr>
          <p:cNvPr id="38" name="Rectangle: Rounded Corners 37">
            <a:extLst>
              <a:ext uri="{FF2B5EF4-FFF2-40B4-BE49-F238E27FC236}">
                <a16:creationId xmlns:a16="http://schemas.microsoft.com/office/drawing/2014/main" id="{308DBE6B-F8F7-3273-9F9C-9B3EAAAE568C}"/>
              </a:ext>
            </a:extLst>
          </p:cNvPr>
          <p:cNvSpPr/>
          <p:nvPr/>
        </p:nvSpPr>
        <p:spPr bwMode="auto">
          <a:xfrm>
            <a:off x="569753" y="3817077"/>
            <a:ext cx="11033984" cy="443224"/>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GB" sz="1600" b="1">
                <a:solidFill>
                  <a:srgbClr val="FFFFFF"/>
                </a:solidFill>
                <a:cs typeface="Segoe Sans Text ExtraBold" pitchFamily="2" charset="0"/>
              </a:rPr>
              <a:t>Ethical Concerns</a:t>
            </a:r>
          </a:p>
        </p:txBody>
      </p:sp>
      <p:grpSp>
        <p:nvGrpSpPr>
          <p:cNvPr id="39" name="Group 38">
            <a:extLst>
              <a:ext uri="{FF2B5EF4-FFF2-40B4-BE49-F238E27FC236}">
                <a16:creationId xmlns:a16="http://schemas.microsoft.com/office/drawing/2014/main" id="{A68B1444-9536-5B62-D94B-10618C13974C}"/>
              </a:ext>
            </a:extLst>
          </p:cNvPr>
          <p:cNvGrpSpPr/>
          <p:nvPr/>
        </p:nvGrpSpPr>
        <p:grpSpPr>
          <a:xfrm>
            <a:off x="6019800" y="3824862"/>
            <a:ext cx="5585637" cy="374894"/>
            <a:chOff x="1697038" y="5243820"/>
            <a:chExt cx="8883215" cy="877580"/>
          </a:xfrm>
        </p:grpSpPr>
        <p:sp>
          <p:nvSpPr>
            <p:cNvPr id="40" name="Rectangle: Rounded Corners 39">
              <a:extLst>
                <a:ext uri="{FF2B5EF4-FFF2-40B4-BE49-F238E27FC236}">
                  <a16:creationId xmlns:a16="http://schemas.microsoft.com/office/drawing/2014/main" id="{AB5D30EE-BAC2-8F85-47D6-D369F6D8E0A9}"/>
                </a:ext>
              </a:extLst>
            </p:cNvPr>
            <p:cNvSpPr>
              <a:spLocks/>
            </p:cNvSpPr>
            <p:nvPr/>
          </p:nvSpPr>
          <p:spPr bwMode="auto">
            <a:xfrm>
              <a:off x="1697038" y="5367338"/>
              <a:ext cx="8797924" cy="754062"/>
            </a:xfrm>
            <a:prstGeom prst="roundRect">
              <a:avLst>
                <a:gd name="adj" fmla="val 884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050">
                <a:solidFill>
                  <a:schemeClr val="tx2"/>
                </a:solidFill>
                <a:latin typeface="+mj-lt"/>
                <a:cs typeface="Segoe Sans Text" pitchFamily="2" charset="0"/>
              </a:endParaRPr>
            </a:p>
          </p:txBody>
        </p:sp>
        <p:sp>
          <p:nvSpPr>
            <p:cNvPr id="41" name="TextBox 40">
              <a:extLst>
                <a:ext uri="{FF2B5EF4-FFF2-40B4-BE49-F238E27FC236}">
                  <a16:creationId xmlns:a16="http://schemas.microsoft.com/office/drawing/2014/main" id="{CBC5E983-DDB8-B105-BDC1-E656BC4AB9DC}"/>
                </a:ext>
              </a:extLst>
            </p:cNvPr>
            <p:cNvSpPr txBox="1"/>
            <p:nvPr/>
          </p:nvSpPr>
          <p:spPr>
            <a:xfrm>
              <a:off x="1896313" y="5243820"/>
              <a:ext cx="8683940" cy="864560"/>
            </a:xfrm>
            <a:prstGeom prst="rect">
              <a:avLst/>
            </a:prstGeom>
            <a:noFill/>
          </p:spPr>
          <p:txBody>
            <a:bodyPr wrap="square" lIns="0" tIns="0" rIns="0" bIns="0" rtlCol="0" anchor="ctr" anchorCtr="0">
              <a:spAutoFit/>
            </a:bodyPr>
            <a:lstStyle/>
            <a:p>
              <a:pPr>
                <a:spcAft>
                  <a:spcPts val="1333"/>
                </a:spcAft>
                <a:buSzPct val="100000"/>
              </a:pPr>
              <a:r>
                <a:rPr lang="en-GB" sz="1200">
                  <a:solidFill>
                    <a:schemeClr val="tx2"/>
                  </a:solidFill>
                  <a:latin typeface="+mj-lt"/>
                  <a:cs typeface="Segoe Sans Text" pitchFamily="2" charset="0"/>
                </a:rPr>
                <a:t>Built-in Content Filtering, Abuse Monitoring, </a:t>
              </a:r>
              <a:r>
                <a:rPr lang="en-GB" sz="1200" err="1">
                  <a:solidFill>
                    <a:schemeClr val="tx2"/>
                  </a:solidFill>
                  <a:latin typeface="+mj-lt"/>
                  <a:cs typeface="Segoe Sans Text" pitchFamily="2" charset="0"/>
                </a:rPr>
                <a:t>PyRIT</a:t>
              </a:r>
              <a:r>
                <a:rPr lang="en-GB" sz="1200">
                  <a:solidFill>
                    <a:schemeClr val="tx2"/>
                  </a:solidFill>
                  <a:latin typeface="+mj-lt"/>
                  <a:cs typeface="Segoe Sans Text" pitchFamily="2" charset="0"/>
                </a:rPr>
                <a:t>, Transparency Note, Impact Assessment Temp,  AI Reports in AI Foundry</a:t>
              </a:r>
            </a:p>
          </p:txBody>
        </p:sp>
      </p:grpSp>
      <p:sp>
        <p:nvSpPr>
          <p:cNvPr id="42" name="Rectangle: Rounded Corners 41">
            <a:extLst>
              <a:ext uri="{FF2B5EF4-FFF2-40B4-BE49-F238E27FC236}">
                <a16:creationId xmlns:a16="http://schemas.microsoft.com/office/drawing/2014/main" id="{C0D32E5A-8E99-CADA-46D9-BC5AE9DE56EC}"/>
              </a:ext>
            </a:extLst>
          </p:cNvPr>
          <p:cNvSpPr/>
          <p:nvPr/>
        </p:nvSpPr>
        <p:spPr bwMode="auto">
          <a:xfrm>
            <a:off x="569753" y="4391614"/>
            <a:ext cx="11033984" cy="443224"/>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GB" sz="1600" b="1">
                <a:solidFill>
                  <a:srgbClr val="FFFFFF"/>
                </a:solidFill>
                <a:cs typeface="Segoe Sans Text ExtraBold" pitchFamily="2" charset="0"/>
              </a:rPr>
              <a:t>Regulatory Compliance</a:t>
            </a:r>
          </a:p>
        </p:txBody>
      </p:sp>
      <p:grpSp>
        <p:nvGrpSpPr>
          <p:cNvPr id="43" name="Group 42">
            <a:extLst>
              <a:ext uri="{FF2B5EF4-FFF2-40B4-BE49-F238E27FC236}">
                <a16:creationId xmlns:a16="http://schemas.microsoft.com/office/drawing/2014/main" id="{D96AE5AA-14B3-167C-CB41-CEBC4F5BA5F8}"/>
              </a:ext>
            </a:extLst>
          </p:cNvPr>
          <p:cNvGrpSpPr/>
          <p:nvPr/>
        </p:nvGrpSpPr>
        <p:grpSpPr>
          <a:xfrm>
            <a:off x="6019800" y="4428560"/>
            <a:ext cx="5619855" cy="369332"/>
            <a:chOff x="1697038" y="5312090"/>
            <a:chExt cx="8937633" cy="864561"/>
          </a:xfrm>
        </p:grpSpPr>
        <p:sp>
          <p:nvSpPr>
            <p:cNvPr id="44" name="Rectangle: Rounded Corners 43">
              <a:extLst>
                <a:ext uri="{FF2B5EF4-FFF2-40B4-BE49-F238E27FC236}">
                  <a16:creationId xmlns:a16="http://schemas.microsoft.com/office/drawing/2014/main" id="{389176E9-4D62-BB05-C796-5AA2D91C3077}"/>
                </a:ext>
              </a:extLst>
            </p:cNvPr>
            <p:cNvSpPr>
              <a:spLocks/>
            </p:cNvSpPr>
            <p:nvPr/>
          </p:nvSpPr>
          <p:spPr bwMode="auto">
            <a:xfrm>
              <a:off x="1697038" y="5367338"/>
              <a:ext cx="8797924" cy="754062"/>
            </a:xfrm>
            <a:prstGeom prst="roundRect">
              <a:avLst>
                <a:gd name="adj" fmla="val 884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050">
                <a:solidFill>
                  <a:schemeClr val="tx2"/>
                </a:solidFill>
                <a:latin typeface="+mj-lt"/>
                <a:cs typeface="Segoe Sans Text" pitchFamily="2" charset="0"/>
              </a:endParaRPr>
            </a:p>
          </p:txBody>
        </p:sp>
        <p:sp>
          <p:nvSpPr>
            <p:cNvPr id="45" name="TextBox 44">
              <a:extLst>
                <a:ext uri="{FF2B5EF4-FFF2-40B4-BE49-F238E27FC236}">
                  <a16:creationId xmlns:a16="http://schemas.microsoft.com/office/drawing/2014/main" id="{CC16BDFC-9931-C45B-A077-985A7CCC0B82}"/>
                </a:ext>
              </a:extLst>
            </p:cNvPr>
            <p:cNvSpPr txBox="1"/>
            <p:nvPr/>
          </p:nvSpPr>
          <p:spPr>
            <a:xfrm>
              <a:off x="1896313" y="5312090"/>
              <a:ext cx="8738358" cy="864561"/>
            </a:xfrm>
            <a:prstGeom prst="rect">
              <a:avLst/>
            </a:prstGeom>
            <a:noFill/>
          </p:spPr>
          <p:txBody>
            <a:bodyPr wrap="square" lIns="0" tIns="0" rIns="0" bIns="0" rtlCol="0" anchor="ctr" anchorCtr="0">
              <a:spAutoFit/>
            </a:bodyPr>
            <a:lstStyle/>
            <a:p>
              <a:pPr algn="l"/>
              <a:r>
                <a:rPr lang="en-GB" sz="1200">
                  <a:solidFill>
                    <a:schemeClr val="tx2"/>
                  </a:solidFill>
                  <a:latin typeface="+mj-lt"/>
                  <a:cs typeface="Segoe Sans Text" pitchFamily="2" charset="0"/>
                </a:rPr>
                <a:t>By Design: Select the right model deployment type and consider where your data is stored and processed based on the utilized feature on AI Foundry</a:t>
              </a:r>
            </a:p>
          </p:txBody>
        </p:sp>
      </p:grpSp>
      <p:sp>
        <p:nvSpPr>
          <p:cNvPr id="46" name="Rectangle: Rounded Corners 45">
            <a:extLst>
              <a:ext uri="{FF2B5EF4-FFF2-40B4-BE49-F238E27FC236}">
                <a16:creationId xmlns:a16="http://schemas.microsoft.com/office/drawing/2014/main" id="{113BD6C9-DA19-2532-E6D4-09AB12BB3D7D}"/>
              </a:ext>
            </a:extLst>
          </p:cNvPr>
          <p:cNvSpPr/>
          <p:nvPr/>
        </p:nvSpPr>
        <p:spPr bwMode="auto">
          <a:xfrm>
            <a:off x="569753" y="4966151"/>
            <a:ext cx="11033984" cy="443224"/>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GB" sz="1600" b="1">
                <a:solidFill>
                  <a:srgbClr val="FFFFFF"/>
                </a:solidFill>
                <a:cs typeface="Segoe Sans Text ExtraBold" pitchFamily="2" charset="0"/>
              </a:rPr>
              <a:t>Continuous Updating and Maintenance</a:t>
            </a:r>
          </a:p>
        </p:txBody>
      </p:sp>
      <p:grpSp>
        <p:nvGrpSpPr>
          <p:cNvPr id="47" name="Group 46">
            <a:extLst>
              <a:ext uri="{FF2B5EF4-FFF2-40B4-BE49-F238E27FC236}">
                <a16:creationId xmlns:a16="http://schemas.microsoft.com/office/drawing/2014/main" id="{E79ACC52-6EBD-E215-2C28-F33A5AE1A061}"/>
              </a:ext>
            </a:extLst>
          </p:cNvPr>
          <p:cNvGrpSpPr/>
          <p:nvPr/>
        </p:nvGrpSpPr>
        <p:grpSpPr>
          <a:xfrm>
            <a:off x="6019800" y="5001033"/>
            <a:ext cx="5532008" cy="369332"/>
            <a:chOff x="1697038" y="5307261"/>
            <a:chExt cx="8797924" cy="864561"/>
          </a:xfrm>
        </p:grpSpPr>
        <p:sp>
          <p:nvSpPr>
            <p:cNvPr id="48" name="Rectangle: Rounded Corners 47">
              <a:extLst>
                <a:ext uri="{FF2B5EF4-FFF2-40B4-BE49-F238E27FC236}">
                  <a16:creationId xmlns:a16="http://schemas.microsoft.com/office/drawing/2014/main" id="{036A1EDC-564C-2B7C-4278-FAEDA907C614}"/>
                </a:ext>
              </a:extLst>
            </p:cNvPr>
            <p:cNvSpPr>
              <a:spLocks/>
            </p:cNvSpPr>
            <p:nvPr/>
          </p:nvSpPr>
          <p:spPr bwMode="auto">
            <a:xfrm>
              <a:off x="1697038" y="5367338"/>
              <a:ext cx="8797924" cy="754062"/>
            </a:xfrm>
            <a:prstGeom prst="roundRect">
              <a:avLst>
                <a:gd name="adj" fmla="val 884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050">
                <a:solidFill>
                  <a:schemeClr val="tx2"/>
                </a:solidFill>
                <a:latin typeface="+mj-lt"/>
                <a:cs typeface="Segoe Sans Text" pitchFamily="2" charset="0"/>
              </a:endParaRPr>
            </a:p>
          </p:txBody>
        </p:sp>
        <p:sp>
          <p:nvSpPr>
            <p:cNvPr id="49" name="TextBox 48">
              <a:extLst>
                <a:ext uri="{FF2B5EF4-FFF2-40B4-BE49-F238E27FC236}">
                  <a16:creationId xmlns:a16="http://schemas.microsoft.com/office/drawing/2014/main" id="{D2A14A52-EE1C-B7D2-47DE-D6DD238875E9}"/>
                </a:ext>
              </a:extLst>
            </p:cNvPr>
            <p:cNvSpPr txBox="1"/>
            <p:nvPr/>
          </p:nvSpPr>
          <p:spPr>
            <a:xfrm>
              <a:off x="1896311" y="5307261"/>
              <a:ext cx="8232719" cy="864561"/>
            </a:xfrm>
            <a:prstGeom prst="rect">
              <a:avLst/>
            </a:prstGeom>
            <a:noFill/>
          </p:spPr>
          <p:txBody>
            <a:bodyPr wrap="square" lIns="0" tIns="0" rIns="0" bIns="0" rtlCol="0" anchor="ctr" anchorCtr="0">
              <a:spAutoFit/>
            </a:bodyPr>
            <a:lstStyle/>
            <a:p>
              <a:pPr algn="l"/>
              <a:r>
                <a:rPr lang="en-GB" sz="1200">
                  <a:solidFill>
                    <a:schemeClr val="tx2"/>
                  </a:solidFill>
                  <a:latin typeface="+mj-lt"/>
                  <a:cs typeface="Segoe Sans Text" pitchFamily="2" charset="0"/>
                </a:rPr>
                <a:t>AI Foundry, App Insights for AI Project, Azure Monitor DevOps , </a:t>
              </a:r>
              <a:r>
                <a:rPr lang="en-GB" sz="1200" err="1">
                  <a:solidFill>
                    <a:schemeClr val="tx2"/>
                  </a:solidFill>
                  <a:latin typeface="+mj-lt"/>
                  <a:cs typeface="Segoe Sans Text" pitchFamily="2" charset="0"/>
                </a:rPr>
                <a:t>Github</a:t>
              </a:r>
              <a:r>
                <a:rPr lang="en-GB" sz="1200">
                  <a:solidFill>
                    <a:schemeClr val="tx2"/>
                  </a:solidFill>
                  <a:latin typeface="+mj-lt"/>
                  <a:cs typeface="Segoe Sans Text" pitchFamily="2" charset="0"/>
                </a:rPr>
                <a:t> Actions</a:t>
              </a:r>
            </a:p>
          </p:txBody>
        </p:sp>
      </p:grpSp>
      <p:sp>
        <p:nvSpPr>
          <p:cNvPr id="50" name="Rectangle: Rounded Corners 49">
            <a:extLst>
              <a:ext uri="{FF2B5EF4-FFF2-40B4-BE49-F238E27FC236}">
                <a16:creationId xmlns:a16="http://schemas.microsoft.com/office/drawing/2014/main" id="{C0EF21A5-D666-DB0A-CE87-59F2FC33333F}"/>
              </a:ext>
            </a:extLst>
          </p:cNvPr>
          <p:cNvSpPr/>
          <p:nvPr/>
        </p:nvSpPr>
        <p:spPr bwMode="auto">
          <a:xfrm>
            <a:off x="569753" y="5540688"/>
            <a:ext cx="11033984" cy="443224"/>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GB" sz="1600" b="1">
                <a:solidFill>
                  <a:srgbClr val="FFFFFF"/>
                </a:solidFill>
                <a:cs typeface="Segoe Sans Text ExtraBold" pitchFamily="2" charset="0"/>
              </a:rPr>
              <a:t>Computational Resources for training and deploying</a:t>
            </a:r>
          </a:p>
        </p:txBody>
      </p:sp>
      <p:grpSp>
        <p:nvGrpSpPr>
          <p:cNvPr id="51" name="Group 50">
            <a:extLst>
              <a:ext uri="{FF2B5EF4-FFF2-40B4-BE49-F238E27FC236}">
                <a16:creationId xmlns:a16="http://schemas.microsoft.com/office/drawing/2014/main" id="{725ACF10-3478-E2AC-983E-CB7D0615DFA2}"/>
              </a:ext>
            </a:extLst>
          </p:cNvPr>
          <p:cNvGrpSpPr/>
          <p:nvPr/>
        </p:nvGrpSpPr>
        <p:grpSpPr>
          <a:xfrm>
            <a:off x="6019800" y="5601236"/>
            <a:ext cx="5532008" cy="322128"/>
            <a:chOff x="1697038" y="5367338"/>
            <a:chExt cx="8797924" cy="754062"/>
          </a:xfrm>
        </p:grpSpPr>
        <p:sp>
          <p:nvSpPr>
            <p:cNvPr id="52" name="Rectangle: Rounded Corners 51">
              <a:extLst>
                <a:ext uri="{FF2B5EF4-FFF2-40B4-BE49-F238E27FC236}">
                  <a16:creationId xmlns:a16="http://schemas.microsoft.com/office/drawing/2014/main" id="{C78A7B1F-836E-9F18-DF0E-DAEA3F66A0E0}"/>
                </a:ext>
              </a:extLst>
            </p:cNvPr>
            <p:cNvSpPr>
              <a:spLocks/>
            </p:cNvSpPr>
            <p:nvPr/>
          </p:nvSpPr>
          <p:spPr bwMode="auto">
            <a:xfrm>
              <a:off x="1697038" y="5367338"/>
              <a:ext cx="8797924" cy="754062"/>
            </a:xfrm>
            <a:prstGeom prst="roundRect">
              <a:avLst>
                <a:gd name="adj" fmla="val 884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050">
                <a:solidFill>
                  <a:schemeClr val="tx2"/>
                </a:solidFill>
                <a:latin typeface="+mj-lt"/>
                <a:cs typeface="Segoe Sans Text" pitchFamily="2" charset="0"/>
              </a:endParaRPr>
            </a:p>
          </p:txBody>
        </p:sp>
        <p:sp>
          <p:nvSpPr>
            <p:cNvPr id="53" name="TextBox 52">
              <a:extLst>
                <a:ext uri="{FF2B5EF4-FFF2-40B4-BE49-F238E27FC236}">
                  <a16:creationId xmlns:a16="http://schemas.microsoft.com/office/drawing/2014/main" id="{839F8212-45A2-C867-88FC-57E8B2B999BF}"/>
                </a:ext>
              </a:extLst>
            </p:cNvPr>
            <p:cNvSpPr txBox="1"/>
            <p:nvPr/>
          </p:nvSpPr>
          <p:spPr>
            <a:xfrm>
              <a:off x="1896313" y="5528228"/>
              <a:ext cx="8149092" cy="432280"/>
            </a:xfrm>
            <a:prstGeom prst="rect">
              <a:avLst/>
            </a:prstGeom>
            <a:noFill/>
          </p:spPr>
          <p:txBody>
            <a:bodyPr wrap="square" lIns="0" tIns="0" rIns="0" bIns="0" rtlCol="0" anchor="ctr" anchorCtr="0">
              <a:spAutoFit/>
            </a:bodyPr>
            <a:lstStyle/>
            <a:p>
              <a:pPr algn="l"/>
              <a:r>
                <a:rPr lang="en-GB" sz="1200">
                  <a:solidFill>
                    <a:schemeClr val="tx2"/>
                  </a:solidFill>
                  <a:latin typeface="+mj-lt"/>
                  <a:cs typeface="Segoe Sans Text" pitchFamily="2" charset="0"/>
                </a:rPr>
                <a:t>Pretrained models, selection of correct deployment type</a:t>
              </a:r>
            </a:p>
          </p:txBody>
        </p:sp>
      </p:grpSp>
      <p:sp>
        <p:nvSpPr>
          <p:cNvPr id="54" name="Rectangle: Rounded Corners 53">
            <a:extLst>
              <a:ext uri="{FF2B5EF4-FFF2-40B4-BE49-F238E27FC236}">
                <a16:creationId xmlns:a16="http://schemas.microsoft.com/office/drawing/2014/main" id="{EE40C159-3BCE-97C0-36AB-3298CDFAC95C}"/>
              </a:ext>
            </a:extLst>
          </p:cNvPr>
          <p:cNvSpPr/>
          <p:nvPr/>
        </p:nvSpPr>
        <p:spPr bwMode="auto">
          <a:xfrm>
            <a:off x="569753" y="6115222"/>
            <a:ext cx="11033984" cy="443224"/>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0" rIns="0" bIns="0" numCol="1" spcCol="0" rtlCol="0" fromWordArt="0" anchor="ctr" anchorCtr="0" forceAA="0" compatLnSpc="1">
            <a:prstTxWarp prst="textNoShape">
              <a:avLst/>
            </a:prstTxWarp>
            <a:noAutofit/>
          </a:bodyPr>
          <a:lstStyle/>
          <a:p>
            <a:pPr defTabSz="932472" fontAlgn="base">
              <a:spcBef>
                <a:spcPct val="0"/>
              </a:spcBef>
              <a:spcAft>
                <a:spcPct val="0"/>
              </a:spcAft>
            </a:pPr>
            <a:r>
              <a:rPr lang="en-GB" sz="1600" b="1">
                <a:solidFill>
                  <a:srgbClr val="FFFFFF"/>
                </a:solidFill>
                <a:cs typeface="Segoe Sans Text ExtraBold" pitchFamily="2" charset="0"/>
              </a:rPr>
              <a:t>Security and Privacy Risks</a:t>
            </a:r>
          </a:p>
        </p:txBody>
      </p:sp>
      <p:grpSp>
        <p:nvGrpSpPr>
          <p:cNvPr id="55" name="Group 54">
            <a:extLst>
              <a:ext uri="{FF2B5EF4-FFF2-40B4-BE49-F238E27FC236}">
                <a16:creationId xmlns:a16="http://schemas.microsoft.com/office/drawing/2014/main" id="{74317112-1024-4046-A2F6-2F2AE71E2A13}"/>
              </a:ext>
            </a:extLst>
          </p:cNvPr>
          <p:cNvGrpSpPr/>
          <p:nvPr/>
        </p:nvGrpSpPr>
        <p:grpSpPr>
          <a:xfrm>
            <a:off x="6019800" y="6166807"/>
            <a:ext cx="5532008" cy="369332"/>
            <a:chOff x="1697038" y="5346358"/>
            <a:chExt cx="8797924" cy="864561"/>
          </a:xfrm>
        </p:grpSpPr>
        <p:sp>
          <p:nvSpPr>
            <p:cNvPr id="56" name="Rectangle: Rounded Corners 55">
              <a:extLst>
                <a:ext uri="{FF2B5EF4-FFF2-40B4-BE49-F238E27FC236}">
                  <a16:creationId xmlns:a16="http://schemas.microsoft.com/office/drawing/2014/main" id="{3FA14AA5-8986-893A-F7CE-40E03D2C70D4}"/>
                </a:ext>
              </a:extLst>
            </p:cNvPr>
            <p:cNvSpPr>
              <a:spLocks/>
            </p:cNvSpPr>
            <p:nvPr/>
          </p:nvSpPr>
          <p:spPr bwMode="auto">
            <a:xfrm>
              <a:off x="1697038" y="5367338"/>
              <a:ext cx="8797924" cy="754062"/>
            </a:xfrm>
            <a:prstGeom prst="roundRect">
              <a:avLst>
                <a:gd name="adj" fmla="val 884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050">
                <a:solidFill>
                  <a:schemeClr val="tx2"/>
                </a:solidFill>
                <a:latin typeface="+mj-lt"/>
                <a:cs typeface="Segoe Sans Text" pitchFamily="2" charset="0"/>
              </a:endParaRPr>
            </a:p>
          </p:txBody>
        </p:sp>
        <p:sp>
          <p:nvSpPr>
            <p:cNvPr id="57" name="TextBox 56">
              <a:extLst>
                <a:ext uri="{FF2B5EF4-FFF2-40B4-BE49-F238E27FC236}">
                  <a16:creationId xmlns:a16="http://schemas.microsoft.com/office/drawing/2014/main" id="{30A9C5A3-B1A3-0279-2A3F-105DA2E45FF1}"/>
                </a:ext>
              </a:extLst>
            </p:cNvPr>
            <p:cNvSpPr txBox="1"/>
            <p:nvPr/>
          </p:nvSpPr>
          <p:spPr>
            <a:xfrm>
              <a:off x="1896313" y="5346358"/>
              <a:ext cx="8079641" cy="864561"/>
            </a:xfrm>
            <a:prstGeom prst="rect">
              <a:avLst/>
            </a:prstGeom>
            <a:noFill/>
          </p:spPr>
          <p:txBody>
            <a:bodyPr wrap="square" lIns="0" tIns="0" rIns="0" bIns="0" rtlCol="0" anchor="ctr" anchorCtr="0">
              <a:spAutoFit/>
            </a:bodyPr>
            <a:lstStyle/>
            <a:p>
              <a:pPr algn="l"/>
              <a:r>
                <a:rPr lang="en-GB" sz="1200">
                  <a:solidFill>
                    <a:schemeClr val="tx2"/>
                  </a:solidFill>
                  <a:latin typeface="+mj-lt"/>
                  <a:cs typeface="Segoe Sans Text" pitchFamily="2" charset="0"/>
                </a:rPr>
                <a:t>Encryption, Customer Managed Keys,  Entra ID, Private Network, RBAC, Azure Policies</a:t>
              </a:r>
            </a:p>
          </p:txBody>
        </p:sp>
      </p:grpSp>
      <p:sp>
        <p:nvSpPr>
          <p:cNvPr id="58" name="Rectangle: Rounded Corners 57">
            <a:extLst>
              <a:ext uri="{FF2B5EF4-FFF2-40B4-BE49-F238E27FC236}">
                <a16:creationId xmlns:a16="http://schemas.microsoft.com/office/drawing/2014/main" id="{7D80F29B-3E61-19A3-E358-61E925133729}"/>
              </a:ext>
            </a:extLst>
          </p:cNvPr>
          <p:cNvSpPr>
            <a:spLocks/>
          </p:cNvSpPr>
          <p:nvPr/>
        </p:nvSpPr>
        <p:spPr bwMode="auto">
          <a:xfrm>
            <a:off x="6019800" y="1721792"/>
            <a:ext cx="4191064"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US" sz="1600" b="1">
                <a:solidFill>
                  <a:schemeClr val="tx1"/>
                </a:solidFill>
                <a:cs typeface="Segoe Sans Text ExtraBold" pitchFamily="2" charset="0"/>
              </a:rPr>
              <a:t>Solutions</a:t>
            </a:r>
          </a:p>
        </p:txBody>
      </p:sp>
    </p:spTree>
    <p:extLst>
      <p:ext uri="{BB962C8B-B14F-4D97-AF65-F5344CB8AC3E}">
        <p14:creationId xmlns:p14="http://schemas.microsoft.com/office/powerpoint/2010/main" val="25973349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750"/>
                                        <p:tgtEl>
                                          <p:spTgt spid="21"/>
                                        </p:tgtEl>
                                      </p:cBhvr>
                                    </p:animEffect>
                                  </p:childTnLst>
                                </p:cTn>
                              </p:par>
                              <p:par>
                                <p:cTn id="8" presetID="42" presetClass="path" presetSubtype="0" decel="100000" fill="hold" grpId="1" nodeType="withEffect">
                                  <p:stCondLst>
                                    <p:cond delay="250"/>
                                  </p:stCondLst>
                                  <p:childTnLst>
                                    <p:animMotion origin="layout" path="M 1.25E-6 0.03889 L 1.25E-6 -4.44444E-6 " pathEditMode="relative" rAng="0" ptsTypes="AA">
                                      <p:cBhvr>
                                        <p:cTn id="9" dur="750" fill="hold"/>
                                        <p:tgtEl>
                                          <p:spTgt spid="21"/>
                                        </p:tgtEl>
                                        <p:attrNameLst>
                                          <p:attrName>ppt_x</p:attrName>
                                          <p:attrName>ppt_y</p:attrName>
                                        </p:attrNameLst>
                                      </p:cBhvr>
                                      <p:rCtr x="0" y="-1944"/>
                                    </p:animMotion>
                                  </p:childTnLst>
                                </p:cTn>
                              </p:par>
                              <p:par>
                                <p:cTn id="10" presetID="23" presetClass="entr" presetSubtype="16" fill="hold" nodeType="withEffect">
                                  <p:stCondLst>
                                    <p:cond delay="400"/>
                                  </p:stCondLst>
                                  <p:childTnLst>
                                    <p:set>
                                      <p:cBhvr>
                                        <p:cTn id="11" dur="1" fill="hold">
                                          <p:stCondLst>
                                            <p:cond delay="0"/>
                                          </p:stCondLst>
                                        </p:cTn>
                                        <p:tgtEl>
                                          <p:spTgt spid="23"/>
                                        </p:tgtEl>
                                        <p:attrNameLst>
                                          <p:attrName>style.visibility</p:attrName>
                                        </p:attrNameLst>
                                      </p:cBhvr>
                                      <p:to>
                                        <p:strVal val="visible"/>
                                      </p:to>
                                    </p:set>
                                    <p:anim calcmode="lin" valueType="num">
                                      <p:cBhvr>
                                        <p:cTn id="12" dur="250" fill="hold"/>
                                        <p:tgtEl>
                                          <p:spTgt spid="23"/>
                                        </p:tgtEl>
                                        <p:attrNameLst>
                                          <p:attrName>ppt_w</p:attrName>
                                        </p:attrNameLst>
                                      </p:cBhvr>
                                      <p:tavLst>
                                        <p:tav tm="0">
                                          <p:val>
                                            <p:fltVal val="0"/>
                                          </p:val>
                                        </p:tav>
                                        <p:tav tm="100000">
                                          <p:val>
                                            <p:strVal val="#ppt_w"/>
                                          </p:val>
                                        </p:tav>
                                      </p:tavLst>
                                    </p:anim>
                                    <p:anim calcmode="lin" valueType="num">
                                      <p:cBhvr>
                                        <p:cTn id="13" dur="250" fill="hold"/>
                                        <p:tgtEl>
                                          <p:spTgt spid="23"/>
                                        </p:tgtEl>
                                        <p:attrNameLst>
                                          <p:attrName>ppt_h</p:attrName>
                                        </p:attrNameLst>
                                      </p:cBhvr>
                                      <p:tavLst>
                                        <p:tav tm="0">
                                          <p:val>
                                            <p:fltVal val="0"/>
                                          </p:val>
                                        </p:tav>
                                        <p:tav tm="100000">
                                          <p:val>
                                            <p:strVal val="#ppt_h"/>
                                          </p:val>
                                        </p:tav>
                                      </p:tavLst>
                                    </p:anim>
                                  </p:childTnLst>
                                </p:cTn>
                              </p:par>
                              <p:par>
                                <p:cTn id="14" presetID="10" presetClass="entr" presetSubtype="0" fill="hold" nodeType="withEffect">
                                  <p:stCondLst>
                                    <p:cond delay="4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6" presetClass="emph" presetSubtype="0" fill="hold" nodeType="withEffect">
                                  <p:stCondLst>
                                    <p:cond delay="400"/>
                                  </p:stCondLst>
                                  <p:childTnLst>
                                    <p:animScale>
                                      <p:cBhvr>
                                        <p:cTn id="18" dur="10" fill="hold"/>
                                        <p:tgtEl>
                                          <p:spTgt spid="23"/>
                                        </p:tgtEl>
                                      </p:cBhvr>
                                      <p:by x="80000" y="80000"/>
                                    </p:animScale>
                                  </p:childTnLst>
                                </p:cTn>
                              </p:par>
                              <p:par>
                                <p:cTn id="19" presetID="6" presetClass="emph" presetSubtype="0" decel="100000" fill="hold" nodeType="withEffect">
                                  <p:stCondLst>
                                    <p:cond delay="400"/>
                                  </p:stCondLst>
                                  <p:childTnLst>
                                    <p:animScale>
                                      <p:cBhvr>
                                        <p:cTn id="20" dur="1000" fill="hold"/>
                                        <p:tgtEl>
                                          <p:spTgt spid="23"/>
                                        </p:tgtEl>
                                      </p:cBhvr>
                                      <p:by x="125000" y="125000"/>
                                    </p:animScale>
                                  </p:childTnLst>
                                </p:cTn>
                              </p:par>
                              <p:par>
                                <p:cTn id="21" presetID="10" presetClass="entr" presetSubtype="0" fill="hold" grpId="0" nodeType="withEffect">
                                  <p:stCondLst>
                                    <p:cond delay="25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750"/>
                                        <p:tgtEl>
                                          <p:spTgt spid="30"/>
                                        </p:tgtEl>
                                      </p:cBhvr>
                                    </p:animEffect>
                                  </p:childTnLst>
                                </p:cTn>
                              </p:par>
                              <p:par>
                                <p:cTn id="24" presetID="42" presetClass="path" presetSubtype="0" decel="100000" fill="hold" grpId="1" nodeType="withEffect">
                                  <p:stCondLst>
                                    <p:cond delay="250"/>
                                  </p:stCondLst>
                                  <p:childTnLst>
                                    <p:animMotion origin="layout" path="M 1.25E-6 0.03889 L 1.25E-6 -7.40741E-7 " pathEditMode="relative" rAng="0" ptsTypes="AA">
                                      <p:cBhvr>
                                        <p:cTn id="25" dur="750" fill="hold"/>
                                        <p:tgtEl>
                                          <p:spTgt spid="30"/>
                                        </p:tgtEl>
                                        <p:attrNameLst>
                                          <p:attrName>ppt_x</p:attrName>
                                          <p:attrName>ppt_y</p:attrName>
                                        </p:attrNameLst>
                                      </p:cBhvr>
                                      <p:rCtr x="0" y="-1944"/>
                                    </p:animMotion>
                                  </p:childTnLst>
                                </p:cTn>
                              </p:par>
                              <p:par>
                                <p:cTn id="26" presetID="23" presetClass="entr" presetSubtype="16" fill="hold" nodeType="withEffect">
                                  <p:stCondLst>
                                    <p:cond delay="400"/>
                                  </p:stCondLst>
                                  <p:childTnLst>
                                    <p:set>
                                      <p:cBhvr>
                                        <p:cTn id="27" dur="1" fill="hold">
                                          <p:stCondLst>
                                            <p:cond delay="0"/>
                                          </p:stCondLst>
                                        </p:cTn>
                                        <p:tgtEl>
                                          <p:spTgt spid="31"/>
                                        </p:tgtEl>
                                        <p:attrNameLst>
                                          <p:attrName>style.visibility</p:attrName>
                                        </p:attrNameLst>
                                      </p:cBhvr>
                                      <p:to>
                                        <p:strVal val="visible"/>
                                      </p:to>
                                    </p:set>
                                    <p:anim calcmode="lin" valueType="num">
                                      <p:cBhvr>
                                        <p:cTn id="28" dur="250" fill="hold"/>
                                        <p:tgtEl>
                                          <p:spTgt spid="31"/>
                                        </p:tgtEl>
                                        <p:attrNameLst>
                                          <p:attrName>ppt_w</p:attrName>
                                        </p:attrNameLst>
                                      </p:cBhvr>
                                      <p:tavLst>
                                        <p:tav tm="0">
                                          <p:val>
                                            <p:fltVal val="0"/>
                                          </p:val>
                                        </p:tav>
                                        <p:tav tm="100000">
                                          <p:val>
                                            <p:strVal val="#ppt_w"/>
                                          </p:val>
                                        </p:tav>
                                      </p:tavLst>
                                    </p:anim>
                                    <p:anim calcmode="lin" valueType="num">
                                      <p:cBhvr>
                                        <p:cTn id="29" dur="250" fill="hold"/>
                                        <p:tgtEl>
                                          <p:spTgt spid="31"/>
                                        </p:tgtEl>
                                        <p:attrNameLst>
                                          <p:attrName>ppt_h</p:attrName>
                                        </p:attrNameLst>
                                      </p:cBhvr>
                                      <p:tavLst>
                                        <p:tav tm="0">
                                          <p:val>
                                            <p:fltVal val="0"/>
                                          </p:val>
                                        </p:tav>
                                        <p:tav tm="100000">
                                          <p:val>
                                            <p:strVal val="#ppt_h"/>
                                          </p:val>
                                        </p:tav>
                                      </p:tavLst>
                                    </p:anim>
                                  </p:childTnLst>
                                </p:cTn>
                              </p:par>
                              <p:par>
                                <p:cTn id="30" presetID="10" presetClass="entr" presetSubtype="0" fill="hold" nodeType="withEffect">
                                  <p:stCondLst>
                                    <p:cond delay="40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6" presetClass="emph" presetSubtype="0" fill="hold" nodeType="withEffect">
                                  <p:stCondLst>
                                    <p:cond delay="400"/>
                                  </p:stCondLst>
                                  <p:childTnLst>
                                    <p:animScale>
                                      <p:cBhvr>
                                        <p:cTn id="34" dur="10" fill="hold"/>
                                        <p:tgtEl>
                                          <p:spTgt spid="31"/>
                                        </p:tgtEl>
                                      </p:cBhvr>
                                      <p:by x="80000" y="80000"/>
                                    </p:animScale>
                                  </p:childTnLst>
                                </p:cTn>
                              </p:par>
                              <p:par>
                                <p:cTn id="35" presetID="6" presetClass="emph" presetSubtype="0" decel="100000" fill="hold" nodeType="withEffect">
                                  <p:stCondLst>
                                    <p:cond delay="400"/>
                                  </p:stCondLst>
                                  <p:childTnLst>
                                    <p:animScale>
                                      <p:cBhvr>
                                        <p:cTn id="36" dur="1000" fill="hold"/>
                                        <p:tgtEl>
                                          <p:spTgt spid="31"/>
                                        </p:tgtEl>
                                      </p:cBhvr>
                                      <p:by x="125000" y="125000"/>
                                    </p:animScale>
                                  </p:childTnLst>
                                </p:cTn>
                              </p:par>
                              <p:par>
                                <p:cTn id="37" presetID="10" presetClass="entr" presetSubtype="0" fill="hold" grpId="0" nodeType="withEffect">
                                  <p:stCondLst>
                                    <p:cond delay="25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750"/>
                                        <p:tgtEl>
                                          <p:spTgt spid="34"/>
                                        </p:tgtEl>
                                      </p:cBhvr>
                                    </p:animEffect>
                                  </p:childTnLst>
                                </p:cTn>
                              </p:par>
                              <p:par>
                                <p:cTn id="40" presetID="42" presetClass="path" presetSubtype="0" decel="100000" fill="hold" grpId="1" nodeType="withEffect">
                                  <p:stCondLst>
                                    <p:cond delay="250"/>
                                  </p:stCondLst>
                                  <p:childTnLst>
                                    <p:animMotion origin="layout" path="M 1.25E-6 0.03889 L 1.25E-6 2.96296E-6 " pathEditMode="relative" rAng="0" ptsTypes="AA">
                                      <p:cBhvr>
                                        <p:cTn id="41" dur="750" fill="hold"/>
                                        <p:tgtEl>
                                          <p:spTgt spid="34"/>
                                        </p:tgtEl>
                                        <p:attrNameLst>
                                          <p:attrName>ppt_x</p:attrName>
                                          <p:attrName>ppt_y</p:attrName>
                                        </p:attrNameLst>
                                      </p:cBhvr>
                                      <p:rCtr x="0" y="-1944"/>
                                    </p:animMotion>
                                  </p:childTnLst>
                                </p:cTn>
                              </p:par>
                              <p:par>
                                <p:cTn id="42" presetID="23" presetClass="entr" presetSubtype="16" fill="hold" nodeType="withEffect">
                                  <p:stCondLst>
                                    <p:cond delay="400"/>
                                  </p:stCondLst>
                                  <p:childTnLst>
                                    <p:set>
                                      <p:cBhvr>
                                        <p:cTn id="43" dur="1" fill="hold">
                                          <p:stCondLst>
                                            <p:cond delay="0"/>
                                          </p:stCondLst>
                                        </p:cTn>
                                        <p:tgtEl>
                                          <p:spTgt spid="35"/>
                                        </p:tgtEl>
                                        <p:attrNameLst>
                                          <p:attrName>style.visibility</p:attrName>
                                        </p:attrNameLst>
                                      </p:cBhvr>
                                      <p:to>
                                        <p:strVal val="visible"/>
                                      </p:to>
                                    </p:set>
                                    <p:anim calcmode="lin" valueType="num">
                                      <p:cBhvr>
                                        <p:cTn id="44" dur="250" fill="hold"/>
                                        <p:tgtEl>
                                          <p:spTgt spid="35"/>
                                        </p:tgtEl>
                                        <p:attrNameLst>
                                          <p:attrName>ppt_w</p:attrName>
                                        </p:attrNameLst>
                                      </p:cBhvr>
                                      <p:tavLst>
                                        <p:tav tm="0">
                                          <p:val>
                                            <p:fltVal val="0"/>
                                          </p:val>
                                        </p:tav>
                                        <p:tav tm="100000">
                                          <p:val>
                                            <p:strVal val="#ppt_w"/>
                                          </p:val>
                                        </p:tav>
                                      </p:tavLst>
                                    </p:anim>
                                    <p:anim calcmode="lin" valueType="num">
                                      <p:cBhvr>
                                        <p:cTn id="45" dur="250" fill="hold"/>
                                        <p:tgtEl>
                                          <p:spTgt spid="35"/>
                                        </p:tgtEl>
                                        <p:attrNameLst>
                                          <p:attrName>ppt_h</p:attrName>
                                        </p:attrNameLst>
                                      </p:cBhvr>
                                      <p:tavLst>
                                        <p:tav tm="0">
                                          <p:val>
                                            <p:fltVal val="0"/>
                                          </p:val>
                                        </p:tav>
                                        <p:tav tm="100000">
                                          <p:val>
                                            <p:strVal val="#ppt_h"/>
                                          </p:val>
                                        </p:tav>
                                      </p:tavLst>
                                    </p:anim>
                                  </p:childTnLst>
                                </p:cTn>
                              </p:par>
                              <p:par>
                                <p:cTn id="46" presetID="10" presetClass="entr" presetSubtype="0" fill="hold" nodeType="withEffect">
                                  <p:stCondLst>
                                    <p:cond delay="40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500"/>
                                        <p:tgtEl>
                                          <p:spTgt spid="35"/>
                                        </p:tgtEl>
                                      </p:cBhvr>
                                    </p:animEffect>
                                  </p:childTnLst>
                                </p:cTn>
                              </p:par>
                              <p:par>
                                <p:cTn id="49" presetID="6" presetClass="emph" presetSubtype="0" fill="hold" nodeType="withEffect">
                                  <p:stCondLst>
                                    <p:cond delay="400"/>
                                  </p:stCondLst>
                                  <p:childTnLst>
                                    <p:animScale>
                                      <p:cBhvr>
                                        <p:cTn id="50" dur="10" fill="hold"/>
                                        <p:tgtEl>
                                          <p:spTgt spid="35"/>
                                        </p:tgtEl>
                                      </p:cBhvr>
                                      <p:by x="80000" y="80000"/>
                                    </p:animScale>
                                  </p:childTnLst>
                                </p:cTn>
                              </p:par>
                              <p:par>
                                <p:cTn id="51" presetID="6" presetClass="emph" presetSubtype="0" decel="100000" fill="hold" nodeType="withEffect">
                                  <p:stCondLst>
                                    <p:cond delay="400"/>
                                  </p:stCondLst>
                                  <p:childTnLst>
                                    <p:animScale>
                                      <p:cBhvr>
                                        <p:cTn id="52" dur="1000" fill="hold"/>
                                        <p:tgtEl>
                                          <p:spTgt spid="35"/>
                                        </p:tgtEl>
                                      </p:cBhvr>
                                      <p:by x="125000" y="125000"/>
                                    </p:animScale>
                                  </p:childTnLst>
                                </p:cTn>
                              </p:par>
                              <p:par>
                                <p:cTn id="53" presetID="10" presetClass="entr" presetSubtype="0" fill="hold" grpId="0" nodeType="withEffect">
                                  <p:stCondLst>
                                    <p:cond delay="25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750"/>
                                        <p:tgtEl>
                                          <p:spTgt spid="38"/>
                                        </p:tgtEl>
                                      </p:cBhvr>
                                    </p:animEffect>
                                  </p:childTnLst>
                                </p:cTn>
                              </p:par>
                              <p:par>
                                <p:cTn id="56" presetID="42" presetClass="path" presetSubtype="0" decel="100000" fill="hold" grpId="1" nodeType="withEffect">
                                  <p:stCondLst>
                                    <p:cond delay="250"/>
                                  </p:stCondLst>
                                  <p:childTnLst>
                                    <p:animMotion origin="layout" path="M 1.25E-6 0.03889 L 1.25E-6 -3.33333E-6 " pathEditMode="relative" rAng="0" ptsTypes="AA">
                                      <p:cBhvr>
                                        <p:cTn id="57" dur="750" fill="hold"/>
                                        <p:tgtEl>
                                          <p:spTgt spid="38"/>
                                        </p:tgtEl>
                                        <p:attrNameLst>
                                          <p:attrName>ppt_x</p:attrName>
                                          <p:attrName>ppt_y</p:attrName>
                                        </p:attrNameLst>
                                      </p:cBhvr>
                                      <p:rCtr x="0" y="-1944"/>
                                    </p:animMotion>
                                  </p:childTnLst>
                                </p:cTn>
                              </p:par>
                              <p:par>
                                <p:cTn id="58" presetID="23" presetClass="entr" presetSubtype="16" fill="hold" nodeType="withEffect">
                                  <p:stCondLst>
                                    <p:cond delay="400"/>
                                  </p:stCondLst>
                                  <p:childTnLst>
                                    <p:set>
                                      <p:cBhvr>
                                        <p:cTn id="59" dur="1" fill="hold">
                                          <p:stCondLst>
                                            <p:cond delay="0"/>
                                          </p:stCondLst>
                                        </p:cTn>
                                        <p:tgtEl>
                                          <p:spTgt spid="39"/>
                                        </p:tgtEl>
                                        <p:attrNameLst>
                                          <p:attrName>style.visibility</p:attrName>
                                        </p:attrNameLst>
                                      </p:cBhvr>
                                      <p:to>
                                        <p:strVal val="visible"/>
                                      </p:to>
                                    </p:set>
                                    <p:anim calcmode="lin" valueType="num">
                                      <p:cBhvr>
                                        <p:cTn id="60" dur="250" fill="hold"/>
                                        <p:tgtEl>
                                          <p:spTgt spid="39"/>
                                        </p:tgtEl>
                                        <p:attrNameLst>
                                          <p:attrName>ppt_w</p:attrName>
                                        </p:attrNameLst>
                                      </p:cBhvr>
                                      <p:tavLst>
                                        <p:tav tm="0">
                                          <p:val>
                                            <p:fltVal val="0"/>
                                          </p:val>
                                        </p:tav>
                                        <p:tav tm="100000">
                                          <p:val>
                                            <p:strVal val="#ppt_w"/>
                                          </p:val>
                                        </p:tav>
                                      </p:tavLst>
                                    </p:anim>
                                    <p:anim calcmode="lin" valueType="num">
                                      <p:cBhvr>
                                        <p:cTn id="61" dur="250" fill="hold"/>
                                        <p:tgtEl>
                                          <p:spTgt spid="39"/>
                                        </p:tgtEl>
                                        <p:attrNameLst>
                                          <p:attrName>ppt_h</p:attrName>
                                        </p:attrNameLst>
                                      </p:cBhvr>
                                      <p:tavLst>
                                        <p:tav tm="0">
                                          <p:val>
                                            <p:fltVal val="0"/>
                                          </p:val>
                                        </p:tav>
                                        <p:tav tm="100000">
                                          <p:val>
                                            <p:strVal val="#ppt_h"/>
                                          </p:val>
                                        </p:tav>
                                      </p:tavLst>
                                    </p:anim>
                                  </p:childTnLst>
                                </p:cTn>
                              </p:par>
                              <p:par>
                                <p:cTn id="62" presetID="10" presetClass="entr" presetSubtype="0" fill="hold" nodeType="withEffect">
                                  <p:stCondLst>
                                    <p:cond delay="40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500"/>
                                        <p:tgtEl>
                                          <p:spTgt spid="39"/>
                                        </p:tgtEl>
                                      </p:cBhvr>
                                    </p:animEffect>
                                  </p:childTnLst>
                                </p:cTn>
                              </p:par>
                              <p:par>
                                <p:cTn id="65" presetID="6" presetClass="emph" presetSubtype="0" fill="hold" nodeType="withEffect">
                                  <p:stCondLst>
                                    <p:cond delay="400"/>
                                  </p:stCondLst>
                                  <p:childTnLst>
                                    <p:animScale>
                                      <p:cBhvr>
                                        <p:cTn id="66" dur="10" fill="hold"/>
                                        <p:tgtEl>
                                          <p:spTgt spid="39"/>
                                        </p:tgtEl>
                                      </p:cBhvr>
                                      <p:by x="80000" y="80000"/>
                                    </p:animScale>
                                  </p:childTnLst>
                                </p:cTn>
                              </p:par>
                              <p:par>
                                <p:cTn id="67" presetID="6" presetClass="emph" presetSubtype="0" decel="100000" fill="hold" nodeType="withEffect">
                                  <p:stCondLst>
                                    <p:cond delay="400"/>
                                  </p:stCondLst>
                                  <p:childTnLst>
                                    <p:animScale>
                                      <p:cBhvr>
                                        <p:cTn id="68" dur="1000" fill="hold"/>
                                        <p:tgtEl>
                                          <p:spTgt spid="39"/>
                                        </p:tgtEl>
                                      </p:cBhvr>
                                      <p:by x="125000" y="125000"/>
                                    </p:animScale>
                                  </p:childTnLst>
                                </p:cTn>
                              </p:par>
                              <p:par>
                                <p:cTn id="69" presetID="10" presetClass="entr" presetSubtype="0" fill="hold" grpId="0" nodeType="withEffect">
                                  <p:stCondLst>
                                    <p:cond delay="25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750"/>
                                        <p:tgtEl>
                                          <p:spTgt spid="42"/>
                                        </p:tgtEl>
                                      </p:cBhvr>
                                    </p:animEffect>
                                  </p:childTnLst>
                                </p:cTn>
                              </p:par>
                              <p:par>
                                <p:cTn id="72" presetID="42" presetClass="path" presetSubtype="0" decel="100000" fill="hold" grpId="1" nodeType="withEffect">
                                  <p:stCondLst>
                                    <p:cond delay="250"/>
                                  </p:stCondLst>
                                  <p:childTnLst>
                                    <p:animMotion origin="layout" path="M 1.25E-6 0.03889 L 1.25E-6 3.7037E-7 " pathEditMode="relative" rAng="0" ptsTypes="AA">
                                      <p:cBhvr>
                                        <p:cTn id="73" dur="750" fill="hold"/>
                                        <p:tgtEl>
                                          <p:spTgt spid="42"/>
                                        </p:tgtEl>
                                        <p:attrNameLst>
                                          <p:attrName>ppt_x</p:attrName>
                                          <p:attrName>ppt_y</p:attrName>
                                        </p:attrNameLst>
                                      </p:cBhvr>
                                      <p:rCtr x="0" y="-1944"/>
                                    </p:animMotion>
                                  </p:childTnLst>
                                </p:cTn>
                              </p:par>
                              <p:par>
                                <p:cTn id="74" presetID="23" presetClass="entr" presetSubtype="16" fill="hold" nodeType="withEffect">
                                  <p:stCondLst>
                                    <p:cond delay="400"/>
                                  </p:stCondLst>
                                  <p:childTnLst>
                                    <p:set>
                                      <p:cBhvr>
                                        <p:cTn id="75" dur="1" fill="hold">
                                          <p:stCondLst>
                                            <p:cond delay="0"/>
                                          </p:stCondLst>
                                        </p:cTn>
                                        <p:tgtEl>
                                          <p:spTgt spid="43"/>
                                        </p:tgtEl>
                                        <p:attrNameLst>
                                          <p:attrName>style.visibility</p:attrName>
                                        </p:attrNameLst>
                                      </p:cBhvr>
                                      <p:to>
                                        <p:strVal val="visible"/>
                                      </p:to>
                                    </p:set>
                                    <p:anim calcmode="lin" valueType="num">
                                      <p:cBhvr>
                                        <p:cTn id="76" dur="250" fill="hold"/>
                                        <p:tgtEl>
                                          <p:spTgt spid="43"/>
                                        </p:tgtEl>
                                        <p:attrNameLst>
                                          <p:attrName>ppt_w</p:attrName>
                                        </p:attrNameLst>
                                      </p:cBhvr>
                                      <p:tavLst>
                                        <p:tav tm="0">
                                          <p:val>
                                            <p:fltVal val="0"/>
                                          </p:val>
                                        </p:tav>
                                        <p:tav tm="100000">
                                          <p:val>
                                            <p:strVal val="#ppt_w"/>
                                          </p:val>
                                        </p:tav>
                                      </p:tavLst>
                                    </p:anim>
                                    <p:anim calcmode="lin" valueType="num">
                                      <p:cBhvr>
                                        <p:cTn id="77" dur="250" fill="hold"/>
                                        <p:tgtEl>
                                          <p:spTgt spid="43"/>
                                        </p:tgtEl>
                                        <p:attrNameLst>
                                          <p:attrName>ppt_h</p:attrName>
                                        </p:attrNameLst>
                                      </p:cBhvr>
                                      <p:tavLst>
                                        <p:tav tm="0">
                                          <p:val>
                                            <p:fltVal val="0"/>
                                          </p:val>
                                        </p:tav>
                                        <p:tav tm="100000">
                                          <p:val>
                                            <p:strVal val="#ppt_h"/>
                                          </p:val>
                                        </p:tav>
                                      </p:tavLst>
                                    </p:anim>
                                  </p:childTnLst>
                                </p:cTn>
                              </p:par>
                              <p:par>
                                <p:cTn id="78" presetID="10" presetClass="entr" presetSubtype="0" fill="hold" nodeType="withEffect">
                                  <p:stCondLst>
                                    <p:cond delay="40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500"/>
                                        <p:tgtEl>
                                          <p:spTgt spid="43"/>
                                        </p:tgtEl>
                                      </p:cBhvr>
                                    </p:animEffect>
                                  </p:childTnLst>
                                </p:cTn>
                              </p:par>
                              <p:par>
                                <p:cTn id="81" presetID="6" presetClass="emph" presetSubtype="0" fill="hold" nodeType="withEffect">
                                  <p:stCondLst>
                                    <p:cond delay="400"/>
                                  </p:stCondLst>
                                  <p:childTnLst>
                                    <p:animScale>
                                      <p:cBhvr>
                                        <p:cTn id="82" dur="10" fill="hold"/>
                                        <p:tgtEl>
                                          <p:spTgt spid="43"/>
                                        </p:tgtEl>
                                      </p:cBhvr>
                                      <p:by x="80000" y="80000"/>
                                    </p:animScale>
                                  </p:childTnLst>
                                </p:cTn>
                              </p:par>
                              <p:par>
                                <p:cTn id="83" presetID="6" presetClass="emph" presetSubtype="0" decel="100000" fill="hold" nodeType="withEffect">
                                  <p:stCondLst>
                                    <p:cond delay="400"/>
                                  </p:stCondLst>
                                  <p:childTnLst>
                                    <p:animScale>
                                      <p:cBhvr>
                                        <p:cTn id="84" dur="1000" fill="hold"/>
                                        <p:tgtEl>
                                          <p:spTgt spid="43"/>
                                        </p:tgtEl>
                                      </p:cBhvr>
                                      <p:by x="125000" y="125000"/>
                                    </p:animScale>
                                  </p:childTnLst>
                                </p:cTn>
                              </p:par>
                              <p:par>
                                <p:cTn id="85" presetID="10" presetClass="entr" presetSubtype="0" fill="hold" grpId="0" nodeType="withEffect">
                                  <p:stCondLst>
                                    <p:cond delay="250"/>
                                  </p:stCondLst>
                                  <p:childTnLst>
                                    <p:set>
                                      <p:cBhvr>
                                        <p:cTn id="86" dur="1" fill="hold">
                                          <p:stCondLst>
                                            <p:cond delay="0"/>
                                          </p:stCondLst>
                                        </p:cTn>
                                        <p:tgtEl>
                                          <p:spTgt spid="46"/>
                                        </p:tgtEl>
                                        <p:attrNameLst>
                                          <p:attrName>style.visibility</p:attrName>
                                        </p:attrNameLst>
                                      </p:cBhvr>
                                      <p:to>
                                        <p:strVal val="visible"/>
                                      </p:to>
                                    </p:set>
                                    <p:animEffect transition="in" filter="fade">
                                      <p:cBhvr>
                                        <p:cTn id="87" dur="750"/>
                                        <p:tgtEl>
                                          <p:spTgt spid="46"/>
                                        </p:tgtEl>
                                      </p:cBhvr>
                                    </p:animEffect>
                                  </p:childTnLst>
                                </p:cTn>
                              </p:par>
                              <p:par>
                                <p:cTn id="88" presetID="42" presetClass="path" presetSubtype="0" decel="100000" fill="hold" grpId="1" nodeType="withEffect">
                                  <p:stCondLst>
                                    <p:cond delay="250"/>
                                  </p:stCondLst>
                                  <p:childTnLst>
                                    <p:animMotion origin="layout" path="M 1.25E-6 0.03888 L 1.25E-6 4.07407E-6 " pathEditMode="relative" rAng="0" ptsTypes="AA">
                                      <p:cBhvr>
                                        <p:cTn id="89" dur="750" fill="hold"/>
                                        <p:tgtEl>
                                          <p:spTgt spid="46"/>
                                        </p:tgtEl>
                                        <p:attrNameLst>
                                          <p:attrName>ppt_x</p:attrName>
                                          <p:attrName>ppt_y</p:attrName>
                                        </p:attrNameLst>
                                      </p:cBhvr>
                                      <p:rCtr x="0" y="-1944"/>
                                    </p:animMotion>
                                  </p:childTnLst>
                                </p:cTn>
                              </p:par>
                              <p:par>
                                <p:cTn id="90" presetID="23" presetClass="entr" presetSubtype="16" fill="hold" nodeType="withEffect">
                                  <p:stCondLst>
                                    <p:cond delay="400"/>
                                  </p:stCondLst>
                                  <p:childTnLst>
                                    <p:set>
                                      <p:cBhvr>
                                        <p:cTn id="91" dur="1" fill="hold">
                                          <p:stCondLst>
                                            <p:cond delay="0"/>
                                          </p:stCondLst>
                                        </p:cTn>
                                        <p:tgtEl>
                                          <p:spTgt spid="47"/>
                                        </p:tgtEl>
                                        <p:attrNameLst>
                                          <p:attrName>style.visibility</p:attrName>
                                        </p:attrNameLst>
                                      </p:cBhvr>
                                      <p:to>
                                        <p:strVal val="visible"/>
                                      </p:to>
                                    </p:set>
                                    <p:anim calcmode="lin" valueType="num">
                                      <p:cBhvr>
                                        <p:cTn id="92" dur="250" fill="hold"/>
                                        <p:tgtEl>
                                          <p:spTgt spid="47"/>
                                        </p:tgtEl>
                                        <p:attrNameLst>
                                          <p:attrName>ppt_w</p:attrName>
                                        </p:attrNameLst>
                                      </p:cBhvr>
                                      <p:tavLst>
                                        <p:tav tm="0">
                                          <p:val>
                                            <p:fltVal val="0"/>
                                          </p:val>
                                        </p:tav>
                                        <p:tav tm="100000">
                                          <p:val>
                                            <p:strVal val="#ppt_w"/>
                                          </p:val>
                                        </p:tav>
                                      </p:tavLst>
                                    </p:anim>
                                    <p:anim calcmode="lin" valueType="num">
                                      <p:cBhvr>
                                        <p:cTn id="93" dur="250" fill="hold"/>
                                        <p:tgtEl>
                                          <p:spTgt spid="47"/>
                                        </p:tgtEl>
                                        <p:attrNameLst>
                                          <p:attrName>ppt_h</p:attrName>
                                        </p:attrNameLst>
                                      </p:cBhvr>
                                      <p:tavLst>
                                        <p:tav tm="0">
                                          <p:val>
                                            <p:fltVal val="0"/>
                                          </p:val>
                                        </p:tav>
                                        <p:tav tm="100000">
                                          <p:val>
                                            <p:strVal val="#ppt_h"/>
                                          </p:val>
                                        </p:tav>
                                      </p:tavLst>
                                    </p:anim>
                                  </p:childTnLst>
                                </p:cTn>
                              </p:par>
                              <p:par>
                                <p:cTn id="94" presetID="10" presetClass="entr" presetSubtype="0" fill="hold" nodeType="withEffect">
                                  <p:stCondLst>
                                    <p:cond delay="400"/>
                                  </p:stCondLst>
                                  <p:childTnLst>
                                    <p:set>
                                      <p:cBhvr>
                                        <p:cTn id="95" dur="1" fill="hold">
                                          <p:stCondLst>
                                            <p:cond delay="0"/>
                                          </p:stCondLst>
                                        </p:cTn>
                                        <p:tgtEl>
                                          <p:spTgt spid="47"/>
                                        </p:tgtEl>
                                        <p:attrNameLst>
                                          <p:attrName>style.visibility</p:attrName>
                                        </p:attrNameLst>
                                      </p:cBhvr>
                                      <p:to>
                                        <p:strVal val="visible"/>
                                      </p:to>
                                    </p:set>
                                    <p:animEffect transition="in" filter="fade">
                                      <p:cBhvr>
                                        <p:cTn id="96" dur="500"/>
                                        <p:tgtEl>
                                          <p:spTgt spid="47"/>
                                        </p:tgtEl>
                                      </p:cBhvr>
                                    </p:animEffect>
                                  </p:childTnLst>
                                </p:cTn>
                              </p:par>
                              <p:par>
                                <p:cTn id="97" presetID="6" presetClass="emph" presetSubtype="0" fill="hold" nodeType="withEffect">
                                  <p:stCondLst>
                                    <p:cond delay="400"/>
                                  </p:stCondLst>
                                  <p:childTnLst>
                                    <p:animScale>
                                      <p:cBhvr>
                                        <p:cTn id="98" dur="10" fill="hold"/>
                                        <p:tgtEl>
                                          <p:spTgt spid="47"/>
                                        </p:tgtEl>
                                      </p:cBhvr>
                                      <p:by x="80000" y="80000"/>
                                    </p:animScale>
                                  </p:childTnLst>
                                </p:cTn>
                              </p:par>
                              <p:par>
                                <p:cTn id="99" presetID="6" presetClass="emph" presetSubtype="0" decel="100000" fill="hold" nodeType="withEffect">
                                  <p:stCondLst>
                                    <p:cond delay="400"/>
                                  </p:stCondLst>
                                  <p:childTnLst>
                                    <p:animScale>
                                      <p:cBhvr>
                                        <p:cTn id="100" dur="1000" fill="hold"/>
                                        <p:tgtEl>
                                          <p:spTgt spid="47"/>
                                        </p:tgtEl>
                                      </p:cBhvr>
                                      <p:by x="125000" y="125000"/>
                                    </p:animScale>
                                  </p:childTnLst>
                                </p:cTn>
                              </p:par>
                              <p:par>
                                <p:cTn id="101" presetID="10" presetClass="entr" presetSubtype="0" fill="hold" grpId="0" nodeType="withEffect">
                                  <p:stCondLst>
                                    <p:cond delay="250"/>
                                  </p:stCondLst>
                                  <p:childTnLst>
                                    <p:set>
                                      <p:cBhvr>
                                        <p:cTn id="102" dur="1" fill="hold">
                                          <p:stCondLst>
                                            <p:cond delay="0"/>
                                          </p:stCondLst>
                                        </p:cTn>
                                        <p:tgtEl>
                                          <p:spTgt spid="50"/>
                                        </p:tgtEl>
                                        <p:attrNameLst>
                                          <p:attrName>style.visibility</p:attrName>
                                        </p:attrNameLst>
                                      </p:cBhvr>
                                      <p:to>
                                        <p:strVal val="visible"/>
                                      </p:to>
                                    </p:set>
                                    <p:animEffect transition="in" filter="fade">
                                      <p:cBhvr>
                                        <p:cTn id="103" dur="750"/>
                                        <p:tgtEl>
                                          <p:spTgt spid="50"/>
                                        </p:tgtEl>
                                      </p:cBhvr>
                                    </p:animEffect>
                                  </p:childTnLst>
                                </p:cTn>
                              </p:par>
                              <p:par>
                                <p:cTn id="104" presetID="42" presetClass="path" presetSubtype="0" decel="100000" fill="hold" grpId="1" nodeType="withEffect">
                                  <p:stCondLst>
                                    <p:cond delay="250"/>
                                  </p:stCondLst>
                                  <p:childTnLst>
                                    <p:animMotion origin="layout" path="M 1.25E-6 0.03889 L 1.25E-6 -7.40741E-7 " pathEditMode="relative" rAng="0" ptsTypes="AA">
                                      <p:cBhvr>
                                        <p:cTn id="105" dur="750" fill="hold"/>
                                        <p:tgtEl>
                                          <p:spTgt spid="50"/>
                                        </p:tgtEl>
                                        <p:attrNameLst>
                                          <p:attrName>ppt_x</p:attrName>
                                          <p:attrName>ppt_y</p:attrName>
                                        </p:attrNameLst>
                                      </p:cBhvr>
                                      <p:rCtr x="0" y="-1944"/>
                                    </p:animMotion>
                                  </p:childTnLst>
                                </p:cTn>
                              </p:par>
                              <p:par>
                                <p:cTn id="106" presetID="23" presetClass="entr" presetSubtype="16" fill="hold" nodeType="withEffect">
                                  <p:stCondLst>
                                    <p:cond delay="400"/>
                                  </p:stCondLst>
                                  <p:childTnLst>
                                    <p:set>
                                      <p:cBhvr>
                                        <p:cTn id="107" dur="1" fill="hold">
                                          <p:stCondLst>
                                            <p:cond delay="0"/>
                                          </p:stCondLst>
                                        </p:cTn>
                                        <p:tgtEl>
                                          <p:spTgt spid="51"/>
                                        </p:tgtEl>
                                        <p:attrNameLst>
                                          <p:attrName>style.visibility</p:attrName>
                                        </p:attrNameLst>
                                      </p:cBhvr>
                                      <p:to>
                                        <p:strVal val="visible"/>
                                      </p:to>
                                    </p:set>
                                    <p:anim calcmode="lin" valueType="num">
                                      <p:cBhvr>
                                        <p:cTn id="108" dur="250" fill="hold"/>
                                        <p:tgtEl>
                                          <p:spTgt spid="51"/>
                                        </p:tgtEl>
                                        <p:attrNameLst>
                                          <p:attrName>ppt_w</p:attrName>
                                        </p:attrNameLst>
                                      </p:cBhvr>
                                      <p:tavLst>
                                        <p:tav tm="0">
                                          <p:val>
                                            <p:fltVal val="0"/>
                                          </p:val>
                                        </p:tav>
                                        <p:tav tm="100000">
                                          <p:val>
                                            <p:strVal val="#ppt_w"/>
                                          </p:val>
                                        </p:tav>
                                      </p:tavLst>
                                    </p:anim>
                                    <p:anim calcmode="lin" valueType="num">
                                      <p:cBhvr>
                                        <p:cTn id="109" dur="250" fill="hold"/>
                                        <p:tgtEl>
                                          <p:spTgt spid="51"/>
                                        </p:tgtEl>
                                        <p:attrNameLst>
                                          <p:attrName>ppt_h</p:attrName>
                                        </p:attrNameLst>
                                      </p:cBhvr>
                                      <p:tavLst>
                                        <p:tav tm="0">
                                          <p:val>
                                            <p:fltVal val="0"/>
                                          </p:val>
                                        </p:tav>
                                        <p:tav tm="100000">
                                          <p:val>
                                            <p:strVal val="#ppt_h"/>
                                          </p:val>
                                        </p:tav>
                                      </p:tavLst>
                                    </p:anim>
                                  </p:childTnLst>
                                </p:cTn>
                              </p:par>
                              <p:par>
                                <p:cTn id="110" presetID="10" presetClass="entr" presetSubtype="0" fill="hold" nodeType="withEffect">
                                  <p:stCondLst>
                                    <p:cond delay="400"/>
                                  </p:stCondLst>
                                  <p:childTnLst>
                                    <p:set>
                                      <p:cBhvr>
                                        <p:cTn id="111" dur="1" fill="hold">
                                          <p:stCondLst>
                                            <p:cond delay="0"/>
                                          </p:stCondLst>
                                        </p:cTn>
                                        <p:tgtEl>
                                          <p:spTgt spid="51"/>
                                        </p:tgtEl>
                                        <p:attrNameLst>
                                          <p:attrName>style.visibility</p:attrName>
                                        </p:attrNameLst>
                                      </p:cBhvr>
                                      <p:to>
                                        <p:strVal val="visible"/>
                                      </p:to>
                                    </p:set>
                                    <p:animEffect transition="in" filter="fade">
                                      <p:cBhvr>
                                        <p:cTn id="112" dur="500"/>
                                        <p:tgtEl>
                                          <p:spTgt spid="51"/>
                                        </p:tgtEl>
                                      </p:cBhvr>
                                    </p:animEffect>
                                  </p:childTnLst>
                                </p:cTn>
                              </p:par>
                              <p:par>
                                <p:cTn id="113" presetID="6" presetClass="emph" presetSubtype="0" fill="hold" nodeType="withEffect">
                                  <p:stCondLst>
                                    <p:cond delay="400"/>
                                  </p:stCondLst>
                                  <p:childTnLst>
                                    <p:animScale>
                                      <p:cBhvr>
                                        <p:cTn id="114" dur="10" fill="hold"/>
                                        <p:tgtEl>
                                          <p:spTgt spid="51"/>
                                        </p:tgtEl>
                                      </p:cBhvr>
                                      <p:by x="80000" y="80000"/>
                                    </p:animScale>
                                  </p:childTnLst>
                                </p:cTn>
                              </p:par>
                              <p:par>
                                <p:cTn id="115" presetID="6" presetClass="emph" presetSubtype="0" decel="100000" fill="hold" nodeType="withEffect">
                                  <p:stCondLst>
                                    <p:cond delay="400"/>
                                  </p:stCondLst>
                                  <p:childTnLst>
                                    <p:animScale>
                                      <p:cBhvr>
                                        <p:cTn id="116" dur="1000" fill="hold"/>
                                        <p:tgtEl>
                                          <p:spTgt spid="51"/>
                                        </p:tgtEl>
                                      </p:cBhvr>
                                      <p:by x="125000" y="125000"/>
                                    </p:animScale>
                                  </p:childTnLst>
                                </p:cTn>
                              </p:par>
                              <p:par>
                                <p:cTn id="117" presetID="10" presetClass="entr" presetSubtype="0" fill="hold" grpId="0" nodeType="withEffect">
                                  <p:stCondLst>
                                    <p:cond delay="250"/>
                                  </p:stCondLst>
                                  <p:childTnLst>
                                    <p:set>
                                      <p:cBhvr>
                                        <p:cTn id="118" dur="1" fill="hold">
                                          <p:stCondLst>
                                            <p:cond delay="0"/>
                                          </p:stCondLst>
                                        </p:cTn>
                                        <p:tgtEl>
                                          <p:spTgt spid="54"/>
                                        </p:tgtEl>
                                        <p:attrNameLst>
                                          <p:attrName>style.visibility</p:attrName>
                                        </p:attrNameLst>
                                      </p:cBhvr>
                                      <p:to>
                                        <p:strVal val="visible"/>
                                      </p:to>
                                    </p:set>
                                    <p:animEffect transition="in" filter="fade">
                                      <p:cBhvr>
                                        <p:cTn id="119" dur="750"/>
                                        <p:tgtEl>
                                          <p:spTgt spid="54"/>
                                        </p:tgtEl>
                                      </p:cBhvr>
                                    </p:animEffect>
                                  </p:childTnLst>
                                </p:cTn>
                              </p:par>
                              <p:par>
                                <p:cTn id="120" presetID="42" presetClass="path" presetSubtype="0" decel="100000" fill="hold" grpId="1" nodeType="withEffect">
                                  <p:stCondLst>
                                    <p:cond delay="250"/>
                                  </p:stCondLst>
                                  <p:childTnLst>
                                    <p:animMotion origin="layout" path="M 1.25E-6 0.03889 L 1.25E-6 1.11111E-6 " pathEditMode="relative" rAng="0" ptsTypes="AA">
                                      <p:cBhvr>
                                        <p:cTn id="121" dur="750" fill="hold"/>
                                        <p:tgtEl>
                                          <p:spTgt spid="54"/>
                                        </p:tgtEl>
                                        <p:attrNameLst>
                                          <p:attrName>ppt_x</p:attrName>
                                          <p:attrName>ppt_y</p:attrName>
                                        </p:attrNameLst>
                                      </p:cBhvr>
                                      <p:rCtr x="0" y="-1944"/>
                                    </p:animMotion>
                                  </p:childTnLst>
                                </p:cTn>
                              </p:par>
                              <p:par>
                                <p:cTn id="122" presetID="23" presetClass="entr" presetSubtype="16" fill="hold" nodeType="withEffect">
                                  <p:stCondLst>
                                    <p:cond delay="400"/>
                                  </p:stCondLst>
                                  <p:childTnLst>
                                    <p:set>
                                      <p:cBhvr>
                                        <p:cTn id="123" dur="1" fill="hold">
                                          <p:stCondLst>
                                            <p:cond delay="0"/>
                                          </p:stCondLst>
                                        </p:cTn>
                                        <p:tgtEl>
                                          <p:spTgt spid="55"/>
                                        </p:tgtEl>
                                        <p:attrNameLst>
                                          <p:attrName>style.visibility</p:attrName>
                                        </p:attrNameLst>
                                      </p:cBhvr>
                                      <p:to>
                                        <p:strVal val="visible"/>
                                      </p:to>
                                    </p:set>
                                    <p:anim calcmode="lin" valueType="num">
                                      <p:cBhvr>
                                        <p:cTn id="124" dur="250" fill="hold"/>
                                        <p:tgtEl>
                                          <p:spTgt spid="55"/>
                                        </p:tgtEl>
                                        <p:attrNameLst>
                                          <p:attrName>ppt_w</p:attrName>
                                        </p:attrNameLst>
                                      </p:cBhvr>
                                      <p:tavLst>
                                        <p:tav tm="0">
                                          <p:val>
                                            <p:fltVal val="0"/>
                                          </p:val>
                                        </p:tav>
                                        <p:tav tm="100000">
                                          <p:val>
                                            <p:strVal val="#ppt_w"/>
                                          </p:val>
                                        </p:tav>
                                      </p:tavLst>
                                    </p:anim>
                                    <p:anim calcmode="lin" valueType="num">
                                      <p:cBhvr>
                                        <p:cTn id="125" dur="250" fill="hold"/>
                                        <p:tgtEl>
                                          <p:spTgt spid="55"/>
                                        </p:tgtEl>
                                        <p:attrNameLst>
                                          <p:attrName>ppt_h</p:attrName>
                                        </p:attrNameLst>
                                      </p:cBhvr>
                                      <p:tavLst>
                                        <p:tav tm="0">
                                          <p:val>
                                            <p:fltVal val="0"/>
                                          </p:val>
                                        </p:tav>
                                        <p:tav tm="100000">
                                          <p:val>
                                            <p:strVal val="#ppt_h"/>
                                          </p:val>
                                        </p:tav>
                                      </p:tavLst>
                                    </p:anim>
                                  </p:childTnLst>
                                </p:cTn>
                              </p:par>
                              <p:par>
                                <p:cTn id="126" presetID="10" presetClass="entr" presetSubtype="0" fill="hold" nodeType="withEffect">
                                  <p:stCondLst>
                                    <p:cond delay="40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500"/>
                                        <p:tgtEl>
                                          <p:spTgt spid="55"/>
                                        </p:tgtEl>
                                      </p:cBhvr>
                                    </p:animEffect>
                                  </p:childTnLst>
                                </p:cTn>
                              </p:par>
                              <p:par>
                                <p:cTn id="129" presetID="6" presetClass="emph" presetSubtype="0" fill="hold" nodeType="withEffect">
                                  <p:stCondLst>
                                    <p:cond delay="400"/>
                                  </p:stCondLst>
                                  <p:childTnLst>
                                    <p:animScale>
                                      <p:cBhvr>
                                        <p:cTn id="130" dur="10" fill="hold"/>
                                        <p:tgtEl>
                                          <p:spTgt spid="55"/>
                                        </p:tgtEl>
                                      </p:cBhvr>
                                      <p:by x="80000" y="80000"/>
                                    </p:animScale>
                                  </p:childTnLst>
                                </p:cTn>
                              </p:par>
                              <p:par>
                                <p:cTn id="131" presetID="6" presetClass="emph" presetSubtype="0" decel="100000" fill="hold" nodeType="withEffect">
                                  <p:stCondLst>
                                    <p:cond delay="400"/>
                                  </p:stCondLst>
                                  <p:childTnLst>
                                    <p:animScale>
                                      <p:cBhvr>
                                        <p:cTn id="132" dur="1000" fill="hold"/>
                                        <p:tgtEl>
                                          <p:spTgt spid="55"/>
                                        </p:tgtEl>
                                      </p:cBhvr>
                                      <p:by x="125000" y="125000"/>
                                    </p:animScale>
                                  </p:childTnLst>
                                </p:cTn>
                              </p:par>
                              <p:par>
                                <p:cTn id="133" presetID="10" presetClass="entr" presetSubtype="0" fill="hold" grpId="0" nodeType="withEffect">
                                  <p:stCondLst>
                                    <p:cond delay="250"/>
                                  </p:stCondLst>
                                  <p:childTnLst>
                                    <p:set>
                                      <p:cBhvr>
                                        <p:cTn id="134" dur="1" fill="hold">
                                          <p:stCondLst>
                                            <p:cond delay="0"/>
                                          </p:stCondLst>
                                        </p:cTn>
                                        <p:tgtEl>
                                          <p:spTgt spid="58"/>
                                        </p:tgtEl>
                                        <p:attrNameLst>
                                          <p:attrName>style.visibility</p:attrName>
                                        </p:attrNameLst>
                                      </p:cBhvr>
                                      <p:to>
                                        <p:strVal val="visible"/>
                                      </p:to>
                                    </p:set>
                                    <p:animEffect transition="in" filter="fade">
                                      <p:cBhvr>
                                        <p:cTn id="135" dur="750"/>
                                        <p:tgtEl>
                                          <p:spTgt spid="58"/>
                                        </p:tgtEl>
                                      </p:cBhvr>
                                    </p:animEffect>
                                  </p:childTnLst>
                                </p:cTn>
                              </p:par>
                              <p:par>
                                <p:cTn id="136" presetID="42" presetClass="path" presetSubtype="0" decel="100000" fill="hold" grpId="1" nodeType="withEffect">
                                  <p:stCondLst>
                                    <p:cond delay="250"/>
                                  </p:stCondLst>
                                  <p:childTnLst>
                                    <p:animMotion origin="layout" path="M 1.25E-6 0.03889 L 1.25E-6 -4.44444E-6 " pathEditMode="relative" rAng="0" ptsTypes="AA">
                                      <p:cBhvr>
                                        <p:cTn id="137" dur="750" fill="hold"/>
                                        <p:tgtEl>
                                          <p:spTgt spid="58"/>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30" grpId="0" animBg="1"/>
      <p:bldP spid="30" grpId="1" animBg="1"/>
      <p:bldP spid="34" grpId="0" animBg="1"/>
      <p:bldP spid="34" grpId="1" animBg="1"/>
      <p:bldP spid="38" grpId="0" animBg="1"/>
      <p:bldP spid="38" grpId="1" animBg="1"/>
      <p:bldP spid="42" grpId="0" animBg="1"/>
      <p:bldP spid="42" grpId="1" animBg="1"/>
      <p:bldP spid="46" grpId="0" animBg="1"/>
      <p:bldP spid="46" grpId="1" animBg="1"/>
      <p:bldP spid="50" grpId="0" animBg="1"/>
      <p:bldP spid="50" grpId="1" animBg="1"/>
      <p:bldP spid="54" grpId="0" animBg="1"/>
      <p:bldP spid="54" grpId="1" animBg="1"/>
      <p:bldP spid="58" grpId="0"/>
      <p:bldP spid="58"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938B0-570A-ECA4-B1AE-7EED8B29B36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3EE86EC-A558-6E3B-986A-D7BC7341F495}"/>
              </a:ext>
            </a:extLst>
          </p:cNvPr>
          <p:cNvSpPr>
            <a:spLocks noGrp="1"/>
          </p:cNvSpPr>
          <p:nvPr>
            <p:ph type="title"/>
          </p:nvPr>
        </p:nvSpPr>
        <p:spPr>
          <a:xfrm>
            <a:off x="584200" y="2303312"/>
            <a:ext cx="8233979" cy="3046988"/>
          </a:xfrm>
        </p:spPr>
        <p:txBody>
          <a:bodyPr/>
          <a:lstStyle/>
          <a:p>
            <a:r>
              <a:rPr lang="en-US"/>
              <a:t>Lesson 2 - </a:t>
            </a:r>
            <a:r>
              <a:rPr lang="en-US" err="1"/>
              <a:t>GenAIOps</a:t>
            </a:r>
            <a:r>
              <a:rPr lang="en-US"/>
              <a:t> Maturity Levels </a:t>
            </a:r>
          </a:p>
        </p:txBody>
      </p:sp>
      <p:sp>
        <p:nvSpPr>
          <p:cNvPr id="2" name="Text Placeholder 1">
            <a:extLst>
              <a:ext uri="{FF2B5EF4-FFF2-40B4-BE49-F238E27FC236}">
                <a16:creationId xmlns:a16="http://schemas.microsoft.com/office/drawing/2014/main" id="{40EEF1EB-C9D6-3AF2-B5BB-411B8C414A9D}"/>
              </a:ext>
            </a:extLst>
          </p:cNvPr>
          <p:cNvSpPr>
            <a:spLocks noGrp="1"/>
          </p:cNvSpPr>
          <p:nvPr>
            <p:ph type="body" sz="quarter" idx="12"/>
          </p:nvPr>
        </p:nvSpPr>
        <p:spPr/>
        <p:txBody>
          <a:bodyPr/>
          <a:lstStyle/>
          <a:p>
            <a:endParaRPr lang="en-US"/>
          </a:p>
        </p:txBody>
      </p:sp>
      <p:sp>
        <p:nvSpPr>
          <p:cNvPr id="4" name="Slide Number Placeholder 3">
            <a:extLst>
              <a:ext uri="{FF2B5EF4-FFF2-40B4-BE49-F238E27FC236}">
                <a16:creationId xmlns:a16="http://schemas.microsoft.com/office/drawing/2014/main" id="{91B3E369-4350-CD9E-7A90-467F13F72ECD}"/>
              </a:ext>
            </a:extLst>
          </p:cNvPr>
          <p:cNvSpPr>
            <a:spLocks noGrp="1"/>
          </p:cNvSpPr>
          <p:nvPr>
            <p:ph type="sldNum" sz="quarter" idx="4294967295"/>
          </p:nvPr>
        </p:nvSpPr>
        <p:spPr>
          <a:xfrm>
            <a:off x="11787188" y="6538913"/>
            <a:ext cx="404812" cy="1238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2933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2D6D1F4E-DDFA-4E70-2EC1-A053A224FCF9}"/>
              </a:ext>
            </a:extLst>
          </p:cNvPr>
          <p:cNvSpPr>
            <a:spLocks noGrp="1"/>
          </p:cNvSpPr>
          <p:nvPr>
            <p:ph type="title"/>
          </p:nvPr>
        </p:nvSpPr>
        <p:spPr>
          <a:xfrm>
            <a:off x="575481" y="599436"/>
            <a:ext cx="11018520" cy="553998"/>
          </a:xfrm>
        </p:spPr>
        <p:txBody>
          <a:bodyPr/>
          <a:lstStyle/>
          <a:p>
            <a:r>
              <a:rPr lang="en-GB" err="1">
                <a:latin typeface="+mn-lt"/>
              </a:rPr>
              <a:t>GenAIOps</a:t>
            </a:r>
            <a:endParaRPr lang="en-GB">
              <a:latin typeface="+mn-lt"/>
            </a:endParaRPr>
          </a:p>
        </p:txBody>
      </p:sp>
      <p:sp>
        <p:nvSpPr>
          <p:cNvPr id="3" name="Text Placeholder 2">
            <a:extLst>
              <a:ext uri="{FF2B5EF4-FFF2-40B4-BE49-F238E27FC236}">
                <a16:creationId xmlns:a16="http://schemas.microsoft.com/office/drawing/2014/main" id="{42E750B1-B42A-C5B4-5812-3BFA381E7D68}"/>
              </a:ext>
            </a:extLst>
          </p:cNvPr>
          <p:cNvSpPr>
            <a:spLocks noGrp="1"/>
          </p:cNvSpPr>
          <p:nvPr>
            <p:ph type="body" sz="quarter" idx="12"/>
          </p:nvPr>
        </p:nvSpPr>
        <p:spPr/>
        <p:txBody>
          <a:bodyPr/>
          <a:lstStyle/>
          <a:p>
            <a:r>
              <a:rPr lang="en-US"/>
              <a:t>Maturity Levels</a:t>
            </a:r>
          </a:p>
        </p:txBody>
      </p:sp>
      <p:sp>
        <p:nvSpPr>
          <p:cNvPr id="35" name="Rectangle: Rounded Corners 34">
            <a:extLst>
              <a:ext uri="{FF2B5EF4-FFF2-40B4-BE49-F238E27FC236}">
                <a16:creationId xmlns:a16="http://schemas.microsoft.com/office/drawing/2014/main" id="{AD34257F-8AD5-3228-EDF6-514AA3F13192}"/>
              </a:ext>
            </a:extLst>
          </p:cNvPr>
          <p:cNvSpPr/>
          <p:nvPr/>
        </p:nvSpPr>
        <p:spPr bwMode="auto">
          <a:xfrm>
            <a:off x="2861972" y="4008775"/>
            <a:ext cx="582386" cy="582386"/>
          </a:xfrm>
          <a:prstGeom prst="roundRect">
            <a:avLst>
              <a:gd name="adj" fmla="val 7046"/>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ExtraBold" pitchFamily="2" charset="0"/>
                <a:ea typeface="Segoe Sans Text" pitchFamily="2" charset="0"/>
                <a:cs typeface="Segoe Sans Text ExtraBold" pitchFamily="2" charset="0"/>
              </a:rPr>
              <a:t>1</a:t>
            </a:r>
          </a:p>
        </p:txBody>
      </p:sp>
      <p:sp>
        <p:nvSpPr>
          <p:cNvPr id="225" name="TextBox 224">
            <a:extLst>
              <a:ext uri="{FF2B5EF4-FFF2-40B4-BE49-F238E27FC236}">
                <a16:creationId xmlns:a16="http://schemas.microsoft.com/office/drawing/2014/main" id="{EC0B48DF-261F-9D90-FF81-7C535B246F2B}"/>
              </a:ext>
            </a:extLst>
          </p:cNvPr>
          <p:cNvSpPr txBox="1"/>
          <p:nvPr/>
        </p:nvSpPr>
        <p:spPr>
          <a:xfrm>
            <a:off x="2382190" y="3745261"/>
            <a:ext cx="1541950" cy="169277"/>
          </a:xfrm>
          <a:prstGeom prst="rect">
            <a:avLst/>
          </a:prstGeom>
          <a:noFill/>
        </p:spPr>
        <p:txBody>
          <a:bodyPr wrap="square" lIns="0" tIns="0" rIns="0" bIns="0" rtlCol="0">
            <a:spAutoFit/>
          </a:bodyPr>
          <a:lstStyle/>
          <a:p>
            <a:pPr algn="ctr">
              <a:spcAft>
                <a:spcPts val="1333"/>
              </a:spcAft>
              <a:buSzPct val="100000"/>
            </a:pPr>
            <a:r>
              <a:rPr lang="en-GB" sz="1100" b="1"/>
              <a:t>INITIAL</a:t>
            </a:r>
          </a:p>
        </p:txBody>
      </p:sp>
      <p:grpSp>
        <p:nvGrpSpPr>
          <p:cNvPr id="249" name="Group 248">
            <a:extLst>
              <a:ext uri="{FF2B5EF4-FFF2-40B4-BE49-F238E27FC236}">
                <a16:creationId xmlns:a16="http://schemas.microsoft.com/office/drawing/2014/main" id="{B589CF2E-D9F4-6FE7-1973-6C2AFB980824}"/>
              </a:ext>
            </a:extLst>
          </p:cNvPr>
          <p:cNvGrpSpPr/>
          <p:nvPr/>
        </p:nvGrpSpPr>
        <p:grpSpPr>
          <a:xfrm>
            <a:off x="2208301" y="5185160"/>
            <a:ext cx="1889728" cy="1534598"/>
            <a:chOff x="2025929" y="4561401"/>
            <a:chExt cx="1541950" cy="1534598"/>
          </a:xfrm>
        </p:grpSpPr>
        <p:grpSp>
          <p:nvGrpSpPr>
            <p:cNvPr id="218" name="Group 217">
              <a:extLst>
                <a:ext uri="{FF2B5EF4-FFF2-40B4-BE49-F238E27FC236}">
                  <a16:creationId xmlns:a16="http://schemas.microsoft.com/office/drawing/2014/main" id="{3AF06F4E-84F5-76D5-D43F-95E37DE0E1EF}"/>
                </a:ext>
              </a:extLst>
            </p:cNvPr>
            <p:cNvGrpSpPr>
              <a:grpSpLocks/>
            </p:cNvGrpSpPr>
            <p:nvPr/>
          </p:nvGrpSpPr>
          <p:grpSpPr>
            <a:xfrm>
              <a:off x="2025929" y="4561401"/>
              <a:ext cx="1541950" cy="1534598"/>
              <a:chOff x="556578" y="1051172"/>
              <a:chExt cx="2591837" cy="6187827"/>
            </a:xfrm>
          </p:grpSpPr>
          <p:sp useBgFill="1">
            <p:nvSpPr>
              <p:cNvPr id="219" name="Rectangle: Rounded Corners 218">
                <a:extLst>
                  <a:ext uri="{FF2B5EF4-FFF2-40B4-BE49-F238E27FC236}">
                    <a16:creationId xmlns:a16="http://schemas.microsoft.com/office/drawing/2014/main" id="{611BF51C-AC68-8656-C1F2-D9FC5CFFEFB6}"/>
                  </a:ext>
                </a:extLst>
              </p:cNvPr>
              <p:cNvSpPr/>
              <p:nvPr/>
            </p:nvSpPr>
            <p:spPr bwMode="auto">
              <a:xfrm>
                <a:off x="556578" y="1051172"/>
                <a:ext cx="2591837" cy="6187827"/>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20" name="Rectangle: Rounded Corners 219">
                <a:extLst>
                  <a:ext uri="{FF2B5EF4-FFF2-40B4-BE49-F238E27FC236}">
                    <a16:creationId xmlns:a16="http://schemas.microsoft.com/office/drawing/2014/main" id="{F14CB375-8FBE-9364-A31D-23D089A0A6AE}"/>
                  </a:ext>
                </a:extLst>
              </p:cNvPr>
              <p:cNvSpPr/>
              <p:nvPr/>
            </p:nvSpPr>
            <p:spPr bwMode="auto">
              <a:xfrm>
                <a:off x="556578" y="1051172"/>
                <a:ext cx="2591837" cy="6187827"/>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28" name="TextBox 227">
              <a:extLst>
                <a:ext uri="{FF2B5EF4-FFF2-40B4-BE49-F238E27FC236}">
                  <a16:creationId xmlns:a16="http://schemas.microsoft.com/office/drawing/2014/main" id="{C7D8D321-3828-E882-0917-889AC38012A3}"/>
                </a:ext>
              </a:extLst>
            </p:cNvPr>
            <p:cNvSpPr txBox="1"/>
            <p:nvPr/>
          </p:nvSpPr>
          <p:spPr>
            <a:xfrm>
              <a:off x="2148024" y="4703233"/>
              <a:ext cx="1297760" cy="795089"/>
            </a:xfrm>
            <a:prstGeom prst="rect">
              <a:avLst/>
            </a:prstGeom>
            <a:noFill/>
          </p:spPr>
          <p:txBody>
            <a:bodyPr wrap="square" lIns="0" tIns="0" rIns="0" bIns="0" rtlCol="0" anchor="t" anchorCtr="0">
              <a:noAutofit/>
            </a:bodyPr>
            <a:lstStyle/>
            <a:p>
              <a:pPr algn="ctr">
                <a:spcAft>
                  <a:spcPts val="1333"/>
                </a:spcAft>
                <a:buSzPct val="100000"/>
              </a:pPr>
              <a:r>
                <a:rPr lang="en-GB" sz="1050">
                  <a:solidFill>
                    <a:schemeClr val="bg1"/>
                  </a:solidFill>
                  <a:ea typeface="Segoe Sans Text" pitchFamily="2" charset="0"/>
                  <a:cs typeface="Segoe Sans Text" pitchFamily="2" charset="0"/>
                </a:rPr>
                <a:t>Discovery of models and testing prompts</a:t>
              </a:r>
            </a:p>
            <a:p>
              <a:pPr algn="ctr">
                <a:spcAft>
                  <a:spcPts val="1333"/>
                </a:spcAft>
                <a:buSzPct val="100000"/>
              </a:pPr>
              <a:r>
                <a:rPr lang="en-GB" sz="1050">
                  <a:solidFill>
                    <a:schemeClr val="bg1"/>
                  </a:solidFill>
                  <a:ea typeface="Segoe Sans Text" pitchFamily="2" charset="0"/>
                  <a:cs typeface="Segoe Sans Text" pitchFamily="2" charset="0"/>
                </a:rPr>
                <a:t>Basic evaluation and monitoring</a:t>
              </a:r>
            </a:p>
          </p:txBody>
        </p:sp>
      </p:grpSp>
      <p:sp>
        <p:nvSpPr>
          <p:cNvPr id="8" name="TextBox 7">
            <a:extLst>
              <a:ext uri="{FF2B5EF4-FFF2-40B4-BE49-F238E27FC236}">
                <a16:creationId xmlns:a16="http://schemas.microsoft.com/office/drawing/2014/main" id="{FA656EC6-A417-3C12-0523-97F829B6E1CE}"/>
              </a:ext>
            </a:extLst>
          </p:cNvPr>
          <p:cNvSpPr txBox="1"/>
          <p:nvPr/>
        </p:nvSpPr>
        <p:spPr>
          <a:xfrm>
            <a:off x="2232557" y="4731759"/>
            <a:ext cx="1841216" cy="338554"/>
          </a:xfrm>
          <a:prstGeom prst="rect">
            <a:avLst/>
          </a:prstGeom>
          <a:noFill/>
        </p:spPr>
        <p:txBody>
          <a:bodyPr wrap="square" lIns="0" tIns="0" rIns="0" bIns="0" rtlCol="0">
            <a:spAutoFit/>
          </a:bodyPr>
          <a:lstStyle/>
          <a:p>
            <a:pPr algn="ctr">
              <a:spcAft>
                <a:spcPts val="1333"/>
              </a:spcAft>
              <a:buSzPct val="100000"/>
            </a:pPr>
            <a:r>
              <a:rPr lang="en-GB" sz="1100" b="1"/>
              <a:t>Operational Excellence and Continuous Improvement</a:t>
            </a:r>
          </a:p>
        </p:txBody>
      </p:sp>
      <p:sp>
        <p:nvSpPr>
          <p:cNvPr id="11" name="Rectangle: Rounded Corners 10">
            <a:extLst>
              <a:ext uri="{FF2B5EF4-FFF2-40B4-BE49-F238E27FC236}">
                <a16:creationId xmlns:a16="http://schemas.microsoft.com/office/drawing/2014/main" id="{EF405D0B-DF2A-B0CC-229E-B34B3B32E493}"/>
              </a:ext>
            </a:extLst>
          </p:cNvPr>
          <p:cNvSpPr/>
          <p:nvPr/>
        </p:nvSpPr>
        <p:spPr bwMode="auto">
          <a:xfrm>
            <a:off x="4938422" y="3426389"/>
            <a:ext cx="582386" cy="582386"/>
          </a:xfrm>
          <a:prstGeom prst="roundRect">
            <a:avLst>
              <a:gd name="adj" fmla="val 7046"/>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ExtraBold" pitchFamily="2" charset="0"/>
                <a:ea typeface="Segoe Sans Text" pitchFamily="2" charset="0"/>
                <a:cs typeface="Segoe Sans Text ExtraBold" pitchFamily="2" charset="0"/>
              </a:rPr>
              <a:t>2</a:t>
            </a:r>
          </a:p>
        </p:txBody>
      </p:sp>
      <p:sp>
        <p:nvSpPr>
          <p:cNvPr id="12" name="TextBox 11">
            <a:extLst>
              <a:ext uri="{FF2B5EF4-FFF2-40B4-BE49-F238E27FC236}">
                <a16:creationId xmlns:a16="http://schemas.microsoft.com/office/drawing/2014/main" id="{3A9CEFBF-A4F1-91E7-6024-08F3AE59046F}"/>
              </a:ext>
            </a:extLst>
          </p:cNvPr>
          <p:cNvSpPr txBox="1"/>
          <p:nvPr/>
        </p:nvSpPr>
        <p:spPr>
          <a:xfrm>
            <a:off x="4458640" y="3162875"/>
            <a:ext cx="1541950" cy="169277"/>
          </a:xfrm>
          <a:prstGeom prst="rect">
            <a:avLst/>
          </a:prstGeom>
          <a:noFill/>
        </p:spPr>
        <p:txBody>
          <a:bodyPr wrap="square" lIns="0" tIns="0" rIns="0" bIns="0" rtlCol="0">
            <a:spAutoFit/>
          </a:bodyPr>
          <a:lstStyle/>
          <a:p>
            <a:pPr algn="ctr">
              <a:spcAft>
                <a:spcPts val="1333"/>
              </a:spcAft>
              <a:buSzPct val="100000"/>
            </a:pPr>
            <a:r>
              <a:rPr lang="en-GB" sz="1100" b="1"/>
              <a:t>DEFINED</a:t>
            </a:r>
          </a:p>
        </p:txBody>
      </p:sp>
      <p:grpSp>
        <p:nvGrpSpPr>
          <p:cNvPr id="13" name="Group 12">
            <a:extLst>
              <a:ext uri="{FF2B5EF4-FFF2-40B4-BE49-F238E27FC236}">
                <a16:creationId xmlns:a16="http://schemas.microsoft.com/office/drawing/2014/main" id="{4E7DF427-1CE6-29A9-0C45-3757A929ED6D}"/>
              </a:ext>
            </a:extLst>
          </p:cNvPr>
          <p:cNvGrpSpPr/>
          <p:nvPr/>
        </p:nvGrpSpPr>
        <p:grpSpPr>
          <a:xfrm>
            <a:off x="4284751" y="4602774"/>
            <a:ext cx="1889728" cy="1534598"/>
            <a:chOff x="2025929" y="4561401"/>
            <a:chExt cx="1541950" cy="1534598"/>
          </a:xfrm>
        </p:grpSpPr>
        <p:grpSp>
          <p:nvGrpSpPr>
            <p:cNvPr id="14" name="Group 13">
              <a:extLst>
                <a:ext uri="{FF2B5EF4-FFF2-40B4-BE49-F238E27FC236}">
                  <a16:creationId xmlns:a16="http://schemas.microsoft.com/office/drawing/2014/main" id="{E436ED60-EF5B-72CB-1781-89861AF633EC}"/>
                </a:ext>
              </a:extLst>
            </p:cNvPr>
            <p:cNvGrpSpPr>
              <a:grpSpLocks/>
            </p:cNvGrpSpPr>
            <p:nvPr/>
          </p:nvGrpSpPr>
          <p:grpSpPr>
            <a:xfrm>
              <a:off x="2025929" y="4561401"/>
              <a:ext cx="1541950" cy="1534598"/>
              <a:chOff x="556578" y="1051172"/>
              <a:chExt cx="2591837" cy="6187827"/>
            </a:xfrm>
          </p:grpSpPr>
          <p:sp useBgFill="1">
            <p:nvSpPr>
              <p:cNvPr id="16" name="Rectangle: Rounded Corners 15">
                <a:extLst>
                  <a:ext uri="{FF2B5EF4-FFF2-40B4-BE49-F238E27FC236}">
                    <a16:creationId xmlns:a16="http://schemas.microsoft.com/office/drawing/2014/main" id="{456A68E8-FF4D-B3E1-B7B5-87C5BB3A37BB}"/>
                  </a:ext>
                </a:extLst>
              </p:cNvPr>
              <p:cNvSpPr/>
              <p:nvPr/>
            </p:nvSpPr>
            <p:spPr bwMode="auto">
              <a:xfrm>
                <a:off x="556578" y="1051172"/>
                <a:ext cx="2591837" cy="6187827"/>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1" name="Rectangle: Rounded Corners 20">
                <a:extLst>
                  <a:ext uri="{FF2B5EF4-FFF2-40B4-BE49-F238E27FC236}">
                    <a16:creationId xmlns:a16="http://schemas.microsoft.com/office/drawing/2014/main" id="{C8E6703E-80AC-C63B-9CD2-0EDD26CA27C1}"/>
                  </a:ext>
                </a:extLst>
              </p:cNvPr>
              <p:cNvSpPr/>
              <p:nvPr/>
            </p:nvSpPr>
            <p:spPr bwMode="auto">
              <a:xfrm>
                <a:off x="556578" y="1051172"/>
                <a:ext cx="2591837" cy="6187827"/>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15" name="TextBox 14">
              <a:extLst>
                <a:ext uri="{FF2B5EF4-FFF2-40B4-BE49-F238E27FC236}">
                  <a16:creationId xmlns:a16="http://schemas.microsoft.com/office/drawing/2014/main" id="{9A836BA2-1A42-0F55-12D0-954F4D063E23}"/>
                </a:ext>
              </a:extLst>
            </p:cNvPr>
            <p:cNvSpPr txBox="1"/>
            <p:nvPr/>
          </p:nvSpPr>
          <p:spPr>
            <a:xfrm>
              <a:off x="2148024" y="4703233"/>
              <a:ext cx="1297760" cy="795089"/>
            </a:xfrm>
            <a:prstGeom prst="rect">
              <a:avLst/>
            </a:prstGeom>
            <a:noFill/>
          </p:spPr>
          <p:txBody>
            <a:bodyPr wrap="square" lIns="0" tIns="0" rIns="0" bIns="0" rtlCol="0" anchor="t" anchorCtr="0">
              <a:noAutofit/>
            </a:bodyPr>
            <a:lstStyle/>
            <a:p>
              <a:pPr algn="ctr">
                <a:spcAft>
                  <a:spcPts val="1333"/>
                </a:spcAft>
                <a:buSzPct val="100000"/>
              </a:pPr>
              <a:r>
                <a:rPr lang="en-GB" sz="1050">
                  <a:solidFill>
                    <a:schemeClr val="bg1"/>
                  </a:solidFill>
                  <a:ea typeface="Segoe Sans Text" pitchFamily="2" charset="0"/>
                  <a:cs typeface="Segoe Sans Text" pitchFamily="2" charset="0"/>
                </a:rPr>
                <a:t>Iterative model augmentation with prompt engineering and RAG</a:t>
              </a:r>
            </a:p>
            <a:p>
              <a:pPr algn="ctr">
                <a:spcAft>
                  <a:spcPts val="1333"/>
                </a:spcAft>
                <a:buSzPct val="100000"/>
              </a:pPr>
              <a:r>
                <a:rPr lang="en-GB" sz="1050">
                  <a:solidFill>
                    <a:schemeClr val="bg1"/>
                  </a:solidFill>
                  <a:ea typeface="Segoe Sans Text" pitchFamily="2" charset="0"/>
                  <a:cs typeface="Segoe Sans Text" pitchFamily="2" charset="0"/>
                </a:rPr>
                <a:t>Structured deployment and prompt-based evaluations</a:t>
              </a:r>
            </a:p>
          </p:txBody>
        </p:sp>
      </p:grpSp>
      <p:sp>
        <p:nvSpPr>
          <p:cNvPr id="22" name="TextBox 21">
            <a:extLst>
              <a:ext uri="{FF2B5EF4-FFF2-40B4-BE49-F238E27FC236}">
                <a16:creationId xmlns:a16="http://schemas.microsoft.com/office/drawing/2014/main" id="{675244C2-C4C8-3950-28E1-5B9729C2A96C}"/>
              </a:ext>
            </a:extLst>
          </p:cNvPr>
          <p:cNvSpPr txBox="1"/>
          <p:nvPr/>
        </p:nvSpPr>
        <p:spPr>
          <a:xfrm>
            <a:off x="4309007" y="4149373"/>
            <a:ext cx="1841216" cy="338554"/>
          </a:xfrm>
          <a:prstGeom prst="rect">
            <a:avLst/>
          </a:prstGeom>
          <a:noFill/>
        </p:spPr>
        <p:txBody>
          <a:bodyPr wrap="square" lIns="0" tIns="0" rIns="0" bIns="0" rtlCol="0">
            <a:spAutoFit/>
          </a:bodyPr>
          <a:lstStyle/>
          <a:p>
            <a:pPr algn="ctr">
              <a:spcAft>
                <a:spcPts val="1333"/>
              </a:spcAft>
              <a:buSzPct val="100000"/>
            </a:pPr>
            <a:r>
              <a:rPr lang="en-GB" sz="1100" b="1"/>
              <a:t>Systematizing LLM                Apps Development</a:t>
            </a:r>
          </a:p>
        </p:txBody>
      </p:sp>
      <p:sp>
        <p:nvSpPr>
          <p:cNvPr id="23" name="Rectangle: Rounded Corners 22">
            <a:extLst>
              <a:ext uri="{FF2B5EF4-FFF2-40B4-BE49-F238E27FC236}">
                <a16:creationId xmlns:a16="http://schemas.microsoft.com/office/drawing/2014/main" id="{815BCF7D-5B88-40B1-1BC3-577B076FA2D1}"/>
              </a:ext>
            </a:extLst>
          </p:cNvPr>
          <p:cNvSpPr/>
          <p:nvPr/>
        </p:nvSpPr>
        <p:spPr bwMode="auto">
          <a:xfrm>
            <a:off x="6985194" y="2844003"/>
            <a:ext cx="582386" cy="582386"/>
          </a:xfrm>
          <a:prstGeom prst="roundRect">
            <a:avLst>
              <a:gd name="adj" fmla="val 7046"/>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ExtraBold" pitchFamily="2" charset="0"/>
                <a:ea typeface="Segoe Sans Text" pitchFamily="2" charset="0"/>
                <a:cs typeface="Segoe Sans Text ExtraBold" pitchFamily="2" charset="0"/>
              </a:rPr>
              <a:t>3</a:t>
            </a:r>
          </a:p>
        </p:txBody>
      </p:sp>
      <p:sp>
        <p:nvSpPr>
          <p:cNvPr id="24" name="TextBox 23">
            <a:extLst>
              <a:ext uri="{FF2B5EF4-FFF2-40B4-BE49-F238E27FC236}">
                <a16:creationId xmlns:a16="http://schemas.microsoft.com/office/drawing/2014/main" id="{03D82B01-3D84-CABC-4A48-056FD7A58218}"/>
              </a:ext>
            </a:extLst>
          </p:cNvPr>
          <p:cNvSpPr txBox="1"/>
          <p:nvPr/>
        </p:nvSpPr>
        <p:spPr>
          <a:xfrm>
            <a:off x="6505412" y="2580489"/>
            <a:ext cx="1541950" cy="169277"/>
          </a:xfrm>
          <a:prstGeom prst="rect">
            <a:avLst/>
          </a:prstGeom>
          <a:noFill/>
        </p:spPr>
        <p:txBody>
          <a:bodyPr wrap="square" lIns="0" tIns="0" rIns="0" bIns="0" rtlCol="0">
            <a:spAutoFit/>
          </a:bodyPr>
          <a:lstStyle/>
          <a:p>
            <a:pPr algn="ctr">
              <a:spcAft>
                <a:spcPts val="1333"/>
              </a:spcAft>
              <a:buSzPct val="100000"/>
            </a:pPr>
            <a:r>
              <a:rPr lang="en-GB" sz="1100" b="1"/>
              <a:t>MANAGED</a:t>
            </a:r>
          </a:p>
        </p:txBody>
      </p:sp>
      <p:grpSp>
        <p:nvGrpSpPr>
          <p:cNvPr id="25" name="Group 24">
            <a:extLst>
              <a:ext uri="{FF2B5EF4-FFF2-40B4-BE49-F238E27FC236}">
                <a16:creationId xmlns:a16="http://schemas.microsoft.com/office/drawing/2014/main" id="{9A961BBD-6599-6535-EE28-8474C790A40F}"/>
              </a:ext>
            </a:extLst>
          </p:cNvPr>
          <p:cNvGrpSpPr/>
          <p:nvPr/>
        </p:nvGrpSpPr>
        <p:grpSpPr>
          <a:xfrm>
            <a:off x="6331523" y="4020388"/>
            <a:ext cx="1889728" cy="1534598"/>
            <a:chOff x="2025929" y="4561401"/>
            <a:chExt cx="1541950" cy="1534598"/>
          </a:xfrm>
        </p:grpSpPr>
        <p:grpSp>
          <p:nvGrpSpPr>
            <p:cNvPr id="26" name="Group 25">
              <a:extLst>
                <a:ext uri="{FF2B5EF4-FFF2-40B4-BE49-F238E27FC236}">
                  <a16:creationId xmlns:a16="http://schemas.microsoft.com/office/drawing/2014/main" id="{8FD4CE91-19FF-982F-EDAD-3683A0E5CE03}"/>
                </a:ext>
              </a:extLst>
            </p:cNvPr>
            <p:cNvGrpSpPr>
              <a:grpSpLocks/>
            </p:cNvGrpSpPr>
            <p:nvPr/>
          </p:nvGrpSpPr>
          <p:grpSpPr>
            <a:xfrm>
              <a:off x="2025929" y="4561401"/>
              <a:ext cx="1541950" cy="1534598"/>
              <a:chOff x="556578" y="1051172"/>
              <a:chExt cx="2591837" cy="6187827"/>
            </a:xfrm>
          </p:grpSpPr>
          <p:sp useBgFill="1">
            <p:nvSpPr>
              <p:cNvPr id="28" name="Rectangle: Rounded Corners 27">
                <a:extLst>
                  <a:ext uri="{FF2B5EF4-FFF2-40B4-BE49-F238E27FC236}">
                    <a16:creationId xmlns:a16="http://schemas.microsoft.com/office/drawing/2014/main" id="{3BBA5A33-9DC1-387D-1832-F28DD7A7542D}"/>
                  </a:ext>
                </a:extLst>
              </p:cNvPr>
              <p:cNvSpPr/>
              <p:nvPr/>
            </p:nvSpPr>
            <p:spPr bwMode="auto">
              <a:xfrm>
                <a:off x="556578" y="1051172"/>
                <a:ext cx="2591837" cy="6187827"/>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9" name="Rectangle: Rounded Corners 28">
                <a:extLst>
                  <a:ext uri="{FF2B5EF4-FFF2-40B4-BE49-F238E27FC236}">
                    <a16:creationId xmlns:a16="http://schemas.microsoft.com/office/drawing/2014/main" id="{9B0CE16E-BF4C-B1EB-952C-95AF0359487D}"/>
                  </a:ext>
                </a:extLst>
              </p:cNvPr>
              <p:cNvSpPr/>
              <p:nvPr/>
            </p:nvSpPr>
            <p:spPr bwMode="auto">
              <a:xfrm>
                <a:off x="556578" y="1051172"/>
                <a:ext cx="2591837" cy="6187827"/>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7" name="TextBox 26">
              <a:extLst>
                <a:ext uri="{FF2B5EF4-FFF2-40B4-BE49-F238E27FC236}">
                  <a16:creationId xmlns:a16="http://schemas.microsoft.com/office/drawing/2014/main" id="{6DD21F8B-9F22-3C14-F34C-907F3242AB37}"/>
                </a:ext>
              </a:extLst>
            </p:cNvPr>
            <p:cNvSpPr txBox="1"/>
            <p:nvPr/>
          </p:nvSpPr>
          <p:spPr>
            <a:xfrm>
              <a:off x="2148024" y="4703233"/>
              <a:ext cx="1297760" cy="795089"/>
            </a:xfrm>
            <a:prstGeom prst="rect">
              <a:avLst/>
            </a:prstGeom>
            <a:noFill/>
          </p:spPr>
          <p:txBody>
            <a:bodyPr wrap="square" lIns="0" tIns="0" rIns="0" bIns="0" rtlCol="0" anchor="t" anchorCtr="0">
              <a:noAutofit/>
            </a:bodyPr>
            <a:lstStyle/>
            <a:p>
              <a:pPr algn="ctr">
                <a:spcAft>
                  <a:spcPts val="1333"/>
                </a:spcAft>
                <a:buSzPct val="100000"/>
              </a:pPr>
              <a:r>
                <a:rPr lang="en-GB" sz="1050">
                  <a:solidFill>
                    <a:schemeClr val="bg1"/>
                  </a:solidFill>
                  <a:ea typeface="Segoe Sans Text" pitchFamily="2" charset="0"/>
                  <a:cs typeface="Segoe Sans Text" pitchFamily="2" charset="0"/>
                </a:rPr>
                <a:t>Comprehensive prompt management, evaluation, and real-time deployment</a:t>
              </a:r>
            </a:p>
            <a:p>
              <a:pPr algn="ctr">
                <a:spcAft>
                  <a:spcPts val="1333"/>
                </a:spcAft>
                <a:buSzPct val="100000"/>
              </a:pPr>
              <a:r>
                <a:rPr lang="en-GB" sz="1050">
                  <a:solidFill>
                    <a:schemeClr val="bg1"/>
                  </a:solidFill>
                  <a:ea typeface="Segoe Sans Text" pitchFamily="2" charset="0"/>
                  <a:cs typeface="Segoe Sans Text" pitchFamily="2" charset="0"/>
                </a:rPr>
                <a:t>Advanced monitoring and automated alerts</a:t>
              </a:r>
            </a:p>
          </p:txBody>
        </p:sp>
      </p:grpSp>
      <p:sp>
        <p:nvSpPr>
          <p:cNvPr id="30" name="TextBox 29">
            <a:extLst>
              <a:ext uri="{FF2B5EF4-FFF2-40B4-BE49-F238E27FC236}">
                <a16:creationId xmlns:a16="http://schemas.microsoft.com/office/drawing/2014/main" id="{C7F4E637-DA9F-8D3C-B0FA-A8444BB37CA3}"/>
              </a:ext>
            </a:extLst>
          </p:cNvPr>
          <p:cNvSpPr txBox="1"/>
          <p:nvPr/>
        </p:nvSpPr>
        <p:spPr>
          <a:xfrm>
            <a:off x="6355779" y="3566987"/>
            <a:ext cx="1841216" cy="338554"/>
          </a:xfrm>
          <a:prstGeom prst="rect">
            <a:avLst/>
          </a:prstGeom>
          <a:noFill/>
        </p:spPr>
        <p:txBody>
          <a:bodyPr wrap="square" lIns="0" tIns="0" rIns="0" bIns="0" rtlCol="0">
            <a:spAutoFit/>
          </a:bodyPr>
          <a:lstStyle/>
          <a:p>
            <a:pPr algn="ctr">
              <a:spcAft>
                <a:spcPts val="1333"/>
              </a:spcAft>
              <a:buSzPct val="100000"/>
            </a:pPr>
            <a:r>
              <a:rPr lang="en-GB" sz="1100" b="1"/>
              <a:t>Advanced LLM Workflows and Proactive Monitoring</a:t>
            </a:r>
          </a:p>
        </p:txBody>
      </p:sp>
      <p:sp>
        <p:nvSpPr>
          <p:cNvPr id="31" name="Rectangle: Rounded Corners 30">
            <a:extLst>
              <a:ext uri="{FF2B5EF4-FFF2-40B4-BE49-F238E27FC236}">
                <a16:creationId xmlns:a16="http://schemas.microsoft.com/office/drawing/2014/main" id="{4F04C94A-99AC-BA2B-6C1B-A5A115EAC06C}"/>
              </a:ext>
            </a:extLst>
          </p:cNvPr>
          <p:cNvSpPr/>
          <p:nvPr/>
        </p:nvSpPr>
        <p:spPr bwMode="auto">
          <a:xfrm>
            <a:off x="9061644" y="2190694"/>
            <a:ext cx="582386" cy="582386"/>
          </a:xfrm>
          <a:prstGeom prst="roundRect">
            <a:avLst>
              <a:gd name="adj" fmla="val 7046"/>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Text ExtraBold" pitchFamily="2" charset="0"/>
                <a:ea typeface="Segoe Sans Text" pitchFamily="2" charset="0"/>
                <a:cs typeface="Segoe Sans Text ExtraBold" pitchFamily="2" charset="0"/>
              </a:rPr>
              <a:t>4</a:t>
            </a:r>
          </a:p>
        </p:txBody>
      </p:sp>
      <p:sp>
        <p:nvSpPr>
          <p:cNvPr id="32" name="TextBox 31">
            <a:extLst>
              <a:ext uri="{FF2B5EF4-FFF2-40B4-BE49-F238E27FC236}">
                <a16:creationId xmlns:a16="http://schemas.microsoft.com/office/drawing/2014/main" id="{2E5EEC60-5790-7FC7-F186-650C8CCCF17D}"/>
              </a:ext>
            </a:extLst>
          </p:cNvPr>
          <p:cNvSpPr txBox="1"/>
          <p:nvPr/>
        </p:nvSpPr>
        <p:spPr>
          <a:xfrm>
            <a:off x="8581862" y="1927180"/>
            <a:ext cx="1541950" cy="169277"/>
          </a:xfrm>
          <a:prstGeom prst="rect">
            <a:avLst/>
          </a:prstGeom>
          <a:noFill/>
        </p:spPr>
        <p:txBody>
          <a:bodyPr wrap="square" lIns="0" tIns="0" rIns="0" bIns="0" rtlCol="0">
            <a:spAutoFit/>
          </a:bodyPr>
          <a:lstStyle/>
          <a:p>
            <a:pPr algn="ctr">
              <a:spcAft>
                <a:spcPts val="1333"/>
              </a:spcAft>
              <a:buSzPct val="100000"/>
            </a:pPr>
            <a:r>
              <a:rPr lang="en-GB" sz="1100" b="1"/>
              <a:t>OPTIMIZED</a:t>
            </a:r>
          </a:p>
        </p:txBody>
      </p:sp>
      <p:grpSp>
        <p:nvGrpSpPr>
          <p:cNvPr id="33" name="Group 32">
            <a:extLst>
              <a:ext uri="{FF2B5EF4-FFF2-40B4-BE49-F238E27FC236}">
                <a16:creationId xmlns:a16="http://schemas.microsoft.com/office/drawing/2014/main" id="{0354B818-6378-3947-44A1-2EEEBABD3FF2}"/>
              </a:ext>
            </a:extLst>
          </p:cNvPr>
          <p:cNvGrpSpPr/>
          <p:nvPr/>
        </p:nvGrpSpPr>
        <p:grpSpPr>
          <a:xfrm>
            <a:off x="8407973" y="3367079"/>
            <a:ext cx="1889728" cy="1534598"/>
            <a:chOff x="2025929" y="4561401"/>
            <a:chExt cx="1541950" cy="1534598"/>
          </a:xfrm>
        </p:grpSpPr>
        <p:grpSp>
          <p:nvGrpSpPr>
            <p:cNvPr id="36" name="Group 35">
              <a:extLst>
                <a:ext uri="{FF2B5EF4-FFF2-40B4-BE49-F238E27FC236}">
                  <a16:creationId xmlns:a16="http://schemas.microsoft.com/office/drawing/2014/main" id="{619C9BCB-D5E6-CE28-1C82-75641AEAFF59}"/>
                </a:ext>
              </a:extLst>
            </p:cNvPr>
            <p:cNvGrpSpPr>
              <a:grpSpLocks/>
            </p:cNvGrpSpPr>
            <p:nvPr/>
          </p:nvGrpSpPr>
          <p:grpSpPr>
            <a:xfrm>
              <a:off x="2025929" y="4561401"/>
              <a:ext cx="1541950" cy="1534598"/>
              <a:chOff x="556578" y="1051172"/>
              <a:chExt cx="2591837" cy="6187827"/>
            </a:xfrm>
          </p:grpSpPr>
          <p:sp useBgFill="1">
            <p:nvSpPr>
              <p:cNvPr id="38" name="Rectangle: Rounded Corners 37">
                <a:extLst>
                  <a:ext uri="{FF2B5EF4-FFF2-40B4-BE49-F238E27FC236}">
                    <a16:creationId xmlns:a16="http://schemas.microsoft.com/office/drawing/2014/main" id="{F8220C20-170A-1FFB-0053-5C457D9206BA}"/>
                  </a:ext>
                </a:extLst>
              </p:cNvPr>
              <p:cNvSpPr/>
              <p:nvPr/>
            </p:nvSpPr>
            <p:spPr bwMode="auto">
              <a:xfrm>
                <a:off x="556578" y="1051172"/>
                <a:ext cx="2591837" cy="6187827"/>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40" name="Rectangle: Rounded Corners 39">
                <a:extLst>
                  <a:ext uri="{FF2B5EF4-FFF2-40B4-BE49-F238E27FC236}">
                    <a16:creationId xmlns:a16="http://schemas.microsoft.com/office/drawing/2014/main" id="{F2635F93-E626-B0FF-8038-D1494E6A6E95}"/>
                  </a:ext>
                </a:extLst>
              </p:cNvPr>
              <p:cNvSpPr/>
              <p:nvPr/>
            </p:nvSpPr>
            <p:spPr bwMode="auto">
              <a:xfrm>
                <a:off x="556578" y="1051172"/>
                <a:ext cx="2591837" cy="6187827"/>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37" name="TextBox 36">
              <a:extLst>
                <a:ext uri="{FF2B5EF4-FFF2-40B4-BE49-F238E27FC236}">
                  <a16:creationId xmlns:a16="http://schemas.microsoft.com/office/drawing/2014/main" id="{D115E88E-910B-D78F-B820-8589BB5D0302}"/>
                </a:ext>
              </a:extLst>
            </p:cNvPr>
            <p:cNvSpPr txBox="1"/>
            <p:nvPr/>
          </p:nvSpPr>
          <p:spPr>
            <a:xfrm>
              <a:off x="2148024" y="4703233"/>
              <a:ext cx="1297760" cy="795089"/>
            </a:xfrm>
            <a:prstGeom prst="rect">
              <a:avLst/>
            </a:prstGeom>
            <a:noFill/>
          </p:spPr>
          <p:txBody>
            <a:bodyPr wrap="square" lIns="0" tIns="0" rIns="0" bIns="0" rtlCol="0" anchor="t" anchorCtr="0">
              <a:noAutofit/>
            </a:bodyPr>
            <a:lstStyle/>
            <a:p>
              <a:pPr algn="ctr">
                <a:spcAft>
                  <a:spcPts val="1333"/>
                </a:spcAft>
                <a:buSzPct val="100000"/>
              </a:pPr>
              <a:r>
                <a:rPr lang="en-GB" sz="1050">
                  <a:solidFill>
                    <a:schemeClr val="bg1"/>
                  </a:solidFill>
                  <a:ea typeface="Segoe Sans Text" pitchFamily="2" charset="0"/>
                  <a:cs typeface="Segoe Sans Text" pitchFamily="2" charset="0"/>
                </a:rPr>
                <a:t>Seamless, collaborative environment for CI/CD</a:t>
              </a:r>
            </a:p>
            <a:p>
              <a:pPr algn="ctr">
                <a:spcAft>
                  <a:spcPts val="1333"/>
                </a:spcAft>
                <a:buSzPct val="100000"/>
              </a:pPr>
              <a:r>
                <a:rPr lang="en-GB" sz="1050">
                  <a:solidFill>
                    <a:schemeClr val="bg1"/>
                  </a:solidFill>
                  <a:ea typeface="Segoe Sans Text" pitchFamily="2" charset="0"/>
                  <a:cs typeface="Segoe Sans Text" pitchFamily="2" charset="0"/>
                </a:rPr>
                <a:t>Fully automated monitoring and model/prompt refinement</a:t>
              </a:r>
            </a:p>
          </p:txBody>
        </p:sp>
      </p:grpSp>
      <p:sp>
        <p:nvSpPr>
          <p:cNvPr id="41" name="TextBox 40">
            <a:extLst>
              <a:ext uri="{FF2B5EF4-FFF2-40B4-BE49-F238E27FC236}">
                <a16:creationId xmlns:a16="http://schemas.microsoft.com/office/drawing/2014/main" id="{891D259C-30A9-842F-554D-EF161BF93866}"/>
              </a:ext>
            </a:extLst>
          </p:cNvPr>
          <p:cNvSpPr txBox="1"/>
          <p:nvPr/>
        </p:nvSpPr>
        <p:spPr>
          <a:xfrm>
            <a:off x="8432229" y="2913678"/>
            <a:ext cx="1841216" cy="338554"/>
          </a:xfrm>
          <a:prstGeom prst="rect">
            <a:avLst/>
          </a:prstGeom>
          <a:noFill/>
        </p:spPr>
        <p:txBody>
          <a:bodyPr wrap="square" lIns="0" tIns="0" rIns="0" bIns="0" rtlCol="0">
            <a:spAutoFit/>
          </a:bodyPr>
          <a:lstStyle/>
          <a:p>
            <a:pPr algn="ctr">
              <a:spcAft>
                <a:spcPts val="1333"/>
              </a:spcAft>
              <a:buSzPct val="100000"/>
            </a:pPr>
            <a:r>
              <a:rPr lang="en-GB" sz="1100" b="1"/>
              <a:t>Operational Excellence and Continuous Improvement</a:t>
            </a:r>
          </a:p>
        </p:txBody>
      </p:sp>
    </p:spTree>
    <p:extLst>
      <p:ext uri="{BB962C8B-B14F-4D97-AF65-F5344CB8AC3E}">
        <p14:creationId xmlns:p14="http://schemas.microsoft.com/office/powerpoint/2010/main" val="26075776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250" fill="hold"/>
                                        <p:tgtEl>
                                          <p:spTgt spid="35"/>
                                        </p:tgtEl>
                                        <p:attrNameLst>
                                          <p:attrName>ppt_w</p:attrName>
                                        </p:attrNameLst>
                                      </p:cBhvr>
                                      <p:tavLst>
                                        <p:tav tm="0">
                                          <p:val>
                                            <p:fltVal val="0"/>
                                          </p:val>
                                        </p:tav>
                                        <p:tav tm="100000">
                                          <p:val>
                                            <p:strVal val="#ppt_w"/>
                                          </p:val>
                                        </p:tav>
                                      </p:tavLst>
                                    </p:anim>
                                    <p:anim calcmode="lin" valueType="num">
                                      <p:cBhvr>
                                        <p:cTn id="8" dur="250" fill="hold"/>
                                        <p:tgtEl>
                                          <p:spTgt spid="35"/>
                                        </p:tgtEl>
                                        <p:attrNameLst>
                                          <p:attrName>ppt_h</p:attrName>
                                        </p:attrNameLst>
                                      </p:cBhvr>
                                      <p:tavLst>
                                        <p:tav tm="0">
                                          <p:val>
                                            <p:fltVal val="0"/>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6" presetClass="emph" presetSubtype="0" fill="hold" grpId="2" nodeType="withEffect">
                                  <p:stCondLst>
                                    <p:cond delay="0"/>
                                  </p:stCondLst>
                                  <p:childTnLst>
                                    <p:animScale>
                                      <p:cBhvr>
                                        <p:cTn id="13" dur="10" fill="hold"/>
                                        <p:tgtEl>
                                          <p:spTgt spid="35"/>
                                        </p:tgtEl>
                                      </p:cBhvr>
                                      <p:by x="80000" y="80000"/>
                                    </p:animScale>
                                  </p:childTnLst>
                                </p:cTn>
                              </p:par>
                              <p:par>
                                <p:cTn id="14" presetID="6" presetClass="emph" presetSubtype="0" decel="100000" fill="hold" grpId="3" nodeType="withEffect">
                                  <p:stCondLst>
                                    <p:cond delay="0"/>
                                  </p:stCondLst>
                                  <p:childTnLst>
                                    <p:animScale>
                                      <p:cBhvr>
                                        <p:cTn id="15" dur="1000" fill="hold"/>
                                        <p:tgtEl>
                                          <p:spTgt spid="35"/>
                                        </p:tgtEl>
                                      </p:cBhvr>
                                      <p:by x="125000" y="125000"/>
                                    </p:animScale>
                                  </p:childTnLst>
                                </p:cTn>
                              </p:par>
                              <p:par>
                                <p:cTn id="16" presetID="10" presetClass="entr" presetSubtype="0" fill="hold" grpId="0" nodeType="withEffect">
                                  <p:stCondLst>
                                    <p:cond delay="0"/>
                                  </p:stCondLst>
                                  <p:childTnLst>
                                    <p:set>
                                      <p:cBhvr>
                                        <p:cTn id="17" dur="1" fill="hold">
                                          <p:stCondLst>
                                            <p:cond delay="0"/>
                                          </p:stCondLst>
                                        </p:cTn>
                                        <p:tgtEl>
                                          <p:spTgt spid="225"/>
                                        </p:tgtEl>
                                        <p:attrNameLst>
                                          <p:attrName>style.visibility</p:attrName>
                                        </p:attrNameLst>
                                      </p:cBhvr>
                                      <p:to>
                                        <p:strVal val="visible"/>
                                      </p:to>
                                    </p:set>
                                    <p:animEffect transition="in" filter="fade">
                                      <p:cBhvr>
                                        <p:cTn id="18" dur="250"/>
                                        <p:tgtEl>
                                          <p:spTgt spid="225"/>
                                        </p:tgtEl>
                                      </p:cBhvr>
                                    </p:animEffect>
                                  </p:childTnLst>
                                </p:cTn>
                              </p:par>
                              <p:par>
                                <p:cTn id="19" presetID="42" presetClass="path" presetSubtype="0" decel="100000" fill="hold" grpId="1" nodeType="withEffect">
                                  <p:stCondLst>
                                    <p:cond delay="0"/>
                                  </p:stCondLst>
                                  <p:childTnLst>
                                    <p:animMotion origin="layout" path="M 3.95833E-6 -0.03472 L 3.95833E-6 1.48148E-6 " pathEditMode="relative" rAng="0" ptsTypes="AA">
                                      <p:cBhvr>
                                        <p:cTn id="20" dur="500" fill="hold"/>
                                        <p:tgtEl>
                                          <p:spTgt spid="225"/>
                                        </p:tgtEl>
                                        <p:attrNameLst>
                                          <p:attrName>ppt_x</p:attrName>
                                          <p:attrName>ppt_y</p:attrName>
                                        </p:attrNameLst>
                                      </p:cBhvr>
                                      <p:rCtr x="0" y="1736"/>
                                    </p:animMotion>
                                  </p:childTnLst>
                                </p:cTn>
                              </p:par>
                              <p:par>
                                <p:cTn id="21" presetID="10" presetClass="entr" presetSubtype="0" fill="hold" nodeType="withEffect">
                                  <p:stCondLst>
                                    <p:cond delay="350"/>
                                  </p:stCondLst>
                                  <p:childTnLst>
                                    <p:set>
                                      <p:cBhvr>
                                        <p:cTn id="22" dur="1" fill="hold">
                                          <p:stCondLst>
                                            <p:cond delay="0"/>
                                          </p:stCondLst>
                                        </p:cTn>
                                        <p:tgtEl>
                                          <p:spTgt spid="249"/>
                                        </p:tgtEl>
                                        <p:attrNameLst>
                                          <p:attrName>style.visibility</p:attrName>
                                        </p:attrNameLst>
                                      </p:cBhvr>
                                      <p:to>
                                        <p:strVal val="visible"/>
                                      </p:to>
                                    </p:set>
                                    <p:animEffect transition="in" filter="fade">
                                      <p:cBhvr>
                                        <p:cTn id="23" dur="750"/>
                                        <p:tgtEl>
                                          <p:spTgt spid="249"/>
                                        </p:tgtEl>
                                      </p:cBhvr>
                                    </p:animEffect>
                                  </p:childTnLst>
                                </p:cTn>
                              </p:par>
                              <p:par>
                                <p:cTn id="24" presetID="42" presetClass="path" presetSubtype="0" decel="100000" fill="hold" nodeType="withEffect">
                                  <p:stCondLst>
                                    <p:cond delay="350"/>
                                  </p:stCondLst>
                                  <p:childTnLst>
                                    <p:animMotion origin="layout" path="M 3.75E-6 -0.03472 L 3.75E-6 7.40741E-7 " pathEditMode="relative" rAng="0" ptsTypes="AA">
                                      <p:cBhvr>
                                        <p:cTn id="25" dur="750" fill="hold"/>
                                        <p:tgtEl>
                                          <p:spTgt spid="249"/>
                                        </p:tgtEl>
                                        <p:attrNameLst>
                                          <p:attrName>ppt_x</p:attrName>
                                          <p:attrName>ppt_y</p:attrName>
                                        </p:attrNameLst>
                                      </p:cBhvr>
                                      <p:rCtr x="0" y="1736"/>
                                    </p:animMotion>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250"/>
                                        <p:tgtEl>
                                          <p:spTgt spid="8"/>
                                        </p:tgtEl>
                                      </p:cBhvr>
                                    </p:animEffect>
                                  </p:childTnLst>
                                </p:cTn>
                              </p:par>
                              <p:par>
                                <p:cTn id="29" presetID="42" presetClass="path" presetSubtype="0" decel="100000" fill="hold" grpId="1" nodeType="withEffect">
                                  <p:stCondLst>
                                    <p:cond delay="0"/>
                                  </p:stCondLst>
                                  <p:childTnLst>
                                    <p:animMotion origin="layout" path="M 3.75E-6 0.03889 L 3.75E-6 1.48148E-6 " pathEditMode="relative" rAng="0" ptsTypes="AA">
                                      <p:cBhvr>
                                        <p:cTn id="30" dur="500" fill="hold"/>
                                        <p:tgtEl>
                                          <p:spTgt spid="8"/>
                                        </p:tgtEl>
                                        <p:attrNameLst>
                                          <p:attrName>ppt_x</p:attrName>
                                          <p:attrName>ppt_y</p:attrName>
                                        </p:attrNameLst>
                                      </p:cBhvr>
                                      <p:rCtr x="0" y="-1944"/>
                                    </p:animMotion>
                                  </p:childTnLst>
                                </p:cTn>
                              </p:par>
                              <p:par>
                                <p:cTn id="31" presetID="23" presetClass="entr" presetSubtype="16"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250" fill="hold"/>
                                        <p:tgtEl>
                                          <p:spTgt spid="11"/>
                                        </p:tgtEl>
                                        <p:attrNameLst>
                                          <p:attrName>ppt_w</p:attrName>
                                        </p:attrNameLst>
                                      </p:cBhvr>
                                      <p:tavLst>
                                        <p:tav tm="0">
                                          <p:val>
                                            <p:fltVal val="0"/>
                                          </p:val>
                                        </p:tav>
                                        <p:tav tm="100000">
                                          <p:val>
                                            <p:strVal val="#ppt_w"/>
                                          </p:val>
                                        </p:tav>
                                      </p:tavLst>
                                    </p:anim>
                                    <p:anim calcmode="lin" valueType="num">
                                      <p:cBhvr>
                                        <p:cTn id="34" dur="250" fill="hold"/>
                                        <p:tgtEl>
                                          <p:spTgt spid="11"/>
                                        </p:tgtEl>
                                        <p:attrNameLst>
                                          <p:attrName>ppt_h</p:attrName>
                                        </p:attrNameLst>
                                      </p:cBhvr>
                                      <p:tavLst>
                                        <p:tav tm="0">
                                          <p:val>
                                            <p:fltVal val="0"/>
                                          </p:val>
                                        </p:tav>
                                        <p:tav tm="100000">
                                          <p:val>
                                            <p:strVal val="#ppt_h"/>
                                          </p:val>
                                        </p:tav>
                                      </p:tavLst>
                                    </p:anim>
                                  </p:childTnLst>
                                </p:cTn>
                              </p:par>
                              <p:par>
                                <p:cTn id="35" presetID="10" presetClass="entr" presetSubtype="0" fill="hold" grpId="1"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6" presetClass="emph" presetSubtype="0" fill="hold" grpId="2" nodeType="withEffect">
                                  <p:stCondLst>
                                    <p:cond delay="0"/>
                                  </p:stCondLst>
                                  <p:childTnLst>
                                    <p:animScale>
                                      <p:cBhvr>
                                        <p:cTn id="39" dur="10" fill="hold"/>
                                        <p:tgtEl>
                                          <p:spTgt spid="11"/>
                                        </p:tgtEl>
                                      </p:cBhvr>
                                      <p:by x="80000" y="80000"/>
                                    </p:animScale>
                                  </p:childTnLst>
                                </p:cTn>
                              </p:par>
                              <p:par>
                                <p:cTn id="40" presetID="6" presetClass="emph" presetSubtype="0" decel="100000" fill="hold" grpId="3" nodeType="withEffect">
                                  <p:stCondLst>
                                    <p:cond delay="0"/>
                                  </p:stCondLst>
                                  <p:childTnLst>
                                    <p:animScale>
                                      <p:cBhvr>
                                        <p:cTn id="41" dur="1000" fill="hold"/>
                                        <p:tgtEl>
                                          <p:spTgt spid="11"/>
                                        </p:tgtEl>
                                      </p:cBhvr>
                                      <p:by x="125000" y="125000"/>
                                    </p:animScale>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250"/>
                                        <p:tgtEl>
                                          <p:spTgt spid="12"/>
                                        </p:tgtEl>
                                      </p:cBhvr>
                                    </p:animEffect>
                                  </p:childTnLst>
                                </p:cTn>
                              </p:par>
                              <p:par>
                                <p:cTn id="45" presetID="42" presetClass="path" presetSubtype="0" decel="100000" fill="hold" grpId="1" nodeType="withEffect">
                                  <p:stCondLst>
                                    <p:cond delay="0"/>
                                  </p:stCondLst>
                                  <p:childTnLst>
                                    <p:animMotion origin="layout" path="M 1.45833E-6 -0.03472 L 1.45833E-6 -4.81481E-6 " pathEditMode="relative" rAng="0" ptsTypes="AA">
                                      <p:cBhvr>
                                        <p:cTn id="46" dur="500" fill="hold"/>
                                        <p:tgtEl>
                                          <p:spTgt spid="12"/>
                                        </p:tgtEl>
                                        <p:attrNameLst>
                                          <p:attrName>ppt_x</p:attrName>
                                          <p:attrName>ppt_y</p:attrName>
                                        </p:attrNameLst>
                                      </p:cBhvr>
                                      <p:rCtr x="0" y="1736"/>
                                    </p:animMotion>
                                  </p:childTnLst>
                                </p:cTn>
                              </p:par>
                              <p:par>
                                <p:cTn id="47" presetID="10" presetClass="entr" presetSubtype="0" fill="hold" nodeType="withEffect">
                                  <p:stCondLst>
                                    <p:cond delay="35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750"/>
                                        <p:tgtEl>
                                          <p:spTgt spid="13"/>
                                        </p:tgtEl>
                                      </p:cBhvr>
                                    </p:animEffect>
                                  </p:childTnLst>
                                </p:cTn>
                              </p:par>
                              <p:par>
                                <p:cTn id="50" presetID="42" presetClass="path" presetSubtype="0" decel="100000" fill="hold" nodeType="withEffect">
                                  <p:stCondLst>
                                    <p:cond delay="350"/>
                                  </p:stCondLst>
                                  <p:childTnLst>
                                    <p:animMotion origin="layout" path="M 1.25E-6 -0.03473 L 1.25E-6 4.44444E-6 " pathEditMode="relative" rAng="0" ptsTypes="AA">
                                      <p:cBhvr>
                                        <p:cTn id="51" dur="750" fill="hold"/>
                                        <p:tgtEl>
                                          <p:spTgt spid="13"/>
                                        </p:tgtEl>
                                        <p:attrNameLst>
                                          <p:attrName>ppt_x</p:attrName>
                                          <p:attrName>ppt_y</p:attrName>
                                        </p:attrNameLst>
                                      </p:cBhvr>
                                      <p:rCtr x="0" y="1736"/>
                                    </p:animMotion>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250"/>
                                        <p:tgtEl>
                                          <p:spTgt spid="22"/>
                                        </p:tgtEl>
                                      </p:cBhvr>
                                    </p:animEffect>
                                  </p:childTnLst>
                                </p:cTn>
                              </p:par>
                              <p:par>
                                <p:cTn id="55" presetID="42" presetClass="path" presetSubtype="0" decel="100000" fill="hold" grpId="1" nodeType="withEffect">
                                  <p:stCondLst>
                                    <p:cond delay="0"/>
                                  </p:stCondLst>
                                  <p:childTnLst>
                                    <p:animMotion origin="layout" path="M 1.25E-6 0.03889 L 1.25E-6 -4.81481E-6 " pathEditMode="relative" rAng="0" ptsTypes="AA">
                                      <p:cBhvr>
                                        <p:cTn id="56" dur="500" fill="hold"/>
                                        <p:tgtEl>
                                          <p:spTgt spid="22"/>
                                        </p:tgtEl>
                                        <p:attrNameLst>
                                          <p:attrName>ppt_x</p:attrName>
                                          <p:attrName>ppt_y</p:attrName>
                                        </p:attrNameLst>
                                      </p:cBhvr>
                                      <p:rCtr x="0" y="-1944"/>
                                    </p:animMotion>
                                  </p:childTnLst>
                                </p:cTn>
                              </p:par>
                              <p:par>
                                <p:cTn id="57" presetID="23" presetClass="entr" presetSubtype="16"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p:cTn id="59" dur="250" fill="hold"/>
                                        <p:tgtEl>
                                          <p:spTgt spid="23"/>
                                        </p:tgtEl>
                                        <p:attrNameLst>
                                          <p:attrName>ppt_w</p:attrName>
                                        </p:attrNameLst>
                                      </p:cBhvr>
                                      <p:tavLst>
                                        <p:tav tm="0">
                                          <p:val>
                                            <p:fltVal val="0"/>
                                          </p:val>
                                        </p:tav>
                                        <p:tav tm="100000">
                                          <p:val>
                                            <p:strVal val="#ppt_w"/>
                                          </p:val>
                                        </p:tav>
                                      </p:tavLst>
                                    </p:anim>
                                    <p:anim calcmode="lin" valueType="num">
                                      <p:cBhvr>
                                        <p:cTn id="60" dur="250" fill="hold"/>
                                        <p:tgtEl>
                                          <p:spTgt spid="23"/>
                                        </p:tgtEl>
                                        <p:attrNameLst>
                                          <p:attrName>ppt_h</p:attrName>
                                        </p:attrNameLst>
                                      </p:cBhvr>
                                      <p:tavLst>
                                        <p:tav tm="0">
                                          <p:val>
                                            <p:fltVal val="0"/>
                                          </p:val>
                                        </p:tav>
                                        <p:tav tm="100000">
                                          <p:val>
                                            <p:strVal val="#ppt_h"/>
                                          </p:val>
                                        </p:tav>
                                      </p:tavLst>
                                    </p:anim>
                                  </p:childTnLst>
                                </p:cTn>
                              </p:par>
                              <p:par>
                                <p:cTn id="61" presetID="10" presetClass="entr" presetSubtype="0" fill="hold" grpId="1"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6" presetClass="emph" presetSubtype="0" fill="hold" grpId="2" nodeType="withEffect">
                                  <p:stCondLst>
                                    <p:cond delay="0"/>
                                  </p:stCondLst>
                                  <p:childTnLst>
                                    <p:animScale>
                                      <p:cBhvr>
                                        <p:cTn id="65" dur="10" fill="hold"/>
                                        <p:tgtEl>
                                          <p:spTgt spid="23"/>
                                        </p:tgtEl>
                                      </p:cBhvr>
                                      <p:by x="80000" y="80000"/>
                                    </p:animScale>
                                  </p:childTnLst>
                                </p:cTn>
                              </p:par>
                              <p:par>
                                <p:cTn id="66" presetID="6" presetClass="emph" presetSubtype="0" decel="100000" fill="hold" grpId="3" nodeType="withEffect">
                                  <p:stCondLst>
                                    <p:cond delay="0"/>
                                  </p:stCondLst>
                                  <p:childTnLst>
                                    <p:animScale>
                                      <p:cBhvr>
                                        <p:cTn id="67" dur="1000" fill="hold"/>
                                        <p:tgtEl>
                                          <p:spTgt spid="23"/>
                                        </p:tgtEl>
                                      </p:cBhvr>
                                      <p:by x="125000" y="125000"/>
                                    </p:animScale>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250"/>
                                        <p:tgtEl>
                                          <p:spTgt spid="24"/>
                                        </p:tgtEl>
                                      </p:cBhvr>
                                    </p:animEffect>
                                  </p:childTnLst>
                                </p:cTn>
                              </p:par>
                              <p:par>
                                <p:cTn id="71" presetID="42" presetClass="path" presetSubtype="0" decel="100000" fill="hold" grpId="1" nodeType="withEffect">
                                  <p:stCondLst>
                                    <p:cond delay="0"/>
                                  </p:stCondLst>
                                  <p:childTnLst>
                                    <p:animMotion origin="layout" path="M 2.70833E-6 -0.03472 L 2.70833E-6 -1.11111E-6 " pathEditMode="relative" rAng="0" ptsTypes="AA">
                                      <p:cBhvr>
                                        <p:cTn id="72" dur="500" fill="hold"/>
                                        <p:tgtEl>
                                          <p:spTgt spid="24"/>
                                        </p:tgtEl>
                                        <p:attrNameLst>
                                          <p:attrName>ppt_x</p:attrName>
                                          <p:attrName>ppt_y</p:attrName>
                                        </p:attrNameLst>
                                      </p:cBhvr>
                                      <p:rCtr x="0" y="1736"/>
                                    </p:animMotion>
                                  </p:childTnLst>
                                </p:cTn>
                              </p:par>
                              <p:par>
                                <p:cTn id="73" presetID="10" presetClass="entr" presetSubtype="0" fill="hold" nodeType="withEffect">
                                  <p:stCondLst>
                                    <p:cond delay="35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750"/>
                                        <p:tgtEl>
                                          <p:spTgt spid="25"/>
                                        </p:tgtEl>
                                      </p:cBhvr>
                                    </p:animEffect>
                                  </p:childTnLst>
                                </p:cTn>
                              </p:par>
                              <p:par>
                                <p:cTn id="76" presetID="42" presetClass="path" presetSubtype="0" decel="100000" fill="hold" nodeType="withEffect">
                                  <p:stCondLst>
                                    <p:cond delay="350"/>
                                  </p:stCondLst>
                                  <p:childTnLst>
                                    <p:animMotion origin="layout" path="M 2.70833E-6 -0.03472 L 2.70833E-6 -1.85185E-6 " pathEditMode="relative" rAng="0" ptsTypes="AA">
                                      <p:cBhvr>
                                        <p:cTn id="77" dur="750" fill="hold"/>
                                        <p:tgtEl>
                                          <p:spTgt spid="25"/>
                                        </p:tgtEl>
                                        <p:attrNameLst>
                                          <p:attrName>ppt_x</p:attrName>
                                          <p:attrName>ppt_y</p:attrName>
                                        </p:attrNameLst>
                                      </p:cBhvr>
                                      <p:rCtr x="0" y="1736"/>
                                    </p:animMotion>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250"/>
                                        <p:tgtEl>
                                          <p:spTgt spid="30"/>
                                        </p:tgtEl>
                                      </p:cBhvr>
                                    </p:animEffect>
                                  </p:childTnLst>
                                </p:cTn>
                              </p:par>
                              <p:par>
                                <p:cTn id="81" presetID="42" presetClass="path" presetSubtype="0" decel="100000" fill="hold" grpId="1" nodeType="withEffect">
                                  <p:stCondLst>
                                    <p:cond delay="0"/>
                                  </p:stCondLst>
                                  <p:childTnLst>
                                    <p:animMotion origin="layout" path="M 2.70833E-6 0.03889 L 2.70833E-6 -1.11111E-6 " pathEditMode="relative" rAng="0" ptsTypes="AA">
                                      <p:cBhvr>
                                        <p:cTn id="82" dur="500" fill="hold"/>
                                        <p:tgtEl>
                                          <p:spTgt spid="30"/>
                                        </p:tgtEl>
                                        <p:attrNameLst>
                                          <p:attrName>ppt_x</p:attrName>
                                          <p:attrName>ppt_y</p:attrName>
                                        </p:attrNameLst>
                                      </p:cBhvr>
                                      <p:rCtr x="0" y="-1944"/>
                                    </p:animMotion>
                                  </p:childTnLst>
                                </p:cTn>
                              </p:par>
                              <p:par>
                                <p:cTn id="83" presetID="23" presetClass="entr" presetSubtype="16"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 calcmode="lin" valueType="num">
                                      <p:cBhvr>
                                        <p:cTn id="85" dur="250" fill="hold"/>
                                        <p:tgtEl>
                                          <p:spTgt spid="31"/>
                                        </p:tgtEl>
                                        <p:attrNameLst>
                                          <p:attrName>ppt_w</p:attrName>
                                        </p:attrNameLst>
                                      </p:cBhvr>
                                      <p:tavLst>
                                        <p:tav tm="0">
                                          <p:val>
                                            <p:fltVal val="0"/>
                                          </p:val>
                                        </p:tav>
                                        <p:tav tm="100000">
                                          <p:val>
                                            <p:strVal val="#ppt_w"/>
                                          </p:val>
                                        </p:tav>
                                      </p:tavLst>
                                    </p:anim>
                                    <p:anim calcmode="lin" valueType="num">
                                      <p:cBhvr>
                                        <p:cTn id="86" dur="250" fill="hold"/>
                                        <p:tgtEl>
                                          <p:spTgt spid="31"/>
                                        </p:tgtEl>
                                        <p:attrNameLst>
                                          <p:attrName>ppt_h</p:attrName>
                                        </p:attrNameLst>
                                      </p:cBhvr>
                                      <p:tavLst>
                                        <p:tav tm="0">
                                          <p:val>
                                            <p:fltVal val="0"/>
                                          </p:val>
                                        </p:tav>
                                        <p:tav tm="100000">
                                          <p:val>
                                            <p:strVal val="#ppt_h"/>
                                          </p:val>
                                        </p:tav>
                                      </p:tavLst>
                                    </p:anim>
                                  </p:childTnLst>
                                </p:cTn>
                              </p:par>
                              <p:par>
                                <p:cTn id="87" presetID="10" presetClass="entr" presetSubtype="0" fill="hold" grpId="1"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6" presetClass="emph" presetSubtype="0" fill="hold" grpId="2" nodeType="withEffect">
                                  <p:stCondLst>
                                    <p:cond delay="0"/>
                                  </p:stCondLst>
                                  <p:childTnLst>
                                    <p:animScale>
                                      <p:cBhvr>
                                        <p:cTn id="91" dur="10" fill="hold"/>
                                        <p:tgtEl>
                                          <p:spTgt spid="31"/>
                                        </p:tgtEl>
                                      </p:cBhvr>
                                      <p:by x="80000" y="80000"/>
                                    </p:animScale>
                                  </p:childTnLst>
                                </p:cTn>
                              </p:par>
                              <p:par>
                                <p:cTn id="92" presetID="6" presetClass="emph" presetSubtype="0" decel="100000" fill="hold" grpId="3" nodeType="withEffect">
                                  <p:stCondLst>
                                    <p:cond delay="0"/>
                                  </p:stCondLst>
                                  <p:childTnLst>
                                    <p:animScale>
                                      <p:cBhvr>
                                        <p:cTn id="93" dur="1000" fill="hold"/>
                                        <p:tgtEl>
                                          <p:spTgt spid="31"/>
                                        </p:tgtEl>
                                      </p:cBhvr>
                                      <p:by x="125000" y="125000"/>
                                    </p:animScale>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250"/>
                                        <p:tgtEl>
                                          <p:spTgt spid="32"/>
                                        </p:tgtEl>
                                      </p:cBhvr>
                                    </p:animEffect>
                                  </p:childTnLst>
                                </p:cTn>
                              </p:par>
                              <p:par>
                                <p:cTn id="97" presetID="42" presetClass="path" presetSubtype="0" decel="100000" fill="hold" grpId="1" nodeType="withEffect">
                                  <p:stCondLst>
                                    <p:cond delay="0"/>
                                  </p:stCondLst>
                                  <p:childTnLst>
                                    <p:animMotion origin="layout" path="M 2.08333E-7 -0.03472 L 2.08333E-7 -2.22222E-6 " pathEditMode="relative" rAng="0" ptsTypes="AA">
                                      <p:cBhvr>
                                        <p:cTn id="98" dur="500" fill="hold"/>
                                        <p:tgtEl>
                                          <p:spTgt spid="32"/>
                                        </p:tgtEl>
                                        <p:attrNameLst>
                                          <p:attrName>ppt_x</p:attrName>
                                          <p:attrName>ppt_y</p:attrName>
                                        </p:attrNameLst>
                                      </p:cBhvr>
                                      <p:rCtr x="0" y="1736"/>
                                    </p:animMotion>
                                  </p:childTnLst>
                                </p:cTn>
                              </p:par>
                              <p:par>
                                <p:cTn id="99" presetID="10" presetClass="entr" presetSubtype="0" fill="hold" nodeType="withEffect">
                                  <p:stCondLst>
                                    <p:cond delay="35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750"/>
                                        <p:tgtEl>
                                          <p:spTgt spid="33"/>
                                        </p:tgtEl>
                                      </p:cBhvr>
                                    </p:animEffect>
                                  </p:childTnLst>
                                </p:cTn>
                              </p:par>
                              <p:par>
                                <p:cTn id="102" presetID="42" presetClass="path" presetSubtype="0" decel="100000" fill="hold" nodeType="withEffect">
                                  <p:stCondLst>
                                    <p:cond delay="350"/>
                                  </p:stCondLst>
                                  <p:childTnLst>
                                    <p:animMotion origin="layout" path="M 2.08333E-7 -0.03472 L 2.08333E-7 -2.96296E-6 " pathEditMode="relative" rAng="0" ptsTypes="AA">
                                      <p:cBhvr>
                                        <p:cTn id="103" dur="750" fill="hold"/>
                                        <p:tgtEl>
                                          <p:spTgt spid="33"/>
                                        </p:tgtEl>
                                        <p:attrNameLst>
                                          <p:attrName>ppt_x</p:attrName>
                                          <p:attrName>ppt_y</p:attrName>
                                        </p:attrNameLst>
                                      </p:cBhvr>
                                      <p:rCtr x="0" y="1736"/>
                                    </p:animMotion>
                                  </p:childTnLst>
                                </p:cTn>
                              </p:par>
                              <p:par>
                                <p:cTn id="104" presetID="10" presetClass="entr" presetSubtype="0" fill="hold" grpId="0" nodeType="withEffect">
                                  <p:stCondLst>
                                    <p:cond delay="0"/>
                                  </p:stCondLst>
                                  <p:childTnLst>
                                    <p:set>
                                      <p:cBhvr>
                                        <p:cTn id="105" dur="1" fill="hold">
                                          <p:stCondLst>
                                            <p:cond delay="0"/>
                                          </p:stCondLst>
                                        </p:cTn>
                                        <p:tgtEl>
                                          <p:spTgt spid="41"/>
                                        </p:tgtEl>
                                        <p:attrNameLst>
                                          <p:attrName>style.visibility</p:attrName>
                                        </p:attrNameLst>
                                      </p:cBhvr>
                                      <p:to>
                                        <p:strVal val="visible"/>
                                      </p:to>
                                    </p:set>
                                    <p:animEffect transition="in" filter="fade">
                                      <p:cBhvr>
                                        <p:cTn id="106" dur="250"/>
                                        <p:tgtEl>
                                          <p:spTgt spid="41"/>
                                        </p:tgtEl>
                                      </p:cBhvr>
                                    </p:animEffect>
                                  </p:childTnLst>
                                </p:cTn>
                              </p:par>
                              <p:par>
                                <p:cTn id="107" presetID="42" presetClass="path" presetSubtype="0" decel="100000" fill="hold" grpId="1" nodeType="withEffect">
                                  <p:stCondLst>
                                    <p:cond delay="0"/>
                                  </p:stCondLst>
                                  <p:childTnLst>
                                    <p:animMotion origin="layout" path="M 2.08333E-7 0.03889 L 2.08333E-7 -2.22222E-6 " pathEditMode="relative" rAng="0" ptsTypes="AA">
                                      <p:cBhvr>
                                        <p:cTn id="108" dur="500" fill="hold"/>
                                        <p:tgtEl>
                                          <p:spTgt spid="41"/>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P spid="35" grpId="2" animBg="1"/>
      <p:bldP spid="35" grpId="3" animBg="1"/>
      <p:bldP spid="225" grpId="0"/>
      <p:bldP spid="225" grpId="1"/>
      <p:bldP spid="8" grpId="0"/>
      <p:bldP spid="8" grpId="1"/>
      <p:bldP spid="11" grpId="0" animBg="1"/>
      <p:bldP spid="11" grpId="1" animBg="1"/>
      <p:bldP spid="11" grpId="2" animBg="1"/>
      <p:bldP spid="11" grpId="3" animBg="1"/>
      <p:bldP spid="12" grpId="0"/>
      <p:bldP spid="12" grpId="1"/>
      <p:bldP spid="22" grpId="0"/>
      <p:bldP spid="22" grpId="1"/>
      <p:bldP spid="23" grpId="0" animBg="1"/>
      <p:bldP spid="23" grpId="1" animBg="1"/>
      <p:bldP spid="23" grpId="2" animBg="1"/>
      <p:bldP spid="23" grpId="3" animBg="1"/>
      <p:bldP spid="24" grpId="0"/>
      <p:bldP spid="24" grpId="1"/>
      <p:bldP spid="30" grpId="0"/>
      <p:bldP spid="30" grpId="1"/>
      <p:bldP spid="31" grpId="0" animBg="1"/>
      <p:bldP spid="31" grpId="1" animBg="1"/>
      <p:bldP spid="31" grpId="2" animBg="1"/>
      <p:bldP spid="31" grpId="3" animBg="1"/>
      <p:bldP spid="32" grpId="0"/>
      <p:bldP spid="32" grpId="1"/>
      <p:bldP spid="41" grpId="0"/>
      <p:bldP spid="41"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861B9-C9D3-CDDB-759A-9C6E76D33F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932876-4D8C-3B7C-53F3-96B4F177CEA1}"/>
              </a:ext>
            </a:extLst>
          </p:cNvPr>
          <p:cNvSpPr>
            <a:spLocks noGrp="1"/>
          </p:cNvSpPr>
          <p:nvPr>
            <p:ph type="title"/>
          </p:nvPr>
        </p:nvSpPr>
        <p:spPr>
          <a:xfrm>
            <a:off x="584200" y="2303312"/>
            <a:ext cx="8622862" cy="3046988"/>
          </a:xfrm>
        </p:spPr>
        <p:txBody>
          <a:bodyPr/>
          <a:lstStyle/>
          <a:p>
            <a:r>
              <a:rPr lang="en-US"/>
              <a:t>Lesson 3 - Enterprise GenAI Lifecycle</a:t>
            </a:r>
          </a:p>
        </p:txBody>
      </p:sp>
      <p:sp>
        <p:nvSpPr>
          <p:cNvPr id="2" name="Text Placeholder 1">
            <a:extLst>
              <a:ext uri="{FF2B5EF4-FFF2-40B4-BE49-F238E27FC236}">
                <a16:creationId xmlns:a16="http://schemas.microsoft.com/office/drawing/2014/main" id="{BDE81F0F-79E8-1A57-4B1D-24C5FF777F32}"/>
              </a:ext>
            </a:extLst>
          </p:cNvPr>
          <p:cNvSpPr>
            <a:spLocks noGrp="1"/>
          </p:cNvSpPr>
          <p:nvPr>
            <p:ph type="body" sz="quarter" idx="12"/>
          </p:nvPr>
        </p:nvSpPr>
        <p:spPr/>
        <p:txBody>
          <a:bodyPr/>
          <a:lstStyle/>
          <a:p>
            <a:endParaRPr lang="en-US"/>
          </a:p>
        </p:txBody>
      </p:sp>
      <p:sp>
        <p:nvSpPr>
          <p:cNvPr id="4" name="Slide Number Placeholder 3">
            <a:extLst>
              <a:ext uri="{FF2B5EF4-FFF2-40B4-BE49-F238E27FC236}">
                <a16:creationId xmlns:a16="http://schemas.microsoft.com/office/drawing/2014/main" id="{AB673560-61BF-40D1-9A79-9CEE22CBAFDC}"/>
              </a:ext>
            </a:extLst>
          </p:cNvPr>
          <p:cNvSpPr>
            <a:spLocks noGrp="1"/>
          </p:cNvSpPr>
          <p:nvPr>
            <p:ph type="sldNum" sz="quarter" idx="4294967295"/>
          </p:nvPr>
        </p:nvSpPr>
        <p:spPr>
          <a:xfrm>
            <a:off x="11787188" y="6538913"/>
            <a:ext cx="404812" cy="1238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472653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FEC44-8F6A-3516-5001-3CB9E7287BA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E5FB77-F5CF-ED4B-C8F8-53FF19960431}"/>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A12B105E-BA96-A7CE-BC04-6C757A2EEDF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Placeholder 5">
            <a:extLst>
              <a:ext uri="{FF2B5EF4-FFF2-40B4-BE49-F238E27FC236}">
                <a16:creationId xmlns:a16="http://schemas.microsoft.com/office/drawing/2014/main" id="{57F347C9-3C94-0A33-F8B1-27B19AB67DF7}"/>
              </a:ext>
            </a:extLst>
          </p:cNvPr>
          <p:cNvSpPr>
            <a:spLocks noGrp="1"/>
          </p:cNvSpPr>
          <p:nvPr>
            <p:ph type="body" sz="quarter" idx="39"/>
          </p:nvPr>
        </p:nvSpPr>
        <p:spPr/>
        <p:txBody>
          <a:bodyPr/>
          <a:lstStyle/>
          <a:p>
            <a:endParaRPr lang="en-US"/>
          </a:p>
        </p:txBody>
      </p:sp>
      <p:graphicFrame>
        <p:nvGraphicFramePr>
          <p:cNvPr id="4" name="Diagram 3">
            <a:extLst>
              <a:ext uri="{FF2B5EF4-FFF2-40B4-BE49-F238E27FC236}">
                <a16:creationId xmlns:a16="http://schemas.microsoft.com/office/drawing/2014/main" id="{361A24F2-A9DE-9CD8-926E-B4E2EB1E156F}"/>
              </a:ext>
            </a:extLst>
          </p:cNvPr>
          <p:cNvGraphicFramePr/>
          <p:nvPr>
            <p:extLst>
              <p:ext uri="{D42A27DB-BD31-4B8C-83A1-F6EECF244321}">
                <p14:modId xmlns:p14="http://schemas.microsoft.com/office/powerpoint/2010/main" val="4120120786"/>
              </p:ext>
            </p:extLst>
          </p:nvPr>
        </p:nvGraphicFramePr>
        <p:xfrm>
          <a:off x="4244196" y="836762"/>
          <a:ext cx="5915804" cy="5301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1996478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08054-EAB2-3433-4A1A-31C0634906A4}"/>
            </a:ext>
          </a:extLst>
        </p:cNvPr>
        <p:cNvGrpSpPr/>
        <p:nvPr/>
      </p:nvGrpSpPr>
      <p:grpSpPr>
        <a:xfrm>
          <a:off x="0" y="0"/>
          <a:ext cx="0" cy="0"/>
          <a:chOff x="0" y="0"/>
          <a:chExt cx="0" cy="0"/>
        </a:xfrm>
      </p:grpSpPr>
      <p:cxnSp>
        <p:nvCxnSpPr>
          <p:cNvPr id="31" name="Connector: Elbow 30">
            <a:extLst>
              <a:ext uri="{FF2B5EF4-FFF2-40B4-BE49-F238E27FC236}">
                <a16:creationId xmlns:a16="http://schemas.microsoft.com/office/drawing/2014/main" id="{A74A0B15-101D-857A-A169-05163E980683}"/>
              </a:ext>
              <a:ext uri="{C183D7F6-B498-43B3-948B-1728B52AA6E4}">
                <adec:decorative xmlns:adec="http://schemas.microsoft.com/office/drawing/2017/decorative" val="1"/>
              </a:ext>
            </a:extLst>
          </p:cNvPr>
          <p:cNvCxnSpPr>
            <a:cxnSpLocks/>
          </p:cNvCxnSpPr>
          <p:nvPr/>
        </p:nvCxnSpPr>
        <p:spPr>
          <a:xfrm rot="16200000" flipH="1">
            <a:off x="2028757" y="4498858"/>
            <a:ext cx="11545" cy="942817"/>
          </a:xfrm>
          <a:prstGeom prst="bentConnector3">
            <a:avLst>
              <a:gd name="adj1" fmla="val 1800000"/>
            </a:avLst>
          </a:prstGeom>
          <a:noFill/>
          <a:ln>
            <a:solidFill>
              <a:schemeClr val="bg1"/>
            </a:solidFill>
            <a:headEnd type="arrow" w="lg" len="med"/>
            <a:tailEnd type="arrow" w="lg" len="med"/>
          </a:ln>
          <a:effectLst/>
        </p:spPr>
        <p:style>
          <a:lnRef idx="1">
            <a:schemeClr val="accent2"/>
          </a:lnRef>
          <a:fillRef idx="3">
            <a:schemeClr val="accent2"/>
          </a:fillRef>
          <a:effectRef idx="2">
            <a:schemeClr val="accent2"/>
          </a:effectRef>
          <a:fontRef idx="minor">
            <a:schemeClr val="lt1"/>
          </a:fontRef>
        </p:style>
      </p:cxnSp>
      <p:cxnSp>
        <p:nvCxnSpPr>
          <p:cNvPr id="50" name="Connector: Elbow 49">
            <a:extLst>
              <a:ext uri="{FF2B5EF4-FFF2-40B4-BE49-F238E27FC236}">
                <a16:creationId xmlns:a16="http://schemas.microsoft.com/office/drawing/2014/main" id="{A7FBE105-CBAD-10EA-57A7-BFBDC357784A}"/>
              </a:ext>
              <a:ext uri="{C183D7F6-B498-43B3-948B-1728B52AA6E4}">
                <adec:decorative xmlns:adec="http://schemas.microsoft.com/office/drawing/2017/decorative" val="1"/>
              </a:ext>
            </a:extLst>
          </p:cNvPr>
          <p:cNvCxnSpPr>
            <a:cxnSpLocks/>
          </p:cNvCxnSpPr>
          <p:nvPr/>
        </p:nvCxnSpPr>
        <p:spPr>
          <a:xfrm rot="16200000" flipH="1">
            <a:off x="3643067" y="4498859"/>
            <a:ext cx="11545" cy="942817"/>
          </a:xfrm>
          <a:prstGeom prst="bentConnector3">
            <a:avLst>
              <a:gd name="adj1" fmla="val 1800000"/>
            </a:avLst>
          </a:prstGeom>
          <a:noFill/>
          <a:ln>
            <a:solidFill>
              <a:schemeClr val="bg1"/>
            </a:solidFill>
            <a:headEnd type="arrow" w="lg" len="med"/>
            <a:tailEnd type="arrow" w="lg" len="med"/>
          </a:ln>
          <a:effectLst/>
        </p:spPr>
        <p:style>
          <a:lnRef idx="1">
            <a:schemeClr val="accent2"/>
          </a:lnRef>
          <a:fillRef idx="3">
            <a:schemeClr val="accent2"/>
          </a:fillRef>
          <a:effectRef idx="2">
            <a:schemeClr val="accent2"/>
          </a:effectRef>
          <a:fontRef idx="minor">
            <a:schemeClr val="lt1"/>
          </a:fontRef>
        </p:style>
      </p:cxnSp>
      <p:cxnSp>
        <p:nvCxnSpPr>
          <p:cNvPr id="51" name="Connector: Elbow 50">
            <a:extLst>
              <a:ext uri="{FF2B5EF4-FFF2-40B4-BE49-F238E27FC236}">
                <a16:creationId xmlns:a16="http://schemas.microsoft.com/office/drawing/2014/main" id="{D089A76C-8D96-269B-43AF-EFDC2B0A19E2}"/>
              </a:ext>
              <a:ext uri="{C183D7F6-B498-43B3-948B-1728B52AA6E4}">
                <adec:decorative xmlns:adec="http://schemas.microsoft.com/office/drawing/2017/decorative" val="1"/>
              </a:ext>
            </a:extLst>
          </p:cNvPr>
          <p:cNvCxnSpPr>
            <a:cxnSpLocks/>
          </p:cNvCxnSpPr>
          <p:nvPr/>
        </p:nvCxnSpPr>
        <p:spPr>
          <a:xfrm rot="16200000" flipH="1">
            <a:off x="5257377" y="4498859"/>
            <a:ext cx="11545" cy="942817"/>
          </a:xfrm>
          <a:prstGeom prst="bentConnector3">
            <a:avLst>
              <a:gd name="adj1" fmla="val 1800000"/>
            </a:avLst>
          </a:prstGeom>
          <a:noFill/>
          <a:ln>
            <a:solidFill>
              <a:schemeClr val="bg1"/>
            </a:solidFill>
            <a:headEnd type="arrow" w="lg" len="med"/>
            <a:tailEnd type="arrow" w="lg" len="med"/>
          </a:ln>
          <a:effectLst/>
        </p:spPr>
        <p:style>
          <a:lnRef idx="1">
            <a:schemeClr val="accent2"/>
          </a:lnRef>
          <a:fillRef idx="3">
            <a:schemeClr val="accent2"/>
          </a:fillRef>
          <a:effectRef idx="2">
            <a:schemeClr val="accent2"/>
          </a:effectRef>
          <a:fontRef idx="minor">
            <a:schemeClr val="lt1"/>
          </a:fontRef>
        </p:style>
      </p:cxnSp>
      <p:cxnSp>
        <p:nvCxnSpPr>
          <p:cNvPr id="52" name="Connector: Elbow 51">
            <a:extLst>
              <a:ext uri="{FF2B5EF4-FFF2-40B4-BE49-F238E27FC236}">
                <a16:creationId xmlns:a16="http://schemas.microsoft.com/office/drawing/2014/main" id="{B8A63824-84B4-E51C-3AC6-C3CB404CCBD7}"/>
              </a:ext>
              <a:ext uri="{C183D7F6-B498-43B3-948B-1728B52AA6E4}">
                <adec:decorative xmlns:adec="http://schemas.microsoft.com/office/drawing/2017/decorative" val="1"/>
              </a:ext>
            </a:extLst>
          </p:cNvPr>
          <p:cNvCxnSpPr>
            <a:cxnSpLocks/>
          </p:cNvCxnSpPr>
          <p:nvPr/>
        </p:nvCxnSpPr>
        <p:spPr>
          <a:xfrm rot="16200000" flipH="1">
            <a:off x="8485997" y="4498859"/>
            <a:ext cx="11545" cy="942817"/>
          </a:xfrm>
          <a:prstGeom prst="bentConnector3">
            <a:avLst>
              <a:gd name="adj1" fmla="val 1800000"/>
            </a:avLst>
          </a:prstGeom>
          <a:noFill/>
          <a:ln>
            <a:solidFill>
              <a:schemeClr val="bg1"/>
            </a:solidFill>
            <a:headEnd type="none" w="lg" len="med"/>
            <a:tailEnd type="arrow" w="lg" len="med"/>
          </a:ln>
          <a:effectLst/>
        </p:spPr>
        <p:style>
          <a:lnRef idx="1">
            <a:schemeClr val="accent2"/>
          </a:lnRef>
          <a:fillRef idx="3">
            <a:schemeClr val="accent2"/>
          </a:fillRef>
          <a:effectRef idx="2">
            <a:schemeClr val="accent2"/>
          </a:effectRef>
          <a:fontRef idx="minor">
            <a:schemeClr val="lt1"/>
          </a:fontRef>
        </p:style>
      </p:cxnSp>
      <p:cxnSp>
        <p:nvCxnSpPr>
          <p:cNvPr id="53" name="Connector: Elbow 52">
            <a:extLst>
              <a:ext uri="{FF2B5EF4-FFF2-40B4-BE49-F238E27FC236}">
                <a16:creationId xmlns:a16="http://schemas.microsoft.com/office/drawing/2014/main" id="{DFD9B8CF-233D-9331-6EA3-6E58DB863DD0}"/>
              </a:ext>
              <a:ext uri="{C183D7F6-B498-43B3-948B-1728B52AA6E4}">
                <adec:decorative xmlns:adec="http://schemas.microsoft.com/office/drawing/2017/decorative" val="1"/>
              </a:ext>
            </a:extLst>
          </p:cNvPr>
          <p:cNvCxnSpPr>
            <a:cxnSpLocks/>
          </p:cNvCxnSpPr>
          <p:nvPr/>
        </p:nvCxnSpPr>
        <p:spPr>
          <a:xfrm rot="16200000" flipH="1">
            <a:off x="10100306" y="4498859"/>
            <a:ext cx="11545" cy="942816"/>
          </a:xfrm>
          <a:prstGeom prst="bentConnector3">
            <a:avLst>
              <a:gd name="adj1" fmla="val 1800000"/>
            </a:avLst>
          </a:prstGeom>
          <a:noFill/>
          <a:ln>
            <a:solidFill>
              <a:schemeClr val="bg1"/>
            </a:solidFill>
            <a:headEnd type="arrow" w="lg" len="med"/>
            <a:tailEnd type="arrow" w="lg" len="med"/>
          </a:ln>
          <a:effectLst/>
        </p:spPr>
        <p:style>
          <a:lnRef idx="1">
            <a:schemeClr val="accent2"/>
          </a:lnRef>
          <a:fillRef idx="3">
            <a:schemeClr val="accent2"/>
          </a:fillRef>
          <a:effectRef idx="2">
            <a:schemeClr val="accent2"/>
          </a:effectRef>
          <a:fontRef idx="minor">
            <a:schemeClr val="lt1"/>
          </a:fontRef>
        </p:style>
      </p:cxnSp>
      <p:cxnSp>
        <p:nvCxnSpPr>
          <p:cNvPr id="58" name="Connector: Elbow 57">
            <a:extLst>
              <a:ext uri="{FF2B5EF4-FFF2-40B4-BE49-F238E27FC236}">
                <a16:creationId xmlns:a16="http://schemas.microsoft.com/office/drawing/2014/main" id="{955F553F-C5E1-AB65-0361-A452E480D223}"/>
              </a:ext>
              <a:ext uri="{C183D7F6-B498-43B3-948B-1728B52AA6E4}">
                <adec:decorative xmlns:adec="http://schemas.microsoft.com/office/drawing/2017/decorative" val="1"/>
              </a:ext>
            </a:extLst>
          </p:cNvPr>
          <p:cNvCxnSpPr>
            <a:cxnSpLocks/>
          </p:cNvCxnSpPr>
          <p:nvPr/>
        </p:nvCxnSpPr>
        <p:spPr>
          <a:xfrm rot="16200000" flipH="1">
            <a:off x="6871687" y="4498859"/>
            <a:ext cx="11545" cy="942817"/>
          </a:xfrm>
          <a:prstGeom prst="bentConnector3">
            <a:avLst>
              <a:gd name="adj1" fmla="val 1800000"/>
            </a:avLst>
          </a:prstGeom>
          <a:noFill/>
          <a:ln>
            <a:solidFill>
              <a:schemeClr val="bg1"/>
            </a:solidFill>
            <a:headEnd type="arrow" w="lg" len="med"/>
            <a:tailEnd type="arrow" w="lg" len="med"/>
          </a:ln>
          <a:effectLst/>
        </p:spPr>
        <p:style>
          <a:lnRef idx="1">
            <a:schemeClr val="accent2"/>
          </a:lnRef>
          <a:fillRef idx="3">
            <a:schemeClr val="accent2"/>
          </a:fillRef>
          <a:effectRef idx="2">
            <a:schemeClr val="accent2"/>
          </a:effectRef>
          <a:fontRef idx="minor">
            <a:schemeClr val="lt1"/>
          </a:fontRef>
        </p:style>
      </p:cxnSp>
      <p:sp>
        <p:nvSpPr>
          <p:cNvPr id="44" name="Title 1">
            <a:extLst>
              <a:ext uri="{FF2B5EF4-FFF2-40B4-BE49-F238E27FC236}">
                <a16:creationId xmlns:a16="http://schemas.microsoft.com/office/drawing/2014/main" id="{1C33F410-96CE-75C9-0D6E-3F0FC4585B17}"/>
              </a:ext>
            </a:extLst>
          </p:cNvPr>
          <p:cNvSpPr>
            <a:spLocks noGrp="1"/>
          </p:cNvSpPr>
          <p:nvPr>
            <p:ph type="title"/>
          </p:nvPr>
        </p:nvSpPr>
        <p:spPr/>
        <p:txBody>
          <a:bodyPr/>
          <a:lstStyle/>
          <a:p>
            <a:r>
              <a:rPr lang="en-US">
                <a:solidFill>
                  <a:schemeClr val="bg1"/>
                </a:solidFill>
              </a:rPr>
              <a:t>Enterprise </a:t>
            </a:r>
            <a:r>
              <a:rPr lang="en-US" err="1">
                <a:solidFill>
                  <a:schemeClr val="bg1"/>
                </a:solidFill>
              </a:rPr>
              <a:t>GenAIOps</a:t>
            </a:r>
            <a:endParaRPr lang="en-US">
              <a:solidFill>
                <a:schemeClr val="bg1"/>
              </a:solidFill>
            </a:endParaRPr>
          </a:p>
        </p:txBody>
      </p:sp>
      <p:sp>
        <p:nvSpPr>
          <p:cNvPr id="17" name="Text Placeholder 10">
            <a:extLst>
              <a:ext uri="{FF2B5EF4-FFF2-40B4-BE49-F238E27FC236}">
                <a16:creationId xmlns:a16="http://schemas.microsoft.com/office/drawing/2014/main" id="{B82E4D4B-ABB6-1BDD-C70B-29756C6B0D0B}"/>
              </a:ext>
              <a:ext uri="{C183D7F6-B498-43B3-948B-1728B52AA6E4}">
                <adec:decorative xmlns:adec="http://schemas.microsoft.com/office/drawing/2017/decorative" val="0"/>
              </a:ext>
            </a:extLst>
          </p:cNvPr>
          <p:cNvSpPr txBox="1">
            <a:spLocks/>
          </p:cNvSpPr>
          <p:nvPr/>
        </p:nvSpPr>
        <p:spPr>
          <a:xfrm>
            <a:off x="2823275" y="1602435"/>
            <a:ext cx="6545450" cy="368996"/>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sz="1800" kern="1200" spc="0" baseline="0">
                <a:solidFill>
                  <a:schemeClr val="accent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173038" marR="0" indent="-173038"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sz="14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ts val="2400"/>
              </a:spcBef>
              <a:spcAft>
                <a:spcPts val="0"/>
              </a:spcAft>
              <a:buClrTx/>
              <a:buSzPct val="90000"/>
              <a:buFont typeface="Wingdings" panose="05000000000000000000" pitchFamily="2" charset="2"/>
              <a:buNone/>
              <a:tabLst/>
              <a:defRPr sz="1600" kern="1200" spc="0" baseline="0">
                <a:solidFill>
                  <a:schemeClr val="accent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a:gradFill>
                  <a:gsLst>
                    <a:gs pos="0">
                      <a:srgbClr val="BDF2BD"/>
                    </a:gs>
                    <a:gs pos="100000">
                      <a:srgbClr val="C3E9FC"/>
                    </a:gs>
                  </a:gsLst>
                  <a:lin ang="5400000" scaled="1"/>
                </a:gradFill>
                <a:latin typeface="Segoe Sans Text Semibold"/>
                <a:cs typeface="Segoe Sans Text" pitchFamily="2" charset="0"/>
              </a:rPr>
              <a:t>Automation: </a:t>
            </a:r>
          </a:p>
          <a:p>
            <a:pPr marL="0" marR="0" lvl="0" indent="0" algn="ctr"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lang="en-US" sz="1400">
                <a:solidFill>
                  <a:schemeClr val="bg1"/>
                </a:solidFill>
                <a:cs typeface="Segoe Sans Text ExtraBold" pitchFamily="2" charset="0"/>
              </a:rPr>
              <a:t>Fine-tuning/ New </a:t>
            </a:r>
            <a:r>
              <a:rPr lang="en-US" sz="1400" err="1">
                <a:solidFill>
                  <a:schemeClr val="bg1"/>
                </a:solidFill>
                <a:cs typeface="Segoe Sans Text ExtraBold" pitchFamily="2" charset="0"/>
              </a:rPr>
              <a:t>Model&amp;Version</a:t>
            </a:r>
            <a:r>
              <a:rPr lang="en-US" sz="1400">
                <a:solidFill>
                  <a:schemeClr val="bg1"/>
                </a:solidFill>
                <a:cs typeface="Segoe Sans Text ExtraBold" pitchFamily="2" charset="0"/>
              </a:rPr>
              <a:t> Update/ </a:t>
            </a:r>
            <a:r>
              <a:rPr lang="en-US" sz="1400" err="1">
                <a:solidFill>
                  <a:schemeClr val="bg1"/>
                </a:solidFill>
                <a:cs typeface="Segoe Sans Text ExtraBold" pitchFamily="2" charset="0"/>
              </a:rPr>
              <a:t>Prompt&amp;Requirement</a:t>
            </a:r>
            <a:r>
              <a:rPr lang="en-US" sz="1400">
                <a:solidFill>
                  <a:schemeClr val="bg1"/>
                </a:solidFill>
                <a:cs typeface="Segoe Sans Text ExtraBold" pitchFamily="2" charset="0"/>
              </a:rPr>
              <a:t> Update</a:t>
            </a:r>
          </a:p>
          <a:p>
            <a:pPr marL="0" marR="0" lvl="0" indent="0" algn="ctr"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a:pPr>
            <a:endParaRPr kumimoji="0" lang="en-US" sz="1400" b="0" i="0" u="none" strike="noStrike" kern="1200" cap="none" spc="0" normalizeH="0" baseline="0" noProof="0">
              <a:ln>
                <a:noFill/>
              </a:ln>
              <a:solidFill>
                <a:schemeClr val="tx1"/>
              </a:solidFill>
              <a:effectLst/>
              <a:uLnTx/>
              <a:uFillTx/>
              <a:latin typeface="Segoe Sans Text" pitchFamily="2" charset="0"/>
              <a:ea typeface="+mn-ea"/>
              <a:cs typeface="Segoe Sans Text" pitchFamily="2" charset="0"/>
            </a:endParaRPr>
          </a:p>
        </p:txBody>
      </p:sp>
      <p:cxnSp>
        <p:nvCxnSpPr>
          <p:cNvPr id="27" name="Straight Connector 226">
            <a:extLst>
              <a:ext uri="{FF2B5EF4-FFF2-40B4-BE49-F238E27FC236}">
                <a16:creationId xmlns:a16="http://schemas.microsoft.com/office/drawing/2014/main" id="{41551215-4243-AA03-F439-06806F7DE428}"/>
              </a:ext>
              <a:ext uri="{C183D7F6-B498-43B3-948B-1728B52AA6E4}">
                <adec:decorative xmlns:adec="http://schemas.microsoft.com/office/drawing/2017/decorative" val="1"/>
              </a:ext>
            </a:extLst>
          </p:cNvPr>
          <p:cNvCxnSpPr>
            <a:cxnSpLocks/>
            <a:stCxn id="6" idx="0"/>
            <a:endCxn id="2" idx="0"/>
          </p:cNvCxnSpPr>
          <p:nvPr/>
        </p:nvCxnSpPr>
        <p:spPr>
          <a:xfrm rot="16200000" flipV="1">
            <a:off x="5264093" y="-1610887"/>
            <a:ext cx="12700" cy="8048940"/>
          </a:xfrm>
          <a:prstGeom prst="bentConnector3">
            <a:avLst>
              <a:gd name="adj1" fmla="val 1800000"/>
            </a:avLst>
          </a:prstGeom>
          <a:noFill/>
          <a:ln>
            <a:solidFill>
              <a:schemeClr val="bg1"/>
            </a:solidFill>
            <a:headEnd type="none" w="med" len="med"/>
            <a:tailEnd type="arrow" w="lg" len="med"/>
          </a:ln>
          <a:effectLst/>
        </p:spPr>
        <p:style>
          <a:lnRef idx="1">
            <a:schemeClr val="accent2"/>
          </a:lnRef>
          <a:fillRef idx="3">
            <a:schemeClr val="accent2"/>
          </a:fillRef>
          <a:effectRef idx="2">
            <a:schemeClr val="accent2"/>
          </a:effectRef>
          <a:fontRef idx="minor">
            <a:schemeClr val="lt1"/>
          </a:fontRef>
        </p:style>
      </p:cxnSp>
      <p:cxnSp>
        <p:nvCxnSpPr>
          <p:cNvPr id="28" name="Straight Connector 27">
            <a:extLst>
              <a:ext uri="{FF2B5EF4-FFF2-40B4-BE49-F238E27FC236}">
                <a16:creationId xmlns:a16="http://schemas.microsoft.com/office/drawing/2014/main" id="{6375F802-049B-E297-F7D5-01E606EE154C}"/>
              </a:ext>
              <a:ext uri="{C183D7F6-B498-43B3-948B-1728B52AA6E4}">
                <adec:decorative xmlns:adec="http://schemas.microsoft.com/office/drawing/2017/decorative" val="1"/>
              </a:ext>
            </a:extLst>
          </p:cNvPr>
          <p:cNvCxnSpPr>
            <a:cxnSpLocks/>
          </p:cNvCxnSpPr>
          <p:nvPr/>
        </p:nvCxnSpPr>
        <p:spPr>
          <a:xfrm>
            <a:off x="1978259" y="5611463"/>
            <a:ext cx="2571732" cy="0"/>
          </a:xfrm>
          <a:prstGeom prst="line">
            <a:avLst/>
          </a:prstGeom>
          <a:noFill/>
          <a:ln>
            <a:solidFill>
              <a:schemeClr val="bg1"/>
            </a:solidFill>
            <a:headEnd type="arrow" w="lg" len="med"/>
            <a:tailEnd type="arrow" w="lg" len="med"/>
          </a:ln>
          <a:effectLst/>
        </p:spPr>
        <p:style>
          <a:lnRef idx="1">
            <a:schemeClr val="accent2"/>
          </a:lnRef>
          <a:fillRef idx="3">
            <a:schemeClr val="accent2"/>
          </a:fillRef>
          <a:effectRef idx="2">
            <a:schemeClr val="accent2"/>
          </a:effectRef>
          <a:fontRef idx="minor">
            <a:schemeClr val="lt1"/>
          </a:fontRef>
        </p:style>
      </p:cxnSp>
      <p:cxnSp>
        <p:nvCxnSpPr>
          <p:cNvPr id="29" name="Straight Connector 28">
            <a:extLst>
              <a:ext uri="{FF2B5EF4-FFF2-40B4-BE49-F238E27FC236}">
                <a16:creationId xmlns:a16="http://schemas.microsoft.com/office/drawing/2014/main" id="{8F6E91D2-F20F-E194-C55D-3D87E3181112}"/>
              </a:ext>
              <a:ext uri="{C183D7F6-B498-43B3-948B-1728B52AA6E4}">
                <adec:decorative xmlns:adec="http://schemas.microsoft.com/office/drawing/2017/decorative" val="1"/>
              </a:ext>
            </a:extLst>
          </p:cNvPr>
          <p:cNvCxnSpPr>
            <a:cxnSpLocks/>
          </p:cNvCxnSpPr>
          <p:nvPr/>
        </p:nvCxnSpPr>
        <p:spPr>
          <a:xfrm>
            <a:off x="7538919" y="5611463"/>
            <a:ext cx="2510173" cy="0"/>
          </a:xfrm>
          <a:prstGeom prst="line">
            <a:avLst/>
          </a:prstGeom>
          <a:noFill/>
          <a:ln>
            <a:solidFill>
              <a:schemeClr val="bg1"/>
            </a:solidFill>
            <a:headEnd type="arrow" w="lg" len="med"/>
            <a:tailEnd type="arrow" w="lg" len="med"/>
          </a:ln>
          <a:effectLst/>
        </p:spPr>
        <p:style>
          <a:lnRef idx="1">
            <a:schemeClr val="accent2"/>
          </a:lnRef>
          <a:fillRef idx="3">
            <a:schemeClr val="accent2"/>
          </a:fillRef>
          <a:effectRef idx="2">
            <a:schemeClr val="accent2"/>
          </a:effectRef>
          <a:fontRef idx="minor">
            <a:schemeClr val="lt1"/>
          </a:fontRef>
        </p:style>
      </p:cxnSp>
      <p:grpSp>
        <p:nvGrpSpPr>
          <p:cNvPr id="32" name="Group 31">
            <a:extLst>
              <a:ext uri="{FF2B5EF4-FFF2-40B4-BE49-F238E27FC236}">
                <a16:creationId xmlns:a16="http://schemas.microsoft.com/office/drawing/2014/main" id="{2269A76E-42E9-BEC1-66B0-861ABCFFE38D}"/>
              </a:ext>
              <a:ext uri="{C183D7F6-B498-43B3-948B-1728B52AA6E4}">
                <adec:decorative xmlns:adec="http://schemas.microsoft.com/office/drawing/2017/decorative" val="1"/>
              </a:ext>
            </a:extLst>
          </p:cNvPr>
          <p:cNvGrpSpPr/>
          <p:nvPr/>
        </p:nvGrpSpPr>
        <p:grpSpPr>
          <a:xfrm>
            <a:off x="1956172" y="2413495"/>
            <a:ext cx="8059259" cy="2556773"/>
            <a:chOff x="1666499" y="2356269"/>
            <a:chExt cx="8865353" cy="2812504"/>
          </a:xfrm>
          <a:noFill/>
        </p:grpSpPr>
        <p:sp>
          <p:nvSpPr>
            <p:cNvPr id="33" name="Rectangle 32">
              <a:extLst>
                <a:ext uri="{FF2B5EF4-FFF2-40B4-BE49-F238E27FC236}">
                  <a16:creationId xmlns:a16="http://schemas.microsoft.com/office/drawing/2014/main" id="{35A0150C-8403-9D26-9C46-6C558C113BF1}"/>
                </a:ext>
              </a:extLst>
            </p:cNvPr>
            <p:cNvSpPr/>
            <p:nvPr/>
          </p:nvSpPr>
          <p:spPr bwMode="auto">
            <a:xfrm>
              <a:off x="1666499"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grpSp>
          <p:nvGrpSpPr>
            <p:cNvPr id="34" name="Group 33">
              <a:extLst>
                <a:ext uri="{FF2B5EF4-FFF2-40B4-BE49-F238E27FC236}">
                  <a16:creationId xmlns:a16="http://schemas.microsoft.com/office/drawing/2014/main" id="{9E726E7A-8922-09B3-A099-8AF08D74E174}"/>
                </a:ext>
              </a:extLst>
            </p:cNvPr>
            <p:cNvGrpSpPr/>
            <p:nvPr/>
          </p:nvGrpSpPr>
          <p:grpSpPr>
            <a:xfrm>
              <a:off x="2703618" y="4910010"/>
              <a:ext cx="1114012" cy="258763"/>
              <a:chOff x="827087" y="4910010"/>
              <a:chExt cx="1114012" cy="258763"/>
            </a:xfrm>
            <a:grpFill/>
          </p:grpSpPr>
          <p:sp>
            <p:nvSpPr>
              <p:cNvPr id="48" name="Rectangle 47">
                <a:extLst>
                  <a:ext uri="{FF2B5EF4-FFF2-40B4-BE49-F238E27FC236}">
                    <a16:creationId xmlns:a16="http://schemas.microsoft.com/office/drawing/2014/main" id="{DFD46C53-7D9E-5A41-4C1D-8B9B379A1D5A}"/>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sp>
            <p:nvSpPr>
              <p:cNvPr id="49" name="Rectangle 48">
                <a:extLst>
                  <a:ext uri="{FF2B5EF4-FFF2-40B4-BE49-F238E27FC236}">
                    <a16:creationId xmlns:a16="http://schemas.microsoft.com/office/drawing/2014/main" id="{09071490-717C-6CFD-8A62-B365436E9BF7}"/>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grpSp>
        <p:grpSp>
          <p:nvGrpSpPr>
            <p:cNvPr id="35" name="Group 34">
              <a:extLst>
                <a:ext uri="{FF2B5EF4-FFF2-40B4-BE49-F238E27FC236}">
                  <a16:creationId xmlns:a16="http://schemas.microsoft.com/office/drawing/2014/main" id="{E399EC85-816D-BA6B-6191-479370923BD1}"/>
                </a:ext>
              </a:extLst>
            </p:cNvPr>
            <p:cNvGrpSpPr/>
            <p:nvPr/>
          </p:nvGrpSpPr>
          <p:grpSpPr>
            <a:xfrm>
              <a:off x="4595986" y="2356269"/>
              <a:ext cx="1114012" cy="2812504"/>
              <a:chOff x="827087" y="2356269"/>
              <a:chExt cx="1114012" cy="2812504"/>
            </a:xfrm>
            <a:grpFill/>
          </p:grpSpPr>
          <p:sp>
            <p:nvSpPr>
              <p:cNvPr id="45" name="Rectangle 44">
                <a:extLst>
                  <a:ext uri="{FF2B5EF4-FFF2-40B4-BE49-F238E27FC236}">
                    <a16:creationId xmlns:a16="http://schemas.microsoft.com/office/drawing/2014/main" id="{485E6B4B-B133-7B9E-53F5-1ECDAB638C85}"/>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sp>
            <p:nvSpPr>
              <p:cNvPr id="46" name="Rectangle 45">
                <a:extLst>
                  <a:ext uri="{FF2B5EF4-FFF2-40B4-BE49-F238E27FC236}">
                    <a16:creationId xmlns:a16="http://schemas.microsoft.com/office/drawing/2014/main" id="{1711BF02-E0FF-FDD3-234D-14E9C2DF02F2}"/>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sp>
            <p:nvSpPr>
              <p:cNvPr id="47" name="Rectangle 46">
                <a:extLst>
                  <a:ext uri="{FF2B5EF4-FFF2-40B4-BE49-F238E27FC236}">
                    <a16:creationId xmlns:a16="http://schemas.microsoft.com/office/drawing/2014/main" id="{F0D8E93C-31F2-0EFE-D111-187E65D6913B}"/>
                  </a:ext>
                </a:extLst>
              </p:cNvPr>
              <p:cNvSpPr/>
              <p:nvPr/>
            </p:nvSpPr>
            <p:spPr bwMode="auto">
              <a:xfrm>
                <a:off x="827087" y="2356269"/>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grpSp>
        <p:grpSp>
          <p:nvGrpSpPr>
            <p:cNvPr id="36" name="Group 35">
              <a:extLst>
                <a:ext uri="{FF2B5EF4-FFF2-40B4-BE49-F238E27FC236}">
                  <a16:creationId xmlns:a16="http://schemas.microsoft.com/office/drawing/2014/main" id="{D0CA805E-3254-664C-B44F-25AEADE651A9}"/>
                </a:ext>
              </a:extLst>
            </p:cNvPr>
            <p:cNvGrpSpPr/>
            <p:nvPr/>
          </p:nvGrpSpPr>
          <p:grpSpPr>
            <a:xfrm>
              <a:off x="6488354" y="4910010"/>
              <a:ext cx="1114012" cy="258763"/>
              <a:chOff x="827087" y="4910010"/>
              <a:chExt cx="1114012" cy="258763"/>
            </a:xfrm>
            <a:grpFill/>
          </p:grpSpPr>
          <p:sp>
            <p:nvSpPr>
              <p:cNvPr id="42" name="Rectangle 41">
                <a:extLst>
                  <a:ext uri="{FF2B5EF4-FFF2-40B4-BE49-F238E27FC236}">
                    <a16:creationId xmlns:a16="http://schemas.microsoft.com/office/drawing/2014/main" id="{8961C417-B827-2370-D1A6-540397275738}"/>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sp>
            <p:nvSpPr>
              <p:cNvPr id="43" name="Rectangle 42">
                <a:extLst>
                  <a:ext uri="{FF2B5EF4-FFF2-40B4-BE49-F238E27FC236}">
                    <a16:creationId xmlns:a16="http://schemas.microsoft.com/office/drawing/2014/main" id="{41EECCBF-A3D3-B669-7C3C-B8A3F783B95A}"/>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grpSp>
        <p:grpSp>
          <p:nvGrpSpPr>
            <p:cNvPr id="37" name="Group 36">
              <a:extLst>
                <a:ext uri="{FF2B5EF4-FFF2-40B4-BE49-F238E27FC236}">
                  <a16:creationId xmlns:a16="http://schemas.microsoft.com/office/drawing/2014/main" id="{01202D97-BC96-7196-D8AA-C051854841F7}"/>
                </a:ext>
              </a:extLst>
            </p:cNvPr>
            <p:cNvGrpSpPr/>
            <p:nvPr/>
          </p:nvGrpSpPr>
          <p:grpSpPr>
            <a:xfrm>
              <a:off x="8380722" y="2356269"/>
              <a:ext cx="1114012" cy="2812504"/>
              <a:chOff x="827087" y="2356269"/>
              <a:chExt cx="1114012" cy="2812504"/>
            </a:xfrm>
            <a:grpFill/>
          </p:grpSpPr>
          <p:sp>
            <p:nvSpPr>
              <p:cNvPr id="39" name="Rectangle 38">
                <a:extLst>
                  <a:ext uri="{FF2B5EF4-FFF2-40B4-BE49-F238E27FC236}">
                    <a16:creationId xmlns:a16="http://schemas.microsoft.com/office/drawing/2014/main" id="{51B5FA0E-9F35-4E4A-308A-F1C30465A9F9}"/>
                  </a:ext>
                </a:extLst>
              </p:cNvPr>
              <p:cNvSpPr/>
              <p:nvPr/>
            </p:nvSpPr>
            <p:spPr bwMode="auto">
              <a:xfrm>
                <a:off x="827087"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sp>
            <p:nvSpPr>
              <p:cNvPr id="40" name="Rectangle 39">
                <a:extLst>
                  <a:ext uri="{FF2B5EF4-FFF2-40B4-BE49-F238E27FC236}">
                    <a16:creationId xmlns:a16="http://schemas.microsoft.com/office/drawing/2014/main" id="{3646D221-3515-437C-F648-1764B5B367C6}"/>
                  </a:ext>
                </a:extLst>
              </p:cNvPr>
              <p:cNvSpPr/>
              <p:nvPr/>
            </p:nvSpPr>
            <p:spPr bwMode="auto">
              <a:xfrm>
                <a:off x="1682336"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sp>
            <p:nvSpPr>
              <p:cNvPr id="41" name="Rectangle 40">
                <a:extLst>
                  <a:ext uri="{FF2B5EF4-FFF2-40B4-BE49-F238E27FC236}">
                    <a16:creationId xmlns:a16="http://schemas.microsoft.com/office/drawing/2014/main" id="{F2F3CFF2-9870-456F-758B-0D50B2653EBF}"/>
                  </a:ext>
                </a:extLst>
              </p:cNvPr>
              <p:cNvSpPr/>
              <p:nvPr/>
            </p:nvSpPr>
            <p:spPr bwMode="auto">
              <a:xfrm>
                <a:off x="1682336" y="2356269"/>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grpSp>
        <p:sp>
          <p:nvSpPr>
            <p:cNvPr id="38" name="Rectangle 37">
              <a:extLst>
                <a:ext uri="{FF2B5EF4-FFF2-40B4-BE49-F238E27FC236}">
                  <a16:creationId xmlns:a16="http://schemas.microsoft.com/office/drawing/2014/main" id="{D58602F7-5EBE-FE5D-A1A1-A813DAE0A8A4}"/>
                </a:ext>
              </a:extLst>
            </p:cNvPr>
            <p:cNvSpPr/>
            <p:nvPr/>
          </p:nvSpPr>
          <p:spPr bwMode="auto">
            <a:xfrm>
              <a:off x="10273089" y="4910010"/>
              <a:ext cx="258763" cy="258763"/>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l" defTabSz="914102" rtl="0" eaLnBrk="1" fontAlgn="base" latinLnBrk="0" hangingPunct="1">
                <a:lnSpc>
                  <a:spcPct val="100000"/>
                </a:lnSpc>
                <a:spcBef>
                  <a:spcPct val="0"/>
                </a:spcBef>
                <a:spcAft>
                  <a:spcPct val="0"/>
                </a:spcAft>
                <a:buClrTx/>
                <a:buSzTx/>
                <a:buFontTx/>
                <a:buNone/>
                <a:tabLst/>
                <a:defRPr/>
              </a:pPr>
              <a:endParaRPr kumimoji="0" lang="en-GB" b="0" i="0" u="none" strike="noStrike" kern="1200" cap="none" spc="0" normalizeH="0" baseline="0" noProof="0">
                <a:ln>
                  <a:noFill/>
                </a:ln>
                <a:solidFill>
                  <a:schemeClr val="tx1"/>
                </a:solidFill>
                <a:effectLst/>
                <a:uLnTx/>
                <a:uFillTx/>
                <a:latin typeface="Segoe Sans Text" pitchFamily="2" charset="0"/>
                <a:ea typeface="Segoe UI" pitchFamily="34" charset="0"/>
                <a:cs typeface="Segoe Sans Text" pitchFamily="2" charset="0"/>
              </a:endParaRPr>
            </a:p>
          </p:txBody>
        </p:sp>
      </p:grpSp>
      <p:cxnSp>
        <p:nvCxnSpPr>
          <p:cNvPr id="60" name="Straight Arrow Connector 59">
            <a:extLst>
              <a:ext uri="{FF2B5EF4-FFF2-40B4-BE49-F238E27FC236}">
                <a16:creationId xmlns:a16="http://schemas.microsoft.com/office/drawing/2014/main" id="{9B3A45BE-7949-4364-9539-1D74624C080F}"/>
              </a:ext>
            </a:extLst>
          </p:cNvPr>
          <p:cNvCxnSpPr>
            <a:cxnSpLocks/>
          </p:cNvCxnSpPr>
          <p:nvPr/>
        </p:nvCxnSpPr>
        <p:spPr>
          <a:xfrm>
            <a:off x="2862510" y="2204799"/>
            <a:ext cx="0" cy="199847"/>
          </a:xfrm>
          <a:prstGeom prst="straightConnector1">
            <a:avLst/>
          </a:prstGeom>
          <a:noFill/>
          <a:ln>
            <a:solidFill>
              <a:schemeClr val="bg1"/>
            </a:solidFill>
            <a:headEnd type="none" w="lg" len="med"/>
            <a:tailEnd type="arrow" w="lg" len="med"/>
          </a:ln>
          <a:effectLst/>
        </p:spPr>
        <p:style>
          <a:lnRef idx="1">
            <a:schemeClr val="accent2"/>
          </a:lnRef>
          <a:fillRef idx="3">
            <a:schemeClr val="accent2"/>
          </a:fillRef>
          <a:effectRef idx="2">
            <a:schemeClr val="accent2"/>
          </a:effectRef>
          <a:fontRef idx="minor">
            <a:schemeClr val="lt1"/>
          </a:fontRef>
        </p:style>
      </p:cxnSp>
      <p:cxnSp>
        <p:nvCxnSpPr>
          <p:cNvPr id="182" name="Straight Arrow Connector 181">
            <a:extLst>
              <a:ext uri="{FF2B5EF4-FFF2-40B4-BE49-F238E27FC236}">
                <a16:creationId xmlns:a16="http://schemas.microsoft.com/office/drawing/2014/main" id="{617A3F02-E78B-F72D-27CC-54DC924DE96F}"/>
              </a:ext>
            </a:extLst>
          </p:cNvPr>
          <p:cNvCxnSpPr>
            <a:cxnSpLocks/>
          </p:cNvCxnSpPr>
          <p:nvPr/>
        </p:nvCxnSpPr>
        <p:spPr>
          <a:xfrm>
            <a:off x="4441543" y="2204799"/>
            <a:ext cx="0" cy="199847"/>
          </a:xfrm>
          <a:prstGeom prst="straightConnector1">
            <a:avLst/>
          </a:prstGeom>
          <a:noFill/>
          <a:ln>
            <a:solidFill>
              <a:schemeClr val="bg1"/>
            </a:solidFill>
            <a:headEnd type="none" w="lg" len="med"/>
            <a:tailEnd type="arrow" w="lg" len="med"/>
          </a:ln>
          <a:effectLst/>
        </p:spPr>
        <p:style>
          <a:lnRef idx="1">
            <a:schemeClr val="accent2"/>
          </a:lnRef>
          <a:fillRef idx="3">
            <a:schemeClr val="accent2"/>
          </a:fillRef>
          <a:effectRef idx="2">
            <a:schemeClr val="accent2"/>
          </a:effectRef>
          <a:fontRef idx="minor">
            <a:schemeClr val="lt1"/>
          </a:fontRef>
        </p:style>
      </p:cxnSp>
      <p:sp>
        <p:nvSpPr>
          <p:cNvPr id="183" name="Rectangle: Rounded Corners 182">
            <a:extLst>
              <a:ext uri="{FF2B5EF4-FFF2-40B4-BE49-F238E27FC236}">
                <a16:creationId xmlns:a16="http://schemas.microsoft.com/office/drawing/2014/main" id="{89317F8E-266B-0ABF-3245-9159D4DA1B9E}"/>
              </a:ext>
            </a:extLst>
          </p:cNvPr>
          <p:cNvSpPr/>
          <p:nvPr/>
        </p:nvSpPr>
        <p:spPr bwMode="auto">
          <a:xfrm>
            <a:off x="4095119" y="5423406"/>
            <a:ext cx="4001761" cy="359183"/>
          </a:xfrm>
          <a:prstGeom prst="roundRect">
            <a:avLst>
              <a:gd name="adj" fmla="val 12662"/>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defTabSz="932472" fontAlgn="base">
              <a:spcBef>
                <a:spcPct val="0"/>
              </a:spcBef>
              <a:spcAft>
                <a:spcPct val="0"/>
              </a:spcAft>
              <a:buSzPct val="90000"/>
              <a:defRPr/>
            </a:pPr>
            <a:r>
              <a:rPr lang="en-US" sz="1200">
                <a:solidFill>
                  <a:srgbClr val="FFFFFF"/>
                </a:solidFill>
                <a:latin typeface="Segoe Sans Text ExtraBold" pitchFamily="2" charset="0"/>
                <a:cs typeface="Segoe Sans Text ExtraBold" pitchFamily="2" charset="0"/>
              </a:rPr>
              <a:t>Design solution architecture</a:t>
            </a:r>
          </a:p>
        </p:txBody>
      </p:sp>
      <p:grpSp>
        <p:nvGrpSpPr>
          <p:cNvPr id="271" name="Group 270">
            <a:extLst>
              <a:ext uri="{FF2B5EF4-FFF2-40B4-BE49-F238E27FC236}">
                <a16:creationId xmlns:a16="http://schemas.microsoft.com/office/drawing/2014/main" id="{BE3E75AD-07AE-6ED9-57D8-F5443186034E}"/>
              </a:ext>
            </a:extLst>
          </p:cNvPr>
          <p:cNvGrpSpPr/>
          <p:nvPr/>
        </p:nvGrpSpPr>
        <p:grpSpPr>
          <a:xfrm>
            <a:off x="6960224" y="2424316"/>
            <a:ext cx="1460409" cy="2556596"/>
            <a:chOff x="6960224" y="2424316"/>
            <a:chExt cx="1460409" cy="2556596"/>
          </a:xfrm>
        </p:grpSpPr>
        <p:sp>
          <p:nvSpPr>
            <p:cNvPr id="5" name="Rectangle: Rounded Corners 4">
              <a:extLst>
                <a:ext uri="{FF2B5EF4-FFF2-40B4-BE49-F238E27FC236}">
                  <a16:creationId xmlns:a16="http://schemas.microsoft.com/office/drawing/2014/main" id="{928F6279-58F4-5CCF-9834-103BECC6037A}"/>
                </a:ext>
                <a:ext uri="{C183D7F6-B498-43B3-948B-1728B52AA6E4}">
                  <adec:decorative xmlns:adec="http://schemas.microsoft.com/office/drawing/2017/decorative" val="1"/>
                </a:ext>
              </a:extLst>
            </p:cNvPr>
            <p:cNvSpPr>
              <a:spLocks/>
            </p:cNvSpPr>
            <p:nvPr/>
          </p:nvSpPr>
          <p:spPr bwMode="auto">
            <a:xfrm>
              <a:off x="6970340" y="2424316"/>
              <a:ext cx="1416869" cy="2556596"/>
            </a:xfrm>
            <a:prstGeom prst="roundRect">
              <a:avLst>
                <a:gd name="adj" fmla="val 5100"/>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9" name="TextBox 18">
              <a:extLst>
                <a:ext uri="{FF2B5EF4-FFF2-40B4-BE49-F238E27FC236}">
                  <a16:creationId xmlns:a16="http://schemas.microsoft.com/office/drawing/2014/main" id="{F1C54B1F-EBC4-D506-CC1E-0912326E565C}"/>
                </a:ext>
              </a:extLst>
            </p:cNvPr>
            <p:cNvSpPr txBox="1"/>
            <p:nvPr/>
          </p:nvSpPr>
          <p:spPr>
            <a:xfrm>
              <a:off x="7031833" y="3152645"/>
              <a:ext cx="1336147" cy="169277"/>
            </a:xfrm>
            <a:prstGeom prst="rect">
              <a:avLst/>
            </a:prstGeom>
            <a:noFill/>
          </p:spPr>
          <p:txBody>
            <a:bodyPr wrap="square" lIns="0" tIns="0" rIns="0" bIns="0">
              <a:spAutoFit/>
            </a:bodyPr>
            <a:lstStyle/>
            <a:p>
              <a:pPr lvl="0" defTabSz="609630" fontAlgn="base">
                <a:spcBef>
                  <a:spcPts val="1200"/>
                </a:spcBef>
                <a:spcAft>
                  <a:spcPct val="0"/>
                </a:spcAft>
                <a:buSzPct val="90000"/>
                <a:defRPr/>
              </a:pPr>
              <a:r>
                <a:rPr lang="en-US" sz="1100">
                  <a:solidFill>
                    <a:srgbClr val="FFFFFF"/>
                  </a:solidFill>
                  <a:latin typeface="Segoe Sans Text Semibold"/>
                </a:rPr>
                <a:t>Review &amp; approve</a:t>
              </a:r>
            </a:p>
          </p:txBody>
        </p:sp>
        <p:sp>
          <p:nvSpPr>
            <p:cNvPr id="20" name="Content Placeholder 3">
              <a:extLst>
                <a:ext uri="{FF2B5EF4-FFF2-40B4-BE49-F238E27FC236}">
                  <a16:creationId xmlns:a16="http://schemas.microsoft.com/office/drawing/2014/main" id="{7D68DEC4-493E-437D-DF36-8CA000367661}"/>
                </a:ext>
              </a:extLst>
            </p:cNvPr>
            <p:cNvSpPr txBox="1">
              <a:spLocks/>
            </p:cNvSpPr>
            <p:nvPr/>
          </p:nvSpPr>
          <p:spPr>
            <a:xfrm>
              <a:off x="6960224" y="3375944"/>
              <a:ext cx="1460409" cy="786873"/>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609630" fontAlgn="base">
                <a:spcBef>
                  <a:spcPts val="0"/>
                </a:spcBef>
                <a:spcAft>
                  <a:spcPct val="0"/>
                </a:spcAft>
                <a:buSzTx/>
                <a:defRPr/>
              </a:pPr>
              <a:r>
                <a:rPr lang="en-US" sz="1000">
                  <a:solidFill>
                    <a:srgbClr val="FFFFFF"/>
                  </a:solidFill>
                  <a:cs typeface="Segoe Sans Text" pitchFamily="2" charset="0"/>
                </a:rPr>
                <a:t>Compliance Officer</a:t>
              </a:r>
            </a:p>
            <a:p>
              <a:pPr lvl="0" defTabSz="609630" fontAlgn="base">
                <a:spcBef>
                  <a:spcPts val="0"/>
                </a:spcBef>
                <a:spcAft>
                  <a:spcPct val="0"/>
                </a:spcAft>
                <a:buSzTx/>
                <a:defRPr/>
              </a:pPr>
              <a:r>
                <a:rPr lang="en-US" sz="1000">
                  <a:solidFill>
                    <a:srgbClr val="FFFFFF"/>
                  </a:solidFill>
                  <a:cs typeface="Segoe Sans Text" pitchFamily="2" charset="0"/>
                </a:rPr>
                <a:t>Responsible AI Lead</a:t>
              </a:r>
            </a:p>
            <a:p>
              <a:pPr lvl="0" defTabSz="609630" fontAlgn="base">
                <a:spcBef>
                  <a:spcPts val="0"/>
                </a:spcBef>
                <a:spcAft>
                  <a:spcPct val="0"/>
                </a:spcAft>
                <a:buSzTx/>
                <a:defRPr/>
              </a:pPr>
              <a:r>
                <a:rPr lang="en-US" sz="1000">
                  <a:solidFill>
                    <a:srgbClr val="FFFFFF"/>
                  </a:solidFill>
                  <a:cs typeface="Segoe Sans Text" pitchFamily="2" charset="0"/>
                </a:rPr>
                <a:t>Business Lead</a:t>
              </a:r>
            </a:p>
          </p:txBody>
        </p:sp>
        <p:grpSp>
          <p:nvGrpSpPr>
            <p:cNvPr id="119" name="Group 118">
              <a:extLst>
                <a:ext uri="{FF2B5EF4-FFF2-40B4-BE49-F238E27FC236}">
                  <a16:creationId xmlns:a16="http://schemas.microsoft.com/office/drawing/2014/main" id="{8D97206F-121A-31CA-C9F4-09ECFADA0E68}"/>
                </a:ext>
              </a:extLst>
            </p:cNvPr>
            <p:cNvGrpSpPr/>
            <p:nvPr/>
          </p:nvGrpSpPr>
          <p:grpSpPr>
            <a:xfrm>
              <a:off x="7055454" y="2497423"/>
              <a:ext cx="488983" cy="489124"/>
              <a:chOff x="1600003" y="1811018"/>
              <a:chExt cx="1641521" cy="1641995"/>
            </a:xfrm>
          </p:grpSpPr>
          <p:sp>
            <p:nvSpPr>
              <p:cNvPr id="121" name="Oval 17">
                <a:extLst>
                  <a:ext uri="{FF2B5EF4-FFF2-40B4-BE49-F238E27FC236}">
                    <a16:creationId xmlns:a16="http://schemas.microsoft.com/office/drawing/2014/main" id="{152120E9-A0FB-3230-E0B3-02B86C312CA6}"/>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122" name="Group 121">
                <a:extLst>
                  <a:ext uri="{FF2B5EF4-FFF2-40B4-BE49-F238E27FC236}">
                    <a16:creationId xmlns:a16="http://schemas.microsoft.com/office/drawing/2014/main" id="{7387294D-19CF-02F1-9400-FD85A9DB2DD9}"/>
                  </a:ext>
                </a:extLst>
              </p:cNvPr>
              <p:cNvGrpSpPr/>
              <p:nvPr/>
            </p:nvGrpSpPr>
            <p:grpSpPr>
              <a:xfrm>
                <a:off x="1714608" y="1927192"/>
                <a:ext cx="1412311" cy="1409646"/>
                <a:chOff x="1261672" y="4833937"/>
                <a:chExt cx="954296" cy="954297"/>
              </a:xfrm>
            </p:grpSpPr>
            <p:sp>
              <p:nvSpPr>
                <p:cNvPr id="123" name="Rectangle: Rounded Corners 122">
                  <a:extLst>
                    <a:ext uri="{FF2B5EF4-FFF2-40B4-BE49-F238E27FC236}">
                      <a16:creationId xmlns:a16="http://schemas.microsoft.com/office/drawing/2014/main" id="{F31924F5-99F2-E991-9C52-F0C64E340869}"/>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24" name="Rectangle: Rounded Corners 123">
                  <a:extLst>
                    <a:ext uri="{FF2B5EF4-FFF2-40B4-BE49-F238E27FC236}">
                      <a16:creationId xmlns:a16="http://schemas.microsoft.com/office/drawing/2014/main" id="{562320A5-EB07-4E11-858C-E9D1C6026893}"/>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18" name="Graphic 10" descr="Graph icon">
              <a:extLst>
                <a:ext uri="{FF2B5EF4-FFF2-40B4-BE49-F238E27FC236}">
                  <a16:creationId xmlns:a16="http://schemas.microsoft.com/office/drawing/2014/main" id="{364CF34A-7973-9B82-9CAA-92076CD79C77}"/>
                </a:ext>
              </a:extLst>
            </p:cNvPr>
            <p:cNvSpPr/>
            <p:nvPr/>
          </p:nvSpPr>
          <p:spPr>
            <a:xfrm>
              <a:off x="7159895" y="2637661"/>
              <a:ext cx="247763" cy="247917"/>
            </a:xfrm>
            <a:custGeom>
              <a:avLst/>
              <a:gdLst>
                <a:gd name="connsiteX0" fmla="*/ 161808 w 190382"/>
                <a:gd name="connsiteY0" fmla="*/ 0 h 190500"/>
                <a:gd name="connsiteX1" fmla="*/ 171333 w 190382"/>
                <a:gd name="connsiteY1" fmla="*/ 9525 h 190500"/>
                <a:gd name="connsiteX2" fmla="*/ 171333 w 190382"/>
                <a:gd name="connsiteY2" fmla="*/ 57150 h 190500"/>
                <a:gd name="connsiteX3" fmla="*/ 161808 w 190382"/>
                <a:gd name="connsiteY3" fmla="*/ 66675 h 190500"/>
                <a:gd name="connsiteX4" fmla="*/ 152283 w 190382"/>
                <a:gd name="connsiteY4" fmla="*/ 57150 h 190500"/>
                <a:gd name="connsiteX5" fmla="*/ 152283 w 190382"/>
                <a:gd name="connsiteY5" fmla="*/ 32518 h 190500"/>
                <a:gd name="connsiteX6" fmla="*/ 97105 w 190382"/>
                <a:gd name="connsiteY6" fmla="*/ 87697 h 190500"/>
                <a:gd name="connsiteX7" fmla="*/ 83636 w 190382"/>
                <a:gd name="connsiteY7" fmla="*/ 87697 h 190500"/>
                <a:gd name="connsiteX8" fmla="*/ 66558 w 190382"/>
                <a:gd name="connsiteY8" fmla="*/ 70618 h 190500"/>
                <a:gd name="connsiteX9" fmla="*/ 16142 w 190382"/>
                <a:gd name="connsiteY9" fmla="*/ 121034 h 190500"/>
                <a:gd name="connsiteX10" fmla="*/ 2674 w 190382"/>
                <a:gd name="connsiteY10" fmla="*/ 120800 h 190500"/>
                <a:gd name="connsiteX11" fmla="*/ 2674 w 190382"/>
                <a:gd name="connsiteY11" fmla="*/ 107566 h 190500"/>
                <a:gd name="connsiteX12" fmla="*/ 59824 w 190382"/>
                <a:gd name="connsiteY12" fmla="*/ 50416 h 190500"/>
                <a:gd name="connsiteX13" fmla="*/ 73292 w 190382"/>
                <a:gd name="connsiteY13" fmla="*/ 50416 h 190500"/>
                <a:gd name="connsiteX14" fmla="*/ 90370 w 190382"/>
                <a:gd name="connsiteY14" fmla="*/ 67494 h 190500"/>
                <a:gd name="connsiteX15" fmla="*/ 138815 w 190382"/>
                <a:gd name="connsiteY15" fmla="*/ 19050 h 190500"/>
                <a:gd name="connsiteX16" fmla="*/ 114183 w 190382"/>
                <a:gd name="connsiteY16" fmla="*/ 19050 h 190500"/>
                <a:gd name="connsiteX17" fmla="*/ 104658 w 190382"/>
                <a:gd name="connsiteY17" fmla="*/ 9525 h 190500"/>
                <a:gd name="connsiteX18" fmla="*/ 114183 w 190382"/>
                <a:gd name="connsiteY18" fmla="*/ 0 h 190500"/>
                <a:gd name="connsiteX19" fmla="*/ 161808 w 190382"/>
                <a:gd name="connsiteY19" fmla="*/ 0 h 190500"/>
                <a:gd name="connsiteX20" fmla="*/ 190383 w 190382"/>
                <a:gd name="connsiteY20" fmla="*/ 138113 h 190500"/>
                <a:gd name="connsiteX21" fmla="*/ 137995 w 190382"/>
                <a:gd name="connsiteY21" fmla="*/ 190500 h 190500"/>
                <a:gd name="connsiteX22" fmla="*/ 85608 w 190382"/>
                <a:gd name="connsiteY22" fmla="*/ 138113 h 190500"/>
                <a:gd name="connsiteX23" fmla="*/ 137995 w 190382"/>
                <a:gd name="connsiteY23" fmla="*/ 85725 h 190500"/>
                <a:gd name="connsiteX24" fmla="*/ 190383 w 190382"/>
                <a:gd name="connsiteY24" fmla="*/ 138113 h 190500"/>
                <a:gd name="connsiteX25" fmla="*/ 169942 w 190382"/>
                <a:gd name="connsiteY25" fmla="*/ 115691 h 190500"/>
                <a:gd name="connsiteX26" fmla="*/ 163207 w 190382"/>
                <a:gd name="connsiteY26" fmla="*/ 115682 h 190500"/>
                <a:gd name="connsiteX27" fmla="*/ 163199 w 190382"/>
                <a:gd name="connsiteY27" fmla="*/ 115691 h 190500"/>
                <a:gd name="connsiteX28" fmla="*/ 128470 w 190382"/>
                <a:gd name="connsiteY28" fmla="*/ 150428 h 190500"/>
                <a:gd name="connsiteX29" fmla="*/ 112792 w 190382"/>
                <a:gd name="connsiteY29" fmla="*/ 134741 h 190500"/>
                <a:gd name="connsiteX30" fmla="*/ 106049 w 190382"/>
                <a:gd name="connsiteY30" fmla="*/ 134741 h 190500"/>
                <a:gd name="connsiteX31" fmla="*/ 106049 w 190382"/>
                <a:gd name="connsiteY31" fmla="*/ 141484 h 190500"/>
                <a:gd name="connsiteX32" fmla="*/ 125099 w 190382"/>
                <a:gd name="connsiteY32" fmla="*/ 160534 h 190500"/>
                <a:gd name="connsiteX33" fmla="*/ 131834 w 190382"/>
                <a:gd name="connsiteY33" fmla="*/ 160543 h 190500"/>
                <a:gd name="connsiteX34" fmla="*/ 131842 w 190382"/>
                <a:gd name="connsiteY34" fmla="*/ 160534 h 190500"/>
                <a:gd name="connsiteX35" fmla="*/ 169942 w 190382"/>
                <a:gd name="connsiteY35" fmla="*/ 122434 h 190500"/>
                <a:gd name="connsiteX36" fmla="*/ 169951 w 190382"/>
                <a:gd name="connsiteY36" fmla="*/ 115699 h 190500"/>
                <a:gd name="connsiteX37" fmla="*/ 169942 w 190382"/>
                <a:gd name="connsiteY37" fmla="*/ 115691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382" h="190500">
                  <a:moveTo>
                    <a:pt x="161808" y="0"/>
                  </a:moveTo>
                  <a:cubicBezTo>
                    <a:pt x="167069" y="0"/>
                    <a:pt x="171333" y="4265"/>
                    <a:pt x="171333" y="9525"/>
                  </a:cubicBezTo>
                  <a:lnTo>
                    <a:pt x="171333" y="57150"/>
                  </a:lnTo>
                  <a:cubicBezTo>
                    <a:pt x="171333" y="62411"/>
                    <a:pt x="167069" y="66675"/>
                    <a:pt x="161808" y="66675"/>
                  </a:cubicBezTo>
                  <a:cubicBezTo>
                    <a:pt x="156547" y="66675"/>
                    <a:pt x="152283" y="62411"/>
                    <a:pt x="152283" y="57150"/>
                  </a:cubicBezTo>
                  <a:lnTo>
                    <a:pt x="152283" y="32518"/>
                  </a:lnTo>
                  <a:lnTo>
                    <a:pt x="97105" y="87697"/>
                  </a:lnTo>
                  <a:cubicBezTo>
                    <a:pt x="93385" y="91415"/>
                    <a:pt x="87356" y="91415"/>
                    <a:pt x="83636" y="87697"/>
                  </a:cubicBezTo>
                  <a:lnTo>
                    <a:pt x="66558" y="70618"/>
                  </a:lnTo>
                  <a:lnTo>
                    <a:pt x="16142" y="121034"/>
                  </a:lnTo>
                  <a:cubicBezTo>
                    <a:pt x="12358" y="124689"/>
                    <a:pt x="6328" y="124584"/>
                    <a:pt x="2674" y="120800"/>
                  </a:cubicBezTo>
                  <a:cubicBezTo>
                    <a:pt x="-891" y="117109"/>
                    <a:pt x="-891" y="111257"/>
                    <a:pt x="2674" y="107566"/>
                  </a:cubicBezTo>
                  <a:lnTo>
                    <a:pt x="59824" y="50416"/>
                  </a:lnTo>
                  <a:cubicBezTo>
                    <a:pt x="63543" y="46697"/>
                    <a:pt x="69573" y="46697"/>
                    <a:pt x="73292" y="50416"/>
                  </a:cubicBezTo>
                  <a:lnTo>
                    <a:pt x="90370" y="67494"/>
                  </a:lnTo>
                  <a:lnTo>
                    <a:pt x="138815" y="19050"/>
                  </a:lnTo>
                  <a:lnTo>
                    <a:pt x="114183" y="19050"/>
                  </a:lnTo>
                  <a:cubicBezTo>
                    <a:pt x="108922" y="19050"/>
                    <a:pt x="104658" y="14785"/>
                    <a:pt x="104658" y="9525"/>
                  </a:cubicBezTo>
                  <a:cubicBezTo>
                    <a:pt x="104658" y="4265"/>
                    <a:pt x="108922" y="0"/>
                    <a:pt x="114183" y="0"/>
                  </a:cubicBezTo>
                  <a:lnTo>
                    <a:pt x="161808" y="0"/>
                  </a:lnTo>
                  <a:close/>
                  <a:moveTo>
                    <a:pt x="190383" y="138113"/>
                  </a:moveTo>
                  <a:cubicBezTo>
                    <a:pt x="190383" y="167046"/>
                    <a:pt x="166929" y="190500"/>
                    <a:pt x="137995" y="190500"/>
                  </a:cubicBezTo>
                  <a:cubicBezTo>
                    <a:pt x="109062" y="190500"/>
                    <a:pt x="85608" y="167046"/>
                    <a:pt x="85608" y="138113"/>
                  </a:cubicBezTo>
                  <a:cubicBezTo>
                    <a:pt x="85608" y="109179"/>
                    <a:pt x="109062" y="85725"/>
                    <a:pt x="137995" y="85725"/>
                  </a:cubicBezTo>
                  <a:cubicBezTo>
                    <a:pt x="166929" y="85725"/>
                    <a:pt x="190383" y="109179"/>
                    <a:pt x="190383" y="138113"/>
                  </a:cubicBezTo>
                  <a:close/>
                  <a:moveTo>
                    <a:pt x="169942" y="115691"/>
                  </a:moveTo>
                  <a:cubicBezTo>
                    <a:pt x="168085" y="113829"/>
                    <a:pt x="165069" y="113825"/>
                    <a:pt x="163207" y="115682"/>
                  </a:cubicBezTo>
                  <a:cubicBezTo>
                    <a:pt x="163204" y="115685"/>
                    <a:pt x="163201" y="115688"/>
                    <a:pt x="163199" y="115691"/>
                  </a:cubicBezTo>
                  <a:lnTo>
                    <a:pt x="128470" y="150428"/>
                  </a:lnTo>
                  <a:lnTo>
                    <a:pt x="112792" y="134741"/>
                  </a:lnTo>
                  <a:cubicBezTo>
                    <a:pt x="110930" y="132879"/>
                    <a:pt x="107911" y="132879"/>
                    <a:pt x="106049" y="134741"/>
                  </a:cubicBezTo>
                  <a:cubicBezTo>
                    <a:pt x="104186" y="136603"/>
                    <a:pt x="104186" y="139622"/>
                    <a:pt x="106049" y="141484"/>
                  </a:cubicBezTo>
                  <a:lnTo>
                    <a:pt x="125099" y="160534"/>
                  </a:lnTo>
                  <a:cubicBezTo>
                    <a:pt x="126956" y="162396"/>
                    <a:pt x="129972" y="162400"/>
                    <a:pt x="131834" y="160543"/>
                  </a:cubicBezTo>
                  <a:cubicBezTo>
                    <a:pt x="131837" y="160540"/>
                    <a:pt x="131839" y="160537"/>
                    <a:pt x="131842" y="160534"/>
                  </a:cubicBezTo>
                  <a:lnTo>
                    <a:pt x="169942" y="122434"/>
                  </a:lnTo>
                  <a:cubicBezTo>
                    <a:pt x="171804" y="120577"/>
                    <a:pt x="171808" y="117561"/>
                    <a:pt x="169951" y="115699"/>
                  </a:cubicBezTo>
                  <a:cubicBezTo>
                    <a:pt x="169948" y="115696"/>
                    <a:pt x="169945" y="115694"/>
                    <a:pt x="169942" y="115691"/>
                  </a:cubicBezTo>
                  <a:close/>
                </a:path>
              </a:pathLst>
            </a:custGeom>
            <a:gradFill>
              <a:gsLst>
                <a:gs pos="100000">
                  <a:srgbClr val="BDF2BD"/>
                </a:gs>
                <a:gs pos="55000">
                  <a:srgbClr val="C3E9FC"/>
                </a:gs>
              </a:gsLst>
              <a:lin ang="0" scaled="1"/>
            </a:gradFill>
            <a:effectLst/>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GB" b="0" i="0" u="none" strike="noStrike" kern="0" cap="none" spc="0" normalizeH="0" baseline="0" noProof="0">
                <a:ln>
                  <a:noFill/>
                </a:ln>
                <a:effectLst/>
                <a:uLnTx/>
                <a:uFillTx/>
                <a:latin typeface="Segoe Sans Text" pitchFamily="2" charset="0"/>
                <a:ea typeface="+mn-ea"/>
                <a:cs typeface="+mn-cs"/>
              </a:endParaRPr>
            </a:p>
          </p:txBody>
        </p:sp>
      </p:grpSp>
      <p:grpSp>
        <p:nvGrpSpPr>
          <p:cNvPr id="272" name="Group 271">
            <a:extLst>
              <a:ext uri="{FF2B5EF4-FFF2-40B4-BE49-F238E27FC236}">
                <a16:creationId xmlns:a16="http://schemas.microsoft.com/office/drawing/2014/main" id="{77D3FA63-9A5C-B069-59A2-2570064D4834}"/>
              </a:ext>
            </a:extLst>
          </p:cNvPr>
          <p:cNvGrpSpPr/>
          <p:nvPr/>
        </p:nvGrpSpPr>
        <p:grpSpPr>
          <a:xfrm>
            <a:off x="8570818" y="2413583"/>
            <a:ext cx="1426179" cy="2556596"/>
            <a:chOff x="8570818" y="2413583"/>
            <a:chExt cx="1426179" cy="2556596"/>
          </a:xfrm>
        </p:grpSpPr>
        <p:sp>
          <p:nvSpPr>
            <p:cNvPr id="6" name="Rectangle: Rounded Corners 5">
              <a:extLst>
                <a:ext uri="{FF2B5EF4-FFF2-40B4-BE49-F238E27FC236}">
                  <a16:creationId xmlns:a16="http://schemas.microsoft.com/office/drawing/2014/main" id="{18E12F34-56F0-2CBA-34E8-69CCA56657E4}"/>
                </a:ext>
                <a:ext uri="{C183D7F6-B498-43B3-948B-1728B52AA6E4}">
                  <adec:decorative xmlns:adec="http://schemas.microsoft.com/office/drawing/2017/decorative" val="1"/>
                </a:ext>
              </a:extLst>
            </p:cNvPr>
            <p:cNvSpPr>
              <a:spLocks/>
            </p:cNvSpPr>
            <p:nvPr/>
          </p:nvSpPr>
          <p:spPr bwMode="auto">
            <a:xfrm>
              <a:off x="8580128" y="2413583"/>
              <a:ext cx="1416869" cy="2556596"/>
            </a:xfrm>
            <a:prstGeom prst="roundRect">
              <a:avLst>
                <a:gd name="adj" fmla="val 5100"/>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22" name="Text Placeholder 10">
              <a:extLst>
                <a:ext uri="{FF2B5EF4-FFF2-40B4-BE49-F238E27FC236}">
                  <a16:creationId xmlns:a16="http://schemas.microsoft.com/office/drawing/2014/main" id="{ADA4E56D-7795-6364-5160-B134DB95DF26}"/>
                </a:ext>
              </a:extLst>
            </p:cNvPr>
            <p:cNvSpPr txBox="1">
              <a:spLocks/>
            </p:cNvSpPr>
            <p:nvPr/>
          </p:nvSpPr>
          <p:spPr>
            <a:xfrm>
              <a:off x="8650842" y="3152645"/>
              <a:ext cx="1305698" cy="281499"/>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sz="1800" kern="1200" spc="0" baseline="0">
                  <a:solidFill>
                    <a:schemeClr val="accent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173038" marR="0" indent="-173038"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sz="14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ts val="2400"/>
                </a:spcBef>
                <a:spcAft>
                  <a:spcPts val="0"/>
                </a:spcAft>
                <a:buClrTx/>
                <a:buSzPct val="90000"/>
                <a:buFont typeface="Wingdings" panose="05000000000000000000" pitchFamily="2" charset="2"/>
                <a:buNone/>
                <a:tabLst/>
                <a:defRPr sz="1600" kern="1200" spc="0" baseline="0">
                  <a:solidFill>
                    <a:schemeClr val="accent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609630" fontAlgn="base">
                <a:spcBef>
                  <a:spcPts val="1200"/>
                </a:spcBef>
                <a:spcAft>
                  <a:spcPct val="0"/>
                </a:spcAft>
                <a:defRPr/>
              </a:pPr>
              <a:r>
                <a:rPr lang="en-US" sz="1100">
                  <a:solidFill>
                    <a:srgbClr val="FFFFFF"/>
                  </a:solidFill>
                  <a:latin typeface="Segoe Sans Text Semibold"/>
                  <a:cs typeface="Segoe Sans Text" pitchFamily="2" charset="0"/>
                </a:rPr>
                <a:t>Deploy &amp; monitor</a:t>
              </a:r>
            </a:p>
            <a:p>
              <a:pPr marL="0" marR="0" lvl="0" indent="0" algn="ctr" defTabSz="932563" rtl="0" eaLnBrk="1" fontAlgn="auto" latinLnBrk="0" hangingPunct="1">
                <a:lnSpc>
                  <a:spcPct val="100000"/>
                </a:lnSpc>
                <a:spcBef>
                  <a:spcPts val="0"/>
                </a:spcBef>
                <a:spcAft>
                  <a:spcPts val="1200"/>
                </a:spcAft>
                <a:buClrTx/>
                <a:buSzPct val="90000"/>
                <a:buFont typeface="Wingdings" panose="05000000000000000000" pitchFamily="2" charset="2"/>
                <a:buNone/>
                <a:tabLst/>
                <a:defRPr/>
              </a:pPr>
              <a:endParaRPr kumimoji="0" lang="en-US" sz="1400" b="0" i="0" u="none" strike="noStrike" kern="1200" cap="none" spc="0" normalizeH="0" baseline="0" noProof="0">
                <a:ln>
                  <a:noFill/>
                </a:ln>
                <a:solidFill>
                  <a:schemeClr val="tx1"/>
                </a:solidFill>
                <a:effectLst/>
                <a:uLnTx/>
                <a:uFillTx/>
                <a:latin typeface="Segoe Sans Text" pitchFamily="2" charset="0"/>
                <a:ea typeface="+mn-ea"/>
                <a:cs typeface="Segoe Sans Text" pitchFamily="2" charset="0"/>
              </a:endParaRPr>
            </a:p>
          </p:txBody>
        </p:sp>
        <p:sp>
          <p:nvSpPr>
            <p:cNvPr id="23" name="Content Placeholder 3">
              <a:extLst>
                <a:ext uri="{FF2B5EF4-FFF2-40B4-BE49-F238E27FC236}">
                  <a16:creationId xmlns:a16="http://schemas.microsoft.com/office/drawing/2014/main" id="{6798FF3E-1F3C-DBD9-964D-8B1A8B2BD6AF}"/>
                </a:ext>
              </a:extLst>
            </p:cNvPr>
            <p:cNvSpPr txBox="1">
              <a:spLocks/>
            </p:cNvSpPr>
            <p:nvPr/>
          </p:nvSpPr>
          <p:spPr>
            <a:xfrm>
              <a:off x="8570818" y="3355607"/>
              <a:ext cx="1262547" cy="786873"/>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609630" fontAlgn="base">
                <a:spcBef>
                  <a:spcPts val="0"/>
                </a:spcBef>
                <a:spcAft>
                  <a:spcPct val="0"/>
                </a:spcAft>
                <a:buSzTx/>
                <a:defRPr/>
              </a:pPr>
              <a:r>
                <a:rPr lang="en-US" sz="1000">
                  <a:solidFill>
                    <a:srgbClr val="FFFFFF"/>
                  </a:solidFill>
                  <a:cs typeface="Segoe Sans Text" pitchFamily="2" charset="0"/>
                </a:rPr>
                <a:t>AI Engineer</a:t>
              </a:r>
            </a:p>
            <a:p>
              <a:pPr lvl="0" defTabSz="609630" fontAlgn="base">
                <a:spcBef>
                  <a:spcPts val="0"/>
                </a:spcBef>
                <a:spcAft>
                  <a:spcPct val="0"/>
                </a:spcAft>
                <a:buSzTx/>
                <a:defRPr/>
              </a:pPr>
              <a:r>
                <a:rPr lang="en-US" sz="1000">
                  <a:solidFill>
                    <a:srgbClr val="FFFFFF"/>
                  </a:solidFill>
                  <a:cs typeface="Segoe Sans Text" pitchFamily="2" charset="0"/>
                </a:rPr>
                <a:t>DevOps Engineer</a:t>
              </a:r>
            </a:p>
            <a:p>
              <a:pPr lvl="0" defTabSz="609630" fontAlgn="base">
                <a:spcBef>
                  <a:spcPts val="0"/>
                </a:spcBef>
                <a:spcAft>
                  <a:spcPct val="0"/>
                </a:spcAft>
                <a:buSzTx/>
                <a:defRPr/>
              </a:pPr>
              <a:r>
                <a:rPr lang="en-US" sz="1000">
                  <a:solidFill>
                    <a:srgbClr val="FFFFFF"/>
                  </a:solidFill>
                  <a:cs typeface="Segoe Sans Text" pitchFamily="2" charset="0"/>
                </a:rPr>
                <a:t>Developer</a:t>
              </a:r>
            </a:p>
          </p:txBody>
        </p:sp>
        <p:grpSp>
          <p:nvGrpSpPr>
            <p:cNvPr id="126" name="Group 125">
              <a:extLst>
                <a:ext uri="{FF2B5EF4-FFF2-40B4-BE49-F238E27FC236}">
                  <a16:creationId xmlns:a16="http://schemas.microsoft.com/office/drawing/2014/main" id="{03C9F506-D6E5-00A2-C56D-573AC57848CB}"/>
                </a:ext>
              </a:extLst>
            </p:cNvPr>
            <p:cNvGrpSpPr/>
            <p:nvPr/>
          </p:nvGrpSpPr>
          <p:grpSpPr>
            <a:xfrm>
              <a:off x="8665483" y="2497423"/>
              <a:ext cx="488983" cy="489124"/>
              <a:chOff x="1600003" y="1811018"/>
              <a:chExt cx="1641521" cy="1641995"/>
            </a:xfrm>
          </p:grpSpPr>
          <p:sp>
            <p:nvSpPr>
              <p:cNvPr id="128" name="Oval 17">
                <a:extLst>
                  <a:ext uri="{FF2B5EF4-FFF2-40B4-BE49-F238E27FC236}">
                    <a16:creationId xmlns:a16="http://schemas.microsoft.com/office/drawing/2014/main" id="{56B19B79-1B79-B639-E2D1-F1D8EC15C449}"/>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129" name="Group 128">
                <a:extLst>
                  <a:ext uri="{FF2B5EF4-FFF2-40B4-BE49-F238E27FC236}">
                    <a16:creationId xmlns:a16="http://schemas.microsoft.com/office/drawing/2014/main" id="{9D6861D2-F335-F51E-D690-BA43FDBACD23}"/>
                  </a:ext>
                </a:extLst>
              </p:cNvPr>
              <p:cNvGrpSpPr/>
              <p:nvPr/>
            </p:nvGrpSpPr>
            <p:grpSpPr>
              <a:xfrm>
                <a:off x="1714608" y="1927192"/>
                <a:ext cx="1412311" cy="1409646"/>
                <a:chOff x="1261672" y="4833937"/>
                <a:chExt cx="954296" cy="954297"/>
              </a:xfrm>
            </p:grpSpPr>
            <p:sp>
              <p:nvSpPr>
                <p:cNvPr id="130" name="Rectangle: Rounded Corners 129">
                  <a:extLst>
                    <a:ext uri="{FF2B5EF4-FFF2-40B4-BE49-F238E27FC236}">
                      <a16:creationId xmlns:a16="http://schemas.microsoft.com/office/drawing/2014/main" id="{4533A40B-0A99-5A00-B732-71EDA4DBB23B}"/>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31" name="Rectangle: Rounded Corners 130">
                  <a:extLst>
                    <a:ext uri="{FF2B5EF4-FFF2-40B4-BE49-F238E27FC236}">
                      <a16:creationId xmlns:a16="http://schemas.microsoft.com/office/drawing/2014/main" id="{67841029-985D-5875-4995-FD0FFAE875C5}"/>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24" name="Graphic 34" descr="Surveillance icon">
              <a:extLst>
                <a:ext uri="{FF2B5EF4-FFF2-40B4-BE49-F238E27FC236}">
                  <a16:creationId xmlns:a16="http://schemas.microsoft.com/office/drawing/2014/main" id="{A72B946D-C101-32A9-3400-6E2446960C78}"/>
                </a:ext>
              </a:extLst>
            </p:cNvPr>
            <p:cNvSpPr/>
            <p:nvPr/>
          </p:nvSpPr>
          <p:spPr>
            <a:xfrm>
              <a:off x="8784061" y="2672105"/>
              <a:ext cx="268185" cy="158684"/>
            </a:xfrm>
            <a:custGeom>
              <a:avLst/>
              <a:gdLst>
                <a:gd name="connsiteX0" fmla="*/ 92587 w 185205"/>
                <a:gd name="connsiteY0" fmla="*/ 33385 h 109585"/>
                <a:gd name="connsiteX1" fmla="*/ 130687 w 185205"/>
                <a:gd name="connsiteY1" fmla="*/ 71485 h 109585"/>
                <a:gd name="connsiteX2" fmla="*/ 92587 w 185205"/>
                <a:gd name="connsiteY2" fmla="*/ 109585 h 109585"/>
                <a:gd name="connsiteX3" fmla="*/ 54487 w 185205"/>
                <a:gd name="connsiteY3" fmla="*/ 71485 h 109585"/>
                <a:gd name="connsiteX4" fmla="*/ 92587 w 185205"/>
                <a:gd name="connsiteY4" fmla="*/ 33385 h 109585"/>
                <a:gd name="connsiteX5" fmla="*/ 92587 w 185205"/>
                <a:gd name="connsiteY5" fmla="*/ 0 h 109585"/>
                <a:gd name="connsiteX6" fmla="*/ 184989 w 185205"/>
                <a:gd name="connsiteY6" fmla="*/ 72047 h 109585"/>
                <a:gd name="connsiteX7" fmla="*/ 179798 w 185205"/>
                <a:gd name="connsiteY7" fmla="*/ 80715 h 109585"/>
                <a:gd name="connsiteX8" fmla="*/ 171130 w 185205"/>
                <a:gd name="connsiteY8" fmla="*/ 75524 h 109585"/>
                <a:gd name="connsiteX9" fmla="*/ 72825 w 185205"/>
                <a:gd name="connsiteY9" fmla="*/ 16742 h 109585"/>
                <a:gd name="connsiteX10" fmla="*/ 14034 w 185205"/>
                <a:gd name="connsiteY10" fmla="*/ 75562 h 109585"/>
                <a:gd name="connsiteX11" fmla="*/ 5256 w 185205"/>
                <a:gd name="connsiteY11" fmla="*/ 80562 h 109585"/>
                <a:gd name="connsiteX12" fmla="*/ 176 w 185205"/>
                <a:gd name="connsiteY12" fmla="*/ 72104 h 109585"/>
                <a:gd name="connsiteX13" fmla="*/ 92587 w 185205"/>
                <a:gd name="connsiteY13" fmla="*/ 0 h 109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205" h="109585">
                  <a:moveTo>
                    <a:pt x="92587" y="33385"/>
                  </a:moveTo>
                  <a:cubicBezTo>
                    <a:pt x="113629" y="33385"/>
                    <a:pt x="130687" y="50443"/>
                    <a:pt x="130687" y="71485"/>
                  </a:cubicBezTo>
                  <a:cubicBezTo>
                    <a:pt x="130687" y="92527"/>
                    <a:pt x="113629" y="109585"/>
                    <a:pt x="92587" y="109585"/>
                  </a:cubicBezTo>
                  <a:cubicBezTo>
                    <a:pt x="71545" y="109585"/>
                    <a:pt x="54487" y="92527"/>
                    <a:pt x="54487" y="71485"/>
                  </a:cubicBezTo>
                  <a:cubicBezTo>
                    <a:pt x="54487" y="50443"/>
                    <a:pt x="71545" y="33385"/>
                    <a:pt x="92587" y="33385"/>
                  </a:cubicBezTo>
                  <a:close/>
                  <a:moveTo>
                    <a:pt x="92587" y="0"/>
                  </a:moveTo>
                  <a:cubicBezTo>
                    <a:pt x="136526" y="0"/>
                    <a:pt x="174464" y="30004"/>
                    <a:pt x="184989" y="72047"/>
                  </a:cubicBezTo>
                  <a:cubicBezTo>
                    <a:pt x="185949" y="75874"/>
                    <a:pt x="183625" y="79755"/>
                    <a:pt x="179798" y="80715"/>
                  </a:cubicBezTo>
                  <a:cubicBezTo>
                    <a:pt x="175971" y="81675"/>
                    <a:pt x="172090" y="79351"/>
                    <a:pt x="171130" y="75524"/>
                  </a:cubicBezTo>
                  <a:cubicBezTo>
                    <a:pt x="160217" y="32146"/>
                    <a:pt x="116203" y="5828"/>
                    <a:pt x="72825" y="16742"/>
                  </a:cubicBezTo>
                  <a:cubicBezTo>
                    <a:pt x="43890" y="24023"/>
                    <a:pt x="21301" y="46623"/>
                    <a:pt x="14034" y="75562"/>
                  </a:cubicBezTo>
                  <a:cubicBezTo>
                    <a:pt x="12991" y="79367"/>
                    <a:pt x="9061" y="81605"/>
                    <a:pt x="5256" y="80562"/>
                  </a:cubicBezTo>
                  <a:cubicBezTo>
                    <a:pt x="1575" y="79553"/>
                    <a:pt x="-662" y="75828"/>
                    <a:pt x="176" y="72104"/>
                  </a:cubicBezTo>
                  <a:cubicBezTo>
                    <a:pt x="10803" y="29724"/>
                    <a:pt x="48894" y="3"/>
                    <a:pt x="92587" y="0"/>
                  </a:cubicBezTo>
                  <a:close/>
                </a:path>
              </a:pathLst>
            </a:custGeom>
            <a:gradFill>
              <a:gsLst>
                <a:gs pos="100000">
                  <a:srgbClr val="BDF2BD"/>
                </a:gs>
                <a:gs pos="55000">
                  <a:srgbClr val="C3E9FC"/>
                </a:gs>
              </a:gsLst>
              <a:lin ang="0" scaled="1"/>
            </a:gradFill>
            <a:effectLst/>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GB" b="0" i="0" u="none" strike="noStrike" kern="0" cap="none" spc="0" normalizeH="0" baseline="0" noProof="0">
                <a:ln>
                  <a:noFill/>
                </a:ln>
                <a:effectLst/>
                <a:uLnTx/>
                <a:uFillTx/>
                <a:latin typeface="Segoe Sans Text" pitchFamily="2" charset="0"/>
                <a:ea typeface="+mn-ea"/>
                <a:cs typeface="+mn-cs"/>
              </a:endParaRPr>
            </a:p>
          </p:txBody>
        </p:sp>
      </p:grpSp>
      <p:grpSp>
        <p:nvGrpSpPr>
          <p:cNvPr id="267" name="Group 266">
            <a:extLst>
              <a:ext uri="{FF2B5EF4-FFF2-40B4-BE49-F238E27FC236}">
                <a16:creationId xmlns:a16="http://schemas.microsoft.com/office/drawing/2014/main" id="{B0631C42-5965-DF09-76B7-F2D32048E24A}"/>
              </a:ext>
            </a:extLst>
          </p:cNvPr>
          <p:cNvGrpSpPr/>
          <p:nvPr/>
        </p:nvGrpSpPr>
        <p:grpSpPr>
          <a:xfrm>
            <a:off x="519654" y="2413583"/>
            <a:ext cx="1428403" cy="2556596"/>
            <a:chOff x="519654" y="2413583"/>
            <a:chExt cx="1428403" cy="2556596"/>
          </a:xfrm>
        </p:grpSpPr>
        <p:sp>
          <p:nvSpPr>
            <p:cNvPr id="2" name="Rectangle: Rounded Corners 1">
              <a:extLst>
                <a:ext uri="{FF2B5EF4-FFF2-40B4-BE49-F238E27FC236}">
                  <a16:creationId xmlns:a16="http://schemas.microsoft.com/office/drawing/2014/main" id="{685F93EA-0864-E655-2968-018AB3382A99}"/>
                </a:ext>
                <a:ext uri="{C183D7F6-B498-43B3-948B-1728B52AA6E4}">
                  <adec:decorative xmlns:adec="http://schemas.microsoft.com/office/drawing/2017/decorative" val="1"/>
                </a:ext>
              </a:extLst>
            </p:cNvPr>
            <p:cNvSpPr>
              <a:spLocks/>
            </p:cNvSpPr>
            <p:nvPr/>
          </p:nvSpPr>
          <p:spPr bwMode="auto">
            <a:xfrm>
              <a:off x="531188" y="2413583"/>
              <a:ext cx="1416869" cy="2556596"/>
            </a:xfrm>
            <a:prstGeom prst="roundRect">
              <a:avLst>
                <a:gd name="adj" fmla="val 5100"/>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9" name="Text Placeholder 11">
              <a:extLst>
                <a:ext uri="{FF2B5EF4-FFF2-40B4-BE49-F238E27FC236}">
                  <a16:creationId xmlns:a16="http://schemas.microsoft.com/office/drawing/2014/main" id="{E9E1B87D-E09B-56EA-8B44-9FE7577D4495}"/>
                </a:ext>
              </a:extLst>
            </p:cNvPr>
            <p:cNvSpPr txBox="1">
              <a:spLocks/>
            </p:cNvSpPr>
            <p:nvPr/>
          </p:nvSpPr>
          <p:spPr>
            <a:xfrm>
              <a:off x="618293" y="3152645"/>
              <a:ext cx="1326974" cy="383900"/>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sz="1800" kern="1200" spc="0" baseline="0">
                  <a:solidFill>
                    <a:schemeClr val="accent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173038" marR="0" indent="-173038"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sz="14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ts val="2400"/>
                </a:spcBef>
                <a:spcAft>
                  <a:spcPts val="0"/>
                </a:spcAft>
                <a:buClrTx/>
                <a:buSzPct val="90000"/>
                <a:buFont typeface="Wingdings" panose="05000000000000000000" pitchFamily="2" charset="2"/>
                <a:buNone/>
                <a:tabLst/>
                <a:defRPr sz="1600" kern="1200" spc="0" baseline="0">
                  <a:solidFill>
                    <a:schemeClr val="accent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100">
                  <a:solidFill>
                    <a:srgbClr val="FFFFFF"/>
                  </a:solidFill>
                  <a:latin typeface="Segoe Sans Text Semibold"/>
                  <a:cs typeface="Segoe Sans Text" pitchFamily="2" charset="0"/>
                </a:rPr>
                <a:t>Define scope &amp; requirements</a:t>
              </a:r>
            </a:p>
            <a:p>
              <a:pPr marL="0" marR="0" lvl="0" indent="0" algn="l" defTabSz="932563" rtl="0" eaLnBrk="1" fontAlgn="auto" latinLnBrk="0" hangingPunct="1">
                <a:lnSpc>
                  <a:spcPct val="100000"/>
                </a:lnSpc>
                <a:spcBef>
                  <a:spcPts val="0"/>
                </a:spcBef>
                <a:spcAft>
                  <a:spcPts val="1200"/>
                </a:spcAft>
                <a:buClrTx/>
                <a:buSzPct val="90000"/>
                <a:buFont typeface="Wingdings" panose="05000000000000000000" pitchFamily="2" charset="2"/>
                <a:buNone/>
                <a:tabLst/>
                <a:defRPr/>
              </a:pPr>
              <a:endParaRPr kumimoji="0" lang="en-US" sz="1400" b="0" i="0" u="none" strike="noStrike" kern="1200" cap="none" spc="0" normalizeH="0" baseline="0" noProof="0">
                <a:ln>
                  <a:noFill/>
                </a:ln>
                <a:solidFill>
                  <a:schemeClr val="tx1"/>
                </a:solidFill>
                <a:effectLst/>
                <a:uLnTx/>
                <a:uFillTx/>
                <a:latin typeface="Segoe Sans Text" pitchFamily="2" charset="0"/>
                <a:ea typeface="+mn-ea"/>
                <a:cs typeface="Segoe Sans Text" pitchFamily="2" charset="0"/>
              </a:endParaRPr>
            </a:p>
          </p:txBody>
        </p:sp>
        <p:sp>
          <p:nvSpPr>
            <p:cNvPr id="10" name="Content Placeholder 3">
              <a:extLst>
                <a:ext uri="{FF2B5EF4-FFF2-40B4-BE49-F238E27FC236}">
                  <a16:creationId xmlns:a16="http://schemas.microsoft.com/office/drawing/2014/main" id="{FC4D4FFA-3C74-5CEF-DBD2-F5D7473C3FCC}"/>
                </a:ext>
              </a:extLst>
            </p:cNvPr>
            <p:cNvSpPr txBox="1">
              <a:spLocks/>
            </p:cNvSpPr>
            <p:nvPr/>
          </p:nvSpPr>
          <p:spPr>
            <a:xfrm>
              <a:off x="519654" y="3533697"/>
              <a:ext cx="1198299" cy="1113058"/>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indent="0" defTabSz="609630" fontAlgn="base">
                <a:lnSpc>
                  <a:spcPct val="100000"/>
                </a:lnSpc>
                <a:spcBef>
                  <a:spcPts val="0"/>
                </a:spcBef>
                <a:spcAft>
                  <a:spcPct val="0"/>
                </a:spcAft>
                <a:buClrTx/>
                <a:buSzTx/>
                <a:buFont typeface="Wingdings" panose="05000000000000000000" pitchFamily="2" charset="2"/>
                <a:buNone/>
                <a:tabLst/>
                <a:defRPr/>
              </a:pPr>
              <a:r>
                <a:rPr lang="en-US" sz="1000">
                  <a:solidFill>
                    <a:srgbClr val="FFFFFF"/>
                  </a:solidFill>
                  <a:cs typeface="Segoe Sans Text" pitchFamily="2" charset="0"/>
                </a:rPr>
                <a:t>Product Lead</a:t>
              </a:r>
            </a:p>
            <a:p>
              <a:pPr marR="0" indent="0" defTabSz="609630" fontAlgn="base">
                <a:lnSpc>
                  <a:spcPct val="100000"/>
                </a:lnSpc>
                <a:spcBef>
                  <a:spcPts val="0"/>
                </a:spcBef>
                <a:spcAft>
                  <a:spcPct val="0"/>
                </a:spcAft>
                <a:buClrTx/>
                <a:buSzTx/>
                <a:buFont typeface="Wingdings" panose="05000000000000000000" pitchFamily="2" charset="2"/>
                <a:buNone/>
                <a:tabLst/>
                <a:defRPr/>
              </a:pPr>
              <a:r>
                <a:rPr lang="en-US" sz="1000">
                  <a:solidFill>
                    <a:srgbClr val="FFFFFF"/>
                  </a:solidFill>
                  <a:cs typeface="Segoe Sans Text" pitchFamily="2" charset="0"/>
                </a:rPr>
                <a:t>IT</a:t>
              </a:r>
            </a:p>
            <a:p>
              <a:pPr marR="0" indent="0" defTabSz="609630" fontAlgn="base">
                <a:lnSpc>
                  <a:spcPct val="100000"/>
                </a:lnSpc>
                <a:spcBef>
                  <a:spcPts val="0"/>
                </a:spcBef>
                <a:spcAft>
                  <a:spcPct val="0"/>
                </a:spcAft>
                <a:buClrTx/>
                <a:buSzTx/>
                <a:buFont typeface="Wingdings" panose="05000000000000000000" pitchFamily="2" charset="2"/>
                <a:buNone/>
                <a:tabLst/>
                <a:defRPr/>
              </a:pPr>
              <a:r>
                <a:rPr lang="en-US" sz="1000">
                  <a:solidFill>
                    <a:srgbClr val="FFFFFF"/>
                  </a:solidFill>
                  <a:cs typeface="Segoe Sans Text" pitchFamily="2" charset="0"/>
                </a:rPr>
                <a:t>Security</a:t>
              </a:r>
            </a:p>
            <a:p>
              <a:pPr marR="0" indent="0" defTabSz="609630" fontAlgn="base">
                <a:lnSpc>
                  <a:spcPct val="100000"/>
                </a:lnSpc>
                <a:spcBef>
                  <a:spcPts val="0"/>
                </a:spcBef>
                <a:spcAft>
                  <a:spcPct val="0"/>
                </a:spcAft>
                <a:buClrTx/>
                <a:buSzTx/>
                <a:buFont typeface="Wingdings" panose="05000000000000000000" pitchFamily="2" charset="2"/>
                <a:buNone/>
                <a:tabLst/>
                <a:defRPr/>
              </a:pPr>
              <a:r>
                <a:rPr lang="en-US" sz="1000">
                  <a:solidFill>
                    <a:srgbClr val="FFFFFF"/>
                  </a:solidFill>
                  <a:cs typeface="Segoe Sans Text" pitchFamily="2" charset="0"/>
                </a:rPr>
                <a:t>Compliance</a:t>
              </a:r>
            </a:p>
          </p:txBody>
        </p:sp>
        <p:grpSp>
          <p:nvGrpSpPr>
            <p:cNvPr id="62" name="Group 61">
              <a:extLst>
                <a:ext uri="{FF2B5EF4-FFF2-40B4-BE49-F238E27FC236}">
                  <a16:creationId xmlns:a16="http://schemas.microsoft.com/office/drawing/2014/main" id="{AD952A40-3D4B-91D1-1149-5E8EBB6513D8}"/>
                </a:ext>
              </a:extLst>
            </p:cNvPr>
            <p:cNvGrpSpPr/>
            <p:nvPr/>
          </p:nvGrpSpPr>
          <p:grpSpPr>
            <a:xfrm>
              <a:off x="616125" y="2497423"/>
              <a:ext cx="488983" cy="489124"/>
              <a:chOff x="1600003" y="1811018"/>
              <a:chExt cx="1641521" cy="1641995"/>
            </a:xfrm>
          </p:grpSpPr>
          <p:sp>
            <p:nvSpPr>
              <p:cNvPr id="63" name="Oval 17">
                <a:extLst>
                  <a:ext uri="{FF2B5EF4-FFF2-40B4-BE49-F238E27FC236}">
                    <a16:creationId xmlns:a16="http://schemas.microsoft.com/office/drawing/2014/main" id="{F8FD75CA-C7A2-26A0-ABD5-66FB902B8EAE}"/>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64" name="Group 63">
                <a:extLst>
                  <a:ext uri="{FF2B5EF4-FFF2-40B4-BE49-F238E27FC236}">
                    <a16:creationId xmlns:a16="http://schemas.microsoft.com/office/drawing/2014/main" id="{16D7D741-68EF-4A60-E067-C874A6B3CB85}"/>
                  </a:ext>
                </a:extLst>
              </p:cNvPr>
              <p:cNvGrpSpPr/>
              <p:nvPr/>
            </p:nvGrpSpPr>
            <p:grpSpPr>
              <a:xfrm>
                <a:off x="1714608" y="1927192"/>
                <a:ext cx="1412311" cy="1409646"/>
                <a:chOff x="1261672" y="4833937"/>
                <a:chExt cx="954296" cy="954297"/>
              </a:xfrm>
            </p:grpSpPr>
            <p:sp>
              <p:nvSpPr>
                <p:cNvPr id="65" name="Rectangle: Rounded Corners 64">
                  <a:extLst>
                    <a:ext uri="{FF2B5EF4-FFF2-40B4-BE49-F238E27FC236}">
                      <a16:creationId xmlns:a16="http://schemas.microsoft.com/office/drawing/2014/main" id="{625AF513-6E90-11C9-2716-6F611580D599}"/>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66" name="Rectangle: Rounded Corners 65">
                  <a:extLst>
                    <a:ext uri="{FF2B5EF4-FFF2-40B4-BE49-F238E27FC236}">
                      <a16:creationId xmlns:a16="http://schemas.microsoft.com/office/drawing/2014/main" id="{181ECB33-1107-451F-7887-EECB06691510}"/>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194" name="Graphic 192">
              <a:extLst>
                <a:ext uri="{FF2B5EF4-FFF2-40B4-BE49-F238E27FC236}">
                  <a16:creationId xmlns:a16="http://schemas.microsoft.com/office/drawing/2014/main" id="{66AD9F00-4FDA-61CC-EC65-C86DC67DE228}"/>
                </a:ext>
              </a:extLst>
            </p:cNvPr>
            <p:cNvGrpSpPr/>
            <p:nvPr/>
          </p:nvGrpSpPr>
          <p:grpSpPr>
            <a:xfrm>
              <a:off x="720251" y="2603574"/>
              <a:ext cx="277341" cy="277341"/>
              <a:chOff x="3667114" y="5552168"/>
              <a:chExt cx="305717" cy="305717"/>
            </a:xfrm>
            <a:noFill/>
          </p:grpSpPr>
          <p:sp>
            <p:nvSpPr>
              <p:cNvPr id="195" name="Freeform: Shape 194">
                <a:extLst>
                  <a:ext uri="{FF2B5EF4-FFF2-40B4-BE49-F238E27FC236}">
                    <a16:creationId xmlns:a16="http://schemas.microsoft.com/office/drawing/2014/main" id="{7E35CCC5-78E1-10F0-AC0B-FF69D2ACCF4C}"/>
                  </a:ext>
                </a:extLst>
              </p:cNvPr>
              <p:cNvSpPr/>
              <p:nvPr/>
            </p:nvSpPr>
            <p:spPr>
              <a:xfrm>
                <a:off x="3667114" y="5552168"/>
                <a:ext cx="50741" cy="50741"/>
              </a:xfrm>
              <a:custGeom>
                <a:avLst/>
                <a:gdLst>
                  <a:gd name="connsiteX0" fmla="*/ 0 w 50741"/>
                  <a:gd name="connsiteY0" fmla="*/ 50742 h 50741"/>
                  <a:gd name="connsiteX1" fmla="*/ 0 w 50741"/>
                  <a:gd name="connsiteY1" fmla="*/ 0 h 50741"/>
                  <a:gd name="connsiteX2" fmla="*/ 50742 w 50741"/>
                  <a:gd name="connsiteY2" fmla="*/ 0 h 50741"/>
                </a:gdLst>
                <a:ahLst/>
                <a:cxnLst>
                  <a:cxn ang="0">
                    <a:pos x="connsiteX0" y="connsiteY0"/>
                  </a:cxn>
                  <a:cxn ang="0">
                    <a:pos x="connsiteX1" y="connsiteY1"/>
                  </a:cxn>
                  <a:cxn ang="0">
                    <a:pos x="connsiteX2" y="connsiteY2"/>
                  </a:cxn>
                </a:cxnLst>
                <a:rect l="l" t="t" r="r" b="b"/>
                <a:pathLst>
                  <a:path w="50741" h="50741">
                    <a:moveTo>
                      <a:pt x="0" y="50742"/>
                    </a:moveTo>
                    <a:lnTo>
                      <a:pt x="0" y="0"/>
                    </a:lnTo>
                    <a:lnTo>
                      <a:pt x="50742" y="0"/>
                    </a:lnTo>
                  </a:path>
                </a:pathLst>
              </a:custGeom>
              <a:noFill/>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sp>
            <p:nvSpPr>
              <p:cNvPr id="196" name="Freeform: Shape 195">
                <a:extLst>
                  <a:ext uri="{FF2B5EF4-FFF2-40B4-BE49-F238E27FC236}">
                    <a16:creationId xmlns:a16="http://schemas.microsoft.com/office/drawing/2014/main" id="{33C6FD61-0825-3CA4-E6D3-248E6E161290}"/>
                  </a:ext>
                </a:extLst>
              </p:cNvPr>
              <p:cNvSpPr/>
              <p:nvPr/>
            </p:nvSpPr>
            <p:spPr>
              <a:xfrm>
                <a:off x="3922090" y="5552168"/>
                <a:ext cx="50741" cy="50741"/>
              </a:xfrm>
              <a:custGeom>
                <a:avLst/>
                <a:gdLst>
                  <a:gd name="connsiteX0" fmla="*/ 0 w 50741"/>
                  <a:gd name="connsiteY0" fmla="*/ 0 h 50741"/>
                  <a:gd name="connsiteX1" fmla="*/ 50742 w 50741"/>
                  <a:gd name="connsiteY1" fmla="*/ 0 h 50741"/>
                  <a:gd name="connsiteX2" fmla="*/ 50742 w 50741"/>
                  <a:gd name="connsiteY2" fmla="*/ 50742 h 50741"/>
                </a:gdLst>
                <a:ahLst/>
                <a:cxnLst>
                  <a:cxn ang="0">
                    <a:pos x="connsiteX0" y="connsiteY0"/>
                  </a:cxn>
                  <a:cxn ang="0">
                    <a:pos x="connsiteX1" y="connsiteY1"/>
                  </a:cxn>
                  <a:cxn ang="0">
                    <a:pos x="connsiteX2" y="connsiteY2"/>
                  </a:cxn>
                </a:cxnLst>
                <a:rect l="l" t="t" r="r" b="b"/>
                <a:pathLst>
                  <a:path w="50741" h="50741">
                    <a:moveTo>
                      <a:pt x="0" y="0"/>
                    </a:moveTo>
                    <a:lnTo>
                      <a:pt x="50742" y="0"/>
                    </a:lnTo>
                    <a:lnTo>
                      <a:pt x="50742" y="50742"/>
                    </a:lnTo>
                  </a:path>
                </a:pathLst>
              </a:custGeom>
              <a:noFill/>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grpSp>
            <p:nvGrpSpPr>
              <p:cNvPr id="197" name="Graphic 192">
                <a:extLst>
                  <a:ext uri="{FF2B5EF4-FFF2-40B4-BE49-F238E27FC236}">
                    <a16:creationId xmlns:a16="http://schemas.microsoft.com/office/drawing/2014/main" id="{00C6FABE-F04A-8492-A41C-4CFA5B41E78F}"/>
                  </a:ext>
                </a:extLst>
              </p:cNvPr>
              <p:cNvGrpSpPr/>
              <p:nvPr/>
            </p:nvGrpSpPr>
            <p:grpSpPr>
              <a:xfrm>
                <a:off x="3667114" y="5807144"/>
                <a:ext cx="305717" cy="50741"/>
                <a:chOff x="3667114" y="5807144"/>
                <a:chExt cx="305717" cy="50741"/>
              </a:xfrm>
              <a:noFill/>
            </p:grpSpPr>
            <p:sp>
              <p:nvSpPr>
                <p:cNvPr id="198" name="Freeform: Shape 197">
                  <a:extLst>
                    <a:ext uri="{FF2B5EF4-FFF2-40B4-BE49-F238E27FC236}">
                      <a16:creationId xmlns:a16="http://schemas.microsoft.com/office/drawing/2014/main" id="{0CFED54F-1E2D-07EA-7B0B-33882D126868}"/>
                    </a:ext>
                  </a:extLst>
                </p:cNvPr>
                <p:cNvSpPr/>
                <p:nvPr/>
              </p:nvSpPr>
              <p:spPr>
                <a:xfrm>
                  <a:off x="3667114" y="5807144"/>
                  <a:ext cx="50741" cy="50741"/>
                </a:xfrm>
                <a:custGeom>
                  <a:avLst/>
                  <a:gdLst>
                    <a:gd name="connsiteX0" fmla="*/ 50742 w 50741"/>
                    <a:gd name="connsiteY0" fmla="*/ 50742 h 50741"/>
                    <a:gd name="connsiteX1" fmla="*/ 0 w 50741"/>
                    <a:gd name="connsiteY1" fmla="*/ 50742 h 50741"/>
                    <a:gd name="connsiteX2" fmla="*/ 0 w 50741"/>
                    <a:gd name="connsiteY2" fmla="*/ 0 h 50741"/>
                  </a:gdLst>
                  <a:ahLst/>
                  <a:cxnLst>
                    <a:cxn ang="0">
                      <a:pos x="connsiteX0" y="connsiteY0"/>
                    </a:cxn>
                    <a:cxn ang="0">
                      <a:pos x="connsiteX1" y="connsiteY1"/>
                    </a:cxn>
                    <a:cxn ang="0">
                      <a:pos x="connsiteX2" y="connsiteY2"/>
                    </a:cxn>
                  </a:cxnLst>
                  <a:rect l="l" t="t" r="r" b="b"/>
                  <a:pathLst>
                    <a:path w="50741" h="50741">
                      <a:moveTo>
                        <a:pt x="50742" y="50742"/>
                      </a:moveTo>
                      <a:lnTo>
                        <a:pt x="0" y="50742"/>
                      </a:lnTo>
                      <a:lnTo>
                        <a:pt x="0" y="0"/>
                      </a:lnTo>
                    </a:path>
                  </a:pathLst>
                </a:custGeom>
                <a:noFill/>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sp>
              <p:nvSpPr>
                <p:cNvPr id="199" name="Freeform: Shape 198">
                  <a:extLst>
                    <a:ext uri="{FF2B5EF4-FFF2-40B4-BE49-F238E27FC236}">
                      <a16:creationId xmlns:a16="http://schemas.microsoft.com/office/drawing/2014/main" id="{4B7C8ED5-2490-155C-A346-A38CC5769028}"/>
                    </a:ext>
                  </a:extLst>
                </p:cNvPr>
                <p:cNvSpPr/>
                <p:nvPr/>
              </p:nvSpPr>
              <p:spPr>
                <a:xfrm>
                  <a:off x="3922090" y="5807144"/>
                  <a:ext cx="50741" cy="50741"/>
                </a:xfrm>
                <a:custGeom>
                  <a:avLst/>
                  <a:gdLst>
                    <a:gd name="connsiteX0" fmla="*/ 50742 w 50741"/>
                    <a:gd name="connsiteY0" fmla="*/ 0 h 50741"/>
                    <a:gd name="connsiteX1" fmla="*/ 50742 w 50741"/>
                    <a:gd name="connsiteY1" fmla="*/ 50742 h 50741"/>
                    <a:gd name="connsiteX2" fmla="*/ 0 w 50741"/>
                    <a:gd name="connsiteY2" fmla="*/ 50742 h 50741"/>
                  </a:gdLst>
                  <a:ahLst/>
                  <a:cxnLst>
                    <a:cxn ang="0">
                      <a:pos x="connsiteX0" y="connsiteY0"/>
                    </a:cxn>
                    <a:cxn ang="0">
                      <a:pos x="connsiteX1" y="connsiteY1"/>
                    </a:cxn>
                    <a:cxn ang="0">
                      <a:pos x="connsiteX2" y="connsiteY2"/>
                    </a:cxn>
                  </a:cxnLst>
                  <a:rect l="l" t="t" r="r" b="b"/>
                  <a:pathLst>
                    <a:path w="50741" h="50741">
                      <a:moveTo>
                        <a:pt x="50742" y="0"/>
                      </a:moveTo>
                      <a:lnTo>
                        <a:pt x="50742" y="50742"/>
                      </a:lnTo>
                      <a:lnTo>
                        <a:pt x="0" y="50742"/>
                      </a:lnTo>
                    </a:path>
                  </a:pathLst>
                </a:custGeom>
                <a:noFill/>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grpSp>
          <p:sp>
            <p:nvSpPr>
              <p:cNvPr id="200" name="Freeform: Shape 199">
                <a:extLst>
                  <a:ext uri="{FF2B5EF4-FFF2-40B4-BE49-F238E27FC236}">
                    <a16:creationId xmlns:a16="http://schemas.microsoft.com/office/drawing/2014/main" id="{9D5088BA-BE2F-10AD-B44A-E2652A3FDA31}"/>
                  </a:ext>
                </a:extLst>
              </p:cNvPr>
              <p:cNvSpPr/>
              <p:nvPr/>
            </p:nvSpPr>
            <p:spPr>
              <a:xfrm>
                <a:off x="3692484" y="5577538"/>
                <a:ext cx="254976" cy="254976"/>
              </a:xfrm>
              <a:custGeom>
                <a:avLst/>
                <a:gdLst>
                  <a:gd name="connsiteX0" fmla="*/ 254976 w 254976"/>
                  <a:gd name="connsiteY0" fmla="*/ 127488 h 254976"/>
                  <a:gd name="connsiteX1" fmla="*/ 127488 w 254976"/>
                  <a:gd name="connsiteY1" fmla="*/ 254976 h 254976"/>
                  <a:gd name="connsiteX2" fmla="*/ 0 w 254976"/>
                  <a:gd name="connsiteY2" fmla="*/ 127488 h 254976"/>
                  <a:gd name="connsiteX3" fmla="*/ 127488 w 254976"/>
                  <a:gd name="connsiteY3" fmla="*/ 0 h 254976"/>
                  <a:gd name="connsiteX4" fmla="*/ 254976 w 254976"/>
                  <a:gd name="connsiteY4" fmla="*/ 127488 h 254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76" h="254976">
                    <a:moveTo>
                      <a:pt x="254976" y="127488"/>
                    </a:moveTo>
                    <a:cubicBezTo>
                      <a:pt x="254976" y="197898"/>
                      <a:pt x="197898" y="254976"/>
                      <a:pt x="127488" y="254976"/>
                    </a:cubicBezTo>
                    <a:cubicBezTo>
                      <a:pt x="57078" y="254976"/>
                      <a:pt x="0" y="197898"/>
                      <a:pt x="0" y="127488"/>
                    </a:cubicBezTo>
                    <a:cubicBezTo>
                      <a:pt x="0" y="57078"/>
                      <a:pt x="57078" y="0"/>
                      <a:pt x="127488" y="0"/>
                    </a:cubicBezTo>
                    <a:cubicBezTo>
                      <a:pt x="197898" y="0"/>
                      <a:pt x="254976" y="57078"/>
                      <a:pt x="254976" y="127488"/>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sp>
            <p:nvSpPr>
              <p:cNvPr id="201" name="Freeform: Shape 200">
                <a:extLst>
                  <a:ext uri="{FF2B5EF4-FFF2-40B4-BE49-F238E27FC236}">
                    <a16:creationId xmlns:a16="http://schemas.microsoft.com/office/drawing/2014/main" id="{4AFFA172-21C9-0464-F0B2-15C38120156C}"/>
                  </a:ext>
                </a:extLst>
              </p:cNvPr>
              <p:cNvSpPr/>
              <p:nvPr/>
            </p:nvSpPr>
            <p:spPr>
              <a:xfrm>
                <a:off x="3819973" y="5552168"/>
                <a:ext cx="634" cy="48204"/>
              </a:xfrm>
              <a:custGeom>
                <a:avLst/>
                <a:gdLst>
                  <a:gd name="connsiteX0" fmla="*/ 0 w 634"/>
                  <a:gd name="connsiteY0" fmla="*/ 0 h 48204"/>
                  <a:gd name="connsiteX1" fmla="*/ 0 w 634"/>
                  <a:gd name="connsiteY1" fmla="*/ 48204 h 48204"/>
                </a:gdLst>
                <a:ahLst/>
                <a:cxnLst>
                  <a:cxn ang="0">
                    <a:pos x="connsiteX0" y="connsiteY0"/>
                  </a:cxn>
                  <a:cxn ang="0">
                    <a:pos x="connsiteX1" y="connsiteY1"/>
                  </a:cxn>
                </a:cxnLst>
                <a:rect l="l" t="t" r="r" b="b"/>
                <a:pathLst>
                  <a:path w="634" h="48204">
                    <a:moveTo>
                      <a:pt x="0" y="0"/>
                    </a:moveTo>
                    <a:lnTo>
                      <a:pt x="0" y="48204"/>
                    </a:lnTo>
                  </a:path>
                </a:pathLst>
              </a:custGeom>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sp>
            <p:nvSpPr>
              <p:cNvPr id="202" name="Freeform: Shape 201">
                <a:extLst>
                  <a:ext uri="{FF2B5EF4-FFF2-40B4-BE49-F238E27FC236}">
                    <a16:creationId xmlns:a16="http://schemas.microsoft.com/office/drawing/2014/main" id="{B518BA5C-6289-D71C-BF43-78A6A053AEF3}"/>
                  </a:ext>
                </a:extLst>
              </p:cNvPr>
              <p:cNvSpPr/>
              <p:nvPr/>
            </p:nvSpPr>
            <p:spPr>
              <a:xfrm>
                <a:off x="3819973" y="5809681"/>
                <a:ext cx="634" cy="48204"/>
              </a:xfrm>
              <a:custGeom>
                <a:avLst/>
                <a:gdLst>
                  <a:gd name="connsiteX0" fmla="*/ 0 w 634"/>
                  <a:gd name="connsiteY0" fmla="*/ 0 h 48204"/>
                  <a:gd name="connsiteX1" fmla="*/ 0 w 634"/>
                  <a:gd name="connsiteY1" fmla="*/ 48204 h 48204"/>
                </a:gdLst>
                <a:ahLst/>
                <a:cxnLst>
                  <a:cxn ang="0">
                    <a:pos x="connsiteX0" y="connsiteY0"/>
                  </a:cxn>
                  <a:cxn ang="0">
                    <a:pos x="connsiteX1" y="connsiteY1"/>
                  </a:cxn>
                </a:cxnLst>
                <a:rect l="l" t="t" r="r" b="b"/>
                <a:pathLst>
                  <a:path w="634" h="48204">
                    <a:moveTo>
                      <a:pt x="0" y="0"/>
                    </a:moveTo>
                    <a:lnTo>
                      <a:pt x="0" y="48204"/>
                    </a:lnTo>
                  </a:path>
                </a:pathLst>
              </a:custGeom>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sp>
            <p:nvSpPr>
              <p:cNvPr id="203" name="Freeform: Shape 202">
                <a:extLst>
                  <a:ext uri="{FF2B5EF4-FFF2-40B4-BE49-F238E27FC236}">
                    <a16:creationId xmlns:a16="http://schemas.microsoft.com/office/drawing/2014/main" id="{099729EE-5846-C987-4FD0-F40417CEE7D6}"/>
                  </a:ext>
                </a:extLst>
              </p:cNvPr>
              <p:cNvSpPr/>
              <p:nvPr/>
            </p:nvSpPr>
            <p:spPr>
              <a:xfrm>
                <a:off x="3924627" y="5705027"/>
                <a:ext cx="48204" cy="634"/>
              </a:xfrm>
              <a:custGeom>
                <a:avLst/>
                <a:gdLst>
                  <a:gd name="connsiteX0" fmla="*/ 48204 w 48204"/>
                  <a:gd name="connsiteY0" fmla="*/ 0 h 634"/>
                  <a:gd name="connsiteX1" fmla="*/ 0 w 48204"/>
                  <a:gd name="connsiteY1" fmla="*/ 0 h 634"/>
                </a:gdLst>
                <a:ahLst/>
                <a:cxnLst>
                  <a:cxn ang="0">
                    <a:pos x="connsiteX0" y="connsiteY0"/>
                  </a:cxn>
                  <a:cxn ang="0">
                    <a:pos x="connsiteX1" y="connsiteY1"/>
                  </a:cxn>
                </a:cxnLst>
                <a:rect l="l" t="t" r="r" b="b"/>
                <a:pathLst>
                  <a:path w="48204" h="634">
                    <a:moveTo>
                      <a:pt x="48204" y="0"/>
                    </a:moveTo>
                    <a:lnTo>
                      <a:pt x="0" y="0"/>
                    </a:lnTo>
                  </a:path>
                </a:pathLst>
              </a:custGeom>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sp>
            <p:nvSpPr>
              <p:cNvPr id="204" name="Freeform: Shape 203">
                <a:extLst>
                  <a:ext uri="{FF2B5EF4-FFF2-40B4-BE49-F238E27FC236}">
                    <a16:creationId xmlns:a16="http://schemas.microsoft.com/office/drawing/2014/main" id="{4537CF2B-37FF-5066-5F9E-E31F17A88CF4}"/>
                  </a:ext>
                </a:extLst>
              </p:cNvPr>
              <p:cNvSpPr/>
              <p:nvPr/>
            </p:nvSpPr>
            <p:spPr>
              <a:xfrm>
                <a:off x="3667114" y="5705027"/>
                <a:ext cx="48204" cy="634"/>
              </a:xfrm>
              <a:custGeom>
                <a:avLst/>
                <a:gdLst>
                  <a:gd name="connsiteX0" fmla="*/ 48204 w 48204"/>
                  <a:gd name="connsiteY0" fmla="*/ 0 h 634"/>
                  <a:gd name="connsiteX1" fmla="*/ 0 w 48204"/>
                  <a:gd name="connsiteY1" fmla="*/ 0 h 634"/>
                </a:gdLst>
                <a:ahLst/>
                <a:cxnLst>
                  <a:cxn ang="0">
                    <a:pos x="connsiteX0" y="connsiteY0"/>
                  </a:cxn>
                  <a:cxn ang="0">
                    <a:pos x="connsiteX1" y="connsiteY1"/>
                  </a:cxn>
                </a:cxnLst>
                <a:rect l="l" t="t" r="r" b="b"/>
                <a:pathLst>
                  <a:path w="48204" h="634">
                    <a:moveTo>
                      <a:pt x="48204" y="0"/>
                    </a:moveTo>
                    <a:lnTo>
                      <a:pt x="0" y="0"/>
                    </a:lnTo>
                  </a:path>
                </a:pathLst>
              </a:custGeom>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grpSp>
            <p:nvGrpSpPr>
              <p:cNvPr id="205" name="Graphic 192">
                <a:extLst>
                  <a:ext uri="{FF2B5EF4-FFF2-40B4-BE49-F238E27FC236}">
                    <a16:creationId xmlns:a16="http://schemas.microsoft.com/office/drawing/2014/main" id="{5D3DDA86-918C-6F27-2A74-6C57B4096D4E}"/>
                  </a:ext>
                </a:extLst>
              </p:cNvPr>
              <p:cNvGrpSpPr/>
              <p:nvPr/>
            </p:nvGrpSpPr>
            <p:grpSpPr>
              <a:xfrm>
                <a:off x="3753828" y="5638745"/>
                <a:ext cx="132288" cy="132562"/>
                <a:chOff x="3753828" y="5638745"/>
                <a:chExt cx="132288" cy="132562"/>
              </a:xfrm>
              <a:noFill/>
            </p:grpSpPr>
            <p:sp>
              <p:nvSpPr>
                <p:cNvPr id="206" name="Freeform: Shape 205">
                  <a:extLst>
                    <a:ext uri="{FF2B5EF4-FFF2-40B4-BE49-F238E27FC236}">
                      <a16:creationId xmlns:a16="http://schemas.microsoft.com/office/drawing/2014/main" id="{58601AA7-942B-A2CE-6667-67EF4361780C}"/>
                    </a:ext>
                  </a:extLst>
                </p:cNvPr>
                <p:cNvSpPr/>
                <p:nvPr/>
              </p:nvSpPr>
              <p:spPr>
                <a:xfrm>
                  <a:off x="3753828" y="5638745"/>
                  <a:ext cx="132288" cy="132562"/>
                </a:xfrm>
                <a:custGeom>
                  <a:avLst/>
                  <a:gdLst>
                    <a:gd name="connsiteX0" fmla="*/ 132288 w 132288"/>
                    <a:gd name="connsiteY0" fmla="*/ 66281 h 132562"/>
                    <a:gd name="connsiteX1" fmla="*/ 66144 w 132288"/>
                    <a:gd name="connsiteY1" fmla="*/ 132562 h 132562"/>
                    <a:gd name="connsiteX2" fmla="*/ 0 w 132288"/>
                    <a:gd name="connsiteY2" fmla="*/ 66281 h 132562"/>
                    <a:gd name="connsiteX3" fmla="*/ 66144 w 132288"/>
                    <a:gd name="connsiteY3" fmla="*/ 0 h 132562"/>
                    <a:gd name="connsiteX4" fmla="*/ 132288 w 132288"/>
                    <a:gd name="connsiteY4" fmla="*/ 66281 h 132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288" h="132562">
                      <a:moveTo>
                        <a:pt x="132288" y="66281"/>
                      </a:moveTo>
                      <a:cubicBezTo>
                        <a:pt x="132288" y="102887"/>
                        <a:pt x="102675" y="132562"/>
                        <a:pt x="66144" y="132562"/>
                      </a:cubicBezTo>
                      <a:cubicBezTo>
                        <a:pt x="29614" y="132562"/>
                        <a:pt x="0" y="102887"/>
                        <a:pt x="0" y="66281"/>
                      </a:cubicBezTo>
                      <a:cubicBezTo>
                        <a:pt x="0" y="29675"/>
                        <a:pt x="29614" y="0"/>
                        <a:pt x="66144" y="0"/>
                      </a:cubicBezTo>
                      <a:cubicBezTo>
                        <a:pt x="102675" y="0"/>
                        <a:pt x="132288" y="29675"/>
                        <a:pt x="132288" y="66281"/>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sp>
              <p:nvSpPr>
                <p:cNvPr id="207" name="Freeform: Shape 206">
                  <a:extLst>
                    <a:ext uri="{FF2B5EF4-FFF2-40B4-BE49-F238E27FC236}">
                      <a16:creationId xmlns:a16="http://schemas.microsoft.com/office/drawing/2014/main" id="{8D128872-41C1-8B37-6157-B957EE66EAF3}"/>
                    </a:ext>
                  </a:extLst>
                </p:cNvPr>
                <p:cNvSpPr/>
                <p:nvPr/>
              </p:nvSpPr>
              <p:spPr>
                <a:xfrm>
                  <a:off x="3796553" y="5690015"/>
                  <a:ext cx="46838" cy="30022"/>
                </a:xfrm>
                <a:custGeom>
                  <a:avLst/>
                  <a:gdLst>
                    <a:gd name="connsiteX0" fmla="*/ 0 w 46838"/>
                    <a:gd name="connsiteY0" fmla="*/ 13108 h 30022"/>
                    <a:gd name="connsiteX1" fmla="*/ 16879 w 46838"/>
                    <a:gd name="connsiteY1" fmla="*/ 30023 h 30022"/>
                    <a:gd name="connsiteX2" fmla="*/ 46838 w 46838"/>
                    <a:gd name="connsiteY2" fmla="*/ 0 h 30022"/>
                  </a:gdLst>
                  <a:ahLst/>
                  <a:cxnLst>
                    <a:cxn ang="0">
                      <a:pos x="connsiteX0" y="connsiteY0"/>
                    </a:cxn>
                    <a:cxn ang="0">
                      <a:pos x="connsiteX1" y="connsiteY1"/>
                    </a:cxn>
                    <a:cxn ang="0">
                      <a:pos x="connsiteX2" y="connsiteY2"/>
                    </a:cxn>
                  </a:cxnLst>
                  <a:rect l="l" t="t" r="r" b="b"/>
                  <a:pathLst>
                    <a:path w="46838" h="30022">
                      <a:moveTo>
                        <a:pt x="0" y="13108"/>
                      </a:moveTo>
                      <a:lnTo>
                        <a:pt x="16879" y="30023"/>
                      </a:lnTo>
                      <a:lnTo>
                        <a:pt x="46838" y="0"/>
                      </a:lnTo>
                    </a:path>
                  </a:pathLst>
                </a:custGeom>
                <a:noFill/>
                <a:ln w="15875" cap="rnd">
                  <a:gradFill flip="none" rotWithShape="1">
                    <a:gsLst>
                      <a:gs pos="0">
                        <a:srgbClr val="AFDFB6"/>
                      </a:gs>
                      <a:gs pos="100000">
                        <a:srgbClr val="C3E9FC"/>
                      </a:gs>
                    </a:gsLst>
                    <a:lin ang="13500000" scaled="1"/>
                    <a:tileRect/>
                  </a:gradFill>
                  <a:prstDash val="solid"/>
                  <a:round/>
                </a:ln>
              </p:spPr>
              <p:txBody>
                <a:bodyPr rtlCol="0" anchor="ctr"/>
                <a:lstStyle/>
                <a:p>
                  <a:endParaRPr lang="en-GB"/>
                </a:p>
              </p:txBody>
            </p:sp>
          </p:grpSp>
        </p:grpSp>
      </p:grpSp>
      <p:grpSp>
        <p:nvGrpSpPr>
          <p:cNvPr id="268" name="Group 267">
            <a:extLst>
              <a:ext uri="{FF2B5EF4-FFF2-40B4-BE49-F238E27FC236}">
                <a16:creationId xmlns:a16="http://schemas.microsoft.com/office/drawing/2014/main" id="{0E37AA36-07B9-4C13-B69F-D1B2A6364D20}"/>
              </a:ext>
            </a:extLst>
          </p:cNvPr>
          <p:cNvGrpSpPr/>
          <p:nvPr/>
        </p:nvGrpSpPr>
        <p:grpSpPr>
          <a:xfrm>
            <a:off x="2128655" y="2413583"/>
            <a:ext cx="1429190" cy="2556596"/>
            <a:chOff x="2128655" y="2413583"/>
            <a:chExt cx="1429190" cy="2556596"/>
          </a:xfrm>
        </p:grpSpPr>
        <p:sp>
          <p:nvSpPr>
            <p:cNvPr id="3" name="Rectangle: Rounded Corners 2">
              <a:extLst>
                <a:ext uri="{FF2B5EF4-FFF2-40B4-BE49-F238E27FC236}">
                  <a16:creationId xmlns:a16="http://schemas.microsoft.com/office/drawing/2014/main" id="{1DDBE25E-2DD7-8796-168D-B09544891DE1}"/>
                </a:ext>
                <a:ext uri="{C183D7F6-B498-43B3-948B-1728B52AA6E4}">
                  <adec:decorative xmlns:adec="http://schemas.microsoft.com/office/drawing/2017/decorative" val="1"/>
                </a:ext>
              </a:extLst>
            </p:cNvPr>
            <p:cNvSpPr>
              <a:spLocks/>
            </p:cNvSpPr>
            <p:nvPr/>
          </p:nvSpPr>
          <p:spPr bwMode="auto">
            <a:xfrm>
              <a:off x="2140976" y="2413583"/>
              <a:ext cx="1416869" cy="2556596"/>
            </a:xfrm>
            <a:prstGeom prst="roundRect">
              <a:avLst>
                <a:gd name="adj" fmla="val 5100"/>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2" name="Text Placeholder 11">
              <a:extLst>
                <a:ext uri="{FF2B5EF4-FFF2-40B4-BE49-F238E27FC236}">
                  <a16:creationId xmlns:a16="http://schemas.microsoft.com/office/drawing/2014/main" id="{E304C9B8-9757-212E-E360-783DB39F12C8}"/>
                </a:ext>
              </a:extLst>
            </p:cNvPr>
            <p:cNvSpPr txBox="1">
              <a:spLocks/>
            </p:cNvSpPr>
            <p:nvPr/>
          </p:nvSpPr>
          <p:spPr>
            <a:xfrm>
              <a:off x="2213283" y="3152645"/>
              <a:ext cx="1222083" cy="383900"/>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sz="1800" kern="1200" spc="0" baseline="0">
                  <a:solidFill>
                    <a:schemeClr val="accent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173038" marR="0" indent="-173038"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sz="14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ts val="2400"/>
                </a:spcBef>
                <a:spcAft>
                  <a:spcPts val="0"/>
                </a:spcAft>
                <a:buClrTx/>
                <a:buSzPct val="90000"/>
                <a:buFont typeface="Wingdings" panose="05000000000000000000" pitchFamily="2" charset="2"/>
                <a:buNone/>
                <a:tabLst/>
                <a:defRPr sz="1600" kern="1200" spc="0" baseline="0">
                  <a:solidFill>
                    <a:schemeClr val="accent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609630" fontAlgn="base">
                <a:spcBef>
                  <a:spcPts val="1200"/>
                </a:spcBef>
                <a:spcAft>
                  <a:spcPct val="0"/>
                </a:spcAft>
                <a:defRPr/>
              </a:pPr>
              <a:r>
                <a:rPr lang="en-US" sz="1100">
                  <a:solidFill>
                    <a:srgbClr val="FFFFFF"/>
                  </a:solidFill>
                  <a:latin typeface="Segoe Sans Text Semibold"/>
                  <a:cs typeface="Segoe Sans Text" pitchFamily="2" charset="0"/>
                </a:rPr>
                <a:t>Data preparation</a:t>
              </a:r>
            </a:p>
            <a:p>
              <a:pPr marL="0" marR="0" lvl="0" indent="0" algn="l" defTabSz="932563" rtl="0" eaLnBrk="1" fontAlgn="auto" latinLnBrk="0" hangingPunct="1">
                <a:lnSpc>
                  <a:spcPct val="100000"/>
                </a:lnSpc>
                <a:spcBef>
                  <a:spcPts val="0"/>
                </a:spcBef>
                <a:spcAft>
                  <a:spcPts val="1200"/>
                </a:spcAft>
                <a:buClrTx/>
                <a:buSzPct val="90000"/>
                <a:buFont typeface="Wingdings" panose="05000000000000000000" pitchFamily="2" charset="2"/>
                <a:buNone/>
                <a:tabLst/>
                <a:defRPr/>
              </a:pPr>
              <a:endParaRPr kumimoji="0" lang="en-US" sz="1400" b="0" i="0" u="none" strike="noStrike" kern="1200" cap="none" spc="0" normalizeH="0" baseline="0" noProof="0">
                <a:ln>
                  <a:noFill/>
                </a:ln>
                <a:solidFill>
                  <a:schemeClr val="tx1"/>
                </a:solidFill>
                <a:effectLst/>
                <a:uLnTx/>
                <a:uFillTx/>
                <a:latin typeface="Segoe Sans Text" pitchFamily="2" charset="0"/>
                <a:ea typeface="+mn-ea"/>
                <a:cs typeface="Segoe Sans Text" pitchFamily="2" charset="0"/>
              </a:endParaRPr>
            </a:p>
          </p:txBody>
        </p:sp>
        <p:sp>
          <p:nvSpPr>
            <p:cNvPr id="13" name="Content Placeholder 3">
              <a:extLst>
                <a:ext uri="{FF2B5EF4-FFF2-40B4-BE49-F238E27FC236}">
                  <a16:creationId xmlns:a16="http://schemas.microsoft.com/office/drawing/2014/main" id="{3DAE118A-D313-A140-74DB-986E4EE022C1}"/>
                </a:ext>
              </a:extLst>
            </p:cNvPr>
            <p:cNvSpPr txBox="1">
              <a:spLocks/>
            </p:cNvSpPr>
            <p:nvPr/>
          </p:nvSpPr>
          <p:spPr>
            <a:xfrm>
              <a:off x="2128655" y="3375983"/>
              <a:ext cx="1198299" cy="471643"/>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609630" fontAlgn="base">
                <a:spcBef>
                  <a:spcPts val="0"/>
                </a:spcBef>
                <a:spcAft>
                  <a:spcPct val="0"/>
                </a:spcAft>
                <a:buSzTx/>
                <a:defRPr/>
              </a:pPr>
              <a:r>
                <a:rPr lang="en-US" sz="1000">
                  <a:solidFill>
                    <a:srgbClr val="FFFFFF"/>
                  </a:solidFill>
                  <a:cs typeface="Segoe Sans Text" pitchFamily="2" charset="0"/>
                </a:rPr>
                <a:t>Data Engineer</a:t>
              </a:r>
            </a:p>
            <a:p>
              <a:pPr lvl="0" defTabSz="609630" fontAlgn="base">
                <a:spcBef>
                  <a:spcPts val="0"/>
                </a:spcBef>
                <a:spcAft>
                  <a:spcPct val="0"/>
                </a:spcAft>
                <a:buSzTx/>
                <a:defRPr/>
              </a:pPr>
              <a:r>
                <a:rPr lang="en-US" sz="1000">
                  <a:solidFill>
                    <a:srgbClr val="FFFFFF"/>
                  </a:solidFill>
                  <a:cs typeface="Segoe Sans Text" pitchFamily="2" charset="0"/>
                </a:rPr>
                <a:t>Data Modeler </a:t>
              </a:r>
            </a:p>
          </p:txBody>
        </p:sp>
        <p:grpSp>
          <p:nvGrpSpPr>
            <p:cNvPr id="70" name="Group 69">
              <a:extLst>
                <a:ext uri="{FF2B5EF4-FFF2-40B4-BE49-F238E27FC236}">
                  <a16:creationId xmlns:a16="http://schemas.microsoft.com/office/drawing/2014/main" id="{7AB04149-907E-2D55-6D4C-4E692592C3C2}"/>
                </a:ext>
              </a:extLst>
            </p:cNvPr>
            <p:cNvGrpSpPr/>
            <p:nvPr/>
          </p:nvGrpSpPr>
          <p:grpSpPr>
            <a:xfrm>
              <a:off x="2221074" y="2497423"/>
              <a:ext cx="488983" cy="489124"/>
              <a:chOff x="1600003" y="1811018"/>
              <a:chExt cx="1641521" cy="1641995"/>
            </a:xfrm>
          </p:grpSpPr>
          <p:sp>
            <p:nvSpPr>
              <p:cNvPr id="72" name="Oval 17">
                <a:extLst>
                  <a:ext uri="{FF2B5EF4-FFF2-40B4-BE49-F238E27FC236}">
                    <a16:creationId xmlns:a16="http://schemas.microsoft.com/office/drawing/2014/main" id="{7738776E-6790-F4CF-743C-C8256F50D38A}"/>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73" name="Group 72">
                <a:extLst>
                  <a:ext uri="{FF2B5EF4-FFF2-40B4-BE49-F238E27FC236}">
                    <a16:creationId xmlns:a16="http://schemas.microsoft.com/office/drawing/2014/main" id="{F3AB192D-BFAE-4981-64D8-4EDE25E0E9EE}"/>
                  </a:ext>
                </a:extLst>
              </p:cNvPr>
              <p:cNvGrpSpPr/>
              <p:nvPr/>
            </p:nvGrpSpPr>
            <p:grpSpPr>
              <a:xfrm>
                <a:off x="1714608" y="1927192"/>
                <a:ext cx="1412311" cy="1409646"/>
                <a:chOff x="1261672" y="4833937"/>
                <a:chExt cx="954296" cy="954297"/>
              </a:xfrm>
            </p:grpSpPr>
            <p:sp>
              <p:nvSpPr>
                <p:cNvPr id="74" name="Rectangle: Rounded Corners 73">
                  <a:extLst>
                    <a:ext uri="{FF2B5EF4-FFF2-40B4-BE49-F238E27FC236}">
                      <a16:creationId xmlns:a16="http://schemas.microsoft.com/office/drawing/2014/main" id="{4AACDF6A-AAD2-35CD-E238-CFC525F1DCFD}"/>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75" name="Rectangle: Rounded Corners 74">
                  <a:extLst>
                    <a:ext uri="{FF2B5EF4-FFF2-40B4-BE49-F238E27FC236}">
                      <a16:creationId xmlns:a16="http://schemas.microsoft.com/office/drawing/2014/main" id="{5CB21845-CAEF-A0CD-5CEE-D589DFFD9CFF}"/>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214" name="Group 213">
              <a:extLst>
                <a:ext uri="{FF2B5EF4-FFF2-40B4-BE49-F238E27FC236}">
                  <a16:creationId xmlns:a16="http://schemas.microsoft.com/office/drawing/2014/main" id="{94752086-64ED-90E6-C040-1C607F71A3E1}"/>
                </a:ext>
              </a:extLst>
            </p:cNvPr>
            <p:cNvGrpSpPr/>
            <p:nvPr/>
          </p:nvGrpSpPr>
          <p:grpSpPr>
            <a:xfrm>
              <a:off x="2325528" y="2628667"/>
              <a:ext cx="280073" cy="236696"/>
              <a:chOff x="2852737" y="6392463"/>
              <a:chExt cx="280073" cy="236696"/>
            </a:xfrm>
          </p:grpSpPr>
          <p:sp>
            <p:nvSpPr>
              <p:cNvPr id="211" name="Freeform: Shape 210">
                <a:extLst>
                  <a:ext uri="{FF2B5EF4-FFF2-40B4-BE49-F238E27FC236}">
                    <a16:creationId xmlns:a16="http://schemas.microsoft.com/office/drawing/2014/main" id="{20AA9BD8-3841-3B10-89B9-EC5B3C1A378E}"/>
                  </a:ext>
                </a:extLst>
              </p:cNvPr>
              <p:cNvSpPr/>
              <p:nvPr/>
            </p:nvSpPr>
            <p:spPr>
              <a:xfrm>
                <a:off x="2852737" y="6392463"/>
                <a:ext cx="280073" cy="236696"/>
              </a:xfrm>
              <a:custGeom>
                <a:avLst/>
                <a:gdLst>
                  <a:gd name="connsiteX0" fmla="*/ 263263 w 280073"/>
                  <a:gd name="connsiteY0" fmla="*/ 29779 h 236696"/>
                  <a:gd name="connsiteX1" fmla="*/ 166945 w 280073"/>
                  <a:gd name="connsiteY1" fmla="*/ 29779 h 236696"/>
                  <a:gd name="connsiteX2" fmla="*/ 166640 w 280073"/>
                  <a:gd name="connsiteY2" fmla="*/ 29595 h 236696"/>
                  <a:gd name="connsiteX3" fmla="*/ 156706 w 280073"/>
                  <a:gd name="connsiteY3" fmla="*/ 9405 h 236696"/>
                  <a:gd name="connsiteX4" fmla="*/ 141624 w 280073"/>
                  <a:gd name="connsiteY4" fmla="*/ 0 h 236696"/>
                  <a:gd name="connsiteX5" fmla="*/ 83397 w 280073"/>
                  <a:gd name="connsiteY5" fmla="*/ 0 h 236696"/>
                  <a:gd name="connsiteX6" fmla="*/ 66587 w 280073"/>
                  <a:gd name="connsiteY6" fmla="*/ 16847 h 236696"/>
                  <a:gd name="connsiteX7" fmla="*/ 66587 w 280073"/>
                  <a:gd name="connsiteY7" fmla="*/ 33361 h 236696"/>
                  <a:gd name="connsiteX8" fmla="*/ 50099 w 280073"/>
                  <a:gd name="connsiteY8" fmla="*/ 33361 h 236696"/>
                  <a:gd name="connsiteX9" fmla="*/ 33291 w 280073"/>
                  <a:gd name="connsiteY9" fmla="*/ 50204 h 236696"/>
                  <a:gd name="connsiteX10" fmla="*/ 33291 w 280073"/>
                  <a:gd name="connsiteY10" fmla="*/ 66717 h 236696"/>
                  <a:gd name="connsiteX11" fmla="*/ 16810 w 280073"/>
                  <a:gd name="connsiteY11" fmla="*/ 66717 h 236696"/>
                  <a:gd name="connsiteX12" fmla="*/ 0 w 280073"/>
                  <a:gd name="connsiteY12" fmla="*/ 83560 h 236696"/>
                  <a:gd name="connsiteX13" fmla="*/ 0 w 280073"/>
                  <a:gd name="connsiteY13" fmla="*/ 219854 h 236696"/>
                  <a:gd name="connsiteX14" fmla="*/ 16810 w 280073"/>
                  <a:gd name="connsiteY14" fmla="*/ 236697 h 236696"/>
                  <a:gd name="connsiteX15" fmla="*/ 196678 w 280073"/>
                  <a:gd name="connsiteY15" fmla="*/ 236697 h 236696"/>
                  <a:gd name="connsiteX16" fmla="*/ 213489 w 280073"/>
                  <a:gd name="connsiteY16" fmla="*/ 219854 h 236696"/>
                  <a:gd name="connsiteX17" fmla="*/ 213489 w 280073"/>
                  <a:gd name="connsiteY17" fmla="*/ 203339 h 236696"/>
                  <a:gd name="connsiteX18" fmla="*/ 229972 w 280073"/>
                  <a:gd name="connsiteY18" fmla="*/ 203339 h 236696"/>
                  <a:gd name="connsiteX19" fmla="*/ 246782 w 280073"/>
                  <a:gd name="connsiteY19" fmla="*/ 186498 h 236696"/>
                  <a:gd name="connsiteX20" fmla="*/ 246782 w 280073"/>
                  <a:gd name="connsiteY20" fmla="*/ 169984 h 236696"/>
                  <a:gd name="connsiteX21" fmla="*/ 263263 w 280073"/>
                  <a:gd name="connsiteY21" fmla="*/ 169984 h 236696"/>
                  <a:gd name="connsiteX22" fmla="*/ 280073 w 280073"/>
                  <a:gd name="connsiteY22" fmla="*/ 153141 h 236696"/>
                  <a:gd name="connsiteX23" fmla="*/ 280073 w 280073"/>
                  <a:gd name="connsiteY23" fmla="*/ 46626 h 236696"/>
                  <a:gd name="connsiteX24" fmla="*/ 263263 w 280073"/>
                  <a:gd name="connsiteY24" fmla="*/ 29779 h 236696"/>
                  <a:gd name="connsiteX25" fmla="*/ 196678 w 280073"/>
                  <a:gd name="connsiteY25" fmla="*/ 220190 h 236696"/>
                  <a:gd name="connsiteX26" fmla="*/ 16810 w 280073"/>
                  <a:gd name="connsiteY26" fmla="*/ 220190 h 236696"/>
                  <a:gd name="connsiteX27" fmla="*/ 16475 w 280073"/>
                  <a:gd name="connsiteY27" fmla="*/ 219854 h 236696"/>
                  <a:gd name="connsiteX28" fmla="*/ 16475 w 280073"/>
                  <a:gd name="connsiteY28" fmla="*/ 83560 h 236696"/>
                  <a:gd name="connsiteX29" fmla="*/ 16810 w 280073"/>
                  <a:gd name="connsiteY29" fmla="*/ 83224 h 236696"/>
                  <a:gd name="connsiteX30" fmla="*/ 75042 w 280073"/>
                  <a:gd name="connsiteY30" fmla="*/ 83224 h 236696"/>
                  <a:gd name="connsiteX31" fmla="*/ 75198 w 280073"/>
                  <a:gd name="connsiteY31" fmla="*/ 83269 h 236696"/>
                  <a:gd name="connsiteX32" fmla="*/ 75219 w 280073"/>
                  <a:gd name="connsiteY32" fmla="*/ 83275 h 236696"/>
                  <a:gd name="connsiteX33" fmla="*/ 75266 w 280073"/>
                  <a:gd name="connsiteY33" fmla="*/ 83327 h 236696"/>
                  <a:gd name="connsiteX34" fmla="*/ 75343 w 280073"/>
                  <a:gd name="connsiteY34" fmla="*/ 83412 h 236696"/>
                  <a:gd name="connsiteX35" fmla="*/ 85281 w 280073"/>
                  <a:gd name="connsiteY35" fmla="*/ 103608 h 236696"/>
                  <a:gd name="connsiteX36" fmla="*/ 100358 w 280073"/>
                  <a:gd name="connsiteY36" fmla="*/ 113002 h 236696"/>
                  <a:gd name="connsiteX37" fmla="*/ 196678 w 280073"/>
                  <a:gd name="connsiteY37" fmla="*/ 113002 h 236696"/>
                  <a:gd name="connsiteX38" fmla="*/ 196809 w 280073"/>
                  <a:gd name="connsiteY38" fmla="*/ 113028 h 236696"/>
                  <a:gd name="connsiteX39" fmla="*/ 197012 w 280073"/>
                  <a:gd name="connsiteY39" fmla="*/ 113339 h 236696"/>
                  <a:gd name="connsiteX40" fmla="*/ 197014 w 280073"/>
                  <a:gd name="connsiteY40" fmla="*/ 219854 h 236696"/>
                  <a:gd name="connsiteX41" fmla="*/ 196678 w 280073"/>
                  <a:gd name="connsiteY41" fmla="*/ 220190 h 236696"/>
                  <a:gd name="connsiteX42" fmla="*/ 230307 w 280073"/>
                  <a:gd name="connsiteY42" fmla="*/ 186498 h 236696"/>
                  <a:gd name="connsiteX43" fmla="*/ 229974 w 280073"/>
                  <a:gd name="connsiteY43" fmla="*/ 186832 h 236696"/>
                  <a:gd name="connsiteX44" fmla="*/ 213489 w 280073"/>
                  <a:gd name="connsiteY44" fmla="*/ 186832 h 236696"/>
                  <a:gd name="connsiteX45" fmla="*/ 213489 w 280073"/>
                  <a:gd name="connsiteY45" fmla="*/ 113339 h 236696"/>
                  <a:gd name="connsiteX46" fmla="*/ 196676 w 280073"/>
                  <a:gd name="connsiteY46" fmla="*/ 96493 h 236696"/>
                  <a:gd name="connsiteX47" fmla="*/ 100358 w 280073"/>
                  <a:gd name="connsiteY47" fmla="*/ 96493 h 236696"/>
                  <a:gd name="connsiteX48" fmla="*/ 100059 w 280073"/>
                  <a:gd name="connsiteY48" fmla="*/ 96305 h 236696"/>
                  <a:gd name="connsiteX49" fmla="*/ 90119 w 280073"/>
                  <a:gd name="connsiteY49" fmla="*/ 76109 h 236696"/>
                  <a:gd name="connsiteX50" fmla="*/ 75044 w 280073"/>
                  <a:gd name="connsiteY50" fmla="*/ 66717 h 236696"/>
                  <a:gd name="connsiteX51" fmla="*/ 49766 w 280073"/>
                  <a:gd name="connsiteY51" fmla="*/ 66717 h 236696"/>
                  <a:gd name="connsiteX52" fmla="*/ 49766 w 280073"/>
                  <a:gd name="connsiteY52" fmla="*/ 50204 h 236696"/>
                  <a:gd name="connsiteX53" fmla="*/ 50099 w 280073"/>
                  <a:gd name="connsiteY53" fmla="*/ 49867 h 236696"/>
                  <a:gd name="connsiteX54" fmla="*/ 108333 w 280073"/>
                  <a:gd name="connsiteY54" fmla="*/ 49867 h 236696"/>
                  <a:gd name="connsiteX55" fmla="*/ 108634 w 280073"/>
                  <a:gd name="connsiteY55" fmla="*/ 50058 h 236696"/>
                  <a:gd name="connsiteX56" fmla="*/ 118575 w 280073"/>
                  <a:gd name="connsiteY56" fmla="*/ 70254 h 236696"/>
                  <a:gd name="connsiteX57" fmla="*/ 133650 w 280073"/>
                  <a:gd name="connsiteY57" fmla="*/ 79646 h 236696"/>
                  <a:gd name="connsiteX58" fmla="*/ 229974 w 280073"/>
                  <a:gd name="connsiteY58" fmla="*/ 79646 h 236696"/>
                  <a:gd name="connsiteX59" fmla="*/ 230307 w 280073"/>
                  <a:gd name="connsiteY59" fmla="*/ 79982 h 236696"/>
                  <a:gd name="connsiteX60" fmla="*/ 263598 w 280073"/>
                  <a:gd name="connsiteY60" fmla="*/ 153141 h 236696"/>
                  <a:gd name="connsiteX61" fmla="*/ 263263 w 280073"/>
                  <a:gd name="connsiteY61" fmla="*/ 153478 h 236696"/>
                  <a:gd name="connsiteX62" fmla="*/ 246782 w 280073"/>
                  <a:gd name="connsiteY62" fmla="*/ 153478 h 236696"/>
                  <a:gd name="connsiteX63" fmla="*/ 246782 w 280073"/>
                  <a:gd name="connsiteY63" fmla="*/ 79982 h 236696"/>
                  <a:gd name="connsiteX64" fmla="*/ 229974 w 280073"/>
                  <a:gd name="connsiteY64" fmla="*/ 63139 h 236696"/>
                  <a:gd name="connsiteX65" fmla="*/ 133650 w 280073"/>
                  <a:gd name="connsiteY65" fmla="*/ 63139 h 236696"/>
                  <a:gd name="connsiteX66" fmla="*/ 133348 w 280073"/>
                  <a:gd name="connsiteY66" fmla="*/ 62949 h 236696"/>
                  <a:gd name="connsiteX67" fmla="*/ 123410 w 280073"/>
                  <a:gd name="connsiteY67" fmla="*/ 42759 h 236696"/>
                  <a:gd name="connsiteX68" fmla="*/ 108333 w 280073"/>
                  <a:gd name="connsiteY68" fmla="*/ 33361 h 236696"/>
                  <a:gd name="connsiteX69" fmla="*/ 83061 w 280073"/>
                  <a:gd name="connsiteY69" fmla="*/ 33361 h 236696"/>
                  <a:gd name="connsiteX70" fmla="*/ 83061 w 280073"/>
                  <a:gd name="connsiteY70" fmla="*/ 16847 h 236696"/>
                  <a:gd name="connsiteX71" fmla="*/ 83395 w 280073"/>
                  <a:gd name="connsiteY71" fmla="*/ 16507 h 236696"/>
                  <a:gd name="connsiteX72" fmla="*/ 141622 w 280073"/>
                  <a:gd name="connsiteY72" fmla="*/ 16507 h 236696"/>
                  <a:gd name="connsiteX73" fmla="*/ 141923 w 280073"/>
                  <a:gd name="connsiteY73" fmla="*/ 16695 h 236696"/>
                  <a:gd name="connsiteX74" fmla="*/ 151864 w 280073"/>
                  <a:gd name="connsiteY74" fmla="*/ 36897 h 236696"/>
                  <a:gd name="connsiteX75" fmla="*/ 166945 w 280073"/>
                  <a:gd name="connsiteY75" fmla="*/ 46286 h 236696"/>
                  <a:gd name="connsiteX76" fmla="*/ 263263 w 280073"/>
                  <a:gd name="connsiteY76" fmla="*/ 46286 h 236696"/>
                  <a:gd name="connsiteX77" fmla="*/ 263596 w 280073"/>
                  <a:gd name="connsiteY77" fmla="*/ 46628 h 236696"/>
                  <a:gd name="connsiteX78" fmla="*/ 263596 w 280073"/>
                  <a:gd name="connsiteY78" fmla="*/ 153141 h 23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80073" h="236696">
                    <a:moveTo>
                      <a:pt x="263263" y="29779"/>
                    </a:moveTo>
                    <a:lnTo>
                      <a:pt x="166945" y="29779"/>
                    </a:lnTo>
                    <a:cubicBezTo>
                      <a:pt x="166813" y="29779"/>
                      <a:pt x="166695" y="29708"/>
                      <a:pt x="166640" y="29595"/>
                    </a:cubicBezTo>
                    <a:lnTo>
                      <a:pt x="156706" y="9405"/>
                    </a:lnTo>
                    <a:cubicBezTo>
                      <a:pt x="153902" y="3691"/>
                      <a:pt x="147983" y="0"/>
                      <a:pt x="141624" y="0"/>
                    </a:cubicBezTo>
                    <a:lnTo>
                      <a:pt x="83397" y="0"/>
                    </a:lnTo>
                    <a:cubicBezTo>
                      <a:pt x="74127" y="0"/>
                      <a:pt x="66587" y="7558"/>
                      <a:pt x="66587" y="16847"/>
                    </a:cubicBezTo>
                    <a:lnTo>
                      <a:pt x="66587" y="33361"/>
                    </a:lnTo>
                    <a:lnTo>
                      <a:pt x="50099" y="33361"/>
                    </a:lnTo>
                    <a:cubicBezTo>
                      <a:pt x="40832" y="33361"/>
                      <a:pt x="33291" y="40916"/>
                      <a:pt x="33291" y="50204"/>
                    </a:cubicBezTo>
                    <a:lnTo>
                      <a:pt x="33291" y="66717"/>
                    </a:lnTo>
                    <a:lnTo>
                      <a:pt x="16810" y="66717"/>
                    </a:lnTo>
                    <a:cubicBezTo>
                      <a:pt x="7541" y="66717"/>
                      <a:pt x="0" y="74272"/>
                      <a:pt x="0" y="83560"/>
                    </a:cubicBezTo>
                    <a:lnTo>
                      <a:pt x="0" y="219854"/>
                    </a:lnTo>
                    <a:cubicBezTo>
                      <a:pt x="0" y="229141"/>
                      <a:pt x="7541" y="236697"/>
                      <a:pt x="16810" y="236697"/>
                    </a:cubicBezTo>
                    <a:lnTo>
                      <a:pt x="196678" y="236697"/>
                    </a:lnTo>
                    <a:cubicBezTo>
                      <a:pt x="205948" y="236697"/>
                      <a:pt x="213489" y="229141"/>
                      <a:pt x="213489" y="219854"/>
                    </a:cubicBezTo>
                    <a:lnTo>
                      <a:pt x="213489" y="203339"/>
                    </a:lnTo>
                    <a:lnTo>
                      <a:pt x="229972" y="203339"/>
                    </a:lnTo>
                    <a:cubicBezTo>
                      <a:pt x="239241" y="203339"/>
                      <a:pt x="246782" y="195783"/>
                      <a:pt x="246782" y="186498"/>
                    </a:cubicBezTo>
                    <a:lnTo>
                      <a:pt x="246782" y="169984"/>
                    </a:lnTo>
                    <a:lnTo>
                      <a:pt x="263263" y="169984"/>
                    </a:lnTo>
                    <a:cubicBezTo>
                      <a:pt x="272532" y="169984"/>
                      <a:pt x="280073" y="162429"/>
                      <a:pt x="280073" y="153141"/>
                    </a:cubicBezTo>
                    <a:lnTo>
                      <a:pt x="280073" y="46626"/>
                    </a:lnTo>
                    <a:cubicBezTo>
                      <a:pt x="280073" y="37336"/>
                      <a:pt x="272532" y="29779"/>
                      <a:pt x="263263" y="29779"/>
                    </a:cubicBezTo>
                    <a:close/>
                    <a:moveTo>
                      <a:pt x="196678" y="220190"/>
                    </a:moveTo>
                    <a:lnTo>
                      <a:pt x="16810" y="220190"/>
                    </a:lnTo>
                    <a:cubicBezTo>
                      <a:pt x="16626" y="220190"/>
                      <a:pt x="16475" y="220040"/>
                      <a:pt x="16475" y="219854"/>
                    </a:cubicBezTo>
                    <a:lnTo>
                      <a:pt x="16475" y="83560"/>
                    </a:lnTo>
                    <a:cubicBezTo>
                      <a:pt x="16475" y="83374"/>
                      <a:pt x="16626" y="83224"/>
                      <a:pt x="16810" y="83224"/>
                    </a:cubicBezTo>
                    <a:lnTo>
                      <a:pt x="75042" y="83224"/>
                    </a:lnTo>
                    <a:cubicBezTo>
                      <a:pt x="75097" y="83224"/>
                      <a:pt x="75151" y="83243"/>
                      <a:pt x="75198" y="83269"/>
                    </a:cubicBezTo>
                    <a:cubicBezTo>
                      <a:pt x="75204" y="83273"/>
                      <a:pt x="75213" y="83271"/>
                      <a:pt x="75219" y="83275"/>
                    </a:cubicBezTo>
                    <a:cubicBezTo>
                      <a:pt x="75238" y="83288"/>
                      <a:pt x="75249" y="83312"/>
                      <a:pt x="75266" y="83327"/>
                    </a:cubicBezTo>
                    <a:cubicBezTo>
                      <a:pt x="75294" y="83354"/>
                      <a:pt x="75326" y="83378"/>
                      <a:pt x="75343" y="83412"/>
                    </a:cubicBezTo>
                    <a:lnTo>
                      <a:pt x="85281" y="103608"/>
                    </a:lnTo>
                    <a:cubicBezTo>
                      <a:pt x="88134" y="109401"/>
                      <a:pt x="93912" y="113002"/>
                      <a:pt x="100358" y="113002"/>
                    </a:cubicBezTo>
                    <a:lnTo>
                      <a:pt x="196678" y="113002"/>
                    </a:lnTo>
                    <a:cubicBezTo>
                      <a:pt x="196723" y="113002"/>
                      <a:pt x="196768" y="113011"/>
                      <a:pt x="196809" y="113028"/>
                    </a:cubicBezTo>
                    <a:cubicBezTo>
                      <a:pt x="196928" y="113080"/>
                      <a:pt x="197012" y="113199"/>
                      <a:pt x="197012" y="113339"/>
                    </a:cubicBezTo>
                    <a:cubicBezTo>
                      <a:pt x="197012" y="171547"/>
                      <a:pt x="197014" y="219323"/>
                      <a:pt x="197014" y="219854"/>
                    </a:cubicBezTo>
                    <a:cubicBezTo>
                      <a:pt x="197014" y="220040"/>
                      <a:pt x="196864" y="220190"/>
                      <a:pt x="196678" y="220190"/>
                    </a:cubicBezTo>
                    <a:close/>
                    <a:moveTo>
                      <a:pt x="230307" y="186498"/>
                    </a:moveTo>
                    <a:cubicBezTo>
                      <a:pt x="230307" y="186682"/>
                      <a:pt x="230158" y="186832"/>
                      <a:pt x="229974" y="186832"/>
                    </a:cubicBezTo>
                    <a:lnTo>
                      <a:pt x="213489" y="186832"/>
                    </a:lnTo>
                    <a:lnTo>
                      <a:pt x="213489" y="113339"/>
                    </a:lnTo>
                    <a:cubicBezTo>
                      <a:pt x="213489" y="104049"/>
                      <a:pt x="205946" y="96493"/>
                      <a:pt x="196676" y="96493"/>
                    </a:cubicBezTo>
                    <a:lnTo>
                      <a:pt x="100358" y="96493"/>
                    </a:lnTo>
                    <a:cubicBezTo>
                      <a:pt x="100235" y="96493"/>
                      <a:pt x="100115" y="96419"/>
                      <a:pt x="100059" y="96305"/>
                    </a:cubicBezTo>
                    <a:lnTo>
                      <a:pt x="90119" y="76109"/>
                    </a:lnTo>
                    <a:cubicBezTo>
                      <a:pt x="87269" y="70322"/>
                      <a:pt x="81493" y="66717"/>
                      <a:pt x="75044" y="66717"/>
                    </a:cubicBezTo>
                    <a:lnTo>
                      <a:pt x="49766" y="66717"/>
                    </a:lnTo>
                    <a:lnTo>
                      <a:pt x="49766" y="50204"/>
                    </a:lnTo>
                    <a:cubicBezTo>
                      <a:pt x="49766" y="50017"/>
                      <a:pt x="49915" y="49867"/>
                      <a:pt x="50099" y="49867"/>
                    </a:cubicBezTo>
                    <a:lnTo>
                      <a:pt x="108333" y="49867"/>
                    </a:lnTo>
                    <a:cubicBezTo>
                      <a:pt x="108461" y="49867"/>
                      <a:pt x="108577" y="49938"/>
                      <a:pt x="108634" y="50058"/>
                    </a:cubicBezTo>
                    <a:lnTo>
                      <a:pt x="118575" y="70254"/>
                    </a:lnTo>
                    <a:cubicBezTo>
                      <a:pt x="121429" y="76047"/>
                      <a:pt x="127205" y="79646"/>
                      <a:pt x="133650" y="79646"/>
                    </a:cubicBezTo>
                    <a:lnTo>
                      <a:pt x="229974" y="79646"/>
                    </a:lnTo>
                    <a:cubicBezTo>
                      <a:pt x="230158" y="79646"/>
                      <a:pt x="230307" y="79796"/>
                      <a:pt x="230307" y="79982"/>
                    </a:cubicBezTo>
                    <a:close/>
                    <a:moveTo>
                      <a:pt x="263598" y="153141"/>
                    </a:moveTo>
                    <a:cubicBezTo>
                      <a:pt x="263598" y="153328"/>
                      <a:pt x="263449" y="153478"/>
                      <a:pt x="263263" y="153478"/>
                    </a:cubicBezTo>
                    <a:lnTo>
                      <a:pt x="246782" y="153478"/>
                    </a:lnTo>
                    <a:lnTo>
                      <a:pt x="246782" y="79982"/>
                    </a:lnTo>
                    <a:cubicBezTo>
                      <a:pt x="246782" y="70695"/>
                      <a:pt x="239243" y="63139"/>
                      <a:pt x="229974" y="63139"/>
                    </a:cubicBezTo>
                    <a:lnTo>
                      <a:pt x="133650" y="63139"/>
                    </a:lnTo>
                    <a:cubicBezTo>
                      <a:pt x="133524" y="63139"/>
                      <a:pt x="133406" y="63064"/>
                      <a:pt x="133348" y="62949"/>
                    </a:cubicBezTo>
                    <a:lnTo>
                      <a:pt x="123410" y="42759"/>
                    </a:lnTo>
                    <a:cubicBezTo>
                      <a:pt x="120562" y="36962"/>
                      <a:pt x="114784" y="33361"/>
                      <a:pt x="108333" y="33361"/>
                    </a:cubicBezTo>
                    <a:lnTo>
                      <a:pt x="83061" y="33361"/>
                    </a:lnTo>
                    <a:lnTo>
                      <a:pt x="83061" y="16847"/>
                    </a:lnTo>
                    <a:cubicBezTo>
                      <a:pt x="83061" y="16659"/>
                      <a:pt x="83211" y="16507"/>
                      <a:pt x="83395" y="16507"/>
                    </a:cubicBezTo>
                    <a:lnTo>
                      <a:pt x="141622" y="16507"/>
                    </a:lnTo>
                    <a:cubicBezTo>
                      <a:pt x="141748" y="16507"/>
                      <a:pt x="141866" y="16578"/>
                      <a:pt x="141923" y="16695"/>
                    </a:cubicBezTo>
                    <a:lnTo>
                      <a:pt x="151864" y="36897"/>
                    </a:lnTo>
                    <a:cubicBezTo>
                      <a:pt x="154716" y="42687"/>
                      <a:pt x="160494" y="46286"/>
                      <a:pt x="166945" y="46286"/>
                    </a:cubicBezTo>
                    <a:lnTo>
                      <a:pt x="263263" y="46286"/>
                    </a:lnTo>
                    <a:cubicBezTo>
                      <a:pt x="263447" y="46286"/>
                      <a:pt x="263596" y="46438"/>
                      <a:pt x="263596" y="46628"/>
                    </a:cubicBezTo>
                    <a:lnTo>
                      <a:pt x="263596" y="153141"/>
                    </a:lnTo>
                    <a:close/>
                  </a:path>
                </a:pathLst>
              </a:custGeom>
              <a:gradFill>
                <a:gsLst>
                  <a:gs pos="100000">
                    <a:srgbClr val="BDF2BD"/>
                  </a:gs>
                  <a:gs pos="55000">
                    <a:srgbClr val="C3E9FC"/>
                  </a:gs>
                </a:gsLst>
                <a:lin ang="0" scaled="1"/>
              </a:gradFill>
              <a:ln w="540" cap="flat">
                <a:noFill/>
                <a:prstDash val="solid"/>
                <a:miter/>
              </a:ln>
            </p:spPr>
            <p:txBody>
              <a:bodyPr rtlCol="0" anchor="ctr"/>
              <a:lstStyle/>
              <a:p>
                <a:endParaRPr lang="en-GB"/>
              </a:p>
            </p:txBody>
          </p:sp>
          <p:sp>
            <p:nvSpPr>
              <p:cNvPr id="212" name="Freeform: Shape 211">
                <a:extLst>
                  <a:ext uri="{FF2B5EF4-FFF2-40B4-BE49-F238E27FC236}">
                    <a16:creationId xmlns:a16="http://schemas.microsoft.com/office/drawing/2014/main" id="{20055EE4-39E7-383C-325F-242607E88139}"/>
                  </a:ext>
                </a:extLst>
              </p:cNvPr>
              <p:cNvSpPr/>
              <p:nvPr/>
            </p:nvSpPr>
            <p:spPr>
              <a:xfrm>
                <a:off x="2990882" y="6576766"/>
                <a:ext cx="16474" cy="21279"/>
              </a:xfrm>
              <a:custGeom>
                <a:avLst/>
                <a:gdLst>
                  <a:gd name="connsiteX0" fmla="*/ 8237 w 16474"/>
                  <a:gd name="connsiteY0" fmla="*/ 0 h 21279"/>
                  <a:gd name="connsiteX1" fmla="*/ 0 w 16474"/>
                  <a:gd name="connsiteY1" fmla="*/ 8253 h 21279"/>
                  <a:gd name="connsiteX2" fmla="*/ 0 w 16474"/>
                  <a:gd name="connsiteY2" fmla="*/ 13026 h 21279"/>
                  <a:gd name="connsiteX3" fmla="*/ 8237 w 16474"/>
                  <a:gd name="connsiteY3" fmla="*/ 21279 h 21279"/>
                  <a:gd name="connsiteX4" fmla="*/ 16475 w 16474"/>
                  <a:gd name="connsiteY4" fmla="*/ 13026 h 21279"/>
                  <a:gd name="connsiteX5" fmla="*/ 16475 w 16474"/>
                  <a:gd name="connsiteY5" fmla="*/ 8253 h 21279"/>
                  <a:gd name="connsiteX6" fmla="*/ 8237 w 16474"/>
                  <a:gd name="connsiteY6" fmla="*/ 0 h 2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74" h="21279">
                    <a:moveTo>
                      <a:pt x="8237" y="0"/>
                    </a:moveTo>
                    <a:cubicBezTo>
                      <a:pt x="3688" y="0"/>
                      <a:pt x="0" y="3695"/>
                      <a:pt x="0" y="8253"/>
                    </a:cubicBezTo>
                    <a:lnTo>
                      <a:pt x="0" y="13026"/>
                    </a:lnTo>
                    <a:cubicBezTo>
                      <a:pt x="0" y="17584"/>
                      <a:pt x="3688" y="21279"/>
                      <a:pt x="8237" y="21279"/>
                    </a:cubicBezTo>
                    <a:cubicBezTo>
                      <a:pt x="12787" y="21279"/>
                      <a:pt x="16475" y="17584"/>
                      <a:pt x="16475" y="13026"/>
                    </a:cubicBezTo>
                    <a:lnTo>
                      <a:pt x="16475" y="8253"/>
                    </a:lnTo>
                    <a:cubicBezTo>
                      <a:pt x="16475" y="3695"/>
                      <a:pt x="12787" y="0"/>
                      <a:pt x="8237" y="0"/>
                    </a:cubicBezTo>
                    <a:close/>
                  </a:path>
                </a:pathLst>
              </a:custGeom>
              <a:gradFill>
                <a:gsLst>
                  <a:gs pos="100000">
                    <a:srgbClr val="BDF2BD"/>
                  </a:gs>
                  <a:gs pos="55000">
                    <a:srgbClr val="C3E9FC"/>
                  </a:gs>
                </a:gsLst>
                <a:lin ang="0" scaled="1"/>
              </a:gradFill>
              <a:ln w="540" cap="flat">
                <a:noFill/>
                <a:prstDash val="solid"/>
                <a:miter/>
              </a:ln>
            </p:spPr>
            <p:txBody>
              <a:bodyPr rtlCol="0" anchor="ctr"/>
              <a:lstStyle/>
              <a:p>
                <a:endParaRPr lang="en-GB"/>
              </a:p>
            </p:txBody>
          </p:sp>
          <p:sp>
            <p:nvSpPr>
              <p:cNvPr id="213" name="Freeform: Shape 212">
                <a:extLst>
                  <a:ext uri="{FF2B5EF4-FFF2-40B4-BE49-F238E27FC236}">
                    <a16:creationId xmlns:a16="http://schemas.microsoft.com/office/drawing/2014/main" id="{37EC2E68-21FF-6229-8D24-197543504F8B}"/>
                  </a:ext>
                </a:extLst>
              </p:cNvPr>
              <p:cNvSpPr/>
              <p:nvPr/>
            </p:nvSpPr>
            <p:spPr>
              <a:xfrm>
                <a:off x="3014887" y="6576766"/>
                <a:ext cx="16474" cy="21279"/>
              </a:xfrm>
              <a:custGeom>
                <a:avLst/>
                <a:gdLst>
                  <a:gd name="connsiteX0" fmla="*/ 8237 w 16474"/>
                  <a:gd name="connsiteY0" fmla="*/ 0 h 21279"/>
                  <a:gd name="connsiteX1" fmla="*/ 0 w 16474"/>
                  <a:gd name="connsiteY1" fmla="*/ 8253 h 21279"/>
                  <a:gd name="connsiteX2" fmla="*/ 0 w 16474"/>
                  <a:gd name="connsiteY2" fmla="*/ 13026 h 21279"/>
                  <a:gd name="connsiteX3" fmla="*/ 8237 w 16474"/>
                  <a:gd name="connsiteY3" fmla="*/ 21279 h 21279"/>
                  <a:gd name="connsiteX4" fmla="*/ 16475 w 16474"/>
                  <a:gd name="connsiteY4" fmla="*/ 13026 h 21279"/>
                  <a:gd name="connsiteX5" fmla="*/ 16475 w 16474"/>
                  <a:gd name="connsiteY5" fmla="*/ 8253 h 21279"/>
                  <a:gd name="connsiteX6" fmla="*/ 8237 w 16474"/>
                  <a:gd name="connsiteY6" fmla="*/ 0 h 2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74" h="21279">
                    <a:moveTo>
                      <a:pt x="8237" y="0"/>
                    </a:moveTo>
                    <a:cubicBezTo>
                      <a:pt x="3688" y="0"/>
                      <a:pt x="0" y="3695"/>
                      <a:pt x="0" y="8253"/>
                    </a:cubicBezTo>
                    <a:lnTo>
                      <a:pt x="0" y="13026"/>
                    </a:lnTo>
                    <a:cubicBezTo>
                      <a:pt x="0" y="17584"/>
                      <a:pt x="3688" y="21279"/>
                      <a:pt x="8237" y="21279"/>
                    </a:cubicBezTo>
                    <a:cubicBezTo>
                      <a:pt x="12787" y="21279"/>
                      <a:pt x="16475" y="17584"/>
                      <a:pt x="16475" y="13026"/>
                    </a:cubicBezTo>
                    <a:lnTo>
                      <a:pt x="16475" y="8253"/>
                    </a:lnTo>
                    <a:cubicBezTo>
                      <a:pt x="16475" y="3695"/>
                      <a:pt x="12787" y="0"/>
                      <a:pt x="8237" y="0"/>
                    </a:cubicBezTo>
                    <a:close/>
                  </a:path>
                </a:pathLst>
              </a:custGeom>
              <a:gradFill>
                <a:gsLst>
                  <a:gs pos="100000">
                    <a:srgbClr val="BDF2BD"/>
                  </a:gs>
                  <a:gs pos="55000">
                    <a:srgbClr val="C3E9FC"/>
                  </a:gs>
                </a:gsLst>
                <a:lin ang="0" scaled="1"/>
              </a:gradFill>
              <a:ln w="540" cap="flat">
                <a:noFill/>
                <a:prstDash val="solid"/>
                <a:miter/>
              </a:ln>
            </p:spPr>
            <p:txBody>
              <a:bodyPr rtlCol="0" anchor="ctr"/>
              <a:lstStyle/>
              <a:p>
                <a:endParaRPr lang="en-GB"/>
              </a:p>
            </p:txBody>
          </p:sp>
        </p:grpSp>
      </p:grpSp>
      <p:grpSp>
        <p:nvGrpSpPr>
          <p:cNvPr id="269" name="Group 268">
            <a:extLst>
              <a:ext uri="{FF2B5EF4-FFF2-40B4-BE49-F238E27FC236}">
                <a16:creationId xmlns:a16="http://schemas.microsoft.com/office/drawing/2014/main" id="{1EE47BC6-162F-B7F5-406E-7F503E70055B}"/>
              </a:ext>
            </a:extLst>
          </p:cNvPr>
          <p:cNvGrpSpPr/>
          <p:nvPr/>
        </p:nvGrpSpPr>
        <p:grpSpPr>
          <a:xfrm>
            <a:off x="3737984" y="2413583"/>
            <a:ext cx="1429649" cy="2556596"/>
            <a:chOff x="3737984" y="2413583"/>
            <a:chExt cx="1429649" cy="2556596"/>
          </a:xfrm>
        </p:grpSpPr>
        <p:sp>
          <p:nvSpPr>
            <p:cNvPr id="4" name="Rectangle: Rounded Corners 3">
              <a:extLst>
                <a:ext uri="{FF2B5EF4-FFF2-40B4-BE49-F238E27FC236}">
                  <a16:creationId xmlns:a16="http://schemas.microsoft.com/office/drawing/2014/main" id="{28488D99-3AB6-DAC4-4838-2A04BB3DACED}"/>
                </a:ext>
                <a:ext uri="{C183D7F6-B498-43B3-948B-1728B52AA6E4}">
                  <adec:decorative xmlns:adec="http://schemas.microsoft.com/office/drawing/2017/decorative" val="1"/>
                </a:ext>
              </a:extLst>
            </p:cNvPr>
            <p:cNvSpPr>
              <a:spLocks/>
            </p:cNvSpPr>
            <p:nvPr/>
          </p:nvSpPr>
          <p:spPr bwMode="auto">
            <a:xfrm>
              <a:off x="3750764" y="2413583"/>
              <a:ext cx="1416869" cy="2556596"/>
            </a:xfrm>
            <a:prstGeom prst="roundRect">
              <a:avLst>
                <a:gd name="adj" fmla="val 5100"/>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5" name="Text Placeholder 8">
              <a:extLst>
                <a:ext uri="{FF2B5EF4-FFF2-40B4-BE49-F238E27FC236}">
                  <a16:creationId xmlns:a16="http://schemas.microsoft.com/office/drawing/2014/main" id="{AABF9838-BB16-4807-2700-02E7968EBFC2}"/>
                </a:ext>
              </a:extLst>
            </p:cNvPr>
            <p:cNvSpPr txBox="1">
              <a:spLocks/>
            </p:cNvSpPr>
            <p:nvPr/>
          </p:nvSpPr>
          <p:spPr>
            <a:xfrm>
              <a:off x="3737984" y="3152645"/>
              <a:ext cx="1407079" cy="359704"/>
            </a:xfrm>
            <a:prstGeom prst="rect">
              <a:avLst/>
            </a:prstGeom>
          </p:spPr>
          <p:txBody>
            <a:bodyPr tIns="0"/>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sz="1100">
                  <a:solidFill>
                    <a:srgbClr val="FFFFFF"/>
                  </a:solidFill>
                  <a:latin typeface="Segoe Sans Text Semibold"/>
                  <a:cs typeface="Segoe Sans Text" pitchFamily="2" charset="0"/>
                </a:rPr>
                <a:t>Discover &amp; Tune     &amp; Build Workflow &amp; Integration           &amp; Orchestration</a:t>
              </a:r>
            </a:p>
          </p:txBody>
        </p:sp>
        <p:sp>
          <p:nvSpPr>
            <p:cNvPr id="16" name="Content Placeholder 3">
              <a:extLst>
                <a:ext uri="{FF2B5EF4-FFF2-40B4-BE49-F238E27FC236}">
                  <a16:creationId xmlns:a16="http://schemas.microsoft.com/office/drawing/2014/main" id="{4D2EE050-F8E4-7AF6-603B-AE4A51534E38}"/>
                </a:ext>
              </a:extLst>
            </p:cNvPr>
            <p:cNvSpPr txBox="1">
              <a:spLocks/>
            </p:cNvSpPr>
            <p:nvPr/>
          </p:nvSpPr>
          <p:spPr>
            <a:xfrm>
              <a:off x="3740342" y="3864301"/>
              <a:ext cx="1268818" cy="6861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609630" fontAlgn="base">
                <a:spcBef>
                  <a:spcPts val="0"/>
                </a:spcBef>
                <a:spcAft>
                  <a:spcPct val="0"/>
                </a:spcAft>
                <a:buSzTx/>
                <a:defRPr/>
              </a:pPr>
              <a:r>
                <a:rPr lang="en-US" sz="1000">
                  <a:solidFill>
                    <a:srgbClr val="FFFFFF"/>
                  </a:solidFill>
                  <a:cs typeface="Segoe Sans Text" pitchFamily="2" charset="0"/>
                </a:rPr>
                <a:t>Data Scientist</a:t>
              </a:r>
            </a:p>
            <a:p>
              <a:pPr lvl="0" defTabSz="609630" fontAlgn="base">
                <a:spcBef>
                  <a:spcPts val="0"/>
                </a:spcBef>
                <a:spcAft>
                  <a:spcPct val="0"/>
                </a:spcAft>
                <a:buSzTx/>
                <a:defRPr/>
              </a:pPr>
              <a:r>
                <a:rPr lang="en-US" sz="1000">
                  <a:solidFill>
                    <a:srgbClr val="FFFFFF"/>
                  </a:solidFill>
                  <a:cs typeface="Segoe Sans Text" pitchFamily="2" charset="0"/>
                </a:rPr>
                <a:t>Prompt Engineer</a:t>
              </a:r>
            </a:p>
            <a:p>
              <a:pPr lvl="0" defTabSz="609630" fontAlgn="base">
                <a:spcBef>
                  <a:spcPts val="0"/>
                </a:spcBef>
                <a:spcAft>
                  <a:spcPct val="0"/>
                </a:spcAft>
                <a:buSzTx/>
                <a:defRPr/>
              </a:pPr>
              <a:r>
                <a:rPr lang="en-US" sz="1000">
                  <a:solidFill>
                    <a:srgbClr val="FFFFFF"/>
                  </a:solidFill>
                  <a:cs typeface="Segoe Sans Text" pitchFamily="2" charset="0"/>
                </a:rPr>
                <a:t>Developer</a:t>
              </a:r>
            </a:p>
            <a:p>
              <a:pPr lvl="0" defTabSz="609630" fontAlgn="base">
                <a:spcBef>
                  <a:spcPts val="0"/>
                </a:spcBef>
                <a:spcAft>
                  <a:spcPct val="0"/>
                </a:spcAft>
                <a:buSzTx/>
                <a:defRPr/>
              </a:pPr>
              <a:r>
                <a:rPr lang="en-US" sz="1000">
                  <a:solidFill>
                    <a:srgbClr val="FFFFFF"/>
                  </a:solidFill>
                  <a:cs typeface="Segoe Sans Text" pitchFamily="2" charset="0"/>
                </a:rPr>
                <a:t>AI Engineer</a:t>
              </a:r>
            </a:p>
          </p:txBody>
        </p:sp>
        <p:grpSp>
          <p:nvGrpSpPr>
            <p:cNvPr id="77" name="Group 76">
              <a:extLst>
                <a:ext uri="{FF2B5EF4-FFF2-40B4-BE49-F238E27FC236}">
                  <a16:creationId xmlns:a16="http://schemas.microsoft.com/office/drawing/2014/main" id="{5CAA81FB-3457-5F77-BC27-6C0E244A8E1E}"/>
                </a:ext>
              </a:extLst>
            </p:cNvPr>
            <p:cNvGrpSpPr/>
            <p:nvPr/>
          </p:nvGrpSpPr>
          <p:grpSpPr>
            <a:xfrm>
              <a:off x="3837077" y="2497423"/>
              <a:ext cx="488983" cy="489124"/>
              <a:chOff x="1600003" y="1811018"/>
              <a:chExt cx="1641521" cy="1641995"/>
            </a:xfrm>
          </p:grpSpPr>
          <p:sp>
            <p:nvSpPr>
              <p:cNvPr id="79" name="Oval 17">
                <a:extLst>
                  <a:ext uri="{FF2B5EF4-FFF2-40B4-BE49-F238E27FC236}">
                    <a16:creationId xmlns:a16="http://schemas.microsoft.com/office/drawing/2014/main" id="{9DCCD47A-628B-9FA6-9E2F-EDB3F6FE4D57}"/>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80" name="Group 79">
                <a:extLst>
                  <a:ext uri="{FF2B5EF4-FFF2-40B4-BE49-F238E27FC236}">
                    <a16:creationId xmlns:a16="http://schemas.microsoft.com/office/drawing/2014/main" id="{54134E40-67E5-07C9-BB59-861BB2CB0700}"/>
                  </a:ext>
                </a:extLst>
              </p:cNvPr>
              <p:cNvGrpSpPr/>
              <p:nvPr/>
            </p:nvGrpSpPr>
            <p:grpSpPr>
              <a:xfrm>
                <a:off x="1714608" y="1927192"/>
                <a:ext cx="1412311" cy="1409646"/>
                <a:chOff x="1261672" y="4833937"/>
                <a:chExt cx="954296" cy="954297"/>
              </a:xfrm>
            </p:grpSpPr>
            <p:sp>
              <p:nvSpPr>
                <p:cNvPr id="81" name="Rectangle: Rounded Corners 80">
                  <a:extLst>
                    <a:ext uri="{FF2B5EF4-FFF2-40B4-BE49-F238E27FC236}">
                      <a16:creationId xmlns:a16="http://schemas.microsoft.com/office/drawing/2014/main" id="{16A23914-292E-F5F6-8C9D-D64A59F85D52}"/>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82" name="Rectangle: Rounded Corners 81">
                  <a:extLst>
                    <a:ext uri="{FF2B5EF4-FFF2-40B4-BE49-F238E27FC236}">
                      <a16:creationId xmlns:a16="http://schemas.microsoft.com/office/drawing/2014/main" id="{D3C06468-1D8A-99F9-8061-DF5AD45AA226}"/>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217" name="Graphic 215">
              <a:extLst>
                <a:ext uri="{FF2B5EF4-FFF2-40B4-BE49-F238E27FC236}">
                  <a16:creationId xmlns:a16="http://schemas.microsoft.com/office/drawing/2014/main" id="{FD03CCB4-784C-353E-2B17-51DA0AA7048C}"/>
                </a:ext>
              </a:extLst>
            </p:cNvPr>
            <p:cNvGrpSpPr/>
            <p:nvPr/>
          </p:nvGrpSpPr>
          <p:grpSpPr>
            <a:xfrm>
              <a:off x="3949606" y="2600974"/>
              <a:ext cx="272186" cy="272186"/>
              <a:chOff x="2857378" y="6212210"/>
              <a:chExt cx="455175" cy="455175"/>
            </a:xfrm>
            <a:noFill/>
          </p:grpSpPr>
          <p:sp>
            <p:nvSpPr>
              <p:cNvPr id="218" name="Freeform: Shape 217">
                <a:extLst>
                  <a:ext uri="{FF2B5EF4-FFF2-40B4-BE49-F238E27FC236}">
                    <a16:creationId xmlns:a16="http://schemas.microsoft.com/office/drawing/2014/main" id="{B8ED4F6B-1F1E-1FC1-FDD4-EFA10707FA76}"/>
                  </a:ext>
                </a:extLst>
              </p:cNvPr>
              <p:cNvSpPr/>
              <p:nvPr/>
            </p:nvSpPr>
            <p:spPr>
              <a:xfrm flipV="1">
                <a:off x="2857378" y="6591837"/>
                <a:ext cx="151095" cy="75547"/>
              </a:xfrm>
              <a:custGeom>
                <a:avLst/>
                <a:gdLst>
                  <a:gd name="connsiteX0" fmla="*/ 94581 w 151095"/>
                  <a:gd name="connsiteY0" fmla="*/ 76197 h 75547"/>
                  <a:gd name="connsiteX1" fmla="*/ 56808 w 151095"/>
                  <a:gd name="connsiteY1" fmla="*/ 76197 h 75547"/>
                  <a:gd name="connsiteX2" fmla="*/ 147 w 151095"/>
                  <a:gd name="connsiteY2" fmla="*/ 19536 h 75547"/>
                  <a:gd name="connsiteX3" fmla="*/ 147 w 151095"/>
                  <a:gd name="connsiteY3" fmla="*/ 649 h 75547"/>
                  <a:gd name="connsiteX4" fmla="*/ 151242 w 151095"/>
                  <a:gd name="connsiteY4" fmla="*/ 649 h 75547"/>
                  <a:gd name="connsiteX5" fmla="*/ 151242 w 151095"/>
                  <a:gd name="connsiteY5" fmla="*/ 19536 h 75547"/>
                  <a:gd name="connsiteX6" fmla="*/ 94581 w 151095"/>
                  <a:gd name="connsiteY6" fmla="*/ 76197 h 7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095" h="75547">
                    <a:moveTo>
                      <a:pt x="94581" y="76197"/>
                    </a:moveTo>
                    <a:lnTo>
                      <a:pt x="56808" y="76197"/>
                    </a:lnTo>
                    <a:cubicBezTo>
                      <a:pt x="25515" y="76197"/>
                      <a:pt x="147" y="50829"/>
                      <a:pt x="147" y="19536"/>
                    </a:cubicBezTo>
                    <a:lnTo>
                      <a:pt x="147" y="649"/>
                    </a:lnTo>
                    <a:lnTo>
                      <a:pt x="151242" y="649"/>
                    </a:lnTo>
                    <a:lnTo>
                      <a:pt x="151242" y="19536"/>
                    </a:lnTo>
                    <a:cubicBezTo>
                      <a:pt x="151242" y="50829"/>
                      <a:pt x="125874" y="76197"/>
                      <a:pt x="94581" y="76197"/>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19" name="Freeform: Shape 218">
                <a:extLst>
                  <a:ext uri="{FF2B5EF4-FFF2-40B4-BE49-F238E27FC236}">
                    <a16:creationId xmlns:a16="http://schemas.microsoft.com/office/drawing/2014/main" id="{4C89FBB9-AA4D-3F8A-EC63-7EB513662E0D}"/>
                  </a:ext>
                </a:extLst>
              </p:cNvPr>
              <p:cNvSpPr/>
              <p:nvPr/>
            </p:nvSpPr>
            <p:spPr>
              <a:xfrm flipV="1">
                <a:off x="3009418" y="6306644"/>
                <a:ext cx="151095" cy="75547"/>
              </a:xfrm>
              <a:custGeom>
                <a:avLst/>
                <a:gdLst>
                  <a:gd name="connsiteX0" fmla="*/ 94796 w 151095"/>
                  <a:gd name="connsiteY0" fmla="*/ 75794 h 75547"/>
                  <a:gd name="connsiteX1" fmla="*/ 57022 w 151095"/>
                  <a:gd name="connsiteY1" fmla="*/ 75794 h 75547"/>
                  <a:gd name="connsiteX2" fmla="*/ 361 w 151095"/>
                  <a:gd name="connsiteY2" fmla="*/ 19134 h 75547"/>
                  <a:gd name="connsiteX3" fmla="*/ 361 w 151095"/>
                  <a:gd name="connsiteY3" fmla="*/ 247 h 75547"/>
                  <a:gd name="connsiteX4" fmla="*/ 151457 w 151095"/>
                  <a:gd name="connsiteY4" fmla="*/ 247 h 75547"/>
                  <a:gd name="connsiteX5" fmla="*/ 151457 w 151095"/>
                  <a:gd name="connsiteY5" fmla="*/ 19134 h 75547"/>
                  <a:gd name="connsiteX6" fmla="*/ 94796 w 151095"/>
                  <a:gd name="connsiteY6" fmla="*/ 75794 h 7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095" h="75547">
                    <a:moveTo>
                      <a:pt x="94796" y="75794"/>
                    </a:moveTo>
                    <a:lnTo>
                      <a:pt x="57022" y="75794"/>
                    </a:lnTo>
                    <a:cubicBezTo>
                      <a:pt x="25729" y="75794"/>
                      <a:pt x="361" y="50426"/>
                      <a:pt x="361" y="19134"/>
                    </a:cubicBezTo>
                    <a:lnTo>
                      <a:pt x="361" y="247"/>
                    </a:lnTo>
                    <a:lnTo>
                      <a:pt x="151457" y="247"/>
                    </a:lnTo>
                    <a:lnTo>
                      <a:pt x="151457" y="19134"/>
                    </a:lnTo>
                    <a:cubicBezTo>
                      <a:pt x="151457" y="50426"/>
                      <a:pt x="126089" y="75794"/>
                      <a:pt x="94796" y="75794"/>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20" name="Freeform: Shape 219">
                <a:extLst>
                  <a:ext uri="{FF2B5EF4-FFF2-40B4-BE49-F238E27FC236}">
                    <a16:creationId xmlns:a16="http://schemas.microsoft.com/office/drawing/2014/main" id="{2C829CCF-A80C-C1A8-302F-92E2EF9F2E7D}"/>
                  </a:ext>
                </a:extLst>
              </p:cNvPr>
              <p:cNvSpPr/>
              <p:nvPr/>
            </p:nvSpPr>
            <p:spPr>
              <a:xfrm flipV="1">
                <a:off x="3161458" y="6591837"/>
                <a:ext cx="151095" cy="75547"/>
              </a:xfrm>
              <a:custGeom>
                <a:avLst/>
                <a:gdLst>
                  <a:gd name="connsiteX0" fmla="*/ 95011 w 151095"/>
                  <a:gd name="connsiteY0" fmla="*/ 76197 h 75547"/>
                  <a:gd name="connsiteX1" fmla="*/ 57237 w 151095"/>
                  <a:gd name="connsiteY1" fmla="*/ 76197 h 75547"/>
                  <a:gd name="connsiteX2" fmla="*/ 576 w 151095"/>
                  <a:gd name="connsiteY2" fmla="*/ 19536 h 75547"/>
                  <a:gd name="connsiteX3" fmla="*/ 576 w 151095"/>
                  <a:gd name="connsiteY3" fmla="*/ 649 h 75547"/>
                  <a:gd name="connsiteX4" fmla="*/ 151672 w 151095"/>
                  <a:gd name="connsiteY4" fmla="*/ 649 h 75547"/>
                  <a:gd name="connsiteX5" fmla="*/ 151672 w 151095"/>
                  <a:gd name="connsiteY5" fmla="*/ 19536 h 75547"/>
                  <a:gd name="connsiteX6" fmla="*/ 95011 w 151095"/>
                  <a:gd name="connsiteY6" fmla="*/ 76197 h 7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095" h="75547">
                    <a:moveTo>
                      <a:pt x="95011" y="76197"/>
                    </a:moveTo>
                    <a:lnTo>
                      <a:pt x="57237" y="76197"/>
                    </a:lnTo>
                    <a:cubicBezTo>
                      <a:pt x="25944" y="76197"/>
                      <a:pt x="576" y="50829"/>
                      <a:pt x="576" y="19536"/>
                    </a:cubicBezTo>
                    <a:lnTo>
                      <a:pt x="576" y="649"/>
                    </a:lnTo>
                    <a:lnTo>
                      <a:pt x="151672" y="649"/>
                    </a:lnTo>
                    <a:lnTo>
                      <a:pt x="151672" y="19536"/>
                    </a:lnTo>
                    <a:cubicBezTo>
                      <a:pt x="151672" y="50829"/>
                      <a:pt x="126304" y="76197"/>
                      <a:pt x="95011" y="76197"/>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21" name="Freeform: Shape 220">
                <a:extLst>
                  <a:ext uri="{FF2B5EF4-FFF2-40B4-BE49-F238E27FC236}">
                    <a16:creationId xmlns:a16="http://schemas.microsoft.com/office/drawing/2014/main" id="{8C0BFA67-2141-0257-23BA-5D3E14BE51BA}"/>
                  </a:ext>
                </a:extLst>
              </p:cNvPr>
              <p:cNvSpPr/>
              <p:nvPr/>
            </p:nvSpPr>
            <p:spPr>
              <a:xfrm flipV="1">
                <a:off x="2885708" y="6497403"/>
                <a:ext cx="94434" cy="94434"/>
              </a:xfrm>
              <a:custGeom>
                <a:avLst/>
                <a:gdLst>
                  <a:gd name="connsiteX0" fmla="*/ 94611 w 94434"/>
                  <a:gd name="connsiteY0" fmla="*/ 47707 h 94434"/>
                  <a:gd name="connsiteX1" fmla="*/ 47394 w 94434"/>
                  <a:gd name="connsiteY1" fmla="*/ 489 h 94434"/>
                  <a:gd name="connsiteX2" fmla="*/ 177 w 94434"/>
                  <a:gd name="connsiteY2" fmla="*/ 47707 h 94434"/>
                  <a:gd name="connsiteX3" fmla="*/ 47394 w 94434"/>
                  <a:gd name="connsiteY3" fmla="*/ 94924 h 94434"/>
                  <a:gd name="connsiteX4" fmla="*/ 94611 w 94434"/>
                  <a:gd name="connsiteY4" fmla="*/ 47707 h 94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34" h="94434">
                    <a:moveTo>
                      <a:pt x="94611" y="47707"/>
                    </a:moveTo>
                    <a:cubicBezTo>
                      <a:pt x="94611" y="21629"/>
                      <a:pt x="73471" y="489"/>
                      <a:pt x="47394" y="489"/>
                    </a:cubicBezTo>
                    <a:cubicBezTo>
                      <a:pt x="21317" y="489"/>
                      <a:pt x="177" y="21629"/>
                      <a:pt x="177" y="47707"/>
                    </a:cubicBezTo>
                    <a:cubicBezTo>
                      <a:pt x="177" y="73784"/>
                      <a:pt x="21317" y="94924"/>
                      <a:pt x="47394" y="94924"/>
                    </a:cubicBezTo>
                    <a:cubicBezTo>
                      <a:pt x="73471" y="94924"/>
                      <a:pt x="94611" y="73784"/>
                      <a:pt x="94611" y="47707"/>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22" name="Freeform: Shape 221">
                <a:extLst>
                  <a:ext uri="{FF2B5EF4-FFF2-40B4-BE49-F238E27FC236}">
                    <a16:creationId xmlns:a16="http://schemas.microsoft.com/office/drawing/2014/main" id="{7F881C31-B444-DC0A-9AAE-CE70F7B5312E}"/>
                  </a:ext>
                </a:extLst>
              </p:cNvPr>
              <p:cNvSpPr/>
              <p:nvPr/>
            </p:nvSpPr>
            <p:spPr>
              <a:xfrm flipV="1">
                <a:off x="3037748" y="6212210"/>
                <a:ext cx="94434" cy="94434"/>
              </a:xfrm>
              <a:custGeom>
                <a:avLst/>
                <a:gdLst>
                  <a:gd name="connsiteX0" fmla="*/ 94826 w 94434"/>
                  <a:gd name="connsiteY0" fmla="*/ 47304 h 94434"/>
                  <a:gd name="connsiteX1" fmla="*/ 47609 w 94434"/>
                  <a:gd name="connsiteY1" fmla="*/ 87 h 94434"/>
                  <a:gd name="connsiteX2" fmla="*/ 391 w 94434"/>
                  <a:gd name="connsiteY2" fmla="*/ 47304 h 94434"/>
                  <a:gd name="connsiteX3" fmla="*/ 47609 w 94434"/>
                  <a:gd name="connsiteY3" fmla="*/ 94521 h 94434"/>
                  <a:gd name="connsiteX4" fmla="*/ 94826 w 94434"/>
                  <a:gd name="connsiteY4" fmla="*/ 47304 h 94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34" h="94434">
                    <a:moveTo>
                      <a:pt x="94826" y="47304"/>
                    </a:moveTo>
                    <a:cubicBezTo>
                      <a:pt x="94826" y="21227"/>
                      <a:pt x="73686" y="87"/>
                      <a:pt x="47609" y="87"/>
                    </a:cubicBezTo>
                    <a:cubicBezTo>
                      <a:pt x="21531" y="87"/>
                      <a:pt x="391" y="21227"/>
                      <a:pt x="391" y="47304"/>
                    </a:cubicBezTo>
                    <a:cubicBezTo>
                      <a:pt x="391" y="73381"/>
                      <a:pt x="21531" y="94521"/>
                      <a:pt x="47609" y="94521"/>
                    </a:cubicBezTo>
                    <a:cubicBezTo>
                      <a:pt x="73686" y="94521"/>
                      <a:pt x="94826" y="73381"/>
                      <a:pt x="94826" y="47304"/>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23" name="Freeform: Shape 222">
                <a:extLst>
                  <a:ext uri="{FF2B5EF4-FFF2-40B4-BE49-F238E27FC236}">
                    <a16:creationId xmlns:a16="http://schemas.microsoft.com/office/drawing/2014/main" id="{63A92BA0-7352-9D32-D4CF-56B5DD59ACAE}"/>
                  </a:ext>
                </a:extLst>
              </p:cNvPr>
              <p:cNvSpPr/>
              <p:nvPr/>
            </p:nvSpPr>
            <p:spPr>
              <a:xfrm flipV="1">
                <a:off x="3189788" y="6497403"/>
                <a:ext cx="94434" cy="94434"/>
              </a:xfrm>
              <a:custGeom>
                <a:avLst/>
                <a:gdLst>
                  <a:gd name="connsiteX0" fmla="*/ 95041 w 94434"/>
                  <a:gd name="connsiteY0" fmla="*/ 47707 h 94434"/>
                  <a:gd name="connsiteX1" fmla="*/ 47823 w 94434"/>
                  <a:gd name="connsiteY1" fmla="*/ 489 h 94434"/>
                  <a:gd name="connsiteX2" fmla="*/ 606 w 94434"/>
                  <a:gd name="connsiteY2" fmla="*/ 47707 h 94434"/>
                  <a:gd name="connsiteX3" fmla="*/ 47823 w 94434"/>
                  <a:gd name="connsiteY3" fmla="*/ 94924 h 94434"/>
                  <a:gd name="connsiteX4" fmla="*/ 95041 w 94434"/>
                  <a:gd name="connsiteY4" fmla="*/ 47707 h 94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434" h="94434">
                    <a:moveTo>
                      <a:pt x="95041" y="47707"/>
                    </a:moveTo>
                    <a:cubicBezTo>
                      <a:pt x="95041" y="21629"/>
                      <a:pt x="73901" y="489"/>
                      <a:pt x="47823" y="489"/>
                    </a:cubicBezTo>
                    <a:cubicBezTo>
                      <a:pt x="21746" y="489"/>
                      <a:pt x="606" y="21629"/>
                      <a:pt x="606" y="47707"/>
                    </a:cubicBezTo>
                    <a:cubicBezTo>
                      <a:pt x="606" y="73784"/>
                      <a:pt x="21746" y="94924"/>
                      <a:pt x="47823" y="94924"/>
                    </a:cubicBezTo>
                    <a:cubicBezTo>
                      <a:pt x="73901" y="94924"/>
                      <a:pt x="95041" y="73784"/>
                      <a:pt x="95041" y="47707"/>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24" name="Freeform: Shape 223">
                <a:extLst>
                  <a:ext uri="{FF2B5EF4-FFF2-40B4-BE49-F238E27FC236}">
                    <a16:creationId xmlns:a16="http://schemas.microsoft.com/office/drawing/2014/main" id="{47DBE090-66B5-A7E4-6439-8F0C045A9294}"/>
                  </a:ext>
                </a:extLst>
              </p:cNvPr>
              <p:cNvSpPr/>
              <p:nvPr/>
            </p:nvSpPr>
            <p:spPr>
              <a:xfrm flipV="1">
                <a:off x="3084965" y="6382192"/>
                <a:ext cx="708" cy="86879"/>
              </a:xfrm>
              <a:custGeom>
                <a:avLst/>
                <a:gdLst>
                  <a:gd name="connsiteX0" fmla="*/ 341 w 708"/>
                  <a:gd name="connsiteY0" fmla="*/ 275 h 86879"/>
                  <a:gd name="connsiteX1" fmla="*/ 341 w 708"/>
                  <a:gd name="connsiteY1" fmla="*/ 87155 h 86879"/>
                </a:gdLst>
                <a:ahLst/>
                <a:cxnLst>
                  <a:cxn ang="0">
                    <a:pos x="connsiteX0" y="connsiteY0"/>
                  </a:cxn>
                  <a:cxn ang="0">
                    <a:pos x="connsiteX1" y="connsiteY1"/>
                  </a:cxn>
                </a:cxnLst>
                <a:rect l="l" t="t" r="r" b="b"/>
                <a:pathLst>
                  <a:path w="708" h="86879">
                    <a:moveTo>
                      <a:pt x="341" y="275"/>
                    </a:moveTo>
                    <a:lnTo>
                      <a:pt x="341" y="87155"/>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25" name="Freeform: Shape 224">
                <a:extLst>
                  <a:ext uri="{FF2B5EF4-FFF2-40B4-BE49-F238E27FC236}">
                    <a16:creationId xmlns:a16="http://schemas.microsoft.com/office/drawing/2014/main" id="{811985B9-CFD5-2D09-F305-8F184C141D0E}"/>
                  </a:ext>
                </a:extLst>
              </p:cNvPr>
              <p:cNvSpPr/>
              <p:nvPr/>
            </p:nvSpPr>
            <p:spPr>
              <a:xfrm flipV="1">
                <a:off x="3056635" y="6469072"/>
                <a:ext cx="56660" cy="56660"/>
              </a:xfrm>
              <a:custGeom>
                <a:avLst/>
                <a:gdLst>
                  <a:gd name="connsiteX0" fmla="*/ 57032 w 56660"/>
                  <a:gd name="connsiteY0" fmla="*/ 28753 h 56660"/>
                  <a:gd name="connsiteX1" fmla="*/ 28702 w 56660"/>
                  <a:gd name="connsiteY1" fmla="*/ 423 h 56660"/>
                  <a:gd name="connsiteX2" fmla="*/ 371 w 56660"/>
                  <a:gd name="connsiteY2" fmla="*/ 28753 h 56660"/>
                  <a:gd name="connsiteX3" fmla="*/ 28702 w 56660"/>
                  <a:gd name="connsiteY3" fmla="*/ 57084 h 56660"/>
                  <a:gd name="connsiteX4" fmla="*/ 57032 w 56660"/>
                  <a:gd name="connsiteY4" fmla="*/ 28753 h 566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60" h="56660">
                    <a:moveTo>
                      <a:pt x="57032" y="28753"/>
                    </a:moveTo>
                    <a:cubicBezTo>
                      <a:pt x="57032" y="13107"/>
                      <a:pt x="44348" y="423"/>
                      <a:pt x="28702" y="423"/>
                    </a:cubicBezTo>
                    <a:cubicBezTo>
                      <a:pt x="13056" y="423"/>
                      <a:pt x="371" y="13107"/>
                      <a:pt x="371" y="28753"/>
                    </a:cubicBezTo>
                    <a:cubicBezTo>
                      <a:pt x="371" y="44399"/>
                      <a:pt x="13056" y="57084"/>
                      <a:pt x="28702" y="57084"/>
                    </a:cubicBezTo>
                    <a:cubicBezTo>
                      <a:pt x="44348" y="57084"/>
                      <a:pt x="57032" y="44399"/>
                      <a:pt x="57032" y="28753"/>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26" name="Freeform: Shape 225">
                <a:extLst>
                  <a:ext uri="{FF2B5EF4-FFF2-40B4-BE49-F238E27FC236}">
                    <a16:creationId xmlns:a16="http://schemas.microsoft.com/office/drawing/2014/main" id="{6A8F6CDE-15FE-FB30-147B-6300414B675E}"/>
                  </a:ext>
                </a:extLst>
              </p:cNvPr>
              <p:cNvSpPr/>
              <p:nvPr/>
            </p:nvSpPr>
            <p:spPr>
              <a:xfrm flipV="1">
                <a:off x="2978029" y="6505807"/>
                <a:ext cx="79873" cy="24806"/>
              </a:xfrm>
              <a:custGeom>
                <a:avLst/>
                <a:gdLst>
                  <a:gd name="connsiteX0" fmla="*/ 80163 w 79873"/>
                  <a:gd name="connsiteY0" fmla="*/ 25271 h 24806"/>
                  <a:gd name="connsiteX1" fmla="*/ 289 w 79873"/>
                  <a:gd name="connsiteY1" fmla="*/ 465 h 24806"/>
                </a:gdLst>
                <a:ahLst/>
                <a:cxnLst>
                  <a:cxn ang="0">
                    <a:pos x="connsiteX0" y="connsiteY0"/>
                  </a:cxn>
                  <a:cxn ang="0">
                    <a:pos x="connsiteX1" y="connsiteY1"/>
                  </a:cxn>
                </a:cxnLst>
                <a:rect l="l" t="t" r="r" b="b"/>
                <a:pathLst>
                  <a:path w="79873" h="24806">
                    <a:moveTo>
                      <a:pt x="80163" y="25271"/>
                    </a:moveTo>
                    <a:lnTo>
                      <a:pt x="289" y="465"/>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27" name="Freeform: Shape 226">
                <a:extLst>
                  <a:ext uri="{FF2B5EF4-FFF2-40B4-BE49-F238E27FC236}">
                    <a16:creationId xmlns:a16="http://schemas.microsoft.com/office/drawing/2014/main" id="{A6981763-7EE4-05EB-9456-048AF4CBA80E}"/>
                  </a:ext>
                </a:extLst>
              </p:cNvPr>
              <p:cNvSpPr/>
              <p:nvPr/>
            </p:nvSpPr>
            <p:spPr>
              <a:xfrm flipV="1">
                <a:off x="3112028" y="6505806"/>
                <a:ext cx="79873" cy="24806"/>
              </a:xfrm>
              <a:custGeom>
                <a:avLst/>
                <a:gdLst>
                  <a:gd name="connsiteX0" fmla="*/ 80352 w 79873"/>
                  <a:gd name="connsiteY0" fmla="*/ 439 h 24806"/>
                  <a:gd name="connsiteX1" fmla="*/ 478 w 79873"/>
                  <a:gd name="connsiteY1" fmla="*/ 25245 h 24806"/>
                </a:gdLst>
                <a:ahLst/>
                <a:cxnLst>
                  <a:cxn ang="0">
                    <a:pos x="connsiteX0" y="connsiteY0"/>
                  </a:cxn>
                  <a:cxn ang="0">
                    <a:pos x="connsiteX1" y="connsiteY1"/>
                  </a:cxn>
                </a:cxnLst>
                <a:rect l="l" t="t" r="r" b="b"/>
                <a:pathLst>
                  <a:path w="79873" h="24806">
                    <a:moveTo>
                      <a:pt x="80352" y="439"/>
                    </a:moveTo>
                    <a:lnTo>
                      <a:pt x="478" y="25245"/>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grpSp>
        <p:nvGrpSpPr>
          <p:cNvPr id="270" name="Group 269">
            <a:extLst>
              <a:ext uri="{FF2B5EF4-FFF2-40B4-BE49-F238E27FC236}">
                <a16:creationId xmlns:a16="http://schemas.microsoft.com/office/drawing/2014/main" id="{1B2A4303-4AC9-0F11-1014-AE829A275975}"/>
              </a:ext>
            </a:extLst>
          </p:cNvPr>
          <p:cNvGrpSpPr/>
          <p:nvPr/>
        </p:nvGrpSpPr>
        <p:grpSpPr>
          <a:xfrm>
            <a:off x="5347532" y="2426110"/>
            <a:ext cx="1460409" cy="2556596"/>
            <a:chOff x="5347532" y="2426110"/>
            <a:chExt cx="1460409" cy="2556596"/>
          </a:xfrm>
        </p:grpSpPr>
        <p:sp>
          <p:nvSpPr>
            <p:cNvPr id="54" name="Rectangle: Rounded Corners 53">
              <a:extLst>
                <a:ext uri="{FF2B5EF4-FFF2-40B4-BE49-F238E27FC236}">
                  <a16:creationId xmlns:a16="http://schemas.microsoft.com/office/drawing/2014/main" id="{210670FB-DD59-0E6C-40ED-54E000444B63}"/>
                </a:ext>
                <a:ext uri="{C183D7F6-B498-43B3-948B-1728B52AA6E4}">
                  <adec:decorative xmlns:adec="http://schemas.microsoft.com/office/drawing/2017/decorative" val="1"/>
                </a:ext>
              </a:extLst>
            </p:cNvPr>
            <p:cNvSpPr>
              <a:spLocks/>
            </p:cNvSpPr>
            <p:nvPr/>
          </p:nvSpPr>
          <p:spPr bwMode="auto">
            <a:xfrm>
              <a:off x="5360552" y="2426110"/>
              <a:ext cx="1416869" cy="2556596"/>
            </a:xfrm>
            <a:prstGeom prst="roundRect">
              <a:avLst>
                <a:gd name="adj" fmla="val 5100"/>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56" name="TextBox 55">
              <a:extLst>
                <a:ext uri="{FF2B5EF4-FFF2-40B4-BE49-F238E27FC236}">
                  <a16:creationId xmlns:a16="http://schemas.microsoft.com/office/drawing/2014/main" id="{3B882DE6-1736-54D0-EC0E-DF6843D0B0B1}"/>
                </a:ext>
              </a:extLst>
            </p:cNvPr>
            <p:cNvSpPr txBox="1"/>
            <p:nvPr/>
          </p:nvSpPr>
          <p:spPr>
            <a:xfrm>
              <a:off x="5429300" y="3152645"/>
              <a:ext cx="941271" cy="169277"/>
            </a:xfrm>
            <a:prstGeom prst="rect">
              <a:avLst/>
            </a:prstGeom>
            <a:noFill/>
          </p:spPr>
          <p:txBody>
            <a:bodyPr wrap="square" lIns="0" tIns="0" rIns="0" bIns="0">
              <a:spAutoFit/>
            </a:bodyPr>
            <a:lstStyle/>
            <a:p>
              <a:pPr lvl="0" defTabSz="609630" fontAlgn="base">
                <a:spcBef>
                  <a:spcPts val="1200"/>
                </a:spcBef>
                <a:spcAft>
                  <a:spcPct val="0"/>
                </a:spcAft>
                <a:buSzPct val="90000"/>
                <a:defRPr/>
              </a:pPr>
              <a:r>
                <a:rPr lang="en-US" sz="1100">
                  <a:solidFill>
                    <a:srgbClr val="FFFFFF"/>
                  </a:solidFill>
                  <a:latin typeface="Segoe Sans Text Semibold"/>
                </a:rPr>
                <a:t>Evaluation</a:t>
              </a:r>
            </a:p>
          </p:txBody>
        </p:sp>
        <p:sp>
          <p:nvSpPr>
            <p:cNvPr id="57" name="Content Placeholder 3">
              <a:extLst>
                <a:ext uri="{FF2B5EF4-FFF2-40B4-BE49-F238E27FC236}">
                  <a16:creationId xmlns:a16="http://schemas.microsoft.com/office/drawing/2014/main" id="{745B9D2F-902D-E90E-BE18-3275F2C79C17}"/>
                </a:ext>
              </a:extLst>
            </p:cNvPr>
            <p:cNvSpPr txBox="1">
              <a:spLocks/>
            </p:cNvSpPr>
            <p:nvPr/>
          </p:nvSpPr>
          <p:spPr>
            <a:xfrm>
              <a:off x="5347532" y="3331113"/>
              <a:ext cx="1460409" cy="786873"/>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609630" fontAlgn="base">
                <a:spcBef>
                  <a:spcPts val="0"/>
                </a:spcBef>
                <a:spcAft>
                  <a:spcPct val="0"/>
                </a:spcAft>
                <a:buSzTx/>
                <a:defRPr/>
              </a:pPr>
              <a:r>
                <a:rPr lang="en-US" sz="1000">
                  <a:solidFill>
                    <a:srgbClr val="FFFFFF"/>
                  </a:solidFill>
                  <a:cs typeface="Segoe Sans Text" pitchFamily="2" charset="0"/>
                </a:rPr>
                <a:t>Data Scientist</a:t>
              </a:r>
            </a:p>
            <a:p>
              <a:pPr lvl="0" defTabSz="609630" fontAlgn="base">
                <a:spcBef>
                  <a:spcPts val="0"/>
                </a:spcBef>
                <a:spcAft>
                  <a:spcPct val="0"/>
                </a:spcAft>
                <a:buSzTx/>
                <a:defRPr/>
              </a:pPr>
              <a:r>
                <a:rPr lang="en-US" sz="1000">
                  <a:solidFill>
                    <a:srgbClr val="FFFFFF"/>
                  </a:solidFill>
                  <a:cs typeface="Segoe Sans Text" pitchFamily="2" charset="0"/>
                </a:rPr>
                <a:t>Prompt Engineer</a:t>
              </a:r>
            </a:p>
            <a:p>
              <a:pPr lvl="0" defTabSz="609630" fontAlgn="base">
                <a:spcBef>
                  <a:spcPts val="0"/>
                </a:spcBef>
                <a:spcAft>
                  <a:spcPct val="0"/>
                </a:spcAft>
                <a:buSzTx/>
                <a:defRPr/>
              </a:pPr>
              <a:r>
                <a:rPr lang="en-US" sz="1000">
                  <a:solidFill>
                    <a:srgbClr val="FFFFFF"/>
                  </a:solidFill>
                  <a:cs typeface="Segoe Sans Text" pitchFamily="2" charset="0"/>
                </a:rPr>
                <a:t>Developer</a:t>
              </a:r>
            </a:p>
            <a:p>
              <a:pPr lvl="0" defTabSz="609630" fontAlgn="base">
                <a:spcBef>
                  <a:spcPts val="0"/>
                </a:spcBef>
                <a:spcAft>
                  <a:spcPct val="0"/>
                </a:spcAft>
                <a:buSzTx/>
                <a:defRPr/>
              </a:pPr>
              <a:r>
                <a:rPr lang="en-US" sz="1000">
                  <a:solidFill>
                    <a:srgbClr val="FFFFFF"/>
                  </a:solidFill>
                  <a:cs typeface="Segoe Sans Text" pitchFamily="2" charset="0"/>
                </a:rPr>
                <a:t>AI Engineer</a:t>
              </a:r>
            </a:p>
          </p:txBody>
        </p:sp>
        <p:grpSp>
          <p:nvGrpSpPr>
            <p:cNvPr id="112" name="Group 111">
              <a:extLst>
                <a:ext uri="{FF2B5EF4-FFF2-40B4-BE49-F238E27FC236}">
                  <a16:creationId xmlns:a16="http://schemas.microsoft.com/office/drawing/2014/main" id="{42B9BB9C-30CE-BC49-DB91-50C712544334}"/>
                </a:ext>
              </a:extLst>
            </p:cNvPr>
            <p:cNvGrpSpPr/>
            <p:nvPr/>
          </p:nvGrpSpPr>
          <p:grpSpPr>
            <a:xfrm>
              <a:off x="5441811" y="2497423"/>
              <a:ext cx="488983" cy="489124"/>
              <a:chOff x="1600003" y="1811018"/>
              <a:chExt cx="1641521" cy="1641995"/>
            </a:xfrm>
          </p:grpSpPr>
          <p:sp>
            <p:nvSpPr>
              <p:cNvPr id="114" name="Oval 17">
                <a:extLst>
                  <a:ext uri="{FF2B5EF4-FFF2-40B4-BE49-F238E27FC236}">
                    <a16:creationId xmlns:a16="http://schemas.microsoft.com/office/drawing/2014/main" id="{AC713C98-E57C-124F-B594-7FD2F7746060}"/>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115" name="Group 114">
                <a:extLst>
                  <a:ext uri="{FF2B5EF4-FFF2-40B4-BE49-F238E27FC236}">
                    <a16:creationId xmlns:a16="http://schemas.microsoft.com/office/drawing/2014/main" id="{EAD1F068-7A83-BB1B-634B-113BE8269491}"/>
                  </a:ext>
                </a:extLst>
              </p:cNvPr>
              <p:cNvGrpSpPr/>
              <p:nvPr/>
            </p:nvGrpSpPr>
            <p:grpSpPr>
              <a:xfrm>
                <a:off x="1714608" y="1927192"/>
                <a:ext cx="1412311" cy="1409646"/>
                <a:chOff x="1261672" y="4833937"/>
                <a:chExt cx="954296" cy="954297"/>
              </a:xfrm>
            </p:grpSpPr>
            <p:sp>
              <p:nvSpPr>
                <p:cNvPr id="116" name="Rectangle: Rounded Corners 115">
                  <a:extLst>
                    <a:ext uri="{FF2B5EF4-FFF2-40B4-BE49-F238E27FC236}">
                      <a16:creationId xmlns:a16="http://schemas.microsoft.com/office/drawing/2014/main" id="{2D4BD49D-D607-C44E-E109-E8B81D8FBCF3}"/>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17" name="Rectangle: Rounded Corners 116">
                  <a:extLst>
                    <a:ext uri="{FF2B5EF4-FFF2-40B4-BE49-F238E27FC236}">
                      <a16:creationId xmlns:a16="http://schemas.microsoft.com/office/drawing/2014/main" id="{A9B5E915-360A-2EA0-946C-6166CA06B509}"/>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230" name="Graphic 228">
              <a:extLst>
                <a:ext uri="{FF2B5EF4-FFF2-40B4-BE49-F238E27FC236}">
                  <a16:creationId xmlns:a16="http://schemas.microsoft.com/office/drawing/2014/main" id="{3169E62B-F4D1-AE82-7157-08A9B23BAA5E}"/>
                </a:ext>
              </a:extLst>
            </p:cNvPr>
            <p:cNvGrpSpPr/>
            <p:nvPr/>
          </p:nvGrpSpPr>
          <p:grpSpPr>
            <a:xfrm>
              <a:off x="5581588" y="2606551"/>
              <a:ext cx="212921" cy="261588"/>
              <a:chOff x="3697142" y="5590602"/>
              <a:chExt cx="212921" cy="261588"/>
            </a:xfrm>
            <a:gradFill>
              <a:gsLst>
                <a:gs pos="100000">
                  <a:srgbClr val="BDF2BD"/>
                </a:gs>
                <a:gs pos="55000">
                  <a:srgbClr val="C3E9FC"/>
                </a:gs>
              </a:gsLst>
              <a:lin ang="0" scaled="1"/>
            </a:gradFill>
          </p:grpSpPr>
          <p:sp>
            <p:nvSpPr>
              <p:cNvPr id="231" name="Freeform: Shape 230">
                <a:extLst>
                  <a:ext uri="{FF2B5EF4-FFF2-40B4-BE49-F238E27FC236}">
                    <a16:creationId xmlns:a16="http://schemas.microsoft.com/office/drawing/2014/main" id="{C9D97C10-0388-95DD-99D8-DFA1AFC13A23}"/>
                  </a:ext>
                </a:extLst>
              </p:cNvPr>
              <p:cNvSpPr/>
              <p:nvPr/>
            </p:nvSpPr>
            <p:spPr>
              <a:xfrm>
                <a:off x="3733646" y="5678816"/>
                <a:ext cx="54744" cy="42580"/>
              </a:xfrm>
              <a:custGeom>
                <a:avLst/>
                <a:gdLst>
                  <a:gd name="connsiteX0" fmla="*/ 2515 w 54744"/>
                  <a:gd name="connsiteY0" fmla="*/ 25851 h 42580"/>
                  <a:gd name="connsiteX1" fmla="*/ 15789 w 54744"/>
                  <a:gd name="connsiteY1" fmla="*/ 39758 h 42580"/>
                  <a:gd name="connsiteX2" fmla="*/ 22396 w 54744"/>
                  <a:gd name="connsiteY2" fmla="*/ 42581 h 42580"/>
                  <a:gd name="connsiteX3" fmla="*/ 28990 w 54744"/>
                  <a:gd name="connsiteY3" fmla="*/ 39758 h 42580"/>
                  <a:gd name="connsiteX4" fmla="*/ 52229 w 54744"/>
                  <a:gd name="connsiteY4" fmla="*/ 15424 h 42580"/>
                  <a:gd name="connsiteX5" fmla="*/ 51925 w 54744"/>
                  <a:gd name="connsiteY5" fmla="*/ 2515 h 42580"/>
                  <a:gd name="connsiteX6" fmla="*/ 39016 w 54744"/>
                  <a:gd name="connsiteY6" fmla="*/ 2819 h 42580"/>
                  <a:gd name="connsiteX7" fmla="*/ 22396 w 54744"/>
                  <a:gd name="connsiteY7" fmla="*/ 20242 h 42580"/>
                  <a:gd name="connsiteX8" fmla="*/ 15728 w 54744"/>
                  <a:gd name="connsiteY8" fmla="*/ 13246 h 42580"/>
                  <a:gd name="connsiteX9" fmla="*/ 2819 w 54744"/>
                  <a:gd name="connsiteY9" fmla="*/ 12954 h 42580"/>
                  <a:gd name="connsiteX10" fmla="*/ 2515 w 54744"/>
                  <a:gd name="connsiteY10" fmla="*/ 25851 h 4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44" h="42580">
                    <a:moveTo>
                      <a:pt x="2515" y="25851"/>
                    </a:moveTo>
                    <a:lnTo>
                      <a:pt x="15789" y="39758"/>
                    </a:lnTo>
                    <a:cubicBezTo>
                      <a:pt x="17517" y="41559"/>
                      <a:pt x="19902" y="42581"/>
                      <a:pt x="22396" y="42581"/>
                    </a:cubicBezTo>
                    <a:cubicBezTo>
                      <a:pt x="24890" y="42581"/>
                      <a:pt x="27275" y="41559"/>
                      <a:pt x="28990" y="39758"/>
                    </a:cubicBezTo>
                    <a:lnTo>
                      <a:pt x="52229" y="15424"/>
                    </a:lnTo>
                    <a:cubicBezTo>
                      <a:pt x="55697" y="11774"/>
                      <a:pt x="55563" y="5995"/>
                      <a:pt x="51925" y="2515"/>
                    </a:cubicBezTo>
                    <a:cubicBezTo>
                      <a:pt x="48275" y="-953"/>
                      <a:pt x="42495" y="-819"/>
                      <a:pt x="39016" y="2819"/>
                    </a:cubicBezTo>
                    <a:lnTo>
                      <a:pt x="22396" y="20242"/>
                    </a:lnTo>
                    <a:cubicBezTo>
                      <a:pt x="22396" y="20242"/>
                      <a:pt x="15728" y="13246"/>
                      <a:pt x="15728" y="13246"/>
                    </a:cubicBezTo>
                    <a:cubicBezTo>
                      <a:pt x="12249" y="9608"/>
                      <a:pt x="6469" y="9474"/>
                      <a:pt x="2819" y="12954"/>
                    </a:cubicBezTo>
                    <a:cubicBezTo>
                      <a:pt x="-819" y="16422"/>
                      <a:pt x="-953" y="22213"/>
                      <a:pt x="2515" y="25851"/>
                    </a:cubicBezTo>
                    <a:close/>
                  </a:path>
                </a:pathLst>
              </a:custGeom>
              <a:grpFill/>
              <a:ln w="11906" cap="flat">
                <a:noFill/>
                <a:prstDash val="solid"/>
                <a:round/>
              </a:ln>
            </p:spPr>
            <p:txBody>
              <a:bodyPr rtlCol="0" anchor="ctr"/>
              <a:lstStyle/>
              <a:p>
                <a:endParaRPr lang="en-GB"/>
              </a:p>
            </p:txBody>
          </p:sp>
          <p:sp>
            <p:nvSpPr>
              <p:cNvPr id="232" name="Freeform: Shape 231">
                <a:extLst>
                  <a:ext uri="{FF2B5EF4-FFF2-40B4-BE49-F238E27FC236}">
                    <a16:creationId xmlns:a16="http://schemas.microsoft.com/office/drawing/2014/main" id="{9E44EC7D-8424-DD6E-44FF-B4268570D068}"/>
                  </a:ext>
                </a:extLst>
              </p:cNvPr>
              <p:cNvSpPr/>
              <p:nvPr/>
            </p:nvSpPr>
            <p:spPr>
              <a:xfrm>
                <a:off x="3733646" y="5751817"/>
                <a:ext cx="54744" cy="42580"/>
              </a:xfrm>
              <a:custGeom>
                <a:avLst/>
                <a:gdLst>
                  <a:gd name="connsiteX0" fmla="*/ 2515 w 54744"/>
                  <a:gd name="connsiteY0" fmla="*/ 25851 h 42580"/>
                  <a:gd name="connsiteX1" fmla="*/ 15789 w 54744"/>
                  <a:gd name="connsiteY1" fmla="*/ 39758 h 42580"/>
                  <a:gd name="connsiteX2" fmla="*/ 22396 w 54744"/>
                  <a:gd name="connsiteY2" fmla="*/ 42581 h 42580"/>
                  <a:gd name="connsiteX3" fmla="*/ 28990 w 54744"/>
                  <a:gd name="connsiteY3" fmla="*/ 39758 h 42580"/>
                  <a:gd name="connsiteX4" fmla="*/ 52229 w 54744"/>
                  <a:gd name="connsiteY4" fmla="*/ 15424 h 42580"/>
                  <a:gd name="connsiteX5" fmla="*/ 51925 w 54744"/>
                  <a:gd name="connsiteY5" fmla="*/ 2515 h 42580"/>
                  <a:gd name="connsiteX6" fmla="*/ 39016 w 54744"/>
                  <a:gd name="connsiteY6" fmla="*/ 2819 h 42580"/>
                  <a:gd name="connsiteX7" fmla="*/ 22396 w 54744"/>
                  <a:gd name="connsiteY7" fmla="*/ 20242 h 42580"/>
                  <a:gd name="connsiteX8" fmla="*/ 15728 w 54744"/>
                  <a:gd name="connsiteY8" fmla="*/ 13246 h 42580"/>
                  <a:gd name="connsiteX9" fmla="*/ 2819 w 54744"/>
                  <a:gd name="connsiteY9" fmla="*/ 12954 h 42580"/>
                  <a:gd name="connsiteX10" fmla="*/ 2515 w 54744"/>
                  <a:gd name="connsiteY10" fmla="*/ 25851 h 4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44" h="42580">
                    <a:moveTo>
                      <a:pt x="2515" y="25851"/>
                    </a:moveTo>
                    <a:lnTo>
                      <a:pt x="15789" y="39758"/>
                    </a:lnTo>
                    <a:cubicBezTo>
                      <a:pt x="17517" y="41559"/>
                      <a:pt x="19902" y="42581"/>
                      <a:pt x="22396" y="42581"/>
                    </a:cubicBezTo>
                    <a:cubicBezTo>
                      <a:pt x="24890" y="42581"/>
                      <a:pt x="27275" y="41559"/>
                      <a:pt x="28990" y="39758"/>
                    </a:cubicBezTo>
                    <a:lnTo>
                      <a:pt x="52229" y="15424"/>
                    </a:lnTo>
                    <a:cubicBezTo>
                      <a:pt x="55697" y="11774"/>
                      <a:pt x="55563" y="5995"/>
                      <a:pt x="51925" y="2515"/>
                    </a:cubicBezTo>
                    <a:cubicBezTo>
                      <a:pt x="48275" y="-953"/>
                      <a:pt x="42495" y="-819"/>
                      <a:pt x="39016" y="2819"/>
                    </a:cubicBezTo>
                    <a:lnTo>
                      <a:pt x="22396" y="20242"/>
                    </a:lnTo>
                    <a:cubicBezTo>
                      <a:pt x="22396" y="20242"/>
                      <a:pt x="15728" y="13246"/>
                      <a:pt x="15728" y="13246"/>
                    </a:cubicBezTo>
                    <a:cubicBezTo>
                      <a:pt x="12249" y="9608"/>
                      <a:pt x="6469" y="9474"/>
                      <a:pt x="2819" y="12954"/>
                    </a:cubicBezTo>
                    <a:cubicBezTo>
                      <a:pt x="-819" y="16422"/>
                      <a:pt x="-953" y="22213"/>
                      <a:pt x="2515" y="25851"/>
                    </a:cubicBezTo>
                    <a:close/>
                  </a:path>
                </a:pathLst>
              </a:custGeom>
              <a:grpFill/>
              <a:ln w="11906" cap="flat">
                <a:noFill/>
                <a:prstDash val="solid"/>
                <a:round/>
              </a:ln>
            </p:spPr>
            <p:txBody>
              <a:bodyPr rtlCol="0" anchor="ctr"/>
              <a:lstStyle/>
              <a:p>
                <a:endParaRPr lang="en-GB"/>
              </a:p>
            </p:txBody>
          </p:sp>
          <p:sp>
            <p:nvSpPr>
              <p:cNvPr id="233" name="Freeform: Shape 232">
                <a:extLst>
                  <a:ext uri="{FF2B5EF4-FFF2-40B4-BE49-F238E27FC236}">
                    <a16:creationId xmlns:a16="http://schemas.microsoft.com/office/drawing/2014/main" id="{643C9B4D-C05C-DC83-4708-25059143AAB5}"/>
                  </a:ext>
                </a:extLst>
              </p:cNvPr>
              <p:cNvSpPr/>
              <p:nvPr/>
            </p:nvSpPr>
            <p:spPr>
              <a:xfrm>
                <a:off x="3806644" y="5690979"/>
                <a:ext cx="66918" cy="18250"/>
              </a:xfrm>
              <a:custGeom>
                <a:avLst/>
                <a:gdLst>
                  <a:gd name="connsiteX0" fmla="*/ 9125 w 66918"/>
                  <a:gd name="connsiteY0" fmla="*/ 18250 h 18250"/>
                  <a:gd name="connsiteX1" fmla="*/ 57793 w 66918"/>
                  <a:gd name="connsiteY1" fmla="*/ 18250 h 18250"/>
                  <a:gd name="connsiteX2" fmla="*/ 66918 w 66918"/>
                  <a:gd name="connsiteY2" fmla="*/ 9125 h 18250"/>
                  <a:gd name="connsiteX3" fmla="*/ 57793 w 66918"/>
                  <a:gd name="connsiteY3" fmla="*/ 0 h 18250"/>
                  <a:gd name="connsiteX4" fmla="*/ 9125 w 66918"/>
                  <a:gd name="connsiteY4" fmla="*/ 0 h 18250"/>
                  <a:gd name="connsiteX5" fmla="*/ 0 w 66918"/>
                  <a:gd name="connsiteY5" fmla="*/ 9125 h 18250"/>
                  <a:gd name="connsiteX6" fmla="*/ 9125 w 66918"/>
                  <a:gd name="connsiteY6" fmla="*/ 18250 h 1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18" h="18250">
                    <a:moveTo>
                      <a:pt x="9125" y="18250"/>
                    </a:moveTo>
                    <a:lnTo>
                      <a:pt x="57793" y="18250"/>
                    </a:lnTo>
                    <a:cubicBezTo>
                      <a:pt x="62830" y="18250"/>
                      <a:pt x="66918" y="14162"/>
                      <a:pt x="66918" y="9125"/>
                    </a:cubicBezTo>
                    <a:cubicBezTo>
                      <a:pt x="66918" y="4088"/>
                      <a:pt x="62830" y="0"/>
                      <a:pt x="57793" y="0"/>
                    </a:cubicBezTo>
                    <a:lnTo>
                      <a:pt x="9125" y="0"/>
                    </a:lnTo>
                    <a:cubicBezTo>
                      <a:pt x="4088" y="0"/>
                      <a:pt x="0" y="4088"/>
                      <a:pt x="0" y="9125"/>
                    </a:cubicBezTo>
                    <a:cubicBezTo>
                      <a:pt x="0" y="14162"/>
                      <a:pt x="4088" y="18250"/>
                      <a:pt x="9125" y="18250"/>
                    </a:cubicBezTo>
                    <a:close/>
                  </a:path>
                </a:pathLst>
              </a:custGeom>
              <a:grpFill/>
              <a:ln w="11906" cap="flat">
                <a:noFill/>
                <a:prstDash val="solid"/>
                <a:round/>
              </a:ln>
            </p:spPr>
            <p:txBody>
              <a:bodyPr rtlCol="0" anchor="ctr"/>
              <a:lstStyle/>
              <a:p>
                <a:endParaRPr lang="en-GB"/>
              </a:p>
            </p:txBody>
          </p:sp>
          <p:sp>
            <p:nvSpPr>
              <p:cNvPr id="234" name="Freeform: Shape 233">
                <a:extLst>
                  <a:ext uri="{FF2B5EF4-FFF2-40B4-BE49-F238E27FC236}">
                    <a16:creationId xmlns:a16="http://schemas.microsoft.com/office/drawing/2014/main" id="{FA357FDC-BEE1-7267-D636-0CD6DE5F82D5}"/>
                  </a:ext>
                </a:extLst>
              </p:cNvPr>
              <p:cNvSpPr/>
              <p:nvPr/>
            </p:nvSpPr>
            <p:spPr>
              <a:xfrm>
                <a:off x="3806644" y="5763981"/>
                <a:ext cx="66918" cy="18250"/>
              </a:xfrm>
              <a:custGeom>
                <a:avLst/>
                <a:gdLst>
                  <a:gd name="connsiteX0" fmla="*/ 9125 w 66918"/>
                  <a:gd name="connsiteY0" fmla="*/ 18250 h 18250"/>
                  <a:gd name="connsiteX1" fmla="*/ 57793 w 66918"/>
                  <a:gd name="connsiteY1" fmla="*/ 18250 h 18250"/>
                  <a:gd name="connsiteX2" fmla="*/ 66918 w 66918"/>
                  <a:gd name="connsiteY2" fmla="*/ 9125 h 18250"/>
                  <a:gd name="connsiteX3" fmla="*/ 57793 w 66918"/>
                  <a:gd name="connsiteY3" fmla="*/ 0 h 18250"/>
                  <a:gd name="connsiteX4" fmla="*/ 9125 w 66918"/>
                  <a:gd name="connsiteY4" fmla="*/ 0 h 18250"/>
                  <a:gd name="connsiteX5" fmla="*/ 0 w 66918"/>
                  <a:gd name="connsiteY5" fmla="*/ 9125 h 18250"/>
                  <a:gd name="connsiteX6" fmla="*/ 9125 w 66918"/>
                  <a:gd name="connsiteY6" fmla="*/ 18250 h 1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18" h="18250">
                    <a:moveTo>
                      <a:pt x="9125" y="18250"/>
                    </a:moveTo>
                    <a:lnTo>
                      <a:pt x="57793" y="18250"/>
                    </a:lnTo>
                    <a:cubicBezTo>
                      <a:pt x="62830" y="18250"/>
                      <a:pt x="66918" y="14162"/>
                      <a:pt x="66918" y="9125"/>
                    </a:cubicBezTo>
                    <a:cubicBezTo>
                      <a:pt x="66918" y="4088"/>
                      <a:pt x="62830" y="0"/>
                      <a:pt x="57793" y="0"/>
                    </a:cubicBezTo>
                    <a:lnTo>
                      <a:pt x="9125" y="0"/>
                    </a:lnTo>
                    <a:cubicBezTo>
                      <a:pt x="4088" y="0"/>
                      <a:pt x="0" y="4088"/>
                      <a:pt x="0" y="9125"/>
                    </a:cubicBezTo>
                    <a:cubicBezTo>
                      <a:pt x="0" y="14162"/>
                      <a:pt x="4088" y="18250"/>
                      <a:pt x="9125" y="18250"/>
                    </a:cubicBezTo>
                    <a:close/>
                  </a:path>
                </a:pathLst>
              </a:custGeom>
              <a:grpFill/>
              <a:ln w="11906" cap="flat">
                <a:noFill/>
                <a:prstDash val="solid"/>
                <a:round/>
              </a:ln>
            </p:spPr>
            <p:txBody>
              <a:bodyPr rtlCol="0" anchor="ctr"/>
              <a:lstStyle/>
              <a:p>
                <a:endParaRPr lang="en-GB"/>
              </a:p>
            </p:txBody>
          </p:sp>
          <p:sp>
            <p:nvSpPr>
              <p:cNvPr id="235" name="Freeform: Shape 234">
                <a:extLst>
                  <a:ext uri="{FF2B5EF4-FFF2-40B4-BE49-F238E27FC236}">
                    <a16:creationId xmlns:a16="http://schemas.microsoft.com/office/drawing/2014/main" id="{37B5F0E7-2A7D-F853-A69E-A0AC582C440D}"/>
                  </a:ext>
                </a:extLst>
              </p:cNvPr>
              <p:cNvSpPr/>
              <p:nvPr/>
            </p:nvSpPr>
            <p:spPr>
              <a:xfrm>
                <a:off x="3745810" y="5590602"/>
                <a:ext cx="115585" cy="54751"/>
              </a:xfrm>
              <a:custGeom>
                <a:avLst/>
                <a:gdLst>
                  <a:gd name="connsiteX0" fmla="*/ 113250 w 115585"/>
                  <a:gd name="connsiteY0" fmla="*/ 18871 h 54751"/>
                  <a:gd name="connsiteX1" fmla="*/ 111802 w 115585"/>
                  <a:gd name="connsiteY1" fmla="*/ 14564 h 54751"/>
                  <a:gd name="connsiteX2" fmla="*/ 91605 w 115585"/>
                  <a:gd name="connsiteY2" fmla="*/ 0 h 54751"/>
                  <a:gd name="connsiteX3" fmla="*/ 23981 w 115585"/>
                  <a:gd name="connsiteY3" fmla="*/ 0 h 54751"/>
                  <a:gd name="connsiteX4" fmla="*/ 3784 w 115585"/>
                  <a:gd name="connsiteY4" fmla="*/ 14564 h 54751"/>
                  <a:gd name="connsiteX5" fmla="*/ 2336 w 115585"/>
                  <a:gd name="connsiteY5" fmla="*/ 18871 h 54751"/>
                  <a:gd name="connsiteX6" fmla="*/ 0 w 115585"/>
                  <a:gd name="connsiteY6" fmla="*/ 33301 h 54751"/>
                  <a:gd name="connsiteX7" fmla="*/ 0 w 115585"/>
                  <a:gd name="connsiteY7" fmla="*/ 33459 h 54751"/>
                  <a:gd name="connsiteX8" fmla="*/ 6242 w 115585"/>
                  <a:gd name="connsiteY8" fmla="*/ 48509 h 54751"/>
                  <a:gd name="connsiteX9" fmla="*/ 21292 w 115585"/>
                  <a:gd name="connsiteY9" fmla="*/ 54751 h 54751"/>
                  <a:gd name="connsiteX10" fmla="*/ 94294 w 115585"/>
                  <a:gd name="connsiteY10" fmla="*/ 54751 h 54751"/>
                  <a:gd name="connsiteX11" fmla="*/ 109344 w 115585"/>
                  <a:gd name="connsiteY11" fmla="*/ 48509 h 54751"/>
                  <a:gd name="connsiteX12" fmla="*/ 115586 w 115585"/>
                  <a:gd name="connsiteY12" fmla="*/ 33459 h 54751"/>
                  <a:gd name="connsiteX13" fmla="*/ 115586 w 115585"/>
                  <a:gd name="connsiteY13" fmla="*/ 33301 h 54751"/>
                  <a:gd name="connsiteX14" fmla="*/ 113250 w 115585"/>
                  <a:gd name="connsiteY14" fmla="*/ 18871 h 54751"/>
                  <a:gd name="connsiteX15" fmla="*/ 94488 w 115585"/>
                  <a:gd name="connsiteY15" fmla="*/ 20331 h 54751"/>
                  <a:gd name="connsiteX16" fmla="*/ 95936 w 115585"/>
                  <a:gd name="connsiteY16" fmla="*/ 24638 h 54751"/>
                  <a:gd name="connsiteX17" fmla="*/ 97335 w 115585"/>
                  <a:gd name="connsiteY17" fmla="*/ 33301 h 54751"/>
                  <a:gd name="connsiteX18" fmla="*/ 97335 w 115585"/>
                  <a:gd name="connsiteY18" fmla="*/ 33459 h 54751"/>
                  <a:gd name="connsiteX19" fmla="*/ 96447 w 115585"/>
                  <a:gd name="connsiteY19" fmla="*/ 35613 h 54751"/>
                  <a:gd name="connsiteX20" fmla="*/ 94294 w 115585"/>
                  <a:gd name="connsiteY20" fmla="*/ 36501 h 54751"/>
                  <a:gd name="connsiteX21" fmla="*/ 21292 w 115585"/>
                  <a:gd name="connsiteY21" fmla="*/ 36501 h 54751"/>
                  <a:gd name="connsiteX22" fmla="*/ 19139 w 115585"/>
                  <a:gd name="connsiteY22" fmla="*/ 35613 h 54751"/>
                  <a:gd name="connsiteX23" fmla="*/ 18250 w 115585"/>
                  <a:gd name="connsiteY23" fmla="*/ 33459 h 54751"/>
                  <a:gd name="connsiteX24" fmla="*/ 18250 w 115585"/>
                  <a:gd name="connsiteY24" fmla="*/ 33301 h 54751"/>
                  <a:gd name="connsiteX25" fmla="*/ 19650 w 115585"/>
                  <a:gd name="connsiteY25" fmla="*/ 24638 h 54751"/>
                  <a:gd name="connsiteX26" fmla="*/ 21097 w 115585"/>
                  <a:gd name="connsiteY26" fmla="*/ 20331 h 54751"/>
                  <a:gd name="connsiteX27" fmla="*/ 23981 w 115585"/>
                  <a:gd name="connsiteY27" fmla="*/ 18250 h 54751"/>
                  <a:gd name="connsiteX28" fmla="*/ 91605 w 115585"/>
                  <a:gd name="connsiteY28" fmla="*/ 18250 h 54751"/>
                  <a:gd name="connsiteX29" fmla="*/ 94488 w 115585"/>
                  <a:gd name="connsiteY29" fmla="*/ 20331 h 5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5585" h="54751">
                    <a:moveTo>
                      <a:pt x="113250" y="18871"/>
                    </a:moveTo>
                    <a:lnTo>
                      <a:pt x="111802" y="14564"/>
                    </a:lnTo>
                    <a:cubicBezTo>
                      <a:pt x="108906" y="5864"/>
                      <a:pt x="100766" y="0"/>
                      <a:pt x="91605" y="0"/>
                    </a:cubicBezTo>
                    <a:lnTo>
                      <a:pt x="23981" y="0"/>
                    </a:lnTo>
                    <a:cubicBezTo>
                      <a:pt x="14819" y="0"/>
                      <a:pt x="6680" y="5864"/>
                      <a:pt x="3784" y="14564"/>
                    </a:cubicBezTo>
                    <a:lnTo>
                      <a:pt x="2336" y="18871"/>
                    </a:lnTo>
                    <a:cubicBezTo>
                      <a:pt x="791" y="23519"/>
                      <a:pt x="0" y="28398"/>
                      <a:pt x="0" y="33301"/>
                    </a:cubicBezTo>
                    <a:lnTo>
                      <a:pt x="0" y="33459"/>
                    </a:lnTo>
                    <a:cubicBezTo>
                      <a:pt x="0" y="39104"/>
                      <a:pt x="2239" y="44519"/>
                      <a:pt x="6242" y="48509"/>
                    </a:cubicBezTo>
                    <a:cubicBezTo>
                      <a:pt x="10232" y="52512"/>
                      <a:pt x="15647" y="54751"/>
                      <a:pt x="21292" y="54751"/>
                    </a:cubicBezTo>
                    <a:lnTo>
                      <a:pt x="94294" y="54751"/>
                    </a:lnTo>
                    <a:cubicBezTo>
                      <a:pt x="99939" y="54751"/>
                      <a:pt x="105353" y="52512"/>
                      <a:pt x="109344" y="48509"/>
                    </a:cubicBezTo>
                    <a:cubicBezTo>
                      <a:pt x="113347" y="44519"/>
                      <a:pt x="115586" y="39104"/>
                      <a:pt x="115586" y="33459"/>
                    </a:cubicBezTo>
                    <a:lnTo>
                      <a:pt x="115586" y="33301"/>
                    </a:lnTo>
                    <a:cubicBezTo>
                      <a:pt x="115586" y="28398"/>
                      <a:pt x="114795" y="23519"/>
                      <a:pt x="113250" y="18871"/>
                    </a:cubicBezTo>
                    <a:close/>
                    <a:moveTo>
                      <a:pt x="94488" y="20331"/>
                    </a:moveTo>
                    <a:lnTo>
                      <a:pt x="95936" y="24638"/>
                    </a:lnTo>
                    <a:cubicBezTo>
                      <a:pt x="96861" y="27436"/>
                      <a:pt x="97335" y="30356"/>
                      <a:pt x="97335" y="33301"/>
                    </a:cubicBezTo>
                    <a:lnTo>
                      <a:pt x="97335" y="33459"/>
                    </a:lnTo>
                    <a:cubicBezTo>
                      <a:pt x="97335" y="34262"/>
                      <a:pt x="97019" y="35041"/>
                      <a:pt x="96447" y="35613"/>
                    </a:cubicBezTo>
                    <a:cubicBezTo>
                      <a:pt x="95875" y="36184"/>
                      <a:pt x="95097" y="36501"/>
                      <a:pt x="94294" y="36501"/>
                    </a:cubicBezTo>
                    <a:lnTo>
                      <a:pt x="21292" y="36501"/>
                    </a:lnTo>
                    <a:cubicBezTo>
                      <a:pt x="20489" y="36501"/>
                      <a:pt x="19710" y="36184"/>
                      <a:pt x="19139" y="35613"/>
                    </a:cubicBezTo>
                    <a:cubicBezTo>
                      <a:pt x="18567" y="35041"/>
                      <a:pt x="18250" y="34262"/>
                      <a:pt x="18250" y="33459"/>
                    </a:cubicBezTo>
                    <a:lnTo>
                      <a:pt x="18250" y="33301"/>
                    </a:lnTo>
                    <a:cubicBezTo>
                      <a:pt x="18250" y="30356"/>
                      <a:pt x="18725" y="27436"/>
                      <a:pt x="19650" y="24638"/>
                    </a:cubicBezTo>
                    <a:cubicBezTo>
                      <a:pt x="19650" y="24638"/>
                      <a:pt x="21097" y="20331"/>
                      <a:pt x="21097" y="20331"/>
                    </a:cubicBezTo>
                    <a:cubicBezTo>
                      <a:pt x="21511" y="19090"/>
                      <a:pt x="22667" y="18250"/>
                      <a:pt x="23981" y="18250"/>
                    </a:cubicBezTo>
                    <a:lnTo>
                      <a:pt x="91605" y="18250"/>
                    </a:lnTo>
                    <a:cubicBezTo>
                      <a:pt x="92919" y="18250"/>
                      <a:pt x="94075" y="19090"/>
                      <a:pt x="94488" y="20331"/>
                    </a:cubicBezTo>
                    <a:close/>
                  </a:path>
                </a:pathLst>
              </a:custGeom>
              <a:grpFill/>
              <a:ln w="11906" cap="flat">
                <a:noFill/>
                <a:prstDash val="solid"/>
                <a:round/>
              </a:ln>
            </p:spPr>
            <p:txBody>
              <a:bodyPr rtlCol="0" anchor="ctr"/>
              <a:lstStyle/>
              <a:p>
                <a:endParaRPr lang="en-GB"/>
              </a:p>
            </p:txBody>
          </p:sp>
          <p:sp>
            <p:nvSpPr>
              <p:cNvPr id="236" name="Freeform: Shape 235">
                <a:extLst>
                  <a:ext uri="{FF2B5EF4-FFF2-40B4-BE49-F238E27FC236}">
                    <a16:creationId xmlns:a16="http://schemas.microsoft.com/office/drawing/2014/main" id="{CF17DB75-D4E8-FBBA-5AB4-CC53DDCA9097}"/>
                  </a:ext>
                </a:extLst>
              </p:cNvPr>
              <p:cNvSpPr/>
              <p:nvPr/>
            </p:nvSpPr>
            <p:spPr>
              <a:xfrm>
                <a:off x="3697142" y="5608853"/>
                <a:ext cx="212921" cy="243338"/>
              </a:xfrm>
              <a:custGeom>
                <a:avLst/>
                <a:gdLst>
                  <a:gd name="connsiteX0" fmla="*/ 57793 w 212921"/>
                  <a:gd name="connsiteY0" fmla="*/ 0 h 243338"/>
                  <a:gd name="connsiteX1" fmla="*/ 33459 w 212921"/>
                  <a:gd name="connsiteY1" fmla="*/ 0 h 243338"/>
                  <a:gd name="connsiteX2" fmla="*/ 0 w 212921"/>
                  <a:gd name="connsiteY2" fmla="*/ 33459 h 243338"/>
                  <a:gd name="connsiteX3" fmla="*/ 0 w 212921"/>
                  <a:gd name="connsiteY3" fmla="*/ 209879 h 243338"/>
                  <a:gd name="connsiteX4" fmla="*/ 33459 w 212921"/>
                  <a:gd name="connsiteY4" fmla="*/ 243338 h 243338"/>
                  <a:gd name="connsiteX5" fmla="*/ 179462 w 212921"/>
                  <a:gd name="connsiteY5" fmla="*/ 243338 h 243338"/>
                  <a:gd name="connsiteX6" fmla="*/ 212921 w 212921"/>
                  <a:gd name="connsiteY6" fmla="*/ 209879 h 243338"/>
                  <a:gd name="connsiteX7" fmla="*/ 212921 w 212921"/>
                  <a:gd name="connsiteY7" fmla="*/ 33459 h 243338"/>
                  <a:gd name="connsiteX8" fmla="*/ 179462 w 212921"/>
                  <a:gd name="connsiteY8" fmla="*/ 0 h 243338"/>
                  <a:gd name="connsiteX9" fmla="*/ 155128 w 212921"/>
                  <a:gd name="connsiteY9" fmla="*/ 0 h 243338"/>
                  <a:gd name="connsiteX10" fmla="*/ 146003 w 212921"/>
                  <a:gd name="connsiteY10" fmla="*/ 9125 h 243338"/>
                  <a:gd name="connsiteX11" fmla="*/ 155128 w 212921"/>
                  <a:gd name="connsiteY11" fmla="*/ 18250 h 243338"/>
                  <a:gd name="connsiteX12" fmla="*/ 179462 w 212921"/>
                  <a:gd name="connsiteY12" fmla="*/ 18250 h 243338"/>
                  <a:gd name="connsiteX13" fmla="*/ 194671 w 212921"/>
                  <a:gd name="connsiteY13" fmla="*/ 33459 h 243338"/>
                  <a:gd name="connsiteX14" fmla="*/ 194671 w 212921"/>
                  <a:gd name="connsiteY14" fmla="*/ 209879 h 243338"/>
                  <a:gd name="connsiteX15" fmla="*/ 179462 w 212921"/>
                  <a:gd name="connsiteY15" fmla="*/ 225088 h 243338"/>
                  <a:gd name="connsiteX16" fmla="*/ 33459 w 212921"/>
                  <a:gd name="connsiteY16" fmla="*/ 225088 h 243338"/>
                  <a:gd name="connsiteX17" fmla="*/ 18250 w 212921"/>
                  <a:gd name="connsiteY17" fmla="*/ 209879 h 243338"/>
                  <a:gd name="connsiteX18" fmla="*/ 18250 w 212921"/>
                  <a:gd name="connsiteY18" fmla="*/ 33459 h 243338"/>
                  <a:gd name="connsiteX19" fmla="*/ 33459 w 212921"/>
                  <a:gd name="connsiteY19" fmla="*/ 18250 h 243338"/>
                  <a:gd name="connsiteX20" fmla="*/ 57793 w 212921"/>
                  <a:gd name="connsiteY20" fmla="*/ 18250 h 243338"/>
                  <a:gd name="connsiteX21" fmla="*/ 66918 w 212921"/>
                  <a:gd name="connsiteY21" fmla="*/ 9125 h 243338"/>
                  <a:gd name="connsiteX22" fmla="*/ 57793 w 212921"/>
                  <a:gd name="connsiteY22" fmla="*/ 0 h 24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2921" h="243338">
                    <a:moveTo>
                      <a:pt x="57793" y="0"/>
                    </a:moveTo>
                    <a:lnTo>
                      <a:pt x="33459" y="0"/>
                    </a:lnTo>
                    <a:cubicBezTo>
                      <a:pt x="14977" y="0"/>
                      <a:pt x="0" y="14977"/>
                      <a:pt x="0" y="33459"/>
                    </a:cubicBezTo>
                    <a:lnTo>
                      <a:pt x="0" y="209879"/>
                    </a:lnTo>
                    <a:cubicBezTo>
                      <a:pt x="0" y="228361"/>
                      <a:pt x="14977" y="243338"/>
                      <a:pt x="33459" y="243338"/>
                    </a:cubicBezTo>
                    <a:lnTo>
                      <a:pt x="179462" y="243338"/>
                    </a:lnTo>
                    <a:cubicBezTo>
                      <a:pt x="197944" y="243338"/>
                      <a:pt x="212921" y="228361"/>
                      <a:pt x="212921" y="209879"/>
                    </a:cubicBezTo>
                    <a:lnTo>
                      <a:pt x="212921" y="33459"/>
                    </a:lnTo>
                    <a:cubicBezTo>
                      <a:pt x="212921" y="14977"/>
                      <a:pt x="197944" y="0"/>
                      <a:pt x="179462" y="0"/>
                    </a:cubicBezTo>
                    <a:cubicBezTo>
                      <a:pt x="167295" y="0"/>
                      <a:pt x="155128" y="0"/>
                      <a:pt x="155128" y="0"/>
                    </a:cubicBezTo>
                    <a:cubicBezTo>
                      <a:pt x="150091" y="0"/>
                      <a:pt x="146003" y="4088"/>
                      <a:pt x="146003" y="9125"/>
                    </a:cubicBezTo>
                    <a:cubicBezTo>
                      <a:pt x="146003" y="14162"/>
                      <a:pt x="150091" y="18250"/>
                      <a:pt x="155128" y="18250"/>
                    </a:cubicBezTo>
                    <a:lnTo>
                      <a:pt x="179462" y="18250"/>
                    </a:lnTo>
                    <a:cubicBezTo>
                      <a:pt x="187857" y="18250"/>
                      <a:pt x="194671" y="25064"/>
                      <a:pt x="194671" y="33459"/>
                    </a:cubicBezTo>
                    <a:lnTo>
                      <a:pt x="194671" y="209879"/>
                    </a:lnTo>
                    <a:cubicBezTo>
                      <a:pt x="194671" y="218274"/>
                      <a:pt x="187857" y="225088"/>
                      <a:pt x="179462" y="225088"/>
                    </a:cubicBezTo>
                    <a:lnTo>
                      <a:pt x="33459" y="225088"/>
                    </a:lnTo>
                    <a:cubicBezTo>
                      <a:pt x="25064" y="225088"/>
                      <a:pt x="18250" y="218274"/>
                      <a:pt x="18250" y="209879"/>
                    </a:cubicBezTo>
                    <a:lnTo>
                      <a:pt x="18250" y="33459"/>
                    </a:lnTo>
                    <a:cubicBezTo>
                      <a:pt x="18250" y="25064"/>
                      <a:pt x="25064" y="18250"/>
                      <a:pt x="33459" y="18250"/>
                    </a:cubicBezTo>
                    <a:lnTo>
                      <a:pt x="57793" y="18250"/>
                    </a:lnTo>
                    <a:cubicBezTo>
                      <a:pt x="62830" y="18250"/>
                      <a:pt x="66918" y="14162"/>
                      <a:pt x="66918" y="9125"/>
                    </a:cubicBezTo>
                    <a:cubicBezTo>
                      <a:pt x="66918" y="4088"/>
                      <a:pt x="62830" y="0"/>
                      <a:pt x="57793" y="0"/>
                    </a:cubicBezTo>
                    <a:close/>
                  </a:path>
                </a:pathLst>
              </a:custGeom>
              <a:grpFill/>
              <a:ln w="11906" cap="flat">
                <a:noFill/>
                <a:prstDash val="solid"/>
                <a:round/>
              </a:ln>
            </p:spPr>
            <p:txBody>
              <a:bodyPr rtlCol="0" anchor="ctr"/>
              <a:lstStyle/>
              <a:p>
                <a:endParaRPr lang="en-GB"/>
              </a:p>
            </p:txBody>
          </p:sp>
        </p:grpSp>
      </p:grpSp>
      <p:grpSp>
        <p:nvGrpSpPr>
          <p:cNvPr id="273" name="Group 272">
            <a:extLst>
              <a:ext uri="{FF2B5EF4-FFF2-40B4-BE49-F238E27FC236}">
                <a16:creationId xmlns:a16="http://schemas.microsoft.com/office/drawing/2014/main" id="{9C2C5C44-FC32-AFFD-88BE-610880EB4B66}"/>
              </a:ext>
            </a:extLst>
          </p:cNvPr>
          <p:cNvGrpSpPr/>
          <p:nvPr/>
        </p:nvGrpSpPr>
        <p:grpSpPr>
          <a:xfrm>
            <a:off x="10178485" y="2402851"/>
            <a:ext cx="1428299" cy="2556596"/>
            <a:chOff x="10178485" y="2402851"/>
            <a:chExt cx="1428299" cy="2556596"/>
          </a:xfrm>
        </p:grpSpPr>
        <p:sp>
          <p:nvSpPr>
            <p:cNvPr id="7" name="Rectangle: Rounded Corners 6">
              <a:extLst>
                <a:ext uri="{FF2B5EF4-FFF2-40B4-BE49-F238E27FC236}">
                  <a16:creationId xmlns:a16="http://schemas.microsoft.com/office/drawing/2014/main" id="{413FD3B7-3134-C14D-3ED1-E846AEE26F0B}"/>
                </a:ext>
                <a:ext uri="{C183D7F6-B498-43B3-948B-1728B52AA6E4}">
                  <adec:decorative xmlns:adec="http://schemas.microsoft.com/office/drawing/2017/decorative" val="1"/>
                </a:ext>
              </a:extLst>
            </p:cNvPr>
            <p:cNvSpPr>
              <a:spLocks/>
            </p:cNvSpPr>
            <p:nvPr/>
          </p:nvSpPr>
          <p:spPr bwMode="auto">
            <a:xfrm>
              <a:off x="10189915" y="2402851"/>
              <a:ext cx="1416869" cy="2556596"/>
            </a:xfrm>
            <a:prstGeom prst="roundRect">
              <a:avLst>
                <a:gd name="adj" fmla="val 5100"/>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25" name="Text Placeholder 11">
              <a:extLst>
                <a:ext uri="{FF2B5EF4-FFF2-40B4-BE49-F238E27FC236}">
                  <a16:creationId xmlns:a16="http://schemas.microsoft.com/office/drawing/2014/main" id="{B018A145-14FB-CCA5-7012-092E17B269DE}"/>
                </a:ext>
              </a:extLst>
            </p:cNvPr>
            <p:cNvSpPr txBox="1">
              <a:spLocks/>
            </p:cNvSpPr>
            <p:nvPr/>
          </p:nvSpPr>
          <p:spPr>
            <a:xfrm>
              <a:off x="10263067" y="3152645"/>
              <a:ext cx="1198299" cy="383900"/>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sz="1800" kern="1200" spc="0" baseline="0">
                  <a:solidFill>
                    <a:schemeClr val="accent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0"/>
                </a:spcBef>
                <a:spcAft>
                  <a:spcPts val="120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173038" marR="0" indent="-173038" algn="l" defTabSz="932742" rtl="0" eaLnBrk="1" fontAlgn="auto" latinLnBrk="0" hangingPunct="1">
                <a:lnSpc>
                  <a:spcPct val="100000"/>
                </a:lnSpc>
                <a:spcBef>
                  <a:spcPts val="0"/>
                </a:spcBef>
                <a:spcAft>
                  <a:spcPts val="1200"/>
                </a:spcAft>
                <a:buClrTx/>
                <a:buSzPct val="90000"/>
                <a:buFont typeface="Arial" panose="020B0604020202020204" pitchFamily="34" charset="0"/>
                <a:buChar char="•"/>
                <a:tabLst/>
                <a:defRPr sz="14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ts val="2400"/>
                </a:spcBef>
                <a:spcAft>
                  <a:spcPts val="0"/>
                </a:spcAft>
                <a:buClrTx/>
                <a:buSzPct val="90000"/>
                <a:buFont typeface="Wingdings" panose="05000000000000000000" pitchFamily="2" charset="2"/>
                <a:buNone/>
                <a:tabLst/>
                <a:defRPr sz="1600" kern="1200" spc="0" baseline="0">
                  <a:solidFill>
                    <a:schemeClr val="accent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609630" fontAlgn="base">
                <a:spcBef>
                  <a:spcPts val="1200"/>
                </a:spcBef>
                <a:spcAft>
                  <a:spcPct val="0"/>
                </a:spcAft>
                <a:defRPr/>
              </a:pPr>
              <a:r>
                <a:rPr lang="en-US" sz="1100">
                  <a:solidFill>
                    <a:srgbClr val="FFFFFF"/>
                  </a:solidFill>
                  <a:latin typeface="Segoe Sans Text Semibold"/>
                  <a:cs typeface="Segoe Sans Text" pitchFamily="2" charset="0"/>
                </a:rPr>
                <a:t>Ongoing governance</a:t>
              </a:r>
            </a:p>
            <a:p>
              <a:pPr marL="0" marR="0" lvl="0" indent="0" algn="l" defTabSz="932563" rtl="0" eaLnBrk="1" fontAlgn="auto" latinLnBrk="0" hangingPunct="1">
                <a:lnSpc>
                  <a:spcPct val="100000"/>
                </a:lnSpc>
                <a:spcBef>
                  <a:spcPts val="0"/>
                </a:spcBef>
                <a:spcAft>
                  <a:spcPts val="1200"/>
                </a:spcAft>
                <a:buClrTx/>
                <a:buSzPct val="90000"/>
                <a:buFont typeface="Wingdings" panose="05000000000000000000" pitchFamily="2" charset="2"/>
                <a:buNone/>
                <a:tabLst/>
                <a:defRPr/>
              </a:pPr>
              <a:endParaRPr kumimoji="0" lang="en-US" sz="1400" b="0" i="0" u="none" strike="noStrike" kern="1200" cap="none" spc="0" normalizeH="0" baseline="0" noProof="0">
                <a:ln>
                  <a:noFill/>
                </a:ln>
                <a:solidFill>
                  <a:schemeClr val="tx1"/>
                </a:solidFill>
                <a:effectLst/>
                <a:uLnTx/>
                <a:uFillTx/>
                <a:latin typeface="Segoe Sans Text" pitchFamily="2" charset="0"/>
                <a:ea typeface="+mn-ea"/>
                <a:cs typeface="Segoe Sans Text" pitchFamily="2" charset="0"/>
              </a:endParaRPr>
            </a:p>
          </p:txBody>
        </p:sp>
        <p:sp>
          <p:nvSpPr>
            <p:cNvPr id="26" name="Content Placeholder 3">
              <a:extLst>
                <a:ext uri="{FF2B5EF4-FFF2-40B4-BE49-F238E27FC236}">
                  <a16:creationId xmlns:a16="http://schemas.microsoft.com/office/drawing/2014/main" id="{5D9F68BF-CC23-58FB-A8BD-38BDC914303E}"/>
                </a:ext>
              </a:extLst>
            </p:cNvPr>
            <p:cNvSpPr txBox="1">
              <a:spLocks/>
            </p:cNvSpPr>
            <p:nvPr/>
          </p:nvSpPr>
          <p:spPr>
            <a:xfrm>
              <a:off x="10178485" y="3541791"/>
              <a:ext cx="1296343" cy="786873"/>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defTabSz="609630" fontAlgn="base">
                <a:spcBef>
                  <a:spcPts val="0"/>
                </a:spcBef>
                <a:spcAft>
                  <a:spcPct val="0"/>
                </a:spcAft>
                <a:buSzTx/>
                <a:defRPr/>
              </a:pPr>
              <a:r>
                <a:rPr lang="en-US" sz="1000">
                  <a:solidFill>
                    <a:srgbClr val="FFFFFF"/>
                  </a:solidFill>
                  <a:cs typeface="Segoe Sans Text" pitchFamily="2" charset="0"/>
                </a:rPr>
                <a:t>IT</a:t>
              </a:r>
            </a:p>
            <a:p>
              <a:pPr lvl="0" defTabSz="609630" fontAlgn="base">
                <a:spcBef>
                  <a:spcPts val="0"/>
                </a:spcBef>
                <a:spcAft>
                  <a:spcPct val="0"/>
                </a:spcAft>
                <a:buSzTx/>
                <a:defRPr/>
              </a:pPr>
              <a:r>
                <a:rPr lang="en-US" sz="1000">
                  <a:solidFill>
                    <a:srgbClr val="FFFFFF"/>
                  </a:solidFill>
                  <a:cs typeface="Segoe Sans Text" pitchFamily="2" charset="0"/>
                </a:rPr>
                <a:t>Security</a:t>
              </a:r>
            </a:p>
            <a:p>
              <a:pPr lvl="0" defTabSz="609630" fontAlgn="base">
                <a:spcBef>
                  <a:spcPts val="0"/>
                </a:spcBef>
                <a:spcAft>
                  <a:spcPct val="0"/>
                </a:spcAft>
                <a:buSzTx/>
                <a:defRPr/>
              </a:pPr>
              <a:r>
                <a:rPr lang="en-US" sz="1000">
                  <a:solidFill>
                    <a:srgbClr val="FFFFFF"/>
                  </a:solidFill>
                  <a:cs typeface="Segoe Sans Text" pitchFamily="2" charset="0"/>
                </a:rPr>
                <a:t>Compliance</a:t>
              </a:r>
            </a:p>
          </p:txBody>
        </p:sp>
        <p:grpSp>
          <p:nvGrpSpPr>
            <p:cNvPr id="133" name="Group 132">
              <a:extLst>
                <a:ext uri="{FF2B5EF4-FFF2-40B4-BE49-F238E27FC236}">
                  <a16:creationId xmlns:a16="http://schemas.microsoft.com/office/drawing/2014/main" id="{15B4F1AE-E4E7-327B-4E6A-0BDD45DEFF95}"/>
                </a:ext>
              </a:extLst>
            </p:cNvPr>
            <p:cNvGrpSpPr/>
            <p:nvPr/>
          </p:nvGrpSpPr>
          <p:grpSpPr>
            <a:xfrm>
              <a:off x="10276406" y="2497423"/>
              <a:ext cx="488983" cy="489124"/>
              <a:chOff x="1600003" y="1811018"/>
              <a:chExt cx="1641521" cy="1641995"/>
            </a:xfrm>
          </p:grpSpPr>
          <p:sp>
            <p:nvSpPr>
              <p:cNvPr id="135" name="Oval 17">
                <a:extLst>
                  <a:ext uri="{FF2B5EF4-FFF2-40B4-BE49-F238E27FC236}">
                    <a16:creationId xmlns:a16="http://schemas.microsoft.com/office/drawing/2014/main" id="{A19C4F99-6450-AF25-DE61-86F9FE2B395A}"/>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136" name="Group 135">
                <a:extLst>
                  <a:ext uri="{FF2B5EF4-FFF2-40B4-BE49-F238E27FC236}">
                    <a16:creationId xmlns:a16="http://schemas.microsoft.com/office/drawing/2014/main" id="{5141A417-40D0-966B-0AAB-CE1AA2BD4F76}"/>
                  </a:ext>
                </a:extLst>
              </p:cNvPr>
              <p:cNvGrpSpPr/>
              <p:nvPr/>
            </p:nvGrpSpPr>
            <p:grpSpPr>
              <a:xfrm>
                <a:off x="1714608" y="1927192"/>
                <a:ext cx="1412311" cy="1409646"/>
                <a:chOff x="1261672" y="4833937"/>
                <a:chExt cx="954296" cy="954297"/>
              </a:xfrm>
            </p:grpSpPr>
            <p:sp>
              <p:nvSpPr>
                <p:cNvPr id="137" name="Rectangle: Rounded Corners 136">
                  <a:extLst>
                    <a:ext uri="{FF2B5EF4-FFF2-40B4-BE49-F238E27FC236}">
                      <a16:creationId xmlns:a16="http://schemas.microsoft.com/office/drawing/2014/main" id="{DE75F7E7-6434-D1F1-7616-5BD7F38FDEF8}"/>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38" name="Rectangle: Rounded Corners 137">
                  <a:extLst>
                    <a:ext uri="{FF2B5EF4-FFF2-40B4-BE49-F238E27FC236}">
                      <a16:creationId xmlns:a16="http://schemas.microsoft.com/office/drawing/2014/main" id="{700F7E45-7C11-DDE8-A677-2119358BCDFB}"/>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249" name="Graphic 247">
              <a:extLst>
                <a:ext uri="{FF2B5EF4-FFF2-40B4-BE49-F238E27FC236}">
                  <a16:creationId xmlns:a16="http://schemas.microsoft.com/office/drawing/2014/main" id="{6E4CB74B-B099-E7DA-51D6-DADFC227E05E}"/>
                </a:ext>
              </a:extLst>
            </p:cNvPr>
            <p:cNvGrpSpPr/>
            <p:nvPr/>
          </p:nvGrpSpPr>
          <p:grpSpPr>
            <a:xfrm>
              <a:off x="10386405" y="2588660"/>
              <a:ext cx="268984" cy="294660"/>
              <a:chOff x="8243407" y="5563569"/>
              <a:chExt cx="268984" cy="294660"/>
            </a:xfrm>
            <a:noFill/>
          </p:grpSpPr>
          <p:sp>
            <p:nvSpPr>
              <p:cNvPr id="250" name="Freeform: Shape 249">
                <a:extLst>
                  <a:ext uri="{FF2B5EF4-FFF2-40B4-BE49-F238E27FC236}">
                    <a16:creationId xmlns:a16="http://schemas.microsoft.com/office/drawing/2014/main" id="{55FDA35B-E534-AEC2-7AE7-B0D52616D1A9}"/>
                  </a:ext>
                </a:extLst>
              </p:cNvPr>
              <p:cNvSpPr/>
              <p:nvPr/>
            </p:nvSpPr>
            <p:spPr>
              <a:xfrm>
                <a:off x="8243407" y="5784870"/>
                <a:ext cx="268984" cy="611"/>
              </a:xfrm>
              <a:custGeom>
                <a:avLst/>
                <a:gdLst>
                  <a:gd name="connsiteX0" fmla="*/ 0 w 268984"/>
                  <a:gd name="connsiteY0" fmla="*/ 0 h 611"/>
                  <a:gd name="connsiteX1" fmla="*/ 268984 w 268984"/>
                  <a:gd name="connsiteY1" fmla="*/ 0 h 611"/>
                </a:gdLst>
                <a:ahLst/>
                <a:cxnLst>
                  <a:cxn ang="0">
                    <a:pos x="connsiteX0" y="connsiteY0"/>
                  </a:cxn>
                  <a:cxn ang="0">
                    <a:pos x="connsiteX1" y="connsiteY1"/>
                  </a:cxn>
                </a:cxnLst>
                <a:rect l="l" t="t" r="r" b="b"/>
                <a:pathLst>
                  <a:path w="268984" h="611">
                    <a:moveTo>
                      <a:pt x="0" y="0"/>
                    </a:moveTo>
                    <a:lnTo>
                      <a:pt x="268984" y="0"/>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1" name="Freeform: Shape 250">
                <a:extLst>
                  <a:ext uri="{FF2B5EF4-FFF2-40B4-BE49-F238E27FC236}">
                    <a16:creationId xmlns:a16="http://schemas.microsoft.com/office/drawing/2014/main" id="{51A5A846-0C81-263C-91AA-C4AE819C91DE}"/>
                  </a:ext>
                </a:extLst>
              </p:cNvPr>
              <p:cNvSpPr/>
              <p:nvPr/>
            </p:nvSpPr>
            <p:spPr>
              <a:xfrm>
                <a:off x="8267860" y="5680944"/>
                <a:ext cx="220078" cy="103925"/>
              </a:xfrm>
              <a:custGeom>
                <a:avLst/>
                <a:gdLst>
                  <a:gd name="connsiteX0" fmla="*/ 0 w 220078"/>
                  <a:gd name="connsiteY0" fmla="*/ 0 h 103925"/>
                  <a:gd name="connsiteX1" fmla="*/ 220078 w 220078"/>
                  <a:gd name="connsiteY1" fmla="*/ 0 h 103925"/>
                  <a:gd name="connsiteX2" fmla="*/ 220078 w 220078"/>
                  <a:gd name="connsiteY2" fmla="*/ 103926 h 103925"/>
                  <a:gd name="connsiteX3" fmla="*/ 0 w 220078"/>
                  <a:gd name="connsiteY3" fmla="*/ 103926 h 103925"/>
                </a:gdLst>
                <a:ahLst/>
                <a:cxnLst>
                  <a:cxn ang="0">
                    <a:pos x="connsiteX0" y="connsiteY0"/>
                  </a:cxn>
                  <a:cxn ang="0">
                    <a:pos x="connsiteX1" y="connsiteY1"/>
                  </a:cxn>
                  <a:cxn ang="0">
                    <a:pos x="connsiteX2" y="connsiteY2"/>
                  </a:cxn>
                  <a:cxn ang="0">
                    <a:pos x="connsiteX3" y="connsiteY3"/>
                  </a:cxn>
                </a:cxnLst>
                <a:rect l="l" t="t" r="r" b="b"/>
                <a:pathLst>
                  <a:path w="220078" h="103925">
                    <a:moveTo>
                      <a:pt x="0" y="0"/>
                    </a:moveTo>
                    <a:lnTo>
                      <a:pt x="220078" y="0"/>
                    </a:lnTo>
                    <a:lnTo>
                      <a:pt x="220078" y="103926"/>
                    </a:lnTo>
                    <a:lnTo>
                      <a:pt x="0" y="103926"/>
                    </a:ln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2" name="Freeform: Shape 251">
                <a:extLst>
                  <a:ext uri="{FF2B5EF4-FFF2-40B4-BE49-F238E27FC236}">
                    <a16:creationId xmlns:a16="http://schemas.microsoft.com/office/drawing/2014/main" id="{A9CC1DD6-5E9B-9E94-5AA7-C0E21420733B}"/>
                  </a:ext>
                </a:extLst>
              </p:cNvPr>
              <p:cNvSpPr/>
              <p:nvPr/>
            </p:nvSpPr>
            <p:spPr>
              <a:xfrm>
                <a:off x="8267860" y="5644265"/>
                <a:ext cx="220078" cy="36679"/>
              </a:xfrm>
              <a:custGeom>
                <a:avLst/>
                <a:gdLst>
                  <a:gd name="connsiteX0" fmla="*/ 0 w 220078"/>
                  <a:gd name="connsiteY0" fmla="*/ 0 h 36679"/>
                  <a:gd name="connsiteX1" fmla="*/ 220078 w 220078"/>
                  <a:gd name="connsiteY1" fmla="*/ 0 h 36679"/>
                  <a:gd name="connsiteX2" fmla="*/ 220078 w 220078"/>
                  <a:gd name="connsiteY2" fmla="*/ 36680 h 36679"/>
                  <a:gd name="connsiteX3" fmla="*/ 0 w 220078"/>
                  <a:gd name="connsiteY3" fmla="*/ 36680 h 36679"/>
                </a:gdLst>
                <a:ahLst/>
                <a:cxnLst>
                  <a:cxn ang="0">
                    <a:pos x="connsiteX0" y="connsiteY0"/>
                  </a:cxn>
                  <a:cxn ang="0">
                    <a:pos x="connsiteX1" y="connsiteY1"/>
                  </a:cxn>
                  <a:cxn ang="0">
                    <a:pos x="connsiteX2" y="connsiteY2"/>
                  </a:cxn>
                  <a:cxn ang="0">
                    <a:pos x="connsiteX3" y="connsiteY3"/>
                  </a:cxn>
                </a:cxnLst>
                <a:rect l="l" t="t" r="r" b="b"/>
                <a:pathLst>
                  <a:path w="220078" h="36679">
                    <a:moveTo>
                      <a:pt x="0" y="0"/>
                    </a:moveTo>
                    <a:lnTo>
                      <a:pt x="220078" y="0"/>
                    </a:lnTo>
                    <a:lnTo>
                      <a:pt x="220078" y="36680"/>
                    </a:lnTo>
                    <a:lnTo>
                      <a:pt x="0" y="36680"/>
                    </a:ln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3" name="Freeform: Shape 252">
                <a:extLst>
                  <a:ext uri="{FF2B5EF4-FFF2-40B4-BE49-F238E27FC236}">
                    <a16:creationId xmlns:a16="http://schemas.microsoft.com/office/drawing/2014/main" id="{9A6AD5FD-DB40-25BF-209B-6614080175A1}"/>
                  </a:ext>
                </a:extLst>
              </p:cNvPr>
              <p:cNvSpPr/>
              <p:nvPr/>
            </p:nvSpPr>
            <p:spPr>
              <a:xfrm>
                <a:off x="8451259" y="5680944"/>
                <a:ext cx="611" cy="103925"/>
              </a:xfrm>
              <a:custGeom>
                <a:avLst/>
                <a:gdLst>
                  <a:gd name="connsiteX0" fmla="*/ 0 w 611"/>
                  <a:gd name="connsiteY0" fmla="*/ 0 h 103925"/>
                  <a:gd name="connsiteX1" fmla="*/ 0 w 611"/>
                  <a:gd name="connsiteY1" fmla="*/ 103926 h 103925"/>
                </a:gdLst>
                <a:ahLst/>
                <a:cxnLst>
                  <a:cxn ang="0">
                    <a:pos x="connsiteX0" y="connsiteY0"/>
                  </a:cxn>
                  <a:cxn ang="0">
                    <a:pos x="connsiteX1" y="connsiteY1"/>
                  </a:cxn>
                </a:cxnLst>
                <a:rect l="l" t="t" r="r" b="b"/>
                <a:pathLst>
                  <a:path w="611" h="103925">
                    <a:moveTo>
                      <a:pt x="0" y="0"/>
                    </a:moveTo>
                    <a:lnTo>
                      <a:pt x="0" y="103926"/>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4" name="Freeform: Shape 253">
                <a:extLst>
                  <a:ext uri="{FF2B5EF4-FFF2-40B4-BE49-F238E27FC236}">
                    <a16:creationId xmlns:a16="http://schemas.microsoft.com/office/drawing/2014/main" id="{F9AFF345-AEC7-097F-11E1-0DB09F9B67F4}"/>
                  </a:ext>
                </a:extLst>
              </p:cNvPr>
              <p:cNvSpPr/>
              <p:nvPr/>
            </p:nvSpPr>
            <p:spPr>
              <a:xfrm>
                <a:off x="8414579" y="5680944"/>
                <a:ext cx="611" cy="103925"/>
              </a:xfrm>
              <a:custGeom>
                <a:avLst/>
                <a:gdLst>
                  <a:gd name="connsiteX0" fmla="*/ 0 w 611"/>
                  <a:gd name="connsiteY0" fmla="*/ 0 h 103925"/>
                  <a:gd name="connsiteX1" fmla="*/ 0 w 611"/>
                  <a:gd name="connsiteY1" fmla="*/ 103926 h 103925"/>
                </a:gdLst>
                <a:ahLst/>
                <a:cxnLst>
                  <a:cxn ang="0">
                    <a:pos x="connsiteX0" y="connsiteY0"/>
                  </a:cxn>
                  <a:cxn ang="0">
                    <a:pos x="connsiteX1" y="connsiteY1"/>
                  </a:cxn>
                </a:cxnLst>
                <a:rect l="l" t="t" r="r" b="b"/>
                <a:pathLst>
                  <a:path w="611" h="103925">
                    <a:moveTo>
                      <a:pt x="0" y="0"/>
                    </a:moveTo>
                    <a:lnTo>
                      <a:pt x="0" y="103926"/>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5" name="Freeform: Shape 254">
                <a:extLst>
                  <a:ext uri="{FF2B5EF4-FFF2-40B4-BE49-F238E27FC236}">
                    <a16:creationId xmlns:a16="http://schemas.microsoft.com/office/drawing/2014/main" id="{21EC5C2A-B927-5E3E-88AB-9322AADBBF36}"/>
                  </a:ext>
                </a:extLst>
              </p:cNvPr>
              <p:cNvSpPr/>
              <p:nvPr/>
            </p:nvSpPr>
            <p:spPr>
              <a:xfrm>
                <a:off x="8377900" y="5680944"/>
                <a:ext cx="611" cy="103925"/>
              </a:xfrm>
              <a:custGeom>
                <a:avLst/>
                <a:gdLst>
                  <a:gd name="connsiteX0" fmla="*/ 0 w 611"/>
                  <a:gd name="connsiteY0" fmla="*/ 0 h 103925"/>
                  <a:gd name="connsiteX1" fmla="*/ 0 w 611"/>
                  <a:gd name="connsiteY1" fmla="*/ 103926 h 103925"/>
                </a:gdLst>
                <a:ahLst/>
                <a:cxnLst>
                  <a:cxn ang="0">
                    <a:pos x="connsiteX0" y="connsiteY0"/>
                  </a:cxn>
                  <a:cxn ang="0">
                    <a:pos x="connsiteX1" y="connsiteY1"/>
                  </a:cxn>
                </a:cxnLst>
                <a:rect l="l" t="t" r="r" b="b"/>
                <a:pathLst>
                  <a:path w="611" h="103925">
                    <a:moveTo>
                      <a:pt x="0" y="0"/>
                    </a:moveTo>
                    <a:lnTo>
                      <a:pt x="0" y="103926"/>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6" name="Freeform: Shape 255">
                <a:extLst>
                  <a:ext uri="{FF2B5EF4-FFF2-40B4-BE49-F238E27FC236}">
                    <a16:creationId xmlns:a16="http://schemas.microsoft.com/office/drawing/2014/main" id="{25C04BE7-51E1-4587-8B50-1EC3A4049E8F}"/>
                  </a:ext>
                </a:extLst>
              </p:cNvPr>
              <p:cNvSpPr/>
              <p:nvPr/>
            </p:nvSpPr>
            <p:spPr>
              <a:xfrm>
                <a:off x="8341220" y="5680944"/>
                <a:ext cx="611" cy="103925"/>
              </a:xfrm>
              <a:custGeom>
                <a:avLst/>
                <a:gdLst>
                  <a:gd name="connsiteX0" fmla="*/ 0 w 611"/>
                  <a:gd name="connsiteY0" fmla="*/ 0 h 103925"/>
                  <a:gd name="connsiteX1" fmla="*/ 0 w 611"/>
                  <a:gd name="connsiteY1" fmla="*/ 103926 h 103925"/>
                </a:gdLst>
                <a:ahLst/>
                <a:cxnLst>
                  <a:cxn ang="0">
                    <a:pos x="connsiteX0" y="connsiteY0"/>
                  </a:cxn>
                  <a:cxn ang="0">
                    <a:pos x="connsiteX1" y="connsiteY1"/>
                  </a:cxn>
                </a:cxnLst>
                <a:rect l="l" t="t" r="r" b="b"/>
                <a:pathLst>
                  <a:path w="611" h="103925">
                    <a:moveTo>
                      <a:pt x="0" y="0"/>
                    </a:moveTo>
                    <a:lnTo>
                      <a:pt x="0" y="103926"/>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7" name="Freeform: Shape 256">
                <a:extLst>
                  <a:ext uri="{FF2B5EF4-FFF2-40B4-BE49-F238E27FC236}">
                    <a16:creationId xmlns:a16="http://schemas.microsoft.com/office/drawing/2014/main" id="{3FED6E1B-5CBC-C481-5266-C910660516BA}"/>
                  </a:ext>
                </a:extLst>
              </p:cNvPr>
              <p:cNvSpPr/>
              <p:nvPr/>
            </p:nvSpPr>
            <p:spPr>
              <a:xfrm>
                <a:off x="8304540" y="5680944"/>
                <a:ext cx="611" cy="103925"/>
              </a:xfrm>
              <a:custGeom>
                <a:avLst/>
                <a:gdLst>
                  <a:gd name="connsiteX0" fmla="*/ 0 w 611"/>
                  <a:gd name="connsiteY0" fmla="*/ 0 h 103925"/>
                  <a:gd name="connsiteX1" fmla="*/ 0 w 611"/>
                  <a:gd name="connsiteY1" fmla="*/ 103926 h 103925"/>
                </a:gdLst>
                <a:ahLst/>
                <a:cxnLst>
                  <a:cxn ang="0">
                    <a:pos x="connsiteX0" y="connsiteY0"/>
                  </a:cxn>
                  <a:cxn ang="0">
                    <a:pos x="connsiteX1" y="connsiteY1"/>
                  </a:cxn>
                </a:cxnLst>
                <a:rect l="l" t="t" r="r" b="b"/>
                <a:pathLst>
                  <a:path w="611" h="103925">
                    <a:moveTo>
                      <a:pt x="0" y="0"/>
                    </a:moveTo>
                    <a:lnTo>
                      <a:pt x="0" y="103926"/>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8" name="Freeform: Shape 257">
                <a:extLst>
                  <a:ext uri="{FF2B5EF4-FFF2-40B4-BE49-F238E27FC236}">
                    <a16:creationId xmlns:a16="http://schemas.microsoft.com/office/drawing/2014/main" id="{45C08DF0-BEE0-35C8-CAEA-1FF743D7ED1C}"/>
                  </a:ext>
                </a:extLst>
              </p:cNvPr>
              <p:cNvSpPr/>
              <p:nvPr/>
            </p:nvSpPr>
            <p:spPr>
              <a:xfrm>
                <a:off x="8255634" y="5680944"/>
                <a:ext cx="244531" cy="611"/>
              </a:xfrm>
              <a:custGeom>
                <a:avLst/>
                <a:gdLst>
                  <a:gd name="connsiteX0" fmla="*/ 0 w 244531"/>
                  <a:gd name="connsiteY0" fmla="*/ 0 h 611"/>
                  <a:gd name="connsiteX1" fmla="*/ 244531 w 244531"/>
                  <a:gd name="connsiteY1" fmla="*/ 0 h 611"/>
                </a:gdLst>
                <a:ahLst/>
                <a:cxnLst>
                  <a:cxn ang="0">
                    <a:pos x="connsiteX0" y="connsiteY0"/>
                  </a:cxn>
                  <a:cxn ang="0">
                    <a:pos x="connsiteX1" y="connsiteY1"/>
                  </a:cxn>
                </a:cxnLst>
                <a:rect l="l" t="t" r="r" b="b"/>
                <a:pathLst>
                  <a:path w="244531" h="611">
                    <a:moveTo>
                      <a:pt x="0" y="0"/>
                    </a:moveTo>
                    <a:lnTo>
                      <a:pt x="244531" y="0"/>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59" name="Freeform: Shape 258">
                <a:extLst>
                  <a:ext uri="{FF2B5EF4-FFF2-40B4-BE49-F238E27FC236}">
                    <a16:creationId xmlns:a16="http://schemas.microsoft.com/office/drawing/2014/main" id="{5F8F3C93-6546-63C5-D62F-578DD3E67A3B}"/>
                  </a:ext>
                </a:extLst>
              </p:cNvPr>
              <p:cNvSpPr/>
              <p:nvPr/>
            </p:nvSpPr>
            <p:spPr>
              <a:xfrm>
                <a:off x="8316767" y="5583132"/>
                <a:ext cx="122265" cy="61132"/>
              </a:xfrm>
              <a:custGeom>
                <a:avLst/>
                <a:gdLst>
                  <a:gd name="connsiteX0" fmla="*/ 0 w 122265"/>
                  <a:gd name="connsiteY0" fmla="*/ 61133 h 61132"/>
                  <a:gd name="connsiteX1" fmla="*/ 61133 w 122265"/>
                  <a:gd name="connsiteY1" fmla="*/ 0 h 61132"/>
                  <a:gd name="connsiteX2" fmla="*/ 122266 w 122265"/>
                  <a:gd name="connsiteY2" fmla="*/ 61133 h 61132"/>
                </a:gdLst>
                <a:ahLst/>
                <a:cxnLst>
                  <a:cxn ang="0">
                    <a:pos x="connsiteX0" y="connsiteY0"/>
                  </a:cxn>
                  <a:cxn ang="0">
                    <a:pos x="connsiteX1" y="connsiteY1"/>
                  </a:cxn>
                  <a:cxn ang="0">
                    <a:pos x="connsiteX2" y="connsiteY2"/>
                  </a:cxn>
                </a:cxnLst>
                <a:rect l="l" t="t" r="r" b="b"/>
                <a:pathLst>
                  <a:path w="122265" h="61132">
                    <a:moveTo>
                      <a:pt x="0" y="61133"/>
                    </a:moveTo>
                    <a:cubicBezTo>
                      <a:pt x="0" y="27370"/>
                      <a:pt x="27370" y="0"/>
                      <a:pt x="61133" y="0"/>
                    </a:cubicBezTo>
                    <a:cubicBezTo>
                      <a:pt x="94895" y="0"/>
                      <a:pt x="122266" y="27370"/>
                      <a:pt x="122266" y="61133"/>
                    </a:cubicBez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60" name="Freeform: Shape 259">
                <a:extLst>
                  <a:ext uri="{FF2B5EF4-FFF2-40B4-BE49-F238E27FC236}">
                    <a16:creationId xmlns:a16="http://schemas.microsoft.com/office/drawing/2014/main" id="{3388BF46-1E4D-71AD-5E84-D6F60132BAEE}"/>
                  </a:ext>
                </a:extLst>
              </p:cNvPr>
              <p:cNvSpPr/>
              <p:nvPr/>
            </p:nvSpPr>
            <p:spPr>
              <a:xfrm>
                <a:off x="8377900" y="5563569"/>
                <a:ext cx="611" cy="19562"/>
              </a:xfrm>
              <a:custGeom>
                <a:avLst/>
                <a:gdLst>
                  <a:gd name="connsiteX0" fmla="*/ 0 w 611"/>
                  <a:gd name="connsiteY0" fmla="*/ 0 h 19562"/>
                  <a:gd name="connsiteX1" fmla="*/ 0 w 611"/>
                  <a:gd name="connsiteY1" fmla="*/ 19563 h 19562"/>
                </a:gdLst>
                <a:ahLst/>
                <a:cxnLst>
                  <a:cxn ang="0">
                    <a:pos x="connsiteX0" y="connsiteY0"/>
                  </a:cxn>
                  <a:cxn ang="0">
                    <a:pos x="connsiteX1" y="connsiteY1"/>
                  </a:cxn>
                </a:cxnLst>
                <a:rect l="l" t="t" r="r" b="b"/>
                <a:pathLst>
                  <a:path w="611" h="19562">
                    <a:moveTo>
                      <a:pt x="0" y="0"/>
                    </a:moveTo>
                    <a:lnTo>
                      <a:pt x="0" y="19563"/>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61" name="Freeform: Shape 260">
                <a:extLst>
                  <a:ext uri="{FF2B5EF4-FFF2-40B4-BE49-F238E27FC236}">
                    <a16:creationId xmlns:a16="http://schemas.microsoft.com/office/drawing/2014/main" id="{12763B45-92A2-CFB4-6DD1-DA9315F4B554}"/>
                  </a:ext>
                </a:extLst>
              </p:cNvPr>
              <p:cNvSpPr/>
              <p:nvPr/>
            </p:nvSpPr>
            <p:spPr>
              <a:xfrm>
                <a:off x="8377900" y="5784870"/>
                <a:ext cx="611" cy="36679"/>
              </a:xfrm>
              <a:custGeom>
                <a:avLst/>
                <a:gdLst>
                  <a:gd name="connsiteX0" fmla="*/ 0 w 611"/>
                  <a:gd name="connsiteY0" fmla="*/ 0 h 36679"/>
                  <a:gd name="connsiteX1" fmla="*/ 0 w 611"/>
                  <a:gd name="connsiteY1" fmla="*/ 36680 h 36679"/>
                </a:gdLst>
                <a:ahLst/>
                <a:cxnLst>
                  <a:cxn ang="0">
                    <a:pos x="connsiteX0" y="connsiteY0"/>
                  </a:cxn>
                  <a:cxn ang="0">
                    <a:pos x="connsiteX1" y="connsiteY1"/>
                  </a:cxn>
                </a:cxnLst>
                <a:rect l="l" t="t" r="r" b="b"/>
                <a:pathLst>
                  <a:path w="611" h="36679">
                    <a:moveTo>
                      <a:pt x="0" y="0"/>
                    </a:moveTo>
                    <a:lnTo>
                      <a:pt x="0" y="36680"/>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62" name="Freeform: Shape 261">
                <a:extLst>
                  <a:ext uri="{FF2B5EF4-FFF2-40B4-BE49-F238E27FC236}">
                    <a16:creationId xmlns:a16="http://schemas.microsoft.com/office/drawing/2014/main" id="{64FD6D77-9021-752A-5B79-D967FD5758E4}"/>
                  </a:ext>
                </a:extLst>
              </p:cNvPr>
              <p:cNvSpPr/>
              <p:nvPr/>
            </p:nvSpPr>
            <p:spPr>
              <a:xfrm>
                <a:off x="8359560" y="5821550"/>
                <a:ext cx="36679" cy="36679"/>
              </a:xfrm>
              <a:custGeom>
                <a:avLst/>
                <a:gdLst>
                  <a:gd name="connsiteX0" fmla="*/ 36680 w 36679"/>
                  <a:gd name="connsiteY0" fmla="*/ 18340 h 36679"/>
                  <a:gd name="connsiteX1" fmla="*/ 18340 w 36679"/>
                  <a:gd name="connsiteY1" fmla="*/ 36680 h 36679"/>
                  <a:gd name="connsiteX2" fmla="*/ 0 w 36679"/>
                  <a:gd name="connsiteY2" fmla="*/ 18340 h 36679"/>
                  <a:gd name="connsiteX3" fmla="*/ 18340 w 36679"/>
                  <a:gd name="connsiteY3" fmla="*/ 0 h 36679"/>
                  <a:gd name="connsiteX4" fmla="*/ 36680 w 36679"/>
                  <a:gd name="connsiteY4" fmla="*/ 18340 h 3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9" h="36679">
                    <a:moveTo>
                      <a:pt x="36680" y="18340"/>
                    </a:moveTo>
                    <a:cubicBezTo>
                      <a:pt x="36680" y="28469"/>
                      <a:pt x="28469" y="36680"/>
                      <a:pt x="18340" y="36680"/>
                    </a:cubicBezTo>
                    <a:cubicBezTo>
                      <a:pt x="8211" y="36680"/>
                      <a:pt x="0" y="28469"/>
                      <a:pt x="0" y="18340"/>
                    </a:cubicBezTo>
                    <a:cubicBezTo>
                      <a:pt x="0" y="8211"/>
                      <a:pt x="8211" y="0"/>
                      <a:pt x="18340" y="0"/>
                    </a:cubicBezTo>
                    <a:cubicBezTo>
                      <a:pt x="28469" y="0"/>
                      <a:pt x="36680" y="8211"/>
                      <a:pt x="36680" y="18340"/>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63" name="Freeform: Shape 262">
                <a:extLst>
                  <a:ext uri="{FF2B5EF4-FFF2-40B4-BE49-F238E27FC236}">
                    <a16:creationId xmlns:a16="http://schemas.microsoft.com/office/drawing/2014/main" id="{D33C5370-1852-B73E-0501-599B7F39E53D}"/>
                  </a:ext>
                </a:extLst>
              </p:cNvPr>
              <p:cNvSpPr/>
              <p:nvPr/>
            </p:nvSpPr>
            <p:spPr>
              <a:xfrm>
                <a:off x="8291148" y="5784870"/>
                <a:ext cx="31732" cy="48579"/>
              </a:xfrm>
              <a:custGeom>
                <a:avLst/>
                <a:gdLst>
                  <a:gd name="connsiteX0" fmla="*/ 0 w 31732"/>
                  <a:gd name="connsiteY0" fmla="*/ 48579 h 48579"/>
                  <a:gd name="connsiteX1" fmla="*/ 31732 w 31732"/>
                  <a:gd name="connsiteY1" fmla="*/ 36680 h 48579"/>
                  <a:gd name="connsiteX2" fmla="*/ 31732 w 31732"/>
                  <a:gd name="connsiteY2" fmla="*/ 0 h 48579"/>
                </a:gdLst>
                <a:ahLst/>
                <a:cxnLst>
                  <a:cxn ang="0">
                    <a:pos x="connsiteX0" y="connsiteY0"/>
                  </a:cxn>
                  <a:cxn ang="0">
                    <a:pos x="connsiteX1" y="connsiteY1"/>
                  </a:cxn>
                  <a:cxn ang="0">
                    <a:pos x="connsiteX2" y="connsiteY2"/>
                  </a:cxn>
                </a:cxnLst>
                <a:rect l="l" t="t" r="r" b="b"/>
                <a:pathLst>
                  <a:path w="31732" h="48579">
                    <a:moveTo>
                      <a:pt x="0" y="48579"/>
                    </a:moveTo>
                    <a:lnTo>
                      <a:pt x="31732" y="36680"/>
                    </a:lnTo>
                    <a:lnTo>
                      <a:pt x="31732" y="0"/>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64" name="Freeform: Shape 263">
                <a:extLst>
                  <a:ext uri="{FF2B5EF4-FFF2-40B4-BE49-F238E27FC236}">
                    <a16:creationId xmlns:a16="http://schemas.microsoft.com/office/drawing/2014/main" id="{A4321A95-B3E5-7A0B-1EF1-0A4B5D8596F0}"/>
                  </a:ext>
                </a:extLst>
              </p:cNvPr>
              <p:cNvSpPr/>
              <p:nvPr/>
            </p:nvSpPr>
            <p:spPr>
              <a:xfrm>
                <a:off x="8432919" y="5784870"/>
                <a:ext cx="31732" cy="48579"/>
              </a:xfrm>
              <a:custGeom>
                <a:avLst/>
                <a:gdLst>
                  <a:gd name="connsiteX0" fmla="*/ 31732 w 31732"/>
                  <a:gd name="connsiteY0" fmla="*/ 48579 h 48579"/>
                  <a:gd name="connsiteX1" fmla="*/ 0 w 31732"/>
                  <a:gd name="connsiteY1" fmla="*/ 36680 h 48579"/>
                  <a:gd name="connsiteX2" fmla="*/ 0 w 31732"/>
                  <a:gd name="connsiteY2" fmla="*/ 0 h 48579"/>
                </a:gdLst>
                <a:ahLst/>
                <a:cxnLst>
                  <a:cxn ang="0">
                    <a:pos x="connsiteX0" y="connsiteY0"/>
                  </a:cxn>
                  <a:cxn ang="0">
                    <a:pos x="connsiteX1" y="connsiteY1"/>
                  </a:cxn>
                  <a:cxn ang="0">
                    <a:pos x="connsiteX2" y="connsiteY2"/>
                  </a:cxn>
                </a:cxnLst>
                <a:rect l="l" t="t" r="r" b="b"/>
                <a:pathLst>
                  <a:path w="31732" h="48579">
                    <a:moveTo>
                      <a:pt x="31732" y="48579"/>
                    </a:moveTo>
                    <a:lnTo>
                      <a:pt x="0" y="36680"/>
                    </a:lnTo>
                    <a:lnTo>
                      <a:pt x="0" y="0"/>
                    </a:lnTo>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65" name="Freeform: Shape 264">
                <a:extLst>
                  <a:ext uri="{FF2B5EF4-FFF2-40B4-BE49-F238E27FC236}">
                    <a16:creationId xmlns:a16="http://schemas.microsoft.com/office/drawing/2014/main" id="{AE29778F-D037-5B48-7624-01241D560832}"/>
                  </a:ext>
                </a:extLst>
              </p:cNvPr>
              <p:cNvSpPr/>
              <p:nvPr/>
            </p:nvSpPr>
            <p:spPr>
              <a:xfrm>
                <a:off x="8255634" y="5821550"/>
                <a:ext cx="36679" cy="36679"/>
              </a:xfrm>
              <a:custGeom>
                <a:avLst/>
                <a:gdLst>
                  <a:gd name="connsiteX0" fmla="*/ 36680 w 36679"/>
                  <a:gd name="connsiteY0" fmla="*/ 18340 h 36679"/>
                  <a:gd name="connsiteX1" fmla="*/ 18340 w 36679"/>
                  <a:gd name="connsiteY1" fmla="*/ 36680 h 36679"/>
                  <a:gd name="connsiteX2" fmla="*/ 0 w 36679"/>
                  <a:gd name="connsiteY2" fmla="*/ 18340 h 36679"/>
                  <a:gd name="connsiteX3" fmla="*/ 18340 w 36679"/>
                  <a:gd name="connsiteY3" fmla="*/ 0 h 36679"/>
                  <a:gd name="connsiteX4" fmla="*/ 36680 w 36679"/>
                  <a:gd name="connsiteY4" fmla="*/ 18340 h 3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9" h="36679">
                    <a:moveTo>
                      <a:pt x="36680" y="18340"/>
                    </a:moveTo>
                    <a:cubicBezTo>
                      <a:pt x="36680" y="28469"/>
                      <a:pt x="28469" y="36680"/>
                      <a:pt x="18340" y="36680"/>
                    </a:cubicBezTo>
                    <a:cubicBezTo>
                      <a:pt x="8211" y="36680"/>
                      <a:pt x="0" y="28469"/>
                      <a:pt x="0" y="18340"/>
                    </a:cubicBezTo>
                    <a:cubicBezTo>
                      <a:pt x="0" y="8211"/>
                      <a:pt x="8211" y="0"/>
                      <a:pt x="18340" y="0"/>
                    </a:cubicBezTo>
                    <a:cubicBezTo>
                      <a:pt x="28469" y="0"/>
                      <a:pt x="36680" y="8211"/>
                      <a:pt x="36680" y="18340"/>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sp>
            <p:nvSpPr>
              <p:cNvPr id="266" name="Freeform: Shape 265">
                <a:extLst>
                  <a:ext uri="{FF2B5EF4-FFF2-40B4-BE49-F238E27FC236}">
                    <a16:creationId xmlns:a16="http://schemas.microsoft.com/office/drawing/2014/main" id="{12A6BC36-B0E1-B928-3280-043071949BEC}"/>
                  </a:ext>
                </a:extLst>
              </p:cNvPr>
              <p:cNvSpPr/>
              <p:nvPr/>
            </p:nvSpPr>
            <p:spPr>
              <a:xfrm>
                <a:off x="8463485" y="5821550"/>
                <a:ext cx="36679" cy="36679"/>
              </a:xfrm>
              <a:custGeom>
                <a:avLst/>
                <a:gdLst>
                  <a:gd name="connsiteX0" fmla="*/ 36680 w 36679"/>
                  <a:gd name="connsiteY0" fmla="*/ 18340 h 36679"/>
                  <a:gd name="connsiteX1" fmla="*/ 18340 w 36679"/>
                  <a:gd name="connsiteY1" fmla="*/ 36680 h 36679"/>
                  <a:gd name="connsiteX2" fmla="*/ 0 w 36679"/>
                  <a:gd name="connsiteY2" fmla="*/ 18340 h 36679"/>
                  <a:gd name="connsiteX3" fmla="*/ 18340 w 36679"/>
                  <a:gd name="connsiteY3" fmla="*/ 0 h 36679"/>
                  <a:gd name="connsiteX4" fmla="*/ 36680 w 36679"/>
                  <a:gd name="connsiteY4" fmla="*/ 18340 h 3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79" h="36679">
                    <a:moveTo>
                      <a:pt x="36680" y="18340"/>
                    </a:moveTo>
                    <a:cubicBezTo>
                      <a:pt x="36680" y="28469"/>
                      <a:pt x="28469" y="36680"/>
                      <a:pt x="18340" y="36680"/>
                    </a:cubicBezTo>
                    <a:cubicBezTo>
                      <a:pt x="8211" y="36680"/>
                      <a:pt x="0" y="28469"/>
                      <a:pt x="0" y="18340"/>
                    </a:cubicBezTo>
                    <a:cubicBezTo>
                      <a:pt x="0" y="8211"/>
                      <a:pt x="8211" y="0"/>
                      <a:pt x="18340" y="0"/>
                    </a:cubicBezTo>
                    <a:cubicBezTo>
                      <a:pt x="28469" y="0"/>
                      <a:pt x="36680" y="8211"/>
                      <a:pt x="36680" y="18340"/>
                    </a:cubicBezTo>
                    <a:close/>
                  </a:path>
                </a:pathLst>
              </a:custGeom>
              <a:noFill/>
              <a:ln w="15875" cap="rnd">
                <a:gradFill flip="none" rotWithShape="1">
                  <a:gsLst>
                    <a:gs pos="0">
                      <a:srgbClr val="AFDFB6"/>
                    </a:gs>
                    <a:gs pos="100000">
                      <a:srgbClr val="C3E9FC"/>
                    </a:gs>
                  </a:gsLst>
                  <a:lin ang="135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GB"/>
              </a:p>
            </p:txBody>
          </p:sp>
        </p:grpSp>
      </p:grpSp>
      <p:sp>
        <p:nvSpPr>
          <p:cNvPr id="8" name="Content Placeholder 3">
            <a:extLst>
              <a:ext uri="{FF2B5EF4-FFF2-40B4-BE49-F238E27FC236}">
                <a16:creationId xmlns:a16="http://schemas.microsoft.com/office/drawing/2014/main" id="{60168887-1C78-FB6F-7D64-974052BEACD4}"/>
              </a:ext>
            </a:extLst>
          </p:cNvPr>
          <p:cNvSpPr txBox="1">
            <a:spLocks/>
          </p:cNvSpPr>
          <p:nvPr/>
        </p:nvSpPr>
        <p:spPr>
          <a:xfrm>
            <a:off x="4367711" y="5832897"/>
            <a:ext cx="3502205" cy="1200319"/>
          </a:xfrm>
          <a:prstGeom prst="rect">
            <a:avLst/>
          </a:prstGeom>
        </p:spPr>
        <p:txBody>
          <a:bodyPr/>
          <a:lstStyle>
            <a:defPPr>
              <a:defRPr lang="en-US"/>
            </a:defPPr>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822802" rtl="0" eaLnBrk="1" fontAlgn="auto" latinLnBrk="0" hangingPunct="1">
              <a:lnSpc>
                <a:spcPct val="100000"/>
              </a:lnSpc>
              <a:spcBef>
                <a:spcPts val="0"/>
              </a:spcBef>
              <a:spcAft>
                <a:spcPts val="540"/>
              </a:spcAft>
              <a:buClrTx/>
              <a:buSzTx/>
              <a:buFont typeface="Wingdings" panose="05000000000000000000" pitchFamily="2" charset="2"/>
              <a:buNone/>
              <a:tabLst/>
              <a:defRPr/>
            </a:pPr>
            <a:r>
              <a:rPr kumimoji="0" lang="en-US" sz="1200" b="0" i="0" u="none" strike="noStrike" kern="1200" cap="none" spc="0" normalizeH="0" baseline="0" noProof="0">
                <a:ln>
                  <a:noFill/>
                </a:ln>
                <a:solidFill>
                  <a:schemeClr val="bg1"/>
                </a:solidFill>
                <a:effectLst/>
                <a:uLnTx/>
                <a:uFillTx/>
                <a:ea typeface="+mn-ea"/>
                <a:cs typeface="Segoe UI Semibold" panose="020B0702040204020203" pitchFamily="34" charset="0"/>
              </a:rPr>
              <a:t>Solution Architect  |  IT  |  Security  |  Compliance</a:t>
            </a:r>
          </a:p>
        </p:txBody>
      </p:sp>
    </p:spTree>
    <p:extLst>
      <p:ext uri="{BB962C8B-B14F-4D97-AF65-F5344CB8AC3E}">
        <p14:creationId xmlns:p14="http://schemas.microsoft.com/office/powerpoint/2010/main" val="186115438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5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35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500"/>
                                        <p:tgtEl>
                                          <p:spTgt spid="60"/>
                                        </p:tgtEl>
                                      </p:cBhvr>
                                    </p:animEffect>
                                  </p:childTnLst>
                                </p:cTn>
                              </p:par>
                              <p:par>
                                <p:cTn id="11" presetID="10" presetClass="entr" presetSubtype="0" fill="hold" nodeType="withEffect">
                                  <p:stCondLst>
                                    <p:cond delay="350"/>
                                  </p:stCondLst>
                                  <p:childTnLst>
                                    <p:set>
                                      <p:cBhvr>
                                        <p:cTn id="12" dur="1" fill="hold">
                                          <p:stCondLst>
                                            <p:cond delay="0"/>
                                          </p:stCondLst>
                                        </p:cTn>
                                        <p:tgtEl>
                                          <p:spTgt spid="182"/>
                                        </p:tgtEl>
                                        <p:attrNameLst>
                                          <p:attrName>style.visibility</p:attrName>
                                        </p:attrNameLst>
                                      </p:cBhvr>
                                      <p:to>
                                        <p:strVal val="visible"/>
                                      </p:to>
                                    </p:set>
                                    <p:animEffect transition="in" filter="fade">
                                      <p:cBhvr>
                                        <p:cTn id="13" dur="500"/>
                                        <p:tgtEl>
                                          <p:spTgt spid="182"/>
                                        </p:tgtEl>
                                      </p:cBhvr>
                                    </p:animEffect>
                                  </p:childTnLst>
                                </p:cTn>
                              </p:par>
                              <p:par>
                                <p:cTn id="14" presetID="10" presetClass="entr" presetSubtype="0" fill="hold" nodeType="withEffect">
                                  <p:stCondLst>
                                    <p:cond delay="35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nodeType="withEffect">
                                  <p:stCondLst>
                                    <p:cond delay="35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par>
                                <p:cTn id="20" presetID="10" presetClass="entr" presetSubtype="0" fill="hold" nodeType="withEffect">
                                  <p:stCondLst>
                                    <p:cond delay="35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500"/>
                                        <p:tgtEl>
                                          <p:spTgt spid="51"/>
                                        </p:tgtEl>
                                      </p:cBhvr>
                                    </p:animEffect>
                                  </p:childTnLst>
                                </p:cTn>
                              </p:par>
                              <p:par>
                                <p:cTn id="23" presetID="10" presetClass="entr" presetSubtype="0" fill="hold" nodeType="withEffect">
                                  <p:stCondLst>
                                    <p:cond delay="350"/>
                                  </p:stCondLst>
                                  <p:childTnLst>
                                    <p:set>
                                      <p:cBhvr>
                                        <p:cTn id="24" dur="1" fill="hold">
                                          <p:stCondLst>
                                            <p:cond delay="0"/>
                                          </p:stCondLst>
                                        </p:cTn>
                                        <p:tgtEl>
                                          <p:spTgt spid="52"/>
                                        </p:tgtEl>
                                        <p:attrNameLst>
                                          <p:attrName>style.visibility</p:attrName>
                                        </p:attrNameLst>
                                      </p:cBhvr>
                                      <p:to>
                                        <p:strVal val="visible"/>
                                      </p:to>
                                    </p:set>
                                    <p:animEffect transition="in" filter="fade">
                                      <p:cBhvr>
                                        <p:cTn id="25" dur="500"/>
                                        <p:tgtEl>
                                          <p:spTgt spid="52"/>
                                        </p:tgtEl>
                                      </p:cBhvr>
                                    </p:animEffect>
                                  </p:childTnLst>
                                </p:cTn>
                              </p:par>
                              <p:par>
                                <p:cTn id="26" presetID="10" presetClass="entr" presetSubtype="0" fill="hold" nodeType="withEffect">
                                  <p:stCondLst>
                                    <p:cond delay="350"/>
                                  </p:stCondLst>
                                  <p:childTnLst>
                                    <p:set>
                                      <p:cBhvr>
                                        <p:cTn id="27" dur="1" fill="hold">
                                          <p:stCondLst>
                                            <p:cond delay="0"/>
                                          </p:stCondLst>
                                        </p:cTn>
                                        <p:tgtEl>
                                          <p:spTgt spid="53"/>
                                        </p:tgtEl>
                                        <p:attrNameLst>
                                          <p:attrName>style.visibility</p:attrName>
                                        </p:attrNameLst>
                                      </p:cBhvr>
                                      <p:to>
                                        <p:strVal val="visible"/>
                                      </p:to>
                                    </p:set>
                                    <p:animEffect transition="in" filter="fade">
                                      <p:cBhvr>
                                        <p:cTn id="28" dur="500"/>
                                        <p:tgtEl>
                                          <p:spTgt spid="53"/>
                                        </p:tgtEl>
                                      </p:cBhvr>
                                    </p:animEffect>
                                  </p:childTnLst>
                                </p:cTn>
                              </p:par>
                              <p:par>
                                <p:cTn id="29" presetID="10" presetClass="entr" presetSubtype="0" fill="hold" nodeType="withEffect">
                                  <p:stCondLst>
                                    <p:cond delay="35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500"/>
                                        <p:tgtEl>
                                          <p:spTgt spid="58"/>
                                        </p:tgtEl>
                                      </p:cBhvr>
                                    </p:animEffect>
                                  </p:childTnLst>
                                </p:cTn>
                              </p:par>
                              <p:par>
                                <p:cTn id="32" presetID="23" presetClass="entr" presetSubtype="16" fill="hold" nodeType="withEffect">
                                  <p:stCondLst>
                                    <p:cond delay="0"/>
                                  </p:stCondLst>
                                  <p:childTnLst>
                                    <p:set>
                                      <p:cBhvr>
                                        <p:cTn id="33" dur="1" fill="hold">
                                          <p:stCondLst>
                                            <p:cond delay="0"/>
                                          </p:stCondLst>
                                        </p:cTn>
                                        <p:tgtEl>
                                          <p:spTgt spid="267"/>
                                        </p:tgtEl>
                                        <p:attrNameLst>
                                          <p:attrName>style.visibility</p:attrName>
                                        </p:attrNameLst>
                                      </p:cBhvr>
                                      <p:to>
                                        <p:strVal val="visible"/>
                                      </p:to>
                                    </p:set>
                                    <p:anim calcmode="lin" valueType="num">
                                      <p:cBhvr>
                                        <p:cTn id="34" dur="250" fill="hold"/>
                                        <p:tgtEl>
                                          <p:spTgt spid="267"/>
                                        </p:tgtEl>
                                        <p:attrNameLst>
                                          <p:attrName>ppt_w</p:attrName>
                                        </p:attrNameLst>
                                      </p:cBhvr>
                                      <p:tavLst>
                                        <p:tav tm="0">
                                          <p:val>
                                            <p:fltVal val="0"/>
                                          </p:val>
                                        </p:tav>
                                        <p:tav tm="100000">
                                          <p:val>
                                            <p:strVal val="#ppt_w"/>
                                          </p:val>
                                        </p:tav>
                                      </p:tavLst>
                                    </p:anim>
                                    <p:anim calcmode="lin" valueType="num">
                                      <p:cBhvr>
                                        <p:cTn id="35" dur="250" fill="hold"/>
                                        <p:tgtEl>
                                          <p:spTgt spid="267"/>
                                        </p:tgtEl>
                                        <p:attrNameLst>
                                          <p:attrName>ppt_h</p:attrName>
                                        </p:attrNameLst>
                                      </p:cBhvr>
                                      <p:tavLst>
                                        <p:tav tm="0">
                                          <p:val>
                                            <p:fltVal val="0"/>
                                          </p:val>
                                        </p:tav>
                                        <p:tav tm="100000">
                                          <p:val>
                                            <p:strVal val="#ppt_h"/>
                                          </p:val>
                                        </p:tav>
                                      </p:tavLst>
                                    </p:anim>
                                  </p:childTnLst>
                                </p:cTn>
                              </p:par>
                              <p:par>
                                <p:cTn id="36" presetID="10" presetClass="entr" presetSubtype="0" fill="hold" nodeType="withEffect">
                                  <p:stCondLst>
                                    <p:cond delay="0"/>
                                  </p:stCondLst>
                                  <p:childTnLst>
                                    <p:set>
                                      <p:cBhvr>
                                        <p:cTn id="37" dur="1" fill="hold">
                                          <p:stCondLst>
                                            <p:cond delay="0"/>
                                          </p:stCondLst>
                                        </p:cTn>
                                        <p:tgtEl>
                                          <p:spTgt spid="267"/>
                                        </p:tgtEl>
                                        <p:attrNameLst>
                                          <p:attrName>style.visibility</p:attrName>
                                        </p:attrNameLst>
                                      </p:cBhvr>
                                      <p:to>
                                        <p:strVal val="visible"/>
                                      </p:to>
                                    </p:set>
                                    <p:animEffect transition="in" filter="fade">
                                      <p:cBhvr>
                                        <p:cTn id="38" dur="500"/>
                                        <p:tgtEl>
                                          <p:spTgt spid="267"/>
                                        </p:tgtEl>
                                      </p:cBhvr>
                                    </p:animEffect>
                                  </p:childTnLst>
                                </p:cTn>
                              </p:par>
                              <p:par>
                                <p:cTn id="39" presetID="6" presetClass="emph" presetSubtype="0" fill="hold" nodeType="withEffect">
                                  <p:stCondLst>
                                    <p:cond delay="0"/>
                                  </p:stCondLst>
                                  <p:childTnLst>
                                    <p:animScale>
                                      <p:cBhvr>
                                        <p:cTn id="40" dur="10" fill="hold"/>
                                        <p:tgtEl>
                                          <p:spTgt spid="267"/>
                                        </p:tgtEl>
                                      </p:cBhvr>
                                      <p:by x="80000" y="80000"/>
                                    </p:animScale>
                                  </p:childTnLst>
                                </p:cTn>
                              </p:par>
                              <p:par>
                                <p:cTn id="41" presetID="6" presetClass="emph" presetSubtype="0" decel="100000" fill="hold" nodeType="withEffect">
                                  <p:stCondLst>
                                    <p:cond delay="0"/>
                                  </p:stCondLst>
                                  <p:childTnLst>
                                    <p:animScale>
                                      <p:cBhvr>
                                        <p:cTn id="42" dur="1000" fill="hold"/>
                                        <p:tgtEl>
                                          <p:spTgt spid="267"/>
                                        </p:tgtEl>
                                      </p:cBhvr>
                                      <p:by x="125000" y="125000"/>
                                    </p:animScale>
                                  </p:childTnLst>
                                </p:cTn>
                              </p:par>
                              <p:par>
                                <p:cTn id="43" presetID="23" presetClass="entr" presetSubtype="16" fill="hold" nodeType="withEffect">
                                  <p:stCondLst>
                                    <p:cond delay="0"/>
                                  </p:stCondLst>
                                  <p:childTnLst>
                                    <p:set>
                                      <p:cBhvr>
                                        <p:cTn id="44" dur="1" fill="hold">
                                          <p:stCondLst>
                                            <p:cond delay="0"/>
                                          </p:stCondLst>
                                        </p:cTn>
                                        <p:tgtEl>
                                          <p:spTgt spid="268"/>
                                        </p:tgtEl>
                                        <p:attrNameLst>
                                          <p:attrName>style.visibility</p:attrName>
                                        </p:attrNameLst>
                                      </p:cBhvr>
                                      <p:to>
                                        <p:strVal val="visible"/>
                                      </p:to>
                                    </p:set>
                                    <p:anim calcmode="lin" valueType="num">
                                      <p:cBhvr>
                                        <p:cTn id="45" dur="250" fill="hold"/>
                                        <p:tgtEl>
                                          <p:spTgt spid="268"/>
                                        </p:tgtEl>
                                        <p:attrNameLst>
                                          <p:attrName>ppt_w</p:attrName>
                                        </p:attrNameLst>
                                      </p:cBhvr>
                                      <p:tavLst>
                                        <p:tav tm="0">
                                          <p:val>
                                            <p:fltVal val="0"/>
                                          </p:val>
                                        </p:tav>
                                        <p:tav tm="100000">
                                          <p:val>
                                            <p:strVal val="#ppt_w"/>
                                          </p:val>
                                        </p:tav>
                                      </p:tavLst>
                                    </p:anim>
                                    <p:anim calcmode="lin" valueType="num">
                                      <p:cBhvr>
                                        <p:cTn id="46" dur="250" fill="hold"/>
                                        <p:tgtEl>
                                          <p:spTgt spid="268"/>
                                        </p:tgtEl>
                                        <p:attrNameLst>
                                          <p:attrName>ppt_h</p:attrName>
                                        </p:attrNameLst>
                                      </p:cBhvr>
                                      <p:tavLst>
                                        <p:tav tm="0">
                                          <p:val>
                                            <p:fltVal val="0"/>
                                          </p:val>
                                        </p:tav>
                                        <p:tav tm="100000">
                                          <p:val>
                                            <p:strVal val="#ppt_h"/>
                                          </p:val>
                                        </p:tav>
                                      </p:tavLst>
                                    </p:anim>
                                  </p:childTnLst>
                                </p:cTn>
                              </p:par>
                              <p:par>
                                <p:cTn id="47" presetID="10" presetClass="entr" presetSubtype="0" fill="hold" nodeType="withEffect">
                                  <p:stCondLst>
                                    <p:cond delay="0"/>
                                  </p:stCondLst>
                                  <p:childTnLst>
                                    <p:set>
                                      <p:cBhvr>
                                        <p:cTn id="48" dur="1" fill="hold">
                                          <p:stCondLst>
                                            <p:cond delay="0"/>
                                          </p:stCondLst>
                                        </p:cTn>
                                        <p:tgtEl>
                                          <p:spTgt spid="268"/>
                                        </p:tgtEl>
                                        <p:attrNameLst>
                                          <p:attrName>style.visibility</p:attrName>
                                        </p:attrNameLst>
                                      </p:cBhvr>
                                      <p:to>
                                        <p:strVal val="visible"/>
                                      </p:to>
                                    </p:set>
                                    <p:animEffect transition="in" filter="fade">
                                      <p:cBhvr>
                                        <p:cTn id="49" dur="500"/>
                                        <p:tgtEl>
                                          <p:spTgt spid="268"/>
                                        </p:tgtEl>
                                      </p:cBhvr>
                                    </p:animEffect>
                                  </p:childTnLst>
                                </p:cTn>
                              </p:par>
                              <p:par>
                                <p:cTn id="50" presetID="6" presetClass="emph" presetSubtype="0" fill="hold" nodeType="withEffect">
                                  <p:stCondLst>
                                    <p:cond delay="0"/>
                                  </p:stCondLst>
                                  <p:childTnLst>
                                    <p:animScale>
                                      <p:cBhvr>
                                        <p:cTn id="51" dur="10" fill="hold"/>
                                        <p:tgtEl>
                                          <p:spTgt spid="268"/>
                                        </p:tgtEl>
                                      </p:cBhvr>
                                      <p:by x="80000" y="80000"/>
                                    </p:animScale>
                                  </p:childTnLst>
                                </p:cTn>
                              </p:par>
                              <p:par>
                                <p:cTn id="52" presetID="6" presetClass="emph" presetSubtype="0" decel="100000" fill="hold" nodeType="withEffect">
                                  <p:stCondLst>
                                    <p:cond delay="0"/>
                                  </p:stCondLst>
                                  <p:childTnLst>
                                    <p:animScale>
                                      <p:cBhvr>
                                        <p:cTn id="53" dur="1000" fill="hold"/>
                                        <p:tgtEl>
                                          <p:spTgt spid="268"/>
                                        </p:tgtEl>
                                      </p:cBhvr>
                                      <p:by x="125000" y="125000"/>
                                    </p:animScale>
                                  </p:childTnLst>
                                </p:cTn>
                              </p:par>
                              <p:par>
                                <p:cTn id="54" presetID="23" presetClass="entr" presetSubtype="16" fill="hold" nodeType="withEffect">
                                  <p:stCondLst>
                                    <p:cond delay="0"/>
                                  </p:stCondLst>
                                  <p:childTnLst>
                                    <p:set>
                                      <p:cBhvr>
                                        <p:cTn id="55" dur="1" fill="hold">
                                          <p:stCondLst>
                                            <p:cond delay="0"/>
                                          </p:stCondLst>
                                        </p:cTn>
                                        <p:tgtEl>
                                          <p:spTgt spid="269"/>
                                        </p:tgtEl>
                                        <p:attrNameLst>
                                          <p:attrName>style.visibility</p:attrName>
                                        </p:attrNameLst>
                                      </p:cBhvr>
                                      <p:to>
                                        <p:strVal val="visible"/>
                                      </p:to>
                                    </p:set>
                                    <p:anim calcmode="lin" valueType="num">
                                      <p:cBhvr>
                                        <p:cTn id="56" dur="250" fill="hold"/>
                                        <p:tgtEl>
                                          <p:spTgt spid="269"/>
                                        </p:tgtEl>
                                        <p:attrNameLst>
                                          <p:attrName>ppt_w</p:attrName>
                                        </p:attrNameLst>
                                      </p:cBhvr>
                                      <p:tavLst>
                                        <p:tav tm="0">
                                          <p:val>
                                            <p:fltVal val="0"/>
                                          </p:val>
                                        </p:tav>
                                        <p:tav tm="100000">
                                          <p:val>
                                            <p:strVal val="#ppt_w"/>
                                          </p:val>
                                        </p:tav>
                                      </p:tavLst>
                                    </p:anim>
                                    <p:anim calcmode="lin" valueType="num">
                                      <p:cBhvr>
                                        <p:cTn id="57" dur="250" fill="hold"/>
                                        <p:tgtEl>
                                          <p:spTgt spid="269"/>
                                        </p:tgtEl>
                                        <p:attrNameLst>
                                          <p:attrName>ppt_h</p:attrName>
                                        </p:attrNameLst>
                                      </p:cBhvr>
                                      <p:tavLst>
                                        <p:tav tm="0">
                                          <p:val>
                                            <p:fltVal val="0"/>
                                          </p:val>
                                        </p:tav>
                                        <p:tav tm="100000">
                                          <p:val>
                                            <p:strVal val="#ppt_h"/>
                                          </p:val>
                                        </p:tav>
                                      </p:tavLst>
                                    </p:anim>
                                  </p:childTnLst>
                                </p:cTn>
                              </p:par>
                              <p:par>
                                <p:cTn id="58" presetID="10" presetClass="entr" presetSubtype="0" fill="hold" nodeType="withEffect">
                                  <p:stCondLst>
                                    <p:cond delay="0"/>
                                  </p:stCondLst>
                                  <p:childTnLst>
                                    <p:set>
                                      <p:cBhvr>
                                        <p:cTn id="59" dur="1" fill="hold">
                                          <p:stCondLst>
                                            <p:cond delay="0"/>
                                          </p:stCondLst>
                                        </p:cTn>
                                        <p:tgtEl>
                                          <p:spTgt spid="269"/>
                                        </p:tgtEl>
                                        <p:attrNameLst>
                                          <p:attrName>style.visibility</p:attrName>
                                        </p:attrNameLst>
                                      </p:cBhvr>
                                      <p:to>
                                        <p:strVal val="visible"/>
                                      </p:to>
                                    </p:set>
                                    <p:animEffect transition="in" filter="fade">
                                      <p:cBhvr>
                                        <p:cTn id="60" dur="500"/>
                                        <p:tgtEl>
                                          <p:spTgt spid="269"/>
                                        </p:tgtEl>
                                      </p:cBhvr>
                                    </p:animEffect>
                                  </p:childTnLst>
                                </p:cTn>
                              </p:par>
                              <p:par>
                                <p:cTn id="61" presetID="6" presetClass="emph" presetSubtype="0" fill="hold" nodeType="withEffect">
                                  <p:stCondLst>
                                    <p:cond delay="0"/>
                                  </p:stCondLst>
                                  <p:childTnLst>
                                    <p:animScale>
                                      <p:cBhvr>
                                        <p:cTn id="62" dur="10" fill="hold"/>
                                        <p:tgtEl>
                                          <p:spTgt spid="269"/>
                                        </p:tgtEl>
                                      </p:cBhvr>
                                      <p:by x="80000" y="80000"/>
                                    </p:animScale>
                                  </p:childTnLst>
                                </p:cTn>
                              </p:par>
                              <p:par>
                                <p:cTn id="63" presetID="6" presetClass="emph" presetSubtype="0" decel="100000" fill="hold" nodeType="withEffect">
                                  <p:stCondLst>
                                    <p:cond delay="0"/>
                                  </p:stCondLst>
                                  <p:childTnLst>
                                    <p:animScale>
                                      <p:cBhvr>
                                        <p:cTn id="64" dur="1000" fill="hold"/>
                                        <p:tgtEl>
                                          <p:spTgt spid="269"/>
                                        </p:tgtEl>
                                      </p:cBhvr>
                                      <p:by x="125000" y="125000"/>
                                    </p:animScale>
                                  </p:childTnLst>
                                </p:cTn>
                              </p:par>
                              <p:par>
                                <p:cTn id="65" presetID="23" presetClass="entr" presetSubtype="16" fill="hold" nodeType="withEffect">
                                  <p:stCondLst>
                                    <p:cond delay="0"/>
                                  </p:stCondLst>
                                  <p:childTnLst>
                                    <p:set>
                                      <p:cBhvr>
                                        <p:cTn id="66" dur="1" fill="hold">
                                          <p:stCondLst>
                                            <p:cond delay="0"/>
                                          </p:stCondLst>
                                        </p:cTn>
                                        <p:tgtEl>
                                          <p:spTgt spid="270"/>
                                        </p:tgtEl>
                                        <p:attrNameLst>
                                          <p:attrName>style.visibility</p:attrName>
                                        </p:attrNameLst>
                                      </p:cBhvr>
                                      <p:to>
                                        <p:strVal val="visible"/>
                                      </p:to>
                                    </p:set>
                                    <p:anim calcmode="lin" valueType="num">
                                      <p:cBhvr>
                                        <p:cTn id="67" dur="250" fill="hold"/>
                                        <p:tgtEl>
                                          <p:spTgt spid="270"/>
                                        </p:tgtEl>
                                        <p:attrNameLst>
                                          <p:attrName>ppt_w</p:attrName>
                                        </p:attrNameLst>
                                      </p:cBhvr>
                                      <p:tavLst>
                                        <p:tav tm="0">
                                          <p:val>
                                            <p:fltVal val="0"/>
                                          </p:val>
                                        </p:tav>
                                        <p:tav tm="100000">
                                          <p:val>
                                            <p:strVal val="#ppt_w"/>
                                          </p:val>
                                        </p:tav>
                                      </p:tavLst>
                                    </p:anim>
                                    <p:anim calcmode="lin" valueType="num">
                                      <p:cBhvr>
                                        <p:cTn id="68" dur="250" fill="hold"/>
                                        <p:tgtEl>
                                          <p:spTgt spid="270"/>
                                        </p:tgtEl>
                                        <p:attrNameLst>
                                          <p:attrName>ppt_h</p:attrName>
                                        </p:attrNameLst>
                                      </p:cBhvr>
                                      <p:tavLst>
                                        <p:tav tm="0">
                                          <p:val>
                                            <p:fltVal val="0"/>
                                          </p:val>
                                        </p:tav>
                                        <p:tav tm="100000">
                                          <p:val>
                                            <p:strVal val="#ppt_h"/>
                                          </p:val>
                                        </p:tav>
                                      </p:tavLst>
                                    </p:anim>
                                  </p:childTnLst>
                                </p:cTn>
                              </p:par>
                              <p:par>
                                <p:cTn id="69" presetID="10" presetClass="entr" presetSubtype="0" fill="hold" nodeType="withEffect">
                                  <p:stCondLst>
                                    <p:cond delay="0"/>
                                  </p:stCondLst>
                                  <p:childTnLst>
                                    <p:set>
                                      <p:cBhvr>
                                        <p:cTn id="70" dur="1" fill="hold">
                                          <p:stCondLst>
                                            <p:cond delay="0"/>
                                          </p:stCondLst>
                                        </p:cTn>
                                        <p:tgtEl>
                                          <p:spTgt spid="270"/>
                                        </p:tgtEl>
                                        <p:attrNameLst>
                                          <p:attrName>style.visibility</p:attrName>
                                        </p:attrNameLst>
                                      </p:cBhvr>
                                      <p:to>
                                        <p:strVal val="visible"/>
                                      </p:to>
                                    </p:set>
                                    <p:animEffect transition="in" filter="fade">
                                      <p:cBhvr>
                                        <p:cTn id="71" dur="500"/>
                                        <p:tgtEl>
                                          <p:spTgt spid="270"/>
                                        </p:tgtEl>
                                      </p:cBhvr>
                                    </p:animEffect>
                                  </p:childTnLst>
                                </p:cTn>
                              </p:par>
                              <p:par>
                                <p:cTn id="72" presetID="6" presetClass="emph" presetSubtype="0" fill="hold" nodeType="withEffect">
                                  <p:stCondLst>
                                    <p:cond delay="0"/>
                                  </p:stCondLst>
                                  <p:childTnLst>
                                    <p:animScale>
                                      <p:cBhvr>
                                        <p:cTn id="73" dur="10" fill="hold"/>
                                        <p:tgtEl>
                                          <p:spTgt spid="270"/>
                                        </p:tgtEl>
                                      </p:cBhvr>
                                      <p:by x="80000" y="80000"/>
                                    </p:animScale>
                                  </p:childTnLst>
                                </p:cTn>
                              </p:par>
                              <p:par>
                                <p:cTn id="74" presetID="6" presetClass="emph" presetSubtype="0" decel="100000" fill="hold" nodeType="withEffect">
                                  <p:stCondLst>
                                    <p:cond delay="0"/>
                                  </p:stCondLst>
                                  <p:childTnLst>
                                    <p:animScale>
                                      <p:cBhvr>
                                        <p:cTn id="75" dur="1000" fill="hold"/>
                                        <p:tgtEl>
                                          <p:spTgt spid="270"/>
                                        </p:tgtEl>
                                      </p:cBhvr>
                                      <p:by x="125000" y="125000"/>
                                    </p:animScale>
                                  </p:childTnLst>
                                </p:cTn>
                              </p:par>
                              <p:par>
                                <p:cTn id="76" presetID="23" presetClass="entr" presetSubtype="16" fill="hold" nodeType="withEffect">
                                  <p:stCondLst>
                                    <p:cond delay="0"/>
                                  </p:stCondLst>
                                  <p:childTnLst>
                                    <p:set>
                                      <p:cBhvr>
                                        <p:cTn id="77" dur="1" fill="hold">
                                          <p:stCondLst>
                                            <p:cond delay="0"/>
                                          </p:stCondLst>
                                        </p:cTn>
                                        <p:tgtEl>
                                          <p:spTgt spid="271"/>
                                        </p:tgtEl>
                                        <p:attrNameLst>
                                          <p:attrName>style.visibility</p:attrName>
                                        </p:attrNameLst>
                                      </p:cBhvr>
                                      <p:to>
                                        <p:strVal val="visible"/>
                                      </p:to>
                                    </p:set>
                                    <p:anim calcmode="lin" valueType="num">
                                      <p:cBhvr>
                                        <p:cTn id="78" dur="250" fill="hold"/>
                                        <p:tgtEl>
                                          <p:spTgt spid="271"/>
                                        </p:tgtEl>
                                        <p:attrNameLst>
                                          <p:attrName>ppt_w</p:attrName>
                                        </p:attrNameLst>
                                      </p:cBhvr>
                                      <p:tavLst>
                                        <p:tav tm="0">
                                          <p:val>
                                            <p:fltVal val="0"/>
                                          </p:val>
                                        </p:tav>
                                        <p:tav tm="100000">
                                          <p:val>
                                            <p:strVal val="#ppt_w"/>
                                          </p:val>
                                        </p:tav>
                                      </p:tavLst>
                                    </p:anim>
                                    <p:anim calcmode="lin" valueType="num">
                                      <p:cBhvr>
                                        <p:cTn id="79" dur="250" fill="hold"/>
                                        <p:tgtEl>
                                          <p:spTgt spid="271"/>
                                        </p:tgtEl>
                                        <p:attrNameLst>
                                          <p:attrName>ppt_h</p:attrName>
                                        </p:attrNameLst>
                                      </p:cBhvr>
                                      <p:tavLst>
                                        <p:tav tm="0">
                                          <p:val>
                                            <p:fltVal val="0"/>
                                          </p:val>
                                        </p:tav>
                                        <p:tav tm="100000">
                                          <p:val>
                                            <p:strVal val="#ppt_h"/>
                                          </p:val>
                                        </p:tav>
                                      </p:tavLst>
                                    </p:anim>
                                  </p:childTnLst>
                                </p:cTn>
                              </p:par>
                              <p:par>
                                <p:cTn id="80" presetID="10" presetClass="entr" presetSubtype="0" fill="hold" nodeType="withEffect">
                                  <p:stCondLst>
                                    <p:cond delay="0"/>
                                  </p:stCondLst>
                                  <p:childTnLst>
                                    <p:set>
                                      <p:cBhvr>
                                        <p:cTn id="81" dur="1" fill="hold">
                                          <p:stCondLst>
                                            <p:cond delay="0"/>
                                          </p:stCondLst>
                                        </p:cTn>
                                        <p:tgtEl>
                                          <p:spTgt spid="271"/>
                                        </p:tgtEl>
                                        <p:attrNameLst>
                                          <p:attrName>style.visibility</p:attrName>
                                        </p:attrNameLst>
                                      </p:cBhvr>
                                      <p:to>
                                        <p:strVal val="visible"/>
                                      </p:to>
                                    </p:set>
                                    <p:animEffect transition="in" filter="fade">
                                      <p:cBhvr>
                                        <p:cTn id="82" dur="500"/>
                                        <p:tgtEl>
                                          <p:spTgt spid="271"/>
                                        </p:tgtEl>
                                      </p:cBhvr>
                                    </p:animEffect>
                                  </p:childTnLst>
                                </p:cTn>
                              </p:par>
                              <p:par>
                                <p:cTn id="83" presetID="6" presetClass="emph" presetSubtype="0" fill="hold" nodeType="withEffect">
                                  <p:stCondLst>
                                    <p:cond delay="0"/>
                                  </p:stCondLst>
                                  <p:childTnLst>
                                    <p:animScale>
                                      <p:cBhvr>
                                        <p:cTn id="84" dur="10" fill="hold"/>
                                        <p:tgtEl>
                                          <p:spTgt spid="271"/>
                                        </p:tgtEl>
                                      </p:cBhvr>
                                      <p:by x="80000" y="80000"/>
                                    </p:animScale>
                                  </p:childTnLst>
                                </p:cTn>
                              </p:par>
                              <p:par>
                                <p:cTn id="85" presetID="6" presetClass="emph" presetSubtype="0" decel="100000" fill="hold" nodeType="withEffect">
                                  <p:stCondLst>
                                    <p:cond delay="0"/>
                                  </p:stCondLst>
                                  <p:childTnLst>
                                    <p:animScale>
                                      <p:cBhvr>
                                        <p:cTn id="86" dur="1000" fill="hold"/>
                                        <p:tgtEl>
                                          <p:spTgt spid="271"/>
                                        </p:tgtEl>
                                      </p:cBhvr>
                                      <p:by x="125000" y="125000"/>
                                    </p:animScale>
                                  </p:childTnLst>
                                </p:cTn>
                              </p:par>
                              <p:par>
                                <p:cTn id="87" presetID="23" presetClass="entr" presetSubtype="16" fill="hold" nodeType="withEffect">
                                  <p:stCondLst>
                                    <p:cond delay="0"/>
                                  </p:stCondLst>
                                  <p:childTnLst>
                                    <p:set>
                                      <p:cBhvr>
                                        <p:cTn id="88" dur="1" fill="hold">
                                          <p:stCondLst>
                                            <p:cond delay="0"/>
                                          </p:stCondLst>
                                        </p:cTn>
                                        <p:tgtEl>
                                          <p:spTgt spid="272"/>
                                        </p:tgtEl>
                                        <p:attrNameLst>
                                          <p:attrName>style.visibility</p:attrName>
                                        </p:attrNameLst>
                                      </p:cBhvr>
                                      <p:to>
                                        <p:strVal val="visible"/>
                                      </p:to>
                                    </p:set>
                                    <p:anim calcmode="lin" valueType="num">
                                      <p:cBhvr>
                                        <p:cTn id="89" dur="250" fill="hold"/>
                                        <p:tgtEl>
                                          <p:spTgt spid="272"/>
                                        </p:tgtEl>
                                        <p:attrNameLst>
                                          <p:attrName>ppt_w</p:attrName>
                                        </p:attrNameLst>
                                      </p:cBhvr>
                                      <p:tavLst>
                                        <p:tav tm="0">
                                          <p:val>
                                            <p:fltVal val="0"/>
                                          </p:val>
                                        </p:tav>
                                        <p:tav tm="100000">
                                          <p:val>
                                            <p:strVal val="#ppt_w"/>
                                          </p:val>
                                        </p:tav>
                                      </p:tavLst>
                                    </p:anim>
                                    <p:anim calcmode="lin" valueType="num">
                                      <p:cBhvr>
                                        <p:cTn id="90" dur="250" fill="hold"/>
                                        <p:tgtEl>
                                          <p:spTgt spid="272"/>
                                        </p:tgtEl>
                                        <p:attrNameLst>
                                          <p:attrName>ppt_h</p:attrName>
                                        </p:attrNameLst>
                                      </p:cBhvr>
                                      <p:tavLst>
                                        <p:tav tm="0">
                                          <p:val>
                                            <p:fltVal val="0"/>
                                          </p:val>
                                        </p:tav>
                                        <p:tav tm="100000">
                                          <p:val>
                                            <p:strVal val="#ppt_h"/>
                                          </p:val>
                                        </p:tav>
                                      </p:tavLst>
                                    </p:anim>
                                  </p:childTnLst>
                                </p:cTn>
                              </p:par>
                              <p:par>
                                <p:cTn id="91" presetID="10" presetClass="entr" presetSubtype="0" fill="hold" nodeType="withEffect">
                                  <p:stCondLst>
                                    <p:cond delay="0"/>
                                  </p:stCondLst>
                                  <p:childTnLst>
                                    <p:set>
                                      <p:cBhvr>
                                        <p:cTn id="92" dur="1" fill="hold">
                                          <p:stCondLst>
                                            <p:cond delay="0"/>
                                          </p:stCondLst>
                                        </p:cTn>
                                        <p:tgtEl>
                                          <p:spTgt spid="272"/>
                                        </p:tgtEl>
                                        <p:attrNameLst>
                                          <p:attrName>style.visibility</p:attrName>
                                        </p:attrNameLst>
                                      </p:cBhvr>
                                      <p:to>
                                        <p:strVal val="visible"/>
                                      </p:to>
                                    </p:set>
                                    <p:animEffect transition="in" filter="fade">
                                      <p:cBhvr>
                                        <p:cTn id="93" dur="500"/>
                                        <p:tgtEl>
                                          <p:spTgt spid="272"/>
                                        </p:tgtEl>
                                      </p:cBhvr>
                                    </p:animEffect>
                                  </p:childTnLst>
                                </p:cTn>
                              </p:par>
                              <p:par>
                                <p:cTn id="94" presetID="6" presetClass="emph" presetSubtype="0" fill="hold" nodeType="withEffect">
                                  <p:stCondLst>
                                    <p:cond delay="0"/>
                                  </p:stCondLst>
                                  <p:childTnLst>
                                    <p:animScale>
                                      <p:cBhvr>
                                        <p:cTn id="95" dur="10" fill="hold"/>
                                        <p:tgtEl>
                                          <p:spTgt spid="272"/>
                                        </p:tgtEl>
                                      </p:cBhvr>
                                      <p:by x="80000" y="80000"/>
                                    </p:animScale>
                                  </p:childTnLst>
                                </p:cTn>
                              </p:par>
                              <p:par>
                                <p:cTn id="96" presetID="6" presetClass="emph" presetSubtype="0" decel="100000" fill="hold" nodeType="withEffect">
                                  <p:stCondLst>
                                    <p:cond delay="0"/>
                                  </p:stCondLst>
                                  <p:childTnLst>
                                    <p:animScale>
                                      <p:cBhvr>
                                        <p:cTn id="97" dur="1000" fill="hold"/>
                                        <p:tgtEl>
                                          <p:spTgt spid="272"/>
                                        </p:tgtEl>
                                      </p:cBhvr>
                                      <p:by x="125000" y="125000"/>
                                    </p:animScale>
                                  </p:childTnLst>
                                </p:cTn>
                              </p:par>
                              <p:par>
                                <p:cTn id="98" presetID="23" presetClass="entr" presetSubtype="16" fill="hold" nodeType="withEffect">
                                  <p:stCondLst>
                                    <p:cond delay="0"/>
                                  </p:stCondLst>
                                  <p:childTnLst>
                                    <p:set>
                                      <p:cBhvr>
                                        <p:cTn id="99" dur="1" fill="hold">
                                          <p:stCondLst>
                                            <p:cond delay="0"/>
                                          </p:stCondLst>
                                        </p:cTn>
                                        <p:tgtEl>
                                          <p:spTgt spid="273"/>
                                        </p:tgtEl>
                                        <p:attrNameLst>
                                          <p:attrName>style.visibility</p:attrName>
                                        </p:attrNameLst>
                                      </p:cBhvr>
                                      <p:to>
                                        <p:strVal val="visible"/>
                                      </p:to>
                                    </p:set>
                                    <p:anim calcmode="lin" valueType="num">
                                      <p:cBhvr>
                                        <p:cTn id="100" dur="250" fill="hold"/>
                                        <p:tgtEl>
                                          <p:spTgt spid="273"/>
                                        </p:tgtEl>
                                        <p:attrNameLst>
                                          <p:attrName>ppt_w</p:attrName>
                                        </p:attrNameLst>
                                      </p:cBhvr>
                                      <p:tavLst>
                                        <p:tav tm="0">
                                          <p:val>
                                            <p:fltVal val="0"/>
                                          </p:val>
                                        </p:tav>
                                        <p:tav tm="100000">
                                          <p:val>
                                            <p:strVal val="#ppt_w"/>
                                          </p:val>
                                        </p:tav>
                                      </p:tavLst>
                                    </p:anim>
                                    <p:anim calcmode="lin" valueType="num">
                                      <p:cBhvr>
                                        <p:cTn id="101" dur="250" fill="hold"/>
                                        <p:tgtEl>
                                          <p:spTgt spid="273"/>
                                        </p:tgtEl>
                                        <p:attrNameLst>
                                          <p:attrName>ppt_h</p:attrName>
                                        </p:attrNameLst>
                                      </p:cBhvr>
                                      <p:tavLst>
                                        <p:tav tm="0">
                                          <p:val>
                                            <p:fltVal val="0"/>
                                          </p:val>
                                        </p:tav>
                                        <p:tav tm="100000">
                                          <p:val>
                                            <p:strVal val="#ppt_h"/>
                                          </p:val>
                                        </p:tav>
                                      </p:tavLst>
                                    </p:anim>
                                  </p:childTnLst>
                                </p:cTn>
                              </p:par>
                              <p:par>
                                <p:cTn id="102" presetID="10" presetClass="entr" presetSubtype="0" fill="hold" nodeType="withEffect">
                                  <p:stCondLst>
                                    <p:cond delay="0"/>
                                  </p:stCondLst>
                                  <p:childTnLst>
                                    <p:set>
                                      <p:cBhvr>
                                        <p:cTn id="103" dur="1" fill="hold">
                                          <p:stCondLst>
                                            <p:cond delay="0"/>
                                          </p:stCondLst>
                                        </p:cTn>
                                        <p:tgtEl>
                                          <p:spTgt spid="273"/>
                                        </p:tgtEl>
                                        <p:attrNameLst>
                                          <p:attrName>style.visibility</p:attrName>
                                        </p:attrNameLst>
                                      </p:cBhvr>
                                      <p:to>
                                        <p:strVal val="visible"/>
                                      </p:to>
                                    </p:set>
                                    <p:animEffect transition="in" filter="fade">
                                      <p:cBhvr>
                                        <p:cTn id="104" dur="500"/>
                                        <p:tgtEl>
                                          <p:spTgt spid="273"/>
                                        </p:tgtEl>
                                      </p:cBhvr>
                                    </p:animEffect>
                                  </p:childTnLst>
                                </p:cTn>
                              </p:par>
                              <p:par>
                                <p:cTn id="105" presetID="6" presetClass="emph" presetSubtype="0" fill="hold" nodeType="withEffect">
                                  <p:stCondLst>
                                    <p:cond delay="0"/>
                                  </p:stCondLst>
                                  <p:childTnLst>
                                    <p:animScale>
                                      <p:cBhvr>
                                        <p:cTn id="106" dur="10" fill="hold"/>
                                        <p:tgtEl>
                                          <p:spTgt spid="273"/>
                                        </p:tgtEl>
                                      </p:cBhvr>
                                      <p:by x="80000" y="80000"/>
                                    </p:animScale>
                                  </p:childTnLst>
                                </p:cTn>
                              </p:par>
                              <p:par>
                                <p:cTn id="107" presetID="6" presetClass="emph" presetSubtype="0" decel="100000" fill="hold" nodeType="withEffect">
                                  <p:stCondLst>
                                    <p:cond delay="0"/>
                                  </p:stCondLst>
                                  <p:childTnLst>
                                    <p:animScale>
                                      <p:cBhvr>
                                        <p:cTn id="108" dur="1000" fill="hold"/>
                                        <p:tgtEl>
                                          <p:spTgt spid="273"/>
                                        </p:tgtEl>
                                      </p:cBhvr>
                                      <p:by x="125000" y="125000"/>
                                    </p:animScale>
                                  </p:childTnLst>
                                </p:cTn>
                              </p:par>
                              <p:par>
                                <p:cTn id="109" presetID="10" presetClass="entr" presetSubtype="0" fill="hold" grpId="0" nodeType="withEffect">
                                  <p:stCondLst>
                                    <p:cond delay="250"/>
                                  </p:stCondLst>
                                  <p:childTnLst>
                                    <p:set>
                                      <p:cBhvr>
                                        <p:cTn id="110" dur="1" fill="hold">
                                          <p:stCondLst>
                                            <p:cond delay="0"/>
                                          </p:stCondLst>
                                        </p:cTn>
                                        <p:tgtEl>
                                          <p:spTgt spid="17"/>
                                        </p:tgtEl>
                                        <p:attrNameLst>
                                          <p:attrName>style.visibility</p:attrName>
                                        </p:attrNameLst>
                                      </p:cBhvr>
                                      <p:to>
                                        <p:strVal val="visible"/>
                                      </p:to>
                                    </p:set>
                                    <p:animEffect transition="in" filter="fade">
                                      <p:cBhvr>
                                        <p:cTn id="111" dur="750"/>
                                        <p:tgtEl>
                                          <p:spTgt spid="17"/>
                                        </p:tgtEl>
                                      </p:cBhvr>
                                    </p:animEffect>
                                  </p:childTnLst>
                                </p:cTn>
                              </p:par>
                              <p:par>
                                <p:cTn id="112" presetID="42" presetClass="path" presetSubtype="0" decel="100000" fill="hold" grpId="1" nodeType="withEffect">
                                  <p:stCondLst>
                                    <p:cond delay="250"/>
                                  </p:stCondLst>
                                  <p:childTnLst>
                                    <p:animMotion origin="layout" path="M -1.04167E-6 -0.03473 L -1.04167E-6 4.07407E-6 " pathEditMode="relative" rAng="0" ptsTypes="AA">
                                      <p:cBhvr>
                                        <p:cTn id="113" dur="750" fill="hold"/>
                                        <p:tgtEl>
                                          <p:spTgt spid="17"/>
                                        </p:tgtEl>
                                        <p:attrNameLst>
                                          <p:attrName>ppt_x</p:attrName>
                                          <p:attrName>ppt_y</p:attrName>
                                        </p:attrNameLst>
                                      </p:cBhvr>
                                      <p:rCtr x="0" y="1736"/>
                                    </p:animMotion>
                                  </p:childTnLst>
                                </p:cTn>
                              </p:par>
                              <p:par>
                                <p:cTn id="114" presetID="23" presetClass="entr" presetSubtype="16" fill="hold" grpId="0" nodeType="withEffect">
                                  <p:stCondLst>
                                    <p:cond delay="0"/>
                                  </p:stCondLst>
                                  <p:childTnLst>
                                    <p:set>
                                      <p:cBhvr>
                                        <p:cTn id="115" dur="1" fill="hold">
                                          <p:stCondLst>
                                            <p:cond delay="0"/>
                                          </p:stCondLst>
                                        </p:cTn>
                                        <p:tgtEl>
                                          <p:spTgt spid="183"/>
                                        </p:tgtEl>
                                        <p:attrNameLst>
                                          <p:attrName>style.visibility</p:attrName>
                                        </p:attrNameLst>
                                      </p:cBhvr>
                                      <p:to>
                                        <p:strVal val="visible"/>
                                      </p:to>
                                    </p:set>
                                    <p:anim calcmode="lin" valueType="num">
                                      <p:cBhvr>
                                        <p:cTn id="116" dur="250" fill="hold"/>
                                        <p:tgtEl>
                                          <p:spTgt spid="183"/>
                                        </p:tgtEl>
                                        <p:attrNameLst>
                                          <p:attrName>ppt_w</p:attrName>
                                        </p:attrNameLst>
                                      </p:cBhvr>
                                      <p:tavLst>
                                        <p:tav tm="0">
                                          <p:val>
                                            <p:fltVal val="0"/>
                                          </p:val>
                                        </p:tav>
                                        <p:tav tm="100000">
                                          <p:val>
                                            <p:strVal val="#ppt_w"/>
                                          </p:val>
                                        </p:tav>
                                      </p:tavLst>
                                    </p:anim>
                                    <p:anim calcmode="lin" valueType="num">
                                      <p:cBhvr>
                                        <p:cTn id="117" dur="250" fill="hold"/>
                                        <p:tgtEl>
                                          <p:spTgt spid="183"/>
                                        </p:tgtEl>
                                        <p:attrNameLst>
                                          <p:attrName>ppt_h</p:attrName>
                                        </p:attrNameLst>
                                      </p:cBhvr>
                                      <p:tavLst>
                                        <p:tav tm="0">
                                          <p:val>
                                            <p:fltVal val="0"/>
                                          </p:val>
                                        </p:tav>
                                        <p:tav tm="100000">
                                          <p:val>
                                            <p:strVal val="#ppt_h"/>
                                          </p:val>
                                        </p:tav>
                                      </p:tavLst>
                                    </p:anim>
                                  </p:childTnLst>
                                </p:cTn>
                              </p:par>
                              <p:par>
                                <p:cTn id="118" presetID="10" presetClass="entr" presetSubtype="0" fill="hold" grpId="1" nodeType="withEffect">
                                  <p:stCondLst>
                                    <p:cond delay="0"/>
                                  </p:stCondLst>
                                  <p:childTnLst>
                                    <p:set>
                                      <p:cBhvr>
                                        <p:cTn id="119" dur="1" fill="hold">
                                          <p:stCondLst>
                                            <p:cond delay="0"/>
                                          </p:stCondLst>
                                        </p:cTn>
                                        <p:tgtEl>
                                          <p:spTgt spid="183"/>
                                        </p:tgtEl>
                                        <p:attrNameLst>
                                          <p:attrName>style.visibility</p:attrName>
                                        </p:attrNameLst>
                                      </p:cBhvr>
                                      <p:to>
                                        <p:strVal val="visible"/>
                                      </p:to>
                                    </p:set>
                                    <p:animEffect transition="in" filter="fade">
                                      <p:cBhvr>
                                        <p:cTn id="120" dur="500"/>
                                        <p:tgtEl>
                                          <p:spTgt spid="183"/>
                                        </p:tgtEl>
                                      </p:cBhvr>
                                    </p:animEffect>
                                  </p:childTnLst>
                                </p:cTn>
                              </p:par>
                              <p:par>
                                <p:cTn id="121" presetID="6" presetClass="emph" presetSubtype="0" fill="hold" grpId="2" nodeType="withEffect">
                                  <p:stCondLst>
                                    <p:cond delay="0"/>
                                  </p:stCondLst>
                                  <p:childTnLst>
                                    <p:animScale>
                                      <p:cBhvr>
                                        <p:cTn id="122" dur="10" fill="hold"/>
                                        <p:tgtEl>
                                          <p:spTgt spid="183"/>
                                        </p:tgtEl>
                                      </p:cBhvr>
                                      <p:by x="80000" y="80000"/>
                                    </p:animScale>
                                  </p:childTnLst>
                                </p:cTn>
                              </p:par>
                              <p:par>
                                <p:cTn id="123" presetID="6" presetClass="emph" presetSubtype="0" decel="100000" fill="hold" grpId="3" nodeType="withEffect">
                                  <p:stCondLst>
                                    <p:cond delay="0"/>
                                  </p:stCondLst>
                                  <p:childTnLst>
                                    <p:animScale>
                                      <p:cBhvr>
                                        <p:cTn id="124" dur="1000" fill="hold"/>
                                        <p:tgtEl>
                                          <p:spTgt spid="183"/>
                                        </p:tgtEl>
                                      </p:cBhvr>
                                      <p:by x="125000" y="125000"/>
                                    </p:animScale>
                                  </p:childTnLst>
                                </p:cTn>
                              </p:par>
                              <p:par>
                                <p:cTn id="125" presetID="22" presetClass="entr" presetSubtype="2"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wipe(right)">
                                      <p:cBhvr>
                                        <p:cTn id="127" dur="500"/>
                                        <p:tgtEl>
                                          <p:spTgt spid="28"/>
                                        </p:tgtEl>
                                      </p:cBhvr>
                                    </p:animEffect>
                                  </p:childTnLst>
                                </p:cTn>
                              </p:par>
                              <p:par>
                                <p:cTn id="128" presetID="22" presetClass="entr" presetSubtype="8" fill="hold" nodeType="withEffect">
                                  <p:stCondLst>
                                    <p:cond delay="0"/>
                                  </p:stCondLst>
                                  <p:childTnLst>
                                    <p:set>
                                      <p:cBhvr>
                                        <p:cTn id="129" dur="1" fill="hold">
                                          <p:stCondLst>
                                            <p:cond delay="0"/>
                                          </p:stCondLst>
                                        </p:cTn>
                                        <p:tgtEl>
                                          <p:spTgt spid="29"/>
                                        </p:tgtEl>
                                        <p:attrNameLst>
                                          <p:attrName>style.visibility</p:attrName>
                                        </p:attrNameLst>
                                      </p:cBhvr>
                                      <p:to>
                                        <p:strVal val="visible"/>
                                      </p:to>
                                    </p:set>
                                    <p:animEffect transition="in" filter="wipe(left)">
                                      <p:cBhvr>
                                        <p:cTn id="130" dur="500"/>
                                        <p:tgtEl>
                                          <p:spTgt spid="29"/>
                                        </p:tgtEl>
                                      </p:cBhvr>
                                    </p:animEffect>
                                  </p:childTnLst>
                                </p:cTn>
                              </p:par>
                              <p:par>
                                <p:cTn id="131" presetID="23" presetClass="entr" presetSubtype="16" fill="hold" grpId="0" nodeType="withEffect">
                                  <p:stCondLst>
                                    <p:cond delay="0"/>
                                  </p:stCondLst>
                                  <p:childTnLst>
                                    <p:set>
                                      <p:cBhvr>
                                        <p:cTn id="132" dur="1" fill="hold">
                                          <p:stCondLst>
                                            <p:cond delay="0"/>
                                          </p:stCondLst>
                                        </p:cTn>
                                        <p:tgtEl>
                                          <p:spTgt spid="8"/>
                                        </p:tgtEl>
                                        <p:attrNameLst>
                                          <p:attrName>style.visibility</p:attrName>
                                        </p:attrNameLst>
                                      </p:cBhvr>
                                      <p:to>
                                        <p:strVal val="visible"/>
                                      </p:to>
                                    </p:set>
                                    <p:anim calcmode="lin" valueType="num">
                                      <p:cBhvr>
                                        <p:cTn id="133" dur="250" fill="hold"/>
                                        <p:tgtEl>
                                          <p:spTgt spid="8"/>
                                        </p:tgtEl>
                                        <p:attrNameLst>
                                          <p:attrName>ppt_w</p:attrName>
                                        </p:attrNameLst>
                                      </p:cBhvr>
                                      <p:tavLst>
                                        <p:tav tm="0">
                                          <p:val>
                                            <p:fltVal val="0"/>
                                          </p:val>
                                        </p:tav>
                                        <p:tav tm="100000">
                                          <p:val>
                                            <p:strVal val="#ppt_w"/>
                                          </p:val>
                                        </p:tav>
                                      </p:tavLst>
                                    </p:anim>
                                    <p:anim calcmode="lin" valueType="num">
                                      <p:cBhvr>
                                        <p:cTn id="134" dur="250" fill="hold"/>
                                        <p:tgtEl>
                                          <p:spTgt spid="8"/>
                                        </p:tgtEl>
                                        <p:attrNameLst>
                                          <p:attrName>ppt_h</p:attrName>
                                        </p:attrNameLst>
                                      </p:cBhvr>
                                      <p:tavLst>
                                        <p:tav tm="0">
                                          <p:val>
                                            <p:fltVal val="0"/>
                                          </p:val>
                                        </p:tav>
                                        <p:tav tm="100000">
                                          <p:val>
                                            <p:strVal val="#ppt_h"/>
                                          </p:val>
                                        </p:tav>
                                      </p:tavLst>
                                    </p:anim>
                                  </p:childTnLst>
                                </p:cTn>
                              </p:par>
                              <p:par>
                                <p:cTn id="135" presetID="10" presetClass="entr" presetSubtype="0" fill="hold" grpId="1" nodeType="withEffect">
                                  <p:stCondLst>
                                    <p:cond delay="0"/>
                                  </p:stCondLst>
                                  <p:childTnLst>
                                    <p:set>
                                      <p:cBhvr>
                                        <p:cTn id="136" dur="1" fill="hold">
                                          <p:stCondLst>
                                            <p:cond delay="0"/>
                                          </p:stCondLst>
                                        </p:cTn>
                                        <p:tgtEl>
                                          <p:spTgt spid="8"/>
                                        </p:tgtEl>
                                        <p:attrNameLst>
                                          <p:attrName>style.visibility</p:attrName>
                                        </p:attrNameLst>
                                      </p:cBhvr>
                                      <p:to>
                                        <p:strVal val="visible"/>
                                      </p:to>
                                    </p:set>
                                    <p:animEffect transition="in" filter="fade">
                                      <p:cBhvr>
                                        <p:cTn id="137" dur="500"/>
                                        <p:tgtEl>
                                          <p:spTgt spid="8"/>
                                        </p:tgtEl>
                                      </p:cBhvr>
                                    </p:animEffect>
                                  </p:childTnLst>
                                </p:cTn>
                              </p:par>
                              <p:par>
                                <p:cTn id="138" presetID="6" presetClass="emph" presetSubtype="0" fill="hold" grpId="2" nodeType="withEffect">
                                  <p:stCondLst>
                                    <p:cond delay="0"/>
                                  </p:stCondLst>
                                  <p:childTnLst>
                                    <p:animScale>
                                      <p:cBhvr>
                                        <p:cTn id="139" dur="10" fill="hold"/>
                                        <p:tgtEl>
                                          <p:spTgt spid="8"/>
                                        </p:tgtEl>
                                      </p:cBhvr>
                                      <p:by x="80000" y="80000"/>
                                    </p:animScale>
                                  </p:childTnLst>
                                </p:cTn>
                              </p:par>
                              <p:par>
                                <p:cTn id="140" presetID="6" presetClass="emph" presetSubtype="0" decel="100000" fill="hold" grpId="3" nodeType="withEffect">
                                  <p:stCondLst>
                                    <p:cond delay="0"/>
                                  </p:stCondLst>
                                  <p:childTnLst>
                                    <p:animScale>
                                      <p:cBhvr>
                                        <p:cTn id="141" dur="1000" fill="hold"/>
                                        <p:tgtEl>
                                          <p:spTgt spid="8"/>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83" grpId="0" animBg="1"/>
      <p:bldP spid="183" grpId="1" animBg="1"/>
      <p:bldP spid="183" grpId="2" animBg="1"/>
      <p:bldP spid="183" grpId="3" animBg="1"/>
      <p:bldP spid="8" grpId="0"/>
      <p:bldP spid="8" grpId="1"/>
      <p:bldP spid="8" grpId="2"/>
      <p:bldP spid="8" grpId="3"/>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4C2DC-366D-8061-93A9-456DF04BB91F}"/>
              </a:ext>
            </a:extLst>
          </p:cNvPr>
          <p:cNvSpPr>
            <a:spLocks noGrp="1"/>
          </p:cNvSpPr>
          <p:nvPr>
            <p:ph type="title"/>
          </p:nvPr>
        </p:nvSpPr>
        <p:spPr>
          <a:xfrm>
            <a:off x="584200" y="2303312"/>
            <a:ext cx="9169400" cy="3046988"/>
          </a:xfrm>
        </p:spPr>
        <p:txBody>
          <a:bodyPr/>
          <a:lstStyle/>
          <a:p>
            <a:r>
              <a:rPr lang="en-US"/>
              <a:t>How to implement </a:t>
            </a:r>
            <a:r>
              <a:rPr lang="en-US" err="1"/>
              <a:t>GenAIOps</a:t>
            </a:r>
            <a:r>
              <a:rPr lang="en-US"/>
              <a:t>?</a:t>
            </a:r>
            <a:br>
              <a:rPr lang="en-US"/>
            </a:br>
            <a:endParaRPr lang="en-US"/>
          </a:p>
        </p:txBody>
      </p:sp>
      <p:sp>
        <p:nvSpPr>
          <p:cNvPr id="3" name="Text Placeholder 2">
            <a:extLst>
              <a:ext uri="{FF2B5EF4-FFF2-40B4-BE49-F238E27FC236}">
                <a16:creationId xmlns:a16="http://schemas.microsoft.com/office/drawing/2014/main" id="{E3740334-AEBD-E118-EB9E-31511AF1301F}"/>
              </a:ext>
            </a:extLst>
          </p:cNvPr>
          <p:cNvSpPr>
            <a:spLocks noGrp="1"/>
          </p:cNvSpPr>
          <p:nvPr>
            <p:ph type="body" sz="quarter" idx="12"/>
          </p:nvPr>
        </p:nvSpPr>
        <p:spPr/>
        <p:txBody>
          <a:bodyPr/>
          <a:lstStyle/>
          <a:p>
            <a:endParaRPr lang="en-US"/>
          </a:p>
        </p:txBody>
      </p:sp>
      <p:sp>
        <p:nvSpPr>
          <p:cNvPr id="4" name="Footer Placeholder 3">
            <a:extLst>
              <a:ext uri="{FF2B5EF4-FFF2-40B4-BE49-F238E27FC236}">
                <a16:creationId xmlns:a16="http://schemas.microsoft.com/office/drawing/2014/main" id="{A3BB2B4B-75B8-0E2E-B813-FE21F56B58EB}"/>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F80A2085-F4CA-418A-F77F-2491E83DBEA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80801819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037F9-9932-134D-ED37-F2E573A7E792}"/>
            </a:ext>
          </a:extLst>
        </p:cNvPr>
        <p:cNvGrpSpPr/>
        <p:nvPr/>
      </p:nvGrpSpPr>
      <p:grpSpPr>
        <a:xfrm>
          <a:off x="0" y="0"/>
          <a:ext cx="0" cy="0"/>
          <a:chOff x="0" y="0"/>
          <a:chExt cx="0" cy="0"/>
        </a:xfrm>
      </p:grpSpPr>
      <p:sp>
        <p:nvSpPr>
          <p:cNvPr id="28" name="PREPARE FOR APP DEPLOYMENT">
            <a:extLst>
              <a:ext uri="{FF2B5EF4-FFF2-40B4-BE49-F238E27FC236}">
                <a16:creationId xmlns:a16="http://schemas.microsoft.com/office/drawing/2014/main" id="{FABF1EC8-D1CA-1E11-0E45-AA57779F1CB8}"/>
              </a:ext>
              <a:ext uri="{C183D7F6-B498-43B3-948B-1728B52AA6E4}">
                <adec:decorative xmlns:adec="http://schemas.microsoft.com/office/drawing/2017/decorative" val="1"/>
              </a:ext>
            </a:extLst>
          </p:cNvPr>
          <p:cNvSpPr txBox="1"/>
          <p:nvPr/>
        </p:nvSpPr>
        <p:spPr>
          <a:xfrm rot="21253932">
            <a:off x="5868077" y="1262647"/>
            <a:ext cx="3878850" cy="2699173"/>
          </a:xfrm>
          <a:prstGeom prst="ellipse">
            <a:avLst/>
          </a:prstGeom>
          <a:noFill/>
          <a:effectLst/>
        </p:spPr>
        <p:txBody>
          <a:bodyPr wrap="none" rtlCol="0">
            <a:prstTxWarp prst="textArchUp">
              <a:avLst>
                <a:gd name="adj" fmla="val 12686236"/>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ADVANCE PROJECT</a:t>
            </a:r>
            <a:endParaRPr kumimoji="0" lang="en-US" sz="1000" b="1" i="0" u="sng" strike="noStrike" kern="1200" cap="none" spc="32" normalizeH="0" baseline="0" noProof="0">
              <a:ln w="3175">
                <a:noFill/>
              </a:ln>
              <a:solidFill>
                <a:schemeClr val="bg1"/>
              </a:solidFill>
              <a:effectLst/>
              <a:uLnTx/>
              <a:uFillTx/>
              <a:ea typeface="+mn-ea"/>
              <a:cs typeface="Segoe Sans Text" pitchFamily="2" charset="0"/>
            </a:endParaRPr>
          </a:p>
        </p:txBody>
      </p:sp>
      <p:sp>
        <p:nvSpPr>
          <p:cNvPr id="17" name="ADVANCE PROJECT">
            <a:extLst>
              <a:ext uri="{FF2B5EF4-FFF2-40B4-BE49-F238E27FC236}">
                <a16:creationId xmlns:a16="http://schemas.microsoft.com/office/drawing/2014/main" id="{B8E48B45-9F5B-EBE5-47DD-8B98761753B0}"/>
              </a:ext>
              <a:ext uri="{C183D7F6-B498-43B3-948B-1728B52AA6E4}">
                <adec:decorative xmlns:adec="http://schemas.microsoft.com/office/drawing/2017/decorative" val="1"/>
              </a:ext>
            </a:extLst>
          </p:cNvPr>
          <p:cNvSpPr txBox="1"/>
          <p:nvPr/>
        </p:nvSpPr>
        <p:spPr>
          <a:xfrm>
            <a:off x="3121831" y="1640554"/>
            <a:ext cx="2444525" cy="1207961"/>
          </a:xfrm>
          <a:prstGeom prst="ellipse">
            <a:avLst/>
          </a:prstGeom>
          <a:noFill/>
        </p:spPr>
        <p:txBody>
          <a:bodyPr wrap="none" rtlCol="0">
            <a:prstTxWarp prst="textArchUp">
              <a:avLst>
                <a:gd name="adj" fmla="val 12451684"/>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ADVANCE PROJECT </a:t>
            </a:r>
          </a:p>
        </p:txBody>
      </p:sp>
      <p:sp>
        <p:nvSpPr>
          <p:cNvPr id="24" name="REVERT PROJECT">
            <a:extLst>
              <a:ext uri="{FF2B5EF4-FFF2-40B4-BE49-F238E27FC236}">
                <a16:creationId xmlns:a16="http://schemas.microsoft.com/office/drawing/2014/main" id="{AAA3B002-AC7E-F79D-E13D-27A882874770}"/>
              </a:ext>
              <a:ext uri="{C183D7F6-B498-43B3-948B-1728B52AA6E4}">
                <adec:decorative xmlns:adec="http://schemas.microsoft.com/office/drawing/2017/decorative" val="1"/>
              </a:ext>
            </a:extLst>
          </p:cNvPr>
          <p:cNvSpPr txBox="1"/>
          <p:nvPr/>
        </p:nvSpPr>
        <p:spPr>
          <a:xfrm>
            <a:off x="3505086" y="4416510"/>
            <a:ext cx="1550538" cy="726100"/>
          </a:xfrm>
          <a:prstGeom prst="rect">
            <a:avLst/>
          </a:prstGeom>
          <a:noFill/>
        </p:spPr>
        <p:txBody>
          <a:bodyPr wrap="none" rtlCol="0">
            <a:prstTxWarp prst="textArchDown">
              <a:avLst>
                <a:gd name="adj" fmla="val 1375053"/>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REVERT PROJECT</a:t>
            </a:r>
          </a:p>
        </p:txBody>
      </p:sp>
      <p:sp>
        <p:nvSpPr>
          <p:cNvPr id="29" name="SEND FEEDBACK">
            <a:extLst>
              <a:ext uri="{FF2B5EF4-FFF2-40B4-BE49-F238E27FC236}">
                <a16:creationId xmlns:a16="http://schemas.microsoft.com/office/drawing/2014/main" id="{09E8FDAF-9D2D-B169-946B-DEFA8EBA957F}"/>
              </a:ext>
              <a:ext uri="{C183D7F6-B498-43B3-948B-1728B52AA6E4}">
                <adec:decorative xmlns:adec="http://schemas.microsoft.com/office/drawing/2017/decorative" val="1"/>
              </a:ext>
            </a:extLst>
          </p:cNvPr>
          <p:cNvSpPr txBox="1"/>
          <p:nvPr/>
        </p:nvSpPr>
        <p:spPr>
          <a:xfrm>
            <a:off x="7217230" y="4645518"/>
            <a:ext cx="1692304" cy="770249"/>
          </a:xfrm>
          <a:prstGeom prst="rect">
            <a:avLst/>
          </a:prstGeom>
          <a:noFill/>
        </p:spPr>
        <p:txBody>
          <a:bodyPr wrap="none" rtlCol="0">
            <a:prstTxWarp prst="textArchDown">
              <a:avLst>
                <a:gd name="adj" fmla="val 1663301"/>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REVERT PROJECT</a:t>
            </a:r>
          </a:p>
        </p:txBody>
      </p:sp>
      <p:sp>
        <p:nvSpPr>
          <p:cNvPr id="31" name="Inner &gt; Middle">
            <a:extLst>
              <a:ext uri="{FF2B5EF4-FFF2-40B4-BE49-F238E27FC236}">
                <a16:creationId xmlns:a16="http://schemas.microsoft.com/office/drawing/2014/main" id="{B4024FF7-FF81-AB6B-5C5A-95A41383E3D1}"/>
              </a:ext>
              <a:ext uri="{C183D7F6-B498-43B3-948B-1728B52AA6E4}">
                <adec:decorative xmlns:adec="http://schemas.microsoft.com/office/drawing/2017/decorative" val="1"/>
              </a:ext>
            </a:extLst>
          </p:cNvPr>
          <p:cNvSpPr>
            <a:spLocks noChangeAspect="1"/>
          </p:cNvSpPr>
          <p:nvPr/>
        </p:nvSpPr>
        <p:spPr>
          <a:xfrm flipV="1">
            <a:off x="6111799" y="1795961"/>
            <a:ext cx="3549106" cy="3549106"/>
          </a:xfrm>
          <a:prstGeom prst="arc">
            <a:avLst>
              <a:gd name="adj1" fmla="val 3543377"/>
              <a:gd name="adj2" fmla="val 787719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30" name="Inner &gt; Middle">
            <a:extLst>
              <a:ext uri="{FF2B5EF4-FFF2-40B4-BE49-F238E27FC236}">
                <a16:creationId xmlns:a16="http://schemas.microsoft.com/office/drawing/2014/main" id="{238D6F37-2983-E6FB-F169-A2C64E9EC582}"/>
              </a:ext>
              <a:ext uri="{C183D7F6-B498-43B3-948B-1728B52AA6E4}">
                <adec:decorative xmlns:adec="http://schemas.microsoft.com/office/drawing/2017/decorative" val="1"/>
              </a:ext>
            </a:extLst>
          </p:cNvPr>
          <p:cNvSpPr>
            <a:spLocks noChangeAspect="1"/>
          </p:cNvSpPr>
          <p:nvPr/>
        </p:nvSpPr>
        <p:spPr>
          <a:xfrm flipH="1">
            <a:off x="6129068" y="1672847"/>
            <a:ext cx="3878848" cy="3878848"/>
          </a:xfrm>
          <a:prstGeom prst="arc">
            <a:avLst>
              <a:gd name="adj1" fmla="val 2950208"/>
              <a:gd name="adj2" fmla="val 7486031"/>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18" name="Inner &gt; Middle">
            <a:extLst>
              <a:ext uri="{FF2B5EF4-FFF2-40B4-BE49-F238E27FC236}">
                <a16:creationId xmlns:a16="http://schemas.microsoft.com/office/drawing/2014/main" id="{C9E31465-33CC-168E-A9E4-CB7C62BE85CF}"/>
              </a:ext>
              <a:ext uri="{C183D7F6-B498-43B3-948B-1728B52AA6E4}">
                <adec:decorative xmlns:adec="http://schemas.microsoft.com/office/drawing/2017/decorative" val="1"/>
              </a:ext>
            </a:extLst>
          </p:cNvPr>
          <p:cNvSpPr>
            <a:spLocks noChangeAspect="1"/>
          </p:cNvSpPr>
          <p:nvPr/>
        </p:nvSpPr>
        <p:spPr>
          <a:xfrm flipV="1">
            <a:off x="2565152" y="1965661"/>
            <a:ext cx="3563916" cy="3563915"/>
          </a:xfrm>
          <a:prstGeom prst="arc">
            <a:avLst>
              <a:gd name="adj1" fmla="val 3562138"/>
              <a:gd name="adj2" fmla="val 787719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15"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B72AF070-918C-7428-A24C-5561795CFCCE}"/>
              </a:ext>
            </a:extLst>
          </p:cNvPr>
          <p:cNvSpPr>
            <a:spLocks noChangeAspect="1"/>
          </p:cNvSpPr>
          <p:nvPr/>
        </p:nvSpPr>
        <p:spPr>
          <a:xfrm flipH="1">
            <a:off x="2496712" y="1737790"/>
            <a:ext cx="3549107" cy="3549106"/>
          </a:xfrm>
          <a:prstGeom prst="arc">
            <a:avLst>
              <a:gd name="adj1" fmla="val 3234220"/>
              <a:gd name="adj2" fmla="val 787719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47" name="Rectangle: Rounded Corners 46">
            <a:extLst>
              <a:ext uri="{FF2B5EF4-FFF2-40B4-BE49-F238E27FC236}">
                <a16:creationId xmlns:a16="http://schemas.microsoft.com/office/drawing/2014/main" id="{84118AA3-42DD-471E-1443-4FA054236DBA}"/>
              </a:ext>
            </a:extLst>
          </p:cNvPr>
          <p:cNvSpPr>
            <a:spLocks/>
          </p:cNvSpPr>
          <p:nvPr/>
        </p:nvSpPr>
        <p:spPr bwMode="auto">
          <a:xfrm rot="10800000">
            <a:off x="383428" y="1223819"/>
            <a:ext cx="11392545" cy="5241175"/>
          </a:xfrm>
          <a:prstGeom prst="roundRect">
            <a:avLst>
              <a:gd name="adj" fmla="val 2665"/>
            </a:avLst>
          </a:prstGeom>
          <a:no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 name="Title 1">
            <a:extLst>
              <a:ext uri="{FF2B5EF4-FFF2-40B4-BE49-F238E27FC236}">
                <a16:creationId xmlns:a16="http://schemas.microsoft.com/office/drawing/2014/main" id="{6DBB9807-7D38-AD24-F11E-16177084C66A}"/>
              </a:ext>
            </a:extLst>
          </p:cNvPr>
          <p:cNvSpPr>
            <a:spLocks noGrp="1"/>
          </p:cNvSpPr>
          <p:nvPr>
            <p:ph type="title" idx="4294967295"/>
          </p:nvPr>
        </p:nvSpPr>
        <p:spPr>
          <a:xfrm>
            <a:off x="428517" y="425560"/>
            <a:ext cx="11392544" cy="998538"/>
          </a:xfrm>
        </p:spPr>
        <p:txBody>
          <a:bodyPr/>
          <a:lstStyle/>
          <a:p>
            <a:r>
              <a:rPr lang="en-US">
                <a:solidFill>
                  <a:schemeClr val="bg1"/>
                </a:solidFill>
              </a:rPr>
              <a:t>GenAI Lifecycle in the real world: Start small and iterate</a:t>
            </a:r>
            <a:endParaRPr lang="en-GB">
              <a:solidFill>
                <a:schemeClr val="bg1"/>
              </a:solidFill>
            </a:endParaRPr>
          </a:p>
        </p:txBody>
      </p:sp>
      <p:sp>
        <p:nvSpPr>
          <p:cNvPr id="3" name="TextBox 2">
            <a:extLst>
              <a:ext uri="{FF2B5EF4-FFF2-40B4-BE49-F238E27FC236}">
                <a16:creationId xmlns:a16="http://schemas.microsoft.com/office/drawing/2014/main" id="{47F478A6-8CD6-3467-718C-DD72037AFC2C}"/>
              </a:ext>
            </a:extLst>
          </p:cNvPr>
          <p:cNvSpPr txBox="1"/>
          <p:nvPr/>
        </p:nvSpPr>
        <p:spPr>
          <a:xfrm>
            <a:off x="629050" y="3528672"/>
            <a:ext cx="296556" cy="16158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50" b="1">
                <a:ln w="3175">
                  <a:noFill/>
                </a:ln>
                <a:solidFill>
                  <a:schemeClr val="bg1"/>
                </a:solidFill>
              </a:rPr>
              <a:t>Data</a:t>
            </a:r>
          </a:p>
        </p:txBody>
      </p:sp>
      <p:cxnSp>
        <p:nvCxnSpPr>
          <p:cNvPr id="4" name="Straight Connector 3" descr="Leads to">
            <a:extLst>
              <a:ext uri="{FF2B5EF4-FFF2-40B4-BE49-F238E27FC236}">
                <a16:creationId xmlns:a16="http://schemas.microsoft.com/office/drawing/2014/main" id="{6C0DBC01-C5CB-C5B1-3BDA-50D20905BEEC}"/>
              </a:ext>
              <a:ext uri="{C183D7F6-B498-43B3-948B-1728B52AA6E4}">
                <adec:decorative xmlns:adec="http://schemas.microsoft.com/office/drawing/2017/decorative" val="0"/>
              </a:ext>
            </a:extLst>
          </p:cNvPr>
          <p:cNvCxnSpPr>
            <a:cxnSpLocks/>
          </p:cNvCxnSpPr>
          <p:nvPr/>
        </p:nvCxnSpPr>
        <p:spPr>
          <a:xfrm flipH="1">
            <a:off x="1015955" y="3627057"/>
            <a:ext cx="374011" cy="0"/>
          </a:xfrm>
          <a:prstGeom prst="line">
            <a:avLst/>
          </a:prstGeom>
          <a:ln w="9525">
            <a:solidFill>
              <a:schemeClr val="bg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88FE859-C07B-C31F-496C-1333ECF9D826}"/>
              </a:ext>
              <a:ext uri="{C183D7F6-B498-43B3-948B-1728B52AA6E4}">
                <adec:decorative xmlns:adec="http://schemas.microsoft.com/office/drawing/2017/decorative" val="1"/>
              </a:ext>
            </a:extLst>
          </p:cNvPr>
          <p:cNvSpPr txBox="1"/>
          <p:nvPr/>
        </p:nvSpPr>
        <p:spPr>
          <a:xfrm>
            <a:off x="1485799" y="5677592"/>
            <a:ext cx="270995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0078D4"/>
                    </a:gs>
                    <a:gs pos="80000">
                      <a:srgbClr val="399A91"/>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gradFill>
                  <a:gsLst>
                    <a:gs pos="0">
                      <a:srgbClr val="BDF2BD"/>
                    </a:gs>
                    <a:gs pos="100000">
                      <a:srgbClr val="C3E9FC"/>
                    </a:gs>
                  </a:gsLst>
                  <a:lin ang="5400000" scaled="1"/>
                </a:gradFill>
                <a:latin typeface="Segoe Sans Text Semibold"/>
                <a:cs typeface="Segoe Sans Text" pitchFamily="2" charset="0"/>
              </a:rPr>
              <a:t>Prototyping</a:t>
            </a:r>
          </a:p>
          <a:p>
            <a:pPr algn="ctr" defTabSz="914400">
              <a:defRPr/>
            </a:pPr>
            <a:r>
              <a:rPr lang="en-GB" sz="1050" b="1">
                <a:solidFill>
                  <a:schemeClr val="bg1"/>
                </a:solidFill>
                <a:latin typeface="+mn-lt"/>
                <a:cs typeface="Segoe Sans Text" pitchFamily="2" charset="0"/>
              </a:rPr>
              <a:t>Ideating &amp; Explore</a:t>
            </a:r>
          </a:p>
        </p:txBody>
      </p:sp>
      <p:grpSp>
        <p:nvGrpSpPr>
          <p:cNvPr id="62" name="Group 61">
            <a:extLst>
              <a:ext uri="{FF2B5EF4-FFF2-40B4-BE49-F238E27FC236}">
                <a16:creationId xmlns:a16="http://schemas.microsoft.com/office/drawing/2014/main" id="{57402789-C654-4030-7CDD-E69205816098}"/>
              </a:ext>
            </a:extLst>
          </p:cNvPr>
          <p:cNvGrpSpPr/>
          <p:nvPr/>
        </p:nvGrpSpPr>
        <p:grpSpPr>
          <a:xfrm>
            <a:off x="1493058" y="2275150"/>
            <a:ext cx="2688577" cy="2688578"/>
            <a:chOff x="1493058" y="2275150"/>
            <a:chExt cx="2688577" cy="2688578"/>
          </a:xfrm>
        </p:grpSpPr>
        <p:sp>
          <p:nvSpPr>
            <p:cNvPr id="6" name="Circle: Hollow 5">
              <a:extLst>
                <a:ext uri="{FF2B5EF4-FFF2-40B4-BE49-F238E27FC236}">
                  <a16:creationId xmlns:a16="http://schemas.microsoft.com/office/drawing/2014/main" id="{DEC0154B-7511-F7E2-2375-E734EB38CC33}"/>
                </a:ext>
                <a:ext uri="{C183D7F6-B498-43B3-948B-1728B52AA6E4}">
                  <adec:decorative xmlns:adec="http://schemas.microsoft.com/office/drawing/2017/decorative" val="1"/>
                </a:ext>
              </a:extLst>
            </p:cNvPr>
            <p:cNvSpPr>
              <a:spLocks noChangeAspect="1"/>
            </p:cNvSpPr>
            <p:nvPr/>
          </p:nvSpPr>
          <p:spPr bwMode="auto">
            <a:xfrm>
              <a:off x="1493058" y="2275150"/>
              <a:ext cx="2688577" cy="2688578"/>
            </a:xfrm>
            <a:prstGeom prst="donut">
              <a:avLst>
                <a:gd name="adj" fmla="val 12613"/>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ea typeface="+mn-ea"/>
                <a:cs typeface="+mn-cs"/>
              </a:endParaRPr>
            </a:p>
          </p:txBody>
        </p:sp>
        <p:sp>
          <p:nvSpPr>
            <p:cNvPr id="7" name="TextBox 6">
              <a:extLst>
                <a:ext uri="{FF2B5EF4-FFF2-40B4-BE49-F238E27FC236}">
                  <a16:creationId xmlns:a16="http://schemas.microsoft.com/office/drawing/2014/main" id="{00859031-26D9-F699-BEC6-01F8C017289A}"/>
                </a:ext>
                <a:ext uri="{C183D7F6-B498-43B3-948B-1728B52AA6E4}">
                  <adec:decorative xmlns:adec="http://schemas.microsoft.com/office/drawing/2017/decorative" val="1"/>
                </a:ext>
              </a:extLst>
            </p:cNvPr>
            <p:cNvSpPr txBox="1">
              <a:spLocks noChangeAspect="1"/>
            </p:cNvSpPr>
            <p:nvPr/>
          </p:nvSpPr>
          <p:spPr>
            <a:xfrm rot="1643445">
              <a:off x="1632640" y="2464411"/>
              <a:ext cx="2439784" cy="2439784"/>
            </a:xfrm>
            <a:prstGeom prst="rect">
              <a:avLst/>
            </a:prstGeom>
            <a:noFill/>
          </p:spPr>
          <p:txBody>
            <a:bodyPr wrap="square" lIns="0" tIns="0" rIns="0" bIns="0" rtlCol="0">
              <a:prstTxWarp prst="textArchUp">
                <a:avLst>
                  <a:gd name="adj" fmla="val 1261381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Establish feasibility </a:t>
              </a:r>
            </a:p>
          </p:txBody>
        </p:sp>
        <p:sp>
          <p:nvSpPr>
            <p:cNvPr id="9" name="TextBox 8">
              <a:extLst>
                <a:ext uri="{FF2B5EF4-FFF2-40B4-BE49-F238E27FC236}">
                  <a16:creationId xmlns:a16="http://schemas.microsoft.com/office/drawing/2014/main" id="{D38CE2A7-50C4-574F-289C-D7E848139983}"/>
                </a:ext>
                <a:ext uri="{C183D7F6-B498-43B3-948B-1728B52AA6E4}">
                  <adec:decorative xmlns:adec="http://schemas.microsoft.com/office/drawing/2017/decorative" val="1"/>
                </a:ext>
              </a:extLst>
            </p:cNvPr>
            <p:cNvSpPr txBox="1">
              <a:spLocks noChangeAspect="1"/>
            </p:cNvSpPr>
            <p:nvPr/>
          </p:nvSpPr>
          <p:spPr>
            <a:xfrm rot="11682144">
              <a:off x="1662441" y="2406264"/>
              <a:ext cx="2289378" cy="2384153"/>
            </a:xfrm>
            <a:prstGeom prst="rect">
              <a:avLst/>
            </a:prstGeom>
            <a:noFill/>
          </p:spPr>
          <p:txBody>
            <a:bodyPr wrap="square" lIns="0" tIns="0" rIns="0" bIns="0" rtlCol="0">
              <a:prstTxWarp prst="textArchUp">
                <a:avLst>
                  <a:gd name="adj" fmla="val 13727663"/>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Test   Prompts</a:t>
              </a:r>
            </a:p>
          </p:txBody>
        </p:sp>
        <p:sp>
          <p:nvSpPr>
            <p:cNvPr id="8" name="TextBox 7">
              <a:extLst>
                <a:ext uri="{FF2B5EF4-FFF2-40B4-BE49-F238E27FC236}">
                  <a16:creationId xmlns:a16="http://schemas.microsoft.com/office/drawing/2014/main" id="{0FFEDD08-FA82-17B2-E624-41B0B93872DC}"/>
                </a:ext>
                <a:ext uri="{C183D7F6-B498-43B3-948B-1728B52AA6E4}">
                  <adec:decorative xmlns:adec="http://schemas.microsoft.com/office/drawing/2017/decorative" val="1"/>
                </a:ext>
              </a:extLst>
            </p:cNvPr>
            <p:cNvSpPr txBox="1">
              <a:spLocks noChangeAspect="1"/>
            </p:cNvSpPr>
            <p:nvPr/>
          </p:nvSpPr>
          <p:spPr>
            <a:xfrm rot="16200000">
              <a:off x="1676692" y="2461064"/>
              <a:ext cx="2293484" cy="2293484"/>
            </a:xfrm>
            <a:prstGeom prst="rect">
              <a:avLst/>
            </a:prstGeom>
            <a:noFill/>
          </p:spPr>
          <p:txBody>
            <a:bodyPr wrap="square" lIns="0" tIns="0" rIns="0" bIns="0" rtlCol="0">
              <a:prstTxWarp prst="textArchUp">
                <a:avLst>
                  <a:gd name="adj" fmla="val 1420148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Choose LLM or SLM</a:t>
              </a:r>
            </a:p>
          </p:txBody>
        </p:sp>
        <p:sp>
          <p:nvSpPr>
            <p:cNvPr id="10" name="TextBox 9">
              <a:extLst>
                <a:ext uri="{FF2B5EF4-FFF2-40B4-BE49-F238E27FC236}">
                  <a16:creationId xmlns:a16="http://schemas.microsoft.com/office/drawing/2014/main" id="{2D8222F6-AC2D-C161-9FB8-E1F36AD76F32}"/>
                </a:ext>
                <a:ext uri="{C183D7F6-B498-43B3-948B-1728B52AA6E4}">
                  <adec:decorative xmlns:adec="http://schemas.microsoft.com/office/drawing/2017/decorative" val="1"/>
                </a:ext>
              </a:extLst>
            </p:cNvPr>
            <p:cNvSpPr txBox="1">
              <a:spLocks noChangeAspect="1"/>
            </p:cNvSpPr>
            <p:nvPr/>
          </p:nvSpPr>
          <p:spPr>
            <a:xfrm rot="5400000">
              <a:off x="1736254" y="2462357"/>
              <a:ext cx="2293484" cy="2293484"/>
            </a:xfrm>
            <a:prstGeom prst="rect">
              <a:avLst/>
            </a:prstGeom>
            <a:noFill/>
          </p:spPr>
          <p:txBody>
            <a:bodyPr wrap="square" lIns="0" tIns="0" rIns="0" bIns="0" rtlCol="0">
              <a:prstTxWarp prst="textArchUp">
                <a:avLst>
                  <a:gd name="adj" fmla="val 1297096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rgbClr val="FFFFFF"/>
                  </a:solidFill>
                  <a:latin typeface="+mj-lt"/>
                </a:rPr>
                <a:t>                 Define Use Case </a:t>
              </a:r>
              <a:endParaRPr kumimoji="0" lang="en-GB" sz="1100" b="0" i="0" u="none" strike="noStrike" kern="1200" cap="none" spc="0" normalizeH="0" baseline="0" noProof="0">
                <a:ln>
                  <a:noFill/>
                </a:ln>
                <a:solidFill>
                  <a:srgbClr val="FFFFFF"/>
                </a:solidFill>
                <a:effectLst/>
                <a:uLnTx/>
                <a:uFillTx/>
                <a:latin typeface="+mj-lt"/>
              </a:endParaRPr>
            </a:p>
          </p:txBody>
        </p:sp>
        <p:sp>
          <p:nvSpPr>
            <p:cNvPr id="11" name="Inner &gt; Middle">
              <a:extLst>
                <a:ext uri="{FF2B5EF4-FFF2-40B4-BE49-F238E27FC236}">
                  <a16:creationId xmlns:a16="http://schemas.microsoft.com/office/drawing/2014/main" id="{3CC55ADE-38FD-89E5-0758-F2D8584A7160}"/>
                </a:ext>
                <a:ext uri="{C183D7F6-B498-43B3-948B-1728B52AA6E4}">
                  <adec:decorative xmlns:adec="http://schemas.microsoft.com/office/drawing/2017/decorative" val="1"/>
                </a:ext>
              </a:extLst>
            </p:cNvPr>
            <p:cNvSpPr>
              <a:spLocks noChangeAspect="1"/>
            </p:cNvSpPr>
            <p:nvPr/>
          </p:nvSpPr>
          <p:spPr>
            <a:xfrm flipV="1">
              <a:off x="1937941" y="2707290"/>
              <a:ext cx="1798812" cy="1798811"/>
            </a:xfrm>
            <a:prstGeom prst="arc">
              <a:avLst>
                <a:gd name="adj1" fmla="val 8319039"/>
                <a:gd name="adj2" fmla="val 795784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740495" rtl="0" eaLnBrk="1" fontAlgn="auto" latinLnBrk="0" hangingPunct="1">
                <a:lnSpc>
                  <a:spcPct val="100000"/>
                </a:lnSpc>
                <a:spcBef>
                  <a:spcPts val="0"/>
                </a:spcBef>
                <a:spcAft>
                  <a:spcPts val="0"/>
                </a:spcAft>
                <a:buClrTx/>
                <a:buSzTx/>
                <a:buFontTx/>
                <a:buNone/>
                <a:tabLst/>
                <a:defRPr/>
              </a:pPr>
              <a:endParaRPr kumimoji="0" lang="en-GB" sz="1429" b="0" i="0" u="none" strike="noStrike" kern="1200" cap="none" spc="0" normalizeH="0" baseline="0" noProof="0">
                <a:ln>
                  <a:noFill/>
                </a:ln>
                <a:solidFill>
                  <a:prstClr val="black"/>
                </a:solidFill>
                <a:effectLst/>
                <a:uLnTx/>
                <a:uFillTx/>
                <a:ea typeface="+mn-ea"/>
                <a:cs typeface="+mn-cs"/>
              </a:endParaRPr>
            </a:p>
          </p:txBody>
        </p:sp>
        <p:sp>
          <p:nvSpPr>
            <p:cNvPr id="13" name="Rectangle 12">
              <a:extLst>
                <a:ext uri="{FF2B5EF4-FFF2-40B4-BE49-F238E27FC236}">
                  <a16:creationId xmlns:a16="http://schemas.microsoft.com/office/drawing/2014/main" id="{7393EBF4-623E-E80F-D5A3-6B881FA04A44}"/>
                </a:ext>
                <a:ext uri="{C183D7F6-B498-43B3-948B-1728B52AA6E4}">
                  <adec:decorative xmlns:adec="http://schemas.microsoft.com/office/drawing/2017/decorative" val="1"/>
                </a:ext>
              </a:extLst>
            </p:cNvPr>
            <p:cNvSpPr/>
            <p:nvPr/>
          </p:nvSpPr>
          <p:spPr bwMode="auto">
            <a:xfrm>
              <a:off x="2063784" y="2950245"/>
              <a:ext cx="1528509" cy="133003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solidFill>
                  <a:latin typeface="+mj-lt"/>
                </a:rPr>
                <a:t>Ideation &amp; Exploring</a:t>
              </a:r>
            </a:p>
          </p:txBody>
        </p:sp>
      </p:grpSp>
      <p:sp>
        <p:nvSpPr>
          <p:cNvPr id="23" name="TextBox 22">
            <a:extLst>
              <a:ext uri="{FF2B5EF4-FFF2-40B4-BE49-F238E27FC236}">
                <a16:creationId xmlns:a16="http://schemas.microsoft.com/office/drawing/2014/main" id="{EB8050FF-908E-B152-D192-2405C1CB9179}"/>
              </a:ext>
              <a:ext uri="{C183D7F6-B498-43B3-948B-1728B52AA6E4}">
                <adec:decorative xmlns:adec="http://schemas.microsoft.com/office/drawing/2017/decorative" val="1"/>
              </a:ext>
            </a:extLst>
          </p:cNvPr>
          <p:cNvSpPr txBox="1"/>
          <p:nvPr/>
        </p:nvSpPr>
        <p:spPr>
          <a:xfrm>
            <a:off x="4676618" y="5682066"/>
            <a:ext cx="2798819"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C03BC4"/>
                    </a:gs>
                    <a:gs pos="80000">
                      <a:srgbClr val="0078D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gradFill>
                  <a:gsLst>
                    <a:gs pos="0">
                      <a:srgbClr val="BDF2BD"/>
                    </a:gs>
                    <a:gs pos="100000">
                      <a:srgbClr val="C3E9FC"/>
                    </a:gs>
                  </a:gsLst>
                  <a:lin ang="5400000" scaled="1"/>
                </a:gradFill>
                <a:latin typeface="Segoe Sans Text Semibold"/>
                <a:cs typeface="Segoe Sans Text" pitchFamily="2" charset="0"/>
              </a:rPr>
              <a:t>Optimizing</a:t>
            </a:r>
          </a:p>
          <a:p>
            <a:pPr algn="ctr" defTabSz="914400">
              <a:defRPr/>
            </a:pPr>
            <a:r>
              <a:rPr lang="en-GB" sz="1050" b="1">
                <a:solidFill>
                  <a:schemeClr val="bg1"/>
                </a:solidFill>
                <a:latin typeface="+mn-lt"/>
                <a:cs typeface="Segoe Sans Text" pitchFamily="2" charset="0"/>
              </a:rPr>
              <a:t>Design &amp; Customize</a:t>
            </a:r>
          </a:p>
        </p:txBody>
      </p:sp>
      <p:grpSp>
        <p:nvGrpSpPr>
          <p:cNvPr id="63" name="Group 62">
            <a:extLst>
              <a:ext uri="{FF2B5EF4-FFF2-40B4-BE49-F238E27FC236}">
                <a16:creationId xmlns:a16="http://schemas.microsoft.com/office/drawing/2014/main" id="{0FD8AF0A-835D-78F7-1590-7336AD88932B}"/>
              </a:ext>
            </a:extLst>
          </p:cNvPr>
          <p:cNvGrpSpPr/>
          <p:nvPr/>
        </p:nvGrpSpPr>
        <p:grpSpPr>
          <a:xfrm>
            <a:off x="4278933" y="1544233"/>
            <a:ext cx="3378292" cy="3673783"/>
            <a:chOff x="4278933" y="1544233"/>
            <a:chExt cx="3378292" cy="3673783"/>
          </a:xfrm>
        </p:grpSpPr>
        <p:sp useBgFill="1">
          <p:nvSpPr>
            <p:cNvPr id="19" name="Circle: Hollow 18">
              <a:extLst>
                <a:ext uri="{FF2B5EF4-FFF2-40B4-BE49-F238E27FC236}">
                  <a16:creationId xmlns:a16="http://schemas.microsoft.com/office/drawing/2014/main" id="{74A6CD6E-E427-86C7-D1CF-C9B4DF1E9610}"/>
                </a:ext>
                <a:ext uri="{C183D7F6-B498-43B3-948B-1728B52AA6E4}">
                  <adec:decorative xmlns:adec="http://schemas.microsoft.com/office/drawing/2017/decorative" val="1"/>
                </a:ext>
              </a:extLst>
            </p:cNvPr>
            <p:cNvSpPr>
              <a:spLocks noChangeAspect="1"/>
            </p:cNvSpPr>
            <p:nvPr/>
          </p:nvSpPr>
          <p:spPr bwMode="auto">
            <a:xfrm rot="1000141">
              <a:off x="4460071" y="2020862"/>
              <a:ext cx="3197154" cy="3197154"/>
            </a:xfrm>
            <a:prstGeom prst="donut">
              <a:avLst>
                <a:gd name="adj" fmla="val 11285"/>
              </a:avLst>
            </a:prstGeom>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ea typeface="+mn-ea"/>
                <a:cs typeface="+mn-cs"/>
              </a:endParaRPr>
            </a:p>
          </p:txBody>
        </p:sp>
        <p:sp>
          <p:nvSpPr>
            <p:cNvPr id="20" name="TextBox 19">
              <a:extLst>
                <a:ext uri="{FF2B5EF4-FFF2-40B4-BE49-F238E27FC236}">
                  <a16:creationId xmlns:a16="http://schemas.microsoft.com/office/drawing/2014/main" id="{41341C17-FA4D-AD92-96E4-4A3700B18D1D}"/>
                </a:ext>
                <a:ext uri="{C183D7F6-B498-43B3-948B-1728B52AA6E4}">
                  <adec:decorative xmlns:adec="http://schemas.microsoft.com/office/drawing/2017/decorative" val="1"/>
                </a:ext>
              </a:extLst>
            </p:cNvPr>
            <p:cNvSpPr txBox="1">
              <a:spLocks noChangeAspect="1"/>
            </p:cNvSpPr>
            <p:nvPr/>
          </p:nvSpPr>
          <p:spPr>
            <a:xfrm rot="8693215">
              <a:off x="4278933" y="1544233"/>
              <a:ext cx="3111987" cy="3554728"/>
            </a:xfrm>
            <a:prstGeom prst="rect">
              <a:avLst/>
            </a:prstGeom>
            <a:noFill/>
          </p:spPr>
          <p:txBody>
            <a:bodyPr wrap="square" lIns="0" tIns="0" rIns="0" bIns="0" rtlCol="0">
              <a:prstTxWarp prst="textArchUp">
                <a:avLst>
                  <a:gd name="adj" fmla="val 12806076"/>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err="1">
                  <a:solidFill>
                    <a:srgbClr val="FFFFFF"/>
                  </a:solidFill>
                  <a:latin typeface="+mj-lt"/>
                </a:rPr>
                <a:t>Orchestraion</a:t>
              </a:r>
              <a:r>
                <a:rPr lang="en-GB" sz="1100">
                  <a:solidFill>
                    <a:srgbClr val="FFFFFF"/>
                  </a:solidFill>
                  <a:latin typeface="+mj-lt"/>
                </a:rPr>
                <a:t>   Integration    Debugging</a:t>
              </a:r>
              <a:endParaRPr kumimoji="0" lang="en-GB" sz="1100" b="0" i="0" u="none" strike="noStrike" kern="1200" cap="none" spc="0" normalizeH="0" baseline="0" noProof="0">
                <a:ln>
                  <a:noFill/>
                </a:ln>
                <a:solidFill>
                  <a:srgbClr val="FFFFFF"/>
                </a:solidFill>
                <a:effectLst/>
                <a:uLnTx/>
                <a:uFillTx/>
                <a:latin typeface="+mj-lt"/>
              </a:endParaRPr>
            </a:p>
          </p:txBody>
        </p:sp>
        <p:sp>
          <p:nvSpPr>
            <p:cNvPr id="21" name="TextBox 20">
              <a:extLst>
                <a:ext uri="{FF2B5EF4-FFF2-40B4-BE49-F238E27FC236}">
                  <a16:creationId xmlns:a16="http://schemas.microsoft.com/office/drawing/2014/main" id="{3182E12D-E5D7-EF72-F944-1C98C2B17D97}"/>
                </a:ext>
                <a:ext uri="{C183D7F6-B498-43B3-948B-1728B52AA6E4}">
                  <adec:decorative xmlns:adec="http://schemas.microsoft.com/office/drawing/2017/decorative" val="1"/>
                </a:ext>
              </a:extLst>
            </p:cNvPr>
            <p:cNvSpPr txBox="1">
              <a:spLocks noChangeAspect="1"/>
            </p:cNvSpPr>
            <p:nvPr/>
          </p:nvSpPr>
          <p:spPr>
            <a:xfrm>
              <a:off x="4663552" y="2211303"/>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 Techniques - Prompt Engineering, RAG, Fine-tuning</a:t>
              </a:r>
            </a:p>
          </p:txBody>
        </p:sp>
        <p:sp>
          <p:nvSpPr>
            <p:cNvPr id="25" name="TextBox 24">
              <a:extLst>
                <a:ext uri="{FF2B5EF4-FFF2-40B4-BE49-F238E27FC236}">
                  <a16:creationId xmlns:a16="http://schemas.microsoft.com/office/drawing/2014/main" id="{C1817C26-27AD-C2C6-E783-5AEB03F88711}"/>
                </a:ext>
                <a:ext uri="{C183D7F6-B498-43B3-948B-1728B52AA6E4}">
                  <adec:decorative xmlns:adec="http://schemas.microsoft.com/office/drawing/2017/decorative" val="1"/>
                </a:ext>
              </a:extLst>
            </p:cNvPr>
            <p:cNvSpPr txBox="1">
              <a:spLocks noChangeAspect="1"/>
            </p:cNvSpPr>
            <p:nvPr/>
          </p:nvSpPr>
          <p:spPr>
            <a:xfrm rot="14349291">
              <a:off x="4636304" y="2194099"/>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 Define Metrics     Evaluation</a:t>
              </a:r>
            </a:p>
          </p:txBody>
        </p:sp>
        <p:sp>
          <p:nvSpPr>
            <p:cNvPr id="22" name="Inner &gt; Middle">
              <a:extLst>
                <a:ext uri="{FF2B5EF4-FFF2-40B4-BE49-F238E27FC236}">
                  <a16:creationId xmlns:a16="http://schemas.microsoft.com/office/drawing/2014/main" id="{289CE8D5-73A2-CF4F-4895-F7FBAE710914}"/>
                </a:ext>
                <a:ext uri="{C183D7F6-B498-43B3-948B-1728B52AA6E4}">
                  <adec:decorative xmlns:adec="http://schemas.microsoft.com/office/drawing/2017/decorative" val="1"/>
                </a:ext>
              </a:extLst>
            </p:cNvPr>
            <p:cNvSpPr>
              <a:spLocks noChangeAspect="1"/>
            </p:cNvSpPr>
            <p:nvPr/>
          </p:nvSpPr>
          <p:spPr>
            <a:xfrm flipV="1">
              <a:off x="4933374" y="2486913"/>
              <a:ext cx="2257898" cy="2257897"/>
            </a:xfrm>
            <a:prstGeom prst="arc">
              <a:avLst>
                <a:gd name="adj1" fmla="val 7569981"/>
                <a:gd name="adj2" fmla="val 7363122"/>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26" name="Rectangle 25">
              <a:extLst>
                <a:ext uri="{FF2B5EF4-FFF2-40B4-BE49-F238E27FC236}">
                  <a16:creationId xmlns:a16="http://schemas.microsoft.com/office/drawing/2014/main" id="{F3411B47-CD01-5527-24BF-DFD634CA878D}"/>
                </a:ext>
              </a:extLst>
            </p:cNvPr>
            <p:cNvSpPr/>
            <p:nvPr/>
          </p:nvSpPr>
          <p:spPr bwMode="auto">
            <a:xfrm>
              <a:off x="5102546" y="2950245"/>
              <a:ext cx="1926170" cy="142710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solidFill>
                  <a:latin typeface="+mj-lt"/>
                </a:rPr>
                <a:t>Building &amp; Augmenting</a:t>
              </a:r>
            </a:p>
          </p:txBody>
        </p:sp>
      </p:grpSp>
      <p:sp>
        <p:nvSpPr>
          <p:cNvPr id="37" name="TextBox 36">
            <a:extLst>
              <a:ext uri="{FF2B5EF4-FFF2-40B4-BE49-F238E27FC236}">
                <a16:creationId xmlns:a16="http://schemas.microsoft.com/office/drawing/2014/main" id="{5ECAC70E-9EBA-4701-26AF-AC3AB7141E03}"/>
              </a:ext>
              <a:ext uri="{C183D7F6-B498-43B3-948B-1728B52AA6E4}">
                <adec:decorative xmlns:adec="http://schemas.microsoft.com/office/drawing/2017/decorative" val="1"/>
              </a:ext>
            </a:extLst>
          </p:cNvPr>
          <p:cNvSpPr txBox="1"/>
          <p:nvPr/>
        </p:nvSpPr>
        <p:spPr>
          <a:xfrm>
            <a:off x="8121823" y="5677592"/>
            <a:ext cx="315176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FF5C39"/>
                    </a:gs>
                    <a:gs pos="80000">
                      <a:srgbClr val="C03BC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gradFill>
                  <a:gsLst>
                    <a:gs pos="0">
                      <a:srgbClr val="BDF2BD"/>
                    </a:gs>
                    <a:gs pos="100000">
                      <a:srgbClr val="C3E9FC"/>
                    </a:gs>
                  </a:gsLst>
                  <a:lin ang="5400000" scaled="1"/>
                </a:gradFill>
                <a:latin typeface="Segoe Sans Text Semibold"/>
                <a:cs typeface="Segoe Sans Text" pitchFamily="2" charset="0"/>
              </a:rPr>
              <a:t>Operationalizing</a:t>
            </a:r>
          </a:p>
          <a:p>
            <a:pPr algn="ctr" defTabSz="914400">
              <a:defRPr/>
            </a:pPr>
            <a:r>
              <a:rPr lang="en-GB" sz="1050" b="1">
                <a:solidFill>
                  <a:schemeClr val="bg1"/>
                </a:solidFill>
                <a:latin typeface="+mn-lt"/>
                <a:cs typeface="Segoe Sans Text" pitchFamily="2" charset="0"/>
              </a:rPr>
              <a:t>Manage &amp; Optimize</a:t>
            </a:r>
          </a:p>
        </p:txBody>
      </p:sp>
      <p:grpSp>
        <p:nvGrpSpPr>
          <p:cNvPr id="64" name="Group 63">
            <a:extLst>
              <a:ext uri="{FF2B5EF4-FFF2-40B4-BE49-F238E27FC236}">
                <a16:creationId xmlns:a16="http://schemas.microsoft.com/office/drawing/2014/main" id="{617EBDC5-3A95-B9BA-9A6B-BCE99CA86ABF}"/>
              </a:ext>
            </a:extLst>
          </p:cNvPr>
          <p:cNvGrpSpPr/>
          <p:nvPr/>
        </p:nvGrpSpPr>
        <p:grpSpPr>
          <a:xfrm>
            <a:off x="7935661" y="1857394"/>
            <a:ext cx="3524090" cy="3524090"/>
            <a:chOff x="7935661" y="1857394"/>
            <a:chExt cx="3524090" cy="3524090"/>
          </a:xfrm>
        </p:grpSpPr>
        <p:sp useBgFill="1">
          <p:nvSpPr>
            <p:cNvPr id="32" name="Circle: Hollow 31">
              <a:extLst>
                <a:ext uri="{FF2B5EF4-FFF2-40B4-BE49-F238E27FC236}">
                  <a16:creationId xmlns:a16="http://schemas.microsoft.com/office/drawing/2014/main" id="{6D5CB682-09FA-08FD-080F-943DABB5A93A}"/>
                </a:ext>
                <a:ext uri="{C183D7F6-B498-43B3-948B-1728B52AA6E4}">
                  <adec:decorative xmlns:adec="http://schemas.microsoft.com/office/drawing/2017/decorative" val="1"/>
                </a:ext>
              </a:extLst>
            </p:cNvPr>
            <p:cNvSpPr>
              <a:spLocks noChangeAspect="1"/>
            </p:cNvSpPr>
            <p:nvPr/>
          </p:nvSpPr>
          <p:spPr bwMode="auto">
            <a:xfrm>
              <a:off x="7935661" y="1857394"/>
              <a:ext cx="3524090" cy="3524090"/>
            </a:xfrm>
            <a:prstGeom prst="donut">
              <a:avLst>
                <a:gd name="adj" fmla="val 11141"/>
              </a:avLst>
            </a:prstGeom>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ea typeface="+mn-ea"/>
                <a:cs typeface="+mn-cs"/>
              </a:endParaRPr>
            </a:p>
          </p:txBody>
        </p:sp>
        <p:sp>
          <p:nvSpPr>
            <p:cNvPr id="34" name="TextBox 33">
              <a:extLst>
                <a:ext uri="{FF2B5EF4-FFF2-40B4-BE49-F238E27FC236}">
                  <a16:creationId xmlns:a16="http://schemas.microsoft.com/office/drawing/2014/main" id="{7787F900-0657-1B82-261E-FB239599223F}"/>
                </a:ext>
                <a:ext uri="{C183D7F6-B498-43B3-948B-1728B52AA6E4}">
                  <adec:decorative xmlns:adec="http://schemas.microsoft.com/office/drawing/2017/decorative" val="1"/>
                </a:ext>
              </a:extLst>
            </p:cNvPr>
            <p:cNvSpPr txBox="1">
              <a:spLocks noChangeAspect="1"/>
            </p:cNvSpPr>
            <p:nvPr/>
          </p:nvSpPr>
          <p:spPr>
            <a:xfrm rot="7894997">
              <a:off x="8140354" y="207332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Segoe Sans Text" pitchFamily="2" charset="0"/>
                </a:rPr>
                <a:t>Continuous Evaluation &amp; Monitoring    </a:t>
              </a:r>
              <a:r>
                <a:rPr lang="en-GB" sz="1100">
                  <a:solidFill>
                    <a:srgbClr val="FFFFFF"/>
                  </a:solidFill>
                  <a:latin typeface="Segoe Sans Text" pitchFamily="2" charset="0"/>
                </a:rPr>
                <a:t>Quota &amp; Cost Management</a:t>
              </a:r>
              <a:endParaRPr kumimoji="0" lang="en-GB" sz="1100" b="0" i="0" u="none" strike="noStrike" kern="1200" cap="none" spc="0" normalizeH="0" baseline="0" noProof="0">
                <a:ln>
                  <a:noFill/>
                </a:ln>
                <a:solidFill>
                  <a:srgbClr val="FFFFFF"/>
                </a:solidFill>
                <a:effectLst/>
                <a:uLnTx/>
                <a:uFillTx/>
                <a:latin typeface="Segoe Sans Text" pitchFamily="2" charset="0"/>
              </a:endParaRPr>
            </a:p>
          </p:txBody>
        </p:sp>
        <p:sp>
          <p:nvSpPr>
            <p:cNvPr id="36" name="TextBox 35">
              <a:extLst>
                <a:ext uri="{FF2B5EF4-FFF2-40B4-BE49-F238E27FC236}">
                  <a16:creationId xmlns:a16="http://schemas.microsoft.com/office/drawing/2014/main" id="{091E0835-CF03-B891-8435-30084847FB08}"/>
                </a:ext>
                <a:ext uri="{C183D7F6-B498-43B3-948B-1728B52AA6E4}">
                  <adec:decorative xmlns:adec="http://schemas.microsoft.com/office/drawing/2017/decorative" val="1"/>
                </a:ext>
              </a:extLst>
            </p:cNvPr>
            <p:cNvSpPr txBox="1">
              <a:spLocks noChangeAspect="1"/>
            </p:cNvSpPr>
            <p:nvPr/>
          </p:nvSpPr>
          <p:spPr>
            <a:xfrm rot="15183746">
              <a:off x="8157551" y="1975283"/>
              <a:ext cx="3224508" cy="3224508"/>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Security and data privacy</a:t>
              </a:r>
            </a:p>
          </p:txBody>
        </p:sp>
        <p:sp>
          <p:nvSpPr>
            <p:cNvPr id="33" name="TextBox 32">
              <a:extLst>
                <a:ext uri="{FF2B5EF4-FFF2-40B4-BE49-F238E27FC236}">
                  <a16:creationId xmlns:a16="http://schemas.microsoft.com/office/drawing/2014/main" id="{77C92ABB-54F0-F6CA-108E-9183A4F851D0}"/>
                </a:ext>
                <a:ext uri="{C183D7F6-B498-43B3-948B-1728B52AA6E4}">
                  <adec:decorative xmlns:adec="http://schemas.microsoft.com/office/drawing/2017/decorative" val="1"/>
                </a:ext>
              </a:extLst>
            </p:cNvPr>
            <p:cNvSpPr txBox="1">
              <a:spLocks noChangeAspect="1"/>
            </p:cNvSpPr>
            <p:nvPr/>
          </p:nvSpPr>
          <p:spPr>
            <a:xfrm rot="21287264">
              <a:off x="8148814" y="205983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a:solidFill>
                    <a:srgbClr val="FFFFFF"/>
                  </a:solidFill>
                  <a:latin typeface="+mj-lt"/>
                </a:rPr>
                <a:t>Deploy LLM App, UI, Model, Workflow</a:t>
              </a:r>
              <a:endParaRPr kumimoji="0" lang="en-GB" sz="1100" i="0" u="none" strike="noStrike" kern="1200" cap="none" spc="0" normalizeH="0" baseline="0" noProof="0">
                <a:ln>
                  <a:noFill/>
                </a:ln>
                <a:solidFill>
                  <a:srgbClr val="FFFFFF"/>
                </a:solidFill>
                <a:effectLst/>
                <a:uLnTx/>
                <a:uFillTx/>
                <a:latin typeface="+mj-lt"/>
              </a:endParaRPr>
            </a:p>
          </p:txBody>
        </p:sp>
        <p:sp>
          <p:nvSpPr>
            <p:cNvPr id="35" name="Inner &gt; Middle">
              <a:extLst>
                <a:ext uri="{FF2B5EF4-FFF2-40B4-BE49-F238E27FC236}">
                  <a16:creationId xmlns:a16="http://schemas.microsoft.com/office/drawing/2014/main" id="{AC177EBC-A687-B42D-CCD1-5667936C0B92}"/>
                </a:ext>
                <a:ext uri="{C183D7F6-B498-43B3-948B-1728B52AA6E4}">
                  <adec:decorative xmlns:adec="http://schemas.microsoft.com/office/drawing/2017/decorative" val="1"/>
                </a:ext>
              </a:extLst>
            </p:cNvPr>
            <p:cNvSpPr>
              <a:spLocks noChangeAspect="1"/>
            </p:cNvSpPr>
            <p:nvPr/>
          </p:nvSpPr>
          <p:spPr>
            <a:xfrm flipV="1">
              <a:off x="8440406" y="2349396"/>
              <a:ext cx="2514600" cy="2514600"/>
            </a:xfrm>
            <a:prstGeom prst="arc">
              <a:avLst>
                <a:gd name="adj1" fmla="val 8319039"/>
                <a:gd name="adj2" fmla="val 8134095"/>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39" name="Rectangle 38">
              <a:extLst>
                <a:ext uri="{FF2B5EF4-FFF2-40B4-BE49-F238E27FC236}">
                  <a16:creationId xmlns:a16="http://schemas.microsoft.com/office/drawing/2014/main" id="{FECC431C-8F3D-D2C5-70AB-9A57D4DC9C80}"/>
                </a:ext>
              </a:extLst>
            </p:cNvPr>
            <p:cNvSpPr/>
            <p:nvPr/>
          </p:nvSpPr>
          <p:spPr bwMode="auto">
            <a:xfrm>
              <a:off x="8669330" y="2950245"/>
              <a:ext cx="2068977" cy="1483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solidFill>
                  <a:latin typeface="+mj-lt"/>
                </a:rPr>
                <a:t>Deploying &amp; Monitoring</a:t>
              </a:r>
            </a:p>
          </p:txBody>
        </p:sp>
      </p:grpSp>
      <p:sp>
        <p:nvSpPr>
          <p:cNvPr id="40" name="BUSINESS NEED"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00241C04-CA4F-5208-813F-1ECC74EA75CE}"/>
              </a:ext>
            </a:extLst>
          </p:cNvPr>
          <p:cNvSpPr txBox="1"/>
          <p:nvPr/>
        </p:nvSpPr>
        <p:spPr>
          <a:xfrm>
            <a:off x="585217" y="2456663"/>
            <a:ext cx="818622" cy="446469"/>
          </a:xfrm>
          <a:prstGeom prst="rect">
            <a:avLst/>
          </a:prstGeom>
          <a:noFill/>
        </p:spPr>
        <p:txBody>
          <a:bodyPr wrap="none" rtlCol="0">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lang="en-US" sz="1000" b="1" spc="32">
                <a:ln w="3175">
                  <a:noFill/>
                </a:ln>
                <a:solidFill>
                  <a:schemeClr val="bg1"/>
                </a:solidFill>
                <a:cs typeface="Segoe Sans Text" pitchFamily="2" charset="0"/>
              </a:rPr>
              <a:t>BUSINESS</a:t>
            </a:r>
            <a:br>
              <a:rPr lang="en-US" sz="1000" b="1" spc="32">
                <a:ln w="3175">
                  <a:noFill/>
                </a:ln>
                <a:solidFill>
                  <a:schemeClr val="bg1"/>
                </a:solidFill>
                <a:cs typeface="Segoe Sans Text" pitchFamily="2" charset="0"/>
              </a:rPr>
            </a:br>
            <a:r>
              <a:rPr lang="en-US" sz="1000" b="1" spc="32">
                <a:ln w="3175">
                  <a:noFill/>
                </a:ln>
                <a:solidFill>
                  <a:schemeClr val="bg1"/>
                </a:solidFill>
                <a:cs typeface="Segoe Sans Text" pitchFamily="2" charset="0"/>
              </a:rPr>
              <a:t>NEED</a:t>
            </a:r>
          </a:p>
        </p:txBody>
      </p:sp>
      <p:sp>
        <p:nvSpPr>
          <p:cNvPr id="41"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60CAA246-6172-A152-DC7E-D310A7124C04}"/>
              </a:ext>
            </a:extLst>
          </p:cNvPr>
          <p:cNvSpPr>
            <a:spLocks noChangeAspect="1"/>
          </p:cNvSpPr>
          <p:nvPr/>
        </p:nvSpPr>
        <p:spPr>
          <a:xfrm flipH="1">
            <a:off x="1100697" y="2179207"/>
            <a:ext cx="1530771" cy="1531095"/>
          </a:xfrm>
          <a:prstGeom prst="arc">
            <a:avLst>
              <a:gd name="adj1" fmla="val 14631255"/>
              <a:gd name="adj2" fmla="val 19066496"/>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48" name="Rectangle: Rounded Corners 47">
            <a:extLst>
              <a:ext uri="{FF2B5EF4-FFF2-40B4-BE49-F238E27FC236}">
                <a16:creationId xmlns:a16="http://schemas.microsoft.com/office/drawing/2014/main" id="{83D9CD86-9BC0-6C79-1932-16CDCB15FF2A}"/>
              </a:ext>
            </a:extLst>
          </p:cNvPr>
          <p:cNvSpPr>
            <a:spLocks/>
          </p:cNvSpPr>
          <p:nvPr/>
        </p:nvSpPr>
        <p:spPr bwMode="auto">
          <a:xfrm rot="10800000" flipH="1" flipV="1">
            <a:off x="383428" y="1223818"/>
            <a:ext cx="11392545" cy="5241175"/>
          </a:xfrm>
          <a:prstGeom prst="roundRect">
            <a:avLst>
              <a:gd name="adj" fmla="val 2665"/>
            </a:avLst>
          </a:prstGeom>
          <a:no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1" name="Text Placeholder 2">
            <a:extLst>
              <a:ext uri="{FF2B5EF4-FFF2-40B4-BE49-F238E27FC236}">
                <a16:creationId xmlns:a16="http://schemas.microsoft.com/office/drawing/2014/main" id="{610D55FE-827A-DCAD-ECDA-CEF9DCF67B4D}"/>
              </a:ext>
            </a:extLst>
          </p:cNvPr>
          <p:cNvSpPr txBox="1">
            <a:spLocks/>
          </p:cNvSpPr>
          <p:nvPr/>
        </p:nvSpPr>
        <p:spPr>
          <a:xfrm flipH="1">
            <a:off x="378808" y="1216766"/>
            <a:ext cx="1530772" cy="475232"/>
          </a:xfrm>
          <a:prstGeom prst="round1Rect">
            <a:avLst>
              <a:gd name="adj" fmla="val 30272"/>
            </a:avLst>
          </a:prstGeom>
          <a:blipFill>
            <a:blip r:embed="rId3">
              <a:lum/>
            </a:blip>
            <a:stretch>
              <a:fillRect l="-288914" t="-614398" r="-146658" b="-90140"/>
            </a:stretch>
          </a:blipFill>
          <a:ln>
            <a:noFill/>
            <a:headEnd type="none" w="med" len="med"/>
            <a:tailEnd type="none" w="med" len="med"/>
          </a:ln>
          <a:effectLst>
            <a:outerShdw blurRad="127000" dist="38100" algn="l"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6000" rIns="0" bIns="36576" numCol="1" spcCol="0" rtlCol="0" fromWordArt="0" anchor="ctr" anchorCtr="0" forceAA="0" compatLnSpc="1">
            <a:prstTxWarp prst="textNoShape">
              <a:avLst/>
            </a:prstTxWarp>
            <a:noAutofit/>
          </a:bodyPr>
          <a:lstStyle>
            <a:defPPr>
              <a:defRPr lang="en-US"/>
            </a:defPPr>
            <a:lvl1pPr algn="ctr" defTabSz="914367">
              <a:buSzPct val="90000"/>
              <a:defRPr sz="1200">
                <a:solidFill>
                  <a:schemeClr val="bg1"/>
                </a:solidFill>
                <a:latin typeface="+mj-lt"/>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sz="1800"/>
          </a:p>
        </p:txBody>
      </p:sp>
      <p:sp>
        <p:nvSpPr>
          <p:cNvPr id="49" name="TextBox 48"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EC0F8B45-C298-D8EA-6556-8073FE15C087}"/>
              </a:ext>
            </a:extLst>
          </p:cNvPr>
          <p:cNvSpPr txBox="1"/>
          <p:nvPr/>
        </p:nvSpPr>
        <p:spPr>
          <a:xfrm>
            <a:off x="491701" y="1253357"/>
            <a:ext cx="1289061" cy="394762"/>
          </a:xfrm>
          <a:prstGeom prst="rect">
            <a:avLst/>
          </a:prstGeom>
          <a:noFill/>
        </p:spPr>
        <p:txBody>
          <a:bodyPr wrap="square" lIns="58312" tIns="58312" rIns="58312" bIns="58312" rtlCol="0" anchor="t">
            <a:spAutoFit/>
          </a:bodyPr>
          <a:lstStyle/>
          <a:p>
            <a:pPr defTabSz="932472" fontAlgn="base">
              <a:spcBef>
                <a:spcPct val="0"/>
              </a:spcBef>
              <a:spcAft>
                <a:spcPct val="0"/>
              </a:spcAft>
              <a:defRPr/>
            </a:pPr>
            <a:r>
              <a:rPr lang="en-US">
                <a:solidFill>
                  <a:schemeClr val="bg1"/>
                </a:solidFill>
                <a:latin typeface="+mj-lt"/>
              </a:rPr>
              <a:t>Managing</a:t>
            </a:r>
            <a:endParaRPr lang="ja-JP" altLang="en-US">
              <a:solidFill>
                <a:schemeClr val="bg1"/>
              </a:solidFill>
              <a:latin typeface="+mj-lt"/>
            </a:endParaRPr>
          </a:p>
        </p:txBody>
      </p:sp>
      <p:grpSp>
        <p:nvGrpSpPr>
          <p:cNvPr id="55" name="Group 54">
            <a:extLst>
              <a:ext uri="{FF2B5EF4-FFF2-40B4-BE49-F238E27FC236}">
                <a16:creationId xmlns:a16="http://schemas.microsoft.com/office/drawing/2014/main" id="{1EF8FB9F-002A-1485-0813-973E40B960FE}"/>
              </a:ext>
            </a:extLst>
          </p:cNvPr>
          <p:cNvGrpSpPr/>
          <p:nvPr/>
        </p:nvGrpSpPr>
        <p:grpSpPr>
          <a:xfrm>
            <a:off x="1768562" y="1325621"/>
            <a:ext cx="245286" cy="245286"/>
            <a:chOff x="1751823" y="1304264"/>
            <a:chExt cx="288000" cy="288000"/>
          </a:xfrm>
        </p:grpSpPr>
        <p:sp useBgFill="1">
          <p:nvSpPr>
            <p:cNvPr id="52" name="Rectangle: Rounded Corners 51">
              <a:extLst>
                <a:ext uri="{FF2B5EF4-FFF2-40B4-BE49-F238E27FC236}">
                  <a16:creationId xmlns:a16="http://schemas.microsoft.com/office/drawing/2014/main" id="{A4F95BA6-44C0-05CF-BD25-DBF3A280309A}"/>
                </a:ext>
                <a:ext uri="{C183D7F6-B498-43B3-948B-1728B52AA6E4}">
                  <adec:decorative xmlns:adec="http://schemas.microsoft.com/office/drawing/2017/decorative" val="1"/>
                </a:ext>
              </a:extLst>
            </p:cNvPr>
            <p:cNvSpPr/>
            <p:nvPr/>
          </p:nvSpPr>
          <p:spPr bwMode="auto">
            <a:xfrm>
              <a:off x="1751823" y="1304264"/>
              <a:ext cx="288000" cy="288000"/>
            </a:xfrm>
            <a:prstGeom prst="roundRect">
              <a:avLst/>
            </a:prstGeom>
            <a:ln w="38100">
              <a:gradFill>
                <a:gsLst>
                  <a:gs pos="0">
                    <a:srgbClr val="00CCAB"/>
                  </a:gs>
                  <a:gs pos="100000">
                    <a:srgbClr val="C3E9FC"/>
                  </a:gs>
                </a:gsLst>
                <a:lin ang="5400000" scaled="1"/>
              </a:gradFill>
            </a:ln>
            <a:effectLst>
              <a:outerShdw blurRad="63500" dist="127000" dir="2700000" algn="tl" rotWithShape="0">
                <a:prstClr val="black">
                  <a:alpha val="50000"/>
                </a:prstClr>
              </a:outerShdw>
            </a:effectLst>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chemeClr val="bg1"/>
                </a:solidFill>
                <a:effectLst/>
                <a:uLnTx/>
                <a:uFillTx/>
                <a:latin typeface="+mj-lt"/>
                <a:ea typeface="+mn-ea"/>
                <a:cs typeface="+mn-cs"/>
              </a:endParaRPr>
            </a:p>
          </p:txBody>
        </p:sp>
        <p:pic>
          <p:nvPicPr>
            <p:cNvPr id="54" name="Graphic 53">
              <a:extLst>
                <a:ext uri="{FF2B5EF4-FFF2-40B4-BE49-F238E27FC236}">
                  <a16:creationId xmlns:a16="http://schemas.microsoft.com/office/drawing/2014/main" id="{25CF27F7-48D7-30B9-7438-E23AE156BF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3094" y="1347601"/>
              <a:ext cx="203693" cy="203693"/>
            </a:xfrm>
            <a:prstGeom prst="rect">
              <a:avLst/>
            </a:prstGeom>
          </p:spPr>
        </p:pic>
      </p:grpSp>
    </p:spTree>
    <p:extLst>
      <p:ext uri="{BB962C8B-B14F-4D97-AF65-F5344CB8AC3E}">
        <p14:creationId xmlns:p14="http://schemas.microsoft.com/office/powerpoint/2010/main" val="2887788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250" fill="hold"/>
                                        <p:tgtEl>
                                          <p:spTgt spid="47"/>
                                        </p:tgtEl>
                                        <p:attrNameLst>
                                          <p:attrName>ppt_w</p:attrName>
                                        </p:attrNameLst>
                                      </p:cBhvr>
                                      <p:tavLst>
                                        <p:tav tm="0">
                                          <p:val>
                                            <p:strVal val="2/3*#ppt_w"/>
                                          </p:val>
                                        </p:tav>
                                        <p:tav tm="100000">
                                          <p:val>
                                            <p:strVal val="#ppt_w"/>
                                          </p:val>
                                        </p:tav>
                                      </p:tavLst>
                                    </p:anim>
                                    <p:anim calcmode="lin" valueType="num">
                                      <p:cBhvr>
                                        <p:cTn id="8" dur="250" fill="hold"/>
                                        <p:tgtEl>
                                          <p:spTgt spid="47"/>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childTnLst>
                                </p:cTn>
                              </p:par>
                              <p:par>
                                <p:cTn id="12" presetID="6" presetClass="emph" presetSubtype="0" fill="hold" grpId="2" nodeType="withEffect">
                                  <p:stCondLst>
                                    <p:cond delay="0"/>
                                  </p:stCondLst>
                                  <p:childTnLst>
                                    <p:animScale>
                                      <p:cBhvr>
                                        <p:cTn id="13" dur="10" fill="hold"/>
                                        <p:tgtEl>
                                          <p:spTgt spid="47"/>
                                        </p:tgtEl>
                                      </p:cBhvr>
                                      <p:by x="80000" y="80000"/>
                                    </p:animScale>
                                  </p:childTnLst>
                                </p:cTn>
                              </p:par>
                              <p:par>
                                <p:cTn id="14" presetID="6" presetClass="emph" presetSubtype="0" decel="100000" fill="hold" grpId="3" nodeType="withEffect">
                                  <p:stCondLst>
                                    <p:cond delay="0"/>
                                  </p:stCondLst>
                                  <p:childTnLst>
                                    <p:animScale>
                                      <p:cBhvr>
                                        <p:cTn id="15" dur="1000" fill="hold"/>
                                        <p:tgtEl>
                                          <p:spTgt spid="47"/>
                                        </p:tgtEl>
                                      </p:cBhvr>
                                      <p:by x="125000" y="125000"/>
                                    </p:animScale>
                                  </p:childTnLst>
                                </p:cTn>
                              </p:par>
                              <p:par>
                                <p:cTn id="16" presetID="23" presetClass="entr" presetSubtype="272" fill="hold" grpId="0" nodeType="withEffect">
                                  <p:stCondLst>
                                    <p:cond delay="0"/>
                                  </p:stCondLst>
                                  <p:childTnLst>
                                    <p:set>
                                      <p:cBhvr>
                                        <p:cTn id="17" dur="1" fill="hold">
                                          <p:stCondLst>
                                            <p:cond delay="0"/>
                                          </p:stCondLst>
                                        </p:cTn>
                                        <p:tgtEl>
                                          <p:spTgt spid="48"/>
                                        </p:tgtEl>
                                        <p:attrNameLst>
                                          <p:attrName>style.visibility</p:attrName>
                                        </p:attrNameLst>
                                      </p:cBhvr>
                                      <p:to>
                                        <p:strVal val="visible"/>
                                      </p:to>
                                    </p:set>
                                    <p:anim calcmode="lin" valueType="num">
                                      <p:cBhvr>
                                        <p:cTn id="18" dur="250" fill="hold"/>
                                        <p:tgtEl>
                                          <p:spTgt spid="48"/>
                                        </p:tgtEl>
                                        <p:attrNameLst>
                                          <p:attrName>ppt_w</p:attrName>
                                        </p:attrNameLst>
                                      </p:cBhvr>
                                      <p:tavLst>
                                        <p:tav tm="0">
                                          <p:val>
                                            <p:strVal val="2/3*#ppt_w"/>
                                          </p:val>
                                        </p:tav>
                                        <p:tav tm="100000">
                                          <p:val>
                                            <p:strVal val="#ppt_w"/>
                                          </p:val>
                                        </p:tav>
                                      </p:tavLst>
                                    </p:anim>
                                    <p:anim calcmode="lin" valueType="num">
                                      <p:cBhvr>
                                        <p:cTn id="19" dur="250" fill="hold"/>
                                        <p:tgtEl>
                                          <p:spTgt spid="48"/>
                                        </p:tgtEl>
                                        <p:attrNameLst>
                                          <p:attrName>ppt_h</p:attrName>
                                        </p:attrNameLst>
                                      </p:cBhvr>
                                      <p:tavLst>
                                        <p:tav tm="0">
                                          <p:val>
                                            <p:strVal val="2/3*#ppt_h"/>
                                          </p:val>
                                        </p:tav>
                                        <p:tav tm="100000">
                                          <p:val>
                                            <p:strVal val="#ppt_h"/>
                                          </p:val>
                                        </p:tav>
                                      </p:tavLst>
                                    </p:anim>
                                  </p:childTnLst>
                                </p:cTn>
                              </p:par>
                              <p:par>
                                <p:cTn id="20" presetID="10" presetClass="entr" presetSubtype="0" fill="hold" grpId="1"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6" presetClass="emph" presetSubtype="0" fill="hold" grpId="2" nodeType="withEffect">
                                  <p:stCondLst>
                                    <p:cond delay="0"/>
                                  </p:stCondLst>
                                  <p:childTnLst>
                                    <p:animScale>
                                      <p:cBhvr>
                                        <p:cTn id="24" dur="10" fill="hold"/>
                                        <p:tgtEl>
                                          <p:spTgt spid="48"/>
                                        </p:tgtEl>
                                      </p:cBhvr>
                                      <p:by x="80000" y="80000"/>
                                    </p:animScale>
                                  </p:childTnLst>
                                </p:cTn>
                              </p:par>
                              <p:par>
                                <p:cTn id="25" presetID="6" presetClass="emph" presetSubtype="0" decel="100000" fill="hold" grpId="3" nodeType="withEffect">
                                  <p:stCondLst>
                                    <p:cond delay="0"/>
                                  </p:stCondLst>
                                  <p:childTnLst>
                                    <p:animScale>
                                      <p:cBhvr>
                                        <p:cTn id="26" dur="1000" fill="hold"/>
                                        <p:tgtEl>
                                          <p:spTgt spid="48"/>
                                        </p:tgtEl>
                                      </p:cBhvr>
                                      <p:by x="125000" y="125000"/>
                                    </p:animScale>
                                  </p:childTnLst>
                                </p:cTn>
                              </p:par>
                              <p:par>
                                <p:cTn id="27" presetID="22" presetClass="entr" presetSubtype="8" fill="hold" grpId="0" nodeType="withEffect">
                                  <p:stCondLst>
                                    <p:cond delay="700"/>
                                  </p:stCondLst>
                                  <p:childTnLst>
                                    <p:set>
                                      <p:cBhvr>
                                        <p:cTn id="28" dur="1" fill="hold">
                                          <p:stCondLst>
                                            <p:cond delay="0"/>
                                          </p:stCondLst>
                                        </p:cTn>
                                        <p:tgtEl>
                                          <p:spTgt spid="51"/>
                                        </p:tgtEl>
                                        <p:attrNameLst>
                                          <p:attrName>style.visibility</p:attrName>
                                        </p:attrNameLst>
                                      </p:cBhvr>
                                      <p:to>
                                        <p:strVal val="visible"/>
                                      </p:to>
                                    </p:set>
                                    <p:animEffect transition="in" filter="wipe(left)">
                                      <p:cBhvr>
                                        <p:cTn id="29" dur="500"/>
                                        <p:tgtEl>
                                          <p:spTgt spid="51"/>
                                        </p:tgtEl>
                                      </p:cBhvr>
                                    </p:animEffect>
                                  </p:childTnLst>
                                </p:cTn>
                              </p:par>
                              <p:par>
                                <p:cTn id="30" presetID="23" presetClass="entr" presetSubtype="272" fill="hold" nodeType="withEffect">
                                  <p:stCondLst>
                                    <p:cond delay="700"/>
                                  </p:stCondLst>
                                  <p:childTnLst>
                                    <p:set>
                                      <p:cBhvr>
                                        <p:cTn id="31" dur="1" fill="hold">
                                          <p:stCondLst>
                                            <p:cond delay="0"/>
                                          </p:stCondLst>
                                        </p:cTn>
                                        <p:tgtEl>
                                          <p:spTgt spid="55"/>
                                        </p:tgtEl>
                                        <p:attrNameLst>
                                          <p:attrName>style.visibility</p:attrName>
                                        </p:attrNameLst>
                                      </p:cBhvr>
                                      <p:to>
                                        <p:strVal val="visible"/>
                                      </p:to>
                                    </p:set>
                                    <p:anim calcmode="lin" valueType="num">
                                      <p:cBhvr>
                                        <p:cTn id="32" dur="250" fill="hold"/>
                                        <p:tgtEl>
                                          <p:spTgt spid="55"/>
                                        </p:tgtEl>
                                        <p:attrNameLst>
                                          <p:attrName>ppt_w</p:attrName>
                                        </p:attrNameLst>
                                      </p:cBhvr>
                                      <p:tavLst>
                                        <p:tav tm="0">
                                          <p:val>
                                            <p:strVal val="2/3*#ppt_w"/>
                                          </p:val>
                                        </p:tav>
                                        <p:tav tm="100000">
                                          <p:val>
                                            <p:strVal val="#ppt_w"/>
                                          </p:val>
                                        </p:tav>
                                      </p:tavLst>
                                    </p:anim>
                                    <p:anim calcmode="lin" valueType="num">
                                      <p:cBhvr>
                                        <p:cTn id="33" dur="250" fill="hold"/>
                                        <p:tgtEl>
                                          <p:spTgt spid="55"/>
                                        </p:tgtEl>
                                        <p:attrNameLst>
                                          <p:attrName>ppt_h</p:attrName>
                                        </p:attrNameLst>
                                      </p:cBhvr>
                                      <p:tavLst>
                                        <p:tav tm="0">
                                          <p:val>
                                            <p:strVal val="2/3*#ppt_h"/>
                                          </p:val>
                                        </p:tav>
                                        <p:tav tm="100000">
                                          <p:val>
                                            <p:strVal val="#ppt_h"/>
                                          </p:val>
                                        </p:tav>
                                      </p:tavLst>
                                    </p:anim>
                                  </p:childTnLst>
                                </p:cTn>
                              </p:par>
                              <p:par>
                                <p:cTn id="34" presetID="10" presetClass="entr" presetSubtype="0" fill="hold" nodeType="withEffect">
                                  <p:stCondLst>
                                    <p:cond delay="700"/>
                                  </p:stCondLst>
                                  <p:childTnLst>
                                    <p:set>
                                      <p:cBhvr>
                                        <p:cTn id="35" dur="1" fill="hold">
                                          <p:stCondLst>
                                            <p:cond delay="0"/>
                                          </p:stCondLst>
                                        </p:cTn>
                                        <p:tgtEl>
                                          <p:spTgt spid="55"/>
                                        </p:tgtEl>
                                        <p:attrNameLst>
                                          <p:attrName>style.visibility</p:attrName>
                                        </p:attrNameLst>
                                      </p:cBhvr>
                                      <p:to>
                                        <p:strVal val="visible"/>
                                      </p:to>
                                    </p:set>
                                    <p:animEffect transition="in" filter="fade">
                                      <p:cBhvr>
                                        <p:cTn id="36" dur="500"/>
                                        <p:tgtEl>
                                          <p:spTgt spid="55"/>
                                        </p:tgtEl>
                                      </p:cBhvr>
                                    </p:animEffect>
                                  </p:childTnLst>
                                </p:cTn>
                              </p:par>
                              <p:par>
                                <p:cTn id="37" presetID="6" presetClass="emph" presetSubtype="0" fill="hold" nodeType="withEffect">
                                  <p:stCondLst>
                                    <p:cond delay="700"/>
                                  </p:stCondLst>
                                  <p:childTnLst>
                                    <p:animScale>
                                      <p:cBhvr>
                                        <p:cTn id="38" dur="10" fill="hold"/>
                                        <p:tgtEl>
                                          <p:spTgt spid="55"/>
                                        </p:tgtEl>
                                      </p:cBhvr>
                                      <p:by x="80000" y="80000"/>
                                    </p:animScale>
                                  </p:childTnLst>
                                </p:cTn>
                              </p:par>
                              <p:par>
                                <p:cTn id="39" presetID="6" presetClass="emph" presetSubtype="0" decel="100000" fill="hold" nodeType="withEffect">
                                  <p:stCondLst>
                                    <p:cond delay="700"/>
                                  </p:stCondLst>
                                  <p:childTnLst>
                                    <p:animScale>
                                      <p:cBhvr>
                                        <p:cTn id="40" dur="1000" fill="hold"/>
                                        <p:tgtEl>
                                          <p:spTgt spid="55"/>
                                        </p:tgtEl>
                                      </p:cBhvr>
                                      <p:by x="125000" y="125000"/>
                                    </p:animScale>
                                  </p:childTnLst>
                                </p:cTn>
                              </p:par>
                              <p:par>
                                <p:cTn id="41" presetID="10" presetClass="entr" presetSubtype="0" fill="hold" grpId="0" nodeType="withEffect">
                                  <p:stCondLst>
                                    <p:cond delay="700"/>
                                  </p:stCondLst>
                                  <p:childTnLst>
                                    <p:set>
                                      <p:cBhvr>
                                        <p:cTn id="42" dur="1" fill="hold">
                                          <p:stCondLst>
                                            <p:cond delay="0"/>
                                          </p:stCondLst>
                                        </p:cTn>
                                        <p:tgtEl>
                                          <p:spTgt spid="49"/>
                                        </p:tgtEl>
                                        <p:attrNameLst>
                                          <p:attrName>style.visibility</p:attrName>
                                        </p:attrNameLst>
                                      </p:cBhvr>
                                      <p:to>
                                        <p:strVal val="visible"/>
                                      </p:to>
                                    </p:set>
                                    <p:animEffect transition="in" filter="fade">
                                      <p:cBhvr>
                                        <p:cTn id="43" dur="500"/>
                                        <p:tgtEl>
                                          <p:spTgt spid="49"/>
                                        </p:tgtEl>
                                      </p:cBhvr>
                                    </p:animEffect>
                                  </p:childTnLst>
                                </p:cTn>
                              </p:par>
                              <p:par>
                                <p:cTn id="44" presetID="22" presetClass="entr" presetSubtype="2" fill="hold" grpId="0" nodeType="withEffect">
                                  <p:stCondLst>
                                    <p:cond delay="700"/>
                                  </p:stCondLst>
                                  <p:childTnLst>
                                    <p:set>
                                      <p:cBhvr>
                                        <p:cTn id="45" dur="1" fill="hold">
                                          <p:stCondLst>
                                            <p:cond delay="0"/>
                                          </p:stCondLst>
                                        </p:cTn>
                                        <p:tgtEl>
                                          <p:spTgt spid="15"/>
                                        </p:tgtEl>
                                        <p:attrNameLst>
                                          <p:attrName>style.visibility</p:attrName>
                                        </p:attrNameLst>
                                      </p:cBhvr>
                                      <p:to>
                                        <p:strVal val="visible"/>
                                      </p:to>
                                    </p:set>
                                    <p:animEffect transition="in" filter="wipe(right)">
                                      <p:cBhvr>
                                        <p:cTn id="46" dur="500"/>
                                        <p:tgtEl>
                                          <p:spTgt spid="15"/>
                                        </p:tgtEl>
                                      </p:cBhvr>
                                    </p:animEffect>
                                  </p:childTnLst>
                                </p:cTn>
                              </p:par>
                              <p:par>
                                <p:cTn id="47" presetID="22" presetClass="entr" presetSubtype="2" fill="hold" grpId="0" nodeType="withEffect">
                                  <p:stCondLst>
                                    <p:cond delay="800"/>
                                  </p:stCondLst>
                                  <p:childTnLst>
                                    <p:set>
                                      <p:cBhvr>
                                        <p:cTn id="48" dur="1" fill="hold">
                                          <p:stCondLst>
                                            <p:cond delay="0"/>
                                          </p:stCondLst>
                                        </p:cTn>
                                        <p:tgtEl>
                                          <p:spTgt spid="30"/>
                                        </p:tgtEl>
                                        <p:attrNameLst>
                                          <p:attrName>style.visibility</p:attrName>
                                        </p:attrNameLst>
                                      </p:cBhvr>
                                      <p:to>
                                        <p:strVal val="visible"/>
                                      </p:to>
                                    </p:set>
                                    <p:animEffect transition="in" filter="wipe(right)">
                                      <p:cBhvr>
                                        <p:cTn id="49" dur="500"/>
                                        <p:tgtEl>
                                          <p:spTgt spid="30"/>
                                        </p:tgtEl>
                                      </p:cBhvr>
                                    </p:animEffect>
                                  </p:childTnLst>
                                </p:cTn>
                              </p:par>
                              <p:par>
                                <p:cTn id="50" presetID="23" presetClass="entr" presetSubtype="272" fill="hold" nodeType="withEffect">
                                  <p:stCondLst>
                                    <p:cond delay="0"/>
                                  </p:stCondLst>
                                  <p:childTnLst>
                                    <p:set>
                                      <p:cBhvr>
                                        <p:cTn id="51" dur="1" fill="hold">
                                          <p:stCondLst>
                                            <p:cond delay="0"/>
                                          </p:stCondLst>
                                        </p:cTn>
                                        <p:tgtEl>
                                          <p:spTgt spid="62"/>
                                        </p:tgtEl>
                                        <p:attrNameLst>
                                          <p:attrName>style.visibility</p:attrName>
                                        </p:attrNameLst>
                                      </p:cBhvr>
                                      <p:to>
                                        <p:strVal val="visible"/>
                                      </p:to>
                                    </p:set>
                                    <p:anim calcmode="lin" valueType="num">
                                      <p:cBhvr>
                                        <p:cTn id="52" dur="250" fill="hold"/>
                                        <p:tgtEl>
                                          <p:spTgt spid="62"/>
                                        </p:tgtEl>
                                        <p:attrNameLst>
                                          <p:attrName>ppt_w</p:attrName>
                                        </p:attrNameLst>
                                      </p:cBhvr>
                                      <p:tavLst>
                                        <p:tav tm="0">
                                          <p:val>
                                            <p:strVal val="2/3*#ppt_w"/>
                                          </p:val>
                                        </p:tav>
                                        <p:tav tm="100000">
                                          <p:val>
                                            <p:strVal val="#ppt_w"/>
                                          </p:val>
                                        </p:tav>
                                      </p:tavLst>
                                    </p:anim>
                                    <p:anim calcmode="lin" valueType="num">
                                      <p:cBhvr>
                                        <p:cTn id="53" dur="250" fill="hold"/>
                                        <p:tgtEl>
                                          <p:spTgt spid="62"/>
                                        </p:tgtEl>
                                        <p:attrNameLst>
                                          <p:attrName>ppt_h</p:attrName>
                                        </p:attrNameLst>
                                      </p:cBhvr>
                                      <p:tavLst>
                                        <p:tav tm="0">
                                          <p:val>
                                            <p:strVal val="2/3*#ppt_h"/>
                                          </p:val>
                                        </p:tav>
                                        <p:tav tm="100000">
                                          <p:val>
                                            <p:strVal val="#ppt_h"/>
                                          </p:val>
                                        </p:tav>
                                      </p:tavLst>
                                    </p:anim>
                                  </p:childTnLst>
                                </p:cTn>
                              </p:par>
                              <p:par>
                                <p:cTn id="54" presetID="10" presetClass="entr" presetSubtype="0" fill="hold" nodeType="with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fade">
                                      <p:cBhvr>
                                        <p:cTn id="56" dur="500"/>
                                        <p:tgtEl>
                                          <p:spTgt spid="62"/>
                                        </p:tgtEl>
                                      </p:cBhvr>
                                    </p:animEffect>
                                  </p:childTnLst>
                                </p:cTn>
                              </p:par>
                              <p:par>
                                <p:cTn id="57" presetID="6" presetClass="emph" presetSubtype="0" fill="hold" nodeType="withEffect">
                                  <p:stCondLst>
                                    <p:cond delay="0"/>
                                  </p:stCondLst>
                                  <p:childTnLst>
                                    <p:animScale>
                                      <p:cBhvr>
                                        <p:cTn id="58" dur="10" fill="hold"/>
                                        <p:tgtEl>
                                          <p:spTgt spid="62"/>
                                        </p:tgtEl>
                                      </p:cBhvr>
                                      <p:by x="80000" y="80000"/>
                                    </p:animScale>
                                  </p:childTnLst>
                                </p:cTn>
                              </p:par>
                              <p:par>
                                <p:cTn id="59" presetID="6" presetClass="emph" presetSubtype="0" decel="100000" fill="hold" nodeType="withEffect">
                                  <p:stCondLst>
                                    <p:cond delay="0"/>
                                  </p:stCondLst>
                                  <p:childTnLst>
                                    <p:animScale>
                                      <p:cBhvr>
                                        <p:cTn id="60" dur="1000" fill="hold"/>
                                        <p:tgtEl>
                                          <p:spTgt spid="62"/>
                                        </p:tgtEl>
                                      </p:cBhvr>
                                      <p:by x="125000" y="125000"/>
                                    </p:animScale>
                                  </p:childTnLst>
                                </p:cTn>
                              </p:par>
                              <p:par>
                                <p:cTn id="61" presetID="10"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4" presetID="23" presetClass="entr" presetSubtype="272" fill="hold" nodeType="withEffect">
                                  <p:stCondLst>
                                    <p:cond delay="200"/>
                                  </p:stCondLst>
                                  <p:childTnLst>
                                    <p:set>
                                      <p:cBhvr>
                                        <p:cTn id="65" dur="1" fill="hold">
                                          <p:stCondLst>
                                            <p:cond delay="0"/>
                                          </p:stCondLst>
                                        </p:cTn>
                                        <p:tgtEl>
                                          <p:spTgt spid="63"/>
                                        </p:tgtEl>
                                        <p:attrNameLst>
                                          <p:attrName>style.visibility</p:attrName>
                                        </p:attrNameLst>
                                      </p:cBhvr>
                                      <p:to>
                                        <p:strVal val="visible"/>
                                      </p:to>
                                    </p:set>
                                    <p:anim calcmode="lin" valueType="num">
                                      <p:cBhvr>
                                        <p:cTn id="66" dur="250" fill="hold"/>
                                        <p:tgtEl>
                                          <p:spTgt spid="63"/>
                                        </p:tgtEl>
                                        <p:attrNameLst>
                                          <p:attrName>ppt_w</p:attrName>
                                        </p:attrNameLst>
                                      </p:cBhvr>
                                      <p:tavLst>
                                        <p:tav tm="0">
                                          <p:val>
                                            <p:strVal val="2/3*#ppt_w"/>
                                          </p:val>
                                        </p:tav>
                                        <p:tav tm="100000">
                                          <p:val>
                                            <p:strVal val="#ppt_w"/>
                                          </p:val>
                                        </p:tav>
                                      </p:tavLst>
                                    </p:anim>
                                    <p:anim calcmode="lin" valueType="num">
                                      <p:cBhvr>
                                        <p:cTn id="67" dur="250" fill="hold"/>
                                        <p:tgtEl>
                                          <p:spTgt spid="63"/>
                                        </p:tgtEl>
                                        <p:attrNameLst>
                                          <p:attrName>ppt_h</p:attrName>
                                        </p:attrNameLst>
                                      </p:cBhvr>
                                      <p:tavLst>
                                        <p:tav tm="0">
                                          <p:val>
                                            <p:strVal val="2/3*#ppt_h"/>
                                          </p:val>
                                        </p:tav>
                                        <p:tav tm="100000">
                                          <p:val>
                                            <p:strVal val="#ppt_h"/>
                                          </p:val>
                                        </p:tav>
                                      </p:tavLst>
                                    </p:anim>
                                  </p:childTnLst>
                                </p:cTn>
                              </p:par>
                              <p:par>
                                <p:cTn id="68" presetID="10" presetClass="entr" presetSubtype="0" fill="hold" nodeType="withEffect">
                                  <p:stCondLst>
                                    <p:cond delay="20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500"/>
                                        <p:tgtEl>
                                          <p:spTgt spid="63"/>
                                        </p:tgtEl>
                                      </p:cBhvr>
                                    </p:animEffect>
                                  </p:childTnLst>
                                </p:cTn>
                              </p:par>
                              <p:par>
                                <p:cTn id="71" presetID="6" presetClass="emph" presetSubtype="0" fill="hold" nodeType="withEffect">
                                  <p:stCondLst>
                                    <p:cond delay="200"/>
                                  </p:stCondLst>
                                  <p:childTnLst>
                                    <p:animScale>
                                      <p:cBhvr>
                                        <p:cTn id="72" dur="10" fill="hold"/>
                                        <p:tgtEl>
                                          <p:spTgt spid="63"/>
                                        </p:tgtEl>
                                      </p:cBhvr>
                                      <p:by x="80000" y="80000"/>
                                    </p:animScale>
                                  </p:childTnLst>
                                </p:cTn>
                              </p:par>
                              <p:par>
                                <p:cTn id="73" presetID="6" presetClass="emph" presetSubtype="0" decel="100000" fill="hold" nodeType="withEffect">
                                  <p:stCondLst>
                                    <p:cond delay="200"/>
                                  </p:stCondLst>
                                  <p:childTnLst>
                                    <p:animScale>
                                      <p:cBhvr>
                                        <p:cTn id="74" dur="1000" fill="hold"/>
                                        <p:tgtEl>
                                          <p:spTgt spid="63"/>
                                        </p:tgtEl>
                                      </p:cBhvr>
                                      <p:by x="125000" y="125000"/>
                                    </p:animScale>
                                  </p:childTnLst>
                                </p:cTn>
                              </p:par>
                              <p:par>
                                <p:cTn id="75" presetID="10" presetClass="entr" presetSubtype="0" fill="hold" grpId="0" nodeType="withEffect">
                                  <p:stCondLst>
                                    <p:cond delay="20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23" presetClass="entr" presetSubtype="272" fill="hold" nodeType="withEffect">
                                  <p:stCondLst>
                                    <p:cond delay="400"/>
                                  </p:stCondLst>
                                  <p:childTnLst>
                                    <p:set>
                                      <p:cBhvr>
                                        <p:cTn id="79" dur="1" fill="hold">
                                          <p:stCondLst>
                                            <p:cond delay="0"/>
                                          </p:stCondLst>
                                        </p:cTn>
                                        <p:tgtEl>
                                          <p:spTgt spid="64"/>
                                        </p:tgtEl>
                                        <p:attrNameLst>
                                          <p:attrName>style.visibility</p:attrName>
                                        </p:attrNameLst>
                                      </p:cBhvr>
                                      <p:to>
                                        <p:strVal val="visible"/>
                                      </p:to>
                                    </p:set>
                                    <p:anim calcmode="lin" valueType="num">
                                      <p:cBhvr>
                                        <p:cTn id="80" dur="250" fill="hold"/>
                                        <p:tgtEl>
                                          <p:spTgt spid="64"/>
                                        </p:tgtEl>
                                        <p:attrNameLst>
                                          <p:attrName>ppt_w</p:attrName>
                                        </p:attrNameLst>
                                      </p:cBhvr>
                                      <p:tavLst>
                                        <p:tav tm="0">
                                          <p:val>
                                            <p:strVal val="2/3*#ppt_w"/>
                                          </p:val>
                                        </p:tav>
                                        <p:tav tm="100000">
                                          <p:val>
                                            <p:strVal val="#ppt_w"/>
                                          </p:val>
                                        </p:tav>
                                      </p:tavLst>
                                    </p:anim>
                                    <p:anim calcmode="lin" valueType="num">
                                      <p:cBhvr>
                                        <p:cTn id="81" dur="250" fill="hold"/>
                                        <p:tgtEl>
                                          <p:spTgt spid="64"/>
                                        </p:tgtEl>
                                        <p:attrNameLst>
                                          <p:attrName>ppt_h</p:attrName>
                                        </p:attrNameLst>
                                      </p:cBhvr>
                                      <p:tavLst>
                                        <p:tav tm="0">
                                          <p:val>
                                            <p:strVal val="2/3*#ppt_h"/>
                                          </p:val>
                                        </p:tav>
                                        <p:tav tm="100000">
                                          <p:val>
                                            <p:strVal val="#ppt_h"/>
                                          </p:val>
                                        </p:tav>
                                      </p:tavLst>
                                    </p:anim>
                                  </p:childTnLst>
                                </p:cTn>
                              </p:par>
                              <p:par>
                                <p:cTn id="82" presetID="10" presetClass="entr" presetSubtype="0" fill="hold" nodeType="withEffect">
                                  <p:stCondLst>
                                    <p:cond delay="400"/>
                                  </p:stCondLst>
                                  <p:childTnLst>
                                    <p:set>
                                      <p:cBhvr>
                                        <p:cTn id="83" dur="1" fill="hold">
                                          <p:stCondLst>
                                            <p:cond delay="0"/>
                                          </p:stCondLst>
                                        </p:cTn>
                                        <p:tgtEl>
                                          <p:spTgt spid="64"/>
                                        </p:tgtEl>
                                        <p:attrNameLst>
                                          <p:attrName>style.visibility</p:attrName>
                                        </p:attrNameLst>
                                      </p:cBhvr>
                                      <p:to>
                                        <p:strVal val="visible"/>
                                      </p:to>
                                    </p:set>
                                    <p:animEffect transition="in" filter="fade">
                                      <p:cBhvr>
                                        <p:cTn id="84" dur="500"/>
                                        <p:tgtEl>
                                          <p:spTgt spid="64"/>
                                        </p:tgtEl>
                                      </p:cBhvr>
                                    </p:animEffect>
                                  </p:childTnLst>
                                </p:cTn>
                              </p:par>
                              <p:par>
                                <p:cTn id="85" presetID="6" presetClass="emph" presetSubtype="0" fill="hold" nodeType="withEffect">
                                  <p:stCondLst>
                                    <p:cond delay="400"/>
                                  </p:stCondLst>
                                  <p:childTnLst>
                                    <p:animScale>
                                      <p:cBhvr>
                                        <p:cTn id="86" dur="10" fill="hold"/>
                                        <p:tgtEl>
                                          <p:spTgt spid="64"/>
                                        </p:tgtEl>
                                      </p:cBhvr>
                                      <p:by x="80000" y="80000"/>
                                    </p:animScale>
                                  </p:childTnLst>
                                </p:cTn>
                              </p:par>
                              <p:par>
                                <p:cTn id="87" presetID="6" presetClass="emph" presetSubtype="0" decel="100000" fill="hold" nodeType="withEffect">
                                  <p:stCondLst>
                                    <p:cond delay="400"/>
                                  </p:stCondLst>
                                  <p:childTnLst>
                                    <p:animScale>
                                      <p:cBhvr>
                                        <p:cTn id="88" dur="1000" fill="hold"/>
                                        <p:tgtEl>
                                          <p:spTgt spid="64"/>
                                        </p:tgtEl>
                                      </p:cBhvr>
                                      <p:by x="125000" y="125000"/>
                                    </p:animScale>
                                  </p:childTnLst>
                                </p:cTn>
                              </p:par>
                              <p:par>
                                <p:cTn id="89" presetID="10" presetClass="entr" presetSubtype="0" fill="hold" grpId="0" nodeType="withEffect">
                                  <p:stCondLst>
                                    <p:cond delay="40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500"/>
                                        <p:tgtEl>
                                          <p:spTgt spid="37"/>
                                        </p:tgtEl>
                                      </p:cBhvr>
                                    </p:animEffect>
                                  </p:childTnLst>
                                </p:cTn>
                              </p:par>
                              <p:par>
                                <p:cTn id="92" presetID="10" presetClass="entr" presetSubtype="0" fill="hold" grpId="0" nodeType="withEffect">
                                  <p:stCondLst>
                                    <p:cond delay="40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500"/>
                                        <p:tgtEl>
                                          <p:spTgt spid="40"/>
                                        </p:tgtEl>
                                      </p:cBhvr>
                                    </p:animEffect>
                                  </p:childTnLst>
                                </p:cTn>
                              </p:par>
                              <p:par>
                                <p:cTn id="95" presetID="10" presetClass="entr" presetSubtype="0" fill="hold" grpId="0" nodeType="withEffect">
                                  <p:stCondLst>
                                    <p:cond delay="40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500"/>
                                        <p:tgtEl>
                                          <p:spTgt spid="41"/>
                                        </p:tgtEl>
                                      </p:cBhvr>
                                    </p:animEffect>
                                  </p:childTnLst>
                                </p:cTn>
                              </p:par>
                              <p:par>
                                <p:cTn id="98" presetID="10" presetClass="entr" presetSubtype="0" fill="hold" grpId="0" nodeType="withEffect">
                                  <p:stCondLst>
                                    <p:cond delay="40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childTnLst>
                                </p:cTn>
                              </p:par>
                              <p:par>
                                <p:cTn id="101" presetID="10" presetClass="entr" presetSubtype="0" fill="hold" grpId="0" nodeType="withEffect">
                                  <p:stCondLst>
                                    <p:cond delay="4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4" presetID="10" presetClass="entr" presetSubtype="0" fill="hold" grpId="0" nodeType="withEffect">
                                  <p:stCondLst>
                                    <p:cond delay="400"/>
                                  </p:stCondLst>
                                  <p:childTnLst>
                                    <p:set>
                                      <p:cBhvr>
                                        <p:cTn id="105" dur="1" fill="hold">
                                          <p:stCondLst>
                                            <p:cond delay="0"/>
                                          </p:stCondLst>
                                        </p:cTn>
                                        <p:tgtEl>
                                          <p:spTgt spid="17"/>
                                        </p:tgtEl>
                                        <p:attrNameLst>
                                          <p:attrName>style.visibility</p:attrName>
                                        </p:attrNameLst>
                                      </p:cBhvr>
                                      <p:to>
                                        <p:strVal val="visible"/>
                                      </p:to>
                                    </p:set>
                                    <p:animEffect transition="in" filter="fade">
                                      <p:cBhvr>
                                        <p:cTn id="106" dur="500"/>
                                        <p:tgtEl>
                                          <p:spTgt spid="17"/>
                                        </p:tgtEl>
                                      </p:cBhvr>
                                    </p:animEffect>
                                  </p:childTnLst>
                                </p:cTn>
                              </p:par>
                              <p:par>
                                <p:cTn id="107" presetID="10" presetClass="entr" presetSubtype="0" fill="hold" grpId="0" nodeType="withEffect">
                                  <p:stCondLst>
                                    <p:cond delay="40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09" dur="500"/>
                                        <p:tgtEl>
                                          <p:spTgt spid="28"/>
                                        </p:tgtEl>
                                      </p:cBhvr>
                                    </p:animEffect>
                                  </p:childTnLst>
                                </p:cTn>
                              </p:par>
                              <p:par>
                                <p:cTn id="110" presetID="10" presetClass="entr" presetSubtype="0" fill="hold" grpId="0" nodeType="withEffect">
                                  <p:stCondLst>
                                    <p:cond delay="400"/>
                                  </p:stCondLst>
                                  <p:childTnLst>
                                    <p:set>
                                      <p:cBhvr>
                                        <p:cTn id="111" dur="1" fill="hold">
                                          <p:stCondLst>
                                            <p:cond delay="0"/>
                                          </p:stCondLst>
                                        </p:cTn>
                                        <p:tgtEl>
                                          <p:spTgt spid="3"/>
                                        </p:tgtEl>
                                        <p:attrNameLst>
                                          <p:attrName>style.visibility</p:attrName>
                                        </p:attrNameLst>
                                      </p:cBhvr>
                                      <p:to>
                                        <p:strVal val="visible"/>
                                      </p:to>
                                    </p:set>
                                    <p:animEffect transition="in" filter="fade">
                                      <p:cBhvr>
                                        <p:cTn id="112" dur="500"/>
                                        <p:tgtEl>
                                          <p:spTgt spid="3"/>
                                        </p:tgtEl>
                                      </p:cBhvr>
                                    </p:animEffect>
                                  </p:childTnLst>
                                </p:cTn>
                              </p:par>
                              <p:par>
                                <p:cTn id="113" presetID="10" presetClass="entr" presetSubtype="0" fill="hold" nodeType="withEffect">
                                  <p:stCondLst>
                                    <p:cond delay="400"/>
                                  </p:stCondLst>
                                  <p:childTnLst>
                                    <p:set>
                                      <p:cBhvr>
                                        <p:cTn id="114" dur="1" fill="hold">
                                          <p:stCondLst>
                                            <p:cond delay="0"/>
                                          </p:stCondLst>
                                        </p:cTn>
                                        <p:tgtEl>
                                          <p:spTgt spid="4"/>
                                        </p:tgtEl>
                                        <p:attrNameLst>
                                          <p:attrName>style.visibility</p:attrName>
                                        </p:attrNameLst>
                                      </p:cBhvr>
                                      <p:to>
                                        <p:strVal val="visible"/>
                                      </p:to>
                                    </p:set>
                                    <p:animEffect transition="in" filter="fade">
                                      <p:cBhvr>
                                        <p:cTn id="115" dur="500"/>
                                        <p:tgtEl>
                                          <p:spTgt spid="4"/>
                                        </p:tgtEl>
                                      </p:cBhvr>
                                    </p:animEffect>
                                  </p:childTnLst>
                                </p:cTn>
                              </p:par>
                              <p:par>
                                <p:cTn id="116" presetID="22" presetClass="entr" presetSubtype="8" fill="hold" grpId="0" nodeType="withEffect">
                                  <p:stCondLst>
                                    <p:cond delay="400"/>
                                  </p:stCondLst>
                                  <p:childTnLst>
                                    <p:set>
                                      <p:cBhvr>
                                        <p:cTn id="117" dur="1" fill="hold">
                                          <p:stCondLst>
                                            <p:cond delay="0"/>
                                          </p:stCondLst>
                                        </p:cTn>
                                        <p:tgtEl>
                                          <p:spTgt spid="18"/>
                                        </p:tgtEl>
                                        <p:attrNameLst>
                                          <p:attrName>style.visibility</p:attrName>
                                        </p:attrNameLst>
                                      </p:cBhvr>
                                      <p:to>
                                        <p:strVal val="visible"/>
                                      </p:to>
                                    </p:set>
                                    <p:animEffect transition="in" filter="wipe(left)">
                                      <p:cBhvr>
                                        <p:cTn id="118" dur="500"/>
                                        <p:tgtEl>
                                          <p:spTgt spid="18"/>
                                        </p:tgtEl>
                                      </p:cBhvr>
                                    </p:animEffect>
                                  </p:childTnLst>
                                </p:cTn>
                              </p:par>
                              <p:par>
                                <p:cTn id="119" presetID="22" presetClass="entr" presetSubtype="8" fill="hold" grpId="0" nodeType="withEffect">
                                  <p:stCondLst>
                                    <p:cond delay="500"/>
                                  </p:stCondLst>
                                  <p:childTnLst>
                                    <p:set>
                                      <p:cBhvr>
                                        <p:cTn id="120" dur="1" fill="hold">
                                          <p:stCondLst>
                                            <p:cond delay="0"/>
                                          </p:stCondLst>
                                        </p:cTn>
                                        <p:tgtEl>
                                          <p:spTgt spid="31"/>
                                        </p:tgtEl>
                                        <p:attrNameLst>
                                          <p:attrName>style.visibility</p:attrName>
                                        </p:attrNameLst>
                                      </p:cBhvr>
                                      <p:to>
                                        <p:strVal val="visible"/>
                                      </p:to>
                                    </p:set>
                                    <p:animEffect transition="in" filter="wipe(left)">
                                      <p:cBhvr>
                                        <p:cTn id="1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7" grpId="0"/>
      <p:bldP spid="24" grpId="0"/>
      <p:bldP spid="29" grpId="0"/>
      <p:bldP spid="31" grpId="0" animBg="1"/>
      <p:bldP spid="30" grpId="0" animBg="1"/>
      <p:bldP spid="18" grpId="0" animBg="1"/>
      <p:bldP spid="15" grpId="0" animBg="1"/>
      <p:bldP spid="47" grpId="0" animBg="1"/>
      <p:bldP spid="47" grpId="1" animBg="1"/>
      <p:bldP spid="47" grpId="2" animBg="1"/>
      <p:bldP spid="47" grpId="3" animBg="1"/>
      <p:bldP spid="3" grpId="0"/>
      <p:bldP spid="12" grpId="0"/>
      <p:bldP spid="23" grpId="0"/>
      <p:bldP spid="37" grpId="0"/>
      <p:bldP spid="40" grpId="0"/>
      <p:bldP spid="41" grpId="0" animBg="1"/>
      <p:bldP spid="48" grpId="0" animBg="1"/>
      <p:bldP spid="48" grpId="1" animBg="1"/>
      <p:bldP spid="48" grpId="2" animBg="1"/>
      <p:bldP spid="48" grpId="3" animBg="1"/>
      <p:bldP spid="51" grpId="0" animBg="1"/>
      <p:bldP spid="4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47D3F-68C3-D53F-53B1-7F05ED866027}"/>
            </a:ext>
          </a:extLst>
        </p:cNvPr>
        <p:cNvGrpSpPr/>
        <p:nvPr/>
      </p:nvGrpSpPr>
      <p:grpSpPr>
        <a:xfrm>
          <a:off x="0" y="0"/>
          <a:ext cx="0" cy="0"/>
          <a:chOff x="0" y="0"/>
          <a:chExt cx="0" cy="0"/>
        </a:xfrm>
      </p:grpSpPr>
      <p:sp>
        <p:nvSpPr>
          <p:cNvPr id="28" name="PREPARE FOR APP DEPLOYMENT">
            <a:extLst>
              <a:ext uri="{FF2B5EF4-FFF2-40B4-BE49-F238E27FC236}">
                <a16:creationId xmlns:a16="http://schemas.microsoft.com/office/drawing/2014/main" id="{07F7DDB5-A892-5AC3-92D0-FB7A529A9D39}"/>
              </a:ext>
              <a:ext uri="{C183D7F6-B498-43B3-948B-1728B52AA6E4}">
                <adec:decorative xmlns:adec="http://schemas.microsoft.com/office/drawing/2017/decorative" val="1"/>
              </a:ext>
            </a:extLst>
          </p:cNvPr>
          <p:cNvSpPr txBox="1"/>
          <p:nvPr/>
        </p:nvSpPr>
        <p:spPr>
          <a:xfrm rot="21253932">
            <a:off x="5868077" y="1262647"/>
            <a:ext cx="3878850" cy="2699173"/>
          </a:xfrm>
          <a:prstGeom prst="ellipse">
            <a:avLst/>
          </a:prstGeom>
          <a:noFill/>
          <a:effectLst/>
        </p:spPr>
        <p:txBody>
          <a:bodyPr wrap="none" rtlCol="0">
            <a:prstTxWarp prst="textArchUp">
              <a:avLst>
                <a:gd name="adj" fmla="val 12686236"/>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lang="en-US" sz="1000" b="1" spc="32">
                <a:ln w="3175">
                  <a:noFill/>
                </a:ln>
                <a:solidFill>
                  <a:schemeClr val="bg1">
                    <a:alpha val="25000"/>
                  </a:schemeClr>
                </a:solidFill>
                <a:cs typeface="Segoe Sans Text" pitchFamily="2" charset="0"/>
              </a:rPr>
              <a:t>ADVANCE PROJECT</a:t>
            </a:r>
          </a:p>
        </p:txBody>
      </p:sp>
      <p:sp>
        <p:nvSpPr>
          <p:cNvPr id="24" name="REVERT PROJECT">
            <a:extLst>
              <a:ext uri="{FF2B5EF4-FFF2-40B4-BE49-F238E27FC236}">
                <a16:creationId xmlns:a16="http://schemas.microsoft.com/office/drawing/2014/main" id="{55499DF2-C3BD-031C-6461-D65826354BFC}"/>
              </a:ext>
              <a:ext uri="{C183D7F6-B498-43B3-948B-1728B52AA6E4}">
                <adec:decorative xmlns:adec="http://schemas.microsoft.com/office/drawing/2017/decorative" val="1"/>
              </a:ext>
            </a:extLst>
          </p:cNvPr>
          <p:cNvSpPr txBox="1"/>
          <p:nvPr/>
        </p:nvSpPr>
        <p:spPr>
          <a:xfrm>
            <a:off x="3505086" y="4416510"/>
            <a:ext cx="1550538" cy="726100"/>
          </a:xfrm>
          <a:prstGeom prst="rect">
            <a:avLst/>
          </a:prstGeom>
          <a:noFill/>
        </p:spPr>
        <p:txBody>
          <a:bodyPr wrap="none" rtlCol="0">
            <a:prstTxWarp prst="textArchDown">
              <a:avLst>
                <a:gd name="adj" fmla="val 1375053"/>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alpha val="25000"/>
                  </a:schemeClr>
                </a:solidFill>
                <a:effectLst/>
                <a:uLnTx/>
                <a:uFillTx/>
                <a:ea typeface="+mn-ea"/>
                <a:cs typeface="Segoe Sans Text" pitchFamily="2" charset="0"/>
              </a:rPr>
              <a:t>REVERT PROJECT</a:t>
            </a:r>
          </a:p>
        </p:txBody>
      </p:sp>
      <p:sp>
        <p:nvSpPr>
          <p:cNvPr id="29" name="SEND FEEDBACK">
            <a:extLst>
              <a:ext uri="{FF2B5EF4-FFF2-40B4-BE49-F238E27FC236}">
                <a16:creationId xmlns:a16="http://schemas.microsoft.com/office/drawing/2014/main" id="{4DAACB64-06E1-FA15-6178-057328E281BB}"/>
              </a:ext>
              <a:ext uri="{C183D7F6-B498-43B3-948B-1728B52AA6E4}">
                <adec:decorative xmlns:adec="http://schemas.microsoft.com/office/drawing/2017/decorative" val="1"/>
              </a:ext>
            </a:extLst>
          </p:cNvPr>
          <p:cNvSpPr txBox="1"/>
          <p:nvPr/>
        </p:nvSpPr>
        <p:spPr>
          <a:xfrm>
            <a:off x="7217230" y="4645518"/>
            <a:ext cx="1692304" cy="770249"/>
          </a:xfrm>
          <a:prstGeom prst="rect">
            <a:avLst/>
          </a:prstGeom>
          <a:noFill/>
        </p:spPr>
        <p:txBody>
          <a:bodyPr wrap="none" rtlCol="0">
            <a:prstTxWarp prst="textArchDown">
              <a:avLst>
                <a:gd name="adj" fmla="val 1663301"/>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alpha val="25000"/>
                  </a:schemeClr>
                </a:solidFill>
                <a:effectLst/>
                <a:uLnTx/>
                <a:uFillTx/>
                <a:ea typeface="+mn-ea"/>
                <a:cs typeface="Segoe Sans Text" pitchFamily="2" charset="0"/>
              </a:rPr>
              <a:t>REVERT PROJECT</a:t>
            </a:r>
          </a:p>
        </p:txBody>
      </p:sp>
      <p:sp>
        <p:nvSpPr>
          <p:cNvPr id="31" name="Inner &gt; Middle">
            <a:extLst>
              <a:ext uri="{FF2B5EF4-FFF2-40B4-BE49-F238E27FC236}">
                <a16:creationId xmlns:a16="http://schemas.microsoft.com/office/drawing/2014/main" id="{9E789E98-EEC5-0D0B-CB30-CF73F1ECDD7B}"/>
              </a:ext>
              <a:ext uri="{C183D7F6-B498-43B3-948B-1728B52AA6E4}">
                <adec:decorative xmlns:adec="http://schemas.microsoft.com/office/drawing/2017/decorative" val="1"/>
              </a:ext>
            </a:extLst>
          </p:cNvPr>
          <p:cNvSpPr>
            <a:spLocks noChangeAspect="1"/>
          </p:cNvSpPr>
          <p:nvPr/>
        </p:nvSpPr>
        <p:spPr>
          <a:xfrm flipV="1">
            <a:off x="6111799" y="1795961"/>
            <a:ext cx="3549106" cy="3549106"/>
          </a:xfrm>
          <a:prstGeom prst="arc">
            <a:avLst>
              <a:gd name="adj1" fmla="val 3543377"/>
              <a:gd name="adj2" fmla="val 7682629"/>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30" name="Inner &gt; Middle">
            <a:extLst>
              <a:ext uri="{FF2B5EF4-FFF2-40B4-BE49-F238E27FC236}">
                <a16:creationId xmlns:a16="http://schemas.microsoft.com/office/drawing/2014/main" id="{CD3321A3-2281-06F3-ED80-481901C346A6}"/>
              </a:ext>
              <a:ext uri="{C183D7F6-B498-43B3-948B-1728B52AA6E4}">
                <adec:decorative xmlns:adec="http://schemas.microsoft.com/office/drawing/2017/decorative" val="1"/>
              </a:ext>
            </a:extLst>
          </p:cNvPr>
          <p:cNvSpPr>
            <a:spLocks noChangeAspect="1"/>
          </p:cNvSpPr>
          <p:nvPr/>
        </p:nvSpPr>
        <p:spPr>
          <a:xfrm flipH="1">
            <a:off x="6129068" y="1672847"/>
            <a:ext cx="3878848" cy="3878848"/>
          </a:xfrm>
          <a:prstGeom prst="arc">
            <a:avLst>
              <a:gd name="adj1" fmla="val 2950208"/>
              <a:gd name="adj2" fmla="val 7140390"/>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15"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946FED69-2D2B-7B20-4DBE-3907BF9F9312}"/>
              </a:ext>
            </a:extLst>
          </p:cNvPr>
          <p:cNvSpPr>
            <a:spLocks noChangeAspect="1"/>
          </p:cNvSpPr>
          <p:nvPr/>
        </p:nvSpPr>
        <p:spPr>
          <a:xfrm flipH="1">
            <a:off x="2496712" y="1737790"/>
            <a:ext cx="3549107" cy="3549106"/>
          </a:xfrm>
          <a:prstGeom prst="arc">
            <a:avLst>
              <a:gd name="adj1" fmla="val 3234220"/>
              <a:gd name="adj2" fmla="val 7327573"/>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2" name="Title 1">
            <a:extLst>
              <a:ext uri="{FF2B5EF4-FFF2-40B4-BE49-F238E27FC236}">
                <a16:creationId xmlns:a16="http://schemas.microsoft.com/office/drawing/2014/main" id="{0F80AF21-979C-6F3A-BDF4-15978DA0752C}"/>
              </a:ext>
            </a:extLst>
          </p:cNvPr>
          <p:cNvSpPr>
            <a:spLocks noGrp="1"/>
          </p:cNvSpPr>
          <p:nvPr>
            <p:ph type="title" idx="4294967295"/>
          </p:nvPr>
        </p:nvSpPr>
        <p:spPr>
          <a:xfrm>
            <a:off x="1174750" y="593725"/>
            <a:ext cx="11017250" cy="998538"/>
          </a:xfrm>
        </p:spPr>
        <p:txBody>
          <a:bodyPr/>
          <a:lstStyle/>
          <a:p>
            <a:r>
              <a:rPr lang="en-US" err="1">
                <a:solidFill>
                  <a:schemeClr val="bg1"/>
                </a:solidFill>
              </a:rPr>
              <a:t>GenAI</a:t>
            </a:r>
            <a:r>
              <a:rPr lang="en-US">
                <a:solidFill>
                  <a:schemeClr val="bg1"/>
                </a:solidFill>
              </a:rPr>
              <a:t> Lifecycle and Best Practices</a:t>
            </a:r>
            <a:endParaRPr lang="en-GB">
              <a:solidFill>
                <a:schemeClr val="bg1"/>
              </a:solidFill>
            </a:endParaRPr>
          </a:p>
        </p:txBody>
      </p:sp>
      <p:sp>
        <p:nvSpPr>
          <p:cNvPr id="23" name="TextBox 22">
            <a:extLst>
              <a:ext uri="{FF2B5EF4-FFF2-40B4-BE49-F238E27FC236}">
                <a16:creationId xmlns:a16="http://schemas.microsoft.com/office/drawing/2014/main" id="{BEEE8ACA-4C9F-AD8A-8EFB-F17592EF0AF6}"/>
              </a:ext>
              <a:ext uri="{C183D7F6-B498-43B3-948B-1728B52AA6E4}">
                <adec:decorative xmlns:adec="http://schemas.microsoft.com/office/drawing/2017/decorative" val="1"/>
              </a:ext>
            </a:extLst>
          </p:cNvPr>
          <p:cNvSpPr txBox="1"/>
          <p:nvPr/>
        </p:nvSpPr>
        <p:spPr>
          <a:xfrm>
            <a:off x="4676618" y="5682066"/>
            <a:ext cx="2798819"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C03BC4"/>
                    </a:gs>
                    <a:gs pos="80000">
                      <a:srgbClr val="0078D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solidFill>
                  <a:schemeClr val="bg1">
                    <a:alpha val="19000"/>
                  </a:schemeClr>
                </a:solidFill>
                <a:latin typeface="Segoe Sans Text Semibold"/>
                <a:cs typeface="Segoe Sans Text" pitchFamily="2" charset="0"/>
              </a:rPr>
              <a:t>Optimizing</a:t>
            </a:r>
          </a:p>
          <a:p>
            <a:pPr algn="ctr" defTabSz="914400">
              <a:defRPr/>
            </a:pPr>
            <a:r>
              <a:rPr lang="en-GB" sz="1050" b="1">
                <a:solidFill>
                  <a:schemeClr val="bg1">
                    <a:alpha val="19000"/>
                  </a:schemeClr>
                </a:solidFill>
                <a:latin typeface="+mn-lt"/>
                <a:cs typeface="Segoe Sans Text" pitchFamily="2" charset="0"/>
              </a:rPr>
              <a:t>Design &amp; Customize</a:t>
            </a:r>
          </a:p>
        </p:txBody>
      </p:sp>
      <p:grpSp>
        <p:nvGrpSpPr>
          <p:cNvPr id="63" name="Group 62">
            <a:extLst>
              <a:ext uri="{FF2B5EF4-FFF2-40B4-BE49-F238E27FC236}">
                <a16:creationId xmlns:a16="http://schemas.microsoft.com/office/drawing/2014/main" id="{633058F7-0500-7623-EB8C-EC3A0FC1D411}"/>
              </a:ext>
            </a:extLst>
          </p:cNvPr>
          <p:cNvGrpSpPr/>
          <p:nvPr/>
        </p:nvGrpSpPr>
        <p:grpSpPr>
          <a:xfrm>
            <a:off x="4278933" y="1544233"/>
            <a:ext cx="3378292" cy="3673783"/>
            <a:chOff x="4278933" y="1544233"/>
            <a:chExt cx="3378292" cy="3673783"/>
          </a:xfrm>
        </p:grpSpPr>
        <p:sp>
          <p:nvSpPr>
            <p:cNvPr id="19" name="Circle: Hollow 18">
              <a:extLst>
                <a:ext uri="{FF2B5EF4-FFF2-40B4-BE49-F238E27FC236}">
                  <a16:creationId xmlns:a16="http://schemas.microsoft.com/office/drawing/2014/main" id="{B931C8DE-BAC9-5914-0549-025B56D0C46D}"/>
                </a:ext>
                <a:ext uri="{C183D7F6-B498-43B3-948B-1728B52AA6E4}">
                  <adec:decorative xmlns:adec="http://schemas.microsoft.com/office/drawing/2017/decorative" val="1"/>
                </a:ext>
              </a:extLst>
            </p:cNvPr>
            <p:cNvSpPr>
              <a:spLocks noChangeAspect="1"/>
            </p:cNvSpPr>
            <p:nvPr/>
          </p:nvSpPr>
          <p:spPr bwMode="auto">
            <a:xfrm rot="1000141">
              <a:off x="4460071" y="2020862"/>
              <a:ext cx="3197154" cy="3197154"/>
            </a:xfrm>
            <a:prstGeom prst="donut">
              <a:avLst>
                <a:gd name="adj" fmla="val 11285"/>
              </a:avLst>
            </a:prstGeom>
            <a:gradFill>
              <a:gsLst>
                <a:gs pos="0">
                  <a:srgbClr val="0078D4">
                    <a:alpha val="12000"/>
                  </a:srgbClr>
                </a:gs>
                <a:gs pos="80000">
                  <a:srgbClr val="399A91">
                    <a:alpha val="20000"/>
                  </a:srgbClr>
                </a:gs>
              </a:gsLst>
              <a:path path="circle">
                <a:fillToRect l="100000" t="100000"/>
              </a:path>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alpha val="25000"/>
                  </a:srgbClr>
                </a:solidFill>
                <a:effectLst/>
                <a:uLnTx/>
                <a:uFillTx/>
                <a:ea typeface="+mn-ea"/>
                <a:cs typeface="+mn-cs"/>
              </a:endParaRPr>
            </a:p>
          </p:txBody>
        </p:sp>
        <p:sp>
          <p:nvSpPr>
            <p:cNvPr id="20" name="TextBox 19">
              <a:extLst>
                <a:ext uri="{FF2B5EF4-FFF2-40B4-BE49-F238E27FC236}">
                  <a16:creationId xmlns:a16="http://schemas.microsoft.com/office/drawing/2014/main" id="{B029480B-95AA-3165-40AE-918B227AFEFD}"/>
                </a:ext>
                <a:ext uri="{C183D7F6-B498-43B3-948B-1728B52AA6E4}">
                  <adec:decorative xmlns:adec="http://schemas.microsoft.com/office/drawing/2017/decorative" val="1"/>
                </a:ext>
              </a:extLst>
            </p:cNvPr>
            <p:cNvSpPr txBox="1">
              <a:spLocks noChangeAspect="1"/>
            </p:cNvSpPr>
            <p:nvPr/>
          </p:nvSpPr>
          <p:spPr>
            <a:xfrm rot="8693215">
              <a:off x="4278933" y="1544233"/>
              <a:ext cx="3111987" cy="3554728"/>
            </a:xfrm>
            <a:prstGeom prst="rect">
              <a:avLst/>
            </a:prstGeom>
            <a:noFill/>
          </p:spPr>
          <p:txBody>
            <a:bodyPr wrap="square" lIns="0" tIns="0" rIns="0" bIns="0" rtlCol="0">
              <a:prstTxWarp prst="textArchUp">
                <a:avLst>
                  <a:gd name="adj" fmla="val 12806076"/>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err="1">
                  <a:solidFill>
                    <a:srgbClr val="FFFFFF">
                      <a:alpha val="25000"/>
                    </a:srgbClr>
                  </a:solidFill>
                  <a:latin typeface="+mj-lt"/>
                </a:rPr>
                <a:t>Orchestraion</a:t>
              </a:r>
              <a:r>
                <a:rPr lang="en-GB" sz="1100">
                  <a:solidFill>
                    <a:srgbClr val="FFFFFF">
                      <a:alpha val="25000"/>
                    </a:srgbClr>
                  </a:solidFill>
                  <a:latin typeface="+mj-lt"/>
                </a:rPr>
                <a:t>   Integration    Debugging</a:t>
              </a:r>
              <a:endParaRPr kumimoji="0" lang="en-GB" sz="1100" b="0" i="0" u="none" strike="noStrike" kern="1200" cap="none" spc="0" normalizeH="0" baseline="0" noProof="0">
                <a:ln>
                  <a:noFill/>
                </a:ln>
                <a:solidFill>
                  <a:srgbClr val="FFFFFF">
                    <a:alpha val="25000"/>
                  </a:srgbClr>
                </a:solidFill>
                <a:effectLst/>
                <a:uLnTx/>
                <a:uFillTx/>
                <a:latin typeface="+mj-lt"/>
              </a:endParaRPr>
            </a:p>
          </p:txBody>
        </p:sp>
        <p:sp>
          <p:nvSpPr>
            <p:cNvPr id="21" name="TextBox 20">
              <a:extLst>
                <a:ext uri="{FF2B5EF4-FFF2-40B4-BE49-F238E27FC236}">
                  <a16:creationId xmlns:a16="http://schemas.microsoft.com/office/drawing/2014/main" id="{765F140C-FD6B-D4AE-DC8B-17A169EB4B82}"/>
                </a:ext>
                <a:ext uri="{C183D7F6-B498-43B3-948B-1728B52AA6E4}">
                  <adec:decorative xmlns:adec="http://schemas.microsoft.com/office/drawing/2017/decorative" val="1"/>
                </a:ext>
              </a:extLst>
            </p:cNvPr>
            <p:cNvSpPr txBox="1">
              <a:spLocks noChangeAspect="1"/>
            </p:cNvSpPr>
            <p:nvPr/>
          </p:nvSpPr>
          <p:spPr>
            <a:xfrm>
              <a:off x="4663552" y="2211303"/>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 Techniques - Prompt Engineering, RAG, Fine-tuning</a:t>
              </a:r>
            </a:p>
          </p:txBody>
        </p:sp>
        <p:sp>
          <p:nvSpPr>
            <p:cNvPr id="25" name="TextBox 24">
              <a:extLst>
                <a:ext uri="{FF2B5EF4-FFF2-40B4-BE49-F238E27FC236}">
                  <a16:creationId xmlns:a16="http://schemas.microsoft.com/office/drawing/2014/main" id="{AF437A5A-D8BB-E2FA-6BAD-99EC5D4FF898}"/>
                </a:ext>
                <a:ext uri="{C183D7F6-B498-43B3-948B-1728B52AA6E4}">
                  <adec:decorative xmlns:adec="http://schemas.microsoft.com/office/drawing/2017/decorative" val="1"/>
                </a:ext>
              </a:extLst>
            </p:cNvPr>
            <p:cNvSpPr txBox="1">
              <a:spLocks noChangeAspect="1"/>
            </p:cNvSpPr>
            <p:nvPr/>
          </p:nvSpPr>
          <p:spPr>
            <a:xfrm rot="14349291">
              <a:off x="4636304" y="2194099"/>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 Define Metrics     Evaluation</a:t>
              </a:r>
            </a:p>
          </p:txBody>
        </p:sp>
        <p:sp>
          <p:nvSpPr>
            <p:cNvPr id="22" name="Inner &gt; Middle">
              <a:extLst>
                <a:ext uri="{FF2B5EF4-FFF2-40B4-BE49-F238E27FC236}">
                  <a16:creationId xmlns:a16="http://schemas.microsoft.com/office/drawing/2014/main" id="{C5F5CAE7-8929-8AD8-6DC6-5E6D0315F125}"/>
                </a:ext>
                <a:ext uri="{C183D7F6-B498-43B3-948B-1728B52AA6E4}">
                  <adec:decorative xmlns:adec="http://schemas.microsoft.com/office/drawing/2017/decorative" val="1"/>
                </a:ext>
              </a:extLst>
            </p:cNvPr>
            <p:cNvSpPr>
              <a:spLocks noChangeAspect="1"/>
            </p:cNvSpPr>
            <p:nvPr/>
          </p:nvSpPr>
          <p:spPr>
            <a:xfrm flipV="1">
              <a:off x="4933374" y="2486913"/>
              <a:ext cx="2257898" cy="2257897"/>
            </a:xfrm>
            <a:prstGeom prst="arc">
              <a:avLst>
                <a:gd name="adj1" fmla="val 7569981"/>
                <a:gd name="adj2" fmla="val 7363122"/>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26" name="Rectangle 25">
              <a:extLst>
                <a:ext uri="{FF2B5EF4-FFF2-40B4-BE49-F238E27FC236}">
                  <a16:creationId xmlns:a16="http://schemas.microsoft.com/office/drawing/2014/main" id="{FACFAF6D-438F-89BF-E3E4-03C5CCC78FA5}"/>
                </a:ext>
              </a:extLst>
            </p:cNvPr>
            <p:cNvSpPr/>
            <p:nvPr/>
          </p:nvSpPr>
          <p:spPr bwMode="auto">
            <a:xfrm>
              <a:off x="5102546" y="2950245"/>
              <a:ext cx="1926170" cy="142710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alpha val="25000"/>
                    </a:schemeClr>
                  </a:solidFill>
                  <a:latin typeface="+mj-lt"/>
                </a:rPr>
                <a:t>Building &amp; Augmenting</a:t>
              </a:r>
            </a:p>
          </p:txBody>
        </p:sp>
      </p:grpSp>
      <p:sp>
        <p:nvSpPr>
          <p:cNvPr id="37" name="TextBox 36">
            <a:extLst>
              <a:ext uri="{FF2B5EF4-FFF2-40B4-BE49-F238E27FC236}">
                <a16:creationId xmlns:a16="http://schemas.microsoft.com/office/drawing/2014/main" id="{2B873B9C-BCB7-A6AB-2B51-A52461667FD2}"/>
              </a:ext>
              <a:ext uri="{C183D7F6-B498-43B3-948B-1728B52AA6E4}">
                <adec:decorative xmlns:adec="http://schemas.microsoft.com/office/drawing/2017/decorative" val="1"/>
              </a:ext>
            </a:extLst>
          </p:cNvPr>
          <p:cNvSpPr txBox="1"/>
          <p:nvPr/>
        </p:nvSpPr>
        <p:spPr>
          <a:xfrm>
            <a:off x="8121823" y="5677592"/>
            <a:ext cx="315176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FF5C39"/>
                    </a:gs>
                    <a:gs pos="80000">
                      <a:srgbClr val="C03BC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solidFill>
                  <a:schemeClr val="bg1">
                    <a:alpha val="19000"/>
                  </a:schemeClr>
                </a:solidFill>
                <a:latin typeface="Segoe Sans Text Semibold"/>
                <a:cs typeface="Segoe Sans Text" pitchFamily="2" charset="0"/>
              </a:rPr>
              <a:t>Operationalizing</a:t>
            </a:r>
          </a:p>
          <a:p>
            <a:pPr algn="ctr" defTabSz="914400">
              <a:defRPr/>
            </a:pPr>
            <a:r>
              <a:rPr lang="en-GB" sz="1050" b="1">
                <a:solidFill>
                  <a:schemeClr val="bg1">
                    <a:alpha val="19000"/>
                  </a:schemeClr>
                </a:solidFill>
                <a:latin typeface="+mn-lt"/>
                <a:cs typeface="Segoe Sans Text" pitchFamily="2" charset="0"/>
              </a:rPr>
              <a:t>Manage &amp; Optimize</a:t>
            </a:r>
          </a:p>
        </p:txBody>
      </p:sp>
      <p:grpSp>
        <p:nvGrpSpPr>
          <p:cNvPr id="64" name="Group 63">
            <a:extLst>
              <a:ext uri="{FF2B5EF4-FFF2-40B4-BE49-F238E27FC236}">
                <a16:creationId xmlns:a16="http://schemas.microsoft.com/office/drawing/2014/main" id="{7C529529-4A4A-B518-1D85-6F8A8C2B9C37}"/>
              </a:ext>
            </a:extLst>
          </p:cNvPr>
          <p:cNvGrpSpPr/>
          <p:nvPr/>
        </p:nvGrpSpPr>
        <p:grpSpPr>
          <a:xfrm>
            <a:off x="7935661" y="1857394"/>
            <a:ext cx="3524090" cy="3524090"/>
            <a:chOff x="7935661" y="1857394"/>
            <a:chExt cx="3524090" cy="3524090"/>
          </a:xfrm>
        </p:grpSpPr>
        <p:sp>
          <p:nvSpPr>
            <p:cNvPr id="32" name="Circle: Hollow 31">
              <a:extLst>
                <a:ext uri="{FF2B5EF4-FFF2-40B4-BE49-F238E27FC236}">
                  <a16:creationId xmlns:a16="http://schemas.microsoft.com/office/drawing/2014/main" id="{31B2349E-ED47-4DBD-740D-E4B75D53C6BC}"/>
                </a:ext>
                <a:ext uri="{C183D7F6-B498-43B3-948B-1728B52AA6E4}">
                  <adec:decorative xmlns:adec="http://schemas.microsoft.com/office/drawing/2017/decorative" val="1"/>
                </a:ext>
              </a:extLst>
            </p:cNvPr>
            <p:cNvSpPr>
              <a:spLocks noChangeAspect="1"/>
            </p:cNvSpPr>
            <p:nvPr/>
          </p:nvSpPr>
          <p:spPr bwMode="auto">
            <a:xfrm>
              <a:off x="7935661" y="1857394"/>
              <a:ext cx="3524090" cy="3524090"/>
            </a:xfrm>
            <a:prstGeom prst="donut">
              <a:avLst>
                <a:gd name="adj" fmla="val 11141"/>
              </a:avLst>
            </a:prstGeom>
            <a:gradFill>
              <a:gsLst>
                <a:gs pos="0">
                  <a:srgbClr val="0078D4">
                    <a:alpha val="12000"/>
                  </a:srgbClr>
                </a:gs>
                <a:gs pos="80000">
                  <a:srgbClr val="399A91">
                    <a:alpha val="20000"/>
                  </a:srgbClr>
                </a:gs>
              </a:gsLst>
              <a:path path="circle">
                <a:fillToRect l="100000" t="100000"/>
              </a:path>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alpha val="25000"/>
                  </a:srgbClr>
                </a:solidFill>
                <a:effectLst/>
                <a:uLnTx/>
                <a:uFillTx/>
                <a:ea typeface="+mn-ea"/>
                <a:cs typeface="+mn-cs"/>
              </a:endParaRPr>
            </a:p>
          </p:txBody>
        </p:sp>
        <p:sp>
          <p:nvSpPr>
            <p:cNvPr id="34" name="TextBox 33">
              <a:extLst>
                <a:ext uri="{FF2B5EF4-FFF2-40B4-BE49-F238E27FC236}">
                  <a16:creationId xmlns:a16="http://schemas.microsoft.com/office/drawing/2014/main" id="{A43717E1-3550-C0BD-74A9-ACCB498F5FC2}"/>
                </a:ext>
                <a:ext uri="{C183D7F6-B498-43B3-948B-1728B52AA6E4}">
                  <adec:decorative xmlns:adec="http://schemas.microsoft.com/office/drawing/2017/decorative" val="1"/>
                </a:ext>
              </a:extLst>
            </p:cNvPr>
            <p:cNvSpPr txBox="1">
              <a:spLocks noChangeAspect="1"/>
            </p:cNvSpPr>
            <p:nvPr/>
          </p:nvSpPr>
          <p:spPr>
            <a:xfrm rot="7894997">
              <a:off x="8140354" y="207332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Segoe Sans Text" pitchFamily="2" charset="0"/>
                </a:rPr>
                <a:t>Continuous Evaluation &amp; Monitoring    </a:t>
              </a:r>
              <a:r>
                <a:rPr lang="en-GB" sz="1100">
                  <a:solidFill>
                    <a:srgbClr val="FFFFFF">
                      <a:alpha val="25000"/>
                    </a:srgbClr>
                  </a:solidFill>
                  <a:latin typeface="Segoe Sans Text" pitchFamily="2" charset="0"/>
                </a:rPr>
                <a:t>Quota &amp; Cost Management</a:t>
              </a:r>
              <a:endParaRPr kumimoji="0" lang="en-GB" sz="1100" b="0" i="0" u="none" strike="noStrike" kern="1200" cap="none" spc="0" normalizeH="0" baseline="0" noProof="0">
                <a:ln>
                  <a:noFill/>
                </a:ln>
                <a:solidFill>
                  <a:srgbClr val="FFFFFF">
                    <a:alpha val="25000"/>
                  </a:srgbClr>
                </a:solidFill>
                <a:effectLst/>
                <a:uLnTx/>
                <a:uFillTx/>
                <a:latin typeface="Segoe Sans Text" pitchFamily="2" charset="0"/>
              </a:endParaRPr>
            </a:p>
          </p:txBody>
        </p:sp>
        <p:sp>
          <p:nvSpPr>
            <p:cNvPr id="36" name="TextBox 35">
              <a:extLst>
                <a:ext uri="{FF2B5EF4-FFF2-40B4-BE49-F238E27FC236}">
                  <a16:creationId xmlns:a16="http://schemas.microsoft.com/office/drawing/2014/main" id="{C7D77BE8-0653-0643-A8FF-E1ACF1EDC749}"/>
                </a:ext>
                <a:ext uri="{C183D7F6-B498-43B3-948B-1728B52AA6E4}">
                  <adec:decorative xmlns:adec="http://schemas.microsoft.com/office/drawing/2017/decorative" val="1"/>
                </a:ext>
              </a:extLst>
            </p:cNvPr>
            <p:cNvSpPr txBox="1">
              <a:spLocks noChangeAspect="1"/>
            </p:cNvSpPr>
            <p:nvPr/>
          </p:nvSpPr>
          <p:spPr>
            <a:xfrm rot="15183746">
              <a:off x="8157551" y="1975283"/>
              <a:ext cx="3224508" cy="3224508"/>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Security and data privacy</a:t>
              </a:r>
            </a:p>
          </p:txBody>
        </p:sp>
        <p:sp>
          <p:nvSpPr>
            <p:cNvPr id="33" name="TextBox 32">
              <a:extLst>
                <a:ext uri="{FF2B5EF4-FFF2-40B4-BE49-F238E27FC236}">
                  <a16:creationId xmlns:a16="http://schemas.microsoft.com/office/drawing/2014/main" id="{68E51F14-00E4-8E14-B098-E76B0B4B1AAE}"/>
                </a:ext>
                <a:ext uri="{C183D7F6-B498-43B3-948B-1728B52AA6E4}">
                  <adec:decorative xmlns:adec="http://schemas.microsoft.com/office/drawing/2017/decorative" val="1"/>
                </a:ext>
              </a:extLst>
            </p:cNvPr>
            <p:cNvSpPr txBox="1">
              <a:spLocks noChangeAspect="1"/>
            </p:cNvSpPr>
            <p:nvPr/>
          </p:nvSpPr>
          <p:spPr>
            <a:xfrm rot="21287264">
              <a:off x="8148814" y="205983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a:solidFill>
                    <a:srgbClr val="FFFFFF">
                      <a:alpha val="25000"/>
                    </a:srgbClr>
                  </a:solidFill>
                  <a:latin typeface="+mj-lt"/>
                </a:rPr>
                <a:t>Deploy LLM App, UI, Model, Workflow</a:t>
              </a:r>
              <a:endParaRPr kumimoji="0" lang="en-GB" sz="1100" i="0" u="none" strike="noStrike" kern="1200" cap="none" spc="0" normalizeH="0" baseline="0" noProof="0">
                <a:ln>
                  <a:noFill/>
                </a:ln>
                <a:solidFill>
                  <a:srgbClr val="FFFFFF">
                    <a:alpha val="25000"/>
                  </a:srgbClr>
                </a:solidFill>
                <a:effectLst/>
                <a:uLnTx/>
                <a:uFillTx/>
                <a:latin typeface="+mj-lt"/>
              </a:endParaRPr>
            </a:p>
          </p:txBody>
        </p:sp>
        <p:sp>
          <p:nvSpPr>
            <p:cNvPr id="35" name="Inner &gt; Middle">
              <a:extLst>
                <a:ext uri="{FF2B5EF4-FFF2-40B4-BE49-F238E27FC236}">
                  <a16:creationId xmlns:a16="http://schemas.microsoft.com/office/drawing/2014/main" id="{74DEBA4E-32E6-4445-0609-2FDCFCD0089D}"/>
                </a:ext>
                <a:ext uri="{C183D7F6-B498-43B3-948B-1728B52AA6E4}">
                  <adec:decorative xmlns:adec="http://schemas.microsoft.com/office/drawing/2017/decorative" val="1"/>
                </a:ext>
              </a:extLst>
            </p:cNvPr>
            <p:cNvSpPr>
              <a:spLocks noChangeAspect="1"/>
            </p:cNvSpPr>
            <p:nvPr/>
          </p:nvSpPr>
          <p:spPr>
            <a:xfrm flipV="1">
              <a:off x="8440406" y="2349396"/>
              <a:ext cx="2514600" cy="2514600"/>
            </a:xfrm>
            <a:prstGeom prst="arc">
              <a:avLst>
                <a:gd name="adj1" fmla="val 8319039"/>
                <a:gd name="adj2" fmla="val 8134095"/>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39" name="Rectangle 38">
              <a:extLst>
                <a:ext uri="{FF2B5EF4-FFF2-40B4-BE49-F238E27FC236}">
                  <a16:creationId xmlns:a16="http://schemas.microsoft.com/office/drawing/2014/main" id="{0ECECC2E-79DC-5C28-EFC9-FC641C2B5F88}"/>
                </a:ext>
              </a:extLst>
            </p:cNvPr>
            <p:cNvSpPr/>
            <p:nvPr/>
          </p:nvSpPr>
          <p:spPr bwMode="auto">
            <a:xfrm>
              <a:off x="8669330" y="2950245"/>
              <a:ext cx="2068977" cy="1483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alpha val="25000"/>
                    </a:schemeClr>
                  </a:solidFill>
                  <a:latin typeface="+mj-lt"/>
                </a:rPr>
                <a:t>Deploying &amp; Monitoring</a:t>
              </a:r>
            </a:p>
          </p:txBody>
        </p:sp>
      </p:grpSp>
      <p:sp>
        <p:nvSpPr>
          <p:cNvPr id="5" name="ADVANCE PROJECT">
            <a:extLst>
              <a:ext uri="{FF2B5EF4-FFF2-40B4-BE49-F238E27FC236}">
                <a16:creationId xmlns:a16="http://schemas.microsoft.com/office/drawing/2014/main" id="{00CC2FFD-A66F-0301-3142-6A9335AA4CD6}"/>
              </a:ext>
              <a:ext uri="{C183D7F6-B498-43B3-948B-1728B52AA6E4}">
                <adec:decorative xmlns:adec="http://schemas.microsoft.com/office/drawing/2017/decorative" val="1"/>
              </a:ext>
            </a:extLst>
          </p:cNvPr>
          <p:cNvSpPr txBox="1"/>
          <p:nvPr/>
        </p:nvSpPr>
        <p:spPr>
          <a:xfrm>
            <a:off x="3121831" y="1640554"/>
            <a:ext cx="2444525" cy="1207961"/>
          </a:xfrm>
          <a:prstGeom prst="ellipse">
            <a:avLst/>
          </a:prstGeom>
          <a:noFill/>
        </p:spPr>
        <p:txBody>
          <a:bodyPr wrap="none" rtlCol="0">
            <a:prstTxWarp prst="textArchUp">
              <a:avLst>
                <a:gd name="adj" fmla="val 12451684"/>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ADVANCE PROJECT </a:t>
            </a:r>
          </a:p>
        </p:txBody>
      </p:sp>
      <p:sp>
        <p:nvSpPr>
          <p:cNvPr id="14" name="Inner &gt; Middle">
            <a:extLst>
              <a:ext uri="{FF2B5EF4-FFF2-40B4-BE49-F238E27FC236}">
                <a16:creationId xmlns:a16="http://schemas.microsoft.com/office/drawing/2014/main" id="{DC112925-15BB-3A58-200A-13385DD349CD}"/>
              </a:ext>
              <a:ext uri="{C183D7F6-B498-43B3-948B-1728B52AA6E4}">
                <adec:decorative xmlns:adec="http://schemas.microsoft.com/office/drawing/2017/decorative" val="1"/>
              </a:ext>
            </a:extLst>
          </p:cNvPr>
          <p:cNvSpPr>
            <a:spLocks noChangeAspect="1"/>
          </p:cNvSpPr>
          <p:nvPr/>
        </p:nvSpPr>
        <p:spPr>
          <a:xfrm flipV="1">
            <a:off x="2565152" y="1965661"/>
            <a:ext cx="3563916" cy="3563915"/>
          </a:xfrm>
          <a:prstGeom prst="arc">
            <a:avLst>
              <a:gd name="adj1" fmla="val 3562138"/>
              <a:gd name="adj2" fmla="val 787719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16" name="TextBox 15">
            <a:extLst>
              <a:ext uri="{FF2B5EF4-FFF2-40B4-BE49-F238E27FC236}">
                <a16:creationId xmlns:a16="http://schemas.microsoft.com/office/drawing/2014/main" id="{579B8835-4752-5721-3736-8A0C7CCD0F4E}"/>
              </a:ext>
            </a:extLst>
          </p:cNvPr>
          <p:cNvSpPr txBox="1"/>
          <p:nvPr/>
        </p:nvSpPr>
        <p:spPr>
          <a:xfrm>
            <a:off x="629050" y="3528672"/>
            <a:ext cx="296556" cy="16158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50" b="1">
                <a:ln w="3175">
                  <a:noFill/>
                </a:ln>
                <a:solidFill>
                  <a:schemeClr val="bg1"/>
                </a:solidFill>
              </a:rPr>
              <a:t>Data</a:t>
            </a:r>
          </a:p>
        </p:txBody>
      </p:sp>
      <p:cxnSp>
        <p:nvCxnSpPr>
          <p:cNvPr id="27" name="Straight Connector 26" descr="Leads to">
            <a:extLst>
              <a:ext uri="{FF2B5EF4-FFF2-40B4-BE49-F238E27FC236}">
                <a16:creationId xmlns:a16="http://schemas.microsoft.com/office/drawing/2014/main" id="{6111F4A4-257A-835A-5FA5-50CA5D31EA51}"/>
              </a:ext>
              <a:ext uri="{C183D7F6-B498-43B3-948B-1728B52AA6E4}">
                <adec:decorative xmlns:adec="http://schemas.microsoft.com/office/drawing/2017/decorative" val="0"/>
              </a:ext>
            </a:extLst>
          </p:cNvPr>
          <p:cNvCxnSpPr>
            <a:cxnSpLocks/>
          </p:cNvCxnSpPr>
          <p:nvPr/>
        </p:nvCxnSpPr>
        <p:spPr>
          <a:xfrm flipH="1">
            <a:off x="1015955" y="3627057"/>
            <a:ext cx="374011" cy="0"/>
          </a:xfrm>
          <a:prstGeom prst="line">
            <a:avLst/>
          </a:prstGeom>
          <a:ln w="9525">
            <a:solidFill>
              <a:schemeClr val="bg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21C73F74-492C-11BC-9046-0210096CB026}"/>
              </a:ext>
              <a:ext uri="{C183D7F6-B498-43B3-948B-1728B52AA6E4}">
                <adec:decorative xmlns:adec="http://schemas.microsoft.com/office/drawing/2017/decorative" val="1"/>
              </a:ext>
            </a:extLst>
          </p:cNvPr>
          <p:cNvSpPr txBox="1"/>
          <p:nvPr/>
        </p:nvSpPr>
        <p:spPr>
          <a:xfrm>
            <a:off x="1485799" y="5677592"/>
            <a:ext cx="270995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0078D4"/>
                    </a:gs>
                    <a:gs pos="80000">
                      <a:srgbClr val="399A91"/>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gradFill>
                  <a:gsLst>
                    <a:gs pos="0">
                      <a:srgbClr val="BDF2BD"/>
                    </a:gs>
                    <a:gs pos="100000">
                      <a:srgbClr val="C3E9FC"/>
                    </a:gs>
                  </a:gsLst>
                  <a:lin ang="5400000" scaled="1"/>
                </a:gradFill>
                <a:latin typeface="Segoe Sans Text Semibold"/>
                <a:cs typeface="Segoe Sans Text" pitchFamily="2" charset="0"/>
              </a:rPr>
              <a:t>Prototyping</a:t>
            </a:r>
          </a:p>
          <a:p>
            <a:pPr algn="ctr" defTabSz="914400">
              <a:defRPr/>
            </a:pPr>
            <a:r>
              <a:rPr lang="en-GB" sz="1050" b="1">
                <a:solidFill>
                  <a:schemeClr val="bg1"/>
                </a:solidFill>
                <a:latin typeface="+mn-lt"/>
                <a:cs typeface="Segoe Sans Text" pitchFamily="2" charset="0"/>
              </a:rPr>
              <a:t>Ideating &amp; Explore</a:t>
            </a:r>
          </a:p>
        </p:txBody>
      </p:sp>
      <p:grpSp>
        <p:nvGrpSpPr>
          <p:cNvPr id="42" name="Group 41">
            <a:extLst>
              <a:ext uri="{FF2B5EF4-FFF2-40B4-BE49-F238E27FC236}">
                <a16:creationId xmlns:a16="http://schemas.microsoft.com/office/drawing/2014/main" id="{F818FC0C-6CD6-0F73-69F1-7346D13223B3}"/>
              </a:ext>
            </a:extLst>
          </p:cNvPr>
          <p:cNvGrpSpPr/>
          <p:nvPr/>
        </p:nvGrpSpPr>
        <p:grpSpPr>
          <a:xfrm>
            <a:off x="1493058" y="2275150"/>
            <a:ext cx="2688577" cy="2688578"/>
            <a:chOff x="1493058" y="2275150"/>
            <a:chExt cx="2688577" cy="2688578"/>
          </a:xfrm>
        </p:grpSpPr>
        <p:sp>
          <p:nvSpPr>
            <p:cNvPr id="43" name="Circle: Hollow 42">
              <a:extLst>
                <a:ext uri="{FF2B5EF4-FFF2-40B4-BE49-F238E27FC236}">
                  <a16:creationId xmlns:a16="http://schemas.microsoft.com/office/drawing/2014/main" id="{1FB69D1B-E8D5-415B-D6C3-4FD12192FABD}"/>
                </a:ext>
                <a:ext uri="{C183D7F6-B498-43B3-948B-1728B52AA6E4}">
                  <adec:decorative xmlns:adec="http://schemas.microsoft.com/office/drawing/2017/decorative" val="1"/>
                </a:ext>
              </a:extLst>
            </p:cNvPr>
            <p:cNvSpPr>
              <a:spLocks noChangeAspect="1"/>
            </p:cNvSpPr>
            <p:nvPr/>
          </p:nvSpPr>
          <p:spPr bwMode="auto">
            <a:xfrm>
              <a:off x="1493058" y="2275150"/>
              <a:ext cx="2688577" cy="2688578"/>
            </a:xfrm>
            <a:prstGeom prst="donut">
              <a:avLst>
                <a:gd name="adj" fmla="val 12613"/>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ea typeface="+mn-ea"/>
                <a:cs typeface="+mn-cs"/>
              </a:endParaRPr>
            </a:p>
          </p:txBody>
        </p:sp>
        <p:sp>
          <p:nvSpPr>
            <p:cNvPr id="44" name="TextBox 43">
              <a:extLst>
                <a:ext uri="{FF2B5EF4-FFF2-40B4-BE49-F238E27FC236}">
                  <a16:creationId xmlns:a16="http://schemas.microsoft.com/office/drawing/2014/main" id="{EA762F68-1A75-4E2A-FF86-98E7D5EDB4CC}"/>
                </a:ext>
                <a:ext uri="{C183D7F6-B498-43B3-948B-1728B52AA6E4}">
                  <adec:decorative xmlns:adec="http://schemas.microsoft.com/office/drawing/2017/decorative" val="1"/>
                </a:ext>
              </a:extLst>
            </p:cNvPr>
            <p:cNvSpPr txBox="1">
              <a:spLocks noChangeAspect="1"/>
            </p:cNvSpPr>
            <p:nvPr/>
          </p:nvSpPr>
          <p:spPr>
            <a:xfrm rot="1643445">
              <a:off x="1632640" y="2464411"/>
              <a:ext cx="2439784" cy="2439784"/>
            </a:xfrm>
            <a:prstGeom prst="rect">
              <a:avLst/>
            </a:prstGeom>
            <a:noFill/>
          </p:spPr>
          <p:txBody>
            <a:bodyPr wrap="square" lIns="0" tIns="0" rIns="0" bIns="0" rtlCol="0">
              <a:prstTxWarp prst="textArchUp">
                <a:avLst>
                  <a:gd name="adj" fmla="val 1261381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Establish feasibility </a:t>
              </a:r>
            </a:p>
          </p:txBody>
        </p:sp>
        <p:sp>
          <p:nvSpPr>
            <p:cNvPr id="45" name="TextBox 44">
              <a:extLst>
                <a:ext uri="{FF2B5EF4-FFF2-40B4-BE49-F238E27FC236}">
                  <a16:creationId xmlns:a16="http://schemas.microsoft.com/office/drawing/2014/main" id="{445D329F-3FF1-3347-EB88-B8A4EF4CA698}"/>
                </a:ext>
                <a:ext uri="{C183D7F6-B498-43B3-948B-1728B52AA6E4}">
                  <adec:decorative xmlns:adec="http://schemas.microsoft.com/office/drawing/2017/decorative" val="1"/>
                </a:ext>
              </a:extLst>
            </p:cNvPr>
            <p:cNvSpPr txBox="1">
              <a:spLocks noChangeAspect="1"/>
            </p:cNvSpPr>
            <p:nvPr/>
          </p:nvSpPr>
          <p:spPr>
            <a:xfrm rot="11682144">
              <a:off x="1662441" y="2406264"/>
              <a:ext cx="2289378" cy="2384153"/>
            </a:xfrm>
            <a:prstGeom prst="rect">
              <a:avLst/>
            </a:prstGeom>
            <a:noFill/>
          </p:spPr>
          <p:txBody>
            <a:bodyPr wrap="square" lIns="0" tIns="0" rIns="0" bIns="0" rtlCol="0">
              <a:prstTxWarp prst="textArchUp">
                <a:avLst>
                  <a:gd name="adj" fmla="val 13727663"/>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Test   Prompts</a:t>
              </a:r>
            </a:p>
          </p:txBody>
        </p:sp>
        <p:sp>
          <p:nvSpPr>
            <p:cNvPr id="46" name="TextBox 45">
              <a:extLst>
                <a:ext uri="{FF2B5EF4-FFF2-40B4-BE49-F238E27FC236}">
                  <a16:creationId xmlns:a16="http://schemas.microsoft.com/office/drawing/2014/main" id="{CD932666-1207-1276-7D5B-94845FBB8DAA}"/>
                </a:ext>
                <a:ext uri="{C183D7F6-B498-43B3-948B-1728B52AA6E4}">
                  <adec:decorative xmlns:adec="http://schemas.microsoft.com/office/drawing/2017/decorative" val="1"/>
                </a:ext>
              </a:extLst>
            </p:cNvPr>
            <p:cNvSpPr txBox="1">
              <a:spLocks noChangeAspect="1"/>
            </p:cNvSpPr>
            <p:nvPr/>
          </p:nvSpPr>
          <p:spPr>
            <a:xfrm rot="16200000">
              <a:off x="1676692" y="2461064"/>
              <a:ext cx="2293484" cy="2293484"/>
            </a:xfrm>
            <a:prstGeom prst="rect">
              <a:avLst/>
            </a:prstGeom>
            <a:noFill/>
          </p:spPr>
          <p:txBody>
            <a:bodyPr wrap="square" lIns="0" tIns="0" rIns="0" bIns="0" rtlCol="0">
              <a:prstTxWarp prst="textArchUp">
                <a:avLst>
                  <a:gd name="adj" fmla="val 1420148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Choose LLM or SLM</a:t>
              </a:r>
            </a:p>
          </p:txBody>
        </p:sp>
        <p:sp>
          <p:nvSpPr>
            <p:cNvPr id="50" name="TextBox 49">
              <a:extLst>
                <a:ext uri="{FF2B5EF4-FFF2-40B4-BE49-F238E27FC236}">
                  <a16:creationId xmlns:a16="http://schemas.microsoft.com/office/drawing/2014/main" id="{7AFE8E75-DFA1-2EDC-B138-BD14712EEABB}"/>
                </a:ext>
                <a:ext uri="{C183D7F6-B498-43B3-948B-1728B52AA6E4}">
                  <adec:decorative xmlns:adec="http://schemas.microsoft.com/office/drawing/2017/decorative" val="1"/>
                </a:ext>
              </a:extLst>
            </p:cNvPr>
            <p:cNvSpPr txBox="1">
              <a:spLocks noChangeAspect="1"/>
            </p:cNvSpPr>
            <p:nvPr/>
          </p:nvSpPr>
          <p:spPr>
            <a:xfrm rot="5400000">
              <a:off x="1687616" y="2515859"/>
              <a:ext cx="2293484" cy="2293484"/>
            </a:xfrm>
            <a:prstGeom prst="rect">
              <a:avLst/>
            </a:prstGeom>
            <a:noFill/>
          </p:spPr>
          <p:txBody>
            <a:bodyPr wrap="square" lIns="0" tIns="0" rIns="0" bIns="0" rtlCol="0">
              <a:prstTxWarp prst="textArchUp">
                <a:avLst>
                  <a:gd name="adj" fmla="val 1297096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rgbClr val="FFFFFF"/>
                  </a:solidFill>
                  <a:latin typeface="+mj-lt"/>
                </a:rPr>
                <a:t>                 Define Use Case </a:t>
              </a:r>
              <a:endParaRPr kumimoji="0" lang="en-GB" sz="1100" b="0" i="0" u="none" strike="noStrike" kern="1200" cap="none" spc="0" normalizeH="0" baseline="0" noProof="0">
                <a:ln>
                  <a:noFill/>
                </a:ln>
                <a:solidFill>
                  <a:srgbClr val="FFFFFF"/>
                </a:solidFill>
                <a:effectLst/>
                <a:uLnTx/>
                <a:uFillTx/>
                <a:latin typeface="+mj-lt"/>
              </a:endParaRPr>
            </a:p>
          </p:txBody>
        </p:sp>
        <p:sp>
          <p:nvSpPr>
            <p:cNvPr id="53" name="Inner &gt; Middle">
              <a:extLst>
                <a:ext uri="{FF2B5EF4-FFF2-40B4-BE49-F238E27FC236}">
                  <a16:creationId xmlns:a16="http://schemas.microsoft.com/office/drawing/2014/main" id="{8EE89CF6-65B8-E3E1-F882-0AF4C9F6F061}"/>
                </a:ext>
                <a:ext uri="{C183D7F6-B498-43B3-948B-1728B52AA6E4}">
                  <adec:decorative xmlns:adec="http://schemas.microsoft.com/office/drawing/2017/decorative" val="1"/>
                </a:ext>
              </a:extLst>
            </p:cNvPr>
            <p:cNvSpPr>
              <a:spLocks noChangeAspect="1"/>
            </p:cNvSpPr>
            <p:nvPr/>
          </p:nvSpPr>
          <p:spPr>
            <a:xfrm flipV="1">
              <a:off x="1937941" y="2707290"/>
              <a:ext cx="1798812" cy="1798811"/>
            </a:xfrm>
            <a:prstGeom prst="arc">
              <a:avLst>
                <a:gd name="adj1" fmla="val 8319039"/>
                <a:gd name="adj2" fmla="val 795784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740495" rtl="0" eaLnBrk="1" fontAlgn="auto" latinLnBrk="0" hangingPunct="1">
                <a:lnSpc>
                  <a:spcPct val="100000"/>
                </a:lnSpc>
                <a:spcBef>
                  <a:spcPts val="0"/>
                </a:spcBef>
                <a:spcAft>
                  <a:spcPts val="0"/>
                </a:spcAft>
                <a:buClrTx/>
                <a:buSzTx/>
                <a:buFontTx/>
                <a:buNone/>
                <a:tabLst/>
                <a:defRPr/>
              </a:pPr>
              <a:endParaRPr kumimoji="0" lang="en-GB" sz="1429" b="0" i="0" u="none" strike="noStrike" kern="1200" cap="none" spc="0" normalizeH="0" baseline="0" noProof="0">
                <a:ln>
                  <a:noFill/>
                </a:ln>
                <a:solidFill>
                  <a:prstClr val="black"/>
                </a:solidFill>
                <a:effectLst/>
                <a:uLnTx/>
                <a:uFillTx/>
                <a:ea typeface="+mn-ea"/>
                <a:cs typeface="+mn-cs"/>
              </a:endParaRPr>
            </a:p>
          </p:txBody>
        </p:sp>
        <p:sp>
          <p:nvSpPr>
            <p:cNvPr id="56" name="Rectangle 55">
              <a:extLst>
                <a:ext uri="{FF2B5EF4-FFF2-40B4-BE49-F238E27FC236}">
                  <a16:creationId xmlns:a16="http://schemas.microsoft.com/office/drawing/2014/main" id="{B3002A4E-665A-B86D-48A6-33E68C8AE084}"/>
                </a:ext>
                <a:ext uri="{C183D7F6-B498-43B3-948B-1728B52AA6E4}">
                  <adec:decorative xmlns:adec="http://schemas.microsoft.com/office/drawing/2017/decorative" val="1"/>
                </a:ext>
              </a:extLst>
            </p:cNvPr>
            <p:cNvSpPr/>
            <p:nvPr/>
          </p:nvSpPr>
          <p:spPr bwMode="auto">
            <a:xfrm>
              <a:off x="2063784" y="2950245"/>
              <a:ext cx="1528509" cy="133003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solidFill>
                  <a:latin typeface="+mj-lt"/>
                </a:rPr>
                <a:t>Prove that it works</a:t>
              </a:r>
            </a:p>
          </p:txBody>
        </p:sp>
      </p:grpSp>
      <p:sp>
        <p:nvSpPr>
          <p:cNvPr id="57" name="BUSINESS NEED"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C5EEFFF9-51EA-E5D7-E754-B4C9580E4EF3}"/>
              </a:ext>
            </a:extLst>
          </p:cNvPr>
          <p:cNvSpPr txBox="1"/>
          <p:nvPr/>
        </p:nvSpPr>
        <p:spPr>
          <a:xfrm>
            <a:off x="585217" y="2456663"/>
            <a:ext cx="818622" cy="446469"/>
          </a:xfrm>
          <a:prstGeom prst="rect">
            <a:avLst/>
          </a:prstGeom>
          <a:noFill/>
        </p:spPr>
        <p:txBody>
          <a:bodyPr wrap="none" rtlCol="0">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lang="en-US" sz="1000" b="1" spc="32">
                <a:ln w="3175">
                  <a:noFill/>
                </a:ln>
                <a:solidFill>
                  <a:schemeClr val="bg1"/>
                </a:solidFill>
                <a:cs typeface="Segoe Sans Text" pitchFamily="2" charset="0"/>
              </a:rPr>
              <a:t>BUSINESS</a:t>
            </a:r>
            <a:br>
              <a:rPr lang="en-US" sz="1000" b="1" spc="32">
                <a:ln w="3175">
                  <a:noFill/>
                </a:ln>
                <a:solidFill>
                  <a:schemeClr val="bg1"/>
                </a:solidFill>
                <a:cs typeface="Segoe Sans Text" pitchFamily="2" charset="0"/>
              </a:rPr>
            </a:br>
            <a:r>
              <a:rPr lang="en-US" sz="1000" b="1" spc="32">
                <a:ln w="3175">
                  <a:noFill/>
                </a:ln>
                <a:solidFill>
                  <a:schemeClr val="bg1"/>
                </a:solidFill>
                <a:cs typeface="Segoe Sans Text" pitchFamily="2" charset="0"/>
              </a:rPr>
              <a:t>NEED</a:t>
            </a:r>
          </a:p>
        </p:txBody>
      </p:sp>
      <p:sp>
        <p:nvSpPr>
          <p:cNvPr id="58"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05B5E81C-1867-50CD-83B7-95CA8D1BD21C}"/>
              </a:ext>
            </a:extLst>
          </p:cNvPr>
          <p:cNvSpPr>
            <a:spLocks noChangeAspect="1"/>
          </p:cNvSpPr>
          <p:nvPr/>
        </p:nvSpPr>
        <p:spPr>
          <a:xfrm flipH="1">
            <a:off x="1100697" y="2179207"/>
            <a:ext cx="1530771" cy="1531095"/>
          </a:xfrm>
          <a:prstGeom prst="arc">
            <a:avLst>
              <a:gd name="adj1" fmla="val 14631255"/>
              <a:gd name="adj2" fmla="val 19066496"/>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Tree>
    <p:extLst>
      <p:ext uri="{BB962C8B-B14F-4D97-AF65-F5344CB8AC3E}">
        <p14:creationId xmlns:p14="http://schemas.microsoft.com/office/powerpoint/2010/main" val="340086144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16061-A802-224F-671F-E5FB417F4C81}"/>
            </a:ext>
          </a:extLst>
        </p:cNvPr>
        <p:cNvGrpSpPr/>
        <p:nvPr/>
      </p:nvGrpSpPr>
      <p:grpSpPr>
        <a:xfrm>
          <a:off x="0" y="0"/>
          <a:ext cx="0" cy="0"/>
          <a:chOff x="0" y="0"/>
          <a:chExt cx="0" cy="0"/>
        </a:xfrm>
      </p:grpSpPr>
      <p:sp>
        <p:nvSpPr>
          <p:cNvPr id="83" name="Rectangle: Rounded Corners 82">
            <a:extLst>
              <a:ext uri="{FF2B5EF4-FFF2-40B4-BE49-F238E27FC236}">
                <a16:creationId xmlns:a16="http://schemas.microsoft.com/office/drawing/2014/main" id="{A1F811D7-DFCB-DE6F-E479-A8E2A2422477}"/>
              </a:ext>
            </a:extLst>
          </p:cNvPr>
          <p:cNvSpPr>
            <a:spLocks/>
          </p:cNvSpPr>
          <p:nvPr/>
        </p:nvSpPr>
        <p:spPr bwMode="auto">
          <a:xfrm>
            <a:off x="1688150" y="1592263"/>
            <a:ext cx="5663626" cy="450373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2" name="TextBox 91">
            <a:extLst>
              <a:ext uri="{FF2B5EF4-FFF2-40B4-BE49-F238E27FC236}">
                <a16:creationId xmlns:a16="http://schemas.microsoft.com/office/drawing/2014/main" id="{9A16E436-CC94-BF29-75C0-FB7F186D1E7A}"/>
              </a:ext>
            </a:extLst>
          </p:cNvPr>
          <p:cNvSpPr txBox="1"/>
          <p:nvPr/>
        </p:nvSpPr>
        <p:spPr>
          <a:xfrm>
            <a:off x="2210411" y="3121960"/>
            <a:ext cx="2017850" cy="2816156"/>
          </a:xfrm>
          <a:prstGeom prst="rect">
            <a:avLst/>
          </a:prstGeom>
          <a:noFill/>
        </p:spPr>
        <p:txBody>
          <a:bodyPr wrap="square" lIns="0" tIns="0" rIns="0" bIns="0" rtlCol="0">
            <a:spAutoFit/>
          </a:bodyPr>
          <a:lstStyle/>
          <a:p>
            <a:pPr defTabSz="609630" fontAlgn="base">
              <a:spcBef>
                <a:spcPts val="600"/>
              </a:spcBef>
              <a:spcAft>
                <a:spcPct val="0"/>
              </a:spcAft>
              <a:defRPr/>
            </a:pPr>
            <a:r>
              <a:rPr lang="en-GB" sz="1600">
                <a:gradFill>
                  <a:gsLst>
                    <a:gs pos="0">
                      <a:schemeClr val="tx2">
                        <a:lumMod val="20000"/>
                        <a:lumOff val="80000"/>
                      </a:schemeClr>
                    </a:gs>
                    <a:gs pos="100000">
                      <a:schemeClr val="accent4">
                        <a:lumMod val="60000"/>
                        <a:lumOff val="40000"/>
                      </a:schemeClr>
                    </a:gs>
                  </a:gsLst>
                  <a:lin ang="2700000" scaled="0"/>
                </a:gradFill>
                <a:latin typeface="+mj-lt"/>
              </a:rPr>
              <a:t>Azure AI Foundry (Recommended)</a:t>
            </a:r>
          </a:p>
          <a:p>
            <a:pPr defTabSz="609630" fontAlgn="base">
              <a:spcBef>
                <a:spcPts val="1200"/>
              </a:spcBef>
              <a:spcAft>
                <a:spcPct val="0"/>
              </a:spcAft>
              <a:defRPr/>
            </a:pPr>
            <a:r>
              <a:rPr lang="en-GB" sz="1200" b="1">
                <a:solidFill>
                  <a:srgbClr val="FFFFFF"/>
                </a:solidFill>
              </a:rPr>
              <a:t>Model </a:t>
            </a:r>
            <a:r>
              <a:rPr lang="en-GB" sz="1200" b="1" err="1">
                <a:solidFill>
                  <a:srgbClr val="FFFFFF"/>
                </a:solidFill>
              </a:rPr>
              <a:t>Catalog</a:t>
            </a:r>
            <a:endParaRPr lang="en-GB" sz="1200" b="1">
              <a:solidFill>
                <a:srgbClr val="FFFFFF"/>
              </a:solidFill>
            </a:endParaRPr>
          </a:p>
          <a:p>
            <a:pPr defTabSz="609630" fontAlgn="base">
              <a:spcBef>
                <a:spcPts val="1200"/>
              </a:spcBef>
              <a:spcAft>
                <a:spcPct val="0"/>
              </a:spcAft>
              <a:defRPr/>
            </a:pPr>
            <a:r>
              <a:rPr lang="en-GB" sz="1200" b="1">
                <a:solidFill>
                  <a:srgbClr val="FFFFFF"/>
                </a:solidFill>
              </a:rPr>
              <a:t>Model </a:t>
            </a:r>
            <a:r>
              <a:rPr lang="en-GB" sz="1200" b="1" err="1">
                <a:solidFill>
                  <a:srgbClr val="FFFFFF"/>
                </a:solidFill>
              </a:rPr>
              <a:t>Benchmarkings</a:t>
            </a:r>
            <a:endParaRPr lang="en-GB" sz="1200" b="1">
              <a:solidFill>
                <a:srgbClr val="FFFFFF"/>
              </a:solidFill>
            </a:endParaRPr>
          </a:p>
          <a:p>
            <a:pPr defTabSz="609630" fontAlgn="base">
              <a:spcBef>
                <a:spcPts val="1200"/>
              </a:spcBef>
              <a:spcAft>
                <a:spcPct val="0"/>
              </a:spcAft>
              <a:defRPr/>
            </a:pPr>
            <a:r>
              <a:rPr lang="en-GB" sz="1200" b="1">
                <a:solidFill>
                  <a:srgbClr val="FFFFFF"/>
                </a:solidFill>
              </a:rPr>
              <a:t>Azure OpenAI</a:t>
            </a:r>
          </a:p>
          <a:p>
            <a:pPr marL="0" lvl="1" defTabSz="609630" fontAlgn="base">
              <a:spcBef>
                <a:spcPts val="600"/>
              </a:spcBef>
              <a:spcAft>
                <a:spcPct val="0"/>
              </a:spcAft>
              <a:defRPr/>
            </a:pPr>
            <a:r>
              <a:rPr lang="en-GB" sz="1200">
                <a:solidFill>
                  <a:srgbClr val="FFFFFF"/>
                </a:solidFill>
              </a:rPr>
              <a:t>Chat Playground</a:t>
            </a:r>
          </a:p>
          <a:p>
            <a:pPr marL="0" lvl="1" defTabSz="609630" fontAlgn="base">
              <a:spcBef>
                <a:spcPts val="600"/>
              </a:spcBef>
              <a:spcAft>
                <a:spcPct val="0"/>
              </a:spcAft>
              <a:defRPr/>
            </a:pPr>
            <a:r>
              <a:rPr lang="en-GB" sz="1200">
                <a:solidFill>
                  <a:srgbClr val="FFFFFF"/>
                </a:solidFill>
              </a:rPr>
              <a:t>Completions Playground</a:t>
            </a:r>
          </a:p>
          <a:p>
            <a:pPr marL="0" lvl="1" defTabSz="609630" fontAlgn="base">
              <a:spcBef>
                <a:spcPts val="600"/>
              </a:spcBef>
              <a:spcAft>
                <a:spcPct val="0"/>
              </a:spcAft>
              <a:defRPr/>
            </a:pPr>
            <a:r>
              <a:rPr lang="en-GB" sz="1200">
                <a:solidFill>
                  <a:srgbClr val="FFFFFF"/>
                </a:solidFill>
              </a:rPr>
              <a:t>Assistants (Preview)</a:t>
            </a:r>
          </a:p>
          <a:p>
            <a:pPr marL="0" lvl="1" defTabSz="609630" fontAlgn="base">
              <a:spcBef>
                <a:spcPts val="600"/>
              </a:spcBef>
              <a:spcAft>
                <a:spcPct val="0"/>
              </a:spcAft>
              <a:defRPr/>
            </a:pPr>
            <a:r>
              <a:rPr lang="en-GB" sz="1200">
                <a:solidFill>
                  <a:srgbClr val="FFFFFF"/>
                </a:solidFill>
              </a:rPr>
              <a:t>Audio Playground (Preview)</a:t>
            </a:r>
          </a:p>
          <a:p>
            <a:pPr marL="0" lvl="1" defTabSz="609630" fontAlgn="base">
              <a:spcBef>
                <a:spcPts val="600"/>
              </a:spcBef>
              <a:spcAft>
                <a:spcPct val="0"/>
              </a:spcAft>
              <a:defRPr/>
            </a:pPr>
            <a:r>
              <a:rPr lang="en-GB" sz="1200">
                <a:solidFill>
                  <a:srgbClr val="FFFFFF"/>
                </a:solidFill>
              </a:rPr>
              <a:t>Images</a:t>
            </a:r>
          </a:p>
        </p:txBody>
      </p:sp>
      <p:grpSp>
        <p:nvGrpSpPr>
          <p:cNvPr id="93" name="Group 92">
            <a:extLst>
              <a:ext uri="{FF2B5EF4-FFF2-40B4-BE49-F238E27FC236}">
                <a16:creationId xmlns:a16="http://schemas.microsoft.com/office/drawing/2014/main" id="{C3F53880-92B9-6AEE-A82A-CE4DBE5D98AC}"/>
              </a:ext>
            </a:extLst>
          </p:cNvPr>
          <p:cNvGrpSpPr/>
          <p:nvPr/>
        </p:nvGrpSpPr>
        <p:grpSpPr>
          <a:xfrm>
            <a:off x="2253587" y="1765429"/>
            <a:ext cx="1174645" cy="1174984"/>
            <a:chOff x="1600003" y="1811018"/>
            <a:chExt cx="1641521" cy="1641995"/>
          </a:xfrm>
        </p:grpSpPr>
        <p:sp>
          <p:nvSpPr>
            <p:cNvPr id="94" name="Oval 17">
              <a:extLst>
                <a:ext uri="{FF2B5EF4-FFF2-40B4-BE49-F238E27FC236}">
                  <a16:creationId xmlns:a16="http://schemas.microsoft.com/office/drawing/2014/main" id="{8D83D44A-D9AF-98A1-5C81-36E3398B3BCA}"/>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95" name="Group 94">
              <a:extLst>
                <a:ext uri="{FF2B5EF4-FFF2-40B4-BE49-F238E27FC236}">
                  <a16:creationId xmlns:a16="http://schemas.microsoft.com/office/drawing/2014/main" id="{D3D7C465-2716-85FE-90D7-7A3FB91EF4DA}"/>
                </a:ext>
              </a:extLst>
            </p:cNvPr>
            <p:cNvGrpSpPr/>
            <p:nvPr/>
          </p:nvGrpSpPr>
          <p:grpSpPr>
            <a:xfrm>
              <a:off x="1714605" y="1927192"/>
              <a:ext cx="1412318" cy="1409646"/>
              <a:chOff x="1261672" y="4833937"/>
              <a:chExt cx="954301" cy="954297"/>
            </a:xfrm>
          </p:grpSpPr>
          <p:sp>
            <p:nvSpPr>
              <p:cNvPr id="96" name="Rectangle: Rounded Corners 95">
                <a:extLst>
                  <a:ext uri="{FF2B5EF4-FFF2-40B4-BE49-F238E27FC236}">
                    <a16:creationId xmlns:a16="http://schemas.microsoft.com/office/drawing/2014/main" id="{52D5EA7C-778D-758D-87D1-AAB302A36AA3}"/>
                  </a:ext>
                </a:extLst>
              </p:cNvPr>
              <p:cNvSpPr/>
              <p:nvPr userDrawn="1"/>
            </p:nvSpPr>
            <p:spPr bwMode="auto">
              <a:xfrm>
                <a:off x="1261677"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97" name="Rectangle: Rounded Corners 96">
                <a:extLst>
                  <a:ext uri="{FF2B5EF4-FFF2-40B4-BE49-F238E27FC236}">
                    <a16:creationId xmlns:a16="http://schemas.microsoft.com/office/drawing/2014/main" id="{32AE0999-7630-1A0A-734D-BE47E5326C94}"/>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2" name="TextBox 1">
            <a:extLst>
              <a:ext uri="{FF2B5EF4-FFF2-40B4-BE49-F238E27FC236}">
                <a16:creationId xmlns:a16="http://schemas.microsoft.com/office/drawing/2014/main" id="{22177BA9-D95E-CC48-7756-70050407341D}"/>
              </a:ext>
            </a:extLst>
          </p:cNvPr>
          <p:cNvSpPr txBox="1"/>
          <p:nvPr/>
        </p:nvSpPr>
        <p:spPr>
          <a:xfrm>
            <a:off x="4676316" y="3775983"/>
            <a:ext cx="1907363" cy="1908215"/>
          </a:xfrm>
          <a:prstGeom prst="rect">
            <a:avLst/>
          </a:prstGeom>
          <a:noFill/>
        </p:spPr>
        <p:txBody>
          <a:bodyPr wrap="square" lIns="0" tIns="0" rIns="0" bIns="0" rtlCol="0">
            <a:spAutoFit/>
          </a:bodyPr>
          <a:lstStyle/>
          <a:p>
            <a:pPr defTabSz="609630" fontAlgn="base">
              <a:spcBef>
                <a:spcPts val="1200"/>
              </a:spcBef>
              <a:spcAft>
                <a:spcPct val="0"/>
              </a:spcAft>
              <a:defRPr/>
            </a:pPr>
            <a:r>
              <a:rPr lang="en-GB" sz="1200" b="1">
                <a:solidFill>
                  <a:srgbClr val="FFFFFF"/>
                </a:solidFill>
              </a:rPr>
              <a:t>Playgrounds for AI Services</a:t>
            </a:r>
          </a:p>
          <a:p>
            <a:pPr defTabSz="609630" fontAlgn="base">
              <a:spcBef>
                <a:spcPts val="1200"/>
              </a:spcBef>
              <a:spcAft>
                <a:spcPct val="0"/>
              </a:spcAft>
              <a:defRPr/>
            </a:pPr>
            <a:r>
              <a:rPr lang="en-GB" sz="1200" b="1">
                <a:solidFill>
                  <a:srgbClr val="FFFFFF"/>
                </a:solidFill>
              </a:rPr>
              <a:t>Agents </a:t>
            </a:r>
            <a:r>
              <a:rPr lang="en-GB" sz="1200">
                <a:solidFill>
                  <a:srgbClr val="FFFFFF"/>
                </a:solidFill>
              </a:rPr>
              <a:t>(Preview)</a:t>
            </a:r>
          </a:p>
          <a:p>
            <a:pPr defTabSz="609630" fontAlgn="base">
              <a:spcBef>
                <a:spcPts val="1200"/>
              </a:spcBef>
              <a:spcAft>
                <a:spcPct val="0"/>
              </a:spcAft>
              <a:defRPr/>
            </a:pPr>
            <a:r>
              <a:rPr lang="en-GB" sz="1200" b="1">
                <a:solidFill>
                  <a:srgbClr val="FFFFFF"/>
                </a:solidFill>
              </a:rPr>
              <a:t>Fine-tuning</a:t>
            </a:r>
          </a:p>
          <a:p>
            <a:pPr defTabSz="609630" fontAlgn="base">
              <a:spcBef>
                <a:spcPts val="1200"/>
              </a:spcBef>
              <a:spcAft>
                <a:spcPct val="0"/>
              </a:spcAft>
              <a:defRPr/>
            </a:pPr>
            <a:r>
              <a:rPr lang="en-GB" sz="1200" b="1">
                <a:solidFill>
                  <a:srgbClr val="FFFFFF"/>
                </a:solidFill>
              </a:rPr>
              <a:t>Content Understanding </a:t>
            </a:r>
            <a:r>
              <a:rPr lang="en-GB" sz="1200">
                <a:solidFill>
                  <a:srgbClr val="FFFFFF"/>
                </a:solidFill>
              </a:rPr>
              <a:t>(Preview)</a:t>
            </a:r>
          </a:p>
          <a:p>
            <a:pPr defTabSz="609630" fontAlgn="base">
              <a:spcBef>
                <a:spcPts val="1200"/>
              </a:spcBef>
              <a:spcAft>
                <a:spcPct val="0"/>
              </a:spcAft>
              <a:defRPr/>
            </a:pPr>
            <a:r>
              <a:rPr lang="en-GB" sz="1200" b="1">
                <a:solidFill>
                  <a:srgbClr val="FFFFFF"/>
                </a:solidFill>
              </a:rPr>
              <a:t>Prompt Flow</a:t>
            </a:r>
          </a:p>
        </p:txBody>
      </p:sp>
      <p:grpSp>
        <p:nvGrpSpPr>
          <p:cNvPr id="20" name="Group 19">
            <a:extLst>
              <a:ext uri="{FF2B5EF4-FFF2-40B4-BE49-F238E27FC236}">
                <a16:creationId xmlns:a16="http://schemas.microsoft.com/office/drawing/2014/main" id="{B5B3F740-2CF7-868F-7B9C-F7D00FBC14BB}"/>
              </a:ext>
            </a:extLst>
          </p:cNvPr>
          <p:cNvGrpSpPr/>
          <p:nvPr/>
        </p:nvGrpSpPr>
        <p:grpSpPr>
          <a:xfrm>
            <a:off x="2502319" y="2059890"/>
            <a:ext cx="623201" cy="601186"/>
            <a:chOff x="4452360" y="2059890"/>
            <a:chExt cx="623201" cy="601186"/>
          </a:xfrm>
          <a:gradFill>
            <a:gsLst>
              <a:gs pos="100000">
                <a:srgbClr val="BDF2BD"/>
              </a:gs>
              <a:gs pos="55000">
                <a:srgbClr val="C3E9FC"/>
              </a:gs>
            </a:gsLst>
            <a:lin ang="0" scaled="1"/>
          </a:gradFill>
        </p:grpSpPr>
        <p:sp>
          <p:nvSpPr>
            <p:cNvPr id="16" name="Freeform: Shape 15">
              <a:extLst>
                <a:ext uri="{FF2B5EF4-FFF2-40B4-BE49-F238E27FC236}">
                  <a16:creationId xmlns:a16="http://schemas.microsoft.com/office/drawing/2014/main" id="{FD782321-59FB-00F4-7236-D5EDFD2EA8FD}"/>
                </a:ext>
              </a:extLst>
            </p:cNvPr>
            <p:cNvSpPr/>
            <p:nvPr/>
          </p:nvSpPr>
          <p:spPr>
            <a:xfrm>
              <a:off x="4593795" y="2280632"/>
              <a:ext cx="78413" cy="38785"/>
            </a:xfrm>
            <a:custGeom>
              <a:avLst/>
              <a:gdLst>
                <a:gd name="connsiteX0" fmla="*/ 61306 w 78413"/>
                <a:gd name="connsiteY0" fmla="*/ 34768 h 38785"/>
                <a:gd name="connsiteX1" fmla="*/ 74354 w 78413"/>
                <a:gd name="connsiteY1" fmla="*/ 37300 h 38785"/>
                <a:gd name="connsiteX2" fmla="*/ 76886 w 78413"/>
                <a:gd name="connsiteY2" fmla="*/ 24155 h 38785"/>
                <a:gd name="connsiteX3" fmla="*/ 3019 w 78413"/>
                <a:gd name="connsiteY3" fmla="*/ 8713 h 38785"/>
                <a:gd name="connsiteX4" fmla="*/ 2492 w 78413"/>
                <a:gd name="connsiteY4" fmla="*/ 9062 h 38785"/>
                <a:gd name="connsiteX5" fmla="*/ 3232 w 78413"/>
                <a:gd name="connsiteY5" fmla="*/ 22812 h 38785"/>
                <a:gd name="connsiteX6" fmla="*/ 13009 w 78413"/>
                <a:gd name="connsiteY6" fmla="*/ 24739 h 38785"/>
                <a:gd name="connsiteX7" fmla="*/ 61177 w 78413"/>
                <a:gd name="connsiteY7" fmla="*/ 34571 h 38785"/>
                <a:gd name="connsiteX8" fmla="*/ 61306 w 78413"/>
                <a:gd name="connsiteY8" fmla="*/ 34768 h 3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413" h="38785">
                  <a:moveTo>
                    <a:pt x="61306" y="34768"/>
                  </a:moveTo>
                  <a:cubicBezTo>
                    <a:pt x="64314" y="38911"/>
                    <a:pt x="70015" y="40017"/>
                    <a:pt x="74354" y="37300"/>
                  </a:cubicBezTo>
                  <a:cubicBezTo>
                    <a:pt x="78554" y="34285"/>
                    <a:pt x="79665" y="28514"/>
                    <a:pt x="76886" y="24155"/>
                  </a:cubicBezTo>
                  <a:cubicBezTo>
                    <a:pt x="60752" y="-507"/>
                    <a:pt x="27681" y="-7421"/>
                    <a:pt x="3019" y="8713"/>
                  </a:cubicBezTo>
                  <a:cubicBezTo>
                    <a:pt x="2843" y="8828"/>
                    <a:pt x="2667" y="8944"/>
                    <a:pt x="2492" y="9062"/>
                  </a:cubicBezTo>
                  <a:cubicBezTo>
                    <a:pt x="-1101" y="13063"/>
                    <a:pt x="-770" y="19219"/>
                    <a:pt x="3232" y="22812"/>
                  </a:cubicBezTo>
                  <a:cubicBezTo>
                    <a:pt x="5890" y="25200"/>
                    <a:pt x="9643" y="25939"/>
                    <a:pt x="13009" y="24739"/>
                  </a:cubicBezTo>
                  <a:cubicBezTo>
                    <a:pt x="29025" y="14153"/>
                    <a:pt x="50591" y="18555"/>
                    <a:pt x="61177" y="34571"/>
                  </a:cubicBezTo>
                  <a:cubicBezTo>
                    <a:pt x="61220" y="34637"/>
                    <a:pt x="61263" y="34702"/>
                    <a:pt x="61306" y="34768"/>
                  </a:cubicBezTo>
                  <a:close/>
                </a:path>
              </a:pathLst>
            </a:custGeom>
            <a:grpFill/>
            <a:ln w="9674"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57274F32-E91B-3B16-F616-FDB4C2BDE1D7}"/>
                </a:ext>
              </a:extLst>
            </p:cNvPr>
            <p:cNvSpPr/>
            <p:nvPr/>
          </p:nvSpPr>
          <p:spPr>
            <a:xfrm>
              <a:off x="4567784" y="2403709"/>
              <a:ext cx="53004" cy="68754"/>
            </a:xfrm>
            <a:custGeom>
              <a:avLst/>
              <a:gdLst>
                <a:gd name="connsiteX0" fmla="*/ 46518 w 53004"/>
                <a:gd name="connsiteY0" fmla="*/ 49767 h 68754"/>
                <a:gd name="connsiteX1" fmla="*/ 19500 w 53004"/>
                <a:gd name="connsiteY1" fmla="*/ 8695 h 68754"/>
                <a:gd name="connsiteX2" fmla="*/ 19545 w 53004"/>
                <a:gd name="connsiteY2" fmla="*/ 8480 h 68754"/>
                <a:gd name="connsiteX3" fmla="*/ 8631 w 53004"/>
                <a:gd name="connsiteY3" fmla="*/ 83 h 68754"/>
                <a:gd name="connsiteX4" fmla="*/ 1142 w 53004"/>
                <a:gd name="connsiteY4" fmla="*/ 5462 h 68754"/>
                <a:gd name="connsiteX5" fmla="*/ 42443 w 53004"/>
                <a:gd name="connsiteY5" fmla="*/ 68619 h 68754"/>
                <a:gd name="connsiteX6" fmla="*/ 43110 w 53004"/>
                <a:gd name="connsiteY6" fmla="*/ 68754 h 68754"/>
                <a:gd name="connsiteX7" fmla="*/ 44960 w 53004"/>
                <a:gd name="connsiteY7" fmla="*/ 68755 h 68754"/>
                <a:gd name="connsiteX8" fmla="*/ 52855 w 53004"/>
                <a:gd name="connsiteY8" fmla="*/ 57472 h 68754"/>
                <a:gd name="connsiteX9" fmla="*/ 46713 w 53004"/>
                <a:gd name="connsiteY9" fmla="*/ 50059 h 68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004" h="68754">
                  <a:moveTo>
                    <a:pt x="46518" y="49767"/>
                  </a:moveTo>
                  <a:cubicBezTo>
                    <a:pt x="27716" y="45886"/>
                    <a:pt x="15619" y="27497"/>
                    <a:pt x="19500" y="8695"/>
                  </a:cubicBezTo>
                  <a:cubicBezTo>
                    <a:pt x="19515" y="8623"/>
                    <a:pt x="19530" y="8552"/>
                    <a:pt x="19545" y="8480"/>
                  </a:cubicBezTo>
                  <a:cubicBezTo>
                    <a:pt x="18851" y="3148"/>
                    <a:pt x="13964" y="-612"/>
                    <a:pt x="8631" y="83"/>
                  </a:cubicBezTo>
                  <a:cubicBezTo>
                    <a:pt x="5390" y="505"/>
                    <a:pt x="2577" y="2525"/>
                    <a:pt x="1142" y="5462"/>
                  </a:cubicBezTo>
                  <a:cubicBezTo>
                    <a:pt x="-4894" y="34307"/>
                    <a:pt x="13598" y="62584"/>
                    <a:pt x="42443" y="68619"/>
                  </a:cubicBezTo>
                  <a:cubicBezTo>
                    <a:pt x="42665" y="68666"/>
                    <a:pt x="42887" y="68711"/>
                    <a:pt x="43110" y="68754"/>
                  </a:cubicBezTo>
                  <a:lnTo>
                    <a:pt x="44960" y="68755"/>
                  </a:lnTo>
                  <a:cubicBezTo>
                    <a:pt x="50256" y="67819"/>
                    <a:pt x="53790" y="62767"/>
                    <a:pt x="52855" y="57472"/>
                  </a:cubicBezTo>
                  <a:cubicBezTo>
                    <a:pt x="52257" y="54091"/>
                    <a:pt x="49924" y="51274"/>
                    <a:pt x="46713" y="50059"/>
                  </a:cubicBezTo>
                  <a:close/>
                </a:path>
              </a:pathLst>
            </a:custGeom>
            <a:grpFill/>
            <a:ln w="9674"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465D5D6F-F4BF-964C-EEAC-E102DF2E42EA}"/>
                </a:ext>
              </a:extLst>
            </p:cNvPr>
            <p:cNvSpPr/>
            <p:nvPr/>
          </p:nvSpPr>
          <p:spPr>
            <a:xfrm>
              <a:off x="4646885" y="2402248"/>
              <a:ext cx="69238" cy="60092"/>
            </a:xfrm>
            <a:custGeom>
              <a:avLst/>
              <a:gdLst>
                <a:gd name="connsiteX0" fmla="*/ 19415 w 69238"/>
                <a:gd name="connsiteY0" fmla="*/ 10817 h 60092"/>
                <a:gd name="connsiteX1" fmla="*/ 10816 w 69238"/>
                <a:gd name="connsiteY1" fmla="*/ 61 h 60092"/>
                <a:gd name="connsiteX2" fmla="*/ 60 w 69238"/>
                <a:gd name="connsiteY2" fmla="*/ 8659 h 60092"/>
                <a:gd name="connsiteX3" fmla="*/ 816 w 69238"/>
                <a:gd name="connsiteY3" fmla="*/ 13641 h 60092"/>
                <a:gd name="connsiteX4" fmla="*/ 53398 w 69238"/>
                <a:gd name="connsiteY4" fmla="*/ 60088 h 60092"/>
                <a:gd name="connsiteX5" fmla="*/ 61188 w 69238"/>
                <a:gd name="connsiteY5" fmla="*/ 59601 h 60092"/>
                <a:gd name="connsiteX6" fmla="*/ 69173 w 69238"/>
                <a:gd name="connsiteY6" fmla="*/ 48890 h 60092"/>
                <a:gd name="connsiteX7" fmla="*/ 58462 w 69238"/>
                <a:gd name="connsiteY7" fmla="*/ 40906 h 60092"/>
                <a:gd name="connsiteX8" fmla="*/ 19415 w 69238"/>
                <a:gd name="connsiteY8" fmla="*/ 10817 h 60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238" h="60092">
                  <a:moveTo>
                    <a:pt x="19415" y="10817"/>
                  </a:moveTo>
                  <a:cubicBezTo>
                    <a:pt x="20011" y="5473"/>
                    <a:pt x="16161" y="657"/>
                    <a:pt x="10816" y="61"/>
                  </a:cubicBezTo>
                  <a:cubicBezTo>
                    <a:pt x="5472" y="-535"/>
                    <a:pt x="656" y="3314"/>
                    <a:pt x="60" y="8659"/>
                  </a:cubicBezTo>
                  <a:cubicBezTo>
                    <a:pt x="-129" y="10357"/>
                    <a:pt x="132" y="12076"/>
                    <a:pt x="816" y="13641"/>
                  </a:cubicBezTo>
                  <a:cubicBezTo>
                    <a:pt x="4272" y="40089"/>
                    <a:pt x="26726" y="59924"/>
                    <a:pt x="53398" y="60088"/>
                  </a:cubicBezTo>
                  <a:cubicBezTo>
                    <a:pt x="56003" y="60120"/>
                    <a:pt x="58607" y="59958"/>
                    <a:pt x="61188" y="59601"/>
                  </a:cubicBezTo>
                  <a:cubicBezTo>
                    <a:pt x="66265" y="58708"/>
                    <a:pt x="69766" y="54012"/>
                    <a:pt x="69173" y="48890"/>
                  </a:cubicBezTo>
                  <a:cubicBezTo>
                    <a:pt x="68279" y="43813"/>
                    <a:pt x="63583" y="40312"/>
                    <a:pt x="58462" y="40906"/>
                  </a:cubicBezTo>
                  <a:cubicBezTo>
                    <a:pt x="39371" y="43378"/>
                    <a:pt x="21890" y="29908"/>
                    <a:pt x="19415" y="10817"/>
                  </a:cubicBezTo>
                  <a:close/>
                </a:path>
              </a:pathLst>
            </a:custGeom>
            <a:grpFill/>
            <a:ln w="9674"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9DBE20E2-AA2C-C6AC-A20F-35100A577216}"/>
                </a:ext>
              </a:extLst>
            </p:cNvPr>
            <p:cNvSpPr/>
            <p:nvPr/>
          </p:nvSpPr>
          <p:spPr>
            <a:xfrm>
              <a:off x="4452360" y="2059890"/>
              <a:ext cx="623201" cy="601186"/>
            </a:xfrm>
            <a:custGeom>
              <a:avLst/>
              <a:gdLst>
                <a:gd name="connsiteX0" fmla="*/ 587368 w 623201"/>
                <a:gd name="connsiteY0" fmla="*/ 368074 h 601186"/>
                <a:gd name="connsiteX1" fmla="*/ 553189 w 623201"/>
                <a:gd name="connsiteY1" fmla="*/ 394170 h 601186"/>
                <a:gd name="connsiteX2" fmla="*/ 520569 w 623201"/>
                <a:gd name="connsiteY2" fmla="*/ 394170 h 601186"/>
                <a:gd name="connsiteX3" fmla="*/ 471103 w 623201"/>
                <a:gd name="connsiteY3" fmla="*/ 337401 h 601186"/>
                <a:gd name="connsiteX4" fmla="*/ 463995 w 623201"/>
                <a:gd name="connsiteY4" fmla="*/ 334188 h 601186"/>
                <a:gd name="connsiteX5" fmla="*/ 332249 w 623201"/>
                <a:gd name="connsiteY5" fmla="*/ 334188 h 601186"/>
                <a:gd name="connsiteX6" fmla="*/ 332249 w 623201"/>
                <a:gd name="connsiteY6" fmla="*/ 315979 h 601186"/>
                <a:gd name="connsiteX7" fmla="*/ 332249 w 623201"/>
                <a:gd name="connsiteY7" fmla="*/ 267292 h 601186"/>
                <a:gd name="connsiteX8" fmla="*/ 463995 w 623201"/>
                <a:gd name="connsiteY8" fmla="*/ 267292 h 601186"/>
                <a:gd name="connsiteX9" fmla="*/ 471103 w 623201"/>
                <a:gd name="connsiteY9" fmla="*/ 264079 h 601186"/>
                <a:gd name="connsiteX10" fmla="*/ 520569 w 623201"/>
                <a:gd name="connsiteY10" fmla="*/ 207310 h 601186"/>
                <a:gd name="connsiteX11" fmla="*/ 553189 w 623201"/>
                <a:gd name="connsiteY11" fmla="*/ 207310 h 601186"/>
                <a:gd name="connsiteX12" fmla="*/ 596999 w 623201"/>
                <a:gd name="connsiteY12" fmla="*/ 232229 h 601186"/>
                <a:gd name="connsiteX13" fmla="*/ 621918 w 623201"/>
                <a:gd name="connsiteY13" fmla="*/ 188419 h 601186"/>
                <a:gd name="connsiteX14" fmla="*/ 578109 w 623201"/>
                <a:gd name="connsiteY14" fmla="*/ 163500 h 601186"/>
                <a:gd name="connsiteX15" fmla="*/ 553189 w 623201"/>
                <a:gd name="connsiteY15" fmla="*/ 188419 h 601186"/>
                <a:gd name="connsiteX16" fmla="*/ 516285 w 623201"/>
                <a:gd name="connsiteY16" fmla="*/ 188419 h 601186"/>
                <a:gd name="connsiteX17" fmla="*/ 509177 w 623201"/>
                <a:gd name="connsiteY17" fmla="*/ 191633 h 601186"/>
                <a:gd name="connsiteX18" fmla="*/ 459711 w 623201"/>
                <a:gd name="connsiteY18" fmla="*/ 248401 h 601186"/>
                <a:gd name="connsiteX19" fmla="*/ 332249 w 623201"/>
                <a:gd name="connsiteY19" fmla="*/ 248401 h 601186"/>
                <a:gd name="connsiteX20" fmla="*/ 332249 w 623201"/>
                <a:gd name="connsiteY20" fmla="*/ 212957 h 601186"/>
                <a:gd name="connsiteX21" fmla="*/ 455718 w 623201"/>
                <a:gd name="connsiteY21" fmla="*/ 212957 h 601186"/>
                <a:gd name="connsiteX22" fmla="*/ 462827 w 623201"/>
                <a:gd name="connsiteY22" fmla="*/ 209647 h 601186"/>
                <a:gd name="connsiteX23" fmla="*/ 497297 w 623201"/>
                <a:gd name="connsiteY23" fmla="*/ 169139 h 601186"/>
                <a:gd name="connsiteX24" fmla="*/ 499537 w 623201"/>
                <a:gd name="connsiteY24" fmla="*/ 163005 h 601186"/>
                <a:gd name="connsiteX25" fmla="*/ 499537 w 623201"/>
                <a:gd name="connsiteY25" fmla="*/ 125321 h 601186"/>
                <a:gd name="connsiteX26" fmla="*/ 524153 w 623201"/>
                <a:gd name="connsiteY26" fmla="*/ 81815 h 601186"/>
                <a:gd name="connsiteX27" fmla="*/ 480646 w 623201"/>
                <a:gd name="connsiteY27" fmla="*/ 57199 h 601186"/>
                <a:gd name="connsiteX28" fmla="*/ 456030 w 623201"/>
                <a:gd name="connsiteY28" fmla="*/ 100705 h 601186"/>
                <a:gd name="connsiteX29" fmla="*/ 480646 w 623201"/>
                <a:gd name="connsiteY29" fmla="*/ 125321 h 601186"/>
                <a:gd name="connsiteX30" fmla="*/ 480646 w 623201"/>
                <a:gd name="connsiteY30" fmla="*/ 159791 h 601186"/>
                <a:gd name="connsiteX31" fmla="*/ 451434 w 623201"/>
                <a:gd name="connsiteY31" fmla="*/ 194067 h 601186"/>
                <a:gd name="connsiteX32" fmla="*/ 332249 w 623201"/>
                <a:gd name="connsiteY32" fmla="*/ 194067 h 601186"/>
                <a:gd name="connsiteX33" fmla="*/ 332249 w 623201"/>
                <a:gd name="connsiteY33" fmla="*/ 148886 h 601186"/>
                <a:gd name="connsiteX34" fmla="*/ 375385 w 623201"/>
                <a:gd name="connsiteY34" fmla="*/ 148886 h 601186"/>
                <a:gd name="connsiteX35" fmla="*/ 383370 w 623201"/>
                <a:gd name="connsiteY35" fmla="*/ 144796 h 601186"/>
                <a:gd name="connsiteX36" fmla="*/ 395444 w 623201"/>
                <a:gd name="connsiteY36" fmla="*/ 125321 h 601186"/>
                <a:gd name="connsiteX37" fmla="*/ 405182 w 623201"/>
                <a:gd name="connsiteY37" fmla="*/ 126879 h 601186"/>
                <a:gd name="connsiteX38" fmla="*/ 441013 w 623201"/>
                <a:gd name="connsiteY38" fmla="*/ 91435 h 601186"/>
                <a:gd name="connsiteX39" fmla="*/ 405569 w 623201"/>
                <a:gd name="connsiteY39" fmla="*/ 55603 h 601186"/>
                <a:gd name="connsiteX40" fmla="*/ 369738 w 623201"/>
                <a:gd name="connsiteY40" fmla="*/ 90948 h 601186"/>
                <a:gd name="connsiteX41" fmla="*/ 379475 w 623201"/>
                <a:gd name="connsiteY41" fmla="*/ 115000 h 601186"/>
                <a:gd name="connsiteX42" fmla="*/ 369738 w 623201"/>
                <a:gd name="connsiteY42" fmla="*/ 129995 h 601186"/>
                <a:gd name="connsiteX43" fmla="*/ 332249 w 623201"/>
                <a:gd name="connsiteY43" fmla="*/ 129995 h 601186"/>
                <a:gd name="connsiteX44" fmla="*/ 332249 w 623201"/>
                <a:gd name="connsiteY44" fmla="*/ 58231 h 601186"/>
                <a:gd name="connsiteX45" fmla="*/ 332249 w 623201"/>
                <a:gd name="connsiteY45" fmla="*/ 57062 h 601186"/>
                <a:gd name="connsiteX46" fmla="*/ 332249 w 623201"/>
                <a:gd name="connsiteY46" fmla="*/ 55017 h 601186"/>
                <a:gd name="connsiteX47" fmla="*/ 254350 w 623201"/>
                <a:gd name="connsiteY47" fmla="*/ 1 h 601186"/>
                <a:gd name="connsiteX48" fmla="*/ 179470 w 623201"/>
                <a:gd name="connsiteY48" fmla="*/ 48688 h 601186"/>
                <a:gd name="connsiteX49" fmla="*/ 76666 w 623201"/>
                <a:gd name="connsiteY49" fmla="*/ 102610 h 601186"/>
                <a:gd name="connsiteX50" fmla="*/ 72943 w 623201"/>
                <a:gd name="connsiteY50" fmla="*/ 126977 h 601186"/>
                <a:gd name="connsiteX51" fmla="*/ 76059 w 623201"/>
                <a:gd name="connsiteY51" fmla="*/ 149275 h 601186"/>
                <a:gd name="connsiteX52" fmla="*/ 22698 w 623201"/>
                <a:gd name="connsiteY52" fmla="*/ 252991 h 601186"/>
                <a:gd name="connsiteX53" fmla="*/ 28930 w 623201"/>
                <a:gd name="connsiteY53" fmla="*/ 267487 h 601186"/>
                <a:gd name="connsiteX54" fmla="*/ 15763 w 623201"/>
                <a:gd name="connsiteY54" fmla="*/ 372562 h 601186"/>
                <a:gd name="connsiteX55" fmla="*/ 46555 w 623201"/>
                <a:gd name="connsiteY55" fmla="*/ 395922 h 601186"/>
                <a:gd name="connsiteX56" fmla="*/ 72158 w 623201"/>
                <a:gd name="connsiteY56" fmla="*/ 509433 h 601186"/>
                <a:gd name="connsiteX57" fmla="*/ 106829 w 623201"/>
                <a:gd name="connsiteY57" fmla="*/ 521632 h 601186"/>
                <a:gd name="connsiteX58" fmla="*/ 184568 w 623201"/>
                <a:gd name="connsiteY58" fmla="*/ 593539 h 601186"/>
                <a:gd name="connsiteX59" fmla="*/ 215693 w 623201"/>
                <a:gd name="connsiteY59" fmla="*/ 585411 h 601186"/>
                <a:gd name="connsiteX60" fmla="*/ 261750 w 623201"/>
                <a:gd name="connsiteY60" fmla="*/ 601186 h 601186"/>
                <a:gd name="connsiteX61" fmla="*/ 331762 w 623201"/>
                <a:gd name="connsiteY61" fmla="*/ 552986 h 601186"/>
                <a:gd name="connsiteX62" fmla="*/ 331762 w 623201"/>
                <a:gd name="connsiteY62" fmla="*/ 552986 h 601186"/>
                <a:gd name="connsiteX63" fmla="*/ 331762 w 623201"/>
                <a:gd name="connsiteY63" fmla="*/ 550746 h 601186"/>
                <a:gd name="connsiteX64" fmla="*/ 331762 w 623201"/>
                <a:gd name="connsiteY64" fmla="*/ 549578 h 601186"/>
                <a:gd name="connsiteX65" fmla="*/ 331762 w 623201"/>
                <a:gd name="connsiteY65" fmla="*/ 471679 h 601186"/>
                <a:gd name="connsiteX66" fmla="*/ 369738 w 623201"/>
                <a:gd name="connsiteY66" fmla="*/ 471679 h 601186"/>
                <a:gd name="connsiteX67" fmla="*/ 379475 w 623201"/>
                <a:gd name="connsiteY67" fmla="*/ 486675 h 601186"/>
                <a:gd name="connsiteX68" fmla="*/ 369738 w 623201"/>
                <a:gd name="connsiteY68" fmla="*/ 510726 h 601186"/>
                <a:gd name="connsiteX69" fmla="*/ 405279 w 623201"/>
                <a:gd name="connsiteY69" fmla="*/ 546462 h 601186"/>
                <a:gd name="connsiteX70" fmla="*/ 441015 w 623201"/>
                <a:gd name="connsiteY70" fmla="*/ 510921 h 601186"/>
                <a:gd name="connsiteX71" fmla="*/ 405474 w 623201"/>
                <a:gd name="connsiteY71" fmla="*/ 475185 h 601186"/>
                <a:gd name="connsiteX72" fmla="*/ 405376 w 623201"/>
                <a:gd name="connsiteY72" fmla="*/ 475185 h 601186"/>
                <a:gd name="connsiteX73" fmla="*/ 395639 w 623201"/>
                <a:gd name="connsiteY73" fmla="*/ 476743 h 601186"/>
                <a:gd name="connsiteX74" fmla="*/ 383370 w 623201"/>
                <a:gd name="connsiteY74" fmla="*/ 456391 h 601186"/>
                <a:gd name="connsiteX75" fmla="*/ 375385 w 623201"/>
                <a:gd name="connsiteY75" fmla="*/ 451912 h 601186"/>
                <a:gd name="connsiteX76" fmla="*/ 332249 w 623201"/>
                <a:gd name="connsiteY76" fmla="*/ 451912 h 601186"/>
                <a:gd name="connsiteX77" fmla="*/ 332249 w 623201"/>
                <a:gd name="connsiteY77" fmla="*/ 407705 h 601186"/>
                <a:gd name="connsiteX78" fmla="*/ 451337 w 623201"/>
                <a:gd name="connsiteY78" fmla="*/ 407705 h 601186"/>
                <a:gd name="connsiteX79" fmla="*/ 480549 w 623201"/>
                <a:gd name="connsiteY79" fmla="*/ 441980 h 601186"/>
                <a:gd name="connsiteX80" fmla="*/ 480549 w 623201"/>
                <a:gd name="connsiteY80" fmla="*/ 475866 h 601186"/>
                <a:gd name="connsiteX81" fmla="*/ 455428 w 623201"/>
                <a:gd name="connsiteY81" fmla="*/ 519878 h 601186"/>
                <a:gd name="connsiteX82" fmla="*/ 499439 w 623201"/>
                <a:gd name="connsiteY82" fmla="*/ 544999 h 601186"/>
                <a:gd name="connsiteX83" fmla="*/ 524560 w 623201"/>
                <a:gd name="connsiteY83" fmla="*/ 500987 h 601186"/>
                <a:gd name="connsiteX84" fmla="*/ 499439 w 623201"/>
                <a:gd name="connsiteY84" fmla="*/ 475866 h 601186"/>
                <a:gd name="connsiteX85" fmla="*/ 499439 w 623201"/>
                <a:gd name="connsiteY85" fmla="*/ 437890 h 601186"/>
                <a:gd name="connsiteX86" fmla="*/ 497200 w 623201"/>
                <a:gd name="connsiteY86" fmla="*/ 431756 h 601186"/>
                <a:gd name="connsiteX87" fmla="*/ 462729 w 623201"/>
                <a:gd name="connsiteY87" fmla="*/ 391443 h 601186"/>
                <a:gd name="connsiteX88" fmla="*/ 455621 w 623201"/>
                <a:gd name="connsiteY88" fmla="*/ 388133 h 601186"/>
                <a:gd name="connsiteX89" fmla="*/ 332249 w 623201"/>
                <a:gd name="connsiteY89" fmla="*/ 388133 h 601186"/>
                <a:gd name="connsiteX90" fmla="*/ 332249 w 623201"/>
                <a:gd name="connsiteY90" fmla="*/ 353078 h 601186"/>
                <a:gd name="connsiteX91" fmla="*/ 459711 w 623201"/>
                <a:gd name="connsiteY91" fmla="*/ 353078 h 601186"/>
                <a:gd name="connsiteX92" fmla="*/ 509177 w 623201"/>
                <a:gd name="connsiteY92" fmla="*/ 409847 h 601186"/>
                <a:gd name="connsiteX93" fmla="*/ 516285 w 623201"/>
                <a:gd name="connsiteY93" fmla="*/ 413060 h 601186"/>
                <a:gd name="connsiteX94" fmla="*/ 553189 w 623201"/>
                <a:gd name="connsiteY94" fmla="*/ 413060 h 601186"/>
                <a:gd name="connsiteX95" fmla="*/ 596898 w 623201"/>
                <a:gd name="connsiteY95" fmla="*/ 437878 h 601186"/>
                <a:gd name="connsiteX96" fmla="*/ 621716 w 623201"/>
                <a:gd name="connsiteY96" fmla="*/ 394169 h 601186"/>
                <a:gd name="connsiteX97" fmla="*/ 587368 w 623201"/>
                <a:gd name="connsiteY97" fmla="*/ 368074 h 601186"/>
                <a:gd name="connsiteX98" fmla="*/ 587368 w 623201"/>
                <a:gd name="connsiteY98" fmla="*/ 180824 h 601186"/>
                <a:gd name="connsiteX99" fmla="*/ 604116 w 623201"/>
                <a:gd name="connsiteY99" fmla="*/ 197572 h 601186"/>
                <a:gd name="connsiteX100" fmla="*/ 587368 w 623201"/>
                <a:gd name="connsiteY100" fmla="*/ 214321 h 601186"/>
                <a:gd name="connsiteX101" fmla="*/ 570619 w 623201"/>
                <a:gd name="connsiteY101" fmla="*/ 197572 h 601186"/>
                <a:gd name="connsiteX102" fmla="*/ 587368 w 623201"/>
                <a:gd name="connsiteY102" fmla="*/ 180824 h 601186"/>
                <a:gd name="connsiteX103" fmla="*/ 473440 w 623201"/>
                <a:gd name="connsiteY103" fmla="*/ 90948 h 601186"/>
                <a:gd name="connsiteX104" fmla="*/ 490091 w 623201"/>
                <a:gd name="connsiteY104" fmla="*/ 74103 h 601186"/>
                <a:gd name="connsiteX105" fmla="*/ 506936 w 623201"/>
                <a:gd name="connsiteY105" fmla="*/ 90754 h 601186"/>
                <a:gd name="connsiteX106" fmla="*/ 490286 w 623201"/>
                <a:gd name="connsiteY106" fmla="*/ 107599 h 601186"/>
                <a:gd name="connsiteX107" fmla="*/ 490091 w 623201"/>
                <a:gd name="connsiteY107" fmla="*/ 107599 h 601186"/>
                <a:gd name="connsiteX108" fmla="*/ 473440 w 623201"/>
                <a:gd name="connsiteY108" fmla="*/ 90948 h 601186"/>
                <a:gd name="connsiteX109" fmla="*/ 405279 w 623201"/>
                <a:gd name="connsiteY109" fmla="*/ 74200 h 601186"/>
                <a:gd name="connsiteX110" fmla="*/ 422027 w 623201"/>
                <a:gd name="connsiteY110" fmla="*/ 90948 h 601186"/>
                <a:gd name="connsiteX111" fmla="*/ 405279 w 623201"/>
                <a:gd name="connsiteY111" fmla="*/ 107697 h 601186"/>
                <a:gd name="connsiteX112" fmla="*/ 388531 w 623201"/>
                <a:gd name="connsiteY112" fmla="*/ 90948 h 601186"/>
                <a:gd name="connsiteX113" fmla="*/ 405279 w 623201"/>
                <a:gd name="connsiteY113" fmla="*/ 74200 h 601186"/>
                <a:gd name="connsiteX114" fmla="*/ 405376 w 623201"/>
                <a:gd name="connsiteY114" fmla="*/ 74200 h 601186"/>
                <a:gd name="connsiteX115" fmla="*/ 313261 w 623201"/>
                <a:gd name="connsiteY115" fmla="*/ 139440 h 601186"/>
                <a:gd name="connsiteX116" fmla="*/ 313261 w 623201"/>
                <a:gd name="connsiteY116" fmla="*/ 183745 h 601186"/>
                <a:gd name="connsiteX117" fmla="*/ 260387 w 623201"/>
                <a:gd name="connsiteY117" fmla="*/ 187153 h 601186"/>
                <a:gd name="connsiteX118" fmla="*/ 257855 w 623201"/>
                <a:gd name="connsiteY118" fmla="*/ 200299 h 601186"/>
                <a:gd name="connsiteX119" fmla="*/ 270903 w 623201"/>
                <a:gd name="connsiteY119" fmla="*/ 202831 h 601186"/>
                <a:gd name="connsiteX120" fmla="*/ 313261 w 623201"/>
                <a:gd name="connsiteY120" fmla="*/ 206531 h 601186"/>
                <a:gd name="connsiteX121" fmla="*/ 313261 w 623201"/>
                <a:gd name="connsiteY121" fmla="*/ 257360 h 601186"/>
                <a:gd name="connsiteX122" fmla="*/ 313261 w 623201"/>
                <a:gd name="connsiteY122" fmla="*/ 296309 h 601186"/>
                <a:gd name="connsiteX123" fmla="*/ 260387 w 623201"/>
                <a:gd name="connsiteY123" fmla="*/ 299815 h 601186"/>
                <a:gd name="connsiteX124" fmla="*/ 261025 w 623201"/>
                <a:gd name="connsiteY124" fmla="*/ 313571 h 601186"/>
                <a:gd name="connsiteX125" fmla="*/ 271001 w 623201"/>
                <a:gd name="connsiteY125" fmla="*/ 315492 h 601186"/>
                <a:gd name="connsiteX126" fmla="*/ 313261 w 623201"/>
                <a:gd name="connsiteY126" fmla="*/ 318997 h 601186"/>
                <a:gd name="connsiteX127" fmla="*/ 313261 w 623201"/>
                <a:gd name="connsiteY127" fmla="*/ 342951 h 601186"/>
                <a:gd name="connsiteX128" fmla="*/ 313261 w 623201"/>
                <a:gd name="connsiteY128" fmla="*/ 397967 h 601186"/>
                <a:gd name="connsiteX129" fmla="*/ 313261 w 623201"/>
                <a:gd name="connsiteY129" fmla="*/ 461747 h 601186"/>
                <a:gd name="connsiteX130" fmla="*/ 313261 w 623201"/>
                <a:gd name="connsiteY130" fmla="*/ 547338 h 601186"/>
                <a:gd name="connsiteX131" fmla="*/ 240490 w 623201"/>
                <a:gd name="connsiteY131" fmla="*/ 578198 h 601186"/>
                <a:gd name="connsiteX132" fmla="*/ 232051 w 623201"/>
                <a:gd name="connsiteY132" fmla="*/ 573921 h 601186"/>
                <a:gd name="connsiteX133" fmla="*/ 244126 w 623201"/>
                <a:gd name="connsiteY133" fmla="*/ 510921 h 601186"/>
                <a:gd name="connsiteX134" fmla="*/ 232650 w 623201"/>
                <a:gd name="connsiteY134" fmla="*/ 503309 h 601186"/>
                <a:gd name="connsiteX135" fmla="*/ 225038 w 623201"/>
                <a:gd name="connsiteY135" fmla="*/ 514785 h 601186"/>
                <a:gd name="connsiteX136" fmla="*/ 227280 w 623201"/>
                <a:gd name="connsiteY136" fmla="*/ 519295 h 601186"/>
                <a:gd name="connsiteX137" fmla="*/ 211147 w 623201"/>
                <a:gd name="connsiteY137" fmla="*/ 565588 h 601186"/>
                <a:gd name="connsiteX138" fmla="*/ 210824 w 623201"/>
                <a:gd name="connsiteY138" fmla="*/ 565742 h 601186"/>
                <a:gd name="connsiteX139" fmla="*/ 208779 w 623201"/>
                <a:gd name="connsiteY139" fmla="*/ 567397 h 601186"/>
                <a:gd name="connsiteX140" fmla="*/ 132701 w 623201"/>
                <a:gd name="connsiteY140" fmla="*/ 546462 h 601186"/>
                <a:gd name="connsiteX141" fmla="*/ 125427 w 623201"/>
                <a:gd name="connsiteY141" fmla="*/ 520171 h 601186"/>
                <a:gd name="connsiteX142" fmla="*/ 177814 w 623201"/>
                <a:gd name="connsiteY142" fmla="*/ 479858 h 601186"/>
                <a:gd name="connsiteX143" fmla="*/ 170316 w 623201"/>
                <a:gd name="connsiteY143" fmla="*/ 468758 h 601186"/>
                <a:gd name="connsiteX144" fmla="*/ 159411 w 623201"/>
                <a:gd name="connsiteY144" fmla="*/ 475866 h 601186"/>
                <a:gd name="connsiteX145" fmla="*/ 115495 w 623201"/>
                <a:gd name="connsiteY145" fmla="*/ 502839 h 601186"/>
                <a:gd name="connsiteX146" fmla="*/ 53078 w 623201"/>
                <a:gd name="connsiteY146" fmla="*/ 438682 h 601186"/>
                <a:gd name="connsiteX147" fmla="*/ 69340 w 623201"/>
                <a:gd name="connsiteY147" fmla="*/ 397188 h 601186"/>
                <a:gd name="connsiteX148" fmla="*/ 71385 w 623201"/>
                <a:gd name="connsiteY148" fmla="*/ 387451 h 601186"/>
                <a:gd name="connsiteX149" fmla="*/ 64179 w 623201"/>
                <a:gd name="connsiteY149" fmla="*/ 381219 h 601186"/>
                <a:gd name="connsiteX150" fmla="*/ 20013 w 623201"/>
                <a:gd name="connsiteY150" fmla="*/ 315499 h 601186"/>
                <a:gd name="connsiteX151" fmla="*/ 46262 w 623201"/>
                <a:gd name="connsiteY151" fmla="*/ 278198 h 601186"/>
                <a:gd name="connsiteX152" fmla="*/ 94237 w 623201"/>
                <a:gd name="connsiteY152" fmla="*/ 287595 h 601186"/>
                <a:gd name="connsiteX153" fmla="*/ 94462 w 623201"/>
                <a:gd name="connsiteY153" fmla="*/ 287935 h 601186"/>
                <a:gd name="connsiteX154" fmla="*/ 102252 w 623201"/>
                <a:gd name="connsiteY154" fmla="*/ 292025 h 601186"/>
                <a:gd name="connsiteX155" fmla="*/ 107608 w 623201"/>
                <a:gd name="connsiteY155" fmla="*/ 290369 h 601186"/>
                <a:gd name="connsiteX156" fmla="*/ 110042 w 623201"/>
                <a:gd name="connsiteY156" fmla="*/ 277224 h 601186"/>
                <a:gd name="connsiteX157" fmla="*/ 44315 w 623201"/>
                <a:gd name="connsiteY157" fmla="*/ 257749 h 601186"/>
                <a:gd name="connsiteX158" fmla="*/ 70060 w 623201"/>
                <a:gd name="connsiteY158" fmla="*/ 172454 h 601186"/>
                <a:gd name="connsiteX159" fmla="*/ 83264 w 623201"/>
                <a:gd name="connsiteY159" fmla="*/ 167192 h 601186"/>
                <a:gd name="connsiteX160" fmla="*/ 118806 w 623201"/>
                <a:gd name="connsiteY160" fmla="*/ 187348 h 601186"/>
                <a:gd name="connsiteX161" fmla="*/ 133120 w 623201"/>
                <a:gd name="connsiteY161" fmla="*/ 184816 h 601186"/>
                <a:gd name="connsiteX162" fmla="*/ 141898 w 623201"/>
                <a:gd name="connsiteY162" fmla="*/ 174207 h 601186"/>
                <a:gd name="connsiteX163" fmla="*/ 131288 w 623201"/>
                <a:gd name="connsiteY163" fmla="*/ 165428 h 601186"/>
                <a:gd name="connsiteX164" fmla="*/ 126693 w 623201"/>
                <a:gd name="connsiteY164" fmla="*/ 167094 h 601186"/>
                <a:gd name="connsiteX165" fmla="*/ 97481 w 623201"/>
                <a:gd name="connsiteY165" fmla="*/ 153073 h 601186"/>
                <a:gd name="connsiteX166" fmla="*/ 97481 w 623201"/>
                <a:gd name="connsiteY166" fmla="*/ 152196 h 601186"/>
                <a:gd name="connsiteX167" fmla="*/ 130495 w 623201"/>
                <a:gd name="connsiteY167" fmla="*/ 69146 h 601186"/>
                <a:gd name="connsiteX168" fmla="*/ 181612 w 623201"/>
                <a:gd name="connsiteY168" fmla="*/ 69624 h 601186"/>
                <a:gd name="connsiteX169" fmla="*/ 182586 w 623201"/>
                <a:gd name="connsiteY169" fmla="*/ 69624 h 601186"/>
                <a:gd name="connsiteX170" fmla="*/ 183559 w 623201"/>
                <a:gd name="connsiteY170" fmla="*/ 69624 h 601186"/>
                <a:gd name="connsiteX171" fmla="*/ 214329 w 623201"/>
                <a:gd name="connsiteY171" fmla="*/ 121718 h 601186"/>
                <a:gd name="connsiteX172" fmla="*/ 221827 w 623201"/>
                <a:gd name="connsiteY172" fmla="*/ 132722 h 601186"/>
                <a:gd name="connsiteX173" fmla="*/ 223580 w 623201"/>
                <a:gd name="connsiteY173" fmla="*/ 132722 h 601186"/>
                <a:gd name="connsiteX174" fmla="*/ 233317 w 623201"/>
                <a:gd name="connsiteY174" fmla="*/ 125029 h 601186"/>
                <a:gd name="connsiteX175" fmla="*/ 198457 w 623201"/>
                <a:gd name="connsiteY175" fmla="*/ 54044 h 601186"/>
                <a:gd name="connsiteX176" fmla="*/ 255226 w 623201"/>
                <a:gd name="connsiteY176" fmla="*/ 18405 h 601186"/>
                <a:gd name="connsiteX177" fmla="*/ 314332 w 623201"/>
                <a:gd name="connsiteY177" fmla="*/ 59497 h 601186"/>
                <a:gd name="connsiteX178" fmla="*/ 405279 w 623201"/>
                <a:gd name="connsiteY178" fmla="*/ 493588 h 601186"/>
                <a:gd name="connsiteX179" fmla="*/ 422027 w 623201"/>
                <a:gd name="connsiteY179" fmla="*/ 510337 h 601186"/>
                <a:gd name="connsiteX180" fmla="*/ 405278 w 623201"/>
                <a:gd name="connsiteY180" fmla="*/ 527085 h 601186"/>
                <a:gd name="connsiteX181" fmla="*/ 388530 w 623201"/>
                <a:gd name="connsiteY181" fmla="*/ 510336 h 601186"/>
                <a:gd name="connsiteX182" fmla="*/ 388531 w 623201"/>
                <a:gd name="connsiteY182" fmla="*/ 510239 h 601186"/>
                <a:gd name="connsiteX183" fmla="*/ 405376 w 623201"/>
                <a:gd name="connsiteY183" fmla="*/ 493588 h 601186"/>
                <a:gd name="connsiteX184" fmla="*/ 405376 w 623201"/>
                <a:gd name="connsiteY184" fmla="*/ 493588 h 601186"/>
                <a:gd name="connsiteX185" fmla="*/ 506742 w 623201"/>
                <a:gd name="connsiteY185" fmla="*/ 510239 h 601186"/>
                <a:gd name="connsiteX186" fmla="*/ 490092 w 623201"/>
                <a:gd name="connsiteY186" fmla="*/ 527084 h 601186"/>
                <a:gd name="connsiteX187" fmla="*/ 473246 w 623201"/>
                <a:gd name="connsiteY187" fmla="*/ 510434 h 601186"/>
                <a:gd name="connsiteX188" fmla="*/ 489897 w 623201"/>
                <a:gd name="connsiteY188" fmla="*/ 493588 h 601186"/>
                <a:gd name="connsiteX189" fmla="*/ 489994 w 623201"/>
                <a:gd name="connsiteY189" fmla="*/ 493588 h 601186"/>
                <a:gd name="connsiteX190" fmla="*/ 506840 w 623201"/>
                <a:gd name="connsiteY190" fmla="*/ 510238 h 601186"/>
                <a:gd name="connsiteX191" fmla="*/ 506840 w 623201"/>
                <a:gd name="connsiteY191" fmla="*/ 510239 h 601186"/>
                <a:gd name="connsiteX192" fmla="*/ 587270 w 623201"/>
                <a:gd name="connsiteY192" fmla="*/ 420363 h 601186"/>
                <a:gd name="connsiteX193" fmla="*/ 570425 w 623201"/>
                <a:gd name="connsiteY193" fmla="*/ 403713 h 601186"/>
                <a:gd name="connsiteX194" fmla="*/ 587075 w 623201"/>
                <a:gd name="connsiteY194" fmla="*/ 386867 h 601186"/>
                <a:gd name="connsiteX195" fmla="*/ 603921 w 623201"/>
                <a:gd name="connsiteY195" fmla="*/ 403518 h 601186"/>
                <a:gd name="connsiteX196" fmla="*/ 603921 w 623201"/>
                <a:gd name="connsiteY196" fmla="*/ 403615 h 601186"/>
                <a:gd name="connsiteX197" fmla="*/ 587368 w 623201"/>
                <a:gd name="connsiteY197" fmla="*/ 420363 h 60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623201" h="601186">
                  <a:moveTo>
                    <a:pt x="587368" y="368074"/>
                  </a:moveTo>
                  <a:cubicBezTo>
                    <a:pt x="571408" y="368112"/>
                    <a:pt x="557431" y="378784"/>
                    <a:pt x="553189" y="394170"/>
                  </a:cubicBezTo>
                  <a:lnTo>
                    <a:pt x="520569" y="394170"/>
                  </a:lnTo>
                  <a:lnTo>
                    <a:pt x="471103" y="337401"/>
                  </a:lnTo>
                  <a:cubicBezTo>
                    <a:pt x="469285" y="335386"/>
                    <a:pt x="466709" y="334221"/>
                    <a:pt x="463995" y="334188"/>
                  </a:cubicBezTo>
                  <a:lnTo>
                    <a:pt x="332249" y="334188"/>
                  </a:lnTo>
                  <a:lnTo>
                    <a:pt x="332249" y="315979"/>
                  </a:lnTo>
                  <a:lnTo>
                    <a:pt x="332249" y="267292"/>
                  </a:lnTo>
                  <a:lnTo>
                    <a:pt x="463995" y="267292"/>
                  </a:lnTo>
                  <a:cubicBezTo>
                    <a:pt x="466709" y="267258"/>
                    <a:pt x="469285" y="266093"/>
                    <a:pt x="471103" y="264079"/>
                  </a:cubicBezTo>
                  <a:lnTo>
                    <a:pt x="520569" y="207310"/>
                  </a:lnTo>
                  <a:lnTo>
                    <a:pt x="553189" y="207310"/>
                  </a:lnTo>
                  <a:cubicBezTo>
                    <a:pt x="558406" y="226289"/>
                    <a:pt x="578020" y="237445"/>
                    <a:pt x="596999" y="232229"/>
                  </a:cubicBezTo>
                  <a:cubicBezTo>
                    <a:pt x="615978" y="227012"/>
                    <a:pt x="627135" y="207398"/>
                    <a:pt x="621918" y="188419"/>
                  </a:cubicBezTo>
                  <a:cubicBezTo>
                    <a:pt x="616702" y="169440"/>
                    <a:pt x="597087" y="158284"/>
                    <a:pt x="578109" y="163500"/>
                  </a:cubicBezTo>
                  <a:cubicBezTo>
                    <a:pt x="565989" y="166831"/>
                    <a:pt x="556520" y="176300"/>
                    <a:pt x="553189" y="188419"/>
                  </a:cubicBezTo>
                  <a:lnTo>
                    <a:pt x="516285" y="188419"/>
                  </a:lnTo>
                  <a:cubicBezTo>
                    <a:pt x="513571" y="188453"/>
                    <a:pt x="510995" y="189618"/>
                    <a:pt x="509177" y="191633"/>
                  </a:cubicBezTo>
                  <a:lnTo>
                    <a:pt x="459711" y="248401"/>
                  </a:lnTo>
                  <a:lnTo>
                    <a:pt x="332249" y="248401"/>
                  </a:lnTo>
                  <a:lnTo>
                    <a:pt x="332249" y="212957"/>
                  </a:lnTo>
                  <a:lnTo>
                    <a:pt x="455718" y="212957"/>
                  </a:lnTo>
                  <a:cubicBezTo>
                    <a:pt x="458465" y="212976"/>
                    <a:pt x="461074" y="211761"/>
                    <a:pt x="462827" y="209647"/>
                  </a:cubicBezTo>
                  <a:lnTo>
                    <a:pt x="497297" y="169139"/>
                  </a:lnTo>
                  <a:cubicBezTo>
                    <a:pt x="498772" y="167439"/>
                    <a:pt x="499570" y="165255"/>
                    <a:pt x="499537" y="163005"/>
                  </a:cubicBezTo>
                  <a:lnTo>
                    <a:pt x="499537" y="125321"/>
                  </a:lnTo>
                  <a:cubicBezTo>
                    <a:pt x="518348" y="120105"/>
                    <a:pt x="529369" y="100626"/>
                    <a:pt x="524153" y="81815"/>
                  </a:cubicBezTo>
                  <a:cubicBezTo>
                    <a:pt x="518936" y="63003"/>
                    <a:pt x="499458" y="51982"/>
                    <a:pt x="480646" y="57199"/>
                  </a:cubicBezTo>
                  <a:cubicBezTo>
                    <a:pt x="461835" y="62415"/>
                    <a:pt x="450814" y="81894"/>
                    <a:pt x="456030" y="100705"/>
                  </a:cubicBezTo>
                  <a:cubicBezTo>
                    <a:pt x="459346" y="112662"/>
                    <a:pt x="468689" y="122005"/>
                    <a:pt x="480646" y="125321"/>
                  </a:cubicBezTo>
                  <a:lnTo>
                    <a:pt x="480646" y="159791"/>
                  </a:lnTo>
                  <a:lnTo>
                    <a:pt x="451434" y="194067"/>
                  </a:lnTo>
                  <a:lnTo>
                    <a:pt x="332249" y="194067"/>
                  </a:lnTo>
                  <a:lnTo>
                    <a:pt x="332249" y="148886"/>
                  </a:lnTo>
                  <a:lnTo>
                    <a:pt x="375385" y="148886"/>
                  </a:lnTo>
                  <a:cubicBezTo>
                    <a:pt x="378554" y="148903"/>
                    <a:pt x="381532" y="147377"/>
                    <a:pt x="383370" y="144796"/>
                  </a:cubicBezTo>
                  <a:lnTo>
                    <a:pt x="395444" y="125321"/>
                  </a:lnTo>
                  <a:cubicBezTo>
                    <a:pt x="398605" y="126278"/>
                    <a:pt x="401880" y="126803"/>
                    <a:pt x="405182" y="126879"/>
                  </a:cubicBezTo>
                  <a:cubicBezTo>
                    <a:pt x="424864" y="126986"/>
                    <a:pt x="440906" y="111117"/>
                    <a:pt x="441013" y="91435"/>
                  </a:cubicBezTo>
                  <a:cubicBezTo>
                    <a:pt x="441120" y="71752"/>
                    <a:pt x="425251" y="55710"/>
                    <a:pt x="405569" y="55603"/>
                  </a:cubicBezTo>
                  <a:cubicBezTo>
                    <a:pt x="385925" y="55496"/>
                    <a:pt x="369899" y="71305"/>
                    <a:pt x="369738" y="90948"/>
                  </a:cubicBezTo>
                  <a:cubicBezTo>
                    <a:pt x="369778" y="99918"/>
                    <a:pt x="373264" y="108529"/>
                    <a:pt x="379475" y="115000"/>
                  </a:cubicBezTo>
                  <a:lnTo>
                    <a:pt x="369738" y="129995"/>
                  </a:lnTo>
                  <a:lnTo>
                    <a:pt x="332249" y="129995"/>
                  </a:lnTo>
                  <a:lnTo>
                    <a:pt x="332249" y="58231"/>
                  </a:lnTo>
                  <a:cubicBezTo>
                    <a:pt x="332249" y="57744"/>
                    <a:pt x="332249" y="57452"/>
                    <a:pt x="332249" y="57062"/>
                  </a:cubicBezTo>
                  <a:cubicBezTo>
                    <a:pt x="332343" y="56384"/>
                    <a:pt x="332343" y="55696"/>
                    <a:pt x="332249" y="55017"/>
                  </a:cubicBezTo>
                  <a:cubicBezTo>
                    <a:pt x="320716" y="21910"/>
                    <a:pt x="289408" y="-201"/>
                    <a:pt x="254350" y="1"/>
                  </a:cubicBezTo>
                  <a:cubicBezTo>
                    <a:pt x="222031" y="239"/>
                    <a:pt x="192799" y="19245"/>
                    <a:pt x="179470" y="48688"/>
                  </a:cubicBezTo>
                  <a:cubicBezTo>
                    <a:pt x="136191" y="35190"/>
                    <a:pt x="90164" y="59332"/>
                    <a:pt x="76666" y="102610"/>
                  </a:cubicBezTo>
                  <a:cubicBezTo>
                    <a:pt x="74205" y="110499"/>
                    <a:pt x="72950" y="118713"/>
                    <a:pt x="72943" y="126977"/>
                  </a:cubicBezTo>
                  <a:cubicBezTo>
                    <a:pt x="72896" y="134521"/>
                    <a:pt x="73946" y="142032"/>
                    <a:pt x="76059" y="149275"/>
                  </a:cubicBezTo>
                  <a:cubicBezTo>
                    <a:pt x="32683" y="163180"/>
                    <a:pt x="8793" y="209616"/>
                    <a:pt x="22698" y="252991"/>
                  </a:cubicBezTo>
                  <a:cubicBezTo>
                    <a:pt x="24307" y="258011"/>
                    <a:pt x="26394" y="262865"/>
                    <a:pt x="28930" y="267487"/>
                  </a:cubicBezTo>
                  <a:cubicBezTo>
                    <a:pt x="-3722" y="292866"/>
                    <a:pt x="-9617" y="339910"/>
                    <a:pt x="15763" y="372562"/>
                  </a:cubicBezTo>
                  <a:cubicBezTo>
                    <a:pt x="23805" y="382909"/>
                    <a:pt x="34423" y="390964"/>
                    <a:pt x="46555" y="395922"/>
                  </a:cubicBezTo>
                  <a:cubicBezTo>
                    <a:pt x="22280" y="434338"/>
                    <a:pt x="33742" y="485158"/>
                    <a:pt x="72158" y="509433"/>
                  </a:cubicBezTo>
                  <a:cubicBezTo>
                    <a:pt x="82647" y="516062"/>
                    <a:pt x="94500" y="520232"/>
                    <a:pt x="106829" y="521632"/>
                  </a:cubicBezTo>
                  <a:cubicBezTo>
                    <a:pt x="108439" y="562956"/>
                    <a:pt x="143245" y="595150"/>
                    <a:pt x="184568" y="593539"/>
                  </a:cubicBezTo>
                  <a:cubicBezTo>
                    <a:pt x="195409" y="593117"/>
                    <a:pt x="206029" y="590344"/>
                    <a:pt x="215693" y="585411"/>
                  </a:cubicBezTo>
                  <a:cubicBezTo>
                    <a:pt x="228845" y="595680"/>
                    <a:pt x="245064" y="601235"/>
                    <a:pt x="261750" y="601186"/>
                  </a:cubicBezTo>
                  <a:cubicBezTo>
                    <a:pt x="292777" y="601040"/>
                    <a:pt x="320552" y="581918"/>
                    <a:pt x="331762" y="552986"/>
                  </a:cubicBezTo>
                  <a:cubicBezTo>
                    <a:pt x="331762" y="552986"/>
                    <a:pt x="331762" y="552986"/>
                    <a:pt x="331762" y="552986"/>
                  </a:cubicBezTo>
                  <a:cubicBezTo>
                    <a:pt x="331848" y="552242"/>
                    <a:pt x="331848" y="551490"/>
                    <a:pt x="331762" y="550746"/>
                  </a:cubicBezTo>
                  <a:cubicBezTo>
                    <a:pt x="331809" y="550358"/>
                    <a:pt x="331809" y="549966"/>
                    <a:pt x="331762" y="549578"/>
                  </a:cubicBezTo>
                  <a:lnTo>
                    <a:pt x="331762" y="471679"/>
                  </a:lnTo>
                  <a:lnTo>
                    <a:pt x="369738" y="471679"/>
                  </a:lnTo>
                  <a:lnTo>
                    <a:pt x="379475" y="486675"/>
                  </a:lnTo>
                  <a:cubicBezTo>
                    <a:pt x="373264" y="493146"/>
                    <a:pt x="369778" y="501756"/>
                    <a:pt x="369738" y="510726"/>
                  </a:cubicBezTo>
                  <a:cubicBezTo>
                    <a:pt x="369684" y="530409"/>
                    <a:pt x="385596" y="546408"/>
                    <a:pt x="405279" y="546462"/>
                  </a:cubicBezTo>
                  <a:cubicBezTo>
                    <a:pt x="424961" y="546516"/>
                    <a:pt x="440961" y="530603"/>
                    <a:pt x="441015" y="510921"/>
                  </a:cubicBezTo>
                  <a:cubicBezTo>
                    <a:pt x="441069" y="491238"/>
                    <a:pt x="425156" y="475238"/>
                    <a:pt x="405474" y="475185"/>
                  </a:cubicBezTo>
                  <a:cubicBezTo>
                    <a:pt x="405441" y="475185"/>
                    <a:pt x="405409" y="475185"/>
                    <a:pt x="405376" y="475185"/>
                  </a:cubicBezTo>
                  <a:cubicBezTo>
                    <a:pt x="402075" y="475261"/>
                    <a:pt x="398799" y="475785"/>
                    <a:pt x="395639" y="476743"/>
                  </a:cubicBezTo>
                  <a:lnTo>
                    <a:pt x="383370" y="456391"/>
                  </a:lnTo>
                  <a:cubicBezTo>
                    <a:pt x="381620" y="453662"/>
                    <a:pt x="378626" y="451983"/>
                    <a:pt x="375385" y="451912"/>
                  </a:cubicBezTo>
                  <a:lnTo>
                    <a:pt x="332249" y="451912"/>
                  </a:lnTo>
                  <a:lnTo>
                    <a:pt x="332249" y="407705"/>
                  </a:lnTo>
                  <a:lnTo>
                    <a:pt x="451337" y="407705"/>
                  </a:lnTo>
                  <a:lnTo>
                    <a:pt x="480549" y="441980"/>
                  </a:lnTo>
                  <a:lnTo>
                    <a:pt x="480549" y="475866"/>
                  </a:lnTo>
                  <a:cubicBezTo>
                    <a:pt x="461458" y="481083"/>
                    <a:pt x="450211" y="500787"/>
                    <a:pt x="455428" y="519878"/>
                  </a:cubicBezTo>
                  <a:cubicBezTo>
                    <a:pt x="460644" y="538968"/>
                    <a:pt x="480349" y="550215"/>
                    <a:pt x="499439" y="544999"/>
                  </a:cubicBezTo>
                  <a:cubicBezTo>
                    <a:pt x="518530" y="539782"/>
                    <a:pt x="529777" y="520078"/>
                    <a:pt x="524560" y="500987"/>
                  </a:cubicBezTo>
                  <a:cubicBezTo>
                    <a:pt x="521219" y="488760"/>
                    <a:pt x="511667" y="479207"/>
                    <a:pt x="499439" y="475866"/>
                  </a:cubicBezTo>
                  <a:lnTo>
                    <a:pt x="499439" y="437890"/>
                  </a:lnTo>
                  <a:cubicBezTo>
                    <a:pt x="499472" y="435640"/>
                    <a:pt x="498675" y="433456"/>
                    <a:pt x="497200" y="431756"/>
                  </a:cubicBezTo>
                  <a:lnTo>
                    <a:pt x="462729" y="391443"/>
                  </a:lnTo>
                  <a:cubicBezTo>
                    <a:pt x="460977" y="389329"/>
                    <a:pt x="458367" y="388114"/>
                    <a:pt x="455621" y="388133"/>
                  </a:cubicBezTo>
                  <a:lnTo>
                    <a:pt x="332249" y="388133"/>
                  </a:lnTo>
                  <a:lnTo>
                    <a:pt x="332249" y="353078"/>
                  </a:lnTo>
                  <a:lnTo>
                    <a:pt x="459711" y="353078"/>
                  </a:lnTo>
                  <a:lnTo>
                    <a:pt x="509177" y="409847"/>
                  </a:lnTo>
                  <a:cubicBezTo>
                    <a:pt x="510995" y="411862"/>
                    <a:pt x="513571" y="413026"/>
                    <a:pt x="516285" y="413060"/>
                  </a:cubicBezTo>
                  <a:lnTo>
                    <a:pt x="553189" y="413060"/>
                  </a:lnTo>
                  <a:cubicBezTo>
                    <a:pt x="558406" y="431983"/>
                    <a:pt x="577975" y="443095"/>
                    <a:pt x="596898" y="437878"/>
                  </a:cubicBezTo>
                  <a:cubicBezTo>
                    <a:pt x="615821" y="432662"/>
                    <a:pt x="626933" y="413093"/>
                    <a:pt x="621716" y="394169"/>
                  </a:cubicBezTo>
                  <a:cubicBezTo>
                    <a:pt x="617458" y="378723"/>
                    <a:pt x="603390" y="368035"/>
                    <a:pt x="587368" y="368074"/>
                  </a:cubicBezTo>
                  <a:close/>
                  <a:moveTo>
                    <a:pt x="587368" y="180824"/>
                  </a:moveTo>
                  <a:cubicBezTo>
                    <a:pt x="596617" y="180824"/>
                    <a:pt x="604116" y="188323"/>
                    <a:pt x="604116" y="197572"/>
                  </a:cubicBezTo>
                  <a:cubicBezTo>
                    <a:pt x="604116" y="206822"/>
                    <a:pt x="596617" y="214321"/>
                    <a:pt x="587368" y="214321"/>
                  </a:cubicBezTo>
                  <a:cubicBezTo>
                    <a:pt x="578118" y="214321"/>
                    <a:pt x="570619" y="206822"/>
                    <a:pt x="570619" y="197572"/>
                  </a:cubicBezTo>
                  <a:cubicBezTo>
                    <a:pt x="570619" y="188323"/>
                    <a:pt x="578118" y="180824"/>
                    <a:pt x="587368" y="180824"/>
                  </a:cubicBezTo>
                  <a:close/>
                  <a:moveTo>
                    <a:pt x="473440" y="90948"/>
                  </a:moveTo>
                  <a:cubicBezTo>
                    <a:pt x="473387" y="81699"/>
                    <a:pt x="480842" y="74157"/>
                    <a:pt x="490091" y="74103"/>
                  </a:cubicBezTo>
                  <a:cubicBezTo>
                    <a:pt x="499341" y="74050"/>
                    <a:pt x="506883" y="81504"/>
                    <a:pt x="506936" y="90754"/>
                  </a:cubicBezTo>
                  <a:cubicBezTo>
                    <a:pt x="506990" y="100004"/>
                    <a:pt x="499535" y="107546"/>
                    <a:pt x="490286" y="107599"/>
                  </a:cubicBezTo>
                  <a:cubicBezTo>
                    <a:pt x="490221" y="107600"/>
                    <a:pt x="490156" y="107600"/>
                    <a:pt x="490091" y="107599"/>
                  </a:cubicBezTo>
                  <a:cubicBezTo>
                    <a:pt x="480917" y="107546"/>
                    <a:pt x="473494" y="100122"/>
                    <a:pt x="473440" y="90948"/>
                  </a:cubicBezTo>
                  <a:close/>
                  <a:moveTo>
                    <a:pt x="405279" y="74200"/>
                  </a:moveTo>
                  <a:cubicBezTo>
                    <a:pt x="414529" y="74200"/>
                    <a:pt x="422027" y="81699"/>
                    <a:pt x="422027" y="90948"/>
                  </a:cubicBezTo>
                  <a:cubicBezTo>
                    <a:pt x="422027" y="100198"/>
                    <a:pt x="414529" y="107697"/>
                    <a:pt x="405279" y="107697"/>
                  </a:cubicBezTo>
                  <a:cubicBezTo>
                    <a:pt x="396029" y="107697"/>
                    <a:pt x="388531" y="100198"/>
                    <a:pt x="388531" y="90948"/>
                  </a:cubicBezTo>
                  <a:cubicBezTo>
                    <a:pt x="388531" y="81699"/>
                    <a:pt x="396029" y="74200"/>
                    <a:pt x="405279" y="74200"/>
                  </a:cubicBezTo>
                  <a:cubicBezTo>
                    <a:pt x="405311" y="74200"/>
                    <a:pt x="405344" y="74200"/>
                    <a:pt x="405376" y="74200"/>
                  </a:cubicBezTo>
                  <a:close/>
                  <a:moveTo>
                    <a:pt x="313261" y="139440"/>
                  </a:moveTo>
                  <a:lnTo>
                    <a:pt x="313261" y="183745"/>
                  </a:lnTo>
                  <a:cubicBezTo>
                    <a:pt x="296297" y="175332"/>
                    <a:pt x="276130" y="176632"/>
                    <a:pt x="260387" y="187153"/>
                  </a:cubicBezTo>
                  <a:cubicBezTo>
                    <a:pt x="256187" y="190168"/>
                    <a:pt x="255076" y="195940"/>
                    <a:pt x="257855" y="200299"/>
                  </a:cubicBezTo>
                  <a:cubicBezTo>
                    <a:pt x="260863" y="204442"/>
                    <a:pt x="266565" y="205548"/>
                    <a:pt x="270903" y="202831"/>
                  </a:cubicBezTo>
                  <a:cubicBezTo>
                    <a:pt x="284116" y="193874"/>
                    <a:pt x="301801" y="195419"/>
                    <a:pt x="313261" y="206531"/>
                  </a:cubicBezTo>
                  <a:lnTo>
                    <a:pt x="313261" y="257360"/>
                  </a:lnTo>
                  <a:lnTo>
                    <a:pt x="313261" y="296309"/>
                  </a:lnTo>
                  <a:cubicBezTo>
                    <a:pt x="296310" y="287779"/>
                    <a:pt x="276064" y="289121"/>
                    <a:pt x="260387" y="299815"/>
                  </a:cubicBezTo>
                  <a:cubicBezTo>
                    <a:pt x="256765" y="303789"/>
                    <a:pt x="257050" y="309948"/>
                    <a:pt x="261025" y="313571"/>
                  </a:cubicBezTo>
                  <a:cubicBezTo>
                    <a:pt x="263726" y="316032"/>
                    <a:pt x="267578" y="316774"/>
                    <a:pt x="271001" y="315492"/>
                  </a:cubicBezTo>
                  <a:cubicBezTo>
                    <a:pt x="284128" y="306460"/>
                    <a:pt x="301801" y="307926"/>
                    <a:pt x="313261" y="318997"/>
                  </a:cubicBezTo>
                  <a:lnTo>
                    <a:pt x="313261" y="342951"/>
                  </a:lnTo>
                  <a:lnTo>
                    <a:pt x="313261" y="397967"/>
                  </a:lnTo>
                  <a:lnTo>
                    <a:pt x="313261" y="461747"/>
                  </a:lnTo>
                  <a:lnTo>
                    <a:pt x="313261" y="547338"/>
                  </a:lnTo>
                  <a:cubicBezTo>
                    <a:pt x="301687" y="575955"/>
                    <a:pt x="269107" y="589771"/>
                    <a:pt x="240490" y="578198"/>
                  </a:cubicBezTo>
                  <a:cubicBezTo>
                    <a:pt x="237561" y="577013"/>
                    <a:pt x="234738" y="575583"/>
                    <a:pt x="232051" y="573921"/>
                  </a:cubicBezTo>
                  <a:cubicBezTo>
                    <a:pt x="249841" y="558057"/>
                    <a:pt x="254789" y="532238"/>
                    <a:pt x="244126" y="510921"/>
                  </a:cubicBezTo>
                  <a:cubicBezTo>
                    <a:pt x="243059" y="505650"/>
                    <a:pt x="237921" y="502242"/>
                    <a:pt x="232650" y="503309"/>
                  </a:cubicBezTo>
                  <a:cubicBezTo>
                    <a:pt x="227379" y="504376"/>
                    <a:pt x="223971" y="509514"/>
                    <a:pt x="225038" y="514785"/>
                  </a:cubicBezTo>
                  <a:cubicBezTo>
                    <a:pt x="225377" y="516459"/>
                    <a:pt x="226150" y="518014"/>
                    <a:pt x="227280" y="519295"/>
                  </a:cubicBezTo>
                  <a:cubicBezTo>
                    <a:pt x="235608" y="536533"/>
                    <a:pt x="228386" y="557259"/>
                    <a:pt x="211147" y="565588"/>
                  </a:cubicBezTo>
                  <a:cubicBezTo>
                    <a:pt x="211040" y="565640"/>
                    <a:pt x="210932" y="565691"/>
                    <a:pt x="210824" y="565742"/>
                  </a:cubicBezTo>
                  <a:cubicBezTo>
                    <a:pt x="210082" y="566215"/>
                    <a:pt x="209396" y="566770"/>
                    <a:pt x="208779" y="567397"/>
                  </a:cubicBezTo>
                  <a:cubicBezTo>
                    <a:pt x="181989" y="582625"/>
                    <a:pt x="147928" y="573252"/>
                    <a:pt x="132701" y="546462"/>
                  </a:cubicBezTo>
                  <a:cubicBezTo>
                    <a:pt x="128138" y="538435"/>
                    <a:pt x="125639" y="529402"/>
                    <a:pt x="125427" y="520171"/>
                  </a:cubicBezTo>
                  <a:cubicBezTo>
                    <a:pt x="141981" y="515400"/>
                    <a:pt x="173238" y="503423"/>
                    <a:pt x="177814" y="479858"/>
                  </a:cubicBezTo>
                  <a:cubicBezTo>
                    <a:pt x="178661" y="474754"/>
                    <a:pt x="175368" y="469878"/>
                    <a:pt x="170316" y="468758"/>
                  </a:cubicBezTo>
                  <a:cubicBezTo>
                    <a:pt x="165399" y="467992"/>
                    <a:pt x="160695" y="471058"/>
                    <a:pt x="159411" y="475866"/>
                  </a:cubicBezTo>
                  <a:cubicBezTo>
                    <a:pt x="156587" y="489888"/>
                    <a:pt x="127180" y="500307"/>
                    <a:pt x="115495" y="502839"/>
                  </a:cubicBezTo>
                  <a:cubicBezTo>
                    <a:pt x="80543" y="502358"/>
                    <a:pt x="52598" y="473635"/>
                    <a:pt x="53078" y="438682"/>
                  </a:cubicBezTo>
                  <a:cubicBezTo>
                    <a:pt x="53289" y="423337"/>
                    <a:pt x="59068" y="408591"/>
                    <a:pt x="69340" y="397188"/>
                  </a:cubicBezTo>
                  <a:cubicBezTo>
                    <a:pt x="71754" y="394562"/>
                    <a:pt x="72538" y="390826"/>
                    <a:pt x="71385" y="387451"/>
                  </a:cubicBezTo>
                  <a:cubicBezTo>
                    <a:pt x="70233" y="384260"/>
                    <a:pt x="67503" y="381899"/>
                    <a:pt x="64179" y="381219"/>
                  </a:cubicBezTo>
                  <a:cubicBezTo>
                    <a:pt x="33835" y="375267"/>
                    <a:pt x="14061" y="345843"/>
                    <a:pt x="20013" y="315499"/>
                  </a:cubicBezTo>
                  <a:cubicBezTo>
                    <a:pt x="23072" y="299903"/>
                    <a:pt x="32615" y="286343"/>
                    <a:pt x="46262" y="278198"/>
                  </a:cubicBezTo>
                  <a:cubicBezTo>
                    <a:pt x="62105" y="267545"/>
                    <a:pt x="83584" y="271752"/>
                    <a:pt x="94237" y="287595"/>
                  </a:cubicBezTo>
                  <a:cubicBezTo>
                    <a:pt x="94313" y="287708"/>
                    <a:pt x="94388" y="287821"/>
                    <a:pt x="94462" y="287935"/>
                  </a:cubicBezTo>
                  <a:cubicBezTo>
                    <a:pt x="96260" y="290461"/>
                    <a:pt x="99153" y="291979"/>
                    <a:pt x="102252" y="292025"/>
                  </a:cubicBezTo>
                  <a:cubicBezTo>
                    <a:pt x="104161" y="292010"/>
                    <a:pt x="106024" y="291434"/>
                    <a:pt x="107608" y="290369"/>
                  </a:cubicBezTo>
                  <a:cubicBezTo>
                    <a:pt x="111774" y="287325"/>
                    <a:pt x="112842" y="281559"/>
                    <a:pt x="110042" y="277224"/>
                  </a:cubicBezTo>
                  <a:cubicBezTo>
                    <a:pt x="95727" y="255691"/>
                    <a:pt x="68051" y="247490"/>
                    <a:pt x="44315" y="257749"/>
                  </a:cubicBezTo>
                  <a:cubicBezTo>
                    <a:pt x="27871" y="227086"/>
                    <a:pt x="39397" y="188898"/>
                    <a:pt x="70060" y="172454"/>
                  </a:cubicBezTo>
                  <a:cubicBezTo>
                    <a:pt x="74249" y="170207"/>
                    <a:pt x="78679" y="168442"/>
                    <a:pt x="83264" y="167192"/>
                  </a:cubicBezTo>
                  <a:cubicBezTo>
                    <a:pt x="90807" y="179627"/>
                    <a:pt x="104262" y="187258"/>
                    <a:pt x="118806" y="187348"/>
                  </a:cubicBezTo>
                  <a:cubicBezTo>
                    <a:pt x="123690" y="187370"/>
                    <a:pt x="128539" y="186512"/>
                    <a:pt x="133120" y="184816"/>
                  </a:cubicBezTo>
                  <a:cubicBezTo>
                    <a:pt x="138474" y="184311"/>
                    <a:pt x="142404" y="179561"/>
                    <a:pt x="141898" y="174207"/>
                  </a:cubicBezTo>
                  <a:cubicBezTo>
                    <a:pt x="141393" y="168853"/>
                    <a:pt x="136642" y="164922"/>
                    <a:pt x="131288" y="165428"/>
                  </a:cubicBezTo>
                  <a:cubicBezTo>
                    <a:pt x="129640" y="165584"/>
                    <a:pt x="128058" y="166157"/>
                    <a:pt x="126693" y="167094"/>
                  </a:cubicBezTo>
                  <a:cubicBezTo>
                    <a:pt x="114760" y="171192"/>
                    <a:pt x="101748" y="164946"/>
                    <a:pt x="97481" y="153073"/>
                  </a:cubicBezTo>
                  <a:cubicBezTo>
                    <a:pt x="97518" y="152782"/>
                    <a:pt x="97518" y="152487"/>
                    <a:pt x="97481" y="152196"/>
                  </a:cubicBezTo>
                  <a:cubicBezTo>
                    <a:pt x="83664" y="120146"/>
                    <a:pt x="98445" y="82963"/>
                    <a:pt x="130495" y="69146"/>
                  </a:cubicBezTo>
                  <a:cubicBezTo>
                    <a:pt x="146841" y="62099"/>
                    <a:pt x="165401" y="62272"/>
                    <a:pt x="181612" y="69624"/>
                  </a:cubicBezTo>
                  <a:lnTo>
                    <a:pt x="182586" y="69624"/>
                  </a:lnTo>
                  <a:lnTo>
                    <a:pt x="183559" y="69624"/>
                  </a:lnTo>
                  <a:cubicBezTo>
                    <a:pt x="210532" y="74882"/>
                    <a:pt x="218516" y="99615"/>
                    <a:pt x="214329" y="121718"/>
                  </a:cubicBezTo>
                  <a:cubicBezTo>
                    <a:pt x="213539" y="126789"/>
                    <a:pt x="216819" y="131603"/>
                    <a:pt x="221827" y="132722"/>
                  </a:cubicBezTo>
                  <a:lnTo>
                    <a:pt x="223580" y="132722"/>
                  </a:lnTo>
                  <a:cubicBezTo>
                    <a:pt x="228251" y="132826"/>
                    <a:pt x="232337" y="129597"/>
                    <a:pt x="233317" y="125029"/>
                  </a:cubicBezTo>
                  <a:cubicBezTo>
                    <a:pt x="239452" y="92117"/>
                    <a:pt x="225333" y="64463"/>
                    <a:pt x="198457" y="54044"/>
                  </a:cubicBezTo>
                  <a:cubicBezTo>
                    <a:pt x="209092" y="32361"/>
                    <a:pt x="231076" y="18559"/>
                    <a:pt x="255226" y="18405"/>
                  </a:cubicBezTo>
                  <a:cubicBezTo>
                    <a:pt x="281593" y="18361"/>
                    <a:pt x="305189" y="34766"/>
                    <a:pt x="314332" y="59497"/>
                  </a:cubicBezTo>
                  <a:close/>
                  <a:moveTo>
                    <a:pt x="405279" y="493588"/>
                  </a:moveTo>
                  <a:cubicBezTo>
                    <a:pt x="414529" y="493588"/>
                    <a:pt x="422027" y="501087"/>
                    <a:pt x="422027" y="510337"/>
                  </a:cubicBezTo>
                  <a:cubicBezTo>
                    <a:pt x="422027" y="519586"/>
                    <a:pt x="414528" y="527085"/>
                    <a:pt x="405278" y="527085"/>
                  </a:cubicBezTo>
                  <a:cubicBezTo>
                    <a:pt x="396029" y="527085"/>
                    <a:pt x="388530" y="519586"/>
                    <a:pt x="388530" y="510336"/>
                  </a:cubicBezTo>
                  <a:cubicBezTo>
                    <a:pt x="388530" y="510304"/>
                    <a:pt x="388531" y="510271"/>
                    <a:pt x="388531" y="510239"/>
                  </a:cubicBezTo>
                  <a:cubicBezTo>
                    <a:pt x="388584" y="500989"/>
                    <a:pt x="396126" y="493535"/>
                    <a:pt x="405376" y="493588"/>
                  </a:cubicBezTo>
                  <a:cubicBezTo>
                    <a:pt x="405376" y="493588"/>
                    <a:pt x="405376" y="493588"/>
                    <a:pt x="405376" y="493588"/>
                  </a:cubicBezTo>
                  <a:close/>
                  <a:moveTo>
                    <a:pt x="506742" y="510239"/>
                  </a:moveTo>
                  <a:cubicBezTo>
                    <a:pt x="506796" y="519489"/>
                    <a:pt x="499341" y="527031"/>
                    <a:pt x="490092" y="527084"/>
                  </a:cubicBezTo>
                  <a:cubicBezTo>
                    <a:pt x="480842" y="527138"/>
                    <a:pt x="473300" y="519683"/>
                    <a:pt x="473246" y="510434"/>
                  </a:cubicBezTo>
                  <a:cubicBezTo>
                    <a:pt x="473192" y="501184"/>
                    <a:pt x="480647" y="493642"/>
                    <a:pt x="489897" y="493588"/>
                  </a:cubicBezTo>
                  <a:cubicBezTo>
                    <a:pt x="489929" y="493588"/>
                    <a:pt x="489962" y="493588"/>
                    <a:pt x="489994" y="493588"/>
                  </a:cubicBezTo>
                  <a:cubicBezTo>
                    <a:pt x="499244" y="493534"/>
                    <a:pt x="506786" y="500989"/>
                    <a:pt x="506840" y="510238"/>
                  </a:cubicBezTo>
                  <a:cubicBezTo>
                    <a:pt x="506840" y="510239"/>
                    <a:pt x="506840" y="510239"/>
                    <a:pt x="506840" y="510239"/>
                  </a:cubicBezTo>
                  <a:close/>
                  <a:moveTo>
                    <a:pt x="587270" y="420363"/>
                  </a:moveTo>
                  <a:cubicBezTo>
                    <a:pt x="578021" y="420417"/>
                    <a:pt x="570479" y="412962"/>
                    <a:pt x="570425" y="403713"/>
                  </a:cubicBezTo>
                  <a:cubicBezTo>
                    <a:pt x="570371" y="394463"/>
                    <a:pt x="577826" y="386921"/>
                    <a:pt x="587075" y="386867"/>
                  </a:cubicBezTo>
                  <a:cubicBezTo>
                    <a:pt x="596325" y="386813"/>
                    <a:pt x="603867" y="394268"/>
                    <a:pt x="603921" y="403518"/>
                  </a:cubicBezTo>
                  <a:cubicBezTo>
                    <a:pt x="603921" y="403550"/>
                    <a:pt x="603921" y="403583"/>
                    <a:pt x="603921" y="403615"/>
                  </a:cubicBezTo>
                  <a:cubicBezTo>
                    <a:pt x="603922" y="412789"/>
                    <a:pt x="596541" y="420257"/>
                    <a:pt x="587368" y="420363"/>
                  </a:cubicBezTo>
                  <a:close/>
                </a:path>
              </a:pathLst>
            </a:custGeom>
            <a:grpFill/>
            <a:ln w="9674" cap="flat">
              <a:noFill/>
              <a:prstDash val="solid"/>
              <a:miter/>
            </a:ln>
          </p:spPr>
          <p:txBody>
            <a:bodyPr rtlCol="0" anchor="ctr"/>
            <a:lstStyle/>
            <a:p>
              <a:endParaRPr lang="en-GB"/>
            </a:p>
          </p:txBody>
        </p:sp>
      </p:grpSp>
      <p:sp>
        <p:nvSpPr>
          <p:cNvPr id="44" name="Title 1">
            <a:extLst>
              <a:ext uri="{FF2B5EF4-FFF2-40B4-BE49-F238E27FC236}">
                <a16:creationId xmlns:a16="http://schemas.microsoft.com/office/drawing/2014/main" id="{47B5A6B7-5900-7E98-66FF-F2946008A703}"/>
              </a:ext>
            </a:extLst>
          </p:cNvPr>
          <p:cNvSpPr>
            <a:spLocks noGrp="1"/>
          </p:cNvSpPr>
          <p:nvPr>
            <p:ph type="title"/>
          </p:nvPr>
        </p:nvSpPr>
        <p:spPr/>
        <p:txBody>
          <a:bodyPr/>
          <a:lstStyle/>
          <a:p>
            <a:r>
              <a:rPr lang="en-GB">
                <a:solidFill>
                  <a:schemeClr val="bg1"/>
                </a:solidFill>
              </a:rPr>
              <a:t>Azure AI Foundry Capabilities for “Prototyping” </a:t>
            </a:r>
            <a:endParaRPr lang="en-US">
              <a:solidFill>
                <a:schemeClr val="bg1"/>
              </a:solidFill>
            </a:endParaRPr>
          </a:p>
        </p:txBody>
      </p:sp>
      <p:sp>
        <p:nvSpPr>
          <p:cNvPr id="3" name="TextBox 2">
            <a:extLst>
              <a:ext uri="{FF2B5EF4-FFF2-40B4-BE49-F238E27FC236}">
                <a16:creationId xmlns:a16="http://schemas.microsoft.com/office/drawing/2014/main" id="{D3C0B55B-0BAE-0C6D-A44F-9EC5F395A04F}"/>
              </a:ext>
            </a:extLst>
          </p:cNvPr>
          <p:cNvSpPr txBox="1"/>
          <p:nvPr/>
        </p:nvSpPr>
        <p:spPr>
          <a:xfrm>
            <a:off x="6730669" y="3754647"/>
            <a:ext cx="1640090" cy="184666"/>
          </a:xfrm>
          <a:prstGeom prst="rect">
            <a:avLst/>
          </a:prstGeom>
          <a:noFill/>
        </p:spPr>
        <p:txBody>
          <a:bodyPr wrap="square" lIns="0" tIns="0" rIns="0" bIns="0" rtlCol="0">
            <a:spAutoFit/>
          </a:bodyPr>
          <a:lstStyle/>
          <a:p>
            <a:pPr defTabSz="609630" fontAlgn="base">
              <a:spcBef>
                <a:spcPts val="1200"/>
              </a:spcBef>
              <a:spcAft>
                <a:spcPct val="0"/>
              </a:spcAft>
              <a:defRPr/>
            </a:pPr>
            <a:r>
              <a:rPr lang="en-GB" sz="1200" b="1">
                <a:solidFill>
                  <a:srgbClr val="FFFFFF"/>
                </a:solidFill>
              </a:rPr>
              <a:t>=</a:t>
            </a:r>
            <a:endParaRPr lang="en-GB" sz="1200">
              <a:solidFill>
                <a:srgbClr val="FFFFFF"/>
              </a:solidFill>
            </a:endParaRPr>
          </a:p>
        </p:txBody>
      </p:sp>
    </p:spTree>
    <p:extLst>
      <p:ext uri="{BB962C8B-B14F-4D97-AF65-F5344CB8AC3E}">
        <p14:creationId xmlns:p14="http://schemas.microsoft.com/office/powerpoint/2010/main" val="38612247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p:cTn id="7" dur="250" fill="hold"/>
                                        <p:tgtEl>
                                          <p:spTgt spid="92"/>
                                        </p:tgtEl>
                                        <p:attrNameLst>
                                          <p:attrName>ppt_w</p:attrName>
                                        </p:attrNameLst>
                                      </p:cBhvr>
                                      <p:tavLst>
                                        <p:tav tm="0">
                                          <p:val>
                                            <p:strVal val="2/3*#ppt_w"/>
                                          </p:val>
                                        </p:tav>
                                        <p:tav tm="100000">
                                          <p:val>
                                            <p:strVal val="#ppt_w"/>
                                          </p:val>
                                        </p:tav>
                                      </p:tavLst>
                                    </p:anim>
                                    <p:anim calcmode="lin" valueType="num">
                                      <p:cBhvr>
                                        <p:cTn id="8" dur="250" fill="hold"/>
                                        <p:tgtEl>
                                          <p:spTgt spid="92"/>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92"/>
                                        </p:tgtEl>
                                        <p:attrNameLst>
                                          <p:attrName>style.visibility</p:attrName>
                                        </p:attrNameLst>
                                      </p:cBhvr>
                                      <p:to>
                                        <p:strVal val="visible"/>
                                      </p:to>
                                    </p:set>
                                    <p:animEffect transition="in" filter="fade">
                                      <p:cBhvr>
                                        <p:cTn id="11" dur="500"/>
                                        <p:tgtEl>
                                          <p:spTgt spid="92"/>
                                        </p:tgtEl>
                                      </p:cBhvr>
                                    </p:animEffect>
                                  </p:childTnLst>
                                </p:cTn>
                              </p:par>
                              <p:par>
                                <p:cTn id="12" presetID="6" presetClass="emph" presetSubtype="0" fill="hold" grpId="2" nodeType="withEffect">
                                  <p:stCondLst>
                                    <p:cond delay="0"/>
                                  </p:stCondLst>
                                  <p:childTnLst>
                                    <p:animScale>
                                      <p:cBhvr>
                                        <p:cTn id="13" dur="10" fill="hold"/>
                                        <p:tgtEl>
                                          <p:spTgt spid="92"/>
                                        </p:tgtEl>
                                      </p:cBhvr>
                                      <p:by x="80000" y="80000"/>
                                    </p:animScale>
                                  </p:childTnLst>
                                </p:cTn>
                              </p:par>
                              <p:par>
                                <p:cTn id="14" presetID="6" presetClass="emph" presetSubtype="0" decel="100000" fill="hold" grpId="3" nodeType="withEffect">
                                  <p:stCondLst>
                                    <p:cond delay="0"/>
                                  </p:stCondLst>
                                  <p:childTnLst>
                                    <p:animScale>
                                      <p:cBhvr>
                                        <p:cTn id="15" dur="1000" fill="hold"/>
                                        <p:tgtEl>
                                          <p:spTgt spid="92"/>
                                        </p:tgtEl>
                                      </p:cBhvr>
                                      <p:by x="125000" y="125000"/>
                                    </p:animScale>
                                  </p:childTnLst>
                                </p:cTn>
                              </p:par>
                              <p:par>
                                <p:cTn id="16" presetID="10" presetClass="entr" presetSubtype="0" fill="hold" grpId="0" nodeType="withEffect">
                                  <p:stCondLst>
                                    <p:cond delay="0"/>
                                  </p:stCondLst>
                                  <p:childTnLst>
                                    <p:set>
                                      <p:cBhvr>
                                        <p:cTn id="17" dur="1" fill="hold">
                                          <p:stCondLst>
                                            <p:cond delay="0"/>
                                          </p:stCondLst>
                                        </p:cTn>
                                        <p:tgtEl>
                                          <p:spTgt spid="83"/>
                                        </p:tgtEl>
                                        <p:attrNameLst>
                                          <p:attrName>style.visibility</p:attrName>
                                        </p:attrNameLst>
                                      </p:cBhvr>
                                      <p:to>
                                        <p:strVal val="visible"/>
                                      </p:to>
                                    </p:set>
                                    <p:animEffect transition="in" filter="fade">
                                      <p:cBhvr>
                                        <p:cTn id="18" dur="1000"/>
                                        <p:tgtEl>
                                          <p:spTgt spid="83"/>
                                        </p:tgtEl>
                                      </p:cBhvr>
                                    </p:animEffect>
                                  </p:childTnLst>
                                </p:cTn>
                              </p:par>
                              <p:par>
                                <p:cTn id="19" presetID="23" presetClass="entr" presetSubtype="272" fill="hold" nodeType="withEffect">
                                  <p:stCondLst>
                                    <p:cond delay="250"/>
                                  </p:stCondLst>
                                  <p:childTnLst>
                                    <p:set>
                                      <p:cBhvr>
                                        <p:cTn id="20" dur="1" fill="hold">
                                          <p:stCondLst>
                                            <p:cond delay="0"/>
                                          </p:stCondLst>
                                        </p:cTn>
                                        <p:tgtEl>
                                          <p:spTgt spid="93"/>
                                        </p:tgtEl>
                                        <p:attrNameLst>
                                          <p:attrName>style.visibility</p:attrName>
                                        </p:attrNameLst>
                                      </p:cBhvr>
                                      <p:to>
                                        <p:strVal val="visible"/>
                                      </p:to>
                                    </p:set>
                                    <p:anim calcmode="lin" valueType="num">
                                      <p:cBhvr>
                                        <p:cTn id="21" dur="250" fill="hold"/>
                                        <p:tgtEl>
                                          <p:spTgt spid="93"/>
                                        </p:tgtEl>
                                        <p:attrNameLst>
                                          <p:attrName>ppt_w</p:attrName>
                                        </p:attrNameLst>
                                      </p:cBhvr>
                                      <p:tavLst>
                                        <p:tav tm="0">
                                          <p:val>
                                            <p:strVal val="2/3*#ppt_w"/>
                                          </p:val>
                                        </p:tav>
                                        <p:tav tm="100000">
                                          <p:val>
                                            <p:strVal val="#ppt_w"/>
                                          </p:val>
                                        </p:tav>
                                      </p:tavLst>
                                    </p:anim>
                                    <p:anim calcmode="lin" valueType="num">
                                      <p:cBhvr>
                                        <p:cTn id="22" dur="250" fill="hold"/>
                                        <p:tgtEl>
                                          <p:spTgt spid="93"/>
                                        </p:tgtEl>
                                        <p:attrNameLst>
                                          <p:attrName>ppt_h</p:attrName>
                                        </p:attrNameLst>
                                      </p:cBhvr>
                                      <p:tavLst>
                                        <p:tav tm="0">
                                          <p:val>
                                            <p:strVal val="2/3*#ppt_h"/>
                                          </p:val>
                                        </p:tav>
                                        <p:tav tm="100000">
                                          <p:val>
                                            <p:strVal val="#ppt_h"/>
                                          </p:val>
                                        </p:tav>
                                      </p:tavLst>
                                    </p:anim>
                                  </p:childTnLst>
                                </p:cTn>
                              </p:par>
                              <p:par>
                                <p:cTn id="23" presetID="10" presetClass="entr" presetSubtype="0" fill="hold" nodeType="withEffect">
                                  <p:stCondLst>
                                    <p:cond delay="250"/>
                                  </p:stCondLst>
                                  <p:childTnLst>
                                    <p:set>
                                      <p:cBhvr>
                                        <p:cTn id="24" dur="1" fill="hold">
                                          <p:stCondLst>
                                            <p:cond delay="0"/>
                                          </p:stCondLst>
                                        </p:cTn>
                                        <p:tgtEl>
                                          <p:spTgt spid="93"/>
                                        </p:tgtEl>
                                        <p:attrNameLst>
                                          <p:attrName>style.visibility</p:attrName>
                                        </p:attrNameLst>
                                      </p:cBhvr>
                                      <p:to>
                                        <p:strVal val="visible"/>
                                      </p:to>
                                    </p:set>
                                    <p:animEffect transition="in" filter="fade">
                                      <p:cBhvr>
                                        <p:cTn id="25" dur="500"/>
                                        <p:tgtEl>
                                          <p:spTgt spid="93"/>
                                        </p:tgtEl>
                                      </p:cBhvr>
                                    </p:animEffect>
                                  </p:childTnLst>
                                </p:cTn>
                              </p:par>
                              <p:par>
                                <p:cTn id="26" presetID="6" presetClass="emph" presetSubtype="0" fill="hold" nodeType="withEffect">
                                  <p:stCondLst>
                                    <p:cond delay="250"/>
                                  </p:stCondLst>
                                  <p:childTnLst>
                                    <p:animScale>
                                      <p:cBhvr>
                                        <p:cTn id="27" dur="10" fill="hold"/>
                                        <p:tgtEl>
                                          <p:spTgt spid="93"/>
                                        </p:tgtEl>
                                      </p:cBhvr>
                                      <p:by x="80000" y="80000"/>
                                    </p:animScale>
                                  </p:childTnLst>
                                </p:cTn>
                              </p:par>
                              <p:par>
                                <p:cTn id="28" presetID="6" presetClass="emph" presetSubtype="0" decel="100000" fill="hold" nodeType="withEffect">
                                  <p:stCondLst>
                                    <p:cond delay="250"/>
                                  </p:stCondLst>
                                  <p:childTnLst>
                                    <p:animScale>
                                      <p:cBhvr>
                                        <p:cTn id="29" dur="1000" fill="hold"/>
                                        <p:tgtEl>
                                          <p:spTgt spid="93"/>
                                        </p:tgtEl>
                                      </p:cBhvr>
                                      <p:by x="125000" y="125000"/>
                                    </p:animScale>
                                  </p:childTnLst>
                                </p:cTn>
                              </p:par>
                              <p:par>
                                <p:cTn id="30" presetID="23" presetClass="entr" presetSubtype="272"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250" fill="hold"/>
                                        <p:tgtEl>
                                          <p:spTgt spid="2"/>
                                        </p:tgtEl>
                                        <p:attrNameLst>
                                          <p:attrName>ppt_w</p:attrName>
                                        </p:attrNameLst>
                                      </p:cBhvr>
                                      <p:tavLst>
                                        <p:tav tm="0">
                                          <p:val>
                                            <p:strVal val="2/3*#ppt_w"/>
                                          </p:val>
                                        </p:tav>
                                        <p:tav tm="100000">
                                          <p:val>
                                            <p:strVal val="#ppt_w"/>
                                          </p:val>
                                        </p:tav>
                                      </p:tavLst>
                                    </p:anim>
                                    <p:anim calcmode="lin" valueType="num">
                                      <p:cBhvr>
                                        <p:cTn id="33" dur="250" fill="hold"/>
                                        <p:tgtEl>
                                          <p:spTgt spid="2"/>
                                        </p:tgtEl>
                                        <p:attrNameLst>
                                          <p:attrName>ppt_h</p:attrName>
                                        </p:attrNameLst>
                                      </p:cBhvr>
                                      <p:tavLst>
                                        <p:tav tm="0">
                                          <p:val>
                                            <p:strVal val="2/3*#ppt_h"/>
                                          </p:val>
                                        </p:tav>
                                        <p:tav tm="100000">
                                          <p:val>
                                            <p:strVal val="#ppt_h"/>
                                          </p:val>
                                        </p:tav>
                                      </p:tavLst>
                                    </p:anim>
                                  </p:childTnLst>
                                </p:cTn>
                              </p:par>
                              <p:par>
                                <p:cTn id="34" presetID="10" presetClass="entr" presetSubtype="0" fill="hold" grpId="1" nodeType="with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500"/>
                                        <p:tgtEl>
                                          <p:spTgt spid="2"/>
                                        </p:tgtEl>
                                      </p:cBhvr>
                                    </p:animEffect>
                                  </p:childTnLst>
                                </p:cTn>
                              </p:par>
                              <p:par>
                                <p:cTn id="37" presetID="6" presetClass="emph" presetSubtype="0" fill="hold" grpId="2" nodeType="withEffect">
                                  <p:stCondLst>
                                    <p:cond delay="0"/>
                                  </p:stCondLst>
                                  <p:childTnLst>
                                    <p:animScale>
                                      <p:cBhvr>
                                        <p:cTn id="38" dur="10" fill="hold"/>
                                        <p:tgtEl>
                                          <p:spTgt spid="2"/>
                                        </p:tgtEl>
                                      </p:cBhvr>
                                      <p:by x="80000" y="80000"/>
                                    </p:animScale>
                                  </p:childTnLst>
                                </p:cTn>
                              </p:par>
                              <p:par>
                                <p:cTn id="39" presetID="6" presetClass="emph" presetSubtype="0" decel="100000" fill="hold" grpId="3" nodeType="withEffect">
                                  <p:stCondLst>
                                    <p:cond delay="0"/>
                                  </p:stCondLst>
                                  <p:childTnLst>
                                    <p:animScale>
                                      <p:cBhvr>
                                        <p:cTn id="40" dur="1000" fill="hold"/>
                                        <p:tgtEl>
                                          <p:spTgt spid="2"/>
                                        </p:tgtEl>
                                      </p:cBhvr>
                                      <p:by x="125000" y="125000"/>
                                    </p:animScale>
                                  </p:childTnLst>
                                </p:cTn>
                              </p:par>
                              <p:par>
                                <p:cTn id="41" presetID="23" presetClass="entr" presetSubtype="272" fill="hold" nodeType="withEffect">
                                  <p:stCondLst>
                                    <p:cond delay="250"/>
                                  </p:stCondLst>
                                  <p:childTnLst>
                                    <p:set>
                                      <p:cBhvr>
                                        <p:cTn id="42" dur="1" fill="hold">
                                          <p:stCondLst>
                                            <p:cond delay="0"/>
                                          </p:stCondLst>
                                        </p:cTn>
                                        <p:tgtEl>
                                          <p:spTgt spid="20"/>
                                        </p:tgtEl>
                                        <p:attrNameLst>
                                          <p:attrName>style.visibility</p:attrName>
                                        </p:attrNameLst>
                                      </p:cBhvr>
                                      <p:to>
                                        <p:strVal val="visible"/>
                                      </p:to>
                                    </p:set>
                                    <p:anim calcmode="lin" valueType="num">
                                      <p:cBhvr>
                                        <p:cTn id="43" dur="250" fill="hold"/>
                                        <p:tgtEl>
                                          <p:spTgt spid="20"/>
                                        </p:tgtEl>
                                        <p:attrNameLst>
                                          <p:attrName>ppt_w</p:attrName>
                                        </p:attrNameLst>
                                      </p:cBhvr>
                                      <p:tavLst>
                                        <p:tav tm="0">
                                          <p:val>
                                            <p:strVal val="2/3*#ppt_w"/>
                                          </p:val>
                                        </p:tav>
                                        <p:tav tm="100000">
                                          <p:val>
                                            <p:strVal val="#ppt_w"/>
                                          </p:val>
                                        </p:tav>
                                      </p:tavLst>
                                    </p:anim>
                                    <p:anim calcmode="lin" valueType="num">
                                      <p:cBhvr>
                                        <p:cTn id="44" dur="250" fill="hold"/>
                                        <p:tgtEl>
                                          <p:spTgt spid="20"/>
                                        </p:tgtEl>
                                        <p:attrNameLst>
                                          <p:attrName>ppt_h</p:attrName>
                                        </p:attrNameLst>
                                      </p:cBhvr>
                                      <p:tavLst>
                                        <p:tav tm="0">
                                          <p:val>
                                            <p:strVal val="2/3*#ppt_h"/>
                                          </p:val>
                                        </p:tav>
                                        <p:tav tm="100000">
                                          <p:val>
                                            <p:strVal val="#ppt_h"/>
                                          </p:val>
                                        </p:tav>
                                      </p:tavLst>
                                    </p:anim>
                                  </p:childTnLst>
                                </p:cTn>
                              </p:par>
                              <p:par>
                                <p:cTn id="45" presetID="10" presetClass="entr" presetSubtype="0" fill="hold" nodeType="withEffect">
                                  <p:stCondLst>
                                    <p:cond delay="25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6" presetClass="emph" presetSubtype="0" fill="hold" nodeType="withEffect">
                                  <p:stCondLst>
                                    <p:cond delay="250"/>
                                  </p:stCondLst>
                                  <p:childTnLst>
                                    <p:animScale>
                                      <p:cBhvr>
                                        <p:cTn id="49" dur="10" fill="hold"/>
                                        <p:tgtEl>
                                          <p:spTgt spid="20"/>
                                        </p:tgtEl>
                                      </p:cBhvr>
                                      <p:by x="80000" y="80000"/>
                                    </p:animScale>
                                  </p:childTnLst>
                                </p:cTn>
                              </p:par>
                              <p:par>
                                <p:cTn id="50" presetID="6" presetClass="emph" presetSubtype="0" decel="100000" fill="hold" nodeType="withEffect">
                                  <p:stCondLst>
                                    <p:cond delay="250"/>
                                  </p:stCondLst>
                                  <p:childTnLst>
                                    <p:animScale>
                                      <p:cBhvr>
                                        <p:cTn id="51" dur="1000" fill="hold"/>
                                        <p:tgtEl>
                                          <p:spTgt spid="20"/>
                                        </p:tgtEl>
                                      </p:cBhvr>
                                      <p:by x="125000" y="125000"/>
                                    </p:animScale>
                                  </p:childTnLst>
                                </p:cTn>
                              </p:par>
                              <p:par>
                                <p:cTn id="52" presetID="23" presetClass="entr" presetSubtype="272" fill="hold" grpId="0" nodeType="withEffect">
                                  <p:stCondLst>
                                    <p:cond delay="0"/>
                                  </p:stCondLst>
                                  <p:childTnLst>
                                    <p:set>
                                      <p:cBhvr>
                                        <p:cTn id="53" dur="1" fill="hold">
                                          <p:stCondLst>
                                            <p:cond delay="0"/>
                                          </p:stCondLst>
                                        </p:cTn>
                                        <p:tgtEl>
                                          <p:spTgt spid="3"/>
                                        </p:tgtEl>
                                        <p:attrNameLst>
                                          <p:attrName>style.visibility</p:attrName>
                                        </p:attrNameLst>
                                      </p:cBhvr>
                                      <p:to>
                                        <p:strVal val="visible"/>
                                      </p:to>
                                    </p:set>
                                    <p:anim calcmode="lin" valueType="num">
                                      <p:cBhvr>
                                        <p:cTn id="54" dur="250" fill="hold"/>
                                        <p:tgtEl>
                                          <p:spTgt spid="3"/>
                                        </p:tgtEl>
                                        <p:attrNameLst>
                                          <p:attrName>ppt_w</p:attrName>
                                        </p:attrNameLst>
                                      </p:cBhvr>
                                      <p:tavLst>
                                        <p:tav tm="0">
                                          <p:val>
                                            <p:strVal val="2/3*#ppt_w"/>
                                          </p:val>
                                        </p:tav>
                                        <p:tav tm="100000">
                                          <p:val>
                                            <p:strVal val="#ppt_w"/>
                                          </p:val>
                                        </p:tav>
                                      </p:tavLst>
                                    </p:anim>
                                    <p:anim calcmode="lin" valueType="num">
                                      <p:cBhvr>
                                        <p:cTn id="55" dur="250" fill="hold"/>
                                        <p:tgtEl>
                                          <p:spTgt spid="3"/>
                                        </p:tgtEl>
                                        <p:attrNameLst>
                                          <p:attrName>ppt_h</p:attrName>
                                        </p:attrNameLst>
                                      </p:cBhvr>
                                      <p:tavLst>
                                        <p:tav tm="0">
                                          <p:val>
                                            <p:strVal val="2/3*#ppt_h"/>
                                          </p:val>
                                        </p:tav>
                                        <p:tav tm="100000">
                                          <p:val>
                                            <p:strVal val="#ppt_h"/>
                                          </p:val>
                                        </p:tav>
                                      </p:tavLst>
                                    </p:anim>
                                  </p:childTnLst>
                                </p:cTn>
                              </p:par>
                              <p:par>
                                <p:cTn id="56" presetID="10" presetClass="entr" presetSubtype="0" fill="hold" grpId="1" nodeType="with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fade">
                                      <p:cBhvr>
                                        <p:cTn id="58" dur="500"/>
                                        <p:tgtEl>
                                          <p:spTgt spid="3"/>
                                        </p:tgtEl>
                                      </p:cBhvr>
                                    </p:animEffect>
                                  </p:childTnLst>
                                </p:cTn>
                              </p:par>
                              <p:par>
                                <p:cTn id="59" presetID="6" presetClass="emph" presetSubtype="0" fill="hold" grpId="2" nodeType="withEffect">
                                  <p:stCondLst>
                                    <p:cond delay="0"/>
                                  </p:stCondLst>
                                  <p:childTnLst>
                                    <p:animScale>
                                      <p:cBhvr>
                                        <p:cTn id="60" dur="10" fill="hold"/>
                                        <p:tgtEl>
                                          <p:spTgt spid="3"/>
                                        </p:tgtEl>
                                      </p:cBhvr>
                                      <p:by x="80000" y="80000"/>
                                    </p:animScale>
                                  </p:childTnLst>
                                </p:cTn>
                              </p:par>
                              <p:par>
                                <p:cTn id="61" presetID="6" presetClass="emph" presetSubtype="0" decel="100000" fill="hold" grpId="3" nodeType="withEffect">
                                  <p:stCondLst>
                                    <p:cond delay="0"/>
                                  </p:stCondLst>
                                  <p:childTnLst>
                                    <p:animScale>
                                      <p:cBhvr>
                                        <p:cTn id="62" dur="1000" fill="hold"/>
                                        <p:tgtEl>
                                          <p:spTgt spid="3"/>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92" grpId="0"/>
      <p:bldP spid="92" grpId="1"/>
      <p:bldP spid="92" grpId="2"/>
      <p:bldP spid="92" grpId="3"/>
      <p:bldP spid="2" grpId="0"/>
      <p:bldP spid="2" grpId="1"/>
      <p:bldP spid="2" grpId="2"/>
      <p:bldP spid="2" grpId="3"/>
      <p:bldP spid="3" grpId="0"/>
      <p:bldP spid="3" grpId="1"/>
      <p:bldP spid="3" grpId="2"/>
      <p:bldP spid="3" grpId="3"/>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D4248-0EF7-071A-931A-FC60B44D564E}"/>
            </a:ext>
          </a:extLst>
        </p:cNvPr>
        <p:cNvGrpSpPr/>
        <p:nvPr/>
      </p:nvGrpSpPr>
      <p:grpSpPr>
        <a:xfrm>
          <a:off x="0" y="0"/>
          <a:ext cx="0" cy="0"/>
          <a:chOff x="0" y="0"/>
          <a:chExt cx="0" cy="0"/>
        </a:xfrm>
      </p:grpSpPr>
      <p:pic>
        <p:nvPicPr>
          <p:cNvPr id="5" name="Picture 4" descr="A blue and green background&#10;&#10;Description automatically generated">
            <a:extLst>
              <a:ext uri="{FF2B5EF4-FFF2-40B4-BE49-F238E27FC236}">
                <a16:creationId xmlns:a16="http://schemas.microsoft.com/office/drawing/2014/main" id="{012C25C7-9D02-89B8-45B4-1CECA896EE41}"/>
              </a:ext>
            </a:extLst>
          </p:cNvPr>
          <p:cNvPicPr>
            <a:picLocks noChangeAspect="1"/>
          </p:cNvPicPr>
          <p:nvPr/>
        </p:nvPicPr>
        <p:blipFill>
          <a:blip r:embed="rId3">
            <a:extLst>
              <a:ext uri="{28A0092B-C50C-407E-A947-70E740481C1C}">
                <a14:useLocalDpi xmlns:a14="http://schemas.microsoft.com/office/drawing/2010/main"/>
              </a:ext>
            </a:extLst>
          </a:blip>
          <a:srcRect l="55916" t="32180" r="4182" b="44096"/>
          <a:stretch/>
        </p:blipFill>
        <p:spPr>
          <a:xfrm>
            <a:off x="6817282" y="2206952"/>
            <a:ext cx="4864889" cy="1626928"/>
          </a:xfrm>
          <a:prstGeom prst="roundRect">
            <a:avLst>
              <a:gd name="adj" fmla="val 4339"/>
            </a:avLst>
          </a:prstGeom>
        </p:spPr>
      </p:pic>
      <p:sp>
        <p:nvSpPr>
          <p:cNvPr id="2" name="Title 1">
            <a:extLst>
              <a:ext uri="{FF2B5EF4-FFF2-40B4-BE49-F238E27FC236}">
                <a16:creationId xmlns:a16="http://schemas.microsoft.com/office/drawing/2014/main" id="{1CECEB14-AFFC-C025-D1B5-261600A961E2}"/>
              </a:ext>
            </a:extLst>
          </p:cNvPr>
          <p:cNvSpPr>
            <a:spLocks noGrp="1"/>
          </p:cNvSpPr>
          <p:nvPr>
            <p:ph type="title" idx="4294967295"/>
          </p:nvPr>
        </p:nvSpPr>
        <p:spPr>
          <a:xfrm>
            <a:off x="1174750" y="593725"/>
            <a:ext cx="11017250" cy="998538"/>
          </a:xfrm>
        </p:spPr>
        <p:txBody>
          <a:bodyPr/>
          <a:lstStyle/>
          <a:p>
            <a:r>
              <a:rPr lang="en-US">
                <a:solidFill>
                  <a:schemeClr val="bg1"/>
                </a:solidFill>
              </a:rPr>
              <a:t>Base Model Selection</a:t>
            </a:r>
            <a:endParaRPr lang="en-GB">
              <a:solidFill>
                <a:schemeClr val="bg1"/>
              </a:solidFill>
            </a:endParaRPr>
          </a:p>
        </p:txBody>
      </p:sp>
      <p:sp>
        <p:nvSpPr>
          <p:cNvPr id="8" name="Rectangle: Rounded Corners 7">
            <a:extLst>
              <a:ext uri="{FF2B5EF4-FFF2-40B4-BE49-F238E27FC236}">
                <a16:creationId xmlns:a16="http://schemas.microsoft.com/office/drawing/2014/main" id="{0B7D8290-0516-F87B-12E3-632ABA5985BF}"/>
              </a:ext>
            </a:extLst>
          </p:cNvPr>
          <p:cNvSpPr>
            <a:spLocks/>
          </p:cNvSpPr>
          <p:nvPr/>
        </p:nvSpPr>
        <p:spPr bwMode="auto">
          <a:xfrm>
            <a:off x="1097293" y="2185606"/>
            <a:ext cx="4851239" cy="1648276"/>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33" name="Content Placeholder 2">
            <a:extLst>
              <a:ext uri="{FF2B5EF4-FFF2-40B4-BE49-F238E27FC236}">
                <a16:creationId xmlns:a16="http://schemas.microsoft.com/office/drawing/2014/main" id="{E97F0875-E424-4415-96D9-EB342DD27AE4}"/>
              </a:ext>
            </a:extLst>
          </p:cNvPr>
          <p:cNvSpPr txBox="1">
            <a:spLocks/>
          </p:cNvSpPr>
          <p:nvPr/>
        </p:nvSpPr>
        <p:spPr>
          <a:xfrm>
            <a:off x="1922061" y="2786932"/>
            <a:ext cx="3875993"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sz="2000" spc="0">
                <a:ln>
                  <a:noFill/>
                </a:ln>
                <a:gradFill>
                  <a:gsLst>
                    <a:gs pos="0">
                      <a:srgbClr val="BDF2BD"/>
                    </a:gs>
                    <a:gs pos="100000">
                      <a:srgbClr val="C3E9FC"/>
                    </a:gs>
                  </a:gsLst>
                  <a:lin ang="5400000" scaled="1"/>
                </a:gradFill>
                <a:latin typeface="Segoe Sans Text Semibold"/>
              </a:rPr>
              <a:t>Decide</a:t>
            </a:r>
            <a:r>
              <a:rPr lang="en-US" sz="2000">
                <a:latin typeface="Segoe Sans Text Semibold"/>
              </a:rPr>
              <a:t> on the high-level model requirements based on the business case</a:t>
            </a:r>
          </a:p>
        </p:txBody>
      </p:sp>
      <p:grpSp>
        <p:nvGrpSpPr>
          <p:cNvPr id="103" name="Group 102">
            <a:extLst>
              <a:ext uri="{FF2B5EF4-FFF2-40B4-BE49-F238E27FC236}">
                <a16:creationId xmlns:a16="http://schemas.microsoft.com/office/drawing/2014/main" id="{EE80C0F9-8B61-E051-27D9-7E225F50961F}"/>
              </a:ext>
            </a:extLst>
          </p:cNvPr>
          <p:cNvGrpSpPr/>
          <p:nvPr/>
        </p:nvGrpSpPr>
        <p:grpSpPr>
          <a:xfrm>
            <a:off x="488614" y="2427890"/>
            <a:ext cx="1190058" cy="1190400"/>
            <a:chOff x="1600003" y="1811018"/>
            <a:chExt cx="1641521" cy="1641995"/>
          </a:xfrm>
        </p:grpSpPr>
        <p:sp>
          <p:nvSpPr>
            <p:cNvPr id="104" name="Oval 17">
              <a:extLst>
                <a:ext uri="{FF2B5EF4-FFF2-40B4-BE49-F238E27FC236}">
                  <a16:creationId xmlns:a16="http://schemas.microsoft.com/office/drawing/2014/main" id="{BD3D3B65-9700-78DC-679E-9882DB235E54}"/>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105" name="Group 104">
              <a:extLst>
                <a:ext uri="{FF2B5EF4-FFF2-40B4-BE49-F238E27FC236}">
                  <a16:creationId xmlns:a16="http://schemas.microsoft.com/office/drawing/2014/main" id="{4EB33ED0-0B3F-704A-F0AC-13C9ACDB2D6A}"/>
                </a:ext>
              </a:extLst>
            </p:cNvPr>
            <p:cNvGrpSpPr/>
            <p:nvPr/>
          </p:nvGrpSpPr>
          <p:grpSpPr>
            <a:xfrm>
              <a:off x="1714608" y="1927192"/>
              <a:ext cx="1412311" cy="1409646"/>
              <a:chOff x="1261672" y="4833937"/>
              <a:chExt cx="954296" cy="954297"/>
            </a:xfrm>
          </p:grpSpPr>
          <p:sp>
            <p:nvSpPr>
              <p:cNvPr id="106" name="Rectangle: Rounded Corners 105">
                <a:extLst>
                  <a:ext uri="{FF2B5EF4-FFF2-40B4-BE49-F238E27FC236}">
                    <a16:creationId xmlns:a16="http://schemas.microsoft.com/office/drawing/2014/main" id="{B59BC45D-D802-0FB7-D06F-254D483E9333}"/>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07" name="Rectangle: Rounded Corners 106">
                <a:extLst>
                  <a:ext uri="{FF2B5EF4-FFF2-40B4-BE49-F238E27FC236}">
                    <a16:creationId xmlns:a16="http://schemas.microsoft.com/office/drawing/2014/main" id="{51912162-F374-0216-5AB3-28B4ED80F68F}"/>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151" name="Graphic 149">
            <a:extLst>
              <a:ext uri="{FF2B5EF4-FFF2-40B4-BE49-F238E27FC236}">
                <a16:creationId xmlns:a16="http://schemas.microsoft.com/office/drawing/2014/main" id="{E31DFF20-8D0B-5B65-1B9C-E921920CF16C}"/>
              </a:ext>
            </a:extLst>
          </p:cNvPr>
          <p:cNvGrpSpPr/>
          <p:nvPr/>
        </p:nvGrpSpPr>
        <p:grpSpPr>
          <a:xfrm>
            <a:off x="819237" y="2776415"/>
            <a:ext cx="513268" cy="513269"/>
            <a:chOff x="879672" y="2574264"/>
            <a:chExt cx="404586" cy="404587"/>
          </a:xfrm>
          <a:noFill/>
        </p:grpSpPr>
        <p:sp>
          <p:nvSpPr>
            <p:cNvPr id="152" name="Freeform: Shape 151">
              <a:extLst>
                <a:ext uri="{FF2B5EF4-FFF2-40B4-BE49-F238E27FC236}">
                  <a16:creationId xmlns:a16="http://schemas.microsoft.com/office/drawing/2014/main" id="{86A9E3F3-26A9-C917-0677-7C1725D14889}"/>
                </a:ext>
              </a:extLst>
            </p:cNvPr>
            <p:cNvSpPr/>
            <p:nvPr/>
          </p:nvSpPr>
          <p:spPr>
            <a:xfrm flipV="1">
              <a:off x="916208" y="2834240"/>
              <a:ext cx="61636" cy="70590"/>
            </a:xfrm>
            <a:custGeom>
              <a:avLst/>
              <a:gdLst>
                <a:gd name="connsiteX0" fmla="*/ 30941 w 61636"/>
                <a:gd name="connsiteY0" fmla="*/ 449 h 70590"/>
                <a:gd name="connsiteX1" fmla="*/ 30941 w 61636"/>
                <a:gd name="connsiteY1" fmla="*/ 449 h 70590"/>
                <a:gd name="connsiteX2" fmla="*/ 122 w 61636"/>
                <a:gd name="connsiteY2" fmla="*/ 31267 h 70590"/>
                <a:gd name="connsiteX3" fmla="*/ 122 w 61636"/>
                <a:gd name="connsiteY3" fmla="*/ 40221 h 70590"/>
                <a:gd name="connsiteX4" fmla="*/ 30941 w 61636"/>
                <a:gd name="connsiteY4" fmla="*/ 71040 h 70590"/>
                <a:gd name="connsiteX5" fmla="*/ 61759 w 61636"/>
                <a:gd name="connsiteY5" fmla="*/ 40221 h 70590"/>
                <a:gd name="connsiteX6" fmla="*/ 61759 w 61636"/>
                <a:gd name="connsiteY6" fmla="*/ 31267 h 70590"/>
                <a:gd name="connsiteX7" fmla="*/ 30941 w 61636"/>
                <a:gd name="connsiteY7" fmla="*/ 449 h 7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636" h="70590">
                  <a:moveTo>
                    <a:pt x="30941" y="449"/>
                  </a:moveTo>
                  <a:lnTo>
                    <a:pt x="30941" y="449"/>
                  </a:lnTo>
                  <a:cubicBezTo>
                    <a:pt x="13920" y="449"/>
                    <a:pt x="122" y="14246"/>
                    <a:pt x="122" y="31267"/>
                  </a:cubicBezTo>
                  <a:lnTo>
                    <a:pt x="122" y="40221"/>
                  </a:lnTo>
                  <a:cubicBezTo>
                    <a:pt x="122" y="57242"/>
                    <a:pt x="13920" y="71040"/>
                    <a:pt x="30941" y="71040"/>
                  </a:cubicBezTo>
                  <a:cubicBezTo>
                    <a:pt x="47961" y="71040"/>
                    <a:pt x="61759" y="57242"/>
                    <a:pt x="61759" y="40221"/>
                  </a:cubicBezTo>
                  <a:lnTo>
                    <a:pt x="61759" y="31267"/>
                  </a:lnTo>
                  <a:cubicBezTo>
                    <a:pt x="61759" y="14246"/>
                    <a:pt x="47961" y="449"/>
                    <a:pt x="30941" y="449"/>
                  </a:cubicBezTo>
                  <a:close/>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53" name="Freeform: Shape 152">
              <a:extLst>
                <a:ext uri="{FF2B5EF4-FFF2-40B4-BE49-F238E27FC236}">
                  <a16:creationId xmlns:a16="http://schemas.microsoft.com/office/drawing/2014/main" id="{6877FE38-8049-0B2D-592A-757324A50B6B}"/>
                </a:ext>
              </a:extLst>
            </p:cNvPr>
            <p:cNvSpPr/>
            <p:nvPr/>
          </p:nvSpPr>
          <p:spPr>
            <a:xfrm flipV="1">
              <a:off x="879672" y="2904830"/>
              <a:ext cx="134709" cy="74020"/>
            </a:xfrm>
            <a:custGeom>
              <a:avLst/>
              <a:gdLst>
                <a:gd name="connsiteX0" fmla="*/ 92360 w 134709"/>
                <a:gd name="connsiteY0" fmla="*/ 74675 h 74020"/>
                <a:gd name="connsiteX1" fmla="*/ 42655 w 134709"/>
                <a:gd name="connsiteY1" fmla="*/ 74675 h 74020"/>
                <a:gd name="connsiteX2" fmla="*/ 153 w 134709"/>
                <a:gd name="connsiteY2" fmla="*/ 32172 h 74020"/>
                <a:gd name="connsiteX3" fmla="*/ 153 w 134709"/>
                <a:gd name="connsiteY3" fmla="*/ 654 h 74020"/>
                <a:gd name="connsiteX4" fmla="*/ 134862 w 134709"/>
                <a:gd name="connsiteY4" fmla="*/ 654 h 74020"/>
                <a:gd name="connsiteX5" fmla="*/ 134862 w 134709"/>
                <a:gd name="connsiteY5" fmla="*/ 32172 h 74020"/>
                <a:gd name="connsiteX6" fmla="*/ 92360 w 134709"/>
                <a:gd name="connsiteY6" fmla="*/ 74675 h 7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709" h="74020">
                  <a:moveTo>
                    <a:pt x="92360" y="74675"/>
                  </a:moveTo>
                  <a:lnTo>
                    <a:pt x="42655" y="74675"/>
                  </a:lnTo>
                  <a:cubicBezTo>
                    <a:pt x="19181" y="74675"/>
                    <a:pt x="153" y="55645"/>
                    <a:pt x="153" y="32172"/>
                  </a:cubicBezTo>
                  <a:lnTo>
                    <a:pt x="153" y="654"/>
                  </a:lnTo>
                  <a:lnTo>
                    <a:pt x="134862" y="654"/>
                  </a:lnTo>
                  <a:lnTo>
                    <a:pt x="134862" y="32172"/>
                  </a:lnTo>
                  <a:cubicBezTo>
                    <a:pt x="134862" y="55645"/>
                    <a:pt x="115833" y="74675"/>
                    <a:pt x="92360" y="74675"/>
                  </a:cubicBezTo>
                  <a:close/>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54" name="Freeform: Shape 153">
              <a:extLst>
                <a:ext uri="{FF2B5EF4-FFF2-40B4-BE49-F238E27FC236}">
                  <a16:creationId xmlns:a16="http://schemas.microsoft.com/office/drawing/2014/main" id="{4A38D92A-AF7E-F5CA-0D6C-A3FA7AEC3BA2}"/>
                </a:ext>
              </a:extLst>
            </p:cNvPr>
            <p:cNvSpPr/>
            <p:nvPr/>
          </p:nvSpPr>
          <p:spPr>
            <a:xfrm flipV="1">
              <a:off x="1050917" y="2834240"/>
              <a:ext cx="61636" cy="70590"/>
            </a:xfrm>
            <a:custGeom>
              <a:avLst/>
              <a:gdLst>
                <a:gd name="connsiteX0" fmla="*/ 31159 w 61636"/>
                <a:gd name="connsiteY0" fmla="*/ 449 h 70590"/>
                <a:gd name="connsiteX1" fmla="*/ 31159 w 61636"/>
                <a:gd name="connsiteY1" fmla="*/ 449 h 70590"/>
                <a:gd name="connsiteX2" fmla="*/ 341 w 61636"/>
                <a:gd name="connsiteY2" fmla="*/ 31267 h 70590"/>
                <a:gd name="connsiteX3" fmla="*/ 341 w 61636"/>
                <a:gd name="connsiteY3" fmla="*/ 40221 h 70590"/>
                <a:gd name="connsiteX4" fmla="*/ 31159 w 61636"/>
                <a:gd name="connsiteY4" fmla="*/ 71040 h 70590"/>
                <a:gd name="connsiteX5" fmla="*/ 61978 w 61636"/>
                <a:gd name="connsiteY5" fmla="*/ 40221 h 70590"/>
                <a:gd name="connsiteX6" fmla="*/ 61978 w 61636"/>
                <a:gd name="connsiteY6" fmla="*/ 31267 h 70590"/>
                <a:gd name="connsiteX7" fmla="*/ 31159 w 61636"/>
                <a:gd name="connsiteY7" fmla="*/ 449 h 7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636" h="70590">
                  <a:moveTo>
                    <a:pt x="31159" y="449"/>
                  </a:moveTo>
                  <a:lnTo>
                    <a:pt x="31159" y="449"/>
                  </a:lnTo>
                  <a:cubicBezTo>
                    <a:pt x="14139" y="449"/>
                    <a:pt x="341" y="14246"/>
                    <a:pt x="341" y="31267"/>
                  </a:cubicBezTo>
                  <a:lnTo>
                    <a:pt x="341" y="40221"/>
                  </a:lnTo>
                  <a:cubicBezTo>
                    <a:pt x="341" y="57242"/>
                    <a:pt x="14139" y="71040"/>
                    <a:pt x="31159" y="71040"/>
                  </a:cubicBezTo>
                  <a:cubicBezTo>
                    <a:pt x="48180" y="71040"/>
                    <a:pt x="61978" y="57242"/>
                    <a:pt x="61978" y="40221"/>
                  </a:cubicBezTo>
                  <a:lnTo>
                    <a:pt x="61978" y="31267"/>
                  </a:lnTo>
                  <a:cubicBezTo>
                    <a:pt x="61978" y="14246"/>
                    <a:pt x="48180" y="449"/>
                    <a:pt x="31159" y="449"/>
                  </a:cubicBezTo>
                  <a:close/>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55" name="Freeform: Shape 154">
              <a:extLst>
                <a:ext uri="{FF2B5EF4-FFF2-40B4-BE49-F238E27FC236}">
                  <a16:creationId xmlns:a16="http://schemas.microsoft.com/office/drawing/2014/main" id="{F5C8D649-7745-BBE3-47D6-D88177B699B4}"/>
                </a:ext>
              </a:extLst>
            </p:cNvPr>
            <p:cNvSpPr/>
            <p:nvPr/>
          </p:nvSpPr>
          <p:spPr>
            <a:xfrm flipV="1">
              <a:off x="1014382" y="2904830"/>
              <a:ext cx="134709" cy="74020"/>
            </a:xfrm>
            <a:custGeom>
              <a:avLst/>
              <a:gdLst>
                <a:gd name="connsiteX0" fmla="*/ 105079 w 134709"/>
                <a:gd name="connsiteY0" fmla="*/ 564 h 74020"/>
                <a:gd name="connsiteX1" fmla="*/ 135096 w 134709"/>
                <a:gd name="connsiteY1" fmla="*/ 564 h 74020"/>
                <a:gd name="connsiteX2" fmla="*/ 135096 w 134709"/>
                <a:gd name="connsiteY2" fmla="*/ 32082 h 74020"/>
                <a:gd name="connsiteX3" fmla="*/ 92593 w 134709"/>
                <a:gd name="connsiteY3" fmla="*/ 74585 h 74020"/>
                <a:gd name="connsiteX4" fmla="*/ 42888 w 134709"/>
                <a:gd name="connsiteY4" fmla="*/ 74585 h 74020"/>
                <a:gd name="connsiteX5" fmla="*/ 386 w 134709"/>
                <a:gd name="connsiteY5" fmla="*/ 32082 h 74020"/>
                <a:gd name="connsiteX6" fmla="*/ 386 w 134709"/>
                <a:gd name="connsiteY6" fmla="*/ 564 h 74020"/>
                <a:gd name="connsiteX7" fmla="*/ 31069 w 134709"/>
                <a:gd name="connsiteY7" fmla="*/ 564 h 7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709" h="74020">
                  <a:moveTo>
                    <a:pt x="105079" y="564"/>
                  </a:moveTo>
                  <a:lnTo>
                    <a:pt x="135096" y="564"/>
                  </a:lnTo>
                  <a:lnTo>
                    <a:pt x="135096" y="32082"/>
                  </a:lnTo>
                  <a:cubicBezTo>
                    <a:pt x="135096" y="55555"/>
                    <a:pt x="116067" y="74585"/>
                    <a:pt x="92593" y="74585"/>
                  </a:cubicBezTo>
                  <a:lnTo>
                    <a:pt x="42888" y="74585"/>
                  </a:lnTo>
                  <a:cubicBezTo>
                    <a:pt x="19415" y="74585"/>
                    <a:pt x="386" y="55555"/>
                    <a:pt x="386" y="32082"/>
                  </a:cubicBezTo>
                  <a:lnTo>
                    <a:pt x="386" y="564"/>
                  </a:lnTo>
                  <a:lnTo>
                    <a:pt x="31069" y="564"/>
                  </a:lnTo>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56" name="Freeform: Shape 155">
              <a:extLst>
                <a:ext uri="{FF2B5EF4-FFF2-40B4-BE49-F238E27FC236}">
                  <a16:creationId xmlns:a16="http://schemas.microsoft.com/office/drawing/2014/main" id="{505696FD-DD31-4559-178E-E3E62769521F}"/>
                </a:ext>
              </a:extLst>
            </p:cNvPr>
            <p:cNvSpPr/>
            <p:nvPr/>
          </p:nvSpPr>
          <p:spPr>
            <a:xfrm flipV="1">
              <a:off x="1185627" y="2834240"/>
              <a:ext cx="61636" cy="70590"/>
            </a:xfrm>
            <a:custGeom>
              <a:avLst/>
              <a:gdLst>
                <a:gd name="connsiteX0" fmla="*/ 31378 w 61636"/>
                <a:gd name="connsiteY0" fmla="*/ 449 h 70590"/>
                <a:gd name="connsiteX1" fmla="*/ 31378 w 61636"/>
                <a:gd name="connsiteY1" fmla="*/ 449 h 70590"/>
                <a:gd name="connsiteX2" fmla="*/ 559 w 61636"/>
                <a:gd name="connsiteY2" fmla="*/ 31267 h 70590"/>
                <a:gd name="connsiteX3" fmla="*/ 559 w 61636"/>
                <a:gd name="connsiteY3" fmla="*/ 40221 h 70590"/>
                <a:gd name="connsiteX4" fmla="*/ 31378 w 61636"/>
                <a:gd name="connsiteY4" fmla="*/ 71040 h 70590"/>
                <a:gd name="connsiteX5" fmla="*/ 62196 w 61636"/>
                <a:gd name="connsiteY5" fmla="*/ 40221 h 70590"/>
                <a:gd name="connsiteX6" fmla="*/ 62196 w 61636"/>
                <a:gd name="connsiteY6" fmla="*/ 31267 h 70590"/>
                <a:gd name="connsiteX7" fmla="*/ 31378 w 61636"/>
                <a:gd name="connsiteY7" fmla="*/ 449 h 7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636" h="70590">
                  <a:moveTo>
                    <a:pt x="31378" y="449"/>
                  </a:moveTo>
                  <a:lnTo>
                    <a:pt x="31378" y="449"/>
                  </a:lnTo>
                  <a:cubicBezTo>
                    <a:pt x="14357" y="449"/>
                    <a:pt x="559" y="14246"/>
                    <a:pt x="559" y="31267"/>
                  </a:cubicBezTo>
                  <a:lnTo>
                    <a:pt x="559" y="40221"/>
                  </a:lnTo>
                  <a:cubicBezTo>
                    <a:pt x="559" y="57242"/>
                    <a:pt x="14357" y="71040"/>
                    <a:pt x="31378" y="71040"/>
                  </a:cubicBezTo>
                  <a:cubicBezTo>
                    <a:pt x="48398" y="71040"/>
                    <a:pt x="62196" y="57242"/>
                    <a:pt x="62196" y="40221"/>
                  </a:cubicBezTo>
                  <a:lnTo>
                    <a:pt x="62196" y="31267"/>
                  </a:lnTo>
                  <a:cubicBezTo>
                    <a:pt x="62196" y="14246"/>
                    <a:pt x="48398" y="449"/>
                    <a:pt x="31378" y="449"/>
                  </a:cubicBezTo>
                  <a:close/>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57" name="Freeform: Shape 156">
              <a:extLst>
                <a:ext uri="{FF2B5EF4-FFF2-40B4-BE49-F238E27FC236}">
                  <a16:creationId xmlns:a16="http://schemas.microsoft.com/office/drawing/2014/main" id="{B042E585-B588-8873-36E2-E5954484C586}"/>
                </a:ext>
              </a:extLst>
            </p:cNvPr>
            <p:cNvSpPr/>
            <p:nvPr/>
          </p:nvSpPr>
          <p:spPr>
            <a:xfrm flipV="1">
              <a:off x="1149091" y="2904830"/>
              <a:ext cx="134709" cy="74020"/>
            </a:xfrm>
            <a:custGeom>
              <a:avLst/>
              <a:gdLst>
                <a:gd name="connsiteX0" fmla="*/ 92797 w 134709"/>
                <a:gd name="connsiteY0" fmla="*/ 74675 h 74020"/>
                <a:gd name="connsiteX1" fmla="*/ 43092 w 134709"/>
                <a:gd name="connsiteY1" fmla="*/ 74675 h 74020"/>
                <a:gd name="connsiteX2" fmla="*/ 589 w 134709"/>
                <a:gd name="connsiteY2" fmla="*/ 32172 h 74020"/>
                <a:gd name="connsiteX3" fmla="*/ 589 w 134709"/>
                <a:gd name="connsiteY3" fmla="*/ 654 h 74020"/>
                <a:gd name="connsiteX4" fmla="*/ 135299 w 134709"/>
                <a:gd name="connsiteY4" fmla="*/ 654 h 74020"/>
                <a:gd name="connsiteX5" fmla="*/ 135299 w 134709"/>
                <a:gd name="connsiteY5" fmla="*/ 32172 h 74020"/>
                <a:gd name="connsiteX6" fmla="*/ 92797 w 134709"/>
                <a:gd name="connsiteY6" fmla="*/ 74675 h 7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709" h="74020">
                  <a:moveTo>
                    <a:pt x="92797" y="74675"/>
                  </a:moveTo>
                  <a:lnTo>
                    <a:pt x="43092" y="74675"/>
                  </a:lnTo>
                  <a:cubicBezTo>
                    <a:pt x="19618" y="74675"/>
                    <a:pt x="589" y="55645"/>
                    <a:pt x="589" y="32172"/>
                  </a:cubicBezTo>
                  <a:lnTo>
                    <a:pt x="589" y="654"/>
                  </a:lnTo>
                  <a:lnTo>
                    <a:pt x="135299" y="654"/>
                  </a:lnTo>
                  <a:lnTo>
                    <a:pt x="135299" y="32172"/>
                  </a:lnTo>
                  <a:cubicBezTo>
                    <a:pt x="135299" y="55645"/>
                    <a:pt x="116270" y="74675"/>
                    <a:pt x="92797" y="74675"/>
                  </a:cubicBezTo>
                  <a:close/>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58" name="Freeform: Shape 157">
              <a:extLst>
                <a:ext uri="{FF2B5EF4-FFF2-40B4-BE49-F238E27FC236}">
                  <a16:creationId xmlns:a16="http://schemas.microsoft.com/office/drawing/2014/main" id="{E501D2C5-22D8-8582-4A9A-DA97D7075EDA}"/>
                </a:ext>
              </a:extLst>
            </p:cNvPr>
            <p:cNvSpPr/>
            <p:nvPr/>
          </p:nvSpPr>
          <p:spPr>
            <a:xfrm flipV="1">
              <a:off x="907187" y="2574264"/>
              <a:ext cx="198672" cy="214388"/>
            </a:xfrm>
            <a:custGeom>
              <a:avLst/>
              <a:gdLst>
                <a:gd name="connsiteX0" fmla="*/ 196979 w 198672"/>
                <a:gd name="connsiteY0" fmla="*/ 129583 h 214388"/>
                <a:gd name="connsiteX1" fmla="*/ 186459 w 198672"/>
                <a:gd name="connsiteY1" fmla="*/ 154973 h 214388"/>
                <a:gd name="connsiteX2" fmla="*/ 199010 w 198672"/>
                <a:gd name="connsiteY2" fmla="*/ 167526 h 214388"/>
                <a:gd name="connsiteX3" fmla="*/ 167649 w 198672"/>
                <a:gd name="connsiteY3" fmla="*/ 198886 h 214388"/>
                <a:gd name="connsiteX4" fmla="*/ 155097 w 198672"/>
                <a:gd name="connsiteY4" fmla="*/ 186335 h 214388"/>
                <a:gd name="connsiteX5" fmla="*/ 129707 w 198672"/>
                <a:gd name="connsiteY5" fmla="*/ 196856 h 214388"/>
                <a:gd name="connsiteX6" fmla="*/ 129707 w 198672"/>
                <a:gd name="connsiteY6" fmla="*/ 214602 h 214388"/>
                <a:gd name="connsiteX7" fmla="*/ 85356 w 198672"/>
                <a:gd name="connsiteY7" fmla="*/ 214602 h 214388"/>
                <a:gd name="connsiteX8" fmla="*/ 85356 w 198672"/>
                <a:gd name="connsiteY8" fmla="*/ 196856 h 214388"/>
                <a:gd name="connsiteX9" fmla="*/ 59966 w 198672"/>
                <a:gd name="connsiteY9" fmla="*/ 186335 h 214388"/>
                <a:gd name="connsiteX10" fmla="*/ 47415 w 198672"/>
                <a:gd name="connsiteY10" fmla="*/ 198886 h 214388"/>
                <a:gd name="connsiteX11" fmla="*/ 16053 w 198672"/>
                <a:gd name="connsiteY11" fmla="*/ 167526 h 214388"/>
                <a:gd name="connsiteX12" fmla="*/ 28605 w 198672"/>
                <a:gd name="connsiteY12" fmla="*/ 154973 h 214388"/>
                <a:gd name="connsiteX13" fmla="*/ 18084 w 198672"/>
                <a:gd name="connsiteY13" fmla="*/ 129583 h 214388"/>
                <a:gd name="connsiteX14" fmla="*/ 337 w 198672"/>
                <a:gd name="connsiteY14" fmla="*/ 129583 h 214388"/>
                <a:gd name="connsiteX15" fmla="*/ 337 w 198672"/>
                <a:gd name="connsiteY15" fmla="*/ 85232 h 214388"/>
                <a:gd name="connsiteX16" fmla="*/ 18084 w 198672"/>
                <a:gd name="connsiteY16" fmla="*/ 85232 h 214388"/>
                <a:gd name="connsiteX17" fmla="*/ 28605 w 198672"/>
                <a:gd name="connsiteY17" fmla="*/ 59842 h 214388"/>
                <a:gd name="connsiteX18" fmla="*/ 16053 w 198672"/>
                <a:gd name="connsiteY18" fmla="*/ 47291 h 214388"/>
                <a:gd name="connsiteX19" fmla="*/ 47415 w 198672"/>
                <a:gd name="connsiteY19" fmla="*/ 15930 h 214388"/>
                <a:gd name="connsiteX20" fmla="*/ 59966 w 198672"/>
                <a:gd name="connsiteY20" fmla="*/ 28482 h 214388"/>
                <a:gd name="connsiteX21" fmla="*/ 85356 w 198672"/>
                <a:gd name="connsiteY21" fmla="*/ 17961 h 214388"/>
                <a:gd name="connsiteX22" fmla="*/ 85356 w 198672"/>
                <a:gd name="connsiteY22" fmla="*/ 214 h 214388"/>
                <a:gd name="connsiteX23" fmla="*/ 129707 w 198672"/>
                <a:gd name="connsiteY23" fmla="*/ 214 h 214388"/>
                <a:gd name="connsiteX24" fmla="*/ 129707 w 198672"/>
                <a:gd name="connsiteY24" fmla="*/ 17961 h 214388"/>
                <a:gd name="connsiteX25" fmla="*/ 155097 w 198672"/>
                <a:gd name="connsiteY25" fmla="*/ 28482 h 214388"/>
                <a:gd name="connsiteX26" fmla="*/ 167649 w 198672"/>
                <a:gd name="connsiteY26" fmla="*/ 15930 h 214388"/>
                <a:gd name="connsiteX27" fmla="*/ 199010 w 198672"/>
                <a:gd name="connsiteY27" fmla="*/ 47291 h 214388"/>
                <a:gd name="connsiteX28" fmla="*/ 186459 w 198672"/>
                <a:gd name="connsiteY28" fmla="*/ 59842 h 214388"/>
                <a:gd name="connsiteX29" fmla="*/ 196979 w 198672"/>
                <a:gd name="connsiteY29" fmla="*/ 85232 h 214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98672" h="214388">
                  <a:moveTo>
                    <a:pt x="196979" y="129583"/>
                  </a:moveTo>
                  <a:cubicBezTo>
                    <a:pt x="194739" y="138649"/>
                    <a:pt x="191160" y="147188"/>
                    <a:pt x="186459" y="154973"/>
                  </a:cubicBezTo>
                  <a:lnTo>
                    <a:pt x="199010" y="167526"/>
                  </a:lnTo>
                  <a:lnTo>
                    <a:pt x="167649" y="198886"/>
                  </a:lnTo>
                  <a:lnTo>
                    <a:pt x="155097" y="186335"/>
                  </a:lnTo>
                  <a:cubicBezTo>
                    <a:pt x="147312" y="191036"/>
                    <a:pt x="138773" y="194615"/>
                    <a:pt x="129707" y="196856"/>
                  </a:cubicBezTo>
                  <a:lnTo>
                    <a:pt x="129707" y="214602"/>
                  </a:lnTo>
                  <a:lnTo>
                    <a:pt x="85356" y="214602"/>
                  </a:lnTo>
                  <a:lnTo>
                    <a:pt x="85356" y="196856"/>
                  </a:lnTo>
                  <a:cubicBezTo>
                    <a:pt x="76289" y="194615"/>
                    <a:pt x="67751" y="191036"/>
                    <a:pt x="59966" y="186335"/>
                  </a:cubicBezTo>
                  <a:lnTo>
                    <a:pt x="47415" y="198886"/>
                  </a:lnTo>
                  <a:lnTo>
                    <a:pt x="16053" y="167526"/>
                  </a:lnTo>
                  <a:lnTo>
                    <a:pt x="28605" y="154973"/>
                  </a:lnTo>
                  <a:cubicBezTo>
                    <a:pt x="23903" y="147188"/>
                    <a:pt x="20324" y="138649"/>
                    <a:pt x="18084" y="129583"/>
                  </a:cubicBezTo>
                  <a:lnTo>
                    <a:pt x="337" y="129583"/>
                  </a:lnTo>
                  <a:lnTo>
                    <a:pt x="337" y="85232"/>
                  </a:lnTo>
                  <a:lnTo>
                    <a:pt x="18084" y="85232"/>
                  </a:lnTo>
                  <a:cubicBezTo>
                    <a:pt x="20324" y="76166"/>
                    <a:pt x="23903" y="67627"/>
                    <a:pt x="28605" y="59842"/>
                  </a:cubicBezTo>
                  <a:lnTo>
                    <a:pt x="16053" y="47291"/>
                  </a:lnTo>
                  <a:lnTo>
                    <a:pt x="47415" y="15930"/>
                  </a:lnTo>
                  <a:lnTo>
                    <a:pt x="59966" y="28482"/>
                  </a:lnTo>
                  <a:cubicBezTo>
                    <a:pt x="67751" y="23779"/>
                    <a:pt x="76289" y="20200"/>
                    <a:pt x="85356" y="17961"/>
                  </a:cubicBezTo>
                  <a:lnTo>
                    <a:pt x="85356" y="214"/>
                  </a:lnTo>
                  <a:lnTo>
                    <a:pt x="129707" y="214"/>
                  </a:lnTo>
                  <a:lnTo>
                    <a:pt x="129707" y="17961"/>
                  </a:lnTo>
                  <a:cubicBezTo>
                    <a:pt x="138773" y="20200"/>
                    <a:pt x="147312" y="23779"/>
                    <a:pt x="155097" y="28482"/>
                  </a:cubicBezTo>
                  <a:lnTo>
                    <a:pt x="167649" y="15930"/>
                  </a:lnTo>
                  <a:lnTo>
                    <a:pt x="199010" y="47291"/>
                  </a:lnTo>
                  <a:lnTo>
                    <a:pt x="186459" y="59842"/>
                  </a:lnTo>
                  <a:cubicBezTo>
                    <a:pt x="191160" y="67627"/>
                    <a:pt x="194739" y="76166"/>
                    <a:pt x="196979" y="85232"/>
                  </a:cubicBezTo>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59" name="Freeform: Shape 158">
              <a:extLst>
                <a:ext uri="{FF2B5EF4-FFF2-40B4-BE49-F238E27FC236}">
                  <a16:creationId xmlns:a16="http://schemas.microsoft.com/office/drawing/2014/main" id="{7B6CE351-8F18-C389-E14A-50F2D6A2D845}"/>
                </a:ext>
              </a:extLst>
            </p:cNvPr>
            <p:cNvSpPr/>
            <p:nvPr/>
          </p:nvSpPr>
          <p:spPr>
            <a:xfrm flipV="1">
              <a:off x="967155" y="2634231"/>
              <a:ext cx="91837" cy="94452"/>
            </a:xfrm>
            <a:custGeom>
              <a:avLst/>
              <a:gdLst>
                <a:gd name="connsiteX0" fmla="*/ 92122 w 91837"/>
                <a:gd name="connsiteY0" fmla="*/ 62972 h 94452"/>
                <a:gd name="connsiteX1" fmla="*/ 47512 w 91837"/>
                <a:gd name="connsiteY1" fmla="*/ 94659 h 94452"/>
                <a:gd name="connsiteX2" fmla="*/ 285 w 91837"/>
                <a:gd name="connsiteY2" fmla="*/ 47433 h 94452"/>
                <a:gd name="connsiteX3" fmla="*/ 47512 w 91837"/>
                <a:gd name="connsiteY3" fmla="*/ 206 h 94452"/>
                <a:gd name="connsiteX4" fmla="*/ 92029 w 91837"/>
                <a:gd name="connsiteY4" fmla="*/ 31630 h 94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37" h="94452">
                  <a:moveTo>
                    <a:pt x="92122" y="62972"/>
                  </a:moveTo>
                  <a:cubicBezTo>
                    <a:pt x="85697" y="81421"/>
                    <a:pt x="68151" y="94659"/>
                    <a:pt x="47512" y="94659"/>
                  </a:cubicBezTo>
                  <a:cubicBezTo>
                    <a:pt x="21429" y="94659"/>
                    <a:pt x="285" y="73514"/>
                    <a:pt x="285" y="47433"/>
                  </a:cubicBezTo>
                  <a:cubicBezTo>
                    <a:pt x="285" y="21350"/>
                    <a:pt x="21429" y="206"/>
                    <a:pt x="47512" y="206"/>
                  </a:cubicBezTo>
                  <a:cubicBezTo>
                    <a:pt x="68052" y="206"/>
                    <a:pt x="85530" y="13319"/>
                    <a:pt x="92029" y="31630"/>
                  </a:cubicBezTo>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60" name="Freeform: Shape 159">
              <a:extLst>
                <a:ext uri="{FF2B5EF4-FFF2-40B4-BE49-F238E27FC236}">
                  <a16:creationId xmlns:a16="http://schemas.microsoft.com/office/drawing/2014/main" id="{132917A5-D329-7CA4-853D-CBD0CB403E79}"/>
                </a:ext>
              </a:extLst>
            </p:cNvPr>
            <p:cNvSpPr/>
            <p:nvPr/>
          </p:nvSpPr>
          <p:spPr>
            <a:xfrm flipV="1">
              <a:off x="1167815" y="2575739"/>
              <a:ext cx="73106" cy="83727"/>
            </a:xfrm>
            <a:custGeom>
              <a:avLst/>
              <a:gdLst>
                <a:gd name="connsiteX0" fmla="*/ 37093 w 73106"/>
                <a:gd name="connsiteY0" fmla="*/ 33 h 83727"/>
                <a:gd name="connsiteX1" fmla="*/ 37093 w 73106"/>
                <a:gd name="connsiteY1" fmla="*/ 33 h 83727"/>
                <a:gd name="connsiteX2" fmla="*/ 540 w 73106"/>
                <a:gd name="connsiteY2" fmla="*/ 36585 h 83727"/>
                <a:gd name="connsiteX3" fmla="*/ 540 w 73106"/>
                <a:gd name="connsiteY3" fmla="*/ 47207 h 83727"/>
                <a:gd name="connsiteX4" fmla="*/ 37093 w 73106"/>
                <a:gd name="connsiteY4" fmla="*/ 83760 h 83727"/>
                <a:gd name="connsiteX5" fmla="*/ 37093 w 73106"/>
                <a:gd name="connsiteY5" fmla="*/ 83760 h 83727"/>
                <a:gd name="connsiteX6" fmla="*/ 73646 w 73106"/>
                <a:gd name="connsiteY6" fmla="*/ 47207 h 83727"/>
                <a:gd name="connsiteX7" fmla="*/ 73646 w 73106"/>
                <a:gd name="connsiteY7" fmla="*/ 36585 h 83727"/>
                <a:gd name="connsiteX8" fmla="*/ 37093 w 73106"/>
                <a:gd name="connsiteY8" fmla="*/ 33 h 83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106" h="83727">
                  <a:moveTo>
                    <a:pt x="37093" y="33"/>
                  </a:moveTo>
                  <a:lnTo>
                    <a:pt x="37093" y="33"/>
                  </a:lnTo>
                  <a:cubicBezTo>
                    <a:pt x="16905" y="33"/>
                    <a:pt x="540" y="16398"/>
                    <a:pt x="540" y="36585"/>
                  </a:cubicBezTo>
                  <a:lnTo>
                    <a:pt x="540" y="47207"/>
                  </a:lnTo>
                  <a:cubicBezTo>
                    <a:pt x="540" y="67395"/>
                    <a:pt x="16905" y="83760"/>
                    <a:pt x="37093" y="83760"/>
                  </a:cubicBezTo>
                  <a:lnTo>
                    <a:pt x="37093" y="83760"/>
                  </a:lnTo>
                  <a:cubicBezTo>
                    <a:pt x="57280" y="83760"/>
                    <a:pt x="73646" y="67395"/>
                    <a:pt x="73646" y="47207"/>
                  </a:cubicBezTo>
                  <a:lnTo>
                    <a:pt x="73646" y="36585"/>
                  </a:lnTo>
                  <a:cubicBezTo>
                    <a:pt x="73646" y="16398"/>
                    <a:pt x="57280" y="33"/>
                    <a:pt x="37093" y="33"/>
                  </a:cubicBezTo>
                  <a:close/>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61" name="Freeform: Shape 160">
              <a:extLst>
                <a:ext uri="{FF2B5EF4-FFF2-40B4-BE49-F238E27FC236}">
                  <a16:creationId xmlns:a16="http://schemas.microsoft.com/office/drawing/2014/main" id="{DC7D931A-CB8C-8FAF-66CB-702A08B9389C}"/>
                </a:ext>
              </a:extLst>
            </p:cNvPr>
            <p:cNvSpPr/>
            <p:nvPr/>
          </p:nvSpPr>
          <p:spPr>
            <a:xfrm flipV="1">
              <a:off x="1244696" y="2715456"/>
              <a:ext cx="616" cy="41297"/>
            </a:xfrm>
            <a:custGeom>
              <a:avLst/>
              <a:gdLst>
                <a:gd name="connsiteX0" fmla="*/ 605 w 616"/>
                <a:gd name="connsiteY0" fmla="*/ 251 h 41297"/>
                <a:gd name="connsiteX1" fmla="*/ 605 w 616"/>
                <a:gd name="connsiteY1" fmla="*/ 41548 h 41297"/>
              </a:gdLst>
              <a:ahLst/>
              <a:cxnLst>
                <a:cxn ang="0">
                  <a:pos x="connsiteX0" y="connsiteY0"/>
                </a:cxn>
                <a:cxn ang="0">
                  <a:pos x="connsiteX1" y="connsiteY1"/>
                </a:cxn>
              </a:cxnLst>
              <a:rect l="l" t="t" r="r" b="b"/>
              <a:pathLst>
                <a:path w="616" h="41297">
                  <a:moveTo>
                    <a:pt x="605" y="251"/>
                  </a:moveTo>
                  <a:lnTo>
                    <a:pt x="605" y="41548"/>
                  </a:lnTo>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62" name="Freeform: Shape 161">
              <a:extLst>
                <a:ext uri="{FF2B5EF4-FFF2-40B4-BE49-F238E27FC236}">
                  <a16:creationId xmlns:a16="http://schemas.microsoft.com/office/drawing/2014/main" id="{6F3A1CBA-D336-8F13-AF01-586E2932B441}"/>
                </a:ext>
              </a:extLst>
            </p:cNvPr>
            <p:cNvSpPr/>
            <p:nvPr/>
          </p:nvSpPr>
          <p:spPr>
            <a:xfrm flipV="1">
              <a:off x="1053492" y="2659466"/>
              <a:ext cx="230765" cy="97942"/>
            </a:xfrm>
            <a:custGeom>
              <a:avLst/>
              <a:gdLst>
                <a:gd name="connsiteX0" fmla="*/ 180915 w 230765"/>
                <a:gd name="connsiteY0" fmla="*/ 98233 h 97942"/>
                <a:gd name="connsiteX1" fmla="*/ 125693 w 230765"/>
                <a:gd name="connsiteY1" fmla="*/ 98233 h 97942"/>
                <a:gd name="connsiteX2" fmla="*/ 22559 w 230765"/>
                <a:gd name="connsiteY2" fmla="*/ 98233 h 97942"/>
                <a:gd name="connsiteX3" fmla="*/ 561 w 230765"/>
                <a:gd name="connsiteY3" fmla="*/ 76234 h 97942"/>
                <a:gd name="connsiteX4" fmla="*/ 22559 w 230765"/>
                <a:gd name="connsiteY4" fmla="*/ 54236 h 97942"/>
                <a:gd name="connsiteX5" fmla="*/ 99846 w 230765"/>
                <a:gd name="connsiteY5" fmla="*/ 54236 h 97942"/>
                <a:gd name="connsiteX6" fmla="*/ 99846 w 230765"/>
                <a:gd name="connsiteY6" fmla="*/ 290 h 97942"/>
                <a:gd name="connsiteX7" fmla="*/ 231327 w 230765"/>
                <a:gd name="connsiteY7" fmla="*/ 290 h 97942"/>
                <a:gd name="connsiteX8" fmla="*/ 231327 w 230765"/>
                <a:gd name="connsiteY8" fmla="*/ 47820 h 97942"/>
                <a:gd name="connsiteX9" fmla="*/ 180915 w 230765"/>
                <a:gd name="connsiteY9" fmla="*/ 98233 h 9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0765" h="97942">
                  <a:moveTo>
                    <a:pt x="180915" y="98233"/>
                  </a:moveTo>
                  <a:lnTo>
                    <a:pt x="125693" y="98233"/>
                  </a:lnTo>
                  <a:lnTo>
                    <a:pt x="22559" y="98233"/>
                  </a:lnTo>
                  <a:cubicBezTo>
                    <a:pt x="10410" y="98233"/>
                    <a:pt x="561" y="88383"/>
                    <a:pt x="561" y="76234"/>
                  </a:cubicBezTo>
                  <a:cubicBezTo>
                    <a:pt x="561" y="64085"/>
                    <a:pt x="10410" y="54236"/>
                    <a:pt x="22559" y="54236"/>
                  </a:cubicBezTo>
                  <a:lnTo>
                    <a:pt x="99846" y="54236"/>
                  </a:lnTo>
                  <a:lnTo>
                    <a:pt x="99846" y="290"/>
                  </a:lnTo>
                  <a:lnTo>
                    <a:pt x="231327" y="290"/>
                  </a:lnTo>
                  <a:lnTo>
                    <a:pt x="231327" y="47820"/>
                  </a:lnTo>
                  <a:cubicBezTo>
                    <a:pt x="231327" y="75662"/>
                    <a:pt x="208756" y="98233"/>
                    <a:pt x="180915" y="98233"/>
                  </a:cubicBezTo>
                  <a:close/>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sp>
          <p:nvSpPr>
            <p:cNvPr id="163" name="Freeform: Shape 162">
              <a:extLst>
                <a:ext uri="{FF2B5EF4-FFF2-40B4-BE49-F238E27FC236}">
                  <a16:creationId xmlns:a16="http://schemas.microsoft.com/office/drawing/2014/main" id="{AE977A71-B057-87C5-9F41-6B138D078E43}"/>
                </a:ext>
              </a:extLst>
            </p:cNvPr>
            <p:cNvSpPr/>
            <p:nvPr/>
          </p:nvSpPr>
          <p:spPr>
            <a:xfrm flipV="1">
              <a:off x="1082069" y="2978851"/>
              <a:ext cx="616" cy="616"/>
            </a:xfrm>
            <a:custGeom>
              <a:avLst/>
              <a:gdLst>
                <a:gd name="connsiteX0" fmla="*/ 341 w 616"/>
                <a:gd name="connsiteY0" fmla="*/ 669 h 616"/>
                <a:gd name="connsiteX1" fmla="*/ 341 w 616"/>
                <a:gd name="connsiteY1" fmla="*/ 669 h 616"/>
              </a:gdLst>
              <a:ahLst/>
              <a:cxnLst>
                <a:cxn ang="0">
                  <a:pos x="connsiteX0" y="connsiteY0"/>
                </a:cxn>
                <a:cxn ang="0">
                  <a:pos x="connsiteX1" y="connsiteY1"/>
                </a:cxn>
              </a:cxnLst>
              <a:rect l="l" t="t" r="r" b="b"/>
              <a:pathLst>
                <a:path w="616" h="616">
                  <a:moveTo>
                    <a:pt x="341" y="669"/>
                  </a:moveTo>
                  <a:lnTo>
                    <a:pt x="341" y="669"/>
                  </a:lnTo>
                </a:path>
              </a:pathLst>
            </a:custGeom>
            <a:noFill/>
            <a:ln w="16363" cap="rnd">
              <a:gradFill flip="none" rotWithShape="1">
                <a:gsLst>
                  <a:gs pos="0">
                    <a:srgbClr val="C3E9FC"/>
                  </a:gs>
                  <a:gs pos="100000">
                    <a:srgbClr val="BDF2BD"/>
                  </a:gs>
                </a:gsLst>
                <a:lin ang="13500000" scaled="1"/>
                <a:tileRect/>
              </a:gradFill>
              <a:prstDash val="solid"/>
              <a:round/>
            </a:ln>
          </p:spPr>
          <p:txBody>
            <a:bodyPr rtlCol="0" anchor="ctr"/>
            <a:lstStyle/>
            <a:p>
              <a:endParaRPr lang="en-GB"/>
            </a:p>
          </p:txBody>
        </p:sp>
      </p:grpSp>
      <p:sp>
        <p:nvSpPr>
          <p:cNvPr id="196" name="Rectangle: Rounded Corners 195">
            <a:extLst>
              <a:ext uri="{FF2B5EF4-FFF2-40B4-BE49-F238E27FC236}">
                <a16:creationId xmlns:a16="http://schemas.microsoft.com/office/drawing/2014/main" id="{69A4268D-B9AF-71A9-D245-4492333B3F73}"/>
              </a:ext>
            </a:extLst>
          </p:cNvPr>
          <p:cNvSpPr>
            <a:spLocks/>
          </p:cNvSpPr>
          <p:nvPr/>
        </p:nvSpPr>
        <p:spPr bwMode="auto">
          <a:xfrm>
            <a:off x="1097293" y="4153472"/>
            <a:ext cx="4851239" cy="1648276"/>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97" name="Content Placeholder 2">
            <a:extLst>
              <a:ext uri="{FF2B5EF4-FFF2-40B4-BE49-F238E27FC236}">
                <a16:creationId xmlns:a16="http://schemas.microsoft.com/office/drawing/2014/main" id="{333D3152-51D0-63A0-C1E6-510C25836DF9}"/>
              </a:ext>
            </a:extLst>
          </p:cNvPr>
          <p:cNvSpPr txBox="1">
            <a:spLocks/>
          </p:cNvSpPr>
          <p:nvPr/>
        </p:nvSpPr>
        <p:spPr>
          <a:xfrm>
            <a:off x="1922062" y="4754798"/>
            <a:ext cx="3968794"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609630" fontAlgn="base">
              <a:spcBef>
                <a:spcPts val="1200"/>
              </a:spcBef>
              <a:spcAft>
                <a:spcPct val="0"/>
              </a:spcAft>
              <a:buNone/>
              <a:defRPr/>
            </a:pPr>
            <a:r>
              <a:rPr lang="en-US" sz="2000" spc="0">
                <a:ln>
                  <a:noFill/>
                </a:ln>
                <a:gradFill>
                  <a:gsLst>
                    <a:gs pos="0">
                      <a:srgbClr val="BDF2BD"/>
                    </a:gs>
                    <a:gs pos="100000">
                      <a:srgbClr val="C3E9FC"/>
                    </a:gs>
                  </a:gsLst>
                  <a:lin ang="5400000" scaled="1"/>
                </a:gradFill>
                <a:latin typeface="Segoe Sans Text Semibold"/>
              </a:rPr>
              <a:t>Experiment</a:t>
            </a:r>
            <a:r>
              <a:rPr lang="en-US" sz="2000">
                <a:latin typeface="Segoe Sans Text Semibold"/>
              </a:rPr>
              <a:t> with the best options to understand them in detail by leveraging AI Foundry Playgrounds</a:t>
            </a:r>
          </a:p>
        </p:txBody>
      </p:sp>
      <p:grpSp>
        <p:nvGrpSpPr>
          <p:cNvPr id="198" name="Group 197">
            <a:extLst>
              <a:ext uri="{FF2B5EF4-FFF2-40B4-BE49-F238E27FC236}">
                <a16:creationId xmlns:a16="http://schemas.microsoft.com/office/drawing/2014/main" id="{F2DDA1C1-CA38-8232-2FA5-7895BBAB6357}"/>
              </a:ext>
            </a:extLst>
          </p:cNvPr>
          <p:cNvGrpSpPr/>
          <p:nvPr/>
        </p:nvGrpSpPr>
        <p:grpSpPr>
          <a:xfrm>
            <a:off x="488614" y="4395756"/>
            <a:ext cx="1190058" cy="1190400"/>
            <a:chOff x="1600003" y="1811018"/>
            <a:chExt cx="1641521" cy="1641995"/>
          </a:xfrm>
        </p:grpSpPr>
        <p:sp>
          <p:nvSpPr>
            <p:cNvPr id="199" name="Oval 17">
              <a:extLst>
                <a:ext uri="{FF2B5EF4-FFF2-40B4-BE49-F238E27FC236}">
                  <a16:creationId xmlns:a16="http://schemas.microsoft.com/office/drawing/2014/main" id="{D4140334-B8A3-6480-FD28-70240473EB1C}"/>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200" name="Group 199">
              <a:extLst>
                <a:ext uri="{FF2B5EF4-FFF2-40B4-BE49-F238E27FC236}">
                  <a16:creationId xmlns:a16="http://schemas.microsoft.com/office/drawing/2014/main" id="{CC8BFAC2-2ED7-A8F8-7B17-9204D9F337CB}"/>
                </a:ext>
              </a:extLst>
            </p:cNvPr>
            <p:cNvGrpSpPr/>
            <p:nvPr/>
          </p:nvGrpSpPr>
          <p:grpSpPr>
            <a:xfrm>
              <a:off x="1714608" y="1927192"/>
              <a:ext cx="1412311" cy="1409646"/>
              <a:chOff x="1261672" y="4833937"/>
              <a:chExt cx="954296" cy="954297"/>
            </a:xfrm>
          </p:grpSpPr>
          <p:sp>
            <p:nvSpPr>
              <p:cNvPr id="201" name="Rectangle: Rounded Corners 200">
                <a:extLst>
                  <a:ext uri="{FF2B5EF4-FFF2-40B4-BE49-F238E27FC236}">
                    <a16:creationId xmlns:a16="http://schemas.microsoft.com/office/drawing/2014/main" id="{93CAE0E2-7E02-397F-F3E4-2772A0D8BB27}"/>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02" name="Rectangle: Rounded Corners 201">
                <a:extLst>
                  <a:ext uri="{FF2B5EF4-FFF2-40B4-BE49-F238E27FC236}">
                    <a16:creationId xmlns:a16="http://schemas.microsoft.com/office/drawing/2014/main" id="{D90F219F-0DED-7C40-7303-E07A7004EFBD}"/>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217" name="Graphic 164">
            <a:extLst>
              <a:ext uri="{FF2B5EF4-FFF2-40B4-BE49-F238E27FC236}">
                <a16:creationId xmlns:a16="http://schemas.microsoft.com/office/drawing/2014/main" id="{30DDE844-7BE0-8CFE-C5F9-E06F6981B122}"/>
              </a:ext>
            </a:extLst>
          </p:cNvPr>
          <p:cNvGrpSpPr/>
          <p:nvPr/>
        </p:nvGrpSpPr>
        <p:grpSpPr>
          <a:xfrm>
            <a:off x="793411" y="4780579"/>
            <a:ext cx="571500" cy="524551"/>
            <a:chOff x="797893" y="4551979"/>
            <a:chExt cx="571500" cy="524551"/>
          </a:xfrm>
          <a:gradFill>
            <a:gsLst>
              <a:gs pos="0">
                <a:srgbClr val="C3E9FC"/>
              </a:gs>
              <a:gs pos="100000">
                <a:srgbClr val="BDF2BD"/>
              </a:gs>
            </a:gsLst>
            <a:lin ang="13500000" scaled="1"/>
          </a:gradFill>
        </p:grpSpPr>
        <p:sp>
          <p:nvSpPr>
            <p:cNvPr id="218" name="Freeform: Shape 217">
              <a:extLst>
                <a:ext uri="{FF2B5EF4-FFF2-40B4-BE49-F238E27FC236}">
                  <a16:creationId xmlns:a16="http://schemas.microsoft.com/office/drawing/2014/main" id="{5A7284D9-F723-1ED8-6AF1-25A96A52C56F}"/>
                </a:ext>
              </a:extLst>
            </p:cNvPr>
            <p:cNvSpPr/>
            <p:nvPr/>
          </p:nvSpPr>
          <p:spPr>
            <a:xfrm>
              <a:off x="883618" y="4752004"/>
              <a:ext cx="142875" cy="19050"/>
            </a:xfrm>
            <a:custGeom>
              <a:avLst/>
              <a:gdLst>
                <a:gd name="connsiteX0" fmla="*/ 9525 w 142875"/>
                <a:gd name="connsiteY0" fmla="*/ 19050 h 19050"/>
                <a:gd name="connsiteX1" fmla="*/ 133350 w 142875"/>
                <a:gd name="connsiteY1" fmla="*/ 19050 h 19050"/>
                <a:gd name="connsiteX2" fmla="*/ 142875 w 142875"/>
                <a:gd name="connsiteY2" fmla="*/ 9525 h 19050"/>
                <a:gd name="connsiteX3" fmla="*/ 133350 w 142875"/>
                <a:gd name="connsiteY3" fmla="*/ 0 h 19050"/>
                <a:gd name="connsiteX4" fmla="*/ 9525 w 142875"/>
                <a:gd name="connsiteY4" fmla="*/ 0 h 19050"/>
                <a:gd name="connsiteX5" fmla="*/ 0 w 142875"/>
                <a:gd name="connsiteY5" fmla="*/ 9525 h 19050"/>
                <a:gd name="connsiteX6" fmla="*/ 9525 w 142875"/>
                <a:gd name="connsiteY6" fmla="*/ 19050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19050">
                  <a:moveTo>
                    <a:pt x="9525" y="19050"/>
                  </a:moveTo>
                  <a:lnTo>
                    <a:pt x="133350" y="19050"/>
                  </a:lnTo>
                  <a:cubicBezTo>
                    <a:pt x="138617" y="19050"/>
                    <a:pt x="142875" y="14783"/>
                    <a:pt x="142875" y="9525"/>
                  </a:cubicBezTo>
                  <a:cubicBezTo>
                    <a:pt x="142875" y="4267"/>
                    <a:pt x="138617" y="0"/>
                    <a:pt x="133350" y="0"/>
                  </a:cubicBezTo>
                  <a:lnTo>
                    <a:pt x="9525" y="0"/>
                  </a:lnTo>
                  <a:cubicBezTo>
                    <a:pt x="4258" y="0"/>
                    <a:pt x="0" y="4267"/>
                    <a:pt x="0" y="9525"/>
                  </a:cubicBezTo>
                  <a:cubicBezTo>
                    <a:pt x="0" y="14783"/>
                    <a:pt x="4258" y="19050"/>
                    <a:pt x="9525" y="19050"/>
                  </a:cubicBezTo>
                  <a:close/>
                </a:path>
              </a:pathLst>
            </a:custGeom>
            <a:grpFill/>
            <a:ln w="9525" cap="flat">
              <a:noFill/>
              <a:prstDash val="solid"/>
              <a:miter/>
            </a:ln>
          </p:spPr>
          <p:txBody>
            <a:bodyPr rtlCol="0" anchor="ctr"/>
            <a:lstStyle/>
            <a:p>
              <a:endParaRPr lang="en-GB"/>
            </a:p>
          </p:txBody>
        </p:sp>
        <p:sp>
          <p:nvSpPr>
            <p:cNvPr id="219" name="Freeform: Shape 218">
              <a:extLst>
                <a:ext uri="{FF2B5EF4-FFF2-40B4-BE49-F238E27FC236}">
                  <a16:creationId xmlns:a16="http://schemas.microsoft.com/office/drawing/2014/main" id="{8655D081-40E7-2F8B-CBA3-FFD12188D821}"/>
                </a:ext>
              </a:extLst>
            </p:cNvPr>
            <p:cNvSpPr/>
            <p:nvPr/>
          </p:nvSpPr>
          <p:spPr>
            <a:xfrm>
              <a:off x="883618" y="4809154"/>
              <a:ext cx="266700" cy="19050"/>
            </a:xfrm>
            <a:custGeom>
              <a:avLst/>
              <a:gdLst>
                <a:gd name="connsiteX0" fmla="*/ 257175 w 266700"/>
                <a:gd name="connsiteY0" fmla="*/ 0 h 19050"/>
                <a:gd name="connsiteX1" fmla="*/ 9525 w 266700"/>
                <a:gd name="connsiteY1" fmla="*/ 0 h 19050"/>
                <a:gd name="connsiteX2" fmla="*/ 0 w 266700"/>
                <a:gd name="connsiteY2" fmla="*/ 9525 h 19050"/>
                <a:gd name="connsiteX3" fmla="*/ 9525 w 266700"/>
                <a:gd name="connsiteY3" fmla="*/ 19050 h 19050"/>
                <a:gd name="connsiteX4" fmla="*/ 257175 w 266700"/>
                <a:gd name="connsiteY4" fmla="*/ 19050 h 19050"/>
                <a:gd name="connsiteX5" fmla="*/ 266700 w 266700"/>
                <a:gd name="connsiteY5" fmla="*/ 9525 h 19050"/>
                <a:gd name="connsiteX6" fmla="*/ 257175 w 266700"/>
                <a:gd name="connsiteY6" fmla="*/ 0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6700" h="19050">
                  <a:moveTo>
                    <a:pt x="257175" y="0"/>
                  </a:moveTo>
                  <a:lnTo>
                    <a:pt x="9525" y="0"/>
                  </a:lnTo>
                  <a:cubicBezTo>
                    <a:pt x="4258" y="0"/>
                    <a:pt x="0" y="4267"/>
                    <a:pt x="0" y="9525"/>
                  </a:cubicBezTo>
                  <a:cubicBezTo>
                    <a:pt x="0" y="14783"/>
                    <a:pt x="4258" y="19050"/>
                    <a:pt x="9525" y="19050"/>
                  </a:cubicBezTo>
                  <a:lnTo>
                    <a:pt x="257175" y="19050"/>
                  </a:lnTo>
                  <a:cubicBezTo>
                    <a:pt x="262442" y="19050"/>
                    <a:pt x="266700" y="14783"/>
                    <a:pt x="266700" y="9525"/>
                  </a:cubicBezTo>
                  <a:cubicBezTo>
                    <a:pt x="266700" y="4267"/>
                    <a:pt x="262442" y="0"/>
                    <a:pt x="257175" y="0"/>
                  </a:cubicBezTo>
                  <a:close/>
                </a:path>
              </a:pathLst>
            </a:custGeom>
            <a:grpFill/>
            <a:ln w="9525" cap="flat">
              <a:noFill/>
              <a:prstDash val="solid"/>
              <a:miter/>
            </a:ln>
          </p:spPr>
          <p:txBody>
            <a:bodyPr rtlCol="0" anchor="ctr"/>
            <a:lstStyle/>
            <a:p>
              <a:endParaRPr lang="en-GB"/>
            </a:p>
          </p:txBody>
        </p:sp>
        <p:sp>
          <p:nvSpPr>
            <p:cNvPr id="220" name="Freeform: Shape 219">
              <a:extLst>
                <a:ext uri="{FF2B5EF4-FFF2-40B4-BE49-F238E27FC236}">
                  <a16:creationId xmlns:a16="http://schemas.microsoft.com/office/drawing/2014/main" id="{D696186F-062E-9152-4C9F-517B92A9DD81}"/>
                </a:ext>
              </a:extLst>
            </p:cNvPr>
            <p:cNvSpPr/>
            <p:nvPr/>
          </p:nvSpPr>
          <p:spPr>
            <a:xfrm>
              <a:off x="883618" y="4866304"/>
              <a:ext cx="266700" cy="19050"/>
            </a:xfrm>
            <a:custGeom>
              <a:avLst/>
              <a:gdLst>
                <a:gd name="connsiteX0" fmla="*/ 257175 w 266700"/>
                <a:gd name="connsiteY0" fmla="*/ 0 h 19050"/>
                <a:gd name="connsiteX1" fmla="*/ 9525 w 266700"/>
                <a:gd name="connsiteY1" fmla="*/ 0 h 19050"/>
                <a:gd name="connsiteX2" fmla="*/ 0 w 266700"/>
                <a:gd name="connsiteY2" fmla="*/ 9525 h 19050"/>
                <a:gd name="connsiteX3" fmla="*/ 9525 w 266700"/>
                <a:gd name="connsiteY3" fmla="*/ 19050 h 19050"/>
                <a:gd name="connsiteX4" fmla="*/ 257175 w 266700"/>
                <a:gd name="connsiteY4" fmla="*/ 19050 h 19050"/>
                <a:gd name="connsiteX5" fmla="*/ 266700 w 266700"/>
                <a:gd name="connsiteY5" fmla="*/ 9525 h 19050"/>
                <a:gd name="connsiteX6" fmla="*/ 257175 w 266700"/>
                <a:gd name="connsiteY6" fmla="*/ 0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6700" h="19050">
                  <a:moveTo>
                    <a:pt x="257175" y="0"/>
                  </a:moveTo>
                  <a:lnTo>
                    <a:pt x="9525" y="0"/>
                  </a:lnTo>
                  <a:cubicBezTo>
                    <a:pt x="4258" y="0"/>
                    <a:pt x="0" y="4267"/>
                    <a:pt x="0" y="9525"/>
                  </a:cubicBezTo>
                  <a:cubicBezTo>
                    <a:pt x="0" y="14783"/>
                    <a:pt x="4258" y="19050"/>
                    <a:pt x="9525" y="19050"/>
                  </a:cubicBezTo>
                  <a:lnTo>
                    <a:pt x="257175" y="19050"/>
                  </a:lnTo>
                  <a:cubicBezTo>
                    <a:pt x="262442" y="19050"/>
                    <a:pt x="266700" y="14783"/>
                    <a:pt x="266700" y="9525"/>
                  </a:cubicBezTo>
                  <a:cubicBezTo>
                    <a:pt x="266700" y="4267"/>
                    <a:pt x="262442" y="0"/>
                    <a:pt x="257175" y="0"/>
                  </a:cubicBezTo>
                  <a:close/>
                </a:path>
              </a:pathLst>
            </a:custGeom>
            <a:grpFill/>
            <a:ln w="9525" cap="flat">
              <a:noFill/>
              <a:prstDash val="solid"/>
              <a:miter/>
            </a:ln>
          </p:spPr>
          <p:txBody>
            <a:bodyPr rtlCol="0" anchor="ctr"/>
            <a:lstStyle/>
            <a:p>
              <a:endParaRPr lang="en-GB"/>
            </a:p>
          </p:txBody>
        </p:sp>
        <p:sp>
          <p:nvSpPr>
            <p:cNvPr id="221" name="Freeform: Shape 220">
              <a:extLst>
                <a:ext uri="{FF2B5EF4-FFF2-40B4-BE49-F238E27FC236}">
                  <a16:creationId xmlns:a16="http://schemas.microsoft.com/office/drawing/2014/main" id="{A0475ACE-42E9-82A5-1007-BF4DFBE2D1C0}"/>
                </a:ext>
              </a:extLst>
            </p:cNvPr>
            <p:cNvSpPr/>
            <p:nvPr/>
          </p:nvSpPr>
          <p:spPr>
            <a:xfrm>
              <a:off x="797893" y="4551979"/>
              <a:ext cx="571500" cy="524551"/>
            </a:xfrm>
            <a:custGeom>
              <a:avLst/>
              <a:gdLst>
                <a:gd name="connsiteX0" fmla="*/ 515036 w 571500"/>
                <a:gd name="connsiteY0" fmla="*/ 667 h 524551"/>
                <a:gd name="connsiteX1" fmla="*/ 189833 w 571500"/>
                <a:gd name="connsiteY1" fmla="*/ 0 h 524551"/>
                <a:gd name="connsiteX2" fmla="*/ 133350 w 571500"/>
                <a:gd name="connsiteY2" fmla="*/ 56483 h 524551"/>
                <a:gd name="connsiteX3" fmla="*/ 133350 w 571500"/>
                <a:gd name="connsiteY3" fmla="*/ 105289 h 524551"/>
                <a:gd name="connsiteX4" fmla="*/ 56483 w 571500"/>
                <a:gd name="connsiteY4" fmla="*/ 105451 h 524551"/>
                <a:gd name="connsiteX5" fmla="*/ 0 w 571500"/>
                <a:gd name="connsiteY5" fmla="*/ 161935 h 524551"/>
                <a:gd name="connsiteX6" fmla="*/ 0 w 571500"/>
                <a:gd name="connsiteY6" fmla="*/ 363303 h 524551"/>
                <a:gd name="connsiteX7" fmla="*/ 56483 w 571500"/>
                <a:gd name="connsiteY7" fmla="*/ 419776 h 524551"/>
                <a:gd name="connsiteX8" fmla="*/ 114300 w 571500"/>
                <a:gd name="connsiteY8" fmla="*/ 419776 h 524551"/>
                <a:gd name="connsiteX9" fmla="*/ 114300 w 571500"/>
                <a:gd name="connsiteY9" fmla="*/ 515026 h 524551"/>
                <a:gd name="connsiteX10" fmla="*/ 120396 w 571500"/>
                <a:gd name="connsiteY10" fmla="*/ 523913 h 524551"/>
                <a:gd name="connsiteX11" fmla="*/ 123825 w 571500"/>
                <a:gd name="connsiteY11" fmla="*/ 524551 h 524551"/>
                <a:gd name="connsiteX12" fmla="*/ 130874 w 571500"/>
                <a:gd name="connsiteY12" fmla="*/ 521437 h 524551"/>
                <a:gd name="connsiteX13" fmla="*/ 223304 w 571500"/>
                <a:gd name="connsiteY13" fmla="*/ 419757 h 524551"/>
                <a:gd name="connsiteX14" fmla="*/ 381667 w 571500"/>
                <a:gd name="connsiteY14" fmla="*/ 419110 h 524551"/>
                <a:gd name="connsiteX15" fmla="*/ 438150 w 571500"/>
                <a:gd name="connsiteY15" fmla="*/ 362636 h 524551"/>
                <a:gd name="connsiteX16" fmla="*/ 438150 w 571500"/>
                <a:gd name="connsiteY16" fmla="*/ 361559 h 524551"/>
                <a:gd name="connsiteX17" fmla="*/ 488251 w 571500"/>
                <a:gd name="connsiteY17" fmla="*/ 416671 h 524551"/>
                <a:gd name="connsiteX18" fmla="*/ 495300 w 571500"/>
                <a:gd name="connsiteY18" fmla="*/ 419786 h 524551"/>
                <a:gd name="connsiteX19" fmla="*/ 498729 w 571500"/>
                <a:gd name="connsiteY19" fmla="*/ 419148 h 524551"/>
                <a:gd name="connsiteX20" fmla="*/ 504825 w 571500"/>
                <a:gd name="connsiteY20" fmla="*/ 410261 h 524551"/>
                <a:gd name="connsiteX21" fmla="*/ 504825 w 571500"/>
                <a:gd name="connsiteY21" fmla="*/ 315011 h 524551"/>
                <a:gd name="connsiteX22" fmla="*/ 515017 w 571500"/>
                <a:gd name="connsiteY22" fmla="*/ 315011 h 524551"/>
                <a:gd name="connsiteX23" fmla="*/ 571500 w 571500"/>
                <a:gd name="connsiteY23" fmla="*/ 258537 h 524551"/>
                <a:gd name="connsiteX24" fmla="*/ 571500 w 571500"/>
                <a:gd name="connsiteY24" fmla="*/ 57150 h 524551"/>
                <a:gd name="connsiteX25" fmla="*/ 515036 w 571500"/>
                <a:gd name="connsiteY25" fmla="*/ 667 h 524551"/>
                <a:gd name="connsiteX26" fmla="*/ 419100 w 571500"/>
                <a:gd name="connsiteY26" fmla="*/ 362626 h 524551"/>
                <a:gd name="connsiteX27" fmla="*/ 381629 w 571500"/>
                <a:gd name="connsiteY27" fmla="*/ 400050 h 524551"/>
                <a:gd name="connsiteX28" fmla="*/ 219037 w 571500"/>
                <a:gd name="connsiteY28" fmla="*/ 400717 h 524551"/>
                <a:gd name="connsiteX29" fmla="*/ 212027 w 571500"/>
                <a:gd name="connsiteY29" fmla="*/ 403831 h 524551"/>
                <a:gd name="connsiteX30" fmla="*/ 133350 w 571500"/>
                <a:gd name="connsiteY30" fmla="*/ 490385 h 524551"/>
                <a:gd name="connsiteX31" fmla="*/ 133350 w 571500"/>
                <a:gd name="connsiteY31" fmla="*/ 410242 h 524551"/>
                <a:gd name="connsiteX32" fmla="*/ 123825 w 571500"/>
                <a:gd name="connsiteY32" fmla="*/ 400717 h 524551"/>
                <a:gd name="connsiteX33" fmla="*/ 56483 w 571500"/>
                <a:gd name="connsiteY33" fmla="*/ 400717 h 524551"/>
                <a:gd name="connsiteX34" fmla="*/ 19050 w 571500"/>
                <a:gd name="connsiteY34" fmla="*/ 363293 h 524551"/>
                <a:gd name="connsiteX35" fmla="*/ 19050 w 571500"/>
                <a:gd name="connsiteY35" fmla="*/ 161925 h 524551"/>
                <a:gd name="connsiteX36" fmla="*/ 56502 w 571500"/>
                <a:gd name="connsiteY36" fmla="*/ 124492 h 524551"/>
                <a:gd name="connsiteX37" fmla="*/ 142875 w 571500"/>
                <a:gd name="connsiteY37" fmla="*/ 124311 h 524551"/>
                <a:gd name="connsiteX38" fmla="*/ 142875 w 571500"/>
                <a:gd name="connsiteY38" fmla="*/ 124311 h 524551"/>
                <a:gd name="connsiteX39" fmla="*/ 142894 w 571500"/>
                <a:gd name="connsiteY39" fmla="*/ 124311 h 524551"/>
                <a:gd name="connsiteX40" fmla="*/ 381667 w 571500"/>
                <a:gd name="connsiteY40" fmla="*/ 123815 h 524551"/>
                <a:gd name="connsiteX41" fmla="*/ 419100 w 571500"/>
                <a:gd name="connsiteY41" fmla="*/ 161249 h 524551"/>
                <a:gd name="connsiteX42" fmla="*/ 419100 w 571500"/>
                <a:gd name="connsiteY42" fmla="*/ 336899 h 524551"/>
                <a:gd name="connsiteX43" fmla="*/ 419100 w 571500"/>
                <a:gd name="connsiteY43" fmla="*/ 362626 h 524551"/>
                <a:gd name="connsiteX44" fmla="*/ 552450 w 571500"/>
                <a:gd name="connsiteY44" fmla="*/ 258518 h 524551"/>
                <a:gd name="connsiteX45" fmla="*/ 515017 w 571500"/>
                <a:gd name="connsiteY45" fmla="*/ 295942 h 524551"/>
                <a:gd name="connsiteX46" fmla="*/ 495300 w 571500"/>
                <a:gd name="connsiteY46" fmla="*/ 295942 h 524551"/>
                <a:gd name="connsiteX47" fmla="*/ 485775 w 571500"/>
                <a:gd name="connsiteY47" fmla="*/ 305467 h 524551"/>
                <a:gd name="connsiteX48" fmla="*/ 485775 w 571500"/>
                <a:gd name="connsiteY48" fmla="*/ 385610 h 524551"/>
                <a:gd name="connsiteX49" fmla="*/ 438150 w 571500"/>
                <a:gd name="connsiteY49" fmla="*/ 333223 h 524551"/>
                <a:gd name="connsiteX50" fmla="*/ 438150 w 571500"/>
                <a:gd name="connsiteY50" fmla="*/ 161258 h 524551"/>
                <a:gd name="connsiteX51" fmla="*/ 381648 w 571500"/>
                <a:gd name="connsiteY51" fmla="*/ 104775 h 524551"/>
                <a:gd name="connsiteX52" fmla="*/ 152400 w 571500"/>
                <a:gd name="connsiteY52" fmla="*/ 105242 h 524551"/>
                <a:gd name="connsiteX53" fmla="*/ 152400 w 571500"/>
                <a:gd name="connsiteY53" fmla="*/ 56474 h 524551"/>
                <a:gd name="connsiteX54" fmla="*/ 189814 w 571500"/>
                <a:gd name="connsiteY54" fmla="*/ 19040 h 524551"/>
                <a:gd name="connsiteX55" fmla="*/ 515007 w 571500"/>
                <a:gd name="connsiteY55" fmla="*/ 19707 h 524551"/>
                <a:gd name="connsiteX56" fmla="*/ 515026 w 571500"/>
                <a:gd name="connsiteY56" fmla="*/ 19707 h 524551"/>
                <a:gd name="connsiteX57" fmla="*/ 552460 w 571500"/>
                <a:gd name="connsiteY57" fmla="*/ 57140 h 524551"/>
                <a:gd name="connsiteX58" fmla="*/ 552460 w 571500"/>
                <a:gd name="connsiteY58" fmla="*/ 258518 h 524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71500" h="524551">
                  <a:moveTo>
                    <a:pt x="515036" y="667"/>
                  </a:moveTo>
                  <a:lnTo>
                    <a:pt x="189833" y="0"/>
                  </a:lnTo>
                  <a:cubicBezTo>
                    <a:pt x="158687" y="0"/>
                    <a:pt x="133350" y="25337"/>
                    <a:pt x="133350" y="56483"/>
                  </a:cubicBezTo>
                  <a:lnTo>
                    <a:pt x="133350" y="105289"/>
                  </a:lnTo>
                  <a:lnTo>
                    <a:pt x="56483" y="105451"/>
                  </a:lnTo>
                  <a:cubicBezTo>
                    <a:pt x="25337" y="105451"/>
                    <a:pt x="0" y="130788"/>
                    <a:pt x="0" y="161935"/>
                  </a:cubicBezTo>
                  <a:lnTo>
                    <a:pt x="0" y="363303"/>
                  </a:lnTo>
                  <a:cubicBezTo>
                    <a:pt x="0" y="394449"/>
                    <a:pt x="25337" y="419776"/>
                    <a:pt x="56483" y="419776"/>
                  </a:cubicBezTo>
                  <a:lnTo>
                    <a:pt x="114300" y="419776"/>
                  </a:lnTo>
                  <a:lnTo>
                    <a:pt x="114300" y="515026"/>
                  </a:lnTo>
                  <a:cubicBezTo>
                    <a:pt x="114300" y="518960"/>
                    <a:pt x="116719" y="522494"/>
                    <a:pt x="120396" y="523913"/>
                  </a:cubicBezTo>
                  <a:cubicBezTo>
                    <a:pt x="121510" y="524342"/>
                    <a:pt x="122672" y="524551"/>
                    <a:pt x="123825" y="524551"/>
                  </a:cubicBezTo>
                  <a:cubicBezTo>
                    <a:pt x="126454" y="524551"/>
                    <a:pt x="129035" y="523456"/>
                    <a:pt x="130874" y="521437"/>
                  </a:cubicBezTo>
                  <a:lnTo>
                    <a:pt x="223304" y="419757"/>
                  </a:lnTo>
                  <a:lnTo>
                    <a:pt x="381667" y="419110"/>
                  </a:lnTo>
                  <a:cubicBezTo>
                    <a:pt x="412814" y="419110"/>
                    <a:pt x="438150" y="393773"/>
                    <a:pt x="438150" y="362636"/>
                  </a:cubicBezTo>
                  <a:lnTo>
                    <a:pt x="438150" y="361559"/>
                  </a:lnTo>
                  <a:lnTo>
                    <a:pt x="488251" y="416671"/>
                  </a:lnTo>
                  <a:cubicBezTo>
                    <a:pt x="490090" y="418690"/>
                    <a:pt x="492671" y="419786"/>
                    <a:pt x="495300" y="419786"/>
                  </a:cubicBezTo>
                  <a:cubicBezTo>
                    <a:pt x="496453" y="419786"/>
                    <a:pt x="497615" y="419576"/>
                    <a:pt x="498729" y="419148"/>
                  </a:cubicBezTo>
                  <a:cubicBezTo>
                    <a:pt x="502406" y="417728"/>
                    <a:pt x="504825" y="414195"/>
                    <a:pt x="504825" y="410261"/>
                  </a:cubicBezTo>
                  <a:lnTo>
                    <a:pt x="504825" y="315011"/>
                  </a:lnTo>
                  <a:lnTo>
                    <a:pt x="515017" y="315011"/>
                  </a:lnTo>
                  <a:cubicBezTo>
                    <a:pt x="546164" y="315011"/>
                    <a:pt x="571500" y="289674"/>
                    <a:pt x="571500" y="258537"/>
                  </a:cubicBezTo>
                  <a:lnTo>
                    <a:pt x="571500" y="57150"/>
                  </a:lnTo>
                  <a:cubicBezTo>
                    <a:pt x="571500" y="26013"/>
                    <a:pt x="546173" y="676"/>
                    <a:pt x="515036" y="667"/>
                  </a:cubicBezTo>
                  <a:close/>
                  <a:moveTo>
                    <a:pt x="419100" y="362626"/>
                  </a:moveTo>
                  <a:cubicBezTo>
                    <a:pt x="419100" y="383267"/>
                    <a:pt x="402307" y="400050"/>
                    <a:pt x="381629" y="400050"/>
                  </a:cubicBezTo>
                  <a:lnTo>
                    <a:pt x="219037" y="400717"/>
                  </a:lnTo>
                  <a:cubicBezTo>
                    <a:pt x="216370" y="400726"/>
                    <a:pt x="213817" y="401860"/>
                    <a:pt x="212027" y="403831"/>
                  </a:cubicBezTo>
                  <a:lnTo>
                    <a:pt x="133350" y="490385"/>
                  </a:lnTo>
                  <a:lnTo>
                    <a:pt x="133350" y="410242"/>
                  </a:lnTo>
                  <a:cubicBezTo>
                    <a:pt x="133350" y="404984"/>
                    <a:pt x="129092" y="400717"/>
                    <a:pt x="123825" y="400717"/>
                  </a:cubicBezTo>
                  <a:lnTo>
                    <a:pt x="56483" y="400717"/>
                  </a:lnTo>
                  <a:cubicBezTo>
                    <a:pt x="35843" y="400717"/>
                    <a:pt x="19050" y="383924"/>
                    <a:pt x="19050" y="363293"/>
                  </a:cubicBezTo>
                  <a:lnTo>
                    <a:pt x="19050" y="161925"/>
                  </a:lnTo>
                  <a:cubicBezTo>
                    <a:pt x="19050" y="141284"/>
                    <a:pt x="35843" y="124492"/>
                    <a:pt x="56502" y="124492"/>
                  </a:cubicBezTo>
                  <a:lnTo>
                    <a:pt x="142875" y="124311"/>
                  </a:lnTo>
                  <a:cubicBezTo>
                    <a:pt x="142875" y="124311"/>
                    <a:pt x="142875" y="124311"/>
                    <a:pt x="142875" y="124311"/>
                  </a:cubicBezTo>
                  <a:cubicBezTo>
                    <a:pt x="142885" y="124311"/>
                    <a:pt x="142885" y="124311"/>
                    <a:pt x="142894" y="124311"/>
                  </a:cubicBezTo>
                  <a:lnTo>
                    <a:pt x="381667" y="123815"/>
                  </a:lnTo>
                  <a:cubicBezTo>
                    <a:pt x="402307" y="123815"/>
                    <a:pt x="419100" y="140608"/>
                    <a:pt x="419100" y="161249"/>
                  </a:cubicBezTo>
                  <a:lnTo>
                    <a:pt x="419100" y="336899"/>
                  </a:lnTo>
                  <a:lnTo>
                    <a:pt x="419100" y="362626"/>
                  </a:lnTo>
                  <a:close/>
                  <a:moveTo>
                    <a:pt x="552450" y="258518"/>
                  </a:moveTo>
                  <a:cubicBezTo>
                    <a:pt x="552450" y="279159"/>
                    <a:pt x="535657" y="295942"/>
                    <a:pt x="515017" y="295942"/>
                  </a:cubicBezTo>
                  <a:lnTo>
                    <a:pt x="495300" y="295942"/>
                  </a:lnTo>
                  <a:cubicBezTo>
                    <a:pt x="490033" y="295942"/>
                    <a:pt x="485775" y="300209"/>
                    <a:pt x="485775" y="305467"/>
                  </a:cubicBezTo>
                  <a:lnTo>
                    <a:pt x="485775" y="385610"/>
                  </a:lnTo>
                  <a:lnTo>
                    <a:pt x="438150" y="333223"/>
                  </a:lnTo>
                  <a:lnTo>
                    <a:pt x="438150" y="161258"/>
                  </a:lnTo>
                  <a:cubicBezTo>
                    <a:pt x="438150" y="130112"/>
                    <a:pt x="412814" y="104775"/>
                    <a:pt x="381648" y="104775"/>
                  </a:cubicBezTo>
                  <a:lnTo>
                    <a:pt x="152400" y="105242"/>
                  </a:lnTo>
                  <a:lnTo>
                    <a:pt x="152400" y="56474"/>
                  </a:lnTo>
                  <a:cubicBezTo>
                    <a:pt x="152400" y="35833"/>
                    <a:pt x="169193" y="19040"/>
                    <a:pt x="189814" y="19040"/>
                  </a:cubicBezTo>
                  <a:lnTo>
                    <a:pt x="515007" y="19707"/>
                  </a:lnTo>
                  <a:cubicBezTo>
                    <a:pt x="515017" y="19707"/>
                    <a:pt x="515017" y="19707"/>
                    <a:pt x="515026" y="19707"/>
                  </a:cubicBezTo>
                  <a:cubicBezTo>
                    <a:pt x="535667" y="19707"/>
                    <a:pt x="552460" y="36500"/>
                    <a:pt x="552460" y="57140"/>
                  </a:cubicBezTo>
                  <a:lnTo>
                    <a:pt x="552460" y="258518"/>
                  </a:lnTo>
                  <a:close/>
                </a:path>
              </a:pathLst>
            </a:custGeom>
            <a:grpFill/>
            <a:ln w="9525" cap="flat">
              <a:noFill/>
              <a:prstDash val="solid"/>
              <a:miter/>
            </a:ln>
          </p:spPr>
          <p:txBody>
            <a:bodyPr rtlCol="0" anchor="ctr"/>
            <a:lstStyle/>
            <a:p>
              <a:endParaRPr lang="en-GB"/>
            </a:p>
          </p:txBody>
        </p:sp>
      </p:grpSp>
      <p:sp>
        <p:nvSpPr>
          <p:cNvPr id="268" name="Rectangle: Rounded Corners 267">
            <a:extLst>
              <a:ext uri="{FF2B5EF4-FFF2-40B4-BE49-F238E27FC236}">
                <a16:creationId xmlns:a16="http://schemas.microsoft.com/office/drawing/2014/main" id="{28872B70-E533-B8E4-376B-CD91A3083C50}"/>
              </a:ext>
            </a:extLst>
          </p:cNvPr>
          <p:cNvSpPr>
            <a:spLocks/>
          </p:cNvSpPr>
          <p:nvPr/>
        </p:nvSpPr>
        <p:spPr bwMode="auto">
          <a:xfrm>
            <a:off x="6830933" y="4153472"/>
            <a:ext cx="4851239" cy="1648276"/>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69" name="Content Placeholder 2">
            <a:extLst>
              <a:ext uri="{FF2B5EF4-FFF2-40B4-BE49-F238E27FC236}">
                <a16:creationId xmlns:a16="http://schemas.microsoft.com/office/drawing/2014/main" id="{084F82C7-CB2C-1BFB-D3D3-81F732FD604B}"/>
              </a:ext>
            </a:extLst>
          </p:cNvPr>
          <p:cNvSpPr txBox="1">
            <a:spLocks/>
          </p:cNvSpPr>
          <p:nvPr/>
        </p:nvSpPr>
        <p:spPr>
          <a:xfrm>
            <a:off x="7655702" y="4754798"/>
            <a:ext cx="402647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609630" fontAlgn="base">
              <a:spcBef>
                <a:spcPts val="1200"/>
              </a:spcBef>
              <a:spcAft>
                <a:spcPct val="0"/>
              </a:spcAft>
              <a:buNone/>
              <a:defRPr/>
            </a:pPr>
            <a:r>
              <a:rPr lang="en-US" sz="2000" spc="0">
                <a:ln>
                  <a:noFill/>
                </a:ln>
                <a:gradFill>
                  <a:gsLst>
                    <a:gs pos="0">
                      <a:srgbClr val="BDF2BD"/>
                    </a:gs>
                    <a:gs pos="100000">
                      <a:srgbClr val="C3E9FC"/>
                    </a:gs>
                  </a:gsLst>
                  <a:lin ang="5400000" scaled="1"/>
                </a:gradFill>
                <a:latin typeface="Segoe Sans Text Semibold"/>
              </a:rPr>
              <a:t>Consider </a:t>
            </a:r>
            <a:r>
              <a:rPr lang="en-US" sz="2000">
                <a:latin typeface="Segoe Sans Text Semibold"/>
              </a:rPr>
              <a:t>cost, quality, latency of models and </a:t>
            </a:r>
            <a:r>
              <a:rPr lang="en-US" sz="2000" spc="0">
                <a:ln>
                  <a:noFill/>
                </a:ln>
                <a:gradFill>
                  <a:gsLst>
                    <a:gs pos="0">
                      <a:srgbClr val="BDF2BD"/>
                    </a:gs>
                    <a:gs pos="100000">
                      <a:srgbClr val="C3E9FC"/>
                    </a:gs>
                  </a:gsLst>
                  <a:lin ang="5400000" scaled="1"/>
                </a:gradFill>
                <a:latin typeface="Segoe Sans Text Semibold"/>
              </a:rPr>
              <a:t>set</a:t>
            </a:r>
            <a:r>
              <a:rPr lang="en-US" sz="2000">
                <a:latin typeface="Segoe Sans Text Semibold"/>
              </a:rPr>
              <a:t> the parameters of the model correctly for the use case.</a:t>
            </a:r>
          </a:p>
        </p:txBody>
      </p:sp>
      <p:grpSp>
        <p:nvGrpSpPr>
          <p:cNvPr id="270" name="Group 269">
            <a:extLst>
              <a:ext uri="{FF2B5EF4-FFF2-40B4-BE49-F238E27FC236}">
                <a16:creationId xmlns:a16="http://schemas.microsoft.com/office/drawing/2014/main" id="{20F5636D-5E08-EEDD-6E63-62623F3CB1C7}"/>
              </a:ext>
            </a:extLst>
          </p:cNvPr>
          <p:cNvGrpSpPr/>
          <p:nvPr/>
        </p:nvGrpSpPr>
        <p:grpSpPr>
          <a:xfrm>
            <a:off x="6222254" y="4395756"/>
            <a:ext cx="1190058" cy="1190400"/>
            <a:chOff x="1600003" y="1811018"/>
            <a:chExt cx="1641521" cy="1641995"/>
          </a:xfrm>
        </p:grpSpPr>
        <p:sp>
          <p:nvSpPr>
            <p:cNvPr id="271" name="Oval 17">
              <a:extLst>
                <a:ext uri="{FF2B5EF4-FFF2-40B4-BE49-F238E27FC236}">
                  <a16:creationId xmlns:a16="http://schemas.microsoft.com/office/drawing/2014/main" id="{57D90B91-EEEE-B4B6-27E2-3D1F7CB92D60}"/>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272" name="Group 271">
              <a:extLst>
                <a:ext uri="{FF2B5EF4-FFF2-40B4-BE49-F238E27FC236}">
                  <a16:creationId xmlns:a16="http://schemas.microsoft.com/office/drawing/2014/main" id="{47BBF8A8-AEFC-4D38-1549-B9560A6FD89C}"/>
                </a:ext>
              </a:extLst>
            </p:cNvPr>
            <p:cNvGrpSpPr/>
            <p:nvPr/>
          </p:nvGrpSpPr>
          <p:grpSpPr>
            <a:xfrm>
              <a:off x="1714608" y="1927192"/>
              <a:ext cx="1412311" cy="1409646"/>
              <a:chOff x="1261672" y="4833937"/>
              <a:chExt cx="954296" cy="954297"/>
            </a:xfrm>
          </p:grpSpPr>
          <p:sp>
            <p:nvSpPr>
              <p:cNvPr id="273" name="Rectangle: Rounded Corners 272">
                <a:extLst>
                  <a:ext uri="{FF2B5EF4-FFF2-40B4-BE49-F238E27FC236}">
                    <a16:creationId xmlns:a16="http://schemas.microsoft.com/office/drawing/2014/main" id="{DBADAFD9-4D31-56DF-C780-BFC9231C2703}"/>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74" name="Rectangle: Rounded Corners 273">
                <a:extLst>
                  <a:ext uri="{FF2B5EF4-FFF2-40B4-BE49-F238E27FC236}">
                    <a16:creationId xmlns:a16="http://schemas.microsoft.com/office/drawing/2014/main" id="{A14B8D75-D213-5F97-3588-F203A6B9517B}"/>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275" name="Graphic 174">
            <a:extLst>
              <a:ext uri="{FF2B5EF4-FFF2-40B4-BE49-F238E27FC236}">
                <a16:creationId xmlns:a16="http://schemas.microsoft.com/office/drawing/2014/main" id="{EC792CAC-6961-E810-19DD-433DB74E1AAF}"/>
              </a:ext>
            </a:extLst>
          </p:cNvPr>
          <p:cNvGrpSpPr/>
          <p:nvPr/>
        </p:nvGrpSpPr>
        <p:grpSpPr>
          <a:xfrm>
            <a:off x="6533213" y="4668441"/>
            <a:ext cx="586686" cy="650258"/>
            <a:chOff x="6281500" y="4429475"/>
            <a:chExt cx="632815" cy="701385"/>
          </a:xfrm>
          <a:noFill/>
        </p:grpSpPr>
        <p:sp>
          <p:nvSpPr>
            <p:cNvPr id="276" name="Freeform: Shape 275">
              <a:extLst>
                <a:ext uri="{FF2B5EF4-FFF2-40B4-BE49-F238E27FC236}">
                  <a16:creationId xmlns:a16="http://schemas.microsoft.com/office/drawing/2014/main" id="{D9CEF71A-F314-8713-28D6-D085C7FFD39B}"/>
                </a:ext>
              </a:extLst>
            </p:cNvPr>
            <p:cNvSpPr/>
            <p:nvPr/>
          </p:nvSpPr>
          <p:spPr>
            <a:xfrm flipV="1">
              <a:off x="6502797" y="4985816"/>
              <a:ext cx="190230" cy="99644"/>
            </a:xfrm>
            <a:custGeom>
              <a:avLst/>
              <a:gdLst>
                <a:gd name="connsiteX0" fmla="*/ 144609 w 190230"/>
                <a:gd name="connsiteY0" fmla="*/ 100263 h 99644"/>
                <a:gd name="connsiteX1" fmla="*/ 190607 w 190230"/>
                <a:gd name="connsiteY1" fmla="*/ 100263 h 99644"/>
                <a:gd name="connsiteX2" fmla="*/ 190607 w 190230"/>
                <a:gd name="connsiteY2" fmla="*/ 35484 h 99644"/>
                <a:gd name="connsiteX3" fmla="*/ 155741 w 190230"/>
                <a:gd name="connsiteY3" fmla="*/ 618 h 99644"/>
                <a:gd name="connsiteX4" fmla="*/ 35242 w 190230"/>
                <a:gd name="connsiteY4" fmla="*/ 618 h 99644"/>
                <a:gd name="connsiteX5" fmla="*/ 376 w 190230"/>
                <a:gd name="connsiteY5" fmla="*/ 35484 h 99644"/>
                <a:gd name="connsiteX6" fmla="*/ 376 w 190230"/>
                <a:gd name="connsiteY6" fmla="*/ 100263 h 99644"/>
                <a:gd name="connsiteX7" fmla="*/ 102325 w 190230"/>
                <a:gd name="connsiteY7" fmla="*/ 100263 h 9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230" h="99644">
                  <a:moveTo>
                    <a:pt x="144609" y="100263"/>
                  </a:moveTo>
                  <a:lnTo>
                    <a:pt x="190607" y="100263"/>
                  </a:lnTo>
                  <a:lnTo>
                    <a:pt x="190607" y="35484"/>
                  </a:lnTo>
                  <a:cubicBezTo>
                    <a:pt x="190607" y="16228"/>
                    <a:pt x="174997" y="618"/>
                    <a:pt x="155741" y="618"/>
                  </a:cubicBezTo>
                  <a:lnTo>
                    <a:pt x="35242" y="618"/>
                  </a:lnTo>
                  <a:cubicBezTo>
                    <a:pt x="15987" y="618"/>
                    <a:pt x="376" y="16228"/>
                    <a:pt x="376" y="35484"/>
                  </a:cubicBezTo>
                  <a:lnTo>
                    <a:pt x="376" y="100263"/>
                  </a:lnTo>
                  <a:lnTo>
                    <a:pt x="102325" y="100263"/>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77" name="Freeform: Shape 276">
              <a:extLst>
                <a:ext uri="{FF2B5EF4-FFF2-40B4-BE49-F238E27FC236}">
                  <a16:creationId xmlns:a16="http://schemas.microsoft.com/office/drawing/2014/main" id="{C3B770FC-4CF7-F7EE-C6FF-ED3EB399AE10}"/>
                </a:ext>
              </a:extLst>
            </p:cNvPr>
            <p:cNvSpPr/>
            <p:nvPr/>
          </p:nvSpPr>
          <p:spPr>
            <a:xfrm flipV="1">
              <a:off x="6536405" y="5085461"/>
              <a:ext cx="123015" cy="45400"/>
            </a:xfrm>
            <a:custGeom>
              <a:avLst/>
              <a:gdLst>
                <a:gd name="connsiteX0" fmla="*/ 298 w 123015"/>
                <a:gd name="connsiteY0" fmla="*/ 46068 h 45400"/>
                <a:gd name="connsiteX1" fmla="*/ 61805 w 123015"/>
                <a:gd name="connsiteY1" fmla="*/ 668 h 45400"/>
                <a:gd name="connsiteX2" fmla="*/ 123313 w 123015"/>
                <a:gd name="connsiteY2" fmla="*/ 46068 h 45400"/>
              </a:gdLst>
              <a:ahLst/>
              <a:cxnLst>
                <a:cxn ang="0">
                  <a:pos x="connsiteX0" y="connsiteY0"/>
                </a:cxn>
                <a:cxn ang="0">
                  <a:pos x="connsiteX1" y="connsiteY1"/>
                </a:cxn>
                <a:cxn ang="0">
                  <a:pos x="connsiteX2" y="connsiteY2"/>
                </a:cxn>
              </a:cxnLst>
              <a:rect l="l" t="t" r="r" b="b"/>
              <a:pathLst>
                <a:path w="123015" h="45400">
                  <a:moveTo>
                    <a:pt x="298" y="46068"/>
                  </a:moveTo>
                  <a:cubicBezTo>
                    <a:pt x="8387" y="19779"/>
                    <a:pt x="32862" y="668"/>
                    <a:pt x="61805" y="668"/>
                  </a:cubicBezTo>
                  <a:cubicBezTo>
                    <a:pt x="90749" y="668"/>
                    <a:pt x="115224" y="19779"/>
                    <a:pt x="123313" y="46068"/>
                  </a:cubicBezTo>
                  <a:close/>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78" name="Freeform: Shape 277">
              <a:extLst>
                <a:ext uri="{FF2B5EF4-FFF2-40B4-BE49-F238E27FC236}">
                  <a16:creationId xmlns:a16="http://schemas.microsoft.com/office/drawing/2014/main" id="{959B88E7-912C-69F6-648C-6919D50F79E5}"/>
                </a:ext>
              </a:extLst>
            </p:cNvPr>
            <p:cNvSpPr/>
            <p:nvPr/>
          </p:nvSpPr>
          <p:spPr>
            <a:xfrm flipV="1">
              <a:off x="6453781" y="4625500"/>
              <a:ext cx="288263" cy="288263"/>
            </a:xfrm>
            <a:custGeom>
              <a:avLst/>
              <a:gdLst>
                <a:gd name="connsiteX0" fmla="*/ 144473 w 288263"/>
                <a:gd name="connsiteY0" fmla="*/ 86485 h 288263"/>
                <a:gd name="connsiteX1" fmla="*/ 86536 w 288263"/>
                <a:gd name="connsiteY1" fmla="*/ 144422 h 288263"/>
                <a:gd name="connsiteX2" fmla="*/ 144473 w 288263"/>
                <a:gd name="connsiteY2" fmla="*/ 202359 h 288263"/>
                <a:gd name="connsiteX3" fmla="*/ 202410 w 288263"/>
                <a:gd name="connsiteY3" fmla="*/ 144422 h 288263"/>
                <a:gd name="connsiteX4" fmla="*/ 144473 w 288263"/>
                <a:gd name="connsiteY4" fmla="*/ 86485 h 288263"/>
                <a:gd name="connsiteX5" fmla="*/ 288605 w 288263"/>
                <a:gd name="connsiteY5" fmla="*/ 122773 h 288263"/>
                <a:gd name="connsiteX6" fmla="*/ 288605 w 288263"/>
                <a:gd name="connsiteY6" fmla="*/ 166071 h 288263"/>
                <a:gd name="connsiteX7" fmla="*/ 253185 w 288263"/>
                <a:gd name="connsiteY7" fmla="*/ 171099 h 288263"/>
                <a:gd name="connsiteX8" fmla="*/ 240206 w 288263"/>
                <a:gd name="connsiteY8" fmla="*/ 202430 h 288263"/>
                <a:gd name="connsiteX9" fmla="*/ 261697 w 288263"/>
                <a:gd name="connsiteY9" fmla="*/ 231030 h 288263"/>
                <a:gd name="connsiteX10" fmla="*/ 231082 w 288263"/>
                <a:gd name="connsiteY10" fmla="*/ 261645 h 288263"/>
                <a:gd name="connsiteX11" fmla="*/ 202481 w 288263"/>
                <a:gd name="connsiteY11" fmla="*/ 240155 h 288263"/>
                <a:gd name="connsiteX12" fmla="*/ 171148 w 288263"/>
                <a:gd name="connsiteY12" fmla="*/ 253135 h 288263"/>
                <a:gd name="connsiteX13" fmla="*/ 166122 w 288263"/>
                <a:gd name="connsiteY13" fmla="*/ 288553 h 288263"/>
                <a:gd name="connsiteX14" fmla="*/ 122824 w 288263"/>
                <a:gd name="connsiteY14" fmla="*/ 288553 h 288263"/>
                <a:gd name="connsiteX15" fmla="*/ 117796 w 288263"/>
                <a:gd name="connsiteY15" fmla="*/ 253135 h 288263"/>
                <a:gd name="connsiteX16" fmla="*/ 86465 w 288263"/>
                <a:gd name="connsiteY16" fmla="*/ 240155 h 288263"/>
                <a:gd name="connsiteX17" fmla="*/ 57864 w 288263"/>
                <a:gd name="connsiteY17" fmla="*/ 261645 h 288263"/>
                <a:gd name="connsiteX18" fmla="*/ 27248 w 288263"/>
                <a:gd name="connsiteY18" fmla="*/ 231030 h 288263"/>
                <a:gd name="connsiteX19" fmla="*/ 48738 w 288263"/>
                <a:gd name="connsiteY19" fmla="*/ 202430 h 288263"/>
                <a:gd name="connsiteX20" fmla="*/ 35760 w 288263"/>
                <a:gd name="connsiteY20" fmla="*/ 171099 h 288263"/>
                <a:gd name="connsiteX21" fmla="*/ 341 w 288263"/>
                <a:gd name="connsiteY21" fmla="*/ 166071 h 288263"/>
                <a:gd name="connsiteX22" fmla="*/ 341 w 288263"/>
                <a:gd name="connsiteY22" fmla="*/ 122773 h 288263"/>
                <a:gd name="connsiteX23" fmla="*/ 35760 w 288263"/>
                <a:gd name="connsiteY23" fmla="*/ 117745 h 288263"/>
                <a:gd name="connsiteX24" fmla="*/ 48738 w 288263"/>
                <a:gd name="connsiteY24" fmla="*/ 86414 h 288263"/>
                <a:gd name="connsiteX25" fmla="*/ 27248 w 288263"/>
                <a:gd name="connsiteY25" fmla="*/ 57813 h 288263"/>
                <a:gd name="connsiteX26" fmla="*/ 57864 w 288263"/>
                <a:gd name="connsiteY26" fmla="*/ 27198 h 288263"/>
                <a:gd name="connsiteX27" fmla="*/ 86465 w 288263"/>
                <a:gd name="connsiteY27" fmla="*/ 48688 h 288263"/>
                <a:gd name="connsiteX28" fmla="*/ 117796 w 288263"/>
                <a:gd name="connsiteY28" fmla="*/ 35709 h 288263"/>
                <a:gd name="connsiteX29" fmla="*/ 122824 w 288263"/>
                <a:gd name="connsiteY29" fmla="*/ 290 h 288263"/>
                <a:gd name="connsiteX30" fmla="*/ 166122 w 288263"/>
                <a:gd name="connsiteY30" fmla="*/ 290 h 288263"/>
                <a:gd name="connsiteX31" fmla="*/ 171148 w 288263"/>
                <a:gd name="connsiteY31" fmla="*/ 35709 h 288263"/>
                <a:gd name="connsiteX32" fmla="*/ 202481 w 288263"/>
                <a:gd name="connsiteY32" fmla="*/ 48688 h 288263"/>
                <a:gd name="connsiteX33" fmla="*/ 231082 w 288263"/>
                <a:gd name="connsiteY33" fmla="*/ 27198 h 288263"/>
                <a:gd name="connsiteX34" fmla="*/ 261697 w 288263"/>
                <a:gd name="connsiteY34" fmla="*/ 57813 h 288263"/>
                <a:gd name="connsiteX35" fmla="*/ 240206 w 288263"/>
                <a:gd name="connsiteY35" fmla="*/ 86414 h 288263"/>
                <a:gd name="connsiteX36" fmla="*/ 253186 w 288263"/>
                <a:gd name="connsiteY36" fmla="*/ 117745 h 288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88263" h="288263">
                  <a:moveTo>
                    <a:pt x="144473" y="86485"/>
                  </a:moveTo>
                  <a:cubicBezTo>
                    <a:pt x="112475" y="86485"/>
                    <a:pt x="86536" y="112424"/>
                    <a:pt x="86536" y="144422"/>
                  </a:cubicBezTo>
                  <a:cubicBezTo>
                    <a:pt x="86536" y="176419"/>
                    <a:pt x="112475" y="202359"/>
                    <a:pt x="144473" y="202359"/>
                  </a:cubicBezTo>
                  <a:cubicBezTo>
                    <a:pt x="176471" y="202359"/>
                    <a:pt x="202410" y="176419"/>
                    <a:pt x="202410" y="144422"/>
                  </a:cubicBezTo>
                  <a:cubicBezTo>
                    <a:pt x="202410" y="112424"/>
                    <a:pt x="176471" y="86485"/>
                    <a:pt x="144473" y="86485"/>
                  </a:cubicBezTo>
                  <a:close/>
                  <a:moveTo>
                    <a:pt x="288605" y="122773"/>
                  </a:moveTo>
                  <a:lnTo>
                    <a:pt x="288605" y="166071"/>
                  </a:lnTo>
                  <a:lnTo>
                    <a:pt x="253185" y="171099"/>
                  </a:lnTo>
                  <a:cubicBezTo>
                    <a:pt x="250448" y="182297"/>
                    <a:pt x="246032" y="192837"/>
                    <a:pt x="240206" y="202430"/>
                  </a:cubicBezTo>
                  <a:lnTo>
                    <a:pt x="261697" y="231030"/>
                  </a:lnTo>
                  <a:lnTo>
                    <a:pt x="231082" y="261645"/>
                  </a:lnTo>
                  <a:lnTo>
                    <a:pt x="202481" y="240155"/>
                  </a:lnTo>
                  <a:cubicBezTo>
                    <a:pt x="192888" y="245981"/>
                    <a:pt x="182348" y="250397"/>
                    <a:pt x="171148" y="253135"/>
                  </a:cubicBezTo>
                  <a:lnTo>
                    <a:pt x="166122" y="288553"/>
                  </a:lnTo>
                  <a:lnTo>
                    <a:pt x="122824" y="288553"/>
                  </a:lnTo>
                  <a:lnTo>
                    <a:pt x="117796" y="253135"/>
                  </a:lnTo>
                  <a:cubicBezTo>
                    <a:pt x="106598" y="250397"/>
                    <a:pt x="96058" y="245981"/>
                    <a:pt x="86465" y="240155"/>
                  </a:cubicBezTo>
                  <a:lnTo>
                    <a:pt x="57864" y="261645"/>
                  </a:lnTo>
                  <a:lnTo>
                    <a:pt x="27248" y="231030"/>
                  </a:lnTo>
                  <a:lnTo>
                    <a:pt x="48738" y="202430"/>
                  </a:lnTo>
                  <a:cubicBezTo>
                    <a:pt x="42914" y="192837"/>
                    <a:pt x="38498" y="182297"/>
                    <a:pt x="35760" y="171099"/>
                  </a:cubicBezTo>
                  <a:lnTo>
                    <a:pt x="341" y="166071"/>
                  </a:lnTo>
                  <a:lnTo>
                    <a:pt x="341" y="122773"/>
                  </a:lnTo>
                  <a:lnTo>
                    <a:pt x="35760" y="117745"/>
                  </a:lnTo>
                  <a:cubicBezTo>
                    <a:pt x="38498" y="106547"/>
                    <a:pt x="42914" y="96007"/>
                    <a:pt x="48738" y="86414"/>
                  </a:cubicBezTo>
                  <a:lnTo>
                    <a:pt x="27248" y="57813"/>
                  </a:lnTo>
                  <a:lnTo>
                    <a:pt x="57864" y="27198"/>
                  </a:lnTo>
                  <a:lnTo>
                    <a:pt x="86465" y="48688"/>
                  </a:lnTo>
                  <a:cubicBezTo>
                    <a:pt x="96058" y="42863"/>
                    <a:pt x="106598" y="38447"/>
                    <a:pt x="117796" y="35709"/>
                  </a:cubicBezTo>
                  <a:lnTo>
                    <a:pt x="122824" y="290"/>
                  </a:lnTo>
                  <a:lnTo>
                    <a:pt x="166122" y="290"/>
                  </a:lnTo>
                  <a:lnTo>
                    <a:pt x="171148" y="35709"/>
                  </a:lnTo>
                  <a:cubicBezTo>
                    <a:pt x="182348" y="38447"/>
                    <a:pt x="192888" y="42863"/>
                    <a:pt x="202481" y="48688"/>
                  </a:cubicBezTo>
                  <a:lnTo>
                    <a:pt x="231082" y="27198"/>
                  </a:lnTo>
                  <a:lnTo>
                    <a:pt x="261697" y="57813"/>
                  </a:lnTo>
                  <a:lnTo>
                    <a:pt x="240206" y="86414"/>
                  </a:lnTo>
                  <a:cubicBezTo>
                    <a:pt x="246032" y="96007"/>
                    <a:pt x="250448" y="106547"/>
                    <a:pt x="253186" y="117745"/>
                  </a:cubicBezTo>
                  <a:close/>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79" name="Freeform: Shape 278">
              <a:extLst>
                <a:ext uri="{FF2B5EF4-FFF2-40B4-BE49-F238E27FC236}">
                  <a16:creationId xmlns:a16="http://schemas.microsoft.com/office/drawing/2014/main" id="{D630A080-0417-04B8-EB1D-BEBCCA166CC0}"/>
                </a:ext>
              </a:extLst>
            </p:cNvPr>
            <p:cNvSpPr/>
            <p:nvPr/>
          </p:nvSpPr>
          <p:spPr>
            <a:xfrm flipV="1">
              <a:off x="6597908" y="4429475"/>
              <a:ext cx="1057" cy="61999"/>
            </a:xfrm>
            <a:custGeom>
              <a:avLst/>
              <a:gdLst>
                <a:gd name="connsiteX0" fmla="*/ 341 w 1057"/>
                <a:gd name="connsiteY0" fmla="*/ 17 h 61999"/>
                <a:gd name="connsiteX1" fmla="*/ 341 w 1057"/>
                <a:gd name="connsiteY1" fmla="*/ 62016 h 61999"/>
              </a:gdLst>
              <a:ahLst/>
              <a:cxnLst>
                <a:cxn ang="0">
                  <a:pos x="connsiteX0" y="connsiteY0"/>
                </a:cxn>
                <a:cxn ang="0">
                  <a:pos x="connsiteX1" y="connsiteY1"/>
                </a:cxn>
              </a:cxnLst>
              <a:rect l="l" t="t" r="r" b="b"/>
              <a:pathLst>
                <a:path w="1057" h="61999">
                  <a:moveTo>
                    <a:pt x="341" y="17"/>
                  </a:moveTo>
                  <a:lnTo>
                    <a:pt x="341" y="62016"/>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0" name="Freeform: Shape 279">
              <a:extLst>
                <a:ext uri="{FF2B5EF4-FFF2-40B4-BE49-F238E27FC236}">
                  <a16:creationId xmlns:a16="http://schemas.microsoft.com/office/drawing/2014/main" id="{0F961237-C976-A205-3314-85127C0D5C5A}"/>
                </a:ext>
              </a:extLst>
            </p:cNvPr>
            <p:cNvSpPr/>
            <p:nvPr/>
          </p:nvSpPr>
          <p:spPr>
            <a:xfrm flipV="1">
              <a:off x="6852314" y="4745882"/>
              <a:ext cx="62000" cy="1057"/>
            </a:xfrm>
            <a:custGeom>
              <a:avLst/>
              <a:gdLst>
                <a:gd name="connsiteX0" fmla="*/ 589 w 62000"/>
                <a:gd name="connsiteY0" fmla="*/ 309 h 1057"/>
                <a:gd name="connsiteX1" fmla="*/ 62590 w 62000"/>
                <a:gd name="connsiteY1" fmla="*/ 309 h 1057"/>
              </a:gdLst>
              <a:ahLst/>
              <a:cxnLst>
                <a:cxn ang="0">
                  <a:pos x="connsiteX0" y="connsiteY0"/>
                </a:cxn>
                <a:cxn ang="0">
                  <a:pos x="connsiteX1" y="connsiteY1"/>
                </a:cxn>
              </a:cxnLst>
              <a:rect l="l" t="t" r="r" b="b"/>
              <a:pathLst>
                <a:path w="62000" h="1057">
                  <a:moveTo>
                    <a:pt x="589" y="309"/>
                  </a:moveTo>
                  <a:lnTo>
                    <a:pt x="62590" y="309"/>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1" name="Freeform: Shape 280">
              <a:extLst>
                <a:ext uri="{FF2B5EF4-FFF2-40B4-BE49-F238E27FC236}">
                  <a16:creationId xmlns:a16="http://schemas.microsoft.com/office/drawing/2014/main" id="{67BB9600-B9DC-729C-1A8C-3DB487E77D02}"/>
                </a:ext>
              </a:extLst>
            </p:cNvPr>
            <p:cNvSpPr/>
            <p:nvPr/>
          </p:nvSpPr>
          <p:spPr>
            <a:xfrm flipV="1">
              <a:off x="6281500" y="4745882"/>
              <a:ext cx="62000" cy="1057"/>
            </a:xfrm>
            <a:custGeom>
              <a:avLst/>
              <a:gdLst>
                <a:gd name="connsiteX0" fmla="*/ 49 w 62000"/>
                <a:gd name="connsiteY0" fmla="*/ 309 h 1057"/>
                <a:gd name="connsiteX1" fmla="*/ 62050 w 62000"/>
                <a:gd name="connsiteY1" fmla="*/ 309 h 1057"/>
              </a:gdLst>
              <a:ahLst/>
              <a:cxnLst>
                <a:cxn ang="0">
                  <a:pos x="connsiteX0" y="connsiteY0"/>
                </a:cxn>
                <a:cxn ang="0">
                  <a:pos x="connsiteX1" y="connsiteY1"/>
                </a:cxn>
              </a:cxnLst>
              <a:rect l="l" t="t" r="r" b="b"/>
              <a:pathLst>
                <a:path w="62000" h="1057">
                  <a:moveTo>
                    <a:pt x="49" y="309"/>
                  </a:moveTo>
                  <a:lnTo>
                    <a:pt x="62050" y="309"/>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2" name="Freeform: Shape 281">
              <a:extLst>
                <a:ext uri="{FF2B5EF4-FFF2-40B4-BE49-F238E27FC236}">
                  <a16:creationId xmlns:a16="http://schemas.microsoft.com/office/drawing/2014/main" id="{D0B89754-3FFD-90EC-23A7-C0F6F02AC650}"/>
                </a:ext>
              </a:extLst>
            </p:cNvPr>
            <p:cNvSpPr/>
            <p:nvPr/>
          </p:nvSpPr>
          <p:spPr>
            <a:xfrm flipV="1">
              <a:off x="6374174" y="4522148"/>
              <a:ext cx="43841" cy="43839"/>
            </a:xfrm>
            <a:custGeom>
              <a:avLst/>
              <a:gdLst>
                <a:gd name="connsiteX0" fmla="*/ 135 w 43841"/>
                <a:gd name="connsiteY0" fmla="*/ 43973 h 43839"/>
                <a:gd name="connsiteX1" fmla="*/ 43976 w 43841"/>
                <a:gd name="connsiteY1" fmla="*/ 134 h 43839"/>
              </a:gdLst>
              <a:ahLst/>
              <a:cxnLst>
                <a:cxn ang="0">
                  <a:pos x="connsiteX0" y="connsiteY0"/>
                </a:cxn>
                <a:cxn ang="0">
                  <a:pos x="connsiteX1" y="connsiteY1"/>
                </a:cxn>
              </a:cxnLst>
              <a:rect l="l" t="t" r="r" b="b"/>
              <a:pathLst>
                <a:path w="43841" h="43839">
                  <a:moveTo>
                    <a:pt x="135" y="43973"/>
                  </a:moveTo>
                  <a:lnTo>
                    <a:pt x="43976" y="134"/>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3" name="Freeform: Shape 282">
              <a:extLst>
                <a:ext uri="{FF2B5EF4-FFF2-40B4-BE49-F238E27FC236}">
                  <a16:creationId xmlns:a16="http://schemas.microsoft.com/office/drawing/2014/main" id="{4FDFD20E-F127-08E5-8D90-315D262DAF21}"/>
                </a:ext>
              </a:extLst>
            </p:cNvPr>
            <p:cNvSpPr/>
            <p:nvPr/>
          </p:nvSpPr>
          <p:spPr>
            <a:xfrm flipV="1">
              <a:off x="6339605" y="4644685"/>
              <a:ext cx="21426" cy="8393"/>
            </a:xfrm>
            <a:custGeom>
              <a:avLst/>
              <a:gdLst>
                <a:gd name="connsiteX0" fmla="*/ 100 w 21426"/>
                <a:gd name="connsiteY0" fmla="*/ 8613 h 8393"/>
                <a:gd name="connsiteX1" fmla="*/ 21526 w 21426"/>
                <a:gd name="connsiteY1" fmla="*/ 220 h 8393"/>
              </a:gdLst>
              <a:ahLst/>
              <a:cxnLst>
                <a:cxn ang="0">
                  <a:pos x="connsiteX0" y="connsiteY0"/>
                </a:cxn>
                <a:cxn ang="0">
                  <a:pos x="connsiteX1" y="connsiteY1"/>
                </a:cxn>
              </a:cxnLst>
              <a:rect l="l" t="t" r="r" b="b"/>
              <a:pathLst>
                <a:path w="21426" h="8393">
                  <a:moveTo>
                    <a:pt x="100" y="8613"/>
                  </a:moveTo>
                  <a:lnTo>
                    <a:pt x="21526" y="220"/>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4" name="Freeform: Shape 283">
              <a:extLst>
                <a:ext uri="{FF2B5EF4-FFF2-40B4-BE49-F238E27FC236}">
                  <a16:creationId xmlns:a16="http://schemas.microsoft.com/office/drawing/2014/main" id="{4ACE72BA-B0EB-FCC3-28CF-E3C7F96A8DCD}"/>
                </a:ext>
              </a:extLst>
            </p:cNvPr>
            <p:cNvSpPr/>
            <p:nvPr/>
          </p:nvSpPr>
          <p:spPr>
            <a:xfrm flipV="1">
              <a:off x="6496466" y="4486954"/>
              <a:ext cx="8638" cy="22052"/>
            </a:xfrm>
            <a:custGeom>
              <a:avLst/>
              <a:gdLst>
                <a:gd name="connsiteX0" fmla="*/ 8891 w 8638"/>
                <a:gd name="connsiteY0" fmla="*/ 67 h 22052"/>
                <a:gd name="connsiteX1" fmla="*/ 253 w 8638"/>
                <a:gd name="connsiteY1" fmla="*/ 22119 h 22052"/>
              </a:gdLst>
              <a:ahLst/>
              <a:cxnLst>
                <a:cxn ang="0">
                  <a:pos x="connsiteX0" y="connsiteY0"/>
                </a:cxn>
                <a:cxn ang="0">
                  <a:pos x="connsiteX1" y="connsiteY1"/>
                </a:cxn>
              </a:cxnLst>
              <a:rect l="l" t="t" r="r" b="b"/>
              <a:pathLst>
                <a:path w="8638" h="22052">
                  <a:moveTo>
                    <a:pt x="8891" y="67"/>
                  </a:moveTo>
                  <a:lnTo>
                    <a:pt x="253" y="22119"/>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5" name="Freeform: Shape 284">
              <a:extLst>
                <a:ext uri="{FF2B5EF4-FFF2-40B4-BE49-F238E27FC236}">
                  <a16:creationId xmlns:a16="http://schemas.microsoft.com/office/drawing/2014/main" id="{1E069F91-60E9-139B-4A94-FAF83A4C422F}"/>
                </a:ext>
              </a:extLst>
            </p:cNvPr>
            <p:cNvSpPr/>
            <p:nvPr/>
          </p:nvSpPr>
          <p:spPr>
            <a:xfrm flipV="1">
              <a:off x="6690711" y="4486954"/>
              <a:ext cx="8640" cy="22052"/>
            </a:xfrm>
            <a:custGeom>
              <a:avLst/>
              <a:gdLst>
                <a:gd name="connsiteX0" fmla="*/ 430 w 8640"/>
                <a:gd name="connsiteY0" fmla="*/ 67 h 22052"/>
                <a:gd name="connsiteX1" fmla="*/ 9070 w 8640"/>
                <a:gd name="connsiteY1" fmla="*/ 22119 h 22052"/>
              </a:gdLst>
              <a:ahLst/>
              <a:cxnLst>
                <a:cxn ang="0">
                  <a:pos x="connsiteX0" y="connsiteY0"/>
                </a:cxn>
                <a:cxn ang="0">
                  <a:pos x="connsiteX1" y="connsiteY1"/>
                </a:cxn>
              </a:cxnLst>
              <a:rect l="l" t="t" r="r" b="b"/>
              <a:pathLst>
                <a:path w="8640" h="22052">
                  <a:moveTo>
                    <a:pt x="430" y="67"/>
                  </a:moveTo>
                  <a:lnTo>
                    <a:pt x="9070" y="22119"/>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6" name="Freeform: Shape 285">
              <a:extLst>
                <a:ext uri="{FF2B5EF4-FFF2-40B4-BE49-F238E27FC236}">
                  <a16:creationId xmlns:a16="http://schemas.microsoft.com/office/drawing/2014/main" id="{9C2C544B-1B52-AB35-3C39-28C14003009D}"/>
                </a:ext>
              </a:extLst>
            </p:cNvPr>
            <p:cNvSpPr/>
            <p:nvPr/>
          </p:nvSpPr>
          <p:spPr>
            <a:xfrm flipV="1">
              <a:off x="6777802" y="4522148"/>
              <a:ext cx="43839" cy="43839"/>
            </a:xfrm>
            <a:custGeom>
              <a:avLst/>
              <a:gdLst>
                <a:gd name="connsiteX0" fmla="*/ 44388 w 43839"/>
                <a:gd name="connsiteY0" fmla="*/ 43973 h 43839"/>
                <a:gd name="connsiteX1" fmla="*/ 548 w 43839"/>
                <a:gd name="connsiteY1" fmla="*/ 134 h 43839"/>
              </a:gdLst>
              <a:ahLst/>
              <a:cxnLst>
                <a:cxn ang="0">
                  <a:pos x="connsiteX0" y="connsiteY0"/>
                </a:cxn>
                <a:cxn ang="0">
                  <a:pos x="connsiteX1" y="connsiteY1"/>
                </a:cxn>
              </a:cxnLst>
              <a:rect l="l" t="t" r="r" b="b"/>
              <a:pathLst>
                <a:path w="43839" h="43839">
                  <a:moveTo>
                    <a:pt x="44388" y="43973"/>
                  </a:moveTo>
                  <a:lnTo>
                    <a:pt x="548" y="134"/>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7" name="Freeform: Shape 286">
              <a:extLst>
                <a:ext uri="{FF2B5EF4-FFF2-40B4-BE49-F238E27FC236}">
                  <a16:creationId xmlns:a16="http://schemas.microsoft.com/office/drawing/2014/main" id="{69AE58FB-A8C3-9D0A-1CED-8CEF2EDB7F00}"/>
                </a:ext>
              </a:extLst>
            </p:cNvPr>
            <p:cNvSpPr/>
            <p:nvPr/>
          </p:nvSpPr>
          <p:spPr>
            <a:xfrm flipV="1">
              <a:off x="6834784" y="4644685"/>
              <a:ext cx="21426" cy="8393"/>
            </a:xfrm>
            <a:custGeom>
              <a:avLst/>
              <a:gdLst>
                <a:gd name="connsiteX0" fmla="*/ 22010 w 21426"/>
                <a:gd name="connsiteY0" fmla="*/ 8613 h 8393"/>
                <a:gd name="connsiteX1" fmla="*/ 583 w 21426"/>
                <a:gd name="connsiteY1" fmla="*/ 220 h 8393"/>
              </a:gdLst>
              <a:ahLst/>
              <a:cxnLst>
                <a:cxn ang="0">
                  <a:pos x="connsiteX0" y="connsiteY0"/>
                </a:cxn>
                <a:cxn ang="0">
                  <a:pos x="connsiteX1" y="connsiteY1"/>
                </a:cxn>
              </a:cxnLst>
              <a:rect l="l" t="t" r="r" b="b"/>
              <a:pathLst>
                <a:path w="21426" h="8393">
                  <a:moveTo>
                    <a:pt x="22010" y="8613"/>
                  </a:moveTo>
                  <a:lnTo>
                    <a:pt x="583" y="220"/>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8" name="Freeform: Shape 287">
              <a:extLst>
                <a:ext uri="{FF2B5EF4-FFF2-40B4-BE49-F238E27FC236}">
                  <a16:creationId xmlns:a16="http://schemas.microsoft.com/office/drawing/2014/main" id="{DB890EFB-3350-9279-8EBF-325B62B323D7}"/>
                </a:ext>
              </a:extLst>
            </p:cNvPr>
            <p:cNvSpPr/>
            <p:nvPr/>
          </p:nvSpPr>
          <p:spPr>
            <a:xfrm flipV="1">
              <a:off x="6382183" y="4599347"/>
              <a:ext cx="222562" cy="386468"/>
            </a:xfrm>
            <a:custGeom>
              <a:avLst/>
              <a:gdLst>
                <a:gd name="connsiteX0" fmla="*/ 66256 w 222562"/>
                <a:gd name="connsiteY0" fmla="*/ 386959 h 386468"/>
                <a:gd name="connsiteX1" fmla="*/ 210 w 222562"/>
                <a:gd name="connsiteY1" fmla="*/ 232231 h 386468"/>
                <a:gd name="connsiteX2" fmla="*/ 92272 w 222562"/>
                <a:gd name="connsiteY2" fmla="*/ 55465 h 386468"/>
                <a:gd name="connsiteX3" fmla="*/ 120825 w 222562"/>
                <a:gd name="connsiteY3" fmla="*/ 496 h 386468"/>
                <a:gd name="connsiteX4" fmla="*/ 120825 w 222562"/>
                <a:gd name="connsiteY4" fmla="*/ 490 h 386468"/>
                <a:gd name="connsiteX5" fmla="*/ 215940 w 222562"/>
                <a:gd name="connsiteY5" fmla="*/ 490 h 386468"/>
                <a:gd name="connsiteX6" fmla="*/ 222773 w 222562"/>
                <a:gd name="connsiteY6" fmla="*/ 490 h 38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562" h="386468">
                  <a:moveTo>
                    <a:pt x="66256" y="386959"/>
                  </a:moveTo>
                  <a:cubicBezTo>
                    <a:pt x="25636" y="347645"/>
                    <a:pt x="210" y="292691"/>
                    <a:pt x="210" y="232231"/>
                  </a:cubicBezTo>
                  <a:cubicBezTo>
                    <a:pt x="212" y="159098"/>
                    <a:pt x="36608" y="94473"/>
                    <a:pt x="92272" y="55465"/>
                  </a:cubicBezTo>
                  <a:cubicBezTo>
                    <a:pt x="110189" y="42907"/>
                    <a:pt x="120825" y="22375"/>
                    <a:pt x="120825" y="496"/>
                  </a:cubicBezTo>
                  <a:lnTo>
                    <a:pt x="120825" y="490"/>
                  </a:lnTo>
                  <a:lnTo>
                    <a:pt x="215940" y="490"/>
                  </a:lnTo>
                  <a:lnTo>
                    <a:pt x="222773" y="490"/>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9" name="Freeform: Shape 288">
              <a:extLst>
                <a:ext uri="{FF2B5EF4-FFF2-40B4-BE49-F238E27FC236}">
                  <a16:creationId xmlns:a16="http://schemas.microsoft.com/office/drawing/2014/main" id="{14389160-70EB-17AC-8E91-1D212A1D8995}"/>
                </a:ext>
              </a:extLst>
            </p:cNvPr>
            <p:cNvSpPr/>
            <p:nvPr/>
          </p:nvSpPr>
          <p:spPr>
            <a:xfrm flipV="1">
              <a:off x="6481388" y="4538342"/>
              <a:ext cx="332252" cy="447473"/>
            </a:xfrm>
            <a:custGeom>
              <a:avLst/>
              <a:gdLst>
                <a:gd name="connsiteX0" fmla="*/ 166029 w 332252"/>
                <a:gd name="connsiteY0" fmla="*/ 165 h 447473"/>
                <a:gd name="connsiteX1" fmla="*/ 212029 w 332252"/>
                <a:gd name="connsiteY1" fmla="*/ 165 h 447473"/>
                <a:gd name="connsiteX2" fmla="*/ 241011 w 332252"/>
                <a:gd name="connsiteY2" fmla="*/ 55443 h 447473"/>
                <a:gd name="connsiteX3" fmla="*/ 332640 w 332252"/>
                <a:gd name="connsiteY3" fmla="*/ 231909 h 447473"/>
                <a:gd name="connsiteX4" fmla="*/ 118755 w 332252"/>
                <a:gd name="connsiteY4" fmla="*/ 447632 h 447473"/>
                <a:gd name="connsiteX5" fmla="*/ 388 w 332252"/>
                <a:gd name="connsiteY5" fmla="*/ 413031 h 447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252" h="447473">
                  <a:moveTo>
                    <a:pt x="166029" y="165"/>
                  </a:moveTo>
                  <a:lnTo>
                    <a:pt x="212029" y="165"/>
                  </a:lnTo>
                  <a:cubicBezTo>
                    <a:pt x="212029" y="22232"/>
                    <a:pt x="222970" y="42734"/>
                    <a:pt x="241011" y="55443"/>
                  </a:cubicBezTo>
                  <a:cubicBezTo>
                    <a:pt x="296433" y="94485"/>
                    <a:pt x="332640" y="158965"/>
                    <a:pt x="332640" y="231909"/>
                  </a:cubicBezTo>
                  <a:cubicBezTo>
                    <a:pt x="332640" y="350439"/>
                    <a:pt x="237051" y="446642"/>
                    <a:pt x="118755" y="447632"/>
                  </a:cubicBezTo>
                  <a:cubicBezTo>
                    <a:pt x="75304" y="447994"/>
                    <a:pt x="34581" y="435206"/>
                    <a:pt x="388" y="413031"/>
                  </a:cubicBez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grpSp>
      <p:sp>
        <p:nvSpPr>
          <p:cNvPr id="3" name="Rectangle: Rounded Corners 2">
            <a:extLst>
              <a:ext uri="{FF2B5EF4-FFF2-40B4-BE49-F238E27FC236}">
                <a16:creationId xmlns:a16="http://schemas.microsoft.com/office/drawing/2014/main" id="{5AEF3CB1-B5F4-85A5-3E40-33AD1E227FCD}"/>
              </a:ext>
            </a:extLst>
          </p:cNvPr>
          <p:cNvSpPr>
            <a:spLocks/>
          </p:cNvSpPr>
          <p:nvPr/>
        </p:nvSpPr>
        <p:spPr bwMode="auto">
          <a:xfrm>
            <a:off x="6817283" y="2209072"/>
            <a:ext cx="4851239" cy="1625096"/>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39" name="Content Placeholder 2">
            <a:extLst>
              <a:ext uri="{FF2B5EF4-FFF2-40B4-BE49-F238E27FC236}">
                <a16:creationId xmlns:a16="http://schemas.microsoft.com/office/drawing/2014/main" id="{81D6B02F-ADF6-1A36-4499-3F0DF2A9E141}"/>
              </a:ext>
            </a:extLst>
          </p:cNvPr>
          <p:cNvSpPr txBox="1">
            <a:spLocks/>
          </p:cNvSpPr>
          <p:nvPr/>
        </p:nvSpPr>
        <p:spPr>
          <a:xfrm>
            <a:off x="7655701" y="2786932"/>
            <a:ext cx="4204875"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609630" fontAlgn="base">
              <a:spcBef>
                <a:spcPts val="1200"/>
              </a:spcBef>
              <a:spcAft>
                <a:spcPct val="0"/>
              </a:spcAft>
              <a:buNone/>
              <a:defRPr/>
            </a:pPr>
            <a:r>
              <a:rPr lang="en-US" sz="2000" spc="0">
                <a:ln>
                  <a:noFill/>
                </a:ln>
                <a:gradFill>
                  <a:gsLst>
                    <a:gs pos="0">
                      <a:srgbClr val="BDF2BD"/>
                    </a:gs>
                    <a:gs pos="100000">
                      <a:srgbClr val="C3E9FC"/>
                    </a:gs>
                  </a:gsLst>
                  <a:lin ang="5400000" scaled="1"/>
                </a:gradFill>
                <a:latin typeface="Segoe Sans Text Semibold"/>
              </a:rPr>
              <a:t>Benchmark and compare</a:t>
            </a:r>
            <a:r>
              <a:rPr lang="en-US" sz="2000">
                <a:latin typeface="Segoe Sans Text Semibold"/>
              </a:rPr>
              <a:t> different models and their capabilities based on your business and tech goals</a:t>
            </a:r>
          </a:p>
        </p:txBody>
      </p:sp>
      <p:grpSp>
        <p:nvGrpSpPr>
          <p:cNvPr id="240" name="Group 239">
            <a:extLst>
              <a:ext uri="{FF2B5EF4-FFF2-40B4-BE49-F238E27FC236}">
                <a16:creationId xmlns:a16="http://schemas.microsoft.com/office/drawing/2014/main" id="{6515A6A1-DA6D-E32E-0989-D2ED011E044A}"/>
              </a:ext>
            </a:extLst>
          </p:cNvPr>
          <p:cNvGrpSpPr/>
          <p:nvPr/>
        </p:nvGrpSpPr>
        <p:grpSpPr>
          <a:xfrm>
            <a:off x="6222254" y="2427890"/>
            <a:ext cx="1190058" cy="1190400"/>
            <a:chOff x="1600003" y="1811018"/>
            <a:chExt cx="1641521" cy="1641995"/>
          </a:xfrm>
        </p:grpSpPr>
        <p:sp>
          <p:nvSpPr>
            <p:cNvPr id="241" name="Oval 17">
              <a:extLst>
                <a:ext uri="{FF2B5EF4-FFF2-40B4-BE49-F238E27FC236}">
                  <a16:creationId xmlns:a16="http://schemas.microsoft.com/office/drawing/2014/main" id="{2F04E0C1-57AE-6E76-1452-3C0FBF423280}"/>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242" name="Group 241">
              <a:extLst>
                <a:ext uri="{FF2B5EF4-FFF2-40B4-BE49-F238E27FC236}">
                  <a16:creationId xmlns:a16="http://schemas.microsoft.com/office/drawing/2014/main" id="{1B3CF1DE-CC9C-BFEA-3FCE-2757C60ADB29}"/>
                </a:ext>
              </a:extLst>
            </p:cNvPr>
            <p:cNvGrpSpPr/>
            <p:nvPr/>
          </p:nvGrpSpPr>
          <p:grpSpPr>
            <a:xfrm>
              <a:off x="1714608" y="1927192"/>
              <a:ext cx="1412311" cy="1409646"/>
              <a:chOff x="1261672" y="4833937"/>
              <a:chExt cx="954296" cy="954297"/>
            </a:xfrm>
          </p:grpSpPr>
          <p:sp>
            <p:nvSpPr>
              <p:cNvPr id="243" name="Rectangle: Rounded Corners 242">
                <a:extLst>
                  <a:ext uri="{FF2B5EF4-FFF2-40B4-BE49-F238E27FC236}">
                    <a16:creationId xmlns:a16="http://schemas.microsoft.com/office/drawing/2014/main" id="{A27DDE8A-16A6-DE4D-C60F-0811629EB8C9}"/>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44" name="Rectangle: Rounded Corners 243">
                <a:extLst>
                  <a:ext uri="{FF2B5EF4-FFF2-40B4-BE49-F238E27FC236}">
                    <a16:creationId xmlns:a16="http://schemas.microsoft.com/office/drawing/2014/main" id="{31CAB948-35B9-BC51-9DC7-6FAEA773BAC7}"/>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252" name="Graphic 171">
            <a:extLst>
              <a:ext uri="{FF2B5EF4-FFF2-40B4-BE49-F238E27FC236}">
                <a16:creationId xmlns:a16="http://schemas.microsoft.com/office/drawing/2014/main" id="{33D57305-77F2-5043-8357-D2507CBC11D4}"/>
              </a:ext>
            </a:extLst>
          </p:cNvPr>
          <p:cNvSpPr/>
          <p:nvPr/>
        </p:nvSpPr>
        <p:spPr>
          <a:xfrm>
            <a:off x="6506320" y="2718812"/>
            <a:ext cx="629657" cy="631995"/>
          </a:xfrm>
          <a:custGeom>
            <a:avLst/>
            <a:gdLst>
              <a:gd name="connsiteX0" fmla="*/ 61113 w 629657"/>
              <a:gd name="connsiteY0" fmla="*/ 220311 h 631995"/>
              <a:gd name="connsiteX1" fmla="*/ 288040 w 629657"/>
              <a:gd name="connsiteY1" fmla="*/ 46192 h 631995"/>
              <a:gd name="connsiteX2" fmla="*/ 251515 w 629657"/>
              <a:gd name="connsiteY2" fmla="*/ 17562 h 631995"/>
              <a:gd name="connsiteX3" fmla="*/ 249842 w 629657"/>
              <a:gd name="connsiteY3" fmla="*/ 3763 h 631995"/>
              <a:gd name="connsiteX4" fmla="*/ 263641 w 629657"/>
              <a:gd name="connsiteY4" fmla="*/ 2090 h 631995"/>
              <a:gd name="connsiteX5" fmla="*/ 320877 w 629657"/>
              <a:gd name="connsiteY5" fmla="*/ 46955 h 631995"/>
              <a:gd name="connsiteX6" fmla="*/ 322549 w 629657"/>
              <a:gd name="connsiteY6" fmla="*/ 60753 h 631995"/>
              <a:gd name="connsiteX7" fmla="*/ 277685 w 629657"/>
              <a:gd name="connsiteY7" fmla="*/ 117989 h 631995"/>
              <a:gd name="connsiteX8" fmla="*/ 269937 w 629657"/>
              <a:gd name="connsiteY8" fmla="*/ 121753 h 631995"/>
              <a:gd name="connsiteX9" fmla="*/ 263874 w 629657"/>
              <a:gd name="connsiteY9" fmla="*/ 119662 h 631995"/>
              <a:gd name="connsiteX10" fmla="*/ 262202 w 629657"/>
              <a:gd name="connsiteY10" fmla="*/ 105863 h 631995"/>
              <a:gd name="connsiteX11" fmla="*/ 293919 w 629657"/>
              <a:gd name="connsiteY11" fmla="*/ 65390 h 631995"/>
              <a:gd name="connsiteX12" fmla="*/ 79474 w 629657"/>
              <a:gd name="connsiteY12" fmla="*/ 227235 h 631995"/>
              <a:gd name="connsiteX13" fmla="*/ 70275 w 629657"/>
              <a:gd name="connsiteY13" fmla="*/ 233593 h 631995"/>
              <a:gd name="connsiteX14" fmla="*/ 66807 w 629657"/>
              <a:gd name="connsiteY14" fmla="*/ 232953 h 631995"/>
              <a:gd name="connsiteX15" fmla="*/ 61113 w 629657"/>
              <a:gd name="connsiteY15" fmla="*/ 220311 h 631995"/>
              <a:gd name="connsiteX16" fmla="*/ 226057 w 629657"/>
              <a:gd name="connsiteY16" fmla="*/ 551343 h 631995"/>
              <a:gd name="connsiteX17" fmla="*/ 64175 w 629657"/>
              <a:gd name="connsiteY17" fmla="*/ 336308 h 631995"/>
              <a:gd name="connsiteX18" fmla="*/ 105756 w 629657"/>
              <a:gd name="connsiteY18" fmla="*/ 367558 h 631995"/>
              <a:gd name="connsiteX19" fmla="*/ 119517 w 629657"/>
              <a:gd name="connsiteY19" fmla="*/ 365602 h 631995"/>
              <a:gd name="connsiteX20" fmla="*/ 117562 w 629657"/>
              <a:gd name="connsiteY20" fmla="*/ 351841 h 631995"/>
              <a:gd name="connsiteX21" fmla="*/ 59453 w 629657"/>
              <a:gd name="connsiteY21" fmla="*/ 308157 h 631995"/>
              <a:gd name="connsiteX22" fmla="*/ 45691 w 629657"/>
              <a:gd name="connsiteY22" fmla="*/ 310113 h 631995"/>
              <a:gd name="connsiteX23" fmla="*/ 1971 w 629657"/>
              <a:gd name="connsiteY23" fmla="*/ 368259 h 631995"/>
              <a:gd name="connsiteX24" fmla="*/ 3926 w 629657"/>
              <a:gd name="connsiteY24" fmla="*/ 382021 h 631995"/>
              <a:gd name="connsiteX25" fmla="*/ 9829 w 629657"/>
              <a:gd name="connsiteY25" fmla="*/ 383988 h 631995"/>
              <a:gd name="connsiteX26" fmla="*/ 17700 w 629657"/>
              <a:gd name="connsiteY26" fmla="*/ 380065 h 631995"/>
              <a:gd name="connsiteX27" fmla="*/ 45101 w 629657"/>
              <a:gd name="connsiteY27" fmla="*/ 343613 h 631995"/>
              <a:gd name="connsiteX28" fmla="*/ 95265 w 629657"/>
              <a:gd name="connsiteY28" fmla="*/ 475082 h 631995"/>
              <a:gd name="connsiteX29" fmla="*/ 219121 w 629657"/>
              <a:gd name="connsiteY29" fmla="*/ 569729 h 631995"/>
              <a:gd name="connsiteX30" fmla="*/ 222589 w 629657"/>
              <a:gd name="connsiteY30" fmla="*/ 570369 h 631995"/>
              <a:gd name="connsiteX31" fmla="*/ 231788 w 629657"/>
              <a:gd name="connsiteY31" fmla="*/ 564010 h 631995"/>
              <a:gd name="connsiteX32" fmla="*/ 226057 w 629657"/>
              <a:gd name="connsiteY32" fmla="*/ 551343 h 631995"/>
              <a:gd name="connsiteX33" fmla="*/ 562845 w 629657"/>
              <a:gd name="connsiteY33" fmla="*/ 399066 h 631995"/>
              <a:gd name="connsiteX34" fmla="*/ 550178 w 629657"/>
              <a:gd name="connsiteY34" fmla="*/ 404797 h 631995"/>
              <a:gd name="connsiteX35" fmla="*/ 335684 w 629657"/>
              <a:gd name="connsiteY35" fmla="*/ 566630 h 631995"/>
              <a:gd name="connsiteX36" fmla="*/ 367426 w 629657"/>
              <a:gd name="connsiteY36" fmla="*/ 526132 h 631995"/>
              <a:gd name="connsiteX37" fmla="*/ 365753 w 629657"/>
              <a:gd name="connsiteY37" fmla="*/ 512333 h 631995"/>
              <a:gd name="connsiteX38" fmla="*/ 351955 w 629657"/>
              <a:gd name="connsiteY38" fmla="*/ 514006 h 631995"/>
              <a:gd name="connsiteX39" fmla="*/ 307090 w 629657"/>
              <a:gd name="connsiteY39" fmla="*/ 571242 h 631995"/>
              <a:gd name="connsiteX40" fmla="*/ 308763 w 629657"/>
              <a:gd name="connsiteY40" fmla="*/ 585040 h 631995"/>
              <a:gd name="connsiteX41" fmla="*/ 365999 w 629657"/>
              <a:gd name="connsiteY41" fmla="*/ 629904 h 631995"/>
              <a:gd name="connsiteX42" fmla="*/ 372062 w 629657"/>
              <a:gd name="connsiteY42" fmla="*/ 631995 h 631995"/>
              <a:gd name="connsiteX43" fmla="*/ 379810 w 629657"/>
              <a:gd name="connsiteY43" fmla="*/ 628232 h 631995"/>
              <a:gd name="connsiteX44" fmla="*/ 378138 w 629657"/>
              <a:gd name="connsiteY44" fmla="*/ 614433 h 631995"/>
              <a:gd name="connsiteX45" fmla="*/ 341636 w 629657"/>
              <a:gd name="connsiteY45" fmla="*/ 585827 h 631995"/>
              <a:gd name="connsiteX46" fmla="*/ 568576 w 629657"/>
              <a:gd name="connsiteY46" fmla="*/ 411733 h 631995"/>
              <a:gd name="connsiteX47" fmla="*/ 562845 w 629657"/>
              <a:gd name="connsiteY47" fmla="*/ 399066 h 631995"/>
              <a:gd name="connsiteX48" fmla="*/ 335389 w 629657"/>
              <a:gd name="connsiteY48" fmla="*/ 492803 h 631995"/>
              <a:gd name="connsiteX49" fmla="*/ 294251 w 629657"/>
              <a:gd name="connsiteY49" fmla="*/ 492803 h 631995"/>
              <a:gd name="connsiteX50" fmla="*/ 284904 w 629657"/>
              <a:gd name="connsiteY50" fmla="*/ 486002 h 631995"/>
              <a:gd name="connsiteX51" fmla="*/ 276271 w 629657"/>
              <a:gd name="connsiteY51" fmla="*/ 459438 h 631995"/>
              <a:gd name="connsiteX52" fmla="*/ 240680 w 629657"/>
              <a:gd name="connsiteY52" fmla="*/ 444705 h 631995"/>
              <a:gd name="connsiteX53" fmla="*/ 215788 w 629657"/>
              <a:gd name="connsiteY53" fmla="*/ 457397 h 631995"/>
              <a:gd name="connsiteX54" fmla="*/ 204375 w 629657"/>
              <a:gd name="connsiteY54" fmla="*/ 455601 h 631995"/>
              <a:gd name="connsiteX55" fmla="*/ 175253 w 629657"/>
              <a:gd name="connsiteY55" fmla="*/ 426479 h 631995"/>
              <a:gd name="connsiteX56" fmla="*/ 173458 w 629657"/>
              <a:gd name="connsiteY56" fmla="*/ 415066 h 631995"/>
              <a:gd name="connsiteX57" fmla="*/ 186149 w 629657"/>
              <a:gd name="connsiteY57" fmla="*/ 390162 h 631995"/>
              <a:gd name="connsiteX58" fmla="*/ 171404 w 629657"/>
              <a:gd name="connsiteY58" fmla="*/ 354571 h 631995"/>
              <a:gd name="connsiteX59" fmla="*/ 144815 w 629657"/>
              <a:gd name="connsiteY59" fmla="*/ 345950 h 631995"/>
              <a:gd name="connsiteX60" fmla="*/ 138014 w 629657"/>
              <a:gd name="connsiteY60" fmla="*/ 336603 h 631995"/>
              <a:gd name="connsiteX61" fmla="*/ 138014 w 629657"/>
              <a:gd name="connsiteY61" fmla="*/ 295466 h 631995"/>
              <a:gd name="connsiteX62" fmla="*/ 144803 w 629657"/>
              <a:gd name="connsiteY62" fmla="*/ 286119 h 631995"/>
              <a:gd name="connsiteX63" fmla="*/ 171416 w 629657"/>
              <a:gd name="connsiteY63" fmla="*/ 277449 h 631995"/>
              <a:gd name="connsiteX64" fmla="*/ 186149 w 629657"/>
              <a:gd name="connsiteY64" fmla="*/ 241870 h 631995"/>
              <a:gd name="connsiteX65" fmla="*/ 173458 w 629657"/>
              <a:gd name="connsiteY65" fmla="*/ 216953 h 631995"/>
              <a:gd name="connsiteX66" fmla="*/ 175265 w 629657"/>
              <a:gd name="connsiteY66" fmla="*/ 205541 h 631995"/>
              <a:gd name="connsiteX67" fmla="*/ 204388 w 629657"/>
              <a:gd name="connsiteY67" fmla="*/ 176455 h 631995"/>
              <a:gd name="connsiteX68" fmla="*/ 215788 w 629657"/>
              <a:gd name="connsiteY68" fmla="*/ 174647 h 631995"/>
              <a:gd name="connsiteX69" fmla="*/ 240704 w 629657"/>
              <a:gd name="connsiteY69" fmla="*/ 187327 h 631995"/>
              <a:gd name="connsiteX70" fmla="*/ 276296 w 629657"/>
              <a:gd name="connsiteY70" fmla="*/ 172569 h 631995"/>
              <a:gd name="connsiteX71" fmla="*/ 284929 w 629657"/>
              <a:gd name="connsiteY71" fmla="*/ 146005 h 631995"/>
              <a:gd name="connsiteX72" fmla="*/ 294276 w 629657"/>
              <a:gd name="connsiteY72" fmla="*/ 139204 h 631995"/>
              <a:gd name="connsiteX73" fmla="*/ 335413 w 629657"/>
              <a:gd name="connsiteY73" fmla="*/ 139204 h 631995"/>
              <a:gd name="connsiteX74" fmla="*/ 344760 w 629657"/>
              <a:gd name="connsiteY74" fmla="*/ 145980 h 631995"/>
              <a:gd name="connsiteX75" fmla="*/ 353406 w 629657"/>
              <a:gd name="connsiteY75" fmla="*/ 172569 h 631995"/>
              <a:gd name="connsiteX76" fmla="*/ 388997 w 629657"/>
              <a:gd name="connsiteY76" fmla="*/ 187327 h 631995"/>
              <a:gd name="connsiteX77" fmla="*/ 395552 w 629657"/>
              <a:gd name="connsiteY77" fmla="*/ 183969 h 631995"/>
              <a:gd name="connsiteX78" fmla="*/ 413925 w 629657"/>
              <a:gd name="connsiteY78" fmla="*/ 174647 h 631995"/>
              <a:gd name="connsiteX79" fmla="*/ 425326 w 629657"/>
              <a:gd name="connsiteY79" fmla="*/ 176468 h 631995"/>
              <a:gd name="connsiteX80" fmla="*/ 454399 w 629657"/>
              <a:gd name="connsiteY80" fmla="*/ 205541 h 631995"/>
              <a:gd name="connsiteX81" fmla="*/ 456207 w 629657"/>
              <a:gd name="connsiteY81" fmla="*/ 216953 h 631995"/>
              <a:gd name="connsiteX82" fmla="*/ 443515 w 629657"/>
              <a:gd name="connsiteY82" fmla="*/ 241857 h 631995"/>
              <a:gd name="connsiteX83" fmla="*/ 458285 w 629657"/>
              <a:gd name="connsiteY83" fmla="*/ 277461 h 631995"/>
              <a:gd name="connsiteX84" fmla="*/ 484874 w 629657"/>
              <a:gd name="connsiteY84" fmla="*/ 286107 h 631995"/>
              <a:gd name="connsiteX85" fmla="*/ 491663 w 629657"/>
              <a:gd name="connsiteY85" fmla="*/ 295453 h 631995"/>
              <a:gd name="connsiteX86" fmla="*/ 491663 w 629657"/>
              <a:gd name="connsiteY86" fmla="*/ 336591 h 631995"/>
              <a:gd name="connsiteX87" fmla="*/ 484862 w 629657"/>
              <a:gd name="connsiteY87" fmla="*/ 345938 h 631995"/>
              <a:gd name="connsiteX88" fmla="*/ 458273 w 629657"/>
              <a:gd name="connsiteY88" fmla="*/ 354571 h 631995"/>
              <a:gd name="connsiteX89" fmla="*/ 443527 w 629657"/>
              <a:gd name="connsiteY89" fmla="*/ 390150 h 631995"/>
              <a:gd name="connsiteX90" fmla="*/ 456219 w 629657"/>
              <a:gd name="connsiteY90" fmla="*/ 415054 h 631995"/>
              <a:gd name="connsiteX91" fmla="*/ 454424 w 629657"/>
              <a:gd name="connsiteY91" fmla="*/ 426467 h 631995"/>
              <a:gd name="connsiteX92" fmla="*/ 425338 w 629657"/>
              <a:gd name="connsiteY92" fmla="*/ 455589 h 631995"/>
              <a:gd name="connsiteX93" fmla="*/ 413925 w 629657"/>
              <a:gd name="connsiteY93" fmla="*/ 457397 h 631995"/>
              <a:gd name="connsiteX94" fmla="*/ 389009 w 629657"/>
              <a:gd name="connsiteY94" fmla="*/ 444705 h 631995"/>
              <a:gd name="connsiteX95" fmla="*/ 353406 w 629657"/>
              <a:gd name="connsiteY95" fmla="*/ 459438 h 631995"/>
              <a:gd name="connsiteX96" fmla="*/ 351143 w 629657"/>
              <a:gd name="connsiteY96" fmla="*/ 466436 h 631995"/>
              <a:gd name="connsiteX97" fmla="*/ 344748 w 629657"/>
              <a:gd name="connsiteY97" fmla="*/ 486027 h 631995"/>
              <a:gd name="connsiteX98" fmla="*/ 335389 w 629657"/>
              <a:gd name="connsiteY98" fmla="*/ 492803 h 631995"/>
              <a:gd name="connsiteX99" fmla="*/ 328256 w 629657"/>
              <a:gd name="connsiteY99" fmla="*/ 473138 h 631995"/>
              <a:gd name="connsiteX100" fmla="*/ 336348 w 629657"/>
              <a:gd name="connsiteY100" fmla="*/ 448185 h 631995"/>
              <a:gd name="connsiteX101" fmla="*/ 343518 w 629657"/>
              <a:gd name="connsiteY101" fmla="*/ 441618 h 631995"/>
              <a:gd name="connsiteX102" fmla="*/ 383364 w 629657"/>
              <a:gd name="connsiteY102" fmla="*/ 425126 h 631995"/>
              <a:gd name="connsiteX103" fmla="*/ 393055 w 629657"/>
              <a:gd name="connsiteY103" fmla="*/ 424696 h 631995"/>
              <a:gd name="connsiteX104" fmla="*/ 416459 w 629657"/>
              <a:gd name="connsiteY104" fmla="*/ 436625 h 631995"/>
              <a:gd name="connsiteX105" fmla="*/ 435435 w 629657"/>
              <a:gd name="connsiteY105" fmla="*/ 417624 h 631995"/>
              <a:gd name="connsiteX106" fmla="*/ 423506 w 629657"/>
              <a:gd name="connsiteY106" fmla="*/ 394196 h 631995"/>
              <a:gd name="connsiteX107" fmla="*/ 423949 w 629657"/>
              <a:gd name="connsiteY107" fmla="*/ 384517 h 631995"/>
              <a:gd name="connsiteX108" fmla="*/ 440428 w 629657"/>
              <a:gd name="connsiteY108" fmla="*/ 344732 h 631995"/>
              <a:gd name="connsiteX109" fmla="*/ 446983 w 629657"/>
              <a:gd name="connsiteY109" fmla="*/ 337550 h 631995"/>
              <a:gd name="connsiteX110" fmla="*/ 471986 w 629657"/>
              <a:gd name="connsiteY110" fmla="*/ 329433 h 631995"/>
              <a:gd name="connsiteX111" fmla="*/ 471986 w 629657"/>
              <a:gd name="connsiteY111" fmla="*/ 302574 h 631995"/>
              <a:gd name="connsiteX112" fmla="*/ 447032 w 629657"/>
              <a:gd name="connsiteY112" fmla="*/ 294482 h 631995"/>
              <a:gd name="connsiteX113" fmla="*/ 440465 w 629657"/>
              <a:gd name="connsiteY113" fmla="*/ 287312 h 631995"/>
              <a:gd name="connsiteX114" fmla="*/ 423949 w 629657"/>
              <a:gd name="connsiteY114" fmla="*/ 247490 h 631995"/>
              <a:gd name="connsiteX115" fmla="*/ 423506 w 629657"/>
              <a:gd name="connsiteY115" fmla="*/ 237787 h 631995"/>
              <a:gd name="connsiteX116" fmla="*/ 435435 w 629657"/>
              <a:gd name="connsiteY116" fmla="*/ 214371 h 631995"/>
              <a:gd name="connsiteX117" fmla="*/ 416459 w 629657"/>
              <a:gd name="connsiteY117" fmla="*/ 195395 h 631995"/>
              <a:gd name="connsiteX118" fmla="*/ 393080 w 629657"/>
              <a:gd name="connsiteY118" fmla="*/ 207312 h 631995"/>
              <a:gd name="connsiteX119" fmla="*/ 383352 w 629657"/>
              <a:gd name="connsiteY119" fmla="*/ 206881 h 631995"/>
              <a:gd name="connsiteX120" fmla="*/ 343530 w 629657"/>
              <a:gd name="connsiteY120" fmla="*/ 190365 h 631995"/>
              <a:gd name="connsiteX121" fmla="*/ 336360 w 629657"/>
              <a:gd name="connsiteY121" fmla="*/ 183797 h 631995"/>
              <a:gd name="connsiteX122" fmla="*/ 328268 w 629657"/>
              <a:gd name="connsiteY122" fmla="*/ 158844 h 631995"/>
              <a:gd name="connsiteX123" fmla="*/ 301409 w 629657"/>
              <a:gd name="connsiteY123" fmla="*/ 158844 h 631995"/>
              <a:gd name="connsiteX124" fmla="*/ 293292 w 629657"/>
              <a:gd name="connsiteY124" fmla="*/ 183822 h 631995"/>
              <a:gd name="connsiteX125" fmla="*/ 286134 w 629657"/>
              <a:gd name="connsiteY125" fmla="*/ 190365 h 631995"/>
              <a:gd name="connsiteX126" fmla="*/ 246349 w 629657"/>
              <a:gd name="connsiteY126" fmla="*/ 206869 h 631995"/>
              <a:gd name="connsiteX127" fmla="*/ 236621 w 629657"/>
              <a:gd name="connsiteY127" fmla="*/ 207312 h 631995"/>
              <a:gd name="connsiteX128" fmla="*/ 213218 w 629657"/>
              <a:gd name="connsiteY128" fmla="*/ 195382 h 631995"/>
              <a:gd name="connsiteX129" fmla="*/ 194217 w 629657"/>
              <a:gd name="connsiteY129" fmla="*/ 214358 h 631995"/>
              <a:gd name="connsiteX130" fmla="*/ 206146 w 629657"/>
              <a:gd name="connsiteY130" fmla="*/ 237774 h 631995"/>
              <a:gd name="connsiteX131" fmla="*/ 205716 w 629657"/>
              <a:gd name="connsiteY131" fmla="*/ 247465 h 631995"/>
              <a:gd name="connsiteX132" fmla="*/ 189224 w 629657"/>
              <a:gd name="connsiteY132" fmla="*/ 287275 h 631995"/>
              <a:gd name="connsiteX133" fmla="*/ 182681 w 629657"/>
              <a:gd name="connsiteY133" fmla="*/ 294432 h 631995"/>
              <a:gd name="connsiteX134" fmla="*/ 157679 w 629657"/>
              <a:gd name="connsiteY134" fmla="*/ 302574 h 631995"/>
              <a:gd name="connsiteX135" fmla="*/ 157679 w 629657"/>
              <a:gd name="connsiteY135" fmla="*/ 329421 h 631995"/>
              <a:gd name="connsiteX136" fmla="*/ 182681 w 629657"/>
              <a:gd name="connsiteY136" fmla="*/ 337538 h 631995"/>
              <a:gd name="connsiteX137" fmla="*/ 189224 w 629657"/>
              <a:gd name="connsiteY137" fmla="*/ 344720 h 631995"/>
              <a:gd name="connsiteX138" fmla="*/ 205704 w 629657"/>
              <a:gd name="connsiteY138" fmla="*/ 384505 h 631995"/>
              <a:gd name="connsiteX139" fmla="*/ 206146 w 629657"/>
              <a:gd name="connsiteY139" fmla="*/ 394184 h 631995"/>
              <a:gd name="connsiteX140" fmla="*/ 194217 w 629657"/>
              <a:gd name="connsiteY140" fmla="*/ 417612 h 631995"/>
              <a:gd name="connsiteX141" fmla="*/ 213218 w 629657"/>
              <a:gd name="connsiteY141" fmla="*/ 436613 h 631995"/>
              <a:gd name="connsiteX142" fmla="*/ 236646 w 629657"/>
              <a:gd name="connsiteY142" fmla="*/ 424683 h 631995"/>
              <a:gd name="connsiteX143" fmla="*/ 246325 w 629657"/>
              <a:gd name="connsiteY143" fmla="*/ 425126 h 631995"/>
              <a:gd name="connsiteX144" fmla="*/ 286122 w 629657"/>
              <a:gd name="connsiteY144" fmla="*/ 441606 h 631995"/>
              <a:gd name="connsiteX145" fmla="*/ 293280 w 629657"/>
              <a:gd name="connsiteY145" fmla="*/ 448148 h 631995"/>
              <a:gd name="connsiteX146" fmla="*/ 301396 w 629657"/>
              <a:gd name="connsiteY146" fmla="*/ 473126 h 631995"/>
              <a:gd name="connsiteX147" fmla="*/ 328256 w 629657"/>
              <a:gd name="connsiteY147" fmla="*/ 473126 h 631995"/>
              <a:gd name="connsiteX148" fmla="*/ 314826 w 629657"/>
              <a:gd name="connsiteY148" fmla="*/ 401600 h 631995"/>
              <a:gd name="connsiteX149" fmla="*/ 229206 w 629657"/>
              <a:gd name="connsiteY149" fmla="*/ 316016 h 631995"/>
              <a:gd name="connsiteX150" fmla="*/ 314826 w 629657"/>
              <a:gd name="connsiteY150" fmla="*/ 230395 h 631995"/>
              <a:gd name="connsiteX151" fmla="*/ 400447 w 629657"/>
              <a:gd name="connsiteY151" fmla="*/ 316016 h 631995"/>
              <a:gd name="connsiteX152" fmla="*/ 314826 w 629657"/>
              <a:gd name="connsiteY152" fmla="*/ 401600 h 631995"/>
              <a:gd name="connsiteX153" fmla="*/ 380782 w 629657"/>
              <a:gd name="connsiteY153" fmla="*/ 316016 h 631995"/>
              <a:gd name="connsiteX154" fmla="*/ 314826 w 629657"/>
              <a:gd name="connsiteY154" fmla="*/ 250060 h 631995"/>
              <a:gd name="connsiteX155" fmla="*/ 248870 w 629657"/>
              <a:gd name="connsiteY155" fmla="*/ 316016 h 631995"/>
              <a:gd name="connsiteX156" fmla="*/ 314826 w 629657"/>
              <a:gd name="connsiteY156" fmla="*/ 381935 h 631995"/>
              <a:gd name="connsiteX157" fmla="*/ 380782 w 629657"/>
              <a:gd name="connsiteY157" fmla="*/ 316016 h 631995"/>
              <a:gd name="connsiteX158" fmla="*/ 625726 w 629657"/>
              <a:gd name="connsiteY158" fmla="*/ 250011 h 631995"/>
              <a:gd name="connsiteX159" fmla="*/ 611964 w 629657"/>
              <a:gd name="connsiteY159" fmla="*/ 251967 h 631995"/>
              <a:gd name="connsiteX160" fmla="*/ 584564 w 629657"/>
              <a:gd name="connsiteY160" fmla="*/ 288443 h 631995"/>
              <a:gd name="connsiteX161" fmla="*/ 410531 w 629657"/>
              <a:gd name="connsiteY161" fmla="*/ 62278 h 631995"/>
              <a:gd name="connsiteX162" fmla="*/ 397864 w 629657"/>
              <a:gd name="connsiteY162" fmla="*/ 68009 h 631995"/>
              <a:gd name="connsiteX163" fmla="*/ 403595 w 629657"/>
              <a:gd name="connsiteY163" fmla="*/ 80676 h 631995"/>
              <a:gd name="connsiteX164" fmla="*/ 565477 w 629657"/>
              <a:gd name="connsiteY164" fmla="*/ 295711 h 631995"/>
              <a:gd name="connsiteX165" fmla="*/ 523897 w 629657"/>
              <a:gd name="connsiteY165" fmla="*/ 264449 h 631995"/>
              <a:gd name="connsiteX166" fmla="*/ 510135 w 629657"/>
              <a:gd name="connsiteY166" fmla="*/ 266405 h 631995"/>
              <a:gd name="connsiteX167" fmla="*/ 512090 w 629657"/>
              <a:gd name="connsiteY167" fmla="*/ 280166 h 631995"/>
              <a:gd name="connsiteX168" fmla="*/ 570236 w 629657"/>
              <a:gd name="connsiteY168" fmla="*/ 323887 h 631995"/>
              <a:gd name="connsiteX169" fmla="*/ 576140 w 629657"/>
              <a:gd name="connsiteY169" fmla="*/ 325855 h 631995"/>
              <a:gd name="connsiteX170" fmla="*/ 577517 w 629657"/>
              <a:gd name="connsiteY170" fmla="*/ 325756 h 631995"/>
              <a:gd name="connsiteX171" fmla="*/ 583998 w 629657"/>
              <a:gd name="connsiteY171" fmla="*/ 321931 h 631995"/>
              <a:gd name="connsiteX172" fmla="*/ 627682 w 629657"/>
              <a:gd name="connsiteY172" fmla="*/ 263785 h 631995"/>
              <a:gd name="connsiteX173" fmla="*/ 625726 w 629657"/>
              <a:gd name="connsiteY173" fmla="*/ 250011 h 63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629657" h="631995">
                <a:moveTo>
                  <a:pt x="61113" y="220311"/>
                </a:moveTo>
                <a:cubicBezTo>
                  <a:pt x="97639" y="123511"/>
                  <a:pt x="185879" y="56252"/>
                  <a:pt x="288040" y="46192"/>
                </a:cubicBezTo>
                <a:lnTo>
                  <a:pt x="251515" y="17562"/>
                </a:lnTo>
                <a:cubicBezTo>
                  <a:pt x="247247" y="14217"/>
                  <a:pt x="246497" y="8031"/>
                  <a:pt x="249842" y="3763"/>
                </a:cubicBezTo>
                <a:cubicBezTo>
                  <a:pt x="253187" y="-504"/>
                  <a:pt x="259373" y="-1255"/>
                  <a:pt x="263641" y="2090"/>
                </a:cubicBezTo>
                <a:lnTo>
                  <a:pt x="320877" y="46955"/>
                </a:lnTo>
                <a:cubicBezTo>
                  <a:pt x="325144" y="50300"/>
                  <a:pt x="325895" y="56486"/>
                  <a:pt x="322549" y="60753"/>
                </a:cubicBezTo>
                <a:lnTo>
                  <a:pt x="277685" y="117989"/>
                </a:lnTo>
                <a:cubicBezTo>
                  <a:pt x="275742" y="120461"/>
                  <a:pt x="272864" y="121753"/>
                  <a:pt x="269937" y="121753"/>
                </a:cubicBezTo>
                <a:cubicBezTo>
                  <a:pt x="267822" y="121753"/>
                  <a:pt x="265682" y="121064"/>
                  <a:pt x="263874" y="119662"/>
                </a:cubicBezTo>
                <a:cubicBezTo>
                  <a:pt x="259607" y="116317"/>
                  <a:pt x="258857" y="110131"/>
                  <a:pt x="262202" y="105863"/>
                </a:cubicBezTo>
                <a:lnTo>
                  <a:pt x="293919" y="65390"/>
                </a:lnTo>
                <a:cubicBezTo>
                  <a:pt x="197488" y="73334"/>
                  <a:pt x="113823" y="136203"/>
                  <a:pt x="79474" y="227235"/>
                </a:cubicBezTo>
                <a:cubicBezTo>
                  <a:pt x="77986" y="231170"/>
                  <a:pt x="74247" y="233593"/>
                  <a:pt x="70275" y="233593"/>
                </a:cubicBezTo>
                <a:cubicBezTo>
                  <a:pt x="69119" y="233593"/>
                  <a:pt x="67951" y="233384"/>
                  <a:pt x="66807" y="232953"/>
                </a:cubicBezTo>
                <a:cubicBezTo>
                  <a:pt x="61765" y="231059"/>
                  <a:pt x="59194" y="225390"/>
                  <a:pt x="61113" y="220311"/>
                </a:cubicBezTo>
                <a:close/>
                <a:moveTo>
                  <a:pt x="226057" y="551343"/>
                </a:moveTo>
                <a:cubicBezTo>
                  <a:pt x="134337" y="516748"/>
                  <a:pt x="71898" y="433194"/>
                  <a:pt x="64175" y="336308"/>
                </a:cubicBezTo>
                <a:lnTo>
                  <a:pt x="105756" y="367558"/>
                </a:lnTo>
                <a:cubicBezTo>
                  <a:pt x="110097" y="370817"/>
                  <a:pt x="116258" y="369944"/>
                  <a:pt x="119517" y="365602"/>
                </a:cubicBezTo>
                <a:cubicBezTo>
                  <a:pt x="122776" y="361261"/>
                  <a:pt x="121903" y="355100"/>
                  <a:pt x="117562" y="351841"/>
                </a:cubicBezTo>
                <a:lnTo>
                  <a:pt x="59453" y="308157"/>
                </a:lnTo>
                <a:cubicBezTo>
                  <a:pt x="55111" y="304898"/>
                  <a:pt x="48950" y="305771"/>
                  <a:pt x="45691" y="310113"/>
                </a:cubicBezTo>
                <a:lnTo>
                  <a:pt x="1971" y="368259"/>
                </a:lnTo>
                <a:cubicBezTo>
                  <a:pt x="-1288" y="372600"/>
                  <a:pt x="-415" y="378762"/>
                  <a:pt x="3926" y="382021"/>
                </a:cubicBezTo>
                <a:cubicBezTo>
                  <a:pt x="5697" y="383349"/>
                  <a:pt x="7775" y="383988"/>
                  <a:pt x="9829" y="383988"/>
                </a:cubicBezTo>
                <a:cubicBezTo>
                  <a:pt x="12818" y="383988"/>
                  <a:pt x="15757" y="382636"/>
                  <a:pt x="17700" y="380065"/>
                </a:cubicBezTo>
                <a:lnTo>
                  <a:pt x="45101" y="343613"/>
                </a:lnTo>
                <a:cubicBezTo>
                  <a:pt x="49909" y="391109"/>
                  <a:pt x="67065" y="436231"/>
                  <a:pt x="95265" y="475082"/>
                </a:cubicBezTo>
                <a:cubicBezTo>
                  <a:pt x="126601" y="518249"/>
                  <a:pt x="169424" y="550974"/>
                  <a:pt x="219121" y="569729"/>
                </a:cubicBezTo>
                <a:cubicBezTo>
                  <a:pt x="220265" y="570159"/>
                  <a:pt x="221433" y="570369"/>
                  <a:pt x="222589" y="570369"/>
                </a:cubicBezTo>
                <a:cubicBezTo>
                  <a:pt x="226561" y="570369"/>
                  <a:pt x="230300" y="567946"/>
                  <a:pt x="231788" y="564010"/>
                </a:cubicBezTo>
                <a:cubicBezTo>
                  <a:pt x="233694" y="558931"/>
                  <a:pt x="231136" y="553262"/>
                  <a:pt x="226057" y="551343"/>
                </a:cubicBezTo>
                <a:close/>
                <a:moveTo>
                  <a:pt x="562845" y="399066"/>
                </a:moveTo>
                <a:cubicBezTo>
                  <a:pt x="557766" y="397148"/>
                  <a:pt x="552096" y="399706"/>
                  <a:pt x="550178" y="404797"/>
                </a:cubicBezTo>
                <a:cubicBezTo>
                  <a:pt x="515829" y="495804"/>
                  <a:pt x="432115" y="558698"/>
                  <a:pt x="335684" y="566630"/>
                </a:cubicBezTo>
                <a:lnTo>
                  <a:pt x="367426" y="526132"/>
                </a:lnTo>
                <a:cubicBezTo>
                  <a:pt x="370771" y="521864"/>
                  <a:pt x="370033" y="515678"/>
                  <a:pt x="365753" y="512333"/>
                </a:cubicBezTo>
                <a:cubicBezTo>
                  <a:pt x="361473" y="508988"/>
                  <a:pt x="355300" y="509738"/>
                  <a:pt x="351955" y="514006"/>
                </a:cubicBezTo>
                <a:lnTo>
                  <a:pt x="307090" y="571242"/>
                </a:lnTo>
                <a:cubicBezTo>
                  <a:pt x="303745" y="575509"/>
                  <a:pt x="304483" y="581695"/>
                  <a:pt x="308763" y="585040"/>
                </a:cubicBezTo>
                <a:lnTo>
                  <a:pt x="365999" y="629904"/>
                </a:lnTo>
                <a:cubicBezTo>
                  <a:pt x="367795" y="631319"/>
                  <a:pt x="369935" y="631995"/>
                  <a:pt x="372062" y="631995"/>
                </a:cubicBezTo>
                <a:cubicBezTo>
                  <a:pt x="374977" y="631995"/>
                  <a:pt x="377867" y="630704"/>
                  <a:pt x="379810" y="628232"/>
                </a:cubicBezTo>
                <a:cubicBezTo>
                  <a:pt x="383155" y="623964"/>
                  <a:pt x="382417" y="617778"/>
                  <a:pt x="378138" y="614433"/>
                </a:cubicBezTo>
                <a:lnTo>
                  <a:pt x="341636" y="585827"/>
                </a:lnTo>
                <a:cubicBezTo>
                  <a:pt x="443773" y="575767"/>
                  <a:pt x="532050" y="508484"/>
                  <a:pt x="568576" y="411733"/>
                </a:cubicBezTo>
                <a:cubicBezTo>
                  <a:pt x="570495" y="406654"/>
                  <a:pt x="567924" y="400985"/>
                  <a:pt x="562845" y="399066"/>
                </a:cubicBezTo>
                <a:close/>
                <a:moveTo>
                  <a:pt x="335389" y="492803"/>
                </a:moveTo>
                <a:lnTo>
                  <a:pt x="294251" y="492803"/>
                </a:lnTo>
                <a:cubicBezTo>
                  <a:pt x="289996" y="492803"/>
                  <a:pt x="286220" y="490061"/>
                  <a:pt x="284904" y="486002"/>
                </a:cubicBezTo>
                <a:lnTo>
                  <a:pt x="276271" y="459438"/>
                </a:lnTo>
                <a:cubicBezTo>
                  <a:pt x="263776" y="456081"/>
                  <a:pt x="251847" y="451149"/>
                  <a:pt x="240680" y="444705"/>
                </a:cubicBezTo>
                <a:lnTo>
                  <a:pt x="215788" y="457397"/>
                </a:lnTo>
                <a:cubicBezTo>
                  <a:pt x="212000" y="459328"/>
                  <a:pt x="207388" y="458602"/>
                  <a:pt x="204375" y="455601"/>
                </a:cubicBezTo>
                <a:lnTo>
                  <a:pt x="175253" y="426479"/>
                </a:lnTo>
                <a:cubicBezTo>
                  <a:pt x="172240" y="423466"/>
                  <a:pt x="171527" y="418854"/>
                  <a:pt x="173458" y="415066"/>
                </a:cubicBezTo>
                <a:lnTo>
                  <a:pt x="186149" y="390162"/>
                </a:lnTo>
                <a:cubicBezTo>
                  <a:pt x="179656" y="378909"/>
                  <a:pt x="174712" y="366980"/>
                  <a:pt x="171404" y="354571"/>
                </a:cubicBezTo>
                <a:lnTo>
                  <a:pt x="144815" y="345950"/>
                </a:lnTo>
                <a:cubicBezTo>
                  <a:pt x="140756" y="344634"/>
                  <a:pt x="138014" y="340858"/>
                  <a:pt x="138014" y="336603"/>
                </a:cubicBezTo>
                <a:lnTo>
                  <a:pt x="138014" y="295466"/>
                </a:lnTo>
                <a:cubicBezTo>
                  <a:pt x="138014" y="291210"/>
                  <a:pt x="140756" y="287435"/>
                  <a:pt x="144803" y="286119"/>
                </a:cubicBezTo>
                <a:lnTo>
                  <a:pt x="171416" y="277449"/>
                </a:lnTo>
                <a:cubicBezTo>
                  <a:pt x="174761" y="264990"/>
                  <a:pt x="179705" y="253061"/>
                  <a:pt x="186149" y="241870"/>
                </a:cubicBezTo>
                <a:lnTo>
                  <a:pt x="173458" y="216953"/>
                </a:lnTo>
                <a:cubicBezTo>
                  <a:pt x="171527" y="213153"/>
                  <a:pt x="172252" y="208554"/>
                  <a:pt x="175265" y="205541"/>
                </a:cubicBezTo>
                <a:lnTo>
                  <a:pt x="204388" y="176455"/>
                </a:lnTo>
                <a:cubicBezTo>
                  <a:pt x="207401" y="173454"/>
                  <a:pt x="212000" y="172729"/>
                  <a:pt x="215788" y="174647"/>
                </a:cubicBezTo>
                <a:lnTo>
                  <a:pt x="240704" y="187327"/>
                </a:lnTo>
                <a:cubicBezTo>
                  <a:pt x="251847" y="180870"/>
                  <a:pt x="263776" y="175926"/>
                  <a:pt x="276296" y="172569"/>
                </a:cubicBezTo>
                <a:lnTo>
                  <a:pt x="284929" y="146005"/>
                </a:lnTo>
                <a:cubicBezTo>
                  <a:pt x="286245" y="141946"/>
                  <a:pt x="290020" y="139204"/>
                  <a:pt x="294276" y="139204"/>
                </a:cubicBezTo>
                <a:lnTo>
                  <a:pt x="335413" y="139204"/>
                </a:lnTo>
                <a:cubicBezTo>
                  <a:pt x="339669" y="139204"/>
                  <a:pt x="343444" y="141946"/>
                  <a:pt x="344760" y="145980"/>
                </a:cubicBezTo>
                <a:lnTo>
                  <a:pt x="353406" y="172569"/>
                </a:lnTo>
                <a:cubicBezTo>
                  <a:pt x="365888" y="175914"/>
                  <a:pt x="377818" y="180870"/>
                  <a:pt x="388997" y="187327"/>
                </a:cubicBezTo>
                <a:lnTo>
                  <a:pt x="395552" y="183969"/>
                </a:lnTo>
                <a:lnTo>
                  <a:pt x="413925" y="174647"/>
                </a:lnTo>
                <a:cubicBezTo>
                  <a:pt x="417713" y="172729"/>
                  <a:pt x="422313" y="173454"/>
                  <a:pt x="425326" y="176468"/>
                </a:cubicBezTo>
                <a:lnTo>
                  <a:pt x="454399" y="205541"/>
                </a:lnTo>
                <a:cubicBezTo>
                  <a:pt x="457412" y="208554"/>
                  <a:pt x="458138" y="213166"/>
                  <a:pt x="456207" y="216953"/>
                </a:cubicBezTo>
                <a:lnTo>
                  <a:pt x="443515" y="241857"/>
                </a:lnTo>
                <a:cubicBezTo>
                  <a:pt x="449984" y="253036"/>
                  <a:pt x="454928" y="264978"/>
                  <a:pt x="458285" y="277461"/>
                </a:cubicBezTo>
                <a:lnTo>
                  <a:pt x="484874" y="286107"/>
                </a:lnTo>
                <a:cubicBezTo>
                  <a:pt x="488920" y="287422"/>
                  <a:pt x="491663" y="291198"/>
                  <a:pt x="491663" y="295453"/>
                </a:cubicBezTo>
                <a:lnTo>
                  <a:pt x="491663" y="336591"/>
                </a:lnTo>
                <a:cubicBezTo>
                  <a:pt x="491663" y="340846"/>
                  <a:pt x="488920" y="344622"/>
                  <a:pt x="484862" y="345938"/>
                </a:cubicBezTo>
                <a:lnTo>
                  <a:pt x="458273" y="354571"/>
                </a:lnTo>
                <a:cubicBezTo>
                  <a:pt x="454952" y="366980"/>
                  <a:pt x="450009" y="378909"/>
                  <a:pt x="443527" y="390150"/>
                </a:cubicBezTo>
                <a:lnTo>
                  <a:pt x="456219" y="415054"/>
                </a:lnTo>
                <a:cubicBezTo>
                  <a:pt x="458150" y="418842"/>
                  <a:pt x="457424" y="423454"/>
                  <a:pt x="454424" y="426467"/>
                </a:cubicBezTo>
                <a:lnTo>
                  <a:pt x="425338" y="455589"/>
                </a:lnTo>
                <a:cubicBezTo>
                  <a:pt x="422325" y="458602"/>
                  <a:pt x="417713" y="459328"/>
                  <a:pt x="413925" y="457397"/>
                </a:cubicBezTo>
                <a:lnTo>
                  <a:pt x="389009" y="444705"/>
                </a:lnTo>
                <a:cubicBezTo>
                  <a:pt x="377805" y="451161"/>
                  <a:pt x="365876" y="456093"/>
                  <a:pt x="353406" y="459438"/>
                </a:cubicBezTo>
                <a:lnTo>
                  <a:pt x="351143" y="466436"/>
                </a:lnTo>
                <a:lnTo>
                  <a:pt x="344748" y="486027"/>
                </a:lnTo>
                <a:cubicBezTo>
                  <a:pt x="343420" y="490061"/>
                  <a:pt x="339644" y="492803"/>
                  <a:pt x="335389" y="492803"/>
                </a:cubicBezTo>
                <a:close/>
                <a:moveTo>
                  <a:pt x="328256" y="473138"/>
                </a:moveTo>
                <a:lnTo>
                  <a:pt x="336348" y="448185"/>
                </a:lnTo>
                <a:cubicBezTo>
                  <a:pt x="337418" y="444889"/>
                  <a:pt x="340136" y="442393"/>
                  <a:pt x="343518" y="441618"/>
                </a:cubicBezTo>
                <a:cubicBezTo>
                  <a:pt x="357649" y="438396"/>
                  <a:pt x="371054" y="432849"/>
                  <a:pt x="383364" y="425126"/>
                </a:cubicBezTo>
                <a:cubicBezTo>
                  <a:pt x="386291" y="423294"/>
                  <a:pt x="389968" y="423121"/>
                  <a:pt x="393055" y="424696"/>
                </a:cubicBezTo>
                <a:lnTo>
                  <a:pt x="416459" y="436625"/>
                </a:lnTo>
                <a:lnTo>
                  <a:pt x="435435" y="417624"/>
                </a:lnTo>
                <a:lnTo>
                  <a:pt x="423506" y="394196"/>
                </a:lnTo>
                <a:cubicBezTo>
                  <a:pt x="421944" y="391121"/>
                  <a:pt x="422116" y="387444"/>
                  <a:pt x="423949" y="384517"/>
                </a:cubicBezTo>
                <a:cubicBezTo>
                  <a:pt x="431709" y="372145"/>
                  <a:pt x="437255" y="358752"/>
                  <a:pt x="440428" y="344732"/>
                </a:cubicBezTo>
                <a:cubicBezTo>
                  <a:pt x="441191" y="341350"/>
                  <a:pt x="443687" y="338620"/>
                  <a:pt x="446983" y="337550"/>
                </a:cubicBezTo>
                <a:lnTo>
                  <a:pt x="471986" y="329433"/>
                </a:lnTo>
                <a:lnTo>
                  <a:pt x="471986" y="302574"/>
                </a:lnTo>
                <a:lnTo>
                  <a:pt x="447032" y="294482"/>
                </a:lnTo>
                <a:cubicBezTo>
                  <a:pt x="443736" y="293412"/>
                  <a:pt x="441240" y="290694"/>
                  <a:pt x="440465" y="287312"/>
                </a:cubicBezTo>
                <a:cubicBezTo>
                  <a:pt x="437231" y="273156"/>
                  <a:pt x="431684" y="259751"/>
                  <a:pt x="423949" y="247490"/>
                </a:cubicBezTo>
                <a:cubicBezTo>
                  <a:pt x="422104" y="244563"/>
                  <a:pt x="421932" y="240874"/>
                  <a:pt x="423506" y="237787"/>
                </a:cubicBezTo>
                <a:lnTo>
                  <a:pt x="435435" y="214371"/>
                </a:lnTo>
                <a:lnTo>
                  <a:pt x="416459" y="195395"/>
                </a:lnTo>
                <a:lnTo>
                  <a:pt x="393080" y="207312"/>
                </a:lnTo>
                <a:cubicBezTo>
                  <a:pt x="389993" y="208898"/>
                  <a:pt x="386291" y="208726"/>
                  <a:pt x="383352" y="206881"/>
                </a:cubicBezTo>
                <a:cubicBezTo>
                  <a:pt x="371091" y="199158"/>
                  <a:pt x="357686" y="193599"/>
                  <a:pt x="343530" y="190365"/>
                </a:cubicBezTo>
                <a:cubicBezTo>
                  <a:pt x="340148" y="189590"/>
                  <a:pt x="337430" y="187106"/>
                  <a:pt x="336360" y="183797"/>
                </a:cubicBezTo>
                <a:lnTo>
                  <a:pt x="328268" y="158844"/>
                </a:lnTo>
                <a:lnTo>
                  <a:pt x="301409" y="158844"/>
                </a:lnTo>
                <a:lnTo>
                  <a:pt x="293292" y="183822"/>
                </a:lnTo>
                <a:cubicBezTo>
                  <a:pt x="292222" y="187106"/>
                  <a:pt x="289504" y="189590"/>
                  <a:pt x="286134" y="190365"/>
                </a:cubicBezTo>
                <a:cubicBezTo>
                  <a:pt x="271942" y="193611"/>
                  <a:pt x="258549" y="199158"/>
                  <a:pt x="246349" y="206869"/>
                </a:cubicBezTo>
                <a:cubicBezTo>
                  <a:pt x="243410" y="208726"/>
                  <a:pt x="239721" y="208886"/>
                  <a:pt x="236621" y="207312"/>
                </a:cubicBezTo>
                <a:lnTo>
                  <a:pt x="213218" y="195382"/>
                </a:lnTo>
                <a:lnTo>
                  <a:pt x="194217" y="214358"/>
                </a:lnTo>
                <a:lnTo>
                  <a:pt x="206146" y="237774"/>
                </a:lnTo>
                <a:cubicBezTo>
                  <a:pt x="207721" y="240849"/>
                  <a:pt x="207548" y="244526"/>
                  <a:pt x="205716" y="247465"/>
                </a:cubicBezTo>
                <a:cubicBezTo>
                  <a:pt x="198005" y="259764"/>
                  <a:pt x="192458" y="273156"/>
                  <a:pt x="189224" y="287275"/>
                </a:cubicBezTo>
                <a:cubicBezTo>
                  <a:pt x="188449" y="290645"/>
                  <a:pt x="185965" y="293362"/>
                  <a:pt x="182681" y="294432"/>
                </a:cubicBezTo>
                <a:lnTo>
                  <a:pt x="157679" y="302574"/>
                </a:lnTo>
                <a:lnTo>
                  <a:pt x="157679" y="329421"/>
                </a:lnTo>
                <a:lnTo>
                  <a:pt x="182681" y="337538"/>
                </a:lnTo>
                <a:cubicBezTo>
                  <a:pt x="185977" y="338608"/>
                  <a:pt x="188461" y="341338"/>
                  <a:pt x="189224" y="344720"/>
                </a:cubicBezTo>
                <a:cubicBezTo>
                  <a:pt x="192397" y="358740"/>
                  <a:pt x="197943" y="372133"/>
                  <a:pt x="205704" y="384505"/>
                </a:cubicBezTo>
                <a:cubicBezTo>
                  <a:pt x="207536" y="387432"/>
                  <a:pt x="207708" y="391097"/>
                  <a:pt x="206146" y="394184"/>
                </a:cubicBezTo>
                <a:lnTo>
                  <a:pt x="194217" y="417612"/>
                </a:lnTo>
                <a:lnTo>
                  <a:pt x="213218" y="436613"/>
                </a:lnTo>
                <a:lnTo>
                  <a:pt x="236646" y="424683"/>
                </a:lnTo>
                <a:cubicBezTo>
                  <a:pt x="239721" y="423121"/>
                  <a:pt x="243410" y="423281"/>
                  <a:pt x="246325" y="425126"/>
                </a:cubicBezTo>
                <a:cubicBezTo>
                  <a:pt x="258562" y="432825"/>
                  <a:pt x="271954" y="438371"/>
                  <a:pt x="286122" y="441606"/>
                </a:cubicBezTo>
                <a:cubicBezTo>
                  <a:pt x="289492" y="442381"/>
                  <a:pt x="292210" y="444865"/>
                  <a:pt x="293280" y="448148"/>
                </a:cubicBezTo>
                <a:lnTo>
                  <a:pt x="301396" y="473126"/>
                </a:lnTo>
                <a:lnTo>
                  <a:pt x="328256" y="473126"/>
                </a:lnTo>
                <a:close/>
                <a:moveTo>
                  <a:pt x="314826" y="401600"/>
                </a:moveTo>
                <a:cubicBezTo>
                  <a:pt x="267613" y="401600"/>
                  <a:pt x="229206" y="363204"/>
                  <a:pt x="229206" y="316016"/>
                </a:cubicBezTo>
                <a:cubicBezTo>
                  <a:pt x="229206" y="268803"/>
                  <a:pt x="267613" y="230395"/>
                  <a:pt x="314826" y="230395"/>
                </a:cubicBezTo>
                <a:cubicBezTo>
                  <a:pt x="362039" y="230395"/>
                  <a:pt x="400447" y="268803"/>
                  <a:pt x="400447" y="316016"/>
                </a:cubicBezTo>
                <a:cubicBezTo>
                  <a:pt x="400447" y="363217"/>
                  <a:pt x="362039" y="401600"/>
                  <a:pt x="314826" y="401600"/>
                </a:cubicBezTo>
                <a:close/>
                <a:moveTo>
                  <a:pt x="380782" y="316016"/>
                </a:moveTo>
                <a:cubicBezTo>
                  <a:pt x="380782" y="279650"/>
                  <a:pt x="351192" y="250060"/>
                  <a:pt x="314826" y="250060"/>
                </a:cubicBezTo>
                <a:cubicBezTo>
                  <a:pt x="278460" y="250060"/>
                  <a:pt x="248870" y="279650"/>
                  <a:pt x="248870" y="316016"/>
                </a:cubicBezTo>
                <a:cubicBezTo>
                  <a:pt x="248870" y="352370"/>
                  <a:pt x="278460" y="381935"/>
                  <a:pt x="314826" y="381935"/>
                </a:cubicBezTo>
                <a:cubicBezTo>
                  <a:pt x="351192" y="381935"/>
                  <a:pt x="380782" y="352370"/>
                  <a:pt x="380782" y="316016"/>
                </a:cubicBezTo>
                <a:close/>
                <a:moveTo>
                  <a:pt x="625726" y="250011"/>
                </a:moveTo>
                <a:cubicBezTo>
                  <a:pt x="621385" y="246752"/>
                  <a:pt x="615223" y="247625"/>
                  <a:pt x="611964" y="251967"/>
                </a:cubicBezTo>
                <a:lnTo>
                  <a:pt x="584564" y="288443"/>
                </a:lnTo>
                <a:cubicBezTo>
                  <a:pt x="574258" y="186577"/>
                  <a:pt x="507171" y="98730"/>
                  <a:pt x="410531" y="62278"/>
                </a:cubicBezTo>
                <a:cubicBezTo>
                  <a:pt x="405452" y="60360"/>
                  <a:pt x="399782" y="62930"/>
                  <a:pt x="397864" y="68009"/>
                </a:cubicBezTo>
                <a:cubicBezTo>
                  <a:pt x="395945" y="73088"/>
                  <a:pt x="398516" y="78758"/>
                  <a:pt x="403595" y="80676"/>
                </a:cubicBezTo>
                <a:cubicBezTo>
                  <a:pt x="494885" y="115111"/>
                  <a:pt x="557754" y="198998"/>
                  <a:pt x="565477" y="295711"/>
                </a:cubicBezTo>
                <a:lnTo>
                  <a:pt x="523897" y="264449"/>
                </a:lnTo>
                <a:cubicBezTo>
                  <a:pt x="519555" y="261190"/>
                  <a:pt x="513394" y="262063"/>
                  <a:pt x="510135" y="266405"/>
                </a:cubicBezTo>
                <a:cubicBezTo>
                  <a:pt x="506876" y="270746"/>
                  <a:pt x="507749" y="276907"/>
                  <a:pt x="512090" y="280166"/>
                </a:cubicBezTo>
                <a:lnTo>
                  <a:pt x="570236" y="323887"/>
                </a:lnTo>
                <a:cubicBezTo>
                  <a:pt x="571946" y="325178"/>
                  <a:pt x="574024" y="325855"/>
                  <a:pt x="576140" y="325855"/>
                </a:cubicBezTo>
                <a:cubicBezTo>
                  <a:pt x="576595" y="325855"/>
                  <a:pt x="577062" y="325818"/>
                  <a:pt x="577517" y="325756"/>
                </a:cubicBezTo>
                <a:cubicBezTo>
                  <a:pt x="580100" y="325387"/>
                  <a:pt x="582424" y="324010"/>
                  <a:pt x="583998" y="321931"/>
                </a:cubicBezTo>
                <a:lnTo>
                  <a:pt x="627682" y="263785"/>
                </a:lnTo>
                <a:cubicBezTo>
                  <a:pt x="630953" y="259432"/>
                  <a:pt x="630067" y="253270"/>
                  <a:pt x="625726" y="250011"/>
                </a:cubicBezTo>
                <a:close/>
              </a:path>
            </a:pathLst>
          </a:custGeom>
          <a:gradFill>
            <a:gsLst>
              <a:gs pos="0">
                <a:srgbClr val="BDF2BD"/>
              </a:gs>
              <a:gs pos="55000">
                <a:srgbClr val="C3E9FC"/>
              </a:gs>
            </a:gsLst>
            <a:lin ang="2700000" scaled="1"/>
          </a:gradFill>
          <a:ln w="1228" cap="flat">
            <a:noFill/>
            <a:prstDash val="solid"/>
            <a:miter/>
          </a:ln>
        </p:spPr>
        <p:txBody>
          <a:bodyPr rtlCol="0" anchor="ctr"/>
          <a:lstStyle/>
          <a:p>
            <a:endParaRPr lang="en-GB"/>
          </a:p>
        </p:txBody>
      </p:sp>
      <p:pic>
        <p:nvPicPr>
          <p:cNvPr id="300" name="Picture 299">
            <a:extLst>
              <a:ext uri="{FF2B5EF4-FFF2-40B4-BE49-F238E27FC236}">
                <a16:creationId xmlns:a16="http://schemas.microsoft.com/office/drawing/2014/main" id="{E9B9B085-6B6A-64A3-9BF1-5E40BEC50ACF}"/>
              </a:ext>
            </a:extLst>
          </p:cNvPr>
          <p:cNvPicPr>
            <a:picLocks noChangeAspect="1"/>
          </p:cNvPicPr>
          <p:nvPr/>
        </p:nvPicPr>
        <p:blipFill>
          <a:blip r:embed="rId4">
            <a:alphaModFix amt="35000"/>
            <a:extLst>
              <a:ext uri="{BEBA8EAE-BF5A-486C-A8C5-ECC9F3942E4B}">
                <a14:imgProps xmlns:a14="http://schemas.microsoft.com/office/drawing/2010/main">
                  <a14:imgLayer r:embed="rId5">
                    <a14:imgEffect>
                      <a14:artisticBlur radius="40"/>
                    </a14:imgEffect>
                  </a14:imgLayer>
                </a14:imgProps>
              </a:ext>
            </a:extLst>
          </a:blip>
          <a:srcRect l="50854" t="55429" r="8601" b="10905"/>
          <a:stretch/>
        </p:blipFill>
        <p:spPr>
          <a:xfrm>
            <a:off x="9533965" y="2185604"/>
            <a:ext cx="1999730" cy="1190401"/>
          </a:xfrm>
          <a:prstGeom prst="rect">
            <a:avLst/>
          </a:prstGeom>
        </p:spPr>
      </p:pic>
    </p:spTree>
    <p:extLst>
      <p:ext uri="{BB962C8B-B14F-4D97-AF65-F5344CB8AC3E}">
        <p14:creationId xmlns:p14="http://schemas.microsoft.com/office/powerpoint/2010/main" val="14091929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p:cTn id="7" dur="250" fill="hold"/>
                                        <p:tgtEl>
                                          <p:spTgt spid="103"/>
                                        </p:tgtEl>
                                        <p:attrNameLst>
                                          <p:attrName>ppt_w</p:attrName>
                                        </p:attrNameLst>
                                      </p:cBhvr>
                                      <p:tavLst>
                                        <p:tav tm="0">
                                          <p:val>
                                            <p:strVal val="2/3*#ppt_w"/>
                                          </p:val>
                                        </p:tav>
                                        <p:tav tm="100000">
                                          <p:val>
                                            <p:strVal val="#ppt_w"/>
                                          </p:val>
                                        </p:tav>
                                      </p:tavLst>
                                    </p:anim>
                                    <p:anim calcmode="lin" valueType="num">
                                      <p:cBhvr>
                                        <p:cTn id="8" dur="250" fill="hold"/>
                                        <p:tgtEl>
                                          <p:spTgt spid="103"/>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500"/>
                                        <p:tgtEl>
                                          <p:spTgt spid="103"/>
                                        </p:tgtEl>
                                      </p:cBhvr>
                                    </p:animEffect>
                                  </p:childTnLst>
                                </p:cTn>
                              </p:par>
                              <p:par>
                                <p:cTn id="12" presetID="6" presetClass="emph" presetSubtype="0" fill="hold" nodeType="withEffect">
                                  <p:stCondLst>
                                    <p:cond delay="0"/>
                                  </p:stCondLst>
                                  <p:childTnLst>
                                    <p:animScale>
                                      <p:cBhvr>
                                        <p:cTn id="13" dur="10" fill="hold"/>
                                        <p:tgtEl>
                                          <p:spTgt spid="103"/>
                                        </p:tgtEl>
                                      </p:cBhvr>
                                      <p:by x="80000" y="80000"/>
                                    </p:animScale>
                                  </p:childTnLst>
                                </p:cTn>
                              </p:par>
                              <p:par>
                                <p:cTn id="14" presetID="6" presetClass="emph" presetSubtype="0" decel="100000" fill="hold" nodeType="withEffect">
                                  <p:stCondLst>
                                    <p:cond delay="0"/>
                                  </p:stCondLst>
                                  <p:childTnLst>
                                    <p:animScale>
                                      <p:cBhvr>
                                        <p:cTn id="15" dur="1000" fill="hold"/>
                                        <p:tgtEl>
                                          <p:spTgt spid="103"/>
                                        </p:tgtEl>
                                      </p:cBhvr>
                                      <p:by x="125000" y="125000"/>
                                    </p:animScale>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childTnLst>
                                </p:cTn>
                              </p:par>
                              <p:par>
                                <p:cTn id="19" presetID="23" presetClass="entr" presetSubtype="272" fill="hold" grpId="0" nodeType="withEffect">
                                  <p:stCondLst>
                                    <p:cond delay="250"/>
                                  </p:stCondLst>
                                  <p:childTnLst>
                                    <p:set>
                                      <p:cBhvr>
                                        <p:cTn id="20" dur="1" fill="hold">
                                          <p:stCondLst>
                                            <p:cond delay="0"/>
                                          </p:stCondLst>
                                        </p:cTn>
                                        <p:tgtEl>
                                          <p:spTgt spid="33"/>
                                        </p:tgtEl>
                                        <p:attrNameLst>
                                          <p:attrName>style.visibility</p:attrName>
                                        </p:attrNameLst>
                                      </p:cBhvr>
                                      <p:to>
                                        <p:strVal val="visible"/>
                                      </p:to>
                                    </p:set>
                                    <p:anim calcmode="lin" valueType="num">
                                      <p:cBhvr>
                                        <p:cTn id="21" dur="250" fill="hold"/>
                                        <p:tgtEl>
                                          <p:spTgt spid="33"/>
                                        </p:tgtEl>
                                        <p:attrNameLst>
                                          <p:attrName>ppt_w</p:attrName>
                                        </p:attrNameLst>
                                      </p:cBhvr>
                                      <p:tavLst>
                                        <p:tav tm="0">
                                          <p:val>
                                            <p:strVal val="2/3*#ppt_w"/>
                                          </p:val>
                                        </p:tav>
                                        <p:tav tm="100000">
                                          <p:val>
                                            <p:strVal val="#ppt_w"/>
                                          </p:val>
                                        </p:tav>
                                      </p:tavLst>
                                    </p:anim>
                                    <p:anim calcmode="lin" valueType="num">
                                      <p:cBhvr>
                                        <p:cTn id="22" dur="250" fill="hold"/>
                                        <p:tgtEl>
                                          <p:spTgt spid="33"/>
                                        </p:tgtEl>
                                        <p:attrNameLst>
                                          <p:attrName>ppt_h</p:attrName>
                                        </p:attrNameLst>
                                      </p:cBhvr>
                                      <p:tavLst>
                                        <p:tav tm="0">
                                          <p:val>
                                            <p:strVal val="2/3*#ppt_h"/>
                                          </p:val>
                                        </p:tav>
                                        <p:tav tm="100000">
                                          <p:val>
                                            <p:strVal val="#ppt_h"/>
                                          </p:val>
                                        </p:tav>
                                      </p:tavLst>
                                    </p:anim>
                                  </p:childTnLst>
                                </p:cTn>
                              </p:par>
                              <p:par>
                                <p:cTn id="23" presetID="10" presetClass="entr" presetSubtype="0" fill="hold" grpId="1" nodeType="withEffect">
                                  <p:stCondLst>
                                    <p:cond delay="25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6" presetClass="emph" presetSubtype="0" fill="hold" grpId="2" nodeType="withEffect">
                                  <p:stCondLst>
                                    <p:cond delay="250"/>
                                  </p:stCondLst>
                                  <p:childTnLst>
                                    <p:animScale>
                                      <p:cBhvr>
                                        <p:cTn id="27" dur="10" fill="hold"/>
                                        <p:tgtEl>
                                          <p:spTgt spid="33"/>
                                        </p:tgtEl>
                                      </p:cBhvr>
                                      <p:by x="80000" y="80000"/>
                                    </p:animScale>
                                  </p:childTnLst>
                                </p:cTn>
                              </p:par>
                              <p:par>
                                <p:cTn id="28" presetID="6" presetClass="emph" presetSubtype="0" decel="100000" fill="hold" grpId="3" nodeType="withEffect">
                                  <p:stCondLst>
                                    <p:cond delay="250"/>
                                  </p:stCondLst>
                                  <p:childTnLst>
                                    <p:animScale>
                                      <p:cBhvr>
                                        <p:cTn id="29" dur="1000" fill="hold"/>
                                        <p:tgtEl>
                                          <p:spTgt spid="33"/>
                                        </p:tgtEl>
                                      </p:cBhvr>
                                      <p:by x="125000" y="125000"/>
                                    </p:animScale>
                                  </p:childTnLst>
                                </p:cTn>
                              </p:par>
                              <p:par>
                                <p:cTn id="30" presetID="23" presetClass="entr" presetSubtype="272" fill="hold" nodeType="withEffect">
                                  <p:stCondLst>
                                    <p:cond delay="250"/>
                                  </p:stCondLst>
                                  <p:childTnLst>
                                    <p:set>
                                      <p:cBhvr>
                                        <p:cTn id="31" dur="1" fill="hold">
                                          <p:stCondLst>
                                            <p:cond delay="0"/>
                                          </p:stCondLst>
                                        </p:cTn>
                                        <p:tgtEl>
                                          <p:spTgt spid="151"/>
                                        </p:tgtEl>
                                        <p:attrNameLst>
                                          <p:attrName>style.visibility</p:attrName>
                                        </p:attrNameLst>
                                      </p:cBhvr>
                                      <p:to>
                                        <p:strVal val="visible"/>
                                      </p:to>
                                    </p:set>
                                    <p:anim calcmode="lin" valueType="num">
                                      <p:cBhvr>
                                        <p:cTn id="32" dur="250" fill="hold"/>
                                        <p:tgtEl>
                                          <p:spTgt spid="151"/>
                                        </p:tgtEl>
                                        <p:attrNameLst>
                                          <p:attrName>ppt_w</p:attrName>
                                        </p:attrNameLst>
                                      </p:cBhvr>
                                      <p:tavLst>
                                        <p:tav tm="0">
                                          <p:val>
                                            <p:strVal val="2/3*#ppt_w"/>
                                          </p:val>
                                        </p:tav>
                                        <p:tav tm="100000">
                                          <p:val>
                                            <p:strVal val="#ppt_w"/>
                                          </p:val>
                                        </p:tav>
                                      </p:tavLst>
                                    </p:anim>
                                    <p:anim calcmode="lin" valueType="num">
                                      <p:cBhvr>
                                        <p:cTn id="33" dur="250" fill="hold"/>
                                        <p:tgtEl>
                                          <p:spTgt spid="151"/>
                                        </p:tgtEl>
                                        <p:attrNameLst>
                                          <p:attrName>ppt_h</p:attrName>
                                        </p:attrNameLst>
                                      </p:cBhvr>
                                      <p:tavLst>
                                        <p:tav tm="0">
                                          <p:val>
                                            <p:strVal val="2/3*#ppt_h"/>
                                          </p:val>
                                        </p:tav>
                                        <p:tav tm="100000">
                                          <p:val>
                                            <p:strVal val="#ppt_h"/>
                                          </p:val>
                                        </p:tav>
                                      </p:tavLst>
                                    </p:anim>
                                  </p:childTnLst>
                                </p:cTn>
                              </p:par>
                              <p:par>
                                <p:cTn id="34" presetID="10" presetClass="entr" presetSubtype="0" fill="hold" nodeType="withEffect">
                                  <p:stCondLst>
                                    <p:cond delay="250"/>
                                  </p:stCondLst>
                                  <p:childTnLst>
                                    <p:set>
                                      <p:cBhvr>
                                        <p:cTn id="35" dur="1" fill="hold">
                                          <p:stCondLst>
                                            <p:cond delay="0"/>
                                          </p:stCondLst>
                                        </p:cTn>
                                        <p:tgtEl>
                                          <p:spTgt spid="151"/>
                                        </p:tgtEl>
                                        <p:attrNameLst>
                                          <p:attrName>style.visibility</p:attrName>
                                        </p:attrNameLst>
                                      </p:cBhvr>
                                      <p:to>
                                        <p:strVal val="visible"/>
                                      </p:to>
                                    </p:set>
                                    <p:animEffect transition="in" filter="fade">
                                      <p:cBhvr>
                                        <p:cTn id="36" dur="500"/>
                                        <p:tgtEl>
                                          <p:spTgt spid="151"/>
                                        </p:tgtEl>
                                      </p:cBhvr>
                                    </p:animEffect>
                                  </p:childTnLst>
                                </p:cTn>
                              </p:par>
                              <p:par>
                                <p:cTn id="37" presetID="6" presetClass="emph" presetSubtype="0" fill="hold" nodeType="withEffect">
                                  <p:stCondLst>
                                    <p:cond delay="250"/>
                                  </p:stCondLst>
                                  <p:childTnLst>
                                    <p:animScale>
                                      <p:cBhvr>
                                        <p:cTn id="38" dur="10" fill="hold"/>
                                        <p:tgtEl>
                                          <p:spTgt spid="151"/>
                                        </p:tgtEl>
                                      </p:cBhvr>
                                      <p:by x="80000" y="80000"/>
                                    </p:animScale>
                                  </p:childTnLst>
                                </p:cTn>
                              </p:par>
                              <p:par>
                                <p:cTn id="39" presetID="6" presetClass="emph" presetSubtype="0" decel="100000" fill="hold" nodeType="withEffect">
                                  <p:stCondLst>
                                    <p:cond delay="250"/>
                                  </p:stCondLst>
                                  <p:childTnLst>
                                    <p:animScale>
                                      <p:cBhvr>
                                        <p:cTn id="40" dur="1000" fill="hold"/>
                                        <p:tgtEl>
                                          <p:spTgt spid="151"/>
                                        </p:tgtEl>
                                      </p:cBhvr>
                                      <p:by x="125000" y="125000"/>
                                    </p:animScale>
                                  </p:childTnLst>
                                </p:cTn>
                              </p:par>
                              <p:par>
                                <p:cTn id="41" presetID="23" presetClass="entr" presetSubtype="272" fill="hold" nodeType="withEffect">
                                  <p:stCondLst>
                                    <p:cond delay="100"/>
                                  </p:stCondLst>
                                  <p:childTnLst>
                                    <p:set>
                                      <p:cBhvr>
                                        <p:cTn id="42" dur="1" fill="hold">
                                          <p:stCondLst>
                                            <p:cond delay="0"/>
                                          </p:stCondLst>
                                        </p:cTn>
                                        <p:tgtEl>
                                          <p:spTgt spid="198"/>
                                        </p:tgtEl>
                                        <p:attrNameLst>
                                          <p:attrName>style.visibility</p:attrName>
                                        </p:attrNameLst>
                                      </p:cBhvr>
                                      <p:to>
                                        <p:strVal val="visible"/>
                                      </p:to>
                                    </p:set>
                                    <p:anim calcmode="lin" valueType="num">
                                      <p:cBhvr>
                                        <p:cTn id="43" dur="250" fill="hold"/>
                                        <p:tgtEl>
                                          <p:spTgt spid="198"/>
                                        </p:tgtEl>
                                        <p:attrNameLst>
                                          <p:attrName>ppt_w</p:attrName>
                                        </p:attrNameLst>
                                      </p:cBhvr>
                                      <p:tavLst>
                                        <p:tav tm="0">
                                          <p:val>
                                            <p:strVal val="2/3*#ppt_w"/>
                                          </p:val>
                                        </p:tav>
                                        <p:tav tm="100000">
                                          <p:val>
                                            <p:strVal val="#ppt_w"/>
                                          </p:val>
                                        </p:tav>
                                      </p:tavLst>
                                    </p:anim>
                                    <p:anim calcmode="lin" valueType="num">
                                      <p:cBhvr>
                                        <p:cTn id="44" dur="250" fill="hold"/>
                                        <p:tgtEl>
                                          <p:spTgt spid="198"/>
                                        </p:tgtEl>
                                        <p:attrNameLst>
                                          <p:attrName>ppt_h</p:attrName>
                                        </p:attrNameLst>
                                      </p:cBhvr>
                                      <p:tavLst>
                                        <p:tav tm="0">
                                          <p:val>
                                            <p:strVal val="2/3*#ppt_h"/>
                                          </p:val>
                                        </p:tav>
                                        <p:tav tm="100000">
                                          <p:val>
                                            <p:strVal val="#ppt_h"/>
                                          </p:val>
                                        </p:tav>
                                      </p:tavLst>
                                    </p:anim>
                                  </p:childTnLst>
                                </p:cTn>
                              </p:par>
                              <p:par>
                                <p:cTn id="45" presetID="10" presetClass="entr" presetSubtype="0" fill="hold" nodeType="withEffect">
                                  <p:stCondLst>
                                    <p:cond delay="100"/>
                                  </p:stCondLst>
                                  <p:childTnLst>
                                    <p:set>
                                      <p:cBhvr>
                                        <p:cTn id="46" dur="1" fill="hold">
                                          <p:stCondLst>
                                            <p:cond delay="0"/>
                                          </p:stCondLst>
                                        </p:cTn>
                                        <p:tgtEl>
                                          <p:spTgt spid="198"/>
                                        </p:tgtEl>
                                        <p:attrNameLst>
                                          <p:attrName>style.visibility</p:attrName>
                                        </p:attrNameLst>
                                      </p:cBhvr>
                                      <p:to>
                                        <p:strVal val="visible"/>
                                      </p:to>
                                    </p:set>
                                    <p:animEffect transition="in" filter="fade">
                                      <p:cBhvr>
                                        <p:cTn id="47" dur="500"/>
                                        <p:tgtEl>
                                          <p:spTgt spid="198"/>
                                        </p:tgtEl>
                                      </p:cBhvr>
                                    </p:animEffect>
                                  </p:childTnLst>
                                </p:cTn>
                              </p:par>
                              <p:par>
                                <p:cTn id="48" presetID="6" presetClass="emph" presetSubtype="0" fill="hold" nodeType="withEffect">
                                  <p:stCondLst>
                                    <p:cond delay="100"/>
                                  </p:stCondLst>
                                  <p:childTnLst>
                                    <p:animScale>
                                      <p:cBhvr>
                                        <p:cTn id="49" dur="10" fill="hold"/>
                                        <p:tgtEl>
                                          <p:spTgt spid="198"/>
                                        </p:tgtEl>
                                      </p:cBhvr>
                                      <p:by x="80000" y="80000"/>
                                    </p:animScale>
                                  </p:childTnLst>
                                </p:cTn>
                              </p:par>
                              <p:par>
                                <p:cTn id="50" presetID="6" presetClass="emph" presetSubtype="0" decel="100000" fill="hold" nodeType="withEffect">
                                  <p:stCondLst>
                                    <p:cond delay="100"/>
                                  </p:stCondLst>
                                  <p:childTnLst>
                                    <p:animScale>
                                      <p:cBhvr>
                                        <p:cTn id="51" dur="1000" fill="hold"/>
                                        <p:tgtEl>
                                          <p:spTgt spid="198"/>
                                        </p:tgtEl>
                                      </p:cBhvr>
                                      <p:by x="125000" y="125000"/>
                                    </p:animScale>
                                  </p:childTnLst>
                                </p:cTn>
                              </p:par>
                              <p:par>
                                <p:cTn id="52" presetID="10" presetClass="entr" presetSubtype="0" fill="hold" grpId="0" nodeType="withEffect">
                                  <p:stCondLst>
                                    <p:cond delay="100"/>
                                  </p:stCondLst>
                                  <p:childTnLst>
                                    <p:set>
                                      <p:cBhvr>
                                        <p:cTn id="53" dur="1" fill="hold">
                                          <p:stCondLst>
                                            <p:cond delay="0"/>
                                          </p:stCondLst>
                                        </p:cTn>
                                        <p:tgtEl>
                                          <p:spTgt spid="196"/>
                                        </p:tgtEl>
                                        <p:attrNameLst>
                                          <p:attrName>style.visibility</p:attrName>
                                        </p:attrNameLst>
                                      </p:cBhvr>
                                      <p:to>
                                        <p:strVal val="visible"/>
                                      </p:to>
                                    </p:set>
                                    <p:animEffect transition="in" filter="fade">
                                      <p:cBhvr>
                                        <p:cTn id="54" dur="1000"/>
                                        <p:tgtEl>
                                          <p:spTgt spid="196"/>
                                        </p:tgtEl>
                                      </p:cBhvr>
                                    </p:animEffect>
                                  </p:childTnLst>
                                </p:cTn>
                              </p:par>
                              <p:par>
                                <p:cTn id="55" presetID="23" presetClass="entr" presetSubtype="272" fill="hold" grpId="0" nodeType="withEffect">
                                  <p:stCondLst>
                                    <p:cond delay="350"/>
                                  </p:stCondLst>
                                  <p:childTnLst>
                                    <p:set>
                                      <p:cBhvr>
                                        <p:cTn id="56" dur="1" fill="hold">
                                          <p:stCondLst>
                                            <p:cond delay="0"/>
                                          </p:stCondLst>
                                        </p:cTn>
                                        <p:tgtEl>
                                          <p:spTgt spid="197"/>
                                        </p:tgtEl>
                                        <p:attrNameLst>
                                          <p:attrName>style.visibility</p:attrName>
                                        </p:attrNameLst>
                                      </p:cBhvr>
                                      <p:to>
                                        <p:strVal val="visible"/>
                                      </p:to>
                                    </p:set>
                                    <p:anim calcmode="lin" valueType="num">
                                      <p:cBhvr>
                                        <p:cTn id="57" dur="250" fill="hold"/>
                                        <p:tgtEl>
                                          <p:spTgt spid="197"/>
                                        </p:tgtEl>
                                        <p:attrNameLst>
                                          <p:attrName>ppt_w</p:attrName>
                                        </p:attrNameLst>
                                      </p:cBhvr>
                                      <p:tavLst>
                                        <p:tav tm="0">
                                          <p:val>
                                            <p:strVal val="2/3*#ppt_w"/>
                                          </p:val>
                                        </p:tav>
                                        <p:tav tm="100000">
                                          <p:val>
                                            <p:strVal val="#ppt_w"/>
                                          </p:val>
                                        </p:tav>
                                      </p:tavLst>
                                    </p:anim>
                                    <p:anim calcmode="lin" valueType="num">
                                      <p:cBhvr>
                                        <p:cTn id="58" dur="250" fill="hold"/>
                                        <p:tgtEl>
                                          <p:spTgt spid="197"/>
                                        </p:tgtEl>
                                        <p:attrNameLst>
                                          <p:attrName>ppt_h</p:attrName>
                                        </p:attrNameLst>
                                      </p:cBhvr>
                                      <p:tavLst>
                                        <p:tav tm="0">
                                          <p:val>
                                            <p:strVal val="2/3*#ppt_h"/>
                                          </p:val>
                                        </p:tav>
                                        <p:tav tm="100000">
                                          <p:val>
                                            <p:strVal val="#ppt_h"/>
                                          </p:val>
                                        </p:tav>
                                      </p:tavLst>
                                    </p:anim>
                                  </p:childTnLst>
                                </p:cTn>
                              </p:par>
                              <p:par>
                                <p:cTn id="59" presetID="10" presetClass="entr" presetSubtype="0" fill="hold" grpId="1" nodeType="withEffect">
                                  <p:stCondLst>
                                    <p:cond delay="350"/>
                                  </p:stCondLst>
                                  <p:childTnLst>
                                    <p:set>
                                      <p:cBhvr>
                                        <p:cTn id="60" dur="1" fill="hold">
                                          <p:stCondLst>
                                            <p:cond delay="0"/>
                                          </p:stCondLst>
                                        </p:cTn>
                                        <p:tgtEl>
                                          <p:spTgt spid="197"/>
                                        </p:tgtEl>
                                        <p:attrNameLst>
                                          <p:attrName>style.visibility</p:attrName>
                                        </p:attrNameLst>
                                      </p:cBhvr>
                                      <p:to>
                                        <p:strVal val="visible"/>
                                      </p:to>
                                    </p:set>
                                    <p:animEffect transition="in" filter="fade">
                                      <p:cBhvr>
                                        <p:cTn id="61" dur="500"/>
                                        <p:tgtEl>
                                          <p:spTgt spid="197"/>
                                        </p:tgtEl>
                                      </p:cBhvr>
                                    </p:animEffect>
                                  </p:childTnLst>
                                </p:cTn>
                              </p:par>
                              <p:par>
                                <p:cTn id="62" presetID="6" presetClass="emph" presetSubtype="0" fill="hold" grpId="2" nodeType="withEffect">
                                  <p:stCondLst>
                                    <p:cond delay="350"/>
                                  </p:stCondLst>
                                  <p:childTnLst>
                                    <p:animScale>
                                      <p:cBhvr>
                                        <p:cTn id="63" dur="10" fill="hold"/>
                                        <p:tgtEl>
                                          <p:spTgt spid="197"/>
                                        </p:tgtEl>
                                      </p:cBhvr>
                                      <p:by x="80000" y="80000"/>
                                    </p:animScale>
                                  </p:childTnLst>
                                </p:cTn>
                              </p:par>
                              <p:par>
                                <p:cTn id="64" presetID="6" presetClass="emph" presetSubtype="0" decel="100000" fill="hold" grpId="3" nodeType="withEffect">
                                  <p:stCondLst>
                                    <p:cond delay="350"/>
                                  </p:stCondLst>
                                  <p:childTnLst>
                                    <p:animScale>
                                      <p:cBhvr>
                                        <p:cTn id="65" dur="1000" fill="hold"/>
                                        <p:tgtEl>
                                          <p:spTgt spid="197"/>
                                        </p:tgtEl>
                                      </p:cBhvr>
                                      <p:by x="125000" y="125000"/>
                                    </p:animScale>
                                  </p:childTnLst>
                                </p:cTn>
                              </p:par>
                              <p:par>
                                <p:cTn id="66" presetID="23" presetClass="entr" presetSubtype="272" fill="hold" nodeType="withEffect">
                                  <p:stCondLst>
                                    <p:cond delay="350"/>
                                  </p:stCondLst>
                                  <p:childTnLst>
                                    <p:set>
                                      <p:cBhvr>
                                        <p:cTn id="67" dur="1" fill="hold">
                                          <p:stCondLst>
                                            <p:cond delay="0"/>
                                          </p:stCondLst>
                                        </p:cTn>
                                        <p:tgtEl>
                                          <p:spTgt spid="217"/>
                                        </p:tgtEl>
                                        <p:attrNameLst>
                                          <p:attrName>style.visibility</p:attrName>
                                        </p:attrNameLst>
                                      </p:cBhvr>
                                      <p:to>
                                        <p:strVal val="visible"/>
                                      </p:to>
                                    </p:set>
                                    <p:anim calcmode="lin" valueType="num">
                                      <p:cBhvr>
                                        <p:cTn id="68" dur="250" fill="hold"/>
                                        <p:tgtEl>
                                          <p:spTgt spid="217"/>
                                        </p:tgtEl>
                                        <p:attrNameLst>
                                          <p:attrName>ppt_w</p:attrName>
                                        </p:attrNameLst>
                                      </p:cBhvr>
                                      <p:tavLst>
                                        <p:tav tm="0">
                                          <p:val>
                                            <p:strVal val="2/3*#ppt_w"/>
                                          </p:val>
                                        </p:tav>
                                        <p:tav tm="100000">
                                          <p:val>
                                            <p:strVal val="#ppt_w"/>
                                          </p:val>
                                        </p:tav>
                                      </p:tavLst>
                                    </p:anim>
                                    <p:anim calcmode="lin" valueType="num">
                                      <p:cBhvr>
                                        <p:cTn id="69" dur="250" fill="hold"/>
                                        <p:tgtEl>
                                          <p:spTgt spid="217"/>
                                        </p:tgtEl>
                                        <p:attrNameLst>
                                          <p:attrName>ppt_h</p:attrName>
                                        </p:attrNameLst>
                                      </p:cBhvr>
                                      <p:tavLst>
                                        <p:tav tm="0">
                                          <p:val>
                                            <p:strVal val="2/3*#ppt_h"/>
                                          </p:val>
                                        </p:tav>
                                        <p:tav tm="100000">
                                          <p:val>
                                            <p:strVal val="#ppt_h"/>
                                          </p:val>
                                        </p:tav>
                                      </p:tavLst>
                                    </p:anim>
                                  </p:childTnLst>
                                </p:cTn>
                              </p:par>
                              <p:par>
                                <p:cTn id="70" presetID="10" presetClass="entr" presetSubtype="0" fill="hold" nodeType="withEffect">
                                  <p:stCondLst>
                                    <p:cond delay="350"/>
                                  </p:stCondLst>
                                  <p:childTnLst>
                                    <p:set>
                                      <p:cBhvr>
                                        <p:cTn id="71" dur="1" fill="hold">
                                          <p:stCondLst>
                                            <p:cond delay="0"/>
                                          </p:stCondLst>
                                        </p:cTn>
                                        <p:tgtEl>
                                          <p:spTgt spid="217"/>
                                        </p:tgtEl>
                                        <p:attrNameLst>
                                          <p:attrName>style.visibility</p:attrName>
                                        </p:attrNameLst>
                                      </p:cBhvr>
                                      <p:to>
                                        <p:strVal val="visible"/>
                                      </p:to>
                                    </p:set>
                                    <p:animEffect transition="in" filter="fade">
                                      <p:cBhvr>
                                        <p:cTn id="72" dur="500"/>
                                        <p:tgtEl>
                                          <p:spTgt spid="217"/>
                                        </p:tgtEl>
                                      </p:cBhvr>
                                    </p:animEffect>
                                  </p:childTnLst>
                                </p:cTn>
                              </p:par>
                              <p:par>
                                <p:cTn id="73" presetID="6" presetClass="emph" presetSubtype="0" fill="hold" nodeType="withEffect">
                                  <p:stCondLst>
                                    <p:cond delay="350"/>
                                  </p:stCondLst>
                                  <p:childTnLst>
                                    <p:animScale>
                                      <p:cBhvr>
                                        <p:cTn id="74" dur="10" fill="hold"/>
                                        <p:tgtEl>
                                          <p:spTgt spid="217"/>
                                        </p:tgtEl>
                                      </p:cBhvr>
                                      <p:by x="80000" y="80000"/>
                                    </p:animScale>
                                  </p:childTnLst>
                                </p:cTn>
                              </p:par>
                              <p:par>
                                <p:cTn id="75" presetID="6" presetClass="emph" presetSubtype="0" decel="100000" fill="hold" nodeType="withEffect">
                                  <p:stCondLst>
                                    <p:cond delay="350"/>
                                  </p:stCondLst>
                                  <p:childTnLst>
                                    <p:animScale>
                                      <p:cBhvr>
                                        <p:cTn id="76" dur="1000" fill="hold"/>
                                        <p:tgtEl>
                                          <p:spTgt spid="217"/>
                                        </p:tgtEl>
                                      </p:cBhvr>
                                      <p:by x="125000" y="125000"/>
                                    </p:animScale>
                                  </p:childTnLst>
                                </p:cTn>
                              </p:par>
                              <p:par>
                                <p:cTn id="77" presetID="23" presetClass="entr" presetSubtype="272" fill="hold" nodeType="withEffect">
                                  <p:stCondLst>
                                    <p:cond delay="200"/>
                                  </p:stCondLst>
                                  <p:childTnLst>
                                    <p:set>
                                      <p:cBhvr>
                                        <p:cTn id="78" dur="1" fill="hold">
                                          <p:stCondLst>
                                            <p:cond delay="0"/>
                                          </p:stCondLst>
                                        </p:cTn>
                                        <p:tgtEl>
                                          <p:spTgt spid="240"/>
                                        </p:tgtEl>
                                        <p:attrNameLst>
                                          <p:attrName>style.visibility</p:attrName>
                                        </p:attrNameLst>
                                      </p:cBhvr>
                                      <p:to>
                                        <p:strVal val="visible"/>
                                      </p:to>
                                    </p:set>
                                    <p:anim calcmode="lin" valueType="num">
                                      <p:cBhvr>
                                        <p:cTn id="79" dur="250" fill="hold"/>
                                        <p:tgtEl>
                                          <p:spTgt spid="240"/>
                                        </p:tgtEl>
                                        <p:attrNameLst>
                                          <p:attrName>ppt_w</p:attrName>
                                        </p:attrNameLst>
                                      </p:cBhvr>
                                      <p:tavLst>
                                        <p:tav tm="0">
                                          <p:val>
                                            <p:strVal val="2/3*#ppt_w"/>
                                          </p:val>
                                        </p:tav>
                                        <p:tav tm="100000">
                                          <p:val>
                                            <p:strVal val="#ppt_w"/>
                                          </p:val>
                                        </p:tav>
                                      </p:tavLst>
                                    </p:anim>
                                    <p:anim calcmode="lin" valueType="num">
                                      <p:cBhvr>
                                        <p:cTn id="80" dur="250" fill="hold"/>
                                        <p:tgtEl>
                                          <p:spTgt spid="240"/>
                                        </p:tgtEl>
                                        <p:attrNameLst>
                                          <p:attrName>ppt_h</p:attrName>
                                        </p:attrNameLst>
                                      </p:cBhvr>
                                      <p:tavLst>
                                        <p:tav tm="0">
                                          <p:val>
                                            <p:strVal val="2/3*#ppt_h"/>
                                          </p:val>
                                        </p:tav>
                                        <p:tav tm="100000">
                                          <p:val>
                                            <p:strVal val="#ppt_h"/>
                                          </p:val>
                                        </p:tav>
                                      </p:tavLst>
                                    </p:anim>
                                  </p:childTnLst>
                                </p:cTn>
                              </p:par>
                              <p:par>
                                <p:cTn id="81" presetID="10" presetClass="entr" presetSubtype="0" fill="hold" nodeType="withEffect">
                                  <p:stCondLst>
                                    <p:cond delay="200"/>
                                  </p:stCondLst>
                                  <p:childTnLst>
                                    <p:set>
                                      <p:cBhvr>
                                        <p:cTn id="82" dur="1" fill="hold">
                                          <p:stCondLst>
                                            <p:cond delay="0"/>
                                          </p:stCondLst>
                                        </p:cTn>
                                        <p:tgtEl>
                                          <p:spTgt spid="240"/>
                                        </p:tgtEl>
                                        <p:attrNameLst>
                                          <p:attrName>style.visibility</p:attrName>
                                        </p:attrNameLst>
                                      </p:cBhvr>
                                      <p:to>
                                        <p:strVal val="visible"/>
                                      </p:to>
                                    </p:set>
                                    <p:animEffect transition="in" filter="fade">
                                      <p:cBhvr>
                                        <p:cTn id="83" dur="500"/>
                                        <p:tgtEl>
                                          <p:spTgt spid="240"/>
                                        </p:tgtEl>
                                      </p:cBhvr>
                                    </p:animEffect>
                                  </p:childTnLst>
                                </p:cTn>
                              </p:par>
                              <p:par>
                                <p:cTn id="84" presetID="6" presetClass="emph" presetSubtype="0" fill="hold" nodeType="withEffect">
                                  <p:stCondLst>
                                    <p:cond delay="200"/>
                                  </p:stCondLst>
                                  <p:childTnLst>
                                    <p:animScale>
                                      <p:cBhvr>
                                        <p:cTn id="85" dur="10" fill="hold"/>
                                        <p:tgtEl>
                                          <p:spTgt spid="240"/>
                                        </p:tgtEl>
                                      </p:cBhvr>
                                      <p:by x="80000" y="80000"/>
                                    </p:animScale>
                                  </p:childTnLst>
                                </p:cTn>
                              </p:par>
                              <p:par>
                                <p:cTn id="86" presetID="6" presetClass="emph" presetSubtype="0" decel="100000" fill="hold" nodeType="withEffect">
                                  <p:stCondLst>
                                    <p:cond delay="200"/>
                                  </p:stCondLst>
                                  <p:childTnLst>
                                    <p:animScale>
                                      <p:cBhvr>
                                        <p:cTn id="87" dur="1000" fill="hold"/>
                                        <p:tgtEl>
                                          <p:spTgt spid="240"/>
                                        </p:tgtEl>
                                      </p:cBhvr>
                                      <p:by x="125000" y="125000"/>
                                    </p:animScale>
                                  </p:childTnLst>
                                </p:cTn>
                              </p:par>
                              <p:par>
                                <p:cTn id="88" presetID="23" presetClass="entr" presetSubtype="272" fill="hold" grpId="0" nodeType="withEffect">
                                  <p:stCondLst>
                                    <p:cond delay="450"/>
                                  </p:stCondLst>
                                  <p:childTnLst>
                                    <p:set>
                                      <p:cBhvr>
                                        <p:cTn id="89" dur="1" fill="hold">
                                          <p:stCondLst>
                                            <p:cond delay="0"/>
                                          </p:stCondLst>
                                        </p:cTn>
                                        <p:tgtEl>
                                          <p:spTgt spid="239"/>
                                        </p:tgtEl>
                                        <p:attrNameLst>
                                          <p:attrName>style.visibility</p:attrName>
                                        </p:attrNameLst>
                                      </p:cBhvr>
                                      <p:to>
                                        <p:strVal val="visible"/>
                                      </p:to>
                                    </p:set>
                                    <p:anim calcmode="lin" valueType="num">
                                      <p:cBhvr>
                                        <p:cTn id="90" dur="250" fill="hold"/>
                                        <p:tgtEl>
                                          <p:spTgt spid="239"/>
                                        </p:tgtEl>
                                        <p:attrNameLst>
                                          <p:attrName>ppt_w</p:attrName>
                                        </p:attrNameLst>
                                      </p:cBhvr>
                                      <p:tavLst>
                                        <p:tav tm="0">
                                          <p:val>
                                            <p:strVal val="2/3*#ppt_w"/>
                                          </p:val>
                                        </p:tav>
                                        <p:tav tm="100000">
                                          <p:val>
                                            <p:strVal val="#ppt_w"/>
                                          </p:val>
                                        </p:tav>
                                      </p:tavLst>
                                    </p:anim>
                                    <p:anim calcmode="lin" valueType="num">
                                      <p:cBhvr>
                                        <p:cTn id="91" dur="250" fill="hold"/>
                                        <p:tgtEl>
                                          <p:spTgt spid="239"/>
                                        </p:tgtEl>
                                        <p:attrNameLst>
                                          <p:attrName>ppt_h</p:attrName>
                                        </p:attrNameLst>
                                      </p:cBhvr>
                                      <p:tavLst>
                                        <p:tav tm="0">
                                          <p:val>
                                            <p:strVal val="2/3*#ppt_h"/>
                                          </p:val>
                                        </p:tav>
                                        <p:tav tm="100000">
                                          <p:val>
                                            <p:strVal val="#ppt_h"/>
                                          </p:val>
                                        </p:tav>
                                      </p:tavLst>
                                    </p:anim>
                                  </p:childTnLst>
                                </p:cTn>
                              </p:par>
                              <p:par>
                                <p:cTn id="92" presetID="10" presetClass="entr" presetSubtype="0" fill="hold" grpId="1" nodeType="withEffect">
                                  <p:stCondLst>
                                    <p:cond delay="450"/>
                                  </p:stCondLst>
                                  <p:childTnLst>
                                    <p:set>
                                      <p:cBhvr>
                                        <p:cTn id="93" dur="1" fill="hold">
                                          <p:stCondLst>
                                            <p:cond delay="0"/>
                                          </p:stCondLst>
                                        </p:cTn>
                                        <p:tgtEl>
                                          <p:spTgt spid="239"/>
                                        </p:tgtEl>
                                        <p:attrNameLst>
                                          <p:attrName>style.visibility</p:attrName>
                                        </p:attrNameLst>
                                      </p:cBhvr>
                                      <p:to>
                                        <p:strVal val="visible"/>
                                      </p:to>
                                    </p:set>
                                    <p:animEffect transition="in" filter="fade">
                                      <p:cBhvr>
                                        <p:cTn id="94" dur="500"/>
                                        <p:tgtEl>
                                          <p:spTgt spid="239"/>
                                        </p:tgtEl>
                                      </p:cBhvr>
                                    </p:animEffect>
                                  </p:childTnLst>
                                </p:cTn>
                              </p:par>
                              <p:par>
                                <p:cTn id="95" presetID="6" presetClass="emph" presetSubtype="0" fill="hold" grpId="2" nodeType="withEffect">
                                  <p:stCondLst>
                                    <p:cond delay="450"/>
                                  </p:stCondLst>
                                  <p:childTnLst>
                                    <p:animScale>
                                      <p:cBhvr>
                                        <p:cTn id="96" dur="10" fill="hold"/>
                                        <p:tgtEl>
                                          <p:spTgt spid="239"/>
                                        </p:tgtEl>
                                      </p:cBhvr>
                                      <p:by x="80000" y="80000"/>
                                    </p:animScale>
                                  </p:childTnLst>
                                </p:cTn>
                              </p:par>
                              <p:par>
                                <p:cTn id="97" presetID="6" presetClass="emph" presetSubtype="0" decel="100000" fill="hold" grpId="3" nodeType="withEffect">
                                  <p:stCondLst>
                                    <p:cond delay="450"/>
                                  </p:stCondLst>
                                  <p:childTnLst>
                                    <p:animScale>
                                      <p:cBhvr>
                                        <p:cTn id="98" dur="1000" fill="hold"/>
                                        <p:tgtEl>
                                          <p:spTgt spid="239"/>
                                        </p:tgtEl>
                                      </p:cBhvr>
                                      <p:by x="125000" y="125000"/>
                                    </p:animScale>
                                  </p:childTnLst>
                                </p:cTn>
                              </p:par>
                              <p:par>
                                <p:cTn id="99" presetID="23" presetClass="entr" presetSubtype="272" fill="hold" grpId="0" nodeType="withEffect">
                                  <p:stCondLst>
                                    <p:cond delay="450"/>
                                  </p:stCondLst>
                                  <p:childTnLst>
                                    <p:set>
                                      <p:cBhvr>
                                        <p:cTn id="100" dur="1" fill="hold">
                                          <p:stCondLst>
                                            <p:cond delay="0"/>
                                          </p:stCondLst>
                                        </p:cTn>
                                        <p:tgtEl>
                                          <p:spTgt spid="252"/>
                                        </p:tgtEl>
                                        <p:attrNameLst>
                                          <p:attrName>style.visibility</p:attrName>
                                        </p:attrNameLst>
                                      </p:cBhvr>
                                      <p:to>
                                        <p:strVal val="visible"/>
                                      </p:to>
                                    </p:set>
                                    <p:anim calcmode="lin" valueType="num">
                                      <p:cBhvr>
                                        <p:cTn id="101" dur="250" fill="hold"/>
                                        <p:tgtEl>
                                          <p:spTgt spid="252"/>
                                        </p:tgtEl>
                                        <p:attrNameLst>
                                          <p:attrName>ppt_w</p:attrName>
                                        </p:attrNameLst>
                                      </p:cBhvr>
                                      <p:tavLst>
                                        <p:tav tm="0">
                                          <p:val>
                                            <p:strVal val="2/3*#ppt_w"/>
                                          </p:val>
                                        </p:tav>
                                        <p:tav tm="100000">
                                          <p:val>
                                            <p:strVal val="#ppt_w"/>
                                          </p:val>
                                        </p:tav>
                                      </p:tavLst>
                                    </p:anim>
                                    <p:anim calcmode="lin" valueType="num">
                                      <p:cBhvr>
                                        <p:cTn id="102" dur="250" fill="hold"/>
                                        <p:tgtEl>
                                          <p:spTgt spid="252"/>
                                        </p:tgtEl>
                                        <p:attrNameLst>
                                          <p:attrName>ppt_h</p:attrName>
                                        </p:attrNameLst>
                                      </p:cBhvr>
                                      <p:tavLst>
                                        <p:tav tm="0">
                                          <p:val>
                                            <p:strVal val="2/3*#ppt_h"/>
                                          </p:val>
                                        </p:tav>
                                        <p:tav tm="100000">
                                          <p:val>
                                            <p:strVal val="#ppt_h"/>
                                          </p:val>
                                        </p:tav>
                                      </p:tavLst>
                                    </p:anim>
                                  </p:childTnLst>
                                </p:cTn>
                              </p:par>
                              <p:par>
                                <p:cTn id="103" presetID="10" presetClass="entr" presetSubtype="0" fill="hold" grpId="1" nodeType="withEffect">
                                  <p:stCondLst>
                                    <p:cond delay="450"/>
                                  </p:stCondLst>
                                  <p:childTnLst>
                                    <p:set>
                                      <p:cBhvr>
                                        <p:cTn id="104" dur="1" fill="hold">
                                          <p:stCondLst>
                                            <p:cond delay="0"/>
                                          </p:stCondLst>
                                        </p:cTn>
                                        <p:tgtEl>
                                          <p:spTgt spid="252"/>
                                        </p:tgtEl>
                                        <p:attrNameLst>
                                          <p:attrName>style.visibility</p:attrName>
                                        </p:attrNameLst>
                                      </p:cBhvr>
                                      <p:to>
                                        <p:strVal val="visible"/>
                                      </p:to>
                                    </p:set>
                                    <p:animEffect transition="in" filter="fade">
                                      <p:cBhvr>
                                        <p:cTn id="105" dur="500"/>
                                        <p:tgtEl>
                                          <p:spTgt spid="252"/>
                                        </p:tgtEl>
                                      </p:cBhvr>
                                    </p:animEffect>
                                  </p:childTnLst>
                                </p:cTn>
                              </p:par>
                              <p:par>
                                <p:cTn id="106" presetID="6" presetClass="emph" presetSubtype="0" fill="hold" grpId="2" nodeType="withEffect">
                                  <p:stCondLst>
                                    <p:cond delay="450"/>
                                  </p:stCondLst>
                                  <p:childTnLst>
                                    <p:animScale>
                                      <p:cBhvr>
                                        <p:cTn id="107" dur="10" fill="hold"/>
                                        <p:tgtEl>
                                          <p:spTgt spid="252"/>
                                        </p:tgtEl>
                                      </p:cBhvr>
                                      <p:by x="80000" y="80000"/>
                                    </p:animScale>
                                  </p:childTnLst>
                                </p:cTn>
                              </p:par>
                              <p:par>
                                <p:cTn id="108" presetID="6" presetClass="emph" presetSubtype="0" decel="100000" fill="hold" grpId="3" nodeType="withEffect">
                                  <p:stCondLst>
                                    <p:cond delay="450"/>
                                  </p:stCondLst>
                                  <p:childTnLst>
                                    <p:animScale>
                                      <p:cBhvr>
                                        <p:cTn id="109" dur="1000" fill="hold"/>
                                        <p:tgtEl>
                                          <p:spTgt spid="252"/>
                                        </p:tgtEl>
                                      </p:cBhvr>
                                      <p:by x="125000" y="125000"/>
                                    </p:animScale>
                                  </p:childTnLst>
                                </p:cTn>
                              </p:par>
                              <p:par>
                                <p:cTn id="110" presetID="23" presetClass="entr" presetSubtype="272" fill="hold" nodeType="withEffect">
                                  <p:stCondLst>
                                    <p:cond delay="300"/>
                                  </p:stCondLst>
                                  <p:childTnLst>
                                    <p:set>
                                      <p:cBhvr>
                                        <p:cTn id="111" dur="1" fill="hold">
                                          <p:stCondLst>
                                            <p:cond delay="0"/>
                                          </p:stCondLst>
                                        </p:cTn>
                                        <p:tgtEl>
                                          <p:spTgt spid="270"/>
                                        </p:tgtEl>
                                        <p:attrNameLst>
                                          <p:attrName>style.visibility</p:attrName>
                                        </p:attrNameLst>
                                      </p:cBhvr>
                                      <p:to>
                                        <p:strVal val="visible"/>
                                      </p:to>
                                    </p:set>
                                    <p:anim calcmode="lin" valueType="num">
                                      <p:cBhvr>
                                        <p:cTn id="112" dur="250" fill="hold"/>
                                        <p:tgtEl>
                                          <p:spTgt spid="270"/>
                                        </p:tgtEl>
                                        <p:attrNameLst>
                                          <p:attrName>ppt_w</p:attrName>
                                        </p:attrNameLst>
                                      </p:cBhvr>
                                      <p:tavLst>
                                        <p:tav tm="0">
                                          <p:val>
                                            <p:strVal val="2/3*#ppt_w"/>
                                          </p:val>
                                        </p:tav>
                                        <p:tav tm="100000">
                                          <p:val>
                                            <p:strVal val="#ppt_w"/>
                                          </p:val>
                                        </p:tav>
                                      </p:tavLst>
                                    </p:anim>
                                    <p:anim calcmode="lin" valueType="num">
                                      <p:cBhvr>
                                        <p:cTn id="113" dur="250" fill="hold"/>
                                        <p:tgtEl>
                                          <p:spTgt spid="270"/>
                                        </p:tgtEl>
                                        <p:attrNameLst>
                                          <p:attrName>ppt_h</p:attrName>
                                        </p:attrNameLst>
                                      </p:cBhvr>
                                      <p:tavLst>
                                        <p:tav tm="0">
                                          <p:val>
                                            <p:strVal val="2/3*#ppt_h"/>
                                          </p:val>
                                        </p:tav>
                                        <p:tav tm="100000">
                                          <p:val>
                                            <p:strVal val="#ppt_h"/>
                                          </p:val>
                                        </p:tav>
                                      </p:tavLst>
                                    </p:anim>
                                  </p:childTnLst>
                                </p:cTn>
                              </p:par>
                              <p:par>
                                <p:cTn id="114" presetID="10" presetClass="entr" presetSubtype="0" fill="hold" nodeType="withEffect">
                                  <p:stCondLst>
                                    <p:cond delay="300"/>
                                  </p:stCondLst>
                                  <p:childTnLst>
                                    <p:set>
                                      <p:cBhvr>
                                        <p:cTn id="115" dur="1" fill="hold">
                                          <p:stCondLst>
                                            <p:cond delay="0"/>
                                          </p:stCondLst>
                                        </p:cTn>
                                        <p:tgtEl>
                                          <p:spTgt spid="270"/>
                                        </p:tgtEl>
                                        <p:attrNameLst>
                                          <p:attrName>style.visibility</p:attrName>
                                        </p:attrNameLst>
                                      </p:cBhvr>
                                      <p:to>
                                        <p:strVal val="visible"/>
                                      </p:to>
                                    </p:set>
                                    <p:animEffect transition="in" filter="fade">
                                      <p:cBhvr>
                                        <p:cTn id="116" dur="500"/>
                                        <p:tgtEl>
                                          <p:spTgt spid="270"/>
                                        </p:tgtEl>
                                      </p:cBhvr>
                                    </p:animEffect>
                                  </p:childTnLst>
                                </p:cTn>
                              </p:par>
                              <p:par>
                                <p:cTn id="117" presetID="6" presetClass="emph" presetSubtype="0" fill="hold" nodeType="withEffect">
                                  <p:stCondLst>
                                    <p:cond delay="300"/>
                                  </p:stCondLst>
                                  <p:childTnLst>
                                    <p:animScale>
                                      <p:cBhvr>
                                        <p:cTn id="118" dur="10" fill="hold"/>
                                        <p:tgtEl>
                                          <p:spTgt spid="270"/>
                                        </p:tgtEl>
                                      </p:cBhvr>
                                      <p:by x="80000" y="80000"/>
                                    </p:animScale>
                                  </p:childTnLst>
                                </p:cTn>
                              </p:par>
                              <p:par>
                                <p:cTn id="119" presetID="6" presetClass="emph" presetSubtype="0" decel="100000" fill="hold" nodeType="withEffect">
                                  <p:stCondLst>
                                    <p:cond delay="300"/>
                                  </p:stCondLst>
                                  <p:childTnLst>
                                    <p:animScale>
                                      <p:cBhvr>
                                        <p:cTn id="120" dur="1000" fill="hold"/>
                                        <p:tgtEl>
                                          <p:spTgt spid="270"/>
                                        </p:tgtEl>
                                      </p:cBhvr>
                                      <p:by x="125000" y="125000"/>
                                    </p:animScale>
                                  </p:childTnLst>
                                </p:cTn>
                              </p:par>
                              <p:par>
                                <p:cTn id="121" presetID="10" presetClass="entr" presetSubtype="0" fill="hold" grpId="0" nodeType="withEffect">
                                  <p:stCondLst>
                                    <p:cond delay="300"/>
                                  </p:stCondLst>
                                  <p:childTnLst>
                                    <p:set>
                                      <p:cBhvr>
                                        <p:cTn id="122" dur="1" fill="hold">
                                          <p:stCondLst>
                                            <p:cond delay="0"/>
                                          </p:stCondLst>
                                        </p:cTn>
                                        <p:tgtEl>
                                          <p:spTgt spid="268"/>
                                        </p:tgtEl>
                                        <p:attrNameLst>
                                          <p:attrName>style.visibility</p:attrName>
                                        </p:attrNameLst>
                                      </p:cBhvr>
                                      <p:to>
                                        <p:strVal val="visible"/>
                                      </p:to>
                                    </p:set>
                                    <p:animEffect transition="in" filter="fade">
                                      <p:cBhvr>
                                        <p:cTn id="123" dur="1000"/>
                                        <p:tgtEl>
                                          <p:spTgt spid="268"/>
                                        </p:tgtEl>
                                      </p:cBhvr>
                                    </p:animEffect>
                                  </p:childTnLst>
                                </p:cTn>
                              </p:par>
                              <p:par>
                                <p:cTn id="124" presetID="23" presetClass="entr" presetSubtype="272" fill="hold" grpId="0" nodeType="withEffect">
                                  <p:stCondLst>
                                    <p:cond delay="550"/>
                                  </p:stCondLst>
                                  <p:childTnLst>
                                    <p:set>
                                      <p:cBhvr>
                                        <p:cTn id="125" dur="1" fill="hold">
                                          <p:stCondLst>
                                            <p:cond delay="0"/>
                                          </p:stCondLst>
                                        </p:cTn>
                                        <p:tgtEl>
                                          <p:spTgt spid="269"/>
                                        </p:tgtEl>
                                        <p:attrNameLst>
                                          <p:attrName>style.visibility</p:attrName>
                                        </p:attrNameLst>
                                      </p:cBhvr>
                                      <p:to>
                                        <p:strVal val="visible"/>
                                      </p:to>
                                    </p:set>
                                    <p:anim calcmode="lin" valueType="num">
                                      <p:cBhvr>
                                        <p:cTn id="126" dur="250" fill="hold"/>
                                        <p:tgtEl>
                                          <p:spTgt spid="269"/>
                                        </p:tgtEl>
                                        <p:attrNameLst>
                                          <p:attrName>ppt_w</p:attrName>
                                        </p:attrNameLst>
                                      </p:cBhvr>
                                      <p:tavLst>
                                        <p:tav tm="0">
                                          <p:val>
                                            <p:strVal val="2/3*#ppt_w"/>
                                          </p:val>
                                        </p:tav>
                                        <p:tav tm="100000">
                                          <p:val>
                                            <p:strVal val="#ppt_w"/>
                                          </p:val>
                                        </p:tav>
                                      </p:tavLst>
                                    </p:anim>
                                    <p:anim calcmode="lin" valueType="num">
                                      <p:cBhvr>
                                        <p:cTn id="127" dur="250" fill="hold"/>
                                        <p:tgtEl>
                                          <p:spTgt spid="269"/>
                                        </p:tgtEl>
                                        <p:attrNameLst>
                                          <p:attrName>ppt_h</p:attrName>
                                        </p:attrNameLst>
                                      </p:cBhvr>
                                      <p:tavLst>
                                        <p:tav tm="0">
                                          <p:val>
                                            <p:strVal val="2/3*#ppt_h"/>
                                          </p:val>
                                        </p:tav>
                                        <p:tav tm="100000">
                                          <p:val>
                                            <p:strVal val="#ppt_h"/>
                                          </p:val>
                                        </p:tav>
                                      </p:tavLst>
                                    </p:anim>
                                  </p:childTnLst>
                                </p:cTn>
                              </p:par>
                              <p:par>
                                <p:cTn id="128" presetID="10" presetClass="entr" presetSubtype="0" fill="hold" grpId="1" nodeType="withEffect">
                                  <p:stCondLst>
                                    <p:cond delay="550"/>
                                  </p:stCondLst>
                                  <p:childTnLst>
                                    <p:set>
                                      <p:cBhvr>
                                        <p:cTn id="129" dur="1" fill="hold">
                                          <p:stCondLst>
                                            <p:cond delay="0"/>
                                          </p:stCondLst>
                                        </p:cTn>
                                        <p:tgtEl>
                                          <p:spTgt spid="269"/>
                                        </p:tgtEl>
                                        <p:attrNameLst>
                                          <p:attrName>style.visibility</p:attrName>
                                        </p:attrNameLst>
                                      </p:cBhvr>
                                      <p:to>
                                        <p:strVal val="visible"/>
                                      </p:to>
                                    </p:set>
                                    <p:animEffect transition="in" filter="fade">
                                      <p:cBhvr>
                                        <p:cTn id="130" dur="500"/>
                                        <p:tgtEl>
                                          <p:spTgt spid="269"/>
                                        </p:tgtEl>
                                      </p:cBhvr>
                                    </p:animEffect>
                                  </p:childTnLst>
                                </p:cTn>
                              </p:par>
                              <p:par>
                                <p:cTn id="131" presetID="6" presetClass="emph" presetSubtype="0" fill="hold" grpId="2" nodeType="withEffect">
                                  <p:stCondLst>
                                    <p:cond delay="550"/>
                                  </p:stCondLst>
                                  <p:childTnLst>
                                    <p:animScale>
                                      <p:cBhvr>
                                        <p:cTn id="132" dur="10" fill="hold"/>
                                        <p:tgtEl>
                                          <p:spTgt spid="269"/>
                                        </p:tgtEl>
                                      </p:cBhvr>
                                      <p:by x="80000" y="80000"/>
                                    </p:animScale>
                                  </p:childTnLst>
                                </p:cTn>
                              </p:par>
                              <p:par>
                                <p:cTn id="133" presetID="6" presetClass="emph" presetSubtype="0" decel="100000" fill="hold" grpId="3" nodeType="withEffect">
                                  <p:stCondLst>
                                    <p:cond delay="550"/>
                                  </p:stCondLst>
                                  <p:childTnLst>
                                    <p:animScale>
                                      <p:cBhvr>
                                        <p:cTn id="134" dur="1000" fill="hold"/>
                                        <p:tgtEl>
                                          <p:spTgt spid="269"/>
                                        </p:tgtEl>
                                      </p:cBhvr>
                                      <p:by x="125000" y="125000"/>
                                    </p:animScale>
                                  </p:childTnLst>
                                </p:cTn>
                              </p:par>
                              <p:par>
                                <p:cTn id="135" presetID="23" presetClass="entr" presetSubtype="272" fill="hold" nodeType="withEffect">
                                  <p:stCondLst>
                                    <p:cond delay="550"/>
                                  </p:stCondLst>
                                  <p:childTnLst>
                                    <p:set>
                                      <p:cBhvr>
                                        <p:cTn id="136" dur="1" fill="hold">
                                          <p:stCondLst>
                                            <p:cond delay="0"/>
                                          </p:stCondLst>
                                        </p:cTn>
                                        <p:tgtEl>
                                          <p:spTgt spid="275"/>
                                        </p:tgtEl>
                                        <p:attrNameLst>
                                          <p:attrName>style.visibility</p:attrName>
                                        </p:attrNameLst>
                                      </p:cBhvr>
                                      <p:to>
                                        <p:strVal val="visible"/>
                                      </p:to>
                                    </p:set>
                                    <p:anim calcmode="lin" valueType="num">
                                      <p:cBhvr>
                                        <p:cTn id="137" dur="250" fill="hold"/>
                                        <p:tgtEl>
                                          <p:spTgt spid="275"/>
                                        </p:tgtEl>
                                        <p:attrNameLst>
                                          <p:attrName>ppt_w</p:attrName>
                                        </p:attrNameLst>
                                      </p:cBhvr>
                                      <p:tavLst>
                                        <p:tav tm="0">
                                          <p:val>
                                            <p:strVal val="2/3*#ppt_w"/>
                                          </p:val>
                                        </p:tav>
                                        <p:tav tm="100000">
                                          <p:val>
                                            <p:strVal val="#ppt_w"/>
                                          </p:val>
                                        </p:tav>
                                      </p:tavLst>
                                    </p:anim>
                                    <p:anim calcmode="lin" valueType="num">
                                      <p:cBhvr>
                                        <p:cTn id="138" dur="250" fill="hold"/>
                                        <p:tgtEl>
                                          <p:spTgt spid="275"/>
                                        </p:tgtEl>
                                        <p:attrNameLst>
                                          <p:attrName>ppt_h</p:attrName>
                                        </p:attrNameLst>
                                      </p:cBhvr>
                                      <p:tavLst>
                                        <p:tav tm="0">
                                          <p:val>
                                            <p:strVal val="2/3*#ppt_h"/>
                                          </p:val>
                                        </p:tav>
                                        <p:tav tm="100000">
                                          <p:val>
                                            <p:strVal val="#ppt_h"/>
                                          </p:val>
                                        </p:tav>
                                      </p:tavLst>
                                    </p:anim>
                                  </p:childTnLst>
                                </p:cTn>
                              </p:par>
                              <p:par>
                                <p:cTn id="139" presetID="10" presetClass="entr" presetSubtype="0" fill="hold" nodeType="withEffect">
                                  <p:stCondLst>
                                    <p:cond delay="550"/>
                                  </p:stCondLst>
                                  <p:childTnLst>
                                    <p:set>
                                      <p:cBhvr>
                                        <p:cTn id="140" dur="1" fill="hold">
                                          <p:stCondLst>
                                            <p:cond delay="0"/>
                                          </p:stCondLst>
                                        </p:cTn>
                                        <p:tgtEl>
                                          <p:spTgt spid="275"/>
                                        </p:tgtEl>
                                        <p:attrNameLst>
                                          <p:attrName>style.visibility</p:attrName>
                                        </p:attrNameLst>
                                      </p:cBhvr>
                                      <p:to>
                                        <p:strVal val="visible"/>
                                      </p:to>
                                    </p:set>
                                    <p:animEffect transition="in" filter="fade">
                                      <p:cBhvr>
                                        <p:cTn id="141" dur="500"/>
                                        <p:tgtEl>
                                          <p:spTgt spid="275"/>
                                        </p:tgtEl>
                                      </p:cBhvr>
                                    </p:animEffect>
                                  </p:childTnLst>
                                </p:cTn>
                              </p:par>
                              <p:par>
                                <p:cTn id="142" presetID="6" presetClass="emph" presetSubtype="0" fill="hold" nodeType="withEffect">
                                  <p:stCondLst>
                                    <p:cond delay="550"/>
                                  </p:stCondLst>
                                  <p:childTnLst>
                                    <p:animScale>
                                      <p:cBhvr>
                                        <p:cTn id="143" dur="10" fill="hold"/>
                                        <p:tgtEl>
                                          <p:spTgt spid="275"/>
                                        </p:tgtEl>
                                      </p:cBhvr>
                                      <p:by x="80000" y="80000"/>
                                    </p:animScale>
                                  </p:childTnLst>
                                </p:cTn>
                              </p:par>
                              <p:par>
                                <p:cTn id="144" presetID="6" presetClass="emph" presetSubtype="0" decel="100000" fill="hold" nodeType="withEffect">
                                  <p:stCondLst>
                                    <p:cond delay="550"/>
                                  </p:stCondLst>
                                  <p:childTnLst>
                                    <p:animScale>
                                      <p:cBhvr>
                                        <p:cTn id="145" dur="1000" fill="hold"/>
                                        <p:tgtEl>
                                          <p:spTgt spid="275"/>
                                        </p:tgtEl>
                                      </p:cBhvr>
                                      <p:by x="125000" y="125000"/>
                                    </p:animScale>
                                  </p:childTnLst>
                                </p:cTn>
                              </p:par>
                              <p:par>
                                <p:cTn id="146" presetID="10" presetClass="entr" presetSubtype="0" fill="hold" grpId="0" nodeType="withEffect">
                                  <p:stCondLst>
                                    <p:cond delay="300"/>
                                  </p:stCondLst>
                                  <p:childTnLst>
                                    <p:set>
                                      <p:cBhvr>
                                        <p:cTn id="147" dur="1" fill="hold">
                                          <p:stCondLst>
                                            <p:cond delay="0"/>
                                          </p:stCondLst>
                                        </p:cTn>
                                        <p:tgtEl>
                                          <p:spTgt spid="3"/>
                                        </p:tgtEl>
                                        <p:attrNameLst>
                                          <p:attrName>style.visibility</p:attrName>
                                        </p:attrNameLst>
                                      </p:cBhvr>
                                      <p:to>
                                        <p:strVal val="visible"/>
                                      </p:to>
                                    </p:set>
                                    <p:animEffect transition="in" filter="fade">
                                      <p:cBhvr>
                                        <p:cTn id="148" dur="1000"/>
                                        <p:tgtEl>
                                          <p:spTgt spid="3"/>
                                        </p:tgtEl>
                                      </p:cBhvr>
                                    </p:animEffect>
                                  </p:childTnLst>
                                </p:cTn>
                              </p:par>
                              <p:par>
                                <p:cTn id="149" presetID="10" presetClass="entr" presetSubtype="0" fill="hold" nodeType="withEffect">
                                  <p:stCondLst>
                                    <p:cond delay="300"/>
                                  </p:stCondLst>
                                  <p:childTnLst>
                                    <p:set>
                                      <p:cBhvr>
                                        <p:cTn id="150" dur="1" fill="hold">
                                          <p:stCondLst>
                                            <p:cond delay="0"/>
                                          </p:stCondLst>
                                        </p:cTn>
                                        <p:tgtEl>
                                          <p:spTgt spid="5"/>
                                        </p:tgtEl>
                                        <p:attrNameLst>
                                          <p:attrName>style.visibility</p:attrName>
                                        </p:attrNameLst>
                                      </p:cBhvr>
                                      <p:to>
                                        <p:strVal val="visible"/>
                                      </p:to>
                                    </p:set>
                                    <p:animEffect transition="in" filter="fade">
                                      <p:cBhvr>
                                        <p:cTn id="15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3" grpId="0"/>
      <p:bldP spid="33" grpId="1"/>
      <p:bldP spid="33" grpId="2"/>
      <p:bldP spid="33" grpId="3"/>
      <p:bldP spid="196" grpId="0" animBg="1"/>
      <p:bldP spid="197" grpId="0"/>
      <p:bldP spid="197" grpId="1"/>
      <p:bldP spid="197" grpId="2"/>
      <p:bldP spid="197" grpId="3"/>
      <p:bldP spid="268" grpId="0" animBg="1"/>
      <p:bldP spid="269" grpId="0"/>
      <p:bldP spid="269" grpId="1"/>
      <p:bldP spid="269" grpId="2"/>
      <p:bldP spid="269" grpId="3"/>
      <p:bldP spid="3" grpId="0" animBg="1"/>
      <p:bldP spid="239" grpId="0"/>
      <p:bldP spid="239" grpId="1"/>
      <p:bldP spid="239" grpId="2"/>
      <p:bldP spid="239" grpId="3"/>
      <p:bldP spid="252" grpId="0" animBg="1"/>
      <p:bldP spid="252" grpId="1" animBg="1"/>
      <p:bldP spid="252" grpId="2" animBg="1"/>
      <p:bldP spid="252" grpId="3"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5">
            <a:extLst>
              <a:ext uri="{FF2B5EF4-FFF2-40B4-BE49-F238E27FC236}">
                <a16:creationId xmlns:a16="http://schemas.microsoft.com/office/drawing/2014/main" id="{DB4A727B-33B0-8C5B-DDE6-2C79E08E4186}"/>
              </a:ext>
            </a:extLst>
          </p:cNvPr>
          <p:cNvSpPr txBox="1">
            <a:spLocks/>
          </p:cNvSpPr>
          <p:nvPr/>
        </p:nvSpPr>
        <p:spPr>
          <a:xfrm>
            <a:off x="552487" y="1814986"/>
            <a:ext cx="3109467" cy="323487"/>
          </a:xfrm>
          <a:prstGeom prst="rect">
            <a:avLst/>
          </a:prstGeom>
          <a:noFill/>
        </p:spPr>
        <p:txBody>
          <a:bodyPr vert="horz" wrap="square" lIns="0" tIns="0" rIns="0" bIns="0" rtlCol="0" anchor="t">
            <a:noAutofit/>
          </a:bodyPr>
          <a:lstStyle>
            <a:lvl1pPr algn="l" defTabSz="932742" rtl="0" eaLnBrk="1" latinLnBrk="0" hangingPunct="1">
              <a:lnSpc>
                <a:spcPct val="100000"/>
              </a:lnSpc>
              <a:spcBef>
                <a:spcPct val="0"/>
              </a:spcBef>
              <a:buNone/>
              <a:defRPr kumimoji="0" lang="en-GB" sz="3200" b="0" i="0" u="none" strike="noStrike" kern="1200" cap="none" spc="0" normalizeH="0" baseline="0" dirty="0">
                <a:ln>
                  <a:noFill/>
                </a:ln>
                <a:solidFill>
                  <a:srgbClr val="FFFFFF"/>
                </a:solidFill>
                <a:effectLst/>
                <a:uLnTx/>
                <a:uFillTx/>
                <a:latin typeface="Segoe Sans Text Semibold"/>
                <a:ea typeface="+mn-ea"/>
                <a:cs typeface="+mn-cs"/>
              </a:defRPr>
            </a:lvl1pPr>
          </a:lstStyle>
          <a:p>
            <a:pPr lvl="0" defTabSz="914367">
              <a:buSzPct val="90000"/>
              <a:defRPr/>
            </a:pPr>
            <a:r>
              <a:rPr lang="en-US" sz="1800">
                <a:solidFill>
                  <a:schemeClr val="bg1"/>
                </a:solidFill>
                <a:latin typeface="+mj-lt"/>
                <a:cs typeface="Segoe Sans Display Semibold" pitchFamily="2" charset="0"/>
              </a:rPr>
              <a:t>Azure AI Model Catalog</a:t>
            </a:r>
            <a:endParaRPr lang="en-CA" sz="1800">
              <a:solidFill>
                <a:schemeClr val="bg1"/>
              </a:solidFill>
              <a:latin typeface="+mj-lt"/>
              <a:cs typeface="Segoe Sans Display Semibold" pitchFamily="2" charset="0"/>
            </a:endParaRPr>
          </a:p>
        </p:txBody>
      </p:sp>
      <p:sp>
        <p:nvSpPr>
          <p:cNvPr id="83" name="Rectangle: Rounded Corners 82">
            <a:extLst>
              <a:ext uri="{FF2B5EF4-FFF2-40B4-BE49-F238E27FC236}">
                <a16:creationId xmlns:a16="http://schemas.microsoft.com/office/drawing/2014/main" id="{91136F7D-E024-86FD-107F-CD91C0ECC29C}"/>
              </a:ext>
            </a:extLst>
          </p:cNvPr>
          <p:cNvSpPr>
            <a:spLocks/>
          </p:cNvSpPr>
          <p:nvPr/>
        </p:nvSpPr>
        <p:spPr bwMode="auto">
          <a:xfrm>
            <a:off x="4791523" y="1902823"/>
            <a:ext cx="7105781" cy="4224072"/>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5" name="Rectangle: Rounded Corners 84">
            <a:extLst>
              <a:ext uri="{FF2B5EF4-FFF2-40B4-BE49-F238E27FC236}">
                <a16:creationId xmlns:a16="http://schemas.microsoft.com/office/drawing/2014/main" id="{B691750D-9788-C04A-0176-A09B70AEEC48}"/>
              </a:ext>
            </a:extLst>
          </p:cNvPr>
          <p:cNvSpPr>
            <a:spLocks/>
          </p:cNvSpPr>
          <p:nvPr/>
        </p:nvSpPr>
        <p:spPr bwMode="auto">
          <a:xfrm>
            <a:off x="552487" y="2650509"/>
            <a:ext cx="4042845" cy="790744"/>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6" name="Content Placeholder 2">
            <a:extLst>
              <a:ext uri="{FF2B5EF4-FFF2-40B4-BE49-F238E27FC236}">
                <a16:creationId xmlns:a16="http://schemas.microsoft.com/office/drawing/2014/main" id="{1664C1C8-1140-0FBD-ED60-40226442BB85}"/>
              </a:ext>
            </a:extLst>
          </p:cNvPr>
          <p:cNvSpPr txBox="1">
            <a:spLocks/>
          </p:cNvSpPr>
          <p:nvPr/>
        </p:nvSpPr>
        <p:spPr>
          <a:xfrm>
            <a:off x="748678" y="2823070"/>
            <a:ext cx="3979333"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609630" fontAlgn="base">
              <a:spcBef>
                <a:spcPts val="1200"/>
              </a:spcBef>
              <a:spcAft>
                <a:spcPct val="0"/>
              </a:spcAft>
              <a:buNone/>
              <a:defRPr/>
            </a:pPr>
            <a:r>
              <a:rPr lang="en-US">
                <a:latin typeface="+mn-lt"/>
              </a:rPr>
              <a:t>Explore and test thousands of open-source models from Microsoft, OpenAI, Meta, Hugging Face, and Databricks to find the right one for your use case.</a:t>
            </a:r>
          </a:p>
        </p:txBody>
      </p:sp>
      <p:sp>
        <p:nvSpPr>
          <p:cNvPr id="131" name="Rectangle: Rounded Corners 130">
            <a:extLst>
              <a:ext uri="{FF2B5EF4-FFF2-40B4-BE49-F238E27FC236}">
                <a16:creationId xmlns:a16="http://schemas.microsoft.com/office/drawing/2014/main" id="{83FF5189-97C5-BE38-6DCF-D44E677BFE81}"/>
              </a:ext>
            </a:extLst>
          </p:cNvPr>
          <p:cNvSpPr>
            <a:spLocks/>
          </p:cNvSpPr>
          <p:nvPr/>
        </p:nvSpPr>
        <p:spPr bwMode="auto">
          <a:xfrm>
            <a:off x="552487" y="3544665"/>
            <a:ext cx="4042845" cy="790744"/>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2" name="Content Placeholder 2">
            <a:extLst>
              <a:ext uri="{FF2B5EF4-FFF2-40B4-BE49-F238E27FC236}">
                <a16:creationId xmlns:a16="http://schemas.microsoft.com/office/drawing/2014/main" id="{43D94168-7DE8-4D82-4150-EC55C3192770}"/>
              </a:ext>
            </a:extLst>
          </p:cNvPr>
          <p:cNvSpPr txBox="1">
            <a:spLocks/>
          </p:cNvSpPr>
          <p:nvPr/>
        </p:nvSpPr>
        <p:spPr>
          <a:xfrm>
            <a:off x="748678" y="3717226"/>
            <a:ext cx="372830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a:latin typeface="+mn-lt"/>
              </a:rPr>
              <a:t>Quickly fine-tune models with your own data, without managing any infrastructure.</a:t>
            </a:r>
          </a:p>
        </p:txBody>
      </p:sp>
      <p:sp>
        <p:nvSpPr>
          <p:cNvPr id="133" name="Rectangle: Rounded Corners 132">
            <a:extLst>
              <a:ext uri="{FF2B5EF4-FFF2-40B4-BE49-F238E27FC236}">
                <a16:creationId xmlns:a16="http://schemas.microsoft.com/office/drawing/2014/main" id="{3382CA83-09BA-72F2-D40A-08F6C3A0D73B}"/>
              </a:ext>
            </a:extLst>
          </p:cNvPr>
          <p:cNvSpPr>
            <a:spLocks/>
          </p:cNvSpPr>
          <p:nvPr/>
        </p:nvSpPr>
        <p:spPr bwMode="auto">
          <a:xfrm>
            <a:off x="552487" y="4438821"/>
            <a:ext cx="4042845" cy="790744"/>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4" name="Content Placeholder 2">
            <a:extLst>
              <a:ext uri="{FF2B5EF4-FFF2-40B4-BE49-F238E27FC236}">
                <a16:creationId xmlns:a16="http://schemas.microsoft.com/office/drawing/2014/main" id="{1C23EA36-5522-FA1B-C782-73BFABEDE7F4}"/>
              </a:ext>
            </a:extLst>
          </p:cNvPr>
          <p:cNvSpPr txBox="1">
            <a:spLocks/>
          </p:cNvSpPr>
          <p:nvPr/>
        </p:nvSpPr>
        <p:spPr>
          <a:xfrm>
            <a:off x="748678" y="4611382"/>
            <a:ext cx="3553356"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a:latin typeface="+mn-lt"/>
              </a:rPr>
              <a:t>Deploy Azure OpenAI Service models and Llama 2 models with a built-in safety system by default.</a:t>
            </a:r>
          </a:p>
        </p:txBody>
      </p:sp>
      <p:sp>
        <p:nvSpPr>
          <p:cNvPr id="56" name="Title 55">
            <a:extLst>
              <a:ext uri="{FF2B5EF4-FFF2-40B4-BE49-F238E27FC236}">
                <a16:creationId xmlns:a16="http://schemas.microsoft.com/office/drawing/2014/main" id="{B46F7F20-15D1-D906-B6E9-D8AD9E676A7D}"/>
              </a:ext>
            </a:extLst>
          </p:cNvPr>
          <p:cNvSpPr>
            <a:spLocks noGrp="1"/>
          </p:cNvSpPr>
          <p:nvPr>
            <p:ph type="title"/>
          </p:nvPr>
        </p:nvSpPr>
        <p:spPr/>
        <p:txBody>
          <a:bodyPr/>
          <a:lstStyle/>
          <a:p>
            <a:r>
              <a:rPr lang="en-US">
                <a:solidFill>
                  <a:schemeClr val="bg1"/>
                </a:solidFill>
              </a:rPr>
              <a:t>Discover, assess, customize, and deploy foundation models</a:t>
            </a:r>
          </a:p>
        </p:txBody>
      </p:sp>
      <p:sp>
        <p:nvSpPr>
          <p:cNvPr id="11" name="Rectangle: Rounded Corners 10">
            <a:extLst>
              <a:ext uri="{FF2B5EF4-FFF2-40B4-BE49-F238E27FC236}">
                <a16:creationId xmlns:a16="http://schemas.microsoft.com/office/drawing/2014/main" id="{B9ADE986-E7F2-7086-1A03-DC206F5D8502}"/>
              </a:ext>
            </a:extLst>
          </p:cNvPr>
          <p:cNvSpPr>
            <a:spLocks/>
          </p:cNvSpPr>
          <p:nvPr/>
        </p:nvSpPr>
        <p:spPr bwMode="auto">
          <a:xfrm>
            <a:off x="552487" y="5332978"/>
            <a:ext cx="4042845" cy="790744"/>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2" name="Content Placeholder 2">
            <a:extLst>
              <a:ext uri="{FF2B5EF4-FFF2-40B4-BE49-F238E27FC236}">
                <a16:creationId xmlns:a16="http://schemas.microsoft.com/office/drawing/2014/main" id="{82FECF22-7636-1E62-C2A9-468C07286AC8}"/>
              </a:ext>
            </a:extLst>
          </p:cNvPr>
          <p:cNvSpPr txBox="1">
            <a:spLocks/>
          </p:cNvSpPr>
          <p:nvPr/>
        </p:nvSpPr>
        <p:spPr>
          <a:xfrm>
            <a:off x="748678" y="5505539"/>
            <a:ext cx="3553356"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609630" fontAlgn="base">
              <a:spcBef>
                <a:spcPts val="1200"/>
              </a:spcBef>
              <a:spcAft>
                <a:spcPct val="0"/>
              </a:spcAft>
              <a:buNone/>
              <a:defRPr/>
            </a:pPr>
            <a:r>
              <a:rPr lang="en-US">
                <a:latin typeface="+mn-lt"/>
              </a:rPr>
              <a:t>Streamline production-scale deployments with managed endpoints in one click.</a:t>
            </a:r>
          </a:p>
        </p:txBody>
      </p:sp>
      <p:sp useBgFill="1">
        <p:nvSpPr>
          <p:cNvPr id="13" name="Rectangle: Rounded Corners 12">
            <a:extLst>
              <a:ext uri="{FF2B5EF4-FFF2-40B4-BE49-F238E27FC236}">
                <a16:creationId xmlns:a16="http://schemas.microsoft.com/office/drawing/2014/main" id="{5055B352-60C2-4928-D467-3589E8D7A1AB}"/>
              </a:ext>
            </a:extLst>
          </p:cNvPr>
          <p:cNvSpPr>
            <a:spLocks/>
          </p:cNvSpPr>
          <p:nvPr/>
        </p:nvSpPr>
        <p:spPr bwMode="auto">
          <a:xfrm>
            <a:off x="543830" y="2216758"/>
            <a:ext cx="2129701" cy="344061"/>
          </a:xfrm>
          <a:prstGeom prst="roundRect">
            <a:avLst>
              <a:gd name="adj" fmla="val 19336"/>
            </a:avLst>
          </a:prstGeom>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5" name="TextBox 14">
            <a:extLst>
              <a:ext uri="{FF2B5EF4-FFF2-40B4-BE49-F238E27FC236}">
                <a16:creationId xmlns:a16="http://schemas.microsoft.com/office/drawing/2014/main" id="{C2584A69-E3C7-FAB0-841F-815312B2B64F}"/>
              </a:ext>
            </a:extLst>
          </p:cNvPr>
          <p:cNvSpPr txBox="1"/>
          <p:nvPr/>
        </p:nvSpPr>
        <p:spPr>
          <a:xfrm>
            <a:off x="640514" y="2213232"/>
            <a:ext cx="189803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latin typeface="+mj-lt"/>
                <a:cs typeface="Segoe Sans Display Semibold" pitchFamily="2" charset="0"/>
              </a:rPr>
              <a:t>Customer Benefits </a:t>
            </a:r>
          </a:p>
        </p:txBody>
      </p:sp>
      <p:pic>
        <p:nvPicPr>
          <p:cNvPr id="8" name="Picture 7" descr="A blue and green sphere&#10;&#10;Description automatically generated">
            <a:extLst>
              <a:ext uri="{FF2B5EF4-FFF2-40B4-BE49-F238E27FC236}">
                <a16:creationId xmlns:a16="http://schemas.microsoft.com/office/drawing/2014/main" id="{D5E78270-0131-006E-45E4-D5ACC1288DBC}"/>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1198407" y="5219834"/>
            <a:ext cx="474536" cy="468848"/>
          </a:xfrm>
          <a:prstGeom prst="rect">
            <a:avLst/>
          </a:prstGeom>
          <a:effectLst>
            <a:outerShdw blurRad="114300" dist="139700" dir="8100000" algn="tr" rotWithShape="0">
              <a:prstClr val="black">
                <a:alpha val="6000"/>
              </a:prstClr>
            </a:outerShdw>
          </a:effectLst>
        </p:spPr>
      </p:pic>
      <p:sp>
        <p:nvSpPr>
          <p:cNvPr id="18" name="TextBox 17">
            <a:extLst>
              <a:ext uri="{FF2B5EF4-FFF2-40B4-BE49-F238E27FC236}">
                <a16:creationId xmlns:a16="http://schemas.microsoft.com/office/drawing/2014/main" id="{A78617CB-9B4F-329A-936A-25ADF5199733}"/>
              </a:ext>
            </a:extLst>
          </p:cNvPr>
          <p:cNvSpPr txBox="1"/>
          <p:nvPr/>
        </p:nvSpPr>
        <p:spPr>
          <a:xfrm>
            <a:off x="2525356" y="6172544"/>
            <a:ext cx="9036677" cy="246221"/>
          </a:xfrm>
          <a:prstGeom prst="rect">
            <a:avLst/>
          </a:prstGeom>
          <a:noFill/>
        </p:spPr>
        <p:txBody>
          <a:bodyPr wrap="square">
            <a:spAutoFit/>
          </a:bodyPr>
          <a:lstStyle/>
          <a:p>
            <a:pPr lvl="0" algn="r">
              <a:defRPr/>
            </a:pPr>
            <a:r>
              <a:rPr kumimoji="0" lang="en-US" sz="1000" b="0" i="0" u="none" strike="noStrike" kern="1200" cap="none" spc="0" normalizeH="0" baseline="0" noProof="0">
                <a:ln>
                  <a:noFill/>
                </a:ln>
                <a:solidFill>
                  <a:srgbClr val="FFFFFF"/>
                </a:solidFill>
                <a:effectLst/>
                <a:uLnTx/>
                <a:uFillTx/>
                <a:latin typeface="Calibri" panose="020F0502020204030204" pitchFamily="34" charset="0"/>
                <a:ea typeface="+mn-ea"/>
                <a:cs typeface="+mn-cs"/>
              </a:rPr>
              <a:t>Access the catalog</a:t>
            </a:r>
            <a:r>
              <a:rPr kumimoji="0" lang="en-US" sz="1000" b="0" i="0" u="none" strike="noStrike" kern="1200" cap="none" spc="0" normalizeH="0" baseline="0" noProof="0">
                <a:ln>
                  <a:noFill/>
                </a:ln>
                <a:solidFill>
                  <a:srgbClr val="8661C5">
                    <a:lumMod val="60000"/>
                    <a:lumOff val="40000"/>
                  </a:srgbClr>
                </a:solidFill>
                <a:effectLst/>
                <a:uLnTx/>
                <a:uFillTx/>
                <a:latin typeface="Calibri" panose="020F0502020204030204" pitchFamily="34" charset="0"/>
                <a:ea typeface="+mn-ea"/>
                <a:cs typeface="+mn-cs"/>
              </a:rPr>
              <a:t>: </a:t>
            </a:r>
            <a:r>
              <a:rPr lang="en-US" sz="1000">
                <a:solidFill>
                  <a:srgbClr val="8661C5">
                    <a:lumMod val="60000"/>
                    <a:lumOff val="40000"/>
                  </a:srgbClr>
                </a:solidFill>
                <a:latin typeface="Calibri" panose="020F0502020204030204" pitchFamily="34" charset="0"/>
                <a:hlinkClick r:id="rId4">
                  <a:extLst>
                    <a:ext uri="{A12FA001-AC4F-418D-AE19-62706E023703}">
                      <ahyp:hlinkClr xmlns:ahyp="http://schemas.microsoft.com/office/drawing/2018/hyperlinkcolor" val="tx"/>
                    </a:ext>
                  </a:extLst>
                </a:hlinkClick>
              </a:rPr>
              <a:t>https://ai.azure.com/explore/models?selectedCollection</a:t>
            </a:r>
            <a:r>
              <a:rPr kumimoji="0" lang="en-US" sz="1000" b="0" i="0" u="none" strike="noStrike" kern="1200" cap="none" spc="0" normalizeH="0" baseline="0" noProof="0">
                <a:ln>
                  <a:noFill/>
                </a:ln>
                <a:solidFill>
                  <a:srgbClr val="8661C5">
                    <a:lumMod val="60000"/>
                    <a:lumOff val="40000"/>
                  </a:srgbClr>
                </a:solidFill>
                <a:effectLst/>
                <a:uLnTx/>
                <a:uFillTx/>
                <a:latin typeface="Calibri" panose="020F0502020204030204" pitchFamily="34" charset="0"/>
                <a:hlinkClick r:id="rId4">
                  <a:extLst>
                    <a:ext uri="{A12FA001-AC4F-418D-AE19-62706E023703}">
                      <ahyp:hlinkClr xmlns:ahyp="http://schemas.microsoft.com/office/drawing/2018/hyperlinkcolor" val="tx"/>
                    </a:ext>
                  </a:extLst>
                </a:hlinkClick>
              </a:rPr>
              <a:t> </a:t>
            </a:r>
            <a:endParaRPr kumimoji="0" lang="en-US" sz="1000" b="0" i="0" u="none" strike="noStrike" kern="1200" cap="none" spc="0" normalizeH="0" baseline="0" noProof="0">
              <a:ln>
                <a:noFill/>
              </a:ln>
              <a:solidFill>
                <a:srgbClr val="8661C5">
                  <a:lumMod val="60000"/>
                  <a:lumOff val="40000"/>
                </a:srgbClr>
              </a:solidFill>
              <a:effectLst/>
              <a:uLnTx/>
              <a:uFillTx/>
              <a:latin typeface="Calibri" panose="020F0502020204030204" pitchFamily="34" charset="0"/>
              <a:ea typeface="+mn-ea"/>
              <a:cs typeface="+mn-cs"/>
            </a:endParaRPr>
          </a:p>
        </p:txBody>
      </p:sp>
      <p:pic>
        <p:nvPicPr>
          <p:cNvPr id="5" name="Picture 4">
            <a:extLst>
              <a:ext uri="{FF2B5EF4-FFF2-40B4-BE49-F238E27FC236}">
                <a16:creationId xmlns:a16="http://schemas.microsoft.com/office/drawing/2014/main" id="{2375746A-AD8C-9BF3-AD64-41CB3B00DA1A}"/>
              </a:ext>
            </a:extLst>
          </p:cNvPr>
          <p:cNvPicPr>
            <a:picLocks noChangeAspect="1"/>
          </p:cNvPicPr>
          <p:nvPr/>
        </p:nvPicPr>
        <p:blipFill>
          <a:blip r:embed="rId5"/>
          <a:stretch>
            <a:fillRect/>
          </a:stretch>
        </p:blipFill>
        <p:spPr>
          <a:xfrm>
            <a:off x="4833770" y="2187487"/>
            <a:ext cx="6953981" cy="3694833"/>
          </a:xfrm>
          <a:prstGeom prst="rect">
            <a:avLst/>
          </a:prstGeom>
        </p:spPr>
      </p:pic>
    </p:spTree>
    <p:extLst>
      <p:ext uri="{BB962C8B-B14F-4D97-AF65-F5344CB8AC3E}">
        <p14:creationId xmlns:p14="http://schemas.microsoft.com/office/powerpoint/2010/main" val="67127176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250" fill="hold"/>
                                        <p:tgtEl>
                                          <p:spTgt spid="83"/>
                                        </p:tgtEl>
                                        <p:attrNameLst>
                                          <p:attrName>ppt_w</p:attrName>
                                        </p:attrNameLst>
                                      </p:cBhvr>
                                      <p:tavLst>
                                        <p:tav tm="0">
                                          <p:val>
                                            <p:strVal val="2/3*#ppt_w"/>
                                          </p:val>
                                        </p:tav>
                                        <p:tav tm="100000">
                                          <p:val>
                                            <p:strVal val="#ppt_w"/>
                                          </p:val>
                                        </p:tav>
                                      </p:tavLst>
                                    </p:anim>
                                    <p:anim calcmode="lin" valueType="num">
                                      <p:cBhvr>
                                        <p:cTn id="8" dur="250" fill="hold"/>
                                        <p:tgtEl>
                                          <p:spTgt spid="83"/>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fade">
                                      <p:cBhvr>
                                        <p:cTn id="11" dur="500"/>
                                        <p:tgtEl>
                                          <p:spTgt spid="83"/>
                                        </p:tgtEl>
                                      </p:cBhvr>
                                    </p:animEffect>
                                  </p:childTnLst>
                                </p:cTn>
                              </p:par>
                              <p:par>
                                <p:cTn id="12" presetID="6" presetClass="emph" presetSubtype="0" fill="hold" grpId="2" nodeType="withEffect">
                                  <p:stCondLst>
                                    <p:cond delay="0"/>
                                  </p:stCondLst>
                                  <p:childTnLst>
                                    <p:animScale>
                                      <p:cBhvr>
                                        <p:cTn id="13" dur="10" fill="hold"/>
                                        <p:tgtEl>
                                          <p:spTgt spid="83"/>
                                        </p:tgtEl>
                                      </p:cBhvr>
                                      <p:by x="80000" y="80000"/>
                                    </p:animScale>
                                  </p:childTnLst>
                                </p:cTn>
                              </p:par>
                              <p:par>
                                <p:cTn id="14" presetID="6" presetClass="emph" presetSubtype="0" decel="100000" fill="hold" grpId="3" nodeType="withEffect">
                                  <p:stCondLst>
                                    <p:cond delay="0"/>
                                  </p:stCondLst>
                                  <p:childTnLst>
                                    <p:animScale>
                                      <p:cBhvr>
                                        <p:cTn id="15" dur="1000" fill="hold"/>
                                        <p:tgtEl>
                                          <p:spTgt spid="83"/>
                                        </p:tgtEl>
                                      </p:cBhvr>
                                      <p:by x="125000" y="125000"/>
                                    </p:animScale>
                                  </p:childTnLst>
                                </p:cTn>
                              </p:par>
                              <p:par>
                                <p:cTn id="16" presetID="10" presetClass="entr" presetSubtype="0" fill="hold" grpId="0" nodeType="withEffect">
                                  <p:stCondLst>
                                    <p:cond delay="0"/>
                                  </p:stCondLst>
                                  <p:childTnLst>
                                    <p:set>
                                      <p:cBhvr>
                                        <p:cTn id="17" dur="1" fill="hold">
                                          <p:stCondLst>
                                            <p:cond delay="0"/>
                                          </p:stCondLst>
                                        </p:cTn>
                                        <p:tgtEl>
                                          <p:spTgt spid="85"/>
                                        </p:tgtEl>
                                        <p:attrNameLst>
                                          <p:attrName>style.visibility</p:attrName>
                                        </p:attrNameLst>
                                      </p:cBhvr>
                                      <p:to>
                                        <p:strVal val="visible"/>
                                      </p:to>
                                    </p:set>
                                    <p:animEffect transition="in" filter="fade">
                                      <p:cBhvr>
                                        <p:cTn id="18" dur="1000"/>
                                        <p:tgtEl>
                                          <p:spTgt spid="85"/>
                                        </p:tgtEl>
                                      </p:cBhvr>
                                    </p:animEffect>
                                  </p:childTnLst>
                                </p:cTn>
                              </p:par>
                              <p:par>
                                <p:cTn id="19" presetID="23" presetClass="entr" presetSubtype="272" fill="hold" grpId="0" nodeType="withEffect">
                                  <p:stCondLst>
                                    <p:cond delay="250"/>
                                  </p:stCondLst>
                                  <p:childTnLst>
                                    <p:set>
                                      <p:cBhvr>
                                        <p:cTn id="20" dur="1" fill="hold">
                                          <p:stCondLst>
                                            <p:cond delay="0"/>
                                          </p:stCondLst>
                                        </p:cTn>
                                        <p:tgtEl>
                                          <p:spTgt spid="86"/>
                                        </p:tgtEl>
                                        <p:attrNameLst>
                                          <p:attrName>style.visibility</p:attrName>
                                        </p:attrNameLst>
                                      </p:cBhvr>
                                      <p:to>
                                        <p:strVal val="visible"/>
                                      </p:to>
                                    </p:set>
                                    <p:anim calcmode="lin" valueType="num">
                                      <p:cBhvr>
                                        <p:cTn id="21" dur="250" fill="hold"/>
                                        <p:tgtEl>
                                          <p:spTgt spid="86"/>
                                        </p:tgtEl>
                                        <p:attrNameLst>
                                          <p:attrName>ppt_w</p:attrName>
                                        </p:attrNameLst>
                                      </p:cBhvr>
                                      <p:tavLst>
                                        <p:tav tm="0">
                                          <p:val>
                                            <p:strVal val="2/3*#ppt_w"/>
                                          </p:val>
                                        </p:tav>
                                        <p:tav tm="100000">
                                          <p:val>
                                            <p:strVal val="#ppt_w"/>
                                          </p:val>
                                        </p:tav>
                                      </p:tavLst>
                                    </p:anim>
                                    <p:anim calcmode="lin" valueType="num">
                                      <p:cBhvr>
                                        <p:cTn id="22" dur="250" fill="hold"/>
                                        <p:tgtEl>
                                          <p:spTgt spid="86"/>
                                        </p:tgtEl>
                                        <p:attrNameLst>
                                          <p:attrName>ppt_h</p:attrName>
                                        </p:attrNameLst>
                                      </p:cBhvr>
                                      <p:tavLst>
                                        <p:tav tm="0">
                                          <p:val>
                                            <p:strVal val="2/3*#ppt_h"/>
                                          </p:val>
                                        </p:tav>
                                        <p:tav tm="100000">
                                          <p:val>
                                            <p:strVal val="#ppt_h"/>
                                          </p:val>
                                        </p:tav>
                                      </p:tavLst>
                                    </p:anim>
                                  </p:childTnLst>
                                </p:cTn>
                              </p:par>
                              <p:par>
                                <p:cTn id="23" presetID="10" presetClass="entr" presetSubtype="0" fill="hold" grpId="1" nodeType="withEffect">
                                  <p:stCondLst>
                                    <p:cond delay="25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500"/>
                                        <p:tgtEl>
                                          <p:spTgt spid="86"/>
                                        </p:tgtEl>
                                      </p:cBhvr>
                                    </p:animEffect>
                                  </p:childTnLst>
                                </p:cTn>
                              </p:par>
                              <p:par>
                                <p:cTn id="26" presetID="6" presetClass="emph" presetSubtype="0" fill="hold" grpId="2" nodeType="withEffect">
                                  <p:stCondLst>
                                    <p:cond delay="250"/>
                                  </p:stCondLst>
                                  <p:childTnLst>
                                    <p:animScale>
                                      <p:cBhvr>
                                        <p:cTn id="27" dur="10" fill="hold"/>
                                        <p:tgtEl>
                                          <p:spTgt spid="86"/>
                                        </p:tgtEl>
                                      </p:cBhvr>
                                      <p:by x="80000" y="80000"/>
                                    </p:animScale>
                                  </p:childTnLst>
                                </p:cTn>
                              </p:par>
                              <p:par>
                                <p:cTn id="28" presetID="6" presetClass="emph" presetSubtype="0" decel="100000" fill="hold" grpId="3" nodeType="withEffect">
                                  <p:stCondLst>
                                    <p:cond delay="250"/>
                                  </p:stCondLst>
                                  <p:childTnLst>
                                    <p:animScale>
                                      <p:cBhvr>
                                        <p:cTn id="29" dur="1000" fill="hold"/>
                                        <p:tgtEl>
                                          <p:spTgt spid="86"/>
                                        </p:tgtEl>
                                      </p:cBhvr>
                                      <p:by x="125000" y="125000"/>
                                    </p:animScale>
                                  </p:childTnLst>
                                </p:cTn>
                              </p:par>
                              <p:par>
                                <p:cTn id="30" presetID="10" presetClass="entr" presetSubtype="0" fill="hold" grpId="0" nodeType="withEffect">
                                  <p:stCondLst>
                                    <p:cond delay="0"/>
                                  </p:stCondLst>
                                  <p:childTnLst>
                                    <p:set>
                                      <p:cBhvr>
                                        <p:cTn id="31" dur="1" fill="hold">
                                          <p:stCondLst>
                                            <p:cond delay="0"/>
                                          </p:stCondLst>
                                        </p:cTn>
                                        <p:tgtEl>
                                          <p:spTgt spid="131"/>
                                        </p:tgtEl>
                                        <p:attrNameLst>
                                          <p:attrName>style.visibility</p:attrName>
                                        </p:attrNameLst>
                                      </p:cBhvr>
                                      <p:to>
                                        <p:strVal val="visible"/>
                                      </p:to>
                                    </p:set>
                                    <p:animEffect transition="in" filter="fade">
                                      <p:cBhvr>
                                        <p:cTn id="32" dur="1000"/>
                                        <p:tgtEl>
                                          <p:spTgt spid="131"/>
                                        </p:tgtEl>
                                      </p:cBhvr>
                                    </p:animEffect>
                                  </p:childTnLst>
                                </p:cTn>
                              </p:par>
                              <p:par>
                                <p:cTn id="33" presetID="23" presetClass="entr" presetSubtype="272" fill="hold" grpId="0" nodeType="withEffect">
                                  <p:stCondLst>
                                    <p:cond delay="250"/>
                                  </p:stCondLst>
                                  <p:childTnLst>
                                    <p:set>
                                      <p:cBhvr>
                                        <p:cTn id="34" dur="1" fill="hold">
                                          <p:stCondLst>
                                            <p:cond delay="0"/>
                                          </p:stCondLst>
                                        </p:cTn>
                                        <p:tgtEl>
                                          <p:spTgt spid="132"/>
                                        </p:tgtEl>
                                        <p:attrNameLst>
                                          <p:attrName>style.visibility</p:attrName>
                                        </p:attrNameLst>
                                      </p:cBhvr>
                                      <p:to>
                                        <p:strVal val="visible"/>
                                      </p:to>
                                    </p:set>
                                    <p:anim calcmode="lin" valueType="num">
                                      <p:cBhvr>
                                        <p:cTn id="35" dur="250" fill="hold"/>
                                        <p:tgtEl>
                                          <p:spTgt spid="132"/>
                                        </p:tgtEl>
                                        <p:attrNameLst>
                                          <p:attrName>ppt_w</p:attrName>
                                        </p:attrNameLst>
                                      </p:cBhvr>
                                      <p:tavLst>
                                        <p:tav tm="0">
                                          <p:val>
                                            <p:strVal val="2/3*#ppt_w"/>
                                          </p:val>
                                        </p:tav>
                                        <p:tav tm="100000">
                                          <p:val>
                                            <p:strVal val="#ppt_w"/>
                                          </p:val>
                                        </p:tav>
                                      </p:tavLst>
                                    </p:anim>
                                    <p:anim calcmode="lin" valueType="num">
                                      <p:cBhvr>
                                        <p:cTn id="36" dur="250" fill="hold"/>
                                        <p:tgtEl>
                                          <p:spTgt spid="132"/>
                                        </p:tgtEl>
                                        <p:attrNameLst>
                                          <p:attrName>ppt_h</p:attrName>
                                        </p:attrNameLst>
                                      </p:cBhvr>
                                      <p:tavLst>
                                        <p:tav tm="0">
                                          <p:val>
                                            <p:strVal val="2/3*#ppt_h"/>
                                          </p:val>
                                        </p:tav>
                                        <p:tav tm="100000">
                                          <p:val>
                                            <p:strVal val="#ppt_h"/>
                                          </p:val>
                                        </p:tav>
                                      </p:tavLst>
                                    </p:anim>
                                  </p:childTnLst>
                                </p:cTn>
                              </p:par>
                              <p:par>
                                <p:cTn id="37" presetID="10" presetClass="entr" presetSubtype="0" fill="hold" grpId="1" nodeType="withEffect">
                                  <p:stCondLst>
                                    <p:cond delay="250"/>
                                  </p:stCondLst>
                                  <p:childTnLst>
                                    <p:set>
                                      <p:cBhvr>
                                        <p:cTn id="38" dur="1" fill="hold">
                                          <p:stCondLst>
                                            <p:cond delay="0"/>
                                          </p:stCondLst>
                                        </p:cTn>
                                        <p:tgtEl>
                                          <p:spTgt spid="132"/>
                                        </p:tgtEl>
                                        <p:attrNameLst>
                                          <p:attrName>style.visibility</p:attrName>
                                        </p:attrNameLst>
                                      </p:cBhvr>
                                      <p:to>
                                        <p:strVal val="visible"/>
                                      </p:to>
                                    </p:set>
                                    <p:animEffect transition="in" filter="fade">
                                      <p:cBhvr>
                                        <p:cTn id="39" dur="500"/>
                                        <p:tgtEl>
                                          <p:spTgt spid="132"/>
                                        </p:tgtEl>
                                      </p:cBhvr>
                                    </p:animEffect>
                                  </p:childTnLst>
                                </p:cTn>
                              </p:par>
                              <p:par>
                                <p:cTn id="40" presetID="6" presetClass="emph" presetSubtype="0" fill="hold" grpId="2" nodeType="withEffect">
                                  <p:stCondLst>
                                    <p:cond delay="250"/>
                                  </p:stCondLst>
                                  <p:childTnLst>
                                    <p:animScale>
                                      <p:cBhvr>
                                        <p:cTn id="41" dur="10" fill="hold"/>
                                        <p:tgtEl>
                                          <p:spTgt spid="132"/>
                                        </p:tgtEl>
                                      </p:cBhvr>
                                      <p:by x="80000" y="80000"/>
                                    </p:animScale>
                                  </p:childTnLst>
                                </p:cTn>
                              </p:par>
                              <p:par>
                                <p:cTn id="42" presetID="6" presetClass="emph" presetSubtype="0" decel="100000" fill="hold" grpId="3" nodeType="withEffect">
                                  <p:stCondLst>
                                    <p:cond delay="250"/>
                                  </p:stCondLst>
                                  <p:childTnLst>
                                    <p:animScale>
                                      <p:cBhvr>
                                        <p:cTn id="43" dur="1000" fill="hold"/>
                                        <p:tgtEl>
                                          <p:spTgt spid="132"/>
                                        </p:tgtEl>
                                      </p:cBhvr>
                                      <p:by x="125000" y="125000"/>
                                    </p:animScale>
                                  </p:childTnLst>
                                </p:cTn>
                              </p:par>
                              <p:par>
                                <p:cTn id="44" presetID="10" presetClass="entr" presetSubtype="0" fill="hold" grpId="0" nodeType="withEffect">
                                  <p:stCondLst>
                                    <p:cond delay="0"/>
                                  </p:stCondLst>
                                  <p:childTnLst>
                                    <p:set>
                                      <p:cBhvr>
                                        <p:cTn id="45" dur="1" fill="hold">
                                          <p:stCondLst>
                                            <p:cond delay="0"/>
                                          </p:stCondLst>
                                        </p:cTn>
                                        <p:tgtEl>
                                          <p:spTgt spid="133"/>
                                        </p:tgtEl>
                                        <p:attrNameLst>
                                          <p:attrName>style.visibility</p:attrName>
                                        </p:attrNameLst>
                                      </p:cBhvr>
                                      <p:to>
                                        <p:strVal val="visible"/>
                                      </p:to>
                                    </p:set>
                                    <p:animEffect transition="in" filter="fade">
                                      <p:cBhvr>
                                        <p:cTn id="46" dur="1000"/>
                                        <p:tgtEl>
                                          <p:spTgt spid="133"/>
                                        </p:tgtEl>
                                      </p:cBhvr>
                                    </p:animEffect>
                                  </p:childTnLst>
                                </p:cTn>
                              </p:par>
                              <p:par>
                                <p:cTn id="47" presetID="23" presetClass="entr" presetSubtype="272" fill="hold" grpId="0" nodeType="withEffect">
                                  <p:stCondLst>
                                    <p:cond delay="250"/>
                                  </p:stCondLst>
                                  <p:childTnLst>
                                    <p:set>
                                      <p:cBhvr>
                                        <p:cTn id="48" dur="1" fill="hold">
                                          <p:stCondLst>
                                            <p:cond delay="0"/>
                                          </p:stCondLst>
                                        </p:cTn>
                                        <p:tgtEl>
                                          <p:spTgt spid="134"/>
                                        </p:tgtEl>
                                        <p:attrNameLst>
                                          <p:attrName>style.visibility</p:attrName>
                                        </p:attrNameLst>
                                      </p:cBhvr>
                                      <p:to>
                                        <p:strVal val="visible"/>
                                      </p:to>
                                    </p:set>
                                    <p:anim calcmode="lin" valueType="num">
                                      <p:cBhvr>
                                        <p:cTn id="49" dur="250" fill="hold"/>
                                        <p:tgtEl>
                                          <p:spTgt spid="134"/>
                                        </p:tgtEl>
                                        <p:attrNameLst>
                                          <p:attrName>ppt_w</p:attrName>
                                        </p:attrNameLst>
                                      </p:cBhvr>
                                      <p:tavLst>
                                        <p:tav tm="0">
                                          <p:val>
                                            <p:strVal val="2/3*#ppt_w"/>
                                          </p:val>
                                        </p:tav>
                                        <p:tav tm="100000">
                                          <p:val>
                                            <p:strVal val="#ppt_w"/>
                                          </p:val>
                                        </p:tav>
                                      </p:tavLst>
                                    </p:anim>
                                    <p:anim calcmode="lin" valueType="num">
                                      <p:cBhvr>
                                        <p:cTn id="50" dur="250" fill="hold"/>
                                        <p:tgtEl>
                                          <p:spTgt spid="134"/>
                                        </p:tgtEl>
                                        <p:attrNameLst>
                                          <p:attrName>ppt_h</p:attrName>
                                        </p:attrNameLst>
                                      </p:cBhvr>
                                      <p:tavLst>
                                        <p:tav tm="0">
                                          <p:val>
                                            <p:strVal val="2/3*#ppt_h"/>
                                          </p:val>
                                        </p:tav>
                                        <p:tav tm="100000">
                                          <p:val>
                                            <p:strVal val="#ppt_h"/>
                                          </p:val>
                                        </p:tav>
                                      </p:tavLst>
                                    </p:anim>
                                  </p:childTnLst>
                                </p:cTn>
                              </p:par>
                              <p:par>
                                <p:cTn id="51" presetID="10" presetClass="entr" presetSubtype="0" fill="hold" grpId="1" nodeType="withEffect">
                                  <p:stCondLst>
                                    <p:cond delay="250"/>
                                  </p:stCondLst>
                                  <p:childTnLst>
                                    <p:set>
                                      <p:cBhvr>
                                        <p:cTn id="52" dur="1" fill="hold">
                                          <p:stCondLst>
                                            <p:cond delay="0"/>
                                          </p:stCondLst>
                                        </p:cTn>
                                        <p:tgtEl>
                                          <p:spTgt spid="134"/>
                                        </p:tgtEl>
                                        <p:attrNameLst>
                                          <p:attrName>style.visibility</p:attrName>
                                        </p:attrNameLst>
                                      </p:cBhvr>
                                      <p:to>
                                        <p:strVal val="visible"/>
                                      </p:to>
                                    </p:set>
                                    <p:animEffect transition="in" filter="fade">
                                      <p:cBhvr>
                                        <p:cTn id="53" dur="500"/>
                                        <p:tgtEl>
                                          <p:spTgt spid="134"/>
                                        </p:tgtEl>
                                      </p:cBhvr>
                                    </p:animEffect>
                                  </p:childTnLst>
                                </p:cTn>
                              </p:par>
                              <p:par>
                                <p:cTn id="54" presetID="6" presetClass="emph" presetSubtype="0" fill="hold" grpId="2" nodeType="withEffect">
                                  <p:stCondLst>
                                    <p:cond delay="250"/>
                                  </p:stCondLst>
                                  <p:childTnLst>
                                    <p:animScale>
                                      <p:cBhvr>
                                        <p:cTn id="55" dur="10" fill="hold"/>
                                        <p:tgtEl>
                                          <p:spTgt spid="134"/>
                                        </p:tgtEl>
                                      </p:cBhvr>
                                      <p:by x="80000" y="80000"/>
                                    </p:animScale>
                                  </p:childTnLst>
                                </p:cTn>
                              </p:par>
                              <p:par>
                                <p:cTn id="56" presetID="6" presetClass="emph" presetSubtype="0" decel="100000" fill="hold" grpId="3" nodeType="withEffect">
                                  <p:stCondLst>
                                    <p:cond delay="250"/>
                                  </p:stCondLst>
                                  <p:childTnLst>
                                    <p:animScale>
                                      <p:cBhvr>
                                        <p:cTn id="57" dur="1000" fill="hold"/>
                                        <p:tgtEl>
                                          <p:spTgt spid="134"/>
                                        </p:tgtEl>
                                      </p:cBhvr>
                                      <p:by x="125000" y="125000"/>
                                    </p:animScale>
                                  </p:childTnLst>
                                </p:cTn>
                              </p:par>
                              <p:par>
                                <p:cTn id="58" presetID="23" presetClass="entr" presetSubtype="272" fill="hold" nodeType="withEffect">
                                  <p:stCondLst>
                                    <p:cond delay="550"/>
                                  </p:stCondLst>
                                  <p:childTnLst>
                                    <p:set>
                                      <p:cBhvr>
                                        <p:cTn id="59" dur="1" fill="hold">
                                          <p:stCondLst>
                                            <p:cond delay="0"/>
                                          </p:stCondLst>
                                        </p:cTn>
                                        <p:tgtEl>
                                          <p:spTgt spid="8"/>
                                        </p:tgtEl>
                                        <p:attrNameLst>
                                          <p:attrName>style.visibility</p:attrName>
                                        </p:attrNameLst>
                                      </p:cBhvr>
                                      <p:to>
                                        <p:strVal val="visible"/>
                                      </p:to>
                                    </p:set>
                                    <p:anim calcmode="lin" valueType="num">
                                      <p:cBhvr>
                                        <p:cTn id="60" dur="250" fill="hold"/>
                                        <p:tgtEl>
                                          <p:spTgt spid="8"/>
                                        </p:tgtEl>
                                        <p:attrNameLst>
                                          <p:attrName>ppt_w</p:attrName>
                                        </p:attrNameLst>
                                      </p:cBhvr>
                                      <p:tavLst>
                                        <p:tav tm="0">
                                          <p:val>
                                            <p:strVal val="2/3*#ppt_w"/>
                                          </p:val>
                                        </p:tav>
                                        <p:tav tm="100000">
                                          <p:val>
                                            <p:strVal val="#ppt_w"/>
                                          </p:val>
                                        </p:tav>
                                      </p:tavLst>
                                    </p:anim>
                                    <p:anim calcmode="lin" valueType="num">
                                      <p:cBhvr>
                                        <p:cTn id="61" dur="250" fill="hold"/>
                                        <p:tgtEl>
                                          <p:spTgt spid="8"/>
                                        </p:tgtEl>
                                        <p:attrNameLst>
                                          <p:attrName>ppt_h</p:attrName>
                                        </p:attrNameLst>
                                      </p:cBhvr>
                                      <p:tavLst>
                                        <p:tav tm="0">
                                          <p:val>
                                            <p:strVal val="2/3*#ppt_h"/>
                                          </p:val>
                                        </p:tav>
                                        <p:tav tm="100000">
                                          <p:val>
                                            <p:strVal val="#ppt_h"/>
                                          </p:val>
                                        </p:tav>
                                      </p:tavLst>
                                    </p:anim>
                                  </p:childTnLst>
                                </p:cTn>
                              </p:par>
                              <p:par>
                                <p:cTn id="62" presetID="10" presetClass="entr" presetSubtype="0" fill="hold" nodeType="withEffect">
                                  <p:stCondLst>
                                    <p:cond delay="550"/>
                                  </p:stCondLst>
                                  <p:childTnLst>
                                    <p:set>
                                      <p:cBhvr>
                                        <p:cTn id="63" dur="1" fill="hold">
                                          <p:stCondLst>
                                            <p:cond delay="0"/>
                                          </p:stCondLst>
                                        </p:cTn>
                                        <p:tgtEl>
                                          <p:spTgt spid="8"/>
                                        </p:tgtEl>
                                        <p:attrNameLst>
                                          <p:attrName>style.visibility</p:attrName>
                                        </p:attrNameLst>
                                      </p:cBhvr>
                                      <p:to>
                                        <p:strVal val="visible"/>
                                      </p:to>
                                    </p:set>
                                    <p:animEffect transition="in" filter="fade">
                                      <p:cBhvr>
                                        <p:cTn id="64" dur="500"/>
                                        <p:tgtEl>
                                          <p:spTgt spid="8"/>
                                        </p:tgtEl>
                                      </p:cBhvr>
                                    </p:animEffect>
                                  </p:childTnLst>
                                </p:cTn>
                              </p:par>
                              <p:par>
                                <p:cTn id="65" presetID="6" presetClass="emph" presetSubtype="0" fill="hold" nodeType="withEffect">
                                  <p:stCondLst>
                                    <p:cond delay="550"/>
                                  </p:stCondLst>
                                  <p:childTnLst>
                                    <p:animScale>
                                      <p:cBhvr>
                                        <p:cTn id="66" dur="10" fill="hold"/>
                                        <p:tgtEl>
                                          <p:spTgt spid="8"/>
                                        </p:tgtEl>
                                      </p:cBhvr>
                                      <p:by x="80000" y="80000"/>
                                    </p:animScale>
                                  </p:childTnLst>
                                </p:cTn>
                              </p:par>
                              <p:par>
                                <p:cTn id="67" presetID="6" presetClass="emph" presetSubtype="0" decel="100000" fill="hold" nodeType="withEffect">
                                  <p:stCondLst>
                                    <p:cond delay="550"/>
                                  </p:stCondLst>
                                  <p:childTnLst>
                                    <p:animScale>
                                      <p:cBhvr>
                                        <p:cTn id="68" dur="1000" fill="hold"/>
                                        <p:tgtEl>
                                          <p:spTgt spid="8"/>
                                        </p:tgtEl>
                                      </p:cBhvr>
                                      <p:by x="125000" y="125000"/>
                                    </p:animScale>
                                  </p:childTnLst>
                                </p:cTn>
                              </p:par>
                              <p:par>
                                <p:cTn id="69" presetID="10" presetClass="entr" presetSubtype="0" fill="hold" grpId="0" nodeType="with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fade">
                                      <p:cBhvr>
                                        <p:cTn id="71" dur="1000"/>
                                        <p:tgtEl>
                                          <p:spTgt spid="11"/>
                                        </p:tgtEl>
                                      </p:cBhvr>
                                    </p:animEffect>
                                  </p:childTnLst>
                                </p:cTn>
                              </p:par>
                              <p:par>
                                <p:cTn id="72" presetID="23" presetClass="entr" presetSubtype="272" fill="hold" grpId="0" nodeType="withEffect">
                                  <p:stCondLst>
                                    <p:cond delay="250"/>
                                  </p:stCondLst>
                                  <p:childTnLst>
                                    <p:set>
                                      <p:cBhvr>
                                        <p:cTn id="73" dur="1" fill="hold">
                                          <p:stCondLst>
                                            <p:cond delay="0"/>
                                          </p:stCondLst>
                                        </p:cTn>
                                        <p:tgtEl>
                                          <p:spTgt spid="12"/>
                                        </p:tgtEl>
                                        <p:attrNameLst>
                                          <p:attrName>style.visibility</p:attrName>
                                        </p:attrNameLst>
                                      </p:cBhvr>
                                      <p:to>
                                        <p:strVal val="visible"/>
                                      </p:to>
                                    </p:set>
                                    <p:anim calcmode="lin" valueType="num">
                                      <p:cBhvr>
                                        <p:cTn id="74" dur="250" fill="hold"/>
                                        <p:tgtEl>
                                          <p:spTgt spid="12"/>
                                        </p:tgtEl>
                                        <p:attrNameLst>
                                          <p:attrName>ppt_w</p:attrName>
                                        </p:attrNameLst>
                                      </p:cBhvr>
                                      <p:tavLst>
                                        <p:tav tm="0">
                                          <p:val>
                                            <p:strVal val="2/3*#ppt_w"/>
                                          </p:val>
                                        </p:tav>
                                        <p:tav tm="100000">
                                          <p:val>
                                            <p:strVal val="#ppt_w"/>
                                          </p:val>
                                        </p:tav>
                                      </p:tavLst>
                                    </p:anim>
                                    <p:anim calcmode="lin" valueType="num">
                                      <p:cBhvr>
                                        <p:cTn id="75" dur="250" fill="hold"/>
                                        <p:tgtEl>
                                          <p:spTgt spid="12"/>
                                        </p:tgtEl>
                                        <p:attrNameLst>
                                          <p:attrName>ppt_h</p:attrName>
                                        </p:attrNameLst>
                                      </p:cBhvr>
                                      <p:tavLst>
                                        <p:tav tm="0">
                                          <p:val>
                                            <p:strVal val="2/3*#ppt_h"/>
                                          </p:val>
                                        </p:tav>
                                        <p:tav tm="100000">
                                          <p:val>
                                            <p:strVal val="#ppt_h"/>
                                          </p:val>
                                        </p:tav>
                                      </p:tavLst>
                                    </p:anim>
                                  </p:childTnLst>
                                </p:cTn>
                              </p:par>
                              <p:par>
                                <p:cTn id="76" presetID="10" presetClass="entr" presetSubtype="0" fill="hold" grpId="1" nodeType="withEffect">
                                  <p:stCondLst>
                                    <p:cond delay="25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500"/>
                                        <p:tgtEl>
                                          <p:spTgt spid="12"/>
                                        </p:tgtEl>
                                      </p:cBhvr>
                                    </p:animEffect>
                                  </p:childTnLst>
                                </p:cTn>
                              </p:par>
                              <p:par>
                                <p:cTn id="79" presetID="6" presetClass="emph" presetSubtype="0" fill="hold" grpId="2" nodeType="withEffect">
                                  <p:stCondLst>
                                    <p:cond delay="250"/>
                                  </p:stCondLst>
                                  <p:childTnLst>
                                    <p:animScale>
                                      <p:cBhvr>
                                        <p:cTn id="80" dur="10" fill="hold"/>
                                        <p:tgtEl>
                                          <p:spTgt spid="12"/>
                                        </p:tgtEl>
                                      </p:cBhvr>
                                      <p:by x="80000" y="80000"/>
                                    </p:animScale>
                                  </p:childTnLst>
                                </p:cTn>
                              </p:par>
                              <p:par>
                                <p:cTn id="81" presetID="6" presetClass="emph" presetSubtype="0" decel="100000" fill="hold" grpId="3" nodeType="withEffect">
                                  <p:stCondLst>
                                    <p:cond delay="250"/>
                                  </p:stCondLst>
                                  <p:childTnLst>
                                    <p:animScale>
                                      <p:cBhvr>
                                        <p:cTn id="82" dur="1000" fill="hold"/>
                                        <p:tgtEl>
                                          <p:spTgt spid="12"/>
                                        </p:tgtEl>
                                      </p:cBhvr>
                                      <p:by x="125000" y="125000"/>
                                    </p:animScale>
                                  </p:childTnLst>
                                </p:cTn>
                              </p:par>
                              <p:par>
                                <p:cTn id="83" presetID="10" presetClass="entr" presetSubtype="0" fill="hold" grpId="0" nodeType="withEffect">
                                  <p:stCondLst>
                                    <p:cond delay="0"/>
                                  </p:stCondLst>
                                  <p:childTnLst>
                                    <p:set>
                                      <p:cBhvr>
                                        <p:cTn id="84" dur="1" fill="hold">
                                          <p:stCondLst>
                                            <p:cond delay="0"/>
                                          </p:stCondLst>
                                        </p:cTn>
                                        <p:tgtEl>
                                          <p:spTgt spid="13"/>
                                        </p:tgtEl>
                                        <p:attrNameLst>
                                          <p:attrName>style.visibility</p:attrName>
                                        </p:attrNameLst>
                                      </p:cBhvr>
                                      <p:to>
                                        <p:strVal val="visible"/>
                                      </p:to>
                                    </p:set>
                                    <p:animEffect transition="in" filter="fade">
                                      <p:cBhvr>
                                        <p:cTn id="85" dur="1000"/>
                                        <p:tgtEl>
                                          <p:spTgt spid="1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15"/>
                                        </p:tgtEl>
                                        <p:attrNameLst>
                                          <p:attrName>style.visibility</p:attrName>
                                        </p:attrNameLst>
                                      </p:cBhvr>
                                      <p:to>
                                        <p:strVal val="visible"/>
                                      </p:to>
                                    </p:set>
                                    <p:animEffect transition="in" filter="fade">
                                      <p:cBhvr>
                                        <p:cTn id="88" dur="1000"/>
                                        <p:tgtEl>
                                          <p:spTgt spid="1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
                                        </p:tgtEl>
                                        <p:attrNameLst>
                                          <p:attrName>style.visibility</p:attrName>
                                        </p:attrNameLst>
                                      </p:cBhvr>
                                      <p:to>
                                        <p:strVal val="visible"/>
                                      </p:to>
                                    </p:set>
                                    <p:animEffect transition="in" filter="fade">
                                      <p:cBhvr>
                                        <p:cTn id="91" dur="1000"/>
                                        <p:tgtEl>
                                          <p:spTgt spid="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3" grpId="0" animBg="1"/>
      <p:bldP spid="83" grpId="1" animBg="1"/>
      <p:bldP spid="83" grpId="2" animBg="1"/>
      <p:bldP spid="83" grpId="3" animBg="1"/>
      <p:bldP spid="85" grpId="0" animBg="1"/>
      <p:bldP spid="86" grpId="0"/>
      <p:bldP spid="86" grpId="1"/>
      <p:bldP spid="86" grpId="2"/>
      <p:bldP spid="86" grpId="3"/>
      <p:bldP spid="131" grpId="0" animBg="1"/>
      <p:bldP spid="132" grpId="0"/>
      <p:bldP spid="132" grpId="1"/>
      <p:bldP spid="132" grpId="2"/>
      <p:bldP spid="132" grpId="3"/>
      <p:bldP spid="133" grpId="0" animBg="1"/>
      <p:bldP spid="134" grpId="0"/>
      <p:bldP spid="134" grpId="1"/>
      <p:bldP spid="134" grpId="2"/>
      <p:bldP spid="134" grpId="3"/>
      <p:bldP spid="11" grpId="0" animBg="1"/>
      <p:bldP spid="12" grpId="0"/>
      <p:bldP spid="12" grpId="1"/>
      <p:bldP spid="12" grpId="2"/>
      <p:bldP spid="12" grpId="3"/>
      <p:bldP spid="13" grpId="0" animBg="1"/>
      <p:bldP spid="15" grpId="0"/>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itle 55">
            <a:extLst>
              <a:ext uri="{FF2B5EF4-FFF2-40B4-BE49-F238E27FC236}">
                <a16:creationId xmlns:a16="http://schemas.microsoft.com/office/drawing/2014/main" id="{B46F7F20-15D1-D906-B6E9-D8AD9E676A7D}"/>
              </a:ext>
            </a:extLst>
          </p:cNvPr>
          <p:cNvSpPr>
            <a:spLocks noGrp="1"/>
          </p:cNvSpPr>
          <p:nvPr>
            <p:ph type="title"/>
          </p:nvPr>
        </p:nvSpPr>
        <p:spPr/>
        <p:txBody>
          <a:bodyPr/>
          <a:lstStyle/>
          <a:p>
            <a:r>
              <a:rPr lang="en-GB">
                <a:solidFill>
                  <a:schemeClr val="bg1"/>
                </a:solidFill>
              </a:rPr>
              <a:t>Model Comparison</a:t>
            </a:r>
            <a:endParaRPr lang="en-US">
              <a:solidFill>
                <a:schemeClr val="bg1"/>
              </a:solidFill>
            </a:endParaRPr>
          </a:p>
        </p:txBody>
      </p:sp>
      <p:sp>
        <p:nvSpPr>
          <p:cNvPr id="2" name="Title 55">
            <a:extLst>
              <a:ext uri="{FF2B5EF4-FFF2-40B4-BE49-F238E27FC236}">
                <a16:creationId xmlns:a16="http://schemas.microsoft.com/office/drawing/2014/main" id="{DB4A727B-33B0-8C5B-DDE6-2C79E08E4186}"/>
              </a:ext>
            </a:extLst>
          </p:cNvPr>
          <p:cNvSpPr txBox="1">
            <a:spLocks/>
          </p:cNvSpPr>
          <p:nvPr/>
        </p:nvSpPr>
        <p:spPr>
          <a:xfrm>
            <a:off x="7027730" y="2114430"/>
            <a:ext cx="3687424" cy="1051639"/>
          </a:xfrm>
          <a:prstGeom prst="rect">
            <a:avLst/>
          </a:prstGeom>
          <a:noFill/>
        </p:spPr>
        <p:txBody>
          <a:bodyPr vert="horz" wrap="square" lIns="0" tIns="0" rIns="0" bIns="0" rtlCol="0" anchor="t">
            <a:noAutofit/>
          </a:bodyPr>
          <a:lstStyle>
            <a:lvl1pPr algn="l" defTabSz="932742" rtl="0" eaLnBrk="1" latinLnBrk="0" hangingPunct="1">
              <a:lnSpc>
                <a:spcPct val="100000"/>
              </a:lnSpc>
              <a:spcBef>
                <a:spcPct val="0"/>
              </a:spcBef>
              <a:buNone/>
              <a:defRPr kumimoji="0" lang="en-GB" sz="3200" b="0" i="0" u="none" strike="noStrike" kern="1200" cap="none" spc="0" normalizeH="0" baseline="0" dirty="0">
                <a:ln>
                  <a:noFill/>
                </a:ln>
                <a:solidFill>
                  <a:srgbClr val="FFFFFF"/>
                </a:solidFill>
                <a:effectLst/>
                <a:uLnTx/>
                <a:uFillTx/>
                <a:latin typeface="Segoe Sans Text Semibold"/>
                <a:ea typeface="+mn-ea"/>
                <a:cs typeface="+mn-cs"/>
              </a:defRPr>
            </a:lvl1pPr>
          </a:lstStyle>
          <a:p>
            <a:pPr defTabSz="914367">
              <a:buSzPct val="90000"/>
              <a:defRPr/>
            </a:pPr>
            <a:r>
              <a:rPr lang="en-GB" sz="1800">
                <a:solidFill>
                  <a:schemeClr val="bg1"/>
                </a:solidFill>
                <a:latin typeface="+mj-lt"/>
                <a:cs typeface="Segoe Sans Display Semibold" pitchFamily="2" charset="0"/>
              </a:rPr>
              <a:t>Trade off</a:t>
            </a:r>
          </a:p>
        </p:txBody>
      </p:sp>
      <p:sp>
        <p:nvSpPr>
          <p:cNvPr id="83" name="Rectangle: Rounded Corners 82">
            <a:extLst>
              <a:ext uri="{FF2B5EF4-FFF2-40B4-BE49-F238E27FC236}">
                <a16:creationId xmlns:a16="http://schemas.microsoft.com/office/drawing/2014/main" id="{91136F7D-E024-86FD-107F-CD91C0ECC29C}"/>
              </a:ext>
            </a:extLst>
          </p:cNvPr>
          <p:cNvSpPr>
            <a:spLocks/>
          </p:cNvSpPr>
          <p:nvPr/>
        </p:nvSpPr>
        <p:spPr bwMode="auto">
          <a:xfrm>
            <a:off x="460111" y="1340310"/>
            <a:ext cx="6279356" cy="4923966"/>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5" name="Rectangle: Rounded Corners 84">
            <a:extLst>
              <a:ext uri="{FF2B5EF4-FFF2-40B4-BE49-F238E27FC236}">
                <a16:creationId xmlns:a16="http://schemas.microsoft.com/office/drawing/2014/main" id="{B691750D-9788-C04A-0176-A09B70AEEC48}"/>
              </a:ext>
            </a:extLst>
          </p:cNvPr>
          <p:cNvSpPr>
            <a:spLocks/>
          </p:cNvSpPr>
          <p:nvPr/>
        </p:nvSpPr>
        <p:spPr bwMode="auto">
          <a:xfrm>
            <a:off x="7027730" y="2492859"/>
            <a:ext cx="4303261" cy="55315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8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6" name="Content Placeholder 2">
            <a:extLst>
              <a:ext uri="{FF2B5EF4-FFF2-40B4-BE49-F238E27FC236}">
                <a16:creationId xmlns:a16="http://schemas.microsoft.com/office/drawing/2014/main" id="{1664C1C8-1140-0FBD-ED60-40226442BB85}"/>
              </a:ext>
            </a:extLst>
          </p:cNvPr>
          <p:cNvSpPr txBox="1">
            <a:spLocks/>
          </p:cNvSpPr>
          <p:nvPr/>
        </p:nvSpPr>
        <p:spPr>
          <a:xfrm>
            <a:off x="7223921" y="2546626"/>
            <a:ext cx="3979333"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defTabSz="609630" fontAlgn="base">
              <a:spcBef>
                <a:spcPts val="1200"/>
              </a:spcBef>
              <a:spcAft>
                <a:spcPct val="0"/>
              </a:spcAft>
              <a:buNone/>
              <a:defRPr/>
            </a:pPr>
            <a:r>
              <a:rPr lang="en-GB" sz="1400" spc="-49">
                <a:ln w="3175">
                  <a:noFill/>
                </a:ln>
                <a:solidFill>
                  <a:srgbClr val="FFFFFF"/>
                </a:solidFill>
              </a:rPr>
              <a:t>Cost vs Quality</a:t>
            </a:r>
          </a:p>
        </p:txBody>
      </p:sp>
      <p:sp>
        <p:nvSpPr>
          <p:cNvPr id="131" name="Rectangle: Rounded Corners 130">
            <a:extLst>
              <a:ext uri="{FF2B5EF4-FFF2-40B4-BE49-F238E27FC236}">
                <a16:creationId xmlns:a16="http://schemas.microsoft.com/office/drawing/2014/main" id="{83FF5189-97C5-BE38-6DCF-D44E677BFE81}"/>
              </a:ext>
            </a:extLst>
          </p:cNvPr>
          <p:cNvSpPr>
            <a:spLocks/>
          </p:cNvSpPr>
          <p:nvPr/>
        </p:nvSpPr>
        <p:spPr bwMode="auto">
          <a:xfrm>
            <a:off x="7027730" y="3166069"/>
            <a:ext cx="4303261" cy="55315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8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2" name="Content Placeholder 2">
            <a:extLst>
              <a:ext uri="{FF2B5EF4-FFF2-40B4-BE49-F238E27FC236}">
                <a16:creationId xmlns:a16="http://schemas.microsoft.com/office/drawing/2014/main" id="{43D94168-7DE8-4D82-4150-EC55C3192770}"/>
              </a:ext>
            </a:extLst>
          </p:cNvPr>
          <p:cNvSpPr txBox="1">
            <a:spLocks/>
          </p:cNvSpPr>
          <p:nvPr/>
        </p:nvSpPr>
        <p:spPr>
          <a:xfrm>
            <a:off x="7223921" y="3219836"/>
            <a:ext cx="372830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a:latin typeface="+mn-lt"/>
              </a:rPr>
              <a:t>Cost vs Performance</a:t>
            </a:r>
          </a:p>
        </p:txBody>
      </p:sp>
      <p:pic>
        <p:nvPicPr>
          <p:cNvPr id="3" name="Picture 2">
            <a:extLst>
              <a:ext uri="{FF2B5EF4-FFF2-40B4-BE49-F238E27FC236}">
                <a16:creationId xmlns:a16="http://schemas.microsoft.com/office/drawing/2014/main" id="{56CAB50B-F789-429E-A249-B1BE172B0DA6}"/>
              </a:ext>
            </a:extLst>
          </p:cNvPr>
          <p:cNvPicPr>
            <a:picLocks noChangeAspect="1"/>
          </p:cNvPicPr>
          <p:nvPr/>
        </p:nvPicPr>
        <p:blipFill>
          <a:blip r:embed="rId3"/>
          <a:stretch>
            <a:fillRect/>
          </a:stretch>
        </p:blipFill>
        <p:spPr>
          <a:xfrm>
            <a:off x="678986" y="1545037"/>
            <a:ext cx="5841604" cy="4535208"/>
          </a:xfrm>
          <a:prstGeom prst="roundRect">
            <a:avLst>
              <a:gd name="adj" fmla="val 2611"/>
            </a:avLst>
          </a:prstGeom>
        </p:spPr>
      </p:pic>
      <p:sp>
        <p:nvSpPr>
          <p:cNvPr id="5" name="Title 55">
            <a:extLst>
              <a:ext uri="{FF2B5EF4-FFF2-40B4-BE49-F238E27FC236}">
                <a16:creationId xmlns:a16="http://schemas.microsoft.com/office/drawing/2014/main" id="{921071CC-DF33-1D98-A16D-39AE6520BE78}"/>
              </a:ext>
            </a:extLst>
          </p:cNvPr>
          <p:cNvSpPr txBox="1">
            <a:spLocks/>
          </p:cNvSpPr>
          <p:nvPr/>
        </p:nvSpPr>
        <p:spPr>
          <a:xfrm>
            <a:off x="7027730" y="3986271"/>
            <a:ext cx="3687424" cy="1051639"/>
          </a:xfrm>
          <a:prstGeom prst="rect">
            <a:avLst/>
          </a:prstGeom>
          <a:noFill/>
        </p:spPr>
        <p:txBody>
          <a:bodyPr vert="horz" wrap="square" lIns="0" tIns="0" rIns="0" bIns="0" rtlCol="0" anchor="t">
            <a:noAutofit/>
          </a:bodyPr>
          <a:lstStyle>
            <a:lvl1pPr algn="l" defTabSz="932742" rtl="0" eaLnBrk="1" latinLnBrk="0" hangingPunct="1">
              <a:lnSpc>
                <a:spcPct val="100000"/>
              </a:lnSpc>
              <a:spcBef>
                <a:spcPct val="0"/>
              </a:spcBef>
              <a:buNone/>
              <a:defRPr kumimoji="0" lang="en-GB" sz="3200" b="0" i="0" u="none" strike="noStrike" kern="1200" cap="none" spc="0" normalizeH="0" baseline="0" dirty="0">
                <a:ln>
                  <a:noFill/>
                </a:ln>
                <a:solidFill>
                  <a:srgbClr val="FFFFFF"/>
                </a:solidFill>
                <a:effectLst/>
                <a:uLnTx/>
                <a:uFillTx/>
                <a:latin typeface="Segoe Sans Text Semibold"/>
                <a:ea typeface="+mn-ea"/>
                <a:cs typeface="+mn-cs"/>
              </a:defRPr>
            </a:lvl1pPr>
          </a:lstStyle>
          <a:p>
            <a:pPr defTabSz="914367">
              <a:buSzPct val="90000"/>
              <a:defRPr/>
            </a:pPr>
            <a:r>
              <a:rPr lang="en-GB" sz="1800">
                <a:solidFill>
                  <a:schemeClr val="bg1"/>
                </a:solidFill>
                <a:latin typeface="+mj-lt"/>
                <a:cs typeface="Segoe Sans Display Semibold" pitchFamily="2" charset="0"/>
              </a:rPr>
              <a:t>Benchmark Datasets:</a:t>
            </a:r>
          </a:p>
        </p:txBody>
      </p:sp>
      <p:sp>
        <p:nvSpPr>
          <p:cNvPr id="6" name="Rectangle: Rounded Corners 5">
            <a:extLst>
              <a:ext uri="{FF2B5EF4-FFF2-40B4-BE49-F238E27FC236}">
                <a16:creationId xmlns:a16="http://schemas.microsoft.com/office/drawing/2014/main" id="{8AEEE4A6-2275-8AA2-16CD-C153B5F3084A}"/>
              </a:ext>
            </a:extLst>
          </p:cNvPr>
          <p:cNvSpPr>
            <a:spLocks/>
          </p:cNvSpPr>
          <p:nvPr/>
        </p:nvSpPr>
        <p:spPr bwMode="auto">
          <a:xfrm>
            <a:off x="7027730" y="4364700"/>
            <a:ext cx="4303261" cy="55315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8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 name="Content Placeholder 2">
            <a:extLst>
              <a:ext uri="{FF2B5EF4-FFF2-40B4-BE49-F238E27FC236}">
                <a16:creationId xmlns:a16="http://schemas.microsoft.com/office/drawing/2014/main" id="{609FF647-10F0-BDAB-F2F1-A6162D4B7422}"/>
              </a:ext>
            </a:extLst>
          </p:cNvPr>
          <p:cNvSpPr txBox="1">
            <a:spLocks/>
          </p:cNvSpPr>
          <p:nvPr/>
        </p:nvSpPr>
        <p:spPr>
          <a:xfrm>
            <a:off x="7223921" y="4418467"/>
            <a:ext cx="3979333"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defTabSz="609630" fontAlgn="base">
              <a:spcBef>
                <a:spcPts val="1200"/>
              </a:spcBef>
              <a:spcAft>
                <a:spcPct val="0"/>
              </a:spcAft>
              <a:buNone/>
              <a:defRPr/>
            </a:pPr>
            <a:r>
              <a:rPr lang="en-GB" sz="1400" spc="-49" err="1">
                <a:ln w="3175">
                  <a:noFill/>
                </a:ln>
                <a:solidFill>
                  <a:srgbClr val="FFFFFF"/>
                </a:solidFill>
              </a:rPr>
              <a:t>Human_eval</a:t>
            </a:r>
            <a:endParaRPr lang="en-GB" sz="1400" spc="-49">
              <a:ln w="3175">
                <a:noFill/>
              </a:ln>
              <a:solidFill>
                <a:srgbClr val="FFFFFF"/>
              </a:solidFill>
            </a:endParaRPr>
          </a:p>
        </p:txBody>
      </p:sp>
      <p:sp>
        <p:nvSpPr>
          <p:cNvPr id="9" name="Rectangle: Rounded Corners 8">
            <a:extLst>
              <a:ext uri="{FF2B5EF4-FFF2-40B4-BE49-F238E27FC236}">
                <a16:creationId xmlns:a16="http://schemas.microsoft.com/office/drawing/2014/main" id="{EC02D082-75A2-0243-F969-6ED912A7A380}"/>
              </a:ext>
            </a:extLst>
          </p:cNvPr>
          <p:cNvSpPr>
            <a:spLocks/>
          </p:cNvSpPr>
          <p:nvPr/>
        </p:nvSpPr>
        <p:spPr bwMode="auto">
          <a:xfrm>
            <a:off x="7027730" y="5037910"/>
            <a:ext cx="4303261" cy="55315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8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0" name="Content Placeholder 2">
            <a:extLst>
              <a:ext uri="{FF2B5EF4-FFF2-40B4-BE49-F238E27FC236}">
                <a16:creationId xmlns:a16="http://schemas.microsoft.com/office/drawing/2014/main" id="{CBE0C075-7ACB-17C8-03E2-7BD1B153EB36}"/>
              </a:ext>
            </a:extLst>
          </p:cNvPr>
          <p:cNvSpPr txBox="1">
            <a:spLocks/>
          </p:cNvSpPr>
          <p:nvPr/>
        </p:nvSpPr>
        <p:spPr>
          <a:xfrm>
            <a:off x="7223921" y="5091677"/>
            <a:ext cx="372830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defTabSz="609630" fontAlgn="base">
              <a:spcBef>
                <a:spcPts val="1200"/>
              </a:spcBef>
              <a:spcAft>
                <a:spcPct val="0"/>
              </a:spcAft>
              <a:buNone/>
              <a:defRPr/>
            </a:pPr>
            <a:r>
              <a:rPr lang="en-GB" sz="1400" spc="-49">
                <a:ln w="3175">
                  <a:noFill/>
                </a:ln>
                <a:solidFill>
                  <a:srgbClr val="FFFFFF"/>
                </a:solidFill>
              </a:rPr>
              <a:t>Truthfulqa_generation</a:t>
            </a:r>
          </a:p>
        </p:txBody>
      </p:sp>
      <p:sp>
        <p:nvSpPr>
          <p:cNvPr id="11" name="Rectangle: Rounded Corners 10">
            <a:extLst>
              <a:ext uri="{FF2B5EF4-FFF2-40B4-BE49-F238E27FC236}">
                <a16:creationId xmlns:a16="http://schemas.microsoft.com/office/drawing/2014/main" id="{F1654F43-B276-9A04-DEA8-FB8E8BD97D57}"/>
              </a:ext>
            </a:extLst>
          </p:cNvPr>
          <p:cNvSpPr>
            <a:spLocks/>
          </p:cNvSpPr>
          <p:nvPr/>
        </p:nvSpPr>
        <p:spPr bwMode="auto">
          <a:xfrm>
            <a:off x="7027730" y="5711120"/>
            <a:ext cx="4303261" cy="55315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8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2" name="Content Placeholder 2">
            <a:extLst>
              <a:ext uri="{FF2B5EF4-FFF2-40B4-BE49-F238E27FC236}">
                <a16:creationId xmlns:a16="http://schemas.microsoft.com/office/drawing/2014/main" id="{D4A340A2-4C6F-673E-5A1F-E78C81C60A4B}"/>
              </a:ext>
            </a:extLst>
          </p:cNvPr>
          <p:cNvSpPr txBox="1">
            <a:spLocks/>
          </p:cNvSpPr>
          <p:nvPr/>
        </p:nvSpPr>
        <p:spPr>
          <a:xfrm>
            <a:off x="7223921" y="5764887"/>
            <a:ext cx="372830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defTabSz="609630" fontAlgn="base">
              <a:spcBef>
                <a:spcPts val="1200"/>
              </a:spcBef>
              <a:spcAft>
                <a:spcPct val="0"/>
              </a:spcAft>
              <a:buNone/>
              <a:defRPr/>
            </a:pPr>
            <a:r>
              <a:rPr lang="en-GB" sz="1400" spc="-49" err="1">
                <a:ln w="3175">
                  <a:noFill/>
                </a:ln>
                <a:solidFill>
                  <a:srgbClr val="FFFFFF"/>
                </a:solidFill>
              </a:rPr>
              <a:t>OpenBookQA</a:t>
            </a:r>
            <a:r>
              <a:rPr lang="en-GB" sz="1400" spc="-49">
                <a:ln w="3175">
                  <a:noFill/>
                </a:ln>
                <a:solidFill>
                  <a:srgbClr val="FFFFFF"/>
                </a:solidFill>
              </a:rPr>
              <a:t> </a:t>
            </a:r>
          </a:p>
        </p:txBody>
      </p:sp>
    </p:spTree>
    <p:extLst>
      <p:ext uri="{BB962C8B-B14F-4D97-AF65-F5344CB8AC3E}">
        <p14:creationId xmlns:p14="http://schemas.microsoft.com/office/powerpoint/2010/main" val="104385418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250" fill="hold"/>
                                        <p:tgtEl>
                                          <p:spTgt spid="83"/>
                                        </p:tgtEl>
                                        <p:attrNameLst>
                                          <p:attrName>ppt_w</p:attrName>
                                        </p:attrNameLst>
                                      </p:cBhvr>
                                      <p:tavLst>
                                        <p:tav tm="0">
                                          <p:val>
                                            <p:strVal val="2/3*#ppt_w"/>
                                          </p:val>
                                        </p:tav>
                                        <p:tav tm="100000">
                                          <p:val>
                                            <p:strVal val="#ppt_w"/>
                                          </p:val>
                                        </p:tav>
                                      </p:tavLst>
                                    </p:anim>
                                    <p:anim calcmode="lin" valueType="num">
                                      <p:cBhvr>
                                        <p:cTn id="8" dur="250" fill="hold"/>
                                        <p:tgtEl>
                                          <p:spTgt spid="83"/>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fade">
                                      <p:cBhvr>
                                        <p:cTn id="11" dur="500"/>
                                        <p:tgtEl>
                                          <p:spTgt spid="83"/>
                                        </p:tgtEl>
                                      </p:cBhvr>
                                    </p:animEffect>
                                  </p:childTnLst>
                                </p:cTn>
                              </p:par>
                              <p:par>
                                <p:cTn id="12" presetID="6" presetClass="emph" presetSubtype="0" fill="hold" grpId="2" nodeType="withEffect">
                                  <p:stCondLst>
                                    <p:cond delay="0"/>
                                  </p:stCondLst>
                                  <p:childTnLst>
                                    <p:animScale>
                                      <p:cBhvr>
                                        <p:cTn id="13" dur="10" fill="hold"/>
                                        <p:tgtEl>
                                          <p:spTgt spid="83"/>
                                        </p:tgtEl>
                                      </p:cBhvr>
                                      <p:by x="80000" y="80000"/>
                                    </p:animScale>
                                  </p:childTnLst>
                                </p:cTn>
                              </p:par>
                              <p:par>
                                <p:cTn id="14" presetID="6" presetClass="emph" presetSubtype="0" decel="100000" fill="hold" grpId="3" nodeType="withEffect">
                                  <p:stCondLst>
                                    <p:cond delay="0"/>
                                  </p:stCondLst>
                                  <p:childTnLst>
                                    <p:animScale>
                                      <p:cBhvr>
                                        <p:cTn id="15" dur="1000" fill="hold"/>
                                        <p:tgtEl>
                                          <p:spTgt spid="83"/>
                                        </p:tgtEl>
                                      </p:cBhvr>
                                      <p:by x="125000" y="125000"/>
                                    </p:animScale>
                                  </p:childTnLst>
                                </p:cTn>
                              </p:par>
                              <p:par>
                                <p:cTn id="16" presetID="10" presetClass="entr" presetSubtype="0" fill="hold" grpId="0" nodeType="withEffect">
                                  <p:stCondLst>
                                    <p:cond delay="0"/>
                                  </p:stCondLst>
                                  <p:childTnLst>
                                    <p:set>
                                      <p:cBhvr>
                                        <p:cTn id="17" dur="1" fill="hold">
                                          <p:stCondLst>
                                            <p:cond delay="0"/>
                                          </p:stCondLst>
                                        </p:cTn>
                                        <p:tgtEl>
                                          <p:spTgt spid="85"/>
                                        </p:tgtEl>
                                        <p:attrNameLst>
                                          <p:attrName>style.visibility</p:attrName>
                                        </p:attrNameLst>
                                      </p:cBhvr>
                                      <p:to>
                                        <p:strVal val="visible"/>
                                      </p:to>
                                    </p:set>
                                    <p:animEffect transition="in" filter="fade">
                                      <p:cBhvr>
                                        <p:cTn id="18" dur="1000"/>
                                        <p:tgtEl>
                                          <p:spTgt spid="85"/>
                                        </p:tgtEl>
                                      </p:cBhvr>
                                    </p:animEffect>
                                  </p:childTnLst>
                                </p:cTn>
                              </p:par>
                              <p:par>
                                <p:cTn id="19" presetID="23" presetClass="entr" presetSubtype="272" fill="hold" grpId="0" nodeType="withEffect">
                                  <p:stCondLst>
                                    <p:cond delay="250"/>
                                  </p:stCondLst>
                                  <p:childTnLst>
                                    <p:set>
                                      <p:cBhvr>
                                        <p:cTn id="20" dur="1" fill="hold">
                                          <p:stCondLst>
                                            <p:cond delay="0"/>
                                          </p:stCondLst>
                                        </p:cTn>
                                        <p:tgtEl>
                                          <p:spTgt spid="86"/>
                                        </p:tgtEl>
                                        <p:attrNameLst>
                                          <p:attrName>style.visibility</p:attrName>
                                        </p:attrNameLst>
                                      </p:cBhvr>
                                      <p:to>
                                        <p:strVal val="visible"/>
                                      </p:to>
                                    </p:set>
                                    <p:anim calcmode="lin" valueType="num">
                                      <p:cBhvr>
                                        <p:cTn id="21" dur="250" fill="hold"/>
                                        <p:tgtEl>
                                          <p:spTgt spid="86"/>
                                        </p:tgtEl>
                                        <p:attrNameLst>
                                          <p:attrName>ppt_w</p:attrName>
                                        </p:attrNameLst>
                                      </p:cBhvr>
                                      <p:tavLst>
                                        <p:tav tm="0">
                                          <p:val>
                                            <p:strVal val="2/3*#ppt_w"/>
                                          </p:val>
                                        </p:tav>
                                        <p:tav tm="100000">
                                          <p:val>
                                            <p:strVal val="#ppt_w"/>
                                          </p:val>
                                        </p:tav>
                                      </p:tavLst>
                                    </p:anim>
                                    <p:anim calcmode="lin" valueType="num">
                                      <p:cBhvr>
                                        <p:cTn id="22" dur="250" fill="hold"/>
                                        <p:tgtEl>
                                          <p:spTgt spid="86"/>
                                        </p:tgtEl>
                                        <p:attrNameLst>
                                          <p:attrName>ppt_h</p:attrName>
                                        </p:attrNameLst>
                                      </p:cBhvr>
                                      <p:tavLst>
                                        <p:tav tm="0">
                                          <p:val>
                                            <p:strVal val="2/3*#ppt_h"/>
                                          </p:val>
                                        </p:tav>
                                        <p:tav tm="100000">
                                          <p:val>
                                            <p:strVal val="#ppt_h"/>
                                          </p:val>
                                        </p:tav>
                                      </p:tavLst>
                                    </p:anim>
                                  </p:childTnLst>
                                </p:cTn>
                              </p:par>
                              <p:par>
                                <p:cTn id="23" presetID="10" presetClass="entr" presetSubtype="0" fill="hold" grpId="1" nodeType="withEffect">
                                  <p:stCondLst>
                                    <p:cond delay="25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500"/>
                                        <p:tgtEl>
                                          <p:spTgt spid="86"/>
                                        </p:tgtEl>
                                      </p:cBhvr>
                                    </p:animEffect>
                                  </p:childTnLst>
                                </p:cTn>
                              </p:par>
                              <p:par>
                                <p:cTn id="26" presetID="6" presetClass="emph" presetSubtype="0" fill="hold" grpId="2" nodeType="withEffect">
                                  <p:stCondLst>
                                    <p:cond delay="250"/>
                                  </p:stCondLst>
                                  <p:childTnLst>
                                    <p:animScale>
                                      <p:cBhvr>
                                        <p:cTn id="27" dur="10" fill="hold"/>
                                        <p:tgtEl>
                                          <p:spTgt spid="86"/>
                                        </p:tgtEl>
                                      </p:cBhvr>
                                      <p:by x="80000" y="80000"/>
                                    </p:animScale>
                                  </p:childTnLst>
                                </p:cTn>
                              </p:par>
                              <p:par>
                                <p:cTn id="28" presetID="6" presetClass="emph" presetSubtype="0" decel="100000" fill="hold" grpId="3" nodeType="withEffect">
                                  <p:stCondLst>
                                    <p:cond delay="250"/>
                                  </p:stCondLst>
                                  <p:childTnLst>
                                    <p:animScale>
                                      <p:cBhvr>
                                        <p:cTn id="29" dur="1000" fill="hold"/>
                                        <p:tgtEl>
                                          <p:spTgt spid="86"/>
                                        </p:tgtEl>
                                      </p:cBhvr>
                                      <p:by x="125000" y="125000"/>
                                    </p:animScale>
                                  </p:childTnLst>
                                </p:cTn>
                              </p:par>
                              <p:par>
                                <p:cTn id="30" presetID="10" presetClass="entr" presetSubtype="0" fill="hold" grpId="0" nodeType="withEffect">
                                  <p:stCondLst>
                                    <p:cond delay="30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1"/>
                                        </p:tgtEl>
                                        <p:attrNameLst>
                                          <p:attrName>style.visibility</p:attrName>
                                        </p:attrNameLst>
                                      </p:cBhvr>
                                      <p:to>
                                        <p:strVal val="visible"/>
                                      </p:to>
                                    </p:set>
                                    <p:animEffect transition="in" filter="fade">
                                      <p:cBhvr>
                                        <p:cTn id="35" dur="1000"/>
                                        <p:tgtEl>
                                          <p:spTgt spid="131"/>
                                        </p:tgtEl>
                                      </p:cBhvr>
                                    </p:animEffect>
                                  </p:childTnLst>
                                </p:cTn>
                              </p:par>
                              <p:par>
                                <p:cTn id="36" presetID="23" presetClass="entr" presetSubtype="272" fill="hold" grpId="0" nodeType="withEffect">
                                  <p:stCondLst>
                                    <p:cond delay="250"/>
                                  </p:stCondLst>
                                  <p:childTnLst>
                                    <p:set>
                                      <p:cBhvr>
                                        <p:cTn id="37" dur="1" fill="hold">
                                          <p:stCondLst>
                                            <p:cond delay="0"/>
                                          </p:stCondLst>
                                        </p:cTn>
                                        <p:tgtEl>
                                          <p:spTgt spid="132"/>
                                        </p:tgtEl>
                                        <p:attrNameLst>
                                          <p:attrName>style.visibility</p:attrName>
                                        </p:attrNameLst>
                                      </p:cBhvr>
                                      <p:to>
                                        <p:strVal val="visible"/>
                                      </p:to>
                                    </p:set>
                                    <p:anim calcmode="lin" valueType="num">
                                      <p:cBhvr>
                                        <p:cTn id="38" dur="250" fill="hold"/>
                                        <p:tgtEl>
                                          <p:spTgt spid="132"/>
                                        </p:tgtEl>
                                        <p:attrNameLst>
                                          <p:attrName>ppt_w</p:attrName>
                                        </p:attrNameLst>
                                      </p:cBhvr>
                                      <p:tavLst>
                                        <p:tav tm="0">
                                          <p:val>
                                            <p:strVal val="2/3*#ppt_w"/>
                                          </p:val>
                                        </p:tav>
                                        <p:tav tm="100000">
                                          <p:val>
                                            <p:strVal val="#ppt_w"/>
                                          </p:val>
                                        </p:tav>
                                      </p:tavLst>
                                    </p:anim>
                                    <p:anim calcmode="lin" valueType="num">
                                      <p:cBhvr>
                                        <p:cTn id="39" dur="250" fill="hold"/>
                                        <p:tgtEl>
                                          <p:spTgt spid="132"/>
                                        </p:tgtEl>
                                        <p:attrNameLst>
                                          <p:attrName>ppt_h</p:attrName>
                                        </p:attrNameLst>
                                      </p:cBhvr>
                                      <p:tavLst>
                                        <p:tav tm="0">
                                          <p:val>
                                            <p:strVal val="2/3*#ppt_h"/>
                                          </p:val>
                                        </p:tav>
                                        <p:tav tm="100000">
                                          <p:val>
                                            <p:strVal val="#ppt_h"/>
                                          </p:val>
                                        </p:tav>
                                      </p:tavLst>
                                    </p:anim>
                                  </p:childTnLst>
                                </p:cTn>
                              </p:par>
                              <p:par>
                                <p:cTn id="40" presetID="10" presetClass="entr" presetSubtype="0" fill="hold" grpId="1" nodeType="withEffect">
                                  <p:stCondLst>
                                    <p:cond delay="250"/>
                                  </p:stCondLst>
                                  <p:childTnLst>
                                    <p:set>
                                      <p:cBhvr>
                                        <p:cTn id="41" dur="1" fill="hold">
                                          <p:stCondLst>
                                            <p:cond delay="0"/>
                                          </p:stCondLst>
                                        </p:cTn>
                                        <p:tgtEl>
                                          <p:spTgt spid="132"/>
                                        </p:tgtEl>
                                        <p:attrNameLst>
                                          <p:attrName>style.visibility</p:attrName>
                                        </p:attrNameLst>
                                      </p:cBhvr>
                                      <p:to>
                                        <p:strVal val="visible"/>
                                      </p:to>
                                    </p:set>
                                    <p:animEffect transition="in" filter="fade">
                                      <p:cBhvr>
                                        <p:cTn id="42" dur="500"/>
                                        <p:tgtEl>
                                          <p:spTgt spid="132"/>
                                        </p:tgtEl>
                                      </p:cBhvr>
                                    </p:animEffect>
                                  </p:childTnLst>
                                </p:cTn>
                              </p:par>
                              <p:par>
                                <p:cTn id="43" presetID="6" presetClass="emph" presetSubtype="0" fill="hold" grpId="2" nodeType="withEffect">
                                  <p:stCondLst>
                                    <p:cond delay="250"/>
                                  </p:stCondLst>
                                  <p:childTnLst>
                                    <p:animScale>
                                      <p:cBhvr>
                                        <p:cTn id="44" dur="10" fill="hold"/>
                                        <p:tgtEl>
                                          <p:spTgt spid="132"/>
                                        </p:tgtEl>
                                      </p:cBhvr>
                                      <p:by x="80000" y="80000"/>
                                    </p:animScale>
                                  </p:childTnLst>
                                </p:cTn>
                              </p:par>
                              <p:par>
                                <p:cTn id="45" presetID="6" presetClass="emph" presetSubtype="0" decel="100000" fill="hold" grpId="3" nodeType="withEffect">
                                  <p:stCondLst>
                                    <p:cond delay="250"/>
                                  </p:stCondLst>
                                  <p:childTnLst>
                                    <p:animScale>
                                      <p:cBhvr>
                                        <p:cTn id="46" dur="1000" fill="hold"/>
                                        <p:tgtEl>
                                          <p:spTgt spid="132"/>
                                        </p:tgtEl>
                                      </p:cBhvr>
                                      <p:by x="125000" y="125000"/>
                                    </p:animScale>
                                  </p:childTnLst>
                                </p:cTn>
                              </p:par>
                              <p:par>
                                <p:cTn id="47" presetID="10" presetClass="entr" presetSubtype="0" fill="hold" nodeType="withEffect">
                                  <p:stCondLst>
                                    <p:cond delay="55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500"/>
                                        <p:tgtEl>
                                          <p:spTgt spid="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1000"/>
                                        <p:tgtEl>
                                          <p:spTgt spid="6"/>
                                        </p:tgtEl>
                                      </p:cBhvr>
                                    </p:animEffect>
                                  </p:childTnLst>
                                </p:cTn>
                              </p:par>
                              <p:par>
                                <p:cTn id="53" presetID="23" presetClass="entr" presetSubtype="272" fill="hold" grpId="0" nodeType="withEffect">
                                  <p:stCondLst>
                                    <p:cond delay="250"/>
                                  </p:stCondLst>
                                  <p:childTnLst>
                                    <p:set>
                                      <p:cBhvr>
                                        <p:cTn id="54" dur="1" fill="hold">
                                          <p:stCondLst>
                                            <p:cond delay="0"/>
                                          </p:stCondLst>
                                        </p:cTn>
                                        <p:tgtEl>
                                          <p:spTgt spid="8"/>
                                        </p:tgtEl>
                                        <p:attrNameLst>
                                          <p:attrName>style.visibility</p:attrName>
                                        </p:attrNameLst>
                                      </p:cBhvr>
                                      <p:to>
                                        <p:strVal val="visible"/>
                                      </p:to>
                                    </p:set>
                                    <p:anim calcmode="lin" valueType="num">
                                      <p:cBhvr>
                                        <p:cTn id="55" dur="250" fill="hold"/>
                                        <p:tgtEl>
                                          <p:spTgt spid="8"/>
                                        </p:tgtEl>
                                        <p:attrNameLst>
                                          <p:attrName>ppt_w</p:attrName>
                                        </p:attrNameLst>
                                      </p:cBhvr>
                                      <p:tavLst>
                                        <p:tav tm="0">
                                          <p:val>
                                            <p:strVal val="2/3*#ppt_w"/>
                                          </p:val>
                                        </p:tav>
                                        <p:tav tm="100000">
                                          <p:val>
                                            <p:strVal val="#ppt_w"/>
                                          </p:val>
                                        </p:tav>
                                      </p:tavLst>
                                    </p:anim>
                                    <p:anim calcmode="lin" valueType="num">
                                      <p:cBhvr>
                                        <p:cTn id="56" dur="250" fill="hold"/>
                                        <p:tgtEl>
                                          <p:spTgt spid="8"/>
                                        </p:tgtEl>
                                        <p:attrNameLst>
                                          <p:attrName>ppt_h</p:attrName>
                                        </p:attrNameLst>
                                      </p:cBhvr>
                                      <p:tavLst>
                                        <p:tav tm="0">
                                          <p:val>
                                            <p:strVal val="2/3*#ppt_h"/>
                                          </p:val>
                                        </p:tav>
                                        <p:tav tm="100000">
                                          <p:val>
                                            <p:strVal val="#ppt_h"/>
                                          </p:val>
                                        </p:tav>
                                      </p:tavLst>
                                    </p:anim>
                                  </p:childTnLst>
                                </p:cTn>
                              </p:par>
                              <p:par>
                                <p:cTn id="57" presetID="10" presetClass="entr" presetSubtype="0" fill="hold" grpId="1" nodeType="withEffect">
                                  <p:stCondLst>
                                    <p:cond delay="250"/>
                                  </p:stCondLst>
                                  <p:childTnLst>
                                    <p:set>
                                      <p:cBhvr>
                                        <p:cTn id="58" dur="1" fill="hold">
                                          <p:stCondLst>
                                            <p:cond delay="0"/>
                                          </p:stCondLst>
                                        </p:cTn>
                                        <p:tgtEl>
                                          <p:spTgt spid="8"/>
                                        </p:tgtEl>
                                        <p:attrNameLst>
                                          <p:attrName>style.visibility</p:attrName>
                                        </p:attrNameLst>
                                      </p:cBhvr>
                                      <p:to>
                                        <p:strVal val="visible"/>
                                      </p:to>
                                    </p:set>
                                    <p:animEffect transition="in" filter="fade">
                                      <p:cBhvr>
                                        <p:cTn id="59" dur="500"/>
                                        <p:tgtEl>
                                          <p:spTgt spid="8"/>
                                        </p:tgtEl>
                                      </p:cBhvr>
                                    </p:animEffect>
                                  </p:childTnLst>
                                </p:cTn>
                              </p:par>
                              <p:par>
                                <p:cTn id="60" presetID="6" presetClass="emph" presetSubtype="0" fill="hold" grpId="2" nodeType="withEffect">
                                  <p:stCondLst>
                                    <p:cond delay="250"/>
                                  </p:stCondLst>
                                  <p:childTnLst>
                                    <p:animScale>
                                      <p:cBhvr>
                                        <p:cTn id="61" dur="10" fill="hold"/>
                                        <p:tgtEl>
                                          <p:spTgt spid="8"/>
                                        </p:tgtEl>
                                      </p:cBhvr>
                                      <p:by x="80000" y="80000"/>
                                    </p:animScale>
                                  </p:childTnLst>
                                </p:cTn>
                              </p:par>
                              <p:par>
                                <p:cTn id="62" presetID="6" presetClass="emph" presetSubtype="0" decel="100000" fill="hold" grpId="3" nodeType="withEffect">
                                  <p:stCondLst>
                                    <p:cond delay="250"/>
                                  </p:stCondLst>
                                  <p:childTnLst>
                                    <p:animScale>
                                      <p:cBhvr>
                                        <p:cTn id="63" dur="1000" fill="hold"/>
                                        <p:tgtEl>
                                          <p:spTgt spid="8"/>
                                        </p:tgtEl>
                                      </p:cBhvr>
                                      <p:by x="125000" y="125000"/>
                                    </p:animScale>
                                  </p:childTnLst>
                                </p:cTn>
                              </p:par>
                              <p:par>
                                <p:cTn id="64" presetID="10" presetClass="entr" presetSubtype="0" fill="hold" grpId="0" nodeType="withEffect">
                                  <p:stCondLst>
                                    <p:cond delay="300"/>
                                  </p:stCondLst>
                                  <p:childTnLst>
                                    <p:set>
                                      <p:cBhvr>
                                        <p:cTn id="65" dur="1" fill="hold">
                                          <p:stCondLst>
                                            <p:cond delay="0"/>
                                          </p:stCondLst>
                                        </p:cTn>
                                        <p:tgtEl>
                                          <p:spTgt spid="5"/>
                                        </p:tgtEl>
                                        <p:attrNameLst>
                                          <p:attrName>style.visibility</p:attrName>
                                        </p:attrNameLst>
                                      </p:cBhvr>
                                      <p:to>
                                        <p:strVal val="visible"/>
                                      </p:to>
                                    </p:set>
                                    <p:animEffect transition="in" filter="fade">
                                      <p:cBhvr>
                                        <p:cTn id="66" dur="500"/>
                                        <p:tgtEl>
                                          <p:spTgt spid="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1000"/>
                                        <p:tgtEl>
                                          <p:spTgt spid="9"/>
                                        </p:tgtEl>
                                      </p:cBhvr>
                                    </p:animEffect>
                                  </p:childTnLst>
                                </p:cTn>
                              </p:par>
                              <p:par>
                                <p:cTn id="70" presetID="23" presetClass="entr" presetSubtype="272" fill="hold" grpId="0" nodeType="withEffect">
                                  <p:stCondLst>
                                    <p:cond delay="250"/>
                                  </p:stCondLst>
                                  <p:childTnLst>
                                    <p:set>
                                      <p:cBhvr>
                                        <p:cTn id="71" dur="1" fill="hold">
                                          <p:stCondLst>
                                            <p:cond delay="0"/>
                                          </p:stCondLst>
                                        </p:cTn>
                                        <p:tgtEl>
                                          <p:spTgt spid="10"/>
                                        </p:tgtEl>
                                        <p:attrNameLst>
                                          <p:attrName>style.visibility</p:attrName>
                                        </p:attrNameLst>
                                      </p:cBhvr>
                                      <p:to>
                                        <p:strVal val="visible"/>
                                      </p:to>
                                    </p:set>
                                    <p:anim calcmode="lin" valueType="num">
                                      <p:cBhvr>
                                        <p:cTn id="72" dur="250" fill="hold"/>
                                        <p:tgtEl>
                                          <p:spTgt spid="10"/>
                                        </p:tgtEl>
                                        <p:attrNameLst>
                                          <p:attrName>ppt_w</p:attrName>
                                        </p:attrNameLst>
                                      </p:cBhvr>
                                      <p:tavLst>
                                        <p:tav tm="0">
                                          <p:val>
                                            <p:strVal val="2/3*#ppt_w"/>
                                          </p:val>
                                        </p:tav>
                                        <p:tav tm="100000">
                                          <p:val>
                                            <p:strVal val="#ppt_w"/>
                                          </p:val>
                                        </p:tav>
                                      </p:tavLst>
                                    </p:anim>
                                    <p:anim calcmode="lin" valueType="num">
                                      <p:cBhvr>
                                        <p:cTn id="73" dur="250" fill="hold"/>
                                        <p:tgtEl>
                                          <p:spTgt spid="10"/>
                                        </p:tgtEl>
                                        <p:attrNameLst>
                                          <p:attrName>ppt_h</p:attrName>
                                        </p:attrNameLst>
                                      </p:cBhvr>
                                      <p:tavLst>
                                        <p:tav tm="0">
                                          <p:val>
                                            <p:strVal val="2/3*#ppt_h"/>
                                          </p:val>
                                        </p:tav>
                                        <p:tav tm="100000">
                                          <p:val>
                                            <p:strVal val="#ppt_h"/>
                                          </p:val>
                                        </p:tav>
                                      </p:tavLst>
                                    </p:anim>
                                  </p:childTnLst>
                                </p:cTn>
                              </p:par>
                              <p:par>
                                <p:cTn id="74" presetID="10" presetClass="entr" presetSubtype="0" fill="hold" grpId="1" nodeType="withEffect">
                                  <p:stCondLst>
                                    <p:cond delay="250"/>
                                  </p:stCondLst>
                                  <p:childTnLst>
                                    <p:set>
                                      <p:cBhvr>
                                        <p:cTn id="75" dur="1" fill="hold">
                                          <p:stCondLst>
                                            <p:cond delay="0"/>
                                          </p:stCondLst>
                                        </p:cTn>
                                        <p:tgtEl>
                                          <p:spTgt spid="10"/>
                                        </p:tgtEl>
                                        <p:attrNameLst>
                                          <p:attrName>style.visibility</p:attrName>
                                        </p:attrNameLst>
                                      </p:cBhvr>
                                      <p:to>
                                        <p:strVal val="visible"/>
                                      </p:to>
                                    </p:set>
                                    <p:animEffect transition="in" filter="fade">
                                      <p:cBhvr>
                                        <p:cTn id="76" dur="500"/>
                                        <p:tgtEl>
                                          <p:spTgt spid="10"/>
                                        </p:tgtEl>
                                      </p:cBhvr>
                                    </p:animEffect>
                                  </p:childTnLst>
                                </p:cTn>
                              </p:par>
                              <p:par>
                                <p:cTn id="77" presetID="6" presetClass="emph" presetSubtype="0" fill="hold" grpId="2" nodeType="withEffect">
                                  <p:stCondLst>
                                    <p:cond delay="250"/>
                                  </p:stCondLst>
                                  <p:childTnLst>
                                    <p:animScale>
                                      <p:cBhvr>
                                        <p:cTn id="78" dur="10" fill="hold"/>
                                        <p:tgtEl>
                                          <p:spTgt spid="10"/>
                                        </p:tgtEl>
                                      </p:cBhvr>
                                      <p:by x="80000" y="80000"/>
                                    </p:animScale>
                                  </p:childTnLst>
                                </p:cTn>
                              </p:par>
                              <p:par>
                                <p:cTn id="79" presetID="6" presetClass="emph" presetSubtype="0" decel="100000" fill="hold" grpId="3" nodeType="withEffect">
                                  <p:stCondLst>
                                    <p:cond delay="250"/>
                                  </p:stCondLst>
                                  <p:childTnLst>
                                    <p:animScale>
                                      <p:cBhvr>
                                        <p:cTn id="80" dur="1000" fill="hold"/>
                                        <p:tgtEl>
                                          <p:spTgt spid="10"/>
                                        </p:tgtEl>
                                      </p:cBhvr>
                                      <p:by x="125000" y="125000"/>
                                    </p:animScale>
                                  </p:childTnLst>
                                </p:cTn>
                              </p:par>
                              <p:par>
                                <p:cTn id="81" presetID="10" presetClass="entr" presetSubtype="0" fill="hold" grpId="0" nodeType="withEffect">
                                  <p:stCondLst>
                                    <p:cond delay="0"/>
                                  </p:stCondLst>
                                  <p:childTnLst>
                                    <p:set>
                                      <p:cBhvr>
                                        <p:cTn id="82" dur="1" fill="hold">
                                          <p:stCondLst>
                                            <p:cond delay="0"/>
                                          </p:stCondLst>
                                        </p:cTn>
                                        <p:tgtEl>
                                          <p:spTgt spid="11"/>
                                        </p:tgtEl>
                                        <p:attrNameLst>
                                          <p:attrName>style.visibility</p:attrName>
                                        </p:attrNameLst>
                                      </p:cBhvr>
                                      <p:to>
                                        <p:strVal val="visible"/>
                                      </p:to>
                                    </p:set>
                                    <p:animEffect transition="in" filter="fade">
                                      <p:cBhvr>
                                        <p:cTn id="83" dur="1000"/>
                                        <p:tgtEl>
                                          <p:spTgt spid="11"/>
                                        </p:tgtEl>
                                      </p:cBhvr>
                                    </p:animEffect>
                                  </p:childTnLst>
                                </p:cTn>
                              </p:par>
                              <p:par>
                                <p:cTn id="84" presetID="23" presetClass="entr" presetSubtype="272" fill="hold" grpId="0" nodeType="withEffect">
                                  <p:stCondLst>
                                    <p:cond delay="250"/>
                                  </p:stCondLst>
                                  <p:childTnLst>
                                    <p:set>
                                      <p:cBhvr>
                                        <p:cTn id="85" dur="1" fill="hold">
                                          <p:stCondLst>
                                            <p:cond delay="0"/>
                                          </p:stCondLst>
                                        </p:cTn>
                                        <p:tgtEl>
                                          <p:spTgt spid="12"/>
                                        </p:tgtEl>
                                        <p:attrNameLst>
                                          <p:attrName>style.visibility</p:attrName>
                                        </p:attrNameLst>
                                      </p:cBhvr>
                                      <p:to>
                                        <p:strVal val="visible"/>
                                      </p:to>
                                    </p:set>
                                    <p:anim calcmode="lin" valueType="num">
                                      <p:cBhvr>
                                        <p:cTn id="86" dur="250" fill="hold"/>
                                        <p:tgtEl>
                                          <p:spTgt spid="12"/>
                                        </p:tgtEl>
                                        <p:attrNameLst>
                                          <p:attrName>ppt_w</p:attrName>
                                        </p:attrNameLst>
                                      </p:cBhvr>
                                      <p:tavLst>
                                        <p:tav tm="0">
                                          <p:val>
                                            <p:strVal val="2/3*#ppt_w"/>
                                          </p:val>
                                        </p:tav>
                                        <p:tav tm="100000">
                                          <p:val>
                                            <p:strVal val="#ppt_w"/>
                                          </p:val>
                                        </p:tav>
                                      </p:tavLst>
                                    </p:anim>
                                    <p:anim calcmode="lin" valueType="num">
                                      <p:cBhvr>
                                        <p:cTn id="87" dur="250" fill="hold"/>
                                        <p:tgtEl>
                                          <p:spTgt spid="12"/>
                                        </p:tgtEl>
                                        <p:attrNameLst>
                                          <p:attrName>ppt_h</p:attrName>
                                        </p:attrNameLst>
                                      </p:cBhvr>
                                      <p:tavLst>
                                        <p:tav tm="0">
                                          <p:val>
                                            <p:strVal val="2/3*#ppt_h"/>
                                          </p:val>
                                        </p:tav>
                                        <p:tav tm="100000">
                                          <p:val>
                                            <p:strVal val="#ppt_h"/>
                                          </p:val>
                                        </p:tav>
                                      </p:tavLst>
                                    </p:anim>
                                  </p:childTnLst>
                                </p:cTn>
                              </p:par>
                              <p:par>
                                <p:cTn id="88" presetID="10" presetClass="entr" presetSubtype="0" fill="hold" grpId="1" nodeType="withEffect">
                                  <p:stCondLst>
                                    <p:cond delay="250"/>
                                  </p:stCondLst>
                                  <p:childTnLst>
                                    <p:set>
                                      <p:cBhvr>
                                        <p:cTn id="89" dur="1" fill="hold">
                                          <p:stCondLst>
                                            <p:cond delay="0"/>
                                          </p:stCondLst>
                                        </p:cTn>
                                        <p:tgtEl>
                                          <p:spTgt spid="12"/>
                                        </p:tgtEl>
                                        <p:attrNameLst>
                                          <p:attrName>style.visibility</p:attrName>
                                        </p:attrNameLst>
                                      </p:cBhvr>
                                      <p:to>
                                        <p:strVal val="visible"/>
                                      </p:to>
                                    </p:set>
                                    <p:animEffect transition="in" filter="fade">
                                      <p:cBhvr>
                                        <p:cTn id="90" dur="500"/>
                                        <p:tgtEl>
                                          <p:spTgt spid="12"/>
                                        </p:tgtEl>
                                      </p:cBhvr>
                                    </p:animEffect>
                                  </p:childTnLst>
                                </p:cTn>
                              </p:par>
                              <p:par>
                                <p:cTn id="91" presetID="6" presetClass="emph" presetSubtype="0" fill="hold" grpId="2" nodeType="withEffect">
                                  <p:stCondLst>
                                    <p:cond delay="250"/>
                                  </p:stCondLst>
                                  <p:childTnLst>
                                    <p:animScale>
                                      <p:cBhvr>
                                        <p:cTn id="92" dur="10" fill="hold"/>
                                        <p:tgtEl>
                                          <p:spTgt spid="12"/>
                                        </p:tgtEl>
                                      </p:cBhvr>
                                      <p:by x="80000" y="80000"/>
                                    </p:animScale>
                                  </p:childTnLst>
                                </p:cTn>
                              </p:par>
                              <p:par>
                                <p:cTn id="93" presetID="6" presetClass="emph" presetSubtype="0" decel="100000" fill="hold" grpId="3" nodeType="withEffect">
                                  <p:stCondLst>
                                    <p:cond delay="250"/>
                                  </p:stCondLst>
                                  <p:childTnLst>
                                    <p:animScale>
                                      <p:cBhvr>
                                        <p:cTn id="94" dur="1000" fill="hold"/>
                                        <p:tgtEl>
                                          <p:spTgt spid="12"/>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3" grpId="0" animBg="1"/>
      <p:bldP spid="83" grpId="1" animBg="1"/>
      <p:bldP spid="83" grpId="2" animBg="1"/>
      <p:bldP spid="83" grpId="3" animBg="1"/>
      <p:bldP spid="85" grpId="0" animBg="1"/>
      <p:bldP spid="86" grpId="0"/>
      <p:bldP spid="86" grpId="1"/>
      <p:bldP spid="86" grpId="2"/>
      <p:bldP spid="86" grpId="3"/>
      <p:bldP spid="131" grpId="0" animBg="1"/>
      <p:bldP spid="132" grpId="0"/>
      <p:bldP spid="132" grpId="1"/>
      <p:bldP spid="132" grpId="2"/>
      <p:bldP spid="132" grpId="3"/>
      <p:bldP spid="5" grpId="0"/>
      <p:bldP spid="6" grpId="0" animBg="1"/>
      <p:bldP spid="8" grpId="0"/>
      <p:bldP spid="8" grpId="1"/>
      <p:bldP spid="8" grpId="2"/>
      <p:bldP spid="8" grpId="3"/>
      <p:bldP spid="9" grpId="0" animBg="1"/>
      <p:bldP spid="10" grpId="0"/>
      <p:bldP spid="10" grpId="1"/>
      <p:bldP spid="10" grpId="2"/>
      <p:bldP spid="10" grpId="3"/>
      <p:bldP spid="11" grpId="0" animBg="1"/>
      <p:bldP spid="12" grpId="0"/>
      <p:bldP spid="12" grpId="1"/>
      <p:bldP spid="12" grpId="2"/>
      <p:bldP spid="12" grpId="3"/>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1" name="Group 270">
            <a:extLst>
              <a:ext uri="{FF2B5EF4-FFF2-40B4-BE49-F238E27FC236}">
                <a16:creationId xmlns:a16="http://schemas.microsoft.com/office/drawing/2014/main" id="{F0FD823B-276B-8EFC-90BE-CDE794384831}"/>
              </a:ext>
            </a:extLst>
          </p:cNvPr>
          <p:cNvGrpSpPr>
            <a:grpSpLocks/>
          </p:cNvGrpSpPr>
          <p:nvPr/>
        </p:nvGrpSpPr>
        <p:grpSpPr>
          <a:xfrm>
            <a:off x="1128091" y="3426963"/>
            <a:ext cx="2990474" cy="2957428"/>
            <a:chOff x="556578" y="1051172"/>
            <a:chExt cx="2591837" cy="6187827"/>
          </a:xfrm>
        </p:grpSpPr>
        <p:sp useBgFill="1">
          <p:nvSpPr>
            <p:cNvPr id="272" name="Rectangle: Rounded Corners 271">
              <a:extLst>
                <a:ext uri="{FF2B5EF4-FFF2-40B4-BE49-F238E27FC236}">
                  <a16:creationId xmlns:a16="http://schemas.microsoft.com/office/drawing/2014/main" id="{26874E0A-500F-1ADE-B5DD-C0494D7FB2C4}"/>
                </a:ext>
              </a:extLst>
            </p:cNvPr>
            <p:cNvSpPr/>
            <p:nvPr/>
          </p:nvSpPr>
          <p:spPr bwMode="auto">
            <a:xfrm>
              <a:off x="556578" y="1051172"/>
              <a:ext cx="2591837" cy="6187827"/>
            </a:xfrm>
            <a:prstGeom prst="roundRect">
              <a:avLst>
                <a:gd name="adj" fmla="val 6223"/>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73" name="Rectangle: Rounded Corners 272">
              <a:extLst>
                <a:ext uri="{FF2B5EF4-FFF2-40B4-BE49-F238E27FC236}">
                  <a16:creationId xmlns:a16="http://schemas.microsoft.com/office/drawing/2014/main" id="{D2703FEA-F91A-8F3A-959D-9B2E2D21633D}"/>
                </a:ext>
              </a:extLst>
            </p:cNvPr>
            <p:cNvSpPr/>
            <p:nvPr/>
          </p:nvSpPr>
          <p:spPr bwMode="auto">
            <a:xfrm>
              <a:off x="556578" y="1051172"/>
              <a:ext cx="2591837" cy="6187827"/>
            </a:xfrm>
            <a:prstGeom prst="roundRect">
              <a:avLst>
                <a:gd name="adj" fmla="val 5332"/>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7" name="Group 6">
            <a:extLst>
              <a:ext uri="{FF2B5EF4-FFF2-40B4-BE49-F238E27FC236}">
                <a16:creationId xmlns:a16="http://schemas.microsoft.com/office/drawing/2014/main" id="{91D4460F-766F-A260-7F6C-F339505E3C90}"/>
              </a:ext>
            </a:extLst>
          </p:cNvPr>
          <p:cNvGrpSpPr>
            <a:grpSpLocks/>
          </p:cNvGrpSpPr>
          <p:nvPr/>
        </p:nvGrpSpPr>
        <p:grpSpPr>
          <a:xfrm>
            <a:off x="8073435" y="3426963"/>
            <a:ext cx="2990474" cy="2957428"/>
            <a:chOff x="556578" y="1051172"/>
            <a:chExt cx="2591837" cy="6187827"/>
          </a:xfrm>
        </p:grpSpPr>
        <p:sp useBgFill="1">
          <p:nvSpPr>
            <p:cNvPr id="16" name="Rectangle: Rounded Corners 15">
              <a:extLst>
                <a:ext uri="{FF2B5EF4-FFF2-40B4-BE49-F238E27FC236}">
                  <a16:creationId xmlns:a16="http://schemas.microsoft.com/office/drawing/2014/main" id="{6180AEEF-5548-2BEC-0DC4-199FF2801FB5}"/>
                </a:ext>
              </a:extLst>
            </p:cNvPr>
            <p:cNvSpPr/>
            <p:nvPr/>
          </p:nvSpPr>
          <p:spPr bwMode="auto">
            <a:xfrm>
              <a:off x="556578" y="1051172"/>
              <a:ext cx="2591837" cy="6187827"/>
            </a:xfrm>
            <a:prstGeom prst="roundRect">
              <a:avLst>
                <a:gd name="adj" fmla="val 6223"/>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7" name="Rectangle: Rounded Corners 16">
              <a:extLst>
                <a:ext uri="{FF2B5EF4-FFF2-40B4-BE49-F238E27FC236}">
                  <a16:creationId xmlns:a16="http://schemas.microsoft.com/office/drawing/2014/main" id="{CCA54FCC-B2DE-EBD1-A2F4-F835EE88D046}"/>
                </a:ext>
              </a:extLst>
            </p:cNvPr>
            <p:cNvSpPr/>
            <p:nvPr/>
          </p:nvSpPr>
          <p:spPr bwMode="auto">
            <a:xfrm>
              <a:off x="556578" y="1051172"/>
              <a:ext cx="2591837" cy="6187827"/>
            </a:xfrm>
            <a:prstGeom prst="roundRect">
              <a:avLst>
                <a:gd name="adj" fmla="val 5332"/>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19" name="Group 18">
            <a:extLst>
              <a:ext uri="{FF2B5EF4-FFF2-40B4-BE49-F238E27FC236}">
                <a16:creationId xmlns:a16="http://schemas.microsoft.com/office/drawing/2014/main" id="{350B3DF8-1148-797E-9F2E-FA8CD644BB4F}"/>
              </a:ext>
            </a:extLst>
          </p:cNvPr>
          <p:cNvGrpSpPr>
            <a:grpSpLocks/>
          </p:cNvGrpSpPr>
          <p:nvPr/>
        </p:nvGrpSpPr>
        <p:grpSpPr>
          <a:xfrm>
            <a:off x="4600763" y="3426963"/>
            <a:ext cx="2990474" cy="2957428"/>
            <a:chOff x="556578" y="1051172"/>
            <a:chExt cx="2591837" cy="6187827"/>
          </a:xfrm>
        </p:grpSpPr>
        <p:sp useBgFill="1">
          <p:nvSpPr>
            <p:cNvPr id="28" name="Rectangle: Rounded Corners 27">
              <a:extLst>
                <a:ext uri="{FF2B5EF4-FFF2-40B4-BE49-F238E27FC236}">
                  <a16:creationId xmlns:a16="http://schemas.microsoft.com/office/drawing/2014/main" id="{DA875632-4345-6812-A3B6-D95B036190AB}"/>
                </a:ext>
              </a:extLst>
            </p:cNvPr>
            <p:cNvSpPr/>
            <p:nvPr/>
          </p:nvSpPr>
          <p:spPr bwMode="auto">
            <a:xfrm>
              <a:off x="556578" y="1051172"/>
              <a:ext cx="2591837" cy="6187827"/>
            </a:xfrm>
            <a:prstGeom prst="roundRect">
              <a:avLst>
                <a:gd name="adj" fmla="val 6223"/>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9" name="Rectangle: Rounded Corners 28">
              <a:extLst>
                <a:ext uri="{FF2B5EF4-FFF2-40B4-BE49-F238E27FC236}">
                  <a16:creationId xmlns:a16="http://schemas.microsoft.com/office/drawing/2014/main" id="{0499E220-6EFB-54E0-41BA-F254AF4E4D3C}"/>
                </a:ext>
              </a:extLst>
            </p:cNvPr>
            <p:cNvSpPr/>
            <p:nvPr/>
          </p:nvSpPr>
          <p:spPr bwMode="auto">
            <a:xfrm>
              <a:off x="556578" y="1051172"/>
              <a:ext cx="2591837" cy="6187827"/>
            </a:xfrm>
            <a:prstGeom prst="roundRect">
              <a:avLst>
                <a:gd name="adj" fmla="val 5332"/>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31" name="Title 3">
            <a:extLst>
              <a:ext uri="{FF2B5EF4-FFF2-40B4-BE49-F238E27FC236}">
                <a16:creationId xmlns:a16="http://schemas.microsoft.com/office/drawing/2014/main" id="{64172574-48DE-0146-AAF0-A9E95F41C000}"/>
              </a:ext>
            </a:extLst>
          </p:cNvPr>
          <p:cNvSpPr txBox="1">
            <a:spLocks/>
          </p:cNvSpPr>
          <p:nvPr/>
        </p:nvSpPr>
        <p:spPr>
          <a:xfrm>
            <a:off x="1392206" y="3576701"/>
            <a:ext cx="2462244" cy="861774"/>
          </a:xfrm>
          <a:prstGeom prst="rect">
            <a:avLst/>
          </a:prstGeom>
          <a:noFill/>
        </p:spPr>
        <p:txBody>
          <a:bodyPr vert="horz" wrap="square" lIns="0" tIns="0" rIns="0" bIns="0" rtlCol="0" anchor="ctr"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pPr marL="0" lvl="1" algn="ctr" defTabSz="932742">
              <a:spcBef>
                <a:spcPct val="0"/>
              </a:spcBef>
            </a:pPr>
            <a:r>
              <a:rPr lang="en-US" sz="1400">
                <a:solidFill>
                  <a:schemeClr val="bg1"/>
                </a:solidFill>
              </a:rPr>
              <a:t>The system must support various types of queries that employees may have regarding HR documents.</a:t>
            </a:r>
            <a:endParaRPr lang="en-US" sz="1400">
              <a:solidFill>
                <a:schemeClr val="bg1"/>
              </a:solidFill>
              <a:latin typeface="+mj-lt"/>
            </a:endParaRPr>
          </a:p>
        </p:txBody>
      </p:sp>
      <p:sp>
        <p:nvSpPr>
          <p:cNvPr id="32" name="Title 3">
            <a:extLst>
              <a:ext uri="{FF2B5EF4-FFF2-40B4-BE49-F238E27FC236}">
                <a16:creationId xmlns:a16="http://schemas.microsoft.com/office/drawing/2014/main" id="{35B6666D-27B9-649D-E261-43DCED01C066}"/>
              </a:ext>
            </a:extLst>
          </p:cNvPr>
          <p:cNvSpPr txBox="1">
            <a:spLocks/>
          </p:cNvSpPr>
          <p:nvPr/>
        </p:nvSpPr>
        <p:spPr>
          <a:xfrm>
            <a:off x="4871720" y="3684422"/>
            <a:ext cx="2448560" cy="646331"/>
          </a:xfrm>
          <a:prstGeom prst="rect">
            <a:avLst/>
          </a:prstGeom>
          <a:noFill/>
        </p:spPr>
        <p:txBody>
          <a:bodyPr vert="horz" wrap="square" lIns="0" tIns="0" rIns="0" bIns="0" rtlCol="0" anchor="ctr"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pPr marL="0" lvl="1" algn="ctr" defTabSz="932742">
              <a:spcBef>
                <a:spcPct val="0"/>
              </a:spcBef>
            </a:pPr>
            <a:r>
              <a:rPr lang="en-US" sz="1400">
                <a:solidFill>
                  <a:schemeClr val="bg1"/>
                </a:solidFill>
              </a:rPr>
              <a:t>The system must be able to scale around </a:t>
            </a:r>
            <a:r>
              <a:rPr lang="en-US" sz="1400">
                <a:solidFill>
                  <a:schemeClr val="bg1"/>
                </a:solidFill>
                <a:latin typeface="+mj-lt"/>
              </a:rPr>
              <a:t>busy periods             </a:t>
            </a:r>
            <a:r>
              <a:rPr lang="en-US" sz="1400">
                <a:solidFill>
                  <a:schemeClr val="bg1"/>
                </a:solidFill>
              </a:rPr>
              <a:t>during the day</a:t>
            </a:r>
          </a:p>
        </p:txBody>
      </p:sp>
      <p:sp>
        <p:nvSpPr>
          <p:cNvPr id="33" name="Title 3">
            <a:extLst>
              <a:ext uri="{FF2B5EF4-FFF2-40B4-BE49-F238E27FC236}">
                <a16:creationId xmlns:a16="http://schemas.microsoft.com/office/drawing/2014/main" id="{A539BD4C-123B-4CB5-8B7D-C6051E9EBBCA}"/>
              </a:ext>
            </a:extLst>
          </p:cNvPr>
          <p:cNvSpPr txBox="1">
            <a:spLocks/>
          </p:cNvSpPr>
          <p:nvPr/>
        </p:nvSpPr>
        <p:spPr>
          <a:xfrm>
            <a:off x="8377904" y="3684423"/>
            <a:ext cx="2381536" cy="646331"/>
          </a:xfrm>
          <a:prstGeom prst="rect">
            <a:avLst/>
          </a:prstGeom>
          <a:noFill/>
        </p:spPr>
        <p:txBody>
          <a:bodyPr vert="horz" wrap="square" lIns="0" tIns="0" rIns="0" bIns="0" rtlCol="0" anchor="ctr"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pPr marL="0" lvl="1" algn="ctr" defTabSz="932742">
              <a:spcBef>
                <a:spcPct val="0"/>
              </a:spcBef>
            </a:pPr>
            <a:r>
              <a:rPr lang="en-US" sz="1400">
                <a:solidFill>
                  <a:schemeClr val="bg1"/>
                </a:solidFill>
              </a:rPr>
              <a:t>Easy to change LLM to use latest more efficient models by the time</a:t>
            </a:r>
            <a:endParaRPr lang="en-US" sz="1400">
              <a:solidFill>
                <a:schemeClr val="bg1"/>
              </a:solidFill>
              <a:latin typeface="+mj-lt"/>
            </a:endParaRPr>
          </a:p>
        </p:txBody>
      </p:sp>
      <p:sp>
        <p:nvSpPr>
          <p:cNvPr id="34" name="Rectangle: Rounded Corners 33">
            <a:extLst>
              <a:ext uri="{FF2B5EF4-FFF2-40B4-BE49-F238E27FC236}">
                <a16:creationId xmlns:a16="http://schemas.microsoft.com/office/drawing/2014/main" id="{7CD00F99-E8BE-9053-9A0A-2C192BB9526F}"/>
              </a:ext>
            </a:extLst>
          </p:cNvPr>
          <p:cNvSpPr/>
          <p:nvPr/>
        </p:nvSpPr>
        <p:spPr bwMode="auto">
          <a:xfrm>
            <a:off x="796834" y="4610253"/>
            <a:ext cx="10598332" cy="590848"/>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a:solidFill>
                  <a:srgbClr val="FFFFFF"/>
                </a:solidFill>
                <a:latin typeface="Segoe Sans Text ExtraBold" pitchFamily="2" charset="0"/>
                <a:cs typeface="Segoe Sans Text ExtraBold" pitchFamily="2" charset="0"/>
              </a:rPr>
              <a:t>Business requirements:</a:t>
            </a:r>
          </a:p>
        </p:txBody>
      </p:sp>
      <p:sp>
        <p:nvSpPr>
          <p:cNvPr id="2" name="Title 1">
            <a:extLst>
              <a:ext uri="{FF2B5EF4-FFF2-40B4-BE49-F238E27FC236}">
                <a16:creationId xmlns:a16="http://schemas.microsoft.com/office/drawing/2014/main" id="{0942DA44-2D7D-A69F-8A5B-5CBED2930F9B}"/>
              </a:ext>
            </a:extLst>
          </p:cNvPr>
          <p:cNvSpPr>
            <a:spLocks noGrp="1"/>
          </p:cNvSpPr>
          <p:nvPr>
            <p:ph type="title"/>
          </p:nvPr>
        </p:nvSpPr>
        <p:spPr/>
        <p:txBody>
          <a:bodyPr/>
          <a:lstStyle/>
          <a:p>
            <a:r>
              <a:rPr lang="en-US">
                <a:solidFill>
                  <a:schemeClr val="bg1"/>
                </a:solidFill>
              </a:rPr>
              <a:t>Use Case: Chat with Your Data</a:t>
            </a:r>
            <a:endParaRPr lang="en-GB">
              <a:solidFill>
                <a:schemeClr val="bg1"/>
              </a:solidFill>
            </a:endParaRPr>
          </a:p>
        </p:txBody>
      </p:sp>
      <p:grpSp>
        <p:nvGrpSpPr>
          <p:cNvPr id="35" name="Group 34">
            <a:extLst>
              <a:ext uri="{FF2B5EF4-FFF2-40B4-BE49-F238E27FC236}">
                <a16:creationId xmlns:a16="http://schemas.microsoft.com/office/drawing/2014/main" id="{DB9F83D3-B5FD-0A40-60C4-A60F0D178501}"/>
              </a:ext>
            </a:extLst>
          </p:cNvPr>
          <p:cNvGrpSpPr>
            <a:grpSpLocks/>
          </p:cNvGrpSpPr>
          <p:nvPr/>
        </p:nvGrpSpPr>
        <p:grpSpPr>
          <a:xfrm>
            <a:off x="796834" y="1331076"/>
            <a:ext cx="10598332" cy="1869778"/>
            <a:chOff x="556578" y="1051172"/>
            <a:chExt cx="2591837" cy="6187827"/>
          </a:xfrm>
        </p:grpSpPr>
        <p:sp useBgFill="1">
          <p:nvSpPr>
            <p:cNvPr id="36" name="Rectangle: Rounded Corners 35">
              <a:extLst>
                <a:ext uri="{FF2B5EF4-FFF2-40B4-BE49-F238E27FC236}">
                  <a16:creationId xmlns:a16="http://schemas.microsoft.com/office/drawing/2014/main" id="{17914F4D-8405-BD5C-4547-35C15CF1D14C}"/>
                </a:ext>
              </a:extLst>
            </p:cNvPr>
            <p:cNvSpPr/>
            <p:nvPr/>
          </p:nvSpPr>
          <p:spPr bwMode="auto">
            <a:xfrm>
              <a:off x="556578" y="1051172"/>
              <a:ext cx="2591837" cy="6187827"/>
            </a:xfrm>
            <a:prstGeom prst="roundRect">
              <a:avLst>
                <a:gd name="adj" fmla="val 10098"/>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37" name="Rectangle: Rounded Corners 36">
              <a:extLst>
                <a:ext uri="{FF2B5EF4-FFF2-40B4-BE49-F238E27FC236}">
                  <a16:creationId xmlns:a16="http://schemas.microsoft.com/office/drawing/2014/main" id="{FC7522BF-FE6D-C4F5-0BC5-2FB8FBF3650C}"/>
                </a:ext>
              </a:extLst>
            </p:cNvPr>
            <p:cNvSpPr/>
            <p:nvPr/>
          </p:nvSpPr>
          <p:spPr bwMode="auto">
            <a:xfrm>
              <a:off x="556578" y="1051172"/>
              <a:ext cx="2591837" cy="6187827"/>
            </a:xfrm>
            <a:prstGeom prst="roundRect">
              <a:avLst>
                <a:gd name="adj" fmla="val 10314"/>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43" name="Group 42">
            <a:extLst>
              <a:ext uri="{FF2B5EF4-FFF2-40B4-BE49-F238E27FC236}">
                <a16:creationId xmlns:a16="http://schemas.microsoft.com/office/drawing/2014/main" id="{53AAB432-D905-266B-F364-410F762C1393}"/>
              </a:ext>
            </a:extLst>
          </p:cNvPr>
          <p:cNvGrpSpPr/>
          <p:nvPr/>
        </p:nvGrpSpPr>
        <p:grpSpPr>
          <a:xfrm>
            <a:off x="968908" y="1565364"/>
            <a:ext cx="10254182" cy="1446174"/>
            <a:chOff x="1697037" y="5361593"/>
            <a:chExt cx="8797924" cy="754062"/>
          </a:xfrm>
        </p:grpSpPr>
        <p:sp>
          <p:nvSpPr>
            <p:cNvPr id="38" name="Rectangle: Rounded Corners 37">
              <a:extLst>
                <a:ext uri="{FF2B5EF4-FFF2-40B4-BE49-F238E27FC236}">
                  <a16:creationId xmlns:a16="http://schemas.microsoft.com/office/drawing/2014/main" id="{1845C45D-07ED-2242-119A-F3C58F77DCF1}"/>
                </a:ext>
              </a:extLst>
            </p:cNvPr>
            <p:cNvSpPr>
              <a:spLocks/>
            </p:cNvSpPr>
            <p:nvPr/>
          </p:nvSpPr>
          <p:spPr bwMode="auto">
            <a:xfrm>
              <a:off x="1697037" y="5361593"/>
              <a:ext cx="8797924" cy="754062"/>
            </a:xfrm>
            <a:prstGeom prst="roundRect">
              <a:avLst>
                <a:gd name="adj" fmla="val 5291"/>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200">
                <a:solidFill>
                  <a:schemeClr val="tx2"/>
                </a:solidFill>
                <a:latin typeface="+mj-lt"/>
                <a:cs typeface="Segoe Sans Text" pitchFamily="2" charset="0"/>
              </a:endParaRPr>
            </a:p>
          </p:txBody>
        </p:sp>
        <p:sp>
          <p:nvSpPr>
            <p:cNvPr id="40" name="TextBox 39">
              <a:extLst>
                <a:ext uri="{FF2B5EF4-FFF2-40B4-BE49-F238E27FC236}">
                  <a16:creationId xmlns:a16="http://schemas.microsoft.com/office/drawing/2014/main" id="{5E40A437-7361-173E-962A-05ED59D6626C}"/>
                </a:ext>
              </a:extLst>
            </p:cNvPr>
            <p:cNvSpPr txBox="1"/>
            <p:nvPr/>
          </p:nvSpPr>
          <p:spPr>
            <a:xfrm>
              <a:off x="1946366" y="5522734"/>
              <a:ext cx="8299268" cy="433297"/>
            </a:xfrm>
            <a:prstGeom prst="rect">
              <a:avLst/>
            </a:prstGeom>
            <a:noFill/>
          </p:spPr>
          <p:txBody>
            <a:bodyPr wrap="square" lIns="0" tIns="0" rIns="0" bIns="0" rtlCol="0" anchor="ctr" anchorCtr="0">
              <a:spAutoFit/>
            </a:bodyPr>
            <a:lstStyle/>
            <a:p>
              <a:r>
                <a:rPr lang="en-US" b="1">
                  <a:solidFill>
                    <a:schemeClr val="accent1"/>
                  </a:solidFill>
                </a:rPr>
                <a:t>Contoso Electronics provides an experience that allows employees to ask questions about benefits, internal policies, job descriptions, and roles. </a:t>
              </a:r>
              <a:r>
                <a:rPr lang="en-US">
                  <a:solidFill>
                    <a:schemeClr val="accent1"/>
                  </a:solidFill>
                </a:rPr>
                <a:t>It supports both </a:t>
              </a:r>
              <a:r>
                <a:rPr lang="en-US" b="1">
                  <a:solidFill>
                    <a:schemeClr val="accent1"/>
                  </a:solidFill>
                </a:rPr>
                <a:t>chat-based (multi-turn)</a:t>
              </a:r>
              <a:r>
                <a:rPr lang="en-US">
                  <a:solidFill>
                    <a:schemeClr val="accent1"/>
                  </a:solidFill>
                </a:rPr>
                <a:t> and </a:t>
              </a:r>
              <a:r>
                <a:rPr lang="en-US" b="1">
                  <a:solidFill>
                    <a:schemeClr val="accent1"/>
                  </a:solidFill>
                </a:rPr>
                <a:t>Q&amp;A (single-turn)</a:t>
              </a:r>
              <a:r>
                <a:rPr lang="en-US">
                  <a:solidFill>
                    <a:schemeClr val="accent1"/>
                  </a:solidFill>
                </a:rPr>
                <a:t> interfaces, and it </a:t>
              </a:r>
              <a:r>
                <a:rPr lang="en-US" b="1">
                  <a:solidFill>
                    <a:schemeClr val="accent1"/>
                  </a:solidFill>
                </a:rPr>
                <a:t>renders citations.</a:t>
              </a:r>
              <a:endParaRPr lang="en-GB" b="1">
                <a:solidFill>
                  <a:srgbClr val="F4364C"/>
                </a:solidFill>
              </a:endParaRPr>
            </a:p>
          </p:txBody>
        </p:sp>
      </p:grpSp>
      <p:sp>
        <p:nvSpPr>
          <p:cNvPr id="8" name="Title 3">
            <a:extLst>
              <a:ext uri="{FF2B5EF4-FFF2-40B4-BE49-F238E27FC236}">
                <a16:creationId xmlns:a16="http://schemas.microsoft.com/office/drawing/2014/main" id="{4245AE15-1BED-802B-7D38-6E54D76D6DCC}"/>
              </a:ext>
            </a:extLst>
          </p:cNvPr>
          <p:cNvSpPr txBox="1">
            <a:spLocks/>
          </p:cNvSpPr>
          <p:nvPr/>
        </p:nvSpPr>
        <p:spPr>
          <a:xfrm>
            <a:off x="1329976" y="5465029"/>
            <a:ext cx="2586704" cy="646331"/>
          </a:xfrm>
          <a:prstGeom prst="rect">
            <a:avLst/>
          </a:prstGeom>
          <a:noFill/>
        </p:spPr>
        <p:txBody>
          <a:bodyPr vert="horz" wrap="square" lIns="0" tIns="0" rIns="0" bIns="0" rtlCol="0" anchor="ctr"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pPr marL="0" lvl="1" algn="ctr" defTabSz="932742">
              <a:spcBef>
                <a:spcPct val="0"/>
              </a:spcBef>
            </a:pPr>
            <a:r>
              <a:rPr lang="en-US" sz="1400">
                <a:solidFill>
                  <a:schemeClr val="bg1"/>
                </a:solidFill>
              </a:rPr>
              <a:t>The system must implement </a:t>
            </a:r>
            <a:r>
              <a:rPr lang="en-US" sz="1400">
                <a:solidFill>
                  <a:schemeClr val="bg1"/>
                </a:solidFill>
                <a:latin typeface="+mj-lt"/>
              </a:rPr>
              <a:t>tracing </a:t>
            </a:r>
            <a:r>
              <a:rPr lang="en-US" sz="1400">
                <a:solidFill>
                  <a:schemeClr val="bg1"/>
                </a:solidFill>
              </a:rPr>
              <a:t>and</a:t>
            </a:r>
            <a:r>
              <a:rPr lang="en-US" sz="1400">
                <a:solidFill>
                  <a:schemeClr val="bg1"/>
                </a:solidFill>
                <a:latin typeface="+mj-lt"/>
              </a:rPr>
              <a:t> monitoring </a:t>
            </a:r>
            <a:r>
              <a:rPr lang="en-US" sz="1400">
                <a:solidFill>
                  <a:schemeClr val="bg1"/>
                </a:solidFill>
              </a:rPr>
              <a:t>for </a:t>
            </a:r>
            <a:r>
              <a:rPr lang="en-US" sz="1400">
                <a:solidFill>
                  <a:schemeClr val="bg1"/>
                </a:solidFill>
                <a:latin typeface="+mj-lt"/>
              </a:rPr>
              <a:t>accountability</a:t>
            </a:r>
            <a:r>
              <a:rPr lang="en-US" sz="1400">
                <a:solidFill>
                  <a:schemeClr val="bg1"/>
                </a:solidFill>
              </a:rPr>
              <a:t> and </a:t>
            </a:r>
            <a:r>
              <a:rPr lang="en-US" sz="1400">
                <a:solidFill>
                  <a:schemeClr val="bg1"/>
                </a:solidFill>
                <a:latin typeface="+mj-lt"/>
              </a:rPr>
              <a:t>transparency</a:t>
            </a:r>
          </a:p>
        </p:txBody>
      </p:sp>
      <p:sp>
        <p:nvSpPr>
          <p:cNvPr id="9" name="Title 3">
            <a:extLst>
              <a:ext uri="{FF2B5EF4-FFF2-40B4-BE49-F238E27FC236}">
                <a16:creationId xmlns:a16="http://schemas.microsoft.com/office/drawing/2014/main" id="{A7943D28-D8B9-4BAF-6D11-606E5132ED98}"/>
              </a:ext>
            </a:extLst>
          </p:cNvPr>
          <p:cNvSpPr txBox="1">
            <a:spLocks/>
          </p:cNvSpPr>
          <p:nvPr/>
        </p:nvSpPr>
        <p:spPr>
          <a:xfrm>
            <a:off x="5111750" y="5465030"/>
            <a:ext cx="1968500" cy="646331"/>
          </a:xfrm>
          <a:prstGeom prst="rect">
            <a:avLst/>
          </a:prstGeom>
          <a:noFill/>
        </p:spPr>
        <p:txBody>
          <a:bodyPr vert="horz" wrap="square" lIns="0" tIns="0" rIns="0" bIns="0" rtlCol="0" anchor="ctr"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pPr marL="0" lvl="1" algn="ctr" defTabSz="932742">
              <a:spcBef>
                <a:spcPct val="0"/>
              </a:spcBef>
            </a:pPr>
            <a:r>
              <a:rPr lang="en-US" sz="1400">
                <a:solidFill>
                  <a:schemeClr val="bg1"/>
                </a:solidFill>
              </a:rPr>
              <a:t>The system must have an </a:t>
            </a:r>
            <a:r>
              <a:rPr lang="en-US" sz="1400">
                <a:solidFill>
                  <a:schemeClr val="bg1"/>
                </a:solidFill>
                <a:latin typeface="+mj-lt"/>
              </a:rPr>
              <a:t>easy-to-use UI </a:t>
            </a:r>
            <a:r>
              <a:rPr lang="en-US" sz="1400">
                <a:solidFill>
                  <a:schemeClr val="bg1"/>
                </a:solidFill>
              </a:rPr>
              <a:t>for staff to interact with</a:t>
            </a:r>
          </a:p>
        </p:txBody>
      </p:sp>
      <p:sp>
        <p:nvSpPr>
          <p:cNvPr id="10" name="Title 3">
            <a:extLst>
              <a:ext uri="{FF2B5EF4-FFF2-40B4-BE49-F238E27FC236}">
                <a16:creationId xmlns:a16="http://schemas.microsoft.com/office/drawing/2014/main" id="{1DEA0F4B-D2D7-DC07-D1B5-AA2293E36911}"/>
              </a:ext>
            </a:extLst>
          </p:cNvPr>
          <p:cNvSpPr txBox="1">
            <a:spLocks/>
          </p:cNvSpPr>
          <p:nvPr/>
        </p:nvSpPr>
        <p:spPr>
          <a:xfrm>
            <a:off x="8204850" y="5465030"/>
            <a:ext cx="2727644" cy="646331"/>
          </a:xfrm>
          <a:prstGeom prst="rect">
            <a:avLst/>
          </a:prstGeom>
          <a:noFill/>
        </p:spPr>
        <p:txBody>
          <a:bodyPr vert="horz" wrap="square" lIns="0" tIns="0" rIns="0" bIns="0" rtlCol="0" anchor="ctr"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pPr marL="0" lvl="1" algn="ctr" defTabSz="932742">
              <a:spcBef>
                <a:spcPct val="0"/>
              </a:spcBef>
            </a:pPr>
            <a:r>
              <a:rPr lang="en-US" sz="1400">
                <a:solidFill>
                  <a:schemeClr val="bg1"/>
                </a:solidFill>
              </a:rPr>
              <a:t>The system should save all </a:t>
            </a:r>
            <a:r>
              <a:rPr lang="en-US" sz="1400">
                <a:solidFill>
                  <a:schemeClr val="bg1"/>
                </a:solidFill>
                <a:latin typeface="+mj-lt"/>
              </a:rPr>
              <a:t>conversations </a:t>
            </a:r>
            <a:r>
              <a:rPr lang="en-US" sz="1400">
                <a:solidFill>
                  <a:schemeClr val="bg1"/>
                </a:solidFill>
              </a:rPr>
              <a:t>in </a:t>
            </a:r>
            <a:r>
              <a:rPr lang="en-US" sz="1400">
                <a:solidFill>
                  <a:schemeClr val="bg1"/>
                </a:solidFill>
                <a:latin typeface="+mj-lt"/>
              </a:rPr>
              <a:t>durable storage </a:t>
            </a:r>
            <a:r>
              <a:rPr lang="en-US" sz="1400">
                <a:solidFill>
                  <a:schemeClr val="bg1"/>
                </a:solidFill>
              </a:rPr>
              <a:t>within the </a:t>
            </a:r>
            <a:r>
              <a:rPr lang="en-US" sz="1400">
                <a:solidFill>
                  <a:schemeClr val="bg1"/>
                </a:solidFill>
                <a:latin typeface="+mj-lt"/>
              </a:rPr>
              <a:t>Contoso environment</a:t>
            </a:r>
          </a:p>
        </p:txBody>
      </p:sp>
    </p:spTree>
    <p:extLst>
      <p:ext uri="{BB962C8B-B14F-4D97-AF65-F5344CB8AC3E}">
        <p14:creationId xmlns:p14="http://schemas.microsoft.com/office/powerpoint/2010/main" val="19303261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250" fill="hold"/>
                                        <p:tgtEl>
                                          <p:spTgt spid="43"/>
                                        </p:tgtEl>
                                        <p:attrNameLst>
                                          <p:attrName>ppt_w</p:attrName>
                                        </p:attrNameLst>
                                      </p:cBhvr>
                                      <p:tavLst>
                                        <p:tav tm="0">
                                          <p:val>
                                            <p:fltVal val="0"/>
                                          </p:val>
                                        </p:tav>
                                        <p:tav tm="100000">
                                          <p:val>
                                            <p:strVal val="#ppt_w"/>
                                          </p:val>
                                        </p:tav>
                                      </p:tavLst>
                                    </p:anim>
                                    <p:anim calcmode="lin" valueType="num">
                                      <p:cBhvr>
                                        <p:cTn id="8" dur="250" fill="hold"/>
                                        <p:tgtEl>
                                          <p:spTgt spid="43"/>
                                        </p:tgtEl>
                                        <p:attrNameLst>
                                          <p:attrName>ppt_h</p:attrName>
                                        </p:attrNameLst>
                                      </p:cBhvr>
                                      <p:tavLst>
                                        <p:tav tm="0">
                                          <p:val>
                                            <p:fltVal val="0"/>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500"/>
                                        <p:tgtEl>
                                          <p:spTgt spid="43"/>
                                        </p:tgtEl>
                                      </p:cBhvr>
                                    </p:animEffect>
                                  </p:childTnLst>
                                </p:cTn>
                              </p:par>
                              <p:par>
                                <p:cTn id="12" presetID="6" presetClass="emph" presetSubtype="0" fill="hold" nodeType="withEffect">
                                  <p:stCondLst>
                                    <p:cond delay="0"/>
                                  </p:stCondLst>
                                  <p:childTnLst>
                                    <p:animScale>
                                      <p:cBhvr>
                                        <p:cTn id="13" dur="10" fill="hold"/>
                                        <p:tgtEl>
                                          <p:spTgt spid="43"/>
                                        </p:tgtEl>
                                      </p:cBhvr>
                                      <p:by x="80000" y="80000"/>
                                    </p:animScale>
                                  </p:childTnLst>
                                </p:cTn>
                              </p:par>
                              <p:par>
                                <p:cTn id="14" presetID="6" presetClass="emph" presetSubtype="0" decel="100000" fill="hold" nodeType="withEffect">
                                  <p:stCondLst>
                                    <p:cond delay="0"/>
                                  </p:stCondLst>
                                  <p:childTnLst>
                                    <p:animScale>
                                      <p:cBhvr>
                                        <p:cTn id="15" dur="1000" fill="hold"/>
                                        <p:tgtEl>
                                          <p:spTgt spid="43"/>
                                        </p:tgtEl>
                                      </p:cBhvr>
                                      <p:by x="125000" y="125000"/>
                                    </p:animScale>
                                  </p:childTnLst>
                                </p:cTn>
                              </p:par>
                              <p:par>
                                <p:cTn id="16" presetID="10" presetClass="entr" presetSubtype="0" fill="hold"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19" presetID="6" presetClass="emph" presetSubtype="0" fill="hold" nodeType="withEffect">
                                  <p:stCondLst>
                                    <p:cond delay="0"/>
                                  </p:stCondLst>
                                  <p:childTnLst>
                                    <p:animScale>
                                      <p:cBhvr>
                                        <p:cTn id="20" dur="10" fill="hold"/>
                                        <p:tgtEl>
                                          <p:spTgt spid="35"/>
                                        </p:tgtEl>
                                      </p:cBhvr>
                                      <p:by x="125000" y="125000"/>
                                    </p:animScale>
                                  </p:childTnLst>
                                </p:cTn>
                              </p:par>
                              <p:par>
                                <p:cTn id="21" presetID="6" presetClass="emph" presetSubtype="0" decel="100000" fill="hold" nodeType="withEffect">
                                  <p:stCondLst>
                                    <p:cond delay="0"/>
                                  </p:stCondLst>
                                  <p:childTnLst>
                                    <p:animScale>
                                      <p:cBhvr>
                                        <p:cTn id="22" dur="750" fill="hold"/>
                                        <p:tgtEl>
                                          <p:spTgt spid="35"/>
                                        </p:tgtEl>
                                      </p:cBhvr>
                                      <p:by x="80000" y="80000"/>
                                    </p:animScale>
                                  </p:childTnLst>
                                </p:cTn>
                              </p:par>
                              <p:par>
                                <p:cTn id="23" presetID="10" presetClass="entr" presetSubtype="0" fill="hold" nodeType="withEffect">
                                  <p:stCondLst>
                                    <p:cond delay="0"/>
                                  </p:stCondLst>
                                  <p:childTnLst>
                                    <p:set>
                                      <p:cBhvr>
                                        <p:cTn id="24" dur="1" fill="hold">
                                          <p:stCondLst>
                                            <p:cond delay="0"/>
                                          </p:stCondLst>
                                        </p:cTn>
                                        <p:tgtEl>
                                          <p:spTgt spid="271"/>
                                        </p:tgtEl>
                                        <p:attrNameLst>
                                          <p:attrName>style.visibility</p:attrName>
                                        </p:attrNameLst>
                                      </p:cBhvr>
                                      <p:to>
                                        <p:strVal val="visible"/>
                                      </p:to>
                                    </p:set>
                                    <p:animEffect transition="in" filter="fade">
                                      <p:cBhvr>
                                        <p:cTn id="25" dur="750"/>
                                        <p:tgtEl>
                                          <p:spTgt spid="271"/>
                                        </p:tgtEl>
                                      </p:cBhvr>
                                    </p:animEffect>
                                  </p:childTnLst>
                                </p:cTn>
                              </p:par>
                              <p:par>
                                <p:cTn id="26" presetID="42" presetClass="path" presetSubtype="0" decel="100000" fill="hold" nodeType="withEffect">
                                  <p:stCondLst>
                                    <p:cond delay="0"/>
                                  </p:stCondLst>
                                  <p:childTnLst>
                                    <p:animMotion origin="layout" path="M -4.16667E-6 -0.03472 L -4.16667E-6 2.22222E-6 " pathEditMode="relative" rAng="0" ptsTypes="AA">
                                      <p:cBhvr>
                                        <p:cTn id="27" dur="750" fill="hold"/>
                                        <p:tgtEl>
                                          <p:spTgt spid="271"/>
                                        </p:tgtEl>
                                        <p:attrNameLst>
                                          <p:attrName>ppt_x</p:attrName>
                                          <p:attrName>ppt_y</p:attrName>
                                        </p:attrNameLst>
                                      </p:cBhvr>
                                      <p:rCtr x="0" y="1736"/>
                                    </p:animMotion>
                                  </p:childTnLst>
                                </p:cTn>
                              </p:par>
                              <p:par>
                                <p:cTn id="28" presetID="10" presetClass="entr" presetSubtype="0" fill="hold" nodeType="withEffect">
                                  <p:stCondLst>
                                    <p:cond delay="10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750"/>
                                        <p:tgtEl>
                                          <p:spTgt spid="19"/>
                                        </p:tgtEl>
                                      </p:cBhvr>
                                    </p:animEffect>
                                  </p:childTnLst>
                                </p:cTn>
                              </p:par>
                              <p:par>
                                <p:cTn id="31" presetID="42" presetClass="path" presetSubtype="0" decel="100000" fill="hold" nodeType="withEffect">
                                  <p:stCondLst>
                                    <p:cond delay="100"/>
                                  </p:stCondLst>
                                  <p:childTnLst>
                                    <p:animMotion origin="layout" path="M 0 -0.03472 L 0 2.22222E-6 " pathEditMode="relative" rAng="0" ptsTypes="AA">
                                      <p:cBhvr>
                                        <p:cTn id="32" dur="750" fill="hold"/>
                                        <p:tgtEl>
                                          <p:spTgt spid="19"/>
                                        </p:tgtEl>
                                        <p:attrNameLst>
                                          <p:attrName>ppt_x</p:attrName>
                                          <p:attrName>ppt_y</p:attrName>
                                        </p:attrNameLst>
                                      </p:cBhvr>
                                      <p:rCtr x="0" y="1736"/>
                                    </p:animMotion>
                                  </p:childTnLst>
                                </p:cTn>
                              </p:par>
                              <p:par>
                                <p:cTn id="33" presetID="10" presetClass="entr" presetSubtype="0" fill="hold" nodeType="withEffect">
                                  <p:stCondLst>
                                    <p:cond delay="20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750"/>
                                        <p:tgtEl>
                                          <p:spTgt spid="7"/>
                                        </p:tgtEl>
                                      </p:cBhvr>
                                    </p:animEffect>
                                  </p:childTnLst>
                                </p:cTn>
                              </p:par>
                              <p:par>
                                <p:cTn id="36" presetID="42" presetClass="path" presetSubtype="0" decel="100000" fill="hold" nodeType="withEffect">
                                  <p:stCondLst>
                                    <p:cond delay="200"/>
                                  </p:stCondLst>
                                  <p:childTnLst>
                                    <p:animMotion origin="layout" path="M 4.375E-6 -0.03472 L 4.375E-6 2.22222E-6 " pathEditMode="relative" rAng="0" ptsTypes="AA">
                                      <p:cBhvr>
                                        <p:cTn id="37" dur="750" fill="hold"/>
                                        <p:tgtEl>
                                          <p:spTgt spid="7"/>
                                        </p:tgtEl>
                                        <p:attrNameLst>
                                          <p:attrName>ppt_x</p:attrName>
                                          <p:attrName>ppt_y</p:attrName>
                                        </p:attrNameLst>
                                      </p:cBhvr>
                                      <p:rCtr x="0" y="1736"/>
                                    </p:animMotion>
                                  </p:childTnLst>
                                </p:cTn>
                              </p:par>
                              <p:par>
                                <p:cTn id="38" presetID="10" presetClass="entr" presetSubtype="0" fill="hold" grpId="0" nodeType="withEffect">
                                  <p:stCondLst>
                                    <p:cond delay="10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750"/>
                                        <p:tgtEl>
                                          <p:spTgt spid="31"/>
                                        </p:tgtEl>
                                      </p:cBhvr>
                                    </p:animEffect>
                                  </p:childTnLst>
                                </p:cTn>
                              </p:par>
                              <p:par>
                                <p:cTn id="41" presetID="42" presetClass="path" presetSubtype="0" decel="100000" fill="hold" grpId="1" nodeType="withEffect">
                                  <p:stCondLst>
                                    <p:cond delay="100"/>
                                  </p:stCondLst>
                                  <p:childTnLst>
                                    <p:animMotion origin="layout" path="M -4.16667E-6 -0.03472 L -4.16667E-6 7.40741E-7 " pathEditMode="relative" rAng="0" ptsTypes="AA">
                                      <p:cBhvr>
                                        <p:cTn id="42" dur="750" fill="hold"/>
                                        <p:tgtEl>
                                          <p:spTgt spid="31"/>
                                        </p:tgtEl>
                                        <p:attrNameLst>
                                          <p:attrName>ppt_x</p:attrName>
                                          <p:attrName>ppt_y</p:attrName>
                                        </p:attrNameLst>
                                      </p:cBhvr>
                                      <p:rCtr x="0" y="1736"/>
                                    </p:animMotion>
                                  </p:childTnLst>
                                </p:cTn>
                              </p:par>
                              <p:par>
                                <p:cTn id="43" presetID="10" presetClass="entr" presetSubtype="0" fill="hold" grpId="0" nodeType="withEffect">
                                  <p:stCondLst>
                                    <p:cond delay="30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750"/>
                                        <p:tgtEl>
                                          <p:spTgt spid="33"/>
                                        </p:tgtEl>
                                      </p:cBhvr>
                                    </p:animEffect>
                                  </p:childTnLst>
                                </p:cTn>
                              </p:par>
                              <p:par>
                                <p:cTn id="46" presetID="42" presetClass="path" presetSubtype="0" decel="100000" fill="hold" grpId="1" nodeType="withEffect">
                                  <p:stCondLst>
                                    <p:cond delay="300"/>
                                  </p:stCondLst>
                                  <p:childTnLst>
                                    <p:animMotion origin="layout" path="M 4.375E-6 -0.03472 L 4.375E-6 7.40741E-7 " pathEditMode="relative" rAng="0" ptsTypes="AA">
                                      <p:cBhvr>
                                        <p:cTn id="47" dur="750" fill="hold"/>
                                        <p:tgtEl>
                                          <p:spTgt spid="33"/>
                                        </p:tgtEl>
                                        <p:attrNameLst>
                                          <p:attrName>ppt_x</p:attrName>
                                          <p:attrName>ppt_y</p:attrName>
                                        </p:attrNameLst>
                                      </p:cBhvr>
                                      <p:rCtr x="0" y="1736"/>
                                    </p:animMotion>
                                  </p:childTnLst>
                                </p:cTn>
                              </p:par>
                              <p:par>
                                <p:cTn id="48" presetID="10" presetClass="entr" presetSubtype="0" fill="hold" grpId="0" nodeType="withEffect">
                                  <p:stCondLst>
                                    <p:cond delay="20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750"/>
                                        <p:tgtEl>
                                          <p:spTgt spid="32"/>
                                        </p:tgtEl>
                                      </p:cBhvr>
                                    </p:animEffect>
                                  </p:childTnLst>
                                </p:cTn>
                              </p:par>
                              <p:par>
                                <p:cTn id="51" presetID="42" presetClass="path" presetSubtype="0" decel="100000" fill="hold" grpId="1" nodeType="withEffect">
                                  <p:stCondLst>
                                    <p:cond delay="200"/>
                                  </p:stCondLst>
                                  <p:childTnLst>
                                    <p:animMotion origin="layout" path="M 0 -0.03472 L 0 7.40741E-7 " pathEditMode="relative" rAng="0" ptsTypes="AA">
                                      <p:cBhvr>
                                        <p:cTn id="52" dur="750" fill="hold"/>
                                        <p:tgtEl>
                                          <p:spTgt spid="32"/>
                                        </p:tgtEl>
                                        <p:attrNameLst>
                                          <p:attrName>ppt_x</p:attrName>
                                          <p:attrName>ppt_y</p:attrName>
                                        </p:attrNameLst>
                                      </p:cBhvr>
                                      <p:rCtr x="0" y="1736"/>
                                    </p:animMotion>
                                  </p:childTnLst>
                                </p:cTn>
                              </p:par>
                              <p:par>
                                <p:cTn id="53" presetID="10" presetClass="entr" presetSubtype="0" fill="hold" grpId="0" nodeType="withEffect">
                                  <p:stCondLst>
                                    <p:cond delay="25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750"/>
                                        <p:tgtEl>
                                          <p:spTgt spid="34"/>
                                        </p:tgtEl>
                                      </p:cBhvr>
                                    </p:animEffect>
                                  </p:childTnLst>
                                </p:cTn>
                              </p:par>
                              <p:par>
                                <p:cTn id="56" presetID="42" presetClass="path" presetSubtype="0" decel="100000" fill="hold" grpId="1" nodeType="withEffect">
                                  <p:stCondLst>
                                    <p:cond delay="250"/>
                                  </p:stCondLst>
                                  <p:childTnLst>
                                    <p:animMotion origin="layout" path="M 0 0.03889 L 0 2.22222E-6 " pathEditMode="relative" rAng="0" ptsTypes="AA">
                                      <p:cBhvr>
                                        <p:cTn id="57" dur="750" fill="hold"/>
                                        <p:tgtEl>
                                          <p:spTgt spid="34"/>
                                        </p:tgtEl>
                                        <p:attrNameLst>
                                          <p:attrName>ppt_x</p:attrName>
                                          <p:attrName>ppt_y</p:attrName>
                                        </p:attrNameLst>
                                      </p:cBhvr>
                                      <p:rCtr x="0" y="-1944"/>
                                    </p:animMotion>
                                  </p:childTnLst>
                                </p:cTn>
                              </p:par>
                              <p:par>
                                <p:cTn id="58" presetID="10" presetClass="entr" presetSubtype="0" fill="hold" grpId="0" nodeType="withEffect">
                                  <p:stCondLst>
                                    <p:cond delay="10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750"/>
                                        <p:tgtEl>
                                          <p:spTgt spid="8"/>
                                        </p:tgtEl>
                                      </p:cBhvr>
                                    </p:animEffect>
                                  </p:childTnLst>
                                </p:cTn>
                              </p:par>
                              <p:par>
                                <p:cTn id="61" presetID="42" presetClass="path" presetSubtype="0" decel="100000" fill="hold" grpId="1" nodeType="withEffect">
                                  <p:stCondLst>
                                    <p:cond delay="100"/>
                                  </p:stCondLst>
                                  <p:childTnLst>
                                    <p:animMotion origin="layout" path="M -4.16667E-6 -0.03472 L -4.16667E-6 -1.48148E-6 " pathEditMode="relative" rAng="0" ptsTypes="AA">
                                      <p:cBhvr>
                                        <p:cTn id="62" dur="750" fill="hold"/>
                                        <p:tgtEl>
                                          <p:spTgt spid="8"/>
                                        </p:tgtEl>
                                        <p:attrNameLst>
                                          <p:attrName>ppt_x</p:attrName>
                                          <p:attrName>ppt_y</p:attrName>
                                        </p:attrNameLst>
                                      </p:cBhvr>
                                      <p:rCtr x="0" y="1736"/>
                                    </p:animMotion>
                                  </p:childTnLst>
                                </p:cTn>
                              </p:par>
                              <p:par>
                                <p:cTn id="63" presetID="10" presetClass="entr" presetSubtype="0" fill="hold" grpId="0" nodeType="withEffect">
                                  <p:stCondLst>
                                    <p:cond delay="30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750"/>
                                        <p:tgtEl>
                                          <p:spTgt spid="10"/>
                                        </p:tgtEl>
                                      </p:cBhvr>
                                    </p:animEffect>
                                  </p:childTnLst>
                                </p:cTn>
                              </p:par>
                              <p:par>
                                <p:cTn id="66" presetID="42" presetClass="path" presetSubtype="0" decel="100000" fill="hold" grpId="1" nodeType="withEffect">
                                  <p:stCondLst>
                                    <p:cond delay="300"/>
                                  </p:stCondLst>
                                  <p:childTnLst>
                                    <p:animMotion origin="layout" path="M 4.375E-6 -0.03472 L 4.375E-6 -1.48148E-6 " pathEditMode="relative" rAng="0" ptsTypes="AA">
                                      <p:cBhvr>
                                        <p:cTn id="67" dur="750" fill="hold"/>
                                        <p:tgtEl>
                                          <p:spTgt spid="10"/>
                                        </p:tgtEl>
                                        <p:attrNameLst>
                                          <p:attrName>ppt_x</p:attrName>
                                          <p:attrName>ppt_y</p:attrName>
                                        </p:attrNameLst>
                                      </p:cBhvr>
                                      <p:rCtr x="0" y="1736"/>
                                    </p:animMotion>
                                  </p:childTnLst>
                                </p:cTn>
                              </p:par>
                              <p:par>
                                <p:cTn id="68" presetID="10" presetClass="entr" presetSubtype="0" fill="hold" grpId="0" nodeType="withEffect">
                                  <p:stCondLst>
                                    <p:cond delay="200"/>
                                  </p:stCondLst>
                                  <p:childTnLst>
                                    <p:set>
                                      <p:cBhvr>
                                        <p:cTn id="69" dur="1" fill="hold">
                                          <p:stCondLst>
                                            <p:cond delay="0"/>
                                          </p:stCondLst>
                                        </p:cTn>
                                        <p:tgtEl>
                                          <p:spTgt spid="9"/>
                                        </p:tgtEl>
                                        <p:attrNameLst>
                                          <p:attrName>style.visibility</p:attrName>
                                        </p:attrNameLst>
                                      </p:cBhvr>
                                      <p:to>
                                        <p:strVal val="visible"/>
                                      </p:to>
                                    </p:set>
                                    <p:animEffect transition="in" filter="fade">
                                      <p:cBhvr>
                                        <p:cTn id="70" dur="750"/>
                                        <p:tgtEl>
                                          <p:spTgt spid="9"/>
                                        </p:tgtEl>
                                      </p:cBhvr>
                                    </p:animEffect>
                                  </p:childTnLst>
                                </p:cTn>
                              </p:par>
                              <p:par>
                                <p:cTn id="71" presetID="42" presetClass="path" presetSubtype="0" decel="100000" fill="hold" grpId="1" nodeType="withEffect">
                                  <p:stCondLst>
                                    <p:cond delay="200"/>
                                  </p:stCondLst>
                                  <p:childTnLst>
                                    <p:animMotion origin="layout" path="M 0 -0.03472 L 0 -1.48148E-6 " pathEditMode="relative" rAng="0" ptsTypes="AA">
                                      <p:cBhvr>
                                        <p:cTn id="72" dur="750" fill="hold"/>
                                        <p:tgtEl>
                                          <p:spTgt spid="9"/>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1" grpId="1"/>
      <p:bldP spid="32" grpId="0"/>
      <p:bldP spid="32" grpId="1"/>
      <p:bldP spid="33" grpId="0"/>
      <p:bldP spid="33" grpId="1"/>
      <p:bldP spid="34" grpId="0" animBg="1"/>
      <p:bldP spid="34" grpId="1" animBg="1"/>
      <p:bldP spid="8" grpId="0"/>
      <p:bldP spid="8" grpId="1"/>
      <p:bldP spid="9" grpId="0"/>
      <p:bldP spid="9" grpId="1"/>
      <p:bldP spid="10" grpId="0"/>
      <p:bldP spid="10"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42">
            <a:extLst>
              <a:ext uri="{FF2B5EF4-FFF2-40B4-BE49-F238E27FC236}">
                <a16:creationId xmlns:a16="http://schemas.microsoft.com/office/drawing/2014/main" id="{E332C0E6-E82F-145B-7361-62807A89AD5F}"/>
              </a:ext>
            </a:extLst>
          </p:cNvPr>
          <p:cNvSpPr>
            <a:spLocks noGrp="1"/>
          </p:cNvSpPr>
          <p:nvPr>
            <p:ph type="title" idx="4294967295"/>
          </p:nvPr>
        </p:nvSpPr>
        <p:spPr>
          <a:xfrm>
            <a:off x="1174750" y="593725"/>
            <a:ext cx="11017250" cy="998538"/>
          </a:xfrm>
        </p:spPr>
        <p:txBody>
          <a:bodyPr>
            <a:normAutofit/>
          </a:bodyPr>
          <a:lstStyle/>
          <a:p>
            <a:r>
              <a:rPr lang="en-US">
                <a:solidFill>
                  <a:schemeClr val="bg1"/>
                </a:solidFill>
              </a:rPr>
              <a:t>Building Use Case Architecture Diagram Step by Step</a:t>
            </a:r>
            <a:endParaRPr lang="en-IN">
              <a:solidFill>
                <a:schemeClr val="bg1"/>
              </a:solidFill>
            </a:endParaRPr>
          </a:p>
        </p:txBody>
      </p:sp>
      <p:pic>
        <p:nvPicPr>
          <p:cNvPr id="92" name="Picture 91" descr="A blue circle with black background&#10;&#10;Description automatically generated">
            <a:extLst>
              <a:ext uri="{FF2B5EF4-FFF2-40B4-BE49-F238E27FC236}">
                <a16:creationId xmlns:a16="http://schemas.microsoft.com/office/drawing/2014/main" id="{7AE4D115-7B06-2EA5-C67C-1601E2142020}"/>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1301946" y="5048497"/>
            <a:ext cx="385094" cy="385094"/>
          </a:xfrm>
          <a:prstGeom prst="rect">
            <a:avLst/>
          </a:prstGeom>
          <a:effectLst>
            <a:outerShdw blurRad="114300" dist="139700" dir="2700000" algn="tl" rotWithShape="0">
              <a:prstClr val="black">
                <a:alpha val="18000"/>
              </a:prstClr>
            </a:outerShdw>
          </a:effectLst>
        </p:spPr>
      </p:pic>
      <p:sp>
        <p:nvSpPr>
          <p:cNvPr id="2" name="Rectangle: Rounded Corners 1">
            <a:extLst>
              <a:ext uri="{FF2B5EF4-FFF2-40B4-BE49-F238E27FC236}">
                <a16:creationId xmlns:a16="http://schemas.microsoft.com/office/drawing/2014/main" id="{3E142545-81D8-5FB2-3996-41A3DEA4B7D7}"/>
              </a:ext>
            </a:extLst>
          </p:cNvPr>
          <p:cNvSpPr>
            <a:spLocks/>
          </p:cNvSpPr>
          <p:nvPr/>
        </p:nvSpPr>
        <p:spPr bwMode="auto">
          <a:xfrm>
            <a:off x="383428" y="1424409"/>
            <a:ext cx="11392545" cy="5072911"/>
          </a:xfrm>
          <a:prstGeom prst="roundRect">
            <a:avLst>
              <a:gd name="adj" fmla="val 2665"/>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nvGrpSpPr>
          <p:cNvPr id="3" name="Group 2">
            <a:extLst>
              <a:ext uri="{FF2B5EF4-FFF2-40B4-BE49-F238E27FC236}">
                <a16:creationId xmlns:a16="http://schemas.microsoft.com/office/drawing/2014/main" id="{85CDF6DD-A503-8A48-19AA-48FBAA558AB5}"/>
              </a:ext>
            </a:extLst>
          </p:cNvPr>
          <p:cNvGrpSpPr/>
          <p:nvPr/>
        </p:nvGrpSpPr>
        <p:grpSpPr>
          <a:xfrm>
            <a:off x="457404" y="1493520"/>
            <a:ext cx="11243982" cy="4932680"/>
            <a:chOff x="457404" y="1493520"/>
            <a:chExt cx="11243982" cy="4932680"/>
          </a:xfrm>
        </p:grpSpPr>
        <p:sp>
          <p:nvSpPr>
            <p:cNvPr id="4" name="Rectangle: Rounded Corners 3">
              <a:extLst>
                <a:ext uri="{FF2B5EF4-FFF2-40B4-BE49-F238E27FC236}">
                  <a16:creationId xmlns:a16="http://schemas.microsoft.com/office/drawing/2014/main" id="{3F029DAF-86F1-E63D-A156-656DCE705ACB}"/>
                </a:ext>
              </a:extLst>
            </p:cNvPr>
            <p:cNvSpPr/>
            <p:nvPr/>
          </p:nvSpPr>
          <p:spPr bwMode="auto">
            <a:xfrm>
              <a:off x="459644" y="1493520"/>
              <a:ext cx="11241741" cy="4932680"/>
            </a:xfrm>
            <a:prstGeom prst="roundRect">
              <a:avLst>
                <a:gd name="adj" fmla="val 1628"/>
              </a:avLst>
            </a:prstGeom>
            <a:solidFill>
              <a:srgbClr val="FFFDF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err="1">
                <a:solidFill>
                  <a:srgbClr val="FFFFFF"/>
                </a:solidFill>
                <a:ea typeface="Segoe UI" pitchFamily="34" charset="0"/>
                <a:cs typeface="Segoe Sans Text" pitchFamily="2" charset="0"/>
              </a:endParaRPr>
            </a:p>
          </p:txBody>
        </p:sp>
        <p:pic>
          <p:nvPicPr>
            <p:cNvPr id="5" name="Picture 4" descr="A blue and green wavy lines&#10;&#10;Description automatically generated">
              <a:extLst>
                <a:ext uri="{FF2B5EF4-FFF2-40B4-BE49-F238E27FC236}">
                  <a16:creationId xmlns:a16="http://schemas.microsoft.com/office/drawing/2014/main" id="{FD8A1926-CBB7-02C7-5297-276ECBF39E32}"/>
                </a:ext>
              </a:extLst>
            </p:cNvPr>
            <p:cNvPicPr>
              <a:picLocks noChangeAspect="1"/>
            </p:cNvPicPr>
            <p:nvPr/>
          </p:nvPicPr>
          <p:blipFill>
            <a:blip r:embed="rId4" cstate="hqprint">
              <a:extLst>
                <a:ext uri="{28A0092B-C50C-407E-A947-70E740481C1C}">
                  <a14:useLocalDpi xmlns:a14="http://schemas.microsoft.com/office/drawing/2010/main"/>
                </a:ext>
              </a:extLst>
            </a:blip>
            <a:srcRect t="1" r="20873" b="29311"/>
            <a:stretch/>
          </p:blipFill>
          <p:spPr>
            <a:xfrm rot="16200000">
              <a:off x="9559493" y="2158739"/>
              <a:ext cx="2807112" cy="1476674"/>
            </a:xfrm>
            <a:prstGeom prst="roundRect">
              <a:avLst>
                <a:gd name="adj" fmla="val 4567"/>
              </a:avLst>
            </a:prstGeom>
          </p:spPr>
        </p:pic>
        <p:pic>
          <p:nvPicPr>
            <p:cNvPr id="9" name="Picture 8" descr="A blue and green wavy lines&#10;&#10;Description automatically generated">
              <a:extLst>
                <a:ext uri="{FF2B5EF4-FFF2-40B4-BE49-F238E27FC236}">
                  <a16:creationId xmlns:a16="http://schemas.microsoft.com/office/drawing/2014/main" id="{17A38AEB-0356-2BCA-8AA1-5A6F7E454857}"/>
                </a:ext>
              </a:extLst>
            </p:cNvPr>
            <p:cNvPicPr>
              <a:picLocks noChangeAspect="1"/>
            </p:cNvPicPr>
            <p:nvPr/>
          </p:nvPicPr>
          <p:blipFill>
            <a:blip r:embed="rId4" cstate="hqprint">
              <a:extLst>
                <a:ext uri="{28A0092B-C50C-407E-A947-70E740481C1C}">
                  <a14:useLocalDpi xmlns:a14="http://schemas.microsoft.com/office/drawing/2010/main"/>
                </a:ext>
              </a:extLst>
            </a:blip>
            <a:srcRect t="1" r="20873" b="29311"/>
            <a:stretch/>
          </p:blipFill>
          <p:spPr>
            <a:xfrm rot="16200000" flipH="1" flipV="1">
              <a:off x="-207815" y="4284307"/>
              <a:ext cx="2807112" cy="1476674"/>
            </a:xfrm>
            <a:prstGeom prst="roundRect">
              <a:avLst>
                <a:gd name="adj" fmla="val 4567"/>
              </a:avLst>
            </a:prstGeom>
          </p:spPr>
        </p:pic>
      </p:grpSp>
      <p:pic>
        <p:nvPicPr>
          <p:cNvPr id="7" name="Picture 6">
            <a:extLst>
              <a:ext uri="{FF2B5EF4-FFF2-40B4-BE49-F238E27FC236}">
                <a16:creationId xmlns:a16="http://schemas.microsoft.com/office/drawing/2014/main" id="{30A2B37D-BBAD-E689-E399-BA9244034DFE}"/>
              </a:ext>
            </a:extLst>
          </p:cNvPr>
          <p:cNvPicPr>
            <a:picLocks noChangeAspect="1"/>
          </p:cNvPicPr>
          <p:nvPr/>
        </p:nvPicPr>
        <p:blipFill>
          <a:blip r:embed="rId5"/>
          <a:stretch>
            <a:fillRect/>
          </a:stretch>
        </p:blipFill>
        <p:spPr>
          <a:xfrm>
            <a:off x="1946968" y="1546977"/>
            <a:ext cx="8157152" cy="4585560"/>
          </a:xfrm>
          <a:prstGeom prst="rect">
            <a:avLst/>
          </a:prstGeom>
        </p:spPr>
      </p:pic>
    </p:spTree>
    <p:extLst>
      <p:ext uri="{BB962C8B-B14F-4D97-AF65-F5344CB8AC3E}">
        <p14:creationId xmlns:p14="http://schemas.microsoft.com/office/powerpoint/2010/main" val="34772839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250"/>
                                  </p:stCondLst>
                                  <p:childTnLst>
                                    <p:set>
                                      <p:cBhvr>
                                        <p:cTn id="6" dur="1" fill="hold">
                                          <p:stCondLst>
                                            <p:cond delay="0"/>
                                          </p:stCondLst>
                                        </p:cTn>
                                        <p:tgtEl>
                                          <p:spTgt spid="92"/>
                                        </p:tgtEl>
                                        <p:attrNameLst>
                                          <p:attrName>style.visibility</p:attrName>
                                        </p:attrNameLst>
                                      </p:cBhvr>
                                      <p:to>
                                        <p:strVal val="visible"/>
                                      </p:to>
                                    </p:set>
                                    <p:anim calcmode="lin" valueType="num">
                                      <p:cBhvr>
                                        <p:cTn id="7" dur="250" fill="hold"/>
                                        <p:tgtEl>
                                          <p:spTgt spid="92"/>
                                        </p:tgtEl>
                                        <p:attrNameLst>
                                          <p:attrName>ppt_w</p:attrName>
                                        </p:attrNameLst>
                                      </p:cBhvr>
                                      <p:tavLst>
                                        <p:tav tm="0">
                                          <p:val>
                                            <p:strVal val="2/3*#ppt_w"/>
                                          </p:val>
                                        </p:tav>
                                        <p:tav tm="100000">
                                          <p:val>
                                            <p:strVal val="#ppt_w"/>
                                          </p:val>
                                        </p:tav>
                                      </p:tavLst>
                                    </p:anim>
                                    <p:anim calcmode="lin" valueType="num">
                                      <p:cBhvr>
                                        <p:cTn id="8" dur="250" fill="hold"/>
                                        <p:tgtEl>
                                          <p:spTgt spid="92"/>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250"/>
                                  </p:stCondLst>
                                  <p:childTnLst>
                                    <p:set>
                                      <p:cBhvr>
                                        <p:cTn id="10" dur="1" fill="hold">
                                          <p:stCondLst>
                                            <p:cond delay="0"/>
                                          </p:stCondLst>
                                        </p:cTn>
                                        <p:tgtEl>
                                          <p:spTgt spid="92"/>
                                        </p:tgtEl>
                                        <p:attrNameLst>
                                          <p:attrName>style.visibility</p:attrName>
                                        </p:attrNameLst>
                                      </p:cBhvr>
                                      <p:to>
                                        <p:strVal val="visible"/>
                                      </p:to>
                                    </p:set>
                                    <p:animEffect transition="in" filter="fade">
                                      <p:cBhvr>
                                        <p:cTn id="11" dur="500"/>
                                        <p:tgtEl>
                                          <p:spTgt spid="92"/>
                                        </p:tgtEl>
                                      </p:cBhvr>
                                    </p:animEffect>
                                  </p:childTnLst>
                                </p:cTn>
                              </p:par>
                              <p:par>
                                <p:cTn id="12" presetID="6" presetClass="emph" presetSubtype="0" fill="hold" nodeType="withEffect">
                                  <p:stCondLst>
                                    <p:cond delay="250"/>
                                  </p:stCondLst>
                                  <p:childTnLst>
                                    <p:animScale>
                                      <p:cBhvr>
                                        <p:cTn id="13" dur="10" fill="hold"/>
                                        <p:tgtEl>
                                          <p:spTgt spid="92"/>
                                        </p:tgtEl>
                                      </p:cBhvr>
                                      <p:by x="80000" y="80000"/>
                                    </p:animScale>
                                  </p:childTnLst>
                                </p:cTn>
                              </p:par>
                              <p:par>
                                <p:cTn id="14" presetID="6" presetClass="emph" presetSubtype="0" decel="100000" fill="hold" nodeType="withEffect">
                                  <p:stCondLst>
                                    <p:cond delay="250"/>
                                  </p:stCondLst>
                                  <p:childTnLst>
                                    <p:animScale>
                                      <p:cBhvr>
                                        <p:cTn id="15" dur="1000" fill="hold"/>
                                        <p:tgtEl>
                                          <p:spTgt spid="92"/>
                                        </p:tgtEl>
                                      </p:cBhvr>
                                      <p:by x="125000" y="125000"/>
                                    </p:animScale>
                                  </p:childTnLst>
                                </p:cTn>
                              </p:par>
                              <p:par>
                                <p:cTn id="16" presetID="23" presetClass="entr" presetSubtype="272"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250" fill="hold"/>
                                        <p:tgtEl>
                                          <p:spTgt spid="3"/>
                                        </p:tgtEl>
                                        <p:attrNameLst>
                                          <p:attrName>ppt_w</p:attrName>
                                        </p:attrNameLst>
                                      </p:cBhvr>
                                      <p:tavLst>
                                        <p:tav tm="0">
                                          <p:val>
                                            <p:strVal val="2/3*#ppt_w"/>
                                          </p:val>
                                        </p:tav>
                                        <p:tav tm="100000">
                                          <p:val>
                                            <p:strVal val="#ppt_w"/>
                                          </p:val>
                                        </p:tav>
                                      </p:tavLst>
                                    </p:anim>
                                    <p:anim calcmode="lin" valueType="num">
                                      <p:cBhvr>
                                        <p:cTn id="19" dur="250" fill="hold"/>
                                        <p:tgtEl>
                                          <p:spTgt spid="3"/>
                                        </p:tgtEl>
                                        <p:attrNameLst>
                                          <p:attrName>ppt_h</p:attrName>
                                        </p:attrNameLst>
                                      </p:cBhvr>
                                      <p:tavLst>
                                        <p:tav tm="0">
                                          <p:val>
                                            <p:strVal val="2/3*#ppt_h"/>
                                          </p:val>
                                        </p:tav>
                                        <p:tav tm="100000">
                                          <p:val>
                                            <p:strVal val="#ppt_h"/>
                                          </p:val>
                                        </p:tav>
                                      </p:tavLst>
                                    </p:anim>
                                  </p:childTnLst>
                                </p:cTn>
                              </p:par>
                              <p:par>
                                <p:cTn id="20" presetID="10"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6" presetClass="emph" presetSubtype="0" fill="hold" nodeType="withEffect">
                                  <p:stCondLst>
                                    <p:cond delay="0"/>
                                  </p:stCondLst>
                                  <p:childTnLst>
                                    <p:animScale>
                                      <p:cBhvr>
                                        <p:cTn id="24" dur="10" fill="hold"/>
                                        <p:tgtEl>
                                          <p:spTgt spid="3"/>
                                        </p:tgtEl>
                                      </p:cBhvr>
                                      <p:by x="80000" y="80000"/>
                                    </p:animScale>
                                  </p:childTnLst>
                                </p:cTn>
                              </p:par>
                              <p:par>
                                <p:cTn id="25" presetID="6" presetClass="emph" presetSubtype="0" decel="100000" fill="hold" nodeType="withEffect">
                                  <p:stCondLst>
                                    <p:cond delay="0"/>
                                  </p:stCondLst>
                                  <p:childTnLst>
                                    <p:animScale>
                                      <p:cBhvr>
                                        <p:cTn id="26" dur="1000" fill="hold"/>
                                        <p:tgtEl>
                                          <p:spTgt spid="3"/>
                                        </p:tgtEl>
                                      </p:cBhvr>
                                      <p:by x="125000" y="125000"/>
                                    </p:animScale>
                                  </p:childTnLst>
                                </p:cTn>
                              </p:par>
                              <p:par>
                                <p:cTn id="27" presetID="23" presetClass="entr" presetSubtype="272" fill="hold" grpId="0" nodeType="withEffect">
                                  <p:stCondLst>
                                    <p:cond delay="250"/>
                                  </p:stCondLst>
                                  <p:childTnLst>
                                    <p:set>
                                      <p:cBhvr>
                                        <p:cTn id="28" dur="1" fill="hold">
                                          <p:stCondLst>
                                            <p:cond delay="0"/>
                                          </p:stCondLst>
                                        </p:cTn>
                                        <p:tgtEl>
                                          <p:spTgt spid="2"/>
                                        </p:tgtEl>
                                        <p:attrNameLst>
                                          <p:attrName>style.visibility</p:attrName>
                                        </p:attrNameLst>
                                      </p:cBhvr>
                                      <p:to>
                                        <p:strVal val="visible"/>
                                      </p:to>
                                    </p:set>
                                    <p:anim calcmode="lin" valueType="num">
                                      <p:cBhvr>
                                        <p:cTn id="29" dur="250" fill="hold"/>
                                        <p:tgtEl>
                                          <p:spTgt spid="2"/>
                                        </p:tgtEl>
                                        <p:attrNameLst>
                                          <p:attrName>ppt_w</p:attrName>
                                        </p:attrNameLst>
                                      </p:cBhvr>
                                      <p:tavLst>
                                        <p:tav tm="0">
                                          <p:val>
                                            <p:strVal val="2/3*#ppt_w"/>
                                          </p:val>
                                        </p:tav>
                                        <p:tav tm="100000">
                                          <p:val>
                                            <p:strVal val="#ppt_w"/>
                                          </p:val>
                                        </p:tav>
                                      </p:tavLst>
                                    </p:anim>
                                    <p:anim calcmode="lin" valueType="num">
                                      <p:cBhvr>
                                        <p:cTn id="30" dur="250" fill="hold"/>
                                        <p:tgtEl>
                                          <p:spTgt spid="2"/>
                                        </p:tgtEl>
                                        <p:attrNameLst>
                                          <p:attrName>ppt_h</p:attrName>
                                        </p:attrNameLst>
                                      </p:cBhvr>
                                      <p:tavLst>
                                        <p:tav tm="0">
                                          <p:val>
                                            <p:strVal val="2/3*#ppt_h"/>
                                          </p:val>
                                        </p:tav>
                                        <p:tav tm="100000">
                                          <p:val>
                                            <p:strVal val="#ppt_h"/>
                                          </p:val>
                                        </p:tav>
                                      </p:tavLst>
                                    </p:anim>
                                  </p:childTnLst>
                                </p:cTn>
                              </p:par>
                              <p:par>
                                <p:cTn id="31" presetID="10" presetClass="entr" presetSubtype="0" fill="hold" grpId="1" nodeType="withEffect">
                                  <p:stCondLst>
                                    <p:cond delay="25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par>
                                <p:cTn id="34" presetID="6" presetClass="emph" presetSubtype="0" fill="hold" grpId="2" nodeType="withEffect">
                                  <p:stCondLst>
                                    <p:cond delay="250"/>
                                  </p:stCondLst>
                                  <p:childTnLst>
                                    <p:animScale>
                                      <p:cBhvr>
                                        <p:cTn id="35" dur="10" fill="hold"/>
                                        <p:tgtEl>
                                          <p:spTgt spid="2"/>
                                        </p:tgtEl>
                                      </p:cBhvr>
                                      <p:by x="80000" y="80000"/>
                                    </p:animScale>
                                  </p:childTnLst>
                                </p:cTn>
                              </p:par>
                              <p:par>
                                <p:cTn id="36" presetID="6" presetClass="emph" presetSubtype="0" decel="100000" fill="hold" grpId="3" nodeType="withEffect">
                                  <p:stCondLst>
                                    <p:cond delay="250"/>
                                  </p:stCondLst>
                                  <p:childTnLst>
                                    <p:animScale>
                                      <p:cBhvr>
                                        <p:cTn id="37" dur="1000" fill="hold"/>
                                        <p:tgtEl>
                                          <p:spTgt spid="2"/>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C7820-5B3E-D86E-9101-C66018407D76}"/>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244D26B-0003-C055-E482-F7537CBDA9DE}"/>
              </a:ext>
            </a:extLst>
          </p:cNvPr>
          <p:cNvSpPr/>
          <p:nvPr/>
        </p:nvSpPr>
        <p:spPr bwMode="auto">
          <a:xfrm>
            <a:off x="424648" y="1447258"/>
            <a:ext cx="11322852" cy="4953542"/>
          </a:xfrm>
          <a:prstGeom prst="roundRect">
            <a:avLst>
              <a:gd name="adj" fmla="val 3027"/>
            </a:avLst>
          </a:prstGeom>
          <a:gradFill flip="none" rotWithShape="1">
            <a:gsLst>
              <a:gs pos="0">
                <a:srgbClr val="091F2C">
                  <a:alpha val="40000"/>
                </a:srgbClr>
              </a:gs>
              <a:gs pos="85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Sans Text"/>
              <a:cs typeface="Segoe Sans Text" pitchFamily="2" charset="0"/>
            </a:endParaRPr>
          </a:p>
        </p:txBody>
      </p:sp>
      <p:sp>
        <p:nvSpPr>
          <p:cNvPr id="11" name="TextBox 10">
            <a:extLst>
              <a:ext uri="{FF2B5EF4-FFF2-40B4-BE49-F238E27FC236}">
                <a16:creationId xmlns:a16="http://schemas.microsoft.com/office/drawing/2014/main" id="{93111AAD-1CD6-386D-51F7-8BE8A5592F62}"/>
              </a:ext>
            </a:extLst>
          </p:cNvPr>
          <p:cNvSpPr txBox="1"/>
          <p:nvPr/>
        </p:nvSpPr>
        <p:spPr>
          <a:xfrm>
            <a:off x="559031" y="1498025"/>
            <a:ext cx="1844293" cy="307777"/>
          </a:xfrm>
          <a:prstGeom prst="rect">
            <a:avLst/>
          </a:prstGeom>
          <a:noFill/>
        </p:spPr>
        <p:txBody>
          <a:bodyPr wrap="square">
            <a:spAutoFit/>
          </a:bodyPr>
          <a:lstStyle/>
          <a:p>
            <a:pPr defTabSz="932472" fontAlgn="base">
              <a:spcBef>
                <a:spcPct val="0"/>
              </a:spcBef>
              <a:spcAft>
                <a:spcPct val="0"/>
              </a:spcAft>
            </a:pPr>
            <a:r>
              <a:rPr lang="en-US" sz="1400">
                <a:gradFill>
                  <a:gsLst>
                    <a:gs pos="0">
                      <a:schemeClr val="tx2">
                        <a:lumMod val="20000"/>
                        <a:lumOff val="80000"/>
                      </a:schemeClr>
                    </a:gs>
                    <a:gs pos="100000">
                      <a:schemeClr val="accent4">
                        <a:lumMod val="60000"/>
                        <a:lumOff val="40000"/>
                      </a:schemeClr>
                    </a:gs>
                  </a:gsLst>
                  <a:lin ang="2700000" scaled="0"/>
                </a:gradFill>
                <a:latin typeface="+mj-lt"/>
              </a:rPr>
              <a:t>Subscription</a:t>
            </a:r>
          </a:p>
        </p:txBody>
      </p:sp>
      <p:sp>
        <p:nvSpPr>
          <p:cNvPr id="13" name="Title 1">
            <a:extLst>
              <a:ext uri="{FF2B5EF4-FFF2-40B4-BE49-F238E27FC236}">
                <a16:creationId xmlns:a16="http://schemas.microsoft.com/office/drawing/2014/main" id="{DE5BFFCD-4CC8-5364-94F6-D7FD25CDB9FD}"/>
              </a:ext>
            </a:extLst>
          </p:cNvPr>
          <p:cNvSpPr>
            <a:spLocks noGrp="1"/>
          </p:cNvSpPr>
          <p:nvPr>
            <p:ph type="title"/>
          </p:nvPr>
        </p:nvSpPr>
        <p:spPr/>
        <p:txBody>
          <a:bodyPr/>
          <a:lstStyle/>
          <a:p>
            <a:r>
              <a:rPr lang="en-US"/>
              <a:t>High Level Use Case POC architecture </a:t>
            </a:r>
          </a:p>
        </p:txBody>
      </p:sp>
      <p:sp>
        <p:nvSpPr>
          <p:cNvPr id="5" name="TextBox 4">
            <a:extLst>
              <a:ext uri="{FF2B5EF4-FFF2-40B4-BE49-F238E27FC236}">
                <a16:creationId xmlns:a16="http://schemas.microsoft.com/office/drawing/2014/main" id="{4CC34BE2-3733-5301-5DBD-7273D18E5764}"/>
              </a:ext>
            </a:extLst>
          </p:cNvPr>
          <p:cNvSpPr txBox="1"/>
          <p:nvPr/>
        </p:nvSpPr>
        <p:spPr>
          <a:xfrm>
            <a:off x="585216" y="829913"/>
            <a:ext cx="4677011" cy="2462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sz="1600"/>
          </a:p>
        </p:txBody>
      </p:sp>
      <p:sp>
        <p:nvSpPr>
          <p:cNvPr id="3" name="Rectangle: Rounded Corners 2">
            <a:extLst>
              <a:ext uri="{FF2B5EF4-FFF2-40B4-BE49-F238E27FC236}">
                <a16:creationId xmlns:a16="http://schemas.microsoft.com/office/drawing/2014/main" id="{79E2992E-3683-5BF4-AC4D-E4503A10955A}"/>
              </a:ext>
            </a:extLst>
          </p:cNvPr>
          <p:cNvSpPr/>
          <p:nvPr/>
        </p:nvSpPr>
        <p:spPr bwMode="auto">
          <a:xfrm>
            <a:off x="557121" y="1884680"/>
            <a:ext cx="11049662" cy="4414486"/>
          </a:xfrm>
          <a:prstGeom prst="roundRect">
            <a:avLst>
              <a:gd name="adj" fmla="val 2349"/>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0" name="TextBox 9">
            <a:extLst>
              <a:ext uri="{FF2B5EF4-FFF2-40B4-BE49-F238E27FC236}">
                <a16:creationId xmlns:a16="http://schemas.microsoft.com/office/drawing/2014/main" id="{13483946-007C-DBC0-8F50-7DACAF648943}"/>
              </a:ext>
            </a:extLst>
          </p:cNvPr>
          <p:cNvSpPr txBox="1"/>
          <p:nvPr/>
        </p:nvSpPr>
        <p:spPr>
          <a:xfrm>
            <a:off x="687166" y="1986478"/>
            <a:ext cx="2272384" cy="307777"/>
          </a:xfrm>
          <a:prstGeom prst="rect">
            <a:avLst/>
          </a:prstGeom>
          <a:noFill/>
        </p:spPr>
        <p:txBody>
          <a:bodyPr wrap="square">
            <a:spAutoFit/>
          </a:bodyPr>
          <a:lstStyle/>
          <a:p>
            <a:pPr defTabSz="932472" fontAlgn="base">
              <a:spcBef>
                <a:spcPct val="0"/>
              </a:spcBef>
              <a:spcAft>
                <a:spcPct val="0"/>
              </a:spcAft>
            </a:pPr>
            <a:r>
              <a:rPr lang="en-US" sz="1400">
                <a:gradFill>
                  <a:gsLst>
                    <a:gs pos="0">
                      <a:schemeClr val="tx2">
                        <a:lumMod val="20000"/>
                        <a:lumOff val="80000"/>
                      </a:schemeClr>
                    </a:gs>
                    <a:gs pos="100000">
                      <a:schemeClr val="accent4">
                        <a:lumMod val="60000"/>
                        <a:lumOff val="40000"/>
                      </a:schemeClr>
                    </a:gs>
                  </a:gsLst>
                  <a:lin ang="2700000" scaled="0"/>
                </a:gradFill>
                <a:latin typeface="+mj-lt"/>
              </a:rPr>
              <a:t>Resource Group</a:t>
            </a:r>
          </a:p>
        </p:txBody>
      </p:sp>
      <p:sp>
        <p:nvSpPr>
          <p:cNvPr id="6" name="Rectangle: Rounded Corners 5" descr="The Exercise one architecture concept diagram that shows the AI Services of Azure OpenAI, Llama-2, AI Search, and Content Safety as connected resource to the AI Hub. The AI Hub includes Azure Compute, Key Vault, Connections, and Storage Account with a 1 to many connection to AI Project with Project Scoped Connections, Deployments, Prompt Flow, Search index. AI Hub and AI Project are in Azure Studio. All of this is inside the Resource Group inside the Subscription.">
            <a:extLst>
              <a:ext uri="{FF2B5EF4-FFF2-40B4-BE49-F238E27FC236}">
                <a16:creationId xmlns:a16="http://schemas.microsoft.com/office/drawing/2014/main" id="{518AB16A-1F06-595F-5118-CCAD3B1DF051}"/>
              </a:ext>
            </a:extLst>
          </p:cNvPr>
          <p:cNvSpPr/>
          <p:nvPr/>
        </p:nvSpPr>
        <p:spPr bwMode="auto">
          <a:xfrm>
            <a:off x="719137" y="2398148"/>
            <a:ext cx="10726273" cy="3761352"/>
          </a:xfrm>
          <a:prstGeom prst="roundRect">
            <a:avLst>
              <a:gd name="adj" fmla="val 1811"/>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Sans Text"/>
              <a:cs typeface="Segoe Sans Text" pitchFamily="2" charset="0"/>
            </a:endParaRPr>
          </a:p>
        </p:txBody>
      </p:sp>
      <p:sp>
        <p:nvSpPr>
          <p:cNvPr id="12" name="Rectangle: Rounded Corners 18">
            <a:extLst>
              <a:ext uri="{FF2B5EF4-FFF2-40B4-BE49-F238E27FC236}">
                <a16:creationId xmlns:a16="http://schemas.microsoft.com/office/drawing/2014/main" id="{2CA66895-C627-1E5D-BD3F-F25A33006CB1}"/>
              </a:ext>
              <a:ext uri="{C183D7F6-B498-43B3-948B-1728B52AA6E4}">
                <adec:decorative xmlns:adec="http://schemas.microsoft.com/office/drawing/2017/decorative" val="1"/>
              </a:ext>
            </a:extLst>
          </p:cNvPr>
          <p:cNvSpPr/>
          <p:nvPr/>
        </p:nvSpPr>
        <p:spPr>
          <a:xfrm>
            <a:off x="997083" y="2938594"/>
            <a:ext cx="2313973" cy="1230849"/>
          </a:xfrm>
          <a:prstGeom prst="roundRect">
            <a:avLst>
              <a:gd name="adj" fmla="val 7478"/>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6" name="Rectangle: Rounded Corners 18">
            <a:extLst>
              <a:ext uri="{FF2B5EF4-FFF2-40B4-BE49-F238E27FC236}">
                <a16:creationId xmlns:a16="http://schemas.microsoft.com/office/drawing/2014/main" id="{28FE643F-0E70-677A-BA25-A8731B774DBF}"/>
              </a:ext>
              <a:ext uri="{C183D7F6-B498-43B3-948B-1728B52AA6E4}">
                <adec:decorative xmlns:adec="http://schemas.microsoft.com/office/drawing/2017/decorative" val="1"/>
              </a:ext>
            </a:extLst>
          </p:cNvPr>
          <p:cNvSpPr/>
          <p:nvPr/>
        </p:nvSpPr>
        <p:spPr>
          <a:xfrm>
            <a:off x="4692594" y="2938594"/>
            <a:ext cx="2661863" cy="3022477"/>
          </a:xfrm>
          <a:prstGeom prst="roundRect">
            <a:avLst>
              <a:gd name="adj" fmla="val 7478"/>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7" name="TextBox 16">
            <a:extLst>
              <a:ext uri="{FF2B5EF4-FFF2-40B4-BE49-F238E27FC236}">
                <a16:creationId xmlns:a16="http://schemas.microsoft.com/office/drawing/2014/main" id="{2E11294A-0009-35A2-FE6E-BB62569B6CDC}"/>
              </a:ext>
            </a:extLst>
          </p:cNvPr>
          <p:cNvSpPr txBox="1"/>
          <p:nvPr/>
        </p:nvSpPr>
        <p:spPr>
          <a:xfrm>
            <a:off x="1934932" y="3625298"/>
            <a:ext cx="1296937"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AI Search</a:t>
            </a:r>
          </a:p>
        </p:txBody>
      </p:sp>
      <p:sp>
        <p:nvSpPr>
          <p:cNvPr id="18" name="TextBox 17">
            <a:extLst>
              <a:ext uri="{FF2B5EF4-FFF2-40B4-BE49-F238E27FC236}">
                <a16:creationId xmlns:a16="http://schemas.microsoft.com/office/drawing/2014/main" id="{6DA48FFF-5277-FC6B-91C2-107CF58E3B7A}"/>
              </a:ext>
            </a:extLst>
          </p:cNvPr>
          <p:cNvSpPr txBox="1"/>
          <p:nvPr/>
        </p:nvSpPr>
        <p:spPr>
          <a:xfrm>
            <a:off x="925637" y="3578549"/>
            <a:ext cx="1218966" cy="430887"/>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Grounding </a:t>
            </a:r>
          </a:p>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With Bing</a:t>
            </a:r>
          </a:p>
        </p:txBody>
      </p:sp>
      <p:sp>
        <p:nvSpPr>
          <p:cNvPr id="28" name="TextBox 27">
            <a:extLst>
              <a:ext uri="{FF2B5EF4-FFF2-40B4-BE49-F238E27FC236}">
                <a16:creationId xmlns:a16="http://schemas.microsoft.com/office/drawing/2014/main" id="{7E91C033-226F-511A-3237-B066200016C6}"/>
              </a:ext>
            </a:extLst>
          </p:cNvPr>
          <p:cNvSpPr txBox="1"/>
          <p:nvPr/>
        </p:nvSpPr>
        <p:spPr>
          <a:xfrm>
            <a:off x="6133066" y="3692560"/>
            <a:ext cx="1250026"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Models</a:t>
            </a:r>
          </a:p>
        </p:txBody>
      </p:sp>
      <p:sp>
        <p:nvSpPr>
          <p:cNvPr id="29" name="TextBox 28">
            <a:extLst>
              <a:ext uri="{FF2B5EF4-FFF2-40B4-BE49-F238E27FC236}">
                <a16:creationId xmlns:a16="http://schemas.microsoft.com/office/drawing/2014/main" id="{BDA369DC-D7C4-1D6B-50BE-5EFAC75E8769}"/>
              </a:ext>
            </a:extLst>
          </p:cNvPr>
          <p:cNvSpPr txBox="1"/>
          <p:nvPr/>
        </p:nvSpPr>
        <p:spPr>
          <a:xfrm>
            <a:off x="6005077" y="4496310"/>
            <a:ext cx="1304644"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Connections</a:t>
            </a:r>
          </a:p>
        </p:txBody>
      </p:sp>
      <p:sp>
        <p:nvSpPr>
          <p:cNvPr id="32" name="TextBox 31">
            <a:extLst>
              <a:ext uri="{FF2B5EF4-FFF2-40B4-BE49-F238E27FC236}">
                <a16:creationId xmlns:a16="http://schemas.microsoft.com/office/drawing/2014/main" id="{0910B72E-9B8C-FC04-18AF-8BFEF725A123}"/>
              </a:ext>
            </a:extLst>
          </p:cNvPr>
          <p:cNvSpPr txBox="1"/>
          <p:nvPr/>
        </p:nvSpPr>
        <p:spPr>
          <a:xfrm>
            <a:off x="6169213" y="5401617"/>
            <a:ext cx="1176702" cy="430887"/>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Built-in AI Tools</a:t>
            </a:r>
          </a:p>
        </p:txBody>
      </p:sp>
      <p:sp>
        <p:nvSpPr>
          <p:cNvPr id="40" name="TextBox 39">
            <a:extLst>
              <a:ext uri="{FF2B5EF4-FFF2-40B4-BE49-F238E27FC236}">
                <a16:creationId xmlns:a16="http://schemas.microsoft.com/office/drawing/2014/main" id="{58F48E52-4893-9656-37CA-D315BEE2EEA3}"/>
              </a:ext>
            </a:extLst>
          </p:cNvPr>
          <p:cNvSpPr txBox="1"/>
          <p:nvPr/>
        </p:nvSpPr>
        <p:spPr>
          <a:xfrm>
            <a:off x="1104945" y="2526924"/>
            <a:ext cx="2055504" cy="307777"/>
          </a:xfrm>
          <a:prstGeom prst="rect">
            <a:avLst/>
          </a:prstGeom>
          <a:noFill/>
        </p:spPr>
        <p:txBody>
          <a:bodyPr wrap="square">
            <a:spAutoFit/>
          </a:bodyPr>
          <a:lstStyle/>
          <a:p>
            <a:pPr algn="ctr" defTabSz="932472" fontAlgn="base">
              <a:spcBef>
                <a:spcPct val="0"/>
              </a:spcBef>
              <a:spcAft>
                <a:spcPct val="0"/>
              </a:spcAft>
            </a:pPr>
            <a:r>
              <a:rPr lang="en-US" sz="1400">
                <a:gradFill>
                  <a:gsLst>
                    <a:gs pos="0">
                      <a:schemeClr val="tx2">
                        <a:lumMod val="20000"/>
                        <a:lumOff val="80000"/>
                      </a:schemeClr>
                    </a:gs>
                    <a:gs pos="100000">
                      <a:schemeClr val="accent4">
                        <a:lumMod val="60000"/>
                        <a:lumOff val="40000"/>
                      </a:schemeClr>
                    </a:gs>
                  </a:gsLst>
                  <a:lin ang="2700000" scaled="0"/>
                </a:gradFill>
                <a:latin typeface="+mj-lt"/>
              </a:rPr>
              <a:t>AI Tool Resources</a:t>
            </a:r>
          </a:p>
        </p:txBody>
      </p:sp>
      <p:pic>
        <p:nvPicPr>
          <p:cNvPr id="41" name="Graphic 40">
            <a:extLst>
              <a:ext uri="{FF2B5EF4-FFF2-40B4-BE49-F238E27FC236}">
                <a16:creationId xmlns:a16="http://schemas.microsoft.com/office/drawing/2014/main" id="{CD5782B0-D4B2-C4BA-F3E7-838FF702CE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79070" y="3190128"/>
            <a:ext cx="459782" cy="459782"/>
          </a:xfrm>
          <a:prstGeom prst="rect">
            <a:avLst/>
          </a:prstGeom>
        </p:spPr>
      </p:pic>
      <p:pic>
        <p:nvPicPr>
          <p:cNvPr id="61" name="Picture 60" descr="A blue and pink ribbon&#10;&#10;Description automatically generated">
            <a:extLst>
              <a:ext uri="{FF2B5EF4-FFF2-40B4-BE49-F238E27FC236}">
                <a16:creationId xmlns:a16="http://schemas.microsoft.com/office/drawing/2014/main" id="{99B8E244-C7F9-5736-07B5-4441A0BA4788}"/>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551877" y="2788213"/>
            <a:ext cx="410915" cy="411020"/>
          </a:xfrm>
          <a:prstGeom prst="rect">
            <a:avLst/>
          </a:prstGeom>
        </p:spPr>
      </p:pic>
      <p:cxnSp>
        <p:nvCxnSpPr>
          <p:cNvPr id="67" name="Straight Arrow Connector 66">
            <a:extLst>
              <a:ext uri="{FF2B5EF4-FFF2-40B4-BE49-F238E27FC236}">
                <a16:creationId xmlns:a16="http://schemas.microsoft.com/office/drawing/2014/main" id="{69DD874A-4AE1-37A6-E27A-18C361731311}"/>
              </a:ext>
            </a:extLst>
          </p:cNvPr>
          <p:cNvCxnSpPr>
            <a:cxnSpLocks/>
          </p:cNvCxnSpPr>
          <p:nvPr/>
        </p:nvCxnSpPr>
        <p:spPr>
          <a:xfrm>
            <a:off x="3352473" y="3589728"/>
            <a:ext cx="1558653" cy="0"/>
          </a:xfrm>
          <a:prstGeom prst="straightConnector1">
            <a:avLst/>
          </a:prstGeom>
          <a:ln>
            <a:solidFill>
              <a:schemeClr val="bg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EB7909E6-B0E2-9D4B-C254-19111D2C610F}"/>
              </a:ext>
            </a:extLst>
          </p:cNvPr>
          <p:cNvCxnSpPr>
            <a:cxnSpLocks/>
          </p:cNvCxnSpPr>
          <p:nvPr/>
        </p:nvCxnSpPr>
        <p:spPr>
          <a:xfrm>
            <a:off x="7444365" y="4469500"/>
            <a:ext cx="837280" cy="0"/>
          </a:xfrm>
          <a:prstGeom prst="straightConnector1">
            <a:avLst/>
          </a:prstGeom>
          <a:ln>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48" name="Graphic 147">
            <a:extLst>
              <a:ext uri="{FF2B5EF4-FFF2-40B4-BE49-F238E27FC236}">
                <a16:creationId xmlns:a16="http://schemas.microsoft.com/office/drawing/2014/main" id="{BD60471E-CFB0-8BBE-12BC-6D2FA9B9ED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97795" y="4137116"/>
            <a:ext cx="369669" cy="369669"/>
          </a:xfrm>
          <a:prstGeom prst="rect">
            <a:avLst/>
          </a:prstGeom>
        </p:spPr>
      </p:pic>
      <p:pic>
        <p:nvPicPr>
          <p:cNvPr id="157" name="Graphic 156">
            <a:extLst>
              <a:ext uri="{FF2B5EF4-FFF2-40B4-BE49-F238E27FC236}">
                <a16:creationId xmlns:a16="http://schemas.microsoft.com/office/drawing/2014/main" id="{7AF126A4-D34B-ED26-F5F3-A4DA0058E6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89471" y="5036338"/>
            <a:ext cx="314960" cy="314960"/>
          </a:xfrm>
          <a:prstGeom prst="rect">
            <a:avLst/>
          </a:prstGeom>
        </p:spPr>
      </p:pic>
      <p:pic>
        <p:nvPicPr>
          <p:cNvPr id="7" name="Picture 6" descr="A blue square with a black star&#10;&#10;">
            <a:extLst>
              <a:ext uri="{FF2B5EF4-FFF2-40B4-BE49-F238E27FC236}">
                <a16:creationId xmlns:a16="http://schemas.microsoft.com/office/drawing/2014/main" id="{DA19D7A4-3167-850F-008B-83C37DB16399}"/>
              </a:ext>
            </a:extLst>
          </p:cNvPr>
          <p:cNvPicPr>
            <a:picLocks noChangeAspect="1"/>
          </p:cNvPicPr>
          <p:nvPr/>
        </p:nvPicPr>
        <p:blipFill>
          <a:blip r:embed="rId7"/>
          <a:stretch>
            <a:fillRect/>
          </a:stretch>
        </p:blipFill>
        <p:spPr>
          <a:xfrm>
            <a:off x="6553565" y="3312195"/>
            <a:ext cx="409027" cy="409027"/>
          </a:xfrm>
          <a:prstGeom prst="rect">
            <a:avLst/>
          </a:prstGeom>
        </p:spPr>
      </p:pic>
      <p:pic>
        <p:nvPicPr>
          <p:cNvPr id="8" name="Picture 7" descr="Bing logo transparent PNG - StickPNG">
            <a:extLst>
              <a:ext uri="{FF2B5EF4-FFF2-40B4-BE49-F238E27FC236}">
                <a16:creationId xmlns:a16="http://schemas.microsoft.com/office/drawing/2014/main" id="{C60A11EC-7DB3-BABE-011F-AA4488D8D7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8640" y="3124412"/>
            <a:ext cx="474742" cy="474742"/>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8B1C2A-1F87-4586-5651-6C1E4C70259F}"/>
              </a:ext>
            </a:extLst>
          </p:cNvPr>
          <p:cNvSpPr txBox="1"/>
          <p:nvPr/>
        </p:nvSpPr>
        <p:spPr>
          <a:xfrm>
            <a:off x="4928503" y="2542142"/>
            <a:ext cx="2233437" cy="307777"/>
          </a:xfrm>
          <a:prstGeom prst="rect">
            <a:avLst/>
          </a:prstGeom>
          <a:noFill/>
        </p:spPr>
        <p:txBody>
          <a:bodyPr wrap="square">
            <a:spAutoFit/>
          </a:bodyPr>
          <a:lstStyle/>
          <a:p>
            <a:pPr algn="ctr" defTabSz="932472" fontAlgn="base">
              <a:spcBef>
                <a:spcPct val="0"/>
              </a:spcBef>
              <a:spcAft>
                <a:spcPct val="0"/>
              </a:spcAft>
            </a:pPr>
            <a:r>
              <a:rPr lang="en-US" sz="1400">
                <a:gradFill>
                  <a:gsLst>
                    <a:gs pos="0">
                      <a:schemeClr val="tx2">
                        <a:lumMod val="20000"/>
                        <a:lumOff val="80000"/>
                      </a:schemeClr>
                    </a:gs>
                    <a:gs pos="100000">
                      <a:schemeClr val="accent4">
                        <a:lumMod val="60000"/>
                        <a:lumOff val="40000"/>
                      </a:schemeClr>
                    </a:gs>
                  </a:gsLst>
                  <a:lin ang="2700000" scaled="0"/>
                </a:gradFill>
                <a:latin typeface="+mj-lt"/>
              </a:rPr>
              <a:t>Azure AI Foundry Project</a:t>
            </a:r>
          </a:p>
        </p:txBody>
      </p:sp>
      <p:sp>
        <p:nvSpPr>
          <p:cNvPr id="37" name="Rectangle: Rounded Corners 18">
            <a:extLst>
              <a:ext uri="{FF2B5EF4-FFF2-40B4-BE49-F238E27FC236}">
                <a16:creationId xmlns:a16="http://schemas.microsoft.com/office/drawing/2014/main" id="{5B654A5C-C9AE-E30F-5035-AFF8AE9E31B9}"/>
              </a:ext>
              <a:ext uri="{C183D7F6-B498-43B3-948B-1728B52AA6E4}">
                <adec:decorative xmlns:adec="http://schemas.microsoft.com/office/drawing/2017/decorative" val="1"/>
              </a:ext>
            </a:extLst>
          </p:cNvPr>
          <p:cNvSpPr/>
          <p:nvPr/>
        </p:nvSpPr>
        <p:spPr>
          <a:xfrm>
            <a:off x="8364725" y="3308055"/>
            <a:ext cx="2804035" cy="2349895"/>
          </a:xfrm>
          <a:prstGeom prst="roundRect">
            <a:avLst>
              <a:gd name="adj" fmla="val 7478"/>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38" name="TextBox 37">
            <a:extLst>
              <a:ext uri="{FF2B5EF4-FFF2-40B4-BE49-F238E27FC236}">
                <a16:creationId xmlns:a16="http://schemas.microsoft.com/office/drawing/2014/main" id="{168EF620-9B94-7FC0-928E-AC456500D3F1}"/>
              </a:ext>
            </a:extLst>
          </p:cNvPr>
          <p:cNvSpPr txBox="1"/>
          <p:nvPr/>
        </p:nvSpPr>
        <p:spPr>
          <a:xfrm>
            <a:off x="9837140" y="5183343"/>
            <a:ext cx="1153240" cy="430887"/>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Storage Account</a:t>
            </a:r>
          </a:p>
        </p:txBody>
      </p:sp>
      <p:sp>
        <p:nvSpPr>
          <p:cNvPr id="39" name="TextBox 38">
            <a:extLst>
              <a:ext uri="{FF2B5EF4-FFF2-40B4-BE49-F238E27FC236}">
                <a16:creationId xmlns:a16="http://schemas.microsoft.com/office/drawing/2014/main" id="{0C5B84B4-829C-4841-6A25-68311C5E54C1}"/>
              </a:ext>
            </a:extLst>
          </p:cNvPr>
          <p:cNvSpPr txBox="1"/>
          <p:nvPr/>
        </p:nvSpPr>
        <p:spPr>
          <a:xfrm>
            <a:off x="8415774" y="4080856"/>
            <a:ext cx="1438194"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Cosmos DB</a:t>
            </a:r>
          </a:p>
        </p:txBody>
      </p:sp>
      <p:sp>
        <p:nvSpPr>
          <p:cNvPr id="42" name="TextBox 41">
            <a:extLst>
              <a:ext uri="{FF2B5EF4-FFF2-40B4-BE49-F238E27FC236}">
                <a16:creationId xmlns:a16="http://schemas.microsoft.com/office/drawing/2014/main" id="{A62B60CA-6999-EF0A-480B-A4DC135FBC57}"/>
              </a:ext>
            </a:extLst>
          </p:cNvPr>
          <p:cNvSpPr txBox="1"/>
          <p:nvPr/>
        </p:nvSpPr>
        <p:spPr>
          <a:xfrm>
            <a:off x="8481727" y="5183343"/>
            <a:ext cx="1333046"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AI Search </a:t>
            </a:r>
          </a:p>
        </p:txBody>
      </p:sp>
      <p:sp>
        <p:nvSpPr>
          <p:cNvPr id="44" name="TextBox 43">
            <a:extLst>
              <a:ext uri="{FF2B5EF4-FFF2-40B4-BE49-F238E27FC236}">
                <a16:creationId xmlns:a16="http://schemas.microsoft.com/office/drawing/2014/main" id="{5635E169-A213-D808-F292-2AF9F3A8C39A}"/>
              </a:ext>
            </a:extLst>
          </p:cNvPr>
          <p:cNvSpPr txBox="1"/>
          <p:nvPr/>
        </p:nvSpPr>
        <p:spPr>
          <a:xfrm>
            <a:off x="9657334" y="4080856"/>
            <a:ext cx="1512852"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Key Vault</a:t>
            </a:r>
          </a:p>
        </p:txBody>
      </p:sp>
      <p:pic>
        <p:nvPicPr>
          <p:cNvPr id="45" name="Graphic 44">
            <a:extLst>
              <a:ext uri="{FF2B5EF4-FFF2-40B4-BE49-F238E27FC236}">
                <a16:creationId xmlns:a16="http://schemas.microsoft.com/office/drawing/2014/main" id="{1A1E9BB3-8567-40B8-A5DB-62650059086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168871" y="4691589"/>
            <a:ext cx="502229" cy="502229"/>
          </a:xfrm>
          <a:prstGeom prst="rect">
            <a:avLst/>
          </a:prstGeom>
        </p:spPr>
      </p:pic>
      <p:pic>
        <p:nvPicPr>
          <p:cNvPr id="46" name="Picture 4" descr="Precios : Key Vault | Microsoft Azure">
            <a:extLst>
              <a:ext uri="{FF2B5EF4-FFF2-40B4-BE49-F238E27FC236}">
                <a16:creationId xmlns:a16="http://schemas.microsoft.com/office/drawing/2014/main" id="{D47C884E-EFE4-7520-C90A-44F1F2E43591}"/>
              </a:ext>
            </a:extLst>
          </p:cNvPr>
          <p:cNvPicPr>
            <a:picLocks noChangeAspect="1" noChangeArrowheads="1"/>
          </p:cNvPicPr>
          <p:nvPr/>
        </p:nvPicPr>
        <p:blipFill>
          <a:blip r:embed="rId10" cstate="hqprint">
            <a:extLst>
              <a:ext uri="{28A0092B-C50C-407E-A947-70E740481C1C}">
                <a14:useLocalDpi xmlns:a14="http://schemas.microsoft.com/office/drawing/2010/main"/>
              </a:ext>
            </a:extLst>
          </a:blip>
          <a:srcRect/>
          <a:stretch>
            <a:fillRect/>
          </a:stretch>
        </p:blipFill>
        <p:spPr bwMode="auto">
          <a:xfrm>
            <a:off x="9918965" y="3561322"/>
            <a:ext cx="989590" cy="51953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Azure Cosmos DB – グローバル分散データベース サービス | Microsoft Azure">
            <a:extLst>
              <a:ext uri="{FF2B5EF4-FFF2-40B4-BE49-F238E27FC236}">
                <a16:creationId xmlns:a16="http://schemas.microsoft.com/office/drawing/2014/main" id="{234D7D46-3C7E-D2E2-D5EA-6993825B572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51585" y="3568998"/>
            <a:ext cx="984031" cy="516616"/>
          </a:xfrm>
          <a:prstGeom prst="rect">
            <a:avLst/>
          </a:prstGeom>
          <a:noFill/>
          <a:extLst>
            <a:ext uri="{909E8E84-426E-40DD-AFC4-6F175D3DCCD1}">
              <a14:hiddenFill xmlns:a14="http://schemas.microsoft.com/office/drawing/2010/main">
                <a:solidFill>
                  <a:srgbClr val="FFFFFF"/>
                </a:solidFill>
              </a14:hiddenFill>
            </a:ext>
          </a:extLst>
        </p:spPr>
      </p:pic>
      <p:pic>
        <p:nvPicPr>
          <p:cNvPr id="48" name="Graphic 47">
            <a:extLst>
              <a:ext uri="{FF2B5EF4-FFF2-40B4-BE49-F238E27FC236}">
                <a16:creationId xmlns:a16="http://schemas.microsoft.com/office/drawing/2014/main" id="{B3826F44-EA6B-741B-1BC8-64EB0CB3B9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53221" y="4747013"/>
            <a:ext cx="459782" cy="459782"/>
          </a:xfrm>
          <a:prstGeom prst="rect">
            <a:avLst/>
          </a:prstGeom>
        </p:spPr>
      </p:pic>
      <p:sp>
        <p:nvSpPr>
          <p:cNvPr id="49" name="TextBox 48">
            <a:extLst>
              <a:ext uri="{FF2B5EF4-FFF2-40B4-BE49-F238E27FC236}">
                <a16:creationId xmlns:a16="http://schemas.microsoft.com/office/drawing/2014/main" id="{7BD3279F-0BD3-806B-89CA-B36AE136487D}"/>
              </a:ext>
            </a:extLst>
          </p:cNvPr>
          <p:cNvSpPr txBox="1"/>
          <p:nvPr/>
        </p:nvSpPr>
        <p:spPr>
          <a:xfrm>
            <a:off x="8756217" y="2958932"/>
            <a:ext cx="2055504" cy="307777"/>
          </a:xfrm>
          <a:prstGeom prst="rect">
            <a:avLst/>
          </a:prstGeom>
          <a:noFill/>
        </p:spPr>
        <p:txBody>
          <a:bodyPr wrap="square">
            <a:spAutoFit/>
          </a:bodyPr>
          <a:lstStyle/>
          <a:p>
            <a:pPr algn="ctr" defTabSz="932472" fontAlgn="base">
              <a:spcBef>
                <a:spcPct val="0"/>
              </a:spcBef>
              <a:spcAft>
                <a:spcPct val="0"/>
              </a:spcAft>
            </a:pPr>
            <a:r>
              <a:rPr lang="en-US" sz="1400">
                <a:gradFill>
                  <a:gsLst>
                    <a:gs pos="0">
                      <a:schemeClr val="tx2">
                        <a:lumMod val="20000"/>
                        <a:lumOff val="80000"/>
                      </a:schemeClr>
                    </a:gs>
                    <a:gs pos="100000">
                      <a:schemeClr val="accent4">
                        <a:lumMod val="60000"/>
                        <a:lumOff val="40000"/>
                      </a:schemeClr>
                    </a:gs>
                  </a:gsLst>
                  <a:lin ang="2700000" scaled="0"/>
                </a:gradFill>
                <a:latin typeface="+mj-lt"/>
              </a:rPr>
              <a:t>BYO Resources</a:t>
            </a:r>
          </a:p>
        </p:txBody>
      </p:sp>
      <p:sp>
        <p:nvSpPr>
          <p:cNvPr id="50" name="Rectangle: Rounded Corners 18">
            <a:extLst>
              <a:ext uri="{FF2B5EF4-FFF2-40B4-BE49-F238E27FC236}">
                <a16:creationId xmlns:a16="http://schemas.microsoft.com/office/drawing/2014/main" id="{1BD7405B-642F-DBE8-26C8-5E652444A8BE}"/>
              </a:ext>
              <a:ext uri="{C183D7F6-B498-43B3-948B-1728B52AA6E4}">
                <adec:decorative xmlns:adec="http://schemas.microsoft.com/office/drawing/2017/decorative" val="1"/>
              </a:ext>
            </a:extLst>
          </p:cNvPr>
          <p:cNvSpPr/>
          <p:nvPr/>
        </p:nvSpPr>
        <p:spPr>
          <a:xfrm>
            <a:off x="994909" y="4693801"/>
            <a:ext cx="2313973" cy="1270095"/>
          </a:xfrm>
          <a:prstGeom prst="roundRect">
            <a:avLst>
              <a:gd name="adj" fmla="val 7478"/>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pic>
        <p:nvPicPr>
          <p:cNvPr id="51" name="Picture 50" descr="Azure Container Apps - Visual Studio Marketplace">
            <a:extLst>
              <a:ext uri="{FF2B5EF4-FFF2-40B4-BE49-F238E27FC236}">
                <a16:creationId xmlns:a16="http://schemas.microsoft.com/office/drawing/2014/main" id="{CEB0E831-C3F1-3C43-F465-FC600CC6E1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9606" y="4923679"/>
            <a:ext cx="521018" cy="521018"/>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E8BF8166-C7A6-58B1-2B66-F48CFB78A77E}"/>
              </a:ext>
            </a:extLst>
          </p:cNvPr>
          <p:cNvSpPr txBox="1"/>
          <p:nvPr/>
        </p:nvSpPr>
        <p:spPr>
          <a:xfrm>
            <a:off x="920352" y="5489620"/>
            <a:ext cx="1218966"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Web UI</a:t>
            </a:r>
          </a:p>
        </p:txBody>
      </p:sp>
      <p:sp>
        <p:nvSpPr>
          <p:cNvPr id="54" name="TextBox 53">
            <a:extLst>
              <a:ext uri="{FF2B5EF4-FFF2-40B4-BE49-F238E27FC236}">
                <a16:creationId xmlns:a16="http://schemas.microsoft.com/office/drawing/2014/main" id="{E196808D-071C-E6D8-D2C7-CE284446A35E}"/>
              </a:ext>
            </a:extLst>
          </p:cNvPr>
          <p:cNvSpPr txBox="1"/>
          <p:nvPr/>
        </p:nvSpPr>
        <p:spPr>
          <a:xfrm>
            <a:off x="1124102" y="4369716"/>
            <a:ext cx="2055504" cy="307777"/>
          </a:xfrm>
          <a:prstGeom prst="rect">
            <a:avLst/>
          </a:prstGeom>
          <a:noFill/>
        </p:spPr>
        <p:txBody>
          <a:bodyPr wrap="square">
            <a:spAutoFit/>
          </a:bodyPr>
          <a:lstStyle/>
          <a:p>
            <a:pPr algn="ctr" defTabSz="932472" fontAlgn="base">
              <a:spcBef>
                <a:spcPct val="0"/>
              </a:spcBef>
              <a:spcAft>
                <a:spcPct val="0"/>
              </a:spcAft>
            </a:pPr>
            <a:r>
              <a:rPr lang="en-US" sz="1400">
                <a:gradFill>
                  <a:gsLst>
                    <a:gs pos="0">
                      <a:schemeClr val="tx2">
                        <a:lumMod val="20000"/>
                        <a:lumOff val="80000"/>
                      </a:schemeClr>
                    </a:gs>
                    <a:gs pos="100000">
                      <a:schemeClr val="accent4">
                        <a:lumMod val="60000"/>
                        <a:lumOff val="40000"/>
                      </a:schemeClr>
                    </a:gs>
                  </a:gsLst>
                  <a:lin ang="2700000" scaled="0"/>
                </a:gradFill>
                <a:latin typeface="+mj-lt"/>
              </a:rPr>
              <a:t>Azure Container Apps</a:t>
            </a:r>
          </a:p>
        </p:txBody>
      </p:sp>
      <p:pic>
        <p:nvPicPr>
          <p:cNvPr id="58" name="Picture 57" descr="Azure Container Apps - Visual Studio Marketplace">
            <a:extLst>
              <a:ext uri="{FF2B5EF4-FFF2-40B4-BE49-F238E27FC236}">
                <a16:creationId xmlns:a16="http://schemas.microsoft.com/office/drawing/2014/main" id="{C812EA79-B81F-7D7D-08B5-52DC1177FCD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6294" y="4923679"/>
            <a:ext cx="487063" cy="487063"/>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64565C5A-02C2-B249-09FB-A86369CC8728}"/>
              </a:ext>
            </a:extLst>
          </p:cNvPr>
          <p:cNvSpPr txBox="1"/>
          <p:nvPr/>
        </p:nvSpPr>
        <p:spPr>
          <a:xfrm>
            <a:off x="2012449" y="5497526"/>
            <a:ext cx="1218966"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Orchestrator</a:t>
            </a:r>
          </a:p>
        </p:txBody>
      </p:sp>
      <p:sp>
        <p:nvSpPr>
          <p:cNvPr id="68" name="Rectangle: Rounded Corners 18">
            <a:extLst>
              <a:ext uri="{FF2B5EF4-FFF2-40B4-BE49-F238E27FC236}">
                <a16:creationId xmlns:a16="http://schemas.microsoft.com/office/drawing/2014/main" id="{A7D81461-780C-F010-F39C-48B848616E29}"/>
              </a:ext>
              <a:ext uri="{C183D7F6-B498-43B3-948B-1728B52AA6E4}">
                <adec:decorative xmlns:adec="http://schemas.microsoft.com/office/drawing/2017/decorative" val="1"/>
              </a:ext>
            </a:extLst>
          </p:cNvPr>
          <p:cNvSpPr/>
          <p:nvPr/>
        </p:nvSpPr>
        <p:spPr>
          <a:xfrm>
            <a:off x="4984807" y="3323080"/>
            <a:ext cx="1016731" cy="2428150"/>
          </a:xfrm>
          <a:prstGeom prst="roundRect">
            <a:avLst>
              <a:gd name="adj" fmla="val 7478"/>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27" name="TextBox 26">
            <a:extLst>
              <a:ext uri="{FF2B5EF4-FFF2-40B4-BE49-F238E27FC236}">
                <a16:creationId xmlns:a16="http://schemas.microsoft.com/office/drawing/2014/main" id="{A74A0B6B-4F38-884D-4402-3740EB8B56E6}"/>
              </a:ext>
            </a:extLst>
          </p:cNvPr>
          <p:cNvSpPr txBox="1"/>
          <p:nvPr/>
        </p:nvSpPr>
        <p:spPr>
          <a:xfrm>
            <a:off x="4772100" y="4118337"/>
            <a:ext cx="1289257"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Agent</a:t>
            </a:r>
          </a:p>
        </p:txBody>
      </p:sp>
      <p:pic>
        <p:nvPicPr>
          <p:cNvPr id="4" name="Picture 3" descr="A colorful hexagon with stars">
            <a:extLst>
              <a:ext uri="{FF2B5EF4-FFF2-40B4-BE49-F238E27FC236}">
                <a16:creationId xmlns:a16="http://schemas.microsoft.com/office/drawing/2014/main" id="{EA7ADF96-56D5-9EAF-4271-54E2455A0B7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212424" y="3633210"/>
            <a:ext cx="493828" cy="493828"/>
          </a:xfrm>
          <a:prstGeom prst="rect">
            <a:avLst/>
          </a:prstGeom>
        </p:spPr>
      </p:pic>
      <p:sp>
        <p:nvSpPr>
          <p:cNvPr id="70" name="TextBox 69">
            <a:extLst>
              <a:ext uri="{FF2B5EF4-FFF2-40B4-BE49-F238E27FC236}">
                <a16:creationId xmlns:a16="http://schemas.microsoft.com/office/drawing/2014/main" id="{46F41ADE-0841-FF6C-6AC3-CA780FB02FAC}"/>
              </a:ext>
            </a:extLst>
          </p:cNvPr>
          <p:cNvSpPr txBox="1"/>
          <p:nvPr/>
        </p:nvSpPr>
        <p:spPr>
          <a:xfrm>
            <a:off x="4843614" y="5120733"/>
            <a:ext cx="1437708"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Threads</a:t>
            </a:r>
          </a:p>
        </p:txBody>
      </p:sp>
      <p:pic>
        <p:nvPicPr>
          <p:cNvPr id="71" name="Picture 70" descr="A colorful hexagon with stars">
            <a:extLst>
              <a:ext uri="{FF2B5EF4-FFF2-40B4-BE49-F238E27FC236}">
                <a16:creationId xmlns:a16="http://schemas.microsoft.com/office/drawing/2014/main" id="{4D1952BD-5400-4241-64A8-A458432C5A9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302986" y="4632978"/>
            <a:ext cx="493828" cy="493828"/>
          </a:xfrm>
          <a:prstGeom prst="rect">
            <a:avLst/>
          </a:prstGeom>
        </p:spPr>
      </p:pic>
      <p:sp>
        <p:nvSpPr>
          <p:cNvPr id="74" name="TextBox 73">
            <a:extLst>
              <a:ext uri="{FF2B5EF4-FFF2-40B4-BE49-F238E27FC236}">
                <a16:creationId xmlns:a16="http://schemas.microsoft.com/office/drawing/2014/main" id="{5886C0D8-DFB1-82CC-774E-A07B8B02CD05}"/>
              </a:ext>
            </a:extLst>
          </p:cNvPr>
          <p:cNvSpPr txBox="1"/>
          <p:nvPr/>
        </p:nvSpPr>
        <p:spPr>
          <a:xfrm>
            <a:off x="4925302" y="3044662"/>
            <a:ext cx="1119920" cy="261610"/>
          </a:xfrm>
          <a:prstGeom prst="rect">
            <a:avLst/>
          </a:prstGeom>
          <a:noFill/>
        </p:spPr>
        <p:txBody>
          <a:bodyPr wrap="square">
            <a:spAutoFit/>
          </a:bodyPr>
          <a:lstStyle/>
          <a:p>
            <a:pPr algn="ctr" defTabSz="932472" fontAlgn="base">
              <a:spcBef>
                <a:spcPct val="0"/>
              </a:spcBef>
              <a:spcAft>
                <a:spcPct val="0"/>
              </a:spcAft>
            </a:pPr>
            <a:r>
              <a:rPr lang="en-US" sz="1100">
                <a:solidFill>
                  <a:schemeClr val="bg1"/>
                </a:solidFill>
                <a:latin typeface="+mj-lt"/>
              </a:rPr>
              <a:t>Agents</a:t>
            </a:r>
          </a:p>
        </p:txBody>
      </p:sp>
      <p:cxnSp>
        <p:nvCxnSpPr>
          <p:cNvPr id="81" name="Straight Arrow Connector 80">
            <a:extLst>
              <a:ext uri="{FF2B5EF4-FFF2-40B4-BE49-F238E27FC236}">
                <a16:creationId xmlns:a16="http://schemas.microsoft.com/office/drawing/2014/main" id="{9D0E10A2-8AF6-D9E0-C662-C05CED979012}"/>
              </a:ext>
            </a:extLst>
          </p:cNvPr>
          <p:cNvCxnSpPr>
            <a:cxnSpLocks/>
          </p:cNvCxnSpPr>
          <p:nvPr/>
        </p:nvCxnSpPr>
        <p:spPr>
          <a:xfrm flipH="1" flipV="1">
            <a:off x="2997626" y="5148907"/>
            <a:ext cx="1907887" cy="3947"/>
          </a:xfrm>
          <a:prstGeom prst="straightConnector1">
            <a:avLst/>
          </a:prstGeom>
          <a:ln>
            <a:solidFill>
              <a:schemeClr val="bg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971404"/>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5D16B7D-2606-DA11-B594-5B62FD6A1F35}"/>
            </a:ext>
          </a:extLst>
        </p:cNvPr>
        <p:cNvGrpSpPr/>
        <p:nvPr/>
      </p:nvGrpSpPr>
      <p:grpSpPr>
        <a:xfrm>
          <a:off x="0" y="0"/>
          <a:ext cx="0" cy="0"/>
          <a:chOff x="0" y="0"/>
          <a:chExt cx="0" cy="0"/>
        </a:xfrm>
      </p:grpSpPr>
      <p:grpSp>
        <p:nvGrpSpPr>
          <p:cNvPr id="91" name="Group 90">
            <a:extLst>
              <a:ext uri="{FF2B5EF4-FFF2-40B4-BE49-F238E27FC236}">
                <a16:creationId xmlns:a16="http://schemas.microsoft.com/office/drawing/2014/main" id="{8C0BD516-5320-083C-DB98-B5775E206857}"/>
              </a:ext>
            </a:extLst>
          </p:cNvPr>
          <p:cNvGrpSpPr/>
          <p:nvPr/>
        </p:nvGrpSpPr>
        <p:grpSpPr>
          <a:xfrm>
            <a:off x="424648" y="1447258"/>
            <a:ext cx="11322852" cy="4953542"/>
            <a:chOff x="424648" y="1447258"/>
            <a:chExt cx="11322852" cy="4953542"/>
          </a:xfrm>
        </p:grpSpPr>
        <p:sp>
          <p:nvSpPr>
            <p:cNvPr id="2" name="Rectangle: Rounded Corners 1">
              <a:extLst>
                <a:ext uri="{FF2B5EF4-FFF2-40B4-BE49-F238E27FC236}">
                  <a16:creationId xmlns:a16="http://schemas.microsoft.com/office/drawing/2014/main" id="{BAC4B95B-A26B-A814-F8E0-EF0544EFEB9E}"/>
                </a:ext>
              </a:extLst>
            </p:cNvPr>
            <p:cNvSpPr/>
            <p:nvPr/>
          </p:nvSpPr>
          <p:spPr bwMode="auto">
            <a:xfrm>
              <a:off x="424648" y="1447258"/>
              <a:ext cx="11322852" cy="4953542"/>
            </a:xfrm>
            <a:prstGeom prst="roundRect">
              <a:avLst>
                <a:gd name="adj" fmla="val 3027"/>
              </a:avLst>
            </a:prstGeom>
            <a:gradFill flip="none" rotWithShape="1">
              <a:gsLst>
                <a:gs pos="0">
                  <a:srgbClr val="091F2C">
                    <a:alpha val="40000"/>
                  </a:srgbClr>
                </a:gs>
                <a:gs pos="85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Sans Text"/>
                <a:cs typeface="Segoe Sans Text" pitchFamily="2" charset="0"/>
              </a:endParaRPr>
            </a:p>
          </p:txBody>
        </p:sp>
        <p:sp>
          <p:nvSpPr>
            <p:cNvPr id="11" name="TextBox 10">
              <a:extLst>
                <a:ext uri="{FF2B5EF4-FFF2-40B4-BE49-F238E27FC236}">
                  <a16:creationId xmlns:a16="http://schemas.microsoft.com/office/drawing/2014/main" id="{5288434C-FD3D-8F3C-DC75-B48DE656114F}"/>
                </a:ext>
              </a:extLst>
            </p:cNvPr>
            <p:cNvSpPr txBox="1"/>
            <p:nvPr/>
          </p:nvSpPr>
          <p:spPr>
            <a:xfrm>
              <a:off x="559031" y="1498025"/>
              <a:ext cx="1844293" cy="307777"/>
            </a:xfrm>
            <a:prstGeom prst="rect">
              <a:avLst/>
            </a:prstGeom>
            <a:noFill/>
          </p:spPr>
          <p:txBody>
            <a:bodyPr wrap="square">
              <a:spAutoFit/>
            </a:bodyPr>
            <a:lstStyle/>
            <a:p>
              <a:pPr defTabSz="932472" fontAlgn="base">
                <a:spcBef>
                  <a:spcPct val="0"/>
                </a:spcBef>
                <a:spcAft>
                  <a:spcPct val="0"/>
                </a:spcAft>
              </a:pPr>
              <a:r>
                <a:rPr lang="en-US" sz="1400">
                  <a:gradFill>
                    <a:gsLst>
                      <a:gs pos="0">
                        <a:schemeClr val="tx2">
                          <a:lumMod val="20000"/>
                          <a:lumOff val="80000"/>
                        </a:schemeClr>
                      </a:gs>
                      <a:gs pos="100000">
                        <a:schemeClr val="accent4">
                          <a:lumMod val="60000"/>
                          <a:lumOff val="40000"/>
                        </a:schemeClr>
                      </a:gs>
                    </a:gsLst>
                    <a:lin ang="2700000" scaled="0"/>
                  </a:gradFill>
                  <a:latin typeface="+mj-lt"/>
                </a:rPr>
                <a:t>Subscription</a:t>
              </a:r>
            </a:p>
          </p:txBody>
        </p:sp>
      </p:grpSp>
      <p:sp>
        <p:nvSpPr>
          <p:cNvPr id="13" name="Title 1">
            <a:extLst>
              <a:ext uri="{FF2B5EF4-FFF2-40B4-BE49-F238E27FC236}">
                <a16:creationId xmlns:a16="http://schemas.microsoft.com/office/drawing/2014/main" id="{C89BCD19-A089-0112-FF82-F8A22559D667}"/>
              </a:ext>
            </a:extLst>
          </p:cNvPr>
          <p:cNvSpPr>
            <a:spLocks noGrp="1"/>
          </p:cNvSpPr>
          <p:nvPr>
            <p:ph type="title"/>
          </p:nvPr>
        </p:nvSpPr>
        <p:spPr/>
        <p:txBody>
          <a:bodyPr/>
          <a:lstStyle/>
          <a:p>
            <a:r>
              <a:rPr lang="en-US"/>
              <a:t>High Level Use Case POC architecture </a:t>
            </a:r>
          </a:p>
        </p:txBody>
      </p:sp>
      <p:sp>
        <p:nvSpPr>
          <p:cNvPr id="5" name="TextBox 4">
            <a:extLst>
              <a:ext uri="{FF2B5EF4-FFF2-40B4-BE49-F238E27FC236}">
                <a16:creationId xmlns:a16="http://schemas.microsoft.com/office/drawing/2014/main" id="{3B553839-F428-D534-937D-5A3CA0C234E0}"/>
              </a:ext>
            </a:extLst>
          </p:cNvPr>
          <p:cNvSpPr txBox="1"/>
          <p:nvPr/>
        </p:nvSpPr>
        <p:spPr>
          <a:xfrm>
            <a:off x="585216" y="829913"/>
            <a:ext cx="4677011" cy="2462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sz="1600"/>
          </a:p>
        </p:txBody>
      </p:sp>
      <p:grpSp>
        <p:nvGrpSpPr>
          <p:cNvPr id="89" name="Group 88">
            <a:extLst>
              <a:ext uri="{FF2B5EF4-FFF2-40B4-BE49-F238E27FC236}">
                <a16:creationId xmlns:a16="http://schemas.microsoft.com/office/drawing/2014/main" id="{7A681623-0D94-46BA-1CA2-5554933B36DB}"/>
              </a:ext>
            </a:extLst>
          </p:cNvPr>
          <p:cNvGrpSpPr/>
          <p:nvPr/>
        </p:nvGrpSpPr>
        <p:grpSpPr>
          <a:xfrm>
            <a:off x="557121" y="1884680"/>
            <a:ext cx="11049662" cy="4414486"/>
            <a:chOff x="557121" y="1884680"/>
            <a:chExt cx="11049662" cy="4414486"/>
          </a:xfrm>
        </p:grpSpPr>
        <p:sp>
          <p:nvSpPr>
            <p:cNvPr id="3" name="Rectangle: Rounded Corners 2">
              <a:extLst>
                <a:ext uri="{FF2B5EF4-FFF2-40B4-BE49-F238E27FC236}">
                  <a16:creationId xmlns:a16="http://schemas.microsoft.com/office/drawing/2014/main" id="{D1E35FB0-CA5B-203C-FC05-4AC07797839E}"/>
                </a:ext>
              </a:extLst>
            </p:cNvPr>
            <p:cNvSpPr/>
            <p:nvPr/>
          </p:nvSpPr>
          <p:spPr bwMode="auto">
            <a:xfrm>
              <a:off x="557121" y="1884680"/>
              <a:ext cx="11049662" cy="4414486"/>
            </a:xfrm>
            <a:prstGeom prst="roundRect">
              <a:avLst>
                <a:gd name="adj" fmla="val 2349"/>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0" name="TextBox 9">
              <a:extLst>
                <a:ext uri="{FF2B5EF4-FFF2-40B4-BE49-F238E27FC236}">
                  <a16:creationId xmlns:a16="http://schemas.microsoft.com/office/drawing/2014/main" id="{3E4FD308-366E-2013-1F3D-6A126F233872}"/>
                </a:ext>
              </a:extLst>
            </p:cNvPr>
            <p:cNvSpPr txBox="1"/>
            <p:nvPr/>
          </p:nvSpPr>
          <p:spPr>
            <a:xfrm>
              <a:off x="687166" y="1986478"/>
              <a:ext cx="2272384" cy="307777"/>
            </a:xfrm>
            <a:prstGeom prst="rect">
              <a:avLst/>
            </a:prstGeom>
            <a:noFill/>
          </p:spPr>
          <p:txBody>
            <a:bodyPr wrap="square">
              <a:spAutoFit/>
            </a:bodyPr>
            <a:lstStyle/>
            <a:p>
              <a:pPr defTabSz="932472" fontAlgn="base">
                <a:spcBef>
                  <a:spcPct val="0"/>
                </a:spcBef>
                <a:spcAft>
                  <a:spcPct val="0"/>
                </a:spcAft>
              </a:pPr>
              <a:r>
                <a:rPr lang="en-US" sz="1400">
                  <a:gradFill>
                    <a:gsLst>
                      <a:gs pos="0">
                        <a:schemeClr val="tx2">
                          <a:lumMod val="20000"/>
                          <a:lumOff val="80000"/>
                        </a:schemeClr>
                      </a:gs>
                      <a:gs pos="100000">
                        <a:schemeClr val="accent4">
                          <a:lumMod val="60000"/>
                          <a:lumOff val="40000"/>
                        </a:schemeClr>
                      </a:gs>
                    </a:gsLst>
                    <a:lin ang="2700000" scaled="0"/>
                  </a:gradFill>
                  <a:latin typeface="+mj-lt"/>
                </a:rPr>
                <a:t>Resource Group</a:t>
              </a:r>
            </a:p>
          </p:txBody>
        </p:sp>
      </p:grpSp>
      <p:grpSp>
        <p:nvGrpSpPr>
          <p:cNvPr id="166" name="Group 165">
            <a:extLst>
              <a:ext uri="{FF2B5EF4-FFF2-40B4-BE49-F238E27FC236}">
                <a16:creationId xmlns:a16="http://schemas.microsoft.com/office/drawing/2014/main" id="{E4958E95-C062-E25C-3891-3ECD6ABFB9E0}"/>
              </a:ext>
            </a:extLst>
          </p:cNvPr>
          <p:cNvGrpSpPr/>
          <p:nvPr/>
        </p:nvGrpSpPr>
        <p:grpSpPr>
          <a:xfrm>
            <a:off x="719137" y="2398148"/>
            <a:ext cx="10726273" cy="3761352"/>
            <a:chOff x="719137" y="2398148"/>
            <a:chExt cx="10726273" cy="3761352"/>
          </a:xfrm>
        </p:grpSpPr>
        <p:grpSp>
          <p:nvGrpSpPr>
            <p:cNvPr id="88" name="Group 87">
              <a:extLst>
                <a:ext uri="{FF2B5EF4-FFF2-40B4-BE49-F238E27FC236}">
                  <a16:creationId xmlns:a16="http://schemas.microsoft.com/office/drawing/2014/main" id="{B5481449-48E8-6E1A-41E4-14DBB361FF8D}"/>
                </a:ext>
              </a:extLst>
            </p:cNvPr>
            <p:cNvGrpSpPr/>
            <p:nvPr/>
          </p:nvGrpSpPr>
          <p:grpSpPr>
            <a:xfrm>
              <a:off x="719137" y="2398148"/>
              <a:ext cx="10726273" cy="3761352"/>
              <a:chOff x="719137" y="2398148"/>
              <a:chExt cx="10726273" cy="3761352"/>
            </a:xfrm>
          </p:grpSpPr>
          <p:sp>
            <p:nvSpPr>
              <p:cNvPr id="6" name="Rectangle: Rounded Corners 5" descr="The Exercise one architecture concept diagram that shows the AI Services of Azure OpenAI, Llama-2, AI Search, and Content Safety as connected resource to the AI Hub. The AI Hub includes Azure Compute, Key Vault, Connections, and Storage Account with a 1 to many connection to AI Project with Project Scoped Connections, Deployments, Prompt Flow, Search index. AI Hub and AI Project are in Azure Studio. All of this is inside the Resource Group inside the Subscription.">
                <a:extLst>
                  <a:ext uri="{FF2B5EF4-FFF2-40B4-BE49-F238E27FC236}">
                    <a16:creationId xmlns:a16="http://schemas.microsoft.com/office/drawing/2014/main" id="{A04D1398-27A0-6E8D-2258-5E49538A1CEF}"/>
                  </a:ext>
                </a:extLst>
              </p:cNvPr>
              <p:cNvSpPr/>
              <p:nvPr/>
            </p:nvSpPr>
            <p:spPr bwMode="auto">
              <a:xfrm>
                <a:off x="719137" y="2398148"/>
                <a:ext cx="10726273" cy="3761352"/>
              </a:xfrm>
              <a:prstGeom prst="roundRect">
                <a:avLst>
                  <a:gd name="adj" fmla="val 1811"/>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Sans Text"/>
                  <a:cs typeface="Segoe Sans Text" pitchFamily="2" charset="0"/>
                </a:endParaRPr>
              </a:p>
            </p:txBody>
          </p:sp>
          <p:sp>
            <p:nvSpPr>
              <p:cNvPr id="12" name="Rectangle: Rounded Corners 18">
                <a:extLst>
                  <a:ext uri="{FF2B5EF4-FFF2-40B4-BE49-F238E27FC236}">
                    <a16:creationId xmlns:a16="http://schemas.microsoft.com/office/drawing/2014/main" id="{8FE4C522-FBC8-D1F0-BB10-4B76E28A8A5C}"/>
                  </a:ext>
                  <a:ext uri="{C183D7F6-B498-43B3-948B-1728B52AA6E4}">
                    <adec:decorative xmlns:adec="http://schemas.microsoft.com/office/drawing/2017/decorative" val="1"/>
                  </a:ext>
                </a:extLst>
              </p:cNvPr>
              <p:cNvSpPr/>
              <p:nvPr/>
            </p:nvSpPr>
            <p:spPr>
              <a:xfrm>
                <a:off x="987209" y="3375263"/>
                <a:ext cx="2313973" cy="2494704"/>
              </a:xfrm>
              <a:prstGeom prst="roundRect">
                <a:avLst>
                  <a:gd name="adj" fmla="val 7478"/>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4" name="Rectangle: Rounded Corners 18">
                <a:extLst>
                  <a:ext uri="{FF2B5EF4-FFF2-40B4-BE49-F238E27FC236}">
                    <a16:creationId xmlns:a16="http://schemas.microsoft.com/office/drawing/2014/main" id="{5916AE5B-68F1-A24C-552A-926B5E528A19}"/>
                  </a:ext>
                  <a:ext uri="{C183D7F6-B498-43B3-948B-1728B52AA6E4}">
                    <adec:decorative xmlns:adec="http://schemas.microsoft.com/office/drawing/2017/decorative" val="1"/>
                  </a:ext>
                </a:extLst>
              </p:cNvPr>
              <p:cNvSpPr/>
              <p:nvPr/>
            </p:nvSpPr>
            <p:spPr>
              <a:xfrm>
                <a:off x="4284735" y="2946650"/>
                <a:ext cx="6917475" cy="2923317"/>
              </a:xfrm>
              <a:prstGeom prst="roundRect">
                <a:avLst>
                  <a:gd name="adj" fmla="val 7478"/>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5" name="Rectangle: Rounded Corners 18">
                <a:extLst>
                  <a:ext uri="{FF2B5EF4-FFF2-40B4-BE49-F238E27FC236}">
                    <a16:creationId xmlns:a16="http://schemas.microsoft.com/office/drawing/2014/main" id="{FDBEBFCC-1C1C-DAB0-61E4-1B6F78A0CFF2}"/>
                  </a:ext>
                  <a:ext uri="{C183D7F6-B498-43B3-948B-1728B52AA6E4}">
                    <adec:decorative xmlns:adec="http://schemas.microsoft.com/office/drawing/2017/decorative" val="1"/>
                  </a:ext>
                </a:extLst>
              </p:cNvPr>
              <p:cNvSpPr/>
              <p:nvPr/>
            </p:nvSpPr>
            <p:spPr>
              <a:xfrm>
                <a:off x="4473720" y="3375263"/>
                <a:ext cx="2804035" cy="2349895"/>
              </a:xfrm>
              <a:prstGeom prst="roundRect">
                <a:avLst>
                  <a:gd name="adj" fmla="val 7478"/>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6" name="Rectangle: Rounded Corners 18">
                <a:extLst>
                  <a:ext uri="{FF2B5EF4-FFF2-40B4-BE49-F238E27FC236}">
                    <a16:creationId xmlns:a16="http://schemas.microsoft.com/office/drawing/2014/main" id="{28596307-DAB4-3462-46B8-D3A2FC75452E}"/>
                  </a:ext>
                  <a:ext uri="{C183D7F6-B498-43B3-948B-1728B52AA6E4}">
                    <adec:decorative xmlns:adec="http://schemas.microsoft.com/office/drawing/2017/decorative" val="1"/>
                  </a:ext>
                </a:extLst>
              </p:cNvPr>
              <p:cNvSpPr/>
              <p:nvPr/>
            </p:nvSpPr>
            <p:spPr>
              <a:xfrm>
                <a:off x="8182120" y="3375263"/>
                <a:ext cx="2804035" cy="2349895"/>
              </a:xfrm>
              <a:prstGeom prst="roundRect">
                <a:avLst>
                  <a:gd name="adj" fmla="val 7478"/>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17" name="TextBox 16">
                <a:extLst>
                  <a:ext uri="{FF2B5EF4-FFF2-40B4-BE49-F238E27FC236}">
                    <a16:creationId xmlns:a16="http://schemas.microsoft.com/office/drawing/2014/main" id="{32ACA822-3B73-A0AA-E634-8824933F037C}"/>
                  </a:ext>
                </a:extLst>
              </p:cNvPr>
              <p:cNvSpPr txBox="1"/>
              <p:nvPr/>
            </p:nvSpPr>
            <p:spPr>
              <a:xfrm>
                <a:off x="842269" y="5250551"/>
                <a:ext cx="1296937"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AI Search</a:t>
                </a:r>
              </a:p>
            </p:txBody>
          </p:sp>
          <p:sp>
            <p:nvSpPr>
              <p:cNvPr id="18" name="TextBox 17">
                <a:extLst>
                  <a:ext uri="{FF2B5EF4-FFF2-40B4-BE49-F238E27FC236}">
                    <a16:creationId xmlns:a16="http://schemas.microsoft.com/office/drawing/2014/main" id="{3BDDEED9-3622-AC06-F9EB-11035EBFB206}"/>
                  </a:ext>
                </a:extLst>
              </p:cNvPr>
              <p:cNvSpPr txBox="1"/>
              <p:nvPr/>
            </p:nvSpPr>
            <p:spPr>
              <a:xfrm>
                <a:off x="872152" y="4148064"/>
                <a:ext cx="1218966" cy="430887"/>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Azure</a:t>
                </a:r>
                <a:br>
                  <a:rPr lang="en-US" sz="1100" b="1">
                    <a:solidFill>
                      <a:schemeClr val="bg1"/>
                    </a:solidFill>
                    <a:latin typeface="Segoe Sans Text" pitchFamily="2" charset="0"/>
                    <a:cs typeface="Segoe Sans Text" pitchFamily="2" charset="0"/>
                  </a:rPr>
                </a:br>
                <a:r>
                  <a:rPr lang="en-US" sz="1100" b="1">
                    <a:solidFill>
                      <a:schemeClr val="bg1"/>
                    </a:solidFill>
                    <a:latin typeface="Segoe Sans Text" pitchFamily="2" charset="0"/>
                    <a:cs typeface="Segoe Sans Text" pitchFamily="2" charset="0"/>
                  </a:rPr>
                  <a:t>OpenAI</a:t>
                </a:r>
              </a:p>
            </p:txBody>
          </p:sp>
          <p:sp>
            <p:nvSpPr>
              <p:cNvPr id="19" name="TextBox 18">
                <a:extLst>
                  <a:ext uri="{FF2B5EF4-FFF2-40B4-BE49-F238E27FC236}">
                    <a16:creationId xmlns:a16="http://schemas.microsoft.com/office/drawing/2014/main" id="{ACFD33BF-1FAA-0B76-85C9-F2FBF0ACB475}"/>
                  </a:ext>
                </a:extLst>
              </p:cNvPr>
              <p:cNvSpPr txBox="1"/>
              <p:nvPr/>
            </p:nvSpPr>
            <p:spPr>
              <a:xfrm>
                <a:off x="5946135" y="5250551"/>
                <a:ext cx="1153240" cy="430887"/>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Storage Account</a:t>
                </a:r>
              </a:p>
            </p:txBody>
          </p:sp>
          <p:sp>
            <p:nvSpPr>
              <p:cNvPr id="25" name="TextBox 24">
                <a:extLst>
                  <a:ext uri="{FF2B5EF4-FFF2-40B4-BE49-F238E27FC236}">
                    <a16:creationId xmlns:a16="http://schemas.microsoft.com/office/drawing/2014/main" id="{8C7C6EB1-EFB6-053F-B299-4B1B3D56C20F}"/>
                  </a:ext>
                </a:extLst>
              </p:cNvPr>
              <p:cNvSpPr txBox="1"/>
              <p:nvPr/>
            </p:nvSpPr>
            <p:spPr>
              <a:xfrm>
                <a:off x="1924569" y="5250551"/>
                <a:ext cx="1438194"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Content Safety</a:t>
                </a:r>
              </a:p>
            </p:txBody>
          </p:sp>
          <p:sp>
            <p:nvSpPr>
              <p:cNvPr id="26" name="TextBox 25">
                <a:extLst>
                  <a:ext uri="{FF2B5EF4-FFF2-40B4-BE49-F238E27FC236}">
                    <a16:creationId xmlns:a16="http://schemas.microsoft.com/office/drawing/2014/main" id="{D869757C-B4EB-24A7-2E0D-F4A2514470D6}"/>
                  </a:ext>
                </a:extLst>
              </p:cNvPr>
              <p:cNvSpPr txBox="1"/>
              <p:nvPr/>
            </p:nvSpPr>
            <p:spPr>
              <a:xfrm>
                <a:off x="2034183" y="4148064"/>
                <a:ext cx="1218966" cy="261610"/>
              </a:xfrm>
              <a:prstGeom prst="rect">
                <a:avLst/>
              </a:prstGeom>
              <a:noFill/>
            </p:spPr>
            <p:txBody>
              <a:bodyPr wrap="square" lIns="91440" tIns="45720" rIns="91440" bIns="45720" anchor="t">
                <a:spAutoFit/>
              </a:bodyPr>
              <a:lstStyle/>
              <a:p>
                <a:pPr algn="ctr" defTabSz="932472">
                  <a:spcBef>
                    <a:spcPct val="0"/>
                  </a:spcBef>
                  <a:spcAft>
                    <a:spcPct val="0"/>
                  </a:spcAft>
                </a:pPr>
                <a:r>
                  <a:rPr lang="en-US" sz="1100" b="1">
                    <a:solidFill>
                      <a:schemeClr val="bg1"/>
                    </a:solidFill>
                    <a:latin typeface="Segoe Sans Text" pitchFamily="2" charset="0"/>
                    <a:cs typeface="Segoe Sans Text" pitchFamily="2" charset="0"/>
                  </a:rPr>
                  <a:t>Phi-3.5-mini</a:t>
                </a:r>
              </a:p>
            </p:txBody>
          </p:sp>
          <p:sp>
            <p:nvSpPr>
              <p:cNvPr id="27" name="TextBox 26">
                <a:extLst>
                  <a:ext uri="{FF2B5EF4-FFF2-40B4-BE49-F238E27FC236}">
                    <a16:creationId xmlns:a16="http://schemas.microsoft.com/office/drawing/2014/main" id="{D9C4C295-4F25-ACC7-0260-E38A4A88E39F}"/>
                  </a:ext>
                </a:extLst>
              </p:cNvPr>
              <p:cNvSpPr txBox="1"/>
              <p:nvPr/>
            </p:nvSpPr>
            <p:spPr>
              <a:xfrm>
                <a:off x="8268574" y="4148064"/>
                <a:ext cx="1437708" cy="430887"/>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Project Scoped Connections</a:t>
                </a:r>
              </a:p>
            </p:txBody>
          </p:sp>
          <p:sp>
            <p:nvSpPr>
              <p:cNvPr id="28" name="TextBox 27">
                <a:extLst>
                  <a:ext uri="{FF2B5EF4-FFF2-40B4-BE49-F238E27FC236}">
                    <a16:creationId xmlns:a16="http://schemas.microsoft.com/office/drawing/2014/main" id="{EE190E31-25E7-7F9F-6680-AC8EFD59F744}"/>
                  </a:ext>
                </a:extLst>
              </p:cNvPr>
              <p:cNvSpPr txBox="1"/>
              <p:nvPr/>
            </p:nvSpPr>
            <p:spPr>
              <a:xfrm>
                <a:off x="9682760" y="4148064"/>
                <a:ext cx="1250026"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Deployments</a:t>
                </a:r>
              </a:p>
            </p:txBody>
          </p:sp>
          <p:sp>
            <p:nvSpPr>
              <p:cNvPr id="29" name="TextBox 28">
                <a:extLst>
                  <a:ext uri="{FF2B5EF4-FFF2-40B4-BE49-F238E27FC236}">
                    <a16:creationId xmlns:a16="http://schemas.microsoft.com/office/drawing/2014/main" id="{B78D1384-9F72-DBDB-BD68-D4E8ADA4EBC2}"/>
                  </a:ext>
                </a:extLst>
              </p:cNvPr>
              <p:cNvSpPr txBox="1"/>
              <p:nvPr/>
            </p:nvSpPr>
            <p:spPr>
              <a:xfrm>
                <a:off x="8335106" y="5250551"/>
                <a:ext cx="1304644"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Prompt Flow</a:t>
                </a:r>
              </a:p>
            </p:txBody>
          </p:sp>
          <p:sp>
            <p:nvSpPr>
              <p:cNvPr id="30" name="TextBox 29">
                <a:extLst>
                  <a:ext uri="{FF2B5EF4-FFF2-40B4-BE49-F238E27FC236}">
                    <a16:creationId xmlns:a16="http://schemas.microsoft.com/office/drawing/2014/main" id="{24D88922-53C3-2B92-4C25-FD38D52C37F7}"/>
                  </a:ext>
                </a:extLst>
              </p:cNvPr>
              <p:cNvSpPr txBox="1"/>
              <p:nvPr/>
            </p:nvSpPr>
            <p:spPr>
              <a:xfrm>
                <a:off x="4524769" y="4148064"/>
                <a:ext cx="1438194"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Azure Compute</a:t>
                </a:r>
              </a:p>
            </p:txBody>
          </p:sp>
          <p:sp>
            <p:nvSpPr>
              <p:cNvPr id="31" name="TextBox 30">
                <a:extLst>
                  <a:ext uri="{FF2B5EF4-FFF2-40B4-BE49-F238E27FC236}">
                    <a16:creationId xmlns:a16="http://schemas.microsoft.com/office/drawing/2014/main" id="{DA516CB6-645F-1422-B27D-C71BE30568BF}"/>
                  </a:ext>
                </a:extLst>
              </p:cNvPr>
              <p:cNvSpPr txBox="1"/>
              <p:nvPr/>
            </p:nvSpPr>
            <p:spPr>
              <a:xfrm>
                <a:off x="4590722" y="5250551"/>
                <a:ext cx="1333046"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Connections </a:t>
                </a:r>
              </a:p>
            </p:txBody>
          </p:sp>
          <p:sp>
            <p:nvSpPr>
              <p:cNvPr id="32" name="TextBox 31">
                <a:extLst>
                  <a:ext uri="{FF2B5EF4-FFF2-40B4-BE49-F238E27FC236}">
                    <a16:creationId xmlns:a16="http://schemas.microsoft.com/office/drawing/2014/main" id="{25869F41-EDAD-BE0E-41AA-2003BAFE5ABC}"/>
                  </a:ext>
                </a:extLst>
              </p:cNvPr>
              <p:cNvSpPr txBox="1"/>
              <p:nvPr/>
            </p:nvSpPr>
            <p:spPr>
              <a:xfrm>
                <a:off x="9719422" y="5250551"/>
                <a:ext cx="1176702"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Search index</a:t>
                </a:r>
              </a:p>
            </p:txBody>
          </p:sp>
          <p:sp>
            <p:nvSpPr>
              <p:cNvPr id="33" name="TextBox 32">
                <a:extLst>
                  <a:ext uri="{FF2B5EF4-FFF2-40B4-BE49-F238E27FC236}">
                    <a16:creationId xmlns:a16="http://schemas.microsoft.com/office/drawing/2014/main" id="{AFBDF35F-AD54-312E-4932-11FB258BFB3E}"/>
                  </a:ext>
                </a:extLst>
              </p:cNvPr>
              <p:cNvSpPr txBox="1"/>
              <p:nvPr/>
            </p:nvSpPr>
            <p:spPr>
              <a:xfrm>
                <a:off x="5766329" y="4148064"/>
                <a:ext cx="1512852" cy="261610"/>
              </a:xfrm>
              <a:prstGeom prst="rect">
                <a:avLst/>
              </a:prstGeom>
              <a:noFill/>
            </p:spPr>
            <p:txBody>
              <a:bodyPr wrap="square">
                <a:spAutoFit/>
              </a:bodyPr>
              <a:lstStyle/>
              <a:p>
                <a:pPr algn="ctr" defTabSz="932472" fontAlgn="base">
                  <a:spcBef>
                    <a:spcPct val="0"/>
                  </a:spcBef>
                  <a:spcAft>
                    <a:spcPct val="0"/>
                  </a:spcAft>
                </a:pPr>
                <a:r>
                  <a:rPr lang="en-US" sz="1100" b="1">
                    <a:solidFill>
                      <a:schemeClr val="bg1"/>
                    </a:solidFill>
                    <a:latin typeface="Segoe Sans Text" pitchFamily="2" charset="0"/>
                    <a:cs typeface="Segoe Sans Text" pitchFamily="2" charset="0"/>
                  </a:rPr>
                  <a:t>Key Vault</a:t>
                </a:r>
              </a:p>
            </p:txBody>
          </p:sp>
          <p:sp>
            <p:nvSpPr>
              <p:cNvPr id="34" name="TextBox 33">
                <a:extLst>
                  <a:ext uri="{FF2B5EF4-FFF2-40B4-BE49-F238E27FC236}">
                    <a16:creationId xmlns:a16="http://schemas.microsoft.com/office/drawing/2014/main" id="{107C35A1-FE61-A996-8FEC-51D19AD32742}"/>
                  </a:ext>
                </a:extLst>
              </p:cNvPr>
              <p:cNvSpPr txBox="1"/>
              <p:nvPr/>
            </p:nvSpPr>
            <p:spPr>
              <a:xfrm>
                <a:off x="4804258" y="3002839"/>
                <a:ext cx="2055504" cy="307777"/>
              </a:xfrm>
              <a:prstGeom prst="rect">
                <a:avLst/>
              </a:prstGeom>
              <a:noFill/>
            </p:spPr>
            <p:txBody>
              <a:bodyPr wrap="square">
                <a:spAutoFit/>
              </a:bodyPr>
              <a:lstStyle/>
              <a:p>
                <a:pPr algn="ctr" defTabSz="932472" fontAlgn="base">
                  <a:spcBef>
                    <a:spcPct val="0"/>
                  </a:spcBef>
                  <a:spcAft>
                    <a:spcPct val="0"/>
                  </a:spcAft>
                </a:pPr>
                <a:r>
                  <a:rPr lang="en-US" sz="1400">
                    <a:solidFill>
                      <a:schemeClr val="bg1"/>
                    </a:solidFill>
                    <a:latin typeface="+mj-lt"/>
                  </a:rPr>
                  <a:t>AI Hub</a:t>
                </a:r>
              </a:p>
            </p:txBody>
          </p:sp>
          <p:sp>
            <p:nvSpPr>
              <p:cNvPr id="35" name="TextBox 34">
                <a:extLst>
                  <a:ext uri="{FF2B5EF4-FFF2-40B4-BE49-F238E27FC236}">
                    <a16:creationId xmlns:a16="http://schemas.microsoft.com/office/drawing/2014/main" id="{D5E57063-858C-3405-CCAF-278F7E1F6008}"/>
                  </a:ext>
                </a:extLst>
              </p:cNvPr>
              <p:cNvSpPr txBox="1"/>
              <p:nvPr/>
            </p:nvSpPr>
            <p:spPr>
              <a:xfrm>
                <a:off x="8413809" y="3002839"/>
                <a:ext cx="2337929" cy="307777"/>
              </a:xfrm>
              <a:prstGeom prst="rect">
                <a:avLst/>
              </a:prstGeom>
              <a:noFill/>
            </p:spPr>
            <p:txBody>
              <a:bodyPr wrap="square">
                <a:spAutoFit/>
              </a:bodyPr>
              <a:lstStyle/>
              <a:p>
                <a:pPr algn="ctr" defTabSz="932472" fontAlgn="base">
                  <a:spcBef>
                    <a:spcPct val="0"/>
                  </a:spcBef>
                  <a:spcAft>
                    <a:spcPct val="0"/>
                  </a:spcAft>
                </a:pPr>
                <a:r>
                  <a:rPr lang="en-US" sz="1400">
                    <a:solidFill>
                      <a:schemeClr val="bg1"/>
                    </a:solidFill>
                    <a:latin typeface="+mj-lt"/>
                  </a:rPr>
                  <a:t>AI Project</a:t>
                </a:r>
              </a:p>
            </p:txBody>
          </p:sp>
          <p:sp>
            <p:nvSpPr>
              <p:cNvPr id="40" name="TextBox 39">
                <a:extLst>
                  <a:ext uri="{FF2B5EF4-FFF2-40B4-BE49-F238E27FC236}">
                    <a16:creationId xmlns:a16="http://schemas.microsoft.com/office/drawing/2014/main" id="{9354CC6B-AE81-1EAD-FFBF-A66B31AF632A}"/>
                  </a:ext>
                </a:extLst>
              </p:cNvPr>
              <p:cNvSpPr txBox="1"/>
              <p:nvPr/>
            </p:nvSpPr>
            <p:spPr>
              <a:xfrm>
                <a:off x="1095071" y="3002839"/>
                <a:ext cx="2055504" cy="307777"/>
              </a:xfrm>
              <a:prstGeom prst="rect">
                <a:avLst/>
              </a:prstGeom>
              <a:noFill/>
            </p:spPr>
            <p:txBody>
              <a:bodyPr wrap="square">
                <a:spAutoFit/>
              </a:bodyPr>
              <a:lstStyle/>
              <a:p>
                <a:pPr algn="ctr" defTabSz="932472" fontAlgn="base">
                  <a:spcBef>
                    <a:spcPct val="0"/>
                  </a:spcBef>
                  <a:spcAft>
                    <a:spcPct val="0"/>
                  </a:spcAft>
                </a:pPr>
                <a:r>
                  <a:rPr lang="en-US" sz="1400">
                    <a:gradFill>
                      <a:gsLst>
                        <a:gs pos="0">
                          <a:schemeClr val="tx2">
                            <a:lumMod val="20000"/>
                            <a:lumOff val="80000"/>
                          </a:schemeClr>
                        </a:gs>
                        <a:gs pos="100000">
                          <a:schemeClr val="accent4">
                            <a:lumMod val="60000"/>
                            <a:lumOff val="40000"/>
                          </a:schemeClr>
                        </a:gs>
                      </a:gsLst>
                      <a:lin ang="2700000" scaled="0"/>
                    </a:gradFill>
                    <a:latin typeface="+mj-lt"/>
                  </a:rPr>
                  <a:t>AI Services</a:t>
                </a:r>
              </a:p>
            </p:txBody>
          </p:sp>
          <p:pic>
            <p:nvPicPr>
              <p:cNvPr id="41" name="Graphic 40">
                <a:extLst>
                  <a:ext uri="{FF2B5EF4-FFF2-40B4-BE49-F238E27FC236}">
                    <a16:creationId xmlns:a16="http://schemas.microsoft.com/office/drawing/2014/main" id="{65242ABB-9215-DD66-0EA2-5809D015D9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86407" y="4815381"/>
                <a:ext cx="459782" cy="459782"/>
              </a:xfrm>
              <a:prstGeom prst="rect">
                <a:avLst/>
              </a:prstGeom>
            </p:spPr>
          </p:pic>
          <p:pic>
            <p:nvPicPr>
              <p:cNvPr id="43" name="Graphic 42">
                <a:extLst>
                  <a:ext uri="{FF2B5EF4-FFF2-40B4-BE49-F238E27FC236}">
                    <a16:creationId xmlns:a16="http://schemas.microsoft.com/office/drawing/2014/main" id="{E6341F6C-15B5-6BBB-A332-DE3A9B4138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77866" y="4758797"/>
                <a:ext cx="502229" cy="502229"/>
              </a:xfrm>
              <a:prstGeom prst="rect">
                <a:avLst/>
              </a:prstGeom>
            </p:spPr>
          </p:pic>
          <p:pic>
            <p:nvPicPr>
              <p:cNvPr id="55" name="Picture 2" descr="Upload a VHD to Azure and create a virtual machine - Stephanie Kahlam">
                <a:extLst>
                  <a:ext uri="{FF2B5EF4-FFF2-40B4-BE49-F238E27FC236}">
                    <a16:creationId xmlns:a16="http://schemas.microsoft.com/office/drawing/2014/main" id="{19472F61-F323-4B8A-3306-74070B176833}"/>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5016165" y="3680477"/>
                <a:ext cx="458836" cy="458836"/>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12" descr="Azure Machine Learning Service Logo PNG Vector (AI, PDF, SVG) Free Download">
                <a:extLst>
                  <a:ext uri="{FF2B5EF4-FFF2-40B4-BE49-F238E27FC236}">
                    <a16:creationId xmlns:a16="http://schemas.microsoft.com/office/drawing/2014/main" id="{6288C09C-58C5-4017-8DEA-A9F81ED63B5B}"/>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10159612" y="3765671"/>
                <a:ext cx="327978" cy="351405"/>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C5BB2B0A-6C3A-CEAB-1298-AD34E64B6ADF}"/>
                  </a:ext>
                </a:extLst>
              </p:cNvPr>
              <p:cNvSpPr txBox="1"/>
              <p:nvPr/>
            </p:nvSpPr>
            <p:spPr>
              <a:xfrm>
                <a:off x="9639750" y="2518511"/>
                <a:ext cx="1653248" cy="307777"/>
              </a:xfrm>
              <a:prstGeom prst="rect">
                <a:avLst/>
              </a:prstGeom>
              <a:noFill/>
            </p:spPr>
            <p:txBody>
              <a:bodyPr wrap="square">
                <a:spAutoFit/>
              </a:bodyPr>
              <a:lstStyle/>
              <a:p>
                <a:pPr algn="r" defTabSz="932472" fontAlgn="base">
                  <a:spcBef>
                    <a:spcPct val="0"/>
                  </a:spcBef>
                  <a:spcAft>
                    <a:spcPct val="0"/>
                  </a:spcAft>
                </a:pPr>
                <a:r>
                  <a:rPr lang="en-US" sz="1400">
                    <a:gradFill>
                      <a:gsLst>
                        <a:gs pos="0">
                          <a:schemeClr val="tx2">
                            <a:lumMod val="20000"/>
                            <a:lumOff val="80000"/>
                          </a:schemeClr>
                        </a:gs>
                        <a:gs pos="100000">
                          <a:schemeClr val="accent4">
                            <a:lumMod val="60000"/>
                            <a:lumOff val="40000"/>
                          </a:schemeClr>
                        </a:gs>
                      </a:gsLst>
                      <a:lin ang="2700000" scaled="0"/>
                    </a:gradFill>
                    <a:latin typeface="+mj-lt"/>
                  </a:rPr>
                  <a:t>Azure AI Foundry</a:t>
                </a:r>
              </a:p>
            </p:txBody>
          </p:sp>
          <p:pic>
            <p:nvPicPr>
              <p:cNvPr id="61" name="Picture 60" descr="A blue and pink ribbon&#10;&#10;Description automatically generated">
                <a:extLst>
                  <a:ext uri="{FF2B5EF4-FFF2-40B4-BE49-F238E27FC236}">
                    <a16:creationId xmlns:a16="http://schemas.microsoft.com/office/drawing/2014/main" id="{69B0E74C-27D3-477D-90B7-A109882C7906}"/>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9413805" y="2468006"/>
                <a:ext cx="410915" cy="411020"/>
              </a:xfrm>
              <a:prstGeom prst="rect">
                <a:avLst/>
              </a:prstGeom>
            </p:spPr>
          </p:pic>
          <p:sp>
            <p:nvSpPr>
              <p:cNvPr id="62" name="TextBox 61">
                <a:extLst>
                  <a:ext uri="{FF2B5EF4-FFF2-40B4-BE49-F238E27FC236}">
                    <a16:creationId xmlns:a16="http://schemas.microsoft.com/office/drawing/2014/main" id="{819F8D3B-A999-A5A1-B58C-139D61084496}"/>
                  </a:ext>
                </a:extLst>
              </p:cNvPr>
              <p:cNvSpPr txBox="1"/>
              <p:nvPr/>
            </p:nvSpPr>
            <p:spPr>
              <a:xfrm>
                <a:off x="7280560" y="4313386"/>
                <a:ext cx="249383" cy="246221"/>
              </a:xfrm>
              <a:prstGeom prst="rect">
                <a:avLst/>
              </a:prstGeom>
              <a:noFill/>
            </p:spPr>
            <p:txBody>
              <a:bodyPr wrap="square">
                <a:spAutoFit/>
              </a:bodyPr>
              <a:lstStyle/>
              <a:p>
                <a:pPr algn="ctr" defTabSz="932472" fontAlgn="base">
                  <a:spcBef>
                    <a:spcPct val="0"/>
                  </a:spcBef>
                  <a:spcAft>
                    <a:spcPct val="0"/>
                  </a:spcAft>
                </a:pPr>
                <a:r>
                  <a:rPr lang="en-US" sz="1000" b="1">
                    <a:solidFill>
                      <a:schemeClr val="bg1"/>
                    </a:solidFill>
                    <a:ea typeface="Segoe UI" pitchFamily="34" charset="0"/>
                    <a:cs typeface="Segoe Sans Text" pitchFamily="2" charset="0"/>
                  </a:rPr>
                  <a:t>1</a:t>
                </a:r>
                <a:endParaRPr lang="en-US" sz="1800" b="1">
                  <a:solidFill>
                    <a:schemeClr val="bg1"/>
                  </a:solidFill>
                  <a:ea typeface="Segoe UI" pitchFamily="34" charset="0"/>
                  <a:cs typeface="Segoe Sans Text" pitchFamily="2" charset="0"/>
                </a:endParaRPr>
              </a:p>
            </p:txBody>
          </p:sp>
          <p:sp>
            <p:nvSpPr>
              <p:cNvPr id="64" name="TextBox 63">
                <a:extLst>
                  <a:ext uri="{FF2B5EF4-FFF2-40B4-BE49-F238E27FC236}">
                    <a16:creationId xmlns:a16="http://schemas.microsoft.com/office/drawing/2014/main" id="{F3AC0294-AA52-0789-15F6-C9D0184814FD}"/>
                  </a:ext>
                </a:extLst>
              </p:cNvPr>
              <p:cNvSpPr txBox="1"/>
              <p:nvPr/>
            </p:nvSpPr>
            <p:spPr>
              <a:xfrm>
                <a:off x="7736706" y="4313386"/>
                <a:ext cx="492988" cy="246221"/>
              </a:xfrm>
              <a:prstGeom prst="rect">
                <a:avLst/>
              </a:prstGeom>
              <a:noFill/>
            </p:spPr>
            <p:txBody>
              <a:bodyPr wrap="square">
                <a:spAutoFit/>
              </a:bodyPr>
              <a:lstStyle/>
              <a:p>
                <a:pPr algn="ctr" defTabSz="932472" fontAlgn="base">
                  <a:spcBef>
                    <a:spcPct val="0"/>
                  </a:spcBef>
                  <a:spcAft>
                    <a:spcPct val="0"/>
                  </a:spcAft>
                </a:pPr>
                <a:r>
                  <a:rPr lang="en-US" sz="1000" b="1">
                    <a:solidFill>
                      <a:schemeClr val="bg1"/>
                    </a:solidFill>
                    <a:ea typeface="Segoe UI" pitchFamily="34" charset="0"/>
                    <a:cs typeface="Segoe Sans Text" pitchFamily="2" charset="0"/>
                  </a:rPr>
                  <a:t>0..N</a:t>
                </a:r>
                <a:endParaRPr lang="en-US" sz="1100" b="1">
                  <a:solidFill>
                    <a:schemeClr val="bg1"/>
                  </a:solidFill>
                  <a:ea typeface="Segoe UI" pitchFamily="34" charset="0"/>
                  <a:cs typeface="Segoe Sans Text" pitchFamily="2" charset="0"/>
                </a:endParaRPr>
              </a:p>
            </p:txBody>
          </p:sp>
          <p:sp>
            <p:nvSpPr>
              <p:cNvPr id="65" name="TextBox 64">
                <a:extLst>
                  <a:ext uri="{FF2B5EF4-FFF2-40B4-BE49-F238E27FC236}">
                    <a16:creationId xmlns:a16="http://schemas.microsoft.com/office/drawing/2014/main" id="{FA782B33-8FC1-D92F-E1F9-FFFB3FC754A1}"/>
                  </a:ext>
                </a:extLst>
              </p:cNvPr>
              <p:cNvSpPr txBox="1"/>
              <p:nvPr/>
            </p:nvSpPr>
            <p:spPr>
              <a:xfrm>
                <a:off x="3219491" y="4313386"/>
                <a:ext cx="1167255" cy="246221"/>
              </a:xfrm>
              <a:prstGeom prst="rect">
                <a:avLst/>
              </a:prstGeom>
              <a:noFill/>
            </p:spPr>
            <p:txBody>
              <a:bodyPr wrap="square">
                <a:spAutoFit/>
              </a:bodyPr>
              <a:lstStyle/>
              <a:p>
                <a:pPr algn="ctr" defTabSz="932472" fontAlgn="base">
                  <a:spcBef>
                    <a:spcPct val="0"/>
                  </a:spcBef>
                  <a:spcAft>
                    <a:spcPct val="0"/>
                  </a:spcAft>
                </a:pPr>
                <a:r>
                  <a:rPr lang="en-US" sz="1000" b="1">
                    <a:solidFill>
                      <a:schemeClr val="bg1"/>
                    </a:solidFill>
                    <a:ea typeface="Segoe UI" pitchFamily="34" charset="0"/>
                    <a:cs typeface="Segoe Sans Text" pitchFamily="2" charset="0"/>
                  </a:rPr>
                  <a:t>Connected</a:t>
                </a:r>
                <a:endParaRPr lang="en-US" sz="1100" b="1">
                  <a:solidFill>
                    <a:schemeClr val="bg1"/>
                  </a:solidFill>
                  <a:ea typeface="Segoe UI" pitchFamily="34" charset="0"/>
                  <a:cs typeface="Segoe Sans Text" pitchFamily="2" charset="0"/>
                </a:endParaRPr>
              </a:p>
            </p:txBody>
          </p:sp>
          <p:sp>
            <p:nvSpPr>
              <p:cNvPr id="66" name="TextBox 65">
                <a:extLst>
                  <a:ext uri="{FF2B5EF4-FFF2-40B4-BE49-F238E27FC236}">
                    <a16:creationId xmlns:a16="http://schemas.microsoft.com/office/drawing/2014/main" id="{82EE804C-6A70-62D5-90D3-830A07706634}"/>
                  </a:ext>
                </a:extLst>
              </p:cNvPr>
              <p:cNvSpPr txBox="1"/>
              <p:nvPr/>
            </p:nvSpPr>
            <p:spPr>
              <a:xfrm>
                <a:off x="3322292" y="4645360"/>
                <a:ext cx="986262" cy="246221"/>
              </a:xfrm>
              <a:prstGeom prst="rect">
                <a:avLst/>
              </a:prstGeom>
              <a:noFill/>
            </p:spPr>
            <p:txBody>
              <a:bodyPr wrap="square">
                <a:spAutoFit/>
              </a:bodyPr>
              <a:lstStyle/>
              <a:p>
                <a:pPr algn="ctr" defTabSz="932472" fontAlgn="base">
                  <a:spcBef>
                    <a:spcPct val="0"/>
                  </a:spcBef>
                  <a:spcAft>
                    <a:spcPct val="0"/>
                  </a:spcAft>
                </a:pPr>
                <a:r>
                  <a:rPr lang="en-US" sz="1000" b="1">
                    <a:solidFill>
                      <a:schemeClr val="bg1"/>
                    </a:solidFill>
                    <a:ea typeface="Segoe UI" pitchFamily="34" charset="0"/>
                    <a:cs typeface="Segoe Sans Text" pitchFamily="2" charset="0"/>
                  </a:rPr>
                  <a:t>Resource</a:t>
                </a:r>
                <a:endParaRPr lang="en-US" sz="1800" b="1">
                  <a:solidFill>
                    <a:schemeClr val="bg1"/>
                  </a:solidFill>
                  <a:ea typeface="Segoe UI" pitchFamily="34" charset="0"/>
                  <a:cs typeface="Segoe Sans Text" pitchFamily="2" charset="0"/>
                </a:endParaRPr>
              </a:p>
            </p:txBody>
          </p:sp>
          <p:cxnSp>
            <p:nvCxnSpPr>
              <p:cNvPr id="67" name="Straight Arrow Connector 66">
                <a:extLst>
                  <a:ext uri="{FF2B5EF4-FFF2-40B4-BE49-F238E27FC236}">
                    <a16:creationId xmlns:a16="http://schemas.microsoft.com/office/drawing/2014/main" id="{60D39CFF-CE80-B75C-26D2-91293EF021BA}"/>
                  </a:ext>
                </a:extLst>
              </p:cNvPr>
              <p:cNvCxnSpPr>
                <a:cxnSpLocks/>
              </p:cNvCxnSpPr>
              <p:nvPr/>
            </p:nvCxnSpPr>
            <p:spPr>
              <a:xfrm>
                <a:off x="3319205" y="4605176"/>
                <a:ext cx="1154515" cy="0"/>
              </a:xfrm>
              <a:prstGeom prst="straightConnector1">
                <a:avLst/>
              </a:prstGeom>
              <a:ln>
                <a:solidFill>
                  <a:schemeClr val="bg1"/>
                </a:solidFill>
                <a:headEnd type="arrow" w="lg" len="sm"/>
                <a:tailEnd type="arrow" w="lg" len="sm"/>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A27BE300-53D7-69DB-9E28-203A00875D9B}"/>
                  </a:ext>
                </a:extLst>
              </p:cNvPr>
              <p:cNvCxnSpPr>
                <a:cxnSpLocks/>
              </p:cNvCxnSpPr>
              <p:nvPr/>
            </p:nvCxnSpPr>
            <p:spPr>
              <a:xfrm>
                <a:off x="7305960" y="4605176"/>
                <a:ext cx="837280" cy="0"/>
              </a:xfrm>
              <a:prstGeom prst="straightConnector1">
                <a:avLst/>
              </a:prstGeom>
              <a:ln>
                <a:solidFill>
                  <a:schemeClr val="bg1"/>
                </a:solidFill>
                <a:headEnd type="arrow" w="lg" len="sm"/>
                <a:tailEnd type="arrow" w="lg" len="sm"/>
              </a:ln>
            </p:spPr>
            <p:style>
              <a:lnRef idx="1">
                <a:schemeClr val="accent1"/>
              </a:lnRef>
              <a:fillRef idx="0">
                <a:schemeClr val="accent1"/>
              </a:fillRef>
              <a:effectRef idx="0">
                <a:schemeClr val="accent1"/>
              </a:effectRef>
              <a:fontRef idx="minor">
                <a:schemeClr val="tx1"/>
              </a:fontRef>
            </p:style>
          </p:cxnSp>
          <p:pic>
            <p:nvPicPr>
              <p:cNvPr id="72" name="Graphic 71">
                <a:extLst>
                  <a:ext uri="{FF2B5EF4-FFF2-40B4-BE49-F238E27FC236}">
                    <a16:creationId xmlns:a16="http://schemas.microsoft.com/office/drawing/2014/main" id="{0B023B01-12DF-8455-436D-DD79D917C02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01625" y="3735349"/>
                <a:ext cx="372305" cy="372305"/>
              </a:xfrm>
              <a:prstGeom prst="rect">
                <a:avLst/>
              </a:prstGeom>
            </p:spPr>
          </p:pic>
          <p:pic>
            <p:nvPicPr>
              <p:cNvPr id="80" name="Graphic 79">
                <a:extLst>
                  <a:ext uri="{FF2B5EF4-FFF2-40B4-BE49-F238E27FC236}">
                    <a16:creationId xmlns:a16="http://schemas.microsoft.com/office/drawing/2014/main" id="{B2E3114B-A053-EF56-0E10-DCCF7BDF0F4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69443" y="4767390"/>
                <a:ext cx="485128" cy="485128"/>
              </a:xfrm>
              <a:prstGeom prst="rect">
                <a:avLst/>
              </a:prstGeom>
            </p:spPr>
          </p:pic>
          <p:pic>
            <p:nvPicPr>
              <p:cNvPr id="2052" name="Picture 4" descr="Precios : Key Vault | Microsoft Azure">
                <a:extLst>
                  <a:ext uri="{FF2B5EF4-FFF2-40B4-BE49-F238E27FC236}">
                    <a16:creationId xmlns:a16="http://schemas.microsoft.com/office/drawing/2014/main" id="{9115F7F7-0178-01D2-C291-BC44F76EB3BA}"/>
                  </a:ext>
                </a:extLst>
              </p:cNvPr>
              <p:cNvPicPr>
                <a:picLocks noChangeAspect="1" noChangeArrowheads="1"/>
              </p:cNvPicPr>
              <p:nvPr/>
            </p:nvPicPr>
            <p:blipFill>
              <a:blip r:embed="rId10" cstate="hqprint">
                <a:extLst>
                  <a:ext uri="{28A0092B-C50C-407E-A947-70E740481C1C}">
                    <a14:useLocalDpi xmlns:a14="http://schemas.microsoft.com/office/drawing/2010/main"/>
                  </a:ext>
                </a:extLst>
              </a:blip>
              <a:srcRect/>
              <a:stretch>
                <a:fillRect/>
              </a:stretch>
            </p:blipFill>
            <p:spPr bwMode="auto">
              <a:xfrm>
                <a:off x="6027960" y="3628530"/>
                <a:ext cx="989590" cy="519534"/>
              </a:xfrm>
              <a:prstGeom prst="rect">
                <a:avLst/>
              </a:prstGeom>
              <a:noFill/>
              <a:extLst>
                <a:ext uri="{909E8E84-426E-40DD-AFC4-6F175D3DCCD1}">
                  <a14:hiddenFill xmlns:a14="http://schemas.microsoft.com/office/drawing/2010/main">
                    <a:solidFill>
                      <a:srgbClr val="FFFFFF"/>
                    </a:solidFill>
                  </a14:hiddenFill>
                </a:ext>
              </a:extLst>
            </p:spPr>
          </p:pic>
        </p:grpSp>
        <p:pic>
          <p:nvPicPr>
            <p:cNvPr id="94" name="Graphic 93">
              <a:extLst>
                <a:ext uri="{FF2B5EF4-FFF2-40B4-BE49-F238E27FC236}">
                  <a16:creationId xmlns:a16="http://schemas.microsoft.com/office/drawing/2014/main" id="{5876F2B0-1BFC-FED3-7926-DB568455CA2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77392" y="4877970"/>
              <a:ext cx="369669" cy="369669"/>
            </a:xfrm>
            <a:prstGeom prst="rect">
              <a:avLst/>
            </a:prstGeom>
          </p:spPr>
        </p:pic>
        <p:pic>
          <p:nvPicPr>
            <p:cNvPr id="148" name="Graphic 147">
              <a:extLst>
                <a:ext uri="{FF2B5EF4-FFF2-40B4-BE49-F238E27FC236}">
                  <a16:creationId xmlns:a16="http://schemas.microsoft.com/office/drawing/2014/main" id="{2DC0A230-B0E6-D0B9-D11F-3D8D49A5ECF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806112" y="3761663"/>
              <a:ext cx="369669" cy="369669"/>
            </a:xfrm>
            <a:prstGeom prst="rect">
              <a:avLst/>
            </a:prstGeom>
          </p:spPr>
        </p:pic>
        <p:pic>
          <p:nvPicPr>
            <p:cNvPr id="157" name="Graphic 156">
              <a:extLst>
                <a:ext uri="{FF2B5EF4-FFF2-40B4-BE49-F238E27FC236}">
                  <a16:creationId xmlns:a16="http://schemas.microsoft.com/office/drawing/2014/main" id="{12B77463-6549-8A75-ED6B-AE45FEAD192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139680" y="4885272"/>
              <a:ext cx="314960" cy="314960"/>
            </a:xfrm>
            <a:prstGeom prst="rect">
              <a:avLst/>
            </a:prstGeom>
          </p:spPr>
        </p:pic>
        <p:pic>
          <p:nvPicPr>
            <p:cNvPr id="163" name="Graphic 162">
              <a:extLst>
                <a:ext uri="{FF2B5EF4-FFF2-40B4-BE49-F238E27FC236}">
                  <a16:creationId xmlns:a16="http://schemas.microsoft.com/office/drawing/2014/main" id="{E6F281FD-CC90-FBF6-487E-CB4CC52E4A5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453640" y="4845536"/>
              <a:ext cx="369668" cy="369668"/>
            </a:xfrm>
            <a:prstGeom prst="rect">
              <a:avLst/>
            </a:prstGeom>
          </p:spPr>
        </p:pic>
        <p:pic>
          <p:nvPicPr>
            <p:cNvPr id="165" name="Graphic 164">
              <a:extLst>
                <a:ext uri="{FF2B5EF4-FFF2-40B4-BE49-F238E27FC236}">
                  <a16:creationId xmlns:a16="http://schemas.microsoft.com/office/drawing/2014/main" id="{67D1ADCA-5AA7-2DBA-0552-409C4A66815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448560" y="3713480"/>
              <a:ext cx="417852" cy="417852"/>
            </a:xfrm>
            <a:prstGeom prst="rect">
              <a:avLst/>
            </a:prstGeom>
          </p:spPr>
        </p:pic>
      </p:grpSp>
      <p:pic>
        <p:nvPicPr>
          <p:cNvPr id="84" name="Picture 83" descr="A blue circle with black background&#10;&#10;Description automatically generated">
            <a:extLst>
              <a:ext uri="{FF2B5EF4-FFF2-40B4-BE49-F238E27FC236}">
                <a16:creationId xmlns:a16="http://schemas.microsoft.com/office/drawing/2014/main" id="{8AA3F47B-DC12-F3AA-C578-B9C51C405584}"/>
              </a:ext>
            </a:extLst>
          </p:cNvPr>
          <p:cNvPicPr>
            <a:picLocks noChangeAspect="1"/>
          </p:cNvPicPr>
          <p:nvPr/>
        </p:nvPicPr>
        <p:blipFill>
          <a:blip r:embed="rId15" cstate="hqprint">
            <a:extLst>
              <a:ext uri="{28A0092B-C50C-407E-A947-70E740481C1C}">
                <a14:useLocalDpi xmlns:a14="http://schemas.microsoft.com/office/drawing/2010/main"/>
              </a:ext>
            </a:extLst>
          </a:blip>
          <a:stretch>
            <a:fillRect/>
          </a:stretch>
        </p:blipFill>
        <p:spPr>
          <a:xfrm>
            <a:off x="827908" y="3620731"/>
            <a:ext cx="281865" cy="281865"/>
          </a:xfrm>
          <a:prstGeom prst="rect">
            <a:avLst/>
          </a:prstGeom>
          <a:effectLst>
            <a:outerShdw blurRad="114300" dist="139700" dir="2700000" algn="tl" rotWithShape="0">
              <a:prstClr val="black">
                <a:alpha val="18000"/>
              </a:prstClr>
            </a:outerShdw>
          </a:effectLst>
        </p:spPr>
      </p:pic>
    </p:spTree>
    <p:extLst>
      <p:ext uri="{BB962C8B-B14F-4D97-AF65-F5344CB8AC3E}">
        <p14:creationId xmlns:p14="http://schemas.microsoft.com/office/powerpoint/2010/main" val="371668671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300"/>
                                  </p:stCondLst>
                                  <p:childTnLst>
                                    <p:set>
                                      <p:cBhvr>
                                        <p:cTn id="6" dur="1" fill="hold">
                                          <p:stCondLst>
                                            <p:cond delay="0"/>
                                          </p:stCondLst>
                                        </p:cTn>
                                        <p:tgtEl>
                                          <p:spTgt spid="84"/>
                                        </p:tgtEl>
                                        <p:attrNameLst>
                                          <p:attrName>style.visibility</p:attrName>
                                        </p:attrNameLst>
                                      </p:cBhvr>
                                      <p:to>
                                        <p:strVal val="visible"/>
                                      </p:to>
                                    </p:set>
                                    <p:anim calcmode="lin" valueType="num">
                                      <p:cBhvr>
                                        <p:cTn id="7" dur="250" fill="hold"/>
                                        <p:tgtEl>
                                          <p:spTgt spid="84"/>
                                        </p:tgtEl>
                                        <p:attrNameLst>
                                          <p:attrName>ppt_w</p:attrName>
                                        </p:attrNameLst>
                                      </p:cBhvr>
                                      <p:tavLst>
                                        <p:tav tm="0">
                                          <p:val>
                                            <p:strVal val="2/3*#ppt_w"/>
                                          </p:val>
                                        </p:tav>
                                        <p:tav tm="100000">
                                          <p:val>
                                            <p:strVal val="#ppt_w"/>
                                          </p:val>
                                        </p:tav>
                                      </p:tavLst>
                                    </p:anim>
                                    <p:anim calcmode="lin" valueType="num">
                                      <p:cBhvr>
                                        <p:cTn id="8" dur="250" fill="hold"/>
                                        <p:tgtEl>
                                          <p:spTgt spid="84"/>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300"/>
                                  </p:stCondLst>
                                  <p:childTnLst>
                                    <p:set>
                                      <p:cBhvr>
                                        <p:cTn id="10" dur="1" fill="hold">
                                          <p:stCondLst>
                                            <p:cond delay="0"/>
                                          </p:stCondLst>
                                        </p:cTn>
                                        <p:tgtEl>
                                          <p:spTgt spid="84"/>
                                        </p:tgtEl>
                                        <p:attrNameLst>
                                          <p:attrName>style.visibility</p:attrName>
                                        </p:attrNameLst>
                                      </p:cBhvr>
                                      <p:to>
                                        <p:strVal val="visible"/>
                                      </p:to>
                                    </p:set>
                                    <p:animEffect transition="in" filter="fade">
                                      <p:cBhvr>
                                        <p:cTn id="11" dur="500"/>
                                        <p:tgtEl>
                                          <p:spTgt spid="84"/>
                                        </p:tgtEl>
                                      </p:cBhvr>
                                    </p:animEffect>
                                  </p:childTnLst>
                                </p:cTn>
                              </p:par>
                              <p:par>
                                <p:cTn id="12" presetID="6" presetClass="emph" presetSubtype="0" fill="hold" nodeType="withEffect">
                                  <p:stCondLst>
                                    <p:cond delay="300"/>
                                  </p:stCondLst>
                                  <p:childTnLst>
                                    <p:animScale>
                                      <p:cBhvr>
                                        <p:cTn id="13" dur="10" fill="hold"/>
                                        <p:tgtEl>
                                          <p:spTgt spid="84"/>
                                        </p:tgtEl>
                                      </p:cBhvr>
                                      <p:by x="80000" y="80000"/>
                                    </p:animScale>
                                  </p:childTnLst>
                                </p:cTn>
                              </p:par>
                              <p:par>
                                <p:cTn id="14" presetID="6" presetClass="emph" presetSubtype="0" decel="100000" fill="hold" nodeType="withEffect">
                                  <p:stCondLst>
                                    <p:cond delay="300"/>
                                  </p:stCondLst>
                                  <p:childTnLst>
                                    <p:animScale>
                                      <p:cBhvr>
                                        <p:cTn id="15" dur="1000" fill="hold"/>
                                        <p:tgtEl>
                                          <p:spTgt spid="84"/>
                                        </p:tgtEl>
                                      </p:cBhvr>
                                      <p:by x="125000" y="125000"/>
                                    </p:animScale>
                                  </p:childTnLst>
                                </p:cTn>
                              </p:par>
                              <p:par>
                                <p:cTn id="16" presetID="10" presetClass="entr" presetSubtype="0" fill="hold" nodeType="withEffect">
                                  <p:stCondLst>
                                    <p:cond delay="0"/>
                                  </p:stCondLst>
                                  <p:childTnLst>
                                    <p:set>
                                      <p:cBhvr>
                                        <p:cTn id="17" dur="1" fill="hold">
                                          <p:stCondLst>
                                            <p:cond delay="0"/>
                                          </p:stCondLst>
                                        </p:cTn>
                                        <p:tgtEl>
                                          <p:spTgt spid="91"/>
                                        </p:tgtEl>
                                        <p:attrNameLst>
                                          <p:attrName>style.visibility</p:attrName>
                                        </p:attrNameLst>
                                      </p:cBhvr>
                                      <p:to>
                                        <p:strVal val="visible"/>
                                      </p:to>
                                    </p:set>
                                    <p:animEffect transition="in" filter="fade">
                                      <p:cBhvr>
                                        <p:cTn id="18" dur="500"/>
                                        <p:tgtEl>
                                          <p:spTgt spid="91"/>
                                        </p:tgtEl>
                                      </p:cBhvr>
                                    </p:animEffect>
                                  </p:childTnLst>
                                </p:cTn>
                              </p:par>
                              <p:par>
                                <p:cTn id="19" presetID="6" presetClass="emph" presetSubtype="0" fill="hold" nodeType="withEffect">
                                  <p:stCondLst>
                                    <p:cond delay="0"/>
                                  </p:stCondLst>
                                  <p:childTnLst>
                                    <p:animScale>
                                      <p:cBhvr>
                                        <p:cTn id="20" dur="10" fill="hold"/>
                                        <p:tgtEl>
                                          <p:spTgt spid="91"/>
                                        </p:tgtEl>
                                      </p:cBhvr>
                                      <p:by x="125000" y="125000"/>
                                    </p:animScale>
                                  </p:childTnLst>
                                </p:cTn>
                              </p:par>
                              <p:par>
                                <p:cTn id="21" presetID="6" presetClass="emph" presetSubtype="0" decel="100000" fill="hold" nodeType="withEffect">
                                  <p:stCondLst>
                                    <p:cond delay="0"/>
                                  </p:stCondLst>
                                  <p:childTnLst>
                                    <p:animScale>
                                      <p:cBhvr>
                                        <p:cTn id="22" dur="750" fill="hold"/>
                                        <p:tgtEl>
                                          <p:spTgt spid="91"/>
                                        </p:tgtEl>
                                      </p:cBhvr>
                                      <p:by x="80000" y="80000"/>
                                    </p:animScale>
                                  </p:childTnLst>
                                </p:cTn>
                              </p:par>
                              <p:par>
                                <p:cTn id="23" presetID="10" presetClass="entr" presetSubtype="0" fill="hold" nodeType="withEffect">
                                  <p:stCondLst>
                                    <p:cond delay="100"/>
                                  </p:stCondLst>
                                  <p:childTnLst>
                                    <p:set>
                                      <p:cBhvr>
                                        <p:cTn id="24" dur="1" fill="hold">
                                          <p:stCondLst>
                                            <p:cond delay="0"/>
                                          </p:stCondLst>
                                        </p:cTn>
                                        <p:tgtEl>
                                          <p:spTgt spid="89"/>
                                        </p:tgtEl>
                                        <p:attrNameLst>
                                          <p:attrName>style.visibility</p:attrName>
                                        </p:attrNameLst>
                                      </p:cBhvr>
                                      <p:to>
                                        <p:strVal val="visible"/>
                                      </p:to>
                                    </p:set>
                                    <p:animEffect transition="in" filter="fade">
                                      <p:cBhvr>
                                        <p:cTn id="25" dur="500"/>
                                        <p:tgtEl>
                                          <p:spTgt spid="89"/>
                                        </p:tgtEl>
                                      </p:cBhvr>
                                    </p:animEffect>
                                  </p:childTnLst>
                                </p:cTn>
                              </p:par>
                              <p:par>
                                <p:cTn id="26" presetID="6" presetClass="emph" presetSubtype="0" fill="hold" nodeType="withEffect">
                                  <p:stCondLst>
                                    <p:cond delay="100"/>
                                  </p:stCondLst>
                                  <p:childTnLst>
                                    <p:animScale>
                                      <p:cBhvr>
                                        <p:cTn id="27" dur="10" fill="hold"/>
                                        <p:tgtEl>
                                          <p:spTgt spid="89"/>
                                        </p:tgtEl>
                                      </p:cBhvr>
                                      <p:by x="125000" y="125000"/>
                                    </p:animScale>
                                  </p:childTnLst>
                                </p:cTn>
                              </p:par>
                              <p:par>
                                <p:cTn id="28" presetID="6" presetClass="emph" presetSubtype="0" decel="100000" fill="hold" nodeType="withEffect">
                                  <p:stCondLst>
                                    <p:cond delay="100"/>
                                  </p:stCondLst>
                                  <p:childTnLst>
                                    <p:animScale>
                                      <p:cBhvr>
                                        <p:cTn id="29" dur="750" fill="hold"/>
                                        <p:tgtEl>
                                          <p:spTgt spid="89"/>
                                        </p:tgtEl>
                                      </p:cBhvr>
                                      <p:by x="80000" y="80000"/>
                                    </p:animScale>
                                  </p:childTnLst>
                                </p:cTn>
                              </p:par>
                              <p:par>
                                <p:cTn id="30" presetID="10" presetClass="entr" presetSubtype="0" fill="hold" nodeType="withEffect">
                                  <p:stCondLst>
                                    <p:cond delay="200"/>
                                  </p:stCondLst>
                                  <p:childTnLst>
                                    <p:set>
                                      <p:cBhvr>
                                        <p:cTn id="31" dur="1" fill="hold">
                                          <p:stCondLst>
                                            <p:cond delay="0"/>
                                          </p:stCondLst>
                                        </p:cTn>
                                        <p:tgtEl>
                                          <p:spTgt spid="166"/>
                                        </p:tgtEl>
                                        <p:attrNameLst>
                                          <p:attrName>style.visibility</p:attrName>
                                        </p:attrNameLst>
                                      </p:cBhvr>
                                      <p:to>
                                        <p:strVal val="visible"/>
                                      </p:to>
                                    </p:set>
                                    <p:animEffect transition="in" filter="fade">
                                      <p:cBhvr>
                                        <p:cTn id="32" dur="500"/>
                                        <p:tgtEl>
                                          <p:spTgt spid="166"/>
                                        </p:tgtEl>
                                      </p:cBhvr>
                                    </p:animEffect>
                                  </p:childTnLst>
                                </p:cTn>
                              </p:par>
                              <p:par>
                                <p:cTn id="33" presetID="6" presetClass="emph" presetSubtype="0" fill="hold" nodeType="withEffect">
                                  <p:stCondLst>
                                    <p:cond delay="200"/>
                                  </p:stCondLst>
                                  <p:childTnLst>
                                    <p:animScale>
                                      <p:cBhvr>
                                        <p:cTn id="34" dur="10" fill="hold"/>
                                        <p:tgtEl>
                                          <p:spTgt spid="166"/>
                                        </p:tgtEl>
                                      </p:cBhvr>
                                      <p:by x="125000" y="125000"/>
                                    </p:animScale>
                                  </p:childTnLst>
                                </p:cTn>
                              </p:par>
                              <p:par>
                                <p:cTn id="35" presetID="6" presetClass="emph" presetSubtype="0" decel="100000" fill="hold" nodeType="withEffect">
                                  <p:stCondLst>
                                    <p:cond delay="200"/>
                                  </p:stCondLst>
                                  <p:childTnLst>
                                    <p:animScale>
                                      <p:cBhvr>
                                        <p:cTn id="36" dur="750" fill="hold"/>
                                        <p:tgtEl>
                                          <p:spTgt spid="166"/>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A8B9A-CC02-0FF5-5631-1AC23143033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32883A-D402-5140-A30A-97D9A4AADBA5}"/>
              </a:ext>
            </a:extLst>
          </p:cNvPr>
          <p:cNvSpPr>
            <a:spLocks noGrp="1"/>
          </p:cNvSpPr>
          <p:nvPr>
            <p:ph type="title"/>
          </p:nvPr>
        </p:nvSpPr>
        <p:spPr>
          <a:xfrm>
            <a:off x="575481" y="1085599"/>
            <a:ext cx="11045019" cy="553998"/>
          </a:xfrm>
        </p:spPr>
        <p:txBody>
          <a:bodyPr/>
          <a:lstStyle/>
          <a:p>
            <a:r>
              <a:rPr lang="en-US"/>
              <a:t>Demonstration</a:t>
            </a:r>
          </a:p>
        </p:txBody>
      </p:sp>
      <p:sp>
        <p:nvSpPr>
          <p:cNvPr id="17" name="Rectangle 16">
            <a:extLst>
              <a:ext uri="{FF2B5EF4-FFF2-40B4-BE49-F238E27FC236}">
                <a16:creationId xmlns:a16="http://schemas.microsoft.com/office/drawing/2014/main" id="{B5025B56-49A1-CF37-9EA3-A0A4F288DDD5}"/>
              </a:ext>
            </a:extLst>
          </p:cNvPr>
          <p:cNvSpPr>
            <a:spLocks/>
          </p:cNvSpPr>
          <p:nvPr/>
        </p:nvSpPr>
        <p:spPr bwMode="auto">
          <a:xfrm>
            <a:off x="571499" y="2298700"/>
            <a:ext cx="11048999" cy="397033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3500">
                <a:solidFill>
                  <a:schemeClr val="tx1"/>
                </a:solidFill>
                <a:latin typeface="+mj-lt"/>
                <a:ea typeface="Segoe UI" pitchFamily="34" charset="0"/>
                <a:cs typeface="Segoe UI" pitchFamily="34" charset="0"/>
              </a:rPr>
              <a:t>Model Selection POC to PROD</a:t>
            </a:r>
          </a:p>
        </p:txBody>
      </p:sp>
      <p:sp>
        <p:nvSpPr>
          <p:cNvPr id="10" name="Footer Placeholder 3">
            <a:extLst>
              <a:ext uri="{FF2B5EF4-FFF2-40B4-BE49-F238E27FC236}">
                <a16:creationId xmlns:a16="http://schemas.microsoft.com/office/drawing/2014/main" id="{F788D23D-009A-70EC-DC7A-E24D7CE02AC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34ADACA6-A310-A4FF-5F4C-9642A87187E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817907417"/>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2459B-CB46-9B8B-19DD-9E0794AF0772}"/>
            </a:ext>
          </a:extLst>
        </p:cNvPr>
        <p:cNvGrpSpPr/>
        <p:nvPr/>
      </p:nvGrpSpPr>
      <p:grpSpPr>
        <a:xfrm>
          <a:off x="0" y="0"/>
          <a:ext cx="0" cy="0"/>
          <a:chOff x="0" y="0"/>
          <a:chExt cx="0" cy="0"/>
        </a:xfrm>
      </p:grpSpPr>
      <p:sp>
        <p:nvSpPr>
          <p:cNvPr id="29" name="SEND FEEDBACK">
            <a:extLst>
              <a:ext uri="{FF2B5EF4-FFF2-40B4-BE49-F238E27FC236}">
                <a16:creationId xmlns:a16="http://schemas.microsoft.com/office/drawing/2014/main" id="{A1C30188-06C6-09F6-FBBD-89C63ED7557B}"/>
              </a:ext>
              <a:ext uri="{C183D7F6-B498-43B3-948B-1728B52AA6E4}">
                <adec:decorative xmlns:adec="http://schemas.microsoft.com/office/drawing/2017/decorative" val="1"/>
              </a:ext>
            </a:extLst>
          </p:cNvPr>
          <p:cNvSpPr txBox="1"/>
          <p:nvPr/>
        </p:nvSpPr>
        <p:spPr>
          <a:xfrm>
            <a:off x="7217230" y="4645518"/>
            <a:ext cx="1692304" cy="770249"/>
          </a:xfrm>
          <a:prstGeom prst="rect">
            <a:avLst/>
          </a:prstGeom>
          <a:noFill/>
        </p:spPr>
        <p:txBody>
          <a:bodyPr wrap="none" rtlCol="0">
            <a:prstTxWarp prst="textArchDown">
              <a:avLst>
                <a:gd name="adj" fmla="val 1663301"/>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alpha val="25000"/>
                  </a:schemeClr>
                </a:solidFill>
                <a:effectLst/>
                <a:uLnTx/>
                <a:uFillTx/>
                <a:ea typeface="+mn-ea"/>
                <a:cs typeface="Segoe Sans Text" pitchFamily="2" charset="0"/>
              </a:rPr>
              <a:t>REVERT PROJECT</a:t>
            </a:r>
          </a:p>
        </p:txBody>
      </p:sp>
      <p:sp>
        <p:nvSpPr>
          <p:cNvPr id="30" name="Inner &gt; Middle">
            <a:extLst>
              <a:ext uri="{FF2B5EF4-FFF2-40B4-BE49-F238E27FC236}">
                <a16:creationId xmlns:a16="http://schemas.microsoft.com/office/drawing/2014/main" id="{79CA0EC2-4219-6882-ECC7-A22DF658F6A6}"/>
              </a:ext>
              <a:ext uri="{C183D7F6-B498-43B3-948B-1728B52AA6E4}">
                <adec:decorative xmlns:adec="http://schemas.microsoft.com/office/drawing/2017/decorative" val="1"/>
              </a:ext>
            </a:extLst>
          </p:cNvPr>
          <p:cNvSpPr>
            <a:spLocks noChangeAspect="1"/>
          </p:cNvSpPr>
          <p:nvPr/>
        </p:nvSpPr>
        <p:spPr>
          <a:xfrm flipH="1">
            <a:off x="6129068" y="1672847"/>
            <a:ext cx="3878848" cy="3878848"/>
          </a:xfrm>
          <a:prstGeom prst="arc">
            <a:avLst>
              <a:gd name="adj1" fmla="val 2950208"/>
              <a:gd name="adj2" fmla="val 7140390"/>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47" name="Rectangle: Rounded Corners 46">
            <a:extLst>
              <a:ext uri="{FF2B5EF4-FFF2-40B4-BE49-F238E27FC236}">
                <a16:creationId xmlns:a16="http://schemas.microsoft.com/office/drawing/2014/main" id="{F773BD71-06A6-F187-61F0-8E931940118E}"/>
              </a:ext>
            </a:extLst>
          </p:cNvPr>
          <p:cNvSpPr>
            <a:spLocks/>
          </p:cNvSpPr>
          <p:nvPr/>
        </p:nvSpPr>
        <p:spPr bwMode="auto">
          <a:xfrm rot="10800000">
            <a:off x="383428" y="1223819"/>
            <a:ext cx="11392545" cy="5241175"/>
          </a:xfrm>
          <a:prstGeom prst="roundRect">
            <a:avLst>
              <a:gd name="adj" fmla="val 2665"/>
            </a:avLst>
          </a:prstGeom>
          <a:no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 name="Title 1">
            <a:extLst>
              <a:ext uri="{FF2B5EF4-FFF2-40B4-BE49-F238E27FC236}">
                <a16:creationId xmlns:a16="http://schemas.microsoft.com/office/drawing/2014/main" id="{4BA3BD64-95BA-EA2A-04CC-1D05372DFC21}"/>
              </a:ext>
            </a:extLst>
          </p:cNvPr>
          <p:cNvSpPr>
            <a:spLocks noGrp="1"/>
          </p:cNvSpPr>
          <p:nvPr>
            <p:ph type="title"/>
          </p:nvPr>
        </p:nvSpPr>
        <p:spPr/>
        <p:txBody>
          <a:bodyPr/>
          <a:lstStyle/>
          <a:p>
            <a:r>
              <a:rPr lang="en-US" err="1">
                <a:solidFill>
                  <a:schemeClr val="bg1"/>
                </a:solidFill>
              </a:rPr>
              <a:t>GenAI</a:t>
            </a:r>
            <a:r>
              <a:rPr lang="en-US">
                <a:solidFill>
                  <a:schemeClr val="bg1"/>
                </a:solidFill>
              </a:rPr>
              <a:t> Lifecycle and Best Practices</a:t>
            </a:r>
            <a:br>
              <a:rPr lang="en-US">
                <a:solidFill>
                  <a:schemeClr val="bg1"/>
                </a:solidFill>
              </a:rPr>
            </a:br>
            <a:endParaRPr lang="en-GB">
              <a:solidFill>
                <a:schemeClr val="bg1"/>
              </a:solidFill>
            </a:endParaRPr>
          </a:p>
        </p:txBody>
      </p:sp>
      <p:sp>
        <p:nvSpPr>
          <p:cNvPr id="3" name="TextBox 2">
            <a:extLst>
              <a:ext uri="{FF2B5EF4-FFF2-40B4-BE49-F238E27FC236}">
                <a16:creationId xmlns:a16="http://schemas.microsoft.com/office/drawing/2014/main" id="{132A90EA-0866-4DF3-8422-8F8EC899F350}"/>
              </a:ext>
            </a:extLst>
          </p:cNvPr>
          <p:cNvSpPr txBox="1"/>
          <p:nvPr/>
        </p:nvSpPr>
        <p:spPr>
          <a:xfrm>
            <a:off x="629050" y="3528672"/>
            <a:ext cx="296556" cy="16158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50" b="1">
                <a:ln w="3175">
                  <a:noFill/>
                </a:ln>
                <a:solidFill>
                  <a:schemeClr val="bg1">
                    <a:alpha val="25000"/>
                  </a:schemeClr>
                </a:solidFill>
              </a:rPr>
              <a:t>Data</a:t>
            </a:r>
          </a:p>
        </p:txBody>
      </p:sp>
      <p:cxnSp>
        <p:nvCxnSpPr>
          <p:cNvPr id="4" name="Straight Connector 3" descr="Leads to">
            <a:extLst>
              <a:ext uri="{FF2B5EF4-FFF2-40B4-BE49-F238E27FC236}">
                <a16:creationId xmlns:a16="http://schemas.microsoft.com/office/drawing/2014/main" id="{D9575560-5C6D-2A46-48B1-7F93CBAC3EDD}"/>
              </a:ext>
              <a:ext uri="{C183D7F6-B498-43B3-948B-1728B52AA6E4}">
                <adec:decorative xmlns:adec="http://schemas.microsoft.com/office/drawing/2017/decorative" val="0"/>
              </a:ext>
            </a:extLst>
          </p:cNvPr>
          <p:cNvCxnSpPr>
            <a:cxnSpLocks/>
          </p:cNvCxnSpPr>
          <p:nvPr/>
        </p:nvCxnSpPr>
        <p:spPr>
          <a:xfrm flipH="1">
            <a:off x="1015955" y="3627057"/>
            <a:ext cx="374011" cy="0"/>
          </a:xfrm>
          <a:prstGeom prst="line">
            <a:avLst/>
          </a:prstGeom>
          <a:ln w="9525">
            <a:solidFill>
              <a:schemeClr val="bg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0883A0F-FE0B-E52D-38DA-10D8C800D933}"/>
              </a:ext>
              <a:ext uri="{C183D7F6-B498-43B3-948B-1728B52AA6E4}">
                <adec:decorative xmlns:adec="http://schemas.microsoft.com/office/drawing/2017/decorative" val="1"/>
              </a:ext>
            </a:extLst>
          </p:cNvPr>
          <p:cNvSpPr txBox="1"/>
          <p:nvPr/>
        </p:nvSpPr>
        <p:spPr>
          <a:xfrm>
            <a:off x="1485799" y="5677592"/>
            <a:ext cx="270995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0078D4"/>
                    </a:gs>
                    <a:gs pos="80000">
                      <a:srgbClr val="399A91"/>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solidFill>
                  <a:schemeClr val="bg1">
                    <a:alpha val="19000"/>
                  </a:schemeClr>
                </a:solidFill>
                <a:latin typeface="Segoe Sans Text Semibold"/>
                <a:cs typeface="Segoe Sans Text" pitchFamily="2" charset="0"/>
              </a:rPr>
              <a:t>Prototyping</a:t>
            </a:r>
          </a:p>
          <a:p>
            <a:pPr algn="ctr" defTabSz="914400">
              <a:defRPr/>
            </a:pPr>
            <a:r>
              <a:rPr lang="en-GB" sz="1050" b="1">
                <a:solidFill>
                  <a:schemeClr val="bg1">
                    <a:alpha val="19000"/>
                  </a:schemeClr>
                </a:solidFill>
                <a:latin typeface="+mn-lt"/>
                <a:cs typeface="Segoe Sans Text" pitchFamily="2" charset="0"/>
              </a:rPr>
              <a:t>Ideating &amp; Explore</a:t>
            </a:r>
          </a:p>
        </p:txBody>
      </p:sp>
      <p:grpSp>
        <p:nvGrpSpPr>
          <p:cNvPr id="62" name="Group 61">
            <a:extLst>
              <a:ext uri="{FF2B5EF4-FFF2-40B4-BE49-F238E27FC236}">
                <a16:creationId xmlns:a16="http://schemas.microsoft.com/office/drawing/2014/main" id="{10D83C2D-2449-66E7-DE75-FF7DD9F79744}"/>
              </a:ext>
            </a:extLst>
          </p:cNvPr>
          <p:cNvGrpSpPr/>
          <p:nvPr/>
        </p:nvGrpSpPr>
        <p:grpSpPr>
          <a:xfrm>
            <a:off x="1493058" y="2275150"/>
            <a:ext cx="2688577" cy="2688578"/>
            <a:chOff x="1493058" y="2275150"/>
            <a:chExt cx="2688577" cy="2688578"/>
          </a:xfrm>
        </p:grpSpPr>
        <p:sp>
          <p:nvSpPr>
            <p:cNvPr id="6" name="Circle: Hollow 5">
              <a:extLst>
                <a:ext uri="{FF2B5EF4-FFF2-40B4-BE49-F238E27FC236}">
                  <a16:creationId xmlns:a16="http://schemas.microsoft.com/office/drawing/2014/main" id="{122DDD5A-F0B7-D5AC-2C33-DAEE05DC7C90}"/>
                </a:ext>
                <a:ext uri="{C183D7F6-B498-43B3-948B-1728B52AA6E4}">
                  <adec:decorative xmlns:adec="http://schemas.microsoft.com/office/drawing/2017/decorative" val="1"/>
                </a:ext>
              </a:extLst>
            </p:cNvPr>
            <p:cNvSpPr>
              <a:spLocks noChangeAspect="1"/>
            </p:cNvSpPr>
            <p:nvPr/>
          </p:nvSpPr>
          <p:spPr bwMode="auto">
            <a:xfrm>
              <a:off x="1493058" y="2275150"/>
              <a:ext cx="2688577" cy="2688578"/>
            </a:xfrm>
            <a:prstGeom prst="donut">
              <a:avLst>
                <a:gd name="adj" fmla="val 12613"/>
              </a:avLst>
            </a:prstGeom>
            <a:gradFill flip="none" rotWithShape="1">
              <a:gsLst>
                <a:gs pos="0">
                  <a:srgbClr val="0078D4">
                    <a:alpha val="12000"/>
                  </a:srgbClr>
                </a:gs>
                <a:gs pos="80000">
                  <a:srgbClr val="399A91">
                    <a:alpha val="20000"/>
                  </a:srgbClr>
                </a:gs>
              </a:gsLst>
              <a:path path="circle">
                <a:fillToRect l="100000" t="100000"/>
              </a:path>
              <a:tileRect r="-100000" b="-100000"/>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alpha val="25000"/>
                  </a:srgbClr>
                </a:solidFill>
                <a:effectLst/>
                <a:uLnTx/>
                <a:uFillTx/>
                <a:ea typeface="+mn-ea"/>
                <a:cs typeface="+mn-cs"/>
              </a:endParaRPr>
            </a:p>
          </p:txBody>
        </p:sp>
        <p:sp>
          <p:nvSpPr>
            <p:cNvPr id="7" name="TextBox 6">
              <a:extLst>
                <a:ext uri="{FF2B5EF4-FFF2-40B4-BE49-F238E27FC236}">
                  <a16:creationId xmlns:a16="http://schemas.microsoft.com/office/drawing/2014/main" id="{294AEA2F-CD53-5B04-E400-E6281342E76A}"/>
                </a:ext>
                <a:ext uri="{C183D7F6-B498-43B3-948B-1728B52AA6E4}">
                  <adec:decorative xmlns:adec="http://schemas.microsoft.com/office/drawing/2017/decorative" val="1"/>
                </a:ext>
              </a:extLst>
            </p:cNvPr>
            <p:cNvSpPr txBox="1">
              <a:spLocks noChangeAspect="1"/>
            </p:cNvSpPr>
            <p:nvPr/>
          </p:nvSpPr>
          <p:spPr>
            <a:xfrm rot="1643445">
              <a:off x="1632640" y="2464411"/>
              <a:ext cx="2439784" cy="2439784"/>
            </a:xfrm>
            <a:prstGeom prst="rect">
              <a:avLst/>
            </a:prstGeom>
            <a:noFill/>
          </p:spPr>
          <p:txBody>
            <a:bodyPr wrap="square" lIns="0" tIns="0" rIns="0" bIns="0" rtlCol="0">
              <a:prstTxWarp prst="textArchUp">
                <a:avLst>
                  <a:gd name="adj" fmla="val 1261381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Establish feasibility </a:t>
              </a:r>
            </a:p>
          </p:txBody>
        </p:sp>
        <p:sp>
          <p:nvSpPr>
            <p:cNvPr id="9" name="TextBox 8">
              <a:extLst>
                <a:ext uri="{FF2B5EF4-FFF2-40B4-BE49-F238E27FC236}">
                  <a16:creationId xmlns:a16="http://schemas.microsoft.com/office/drawing/2014/main" id="{F8AD3478-705B-71BB-2ADC-4F90A80D96BE}"/>
                </a:ext>
                <a:ext uri="{C183D7F6-B498-43B3-948B-1728B52AA6E4}">
                  <adec:decorative xmlns:adec="http://schemas.microsoft.com/office/drawing/2017/decorative" val="1"/>
                </a:ext>
              </a:extLst>
            </p:cNvPr>
            <p:cNvSpPr txBox="1">
              <a:spLocks noChangeAspect="1"/>
            </p:cNvSpPr>
            <p:nvPr/>
          </p:nvSpPr>
          <p:spPr>
            <a:xfrm rot="11682144">
              <a:off x="1662441" y="2406264"/>
              <a:ext cx="2289378" cy="2384153"/>
            </a:xfrm>
            <a:prstGeom prst="rect">
              <a:avLst/>
            </a:prstGeom>
            <a:noFill/>
          </p:spPr>
          <p:txBody>
            <a:bodyPr wrap="square" lIns="0" tIns="0" rIns="0" bIns="0" rtlCol="0">
              <a:prstTxWarp prst="textArchUp">
                <a:avLst>
                  <a:gd name="adj" fmla="val 13727663"/>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Test   Prompts</a:t>
              </a:r>
            </a:p>
          </p:txBody>
        </p:sp>
        <p:sp>
          <p:nvSpPr>
            <p:cNvPr id="8" name="TextBox 7">
              <a:extLst>
                <a:ext uri="{FF2B5EF4-FFF2-40B4-BE49-F238E27FC236}">
                  <a16:creationId xmlns:a16="http://schemas.microsoft.com/office/drawing/2014/main" id="{17EDDE65-50A2-D827-DB14-6CC8D2C41AD5}"/>
                </a:ext>
                <a:ext uri="{C183D7F6-B498-43B3-948B-1728B52AA6E4}">
                  <adec:decorative xmlns:adec="http://schemas.microsoft.com/office/drawing/2017/decorative" val="1"/>
                </a:ext>
              </a:extLst>
            </p:cNvPr>
            <p:cNvSpPr txBox="1">
              <a:spLocks noChangeAspect="1"/>
            </p:cNvSpPr>
            <p:nvPr/>
          </p:nvSpPr>
          <p:spPr>
            <a:xfrm rot="16200000">
              <a:off x="1676692" y="2461064"/>
              <a:ext cx="2293484" cy="2293484"/>
            </a:xfrm>
            <a:prstGeom prst="rect">
              <a:avLst/>
            </a:prstGeom>
            <a:noFill/>
          </p:spPr>
          <p:txBody>
            <a:bodyPr wrap="square" lIns="0" tIns="0" rIns="0" bIns="0" rtlCol="0">
              <a:prstTxWarp prst="textArchUp">
                <a:avLst>
                  <a:gd name="adj" fmla="val 1420148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Choose LLM or SLM</a:t>
              </a:r>
            </a:p>
          </p:txBody>
        </p:sp>
        <p:sp>
          <p:nvSpPr>
            <p:cNvPr id="10" name="TextBox 9">
              <a:extLst>
                <a:ext uri="{FF2B5EF4-FFF2-40B4-BE49-F238E27FC236}">
                  <a16:creationId xmlns:a16="http://schemas.microsoft.com/office/drawing/2014/main" id="{1983179B-3BC1-AD3C-453C-3DD510F3D469}"/>
                </a:ext>
                <a:ext uri="{C183D7F6-B498-43B3-948B-1728B52AA6E4}">
                  <adec:decorative xmlns:adec="http://schemas.microsoft.com/office/drawing/2017/decorative" val="1"/>
                </a:ext>
              </a:extLst>
            </p:cNvPr>
            <p:cNvSpPr txBox="1">
              <a:spLocks noChangeAspect="1"/>
            </p:cNvSpPr>
            <p:nvPr/>
          </p:nvSpPr>
          <p:spPr>
            <a:xfrm rot="5400000">
              <a:off x="1687616" y="2515859"/>
              <a:ext cx="2293484" cy="2293484"/>
            </a:xfrm>
            <a:prstGeom prst="rect">
              <a:avLst/>
            </a:prstGeom>
            <a:noFill/>
          </p:spPr>
          <p:txBody>
            <a:bodyPr wrap="square" lIns="0" tIns="0" rIns="0" bIns="0" rtlCol="0">
              <a:prstTxWarp prst="textArchUp">
                <a:avLst>
                  <a:gd name="adj" fmla="val 1297096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rgbClr val="FFFFFF">
                      <a:alpha val="25000"/>
                    </a:srgbClr>
                  </a:solidFill>
                  <a:latin typeface="+mj-lt"/>
                </a:rPr>
                <a:t>                 Define Use Case </a:t>
              </a:r>
              <a:endParaRPr kumimoji="0" lang="en-GB" sz="1100" b="0" i="0" u="none" strike="noStrike" kern="1200" cap="none" spc="0" normalizeH="0" baseline="0" noProof="0">
                <a:ln>
                  <a:noFill/>
                </a:ln>
                <a:solidFill>
                  <a:srgbClr val="FFFFFF">
                    <a:alpha val="25000"/>
                  </a:srgbClr>
                </a:solidFill>
                <a:effectLst/>
                <a:uLnTx/>
                <a:uFillTx/>
                <a:latin typeface="+mj-lt"/>
              </a:endParaRPr>
            </a:p>
          </p:txBody>
        </p:sp>
        <p:sp>
          <p:nvSpPr>
            <p:cNvPr id="11" name="Inner &gt; Middle">
              <a:extLst>
                <a:ext uri="{FF2B5EF4-FFF2-40B4-BE49-F238E27FC236}">
                  <a16:creationId xmlns:a16="http://schemas.microsoft.com/office/drawing/2014/main" id="{FF4C80A4-BFFA-605E-53A0-2D4C0C0F4E24}"/>
                </a:ext>
                <a:ext uri="{C183D7F6-B498-43B3-948B-1728B52AA6E4}">
                  <adec:decorative xmlns:adec="http://schemas.microsoft.com/office/drawing/2017/decorative" val="1"/>
                </a:ext>
              </a:extLst>
            </p:cNvPr>
            <p:cNvSpPr>
              <a:spLocks noChangeAspect="1"/>
            </p:cNvSpPr>
            <p:nvPr/>
          </p:nvSpPr>
          <p:spPr>
            <a:xfrm flipV="1">
              <a:off x="1937941" y="2707290"/>
              <a:ext cx="1798812" cy="1798811"/>
            </a:xfrm>
            <a:prstGeom prst="arc">
              <a:avLst>
                <a:gd name="adj1" fmla="val 8319039"/>
                <a:gd name="adj2" fmla="val 7957849"/>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740495" rtl="0" eaLnBrk="1" fontAlgn="auto" latinLnBrk="0" hangingPunct="1">
                <a:lnSpc>
                  <a:spcPct val="100000"/>
                </a:lnSpc>
                <a:spcBef>
                  <a:spcPts val="0"/>
                </a:spcBef>
                <a:spcAft>
                  <a:spcPts val="0"/>
                </a:spcAft>
                <a:buClrTx/>
                <a:buSzTx/>
                <a:buFontTx/>
                <a:buNone/>
                <a:tabLst/>
                <a:defRPr/>
              </a:pPr>
              <a:endParaRPr kumimoji="0" lang="en-GB" sz="1429" b="0" i="0" u="none" strike="noStrike" kern="1200" cap="none" spc="0" normalizeH="0" baseline="0" noProof="0">
                <a:ln>
                  <a:noFill/>
                </a:ln>
                <a:solidFill>
                  <a:prstClr val="black">
                    <a:alpha val="25000"/>
                  </a:prstClr>
                </a:solidFill>
                <a:effectLst/>
                <a:uLnTx/>
                <a:uFillTx/>
                <a:ea typeface="+mn-ea"/>
                <a:cs typeface="+mn-cs"/>
              </a:endParaRPr>
            </a:p>
          </p:txBody>
        </p:sp>
        <p:sp>
          <p:nvSpPr>
            <p:cNvPr id="13" name="Rectangle 12">
              <a:extLst>
                <a:ext uri="{FF2B5EF4-FFF2-40B4-BE49-F238E27FC236}">
                  <a16:creationId xmlns:a16="http://schemas.microsoft.com/office/drawing/2014/main" id="{09DA54F5-8CE8-EE40-EC45-45845A9A3FD7}"/>
                </a:ext>
                <a:ext uri="{C183D7F6-B498-43B3-948B-1728B52AA6E4}">
                  <adec:decorative xmlns:adec="http://schemas.microsoft.com/office/drawing/2017/decorative" val="1"/>
                </a:ext>
              </a:extLst>
            </p:cNvPr>
            <p:cNvSpPr/>
            <p:nvPr/>
          </p:nvSpPr>
          <p:spPr bwMode="auto">
            <a:xfrm>
              <a:off x="2063784" y="2950245"/>
              <a:ext cx="1528509" cy="133003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alpha val="25000"/>
                    </a:schemeClr>
                  </a:solidFill>
                  <a:latin typeface="+mj-lt"/>
                </a:rPr>
                <a:t>Prove that it works</a:t>
              </a:r>
            </a:p>
          </p:txBody>
        </p:sp>
      </p:grpSp>
      <p:sp>
        <p:nvSpPr>
          <p:cNvPr id="37" name="TextBox 36">
            <a:extLst>
              <a:ext uri="{FF2B5EF4-FFF2-40B4-BE49-F238E27FC236}">
                <a16:creationId xmlns:a16="http://schemas.microsoft.com/office/drawing/2014/main" id="{29691D21-FBB6-D2F9-000D-C9584825D9B1}"/>
              </a:ext>
              <a:ext uri="{C183D7F6-B498-43B3-948B-1728B52AA6E4}">
                <adec:decorative xmlns:adec="http://schemas.microsoft.com/office/drawing/2017/decorative" val="1"/>
              </a:ext>
            </a:extLst>
          </p:cNvPr>
          <p:cNvSpPr txBox="1"/>
          <p:nvPr/>
        </p:nvSpPr>
        <p:spPr>
          <a:xfrm>
            <a:off x="8121823" y="5677592"/>
            <a:ext cx="315176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FF5C39"/>
                    </a:gs>
                    <a:gs pos="80000">
                      <a:srgbClr val="C03BC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solidFill>
                  <a:schemeClr val="bg1">
                    <a:alpha val="19000"/>
                  </a:schemeClr>
                </a:solidFill>
                <a:latin typeface="Segoe Sans Text Semibold"/>
                <a:cs typeface="Segoe Sans Text" pitchFamily="2" charset="0"/>
              </a:rPr>
              <a:t>Operationalizing</a:t>
            </a:r>
          </a:p>
          <a:p>
            <a:pPr algn="ctr" defTabSz="914400">
              <a:defRPr/>
            </a:pPr>
            <a:r>
              <a:rPr lang="en-GB" sz="1050" b="1">
                <a:solidFill>
                  <a:schemeClr val="bg1">
                    <a:alpha val="19000"/>
                  </a:schemeClr>
                </a:solidFill>
                <a:latin typeface="+mn-lt"/>
                <a:cs typeface="Segoe Sans Text" pitchFamily="2" charset="0"/>
              </a:rPr>
              <a:t>Manage &amp; Optimize</a:t>
            </a:r>
          </a:p>
        </p:txBody>
      </p:sp>
      <p:grpSp>
        <p:nvGrpSpPr>
          <p:cNvPr id="64" name="Group 63">
            <a:extLst>
              <a:ext uri="{FF2B5EF4-FFF2-40B4-BE49-F238E27FC236}">
                <a16:creationId xmlns:a16="http://schemas.microsoft.com/office/drawing/2014/main" id="{A17D7ADD-655C-E9B3-402B-B1C11EF52976}"/>
              </a:ext>
            </a:extLst>
          </p:cNvPr>
          <p:cNvGrpSpPr/>
          <p:nvPr/>
        </p:nvGrpSpPr>
        <p:grpSpPr>
          <a:xfrm>
            <a:off x="7935661" y="1857394"/>
            <a:ext cx="3524090" cy="3524090"/>
            <a:chOff x="7935661" y="1857394"/>
            <a:chExt cx="3524090" cy="3524090"/>
          </a:xfrm>
        </p:grpSpPr>
        <p:sp>
          <p:nvSpPr>
            <p:cNvPr id="32" name="Circle: Hollow 31">
              <a:extLst>
                <a:ext uri="{FF2B5EF4-FFF2-40B4-BE49-F238E27FC236}">
                  <a16:creationId xmlns:a16="http://schemas.microsoft.com/office/drawing/2014/main" id="{D1CF99BD-D85E-A650-DDA1-80DC99758288}"/>
                </a:ext>
                <a:ext uri="{C183D7F6-B498-43B3-948B-1728B52AA6E4}">
                  <adec:decorative xmlns:adec="http://schemas.microsoft.com/office/drawing/2017/decorative" val="1"/>
                </a:ext>
              </a:extLst>
            </p:cNvPr>
            <p:cNvSpPr>
              <a:spLocks noChangeAspect="1"/>
            </p:cNvSpPr>
            <p:nvPr/>
          </p:nvSpPr>
          <p:spPr bwMode="auto">
            <a:xfrm>
              <a:off x="7935661" y="1857394"/>
              <a:ext cx="3524090" cy="3524090"/>
            </a:xfrm>
            <a:prstGeom prst="donut">
              <a:avLst>
                <a:gd name="adj" fmla="val 11141"/>
              </a:avLst>
            </a:prstGeom>
            <a:gradFill>
              <a:gsLst>
                <a:gs pos="0">
                  <a:srgbClr val="0078D4">
                    <a:alpha val="12000"/>
                  </a:srgbClr>
                </a:gs>
                <a:gs pos="80000">
                  <a:srgbClr val="399A91">
                    <a:alpha val="20000"/>
                  </a:srgbClr>
                </a:gs>
              </a:gsLst>
              <a:path path="circle">
                <a:fillToRect l="100000" t="100000"/>
              </a:path>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alpha val="25000"/>
                  </a:srgbClr>
                </a:solidFill>
                <a:effectLst/>
                <a:uLnTx/>
                <a:uFillTx/>
                <a:ea typeface="+mn-ea"/>
                <a:cs typeface="+mn-cs"/>
              </a:endParaRPr>
            </a:p>
          </p:txBody>
        </p:sp>
        <p:sp>
          <p:nvSpPr>
            <p:cNvPr id="34" name="TextBox 33">
              <a:extLst>
                <a:ext uri="{FF2B5EF4-FFF2-40B4-BE49-F238E27FC236}">
                  <a16:creationId xmlns:a16="http://schemas.microsoft.com/office/drawing/2014/main" id="{98BC3CB6-1272-91F7-34BE-95B0632A542D}"/>
                </a:ext>
                <a:ext uri="{C183D7F6-B498-43B3-948B-1728B52AA6E4}">
                  <adec:decorative xmlns:adec="http://schemas.microsoft.com/office/drawing/2017/decorative" val="1"/>
                </a:ext>
              </a:extLst>
            </p:cNvPr>
            <p:cNvSpPr txBox="1">
              <a:spLocks noChangeAspect="1"/>
            </p:cNvSpPr>
            <p:nvPr/>
          </p:nvSpPr>
          <p:spPr>
            <a:xfrm rot="7894997">
              <a:off x="8140354" y="207332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Segoe Sans Text" pitchFamily="2" charset="0"/>
                </a:rPr>
                <a:t>Continuous Evaluation &amp; Monitoring    </a:t>
              </a:r>
              <a:r>
                <a:rPr lang="en-GB" sz="1100">
                  <a:solidFill>
                    <a:srgbClr val="FFFFFF">
                      <a:alpha val="25000"/>
                    </a:srgbClr>
                  </a:solidFill>
                  <a:latin typeface="Segoe Sans Text" pitchFamily="2" charset="0"/>
                </a:rPr>
                <a:t>Quota &amp; Cost Management</a:t>
              </a:r>
              <a:endParaRPr kumimoji="0" lang="en-GB" sz="1100" b="0" i="0" u="none" strike="noStrike" kern="1200" cap="none" spc="0" normalizeH="0" baseline="0" noProof="0">
                <a:ln>
                  <a:noFill/>
                </a:ln>
                <a:solidFill>
                  <a:srgbClr val="FFFFFF">
                    <a:alpha val="25000"/>
                  </a:srgbClr>
                </a:solidFill>
                <a:effectLst/>
                <a:uLnTx/>
                <a:uFillTx/>
                <a:latin typeface="Segoe Sans Text" pitchFamily="2" charset="0"/>
              </a:endParaRPr>
            </a:p>
          </p:txBody>
        </p:sp>
        <p:sp>
          <p:nvSpPr>
            <p:cNvPr id="36" name="TextBox 35">
              <a:extLst>
                <a:ext uri="{FF2B5EF4-FFF2-40B4-BE49-F238E27FC236}">
                  <a16:creationId xmlns:a16="http://schemas.microsoft.com/office/drawing/2014/main" id="{BD4559B6-BD88-E5F4-204E-1A4A0826E054}"/>
                </a:ext>
                <a:ext uri="{C183D7F6-B498-43B3-948B-1728B52AA6E4}">
                  <adec:decorative xmlns:adec="http://schemas.microsoft.com/office/drawing/2017/decorative" val="1"/>
                </a:ext>
              </a:extLst>
            </p:cNvPr>
            <p:cNvSpPr txBox="1">
              <a:spLocks noChangeAspect="1"/>
            </p:cNvSpPr>
            <p:nvPr/>
          </p:nvSpPr>
          <p:spPr>
            <a:xfrm rot="15183746">
              <a:off x="8157551" y="1975283"/>
              <a:ext cx="3224508" cy="3224508"/>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Security and data privacy</a:t>
              </a:r>
            </a:p>
          </p:txBody>
        </p:sp>
        <p:sp>
          <p:nvSpPr>
            <p:cNvPr id="33" name="TextBox 32">
              <a:extLst>
                <a:ext uri="{FF2B5EF4-FFF2-40B4-BE49-F238E27FC236}">
                  <a16:creationId xmlns:a16="http://schemas.microsoft.com/office/drawing/2014/main" id="{6AF065D7-5899-454F-C8C1-171831614353}"/>
                </a:ext>
                <a:ext uri="{C183D7F6-B498-43B3-948B-1728B52AA6E4}">
                  <adec:decorative xmlns:adec="http://schemas.microsoft.com/office/drawing/2017/decorative" val="1"/>
                </a:ext>
              </a:extLst>
            </p:cNvPr>
            <p:cNvSpPr txBox="1">
              <a:spLocks noChangeAspect="1"/>
            </p:cNvSpPr>
            <p:nvPr/>
          </p:nvSpPr>
          <p:spPr>
            <a:xfrm rot="21287264">
              <a:off x="8148814" y="205983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a:solidFill>
                    <a:srgbClr val="FFFFFF">
                      <a:alpha val="25000"/>
                    </a:srgbClr>
                  </a:solidFill>
                  <a:latin typeface="+mj-lt"/>
                </a:rPr>
                <a:t>Deploy LLM App, UI, Model, Workflow</a:t>
              </a:r>
              <a:endParaRPr kumimoji="0" lang="en-GB" sz="1100" i="0" u="none" strike="noStrike" kern="1200" cap="none" spc="0" normalizeH="0" baseline="0" noProof="0">
                <a:ln>
                  <a:noFill/>
                </a:ln>
                <a:solidFill>
                  <a:srgbClr val="FFFFFF">
                    <a:alpha val="25000"/>
                  </a:srgbClr>
                </a:solidFill>
                <a:effectLst/>
                <a:uLnTx/>
                <a:uFillTx/>
                <a:latin typeface="+mj-lt"/>
              </a:endParaRPr>
            </a:p>
          </p:txBody>
        </p:sp>
        <p:sp>
          <p:nvSpPr>
            <p:cNvPr id="35" name="Inner &gt; Middle">
              <a:extLst>
                <a:ext uri="{FF2B5EF4-FFF2-40B4-BE49-F238E27FC236}">
                  <a16:creationId xmlns:a16="http://schemas.microsoft.com/office/drawing/2014/main" id="{039932B9-3809-CD0D-EBD8-8FA33F5C7846}"/>
                </a:ext>
                <a:ext uri="{C183D7F6-B498-43B3-948B-1728B52AA6E4}">
                  <adec:decorative xmlns:adec="http://schemas.microsoft.com/office/drawing/2017/decorative" val="1"/>
                </a:ext>
              </a:extLst>
            </p:cNvPr>
            <p:cNvSpPr>
              <a:spLocks noChangeAspect="1"/>
            </p:cNvSpPr>
            <p:nvPr/>
          </p:nvSpPr>
          <p:spPr>
            <a:xfrm flipV="1">
              <a:off x="8440406" y="2349396"/>
              <a:ext cx="2514600" cy="2514600"/>
            </a:xfrm>
            <a:prstGeom prst="arc">
              <a:avLst>
                <a:gd name="adj1" fmla="val 8319039"/>
                <a:gd name="adj2" fmla="val 8134095"/>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39" name="Rectangle 38">
              <a:extLst>
                <a:ext uri="{FF2B5EF4-FFF2-40B4-BE49-F238E27FC236}">
                  <a16:creationId xmlns:a16="http://schemas.microsoft.com/office/drawing/2014/main" id="{406DEF15-37E0-D054-FF80-7C111F12B12A}"/>
                </a:ext>
              </a:extLst>
            </p:cNvPr>
            <p:cNvSpPr/>
            <p:nvPr/>
          </p:nvSpPr>
          <p:spPr bwMode="auto">
            <a:xfrm>
              <a:off x="8669330" y="2950245"/>
              <a:ext cx="2068977" cy="1483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alpha val="25000"/>
                    </a:schemeClr>
                  </a:solidFill>
                  <a:latin typeface="+mj-lt"/>
                </a:rPr>
                <a:t>Deploying &amp; Monitoring</a:t>
              </a:r>
            </a:p>
          </p:txBody>
        </p:sp>
      </p:grpSp>
      <p:sp>
        <p:nvSpPr>
          <p:cNvPr id="40" name="BUSINESS NEED"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E6A5716D-D909-1689-D968-B3CEBD1387DC}"/>
              </a:ext>
            </a:extLst>
          </p:cNvPr>
          <p:cNvSpPr txBox="1"/>
          <p:nvPr/>
        </p:nvSpPr>
        <p:spPr>
          <a:xfrm>
            <a:off x="585217" y="2456663"/>
            <a:ext cx="818622" cy="446469"/>
          </a:xfrm>
          <a:prstGeom prst="rect">
            <a:avLst/>
          </a:prstGeom>
          <a:noFill/>
        </p:spPr>
        <p:txBody>
          <a:bodyPr wrap="none" rtlCol="0">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lang="en-US" sz="1000" b="1" spc="32">
                <a:ln w="3175">
                  <a:noFill/>
                </a:ln>
                <a:solidFill>
                  <a:schemeClr val="bg1">
                    <a:alpha val="25000"/>
                  </a:schemeClr>
                </a:solidFill>
                <a:cs typeface="Segoe Sans Text" pitchFamily="2" charset="0"/>
              </a:rPr>
              <a:t>BUSINESS</a:t>
            </a:r>
            <a:br>
              <a:rPr lang="en-US" sz="1000" b="1" spc="32">
                <a:ln w="3175">
                  <a:noFill/>
                </a:ln>
                <a:solidFill>
                  <a:schemeClr val="bg1">
                    <a:alpha val="25000"/>
                  </a:schemeClr>
                </a:solidFill>
                <a:cs typeface="Segoe Sans Text" pitchFamily="2" charset="0"/>
              </a:rPr>
            </a:br>
            <a:r>
              <a:rPr lang="en-US" sz="1000" b="1" spc="32">
                <a:ln w="3175">
                  <a:noFill/>
                </a:ln>
                <a:solidFill>
                  <a:schemeClr val="bg1">
                    <a:alpha val="25000"/>
                  </a:schemeClr>
                </a:solidFill>
                <a:cs typeface="Segoe Sans Text" pitchFamily="2" charset="0"/>
              </a:rPr>
              <a:t>NEED</a:t>
            </a:r>
          </a:p>
        </p:txBody>
      </p:sp>
      <p:sp>
        <p:nvSpPr>
          <p:cNvPr id="41"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5E4F5634-7025-6409-9E5A-11C51FAE63E6}"/>
              </a:ext>
            </a:extLst>
          </p:cNvPr>
          <p:cNvSpPr>
            <a:spLocks noChangeAspect="1"/>
          </p:cNvSpPr>
          <p:nvPr/>
        </p:nvSpPr>
        <p:spPr>
          <a:xfrm flipH="1">
            <a:off x="1100697" y="2179207"/>
            <a:ext cx="1530771" cy="1531095"/>
          </a:xfrm>
          <a:prstGeom prst="arc">
            <a:avLst>
              <a:gd name="adj1" fmla="val 14631255"/>
              <a:gd name="adj2" fmla="val 19066496"/>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5" name="PREPARE FOR APP DEPLOYMENT">
            <a:extLst>
              <a:ext uri="{FF2B5EF4-FFF2-40B4-BE49-F238E27FC236}">
                <a16:creationId xmlns:a16="http://schemas.microsoft.com/office/drawing/2014/main" id="{F548DAB4-782D-BFE2-A246-0C5026923507}"/>
              </a:ext>
              <a:ext uri="{C183D7F6-B498-43B3-948B-1728B52AA6E4}">
                <adec:decorative xmlns:adec="http://schemas.microsoft.com/office/drawing/2017/decorative" val="1"/>
              </a:ext>
            </a:extLst>
          </p:cNvPr>
          <p:cNvSpPr txBox="1"/>
          <p:nvPr/>
        </p:nvSpPr>
        <p:spPr>
          <a:xfrm rot="21253932">
            <a:off x="5868077" y="1262647"/>
            <a:ext cx="3878850" cy="2699173"/>
          </a:xfrm>
          <a:prstGeom prst="ellipse">
            <a:avLst/>
          </a:prstGeom>
          <a:noFill/>
          <a:effectLst/>
        </p:spPr>
        <p:txBody>
          <a:bodyPr wrap="none" rtlCol="0">
            <a:prstTxWarp prst="textArchUp">
              <a:avLst>
                <a:gd name="adj" fmla="val 12686236"/>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ADVANCE PROJECT</a:t>
            </a:r>
            <a:endParaRPr kumimoji="0" lang="en-US" sz="1000" b="1" i="0" u="sng" strike="noStrike" kern="1200" cap="none" spc="32" normalizeH="0" baseline="0" noProof="0">
              <a:ln w="3175">
                <a:noFill/>
              </a:ln>
              <a:solidFill>
                <a:schemeClr val="bg1"/>
              </a:solidFill>
              <a:effectLst/>
              <a:uLnTx/>
              <a:uFillTx/>
              <a:ea typeface="+mn-ea"/>
              <a:cs typeface="Segoe Sans Text" pitchFamily="2" charset="0"/>
            </a:endParaRPr>
          </a:p>
        </p:txBody>
      </p:sp>
      <p:sp>
        <p:nvSpPr>
          <p:cNvPr id="14" name="ADVANCE PROJECT">
            <a:extLst>
              <a:ext uri="{FF2B5EF4-FFF2-40B4-BE49-F238E27FC236}">
                <a16:creationId xmlns:a16="http://schemas.microsoft.com/office/drawing/2014/main" id="{CEB2C9FA-97D8-8B96-055E-934664BF7BB2}"/>
              </a:ext>
              <a:ext uri="{C183D7F6-B498-43B3-948B-1728B52AA6E4}">
                <adec:decorative xmlns:adec="http://schemas.microsoft.com/office/drawing/2017/decorative" val="1"/>
              </a:ext>
            </a:extLst>
          </p:cNvPr>
          <p:cNvSpPr txBox="1"/>
          <p:nvPr/>
        </p:nvSpPr>
        <p:spPr>
          <a:xfrm>
            <a:off x="3121831" y="1640554"/>
            <a:ext cx="2444525" cy="1207961"/>
          </a:xfrm>
          <a:prstGeom prst="ellipse">
            <a:avLst/>
          </a:prstGeom>
          <a:noFill/>
        </p:spPr>
        <p:txBody>
          <a:bodyPr wrap="none" rtlCol="0">
            <a:prstTxWarp prst="textArchUp">
              <a:avLst>
                <a:gd name="adj" fmla="val 12451684"/>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ADVANCE PROJECT </a:t>
            </a:r>
          </a:p>
        </p:txBody>
      </p:sp>
      <p:sp>
        <p:nvSpPr>
          <p:cNvPr id="16" name="REVERT PROJECT">
            <a:extLst>
              <a:ext uri="{FF2B5EF4-FFF2-40B4-BE49-F238E27FC236}">
                <a16:creationId xmlns:a16="http://schemas.microsoft.com/office/drawing/2014/main" id="{CCD7A50F-0730-B0A6-E248-43250EC5FB9C}"/>
              </a:ext>
              <a:ext uri="{C183D7F6-B498-43B3-948B-1728B52AA6E4}">
                <adec:decorative xmlns:adec="http://schemas.microsoft.com/office/drawing/2017/decorative" val="1"/>
              </a:ext>
            </a:extLst>
          </p:cNvPr>
          <p:cNvSpPr txBox="1"/>
          <p:nvPr/>
        </p:nvSpPr>
        <p:spPr>
          <a:xfrm>
            <a:off x="3505086" y="4416510"/>
            <a:ext cx="1550538" cy="726100"/>
          </a:xfrm>
          <a:prstGeom prst="rect">
            <a:avLst/>
          </a:prstGeom>
          <a:noFill/>
        </p:spPr>
        <p:txBody>
          <a:bodyPr wrap="none" rtlCol="0">
            <a:prstTxWarp prst="textArchDown">
              <a:avLst>
                <a:gd name="adj" fmla="val 1375053"/>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REVERT PROJECT</a:t>
            </a:r>
          </a:p>
        </p:txBody>
      </p:sp>
      <p:sp>
        <p:nvSpPr>
          <p:cNvPr id="27" name="Inner &gt; Middle">
            <a:extLst>
              <a:ext uri="{FF2B5EF4-FFF2-40B4-BE49-F238E27FC236}">
                <a16:creationId xmlns:a16="http://schemas.microsoft.com/office/drawing/2014/main" id="{81BE5EBA-7091-D018-9A37-E9AD7F4C004C}"/>
              </a:ext>
              <a:ext uri="{C183D7F6-B498-43B3-948B-1728B52AA6E4}">
                <adec:decorative xmlns:adec="http://schemas.microsoft.com/office/drawing/2017/decorative" val="1"/>
              </a:ext>
            </a:extLst>
          </p:cNvPr>
          <p:cNvSpPr>
            <a:spLocks noChangeAspect="1"/>
          </p:cNvSpPr>
          <p:nvPr/>
        </p:nvSpPr>
        <p:spPr>
          <a:xfrm flipV="1">
            <a:off x="6111799" y="1795961"/>
            <a:ext cx="3549106" cy="3549106"/>
          </a:xfrm>
          <a:prstGeom prst="arc">
            <a:avLst>
              <a:gd name="adj1" fmla="val 3543377"/>
              <a:gd name="adj2" fmla="val 787719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38" name="Inner &gt; Middle">
            <a:extLst>
              <a:ext uri="{FF2B5EF4-FFF2-40B4-BE49-F238E27FC236}">
                <a16:creationId xmlns:a16="http://schemas.microsoft.com/office/drawing/2014/main" id="{B329A070-34A0-755E-E438-BF32F68025F1}"/>
              </a:ext>
              <a:ext uri="{C183D7F6-B498-43B3-948B-1728B52AA6E4}">
                <adec:decorative xmlns:adec="http://schemas.microsoft.com/office/drawing/2017/decorative" val="1"/>
              </a:ext>
            </a:extLst>
          </p:cNvPr>
          <p:cNvSpPr>
            <a:spLocks noChangeAspect="1"/>
          </p:cNvSpPr>
          <p:nvPr/>
        </p:nvSpPr>
        <p:spPr>
          <a:xfrm flipV="1">
            <a:off x="2565152" y="1965661"/>
            <a:ext cx="3563916" cy="3563915"/>
          </a:xfrm>
          <a:prstGeom prst="arc">
            <a:avLst>
              <a:gd name="adj1" fmla="val 3562138"/>
              <a:gd name="adj2" fmla="val 7573784"/>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42"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4D65C303-EBFD-C695-02C2-88D916EC0EA4}"/>
              </a:ext>
            </a:extLst>
          </p:cNvPr>
          <p:cNvSpPr>
            <a:spLocks noChangeAspect="1"/>
          </p:cNvSpPr>
          <p:nvPr/>
        </p:nvSpPr>
        <p:spPr>
          <a:xfrm flipH="1">
            <a:off x="2496712" y="1737790"/>
            <a:ext cx="3549107" cy="3549106"/>
          </a:xfrm>
          <a:prstGeom prst="arc">
            <a:avLst>
              <a:gd name="adj1" fmla="val 3234220"/>
              <a:gd name="adj2" fmla="val 7877199"/>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43" name="TextBox 42">
            <a:extLst>
              <a:ext uri="{FF2B5EF4-FFF2-40B4-BE49-F238E27FC236}">
                <a16:creationId xmlns:a16="http://schemas.microsoft.com/office/drawing/2014/main" id="{241F8ED2-5876-2AEE-2038-F3DE8D7EE82A}"/>
              </a:ext>
              <a:ext uri="{C183D7F6-B498-43B3-948B-1728B52AA6E4}">
                <adec:decorative xmlns:adec="http://schemas.microsoft.com/office/drawing/2017/decorative" val="1"/>
              </a:ext>
            </a:extLst>
          </p:cNvPr>
          <p:cNvSpPr txBox="1"/>
          <p:nvPr/>
        </p:nvSpPr>
        <p:spPr>
          <a:xfrm>
            <a:off x="4676618" y="5682066"/>
            <a:ext cx="2798819"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C03BC4"/>
                    </a:gs>
                    <a:gs pos="80000">
                      <a:srgbClr val="0078D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gradFill>
                  <a:gsLst>
                    <a:gs pos="0">
                      <a:srgbClr val="BDF2BD"/>
                    </a:gs>
                    <a:gs pos="100000">
                      <a:srgbClr val="C3E9FC"/>
                    </a:gs>
                  </a:gsLst>
                  <a:lin ang="5400000" scaled="1"/>
                </a:gradFill>
                <a:latin typeface="Segoe Sans Text Semibold"/>
                <a:cs typeface="Segoe Sans Text" pitchFamily="2" charset="0"/>
              </a:rPr>
              <a:t>Optimizing</a:t>
            </a:r>
          </a:p>
          <a:p>
            <a:pPr algn="ctr" defTabSz="914400">
              <a:defRPr/>
            </a:pPr>
            <a:r>
              <a:rPr lang="en-GB" sz="1050" b="1">
                <a:solidFill>
                  <a:schemeClr val="bg1"/>
                </a:solidFill>
                <a:latin typeface="+mn-lt"/>
                <a:cs typeface="Segoe Sans Text" pitchFamily="2" charset="0"/>
              </a:rPr>
              <a:t>Design &amp; Customize</a:t>
            </a:r>
          </a:p>
        </p:txBody>
      </p:sp>
      <p:grpSp>
        <p:nvGrpSpPr>
          <p:cNvPr id="44" name="Group 43">
            <a:extLst>
              <a:ext uri="{FF2B5EF4-FFF2-40B4-BE49-F238E27FC236}">
                <a16:creationId xmlns:a16="http://schemas.microsoft.com/office/drawing/2014/main" id="{80482345-1BDE-346E-0988-1103742676CB}"/>
              </a:ext>
            </a:extLst>
          </p:cNvPr>
          <p:cNvGrpSpPr/>
          <p:nvPr/>
        </p:nvGrpSpPr>
        <p:grpSpPr>
          <a:xfrm>
            <a:off x="4278933" y="1544233"/>
            <a:ext cx="3378292" cy="3673783"/>
            <a:chOff x="4278933" y="1544233"/>
            <a:chExt cx="3378292" cy="3673783"/>
          </a:xfrm>
        </p:grpSpPr>
        <p:sp useBgFill="1">
          <p:nvSpPr>
            <p:cNvPr id="45" name="Circle: Hollow 44">
              <a:extLst>
                <a:ext uri="{FF2B5EF4-FFF2-40B4-BE49-F238E27FC236}">
                  <a16:creationId xmlns:a16="http://schemas.microsoft.com/office/drawing/2014/main" id="{27F10D37-D842-652F-0FD6-F0474B85D492}"/>
                </a:ext>
                <a:ext uri="{C183D7F6-B498-43B3-948B-1728B52AA6E4}">
                  <adec:decorative xmlns:adec="http://schemas.microsoft.com/office/drawing/2017/decorative" val="1"/>
                </a:ext>
              </a:extLst>
            </p:cNvPr>
            <p:cNvSpPr>
              <a:spLocks noChangeAspect="1"/>
            </p:cNvSpPr>
            <p:nvPr/>
          </p:nvSpPr>
          <p:spPr bwMode="auto">
            <a:xfrm rot="1000141">
              <a:off x="4460071" y="2020862"/>
              <a:ext cx="3197154" cy="3197154"/>
            </a:xfrm>
            <a:prstGeom prst="donut">
              <a:avLst>
                <a:gd name="adj" fmla="val 11285"/>
              </a:avLst>
            </a:prstGeom>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ea typeface="+mn-ea"/>
                <a:cs typeface="+mn-cs"/>
              </a:endParaRPr>
            </a:p>
          </p:txBody>
        </p:sp>
        <p:sp>
          <p:nvSpPr>
            <p:cNvPr id="46" name="TextBox 45">
              <a:extLst>
                <a:ext uri="{FF2B5EF4-FFF2-40B4-BE49-F238E27FC236}">
                  <a16:creationId xmlns:a16="http://schemas.microsoft.com/office/drawing/2014/main" id="{9047EA05-FDC3-1684-8A19-F69E05E9B9C2}"/>
                </a:ext>
                <a:ext uri="{C183D7F6-B498-43B3-948B-1728B52AA6E4}">
                  <adec:decorative xmlns:adec="http://schemas.microsoft.com/office/drawing/2017/decorative" val="1"/>
                </a:ext>
              </a:extLst>
            </p:cNvPr>
            <p:cNvSpPr txBox="1">
              <a:spLocks noChangeAspect="1"/>
            </p:cNvSpPr>
            <p:nvPr/>
          </p:nvSpPr>
          <p:spPr>
            <a:xfrm rot="8693215">
              <a:off x="4278933" y="1544233"/>
              <a:ext cx="3111987" cy="3554728"/>
            </a:xfrm>
            <a:prstGeom prst="rect">
              <a:avLst/>
            </a:prstGeom>
            <a:noFill/>
          </p:spPr>
          <p:txBody>
            <a:bodyPr wrap="square" lIns="0" tIns="0" rIns="0" bIns="0" rtlCol="0">
              <a:prstTxWarp prst="textArchUp">
                <a:avLst>
                  <a:gd name="adj" fmla="val 12806076"/>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err="1">
                  <a:solidFill>
                    <a:srgbClr val="FFFFFF"/>
                  </a:solidFill>
                  <a:latin typeface="+mj-lt"/>
                </a:rPr>
                <a:t>Orchestraion</a:t>
              </a:r>
              <a:r>
                <a:rPr lang="en-GB" sz="1100">
                  <a:solidFill>
                    <a:srgbClr val="FFFFFF"/>
                  </a:solidFill>
                  <a:latin typeface="+mj-lt"/>
                </a:rPr>
                <a:t>   Integration    Debugging</a:t>
              </a:r>
              <a:endParaRPr kumimoji="0" lang="en-GB" sz="1100" b="0" i="0" u="none" strike="noStrike" kern="1200" cap="none" spc="0" normalizeH="0" baseline="0" noProof="0">
                <a:ln>
                  <a:noFill/>
                </a:ln>
                <a:solidFill>
                  <a:srgbClr val="FFFFFF"/>
                </a:solidFill>
                <a:effectLst/>
                <a:uLnTx/>
                <a:uFillTx/>
                <a:latin typeface="+mj-lt"/>
              </a:endParaRPr>
            </a:p>
          </p:txBody>
        </p:sp>
        <p:sp>
          <p:nvSpPr>
            <p:cNvPr id="50" name="TextBox 49">
              <a:extLst>
                <a:ext uri="{FF2B5EF4-FFF2-40B4-BE49-F238E27FC236}">
                  <a16:creationId xmlns:a16="http://schemas.microsoft.com/office/drawing/2014/main" id="{27D3EF29-9849-6313-6192-C653628A0171}"/>
                </a:ext>
                <a:ext uri="{C183D7F6-B498-43B3-948B-1728B52AA6E4}">
                  <adec:decorative xmlns:adec="http://schemas.microsoft.com/office/drawing/2017/decorative" val="1"/>
                </a:ext>
              </a:extLst>
            </p:cNvPr>
            <p:cNvSpPr txBox="1">
              <a:spLocks noChangeAspect="1"/>
            </p:cNvSpPr>
            <p:nvPr/>
          </p:nvSpPr>
          <p:spPr>
            <a:xfrm>
              <a:off x="4663552" y="2211303"/>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 Techniques - Prompt Engineering, RAG, Fine-tuning</a:t>
              </a:r>
            </a:p>
          </p:txBody>
        </p:sp>
        <p:sp>
          <p:nvSpPr>
            <p:cNvPr id="53" name="TextBox 52">
              <a:extLst>
                <a:ext uri="{FF2B5EF4-FFF2-40B4-BE49-F238E27FC236}">
                  <a16:creationId xmlns:a16="http://schemas.microsoft.com/office/drawing/2014/main" id="{CC9F6E18-F988-35C9-010A-66AAB690E364}"/>
                </a:ext>
                <a:ext uri="{C183D7F6-B498-43B3-948B-1728B52AA6E4}">
                  <adec:decorative xmlns:adec="http://schemas.microsoft.com/office/drawing/2017/decorative" val="1"/>
                </a:ext>
              </a:extLst>
            </p:cNvPr>
            <p:cNvSpPr txBox="1">
              <a:spLocks noChangeAspect="1"/>
            </p:cNvSpPr>
            <p:nvPr/>
          </p:nvSpPr>
          <p:spPr>
            <a:xfrm rot="14349291">
              <a:off x="4636304" y="2194099"/>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 Define Metrics     Evaluation</a:t>
              </a:r>
            </a:p>
          </p:txBody>
        </p:sp>
        <p:sp>
          <p:nvSpPr>
            <p:cNvPr id="56" name="Inner &gt; Middle">
              <a:extLst>
                <a:ext uri="{FF2B5EF4-FFF2-40B4-BE49-F238E27FC236}">
                  <a16:creationId xmlns:a16="http://schemas.microsoft.com/office/drawing/2014/main" id="{EAE15699-E6A0-E22C-14B2-7D430AFF7AB3}"/>
                </a:ext>
                <a:ext uri="{C183D7F6-B498-43B3-948B-1728B52AA6E4}">
                  <adec:decorative xmlns:adec="http://schemas.microsoft.com/office/drawing/2017/decorative" val="1"/>
                </a:ext>
              </a:extLst>
            </p:cNvPr>
            <p:cNvSpPr>
              <a:spLocks noChangeAspect="1"/>
            </p:cNvSpPr>
            <p:nvPr/>
          </p:nvSpPr>
          <p:spPr>
            <a:xfrm flipV="1">
              <a:off x="4933374" y="2486913"/>
              <a:ext cx="2257898" cy="2257897"/>
            </a:xfrm>
            <a:prstGeom prst="arc">
              <a:avLst>
                <a:gd name="adj1" fmla="val 7569981"/>
                <a:gd name="adj2" fmla="val 7363122"/>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57" name="Rectangle 56">
              <a:extLst>
                <a:ext uri="{FF2B5EF4-FFF2-40B4-BE49-F238E27FC236}">
                  <a16:creationId xmlns:a16="http://schemas.microsoft.com/office/drawing/2014/main" id="{25A71E07-C996-47BE-BD26-C2E60273B450}"/>
                </a:ext>
              </a:extLst>
            </p:cNvPr>
            <p:cNvSpPr/>
            <p:nvPr/>
          </p:nvSpPr>
          <p:spPr bwMode="auto">
            <a:xfrm>
              <a:off x="5102546" y="2950245"/>
              <a:ext cx="1926170" cy="142710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solidFill>
                  <a:latin typeface="+mj-lt"/>
                </a:rPr>
                <a:t>Building &amp; Augmenting</a:t>
              </a:r>
            </a:p>
          </p:txBody>
        </p:sp>
      </p:grpSp>
    </p:spTree>
    <p:extLst>
      <p:ext uri="{BB962C8B-B14F-4D97-AF65-F5344CB8AC3E}">
        <p14:creationId xmlns:p14="http://schemas.microsoft.com/office/powerpoint/2010/main" val="254087637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250" fill="hold"/>
                                        <p:tgtEl>
                                          <p:spTgt spid="47"/>
                                        </p:tgtEl>
                                        <p:attrNameLst>
                                          <p:attrName>ppt_w</p:attrName>
                                        </p:attrNameLst>
                                      </p:cBhvr>
                                      <p:tavLst>
                                        <p:tav tm="0">
                                          <p:val>
                                            <p:strVal val="2/3*#ppt_w"/>
                                          </p:val>
                                        </p:tav>
                                        <p:tav tm="100000">
                                          <p:val>
                                            <p:strVal val="#ppt_w"/>
                                          </p:val>
                                        </p:tav>
                                      </p:tavLst>
                                    </p:anim>
                                    <p:anim calcmode="lin" valueType="num">
                                      <p:cBhvr>
                                        <p:cTn id="8" dur="250" fill="hold"/>
                                        <p:tgtEl>
                                          <p:spTgt spid="47"/>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childTnLst>
                                </p:cTn>
                              </p:par>
                              <p:par>
                                <p:cTn id="12" presetID="6" presetClass="emph" presetSubtype="0" fill="hold" grpId="2" nodeType="withEffect">
                                  <p:stCondLst>
                                    <p:cond delay="0"/>
                                  </p:stCondLst>
                                  <p:childTnLst>
                                    <p:animScale>
                                      <p:cBhvr>
                                        <p:cTn id="13" dur="10" fill="hold"/>
                                        <p:tgtEl>
                                          <p:spTgt spid="47"/>
                                        </p:tgtEl>
                                      </p:cBhvr>
                                      <p:by x="80000" y="80000"/>
                                    </p:animScale>
                                  </p:childTnLst>
                                </p:cTn>
                              </p:par>
                              <p:par>
                                <p:cTn id="14" presetID="6" presetClass="emph" presetSubtype="0" decel="100000" fill="hold" grpId="3" nodeType="withEffect">
                                  <p:stCondLst>
                                    <p:cond delay="0"/>
                                  </p:stCondLst>
                                  <p:childTnLst>
                                    <p:animScale>
                                      <p:cBhvr>
                                        <p:cTn id="15" dur="1000" fill="hold"/>
                                        <p:tgtEl>
                                          <p:spTgt spid="47"/>
                                        </p:tgtEl>
                                      </p:cBhvr>
                                      <p:by x="125000" y="125000"/>
                                    </p:animScale>
                                  </p:childTnLst>
                                </p:cTn>
                              </p:par>
                              <p:par>
                                <p:cTn id="16" presetID="22" presetClass="entr" presetSubtype="2" fill="hold" grpId="0" nodeType="withEffect">
                                  <p:stCondLst>
                                    <p:cond delay="800"/>
                                  </p:stCondLst>
                                  <p:childTnLst>
                                    <p:set>
                                      <p:cBhvr>
                                        <p:cTn id="17" dur="1" fill="hold">
                                          <p:stCondLst>
                                            <p:cond delay="0"/>
                                          </p:stCondLst>
                                        </p:cTn>
                                        <p:tgtEl>
                                          <p:spTgt spid="30"/>
                                        </p:tgtEl>
                                        <p:attrNameLst>
                                          <p:attrName>style.visibility</p:attrName>
                                        </p:attrNameLst>
                                      </p:cBhvr>
                                      <p:to>
                                        <p:strVal val="visible"/>
                                      </p:to>
                                    </p:set>
                                    <p:animEffect transition="in" filter="wipe(right)">
                                      <p:cBhvr>
                                        <p:cTn id="18" dur="500"/>
                                        <p:tgtEl>
                                          <p:spTgt spid="30"/>
                                        </p:tgtEl>
                                      </p:cBhvr>
                                    </p:animEffect>
                                  </p:childTnLst>
                                </p:cTn>
                              </p:par>
                              <p:par>
                                <p:cTn id="19" presetID="23" presetClass="entr" presetSubtype="272" fill="hold" nodeType="withEffect">
                                  <p:stCondLst>
                                    <p:cond delay="0"/>
                                  </p:stCondLst>
                                  <p:childTnLst>
                                    <p:set>
                                      <p:cBhvr>
                                        <p:cTn id="20" dur="1" fill="hold">
                                          <p:stCondLst>
                                            <p:cond delay="0"/>
                                          </p:stCondLst>
                                        </p:cTn>
                                        <p:tgtEl>
                                          <p:spTgt spid="62"/>
                                        </p:tgtEl>
                                        <p:attrNameLst>
                                          <p:attrName>style.visibility</p:attrName>
                                        </p:attrNameLst>
                                      </p:cBhvr>
                                      <p:to>
                                        <p:strVal val="visible"/>
                                      </p:to>
                                    </p:set>
                                    <p:anim calcmode="lin" valueType="num">
                                      <p:cBhvr>
                                        <p:cTn id="21" dur="250" fill="hold"/>
                                        <p:tgtEl>
                                          <p:spTgt spid="62"/>
                                        </p:tgtEl>
                                        <p:attrNameLst>
                                          <p:attrName>ppt_w</p:attrName>
                                        </p:attrNameLst>
                                      </p:cBhvr>
                                      <p:tavLst>
                                        <p:tav tm="0">
                                          <p:val>
                                            <p:strVal val="2/3*#ppt_w"/>
                                          </p:val>
                                        </p:tav>
                                        <p:tav tm="100000">
                                          <p:val>
                                            <p:strVal val="#ppt_w"/>
                                          </p:val>
                                        </p:tav>
                                      </p:tavLst>
                                    </p:anim>
                                    <p:anim calcmode="lin" valueType="num">
                                      <p:cBhvr>
                                        <p:cTn id="22" dur="250" fill="hold"/>
                                        <p:tgtEl>
                                          <p:spTgt spid="62"/>
                                        </p:tgtEl>
                                        <p:attrNameLst>
                                          <p:attrName>ppt_h</p:attrName>
                                        </p:attrNameLst>
                                      </p:cBhvr>
                                      <p:tavLst>
                                        <p:tav tm="0">
                                          <p:val>
                                            <p:strVal val="2/3*#ppt_h"/>
                                          </p:val>
                                        </p:tav>
                                        <p:tav tm="100000">
                                          <p:val>
                                            <p:strVal val="#ppt_h"/>
                                          </p:val>
                                        </p:tav>
                                      </p:tavLst>
                                    </p:anim>
                                  </p:childTnLst>
                                </p:cTn>
                              </p:par>
                              <p:par>
                                <p:cTn id="23" presetID="10" presetClass="entr" presetSubtype="0" fill="hold" nodeType="with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fade">
                                      <p:cBhvr>
                                        <p:cTn id="25" dur="500"/>
                                        <p:tgtEl>
                                          <p:spTgt spid="62"/>
                                        </p:tgtEl>
                                      </p:cBhvr>
                                    </p:animEffect>
                                  </p:childTnLst>
                                </p:cTn>
                              </p:par>
                              <p:par>
                                <p:cTn id="26" presetID="6" presetClass="emph" presetSubtype="0" fill="hold" nodeType="withEffect">
                                  <p:stCondLst>
                                    <p:cond delay="0"/>
                                  </p:stCondLst>
                                  <p:childTnLst>
                                    <p:animScale>
                                      <p:cBhvr>
                                        <p:cTn id="27" dur="10" fill="hold"/>
                                        <p:tgtEl>
                                          <p:spTgt spid="62"/>
                                        </p:tgtEl>
                                      </p:cBhvr>
                                      <p:by x="80000" y="80000"/>
                                    </p:animScale>
                                  </p:childTnLst>
                                </p:cTn>
                              </p:par>
                              <p:par>
                                <p:cTn id="28" presetID="6" presetClass="emph" presetSubtype="0" decel="100000" fill="hold" nodeType="withEffect">
                                  <p:stCondLst>
                                    <p:cond delay="0"/>
                                  </p:stCondLst>
                                  <p:childTnLst>
                                    <p:animScale>
                                      <p:cBhvr>
                                        <p:cTn id="29" dur="1000" fill="hold"/>
                                        <p:tgtEl>
                                          <p:spTgt spid="62"/>
                                        </p:tgtEl>
                                      </p:cBhvr>
                                      <p:by x="125000" y="125000"/>
                                    </p:animScale>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23" presetClass="entr" presetSubtype="272" fill="hold" nodeType="withEffect">
                                  <p:stCondLst>
                                    <p:cond delay="400"/>
                                  </p:stCondLst>
                                  <p:childTnLst>
                                    <p:set>
                                      <p:cBhvr>
                                        <p:cTn id="34" dur="1" fill="hold">
                                          <p:stCondLst>
                                            <p:cond delay="0"/>
                                          </p:stCondLst>
                                        </p:cTn>
                                        <p:tgtEl>
                                          <p:spTgt spid="64"/>
                                        </p:tgtEl>
                                        <p:attrNameLst>
                                          <p:attrName>style.visibility</p:attrName>
                                        </p:attrNameLst>
                                      </p:cBhvr>
                                      <p:to>
                                        <p:strVal val="visible"/>
                                      </p:to>
                                    </p:set>
                                    <p:anim calcmode="lin" valueType="num">
                                      <p:cBhvr>
                                        <p:cTn id="35" dur="250" fill="hold"/>
                                        <p:tgtEl>
                                          <p:spTgt spid="64"/>
                                        </p:tgtEl>
                                        <p:attrNameLst>
                                          <p:attrName>ppt_w</p:attrName>
                                        </p:attrNameLst>
                                      </p:cBhvr>
                                      <p:tavLst>
                                        <p:tav tm="0">
                                          <p:val>
                                            <p:strVal val="2/3*#ppt_w"/>
                                          </p:val>
                                        </p:tav>
                                        <p:tav tm="100000">
                                          <p:val>
                                            <p:strVal val="#ppt_w"/>
                                          </p:val>
                                        </p:tav>
                                      </p:tavLst>
                                    </p:anim>
                                    <p:anim calcmode="lin" valueType="num">
                                      <p:cBhvr>
                                        <p:cTn id="36" dur="250" fill="hold"/>
                                        <p:tgtEl>
                                          <p:spTgt spid="64"/>
                                        </p:tgtEl>
                                        <p:attrNameLst>
                                          <p:attrName>ppt_h</p:attrName>
                                        </p:attrNameLst>
                                      </p:cBhvr>
                                      <p:tavLst>
                                        <p:tav tm="0">
                                          <p:val>
                                            <p:strVal val="2/3*#ppt_h"/>
                                          </p:val>
                                        </p:tav>
                                        <p:tav tm="100000">
                                          <p:val>
                                            <p:strVal val="#ppt_h"/>
                                          </p:val>
                                        </p:tav>
                                      </p:tavLst>
                                    </p:anim>
                                  </p:childTnLst>
                                </p:cTn>
                              </p:par>
                              <p:par>
                                <p:cTn id="37" presetID="10" presetClass="entr" presetSubtype="0" fill="hold" nodeType="withEffect">
                                  <p:stCondLst>
                                    <p:cond delay="400"/>
                                  </p:stCondLst>
                                  <p:childTnLst>
                                    <p:set>
                                      <p:cBhvr>
                                        <p:cTn id="38" dur="1" fill="hold">
                                          <p:stCondLst>
                                            <p:cond delay="0"/>
                                          </p:stCondLst>
                                        </p:cTn>
                                        <p:tgtEl>
                                          <p:spTgt spid="64"/>
                                        </p:tgtEl>
                                        <p:attrNameLst>
                                          <p:attrName>style.visibility</p:attrName>
                                        </p:attrNameLst>
                                      </p:cBhvr>
                                      <p:to>
                                        <p:strVal val="visible"/>
                                      </p:to>
                                    </p:set>
                                    <p:animEffect transition="in" filter="fade">
                                      <p:cBhvr>
                                        <p:cTn id="39" dur="500"/>
                                        <p:tgtEl>
                                          <p:spTgt spid="64"/>
                                        </p:tgtEl>
                                      </p:cBhvr>
                                    </p:animEffect>
                                  </p:childTnLst>
                                </p:cTn>
                              </p:par>
                              <p:par>
                                <p:cTn id="40" presetID="6" presetClass="emph" presetSubtype="0" fill="hold" nodeType="withEffect">
                                  <p:stCondLst>
                                    <p:cond delay="400"/>
                                  </p:stCondLst>
                                  <p:childTnLst>
                                    <p:animScale>
                                      <p:cBhvr>
                                        <p:cTn id="41" dur="10" fill="hold"/>
                                        <p:tgtEl>
                                          <p:spTgt spid="64"/>
                                        </p:tgtEl>
                                      </p:cBhvr>
                                      <p:by x="80000" y="80000"/>
                                    </p:animScale>
                                  </p:childTnLst>
                                </p:cTn>
                              </p:par>
                              <p:par>
                                <p:cTn id="42" presetID="6" presetClass="emph" presetSubtype="0" decel="100000" fill="hold" nodeType="withEffect">
                                  <p:stCondLst>
                                    <p:cond delay="400"/>
                                  </p:stCondLst>
                                  <p:childTnLst>
                                    <p:animScale>
                                      <p:cBhvr>
                                        <p:cTn id="43" dur="1000" fill="hold"/>
                                        <p:tgtEl>
                                          <p:spTgt spid="64"/>
                                        </p:tgtEl>
                                      </p:cBhvr>
                                      <p:by x="125000" y="125000"/>
                                    </p:animScale>
                                  </p:childTnLst>
                                </p:cTn>
                              </p:par>
                              <p:par>
                                <p:cTn id="44" presetID="10" presetClass="entr" presetSubtype="0" fill="hold" grpId="0" nodeType="withEffect">
                                  <p:stCondLst>
                                    <p:cond delay="40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grpId="0" nodeType="withEffect">
                                  <p:stCondLst>
                                    <p:cond delay="40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par>
                                <p:cTn id="50" presetID="10" presetClass="entr" presetSubtype="0" fill="hold" grpId="0" nodeType="withEffect">
                                  <p:stCondLst>
                                    <p:cond delay="40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3" presetID="10" presetClass="entr" presetSubtype="0" fill="hold" grpId="0" nodeType="withEffect">
                                  <p:stCondLst>
                                    <p:cond delay="40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par>
                                <p:cTn id="56" presetID="10" presetClass="entr" presetSubtype="0" fill="hold" grpId="0" nodeType="withEffect">
                                  <p:stCondLst>
                                    <p:cond delay="400"/>
                                  </p:stCondLst>
                                  <p:childTnLst>
                                    <p:set>
                                      <p:cBhvr>
                                        <p:cTn id="57" dur="1" fill="hold">
                                          <p:stCondLst>
                                            <p:cond delay="0"/>
                                          </p:stCondLst>
                                        </p:cTn>
                                        <p:tgtEl>
                                          <p:spTgt spid="3"/>
                                        </p:tgtEl>
                                        <p:attrNameLst>
                                          <p:attrName>style.visibility</p:attrName>
                                        </p:attrNameLst>
                                      </p:cBhvr>
                                      <p:to>
                                        <p:strVal val="visible"/>
                                      </p:to>
                                    </p:set>
                                    <p:animEffect transition="in" filter="fade">
                                      <p:cBhvr>
                                        <p:cTn id="58" dur="500"/>
                                        <p:tgtEl>
                                          <p:spTgt spid="3"/>
                                        </p:tgtEl>
                                      </p:cBhvr>
                                    </p:animEffect>
                                  </p:childTnLst>
                                </p:cTn>
                              </p:par>
                              <p:par>
                                <p:cTn id="59" presetID="10" presetClass="entr" presetSubtype="0" fill="hold" nodeType="withEffect">
                                  <p:stCondLst>
                                    <p:cond delay="40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500"/>
                                        <p:tgtEl>
                                          <p:spTgt spid="4"/>
                                        </p:tgtEl>
                                      </p:cBhvr>
                                    </p:animEffect>
                                  </p:childTnLst>
                                </p:cTn>
                              </p:par>
                              <p:par>
                                <p:cTn id="62" presetID="22" presetClass="entr" presetSubtype="2" fill="hold" grpId="0" nodeType="withEffect">
                                  <p:stCondLst>
                                    <p:cond delay="700"/>
                                  </p:stCondLst>
                                  <p:childTnLst>
                                    <p:set>
                                      <p:cBhvr>
                                        <p:cTn id="63" dur="1" fill="hold">
                                          <p:stCondLst>
                                            <p:cond delay="0"/>
                                          </p:stCondLst>
                                        </p:cTn>
                                        <p:tgtEl>
                                          <p:spTgt spid="42"/>
                                        </p:tgtEl>
                                        <p:attrNameLst>
                                          <p:attrName>style.visibility</p:attrName>
                                        </p:attrNameLst>
                                      </p:cBhvr>
                                      <p:to>
                                        <p:strVal val="visible"/>
                                      </p:to>
                                    </p:set>
                                    <p:animEffect transition="in" filter="wipe(right)">
                                      <p:cBhvr>
                                        <p:cTn id="64" dur="500"/>
                                        <p:tgtEl>
                                          <p:spTgt spid="42"/>
                                        </p:tgtEl>
                                      </p:cBhvr>
                                    </p:animEffect>
                                  </p:childTnLst>
                                </p:cTn>
                              </p:par>
                              <p:par>
                                <p:cTn id="65" presetID="23" presetClass="entr" presetSubtype="272" fill="hold" nodeType="withEffect">
                                  <p:stCondLst>
                                    <p:cond delay="200"/>
                                  </p:stCondLst>
                                  <p:childTnLst>
                                    <p:set>
                                      <p:cBhvr>
                                        <p:cTn id="66" dur="1" fill="hold">
                                          <p:stCondLst>
                                            <p:cond delay="0"/>
                                          </p:stCondLst>
                                        </p:cTn>
                                        <p:tgtEl>
                                          <p:spTgt spid="44"/>
                                        </p:tgtEl>
                                        <p:attrNameLst>
                                          <p:attrName>style.visibility</p:attrName>
                                        </p:attrNameLst>
                                      </p:cBhvr>
                                      <p:to>
                                        <p:strVal val="visible"/>
                                      </p:to>
                                    </p:set>
                                    <p:anim calcmode="lin" valueType="num">
                                      <p:cBhvr>
                                        <p:cTn id="67" dur="250" fill="hold"/>
                                        <p:tgtEl>
                                          <p:spTgt spid="44"/>
                                        </p:tgtEl>
                                        <p:attrNameLst>
                                          <p:attrName>ppt_w</p:attrName>
                                        </p:attrNameLst>
                                      </p:cBhvr>
                                      <p:tavLst>
                                        <p:tav tm="0">
                                          <p:val>
                                            <p:strVal val="2/3*#ppt_w"/>
                                          </p:val>
                                        </p:tav>
                                        <p:tav tm="100000">
                                          <p:val>
                                            <p:strVal val="#ppt_w"/>
                                          </p:val>
                                        </p:tav>
                                      </p:tavLst>
                                    </p:anim>
                                    <p:anim calcmode="lin" valueType="num">
                                      <p:cBhvr>
                                        <p:cTn id="68" dur="250" fill="hold"/>
                                        <p:tgtEl>
                                          <p:spTgt spid="44"/>
                                        </p:tgtEl>
                                        <p:attrNameLst>
                                          <p:attrName>ppt_h</p:attrName>
                                        </p:attrNameLst>
                                      </p:cBhvr>
                                      <p:tavLst>
                                        <p:tav tm="0">
                                          <p:val>
                                            <p:strVal val="2/3*#ppt_h"/>
                                          </p:val>
                                        </p:tav>
                                        <p:tav tm="100000">
                                          <p:val>
                                            <p:strVal val="#ppt_h"/>
                                          </p:val>
                                        </p:tav>
                                      </p:tavLst>
                                    </p:anim>
                                  </p:childTnLst>
                                </p:cTn>
                              </p:par>
                              <p:par>
                                <p:cTn id="69" presetID="10" presetClass="entr" presetSubtype="0" fill="hold" nodeType="withEffect">
                                  <p:stCondLst>
                                    <p:cond delay="200"/>
                                  </p:stCondLst>
                                  <p:childTnLst>
                                    <p:set>
                                      <p:cBhvr>
                                        <p:cTn id="70" dur="1" fill="hold">
                                          <p:stCondLst>
                                            <p:cond delay="0"/>
                                          </p:stCondLst>
                                        </p:cTn>
                                        <p:tgtEl>
                                          <p:spTgt spid="44"/>
                                        </p:tgtEl>
                                        <p:attrNameLst>
                                          <p:attrName>style.visibility</p:attrName>
                                        </p:attrNameLst>
                                      </p:cBhvr>
                                      <p:to>
                                        <p:strVal val="visible"/>
                                      </p:to>
                                    </p:set>
                                    <p:animEffect transition="in" filter="fade">
                                      <p:cBhvr>
                                        <p:cTn id="71" dur="500"/>
                                        <p:tgtEl>
                                          <p:spTgt spid="44"/>
                                        </p:tgtEl>
                                      </p:cBhvr>
                                    </p:animEffect>
                                  </p:childTnLst>
                                </p:cTn>
                              </p:par>
                              <p:par>
                                <p:cTn id="72" presetID="6" presetClass="emph" presetSubtype="0" fill="hold" nodeType="withEffect">
                                  <p:stCondLst>
                                    <p:cond delay="200"/>
                                  </p:stCondLst>
                                  <p:childTnLst>
                                    <p:animScale>
                                      <p:cBhvr>
                                        <p:cTn id="73" dur="10" fill="hold"/>
                                        <p:tgtEl>
                                          <p:spTgt spid="44"/>
                                        </p:tgtEl>
                                      </p:cBhvr>
                                      <p:by x="80000" y="80000"/>
                                    </p:animScale>
                                  </p:childTnLst>
                                </p:cTn>
                              </p:par>
                              <p:par>
                                <p:cTn id="74" presetID="6" presetClass="emph" presetSubtype="0" decel="100000" fill="hold" nodeType="withEffect">
                                  <p:stCondLst>
                                    <p:cond delay="200"/>
                                  </p:stCondLst>
                                  <p:childTnLst>
                                    <p:animScale>
                                      <p:cBhvr>
                                        <p:cTn id="75" dur="1000" fill="hold"/>
                                        <p:tgtEl>
                                          <p:spTgt spid="44"/>
                                        </p:tgtEl>
                                      </p:cBhvr>
                                      <p:by x="125000" y="125000"/>
                                    </p:animScale>
                                  </p:childTnLst>
                                </p:cTn>
                              </p:par>
                              <p:par>
                                <p:cTn id="76" presetID="10" presetClass="entr" presetSubtype="0" fill="hold" grpId="0" nodeType="withEffect">
                                  <p:stCondLst>
                                    <p:cond delay="20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500"/>
                                        <p:tgtEl>
                                          <p:spTgt spid="43"/>
                                        </p:tgtEl>
                                      </p:cBhvr>
                                    </p:animEffect>
                                  </p:childTnLst>
                                </p:cTn>
                              </p:par>
                              <p:par>
                                <p:cTn id="79" presetID="10" presetClass="entr" presetSubtype="0" fill="hold" grpId="0" nodeType="withEffect">
                                  <p:stCondLst>
                                    <p:cond delay="40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childTnLst>
                                </p:cTn>
                              </p:par>
                              <p:par>
                                <p:cTn id="82" presetID="10" presetClass="entr" presetSubtype="0" fill="hold" grpId="0" nodeType="withEffect">
                                  <p:stCondLst>
                                    <p:cond delay="400"/>
                                  </p:stCondLst>
                                  <p:childTnLst>
                                    <p:set>
                                      <p:cBhvr>
                                        <p:cTn id="83" dur="1" fill="hold">
                                          <p:stCondLst>
                                            <p:cond delay="0"/>
                                          </p:stCondLst>
                                        </p:cTn>
                                        <p:tgtEl>
                                          <p:spTgt spid="14"/>
                                        </p:tgtEl>
                                        <p:attrNameLst>
                                          <p:attrName>style.visibility</p:attrName>
                                        </p:attrNameLst>
                                      </p:cBhvr>
                                      <p:to>
                                        <p:strVal val="visible"/>
                                      </p:to>
                                    </p:set>
                                    <p:animEffect transition="in" filter="fade">
                                      <p:cBhvr>
                                        <p:cTn id="84" dur="500"/>
                                        <p:tgtEl>
                                          <p:spTgt spid="14"/>
                                        </p:tgtEl>
                                      </p:cBhvr>
                                    </p:animEffect>
                                  </p:childTnLst>
                                </p:cTn>
                              </p:par>
                              <p:par>
                                <p:cTn id="85" presetID="10" presetClass="entr" presetSubtype="0" fill="hold" grpId="0" nodeType="withEffect">
                                  <p:stCondLst>
                                    <p:cond delay="400"/>
                                  </p:stCondLst>
                                  <p:childTnLst>
                                    <p:set>
                                      <p:cBhvr>
                                        <p:cTn id="86" dur="1" fill="hold">
                                          <p:stCondLst>
                                            <p:cond delay="0"/>
                                          </p:stCondLst>
                                        </p:cTn>
                                        <p:tgtEl>
                                          <p:spTgt spid="5"/>
                                        </p:tgtEl>
                                        <p:attrNameLst>
                                          <p:attrName>style.visibility</p:attrName>
                                        </p:attrNameLst>
                                      </p:cBhvr>
                                      <p:to>
                                        <p:strVal val="visible"/>
                                      </p:to>
                                    </p:set>
                                    <p:animEffect transition="in" filter="fade">
                                      <p:cBhvr>
                                        <p:cTn id="87" dur="500"/>
                                        <p:tgtEl>
                                          <p:spTgt spid="5"/>
                                        </p:tgtEl>
                                      </p:cBhvr>
                                    </p:animEffect>
                                  </p:childTnLst>
                                </p:cTn>
                              </p:par>
                              <p:par>
                                <p:cTn id="88" presetID="22" presetClass="entr" presetSubtype="8" fill="hold" grpId="0" nodeType="withEffect">
                                  <p:stCondLst>
                                    <p:cond delay="400"/>
                                  </p:stCondLst>
                                  <p:childTnLst>
                                    <p:set>
                                      <p:cBhvr>
                                        <p:cTn id="89" dur="1" fill="hold">
                                          <p:stCondLst>
                                            <p:cond delay="0"/>
                                          </p:stCondLst>
                                        </p:cTn>
                                        <p:tgtEl>
                                          <p:spTgt spid="38"/>
                                        </p:tgtEl>
                                        <p:attrNameLst>
                                          <p:attrName>style.visibility</p:attrName>
                                        </p:attrNameLst>
                                      </p:cBhvr>
                                      <p:to>
                                        <p:strVal val="visible"/>
                                      </p:to>
                                    </p:set>
                                    <p:animEffect transition="in" filter="wipe(left)">
                                      <p:cBhvr>
                                        <p:cTn id="90" dur="500"/>
                                        <p:tgtEl>
                                          <p:spTgt spid="38"/>
                                        </p:tgtEl>
                                      </p:cBhvr>
                                    </p:animEffect>
                                  </p:childTnLst>
                                </p:cTn>
                              </p:par>
                              <p:par>
                                <p:cTn id="91" presetID="22" presetClass="entr" presetSubtype="8" fill="hold" grpId="0" nodeType="withEffect">
                                  <p:stCondLst>
                                    <p:cond delay="500"/>
                                  </p:stCondLst>
                                  <p:childTnLst>
                                    <p:set>
                                      <p:cBhvr>
                                        <p:cTn id="92" dur="1" fill="hold">
                                          <p:stCondLst>
                                            <p:cond delay="0"/>
                                          </p:stCondLst>
                                        </p:cTn>
                                        <p:tgtEl>
                                          <p:spTgt spid="27"/>
                                        </p:tgtEl>
                                        <p:attrNameLst>
                                          <p:attrName>style.visibility</p:attrName>
                                        </p:attrNameLst>
                                      </p:cBhvr>
                                      <p:to>
                                        <p:strVal val="visible"/>
                                      </p:to>
                                    </p:set>
                                    <p:animEffect transition="in" filter="wipe(left)">
                                      <p:cBhvr>
                                        <p:cTn id="9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47" grpId="0" animBg="1"/>
      <p:bldP spid="47" grpId="1" animBg="1"/>
      <p:bldP spid="47" grpId="2" animBg="1"/>
      <p:bldP spid="47" grpId="3" animBg="1"/>
      <p:bldP spid="3" grpId="0"/>
      <p:bldP spid="12" grpId="0"/>
      <p:bldP spid="37" grpId="0"/>
      <p:bldP spid="40" grpId="0"/>
      <p:bldP spid="41" grpId="0" animBg="1"/>
      <p:bldP spid="5" grpId="0"/>
      <p:bldP spid="14" grpId="0"/>
      <p:bldP spid="16" grpId="0"/>
      <p:bldP spid="27" grpId="0" animBg="1"/>
      <p:bldP spid="38" grpId="0" animBg="1"/>
      <p:bldP spid="42" grpId="0" animBg="1"/>
      <p:bldP spid="4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3E97A-E5F7-0A11-17E8-B92F1044423D}"/>
            </a:ext>
          </a:extLst>
        </p:cNvPr>
        <p:cNvGrpSpPr/>
        <p:nvPr/>
      </p:nvGrpSpPr>
      <p:grpSpPr>
        <a:xfrm>
          <a:off x="0" y="0"/>
          <a:ext cx="0" cy="0"/>
          <a:chOff x="0" y="0"/>
          <a:chExt cx="0" cy="0"/>
        </a:xfrm>
      </p:grpSpPr>
      <p:sp>
        <p:nvSpPr>
          <p:cNvPr id="83" name="Rectangle: Rounded Corners 82">
            <a:extLst>
              <a:ext uri="{FF2B5EF4-FFF2-40B4-BE49-F238E27FC236}">
                <a16:creationId xmlns:a16="http://schemas.microsoft.com/office/drawing/2014/main" id="{4420BA78-30C8-0311-9907-79C3AFC0F3BA}"/>
              </a:ext>
            </a:extLst>
          </p:cNvPr>
          <p:cNvSpPr>
            <a:spLocks/>
          </p:cNvSpPr>
          <p:nvPr/>
        </p:nvSpPr>
        <p:spPr bwMode="auto">
          <a:xfrm>
            <a:off x="1789187" y="2003742"/>
            <a:ext cx="6230206" cy="444961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44" name="Title 1">
            <a:extLst>
              <a:ext uri="{FF2B5EF4-FFF2-40B4-BE49-F238E27FC236}">
                <a16:creationId xmlns:a16="http://schemas.microsoft.com/office/drawing/2014/main" id="{63F7BBD8-282C-B5EE-F50E-5C0B3230F690}"/>
              </a:ext>
            </a:extLst>
          </p:cNvPr>
          <p:cNvSpPr>
            <a:spLocks noGrp="1"/>
          </p:cNvSpPr>
          <p:nvPr>
            <p:ph type="title"/>
          </p:nvPr>
        </p:nvSpPr>
        <p:spPr/>
        <p:txBody>
          <a:bodyPr/>
          <a:lstStyle/>
          <a:p>
            <a:r>
              <a:rPr lang="en-GB">
                <a:solidFill>
                  <a:schemeClr val="bg1"/>
                </a:solidFill>
              </a:rPr>
              <a:t>Azure AI Foundry Capabilities for “Building &amp; Augmenting” </a:t>
            </a:r>
            <a:endParaRPr lang="en-US">
              <a:solidFill>
                <a:schemeClr val="bg1"/>
              </a:solidFill>
            </a:endParaRPr>
          </a:p>
        </p:txBody>
      </p:sp>
      <p:sp>
        <p:nvSpPr>
          <p:cNvPr id="92" name="TextBox 91">
            <a:extLst>
              <a:ext uri="{FF2B5EF4-FFF2-40B4-BE49-F238E27FC236}">
                <a16:creationId xmlns:a16="http://schemas.microsoft.com/office/drawing/2014/main" id="{B50CE693-0AC1-C5C4-8633-5A3AB924DA21}"/>
              </a:ext>
            </a:extLst>
          </p:cNvPr>
          <p:cNvSpPr txBox="1"/>
          <p:nvPr/>
        </p:nvSpPr>
        <p:spPr>
          <a:xfrm>
            <a:off x="2053798" y="3533440"/>
            <a:ext cx="2518202" cy="2508379"/>
          </a:xfrm>
          <a:prstGeom prst="rect">
            <a:avLst/>
          </a:prstGeom>
          <a:noFill/>
        </p:spPr>
        <p:txBody>
          <a:bodyPr wrap="square" lIns="0" tIns="0" rIns="0" bIns="0" rtlCol="0">
            <a:spAutoFit/>
          </a:bodyPr>
          <a:lstStyle/>
          <a:p>
            <a:pPr defTabSz="609630" fontAlgn="base">
              <a:spcBef>
                <a:spcPts val="600"/>
              </a:spcBef>
              <a:spcAft>
                <a:spcPct val="0"/>
              </a:spcAft>
              <a:defRPr/>
            </a:pPr>
            <a:r>
              <a:rPr lang="en-GB" sz="1600">
                <a:gradFill>
                  <a:gsLst>
                    <a:gs pos="0">
                      <a:schemeClr val="tx2">
                        <a:lumMod val="20000"/>
                        <a:lumOff val="80000"/>
                      </a:schemeClr>
                    </a:gs>
                    <a:gs pos="100000">
                      <a:schemeClr val="accent4">
                        <a:lumMod val="60000"/>
                        <a:lumOff val="40000"/>
                      </a:schemeClr>
                    </a:gs>
                  </a:gsLst>
                  <a:lin ang="2700000" scaled="0"/>
                </a:gradFill>
                <a:latin typeface="+mj-lt"/>
              </a:rPr>
              <a:t>Azure AI Foundry</a:t>
            </a:r>
          </a:p>
          <a:p>
            <a:pPr defTabSz="609630" fontAlgn="base">
              <a:spcBef>
                <a:spcPts val="1200"/>
              </a:spcBef>
              <a:spcAft>
                <a:spcPct val="0"/>
              </a:spcAft>
              <a:defRPr/>
            </a:pPr>
            <a:r>
              <a:rPr lang="en-GB" sz="1600" b="1">
                <a:solidFill>
                  <a:srgbClr val="FFFFFF"/>
                </a:solidFill>
              </a:rPr>
              <a:t>Build &amp; Customize</a:t>
            </a:r>
          </a:p>
          <a:p>
            <a:pPr marL="0" lvl="1" defTabSz="609630" fontAlgn="base">
              <a:spcBef>
                <a:spcPts val="600"/>
              </a:spcBef>
              <a:spcAft>
                <a:spcPct val="0"/>
              </a:spcAft>
              <a:defRPr/>
            </a:pPr>
            <a:r>
              <a:rPr lang="en-GB" sz="1600">
                <a:solidFill>
                  <a:srgbClr val="FFFFFF"/>
                </a:solidFill>
              </a:rPr>
              <a:t>Templates (Preview)</a:t>
            </a:r>
          </a:p>
          <a:p>
            <a:pPr marL="0" lvl="1" defTabSz="609630" fontAlgn="base">
              <a:spcBef>
                <a:spcPts val="600"/>
              </a:spcBef>
              <a:spcAft>
                <a:spcPct val="0"/>
              </a:spcAft>
              <a:defRPr/>
            </a:pPr>
            <a:r>
              <a:rPr lang="en-GB" sz="1600">
                <a:solidFill>
                  <a:srgbClr val="FFFFFF"/>
                </a:solidFill>
              </a:rPr>
              <a:t>Fine-tuning</a:t>
            </a:r>
          </a:p>
          <a:p>
            <a:pPr marL="0" lvl="1" defTabSz="609630" fontAlgn="base">
              <a:spcBef>
                <a:spcPts val="600"/>
              </a:spcBef>
              <a:spcAft>
                <a:spcPct val="0"/>
              </a:spcAft>
              <a:defRPr/>
            </a:pPr>
            <a:r>
              <a:rPr lang="en-GB" sz="1600">
                <a:solidFill>
                  <a:srgbClr val="FFFFFF"/>
                </a:solidFill>
              </a:rPr>
              <a:t>Prompt flow</a:t>
            </a:r>
          </a:p>
          <a:p>
            <a:pPr marL="0" lvl="1" defTabSz="609630" fontAlgn="base">
              <a:spcBef>
                <a:spcPts val="600"/>
              </a:spcBef>
              <a:spcAft>
                <a:spcPct val="0"/>
              </a:spcAft>
              <a:defRPr/>
            </a:pPr>
            <a:r>
              <a:rPr lang="en-GB" sz="1600">
                <a:solidFill>
                  <a:srgbClr val="FFFFFF"/>
                </a:solidFill>
              </a:rPr>
              <a:t>Content Understanding (Preview)</a:t>
            </a:r>
          </a:p>
          <a:p>
            <a:pPr marL="0" lvl="1" defTabSz="609630" fontAlgn="base">
              <a:spcBef>
                <a:spcPts val="600"/>
              </a:spcBef>
              <a:spcAft>
                <a:spcPct val="0"/>
              </a:spcAft>
              <a:defRPr/>
            </a:pPr>
            <a:r>
              <a:rPr lang="en-GB" sz="1600">
                <a:solidFill>
                  <a:srgbClr val="FFFFFF"/>
                </a:solidFill>
              </a:rPr>
              <a:t>Agents (Preview)</a:t>
            </a:r>
          </a:p>
        </p:txBody>
      </p:sp>
      <p:grpSp>
        <p:nvGrpSpPr>
          <p:cNvPr id="93" name="Group 92">
            <a:extLst>
              <a:ext uri="{FF2B5EF4-FFF2-40B4-BE49-F238E27FC236}">
                <a16:creationId xmlns:a16="http://schemas.microsoft.com/office/drawing/2014/main" id="{21AD552B-F4A6-C714-1719-6C5776E16A1C}"/>
              </a:ext>
            </a:extLst>
          </p:cNvPr>
          <p:cNvGrpSpPr/>
          <p:nvPr/>
        </p:nvGrpSpPr>
        <p:grpSpPr>
          <a:xfrm>
            <a:off x="2071726" y="2176909"/>
            <a:ext cx="1174646" cy="1174984"/>
            <a:chOff x="1600003" y="1811018"/>
            <a:chExt cx="1641521" cy="1641995"/>
          </a:xfrm>
        </p:grpSpPr>
        <p:sp>
          <p:nvSpPr>
            <p:cNvPr id="94" name="Oval 17">
              <a:extLst>
                <a:ext uri="{FF2B5EF4-FFF2-40B4-BE49-F238E27FC236}">
                  <a16:creationId xmlns:a16="http://schemas.microsoft.com/office/drawing/2014/main" id="{EB76DB1A-13D9-5D90-C389-6AD0FD5E97AC}"/>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95" name="Group 94">
              <a:extLst>
                <a:ext uri="{FF2B5EF4-FFF2-40B4-BE49-F238E27FC236}">
                  <a16:creationId xmlns:a16="http://schemas.microsoft.com/office/drawing/2014/main" id="{C153700F-0BDD-E1F7-FD93-EB289531B9C2}"/>
                </a:ext>
              </a:extLst>
            </p:cNvPr>
            <p:cNvGrpSpPr/>
            <p:nvPr/>
          </p:nvGrpSpPr>
          <p:grpSpPr>
            <a:xfrm>
              <a:off x="1714608" y="1927192"/>
              <a:ext cx="1412311" cy="1409646"/>
              <a:chOff x="1261672" y="4833937"/>
              <a:chExt cx="954296" cy="954297"/>
            </a:xfrm>
          </p:grpSpPr>
          <p:sp>
            <p:nvSpPr>
              <p:cNvPr id="96" name="Rectangle: Rounded Corners 95">
                <a:extLst>
                  <a:ext uri="{FF2B5EF4-FFF2-40B4-BE49-F238E27FC236}">
                    <a16:creationId xmlns:a16="http://schemas.microsoft.com/office/drawing/2014/main" id="{630BA4BB-D3A1-90A5-533F-9127F87E0B03}"/>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97" name="Rectangle: Rounded Corners 96">
                <a:extLst>
                  <a:ext uri="{FF2B5EF4-FFF2-40B4-BE49-F238E27FC236}">
                    <a16:creationId xmlns:a16="http://schemas.microsoft.com/office/drawing/2014/main" id="{A8DAE2E5-33C2-5822-BFDC-9BA1DF639EEC}"/>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20" name="Group 19">
            <a:extLst>
              <a:ext uri="{FF2B5EF4-FFF2-40B4-BE49-F238E27FC236}">
                <a16:creationId xmlns:a16="http://schemas.microsoft.com/office/drawing/2014/main" id="{8D20732A-1E64-DF97-6E26-23DD8D75143D}"/>
              </a:ext>
            </a:extLst>
          </p:cNvPr>
          <p:cNvGrpSpPr/>
          <p:nvPr/>
        </p:nvGrpSpPr>
        <p:grpSpPr>
          <a:xfrm>
            <a:off x="2345706" y="2471370"/>
            <a:ext cx="623201" cy="601186"/>
            <a:chOff x="4452360" y="2059890"/>
            <a:chExt cx="623201" cy="601186"/>
          </a:xfrm>
          <a:gradFill>
            <a:gsLst>
              <a:gs pos="100000">
                <a:srgbClr val="BDF2BD"/>
              </a:gs>
              <a:gs pos="55000">
                <a:srgbClr val="C3E9FC"/>
              </a:gs>
            </a:gsLst>
            <a:lin ang="0" scaled="1"/>
          </a:gradFill>
        </p:grpSpPr>
        <p:sp>
          <p:nvSpPr>
            <p:cNvPr id="16" name="Freeform: Shape 15">
              <a:extLst>
                <a:ext uri="{FF2B5EF4-FFF2-40B4-BE49-F238E27FC236}">
                  <a16:creationId xmlns:a16="http://schemas.microsoft.com/office/drawing/2014/main" id="{65D40676-CF84-69E4-A122-31E7D05A84BD}"/>
                </a:ext>
              </a:extLst>
            </p:cNvPr>
            <p:cNvSpPr/>
            <p:nvPr/>
          </p:nvSpPr>
          <p:spPr>
            <a:xfrm>
              <a:off x="4593795" y="2280632"/>
              <a:ext cx="78413" cy="38785"/>
            </a:xfrm>
            <a:custGeom>
              <a:avLst/>
              <a:gdLst>
                <a:gd name="connsiteX0" fmla="*/ 61306 w 78413"/>
                <a:gd name="connsiteY0" fmla="*/ 34768 h 38785"/>
                <a:gd name="connsiteX1" fmla="*/ 74354 w 78413"/>
                <a:gd name="connsiteY1" fmla="*/ 37300 h 38785"/>
                <a:gd name="connsiteX2" fmla="*/ 76886 w 78413"/>
                <a:gd name="connsiteY2" fmla="*/ 24155 h 38785"/>
                <a:gd name="connsiteX3" fmla="*/ 3019 w 78413"/>
                <a:gd name="connsiteY3" fmla="*/ 8713 h 38785"/>
                <a:gd name="connsiteX4" fmla="*/ 2492 w 78413"/>
                <a:gd name="connsiteY4" fmla="*/ 9062 h 38785"/>
                <a:gd name="connsiteX5" fmla="*/ 3232 w 78413"/>
                <a:gd name="connsiteY5" fmla="*/ 22812 h 38785"/>
                <a:gd name="connsiteX6" fmla="*/ 13009 w 78413"/>
                <a:gd name="connsiteY6" fmla="*/ 24739 h 38785"/>
                <a:gd name="connsiteX7" fmla="*/ 61177 w 78413"/>
                <a:gd name="connsiteY7" fmla="*/ 34571 h 38785"/>
                <a:gd name="connsiteX8" fmla="*/ 61306 w 78413"/>
                <a:gd name="connsiteY8" fmla="*/ 34768 h 3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413" h="38785">
                  <a:moveTo>
                    <a:pt x="61306" y="34768"/>
                  </a:moveTo>
                  <a:cubicBezTo>
                    <a:pt x="64314" y="38911"/>
                    <a:pt x="70015" y="40017"/>
                    <a:pt x="74354" y="37300"/>
                  </a:cubicBezTo>
                  <a:cubicBezTo>
                    <a:pt x="78554" y="34285"/>
                    <a:pt x="79665" y="28514"/>
                    <a:pt x="76886" y="24155"/>
                  </a:cubicBezTo>
                  <a:cubicBezTo>
                    <a:pt x="60752" y="-507"/>
                    <a:pt x="27681" y="-7421"/>
                    <a:pt x="3019" y="8713"/>
                  </a:cubicBezTo>
                  <a:cubicBezTo>
                    <a:pt x="2843" y="8828"/>
                    <a:pt x="2667" y="8944"/>
                    <a:pt x="2492" y="9062"/>
                  </a:cubicBezTo>
                  <a:cubicBezTo>
                    <a:pt x="-1101" y="13063"/>
                    <a:pt x="-770" y="19219"/>
                    <a:pt x="3232" y="22812"/>
                  </a:cubicBezTo>
                  <a:cubicBezTo>
                    <a:pt x="5890" y="25200"/>
                    <a:pt x="9643" y="25939"/>
                    <a:pt x="13009" y="24739"/>
                  </a:cubicBezTo>
                  <a:cubicBezTo>
                    <a:pt x="29025" y="14153"/>
                    <a:pt x="50591" y="18555"/>
                    <a:pt x="61177" y="34571"/>
                  </a:cubicBezTo>
                  <a:cubicBezTo>
                    <a:pt x="61220" y="34637"/>
                    <a:pt x="61263" y="34702"/>
                    <a:pt x="61306" y="34768"/>
                  </a:cubicBezTo>
                  <a:close/>
                </a:path>
              </a:pathLst>
            </a:custGeom>
            <a:grpFill/>
            <a:ln w="9674"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061CC42A-E318-4F0A-C3FA-10209E58E560}"/>
                </a:ext>
              </a:extLst>
            </p:cNvPr>
            <p:cNvSpPr/>
            <p:nvPr/>
          </p:nvSpPr>
          <p:spPr>
            <a:xfrm>
              <a:off x="4567784" y="2403709"/>
              <a:ext cx="53004" cy="68754"/>
            </a:xfrm>
            <a:custGeom>
              <a:avLst/>
              <a:gdLst>
                <a:gd name="connsiteX0" fmla="*/ 46518 w 53004"/>
                <a:gd name="connsiteY0" fmla="*/ 49767 h 68754"/>
                <a:gd name="connsiteX1" fmla="*/ 19500 w 53004"/>
                <a:gd name="connsiteY1" fmla="*/ 8695 h 68754"/>
                <a:gd name="connsiteX2" fmla="*/ 19545 w 53004"/>
                <a:gd name="connsiteY2" fmla="*/ 8480 h 68754"/>
                <a:gd name="connsiteX3" fmla="*/ 8631 w 53004"/>
                <a:gd name="connsiteY3" fmla="*/ 83 h 68754"/>
                <a:gd name="connsiteX4" fmla="*/ 1142 w 53004"/>
                <a:gd name="connsiteY4" fmla="*/ 5462 h 68754"/>
                <a:gd name="connsiteX5" fmla="*/ 42443 w 53004"/>
                <a:gd name="connsiteY5" fmla="*/ 68619 h 68754"/>
                <a:gd name="connsiteX6" fmla="*/ 43110 w 53004"/>
                <a:gd name="connsiteY6" fmla="*/ 68754 h 68754"/>
                <a:gd name="connsiteX7" fmla="*/ 44960 w 53004"/>
                <a:gd name="connsiteY7" fmla="*/ 68755 h 68754"/>
                <a:gd name="connsiteX8" fmla="*/ 52855 w 53004"/>
                <a:gd name="connsiteY8" fmla="*/ 57472 h 68754"/>
                <a:gd name="connsiteX9" fmla="*/ 46713 w 53004"/>
                <a:gd name="connsiteY9" fmla="*/ 50059 h 68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004" h="68754">
                  <a:moveTo>
                    <a:pt x="46518" y="49767"/>
                  </a:moveTo>
                  <a:cubicBezTo>
                    <a:pt x="27716" y="45886"/>
                    <a:pt x="15619" y="27497"/>
                    <a:pt x="19500" y="8695"/>
                  </a:cubicBezTo>
                  <a:cubicBezTo>
                    <a:pt x="19515" y="8623"/>
                    <a:pt x="19530" y="8552"/>
                    <a:pt x="19545" y="8480"/>
                  </a:cubicBezTo>
                  <a:cubicBezTo>
                    <a:pt x="18851" y="3148"/>
                    <a:pt x="13964" y="-612"/>
                    <a:pt x="8631" y="83"/>
                  </a:cubicBezTo>
                  <a:cubicBezTo>
                    <a:pt x="5390" y="505"/>
                    <a:pt x="2577" y="2525"/>
                    <a:pt x="1142" y="5462"/>
                  </a:cubicBezTo>
                  <a:cubicBezTo>
                    <a:pt x="-4894" y="34307"/>
                    <a:pt x="13598" y="62584"/>
                    <a:pt x="42443" y="68619"/>
                  </a:cubicBezTo>
                  <a:cubicBezTo>
                    <a:pt x="42665" y="68666"/>
                    <a:pt x="42887" y="68711"/>
                    <a:pt x="43110" y="68754"/>
                  </a:cubicBezTo>
                  <a:lnTo>
                    <a:pt x="44960" y="68755"/>
                  </a:lnTo>
                  <a:cubicBezTo>
                    <a:pt x="50256" y="67819"/>
                    <a:pt x="53790" y="62767"/>
                    <a:pt x="52855" y="57472"/>
                  </a:cubicBezTo>
                  <a:cubicBezTo>
                    <a:pt x="52257" y="54091"/>
                    <a:pt x="49924" y="51274"/>
                    <a:pt x="46713" y="50059"/>
                  </a:cubicBezTo>
                  <a:close/>
                </a:path>
              </a:pathLst>
            </a:custGeom>
            <a:grpFill/>
            <a:ln w="9674"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D97D1FD4-CF8E-5621-05E4-56EC232E8395}"/>
                </a:ext>
              </a:extLst>
            </p:cNvPr>
            <p:cNvSpPr/>
            <p:nvPr/>
          </p:nvSpPr>
          <p:spPr>
            <a:xfrm>
              <a:off x="4646885" y="2402248"/>
              <a:ext cx="69238" cy="60092"/>
            </a:xfrm>
            <a:custGeom>
              <a:avLst/>
              <a:gdLst>
                <a:gd name="connsiteX0" fmla="*/ 19415 w 69238"/>
                <a:gd name="connsiteY0" fmla="*/ 10817 h 60092"/>
                <a:gd name="connsiteX1" fmla="*/ 10816 w 69238"/>
                <a:gd name="connsiteY1" fmla="*/ 61 h 60092"/>
                <a:gd name="connsiteX2" fmla="*/ 60 w 69238"/>
                <a:gd name="connsiteY2" fmla="*/ 8659 h 60092"/>
                <a:gd name="connsiteX3" fmla="*/ 816 w 69238"/>
                <a:gd name="connsiteY3" fmla="*/ 13641 h 60092"/>
                <a:gd name="connsiteX4" fmla="*/ 53398 w 69238"/>
                <a:gd name="connsiteY4" fmla="*/ 60088 h 60092"/>
                <a:gd name="connsiteX5" fmla="*/ 61188 w 69238"/>
                <a:gd name="connsiteY5" fmla="*/ 59601 h 60092"/>
                <a:gd name="connsiteX6" fmla="*/ 69173 w 69238"/>
                <a:gd name="connsiteY6" fmla="*/ 48890 h 60092"/>
                <a:gd name="connsiteX7" fmla="*/ 58462 w 69238"/>
                <a:gd name="connsiteY7" fmla="*/ 40906 h 60092"/>
                <a:gd name="connsiteX8" fmla="*/ 19415 w 69238"/>
                <a:gd name="connsiteY8" fmla="*/ 10817 h 60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238" h="60092">
                  <a:moveTo>
                    <a:pt x="19415" y="10817"/>
                  </a:moveTo>
                  <a:cubicBezTo>
                    <a:pt x="20011" y="5473"/>
                    <a:pt x="16161" y="657"/>
                    <a:pt x="10816" y="61"/>
                  </a:cubicBezTo>
                  <a:cubicBezTo>
                    <a:pt x="5472" y="-535"/>
                    <a:pt x="656" y="3314"/>
                    <a:pt x="60" y="8659"/>
                  </a:cubicBezTo>
                  <a:cubicBezTo>
                    <a:pt x="-129" y="10357"/>
                    <a:pt x="132" y="12076"/>
                    <a:pt x="816" y="13641"/>
                  </a:cubicBezTo>
                  <a:cubicBezTo>
                    <a:pt x="4272" y="40089"/>
                    <a:pt x="26726" y="59924"/>
                    <a:pt x="53398" y="60088"/>
                  </a:cubicBezTo>
                  <a:cubicBezTo>
                    <a:pt x="56003" y="60120"/>
                    <a:pt x="58607" y="59958"/>
                    <a:pt x="61188" y="59601"/>
                  </a:cubicBezTo>
                  <a:cubicBezTo>
                    <a:pt x="66265" y="58708"/>
                    <a:pt x="69766" y="54012"/>
                    <a:pt x="69173" y="48890"/>
                  </a:cubicBezTo>
                  <a:cubicBezTo>
                    <a:pt x="68279" y="43813"/>
                    <a:pt x="63583" y="40312"/>
                    <a:pt x="58462" y="40906"/>
                  </a:cubicBezTo>
                  <a:cubicBezTo>
                    <a:pt x="39371" y="43378"/>
                    <a:pt x="21890" y="29908"/>
                    <a:pt x="19415" y="10817"/>
                  </a:cubicBezTo>
                  <a:close/>
                </a:path>
              </a:pathLst>
            </a:custGeom>
            <a:grpFill/>
            <a:ln w="9674"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5C5AC37A-7B70-792A-7A58-E71A98199C07}"/>
                </a:ext>
              </a:extLst>
            </p:cNvPr>
            <p:cNvSpPr/>
            <p:nvPr/>
          </p:nvSpPr>
          <p:spPr>
            <a:xfrm>
              <a:off x="4452360" y="2059890"/>
              <a:ext cx="623201" cy="601186"/>
            </a:xfrm>
            <a:custGeom>
              <a:avLst/>
              <a:gdLst>
                <a:gd name="connsiteX0" fmla="*/ 587368 w 623201"/>
                <a:gd name="connsiteY0" fmla="*/ 368074 h 601186"/>
                <a:gd name="connsiteX1" fmla="*/ 553189 w 623201"/>
                <a:gd name="connsiteY1" fmla="*/ 394170 h 601186"/>
                <a:gd name="connsiteX2" fmla="*/ 520569 w 623201"/>
                <a:gd name="connsiteY2" fmla="*/ 394170 h 601186"/>
                <a:gd name="connsiteX3" fmla="*/ 471103 w 623201"/>
                <a:gd name="connsiteY3" fmla="*/ 337401 h 601186"/>
                <a:gd name="connsiteX4" fmla="*/ 463995 w 623201"/>
                <a:gd name="connsiteY4" fmla="*/ 334188 h 601186"/>
                <a:gd name="connsiteX5" fmla="*/ 332249 w 623201"/>
                <a:gd name="connsiteY5" fmla="*/ 334188 h 601186"/>
                <a:gd name="connsiteX6" fmla="*/ 332249 w 623201"/>
                <a:gd name="connsiteY6" fmla="*/ 315979 h 601186"/>
                <a:gd name="connsiteX7" fmla="*/ 332249 w 623201"/>
                <a:gd name="connsiteY7" fmla="*/ 267292 h 601186"/>
                <a:gd name="connsiteX8" fmla="*/ 463995 w 623201"/>
                <a:gd name="connsiteY8" fmla="*/ 267292 h 601186"/>
                <a:gd name="connsiteX9" fmla="*/ 471103 w 623201"/>
                <a:gd name="connsiteY9" fmla="*/ 264079 h 601186"/>
                <a:gd name="connsiteX10" fmla="*/ 520569 w 623201"/>
                <a:gd name="connsiteY10" fmla="*/ 207310 h 601186"/>
                <a:gd name="connsiteX11" fmla="*/ 553189 w 623201"/>
                <a:gd name="connsiteY11" fmla="*/ 207310 h 601186"/>
                <a:gd name="connsiteX12" fmla="*/ 596999 w 623201"/>
                <a:gd name="connsiteY12" fmla="*/ 232229 h 601186"/>
                <a:gd name="connsiteX13" fmla="*/ 621918 w 623201"/>
                <a:gd name="connsiteY13" fmla="*/ 188419 h 601186"/>
                <a:gd name="connsiteX14" fmla="*/ 578109 w 623201"/>
                <a:gd name="connsiteY14" fmla="*/ 163500 h 601186"/>
                <a:gd name="connsiteX15" fmla="*/ 553189 w 623201"/>
                <a:gd name="connsiteY15" fmla="*/ 188419 h 601186"/>
                <a:gd name="connsiteX16" fmla="*/ 516285 w 623201"/>
                <a:gd name="connsiteY16" fmla="*/ 188419 h 601186"/>
                <a:gd name="connsiteX17" fmla="*/ 509177 w 623201"/>
                <a:gd name="connsiteY17" fmla="*/ 191633 h 601186"/>
                <a:gd name="connsiteX18" fmla="*/ 459711 w 623201"/>
                <a:gd name="connsiteY18" fmla="*/ 248401 h 601186"/>
                <a:gd name="connsiteX19" fmla="*/ 332249 w 623201"/>
                <a:gd name="connsiteY19" fmla="*/ 248401 h 601186"/>
                <a:gd name="connsiteX20" fmla="*/ 332249 w 623201"/>
                <a:gd name="connsiteY20" fmla="*/ 212957 h 601186"/>
                <a:gd name="connsiteX21" fmla="*/ 455718 w 623201"/>
                <a:gd name="connsiteY21" fmla="*/ 212957 h 601186"/>
                <a:gd name="connsiteX22" fmla="*/ 462827 w 623201"/>
                <a:gd name="connsiteY22" fmla="*/ 209647 h 601186"/>
                <a:gd name="connsiteX23" fmla="*/ 497297 w 623201"/>
                <a:gd name="connsiteY23" fmla="*/ 169139 h 601186"/>
                <a:gd name="connsiteX24" fmla="*/ 499537 w 623201"/>
                <a:gd name="connsiteY24" fmla="*/ 163005 h 601186"/>
                <a:gd name="connsiteX25" fmla="*/ 499537 w 623201"/>
                <a:gd name="connsiteY25" fmla="*/ 125321 h 601186"/>
                <a:gd name="connsiteX26" fmla="*/ 524153 w 623201"/>
                <a:gd name="connsiteY26" fmla="*/ 81815 h 601186"/>
                <a:gd name="connsiteX27" fmla="*/ 480646 w 623201"/>
                <a:gd name="connsiteY27" fmla="*/ 57199 h 601186"/>
                <a:gd name="connsiteX28" fmla="*/ 456030 w 623201"/>
                <a:gd name="connsiteY28" fmla="*/ 100705 h 601186"/>
                <a:gd name="connsiteX29" fmla="*/ 480646 w 623201"/>
                <a:gd name="connsiteY29" fmla="*/ 125321 h 601186"/>
                <a:gd name="connsiteX30" fmla="*/ 480646 w 623201"/>
                <a:gd name="connsiteY30" fmla="*/ 159791 h 601186"/>
                <a:gd name="connsiteX31" fmla="*/ 451434 w 623201"/>
                <a:gd name="connsiteY31" fmla="*/ 194067 h 601186"/>
                <a:gd name="connsiteX32" fmla="*/ 332249 w 623201"/>
                <a:gd name="connsiteY32" fmla="*/ 194067 h 601186"/>
                <a:gd name="connsiteX33" fmla="*/ 332249 w 623201"/>
                <a:gd name="connsiteY33" fmla="*/ 148886 h 601186"/>
                <a:gd name="connsiteX34" fmla="*/ 375385 w 623201"/>
                <a:gd name="connsiteY34" fmla="*/ 148886 h 601186"/>
                <a:gd name="connsiteX35" fmla="*/ 383370 w 623201"/>
                <a:gd name="connsiteY35" fmla="*/ 144796 h 601186"/>
                <a:gd name="connsiteX36" fmla="*/ 395444 w 623201"/>
                <a:gd name="connsiteY36" fmla="*/ 125321 h 601186"/>
                <a:gd name="connsiteX37" fmla="*/ 405182 w 623201"/>
                <a:gd name="connsiteY37" fmla="*/ 126879 h 601186"/>
                <a:gd name="connsiteX38" fmla="*/ 441013 w 623201"/>
                <a:gd name="connsiteY38" fmla="*/ 91435 h 601186"/>
                <a:gd name="connsiteX39" fmla="*/ 405569 w 623201"/>
                <a:gd name="connsiteY39" fmla="*/ 55603 h 601186"/>
                <a:gd name="connsiteX40" fmla="*/ 369738 w 623201"/>
                <a:gd name="connsiteY40" fmla="*/ 90948 h 601186"/>
                <a:gd name="connsiteX41" fmla="*/ 379475 w 623201"/>
                <a:gd name="connsiteY41" fmla="*/ 115000 h 601186"/>
                <a:gd name="connsiteX42" fmla="*/ 369738 w 623201"/>
                <a:gd name="connsiteY42" fmla="*/ 129995 h 601186"/>
                <a:gd name="connsiteX43" fmla="*/ 332249 w 623201"/>
                <a:gd name="connsiteY43" fmla="*/ 129995 h 601186"/>
                <a:gd name="connsiteX44" fmla="*/ 332249 w 623201"/>
                <a:gd name="connsiteY44" fmla="*/ 58231 h 601186"/>
                <a:gd name="connsiteX45" fmla="*/ 332249 w 623201"/>
                <a:gd name="connsiteY45" fmla="*/ 57062 h 601186"/>
                <a:gd name="connsiteX46" fmla="*/ 332249 w 623201"/>
                <a:gd name="connsiteY46" fmla="*/ 55017 h 601186"/>
                <a:gd name="connsiteX47" fmla="*/ 254350 w 623201"/>
                <a:gd name="connsiteY47" fmla="*/ 1 h 601186"/>
                <a:gd name="connsiteX48" fmla="*/ 179470 w 623201"/>
                <a:gd name="connsiteY48" fmla="*/ 48688 h 601186"/>
                <a:gd name="connsiteX49" fmla="*/ 76666 w 623201"/>
                <a:gd name="connsiteY49" fmla="*/ 102610 h 601186"/>
                <a:gd name="connsiteX50" fmla="*/ 72943 w 623201"/>
                <a:gd name="connsiteY50" fmla="*/ 126977 h 601186"/>
                <a:gd name="connsiteX51" fmla="*/ 76059 w 623201"/>
                <a:gd name="connsiteY51" fmla="*/ 149275 h 601186"/>
                <a:gd name="connsiteX52" fmla="*/ 22698 w 623201"/>
                <a:gd name="connsiteY52" fmla="*/ 252991 h 601186"/>
                <a:gd name="connsiteX53" fmla="*/ 28930 w 623201"/>
                <a:gd name="connsiteY53" fmla="*/ 267487 h 601186"/>
                <a:gd name="connsiteX54" fmla="*/ 15763 w 623201"/>
                <a:gd name="connsiteY54" fmla="*/ 372562 h 601186"/>
                <a:gd name="connsiteX55" fmla="*/ 46555 w 623201"/>
                <a:gd name="connsiteY55" fmla="*/ 395922 h 601186"/>
                <a:gd name="connsiteX56" fmla="*/ 72158 w 623201"/>
                <a:gd name="connsiteY56" fmla="*/ 509433 h 601186"/>
                <a:gd name="connsiteX57" fmla="*/ 106829 w 623201"/>
                <a:gd name="connsiteY57" fmla="*/ 521632 h 601186"/>
                <a:gd name="connsiteX58" fmla="*/ 184568 w 623201"/>
                <a:gd name="connsiteY58" fmla="*/ 593539 h 601186"/>
                <a:gd name="connsiteX59" fmla="*/ 215693 w 623201"/>
                <a:gd name="connsiteY59" fmla="*/ 585411 h 601186"/>
                <a:gd name="connsiteX60" fmla="*/ 261750 w 623201"/>
                <a:gd name="connsiteY60" fmla="*/ 601186 h 601186"/>
                <a:gd name="connsiteX61" fmla="*/ 331762 w 623201"/>
                <a:gd name="connsiteY61" fmla="*/ 552986 h 601186"/>
                <a:gd name="connsiteX62" fmla="*/ 331762 w 623201"/>
                <a:gd name="connsiteY62" fmla="*/ 552986 h 601186"/>
                <a:gd name="connsiteX63" fmla="*/ 331762 w 623201"/>
                <a:gd name="connsiteY63" fmla="*/ 550746 h 601186"/>
                <a:gd name="connsiteX64" fmla="*/ 331762 w 623201"/>
                <a:gd name="connsiteY64" fmla="*/ 549578 h 601186"/>
                <a:gd name="connsiteX65" fmla="*/ 331762 w 623201"/>
                <a:gd name="connsiteY65" fmla="*/ 471679 h 601186"/>
                <a:gd name="connsiteX66" fmla="*/ 369738 w 623201"/>
                <a:gd name="connsiteY66" fmla="*/ 471679 h 601186"/>
                <a:gd name="connsiteX67" fmla="*/ 379475 w 623201"/>
                <a:gd name="connsiteY67" fmla="*/ 486675 h 601186"/>
                <a:gd name="connsiteX68" fmla="*/ 369738 w 623201"/>
                <a:gd name="connsiteY68" fmla="*/ 510726 h 601186"/>
                <a:gd name="connsiteX69" fmla="*/ 405279 w 623201"/>
                <a:gd name="connsiteY69" fmla="*/ 546462 h 601186"/>
                <a:gd name="connsiteX70" fmla="*/ 441015 w 623201"/>
                <a:gd name="connsiteY70" fmla="*/ 510921 h 601186"/>
                <a:gd name="connsiteX71" fmla="*/ 405474 w 623201"/>
                <a:gd name="connsiteY71" fmla="*/ 475185 h 601186"/>
                <a:gd name="connsiteX72" fmla="*/ 405376 w 623201"/>
                <a:gd name="connsiteY72" fmla="*/ 475185 h 601186"/>
                <a:gd name="connsiteX73" fmla="*/ 395639 w 623201"/>
                <a:gd name="connsiteY73" fmla="*/ 476743 h 601186"/>
                <a:gd name="connsiteX74" fmla="*/ 383370 w 623201"/>
                <a:gd name="connsiteY74" fmla="*/ 456391 h 601186"/>
                <a:gd name="connsiteX75" fmla="*/ 375385 w 623201"/>
                <a:gd name="connsiteY75" fmla="*/ 451912 h 601186"/>
                <a:gd name="connsiteX76" fmla="*/ 332249 w 623201"/>
                <a:gd name="connsiteY76" fmla="*/ 451912 h 601186"/>
                <a:gd name="connsiteX77" fmla="*/ 332249 w 623201"/>
                <a:gd name="connsiteY77" fmla="*/ 407705 h 601186"/>
                <a:gd name="connsiteX78" fmla="*/ 451337 w 623201"/>
                <a:gd name="connsiteY78" fmla="*/ 407705 h 601186"/>
                <a:gd name="connsiteX79" fmla="*/ 480549 w 623201"/>
                <a:gd name="connsiteY79" fmla="*/ 441980 h 601186"/>
                <a:gd name="connsiteX80" fmla="*/ 480549 w 623201"/>
                <a:gd name="connsiteY80" fmla="*/ 475866 h 601186"/>
                <a:gd name="connsiteX81" fmla="*/ 455428 w 623201"/>
                <a:gd name="connsiteY81" fmla="*/ 519878 h 601186"/>
                <a:gd name="connsiteX82" fmla="*/ 499439 w 623201"/>
                <a:gd name="connsiteY82" fmla="*/ 544999 h 601186"/>
                <a:gd name="connsiteX83" fmla="*/ 524560 w 623201"/>
                <a:gd name="connsiteY83" fmla="*/ 500987 h 601186"/>
                <a:gd name="connsiteX84" fmla="*/ 499439 w 623201"/>
                <a:gd name="connsiteY84" fmla="*/ 475866 h 601186"/>
                <a:gd name="connsiteX85" fmla="*/ 499439 w 623201"/>
                <a:gd name="connsiteY85" fmla="*/ 437890 h 601186"/>
                <a:gd name="connsiteX86" fmla="*/ 497200 w 623201"/>
                <a:gd name="connsiteY86" fmla="*/ 431756 h 601186"/>
                <a:gd name="connsiteX87" fmla="*/ 462729 w 623201"/>
                <a:gd name="connsiteY87" fmla="*/ 391443 h 601186"/>
                <a:gd name="connsiteX88" fmla="*/ 455621 w 623201"/>
                <a:gd name="connsiteY88" fmla="*/ 388133 h 601186"/>
                <a:gd name="connsiteX89" fmla="*/ 332249 w 623201"/>
                <a:gd name="connsiteY89" fmla="*/ 388133 h 601186"/>
                <a:gd name="connsiteX90" fmla="*/ 332249 w 623201"/>
                <a:gd name="connsiteY90" fmla="*/ 353078 h 601186"/>
                <a:gd name="connsiteX91" fmla="*/ 459711 w 623201"/>
                <a:gd name="connsiteY91" fmla="*/ 353078 h 601186"/>
                <a:gd name="connsiteX92" fmla="*/ 509177 w 623201"/>
                <a:gd name="connsiteY92" fmla="*/ 409847 h 601186"/>
                <a:gd name="connsiteX93" fmla="*/ 516285 w 623201"/>
                <a:gd name="connsiteY93" fmla="*/ 413060 h 601186"/>
                <a:gd name="connsiteX94" fmla="*/ 553189 w 623201"/>
                <a:gd name="connsiteY94" fmla="*/ 413060 h 601186"/>
                <a:gd name="connsiteX95" fmla="*/ 596898 w 623201"/>
                <a:gd name="connsiteY95" fmla="*/ 437878 h 601186"/>
                <a:gd name="connsiteX96" fmla="*/ 621716 w 623201"/>
                <a:gd name="connsiteY96" fmla="*/ 394169 h 601186"/>
                <a:gd name="connsiteX97" fmla="*/ 587368 w 623201"/>
                <a:gd name="connsiteY97" fmla="*/ 368074 h 601186"/>
                <a:gd name="connsiteX98" fmla="*/ 587368 w 623201"/>
                <a:gd name="connsiteY98" fmla="*/ 180824 h 601186"/>
                <a:gd name="connsiteX99" fmla="*/ 604116 w 623201"/>
                <a:gd name="connsiteY99" fmla="*/ 197572 h 601186"/>
                <a:gd name="connsiteX100" fmla="*/ 587368 w 623201"/>
                <a:gd name="connsiteY100" fmla="*/ 214321 h 601186"/>
                <a:gd name="connsiteX101" fmla="*/ 570619 w 623201"/>
                <a:gd name="connsiteY101" fmla="*/ 197572 h 601186"/>
                <a:gd name="connsiteX102" fmla="*/ 587368 w 623201"/>
                <a:gd name="connsiteY102" fmla="*/ 180824 h 601186"/>
                <a:gd name="connsiteX103" fmla="*/ 473440 w 623201"/>
                <a:gd name="connsiteY103" fmla="*/ 90948 h 601186"/>
                <a:gd name="connsiteX104" fmla="*/ 490091 w 623201"/>
                <a:gd name="connsiteY104" fmla="*/ 74103 h 601186"/>
                <a:gd name="connsiteX105" fmla="*/ 506936 w 623201"/>
                <a:gd name="connsiteY105" fmla="*/ 90754 h 601186"/>
                <a:gd name="connsiteX106" fmla="*/ 490286 w 623201"/>
                <a:gd name="connsiteY106" fmla="*/ 107599 h 601186"/>
                <a:gd name="connsiteX107" fmla="*/ 490091 w 623201"/>
                <a:gd name="connsiteY107" fmla="*/ 107599 h 601186"/>
                <a:gd name="connsiteX108" fmla="*/ 473440 w 623201"/>
                <a:gd name="connsiteY108" fmla="*/ 90948 h 601186"/>
                <a:gd name="connsiteX109" fmla="*/ 405279 w 623201"/>
                <a:gd name="connsiteY109" fmla="*/ 74200 h 601186"/>
                <a:gd name="connsiteX110" fmla="*/ 422027 w 623201"/>
                <a:gd name="connsiteY110" fmla="*/ 90948 h 601186"/>
                <a:gd name="connsiteX111" fmla="*/ 405279 w 623201"/>
                <a:gd name="connsiteY111" fmla="*/ 107697 h 601186"/>
                <a:gd name="connsiteX112" fmla="*/ 388531 w 623201"/>
                <a:gd name="connsiteY112" fmla="*/ 90948 h 601186"/>
                <a:gd name="connsiteX113" fmla="*/ 405279 w 623201"/>
                <a:gd name="connsiteY113" fmla="*/ 74200 h 601186"/>
                <a:gd name="connsiteX114" fmla="*/ 405376 w 623201"/>
                <a:gd name="connsiteY114" fmla="*/ 74200 h 601186"/>
                <a:gd name="connsiteX115" fmla="*/ 313261 w 623201"/>
                <a:gd name="connsiteY115" fmla="*/ 139440 h 601186"/>
                <a:gd name="connsiteX116" fmla="*/ 313261 w 623201"/>
                <a:gd name="connsiteY116" fmla="*/ 183745 h 601186"/>
                <a:gd name="connsiteX117" fmla="*/ 260387 w 623201"/>
                <a:gd name="connsiteY117" fmla="*/ 187153 h 601186"/>
                <a:gd name="connsiteX118" fmla="*/ 257855 w 623201"/>
                <a:gd name="connsiteY118" fmla="*/ 200299 h 601186"/>
                <a:gd name="connsiteX119" fmla="*/ 270903 w 623201"/>
                <a:gd name="connsiteY119" fmla="*/ 202831 h 601186"/>
                <a:gd name="connsiteX120" fmla="*/ 313261 w 623201"/>
                <a:gd name="connsiteY120" fmla="*/ 206531 h 601186"/>
                <a:gd name="connsiteX121" fmla="*/ 313261 w 623201"/>
                <a:gd name="connsiteY121" fmla="*/ 257360 h 601186"/>
                <a:gd name="connsiteX122" fmla="*/ 313261 w 623201"/>
                <a:gd name="connsiteY122" fmla="*/ 296309 h 601186"/>
                <a:gd name="connsiteX123" fmla="*/ 260387 w 623201"/>
                <a:gd name="connsiteY123" fmla="*/ 299815 h 601186"/>
                <a:gd name="connsiteX124" fmla="*/ 261025 w 623201"/>
                <a:gd name="connsiteY124" fmla="*/ 313571 h 601186"/>
                <a:gd name="connsiteX125" fmla="*/ 271001 w 623201"/>
                <a:gd name="connsiteY125" fmla="*/ 315492 h 601186"/>
                <a:gd name="connsiteX126" fmla="*/ 313261 w 623201"/>
                <a:gd name="connsiteY126" fmla="*/ 318997 h 601186"/>
                <a:gd name="connsiteX127" fmla="*/ 313261 w 623201"/>
                <a:gd name="connsiteY127" fmla="*/ 342951 h 601186"/>
                <a:gd name="connsiteX128" fmla="*/ 313261 w 623201"/>
                <a:gd name="connsiteY128" fmla="*/ 397967 h 601186"/>
                <a:gd name="connsiteX129" fmla="*/ 313261 w 623201"/>
                <a:gd name="connsiteY129" fmla="*/ 461747 h 601186"/>
                <a:gd name="connsiteX130" fmla="*/ 313261 w 623201"/>
                <a:gd name="connsiteY130" fmla="*/ 547338 h 601186"/>
                <a:gd name="connsiteX131" fmla="*/ 240490 w 623201"/>
                <a:gd name="connsiteY131" fmla="*/ 578198 h 601186"/>
                <a:gd name="connsiteX132" fmla="*/ 232051 w 623201"/>
                <a:gd name="connsiteY132" fmla="*/ 573921 h 601186"/>
                <a:gd name="connsiteX133" fmla="*/ 244126 w 623201"/>
                <a:gd name="connsiteY133" fmla="*/ 510921 h 601186"/>
                <a:gd name="connsiteX134" fmla="*/ 232650 w 623201"/>
                <a:gd name="connsiteY134" fmla="*/ 503309 h 601186"/>
                <a:gd name="connsiteX135" fmla="*/ 225038 w 623201"/>
                <a:gd name="connsiteY135" fmla="*/ 514785 h 601186"/>
                <a:gd name="connsiteX136" fmla="*/ 227280 w 623201"/>
                <a:gd name="connsiteY136" fmla="*/ 519295 h 601186"/>
                <a:gd name="connsiteX137" fmla="*/ 211147 w 623201"/>
                <a:gd name="connsiteY137" fmla="*/ 565588 h 601186"/>
                <a:gd name="connsiteX138" fmla="*/ 210824 w 623201"/>
                <a:gd name="connsiteY138" fmla="*/ 565742 h 601186"/>
                <a:gd name="connsiteX139" fmla="*/ 208779 w 623201"/>
                <a:gd name="connsiteY139" fmla="*/ 567397 h 601186"/>
                <a:gd name="connsiteX140" fmla="*/ 132701 w 623201"/>
                <a:gd name="connsiteY140" fmla="*/ 546462 h 601186"/>
                <a:gd name="connsiteX141" fmla="*/ 125427 w 623201"/>
                <a:gd name="connsiteY141" fmla="*/ 520171 h 601186"/>
                <a:gd name="connsiteX142" fmla="*/ 177814 w 623201"/>
                <a:gd name="connsiteY142" fmla="*/ 479858 h 601186"/>
                <a:gd name="connsiteX143" fmla="*/ 170316 w 623201"/>
                <a:gd name="connsiteY143" fmla="*/ 468758 h 601186"/>
                <a:gd name="connsiteX144" fmla="*/ 159411 w 623201"/>
                <a:gd name="connsiteY144" fmla="*/ 475866 h 601186"/>
                <a:gd name="connsiteX145" fmla="*/ 115495 w 623201"/>
                <a:gd name="connsiteY145" fmla="*/ 502839 h 601186"/>
                <a:gd name="connsiteX146" fmla="*/ 53078 w 623201"/>
                <a:gd name="connsiteY146" fmla="*/ 438682 h 601186"/>
                <a:gd name="connsiteX147" fmla="*/ 69340 w 623201"/>
                <a:gd name="connsiteY147" fmla="*/ 397188 h 601186"/>
                <a:gd name="connsiteX148" fmla="*/ 71385 w 623201"/>
                <a:gd name="connsiteY148" fmla="*/ 387451 h 601186"/>
                <a:gd name="connsiteX149" fmla="*/ 64179 w 623201"/>
                <a:gd name="connsiteY149" fmla="*/ 381219 h 601186"/>
                <a:gd name="connsiteX150" fmla="*/ 20013 w 623201"/>
                <a:gd name="connsiteY150" fmla="*/ 315499 h 601186"/>
                <a:gd name="connsiteX151" fmla="*/ 46262 w 623201"/>
                <a:gd name="connsiteY151" fmla="*/ 278198 h 601186"/>
                <a:gd name="connsiteX152" fmla="*/ 94237 w 623201"/>
                <a:gd name="connsiteY152" fmla="*/ 287595 h 601186"/>
                <a:gd name="connsiteX153" fmla="*/ 94462 w 623201"/>
                <a:gd name="connsiteY153" fmla="*/ 287935 h 601186"/>
                <a:gd name="connsiteX154" fmla="*/ 102252 w 623201"/>
                <a:gd name="connsiteY154" fmla="*/ 292025 h 601186"/>
                <a:gd name="connsiteX155" fmla="*/ 107608 w 623201"/>
                <a:gd name="connsiteY155" fmla="*/ 290369 h 601186"/>
                <a:gd name="connsiteX156" fmla="*/ 110042 w 623201"/>
                <a:gd name="connsiteY156" fmla="*/ 277224 h 601186"/>
                <a:gd name="connsiteX157" fmla="*/ 44315 w 623201"/>
                <a:gd name="connsiteY157" fmla="*/ 257749 h 601186"/>
                <a:gd name="connsiteX158" fmla="*/ 70060 w 623201"/>
                <a:gd name="connsiteY158" fmla="*/ 172454 h 601186"/>
                <a:gd name="connsiteX159" fmla="*/ 83264 w 623201"/>
                <a:gd name="connsiteY159" fmla="*/ 167192 h 601186"/>
                <a:gd name="connsiteX160" fmla="*/ 118806 w 623201"/>
                <a:gd name="connsiteY160" fmla="*/ 187348 h 601186"/>
                <a:gd name="connsiteX161" fmla="*/ 133120 w 623201"/>
                <a:gd name="connsiteY161" fmla="*/ 184816 h 601186"/>
                <a:gd name="connsiteX162" fmla="*/ 141898 w 623201"/>
                <a:gd name="connsiteY162" fmla="*/ 174207 h 601186"/>
                <a:gd name="connsiteX163" fmla="*/ 131288 w 623201"/>
                <a:gd name="connsiteY163" fmla="*/ 165428 h 601186"/>
                <a:gd name="connsiteX164" fmla="*/ 126693 w 623201"/>
                <a:gd name="connsiteY164" fmla="*/ 167094 h 601186"/>
                <a:gd name="connsiteX165" fmla="*/ 97481 w 623201"/>
                <a:gd name="connsiteY165" fmla="*/ 153073 h 601186"/>
                <a:gd name="connsiteX166" fmla="*/ 97481 w 623201"/>
                <a:gd name="connsiteY166" fmla="*/ 152196 h 601186"/>
                <a:gd name="connsiteX167" fmla="*/ 130495 w 623201"/>
                <a:gd name="connsiteY167" fmla="*/ 69146 h 601186"/>
                <a:gd name="connsiteX168" fmla="*/ 181612 w 623201"/>
                <a:gd name="connsiteY168" fmla="*/ 69624 h 601186"/>
                <a:gd name="connsiteX169" fmla="*/ 182586 w 623201"/>
                <a:gd name="connsiteY169" fmla="*/ 69624 h 601186"/>
                <a:gd name="connsiteX170" fmla="*/ 183559 w 623201"/>
                <a:gd name="connsiteY170" fmla="*/ 69624 h 601186"/>
                <a:gd name="connsiteX171" fmla="*/ 214329 w 623201"/>
                <a:gd name="connsiteY171" fmla="*/ 121718 h 601186"/>
                <a:gd name="connsiteX172" fmla="*/ 221827 w 623201"/>
                <a:gd name="connsiteY172" fmla="*/ 132722 h 601186"/>
                <a:gd name="connsiteX173" fmla="*/ 223580 w 623201"/>
                <a:gd name="connsiteY173" fmla="*/ 132722 h 601186"/>
                <a:gd name="connsiteX174" fmla="*/ 233317 w 623201"/>
                <a:gd name="connsiteY174" fmla="*/ 125029 h 601186"/>
                <a:gd name="connsiteX175" fmla="*/ 198457 w 623201"/>
                <a:gd name="connsiteY175" fmla="*/ 54044 h 601186"/>
                <a:gd name="connsiteX176" fmla="*/ 255226 w 623201"/>
                <a:gd name="connsiteY176" fmla="*/ 18405 h 601186"/>
                <a:gd name="connsiteX177" fmla="*/ 314332 w 623201"/>
                <a:gd name="connsiteY177" fmla="*/ 59497 h 601186"/>
                <a:gd name="connsiteX178" fmla="*/ 405279 w 623201"/>
                <a:gd name="connsiteY178" fmla="*/ 493588 h 601186"/>
                <a:gd name="connsiteX179" fmla="*/ 422027 w 623201"/>
                <a:gd name="connsiteY179" fmla="*/ 510337 h 601186"/>
                <a:gd name="connsiteX180" fmla="*/ 405278 w 623201"/>
                <a:gd name="connsiteY180" fmla="*/ 527085 h 601186"/>
                <a:gd name="connsiteX181" fmla="*/ 388530 w 623201"/>
                <a:gd name="connsiteY181" fmla="*/ 510336 h 601186"/>
                <a:gd name="connsiteX182" fmla="*/ 388531 w 623201"/>
                <a:gd name="connsiteY182" fmla="*/ 510239 h 601186"/>
                <a:gd name="connsiteX183" fmla="*/ 405376 w 623201"/>
                <a:gd name="connsiteY183" fmla="*/ 493588 h 601186"/>
                <a:gd name="connsiteX184" fmla="*/ 405376 w 623201"/>
                <a:gd name="connsiteY184" fmla="*/ 493588 h 601186"/>
                <a:gd name="connsiteX185" fmla="*/ 506742 w 623201"/>
                <a:gd name="connsiteY185" fmla="*/ 510239 h 601186"/>
                <a:gd name="connsiteX186" fmla="*/ 490092 w 623201"/>
                <a:gd name="connsiteY186" fmla="*/ 527084 h 601186"/>
                <a:gd name="connsiteX187" fmla="*/ 473246 w 623201"/>
                <a:gd name="connsiteY187" fmla="*/ 510434 h 601186"/>
                <a:gd name="connsiteX188" fmla="*/ 489897 w 623201"/>
                <a:gd name="connsiteY188" fmla="*/ 493588 h 601186"/>
                <a:gd name="connsiteX189" fmla="*/ 489994 w 623201"/>
                <a:gd name="connsiteY189" fmla="*/ 493588 h 601186"/>
                <a:gd name="connsiteX190" fmla="*/ 506840 w 623201"/>
                <a:gd name="connsiteY190" fmla="*/ 510238 h 601186"/>
                <a:gd name="connsiteX191" fmla="*/ 506840 w 623201"/>
                <a:gd name="connsiteY191" fmla="*/ 510239 h 601186"/>
                <a:gd name="connsiteX192" fmla="*/ 587270 w 623201"/>
                <a:gd name="connsiteY192" fmla="*/ 420363 h 601186"/>
                <a:gd name="connsiteX193" fmla="*/ 570425 w 623201"/>
                <a:gd name="connsiteY193" fmla="*/ 403713 h 601186"/>
                <a:gd name="connsiteX194" fmla="*/ 587075 w 623201"/>
                <a:gd name="connsiteY194" fmla="*/ 386867 h 601186"/>
                <a:gd name="connsiteX195" fmla="*/ 603921 w 623201"/>
                <a:gd name="connsiteY195" fmla="*/ 403518 h 601186"/>
                <a:gd name="connsiteX196" fmla="*/ 603921 w 623201"/>
                <a:gd name="connsiteY196" fmla="*/ 403615 h 601186"/>
                <a:gd name="connsiteX197" fmla="*/ 587368 w 623201"/>
                <a:gd name="connsiteY197" fmla="*/ 420363 h 60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623201" h="601186">
                  <a:moveTo>
                    <a:pt x="587368" y="368074"/>
                  </a:moveTo>
                  <a:cubicBezTo>
                    <a:pt x="571408" y="368112"/>
                    <a:pt x="557431" y="378784"/>
                    <a:pt x="553189" y="394170"/>
                  </a:cubicBezTo>
                  <a:lnTo>
                    <a:pt x="520569" y="394170"/>
                  </a:lnTo>
                  <a:lnTo>
                    <a:pt x="471103" y="337401"/>
                  </a:lnTo>
                  <a:cubicBezTo>
                    <a:pt x="469285" y="335386"/>
                    <a:pt x="466709" y="334221"/>
                    <a:pt x="463995" y="334188"/>
                  </a:cubicBezTo>
                  <a:lnTo>
                    <a:pt x="332249" y="334188"/>
                  </a:lnTo>
                  <a:lnTo>
                    <a:pt x="332249" y="315979"/>
                  </a:lnTo>
                  <a:lnTo>
                    <a:pt x="332249" y="267292"/>
                  </a:lnTo>
                  <a:lnTo>
                    <a:pt x="463995" y="267292"/>
                  </a:lnTo>
                  <a:cubicBezTo>
                    <a:pt x="466709" y="267258"/>
                    <a:pt x="469285" y="266093"/>
                    <a:pt x="471103" y="264079"/>
                  </a:cubicBezTo>
                  <a:lnTo>
                    <a:pt x="520569" y="207310"/>
                  </a:lnTo>
                  <a:lnTo>
                    <a:pt x="553189" y="207310"/>
                  </a:lnTo>
                  <a:cubicBezTo>
                    <a:pt x="558406" y="226289"/>
                    <a:pt x="578020" y="237445"/>
                    <a:pt x="596999" y="232229"/>
                  </a:cubicBezTo>
                  <a:cubicBezTo>
                    <a:pt x="615978" y="227012"/>
                    <a:pt x="627135" y="207398"/>
                    <a:pt x="621918" y="188419"/>
                  </a:cubicBezTo>
                  <a:cubicBezTo>
                    <a:pt x="616702" y="169440"/>
                    <a:pt x="597087" y="158284"/>
                    <a:pt x="578109" y="163500"/>
                  </a:cubicBezTo>
                  <a:cubicBezTo>
                    <a:pt x="565989" y="166831"/>
                    <a:pt x="556520" y="176300"/>
                    <a:pt x="553189" y="188419"/>
                  </a:cubicBezTo>
                  <a:lnTo>
                    <a:pt x="516285" y="188419"/>
                  </a:lnTo>
                  <a:cubicBezTo>
                    <a:pt x="513571" y="188453"/>
                    <a:pt x="510995" y="189618"/>
                    <a:pt x="509177" y="191633"/>
                  </a:cubicBezTo>
                  <a:lnTo>
                    <a:pt x="459711" y="248401"/>
                  </a:lnTo>
                  <a:lnTo>
                    <a:pt x="332249" y="248401"/>
                  </a:lnTo>
                  <a:lnTo>
                    <a:pt x="332249" y="212957"/>
                  </a:lnTo>
                  <a:lnTo>
                    <a:pt x="455718" y="212957"/>
                  </a:lnTo>
                  <a:cubicBezTo>
                    <a:pt x="458465" y="212976"/>
                    <a:pt x="461074" y="211761"/>
                    <a:pt x="462827" y="209647"/>
                  </a:cubicBezTo>
                  <a:lnTo>
                    <a:pt x="497297" y="169139"/>
                  </a:lnTo>
                  <a:cubicBezTo>
                    <a:pt x="498772" y="167439"/>
                    <a:pt x="499570" y="165255"/>
                    <a:pt x="499537" y="163005"/>
                  </a:cubicBezTo>
                  <a:lnTo>
                    <a:pt x="499537" y="125321"/>
                  </a:lnTo>
                  <a:cubicBezTo>
                    <a:pt x="518348" y="120105"/>
                    <a:pt x="529369" y="100626"/>
                    <a:pt x="524153" y="81815"/>
                  </a:cubicBezTo>
                  <a:cubicBezTo>
                    <a:pt x="518936" y="63003"/>
                    <a:pt x="499458" y="51982"/>
                    <a:pt x="480646" y="57199"/>
                  </a:cubicBezTo>
                  <a:cubicBezTo>
                    <a:pt x="461835" y="62415"/>
                    <a:pt x="450814" y="81894"/>
                    <a:pt x="456030" y="100705"/>
                  </a:cubicBezTo>
                  <a:cubicBezTo>
                    <a:pt x="459346" y="112662"/>
                    <a:pt x="468689" y="122005"/>
                    <a:pt x="480646" y="125321"/>
                  </a:cubicBezTo>
                  <a:lnTo>
                    <a:pt x="480646" y="159791"/>
                  </a:lnTo>
                  <a:lnTo>
                    <a:pt x="451434" y="194067"/>
                  </a:lnTo>
                  <a:lnTo>
                    <a:pt x="332249" y="194067"/>
                  </a:lnTo>
                  <a:lnTo>
                    <a:pt x="332249" y="148886"/>
                  </a:lnTo>
                  <a:lnTo>
                    <a:pt x="375385" y="148886"/>
                  </a:lnTo>
                  <a:cubicBezTo>
                    <a:pt x="378554" y="148903"/>
                    <a:pt x="381532" y="147377"/>
                    <a:pt x="383370" y="144796"/>
                  </a:cubicBezTo>
                  <a:lnTo>
                    <a:pt x="395444" y="125321"/>
                  </a:lnTo>
                  <a:cubicBezTo>
                    <a:pt x="398605" y="126278"/>
                    <a:pt x="401880" y="126803"/>
                    <a:pt x="405182" y="126879"/>
                  </a:cubicBezTo>
                  <a:cubicBezTo>
                    <a:pt x="424864" y="126986"/>
                    <a:pt x="440906" y="111117"/>
                    <a:pt x="441013" y="91435"/>
                  </a:cubicBezTo>
                  <a:cubicBezTo>
                    <a:pt x="441120" y="71752"/>
                    <a:pt x="425251" y="55710"/>
                    <a:pt x="405569" y="55603"/>
                  </a:cubicBezTo>
                  <a:cubicBezTo>
                    <a:pt x="385925" y="55496"/>
                    <a:pt x="369899" y="71305"/>
                    <a:pt x="369738" y="90948"/>
                  </a:cubicBezTo>
                  <a:cubicBezTo>
                    <a:pt x="369778" y="99918"/>
                    <a:pt x="373264" y="108529"/>
                    <a:pt x="379475" y="115000"/>
                  </a:cubicBezTo>
                  <a:lnTo>
                    <a:pt x="369738" y="129995"/>
                  </a:lnTo>
                  <a:lnTo>
                    <a:pt x="332249" y="129995"/>
                  </a:lnTo>
                  <a:lnTo>
                    <a:pt x="332249" y="58231"/>
                  </a:lnTo>
                  <a:cubicBezTo>
                    <a:pt x="332249" y="57744"/>
                    <a:pt x="332249" y="57452"/>
                    <a:pt x="332249" y="57062"/>
                  </a:cubicBezTo>
                  <a:cubicBezTo>
                    <a:pt x="332343" y="56384"/>
                    <a:pt x="332343" y="55696"/>
                    <a:pt x="332249" y="55017"/>
                  </a:cubicBezTo>
                  <a:cubicBezTo>
                    <a:pt x="320716" y="21910"/>
                    <a:pt x="289408" y="-201"/>
                    <a:pt x="254350" y="1"/>
                  </a:cubicBezTo>
                  <a:cubicBezTo>
                    <a:pt x="222031" y="239"/>
                    <a:pt x="192799" y="19245"/>
                    <a:pt x="179470" y="48688"/>
                  </a:cubicBezTo>
                  <a:cubicBezTo>
                    <a:pt x="136191" y="35190"/>
                    <a:pt x="90164" y="59332"/>
                    <a:pt x="76666" y="102610"/>
                  </a:cubicBezTo>
                  <a:cubicBezTo>
                    <a:pt x="74205" y="110499"/>
                    <a:pt x="72950" y="118713"/>
                    <a:pt x="72943" y="126977"/>
                  </a:cubicBezTo>
                  <a:cubicBezTo>
                    <a:pt x="72896" y="134521"/>
                    <a:pt x="73946" y="142032"/>
                    <a:pt x="76059" y="149275"/>
                  </a:cubicBezTo>
                  <a:cubicBezTo>
                    <a:pt x="32683" y="163180"/>
                    <a:pt x="8793" y="209616"/>
                    <a:pt x="22698" y="252991"/>
                  </a:cubicBezTo>
                  <a:cubicBezTo>
                    <a:pt x="24307" y="258011"/>
                    <a:pt x="26394" y="262865"/>
                    <a:pt x="28930" y="267487"/>
                  </a:cubicBezTo>
                  <a:cubicBezTo>
                    <a:pt x="-3722" y="292866"/>
                    <a:pt x="-9617" y="339910"/>
                    <a:pt x="15763" y="372562"/>
                  </a:cubicBezTo>
                  <a:cubicBezTo>
                    <a:pt x="23805" y="382909"/>
                    <a:pt x="34423" y="390964"/>
                    <a:pt x="46555" y="395922"/>
                  </a:cubicBezTo>
                  <a:cubicBezTo>
                    <a:pt x="22280" y="434338"/>
                    <a:pt x="33742" y="485158"/>
                    <a:pt x="72158" y="509433"/>
                  </a:cubicBezTo>
                  <a:cubicBezTo>
                    <a:pt x="82647" y="516062"/>
                    <a:pt x="94500" y="520232"/>
                    <a:pt x="106829" y="521632"/>
                  </a:cubicBezTo>
                  <a:cubicBezTo>
                    <a:pt x="108439" y="562956"/>
                    <a:pt x="143245" y="595150"/>
                    <a:pt x="184568" y="593539"/>
                  </a:cubicBezTo>
                  <a:cubicBezTo>
                    <a:pt x="195409" y="593117"/>
                    <a:pt x="206029" y="590344"/>
                    <a:pt x="215693" y="585411"/>
                  </a:cubicBezTo>
                  <a:cubicBezTo>
                    <a:pt x="228845" y="595680"/>
                    <a:pt x="245064" y="601235"/>
                    <a:pt x="261750" y="601186"/>
                  </a:cubicBezTo>
                  <a:cubicBezTo>
                    <a:pt x="292777" y="601040"/>
                    <a:pt x="320552" y="581918"/>
                    <a:pt x="331762" y="552986"/>
                  </a:cubicBezTo>
                  <a:cubicBezTo>
                    <a:pt x="331762" y="552986"/>
                    <a:pt x="331762" y="552986"/>
                    <a:pt x="331762" y="552986"/>
                  </a:cubicBezTo>
                  <a:cubicBezTo>
                    <a:pt x="331848" y="552242"/>
                    <a:pt x="331848" y="551490"/>
                    <a:pt x="331762" y="550746"/>
                  </a:cubicBezTo>
                  <a:cubicBezTo>
                    <a:pt x="331809" y="550358"/>
                    <a:pt x="331809" y="549966"/>
                    <a:pt x="331762" y="549578"/>
                  </a:cubicBezTo>
                  <a:lnTo>
                    <a:pt x="331762" y="471679"/>
                  </a:lnTo>
                  <a:lnTo>
                    <a:pt x="369738" y="471679"/>
                  </a:lnTo>
                  <a:lnTo>
                    <a:pt x="379475" y="486675"/>
                  </a:lnTo>
                  <a:cubicBezTo>
                    <a:pt x="373264" y="493146"/>
                    <a:pt x="369778" y="501756"/>
                    <a:pt x="369738" y="510726"/>
                  </a:cubicBezTo>
                  <a:cubicBezTo>
                    <a:pt x="369684" y="530409"/>
                    <a:pt x="385596" y="546408"/>
                    <a:pt x="405279" y="546462"/>
                  </a:cubicBezTo>
                  <a:cubicBezTo>
                    <a:pt x="424961" y="546516"/>
                    <a:pt x="440961" y="530603"/>
                    <a:pt x="441015" y="510921"/>
                  </a:cubicBezTo>
                  <a:cubicBezTo>
                    <a:pt x="441069" y="491238"/>
                    <a:pt x="425156" y="475238"/>
                    <a:pt x="405474" y="475185"/>
                  </a:cubicBezTo>
                  <a:cubicBezTo>
                    <a:pt x="405441" y="475185"/>
                    <a:pt x="405409" y="475185"/>
                    <a:pt x="405376" y="475185"/>
                  </a:cubicBezTo>
                  <a:cubicBezTo>
                    <a:pt x="402075" y="475261"/>
                    <a:pt x="398799" y="475785"/>
                    <a:pt x="395639" y="476743"/>
                  </a:cubicBezTo>
                  <a:lnTo>
                    <a:pt x="383370" y="456391"/>
                  </a:lnTo>
                  <a:cubicBezTo>
                    <a:pt x="381620" y="453662"/>
                    <a:pt x="378626" y="451983"/>
                    <a:pt x="375385" y="451912"/>
                  </a:cubicBezTo>
                  <a:lnTo>
                    <a:pt x="332249" y="451912"/>
                  </a:lnTo>
                  <a:lnTo>
                    <a:pt x="332249" y="407705"/>
                  </a:lnTo>
                  <a:lnTo>
                    <a:pt x="451337" y="407705"/>
                  </a:lnTo>
                  <a:lnTo>
                    <a:pt x="480549" y="441980"/>
                  </a:lnTo>
                  <a:lnTo>
                    <a:pt x="480549" y="475866"/>
                  </a:lnTo>
                  <a:cubicBezTo>
                    <a:pt x="461458" y="481083"/>
                    <a:pt x="450211" y="500787"/>
                    <a:pt x="455428" y="519878"/>
                  </a:cubicBezTo>
                  <a:cubicBezTo>
                    <a:pt x="460644" y="538968"/>
                    <a:pt x="480349" y="550215"/>
                    <a:pt x="499439" y="544999"/>
                  </a:cubicBezTo>
                  <a:cubicBezTo>
                    <a:pt x="518530" y="539782"/>
                    <a:pt x="529777" y="520078"/>
                    <a:pt x="524560" y="500987"/>
                  </a:cubicBezTo>
                  <a:cubicBezTo>
                    <a:pt x="521219" y="488760"/>
                    <a:pt x="511667" y="479207"/>
                    <a:pt x="499439" y="475866"/>
                  </a:cubicBezTo>
                  <a:lnTo>
                    <a:pt x="499439" y="437890"/>
                  </a:lnTo>
                  <a:cubicBezTo>
                    <a:pt x="499472" y="435640"/>
                    <a:pt x="498675" y="433456"/>
                    <a:pt x="497200" y="431756"/>
                  </a:cubicBezTo>
                  <a:lnTo>
                    <a:pt x="462729" y="391443"/>
                  </a:lnTo>
                  <a:cubicBezTo>
                    <a:pt x="460977" y="389329"/>
                    <a:pt x="458367" y="388114"/>
                    <a:pt x="455621" y="388133"/>
                  </a:cubicBezTo>
                  <a:lnTo>
                    <a:pt x="332249" y="388133"/>
                  </a:lnTo>
                  <a:lnTo>
                    <a:pt x="332249" y="353078"/>
                  </a:lnTo>
                  <a:lnTo>
                    <a:pt x="459711" y="353078"/>
                  </a:lnTo>
                  <a:lnTo>
                    <a:pt x="509177" y="409847"/>
                  </a:lnTo>
                  <a:cubicBezTo>
                    <a:pt x="510995" y="411862"/>
                    <a:pt x="513571" y="413026"/>
                    <a:pt x="516285" y="413060"/>
                  </a:cubicBezTo>
                  <a:lnTo>
                    <a:pt x="553189" y="413060"/>
                  </a:lnTo>
                  <a:cubicBezTo>
                    <a:pt x="558406" y="431983"/>
                    <a:pt x="577975" y="443095"/>
                    <a:pt x="596898" y="437878"/>
                  </a:cubicBezTo>
                  <a:cubicBezTo>
                    <a:pt x="615821" y="432662"/>
                    <a:pt x="626933" y="413093"/>
                    <a:pt x="621716" y="394169"/>
                  </a:cubicBezTo>
                  <a:cubicBezTo>
                    <a:pt x="617458" y="378723"/>
                    <a:pt x="603390" y="368035"/>
                    <a:pt x="587368" y="368074"/>
                  </a:cubicBezTo>
                  <a:close/>
                  <a:moveTo>
                    <a:pt x="587368" y="180824"/>
                  </a:moveTo>
                  <a:cubicBezTo>
                    <a:pt x="596617" y="180824"/>
                    <a:pt x="604116" y="188323"/>
                    <a:pt x="604116" y="197572"/>
                  </a:cubicBezTo>
                  <a:cubicBezTo>
                    <a:pt x="604116" y="206822"/>
                    <a:pt x="596617" y="214321"/>
                    <a:pt x="587368" y="214321"/>
                  </a:cubicBezTo>
                  <a:cubicBezTo>
                    <a:pt x="578118" y="214321"/>
                    <a:pt x="570619" y="206822"/>
                    <a:pt x="570619" y="197572"/>
                  </a:cubicBezTo>
                  <a:cubicBezTo>
                    <a:pt x="570619" y="188323"/>
                    <a:pt x="578118" y="180824"/>
                    <a:pt x="587368" y="180824"/>
                  </a:cubicBezTo>
                  <a:close/>
                  <a:moveTo>
                    <a:pt x="473440" y="90948"/>
                  </a:moveTo>
                  <a:cubicBezTo>
                    <a:pt x="473387" y="81699"/>
                    <a:pt x="480842" y="74157"/>
                    <a:pt x="490091" y="74103"/>
                  </a:cubicBezTo>
                  <a:cubicBezTo>
                    <a:pt x="499341" y="74050"/>
                    <a:pt x="506883" y="81504"/>
                    <a:pt x="506936" y="90754"/>
                  </a:cubicBezTo>
                  <a:cubicBezTo>
                    <a:pt x="506990" y="100004"/>
                    <a:pt x="499535" y="107546"/>
                    <a:pt x="490286" y="107599"/>
                  </a:cubicBezTo>
                  <a:cubicBezTo>
                    <a:pt x="490221" y="107600"/>
                    <a:pt x="490156" y="107600"/>
                    <a:pt x="490091" y="107599"/>
                  </a:cubicBezTo>
                  <a:cubicBezTo>
                    <a:pt x="480917" y="107546"/>
                    <a:pt x="473494" y="100122"/>
                    <a:pt x="473440" y="90948"/>
                  </a:cubicBezTo>
                  <a:close/>
                  <a:moveTo>
                    <a:pt x="405279" y="74200"/>
                  </a:moveTo>
                  <a:cubicBezTo>
                    <a:pt x="414529" y="74200"/>
                    <a:pt x="422027" y="81699"/>
                    <a:pt x="422027" y="90948"/>
                  </a:cubicBezTo>
                  <a:cubicBezTo>
                    <a:pt x="422027" y="100198"/>
                    <a:pt x="414529" y="107697"/>
                    <a:pt x="405279" y="107697"/>
                  </a:cubicBezTo>
                  <a:cubicBezTo>
                    <a:pt x="396029" y="107697"/>
                    <a:pt x="388531" y="100198"/>
                    <a:pt x="388531" y="90948"/>
                  </a:cubicBezTo>
                  <a:cubicBezTo>
                    <a:pt x="388531" y="81699"/>
                    <a:pt x="396029" y="74200"/>
                    <a:pt x="405279" y="74200"/>
                  </a:cubicBezTo>
                  <a:cubicBezTo>
                    <a:pt x="405311" y="74200"/>
                    <a:pt x="405344" y="74200"/>
                    <a:pt x="405376" y="74200"/>
                  </a:cubicBezTo>
                  <a:close/>
                  <a:moveTo>
                    <a:pt x="313261" y="139440"/>
                  </a:moveTo>
                  <a:lnTo>
                    <a:pt x="313261" y="183745"/>
                  </a:lnTo>
                  <a:cubicBezTo>
                    <a:pt x="296297" y="175332"/>
                    <a:pt x="276130" y="176632"/>
                    <a:pt x="260387" y="187153"/>
                  </a:cubicBezTo>
                  <a:cubicBezTo>
                    <a:pt x="256187" y="190168"/>
                    <a:pt x="255076" y="195940"/>
                    <a:pt x="257855" y="200299"/>
                  </a:cubicBezTo>
                  <a:cubicBezTo>
                    <a:pt x="260863" y="204442"/>
                    <a:pt x="266565" y="205548"/>
                    <a:pt x="270903" y="202831"/>
                  </a:cubicBezTo>
                  <a:cubicBezTo>
                    <a:pt x="284116" y="193874"/>
                    <a:pt x="301801" y="195419"/>
                    <a:pt x="313261" y="206531"/>
                  </a:cubicBezTo>
                  <a:lnTo>
                    <a:pt x="313261" y="257360"/>
                  </a:lnTo>
                  <a:lnTo>
                    <a:pt x="313261" y="296309"/>
                  </a:lnTo>
                  <a:cubicBezTo>
                    <a:pt x="296310" y="287779"/>
                    <a:pt x="276064" y="289121"/>
                    <a:pt x="260387" y="299815"/>
                  </a:cubicBezTo>
                  <a:cubicBezTo>
                    <a:pt x="256765" y="303789"/>
                    <a:pt x="257050" y="309948"/>
                    <a:pt x="261025" y="313571"/>
                  </a:cubicBezTo>
                  <a:cubicBezTo>
                    <a:pt x="263726" y="316032"/>
                    <a:pt x="267578" y="316774"/>
                    <a:pt x="271001" y="315492"/>
                  </a:cubicBezTo>
                  <a:cubicBezTo>
                    <a:pt x="284128" y="306460"/>
                    <a:pt x="301801" y="307926"/>
                    <a:pt x="313261" y="318997"/>
                  </a:cubicBezTo>
                  <a:lnTo>
                    <a:pt x="313261" y="342951"/>
                  </a:lnTo>
                  <a:lnTo>
                    <a:pt x="313261" y="397967"/>
                  </a:lnTo>
                  <a:lnTo>
                    <a:pt x="313261" y="461747"/>
                  </a:lnTo>
                  <a:lnTo>
                    <a:pt x="313261" y="547338"/>
                  </a:lnTo>
                  <a:cubicBezTo>
                    <a:pt x="301687" y="575955"/>
                    <a:pt x="269107" y="589771"/>
                    <a:pt x="240490" y="578198"/>
                  </a:cubicBezTo>
                  <a:cubicBezTo>
                    <a:pt x="237561" y="577013"/>
                    <a:pt x="234738" y="575583"/>
                    <a:pt x="232051" y="573921"/>
                  </a:cubicBezTo>
                  <a:cubicBezTo>
                    <a:pt x="249841" y="558057"/>
                    <a:pt x="254789" y="532238"/>
                    <a:pt x="244126" y="510921"/>
                  </a:cubicBezTo>
                  <a:cubicBezTo>
                    <a:pt x="243059" y="505650"/>
                    <a:pt x="237921" y="502242"/>
                    <a:pt x="232650" y="503309"/>
                  </a:cubicBezTo>
                  <a:cubicBezTo>
                    <a:pt x="227379" y="504376"/>
                    <a:pt x="223971" y="509514"/>
                    <a:pt x="225038" y="514785"/>
                  </a:cubicBezTo>
                  <a:cubicBezTo>
                    <a:pt x="225377" y="516459"/>
                    <a:pt x="226150" y="518014"/>
                    <a:pt x="227280" y="519295"/>
                  </a:cubicBezTo>
                  <a:cubicBezTo>
                    <a:pt x="235608" y="536533"/>
                    <a:pt x="228386" y="557259"/>
                    <a:pt x="211147" y="565588"/>
                  </a:cubicBezTo>
                  <a:cubicBezTo>
                    <a:pt x="211040" y="565640"/>
                    <a:pt x="210932" y="565691"/>
                    <a:pt x="210824" y="565742"/>
                  </a:cubicBezTo>
                  <a:cubicBezTo>
                    <a:pt x="210082" y="566215"/>
                    <a:pt x="209396" y="566770"/>
                    <a:pt x="208779" y="567397"/>
                  </a:cubicBezTo>
                  <a:cubicBezTo>
                    <a:pt x="181989" y="582625"/>
                    <a:pt x="147928" y="573252"/>
                    <a:pt x="132701" y="546462"/>
                  </a:cubicBezTo>
                  <a:cubicBezTo>
                    <a:pt x="128138" y="538435"/>
                    <a:pt x="125639" y="529402"/>
                    <a:pt x="125427" y="520171"/>
                  </a:cubicBezTo>
                  <a:cubicBezTo>
                    <a:pt x="141981" y="515400"/>
                    <a:pt x="173238" y="503423"/>
                    <a:pt x="177814" y="479858"/>
                  </a:cubicBezTo>
                  <a:cubicBezTo>
                    <a:pt x="178661" y="474754"/>
                    <a:pt x="175368" y="469878"/>
                    <a:pt x="170316" y="468758"/>
                  </a:cubicBezTo>
                  <a:cubicBezTo>
                    <a:pt x="165399" y="467992"/>
                    <a:pt x="160695" y="471058"/>
                    <a:pt x="159411" y="475866"/>
                  </a:cubicBezTo>
                  <a:cubicBezTo>
                    <a:pt x="156587" y="489888"/>
                    <a:pt x="127180" y="500307"/>
                    <a:pt x="115495" y="502839"/>
                  </a:cubicBezTo>
                  <a:cubicBezTo>
                    <a:pt x="80543" y="502358"/>
                    <a:pt x="52598" y="473635"/>
                    <a:pt x="53078" y="438682"/>
                  </a:cubicBezTo>
                  <a:cubicBezTo>
                    <a:pt x="53289" y="423337"/>
                    <a:pt x="59068" y="408591"/>
                    <a:pt x="69340" y="397188"/>
                  </a:cubicBezTo>
                  <a:cubicBezTo>
                    <a:pt x="71754" y="394562"/>
                    <a:pt x="72538" y="390826"/>
                    <a:pt x="71385" y="387451"/>
                  </a:cubicBezTo>
                  <a:cubicBezTo>
                    <a:pt x="70233" y="384260"/>
                    <a:pt x="67503" y="381899"/>
                    <a:pt x="64179" y="381219"/>
                  </a:cubicBezTo>
                  <a:cubicBezTo>
                    <a:pt x="33835" y="375267"/>
                    <a:pt x="14061" y="345843"/>
                    <a:pt x="20013" y="315499"/>
                  </a:cubicBezTo>
                  <a:cubicBezTo>
                    <a:pt x="23072" y="299903"/>
                    <a:pt x="32615" y="286343"/>
                    <a:pt x="46262" y="278198"/>
                  </a:cubicBezTo>
                  <a:cubicBezTo>
                    <a:pt x="62105" y="267545"/>
                    <a:pt x="83584" y="271752"/>
                    <a:pt x="94237" y="287595"/>
                  </a:cubicBezTo>
                  <a:cubicBezTo>
                    <a:pt x="94313" y="287708"/>
                    <a:pt x="94388" y="287821"/>
                    <a:pt x="94462" y="287935"/>
                  </a:cubicBezTo>
                  <a:cubicBezTo>
                    <a:pt x="96260" y="290461"/>
                    <a:pt x="99153" y="291979"/>
                    <a:pt x="102252" y="292025"/>
                  </a:cubicBezTo>
                  <a:cubicBezTo>
                    <a:pt x="104161" y="292010"/>
                    <a:pt x="106024" y="291434"/>
                    <a:pt x="107608" y="290369"/>
                  </a:cubicBezTo>
                  <a:cubicBezTo>
                    <a:pt x="111774" y="287325"/>
                    <a:pt x="112842" y="281559"/>
                    <a:pt x="110042" y="277224"/>
                  </a:cubicBezTo>
                  <a:cubicBezTo>
                    <a:pt x="95727" y="255691"/>
                    <a:pt x="68051" y="247490"/>
                    <a:pt x="44315" y="257749"/>
                  </a:cubicBezTo>
                  <a:cubicBezTo>
                    <a:pt x="27871" y="227086"/>
                    <a:pt x="39397" y="188898"/>
                    <a:pt x="70060" y="172454"/>
                  </a:cubicBezTo>
                  <a:cubicBezTo>
                    <a:pt x="74249" y="170207"/>
                    <a:pt x="78679" y="168442"/>
                    <a:pt x="83264" y="167192"/>
                  </a:cubicBezTo>
                  <a:cubicBezTo>
                    <a:pt x="90807" y="179627"/>
                    <a:pt x="104262" y="187258"/>
                    <a:pt x="118806" y="187348"/>
                  </a:cubicBezTo>
                  <a:cubicBezTo>
                    <a:pt x="123690" y="187370"/>
                    <a:pt x="128539" y="186512"/>
                    <a:pt x="133120" y="184816"/>
                  </a:cubicBezTo>
                  <a:cubicBezTo>
                    <a:pt x="138474" y="184311"/>
                    <a:pt x="142404" y="179561"/>
                    <a:pt x="141898" y="174207"/>
                  </a:cubicBezTo>
                  <a:cubicBezTo>
                    <a:pt x="141393" y="168853"/>
                    <a:pt x="136642" y="164922"/>
                    <a:pt x="131288" y="165428"/>
                  </a:cubicBezTo>
                  <a:cubicBezTo>
                    <a:pt x="129640" y="165584"/>
                    <a:pt x="128058" y="166157"/>
                    <a:pt x="126693" y="167094"/>
                  </a:cubicBezTo>
                  <a:cubicBezTo>
                    <a:pt x="114760" y="171192"/>
                    <a:pt x="101748" y="164946"/>
                    <a:pt x="97481" y="153073"/>
                  </a:cubicBezTo>
                  <a:cubicBezTo>
                    <a:pt x="97518" y="152782"/>
                    <a:pt x="97518" y="152487"/>
                    <a:pt x="97481" y="152196"/>
                  </a:cubicBezTo>
                  <a:cubicBezTo>
                    <a:pt x="83664" y="120146"/>
                    <a:pt x="98445" y="82963"/>
                    <a:pt x="130495" y="69146"/>
                  </a:cubicBezTo>
                  <a:cubicBezTo>
                    <a:pt x="146841" y="62099"/>
                    <a:pt x="165401" y="62272"/>
                    <a:pt x="181612" y="69624"/>
                  </a:cubicBezTo>
                  <a:lnTo>
                    <a:pt x="182586" y="69624"/>
                  </a:lnTo>
                  <a:lnTo>
                    <a:pt x="183559" y="69624"/>
                  </a:lnTo>
                  <a:cubicBezTo>
                    <a:pt x="210532" y="74882"/>
                    <a:pt x="218516" y="99615"/>
                    <a:pt x="214329" y="121718"/>
                  </a:cubicBezTo>
                  <a:cubicBezTo>
                    <a:pt x="213539" y="126789"/>
                    <a:pt x="216819" y="131603"/>
                    <a:pt x="221827" y="132722"/>
                  </a:cubicBezTo>
                  <a:lnTo>
                    <a:pt x="223580" y="132722"/>
                  </a:lnTo>
                  <a:cubicBezTo>
                    <a:pt x="228251" y="132826"/>
                    <a:pt x="232337" y="129597"/>
                    <a:pt x="233317" y="125029"/>
                  </a:cubicBezTo>
                  <a:cubicBezTo>
                    <a:pt x="239452" y="92117"/>
                    <a:pt x="225333" y="64463"/>
                    <a:pt x="198457" y="54044"/>
                  </a:cubicBezTo>
                  <a:cubicBezTo>
                    <a:pt x="209092" y="32361"/>
                    <a:pt x="231076" y="18559"/>
                    <a:pt x="255226" y="18405"/>
                  </a:cubicBezTo>
                  <a:cubicBezTo>
                    <a:pt x="281593" y="18361"/>
                    <a:pt x="305189" y="34766"/>
                    <a:pt x="314332" y="59497"/>
                  </a:cubicBezTo>
                  <a:close/>
                  <a:moveTo>
                    <a:pt x="405279" y="493588"/>
                  </a:moveTo>
                  <a:cubicBezTo>
                    <a:pt x="414529" y="493588"/>
                    <a:pt x="422027" y="501087"/>
                    <a:pt x="422027" y="510337"/>
                  </a:cubicBezTo>
                  <a:cubicBezTo>
                    <a:pt x="422027" y="519586"/>
                    <a:pt x="414528" y="527085"/>
                    <a:pt x="405278" y="527085"/>
                  </a:cubicBezTo>
                  <a:cubicBezTo>
                    <a:pt x="396029" y="527085"/>
                    <a:pt x="388530" y="519586"/>
                    <a:pt x="388530" y="510336"/>
                  </a:cubicBezTo>
                  <a:cubicBezTo>
                    <a:pt x="388530" y="510304"/>
                    <a:pt x="388531" y="510271"/>
                    <a:pt x="388531" y="510239"/>
                  </a:cubicBezTo>
                  <a:cubicBezTo>
                    <a:pt x="388584" y="500989"/>
                    <a:pt x="396126" y="493535"/>
                    <a:pt x="405376" y="493588"/>
                  </a:cubicBezTo>
                  <a:cubicBezTo>
                    <a:pt x="405376" y="493588"/>
                    <a:pt x="405376" y="493588"/>
                    <a:pt x="405376" y="493588"/>
                  </a:cubicBezTo>
                  <a:close/>
                  <a:moveTo>
                    <a:pt x="506742" y="510239"/>
                  </a:moveTo>
                  <a:cubicBezTo>
                    <a:pt x="506796" y="519489"/>
                    <a:pt x="499341" y="527031"/>
                    <a:pt x="490092" y="527084"/>
                  </a:cubicBezTo>
                  <a:cubicBezTo>
                    <a:pt x="480842" y="527138"/>
                    <a:pt x="473300" y="519683"/>
                    <a:pt x="473246" y="510434"/>
                  </a:cubicBezTo>
                  <a:cubicBezTo>
                    <a:pt x="473192" y="501184"/>
                    <a:pt x="480647" y="493642"/>
                    <a:pt x="489897" y="493588"/>
                  </a:cubicBezTo>
                  <a:cubicBezTo>
                    <a:pt x="489929" y="493588"/>
                    <a:pt x="489962" y="493588"/>
                    <a:pt x="489994" y="493588"/>
                  </a:cubicBezTo>
                  <a:cubicBezTo>
                    <a:pt x="499244" y="493534"/>
                    <a:pt x="506786" y="500989"/>
                    <a:pt x="506840" y="510238"/>
                  </a:cubicBezTo>
                  <a:cubicBezTo>
                    <a:pt x="506840" y="510239"/>
                    <a:pt x="506840" y="510239"/>
                    <a:pt x="506840" y="510239"/>
                  </a:cubicBezTo>
                  <a:close/>
                  <a:moveTo>
                    <a:pt x="587270" y="420363"/>
                  </a:moveTo>
                  <a:cubicBezTo>
                    <a:pt x="578021" y="420417"/>
                    <a:pt x="570479" y="412962"/>
                    <a:pt x="570425" y="403713"/>
                  </a:cubicBezTo>
                  <a:cubicBezTo>
                    <a:pt x="570371" y="394463"/>
                    <a:pt x="577826" y="386921"/>
                    <a:pt x="587075" y="386867"/>
                  </a:cubicBezTo>
                  <a:cubicBezTo>
                    <a:pt x="596325" y="386813"/>
                    <a:pt x="603867" y="394268"/>
                    <a:pt x="603921" y="403518"/>
                  </a:cubicBezTo>
                  <a:cubicBezTo>
                    <a:pt x="603921" y="403550"/>
                    <a:pt x="603921" y="403583"/>
                    <a:pt x="603921" y="403615"/>
                  </a:cubicBezTo>
                  <a:cubicBezTo>
                    <a:pt x="603922" y="412789"/>
                    <a:pt x="596541" y="420257"/>
                    <a:pt x="587368" y="420363"/>
                  </a:cubicBezTo>
                  <a:close/>
                </a:path>
              </a:pathLst>
            </a:custGeom>
            <a:grpFill/>
            <a:ln w="9674" cap="flat">
              <a:noFill/>
              <a:prstDash val="solid"/>
              <a:miter/>
            </a:ln>
          </p:spPr>
          <p:txBody>
            <a:bodyPr rtlCol="0" anchor="ctr"/>
            <a:lstStyle/>
            <a:p>
              <a:endParaRPr lang="en-GB"/>
            </a:p>
          </p:txBody>
        </p:sp>
      </p:grpSp>
      <p:sp>
        <p:nvSpPr>
          <p:cNvPr id="9" name="TextBox 8">
            <a:extLst>
              <a:ext uri="{FF2B5EF4-FFF2-40B4-BE49-F238E27FC236}">
                <a16:creationId xmlns:a16="http://schemas.microsoft.com/office/drawing/2014/main" id="{E5A706C5-C040-0821-A930-942A847DB78A}"/>
              </a:ext>
            </a:extLst>
          </p:cNvPr>
          <p:cNvSpPr txBox="1"/>
          <p:nvPr/>
        </p:nvSpPr>
        <p:spPr>
          <a:xfrm>
            <a:off x="5518713" y="3774006"/>
            <a:ext cx="2017850" cy="2185214"/>
          </a:xfrm>
          <a:prstGeom prst="rect">
            <a:avLst/>
          </a:prstGeom>
          <a:noFill/>
        </p:spPr>
        <p:txBody>
          <a:bodyPr wrap="square" lIns="0" tIns="0" rIns="0" bIns="0" rtlCol="0">
            <a:spAutoFit/>
          </a:bodyPr>
          <a:lstStyle/>
          <a:p>
            <a:pPr defTabSz="609630" fontAlgn="base">
              <a:spcBef>
                <a:spcPts val="1200"/>
              </a:spcBef>
              <a:spcAft>
                <a:spcPct val="0"/>
              </a:spcAft>
              <a:defRPr/>
            </a:pPr>
            <a:r>
              <a:rPr lang="en-GB" sz="1600" b="1">
                <a:solidFill>
                  <a:srgbClr val="FFFFFF"/>
                </a:solidFill>
              </a:rPr>
              <a:t>Assess &amp; Improve</a:t>
            </a:r>
          </a:p>
          <a:p>
            <a:pPr marL="0" lvl="1" defTabSz="609630" fontAlgn="base">
              <a:spcBef>
                <a:spcPts val="600"/>
              </a:spcBef>
              <a:spcAft>
                <a:spcPct val="0"/>
              </a:spcAft>
              <a:defRPr/>
            </a:pPr>
            <a:r>
              <a:rPr lang="en-GB" sz="1600">
                <a:solidFill>
                  <a:srgbClr val="FFFFFF"/>
                </a:solidFill>
              </a:rPr>
              <a:t>Tracing (Preview)</a:t>
            </a:r>
          </a:p>
          <a:p>
            <a:pPr marL="0" lvl="1" defTabSz="609630" fontAlgn="base">
              <a:spcBef>
                <a:spcPts val="600"/>
              </a:spcBef>
              <a:spcAft>
                <a:spcPct val="0"/>
              </a:spcAft>
              <a:defRPr/>
            </a:pPr>
            <a:r>
              <a:rPr lang="en-GB" sz="1600">
                <a:solidFill>
                  <a:srgbClr val="FFFFFF"/>
                </a:solidFill>
              </a:rPr>
              <a:t>Evaluation</a:t>
            </a:r>
          </a:p>
          <a:p>
            <a:pPr marL="0" lvl="1" defTabSz="609630" fontAlgn="base">
              <a:spcBef>
                <a:spcPts val="600"/>
              </a:spcBef>
              <a:spcAft>
                <a:spcPct val="0"/>
              </a:spcAft>
              <a:defRPr/>
            </a:pPr>
            <a:r>
              <a:rPr lang="en-GB" sz="1600">
                <a:solidFill>
                  <a:srgbClr val="FFFFFF"/>
                </a:solidFill>
              </a:rPr>
              <a:t>Safety + security</a:t>
            </a:r>
            <a:endParaRPr lang="en-GB" sz="1600" b="1">
              <a:solidFill>
                <a:srgbClr val="FFFFFF"/>
              </a:solidFill>
            </a:endParaRPr>
          </a:p>
          <a:p>
            <a:pPr defTabSz="609630" fontAlgn="base">
              <a:spcBef>
                <a:spcPts val="1200"/>
              </a:spcBef>
              <a:spcAft>
                <a:spcPct val="0"/>
              </a:spcAft>
              <a:defRPr/>
            </a:pPr>
            <a:r>
              <a:rPr lang="en-GB" sz="1600" b="1">
                <a:solidFill>
                  <a:srgbClr val="FFFFFF"/>
                </a:solidFill>
              </a:rPr>
              <a:t>Built-in AI Services Integration</a:t>
            </a:r>
          </a:p>
          <a:p>
            <a:pPr marL="0" lvl="1" defTabSz="609630" fontAlgn="base">
              <a:spcBef>
                <a:spcPts val="600"/>
              </a:spcBef>
              <a:spcAft>
                <a:spcPct val="0"/>
              </a:spcAft>
              <a:defRPr/>
            </a:pPr>
            <a:endParaRPr lang="en-GB" sz="1600">
              <a:solidFill>
                <a:srgbClr val="FFFFFF"/>
              </a:solidFill>
            </a:endParaRPr>
          </a:p>
        </p:txBody>
      </p:sp>
    </p:spTree>
    <p:extLst>
      <p:ext uri="{BB962C8B-B14F-4D97-AF65-F5344CB8AC3E}">
        <p14:creationId xmlns:p14="http://schemas.microsoft.com/office/powerpoint/2010/main" val="403843873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p:cTn id="7" dur="250" fill="hold"/>
                                        <p:tgtEl>
                                          <p:spTgt spid="92"/>
                                        </p:tgtEl>
                                        <p:attrNameLst>
                                          <p:attrName>ppt_w</p:attrName>
                                        </p:attrNameLst>
                                      </p:cBhvr>
                                      <p:tavLst>
                                        <p:tav tm="0">
                                          <p:val>
                                            <p:strVal val="2/3*#ppt_w"/>
                                          </p:val>
                                        </p:tav>
                                        <p:tav tm="100000">
                                          <p:val>
                                            <p:strVal val="#ppt_w"/>
                                          </p:val>
                                        </p:tav>
                                      </p:tavLst>
                                    </p:anim>
                                    <p:anim calcmode="lin" valueType="num">
                                      <p:cBhvr>
                                        <p:cTn id="8" dur="250" fill="hold"/>
                                        <p:tgtEl>
                                          <p:spTgt spid="92"/>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92"/>
                                        </p:tgtEl>
                                        <p:attrNameLst>
                                          <p:attrName>style.visibility</p:attrName>
                                        </p:attrNameLst>
                                      </p:cBhvr>
                                      <p:to>
                                        <p:strVal val="visible"/>
                                      </p:to>
                                    </p:set>
                                    <p:animEffect transition="in" filter="fade">
                                      <p:cBhvr>
                                        <p:cTn id="11" dur="500"/>
                                        <p:tgtEl>
                                          <p:spTgt spid="92"/>
                                        </p:tgtEl>
                                      </p:cBhvr>
                                    </p:animEffect>
                                  </p:childTnLst>
                                </p:cTn>
                              </p:par>
                              <p:par>
                                <p:cTn id="12" presetID="6" presetClass="emph" presetSubtype="0" fill="hold" grpId="2" nodeType="withEffect">
                                  <p:stCondLst>
                                    <p:cond delay="0"/>
                                  </p:stCondLst>
                                  <p:childTnLst>
                                    <p:animScale>
                                      <p:cBhvr>
                                        <p:cTn id="13" dur="10" fill="hold"/>
                                        <p:tgtEl>
                                          <p:spTgt spid="92"/>
                                        </p:tgtEl>
                                      </p:cBhvr>
                                      <p:by x="80000" y="80000"/>
                                    </p:animScale>
                                  </p:childTnLst>
                                </p:cTn>
                              </p:par>
                              <p:par>
                                <p:cTn id="14" presetID="6" presetClass="emph" presetSubtype="0" decel="100000" fill="hold" grpId="3" nodeType="withEffect">
                                  <p:stCondLst>
                                    <p:cond delay="0"/>
                                  </p:stCondLst>
                                  <p:childTnLst>
                                    <p:animScale>
                                      <p:cBhvr>
                                        <p:cTn id="15" dur="1000" fill="hold"/>
                                        <p:tgtEl>
                                          <p:spTgt spid="92"/>
                                        </p:tgtEl>
                                      </p:cBhvr>
                                      <p:by x="125000" y="125000"/>
                                    </p:animScale>
                                  </p:childTnLst>
                                </p:cTn>
                              </p:par>
                              <p:par>
                                <p:cTn id="16" presetID="10" presetClass="entr" presetSubtype="0" fill="hold" grpId="0" nodeType="withEffect">
                                  <p:stCondLst>
                                    <p:cond delay="0"/>
                                  </p:stCondLst>
                                  <p:childTnLst>
                                    <p:set>
                                      <p:cBhvr>
                                        <p:cTn id="17" dur="1" fill="hold">
                                          <p:stCondLst>
                                            <p:cond delay="0"/>
                                          </p:stCondLst>
                                        </p:cTn>
                                        <p:tgtEl>
                                          <p:spTgt spid="83"/>
                                        </p:tgtEl>
                                        <p:attrNameLst>
                                          <p:attrName>style.visibility</p:attrName>
                                        </p:attrNameLst>
                                      </p:cBhvr>
                                      <p:to>
                                        <p:strVal val="visible"/>
                                      </p:to>
                                    </p:set>
                                    <p:animEffect transition="in" filter="fade">
                                      <p:cBhvr>
                                        <p:cTn id="18" dur="1000"/>
                                        <p:tgtEl>
                                          <p:spTgt spid="83"/>
                                        </p:tgtEl>
                                      </p:cBhvr>
                                    </p:animEffect>
                                  </p:childTnLst>
                                </p:cTn>
                              </p:par>
                              <p:par>
                                <p:cTn id="19" presetID="23" presetClass="entr" presetSubtype="272" fill="hold" nodeType="withEffect">
                                  <p:stCondLst>
                                    <p:cond delay="250"/>
                                  </p:stCondLst>
                                  <p:childTnLst>
                                    <p:set>
                                      <p:cBhvr>
                                        <p:cTn id="20" dur="1" fill="hold">
                                          <p:stCondLst>
                                            <p:cond delay="0"/>
                                          </p:stCondLst>
                                        </p:cTn>
                                        <p:tgtEl>
                                          <p:spTgt spid="93"/>
                                        </p:tgtEl>
                                        <p:attrNameLst>
                                          <p:attrName>style.visibility</p:attrName>
                                        </p:attrNameLst>
                                      </p:cBhvr>
                                      <p:to>
                                        <p:strVal val="visible"/>
                                      </p:to>
                                    </p:set>
                                    <p:anim calcmode="lin" valueType="num">
                                      <p:cBhvr>
                                        <p:cTn id="21" dur="250" fill="hold"/>
                                        <p:tgtEl>
                                          <p:spTgt spid="93"/>
                                        </p:tgtEl>
                                        <p:attrNameLst>
                                          <p:attrName>ppt_w</p:attrName>
                                        </p:attrNameLst>
                                      </p:cBhvr>
                                      <p:tavLst>
                                        <p:tav tm="0">
                                          <p:val>
                                            <p:strVal val="2/3*#ppt_w"/>
                                          </p:val>
                                        </p:tav>
                                        <p:tav tm="100000">
                                          <p:val>
                                            <p:strVal val="#ppt_w"/>
                                          </p:val>
                                        </p:tav>
                                      </p:tavLst>
                                    </p:anim>
                                    <p:anim calcmode="lin" valueType="num">
                                      <p:cBhvr>
                                        <p:cTn id="22" dur="250" fill="hold"/>
                                        <p:tgtEl>
                                          <p:spTgt spid="93"/>
                                        </p:tgtEl>
                                        <p:attrNameLst>
                                          <p:attrName>ppt_h</p:attrName>
                                        </p:attrNameLst>
                                      </p:cBhvr>
                                      <p:tavLst>
                                        <p:tav tm="0">
                                          <p:val>
                                            <p:strVal val="2/3*#ppt_h"/>
                                          </p:val>
                                        </p:tav>
                                        <p:tav tm="100000">
                                          <p:val>
                                            <p:strVal val="#ppt_h"/>
                                          </p:val>
                                        </p:tav>
                                      </p:tavLst>
                                    </p:anim>
                                  </p:childTnLst>
                                </p:cTn>
                              </p:par>
                              <p:par>
                                <p:cTn id="23" presetID="10" presetClass="entr" presetSubtype="0" fill="hold" nodeType="withEffect">
                                  <p:stCondLst>
                                    <p:cond delay="250"/>
                                  </p:stCondLst>
                                  <p:childTnLst>
                                    <p:set>
                                      <p:cBhvr>
                                        <p:cTn id="24" dur="1" fill="hold">
                                          <p:stCondLst>
                                            <p:cond delay="0"/>
                                          </p:stCondLst>
                                        </p:cTn>
                                        <p:tgtEl>
                                          <p:spTgt spid="93"/>
                                        </p:tgtEl>
                                        <p:attrNameLst>
                                          <p:attrName>style.visibility</p:attrName>
                                        </p:attrNameLst>
                                      </p:cBhvr>
                                      <p:to>
                                        <p:strVal val="visible"/>
                                      </p:to>
                                    </p:set>
                                    <p:animEffect transition="in" filter="fade">
                                      <p:cBhvr>
                                        <p:cTn id="25" dur="500"/>
                                        <p:tgtEl>
                                          <p:spTgt spid="93"/>
                                        </p:tgtEl>
                                      </p:cBhvr>
                                    </p:animEffect>
                                  </p:childTnLst>
                                </p:cTn>
                              </p:par>
                              <p:par>
                                <p:cTn id="26" presetID="6" presetClass="emph" presetSubtype="0" fill="hold" nodeType="withEffect">
                                  <p:stCondLst>
                                    <p:cond delay="250"/>
                                  </p:stCondLst>
                                  <p:childTnLst>
                                    <p:animScale>
                                      <p:cBhvr>
                                        <p:cTn id="27" dur="10" fill="hold"/>
                                        <p:tgtEl>
                                          <p:spTgt spid="93"/>
                                        </p:tgtEl>
                                      </p:cBhvr>
                                      <p:by x="80000" y="80000"/>
                                    </p:animScale>
                                  </p:childTnLst>
                                </p:cTn>
                              </p:par>
                              <p:par>
                                <p:cTn id="28" presetID="6" presetClass="emph" presetSubtype="0" decel="100000" fill="hold" nodeType="withEffect">
                                  <p:stCondLst>
                                    <p:cond delay="250"/>
                                  </p:stCondLst>
                                  <p:childTnLst>
                                    <p:animScale>
                                      <p:cBhvr>
                                        <p:cTn id="29" dur="1000" fill="hold"/>
                                        <p:tgtEl>
                                          <p:spTgt spid="93"/>
                                        </p:tgtEl>
                                      </p:cBhvr>
                                      <p:by x="125000" y="125000"/>
                                    </p:animScale>
                                  </p:childTnLst>
                                </p:cTn>
                              </p:par>
                              <p:par>
                                <p:cTn id="30" presetID="23" presetClass="entr" presetSubtype="272" fill="hold" nodeType="withEffect">
                                  <p:stCondLst>
                                    <p:cond delay="250"/>
                                  </p:stCondLst>
                                  <p:childTnLst>
                                    <p:set>
                                      <p:cBhvr>
                                        <p:cTn id="31" dur="1" fill="hold">
                                          <p:stCondLst>
                                            <p:cond delay="0"/>
                                          </p:stCondLst>
                                        </p:cTn>
                                        <p:tgtEl>
                                          <p:spTgt spid="20"/>
                                        </p:tgtEl>
                                        <p:attrNameLst>
                                          <p:attrName>style.visibility</p:attrName>
                                        </p:attrNameLst>
                                      </p:cBhvr>
                                      <p:to>
                                        <p:strVal val="visible"/>
                                      </p:to>
                                    </p:set>
                                    <p:anim calcmode="lin" valueType="num">
                                      <p:cBhvr>
                                        <p:cTn id="32" dur="250" fill="hold"/>
                                        <p:tgtEl>
                                          <p:spTgt spid="20"/>
                                        </p:tgtEl>
                                        <p:attrNameLst>
                                          <p:attrName>ppt_w</p:attrName>
                                        </p:attrNameLst>
                                      </p:cBhvr>
                                      <p:tavLst>
                                        <p:tav tm="0">
                                          <p:val>
                                            <p:strVal val="2/3*#ppt_w"/>
                                          </p:val>
                                        </p:tav>
                                        <p:tav tm="100000">
                                          <p:val>
                                            <p:strVal val="#ppt_w"/>
                                          </p:val>
                                        </p:tav>
                                      </p:tavLst>
                                    </p:anim>
                                    <p:anim calcmode="lin" valueType="num">
                                      <p:cBhvr>
                                        <p:cTn id="33" dur="250" fill="hold"/>
                                        <p:tgtEl>
                                          <p:spTgt spid="20"/>
                                        </p:tgtEl>
                                        <p:attrNameLst>
                                          <p:attrName>ppt_h</p:attrName>
                                        </p:attrNameLst>
                                      </p:cBhvr>
                                      <p:tavLst>
                                        <p:tav tm="0">
                                          <p:val>
                                            <p:strVal val="2/3*#ppt_h"/>
                                          </p:val>
                                        </p:tav>
                                        <p:tav tm="100000">
                                          <p:val>
                                            <p:strVal val="#ppt_h"/>
                                          </p:val>
                                        </p:tav>
                                      </p:tavLst>
                                    </p:anim>
                                  </p:childTnLst>
                                </p:cTn>
                              </p:par>
                              <p:par>
                                <p:cTn id="34" presetID="10" presetClass="entr" presetSubtype="0" fill="hold" nodeType="withEffect">
                                  <p:stCondLst>
                                    <p:cond delay="25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6" presetClass="emph" presetSubtype="0" fill="hold" nodeType="withEffect">
                                  <p:stCondLst>
                                    <p:cond delay="250"/>
                                  </p:stCondLst>
                                  <p:childTnLst>
                                    <p:animScale>
                                      <p:cBhvr>
                                        <p:cTn id="38" dur="10" fill="hold"/>
                                        <p:tgtEl>
                                          <p:spTgt spid="20"/>
                                        </p:tgtEl>
                                      </p:cBhvr>
                                      <p:by x="80000" y="80000"/>
                                    </p:animScale>
                                  </p:childTnLst>
                                </p:cTn>
                              </p:par>
                              <p:par>
                                <p:cTn id="39" presetID="6" presetClass="emph" presetSubtype="0" decel="100000" fill="hold" nodeType="withEffect">
                                  <p:stCondLst>
                                    <p:cond delay="250"/>
                                  </p:stCondLst>
                                  <p:childTnLst>
                                    <p:animScale>
                                      <p:cBhvr>
                                        <p:cTn id="40" dur="1000" fill="hold"/>
                                        <p:tgtEl>
                                          <p:spTgt spid="20"/>
                                        </p:tgtEl>
                                      </p:cBhvr>
                                      <p:by x="125000" y="125000"/>
                                    </p:animScale>
                                  </p:childTnLst>
                                </p:cTn>
                              </p:par>
                              <p:par>
                                <p:cTn id="41" presetID="23" presetClass="entr" presetSubtype="272"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250" fill="hold"/>
                                        <p:tgtEl>
                                          <p:spTgt spid="9"/>
                                        </p:tgtEl>
                                        <p:attrNameLst>
                                          <p:attrName>ppt_w</p:attrName>
                                        </p:attrNameLst>
                                      </p:cBhvr>
                                      <p:tavLst>
                                        <p:tav tm="0">
                                          <p:val>
                                            <p:strVal val="2/3*#ppt_w"/>
                                          </p:val>
                                        </p:tav>
                                        <p:tav tm="100000">
                                          <p:val>
                                            <p:strVal val="#ppt_w"/>
                                          </p:val>
                                        </p:tav>
                                      </p:tavLst>
                                    </p:anim>
                                    <p:anim calcmode="lin" valueType="num">
                                      <p:cBhvr>
                                        <p:cTn id="44" dur="250" fill="hold"/>
                                        <p:tgtEl>
                                          <p:spTgt spid="9"/>
                                        </p:tgtEl>
                                        <p:attrNameLst>
                                          <p:attrName>ppt_h</p:attrName>
                                        </p:attrNameLst>
                                      </p:cBhvr>
                                      <p:tavLst>
                                        <p:tav tm="0">
                                          <p:val>
                                            <p:strVal val="2/3*#ppt_h"/>
                                          </p:val>
                                        </p:tav>
                                        <p:tav tm="100000">
                                          <p:val>
                                            <p:strVal val="#ppt_h"/>
                                          </p:val>
                                        </p:tav>
                                      </p:tavLst>
                                    </p:anim>
                                  </p:childTnLst>
                                </p:cTn>
                              </p:par>
                              <p:par>
                                <p:cTn id="45" presetID="10" presetClass="entr" presetSubtype="0" fill="hold" grpId="1" nodeType="with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par>
                                <p:cTn id="48" presetID="6" presetClass="emph" presetSubtype="0" fill="hold" grpId="2" nodeType="withEffect">
                                  <p:stCondLst>
                                    <p:cond delay="0"/>
                                  </p:stCondLst>
                                  <p:childTnLst>
                                    <p:animScale>
                                      <p:cBhvr>
                                        <p:cTn id="49" dur="10" fill="hold"/>
                                        <p:tgtEl>
                                          <p:spTgt spid="9"/>
                                        </p:tgtEl>
                                      </p:cBhvr>
                                      <p:by x="80000" y="80000"/>
                                    </p:animScale>
                                  </p:childTnLst>
                                </p:cTn>
                              </p:par>
                              <p:par>
                                <p:cTn id="50" presetID="6" presetClass="emph" presetSubtype="0" decel="100000" fill="hold" grpId="3" nodeType="withEffect">
                                  <p:stCondLst>
                                    <p:cond delay="0"/>
                                  </p:stCondLst>
                                  <p:childTnLst>
                                    <p:animScale>
                                      <p:cBhvr>
                                        <p:cTn id="51" dur="1000" fill="hold"/>
                                        <p:tgtEl>
                                          <p:spTgt spid="9"/>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92" grpId="0"/>
      <p:bldP spid="92" grpId="1"/>
      <p:bldP spid="92" grpId="2"/>
      <p:bldP spid="92" grpId="3"/>
      <p:bldP spid="9" grpId="0"/>
      <p:bldP spid="9" grpId="1"/>
      <p:bldP spid="9" grpId="2"/>
      <p:bldP spid="9" grpId="3"/>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F8AF-3F85-79AD-34B8-1F21BD8DB637}"/>
            </a:ext>
          </a:extLst>
        </p:cNvPr>
        <p:cNvGrpSpPr/>
        <p:nvPr/>
      </p:nvGrpSpPr>
      <p:grpSpPr>
        <a:xfrm>
          <a:off x="0" y="0"/>
          <a:ext cx="0" cy="0"/>
          <a:chOff x="0" y="0"/>
          <a:chExt cx="0" cy="0"/>
        </a:xfrm>
      </p:grpSpPr>
      <p:sp useBgFill="1">
        <p:nvSpPr>
          <p:cNvPr id="98" name="Free-form: Shape 62">
            <a:extLst>
              <a:ext uri="{FF2B5EF4-FFF2-40B4-BE49-F238E27FC236}">
                <a16:creationId xmlns:a16="http://schemas.microsoft.com/office/drawing/2014/main" id="{2DDE2B9B-25DB-3C70-C832-362D5E02D822}"/>
              </a:ext>
            </a:extLst>
          </p:cNvPr>
          <p:cNvSpPr>
            <a:spLocks/>
          </p:cNvSpPr>
          <p:nvPr/>
        </p:nvSpPr>
        <p:spPr bwMode="auto">
          <a:xfrm>
            <a:off x="8190487" y="2648000"/>
            <a:ext cx="3161498" cy="3194614"/>
          </a:xfrm>
          <a:custGeom>
            <a:avLst/>
            <a:gdLst>
              <a:gd name="connsiteX0" fmla="*/ 160572 w 4742246"/>
              <a:gd name="connsiteY0" fmla="*/ 0 h 4791921"/>
              <a:gd name="connsiteX1" fmla="*/ 4581674 w 4742246"/>
              <a:gd name="connsiteY1" fmla="*/ 0 h 4791921"/>
              <a:gd name="connsiteX2" fmla="*/ 4742246 w 4742246"/>
              <a:gd name="connsiteY2" fmla="*/ 160572 h 4791921"/>
              <a:gd name="connsiteX3" fmla="*/ 4742246 w 4742246"/>
              <a:gd name="connsiteY3" fmla="*/ 4631349 h 4791921"/>
              <a:gd name="connsiteX4" fmla="*/ 4581674 w 4742246"/>
              <a:gd name="connsiteY4" fmla="*/ 4791921 h 4791921"/>
              <a:gd name="connsiteX5" fmla="*/ 160572 w 4742246"/>
              <a:gd name="connsiteY5" fmla="*/ 4791921 h 4791921"/>
              <a:gd name="connsiteX6" fmla="*/ 0 w 4742246"/>
              <a:gd name="connsiteY6" fmla="*/ 4631349 h 4791921"/>
              <a:gd name="connsiteX7" fmla="*/ 0 w 4742246"/>
              <a:gd name="connsiteY7" fmla="*/ 3145944 h 4791921"/>
              <a:gd name="connsiteX8" fmla="*/ 138451 w 4742246"/>
              <a:gd name="connsiteY8" fmla="*/ 3070774 h 4791921"/>
              <a:gd name="connsiteX9" fmla="*/ 511896 w 4742246"/>
              <a:gd name="connsiteY9" fmla="*/ 2368203 h 4791921"/>
              <a:gd name="connsiteX10" fmla="*/ 138451 w 4742246"/>
              <a:gd name="connsiteY10" fmla="*/ 1665633 h 4791921"/>
              <a:gd name="connsiteX11" fmla="*/ 0 w 4742246"/>
              <a:gd name="connsiteY11" fmla="*/ 1590463 h 4791921"/>
              <a:gd name="connsiteX12" fmla="*/ 0 w 4742246"/>
              <a:gd name="connsiteY12" fmla="*/ 160572 h 4791921"/>
              <a:gd name="connsiteX13" fmla="*/ 160572 w 4742246"/>
              <a:gd name="connsiteY13" fmla="*/ 0 h 479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2246" h="4791921">
                <a:moveTo>
                  <a:pt x="160572" y="0"/>
                </a:moveTo>
                <a:lnTo>
                  <a:pt x="4581674" y="0"/>
                </a:lnTo>
                <a:cubicBezTo>
                  <a:pt x="4670356" y="0"/>
                  <a:pt x="4742246" y="71891"/>
                  <a:pt x="4742246" y="160572"/>
                </a:cubicBezTo>
                <a:lnTo>
                  <a:pt x="4742246" y="4631349"/>
                </a:lnTo>
                <a:cubicBezTo>
                  <a:pt x="4742246" y="4720030"/>
                  <a:pt x="4670356" y="4791921"/>
                  <a:pt x="4581674" y="4791921"/>
                </a:cubicBezTo>
                <a:lnTo>
                  <a:pt x="160572" y="4791921"/>
                </a:lnTo>
                <a:cubicBezTo>
                  <a:pt x="71891" y="4791921"/>
                  <a:pt x="0" y="4720030"/>
                  <a:pt x="0" y="4631349"/>
                </a:cubicBezTo>
                <a:lnTo>
                  <a:pt x="0" y="3145944"/>
                </a:lnTo>
                <a:lnTo>
                  <a:pt x="138451" y="3070774"/>
                </a:lnTo>
                <a:cubicBezTo>
                  <a:pt x="363761" y="2918513"/>
                  <a:pt x="511896" y="2660663"/>
                  <a:pt x="511896" y="2368203"/>
                </a:cubicBezTo>
                <a:cubicBezTo>
                  <a:pt x="511896" y="2075744"/>
                  <a:pt x="363761" y="1817894"/>
                  <a:pt x="138451" y="1665633"/>
                </a:cubicBezTo>
                <a:lnTo>
                  <a:pt x="0" y="1590463"/>
                </a:lnTo>
                <a:lnTo>
                  <a:pt x="0" y="160572"/>
                </a:lnTo>
                <a:cubicBezTo>
                  <a:pt x="0" y="71891"/>
                  <a:pt x="71891" y="0"/>
                  <a:pt x="160572" y="0"/>
                </a:cubicBezTo>
                <a:close/>
              </a:path>
            </a:pathLst>
          </a:cu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GB" sz="2000">
              <a:solidFill>
                <a:srgbClr val="FFFFFF"/>
              </a:solidFill>
              <a:latin typeface="Segoe Sans Text"/>
              <a:cs typeface="Segoe Sans Text" pitchFamily="2" charset="0"/>
            </a:endParaRPr>
          </a:p>
        </p:txBody>
      </p:sp>
      <p:sp>
        <p:nvSpPr>
          <p:cNvPr id="85" name="Free-form: Shape 50">
            <a:extLst>
              <a:ext uri="{FF2B5EF4-FFF2-40B4-BE49-F238E27FC236}">
                <a16:creationId xmlns:a16="http://schemas.microsoft.com/office/drawing/2014/main" id="{24DF22FE-6EA4-C7DF-C423-5602FCC68EC0}"/>
              </a:ext>
            </a:extLst>
          </p:cNvPr>
          <p:cNvSpPr>
            <a:spLocks/>
          </p:cNvSpPr>
          <p:nvPr/>
        </p:nvSpPr>
        <p:spPr bwMode="auto">
          <a:xfrm>
            <a:off x="856168" y="2620179"/>
            <a:ext cx="3161498" cy="3194614"/>
          </a:xfrm>
          <a:custGeom>
            <a:avLst/>
            <a:gdLst>
              <a:gd name="connsiteX0" fmla="*/ 160572 w 4742247"/>
              <a:gd name="connsiteY0" fmla="*/ 0 h 4791921"/>
              <a:gd name="connsiteX1" fmla="*/ 4581675 w 4742247"/>
              <a:gd name="connsiteY1" fmla="*/ 0 h 4791921"/>
              <a:gd name="connsiteX2" fmla="*/ 4742247 w 4742247"/>
              <a:gd name="connsiteY2" fmla="*/ 160572 h 4791921"/>
              <a:gd name="connsiteX3" fmla="*/ 4742247 w 4742247"/>
              <a:gd name="connsiteY3" fmla="*/ 1627812 h 4791921"/>
              <a:gd name="connsiteX4" fmla="*/ 4672588 w 4742247"/>
              <a:gd name="connsiteY4" fmla="*/ 1665633 h 4791921"/>
              <a:gd name="connsiteX5" fmla="*/ 4299142 w 4742247"/>
              <a:gd name="connsiteY5" fmla="*/ 2368203 h 4791921"/>
              <a:gd name="connsiteX6" fmla="*/ 4672588 w 4742247"/>
              <a:gd name="connsiteY6" fmla="*/ 3070774 h 4791921"/>
              <a:gd name="connsiteX7" fmla="*/ 4742247 w 4742247"/>
              <a:gd name="connsiteY7" fmla="*/ 3108595 h 4791921"/>
              <a:gd name="connsiteX8" fmla="*/ 4742247 w 4742247"/>
              <a:gd name="connsiteY8" fmla="*/ 4631349 h 4791921"/>
              <a:gd name="connsiteX9" fmla="*/ 4581675 w 4742247"/>
              <a:gd name="connsiteY9" fmla="*/ 4791921 h 4791921"/>
              <a:gd name="connsiteX10" fmla="*/ 160572 w 4742247"/>
              <a:gd name="connsiteY10" fmla="*/ 4791921 h 4791921"/>
              <a:gd name="connsiteX11" fmla="*/ 0 w 4742247"/>
              <a:gd name="connsiteY11" fmla="*/ 4631349 h 4791921"/>
              <a:gd name="connsiteX12" fmla="*/ 0 w 4742247"/>
              <a:gd name="connsiteY12" fmla="*/ 160572 h 4791921"/>
              <a:gd name="connsiteX13" fmla="*/ 160572 w 4742247"/>
              <a:gd name="connsiteY13" fmla="*/ 0 h 479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2247" h="4791921">
                <a:moveTo>
                  <a:pt x="160572" y="0"/>
                </a:moveTo>
                <a:lnTo>
                  <a:pt x="4581675" y="0"/>
                </a:lnTo>
                <a:cubicBezTo>
                  <a:pt x="4670356" y="0"/>
                  <a:pt x="4742247" y="71891"/>
                  <a:pt x="4742247" y="160572"/>
                </a:cubicBezTo>
                <a:lnTo>
                  <a:pt x="4742247" y="1627812"/>
                </a:lnTo>
                <a:lnTo>
                  <a:pt x="4672588" y="1665633"/>
                </a:lnTo>
                <a:cubicBezTo>
                  <a:pt x="4447277" y="1817894"/>
                  <a:pt x="4299142" y="2075744"/>
                  <a:pt x="4299142" y="2368203"/>
                </a:cubicBezTo>
                <a:cubicBezTo>
                  <a:pt x="4299142" y="2660663"/>
                  <a:pt x="4447277" y="2918513"/>
                  <a:pt x="4672588" y="3070774"/>
                </a:cubicBezTo>
                <a:lnTo>
                  <a:pt x="4742247" y="3108595"/>
                </a:lnTo>
                <a:lnTo>
                  <a:pt x="4742247" y="4631349"/>
                </a:lnTo>
                <a:cubicBezTo>
                  <a:pt x="4742247" y="4720030"/>
                  <a:pt x="4670356" y="4791921"/>
                  <a:pt x="4581675" y="4791921"/>
                </a:cubicBezTo>
                <a:lnTo>
                  <a:pt x="160572" y="4791921"/>
                </a:lnTo>
                <a:cubicBezTo>
                  <a:pt x="71891" y="4791921"/>
                  <a:pt x="0" y="4720030"/>
                  <a:pt x="0" y="4631349"/>
                </a:cubicBezTo>
                <a:lnTo>
                  <a:pt x="0" y="160572"/>
                </a:lnTo>
                <a:cubicBezTo>
                  <a:pt x="0" y="71891"/>
                  <a:pt x="71891" y="0"/>
                  <a:pt x="160572" y="0"/>
                </a:cubicBezTo>
                <a:close/>
              </a:path>
            </a:pathLst>
          </a:custGeom>
          <a:solidFill>
            <a:srgbClr val="103D5A"/>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GB" sz="2000">
              <a:solidFill>
                <a:srgbClr val="FFFFFF"/>
              </a:solidFill>
              <a:latin typeface="Segoe Sans Text"/>
              <a:cs typeface="Segoe Sans Text" pitchFamily="2" charset="0"/>
            </a:endParaRPr>
          </a:p>
        </p:txBody>
      </p:sp>
      <p:sp useBgFill="1">
        <p:nvSpPr>
          <p:cNvPr id="6" name="Free-form: Shape 50">
            <a:extLst>
              <a:ext uri="{FF2B5EF4-FFF2-40B4-BE49-F238E27FC236}">
                <a16:creationId xmlns:a16="http://schemas.microsoft.com/office/drawing/2014/main" id="{F55494E9-81F3-551D-B63B-C94F1D12D263}"/>
              </a:ext>
            </a:extLst>
          </p:cNvPr>
          <p:cNvSpPr>
            <a:spLocks/>
          </p:cNvSpPr>
          <p:nvPr/>
        </p:nvSpPr>
        <p:spPr bwMode="auto">
          <a:xfrm>
            <a:off x="856168" y="2620179"/>
            <a:ext cx="3161498" cy="3194614"/>
          </a:xfrm>
          <a:custGeom>
            <a:avLst/>
            <a:gdLst>
              <a:gd name="connsiteX0" fmla="*/ 160572 w 4742247"/>
              <a:gd name="connsiteY0" fmla="*/ 0 h 4791921"/>
              <a:gd name="connsiteX1" fmla="*/ 4581675 w 4742247"/>
              <a:gd name="connsiteY1" fmla="*/ 0 h 4791921"/>
              <a:gd name="connsiteX2" fmla="*/ 4742247 w 4742247"/>
              <a:gd name="connsiteY2" fmla="*/ 160572 h 4791921"/>
              <a:gd name="connsiteX3" fmla="*/ 4742247 w 4742247"/>
              <a:gd name="connsiteY3" fmla="*/ 1627812 h 4791921"/>
              <a:gd name="connsiteX4" fmla="*/ 4672588 w 4742247"/>
              <a:gd name="connsiteY4" fmla="*/ 1665633 h 4791921"/>
              <a:gd name="connsiteX5" fmla="*/ 4299142 w 4742247"/>
              <a:gd name="connsiteY5" fmla="*/ 2368203 h 4791921"/>
              <a:gd name="connsiteX6" fmla="*/ 4672588 w 4742247"/>
              <a:gd name="connsiteY6" fmla="*/ 3070774 h 4791921"/>
              <a:gd name="connsiteX7" fmla="*/ 4742247 w 4742247"/>
              <a:gd name="connsiteY7" fmla="*/ 3108595 h 4791921"/>
              <a:gd name="connsiteX8" fmla="*/ 4742247 w 4742247"/>
              <a:gd name="connsiteY8" fmla="*/ 4631349 h 4791921"/>
              <a:gd name="connsiteX9" fmla="*/ 4581675 w 4742247"/>
              <a:gd name="connsiteY9" fmla="*/ 4791921 h 4791921"/>
              <a:gd name="connsiteX10" fmla="*/ 160572 w 4742247"/>
              <a:gd name="connsiteY10" fmla="*/ 4791921 h 4791921"/>
              <a:gd name="connsiteX11" fmla="*/ 0 w 4742247"/>
              <a:gd name="connsiteY11" fmla="*/ 4631349 h 4791921"/>
              <a:gd name="connsiteX12" fmla="*/ 0 w 4742247"/>
              <a:gd name="connsiteY12" fmla="*/ 160572 h 4791921"/>
              <a:gd name="connsiteX13" fmla="*/ 160572 w 4742247"/>
              <a:gd name="connsiteY13" fmla="*/ 0 h 479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2247" h="4791921">
                <a:moveTo>
                  <a:pt x="160572" y="0"/>
                </a:moveTo>
                <a:lnTo>
                  <a:pt x="4581675" y="0"/>
                </a:lnTo>
                <a:cubicBezTo>
                  <a:pt x="4670356" y="0"/>
                  <a:pt x="4742247" y="71891"/>
                  <a:pt x="4742247" y="160572"/>
                </a:cubicBezTo>
                <a:lnTo>
                  <a:pt x="4742247" y="1627812"/>
                </a:lnTo>
                <a:lnTo>
                  <a:pt x="4672588" y="1665633"/>
                </a:lnTo>
                <a:cubicBezTo>
                  <a:pt x="4447277" y="1817894"/>
                  <a:pt x="4299142" y="2075744"/>
                  <a:pt x="4299142" y="2368203"/>
                </a:cubicBezTo>
                <a:cubicBezTo>
                  <a:pt x="4299142" y="2660663"/>
                  <a:pt x="4447277" y="2918513"/>
                  <a:pt x="4672588" y="3070774"/>
                </a:cubicBezTo>
                <a:lnTo>
                  <a:pt x="4742247" y="3108595"/>
                </a:lnTo>
                <a:lnTo>
                  <a:pt x="4742247" y="4631349"/>
                </a:lnTo>
                <a:cubicBezTo>
                  <a:pt x="4742247" y="4720030"/>
                  <a:pt x="4670356" y="4791921"/>
                  <a:pt x="4581675" y="4791921"/>
                </a:cubicBezTo>
                <a:lnTo>
                  <a:pt x="160572" y="4791921"/>
                </a:lnTo>
                <a:cubicBezTo>
                  <a:pt x="71891" y="4791921"/>
                  <a:pt x="0" y="4720030"/>
                  <a:pt x="0" y="4631349"/>
                </a:cubicBezTo>
                <a:lnTo>
                  <a:pt x="0" y="160572"/>
                </a:lnTo>
                <a:cubicBezTo>
                  <a:pt x="0" y="71891"/>
                  <a:pt x="71891" y="0"/>
                  <a:pt x="160572" y="0"/>
                </a:cubicBezTo>
                <a:close/>
              </a:path>
            </a:pathLst>
          </a:cu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GB" sz="2000">
              <a:solidFill>
                <a:srgbClr val="FFFFFF"/>
              </a:solidFill>
              <a:latin typeface="Segoe Sans Text"/>
              <a:cs typeface="Segoe Sans Text" pitchFamily="2" charset="0"/>
            </a:endParaRPr>
          </a:p>
        </p:txBody>
      </p:sp>
      <p:sp useBgFill="1">
        <p:nvSpPr>
          <p:cNvPr id="9" name="Free-form: Shape 58">
            <a:extLst>
              <a:ext uri="{FF2B5EF4-FFF2-40B4-BE49-F238E27FC236}">
                <a16:creationId xmlns:a16="http://schemas.microsoft.com/office/drawing/2014/main" id="{AB6D14BB-989B-2793-EB30-8822CBBBAE37}"/>
              </a:ext>
            </a:extLst>
          </p:cNvPr>
          <p:cNvSpPr>
            <a:spLocks/>
          </p:cNvSpPr>
          <p:nvPr/>
        </p:nvSpPr>
        <p:spPr bwMode="auto">
          <a:xfrm>
            <a:off x="4515251" y="2648000"/>
            <a:ext cx="3161498" cy="3194614"/>
          </a:xfrm>
          <a:custGeom>
            <a:avLst/>
            <a:gdLst>
              <a:gd name="connsiteX0" fmla="*/ 160572 w 4742247"/>
              <a:gd name="connsiteY0" fmla="*/ 0 h 4791921"/>
              <a:gd name="connsiteX1" fmla="*/ 4581675 w 4742247"/>
              <a:gd name="connsiteY1" fmla="*/ 0 h 4791921"/>
              <a:gd name="connsiteX2" fmla="*/ 4742247 w 4742247"/>
              <a:gd name="connsiteY2" fmla="*/ 160572 h 4791921"/>
              <a:gd name="connsiteX3" fmla="*/ 4742247 w 4742247"/>
              <a:gd name="connsiteY3" fmla="*/ 1644945 h 4791921"/>
              <a:gd name="connsiteX4" fmla="*/ 4704143 w 4742247"/>
              <a:gd name="connsiteY4" fmla="*/ 1665633 h 4791921"/>
              <a:gd name="connsiteX5" fmla="*/ 4330698 w 4742247"/>
              <a:gd name="connsiteY5" fmla="*/ 2368203 h 4791921"/>
              <a:gd name="connsiteX6" fmla="*/ 4704143 w 4742247"/>
              <a:gd name="connsiteY6" fmla="*/ 3070774 h 4791921"/>
              <a:gd name="connsiteX7" fmla="*/ 4742247 w 4742247"/>
              <a:gd name="connsiteY7" fmla="*/ 3091462 h 4791921"/>
              <a:gd name="connsiteX8" fmla="*/ 4742247 w 4742247"/>
              <a:gd name="connsiteY8" fmla="*/ 4631349 h 4791921"/>
              <a:gd name="connsiteX9" fmla="*/ 4581675 w 4742247"/>
              <a:gd name="connsiteY9" fmla="*/ 4791921 h 4791921"/>
              <a:gd name="connsiteX10" fmla="*/ 160572 w 4742247"/>
              <a:gd name="connsiteY10" fmla="*/ 4791921 h 4791921"/>
              <a:gd name="connsiteX11" fmla="*/ 0 w 4742247"/>
              <a:gd name="connsiteY11" fmla="*/ 4631349 h 4791921"/>
              <a:gd name="connsiteX12" fmla="*/ 0 w 4742247"/>
              <a:gd name="connsiteY12" fmla="*/ 3128810 h 4791921"/>
              <a:gd name="connsiteX13" fmla="*/ 106894 w 4742247"/>
              <a:gd name="connsiteY13" fmla="*/ 3070774 h 4791921"/>
              <a:gd name="connsiteX14" fmla="*/ 480339 w 4742247"/>
              <a:gd name="connsiteY14" fmla="*/ 2368203 h 4791921"/>
              <a:gd name="connsiteX15" fmla="*/ 106894 w 4742247"/>
              <a:gd name="connsiteY15" fmla="*/ 1665633 h 4791921"/>
              <a:gd name="connsiteX16" fmla="*/ 0 w 4742247"/>
              <a:gd name="connsiteY16" fmla="*/ 1607596 h 4791921"/>
              <a:gd name="connsiteX17" fmla="*/ 0 w 4742247"/>
              <a:gd name="connsiteY17" fmla="*/ 160572 h 4791921"/>
              <a:gd name="connsiteX18" fmla="*/ 160572 w 4742247"/>
              <a:gd name="connsiteY18" fmla="*/ 0 h 479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42247" h="4791921">
                <a:moveTo>
                  <a:pt x="160572" y="0"/>
                </a:moveTo>
                <a:lnTo>
                  <a:pt x="4581675" y="0"/>
                </a:lnTo>
                <a:cubicBezTo>
                  <a:pt x="4670356" y="0"/>
                  <a:pt x="4742247" y="71891"/>
                  <a:pt x="4742247" y="160572"/>
                </a:cubicBezTo>
                <a:lnTo>
                  <a:pt x="4742247" y="1644945"/>
                </a:lnTo>
                <a:lnTo>
                  <a:pt x="4704143" y="1665633"/>
                </a:lnTo>
                <a:cubicBezTo>
                  <a:pt x="4478833" y="1817894"/>
                  <a:pt x="4330698" y="2075744"/>
                  <a:pt x="4330698" y="2368203"/>
                </a:cubicBezTo>
                <a:cubicBezTo>
                  <a:pt x="4330698" y="2660663"/>
                  <a:pt x="4478833" y="2918513"/>
                  <a:pt x="4704143" y="3070774"/>
                </a:cubicBezTo>
                <a:lnTo>
                  <a:pt x="4742247" y="3091462"/>
                </a:lnTo>
                <a:lnTo>
                  <a:pt x="4742247" y="4631349"/>
                </a:lnTo>
                <a:cubicBezTo>
                  <a:pt x="4742247" y="4720030"/>
                  <a:pt x="4670356" y="4791921"/>
                  <a:pt x="4581675" y="4791921"/>
                </a:cubicBezTo>
                <a:lnTo>
                  <a:pt x="160572" y="4791921"/>
                </a:lnTo>
                <a:cubicBezTo>
                  <a:pt x="71891" y="4791921"/>
                  <a:pt x="0" y="4720030"/>
                  <a:pt x="0" y="4631349"/>
                </a:cubicBezTo>
                <a:lnTo>
                  <a:pt x="0" y="3128810"/>
                </a:lnTo>
                <a:lnTo>
                  <a:pt x="106894" y="3070774"/>
                </a:lnTo>
                <a:cubicBezTo>
                  <a:pt x="332204" y="2918513"/>
                  <a:pt x="480339" y="2660663"/>
                  <a:pt x="480339" y="2368203"/>
                </a:cubicBezTo>
                <a:cubicBezTo>
                  <a:pt x="480339" y="2075744"/>
                  <a:pt x="332204" y="1817894"/>
                  <a:pt x="106894" y="1665633"/>
                </a:cubicBezTo>
                <a:lnTo>
                  <a:pt x="0" y="1607596"/>
                </a:lnTo>
                <a:lnTo>
                  <a:pt x="0" y="160572"/>
                </a:lnTo>
                <a:cubicBezTo>
                  <a:pt x="0" y="71891"/>
                  <a:pt x="71891" y="0"/>
                  <a:pt x="160572" y="0"/>
                </a:cubicBezTo>
                <a:close/>
              </a:path>
            </a:pathLst>
          </a:cu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GB" sz="2000">
              <a:solidFill>
                <a:srgbClr val="FFFFFF"/>
              </a:solidFill>
              <a:latin typeface="Segoe Sans Text"/>
              <a:cs typeface="Segoe Sans Text" pitchFamily="2" charset="0"/>
            </a:endParaRPr>
          </a:p>
        </p:txBody>
      </p:sp>
      <p:grpSp>
        <p:nvGrpSpPr>
          <p:cNvPr id="44" name="Group 43">
            <a:extLst>
              <a:ext uri="{FF2B5EF4-FFF2-40B4-BE49-F238E27FC236}">
                <a16:creationId xmlns:a16="http://schemas.microsoft.com/office/drawing/2014/main" id="{22260188-6D5E-6B91-6560-706D3FB31B79}"/>
              </a:ext>
            </a:extLst>
          </p:cNvPr>
          <p:cNvGrpSpPr/>
          <p:nvPr/>
        </p:nvGrpSpPr>
        <p:grpSpPr>
          <a:xfrm>
            <a:off x="1702526" y="1544739"/>
            <a:ext cx="1436476" cy="1436890"/>
            <a:chOff x="1600003" y="1811018"/>
            <a:chExt cx="1641521" cy="1641995"/>
          </a:xfrm>
        </p:grpSpPr>
        <p:sp>
          <p:nvSpPr>
            <p:cNvPr id="18" name="Oval 17">
              <a:extLst>
                <a:ext uri="{FF2B5EF4-FFF2-40B4-BE49-F238E27FC236}">
                  <a16:creationId xmlns:a16="http://schemas.microsoft.com/office/drawing/2014/main" id="{C9CD7BA9-D069-2534-69FC-7FDBB9120A5B}"/>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4" name="Group 3">
              <a:extLst>
                <a:ext uri="{FF2B5EF4-FFF2-40B4-BE49-F238E27FC236}">
                  <a16:creationId xmlns:a16="http://schemas.microsoft.com/office/drawing/2014/main" id="{559906CC-9274-932C-5EA4-2ADF3D9D467F}"/>
                </a:ext>
              </a:extLst>
            </p:cNvPr>
            <p:cNvGrpSpPr/>
            <p:nvPr/>
          </p:nvGrpSpPr>
          <p:grpSpPr>
            <a:xfrm>
              <a:off x="1714608" y="1927192"/>
              <a:ext cx="1412311" cy="1409646"/>
              <a:chOff x="1261672" y="4833937"/>
              <a:chExt cx="954296" cy="954297"/>
            </a:xfrm>
          </p:grpSpPr>
          <p:sp>
            <p:nvSpPr>
              <p:cNvPr id="5" name="Rectangle: Rounded Corners 4">
                <a:extLst>
                  <a:ext uri="{FF2B5EF4-FFF2-40B4-BE49-F238E27FC236}">
                    <a16:creationId xmlns:a16="http://schemas.microsoft.com/office/drawing/2014/main" id="{B4FF0940-1C90-A887-69F2-FBD944BDA97E}"/>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7" name="Rectangle: Rounded Corners 6">
                <a:extLst>
                  <a:ext uri="{FF2B5EF4-FFF2-40B4-BE49-F238E27FC236}">
                    <a16:creationId xmlns:a16="http://schemas.microsoft.com/office/drawing/2014/main" id="{FF0719E2-3DBA-6D6D-57C9-B5075E2EC8FA}"/>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55" name="Group 54">
            <a:extLst>
              <a:ext uri="{FF2B5EF4-FFF2-40B4-BE49-F238E27FC236}">
                <a16:creationId xmlns:a16="http://schemas.microsoft.com/office/drawing/2014/main" id="{B8D6F65D-DF61-3881-65ED-FE1EFC9636E7}"/>
              </a:ext>
            </a:extLst>
          </p:cNvPr>
          <p:cNvGrpSpPr/>
          <p:nvPr/>
        </p:nvGrpSpPr>
        <p:grpSpPr>
          <a:xfrm>
            <a:off x="5377763" y="1544739"/>
            <a:ext cx="1436476" cy="1436890"/>
            <a:chOff x="5275240" y="1811018"/>
            <a:chExt cx="1641521" cy="1641995"/>
          </a:xfrm>
        </p:grpSpPr>
        <p:sp>
          <p:nvSpPr>
            <p:cNvPr id="21" name="Oval 20">
              <a:extLst>
                <a:ext uri="{FF2B5EF4-FFF2-40B4-BE49-F238E27FC236}">
                  <a16:creationId xmlns:a16="http://schemas.microsoft.com/office/drawing/2014/main" id="{6594C5A5-0E93-E94F-4A9C-7275C92A626F}"/>
                </a:ext>
              </a:extLst>
            </p:cNvPr>
            <p:cNvSpPr>
              <a:spLocks/>
            </p:cNvSpPr>
            <p:nvPr/>
          </p:nvSpPr>
          <p:spPr bwMode="auto">
            <a:xfrm>
              <a:off x="5275240"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29" name="Group 28">
              <a:extLst>
                <a:ext uri="{FF2B5EF4-FFF2-40B4-BE49-F238E27FC236}">
                  <a16:creationId xmlns:a16="http://schemas.microsoft.com/office/drawing/2014/main" id="{86E9A58A-4C9D-13BC-7ACD-EFD826F172A6}"/>
                </a:ext>
              </a:extLst>
            </p:cNvPr>
            <p:cNvGrpSpPr/>
            <p:nvPr/>
          </p:nvGrpSpPr>
          <p:grpSpPr>
            <a:xfrm>
              <a:off x="5389843" y="1927192"/>
              <a:ext cx="1412312" cy="1409646"/>
              <a:chOff x="1261671" y="4833937"/>
              <a:chExt cx="954297" cy="954297"/>
            </a:xfrm>
          </p:grpSpPr>
          <p:sp>
            <p:nvSpPr>
              <p:cNvPr id="30" name="Rectangle: Rounded Corners 29">
                <a:extLst>
                  <a:ext uri="{FF2B5EF4-FFF2-40B4-BE49-F238E27FC236}">
                    <a16:creationId xmlns:a16="http://schemas.microsoft.com/office/drawing/2014/main" id="{55517EF2-42B3-D534-73B0-080E9A5E340F}"/>
                  </a:ext>
                </a:extLst>
              </p:cNvPr>
              <p:cNvSpPr/>
              <p:nvPr userDrawn="1"/>
            </p:nvSpPr>
            <p:spPr bwMode="auto">
              <a:xfrm>
                <a:off x="1261671"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31" name="Rectangle: Rounded Corners 30">
                <a:extLst>
                  <a:ext uri="{FF2B5EF4-FFF2-40B4-BE49-F238E27FC236}">
                    <a16:creationId xmlns:a16="http://schemas.microsoft.com/office/drawing/2014/main" id="{65E943B3-DD10-C477-D44D-B18528385827}"/>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2" name="Title 1">
            <a:extLst>
              <a:ext uri="{FF2B5EF4-FFF2-40B4-BE49-F238E27FC236}">
                <a16:creationId xmlns:a16="http://schemas.microsoft.com/office/drawing/2014/main" id="{0B6D262C-6D8F-A4D7-2E1A-22A690D1E6D7}"/>
              </a:ext>
            </a:extLst>
          </p:cNvPr>
          <p:cNvSpPr>
            <a:spLocks noGrp="1"/>
          </p:cNvSpPr>
          <p:nvPr>
            <p:ph type="title"/>
          </p:nvPr>
        </p:nvSpPr>
        <p:spPr/>
        <p:txBody>
          <a:bodyPr/>
          <a:lstStyle/>
          <a:p>
            <a:r>
              <a:rPr lang="en-US">
                <a:solidFill>
                  <a:schemeClr val="bg1"/>
                </a:solidFill>
              </a:rPr>
              <a:t>Building &amp; Augmenting: Evaluations</a:t>
            </a:r>
            <a:endParaRPr lang="en-GB" b="1">
              <a:solidFill>
                <a:schemeClr val="bg1"/>
              </a:solidFill>
            </a:endParaRPr>
          </a:p>
        </p:txBody>
      </p:sp>
      <p:sp>
        <p:nvSpPr>
          <p:cNvPr id="35" name="TextBox 34">
            <a:extLst>
              <a:ext uri="{FF2B5EF4-FFF2-40B4-BE49-F238E27FC236}">
                <a16:creationId xmlns:a16="http://schemas.microsoft.com/office/drawing/2014/main" id="{08D073E9-4E4A-AABC-D629-A1C1B18C7AEA}"/>
              </a:ext>
            </a:extLst>
          </p:cNvPr>
          <p:cNvSpPr txBox="1"/>
          <p:nvPr/>
        </p:nvSpPr>
        <p:spPr>
          <a:xfrm>
            <a:off x="1159984" y="3476023"/>
            <a:ext cx="2409786" cy="923330"/>
          </a:xfrm>
          <a:prstGeom prst="rect">
            <a:avLst/>
          </a:prstGeom>
          <a:noFill/>
        </p:spPr>
        <p:txBody>
          <a:bodyPr wrap="square" lIns="0" tIns="0" rIns="0" bIns="0" rtlCol="0">
            <a:spAutoFit/>
          </a:bodyPr>
          <a:lstStyle/>
          <a:p>
            <a:pPr lvl="0" algn="ctr" defTabSz="609630" fontAlgn="base">
              <a:spcBef>
                <a:spcPts val="1200"/>
              </a:spcBef>
              <a:spcAft>
                <a:spcPct val="0"/>
              </a:spcAft>
              <a:defRPr/>
            </a:pPr>
            <a:r>
              <a:rPr lang="en-US" sz="2000">
                <a:solidFill>
                  <a:schemeClr val="bg1"/>
                </a:solidFill>
                <a:latin typeface="Segoe Sans Text Semibold"/>
              </a:rPr>
              <a:t>1. Prepare the Golden Dataset for the evaluations</a:t>
            </a:r>
          </a:p>
        </p:txBody>
      </p:sp>
      <p:sp>
        <p:nvSpPr>
          <p:cNvPr id="36" name="TextBox 35">
            <a:extLst>
              <a:ext uri="{FF2B5EF4-FFF2-40B4-BE49-F238E27FC236}">
                <a16:creationId xmlns:a16="http://schemas.microsoft.com/office/drawing/2014/main" id="{BB7FDE96-29CE-7642-53D5-B7F2E88EEB17}"/>
              </a:ext>
            </a:extLst>
          </p:cNvPr>
          <p:cNvSpPr txBox="1"/>
          <p:nvPr/>
        </p:nvSpPr>
        <p:spPr>
          <a:xfrm>
            <a:off x="4873834" y="3463494"/>
            <a:ext cx="2503618" cy="1538883"/>
          </a:xfrm>
          <a:prstGeom prst="rect">
            <a:avLst/>
          </a:prstGeom>
          <a:noFill/>
        </p:spPr>
        <p:txBody>
          <a:bodyPr wrap="square" lIns="0" tIns="0" rIns="0" bIns="0" rtlCol="0">
            <a:spAutoFit/>
          </a:bodyPr>
          <a:lstStyle/>
          <a:p>
            <a:pPr lvl="0" algn="ctr" defTabSz="609630" fontAlgn="base">
              <a:spcBef>
                <a:spcPts val="1200"/>
              </a:spcBef>
              <a:spcAft>
                <a:spcPct val="0"/>
              </a:spcAft>
              <a:defRPr/>
            </a:pPr>
            <a:r>
              <a:rPr lang="en-US" sz="2000">
                <a:solidFill>
                  <a:schemeClr val="bg1"/>
                </a:solidFill>
                <a:latin typeface="Segoe Sans Text Semibold"/>
              </a:rPr>
              <a:t>2. Identify your evaluation metrics and build your evaluation script or flow</a:t>
            </a:r>
          </a:p>
        </p:txBody>
      </p:sp>
      <p:grpSp>
        <p:nvGrpSpPr>
          <p:cNvPr id="38" name="Group 37">
            <a:extLst>
              <a:ext uri="{FF2B5EF4-FFF2-40B4-BE49-F238E27FC236}">
                <a16:creationId xmlns:a16="http://schemas.microsoft.com/office/drawing/2014/main" id="{7B78DAE3-15CD-4ADC-D0E4-D0DAFE70017C}"/>
              </a:ext>
            </a:extLst>
          </p:cNvPr>
          <p:cNvGrpSpPr/>
          <p:nvPr/>
        </p:nvGrpSpPr>
        <p:grpSpPr>
          <a:xfrm>
            <a:off x="3848935" y="3804823"/>
            <a:ext cx="843715" cy="843959"/>
            <a:chOff x="5660733" y="4542971"/>
            <a:chExt cx="1490912" cy="1491344"/>
          </a:xfrm>
          <a:effectLst>
            <a:outerShdw blurRad="50800" dist="38100" dir="2700000" algn="tl" rotWithShape="0">
              <a:prstClr val="black">
                <a:alpha val="22000"/>
              </a:prstClr>
            </a:outerShdw>
          </a:effectLst>
        </p:grpSpPr>
        <p:sp>
          <p:nvSpPr>
            <p:cNvPr id="39" name="Oval 38">
              <a:extLst>
                <a:ext uri="{FF2B5EF4-FFF2-40B4-BE49-F238E27FC236}">
                  <a16:creationId xmlns:a16="http://schemas.microsoft.com/office/drawing/2014/main" id="{86182B3D-FEDB-0478-C7DF-278EBF238242}"/>
                </a:ext>
              </a:extLst>
            </p:cNvPr>
            <p:cNvSpPr>
              <a:spLocks/>
            </p:cNvSpPr>
            <p:nvPr/>
          </p:nvSpPr>
          <p:spPr bwMode="auto">
            <a:xfrm>
              <a:off x="5660733" y="4542971"/>
              <a:ext cx="1490912" cy="1491344"/>
            </a:xfrm>
            <a:prstGeom prst="ellipse">
              <a:avLst/>
            </a:prstGeom>
            <a:solidFill>
              <a:schemeClr val="bg1"/>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sp>
          <p:nvSpPr>
            <p:cNvPr id="40" name="Graphic 83">
              <a:extLst>
                <a:ext uri="{FF2B5EF4-FFF2-40B4-BE49-F238E27FC236}">
                  <a16:creationId xmlns:a16="http://schemas.microsoft.com/office/drawing/2014/main" id="{308E2943-FD47-5506-7F68-B31E5D98CD05}"/>
                </a:ext>
              </a:extLst>
            </p:cNvPr>
            <p:cNvSpPr/>
            <p:nvPr/>
          </p:nvSpPr>
          <p:spPr>
            <a:xfrm rot="16200000">
              <a:off x="6117375" y="5030111"/>
              <a:ext cx="622078" cy="517064"/>
            </a:xfrm>
            <a:custGeom>
              <a:avLst/>
              <a:gdLst>
                <a:gd name="connsiteX0" fmla="*/ 219046 w 219046"/>
                <a:gd name="connsiteY0" fmla="*/ 4761 h 182068"/>
                <a:gd name="connsiteX1" fmla="*/ 219046 w 219046"/>
                <a:gd name="connsiteY1" fmla="*/ 72932 h 182068"/>
                <a:gd name="connsiteX2" fmla="*/ 217656 w 219046"/>
                <a:gd name="connsiteY2" fmla="*/ 76304 h 182068"/>
                <a:gd name="connsiteX3" fmla="*/ 113043 w 219046"/>
                <a:gd name="connsiteY3" fmla="*/ 180679 h 182068"/>
                <a:gd name="connsiteX4" fmla="*/ 106318 w 219046"/>
                <a:gd name="connsiteY4" fmla="*/ 180679 h 182068"/>
                <a:gd name="connsiteX5" fmla="*/ 1448 w 219046"/>
                <a:gd name="connsiteY5" fmla="*/ 76351 h 182068"/>
                <a:gd name="connsiteX6" fmla="*/ 0 w 219046"/>
                <a:gd name="connsiteY6" fmla="*/ 72932 h 182068"/>
                <a:gd name="connsiteX7" fmla="*/ 0 w 219046"/>
                <a:gd name="connsiteY7" fmla="*/ 4800 h 182068"/>
                <a:gd name="connsiteX8" fmla="*/ 4782 w 219046"/>
                <a:gd name="connsiteY8" fmla="*/ 57 h 182068"/>
                <a:gd name="connsiteX9" fmla="*/ 8115 w 219046"/>
                <a:gd name="connsiteY9" fmla="*/ 1437 h 182068"/>
                <a:gd name="connsiteX10" fmla="*/ 107994 w 219046"/>
                <a:gd name="connsiteY10" fmla="*/ 101240 h 182068"/>
                <a:gd name="connsiteX11" fmla="*/ 111366 w 219046"/>
                <a:gd name="connsiteY11" fmla="*/ 101240 h 182068"/>
                <a:gd name="connsiteX12" fmla="*/ 210912 w 219046"/>
                <a:gd name="connsiteY12" fmla="*/ 1399 h 182068"/>
                <a:gd name="connsiteX13" fmla="*/ 217647 w 219046"/>
                <a:gd name="connsiteY13" fmla="*/ 1391 h 182068"/>
                <a:gd name="connsiteX14" fmla="*/ 219046 w 219046"/>
                <a:gd name="connsiteY14" fmla="*/ 4761 h 18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9046" h="182068">
                  <a:moveTo>
                    <a:pt x="219046" y="4761"/>
                  </a:moveTo>
                  <a:lnTo>
                    <a:pt x="219046" y="72932"/>
                  </a:lnTo>
                  <a:cubicBezTo>
                    <a:pt x="219048" y="74196"/>
                    <a:pt x="218548" y="75408"/>
                    <a:pt x="217656" y="76304"/>
                  </a:cubicBezTo>
                  <a:lnTo>
                    <a:pt x="113043" y="180679"/>
                  </a:lnTo>
                  <a:cubicBezTo>
                    <a:pt x="111184" y="182531"/>
                    <a:pt x="108176" y="182531"/>
                    <a:pt x="106318" y="180679"/>
                  </a:cubicBezTo>
                  <a:lnTo>
                    <a:pt x="1448" y="76351"/>
                  </a:lnTo>
                  <a:cubicBezTo>
                    <a:pt x="522" y="75454"/>
                    <a:pt x="0" y="74221"/>
                    <a:pt x="0" y="72932"/>
                  </a:cubicBezTo>
                  <a:lnTo>
                    <a:pt x="0" y="4800"/>
                  </a:lnTo>
                  <a:cubicBezTo>
                    <a:pt x="11" y="2169"/>
                    <a:pt x="2152" y="46"/>
                    <a:pt x="4782" y="57"/>
                  </a:cubicBezTo>
                  <a:cubicBezTo>
                    <a:pt x="6031" y="62"/>
                    <a:pt x="7228" y="558"/>
                    <a:pt x="8115" y="1437"/>
                  </a:cubicBezTo>
                  <a:lnTo>
                    <a:pt x="107994" y="101240"/>
                  </a:lnTo>
                  <a:cubicBezTo>
                    <a:pt x="108927" y="102168"/>
                    <a:pt x="110434" y="102168"/>
                    <a:pt x="111366" y="101240"/>
                  </a:cubicBezTo>
                  <a:lnTo>
                    <a:pt x="210912" y="1399"/>
                  </a:lnTo>
                  <a:cubicBezTo>
                    <a:pt x="212769" y="-463"/>
                    <a:pt x="215785" y="-467"/>
                    <a:pt x="217647" y="1391"/>
                  </a:cubicBezTo>
                  <a:cubicBezTo>
                    <a:pt x="218543" y="2284"/>
                    <a:pt x="219046" y="3497"/>
                    <a:pt x="219046" y="4761"/>
                  </a:cubicBezTo>
                  <a:close/>
                </a:path>
              </a:pathLst>
            </a:custGeom>
            <a:solidFill>
              <a:schemeClr val="accent2"/>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pPr>
              <a:endParaRPr lang="en-GB" sz="1333">
                <a:solidFill>
                  <a:srgbClr val="FFFFFF"/>
                </a:solidFill>
                <a:latin typeface="Segoe Sans Text" pitchFamily="2" charset="0"/>
                <a:cs typeface="Segoe Sans Text" pitchFamily="2" charset="0"/>
              </a:endParaRPr>
            </a:p>
          </p:txBody>
        </p:sp>
      </p:grpSp>
      <p:grpSp>
        <p:nvGrpSpPr>
          <p:cNvPr id="41" name="Group 40">
            <a:extLst>
              <a:ext uri="{FF2B5EF4-FFF2-40B4-BE49-F238E27FC236}">
                <a16:creationId xmlns:a16="http://schemas.microsoft.com/office/drawing/2014/main" id="{D6FF48EA-C081-0BF9-EECC-1424D58C17ED}"/>
              </a:ext>
            </a:extLst>
          </p:cNvPr>
          <p:cNvGrpSpPr/>
          <p:nvPr/>
        </p:nvGrpSpPr>
        <p:grpSpPr>
          <a:xfrm>
            <a:off x="7539873" y="3804823"/>
            <a:ext cx="843715" cy="843959"/>
            <a:chOff x="11197140" y="4542971"/>
            <a:chExt cx="1490912" cy="1491344"/>
          </a:xfrm>
          <a:effectLst>
            <a:outerShdw blurRad="50800" dist="38100" dir="2700000" algn="tl" rotWithShape="0">
              <a:prstClr val="black">
                <a:alpha val="22000"/>
              </a:prstClr>
            </a:outerShdw>
          </a:effectLst>
        </p:grpSpPr>
        <p:sp>
          <p:nvSpPr>
            <p:cNvPr id="42" name="Oval 41">
              <a:extLst>
                <a:ext uri="{FF2B5EF4-FFF2-40B4-BE49-F238E27FC236}">
                  <a16:creationId xmlns:a16="http://schemas.microsoft.com/office/drawing/2014/main" id="{19AC37BD-5E92-1AFB-5F17-B841C8E5BBC2}"/>
                </a:ext>
              </a:extLst>
            </p:cNvPr>
            <p:cNvSpPr>
              <a:spLocks/>
            </p:cNvSpPr>
            <p:nvPr/>
          </p:nvSpPr>
          <p:spPr bwMode="auto">
            <a:xfrm>
              <a:off x="11197140" y="4542971"/>
              <a:ext cx="1490912" cy="1491344"/>
            </a:xfrm>
            <a:prstGeom prst="ellipse">
              <a:avLst/>
            </a:prstGeom>
            <a:solidFill>
              <a:schemeClr val="bg1"/>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sp>
          <p:nvSpPr>
            <p:cNvPr id="43" name="Graphic 83">
              <a:extLst>
                <a:ext uri="{FF2B5EF4-FFF2-40B4-BE49-F238E27FC236}">
                  <a16:creationId xmlns:a16="http://schemas.microsoft.com/office/drawing/2014/main" id="{DB1D380F-0D6B-DE2B-D791-FF295BFD451A}"/>
                </a:ext>
              </a:extLst>
            </p:cNvPr>
            <p:cNvSpPr/>
            <p:nvPr/>
          </p:nvSpPr>
          <p:spPr>
            <a:xfrm rot="16200000">
              <a:off x="11673516" y="5030111"/>
              <a:ext cx="622078" cy="517064"/>
            </a:xfrm>
            <a:custGeom>
              <a:avLst/>
              <a:gdLst>
                <a:gd name="connsiteX0" fmla="*/ 219046 w 219046"/>
                <a:gd name="connsiteY0" fmla="*/ 4761 h 182068"/>
                <a:gd name="connsiteX1" fmla="*/ 219046 w 219046"/>
                <a:gd name="connsiteY1" fmla="*/ 72932 h 182068"/>
                <a:gd name="connsiteX2" fmla="*/ 217656 w 219046"/>
                <a:gd name="connsiteY2" fmla="*/ 76304 h 182068"/>
                <a:gd name="connsiteX3" fmla="*/ 113043 w 219046"/>
                <a:gd name="connsiteY3" fmla="*/ 180679 h 182068"/>
                <a:gd name="connsiteX4" fmla="*/ 106318 w 219046"/>
                <a:gd name="connsiteY4" fmla="*/ 180679 h 182068"/>
                <a:gd name="connsiteX5" fmla="*/ 1448 w 219046"/>
                <a:gd name="connsiteY5" fmla="*/ 76351 h 182068"/>
                <a:gd name="connsiteX6" fmla="*/ 0 w 219046"/>
                <a:gd name="connsiteY6" fmla="*/ 72932 h 182068"/>
                <a:gd name="connsiteX7" fmla="*/ 0 w 219046"/>
                <a:gd name="connsiteY7" fmla="*/ 4800 h 182068"/>
                <a:gd name="connsiteX8" fmla="*/ 4782 w 219046"/>
                <a:gd name="connsiteY8" fmla="*/ 57 h 182068"/>
                <a:gd name="connsiteX9" fmla="*/ 8115 w 219046"/>
                <a:gd name="connsiteY9" fmla="*/ 1437 h 182068"/>
                <a:gd name="connsiteX10" fmla="*/ 107994 w 219046"/>
                <a:gd name="connsiteY10" fmla="*/ 101240 h 182068"/>
                <a:gd name="connsiteX11" fmla="*/ 111366 w 219046"/>
                <a:gd name="connsiteY11" fmla="*/ 101240 h 182068"/>
                <a:gd name="connsiteX12" fmla="*/ 210912 w 219046"/>
                <a:gd name="connsiteY12" fmla="*/ 1399 h 182068"/>
                <a:gd name="connsiteX13" fmla="*/ 217647 w 219046"/>
                <a:gd name="connsiteY13" fmla="*/ 1391 h 182068"/>
                <a:gd name="connsiteX14" fmla="*/ 219046 w 219046"/>
                <a:gd name="connsiteY14" fmla="*/ 4761 h 18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9046" h="182068">
                  <a:moveTo>
                    <a:pt x="219046" y="4761"/>
                  </a:moveTo>
                  <a:lnTo>
                    <a:pt x="219046" y="72932"/>
                  </a:lnTo>
                  <a:cubicBezTo>
                    <a:pt x="219048" y="74196"/>
                    <a:pt x="218548" y="75408"/>
                    <a:pt x="217656" y="76304"/>
                  </a:cubicBezTo>
                  <a:lnTo>
                    <a:pt x="113043" y="180679"/>
                  </a:lnTo>
                  <a:cubicBezTo>
                    <a:pt x="111184" y="182531"/>
                    <a:pt x="108176" y="182531"/>
                    <a:pt x="106318" y="180679"/>
                  </a:cubicBezTo>
                  <a:lnTo>
                    <a:pt x="1448" y="76351"/>
                  </a:lnTo>
                  <a:cubicBezTo>
                    <a:pt x="522" y="75454"/>
                    <a:pt x="0" y="74221"/>
                    <a:pt x="0" y="72932"/>
                  </a:cubicBezTo>
                  <a:lnTo>
                    <a:pt x="0" y="4800"/>
                  </a:lnTo>
                  <a:cubicBezTo>
                    <a:pt x="11" y="2169"/>
                    <a:pt x="2152" y="46"/>
                    <a:pt x="4782" y="57"/>
                  </a:cubicBezTo>
                  <a:cubicBezTo>
                    <a:pt x="6031" y="62"/>
                    <a:pt x="7228" y="558"/>
                    <a:pt x="8115" y="1437"/>
                  </a:cubicBezTo>
                  <a:lnTo>
                    <a:pt x="107994" y="101240"/>
                  </a:lnTo>
                  <a:cubicBezTo>
                    <a:pt x="108927" y="102168"/>
                    <a:pt x="110434" y="102168"/>
                    <a:pt x="111366" y="101240"/>
                  </a:cubicBezTo>
                  <a:lnTo>
                    <a:pt x="210912" y="1399"/>
                  </a:lnTo>
                  <a:cubicBezTo>
                    <a:pt x="212769" y="-463"/>
                    <a:pt x="215785" y="-467"/>
                    <a:pt x="217647" y="1391"/>
                  </a:cubicBezTo>
                  <a:cubicBezTo>
                    <a:pt x="218543" y="2284"/>
                    <a:pt x="219046" y="3497"/>
                    <a:pt x="219046" y="4761"/>
                  </a:cubicBezTo>
                  <a:close/>
                </a:path>
              </a:pathLst>
            </a:custGeom>
            <a:gradFill>
              <a:gsLst>
                <a:gs pos="0">
                  <a:srgbClr val="C3E9FC"/>
                </a:gs>
                <a:gs pos="100000">
                  <a:srgbClr val="BDF2BD"/>
                </a:gs>
              </a:gsLst>
              <a:lin ang="1260000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pPr>
              <a:endParaRPr lang="en-GB" sz="1333">
                <a:solidFill>
                  <a:srgbClr val="FFFFFF"/>
                </a:solidFill>
                <a:latin typeface="Segoe Sans Text" pitchFamily="2" charset="0"/>
                <a:cs typeface="Segoe Sans Text" pitchFamily="2" charset="0"/>
              </a:endParaRPr>
            </a:p>
          </p:txBody>
        </p:sp>
      </p:grpSp>
      <p:sp>
        <p:nvSpPr>
          <p:cNvPr id="15" name="Graphic 13">
            <a:extLst>
              <a:ext uri="{FF2B5EF4-FFF2-40B4-BE49-F238E27FC236}">
                <a16:creationId xmlns:a16="http://schemas.microsoft.com/office/drawing/2014/main" id="{6E54355A-3139-26EA-67DE-C851474F7D63}"/>
              </a:ext>
            </a:extLst>
          </p:cNvPr>
          <p:cNvSpPr/>
          <p:nvPr/>
        </p:nvSpPr>
        <p:spPr>
          <a:xfrm>
            <a:off x="2061631" y="1904052"/>
            <a:ext cx="718266" cy="718264"/>
          </a:xfrm>
          <a:custGeom>
            <a:avLst/>
            <a:gdLst>
              <a:gd name="connsiteX0" fmla="*/ 410396 w 820791"/>
              <a:gd name="connsiteY0" fmla="*/ 191504 h 820791"/>
              <a:gd name="connsiteX1" fmla="*/ 629287 w 820791"/>
              <a:gd name="connsiteY1" fmla="*/ 410396 h 820791"/>
              <a:gd name="connsiteX2" fmla="*/ 410396 w 820791"/>
              <a:gd name="connsiteY2" fmla="*/ 629287 h 820791"/>
              <a:gd name="connsiteX3" fmla="*/ 191504 w 820791"/>
              <a:gd name="connsiteY3" fmla="*/ 410396 h 820791"/>
              <a:gd name="connsiteX4" fmla="*/ 410396 w 820791"/>
              <a:gd name="connsiteY4" fmla="*/ 191504 h 820791"/>
              <a:gd name="connsiteX5" fmla="*/ 561021 w 820791"/>
              <a:gd name="connsiteY5" fmla="*/ 530147 h 820791"/>
              <a:gd name="connsiteX6" fmla="*/ 602810 w 820791"/>
              <a:gd name="connsiteY6" fmla="*/ 410396 h 820791"/>
              <a:gd name="connsiteX7" fmla="*/ 410396 w 820791"/>
              <a:gd name="connsiteY7" fmla="*/ 217981 h 820791"/>
              <a:gd name="connsiteX8" fmla="*/ 217981 w 820791"/>
              <a:gd name="connsiteY8" fmla="*/ 410396 h 820791"/>
              <a:gd name="connsiteX9" fmla="*/ 259771 w 820791"/>
              <a:gd name="connsiteY9" fmla="*/ 530147 h 820791"/>
              <a:gd name="connsiteX10" fmla="*/ 358398 w 820791"/>
              <a:gd name="connsiteY10" fmla="*/ 425845 h 820791"/>
              <a:gd name="connsiteX11" fmla="*/ 324529 w 820791"/>
              <a:gd name="connsiteY11" fmla="*/ 357622 h 820791"/>
              <a:gd name="connsiteX12" fmla="*/ 410396 w 820791"/>
              <a:gd name="connsiteY12" fmla="*/ 271755 h 820791"/>
              <a:gd name="connsiteX13" fmla="*/ 496263 w 820791"/>
              <a:gd name="connsiteY13" fmla="*/ 357622 h 820791"/>
              <a:gd name="connsiteX14" fmla="*/ 462394 w 820791"/>
              <a:gd name="connsiteY14" fmla="*/ 425845 h 820791"/>
              <a:gd name="connsiteX15" fmla="*/ 561021 w 820791"/>
              <a:gd name="connsiteY15" fmla="*/ 530147 h 820791"/>
              <a:gd name="connsiteX16" fmla="*/ 281664 w 820791"/>
              <a:gd name="connsiteY16" fmla="*/ 553414 h 820791"/>
              <a:gd name="connsiteX17" fmla="*/ 410396 w 820791"/>
              <a:gd name="connsiteY17" fmla="*/ 602810 h 820791"/>
              <a:gd name="connsiteX18" fmla="*/ 539128 w 820791"/>
              <a:gd name="connsiteY18" fmla="*/ 553414 h 820791"/>
              <a:gd name="connsiteX19" fmla="*/ 410396 w 820791"/>
              <a:gd name="connsiteY19" fmla="*/ 443487 h 820791"/>
              <a:gd name="connsiteX20" fmla="*/ 281664 w 820791"/>
              <a:gd name="connsiteY20" fmla="*/ 553414 h 820791"/>
              <a:gd name="connsiteX21" fmla="*/ 424932 w 820791"/>
              <a:gd name="connsiteY21" fmla="*/ 415201 h 820791"/>
              <a:gd name="connsiteX22" fmla="*/ 469786 w 820791"/>
              <a:gd name="connsiteY22" fmla="*/ 357622 h 820791"/>
              <a:gd name="connsiteX23" fmla="*/ 410396 w 820791"/>
              <a:gd name="connsiteY23" fmla="*/ 298232 h 820791"/>
              <a:gd name="connsiteX24" fmla="*/ 351006 w 820791"/>
              <a:gd name="connsiteY24" fmla="*/ 357622 h 820791"/>
              <a:gd name="connsiteX25" fmla="*/ 410396 w 820791"/>
              <a:gd name="connsiteY25" fmla="*/ 417010 h 820791"/>
              <a:gd name="connsiteX26" fmla="*/ 424702 w 820791"/>
              <a:gd name="connsiteY26" fmla="*/ 415259 h 820791"/>
              <a:gd name="connsiteX27" fmla="*/ 424932 w 820791"/>
              <a:gd name="connsiteY27" fmla="*/ 415201 h 820791"/>
              <a:gd name="connsiteX28" fmla="*/ 423634 w 820791"/>
              <a:gd name="connsiteY28" fmla="*/ 167662 h 820791"/>
              <a:gd name="connsiteX29" fmla="*/ 410396 w 820791"/>
              <a:gd name="connsiteY29" fmla="*/ 180900 h 820791"/>
              <a:gd name="connsiteX30" fmla="*/ 397157 w 820791"/>
              <a:gd name="connsiteY30" fmla="*/ 167662 h 820791"/>
              <a:gd name="connsiteX31" fmla="*/ 397157 w 820791"/>
              <a:gd name="connsiteY31" fmla="*/ 109400 h 820791"/>
              <a:gd name="connsiteX32" fmla="*/ 410396 w 820791"/>
              <a:gd name="connsiteY32" fmla="*/ 96162 h 820791"/>
              <a:gd name="connsiteX33" fmla="*/ 423634 w 820791"/>
              <a:gd name="connsiteY33" fmla="*/ 109400 h 820791"/>
              <a:gd name="connsiteX34" fmla="*/ 410396 w 820791"/>
              <a:gd name="connsiteY34" fmla="*/ 0 h 820791"/>
              <a:gd name="connsiteX35" fmla="*/ 452766 w 820791"/>
              <a:gd name="connsiteY35" fmla="*/ 42370 h 820791"/>
              <a:gd name="connsiteX36" fmla="*/ 410396 w 820791"/>
              <a:gd name="connsiteY36" fmla="*/ 84738 h 820791"/>
              <a:gd name="connsiteX37" fmla="*/ 368026 w 820791"/>
              <a:gd name="connsiteY37" fmla="*/ 42370 h 820791"/>
              <a:gd name="connsiteX38" fmla="*/ 410396 w 820791"/>
              <a:gd name="connsiteY38" fmla="*/ 0 h 820791"/>
              <a:gd name="connsiteX39" fmla="*/ 410396 w 820791"/>
              <a:gd name="connsiteY39" fmla="*/ 26477 h 820791"/>
              <a:gd name="connsiteX40" fmla="*/ 394503 w 820791"/>
              <a:gd name="connsiteY40" fmla="*/ 42370 h 820791"/>
              <a:gd name="connsiteX41" fmla="*/ 410396 w 820791"/>
              <a:gd name="connsiteY41" fmla="*/ 58261 h 820791"/>
              <a:gd name="connsiteX42" fmla="*/ 426289 w 820791"/>
              <a:gd name="connsiteY42" fmla="*/ 42370 h 820791"/>
              <a:gd name="connsiteX43" fmla="*/ 410396 w 820791"/>
              <a:gd name="connsiteY43" fmla="*/ 26477 h 820791"/>
              <a:gd name="connsiteX44" fmla="*/ 76416 w 820791"/>
              <a:gd name="connsiteY44" fmla="*/ 34046 h 820791"/>
              <a:gd name="connsiteX45" fmla="*/ 118785 w 820791"/>
              <a:gd name="connsiteY45" fmla="*/ 76416 h 820791"/>
              <a:gd name="connsiteX46" fmla="*/ 76416 w 820791"/>
              <a:gd name="connsiteY46" fmla="*/ 118785 h 820791"/>
              <a:gd name="connsiteX47" fmla="*/ 34046 w 820791"/>
              <a:gd name="connsiteY47" fmla="*/ 76416 h 820791"/>
              <a:gd name="connsiteX48" fmla="*/ 76416 w 820791"/>
              <a:gd name="connsiteY48" fmla="*/ 34046 h 820791"/>
              <a:gd name="connsiteX49" fmla="*/ 76416 w 820791"/>
              <a:gd name="connsiteY49" fmla="*/ 60523 h 820791"/>
              <a:gd name="connsiteX50" fmla="*/ 60523 w 820791"/>
              <a:gd name="connsiteY50" fmla="*/ 76416 h 820791"/>
              <a:gd name="connsiteX51" fmla="*/ 76416 w 820791"/>
              <a:gd name="connsiteY51" fmla="*/ 92308 h 820791"/>
              <a:gd name="connsiteX52" fmla="*/ 92308 w 820791"/>
              <a:gd name="connsiteY52" fmla="*/ 76416 h 820791"/>
              <a:gd name="connsiteX53" fmla="*/ 76416 w 820791"/>
              <a:gd name="connsiteY53" fmla="*/ 60523 h 820791"/>
              <a:gd name="connsiteX54" fmla="*/ 115902 w 820791"/>
              <a:gd name="connsiteY54" fmla="*/ 134623 h 820791"/>
              <a:gd name="connsiteX55" fmla="*/ 115902 w 820791"/>
              <a:gd name="connsiteY55" fmla="*/ 115902 h 820791"/>
              <a:gd name="connsiteX56" fmla="*/ 134623 w 820791"/>
              <a:gd name="connsiteY56" fmla="*/ 115902 h 820791"/>
              <a:gd name="connsiteX57" fmla="*/ 241900 w 820791"/>
              <a:gd name="connsiteY57" fmla="*/ 223179 h 820791"/>
              <a:gd name="connsiteX58" fmla="*/ 241900 w 820791"/>
              <a:gd name="connsiteY58" fmla="*/ 241900 h 820791"/>
              <a:gd name="connsiteX59" fmla="*/ 223179 w 820791"/>
              <a:gd name="connsiteY59" fmla="*/ 241900 h 820791"/>
              <a:gd name="connsiteX60" fmla="*/ 786745 w 820791"/>
              <a:gd name="connsiteY60" fmla="*/ 76416 h 820791"/>
              <a:gd name="connsiteX61" fmla="*/ 744375 w 820791"/>
              <a:gd name="connsiteY61" fmla="*/ 118785 h 820791"/>
              <a:gd name="connsiteX62" fmla="*/ 702007 w 820791"/>
              <a:gd name="connsiteY62" fmla="*/ 76416 h 820791"/>
              <a:gd name="connsiteX63" fmla="*/ 744375 w 820791"/>
              <a:gd name="connsiteY63" fmla="*/ 34046 h 820791"/>
              <a:gd name="connsiteX64" fmla="*/ 786745 w 820791"/>
              <a:gd name="connsiteY64" fmla="*/ 76416 h 820791"/>
              <a:gd name="connsiteX65" fmla="*/ 760268 w 820791"/>
              <a:gd name="connsiteY65" fmla="*/ 76416 h 820791"/>
              <a:gd name="connsiteX66" fmla="*/ 744375 w 820791"/>
              <a:gd name="connsiteY66" fmla="*/ 60523 h 820791"/>
              <a:gd name="connsiteX67" fmla="*/ 728484 w 820791"/>
              <a:gd name="connsiteY67" fmla="*/ 76416 h 820791"/>
              <a:gd name="connsiteX68" fmla="*/ 744375 w 820791"/>
              <a:gd name="connsiteY68" fmla="*/ 92308 h 820791"/>
              <a:gd name="connsiteX69" fmla="*/ 760268 w 820791"/>
              <a:gd name="connsiteY69" fmla="*/ 76416 h 820791"/>
              <a:gd name="connsiteX70" fmla="*/ 686169 w 820791"/>
              <a:gd name="connsiteY70" fmla="*/ 115902 h 820791"/>
              <a:gd name="connsiteX71" fmla="*/ 704889 w 820791"/>
              <a:gd name="connsiteY71" fmla="*/ 115902 h 820791"/>
              <a:gd name="connsiteX72" fmla="*/ 704889 w 820791"/>
              <a:gd name="connsiteY72" fmla="*/ 134623 h 820791"/>
              <a:gd name="connsiteX73" fmla="*/ 597612 w 820791"/>
              <a:gd name="connsiteY73" fmla="*/ 241900 h 820791"/>
              <a:gd name="connsiteX74" fmla="*/ 578891 w 820791"/>
              <a:gd name="connsiteY74" fmla="*/ 241900 h 820791"/>
              <a:gd name="connsiteX75" fmla="*/ 578891 w 820791"/>
              <a:gd name="connsiteY75" fmla="*/ 223179 h 820791"/>
              <a:gd name="connsiteX76" fmla="*/ 744375 w 820791"/>
              <a:gd name="connsiteY76" fmla="*/ 786745 h 820791"/>
              <a:gd name="connsiteX77" fmla="*/ 702007 w 820791"/>
              <a:gd name="connsiteY77" fmla="*/ 744375 h 820791"/>
              <a:gd name="connsiteX78" fmla="*/ 744375 w 820791"/>
              <a:gd name="connsiteY78" fmla="*/ 702007 h 820791"/>
              <a:gd name="connsiteX79" fmla="*/ 786745 w 820791"/>
              <a:gd name="connsiteY79" fmla="*/ 744375 h 820791"/>
              <a:gd name="connsiteX80" fmla="*/ 744375 w 820791"/>
              <a:gd name="connsiteY80" fmla="*/ 786745 h 820791"/>
              <a:gd name="connsiteX81" fmla="*/ 744375 w 820791"/>
              <a:gd name="connsiteY81" fmla="*/ 760268 h 820791"/>
              <a:gd name="connsiteX82" fmla="*/ 760268 w 820791"/>
              <a:gd name="connsiteY82" fmla="*/ 744375 h 820791"/>
              <a:gd name="connsiteX83" fmla="*/ 744375 w 820791"/>
              <a:gd name="connsiteY83" fmla="*/ 728484 h 820791"/>
              <a:gd name="connsiteX84" fmla="*/ 728484 w 820791"/>
              <a:gd name="connsiteY84" fmla="*/ 744375 h 820791"/>
              <a:gd name="connsiteX85" fmla="*/ 744375 w 820791"/>
              <a:gd name="connsiteY85" fmla="*/ 760268 h 820791"/>
              <a:gd name="connsiteX86" fmla="*/ 704889 w 820791"/>
              <a:gd name="connsiteY86" fmla="*/ 686169 h 820791"/>
              <a:gd name="connsiteX87" fmla="*/ 704889 w 820791"/>
              <a:gd name="connsiteY87" fmla="*/ 704889 h 820791"/>
              <a:gd name="connsiteX88" fmla="*/ 686169 w 820791"/>
              <a:gd name="connsiteY88" fmla="*/ 704889 h 820791"/>
              <a:gd name="connsiteX89" fmla="*/ 578891 w 820791"/>
              <a:gd name="connsiteY89" fmla="*/ 597612 h 820791"/>
              <a:gd name="connsiteX90" fmla="*/ 578891 w 820791"/>
              <a:gd name="connsiteY90" fmla="*/ 578891 h 820791"/>
              <a:gd name="connsiteX91" fmla="*/ 597612 w 820791"/>
              <a:gd name="connsiteY91" fmla="*/ 578891 h 820791"/>
              <a:gd name="connsiteX92" fmla="*/ 34046 w 820791"/>
              <a:gd name="connsiteY92" fmla="*/ 744375 h 820791"/>
              <a:gd name="connsiteX93" fmla="*/ 76416 w 820791"/>
              <a:gd name="connsiteY93" fmla="*/ 702007 h 820791"/>
              <a:gd name="connsiteX94" fmla="*/ 118785 w 820791"/>
              <a:gd name="connsiteY94" fmla="*/ 744375 h 820791"/>
              <a:gd name="connsiteX95" fmla="*/ 76416 w 820791"/>
              <a:gd name="connsiteY95" fmla="*/ 786745 h 820791"/>
              <a:gd name="connsiteX96" fmla="*/ 34046 w 820791"/>
              <a:gd name="connsiteY96" fmla="*/ 744375 h 820791"/>
              <a:gd name="connsiteX97" fmla="*/ 60523 w 820791"/>
              <a:gd name="connsiteY97" fmla="*/ 744375 h 820791"/>
              <a:gd name="connsiteX98" fmla="*/ 76416 w 820791"/>
              <a:gd name="connsiteY98" fmla="*/ 760268 h 820791"/>
              <a:gd name="connsiteX99" fmla="*/ 92308 w 820791"/>
              <a:gd name="connsiteY99" fmla="*/ 744375 h 820791"/>
              <a:gd name="connsiteX100" fmla="*/ 76416 w 820791"/>
              <a:gd name="connsiteY100" fmla="*/ 728484 h 820791"/>
              <a:gd name="connsiteX101" fmla="*/ 60523 w 820791"/>
              <a:gd name="connsiteY101" fmla="*/ 744375 h 820791"/>
              <a:gd name="connsiteX102" fmla="*/ 134623 w 820791"/>
              <a:gd name="connsiteY102" fmla="*/ 704889 h 820791"/>
              <a:gd name="connsiteX103" fmla="*/ 115902 w 820791"/>
              <a:gd name="connsiteY103" fmla="*/ 704889 h 820791"/>
              <a:gd name="connsiteX104" fmla="*/ 115902 w 820791"/>
              <a:gd name="connsiteY104" fmla="*/ 686169 h 820791"/>
              <a:gd name="connsiteX105" fmla="*/ 223179 w 820791"/>
              <a:gd name="connsiteY105" fmla="*/ 578891 h 820791"/>
              <a:gd name="connsiteX106" fmla="*/ 241900 w 820791"/>
              <a:gd name="connsiteY106" fmla="*/ 578891 h 820791"/>
              <a:gd name="connsiteX107" fmla="*/ 241900 w 820791"/>
              <a:gd name="connsiteY107" fmla="*/ 597612 h 820791"/>
              <a:gd name="connsiteX108" fmla="*/ 397157 w 820791"/>
              <a:gd name="connsiteY108" fmla="*/ 653130 h 820791"/>
              <a:gd name="connsiteX109" fmla="*/ 410396 w 820791"/>
              <a:gd name="connsiteY109" fmla="*/ 639891 h 820791"/>
              <a:gd name="connsiteX110" fmla="*/ 423634 w 820791"/>
              <a:gd name="connsiteY110" fmla="*/ 653130 h 820791"/>
              <a:gd name="connsiteX111" fmla="*/ 423634 w 820791"/>
              <a:gd name="connsiteY111" fmla="*/ 711391 h 820791"/>
              <a:gd name="connsiteX112" fmla="*/ 410396 w 820791"/>
              <a:gd name="connsiteY112" fmla="*/ 724630 h 820791"/>
              <a:gd name="connsiteX113" fmla="*/ 397157 w 820791"/>
              <a:gd name="connsiteY113" fmla="*/ 711391 h 820791"/>
              <a:gd name="connsiteX114" fmla="*/ 410396 w 820791"/>
              <a:gd name="connsiteY114" fmla="*/ 820792 h 820791"/>
              <a:gd name="connsiteX115" fmla="*/ 368026 w 820791"/>
              <a:gd name="connsiteY115" fmla="*/ 778421 h 820791"/>
              <a:gd name="connsiteX116" fmla="*/ 410396 w 820791"/>
              <a:gd name="connsiteY116" fmla="*/ 736053 h 820791"/>
              <a:gd name="connsiteX117" fmla="*/ 452766 w 820791"/>
              <a:gd name="connsiteY117" fmla="*/ 778421 h 820791"/>
              <a:gd name="connsiteX118" fmla="*/ 410396 w 820791"/>
              <a:gd name="connsiteY118" fmla="*/ 820792 h 820791"/>
              <a:gd name="connsiteX119" fmla="*/ 410396 w 820791"/>
              <a:gd name="connsiteY119" fmla="*/ 794314 h 820791"/>
              <a:gd name="connsiteX120" fmla="*/ 426289 w 820791"/>
              <a:gd name="connsiteY120" fmla="*/ 778421 h 820791"/>
              <a:gd name="connsiteX121" fmla="*/ 410396 w 820791"/>
              <a:gd name="connsiteY121" fmla="*/ 762530 h 820791"/>
              <a:gd name="connsiteX122" fmla="*/ 394503 w 820791"/>
              <a:gd name="connsiteY122" fmla="*/ 778421 h 820791"/>
              <a:gd name="connsiteX123" fmla="*/ 410396 w 820791"/>
              <a:gd name="connsiteY123" fmla="*/ 794314 h 820791"/>
              <a:gd name="connsiteX124" fmla="*/ 167662 w 820791"/>
              <a:gd name="connsiteY124" fmla="*/ 397157 h 820791"/>
              <a:gd name="connsiteX125" fmla="*/ 180900 w 820791"/>
              <a:gd name="connsiteY125" fmla="*/ 410396 h 820791"/>
              <a:gd name="connsiteX126" fmla="*/ 167662 w 820791"/>
              <a:gd name="connsiteY126" fmla="*/ 423634 h 820791"/>
              <a:gd name="connsiteX127" fmla="*/ 109400 w 820791"/>
              <a:gd name="connsiteY127" fmla="*/ 423634 h 820791"/>
              <a:gd name="connsiteX128" fmla="*/ 96162 w 820791"/>
              <a:gd name="connsiteY128" fmla="*/ 410396 h 820791"/>
              <a:gd name="connsiteX129" fmla="*/ 109400 w 820791"/>
              <a:gd name="connsiteY129" fmla="*/ 397157 h 820791"/>
              <a:gd name="connsiteX130" fmla="*/ 0 w 820791"/>
              <a:gd name="connsiteY130" fmla="*/ 410396 h 820791"/>
              <a:gd name="connsiteX131" fmla="*/ 42370 w 820791"/>
              <a:gd name="connsiteY131" fmla="*/ 368026 h 820791"/>
              <a:gd name="connsiteX132" fmla="*/ 84738 w 820791"/>
              <a:gd name="connsiteY132" fmla="*/ 410396 h 820791"/>
              <a:gd name="connsiteX133" fmla="*/ 42370 w 820791"/>
              <a:gd name="connsiteY133" fmla="*/ 452766 h 820791"/>
              <a:gd name="connsiteX134" fmla="*/ 0 w 820791"/>
              <a:gd name="connsiteY134" fmla="*/ 410396 h 820791"/>
              <a:gd name="connsiteX135" fmla="*/ 26477 w 820791"/>
              <a:gd name="connsiteY135" fmla="*/ 410396 h 820791"/>
              <a:gd name="connsiteX136" fmla="*/ 42370 w 820791"/>
              <a:gd name="connsiteY136" fmla="*/ 426289 h 820791"/>
              <a:gd name="connsiteX137" fmla="*/ 58261 w 820791"/>
              <a:gd name="connsiteY137" fmla="*/ 410396 h 820791"/>
              <a:gd name="connsiteX138" fmla="*/ 42370 w 820791"/>
              <a:gd name="connsiteY138" fmla="*/ 394503 h 820791"/>
              <a:gd name="connsiteX139" fmla="*/ 26477 w 820791"/>
              <a:gd name="connsiteY139" fmla="*/ 410396 h 820791"/>
              <a:gd name="connsiteX140" fmla="*/ 653130 w 820791"/>
              <a:gd name="connsiteY140" fmla="*/ 423634 h 820791"/>
              <a:gd name="connsiteX141" fmla="*/ 639891 w 820791"/>
              <a:gd name="connsiteY141" fmla="*/ 410396 h 820791"/>
              <a:gd name="connsiteX142" fmla="*/ 653130 w 820791"/>
              <a:gd name="connsiteY142" fmla="*/ 397157 h 820791"/>
              <a:gd name="connsiteX143" fmla="*/ 711391 w 820791"/>
              <a:gd name="connsiteY143" fmla="*/ 397157 h 820791"/>
              <a:gd name="connsiteX144" fmla="*/ 724630 w 820791"/>
              <a:gd name="connsiteY144" fmla="*/ 410396 h 820791"/>
              <a:gd name="connsiteX145" fmla="*/ 711391 w 820791"/>
              <a:gd name="connsiteY145" fmla="*/ 423634 h 820791"/>
              <a:gd name="connsiteX146" fmla="*/ 820792 w 820791"/>
              <a:gd name="connsiteY146" fmla="*/ 410396 h 820791"/>
              <a:gd name="connsiteX147" fmla="*/ 778421 w 820791"/>
              <a:gd name="connsiteY147" fmla="*/ 452766 h 820791"/>
              <a:gd name="connsiteX148" fmla="*/ 736053 w 820791"/>
              <a:gd name="connsiteY148" fmla="*/ 410396 h 820791"/>
              <a:gd name="connsiteX149" fmla="*/ 778421 w 820791"/>
              <a:gd name="connsiteY149" fmla="*/ 368026 h 820791"/>
              <a:gd name="connsiteX150" fmla="*/ 820792 w 820791"/>
              <a:gd name="connsiteY150" fmla="*/ 410396 h 820791"/>
              <a:gd name="connsiteX151" fmla="*/ 794314 w 820791"/>
              <a:gd name="connsiteY151" fmla="*/ 410396 h 820791"/>
              <a:gd name="connsiteX152" fmla="*/ 778421 w 820791"/>
              <a:gd name="connsiteY152" fmla="*/ 394503 h 820791"/>
              <a:gd name="connsiteX153" fmla="*/ 762530 w 820791"/>
              <a:gd name="connsiteY153" fmla="*/ 410396 h 820791"/>
              <a:gd name="connsiteX154" fmla="*/ 778421 w 820791"/>
              <a:gd name="connsiteY154" fmla="*/ 426289 h 820791"/>
              <a:gd name="connsiteX155" fmla="*/ 794314 w 820791"/>
              <a:gd name="connsiteY155" fmla="*/ 410396 h 820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820791" h="820791">
                <a:moveTo>
                  <a:pt x="410396" y="191504"/>
                </a:moveTo>
                <a:cubicBezTo>
                  <a:pt x="531299" y="191504"/>
                  <a:pt x="629287" y="289493"/>
                  <a:pt x="629287" y="410396"/>
                </a:cubicBezTo>
                <a:cubicBezTo>
                  <a:pt x="629287" y="531299"/>
                  <a:pt x="531299" y="629287"/>
                  <a:pt x="410396" y="629287"/>
                </a:cubicBezTo>
                <a:cubicBezTo>
                  <a:pt x="289493" y="629287"/>
                  <a:pt x="191504" y="531299"/>
                  <a:pt x="191504" y="410396"/>
                </a:cubicBezTo>
                <a:cubicBezTo>
                  <a:pt x="191504" y="289493"/>
                  <a:pt x="289493" y="191504"/>
                  <a:pt x="410396" y="191504"/>
                </a:cubicBezTo>
                <a:close/>
                <a:moveTo>
                  <a:pt x="561021" y="530147"/>
                </a:moveTo>
                <a:cubicBezTo>
                  <a:pt x="587180" y="497285"/>
                  <a:pt x="602810" y="455668"/>
                  <a:pt x="602810" y="410396"/>
                </a:cubicBezTo>
                <a:cubicBezTo>
                  <a:pt x="602810" y="304117"/>
                  <a:pt x="516675" y="217981"/>
                  <a:pt x="410396" y="217981"/>
                </a:cubicBezTo>
                <a:cubicBezTo>
                  <a:pt x="304117" y="217981"/>
                  <a:pt x="217981" y="304117"/>
                  <a:pt x="217981" y="410396"/>
                </a:cubicBezTo>
                <a:cubicBezTo>
                  <a:pt x="217981" y="455668"/>
                  <a:pt x="233611" y="497285"/>
                  <a:pt x="259771" y="530147"/>
                </a:cubicBezTo>
                <a:cubicBezTo>
                  <a:pt x="273871" y="481479"/>
                  <a:pt x="310910" y="442547"/>
                  <a:pt x="358398" y="425845"/>
                </a:cubicBezTo>
                <a:cubicBezTo>
                  <a:pt x="337843" y="410123"/>
                  <a:pt x="324529" y="385357"/>
                  <a:pt x="324529" y="357622"/>
                </a:cubicBezTo>
                <a:cubicBezTo>
                  <a:pt x="324529" y="310380"/>
                  <a:pt x="363154" y="271755"/>
                  <a:pt x="410396" y="271755"/>
                </a:cubicBezTo>
                <a:cubicBezTo>
                  <a:pt x="457638" y="271755"/>
                  <a:pt x="496263" y="310380"/>
                  <a:pt x="496263" y="357622"/>
                </a:cubicBezTo>
                <a:cubicBezTo>
                  <a:pt x="496263" y="385357"/>
                  <a:pt x="482948" y="410123"/>
                  <a:pt x="462394" y="425845"/>
                </a:cubicBezTo>
                <a:cubicBezTo>
                  <a:pt x="509882" y="442547"/>
                  <a:pt x="546920" y="481479"/>
                  <a:pt x="561021" y="530147"/>
                </a:cubicBezTo>
                <a:close/>
                <a:moveTo>
                  <a:pt x="281664" y="553414"/>
                </a:moveTo>
                <a:cubicBezTo>
                  <a:pt x="315758" y="584122"/>
                  <a:pt x="360892" y="602810"/>
                  <a:pt x="410396" y="602810"/>
                </a:cubicBezTo>
                <a:cubicBezTo>
                  <a:pt x="459900" y="602810"/>
                  <a:pt x="505033" y="584122"/>
                  <a:pt x="539128" y="553414"/>
                </a:cubicBezTo>
                <a:cubicBezTo>
                  <a:pt x="529321" y="491130"/>
                  <a:pt x="475404" y="443487"/>
                  <a:pt x="410396" y="443487"/>
                </a:cubicBezTo>
                <a:cubicBezTo>
                  <a:pt x="345388" y="443487"/>
                  <a:pt x="291470" y="491130"/>
                  <a:pt x="281664" y="553414"/>
                </a:cubicBezTo>
                <a:close/>
                <a:moveTo>
                  <a:pt x="424932" y="415201"/>
                </a:moveTo>
                <a:cubicBezTo>
                  <a:pt x="450634" y="408676"/>
                  <a:pt x="469786" y="385286"/>
                  <a:pt x="469786" y="357622"/>
                </a:cubicBezTo>
                <a:cubicBezTo>
                  <a:pt x="469786" y="324947"/>
                  <a:pt x="443070" y="298232"/>
                  <a:pt x="410396" y="298232"/>
                </a:cubicBezTo>
                <a:cubicBezTo>
                  <a:pt x="377721" y="298232"/>
                  <a:pt x="351006" y="324947"/>
                  <a:pt x="351006" y="357622"/>
                </a:cubicBezTo>
                <a:cubicBezTo>
                  <a:pt x="351006" y="390296"/>
                  <a:pt x="377721" y="417010"/>
                  <a:pt x="410396" y="417010"/>
                </a:cubicBezTo>
                <a:cubicBezTo>
                  <a:pt x="415324" y="417010"/>
                  <a:pt x="420116" y="416403"/>
                  <a:pt x="424702" y="415259"/>
                </a:cubicBezTo>
                <a:cubicBezTo>
                  <a:pt x="424778" y="415239"/>
                  <a:pt x="424856" y="415220"/>
                  <a:pt x="424932" y="415201"/>
                </a:cubicBezTo>
                <a:close/>
                <a:moveTo>
                  <a:pt x="423634" y="167662"/>
                </a:moveTo>
                <a:cubicBezTo>
                  <a:pt x="423634" y="174968"/>
                  <a:pt x="417702" y="180900"/>
                  <a:pt x="410396" y="180900"/>
                </a:cubicBezTo>
                <a:cubicBezTo>
                  <a:pt x="403090" y="180900"/>
                  <a:pt x="397157" y="174968"/>
                  <a:pt x="397157" y="167662"/>
                </a:cubicBezTo>
                <a:lnTo>
                  <a:pt x="397157" y="109400"/>
                </a:lnTo>
                <a:cubicBezTo>
                  <a:pt x="397157" y="102094"/>
                  <a:pt x="403090" y="96162"/>
                  <a:pt x="410396" y="96162"/>
                </a:cubicBezTo>
                <a:cubicBezTo>
                  <a:pt x="417702" y="96162"/>
                  <a:pt x="423634" y="102094"/>
                  <a:pt x="423634" y="109400"/>
                </a:cubicBezTo>
                <a:close/>
                <a:moveTo>
                  <a:pt x="410396" y="0"/>
                </a:moveTo>
                <a:cubicBezTo>
                  <a:pt x="433780" y="0"/>
                  <a:pt x="452766" y="18986"/>
                  <a:pt x="452766" y="42370"/>
                </a:cubicBezTo>
                <a:cubicBezTo>
                  <a:pt x="452766" y="65754"/>
                  <a:pt x="433780" y="84738"/>
                  <a:pt x="410396" y="84738"/>
                </a:cubicBezTo>
                <a:cubicBezTo>
                  <a:pt x="387011" y="84738"/>
                  <a:pt x="368026" y="65754"/>
                  <a:pt x="368026" y="42370"/>
                </a:cubicBezTo>
                <a:cubicBezTo>
                  <a:pt x="368026" y="18986"/>
                  <a:pt x="387011" y="0"/>
                  <a:pt x="410396" y="0"/>
                </a:cubicBezTo>
                <a:close/>
                <a:moveTo>
                  <a:pt x="410396" y="26477"/>
                </a:moveTo>
                <a:cubicBezTo>
                  <a:pt x="401625" y="26477"/>
                  <a:pt x="394503" y="33598"/>
                  <a:pt x="394503" y="42370"/>
                </a:cubicBezTo>
                <a:cubicBezTo>
                  <a:pt x="394503" y="51141"/>
                  <a:pt x="401625" y="58261"/>
                  <a:pt x="410396" y="58261"/>
                </a:cubicBezTo>
                <a:cubicBezTo>
                  <a:pt x="419166" y="58261"/>
                  <a:pt x="426289" y="51141"/>
                  <a:pt x="426289" y="42370"/>
                </a:cubicBezTo>
                <a:cubicBezTo>
                  <a:pt x="426289" y="33598"/>
                  <a:pt x="419166" y="26477"/>
                  <a:pt x="410396" y="26477"/>
                </a:cubicBezTo>
                <a:close/>
                <a:moveTo>
                  <a:pt x="76416" y="34046"/>
                </a:moveTo>
                <a:cubicBezTo>
                  <a:pt x="99801" y="34046"/>
                  <a:pt x="118785" y="53032"/>
                  <a:pt x="118785" y="76416"/>
                </a:cubicBezTo>
                <a:cubicBezTo>
                  <a:pt x="118785" y="99801"/>
                  <a:pt x="99801" y="118785"/>
                  <a:pt x="76416" y="118785"/>
                </a:cubicBezTo>
                <a:cubicBezTo>
                  <a:pt x="53032" y="118785"/>
                  <a:pt x="34046" y="99801"/>
                  <a:pt x="34046" y="76416"/>
                </a:cubicBezTo>
                <a:cubicBezTo>
                  <a:pt x="34046" y="53032"/>
                  <a:pt x="53032" y="34046"/>
                  <a:pt x="76416" y="34046"/>
                </a:cubicBezTo>
                <a:close/>
                <a:moveTo>
                  <a:pt x="76416" y="60523"/>
                </a:moveTo>
                <a:cubicBezTo>
                  <a:pt x="67646" y="60523"/>
                  <a:pt x="60523" y="67646"/>
                  <a:pt x="60523" y="76416"/>
                </a:cubicBezTo>
                <a:cubicBezTo>
                  <a:pt x="60523" y="85187"/>
                  <a:pt x="67646" y="92308"/>
                  <a:pt x="76416" y="92308"/>
                </a:cubicBezTo>
                <a:cubicBezTo>
                  <a:pt x="85187" y="92308"/>
                  <a:pt x="92308" y="85187"/>
                  <a:pt x="92308" y="76416"/>
                </a:cubicBezTo>
                <a:cubicBezTo>
                  <a:pt x="92308" y="67646"/>
                  <a:pt x="85187" y="60523"/>
                  <a:pt x="76416" y="60523"/>
                </a:cubicBezTo>
                <a:close/>
                <a:moveTo>
                  <a:pt x="115902" y="134623"/>
                </a:moveTo>
                <a:cubicBezTo>
                  <a:pt x="110736" y="129457"/>
                  <a:pt x="110736" y="121068"/>
                  <a:pt x="115902" y="115902"/>
                </a:cubicBezTo>
                <a:cubicBezTo>
                  <a:pt x="121068" y="110736"/>
                  <a:pt x="129457" y="110736"/>
                  <a:pt x="134623" y="115902"/>
                </a:cubicBezTo>
                <a:lnTo>
                  <a:pt x="241900" y="223179"/>
                </a:lnTo>
                <a:cubicBezTo>
                  <a:pt x="247068" y="228346"/>
                  <a:pt x="247068" y="236734"/>
                  <a:pt x="241900" y="241900"/>
                </a:cubicBezTo>
                <a:cubicBezTo>
                  <a:pt x="236734" y="247068"/>
                  <a:pt x="228346" y="247068"/>
                  <a:pt x="223179" y="241900"/>
                </a:cubicBezTo>
                <a:close/>
                <a:moveTo>
                  <a:pt x="786745" y="76416"/>
                </a:moveTo>
                <a:cubicBezTo>
                  <a:pt x="786745" y="99801"/>
                  <a:pt x="767759" y="118785"/>
                  <a:pt x="744375" y="118785"/>
                </a:cubicBezTo>
                <a:cubicBezTo>
                  <a:pt x="720991" y="118785"/>
                  <a:pt x="702007" y="99801"/>
                  <a:pt x="702007" y="76416"/>
                </a:cubicBezTo>
                <a:cubicBezTo>
                  <a:pt x="702007" y="53032"/>
                  <a:pt x="720991" y="34046"/>
                  <a:pt x="744375" y="34046"/>
                </a:cubicBezTo>
                <a:cubicBezTo>
                  <a:pt x="767759" y="34046"/>
                  <a:pt x="786745" y="53032"/>
                  <a:pt x="786745" y="76416"/>
                </a:cubicBezTo>
                <a:close/>
                <a:moveTo>
                  <a:pt x="760268" y="76416"/>
                </a:moveTo>
                <a:cubicBezTo>
                  <a:pt x="760268" y="67646"/>
                  <a:pt x="753146" y="60523"/>
                  <a:pt x="744375" y="60523"/>
                </a:cubicBezTo>
                <a:cubicBezTo>
                  <a:pt x="735605" y="60523"/>
                  <a:pt x="728484" y="67646"/>
                  <a:pt x="728484" y="76416"/>
                </a:cubicBezTo>
                <a:cubicBezTo>
                  <a:pt x="728484" y="85187"/>
                  <a:pt x="735605" y="92308"/>
                  <a:pt x="744375" y="92308"/>
                </a:cubicBezTo>
                <a:cubicBezTo>
                  <a:pt x="753146" y="92308"/>
                  <a:pt x="760268" y="85187"/>
                  <a:pt x="760268" y="76416"/>
                </a:cubicBezTo>
                <a:close/>
                <a:moveTo>
                  <a:pt x="686169" y="115902"/>
                </a:moveTo>
                <a:cubicBezTo>
                  <a:pt x="691335" y="110736"/>
                  <a:pt x="699723" y="110736"/>
                  <a:pt x="704889" y="115902"/>
                </a:cubicBezTo>
                <a:cubicBezTo>
                  <a:pt x="710056" y="121068"/>
                  <a:pt x="710056" y="129457"/>
                  <a:pt x="704889" y="134623"/>
                </a:cubicBezTo>
                <a:lnTo>
                  <a:pt x="597612" y="241900"/>
                </a:lnTo>
                <a:cubicBezTo>
                  <a:pt x="592446" y="247068"/>
                  <a:pt x="584058" y="247068"/>
                  <a:pt x="578891" y="241900"/>
                </a:cubicBezTo>
                <a:cubicBezTo>
                  <a:pt x="573723" y="236734"/>
                  <a:pt x="573723" y="228346"/>
                  <a:pt x="578891" y="223179"/>
                </a:cubicBezTo>
                <a:close/>
                <a:moveTo>
                  <a:pt x="744375" y="786745"/>
                </a:moveTo>
                <a:cubicBezTo>
                  <a:pt x="720991" y="786745"/>
                  <a:pt x="702007" y="767759"/>
                  <a:pt x="702007" y="744375"/>
                </a:cubicBezTo>
                <a:cubicBezTo>
                  <a:pt x="702007" y="720991"/>
                  <a:pt x="720991" y="702007"/>
                  <a:pt x="744375" y="702007"/>
                </a:cubicBezTo>
                <a:cubicBezTo>
                  <a:pt x="767759" y="702007"/>
                  <a:pt x="786745" y="720991"/>
                  <a:pt x="786745" y="744375"/>
                </a:cubicBezTo>
                <a:cubicBezTo>
                  <a:pt x="786745" y="767759"/>
                  <a:pt x="767759" y="786745"/>
                  <a:pt x="744375" y="786745"/>
                </a:cubicBezTo>
                <a:close/>
                <a:moveTo>
                  <a:pt x="744375" y="760268"/>
                </a:moveTo>
                <a:cubicBezTo>
                  <a:pt x="753146" y="760268"/>
                  <a:pt x="760268" y="753146"/>
                  <a:pt x="760268" y="744375"/>
                </a:cubicBezTo>
                <a:cubicBezTo>
                  <a:pt x="760268" y="735605"/>
                  <a:pt x="753146" y="728484"/>
                  <a:pt x="744375" y="728484"/>
                </a:cubicBezTo>
                <a:cubicBezTo>
                  <a:pt x="735605" y="728484"/>
                  <a:pt x="728484" y="735605"/>
                  <a:pt x="728484" y="744375"/>
                </a:cubicBezTo>
                <a:cubicBezTo>
                  <a:pt x="728484" y="753146"/>
                  <a:pt x="735605" y="760268"/>
                  <a:pt x="744375" y="760268"/>
                </a:cubicBezTo>
                <a:close/>
                <a:moveTo>
                  <a:pt x="704889" y="686169"/>
                </a:moveTo>
                <a:cubicBezTo>
                  <a:pt x="710056" y="691335"/>
                  <a:pt x="710056" y="699723"/>
                  <a:pt x="704889" y="704889"/>
                </a:cubicBezTo>
                <a:cubicBezTo>
                  <a:pt x="699723" y="710056"/>
                  <a:pt x="691335" y="710056"/>
                  <a:pt x="686169" y="704889"/>
                </a:cubicBezTo>
                <a:lnTo>
                  <a:pt x="578891" y="597612"/>
                </a:lnTo>
                <a:cubicBezTo>
                  <a:pt x="573723" y="592446"/>
                  <a:pt x="573723" y="584058"/>
                  <a:pt x="578891" y="578891"/>
                </a:cubicBezTo>
                <a:cubicBezTo>
                  <a:pt x="584058" y="573723"/>
                  <a:pt x="592446" y="573723"/>
                  <a:pt x="597612" y="578891"/>
                </a:cubicBezTo>
                <a:close/>
                <a:moveTo>
                  <a:pt x="34046" y="744375"/>
                </a:moveTo>
                <a:cubicBezTo>
                  <a:pt x="34046" y="720991"/>
                  <a:pt x="53032" y="702007"/>
                  <a:pt x="76416" y="702007"/>
                </a:cubicBezTo>
                <a:cubicBezTo>
                  <a:pt x="99801" y="702007"/>
                  <a:pt x="118785" y="720991"/>
                  <a:pt x="118785" y="744375"/>
                </a:cubicBezTo>
                <a:cubicBezTo>
                  <a:pt x="118785" y="767759"/>
                  <a:pt x="99801" y="786745"/>
                  <a:pt x="76416" y="786745"/>
                </a:cubicBezTo>
                <a:cubicBezTo>
                  <a:pt x="53032" y="786745"/>
                  <a:pt x="34046" y="767759"/>
                  <a:pt x="34046" y="744375"/>
                </a:cubicBezTo>
                <a:close/>
                <a:moveTo>
                  <a:pt x="60523" y="744375"/>
                </a:moveTo>
                <a:cubicBezTo>
                  <a:pt x="60523" y="753146"/>
                  <a:pt x="67646" y="760268"/>
                  <a:pt x="76416" y="760268"/>
                </a:cubicBezTo>
                <a:cubicBezTo>
                  <a:pt x="85187" y="760268"/>
                  <a:pt x="92308" y="753146"/>
                  <a:pt x="92308" y="744375"/>
                </a:cubicBezTo>
                <a:cubicBezTo>
                  <a:pt x="92308" y="735605"/>
                  <a:pt x="85187" y="728484"/>
                  <a:pt x="76416" y="728484"/>
                </a:cubicBezTo>
                <a:cubicBezTo>
                  <a:pt x="67646" y="728484"/>
                  <a:pt x="60523" y="735605"/>
                  <a:pt x="60523" y="744375"/>
                </a:cubicBezTo>
                <a:close/>
                <a:moveTo>
                  <a:pt x="134623" y="704889"/>
                </a:moveTo>
                <a:cubicBezTo>
                  <a:pt x="129457" y="710056"/>
                  <a:pt x="121068" y="710056"/>
                  <a:pt x="115902" y="704889"/>
                </a:cubicBezTo>
                <a:cubicBezTo>
                  <a:pt x="110736" y="699723"/>
                  <a:pt x="110736" y="691335"/>
                  <a:pt x="115902" y="686169"/>
                </a:cubicBezTo>
                <a:lnTo>
                  <a:pt x="223179" y="578891"/>
                </a:lnTo>
                <a:cubicBezTo>
                  <a:pt x="228346" y="573723"/>
                  <a:pt x="236734" y="573723"/>
                  <a:pt x="241900" y="578891"/>
                </a:cubicBezTo>
                <a:cubicBezTo>
                  <a:pt x="247068" y="584058"/>
                  <a:pt x="247068" y="592446"/>
                  <a:pt x="241900" y="597612"/>
                </a:cubicBezTo>
                <a:close/>
                <a:moveTo>
                  <a:pt x="397157" y="653130"/>
                </a:moveTo>
                <a:cubicBezTo>
                  <a:pt x="397157" y="645824"/>
                  <a:pt x="403090" y="639891"/>
                  <a:pt x="410396" y="639891"/>
                </a:cubicBezTo>
                <a:cubicBezTo>
                  <a:pt x="417702" y="639891"/>
                  <a:pt x="423634" y="645824"/>
                  <a:pt x="423634" y="653130"/>
                </a:cubicBezTo>
                <a:lnTo>
                  <a:pt x="423634" y="711391"/>
                </a:lnTo>
                <a:cubicBezTo>
                  <a:pt x="423634" y="718697"/>
                  <a:pt x="417702" y="724630"/>
                  <a:pt x="410396" y="724630"/>
                </a:cubicBezTo>
                <a:cubicBezTo>
                  <a:pt x="403090" y="724630"/>
                  <a:pt x="397157" y="718697"/>
                  <a:pt x="397157" y="711391"/>
                </a:cubicBezTo>
                <a:close/>
                <a:moveTo>
                  <a:pt x="410396" y="820792"/>
                </a:moveTo>
                <a:cubicBezTo>
                  <a:pt x="387011" y="820792"/>
                  <a:pt x="368026" y="801806"/>
                  <a:pt x="368026" y="778421"/>
                </a:cubicBezTo>
                <a:cubicBezTo>
                  <a:pt x="368026" y="755037"/>
                  <a:pt x="387011" y="736053"/>
                  <a:pt x="410396" y="736053"/>
                </a:cubicBezTo>
                <a:cubicBezTo>
                  <a:pt x="433780" y="736053"/>
                  <a:pt x="452766" y="755037"/>
                  <a:pt x="452766" y="778421"/>
                </a:cubicBezTo>
                <a:cubicBezTo>
                  <a:pt x="452766" y="801806"/>
                  <a:pt x="433780" y="820792"/>
                  <a:pt x="410396" y="820792"/>
                </a:cubicBezTo>
                <a:close/>
                <a:moveTo>
                  <a:pt x="410396" y="794314"/>
                </a:moveTo>
                <a:cubicBezTo>
                  <a:pt x="419166" y="794314"/>
                  <a:pt x="426289" y="787194"/>
                  <a:pt x="426289" y="778421"/>
                </a:cubicBezTo>
                <a:cubicBezTo>
                  <a:pt x="426289" y="769651"/>
                  <a:pt x="419166" y="762530"/>
                  <a:pt x="410396" y="762530"/>
                </a:cubicBezTo>
                <a:cubicBezTo>
                  <a:pt x="401625" y="762530"/>
                  <a:pt x="394503" y="769651"/>
                  <a:pt x="394503" y="778421"/>
                </a:cubicBezTo>
                <a:cubicBezTo>
                  <a:pt x="394503" y="787194"/>
                  <a:pt x="401625" y="794314"/>
                  <a:pt x="410396" y="794314"/>
                </a:cubicBezTo>
                <a:close/>
                <a:moveTo>
                  <a:pt x="167662" y="397157"/>
                </a:moveTo>
                <a:cubicBezTo>
                  <a:pt x="174968" y="397157"/>
                  <a:pt x="180900" y="403090"/>
                  <a:pt x="180900" y="410396"/>
                </a:cubicBezTo>
                <a:cubicBezTo>
                  <a:pt x="180900" y="417702"/>
                  <a:pt x="174968" y="423634"/>
                  <a:pt x="167662" y="423634"/>
                </a:cubicBezTo>
                <a:lnTo>
                  <a:pt x="109400" y="423634"/>
                </a:lnTo>
                <a:cubicBezTo>
                  <a:pt x="102094" y="423634"/>
                  <a:pt x="96162" y="417702"/>
                  <a:pt x="96162" y="410396"/>
                </a:cubicBezTo>
                <a:cubicBezTo>
                  <a:pt x="96162" y="403090"/>
                  <a:pt x="102094" y="397157"/>
                  <a:pt x="109400" y="397157"/>
                </a:cubicBezTo>
                <a:close/>
                <a:moveTo>
                  <a:pt x="0" y="410396"/>
                </a:moveTo>
                <a:cubicBezTo>
                  <a:pt x="0" y="387011"/>
                  <a:pt x="18986" y="368026"/>
                  <a:pt x="42370" y="368026"/>
                </a:cubicBezTo>
                <a:cubicBezTo>
                  <a:pt x="65754" y="368026"/>
                  <a:pt x="84738" y="387011"/>
                  <a:pt x="84738" y="410396"/>
                </a:cubicBezTo>
                <a:cubicBezTo>
                  <a:pt x="84738" y="433780"/>
                  <a:pt x="65754" y="452766"/>
                  <a:pt x="42370" y="452766"/>
                </a:cubicBezTo>
                <a:cubicBezTo>
                  <a:pt x="18986" y="452766"/>
                  <a:pt x="0" y="433780"/>
                  <a:pt x="0" y="410396"/>
                </a:cubicBezTo>
                <a:close/>
                <a:moveTo>
                  <a:pt x="26477" y="410396"/>
                </a:moveTo>
                <a:cubicBezTo>
                  <a:pt x="26477" y="419166"/>
                  <a:pt x="33598" y="426289"/>
                  <a:pt x="42370" y="426289"/>
                </a:cubicBezTo>
                <a:cubicBezTo>
                  <a:pt x="51141" y="426289"/>
                  <a:pt x="58261" y="419166"/>
                  <a:pt x="58261" y="410396"/>
                </a:cubicBezTo>
                <a:cubicBezTo>
                  <a:pt x="58261" y="401625"/>
                  <a:pt x="51141" y="394503"/>
                  <a:pt x="42370" y="394503"/>
                </a:cubicBezTo>
                <a:cubicBezTo>
                  <a:pt x="33598" y="394503"/>
                  <a:pt x="26477" y="401625"/>
                  <a:pt x="26477" y="410396"/>
                </a:cubicBezTo>
                <a:close/>
                <a:moveTo>
                  <a:pt x="653130" y="423634"/>
                </a:moveTo>
                <a:cubicBezTo>
                  <a:pt x="645824" y="423634"/>
                  <a:pt x="639891" y="417702"/>
                  <a:pt x="639891" y="410396"/>
                </a:cubicBezTo>
                <a:cubicBezTo>
                  <a:pt x="639891" y="403090"/>
                  <a:pt x="645824" y="397157"/>
                  <a:pt x="653130" y="397157"/>
                </a:cubicBezTo>
                <a:lnTo>
                  <a:pt x="711391" y="397157"/>
                </a:lnTo>
                <a:cubicBezTo>
                  <a:pt x="718697" y="397157"/>
                  <a:pt x="724630" y="403090"/>
                  <a:pt x="724630" y="410396"/>
                </a:cubicBezTo>
                <a:cubicBezTo>
                  <a:pt x="724630" y="417702"/>
                  <a:pt x="718697" y="423634"/>
                  <a:pt x="711391" y="423634"/>
                </a:cubicBezTo>
                <a:close/>
                <a:moveTo>
                  <a:pt x="820792" y="410396"/>
                </a:moveTo>
                <a:cubicBezTo>
                  <a:pt x="820792" y="433780"/>
                  <a:pt x="801806" y="452766"/>
                  <a:pt x="778421" y="452766"/>
                </a:cubicBezTo>
                <a:cubicBezTo>
                  <a:pt x="755037" y="452766"/>
                  <a:pt x="736053" y="433780"/>
                  <a:pt x="736053" y="410396"/>
                </a:cubicBezTo>
                <a:cubicBezTo>
                  <a:pt x="736053" y="387011"/>
                  <a:pt x="755037" y="368026"/>
                  <a:pt x="778421" y="368026"/>
                </a:cubicBezTo>
                <a:cubicBezTo>
                  <a:pt x="801806" y="368026"/>
                  <a:pt x="820792" y="387011"/>
                  <a:pt x="820792" y="410396"/>
                </a:cubicBezTo>
                <a:close/>
                <a:moveTo>
                  <a:pt x="794314" y="410396"/>
                </a:moveTo>
                <a:cubicBezTo>
                  <a:pt x="794314" y="401625"/>
                  <a:pt x="787194" y="394503"/>
                  <a:pt x="778421" y="394503"/>
                </a:cubicBezTo>
                <a:cubicBezTo>
                  <a:pt x="769651" y="394503"/>
                  <a:pt x="762530" y="401625"/>
                  <a:pt x="762530" y="410396"/>
                </a:cubicBezTo>
                <a:cubicBezTo>
                  <a:pt x="762530" y="419166"/>
                  <a:pt x="769651" y="426289"/>
                  <a:pt x="778421" y="426289"/>
                </a:cubicBezTo>
                <a:cubicBezTo>
                  <a:pt x="787194" y="426289"/>
                  <a:pt x="794314" y="419166"/>
                  <a:pt x="794314" y="410396"/>
                </a:cubicBezTo>
                <a:close/>
              </a:path>
            </a:pathLst>
          </a:custGeom>
          <a:gradFill>
            <a:gsLst>
              <a:gs pos="0">
                <a:srgbClr val="BDF2BD"/>
              </a:gs>
              <a:gs pos="55000">
                <a:srgbClr val="C3E9FC"/>
              </a:gs>
            </a:gsLst>
            <a:lin ang="2700000" scaled="1"/>
          </a:gradFill>
          <a:ln w="1644" cap="flat">
            <a:noFill/>
            <a:prstDash val="solid"/>
            <a:round/>
          </a:ln>
          <a:effectLst>
            <a:outerShdw blurRad="127000" sx="102000" sy="102000" algn="ctr" rotWithShape="0">
              <a:prstClr val="black">
                <a:alpha val="47000"/>
              </a:prstClr>
            </a:outerShdw>
          </a:effectLst>
        </p:spPr>
        <p:txBody>
          <a:bodyPr rtlCol="0" anchor="ctr"/>
          <a:lstStyle/>
          <a:p>
            <a:endParaRPr lang="en-GB"/>
          </a:p>
        </p:txBody>
      </p:sp>
      <p:pic>
        <p:nvPicPr>
          <p:cNvPr id="86" name="Picture 85" descr="A blue and green ribbon&#10;&#10;Description automatically generated">
            <a:extLst>
              <a:ext uri="{FF2B5EF4-FFF2-40B4-BE49-F238E27FC236}">
                <a16:creationId xmlns:a16="http://schemas.microsoft.com/office/drawing/2014/main" id="{40A590B2-AEB5-7A21-6FE4-76A7D4F42B69}"/>
              </a:ext>
            </a:extLst>
          </p:cNvPr>
          <p:cNvPicPr>
            <a:picLocks noChangeAspect="1"/>
          </p:cNvPicPr>
          <p:nvPr/>
        </p:nvPicPr>
        <p:blipFill>
          <a:blip r:embed="rId3" cstate="hqprint">
            <a:alphaModFix amt="20000"/>
            <a:extLst>
              <a:ext uri="{BEBA8EAE-BF5A-486C-A8C5-ECC9F3942E4B}">
                <a14:imgProps xmlns:a14="http://schemas.microsoft.com/office/drawing/2010/main">
                  <a14:imgLayer r:embed="rId4">
                    <a14:imgEffect>
                      <a14:artisticBlur radius="40"/>
                    </a14:imgEffect>
                  </a14:imgLayer>
                </a14:imgProps>
              </a:ext>
              <a:ext uri="{28A0092B-C50C-407E-A947-70E740481C1C}">
                <a14:useLocalDpi xmlns:a14="http://schemas.microsoft.com/office/drawing/2010/main"/>
              </a:ext>
            </a:extLst>
          </a:blip>
          <a:srcRect l="67277" t="14816" r="9797" b="67008"/>
          <a:stretch/>
        </p:blipFill>
        <p:spPr>
          <a:xfrm>
            <a:off x="856168" y="5010381"/>
            <a:ext cx="2105471" cy="804411"/>
          </a:xfrm>
          <a:prstGeom prst="roundRect">
            <a:avLst>
              <a:gd name="adj" fmla="val 0"/>
            </a:avLst>
          </a:prstGeom>
        </p:spPr>
      </p:pic>
      <p:grpSp>
        <p:nvGrpSpPr>
          <p:cNvPr id="8" name="Group 7">
            <a:extLst>
              <a:ext uri="{FF2B5EF4-FFF2-40B4-BE49-F238E27FC236}">
                <a16:creationId xmlns:a16="http://schemas.microsoft.com/office/drawing/2014/main" id="{975DDD23-0465-A22B-EF09-14C6BD0F54AB}"/>
              </a:ext>
            </a:extLst>
          </p:cNvPr>
          <p:cNvGrpSpPr/>
          <p:nvPr/>
        </p:nvGrpSpPr>
        <p:grpSpPr>
          <a:xfrm>
            <a:off x="9073131" y="1544739"/>
            <a:ext cx="1436476" cy="1436890"/>
            <a:chOff x="5275240" y="1811018"/>
            <a:chExt cx="1641521" cy="1641995"/>
          </a:xfrm>
        </p:grpSpPr>
        <p:sp>
          <p:nvSpPr>
            <p:cNvPr id="10" name="Oval 20">
              <a:extLst>
                <a:ext uri="{FF2B5EF4-FFF2-40B4-BE49-F238E27FC236}">
                  <a16:creationId xmlns:a16="http://schemas.microsoft.com/office/drawing/2014/main" id="{F0083371-EA42-419A-3FEE-D40C1AE09C19}"/>
                </a:ext>
              </a:extLst>
            </p:cNvPr>
            <p:cNvSpPr>
              <a:spLocks/>
            </p:cNvSpPr>
            <p:nvPr/>
          </p:nvSpPr>
          <p:spPr bwMode="auto">
            <a:xfrm>
              <a:off x="5275240"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11" name="Group 10">
              <a:extLst>
                <a:ext uri="{FF2B5EF4-FFF2-40B4-BE49-F238E27FC236}">
                  <a16:creationId xmlns:a16="http://schemas.microsoft.com/office/drawing/2014/main" id="{564622BE-8D80-151A-3BB9-5A6564FB8F70}"/>
                </a:ext>
              </a:extLst>
            </p:cNvPr>
            <p:cNvGrpSpPr/>
            <p:nvPr/>
          </p:nvGrpSpPr>
          <p:grpSpPr>
            <a:xfrm>
              <a:off x="5389845" y="1927192"/>
              <a:ext cx="1412311" cy="1409646"/>
              <a:chOff x="1261672" y="4833937"/>
              <a:chExt cx="954296" cy="954297"/>
            </a:xfrm>
          </p:grpSpPr>
          <p:sp>
            <p:nvSpPr>
              <p:cNvPr id="14" name="Rectangle: Rounded Corners 13">
                <a:extLst>
                  <a:ext uri="{FF2B5EF4-FFF2-40B4-BE49-F238E27FC236}">
                    <a16:creationId xmlns:a16="http://schemas.microsoft.com/office/drawing/2014/main" id="{B6EAB0D2-038B-29C9-7AF4-06EE61241FD5}"/>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 name="Rectangle: Rounded Corners 12">
                <a:extLst>
                  <a:ext uri="{FF2B5EF4-FFF2-40B4-BE49-F238E27FC236}">
                    <a16:creationId xmlns:a16="http://schemas.microsoft.com/office/drawing/2014/main" id="{D6FEA5AB-DE18-62A6-7AA4-4831AF47667F}"/>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grpSp>
      </p:grpSp>
      <p:sp>
        <p:nvSpPr>
          <p:cNvPr id="16" name="TextBox 15">
            <a:extLst>
              <a:ext uri="{FF2B5EF4-FFF2-40B4-BE49-F238E27FC236}">
                <a16:creationId xmlns:a16="http://schemas.microsoft.com/office/drawing/2014/main" id="{C1EC4FE7-60BB-E5B4-25D2-E1DC26C2836C}"/>
              </a:ext>
            </a:extLst>
          </p:cNvPr>
          <p:cNvSpPr txBox="1"/>
          <p:nvPr/>
        </p:nvSpPr>
        <p:spPr>
          <a:xfrm>
            <a:off x="8585466" y="3476023"/>
            <a:ext cx="2487354" cy="1846659"/>
          </a:xfrm>
          <a:prstGeom prst="rect">
            <a:avLst/>
          </a:prstGeom>
          <a:noFill/>
        </p:spPr>
        <p:txBody>
          <a:bodyPr wrap="square" lIns="0" tIns="0" rIns="0" bIns="0" rtlCol="0">
            <a:spAutoFit/>
          </a:bodyPr>
          <a:lstStyle/>
          <a:p>
            <a:pPr lvl="0" algn="ctr" defTabSz="609630" fontAlgn="base">
              <a:spcBef>
                <a:spcPts val="1200"/>
              </a:spcBef>
              <a:spcAft>
                <a:spcPct val="0"/>
              </a:spcAft>
              <a:defRPr/>
            </a:pPr>
            <a:r>
              <a:rPr lang="en-US" sz="2000">
                <a:solidFill>
                  <a:schemeClr val="bg1"/>
                </a:solidFill>
                <a:latin typeface="Segoe Sans Text Semibold"/>
              </a:rPr>
              <a:t>3. Run, analyze and decide based on KPIs and requirements; Integrate evaluations into CI/CD pipelines with gated approvals </a:t>
            </a:r>
          </a:p>
        </p:txBody>
      </p:sp>
      <p:grpSp>
        <p:nvGrpSpPr>
          <p:cNvPr id="17" name="Group 16">
            <a:extLst>
              <a:ext uri="{FF2B5EF4-FFF2-40B4-BE49-F238E27FC236}">
                <a16:creationId xmlns:a16="http://schemas.microsoft.com/office/drawing/2014/main" id="{AE04768B-7D6B-90E4-1FA1-E1AE3C61ECED}"/>
              </a:ext>
            </a:extLst>
          </p:cNvPr>
          <p:cNvGrpSpPr/>
          <p:nvPr/>
        </p:nvGrpSpPr>
        <p:grpSpPr>
          <a:xfrm>
            <a:off x="7544303" y="3804823"/>
            <a:ext cx="843715" cy="843959"/>
            <a:chOff x="5660733" y="4542971"/>
            <a:chExt cx="1490912" cy="1491344"/>
          </a:xfrm>
          <a:effectLst>
            <a:outerShdw blurRad="50800" dist="38100" dir="2700000" algn="tl" rotWithShape="0">
              <a:prstClr val="black">
                <a:alpha val="22000"/>
              </a:prstClr>
            </a:outerShdw>
          </a:effectLst>
        </p:grpSpPr>
        <p:sp>
          <p:nvSpPr>
            <p:cNvPr id="19" name="Oval 18">
              <a:extLst>
                <a:ext uri="{FF2B5EF4-FFF2-40B4-BE49-F238E27FC236}">
                  <a16:creationId xmlns:a16="http://schemas.microsoft.com/office/drawing/2014/main" id="{592DDCB5-AEF9-05D4-F8F7-C8DBB95CA5B4}"/>
                </a:ext>
              </a:extLst>
            </p:cNvPr>
            <p:cNvSpPr>
              <a:spLocks/>
            </p:cNvSpPr>
            <p:nvPr/>
          </p:nvSpPr>
          <p:spPr bwMode="auto">
            <a:xfrm>
              <a:off x="5660733" y="4542971"/>
              <a:ext cx="1490912" cy="1491344"/>
            </a:xfrm>
            <a:prstGeom prst="ellipse">
              <a:avLst/>
            </a:prstGeom>
            <a:solidFill>
              <a:schemeClr val="bg1"/>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sp>
          <p:nvSpPr>
            <p:cNvPr id="20" name="Graphic 83">
              <a:extLst>
                <a:ext uri="{FF2B5EF4-FFF2-40B4-BE49-F238E27FC236}">
                  <a16:creationId xmlns:a16="http://schemas.microsoft.com/office/drawing/2014/main" id="{B2385CEA-6AC3-B6EE-43AB-95C7BD28CADD}"/>
                </a:ext>
              </a:extLst>
            </p:cNvPr>
            <p:cNvSpPr/>
            <p:nvPr/>
          </p:nvSpPr>
          <p:spPr>
            <a:xfrm rot="16200000">
              <a:off x="6117375" y="5030111"/>
              <a:ext cx="622078" cy="517064"/>
            </a:xfrm>
            <a:custGeom>
              <a:avLst/>
              <a:gdLst>
                <a:gd name="connsiteX0" fmla="*/ 219046 w 219046"/>
                <a:gd name="connsiteY0" fmla="*/ 4761 h 182068"/>
                <a:gd name="connsiteX1" fmla="*/ 219046 w 219046"/>
                <a:gd name="connsiteY1" fmla="*/ 72932 h 182068"/>
                <a:gd name="connsiteX2" fmla="*/ 217656 w 219046"/>
                <a:gd name="connsiteY2" fmla="*/ 76304 h 182068"/>
                <a:gd name="connsiteX3" fmla="*/ 113043 w 219046"/>
                <a:gd name="connsiteY3" fmla="*/ 180679 h 182068"/>
                <a:gd name="connsiteX4" fmla="*/ 106318 w 219046"/>
                <a:gd name="connsiteY4" fmla="*/ 180679 h 182068"/>
                <a:gd name="connsiteX5" fmla="*/ 1448 w 219046"/>
                <a:gd name="connsiteY5" fmla="*/ 76351 h 182068"/>
                <a:gd name="connsiteX6" fmla="*/ 0 w 219046"/>
                <a:gd name="connsiteY6" fmla="*/ 72932 h 182068"/>
                <a:gd name="connsiteX7" fmla="*/ 0 w 219046"/>
                <a:gd name="connsiteY7" fmla="*/ 4800 h 182068"/>
                <a:gd name="connsiteX8" fmla="*/ 4782 w 219046"/>
                <a:gd name="connsiteY8" fmla="*/ 57 h 182068"/>
                <a:gd name="connsiteX9" fmla="*/ 8115 w 219046"/>
                <a:gd name="connsiteY9" fmla="*/ 1437 h 182068"/>
                <a:gd name="connsiteX10" fmla="*/ 107994 w 219046"/>
                <a:gd name="connsiteY10" fmla="*/ 101240 h 182068"/>
                <a:gd name="connsiteX11" fmla="*/ 111366 w 219046"/>
                <a:gd name="connsiteY11" fmla="*/ 101240 h 182068"/>
                <a:gd name="connsiteX12" fmla="*/ 210912 w 219046"/>
                <a:gd name="connsiteY12" fmla="*/ 1399 h 182068"/>
                <a:gd name="connsiteX13" fmla="*/ 217647 w 219046"/>
                <a:gd name="connsiteY13" fmla="*/ 1391 h 182068"/>
                <a:gd name="connsiteX14" fmla="*/ 219046 w 219046"/>
                <a:gd name="connsiteY14" fmla="*/ 4761 h 18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9046" h="182068">
                  <a:moveTo>
                    <a:pt x="219046" y="4761"/>
                  </a:moveTo>
                  <a:lnTo>
                    <a:pt x="219046" y="72932"/>
                  </a:lnTo>
                  <a:cubicBezTo>
                    <a:pt x="219048" y="74196"/>
                    <a:pt x="218548" y="75408"/>
                    <a:pt x="217656" y="76304"/>
                  </a:cubicBezTo>
                  <a:lnTo>
                    <a:pt x="113043" y="180679"/>
                  </a:lnTo>
                  <a:cubicBezTo>
                    <a:pt x="111184" y="182531"/>
                    <a:pt x="108176" y="182531"/>
                    <a:pt x="106318" y="180679"/>
                  </a:cubicBezTo>
                  <a:lnTo>
                    <a:pt x="1448" y="76351"/>
                  </a:lnTo>
                  <a:cubicBezTo>
                    <a:pt x="522" y="75454"/>
                    <a:pt x="0" y="74221"/>
                    <a:pt x="0" y="72932"/>
                  </a:cubicBezTo>
                  <a:lnTo>
                    <a:pt x="0" y="4800"/>
                  </a:lnTo>
                  <a:cubicBezTo>
                    <a:pt x="11" y="2169"/>
                    <a:pt x="2152" y="46"/>
                    <a:pt x="4782" y="57"/>
                  </a:cubicBezTo>
                  <a:cubicBezTo>
                    <a:pt x="6031" y="62"/>
                    <a:pt x="7228" y="558"/>
                    <a:pt x="8115" y="1437"/>
                  </a:cubicBezTo>
                  <a:lnTo>
                    <a:pt x="107994" y="101240"/>
                  </a:lnTo>
                  <a:cubicBezTo>
                    <a:pt x="108927" y="102168"/>
                    <a:pt x="110434" y="102168"/>
                    <a:pt x="111366" y="101240"/>
                  </a:cubicBezTo>
                  <a:lnTo>
                    <a:pt x="210912" y="1399"/>
                  </a:lnTo>
                  <a:cubicBezTo>
                    <a:pt x="212769" y="-463"/>
                    <a:pt x="215785" y="-467"/>
                    <a:pt x="217647" y="1391"/>
                  </a:cubicBezTo>
                  <a:cubicBezTo>
                    <a:pt x="218543" y="2284"/>
                    <a:pt x="219046" y="3497"/>
                    <a:pt x="219046" y="4761"/>
                  </a:cubicBezTo>
                  <a:close/>
                </a:path>
              </a:pathLst>
            </a:custGeom>
            <a:solidFill>
              <a:schemeClr val="accent2"/>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pPr>
              <a:endParaRPr lang="en-GB" sz="1333">
                <a:solidFill>
                  <a:srgbClr val="FFFFFF"/>
                </a:solidFill>
                <a:latin typeface="Segoe Sans Text" pitchFamily="2" charset="0"/>
                <a:cs typeface="Segoe Sans Text" pitchFamily="2" charset="0"/>
              </a:endParaRPr>
            </a:p>
          </p:txBody>
        </p:sp>
      </p:grpSp>
      <p:grpSp>
        <p:nvGrpSpPr>
          <p:cNvPr id="26" name="Graphic 43">
            <a:extLst>
              <a:ext uri="{FF2B5EF4-FFF2-40B4-BE49-F238E27FC236}">
                <a16:creationId xmlns:a16="http://schemas.microsoft.com/office/drawing/2014/main" id="{D74AC4A1-DBB7-5791-69D6-91D07BFA99E7}"/>
              </a:ext>
            </a:extLst>
          </p:cNvPr>
          <p:cNvGrpSpPr/>
          <p:nvPr/>
        </p:nvGrpSpPr>
        <p:grpSpPr>
          <a:xfrm>
            <a:off x="9468149" y="1904052"/>
            <a:ext cx="646438" cy="718264"/>
            <a:chOff x="3962400" y="1143000"/>
            <a:chExt cx="4114800" cy="4572000"/>
          </a:xfrm>
          <a:gradFill>
            <a:gsLst>
              <a:gs pos="0">
                <a:srgbClr val="BDF2BD"/>
              </a:gs>
              <a:gs pos="55000">
                <a:srgbClr val="C3E9FC"/>
              </a:gs>
            </a:gsLst>
            <a:lin ang="2700000" scaled="1"/>
          </a:gradFill>
          <a:effectLst>
            <a:outerShdw blurRad="127000" sx="102000" sy="102000" algn="ctr" rotWithShape="0">
              <a:prstClr val="black">
                <a:alpha val="47000"/>
              </a:prstClr>
            </a:outerShdw>
          </a:effectLst>
        </p:grpSpPr>
        <p:sp>
          <p:nvSpPr>
            <p:cNvPr id="27" name="Freeform: Shape 26">
              <a:extLst>
                <a:ext uri="{FF2B5EF4-FFF2-40B4-BE49-F238E27FC236}">
                  <a16:creationId xmlns:a16="http://schemas.microsoft.com/office/drawing/2014/main" id="{845E06EB-6484-AC3F-E786-462FF18096E9}"/>
                </a:ext>
              </a:extLst>
            </p:cNvPr>
            <p:cNvSpPr/>
            <p:nvPr/>
          </p:nvSpPr>
          <p:spPr>
            <a:xfrm>
              <a:off x="6248400" y="1143000"/>
              <a:ext cx="762000" cy="762000"/>
            </a:xfrm>
            <a:custGeom>
              <a:avLst/>
              <a:gdLst>
                <a:gd name="connsiteX0" fmla="*/ 381000 w 762000"/>
                <a:gd name="connsiteY0" fmla="*/ 762000 h 762000"/>
                <a:gd name="connsiteX1" fmla="*/ 0 w 762000"/>
                <a:gd name="connsiteY1" fmla="*/ 381000 h 762000"/>
                <a:gd name="connsiteX2" fmla="*/ 381000 w 762000"/>
                <a:gd name="connsiteY2" fmla="*/ 0 h 762000"/>
                <a:gd name="connsiteX3" fmla="*/ 762000 w 762000"/>
                <a:gd name="connsiteY3" fmla="*/ 381000 h 762000"/>
                <a:gd name="connsiteX4" fmla="*/ 381000 w 762000"/>
                <a:gd name="connsiteY4" fmla="*/ 762000 h 762000"/>
                <a:gd name="connsiteX5" fmla="*/ 381000 w 762000"/>
                <a:gd name="connsiteY5" fmla="*/ 152400 h 762000"/>
                <a:gd name="connsiteX6" fmla="*/ 152400 w 762000"/>
                <a:gd name="connsiteY6" fmla="*/ 381000 h 762000"/>
                <a:gd name="connsiteX7" fmla="*/ 381000 w 762000"/>
                <a:gd name="connsiteY7" fmla="*/ 609600 h 762000"/>
                <a:gd name="connsiteX8" fmla="*/ 609600 w 762000"/>
                <a:gd name="connsiteY8" fmla="*/ 381000 h 762000"/>
                <a:gd name="connsiteX9" fmla="*/ 381000 w 762000"/>
                <a:gd name="connsiteY9" fmla="*/ 1524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762000">
                  <a:moveTo>
                    <a:pt x="381000" y="762000"/>
                  </a:moveTo>
                  <a:cubicBezTo>
                    <a:pt x="170993" y="762000"/>
                    <a:pt x="0" y="591160"/>
                    <a:pt x="0" y="381000"/>
                  </a:cubicBezTo>
                  <a:cubicBezTo>
                    <a:pt x="0" y="170840"/>
                    <a:pt x="170993" y="0"/>
                    <a:pt x="381000" y="0"/>
                  </a:cubicBezTo>
                  <a:cubicBezTo>
                    <a:pt x="591007" y="0"/>
                    <a:pt x="762000" y="170840"/>
                    <a:pt x="762000" y="381000"/>
                  </a:cubicBezTo>
                  <a:cubicBezTo>
                    <a:pt x="762000" y="591160"/>
                    <a:pt x="591007" y="762000"/>
                    <a:pt x="381000" y="762000"/>
                  </a:cubicBezTo>
                  <a:close/>
                  <a:moveTo>
                    <a:pt x="381000" y="152400"/>
                  </a:moveTo>
                  <a:cubicBezTo>
                    <a:pt x="254965" y="152400"/>
                    <a:pt x="152400" y="254965"/>
                    <a:pt x="152400" y="381000"/>
                  </a:cubicBezTo>
                  <a:cubicBezTo>
                    <a:pt x="152400" y="507035"/>
                    <a:pt x="254965" y="609600"/>
                    <a:pt x="381000" y="609600"/>
                  </a:cubicBezTo>
                  <a:cubicBezTo>
                    <a:pt x="507035" y="609600"/>
                    <a:pt x="609600" y="507035"/>
                    <a:pt x="609600" y="381000"/>
                  </a:cubicBezTo>
                  <a:cubicBezTo>
                    <a:pt x="609600" y="254965"/>
                    <a:pt x="507035" y="152400"/>
                    <a:pt x="381000" y="152400"/>
                  </a:cubicBezTo>
                  <a:close/>
                </a:path>
              </a:pathLst>
            </a:custGeom>
            <a:grpFill/>
            <a:ln w="152400"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54E6C848-6BD5-06A6-9E54-0BCABFABC3C0}"/>
                </a:ext>
              </a:extLst>
            </p:cNvPr>
            <p:cNvSpPr/>
            <p:nvPr/>
          </p:nvSpPr>
          <p:spPr>
            <a:xfrm>
              <a:off x="5029200" y="1143000"/>
              <a:ext cx="762000" cy="762000"/>
            </a:xfrm>
            <a:custGeom>
              <a:avLst/>
              <a:gdLst>
                <a:gd name="connsiteX0" fmla="*/ 381000 w 762000"/>
                <a:gd name="connsiteY0" fmla="*/ 762000 h 762000"/>
                <a:gd name="connsiteX1" fmla="*/ 0 w 762000"/>
                <a:gd name="connsiteY1" fmla="*/ 381000 h 762000"/>
                <a:gd name="connsiteX2" fmla="*/ 381000 w 762000"/>
                <a:gd name="connsiteY2" fmla="*/ 0 h 762000"/>
                <a:gd name="connsiteX3" fmla="*/ 762000 w 762000"/>
                <a:gd name="connsiteY3" fmla="*/ 381000 h 762000"/>
                <a:gd name="connsiteX4" fmla="*/ 381000 w 762000"/>
                <a:gd name="connsiteY4" fmla="*/ 762000 h 762000"/>
                <a:gd name="connsiteX5" fmla="*/ 381000 w 762000"/>
                <a:gd name="connsiteY5" fmla="*/ 152400 h 762000"/>
                <a:gd name="connsiteX6" fmla="*/ 152400 w 762000"/>
                <a:gd name="connsiteY6" fmla="*/ 381000 h 762000"/>
                <a:gd name="connsiteX7" fmla="*/ 381000 w 762000"/>
                <a:gd name="connsiteY7" fmla="*/ 609600 h 762000"/>
                <a:gd name="connsiteX8" fmla="*/ 609600 w 762000"/>
                <a:gd name="connsiteY8" fmla="*/ 381000 h 762000"/>
                <a:gd name="connsiteX9" fmla="*/ 381000 w 762000"/>
                <a:gd name="connsiteY9" fmla="*/ 1524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0" h="762000">
                  <a:moveTo>
                    <a:pt x="381000" y="762000"/>
                  </a:moveTo>
                  <a:cubicBezTo>
                    <a:pt x="170993" y="762000"/>
                    <a:pt x="0" y="591160"/>
                    <a:pt x="0" y="381000"/>
                  </a:cubicBezTo>
                  <a:cubicBezTo>
                    <a:pt x="0" y="170840"/>
                    <a:pt x="170993" y="0"/>
                    <a:pt x="381000" y="0"/>
                  </a:cubicBezTo>
                  <a:cubicBezTo>
                    <a:pt x="591007" y="0"/>
                    <a:pt x="762000" y="170840"/>
                    <a:pt x="762000" y="381000"/>
                  </a:cubicBezTo>
                  <a:cubicBezTo>
                    <a:pt x="762000" y="591160"/>
                    <a:pt x="591007" y="762000"/>
                    <a:pt x="381000" y="762000"/>
                  </a:cubicBezTo>
                  <a:close/>
                  <a:moveTo>
                    <a:pt x="381000" y="152400"/>
                  </a:moveTo>
                  <a:cubicBezTo>
                    <a:pt x="254965" y="152400"/>
                    <a:pt x="152400" y="254965"/>
                    <a:pt x="152400" y="381000"/>
                  </a:cubicBezTo>
                  <a:cubicBezTo>
                    <a:pt x="152400" y="507035"/>
                    <a:pt x="254965" y="609600"/>
                    <a:pt x="381000" y="609600"/>
                  </a:cubicBezTo>
                  <a:cubicBezTo>
                    <a:pt x="507035" y="609600"/>
                    <a:pt x="609600" y="507035"/>
                    <a:pt x="609600" y="381000"/>
                  </a:cubicBezTo>
                  <a:cubicBezTo>
                    <a:pt x="609600" y="254965"/>
                    <a:pt x="507035" y="152400"/>
                    <a:pt x="381000" y="152400"/>
                  </a:cubicBezTo>
                  <a:close/>
                </a:path>
              </a:pathLst>
            </a:custGeom>
            <a:grpFill/>
            <a:ln w="152400" cap="flat">
              <a:noFill/>
              <a:prstDash val="solid"/>
              <a:miter/>
            </a:ln>
          </p:spPr>
          <p:txBody>
            <a:bodyPr rtlCol="0" anchor="ctr"/>
            <a:lstStyle/>
            <a:p>
              <a:endParaRPr lang="en-GB"/>
            </a:p>
          </p:txBody>
        </p:sp>
        <p:grpSp>
          <p:nvGrpSpPr>
            <p:cNvPr id="74" name="Graphic 43">
              <a:extLst>
                <a:ext uri="{FF2B5EF4-FFF2-40B4-BE49-F238E27FC236}">
                  <a16:creationId xmlns:a16="http://schemas.microsoft.com/office/drawing/2014/main" id="{CB52BB11-968B-366E-11A9-62E86F41519A}"/>
                </a:ext>
              </a:extLst>
            </p:cNvPr>
            <p:cNvGrpSpPr/>
            <p:nvPr/>
          </p:nvGrpSpPr>
          <p:grpSpPr>
            <a:xfrm>
              <a:off x="6781800" y="2057400"/>
              <a:ext cx="1295400" cy="3657600"/>
              <a:chOff x="6781800" y="2057400"/>
              <a:chExt cx="1295400" cy="3657600"/>
            </a:xfrm>
            <a:grpFill/>
          </p:grpSpPr>
          <p:sp>
            <p:nvSpPr>
              <p:cNvPr id="92" name="Freeform: Shape 91">
                <a:extLst>
                  <a:ext uri="{FF2B5EF4-FFF2-40B4-BE49-F238E27FC236}">
                    <a16:creationId xmlns:a16="http://schemas.microsoft.com/office/drawing/2014/main" id="{1BE81BD1-7808-8A04-094F-66B204300B10}"/>
                  </a:ext>
                </a:extLst>
              </p:cNvPr>
              <p:cNvSpPr/>
              <p:nvPr/>
            </p:nvSpPr>
            <p:spPr>
              <a:xfrm>
                <a:off x="7010400" y="3124200"/>
                <a:ext cx="1066800" cy="2590800"/>
              </a:xfrm>
              <a:custGeom>
                <a:avLst/>
                <a:gdLst>
                  <a:gd name="connsiteX0" fmla="*/ 685800 w 1066800"/>
                  <a:gd name="connsiteY0" fmla="*/ 2590800 h 2590800"/>
                  <a:gd name="connsiteX1" fmla="*/ 609600 w 1066800"/>
                  <a:gd name="connsiteY1" fmla="*/ 2514600 h 2590800"/>
                  <a:gd name="connsiteX2" fmla="*/ 609600 w 1066800"/>
                  <a:gd name="connsiteY2" fmla="*/ 1600200 h 2590800"/>
                  <a:gd name="connsiteX3" fmla="*/ 685800 w 1066800"/>
                  <a:gd name="connsiteY3" fmla="*/ 1524000 h 2590800"/>
                  <a:gd name="connsiteX4" fmla="*/ 762000 w 1066800"/>
                  <a:gd name="connsiteY4" fmla="*/ 1600200 h 2590800"/>
                  <a:gd name="connsiteX5" fmla="*/ 838200 w 1066800"/>
                  <a:gd name="connsiteY5" fmla="*/ 1676400 h 2590800"/>
                  <a:gd name="connsiteX6" fmla="*/ 914400 w 1066800"/>
                  <a:gd name="connsiteY6" fmla="*/ 1600200 h 2590800"/>
                  <a:gd name="connsiteX7" fmla="*/ 914400 w 1066800"/>
                  <a:gd name="connsiteY7" fmla="*/ 533400 h 2590800"/>
                  <a:gd name="connsiteX8" fmla="*/ 609600 w 1066800"/>
                  <a:gd name="connsiteY8" fmla="*/ 152400 h 2590800"/>
                  <a:gd name="connsiteX9" fmla="*/ 76200 w 1066800"/>
                  <a:gd name="connsiteY9" fmla="*/ 152400 h 2590800"/>
                  <a:gd name="connsiteX10" fmla="*/ 0 w 1066800"/>
                  <a:gd name="connsiteY10" fmla="*/ 76200 h 2590800"/>
                  <a:gd name="connsiteX11" fmla="*/ 76200 w 1066800"/>
                  <a:gd name="connsiteY11" fmla="*/ 0 h 2590800"/>
                  <a:gd name="connsiteX12" fmla="*/ 609600 w 1066800"/>
                  <a:gd name="connsiteY12" fmla="*/ 0 h 2590800"/>
                  <a:gd name="connsiteX13" fmla="*/ 1066800 w 1066800"/>
                  <a:gd name="connsiteY13" fmla="*/ 533400 h 2590800"/>
                  <a:gd name="connsiteX14" fmla="*/ 1066800 w 1066800"/>
                  <a:gd name="connsiteY14" fmla="*/ 1600200 h 2590800"/>
                  <a:gd name="connsiteX15" fmla="*/ 838200 w 1066800"/>
                  <a:gd name="connsiteY15" fmla="*/ 1828800 h 2590800"/>
                  <a:gd name="connsiteX16" fmla="*/ 762000 w 1066800"/>
                  <a:gd name="connsiteY16" fmla="*/ 1815694 h 2590800"/>
                  <a:gd name="connsiteX17" fmla="*/ 762000 w 1066800"/>
                  <a:gd name="connsiteY17" fmla="*/ 2514600 h 2590800"/>
                  <a:gd name="connsiteX18" fmla="*/ 685800 w 1066800"/>
                  <a:gd name="connsiteY18" fmla="*/ 2590800 h 259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66800" h="2590800">
                    <a:moveTo>
                      <a:pt x="685800" y="2590800"/>
                    </a:moveTo>
                    <a:cubicBezTo>
                      <a:pt x="643738" y="2590800"/>
                      <a:pt x="609600" y="2556662"/>
                      <a:pt x="609600" y="2514600"/>
                    </a:cubicBezTo>
                    <a:lnTo>
                      <a:pt x="609600" y="1600200"/>
                    </a:lnTo>
                    <a:cubicBezTo>
                      <a:pt x="609600" y="1558138"/>
                      <a:pt x="643738" y="1524000"/>
                      <a:pt x="685800" y="1524000"/>
                    </a:cubicBezTo>
                    <a:cubicBezTo>
                      <a:pt x="727862" y="1524000"/>
                      <a:pt x="762000" y="1558138"/>
                      <a:pt x="762000" y="1600200"/>
                    </a:cubicBezTo>
                    <a:cubicBezTo>
                      <a:pt x="762000" y="1642110"/>
                      <a:pt x="796138" y="1676400"/>
                      <a:pt x="838200" y="1676400"/>
                    </a:cubicBezTo>
                    <a:cubicBezTo>
                      <a:pt x="880262" y="1676400"/>
                      <a:pt x="914400" y="1642110"/>
                      <a:pt x="914400" y="1600200"/>
                    </a:cubicBezTo>
                    <a:lnTo>
                      <a:pt x="914400" y="533400"/>
                    </a:lnTo>
                    <a:cubicBezTo>
                      <a:pt x="914400" y="361950"/>
                      <a:pt x="773735" y="152400"/>
                      <a:pt x="609600" y="152400"/>
                    </a:cubicBezTo>
                    <a:lnTo>
                      <a:pt x="76200" y="152400"/>
                    </a:lnTo>
                    <a:cubicBezTo>
                      <a:pt x="34138" y="152400"/>
                      <a:pt x="0" y="118262"/>
                      <a:pt x="0" y="76200"/>
                    </a:cubicBezTo>
                    <a:cubicBezTo>
                      <a:pt x="0" y="34138"/>
                      <a:pt x="34138" y="0"/>
                      <a:pt x="76200" y="0"/>
                    </a:cubicBezTo>
                    <a:lnTo>
                      <a:pt x="609600" y="0"/>
                    </a:lnTo>
                    <a:cubicBezTo>
                      <a:pt x="867004" y="0"/>
                      <a:pt x="1066800" y="286817"/>
                      <a:pt x="1066800" y="533400"/>
                    </a:cubicBezTo>
                    <a:lnTo>
                      <a:pt x="1066800" y="1600200"/>
                    </a:lnTo>
                    <a:cubicBezTo>
                      <a:pt x="1066800" y="1726235"/>
                      <a:pt x="964235" y="1828800"/>
                      <a:pt x="838200" y="1828800"/>
                    </a:cubicBezTo>
                    <a:cubicBezTo>
                      <a:pt x="811530" y="1828800"/>
                      <a:pt x="785774" y="1824228"/>
                      <a:pt x="762000" y="1815694"/>
                    </a:cubicBezTo>
                    <a:lnTo>
                      <a:pt x="762000" y="2514600"/>
                    </a:lnTo>
                    <a:cubicBezTo>
                      <a:pt x="762000" y="2556662"/>
                      <a:pt x="727862" y="2590800"/>
                      <a:pt x="685800" y="2590800"/>
                    </a:cubicBezTo>
                    <a:close/>
                  </a:path>
                </a:pathLst>
              </a:custGeom>
              <a:grpFill/>
              <a:ln w="152400" cap="flat">
                <a:noFill/>
                <a:prstDash val="solid"/>
                <a:miter/>
              </a:ln>
            </p:spPr>
            <p:txBody>
              <a:bodyPr rtlCol="0" anchor="ctr"/>
              <a:lstStyle/>
              <a:p>
                <a:endParaRPr lang="en-GB"/>
              </a:p>
            </p:txBody>
          </p:sp>
          <p:sp>
            <p:nvSpPr>
              <p:cNvPr id="93" name="Freeform: Shape 92">
                <a:extLst>
                  <a:ext uri="{FF2B5EF4-FFF2-40B4-BE49-F238E27FC236}">
                    <a16:creationId xmlns:a16="http://schemas.microsoft.com/office/drawing/2014/main" id="{D9544B7F-7A15-ACD8-F99E-0A4E55C59481}"/>
                  </a:ext>
                </a:extLst>
              </p:cNvPr>
              <p:cNvSpPr/>
              <p:nvPr/>
            </p:nvSpPr>
            <p:spPr>
              <a:xfrm>
                <a:off x="6781800" y="2057400"/>
                <a:ext cx="914400" cy="914400"/>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5" fmla="*/ 152400 w 914400"/>
                  <a:gd name="connsiteY5" fmla="*/ 457200 h 914400"/>
                  <a:gd name="connsiteX6" fmla="*/ 457200 w 914400"/>
                  <a:gd name="connsiteY6" fmla="*/ 762000 h 914400"/>
                  <a:gd name="connsiteX7" fmla="*/ 762000 w 914400"/>
                  <a:gd name="connsiteY7" fmla="*/ 457200 h 914400"/>
                  <a:gd name="connsiteX8" fmla="*/ 457200 w 914400"/>
                  <a:gd name="connsiteY8" fmla="*/ 152400 h 914400"/>
                  <a:gd name="connsiteX9" fmla="*/ 152400 w 914400"/>
                  <a:gd name="connsiteY9" fmla="*/ 4572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 h="914400">
                    <a:moveTo>
                      <a:pt x="0" y="457200"/>
                    </a:moveTo>
                    <a:cubicBezTo>
                      <a:pt x="0" y="205130"/>
                      <a:pt x="205131" y="0"/>
                      <a:pt x="457200" y="0"/>
                    </a:cubicBezTo>
                    <a:cubicBezTo>
                      <a:pt x="709270" y="0"/>
                      <a:pt x="914400" y="205130"/>
                      <a:pt x="914400" y="457200"/>
                    </a:cubicBezTo>
                    <a:cubicBezTo>
                      <a:pt x="914400" y="709270"/>
                      <a:pt x="709270" y="914400"/>
                      <a:pt x="457200" y="914400"/>
                    </a:cubicBezTo>
                    <a:cubicBezTo>
                      <a:pt x="205131" y="914400"/>
                      <a:pt x="0" y="709270"/>
                      <a:pt x="0" y="457200"/>
                    </a:cubicBezTo>
                    <a:close/>
                    <a:moveTo>
                      <a:pt x="152400" y="457200"/>
                    </a:moveTo>
                    <a:cubicBezTo>
                      <a:pt x="152400" y="625450"/>
                      <a:pt x="288950" y="762000"/>
                      <a:pt x="457200" y="762000"/>
                    </a:cubicBezTo>
                    <a:cubicBezTo>
                      <a:pt x="625450" y="762000"/>
                      <a:pt x="762000" y="625450"/>
                      <a:pt x="762000" y="457200"/>
                    </a:cubicBezTo>
                    <a:cubicBezTo>
                      <a:pt x="762000" y="289103"/>
                      <a:pt x="625450" y="152400"/>
                      <a:pt x="457200" y="152400"/>
                    </a:cubicBezTo>
                    <a:cubicBezTo>
                      <a:pt x="288950" y="152400"/>
                      <a:pt x="152400" y="289103"/>
                      <a:pt x="152400" y="457200"/>
                    </a:cubicBezTo>
                    <a:close/>
                  </a:path>
                </a:pathLst>
              </a:custGeom>
              <a:grpFill/>
              <a:ln w="152400" cap="flat">
                <a:noFill/>
                <a:prstDash val="solid"/>
                <a:miter/>
              </a:ln>
            </p:spPr>
            <p:txBody>
              <a:bodyPr rtlCol="0" anchor="ctr"/>
              <a:lstStyle/>
              <a:p>
                <a:endParaRPr lang="en-GB"/>
              </a:p>
            </p:txBody>
          </p:sp>
          <p:grpSp>
            <p:nvGrpSpPr>
              <p:cNvPr id="94" name="Graphic 43">
                <a:extLst>
                  <a:ext uri="{FF2B5EF4-FFF2-40B4-BE49-F238E27FC236}">
                    <a16:creationId xmlns:a16="http://schemas.microsoft.com/office/drawing/2014/main" id="{5699414C-A787-94BC-55A8-586BAE53BBF1}"/>
                  </a:ext>
                </a:extLst>
              </p:cNvPr>
              <p:cNvGrpSpPr/>
              <p:nvPr/>
            </p:nvGrpSpPr>
            <p:grpSpPr>
              <a:xfrm>
                <a:off x="7162800" y="3733800"/>
                <a:ext cx="609600" cy="1981200"/>
                <a:chOff x="7162800" y="3733800"/>
                <a:chExt cx="609600" cy="1981200"/>
              </a:xfrm>
              <a:grpFill/>
            </p:grpSpPr>
            <p:sp>
              <p:nvSpPr>
                <p:cNvPr id="95" name="Freeform: Shape 94">
                  <a:extLst>
                    <a:ext uri="{FF2B5EF4-FFF2-40B4-BE49-F238E27FC236}">
                      <a16:creationId xmlns:a16="http://schemas.microsoft.com/office/drawing/2014/main" id="{E52288E2-88EE-8E50-7F3B-9FA7284560EA}"/>
                    </a:ext>
                  </a:extLst>
                </p:cNvPr>
                <p:cNvSpPr/>
                <p:nvPr/>
              </p:nvSpPr>
              <p:spPr>
                <a:xfrm>
                  <a:off x="7620000" y="3733800"/>
                  <a:ext cx="152400" cy="1066800"/>
                </a:xfrm>
                <a:custGeom>
                  <a:avLst/>
                  <a:gdLst>
                    <a:gd name="connsiteX0" fmla="*/ 76200 w 152400"/>
                    <a:gd name="connsiteY0" fmla="*/ 1066800 h 1066800"/>
                    <a:gd name="connsiteX1" fmla="*/ 152400 w 152400"/>
                    <a:gd name="connsiteY1" fmla="*/ 990600 h 1066800"/>
                    <a:gd name="connsiteX2" fmla="*/ 152400 w 152400"/>
                    <a:gd name="connsiteY2" fmla="*/ 76200 h 1066800"/>
                    <a:gd name="connsiteX3" fmla="*/ 76200 w 152400"/>
                    <a:gd name="connsiteY3" fmla="*/ 0 h 1066800"/>
                    <a:gd name="connsiteX4" fmla="*/ 0 w 152400"/>
                    <a:gd name="connsiteY4" fmla="*/ 76200 h 1066800"/>
                    <a:gd name="connsiteX5" fmla="*/ 0 w 152400"/>
                    <a:gd name="connsiteY5" fmla="*/ 990600 h 1066800"/>
                    <a:gd name="connsiteX6" fmla="*/ 76200 w 152400"/>
                    <a:gd name="connsiteY6" fmla="*/ 106680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1066800">
                      <a:moveTo>
                        <a:pt x="76200" y="1066800"/>
                      </a:moveTo>
                      <a:cubicBezTo>
                        <a:pt x="118262" y="1066800"/>
                        <a:pt x="152400" y="1032662"/>
                        <a:pt x="152400" y="990600"/>
                      </a:cubicBezTo>
                      <a:lnTo>
                        <a:pt x="152400" y="76200"/>
                      </a:lnTo>
                      <a:cubicBezTo>
                        <a:pt x="152400" y="34138"/>
                        <a:pt x="118262" y="0"/>
                        <a:pt x="76200" y="0"/>
                      </a:cubicBezTo>
                      <a:cubicBezTo>
                        <a:pt x="34138" y="0"/>
                        <a:pt x="0" y="34138"/>
                        <a:pt x="0" y="76200"/>
                      </a:cubicBezTo>
                      <a:lnTo>
                        <a:pt x="0" y="990600"/>
                      </a:lnTo>
                      <a:cubicBezTo>
                        <a:pt x="0" y="1032662"/>
                        <a:pt x="34138" y="1066800"/>
                        <a:pt x="76200" y="1066800"/>
                      </a:cubicBezTo>
                      <a:close/>
                    </a:path>
                  </a:pathLst>
                </a:custGeom>
                <a:grpFill/>
                <a:ln w="152400" cap="flat">
                  <a:noFill/>
                  <a:prstDash val="solid"/>
                  <a:miter/>
                </a:ln>
              </p:spPr>
              <p:txBody>
                <a:bodyPr rtlCol="0" anchor="ctr"/>
                <a:lstStyle/>
                <a:p>
                  <a:endParaRPr lang="en-GB"/>
                </a:p>
              </p:txBody>
            </p:sp>
            <p:sp>
              <p:nvSpPr>
                <p:cNvPr id="96" name="Freeform: Shape 95">
                  <a:extLst>
                    <a:ext uri="{FF2B5EF4-FFF2-40B4-BE49-F238E27FC236}">
                      <a16:creationId xmlns:a16="http://schemas.microsoft.com/office/drawing/2014/main" id="{F39812BA-AAF9-8957-8382-071F3A4E5817}"/>
                    </a:ext>
                  </a:extLst>
                </p:cNvPr>
                <p:cNvSpPr/>
                <p:nvPr/>
              </p:nvSpPr>
              <p:spPr>
                <a:xfrm>
                  <a:off x="7162800" y="4953000"/>
                  <a:ext cx="152400" cy="762000"/>
                </a:xfrm>
                <a:custGeom>
                  <a:avLst/>
                  <a:gdLst>
                    <a:gd name="connsiteX0" fmla="*/ 76200 w 152400"/>
                    <a:gd name="connsiteY0" fmla="*/ 762000 h 762000"/>
                    <a:gd name="connsiteX1" fmla="*/ 152400 w 152400"/>
                    <a:gd name="connsiteY1" fmla="*/ 685800 h 762000"/>
                    <a:gd name="connsiteX2" fmla="*/ 152400 w 152400"/>
                    <a:gd name="connsiteY2" fmla="*/ 76200 h 762000"/>
                    <a:gd name="connsiteX3" fmla="*/ 76200 w 152400"/>
                    <a:gd name="connsiteY3" fmla="*/ 0 h 762000"/>
                    <a:gd name="connsiteX4" fmla="*/ 0 w 152400"/>
                    <a:gd name="connsiteY4" fmla="*/ 76200 h 762000"/>
                    <a:gd name="connsiteX5" fmla="*/ 0 w 152400"/>
                    <a:gd name="connsiteY5" fmla="*/ 685800 h 762000"/>
                    <a:gd name="connsiteX6" fmla="*/ 76200 w 152400"/>
                    <a:gd name="connsiteY6"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762000">
                      <a:moveTo>
                        <a:pt x="76200" y="762000"/>
                      </a:moveTo>
                      <a:cubicBezTo>
                        <a:pt x="118262" y="762000"/>
                        <a:pt x="152400" y="727862"/>
                        <a:pt x="152400" y="685800"/>
                      </a:cubicBezTo>
                      <a:lnTo>
                        <a:pt x="152400" y="76200"/>
                      </a:lnTo>
                      <a:cubicBezTo>
                        <a:pt x="152400" y="34138"/>
                        <a:pt x="118262" y="0"/>
                        <a:pt x="76200" y="0"/>
                      </a:cubicBezTo>
                      <a:cubicBezTo>
                        <a:pt x="34138" y="0"/>
                        <a:pt x="0" y="34138"/>
                        <a:pt x="0" y="76200"/>
                      </a:cubicBezTo>
                      <a:lnTo>
                        <a:pt x="0" y="685800"/>
                      </a:lnTo>
                      <a:cubicBezTo>
                        <a:pt x="0" y="727862"/>
                        <a:pt x="34138" y="762000"/>
                        <a:pt x="76200" y="762000"/>
                      </a:cubicBezTo>
                      <a:close/>
                    </a:path>
                  </a:pathLst>
                </a:custGeom>
                <a:grpFill/>
                <a:ln w="152400" cap="flat">
                  <a:noFill/>
                  <a:prstDash val="solid"/>
                  <a:miter/>
                </a:ln>
              </p:spPr>
              <p:txBody>
                <a:bodyPr rtlCol="0" anchor="ctr"/>
                <a:lstStyle/>
                <a:p>
                  <a:endParaRPr lang="en-GB"/>
                </a:p>
              </p:txBody>
            </p:sp>
          </p:grpSp>
        </p:grpSp>
        <p:grpSp>
          <p:nvGrpSpPr>
            <p:cNvPr id="76" name="Graphic 43">
              <a:extLst>
                <a:ext uri="{FF2B5EF4-FFF2-40B4-BE49-F238E27FC236}">
                  <a16:creationId xmlns:a16="http://schemas.microsoft.com/office/drawing/2014/main" id="{B0CB7878-3EBA-D3D4-AD18-946BF83E98E8}"/>
                </a:ext>
              </a:extLst>
            </p:cNvPr>
            <p:cNvGrpSpPr/>
            <p:nvPr/>
          </p:nvGrpSpPr>
          <p:grpSpPr>
            <a:xfrm>
              <a:off x="3962400" y="2057400"/>
              <a:ext cx="1295400" cy="3657600"/>
              <a:chOff x="3962400" y="2057400"/>
              <a:chExt cx="1295400" cy="3657600"/>
            </a:xfrm>
            <a:grpFill/>
          </p:grpSpPr>
          <p:sp>
            <p:nvSpPr>
              <p:cNvPr id="87" name="Freeform: Shape 86">
                <a:extLst>
                  <a:ext uri="{FF2B5EF4-FFF2-40B4-BE49-F238E27FC236}">
                    <a16:creationId xmlns:a16="http://schemas.microsoft.com/office/drawing/2014/main" id="{2E46C53F-7257-D908-4814-35C3666E80B2}"/>
                  </a:ext>
                </a:extLst>
              </p:cNvPr>
              <p:cNvSpPr/>
              <p:nvPr/>
            </p:nvSpPr>
            <p:spPr>
              <a:xfrm>
                <a:off x="3962400" y="3124200"/>
                <a:ext cx="1066800" cy="2590800"/>
              </a:xfrm>
              <a:custGeom>
                <a:avLst/>
                <a:gdLst>
                  <a:gd name="connsiteX0" fmla="*/ 381000 w 1066800"/>
                  <a:gd name="connsiteY0" fmla="*/ 2590800 h 2590800"/>
                  <a:gd name="connsiteX1" fmla="*/ 304800 w 1066800"/>
                  <a:gd name="connsiteY1" fmla="*/ 2514600 h 2590800"/>
                  <a:gd name="connsiteX2" fmla="*/ 304800 w 1066800"/>
                  <a:gd name="connsiteY2" fmla="*/ 1815694 h 2590800"/>
                  <a:gd name="connsiteX3" fmla="*/ 228600 w 1066800"/>
                  <a:gd name="connsiteY3" fmla="*/ 1828800 h 2590800"/>
                  <a:gd name="connsiteX4" fmla="*/ 0 w 1066800"/>
                  <a:gd name="connsiteY4" fmla="*/ 1600200 h 2590800"/>
                  <a:gd name="connsiteX5" fmla="*/ 0 w 1066800"/>
                  <a:gd name="connsiteY5" fmla="*/ 533400 h 2590800"/>
                  <a:gd name="connsiteX6" fmla="*/ 457200 w 1066800"/>
                  <a:gd name="connsiteY6" fmla="*/ 0 h 2590800"/>
                  <a:gd name="connsiteX7" fmla="*/ 990600 w 1066800"/>
                  <a:gd name="connsiteY7" fmla="*/ 0 h 2590800"/>
                  <a:gd name="connsiteX8" fmla="*/ 1066800 w 1066800"/>
                  <a:gd name="connsiteY8" fmla="*/ 76200 h 2590800"/>
                  <a:gd name="connsiteX9" fmla="*/ 990600 w 1066800"/>
                  <a:gd name="connsiteY9" fmla="*/ 152400 h 2590800"/>
                  <a:gd name="connsiteX10" fmla="*/ 457200 w 1066800"/>
                  <a:gd name="connsiteY10" fmla="*/ 152400 h 2590800"/>
                  <a:gd name="connsiteX11" fmla="*/ 152400 w 1066800"/>
                  <a:gd name="connsiteY11" fmla="*/ 533400 h 2590800"/>
                  <a:gd name="connsiteX12" fmla="*/ 152400 w 1066800"/>
                  <a:gd name="connsiteY12" fmla="*/ 1600200 h 2590800"/>
                  <a:gd name="connsiteX13" fmla="*/ 228600 w 1066800"/>
                  <a:gd name="connsiteY13" fmla="*/ 1676400 h 2590800"/>
                  <a:gd name="connsiteX14" fmla="*/ 304800 w 1066800"/>
                  <a:gd name="connsiteY14" fmla="*/ 1600200 h 2590800"/>
                  <a:gd name="connsiteX15" fmla="*/ 381000 w 1066800"/>
                  <a:gd name="connsiteY15" fmla="*/ 1524000 h 2590800"/>
                  <a:gd name="connsiteX16" fmla="*/ 457200 w 1066800"/>
                  <a:gd name="connsiteY16" fmla="*/ 1600200 h 2590800"/>
                  <a:gd name="connsiteX17" fmla="*/ 457200 w 1066800"/>
                  <a:gd name="connsiteY17" fmla="*/ 2514600 h 2590800"/>
                  <a:gd name="connsiteX18" fmla="*/ 381000 w 1066800"/>
                  <a:gd name="connsiteY18" fmla="*/ 2590800 h 259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66800" h="2590800">
                    <a:moveTo>
                      <a:pt x="381000" y="2590800"/>
                    </a:moveTo>
                    <a:cubicBezTo>
                      <a:pt x="338938" y="2590800"/>
                      <a:pt x="304800" y="2556662"/>
                      <a:pt x="304800" y="2514600"/>
                    </a:cubicBezTo>
                    <a:lnTo>
                      <a:pt x="304800" y="1815694"/>
                    </a:lnTo>
                    <a:cubicBezTo>
                      <a:pt x="281026" y="1824228"/>
                      <a:pt x="255270" y="1828800"/>
                      <a:pt x="228600" y="1828800"/>
                    </a:cubicBezTo>
                    <a:cubicBezTo>
                      <a:pt x="102565" y="1828800"/>
                      <a:pt x="0" y="1726235"/>
                      <a:pt x="0" y="1600200"/>
                    </a:cubicBezTo>
                    <a:lnTo>
                      <a:pt x="0" y="533400"/>
                    </a:lnTo>
                    <a:cubicBezTo>
                      <a:pt x="0" y="286817"/>
                      <a:pt x="199796" y="0"/>
                      <a:pt x="457200" y="0"/>
                    </a:cubicBezTo>
                    <a:lnTo>
                      <a:pt x="990600" y="0"/>
                    </a:lnTo>
                    <a:cubicBezTo>
                      <a:pt x="1032662" y="0"/>
                      <a:pt x="1066800" y="34138"/>
                      <a:pt x="1066800" y="76200"/>
                    </a:cubicBezTo>
                    <a:cubicBezTo>
                      <a:pt x="1066800" y="118262"/>
                      <a:pt x="1032662" y="152400"/>
                      <a:pt x="990600" y="152400"/>
                    </a:cubicBezTo>
                    <a:lnTo>
                      <a:pt x="457200" y="152400"/>
                    </a:lnTo>
                    <a:cubicBezTo>
                      <a:pt x="293065" y="152400"/>
                      <a:pt x="152400" y="361950"/>
                      <a:pt x="152400" y="533400"/>
                    </a:cubicBezTo>
                    <a:lnTo>
                      <a:pt x="152400" y="1600200"/>
                    </a:lnTo>
                    <a:cubicBezTo>
                      <a:pt x="152400" y="1642110"/>
                      <a:pt x="186538" y="1676400"/>
                      <a:pt x="228600" y="1676400"/>
                    </a:cubicBezTo>
                    <a:cubicBezTo>
                      <a:pt x="270662" y="1676400"/>
                      <a:pt x="304800" y="1642110"/>
                      <a:pt x="304800" y="1600200"/>
                    </a:cubicBezTo>
                    <a:cubicBezTo>
                      <a:pt x="304800" y="1558138"/>
                      <a:pt x="338938" y="1524000"/>
                      <a:pt x="381000" y="1524000"/>
                    </a:cubicBezTo>
                    <a:cubicBezTo>
                      <a:pt x="423062" y="1524000"/>
                      <a:pt x="457200" y="1558138"/>
                      <a:pt x="457200" y="1600200"/>
                    </a:cubicBezTo>
                    <a:lnTo>
                      <a:pt x="457200" y="2514600"/>
                    </a:lnTo>
                    <a:cubicBezTo>
                      <a:pt x="457200" y="2556662"/>
                      <a:pt x="423062" y="2590800"/>
                      <a:pt x="381000" y="2590800"/>
                    </a:cubicBezTo>
                    <a:close/>
                  </a:path>
                </a:pathLst>
              </a:custGeom>
              <a:grpFill/>
              <a:ln w="152400" cap="flat">
                <a:noFill/>
                <a:prstDash val="solid"/>
                <a:miter/>
              </a:ln>
            </p:spPr>
            <p:txBody>
              <a:bodyPr rtlCol="0" anchor="ctr"/>
              <a:lstStyle/>
              <a:p>
                <a:endParaRPr lang="en-GB"/>
              </a:p>
            </p:txBody>
          </p:sp>
          <p:sp>
            <p:nvSpPr>
              <p:cNvPr id="88" name="Freeform: Shape 87">
                <a:extLst>
                  <a:ext uri="{FF2B5EF4-FFF2-40B4-BE49-F238E27FC236}">
                    <a16:creationId xmlns:a16="http://schemas.microsoft.com/office/drawing/2014/main" id="{26A46111-05C0-C500-D148-88B6269C3A05}"/>
                  </a:ext>
                </a:extLst>
              </p:cNvPr>
              <p:cNvSpPr/>
              <p:nvPr/>
            </p:nvSpPr>
            <p:spPr>
              <a:xfrm>
                <a:off x="4343400" y="2057400"/>
                <a:ext cx="914400" cy="914400"/>
              </a:xfrm>
              <a:custGeom>
                <a:avLst/>
                <a:gdLst>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4" fmla="*/ 457200 w 914400"/>
                  <a:gd name="connsiteY4" fmla="*/ 914400 h 914400"/>
                  <a:gd name="connsiteX5" fmla="*/ 457200 w 914400"/>
                  <a:gd name="connsiteY5" fmla="*/ 152400 h 914400"/>
                  <a:gd name="connsiteX6" fmla="*/ 152400 w 914400"/>
                  <a:gd name="connsiteY6" fmla="*/ 457200 h 914400"/>
                  <a:gd name="connsiteX7" fmla="*/ 457200 w 914400"/>
                  <a:gd name="connsiteY7" fmla="*/ 762000 h 914400"/>
                  <a:gd name="connsiteX8" fmla="*/ 762000 w 914400"/>
                  <a:gd name="connsiteY8" fmla="*/ 457200 h 914400"/>
                  <a:gd name="connsiteX9" fmla="*/ 457200 w 914400"/>
                  <a:gd name="connsiteY9" fmla="*/ 152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 h="914400">
                    <a:moveTo>
                      <a:pt x="457200" y="914400"/>
                    </a:moveTo>
                    <a:cubicBezTo>
                      <a:pt x="205130" y="914400"/>
                      <a:pt x="0" y="709270"/>
                      <a:pt x="0" y="457200"/>
                    </a:cubicBezTo>
                    <a:cubicBezTo>
                      <a:pt x="0" y="205130"/>
                      <a:pt x="205130" y="0"/>
                      <a:pt x="457200" y="0"/>
                    </a:cubicBezTo>
                    <a:cubicBezTo>
                      <a:pt x="709270" y="0"/>
                      <a:pt x="914400" y="205130"/>
                      <a:pt x="914400" y="457200"/>
                    </a:cubicBezTo>
                    <a:cubicBezTo>
                      <a:pt x="914400" y="709270"/>
                      <a:pt x="709270" y="914400"/>
                      <a:pt x="457200" y="914400"/>
                    </a:cubicBezTo>
                    <a:close/>
                    <a:moveTo>
                      <a:pt x="457200" y="152400"/>
                    </a:moveTo>
                    <a:cubicBezTo>
                      <a:pt x="288950" y="152400"/>
                      <a:pt x="152400" y="289103"/>
                      <a:pt x="152400" y="457200"/>
                    </a:cubicBezTo>
                    <a:cubicBezTo>
                      <a:pt x="152400" y="625450"/>
                      <a:pt x="288950" y="762000"/>
                      <a:pt x="457200" y="762000"/>
                    </a:cubicBezTo>
                    <a:cubicBezTo>
                      <a:pt x="625450" y="762000"/>
                      <a:pt x="762000" y="625450"/>
                      <a:pt x="762000" y="457200"/>
                    </a:cubicBezTo>
                    <a:cubicBezTo>
                      <a:pt x="762000" y="289103"/>
                      <a:pt x="625450" y="152400"/>
                      <a:pt x="457200" y="152400"/>
                    </a:cubicBezTo>
                    <a:close/>
                  </a:path>
                </a:pathLst>
              </a:custGeom>
              <a:grpFill/>
              <a:ln w="152400" cap="flat">
                <a:noFill/>
                <a:prstDash val="solid"/>
                <a:miter/>
              </a:ln>
            </p:spPr>
            <p:txBody>
              <a:bodyPr rtlCol="0" anchor="ctr"/>
              <a:lstStyle/>
              <a:p>
                <a:endParaRPr lang="en-GB"/>
              </a:p>
            </p:txBody>
          </p:sp>
          <p:grpSp>
            <p:nvGrpSpPr>
              <p:cNvPr id="89" name="Graphic 43">
                <a:extLst>
                  <a:ext uri="{FF2B5EF4-FFF2-40B4-BE49-F238E27FC236}">
                    <a16:creationId xmlns:a16="http://schemas.microsoft.com/office/drawing/2014/main" id="{F2C81B81-175D-7A41-97D2-20BB05B4BDC9}"/>
                  </a:ext>
                </a:extLst>
              </p:cNvPr>
              <p:cNvGrpSpPr/>
              <p:nvPr/>
            </p:nvGrpSpPr>
            <p:grpSpPr>
              <a:xfrm>
                <a:off x="4267200" y="3733800"/>
                <a:ext cx="609600" cy="1981200"/>
                <a:chOff x="4267200" y="3733800"/>
                <a:chExt cx="609600" cy="1981200"/>
              </a:xfrm>
              <a:grpFill/>
            </p:grpSpPr>
            <p:sp>
              <p:nvSpPr>
                <p:cNvPr id="90" name="Freeform: Shape 89">
                  <a:extLst>
                    <a:ext uri="{FF2B5EF4-FFF2-40B4-BE49-F238E27FC236}">
                      <a16:creationId xmlns:a16="http://schemas.microsoft.com/office/drawing/2014/main" id="{0553CBF1-A862-FBF4-D9B4-7D86E3A38C5E}"/>
                    </a:ext>
                  </a:extLst>
                </p:cNvPr>
                <p:cNvSpPr/>
                <p:nvPr/>
              </p:nvSpPr>
              <p:spPr>
                <a:xfrm>
                  <a:off x="4267200" y="3733800"/>
                  <a:ext cx="152400" cy="1066800"/>
                </a:xfrm>
                <a:custGeom>
                  <a:avLst/>
                  <a:gdLst>
                    <a:gd name="connsiteX0" fmla="*/ 76200 w 152400"/>
                    <a:gd name="connsiteY0" fmla="*/ 1066800 h 1066800"/>
                    <a:gd name="connsiteX1" fmla="*/ 0 w 152400"/>
                    <a:gd name="connsiteY1" fmla="*/ 990600 h 1066800"/>
                    <a:gd name="connsiteX2" fmla="*/ 0 w 152400"/>
                    <a:gd name="connsiteY2" fmla="*/ 76200 h 1066800"/>
                    <a:gd name="connsiteX3" fmla="*/ 76200 w 152400"/>
                    <a:gd name="connsiteY3" fmla="*/ 0 h 1066800"/>
                    <a:gd name="connsiteX4" fmla="*/ 152400 w 152400"/>
                    <a:gd name="connsiteY4" fmla="*/ 76200 h 1066800"/>
                    <a:gd name="connsiteX5" fmla="*/ 152400 w 152400"/>
                    <a:gd name="connsiteY5" fmla="*/ 990600 h 1066800"/>
                    <a:gd name="connsiteX6" fmla="*/ 76200 w 152400"/>
                    <a:gd name="connsiteY6" fmla="*/ 106680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1066800">
                      <a:moveTo>
                        <a:pt x="76200" y="1066800"/>
                      </a:moveTo>
                      <a:cubicBezTo>
                        <a:pt x="34138" y="1066800"/>
                        <a:pt x="0" y="1032662"/>
                        <a:pt x="0" y="990600"/>
                      </a:cubicBezTo>
                      <a:lnTo>
                        <a:pt x="0" y="76200"/>
                      </a:lnTo>
                      <a:cubicBezTo>
                        <a:pt x="0" y="34138"/>
                        <a:pt x="34138" y="0"/>
                        <a:pt x="76200" y="0"/>
                      </a:cubicBezTo>
                      <a:cubicBezTo>
                        <a:pt x="118262" y="0"/>
                        <a:pt x="152400" y="34138"/>
                        <a:pt x="152400" y="76200"/>
                      </a:cubicBezTo>
                      <a:lnTo>
                        <a:pt x="152400" y="990600"/>
                      </a:lnTo>
                      <a:cubicBezTo>
                        <a:pt x="152400" y="1032662"/>
                        <a:pt x="118262" y="1066800"/>
                        <a:pt x="76200" y="1066800"/>
                      </a:cubicBezTo>
                      <a:close/>
                    </a:path>
                  </a:pathLst>
                </a:custGeom>
                <a:grpFill/>
                <a:ln w="152400" cap="flat">
                  <a:noFill/>
                  <a:prstDash val="solid"/>
                  <a:miter/>
                </a:ln>
              </p:spPr>
              <p:txBody>
                <a:bodyPr rtlCol="0" anchor="ctr"/>
                <a:lstStyle/>
                <a:p>
                  <a:endParaRPr lang="en-GB"/>
                </a:p>
              </p:txBody>
            </p:sp>
            <p:sp>
              <p:nvSpPr>
                <p:cNvPr id="91" name="Freeform: Shape 90">
                  <a:extLst>
                    <a:ext uri="{FF2B5EF4-FFF2-40B4-BE49-F238E27FC236}">
                      <a16:creationId xmlns:a16="http://schemas.microsoft.com/office/drawing/2014/main" id="{15431AA1-DAA6-B52C-4FAB-057AF64564BA}"/>
                    </a:ext>
                  </a:extLst>
                </p:cNvPr>
                <p:cNvSpPr/>
                <p:nvPr/>
              </p:nvSpPr>
              <p:spPr>
                <a:xfrm>
                  <a:off x="4724400" y="4953000"/>
                  <a:ext cx="152400" cy="762000"/>
                </a:xfrm>
                <a:custGeom>
                  <a:avLst/>
                  <a:gdLst>
                    <a:gd name="connsiteX0" fmla="*/ 76200 w 152400"/>
                    <a:gd name="connsiteY0" fmla="*/ 762000 h 762000"/>
                    <a:gd name="connsiteX1" fmla="*/ 0 w 152400"/>
                    <a:gd name="connsiteY1" fmla="*/ 685800 h 762000"/>
                    <a:gd name="connsiteX2" fmla="*/ 0 w 152400"/>
                    <a:gd name="connsiteY2" fmla="*/ 76200 h 762000"/>
                    <a:gd name="connsiteX3" fmla="*/ 76200 w 152400"/>
                    <a:gd name="connsiteY3" fmla="*/ 0 h 762000"/>
                    <a:gd name="connsiteX4" fmla="*/ 152400 w 152400"/>
                    <a:gd name="connsiteY4" fmla="*/ 76200 h 762000"/>
                    <a:gd name="connsiteX5" fmla="*/ 152400 w 152400"/>
                    <a:gd name="connsiteY5" fmla="*/ 685800 h 762000"/>
                    <a:gd name="connsiteX6" fmla="*/ 76200 w 152400"/>
                    <a:gd name="connsiteY6" fmla="*/ 76200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762000">
                      <a:moveTo>
                        <a:pt x="76200" y="762000"/>
                      </a:moveTo>
                      <a:cubicBezTo>
                        <a:pt x="34138" y="762000"/>
                        <a:pt x="0" y="727862"/>
                        <a:pt x="0" y="685800"/>
                      </a:cubicBezTo>
                      <a:lnTo>
                        <a:pt x="0" y="76200"/>
                      </a:lnTo>
                      <a:cubicBezTo>
                        <a:pt x="0" y="34138"/>
                        <a:pt x="34138" y="0"/>
                        <a:pt x="76200" y="0"/>
                      </a:cubicBezTo>
                      <a:cubicBezTo>
                        <a:pt x="118262" y="0"/>
                        <a:pt x="152400" y="34138"/>
                        <a:pt x="152400" y="76200"/>
                      </a:cubicBezTo>
                      <a:lnTo>
                        <a:pt x="152400" y="685800"/>
                      </a:lnTo>
                      <a:cubicBezTo>
                        <a:pt x="152400" y="727862"/>
                        <a:pt x="118262" y="762000"/>
                        <a:pt x="76200" y="762000"/>
                      </a:cubicBezTo>
                      <a:close/>
                    </a:path>
                  </a:pathLst>
                </a:custGeom>
                <a:grpFill/>
                <a:ln w="152400" cap="flat">
                  <a:noFill/>
                  <a:prstDash val="solid"/>
                  <a:miter/>
                </a:ln>
              </p:spPr>
              <p:txBody>
                <a:bodyPr rtlCol="0" anchor="ctr"/>
                <a:lstStyle/>
                <a:p>
                  <a:endParaRPr lang="en-GB"/>
                </a:p>
              </p:txBody>
            </p:sp>
          </p:grpSp>
        </p:grpSp>
        <p:grpSp>
          <p:nvGrpSpPr>
            <p:cNvPr id="77" name="Graphic 43">
              <a:extLst>
                <a:ext uri="{FF2B5EF4-FFF2-40B4-BE49-F238E27FC236}">
                  <a16:creationId xmlns:a16="http://schemas.microsoft.com/office/drawing/2014/main" id="{E9E634A8-589B-23F8-AD31-338B0D0996B9}"/>
                </a:ext>
              </a:extLst>
            </p:cNvPr>
            <p:cNvGrpSpPr/>
            <p:nvPr/>
          </p:nvGrpSpPr>
          <p:grpSpPr>
            <a:xfrm>
              <a:off x="5181600" y="1905000"/>
              <a:ext cx="1676400" cy="3810000"/>
              <a:chOff x="5181600" y="1905000"/>
              <a:chExt cx="1676400" cy="3810000"/>
            </a:xfrm>
            <a:grpFill/>
          </p:grpSpPr>
          <p:grpSp>
            <p:nvGrpSpPr>
              <p:cNvPr id="78" name="Graphic 43">
                <a:extLst>
                  <a:ext uri="{FF2B5EF4-FFF2-40B4-BE49-F238E27FC236}">
                    <a16:creationId xmlns:a16="http://schemas.microsoft.com/office/drawing/2014/main" id="{6B55C657-7260-B431-7B7E-B8386249C572}"/>
                  </a:ext>
                </a:extLst>
              </p:cNvPr>
              <p:cNvGrpSpPr/>
              <p:nvPr/>
            </p:nvGrpSpPr>
            <p:grpSpPr>
              <a:xfrm>
                <a:off x="5181600" y="1905000"/>
                <a:ext cx="1676400" cy="3810000"/>
                <a:chOff x="5181600" y="1905000"/>
                <a:chExt cx="1676400" cy="3810000"/>
              </a:xfrm>
              <a:grpFill/>
            </p:grpSpPr>
            <p:sp>
              <p:nvSpPr>
                <p:cNvPr id="82" name="Freeform: Shape 81">
                  <a:extLst>
                    <a:ext uri="{FF2B5EF4-FFF2-40B4-BE49-F238E27FC236}">
                      <a16:creationId xmlns:a16="http://schemas.microsoft.com/office/drawing/2014/main" id="{3A38B1E0-548E-3503-0738-7814F9145EEB}"/>
                    </a:ext>
                  </a:extLst>
                </p:cNvPr>
                <p:cNvSpPr/>
                <p:nvPr/>
              </p:nvSpPr>
              <p:spPr>
                <a:xfrm>
                  <a:off x="5181600" y="2971800"/>
                  <a:ext cx="1676400" cy="2743200"/>
                </a:xfrm>
                <a:custGeom>
                  <a:avLst/>
                  <a:gdLst>
                    <a:gd name="connsiteX0" fmla="*/ 1295400 w 1676400"/>
                    <a:gd name="connsiteY0" fmla="*/ 2743200 h 2743200"/>
                    <a:gd name="connsiteX1" fmla="*/ 1219200 w 1676400"/>
                    <a:gd name="connsiteY1" fmla="*/ 2667000 h 2743200"/>
                    <a:gd name="connsiteX2" fmla="*/ 1219200 w 1676400"/>
                    <a:gd name="connsiteY2" fmla="*/ 990600 h 2743200"/>
                    <a:gd name="connsiteX3" fmla="*/ 1295400 w 1676400"/>
                    <a:gd name="connsiteY3" fmla="*/ 914400 h 2743200"/>
                    <a:gd name="connsiteX4" fmla="*/ 1493215 w 1676400"/>
                    <a:gd name="connsiteY4" fmla="*/ 800252 h 2743200"/>
                    <a:gd name="connsiteX5" fmla="*/ 1524000 w 1676400"/>
                    <a:gd name="connsiteY5" fmla="*/ 685800 h 2743200"/>
                    <a:gd name="connsiteX6" fmla="*/ 1524000 w 1676400"/>
                    <a:gd name="connsiteY6" fmla="*/ 533400 h 2743200"/>
                    <a:gd name="connsiteX7" fmla="*/ 1143000 w 1676400"/>
                    <a:gd name="connsiteY7" fmla="*/ 152400 h 2743200"/>
                    <a:gd name="connsiteX8" fmla="*/ 457200 w 1676400"/>
                    <a:gd name="connsiteY8" fmla="*/ 152400 h 2743200"/>
                    <a:gd name="connsiteX9" fmla="*/ 152400 w 1676400"/>
                    <a:gd name="connsiteY9" fmla="*/ 457200 h 2743200"/>
                    <a:gd name="connsiteX10" fmla="*/ 152400 w 1676400"/>
                    <a:gd name="connsiteY10" fmla="*/ 685800 h 2743200"/>
                    <a:gd name="connsiteX11" fmla="*/ 381000 w 1676400"/>
                    <a:gd name="connsiteY11" fmla="*/ 914400 h 2743200"/>
                    <a:gd name="connsiteX12" fmla="*/ 457200 w 1676400"/>
                    <a:gd name="connsiteY12" fmla="*/ 990600 h 2743200"/>
                    <a:gd name="connsiteX13" fmla="*/ 457200 w 1676400"/>
                    <a:gd name="connsiteY13" fmla="*/ 2667000 h 2743200"/>
                    <a:gd name="connsiteX14" fmla="*/ 381000 w 1676400"/>
                    <a:gd name="connsiteY14" fmla="*/ 2743200 h 2743200"/>
                    <a:gd name="connsiteX15" fmla="*/ 304800 w 1676400"/>
                    <a:gd name="connsiteY15" fmla="*/ 2667000 h 2743200"/>
                    <a:gd name="connsiteX16" fmla="*/ 304800 w 1676400"/>
                    <a:gd name="connsiteY16" fmla="*/ 1059180 h 2743200"/>
                    <a:gd name="connsiteX17" fmla="*/ 0 w 1676400"/>
                    <a:gd name="connsiteY17" fmla="*/ 685800 h 2743200"/>
                    <a:gd name="connsiteX18" fmla="*/ 0 w 1676400"/>
                    <a:gd name="connsiteY18" fmla="*/ 457200 h 2743200"/>
                    <a:gd name="connsiteX19" fmla="*/ 457200 w 1676400"/>
                    <a:gd name="connsiteY19" fmla="*/ 0 h 2743200"/>
                    <a:gd name="connsiteX20" fmla="*/ 1143000 w 1676400"/>
                    <a:gd name="connsiteY20" fmla="*/ 0 h 2743200"/>
                    <a:gd name="connsiteX21" fmla="*/ 1676400 w 1676400"/>
                    <a:gd name="connsiteY21" fmla="*/ 533400 h 2743200"/>
                    <a:gd name="connsiteX22" fmla="*/ 1676400 w 1676400"/>
                    <a:gd name="connsiteY22" fmla="*/ 685800 h 2743200"/>
                    <a:gd name="connsiteX23" fmla="*/ 1625041 w 1676400"/>
                    <a:gd name="connsiteY23" fmla="*/ 876757 h 2743200"/>
                    <a:gd name="connsiteX24" fmla="*/ 1371600 w 1676400"/>
                    <a:gd name="connsiteY24" fmla="*/ 1059028 h 2743200"/>
                    <a:gd name="connsiteX25" fmla="*/ 1371600 w 1676400"/>
                    <a:gd name="connsiteY25" fmla="*/ 2667000 h 2743200"/>
                    <a:gd name="connsiteX26" fmla="*/ 1295400 w 1676400"/>
                    <a:gd name="connsiteY26" fmla="*/ 274320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76400" h="2743200">
                      <a:moveTo>
                        <a:pt x="1295400" y="2743200"/>
                      </a:moveTo>
                      <a:cubicBezTo>
                        <a:pt x="1253338" y="2743200"/>
                        <a:pt x="1219200" y="2709062"/>
                        <a:pt x="1219200" y="2667000"/>
                      </a:cubicBezTo>
                      <a:lnTo>
                        <a:pt x="1219200" y="990600"/>
                      </a:lnTo>
                      <a:cubicBezTo>
                        <a:pt x="1219200" y="948538"/>
                        <a:pt x="1253338" y="914400"/>
                        <a:pt x="1295400" y="914400"/>
                      </a:cubicBezTo>
                      <a:cubicBezTo>
                        <a:pt x="1376629" y="914400"/>
                        <a:pt x="1452372" y="870661"/>
                        <a:pt x="1493215" y="800252"/>
                      </a:cubicBezTo>
                      <a:cubicBezTo>
                        <a:pt x="1513332" y="765658"/>
                        <a:pt x="1524000" y="726186"/>
                        <a:pt x="1524000" y="685800"/>
                      </a:cubicBezTo>
                      <a:lnTo>
                        <a:pt x="1524000" y="533400"/>
                      </a:lnTo>
                      <a:cubicBezTo>
                        <a:pt x="1524000" y="323240"/>
                        <a:pt x="1353007" y="152400"/>
                        <a:pt x="1143000" y="152400"/>
                      </a:cubicBezTo>
                      <a:lnTo>
                        <a:pt x="457200" y="152400"/>
                      </a:lnTo>
                      <a:cubicBezTo>
                        <a:pt x="289103" y="152400"/>
                        <a:pt x="152400" y="289103"/>
                        <a:pt x="152400" y="457200"/>
                      </a:cubicBezTo>
                      <a:lnTo>
                        <a:pt x="152400" y="685800"/>
                      </a:lnTo>
                      <a:cubicBezTo>
                        <a:pt x="152400" y="811835"/>
                        <a:pt x="254965" y="914400"/>
                        <a:pt x="381000" y="914400"/>
                      </a:cubicBezTo>
                      <a:cubicBezTo>
                        <a:pt x="423062" y="914400"/>
                        <a:pt x="457200" y="948538"/>
                        <a:pt x="457200" y="990600"/>
                      </a:cubicBezTo>
                      <a:lnTo>
                        <a:pt x="457200" y="2667000"/>
                      </a:lnTo>
                      <a:cubicBezTo>
                        <a:pt x="457200" y="2709062"/>
                        <a:pt x="423062" y="2743200"/>
                        <a:pt x="381000" y="2743200"/>
                      </a:cubicBezTo>
                      <a:cubicBezTo>
                        <a:pt x="338938" y="2743200"/>
                        <a:pt x="304800" y="2709062"/>
                        <a:pt x="304800" y="2667000"/>
                      </a:cubicBezTo>
                      <a:lnTo>
                        <a:pt x="304800" y="1059180"/>
                      </a:lnTo>
                      <a:cubicBezTo>
                        <a:pt x="131064" y="1023823"/>
                        <a:pt x="0" y="869747"/>
                        <a:pt x="0" y="685800"/>
                      </a:cubicBezTo>
                      <a:lnTo>
                        <a:pt x="0" y="457200"/>
                      </a:lnTo>
                      <a:cubicBezTo>
                        <a:pt x="0" y="205130"/>
                        <a:pt x="205130" y="0"/>
                        <a:pt x="457200" y="0"/>
                      </a:cubicBezTo>
                      <a:lnTo>
                        <a:pt x="1143000" y="0"/>
                      </a:lnTo>
                      <a:cubicBezTo>
                        <a:pt x="1437132" y="0"/>
                        <a:pt x="1676400" y="239268"/>
                        <a:pt x="1676400" y="533400"/>
                      </a:cubicBezTo>
                      <a:lnTo>
                        <a:pt x="1676400" y="685800"/>
                      </a:lnTo>
                      <a:cubicBezTo>
                        <a:pt x="1676400" y="752856"/>
                        <a:pt x="1658722" y="818998"/>
                        <a:pt x="1625041" y="876757"/>
                      </a:cubicBezTo>
                      <a:cubicBezTo>
                        <a:pt x="1570025" y="971550"/>
                        <a:pt x="1476908" y="1037387"/>
                        <a:pt x="1371600" y="1059028"/>
                      </a:cubicBezTo>
                      <a:lnTo>
                        <a:pt x="1371600" y="2667000"/>
                      </a:lnTo>
                      <a:cubicBezTo>
                        <a:pt x="1371600" y="2709062"/>
                        <a:pt x="1337462" y="2743200"/>
                        <a:pt x="1295400" y="2743200"/>
                      </a:cubicBezTo>
                      <a:close/>
                    </a:path>
                  </a:pathLst>
                </a:custGeom>
                <a:grpFill/>
                <a:ln w="152400" cap="flat">
                  <a:noFill/>
                  <a:prstDash val="solid"/>
                  <a:miter/>
                </a:ln>
              </p:spPr>
              <p:txBody>
                <a:bodyPr rtlCol="0" anchor="ctr"/>
                <a:lstStyle/>
                <a:p>
                  <a:endParaRPr lang="en-GB"/>
                </a:p>
              </p:txBody>
            </p:sp>
            <p:sp>
              <p:nvSpPr>
                <p:cNvPr id="83" name="Freeform: Shape 82">
                  <a:extLst>
                    <a:ext uri="{FF2B5EF4-FFF2-40B4-BE49-F238E27FC236}">
                      <a16:creationId xmlns:a16="http://schemas.microsoft.com/office/drawing/2014/main" id="{C6CB138C-364C-5B31-3E0B-653F43B95070}"/>
                    </a:ext>
                  </a:extLst>
                </p:cNvPr>
                <p:cNvSpPr/>
                <p:nvPr/>
              </p:nvSpPr>
              <p:spPr>
                <a:xfrm>
                  <a:off x="5562600" y="1905000"/>
                  <a:ext cx="914400" cy="914400"/>
                </a:xfrm>
                <a:custGeom>
                  <a:avLst/>
                  <a:gdLst>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4" fmla="*/ 457200 w 914400"/>
                    <a:gd name="connsiteY4" fmla="*/ 914400 h 914400"/>
                    <a:gd name="connsiteX5" fmla="*/ 457200 w 914400"/>
                    <a:gd name="connsiteY5" fmla="*/ 152400 h 914400"/>
                    <a:gd name="connsiteX6" fmla="*/ 152400 w 914400"/>
                    <a:gd name="connsiteY6" fmla="*/ 457200 h 914400"/>
                    <a:gd name="connsiteX7" fmla="*/ 457200 w 914400"/>
                    <a:gd name="connsiteY7" fmla="*/ 762000 h 914400"/>
                    <a:gd name="connsiteX8" fmla="*/ 762000 w 914400"/>
                    <a:gd name="connsiteY8" fmla="*/ 457200 h 914400"/>
                    <a:gd name="connsiteX9" fmla="*/ 457200 w 914400"/>
                    <a:gd name="connsiteY9" fmla="*/ 152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 h="914400">
                      <a:moveTo>
                        <a:pt x="457200" y="914400"/>
                      </a:moveTo>
                      <a:cubicBezTo>
                        <a:pt x="205130" y="914400"/>
                        <a:pt x="0" y="709270"/>
                        <a:pt x="0" y="457200"/>
                      </a:cubicBezTo>
                      <a:cubicBezTo>
                        <a:pt x="0" y="205130"/>
                        <a:pt x="205130" y="0"/>
                        <a:pt x="457200" y="0"/>
                      </a:cubicBezTo>
                      <a:cubicBezTo>
                        <a:pt x="709270" y="0"/>
                        <a:pt x="914400" y="205130"/>
                        <a:pt x="914400" y="457200"/>
                      </a:cubicBezTo>
                      <a:cubicBezTo>
                        <a:pt x="914400" y="709270"/>
                        <a:pt x="709270" y="914400"/>
                        <a:pt x="457200" y="914400"/>
                      </a:cubicBezTo>
                      <a:close/>
                      <a:moveTo>
                        <a:pt x="457200" y="152400"/>
                      </a:moveTo>
                      <a:cubicBezTo>
                        <a:pt x="288950" y="152400"/>
                        <a:pt x="152400" y="289103"/>
                        <a:pt x="152400" y="457200"/>
                      </a:cubicBezTo>
                      <a:cubicBezTo>
                        <a:pt x="152400" y="625450"/>
                        <a:pt x="288950" y="762000"/>
                        <a:pt x="457200" y="762000"/>
                      </a:cubicBezTo>
                      <a:cubicBezTo>
                        <a:pt x="625450" y="762000"/>
                        <a:pt x="762000" y="625450"/>
                        <a:pt x="762000" y="457200"/>
                      </a:cubicBezTo>
                      <a:cubicBezTo>
                        <a:pt x="762000" y="289103"/>
                        <a:pt x="625450" y="152400"/>
                        <a:pt x="457200" y="152400"/>
                      </a:cubicBezTo>
                      <a:close/>
                    </a:path>
                  </a:pathLst>
                </a:custGeom>
                <a:grpFill/>
                <a:ln w="152400" cap="flat">
                  <a:noFill/>
                  <a:prstDash val="solid"/>
                  <a:miter/>
                </a:ln>
              </p:spPr>
              <p:txBody>
                <a:bodyPr rtlCol="0" anchor="ctr"/>
                <a:lstStyle/>
                <a:p>
                  <a:endParaRPr lang="en-GB"/>
                </a:p>
              </p:txBody>
            </p:sp>
          </p:grpSp>
          <p:sp>
            <p:nvSpPr>
              <p:cNvPr id="79" name="Freeform: Shape 78">
                <a:extLst>
                  <a:ext uri="{FF2B5EF4-FFF2-40B4-BE49-F238E27FC236}">
                    <a16:creationId xmlns:a16="http://schemas.microsoft.com/office/drawing/2014/main" id="{2B6A30C2-2640-277A-ED15-72CAD96CCEA9}"/>
                  </a:ext>
                </a:extLst>
              </p:cNvPr>
              <p:cNvSpPr/>
              <p:nvPr/>
            </p:nvSpPr>
            <p:spPr>
              <a:xfrm>
                <a:off x="5486400" y="3401415"/>
                <a:ext cx="1066800" cy="408584"/>
              </a:xfrm>
              <a:custGeom>
                <a:avLst/>
                <a:gdLst>
                  <a:gd name="connsiteX0" fmla="*/ 990600 w 1066800"/>
                  <a:gd name="connsiteY0" fmla="*/ 408584 h 408584"/>
                  <a:gd name="connsiteX1" fmla="*/ 914400 w 1066800"/>
                  <a:gd name="connsiteY1" fmla="*/ 332384 h 408584"/>
                  <a:gd name="connsiteX2" fmla="*/ 914400 w 1066800"/>
                  <a:gd name="connsiteY2" fmla="*/ 283769 h 408584"/>
                  <a:gd name="connsiteX3" fmla="*/ 887425 w 1066800"/>
                  <a:gd name="connsiteY3" fmla="*/ 225552 h 408584"/>
                  <a:gd name="connsiteX4" fmla="*/ 825856 w 1066800"/>
                  <a:gd name="connsiteY4" fmla="*/ 208636 h 408584"/>
                  <a:gd name="connsiteX5" fmla="*/ 266243 w 1066800"/>
                  <a:gd name="connsiteY5" fmla="*/ 301752 h 408584"/>
                  <a:gd name="connsiteX6" fmla="*/ 80924 w 1066800"/>
                  <a:gd name="connsiteY6" fmla="*/ 250698 h 408584"/>
                  <a:gd name="connsiteX7" fmla="*/ 0 w 1066800"/>
                  <a:gd name="connsiteY7" fmla="*/ 76200 h 408584"/>
                  <a:gd name="connsiteX8" fmla="*/ 76200 w 1066800"/>
                  <a:gd name="connsiteY8" fmla="*/ 0 h 408584"/>
                  <a:gd name="connsiteX9" fmla="*/ 152400 w 1066800"/>
                  <a:gd name="connsiteY9" fmla="*/ 76200 h 408584"/>
                  <a:gd name="connsiteX10" fmla="*/ 179375 w 1066800"/>
                  <a:gd name="connsiteY10" fmla="*/ 134417 h 408584"/>
                  <a:gd name="connsiteX11" fmla="*/ 241249 w 1066800"/>
                  <a:gd name="connsiteY11" fmla="*/ 151333 h 408584"/>
                  <a:gd name="connsiteX12" fmla="*/ 800710 w 1066800"/>
                  <a:gd name="connsiteY12" fmla="*/ 58217 h 408584"/>
                  <a:gd name="connsiteX13" fmla="*/ 985876 w 1066800"/>
                  <a:gd name="connsiteY13" fmla="*/ 109118 h 408584"/>
                  <a:gd name="connsiteX14" fmla="*/ 1066800 w 1066800"/>
                  <a:gd name="connsiteY14" fmla="*/ 283769 h 408584"/>
                  <a:gd name="connsiteX15" fmla="*/ 1066800 w 1066800"/>
                  <a:gd name="connsiteY15" fmla="*/ 332384 h 408584"/>
                  <a:gd name="connsiteX16" fmla="*/ 990600 w 1066800"/>
                  <a:gd name="connsiteY16" fmla="*/ 408584 h 408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66800" h="408584">
                    <a:moveTo>
                      <a:pt x="990600" y="408584"/>
                    </a:moveTo>
                    <a:cubicBezTo>
                      <a:pt x="948538" y="408584"/>
                      <a:pt x="914400" y="374447"/>
                      <a:pt x="914400" y="332384"/>
                    </a:cubicBezTo>
                    <a:lnTo>
                      <a:pt x="914400" y="283769"/>
                    </a:lnTo>
                    <a:cubicBezTo>
                      <a:pt x="914400" y="261061"/>
                      <a:pt x="904799" y="240335"/>
                      <a:pt x="887425" y="225552"/>
                    </a:cubicBezTo>
                    <a:cubicBezTo>
                      <a:pt x="870052" y="210769"/>
                      <a:pt x="847954" y="204978"/>
                      <a:pt x="825856" y="208636"/>
                    </a:cubicBezTo>
                    <a:lnTo>
                      <a:pt x="266243" y="301752"/>
                    </a:lnTo>
                    <a:cubicBezTo>
                      <a:pt x="199492" y="312420"/>
                      <a:pt x="132283" y="294132"/>
                      <a:pt x="80924" y="250698"/>
                    </a:cubicBezTo>
                    <a:cubicBezTo>
                      <a:pt x="29413" y="207264"/>
                      <a:pt x="0" y="143561"/>
                      <a:pt x="0" y="76200"/>
                    </a:cubicBezTo>
                    <a:cubicBezTo>
                      <a:pt x="0" y="34137"/>
                      <a:pt x="34138" y="0"/>
                      <a:pt x="76200" y="0"/>
                    </a:cubicBezTo>
                    <a:cubicBezTo>
                      <a:pt x="118262" y="0"/>
                      <a:pt x="152400" y="34137"/>
                      <a:pt x="152400" y="76200"/>
                    </a:cubicBezTo>
                    <a:cubicBezTo>
                      <a:pt x="152400" y="98908"/>
                      <a:pt x="162001" y="119634"/>
                      <a:pt x="179375" y="134417"/>
                    </a:cubicBezTo>
                    <a:cubicBezTo>
                      <a:pt x="196748" y="149047"/>
                      <a:pt x="218999" y="155448"/>
                      <a:pt x="241249" y="151333"/>
                    </a:cubicBezTo>
                    <a:lnTo>
                      <a:pt x="800710" y="58217"/>
                    </a:lnTo>
                    <a:cubicBezTo>
                      <a:pt x="867004" y="47244"/>
                      <a:pt x="934517" y="65532"/>
                      <a:pt x="985876" y="109118"/>
                    </a:cubicBezTo>
                    <a:cubicBezTo>
                      <a:pt x="1037234" y="152552"/>
                      <a:pt x="1066800" y="216256"/>
                      <a:pt x="1066800" y="283769"/>
                    </a:cubicBezTo>
                    <a:lnTo>
                      <a:pt x="1066800" y="332384"/>
                    </a:lnTo>
                    <a:cubicBezTo>
                      <a:pt x="1066800" y="374447"/>
                      <a:pt x="1032662" y="408584"/>
                      <a:pt x="990600" y="408584"/>
                    </a:cubicBezTo>
                    <a:close/>
                  </a:path>
                </a:pathLst>
              </a:custGeom>
              <a:grpFill/>
              <a:ln w="152400" cap="flat">
                <a:noFill/>
                <a:prstDash val="solid"/>
                <a:miter/>
              </a:ln>
            </p:spPr>
            <p:txBody>
              <a:bodyPr rtlCol="0" anchor="ctr"/>
              <a:lstStyle/>
              <a:p>
                <a:endParaRPr lang="en-GB"/>
              </a:p>
            </p:txBody>
          </p:sp>
          <p:sp>
            <p:nvSpPr>
              <p:cNvPr id="80" name="Freeform: Shape 79">
                <a:extLst>
                  <a:ext uri="{FF2B5EF4-FFF2-40B4-BE49-F238E27FC236}">
                    <a16:creationId xmlns:a16="http://schemas.microsoft.com/office/drawing/2014/main" id="{4B0323D7-ACC0-CDBA-952D-00BC54EE3BDD}"/>
                  </a:ext>
                </a:extLst>
              </p:cNvPr>
              <p:cNvSpPr/>
              <p:nvPr/>
            </p:nvSpPr>
            <p:spPr>
              <a:xfrm>
                <a:off x="5943600" y="4572000"/>
                <a:ext cx="152400" cy="1143000"/>
              </a:xfrm>
              <a:custGeom>
                <a:avLst/>
                <a:gdLst>
                  <a:gd name="connsiteX0" fmla="*/ 76200 w 152400"/>
                  <a:gd name="connsiteY0" fmla="*/ 1143000 h 1143000"/>
                  <a:gd name="connsiteX1" fmla="*/ 0 w 152400"/>
                  <a:gd name="connsiteY1" fmla="*/ 1066800 h 1143000"/>
                  <a:gd name="connsiteX2" fmla="*/ 0 w 152400"/>
                  <a:gd name="connsiteY2" fmla="*/ 76200 h 1143000"/>
                  <a:gd name="connsiteX3" fmla="*/ 76200 w 152400"/>
                  <a:gd name="connsiteY3" fmla="*/ 0 h 1143000"/>
                  <a:gd name="connsiteX4" fmla="*/ 152400 w 152400"/>
                  <a:gd name="connsiteY4" fmla="*/ 76200 h 1143000"/>
                  <a:gd name="connsiteX5" fmla="*/ 152400 w 152400"/>
                  <a:gd name="connsiteY5" fmla="*/ 1066800 h 1143000"/>
                  <a:gd name="connsiteX6" fmla="*/ 76200 w 152400"/>
                  <a:gd name="connsiteY6" fmla="*/ 1143000 h 114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400" h="1143000">
                    <a:moveTo>
                      <a:pt x="76200" y="1143000"/>
                    </a:moveTo>
                    <a:cubicBezTo>
                      <a:pt x="34138" y="1143000"/>
                      <a:pt x="0" y="1108862"/>
                      <a:pt x="0" y="1066800"/>
                    </a:cubicBezTo>
                    <a:lnTo>
                      <a:pt x="0" y="76200"/>
                    </a:lnTo>
                    <a:cubicBezTo>
                      <a:pt x="0" y="34138"/>
                      <a:pt x="34138" y="0"/>
                      <a:pt x="76200" y="0"/>
                    </a:cubicBezTo>
                    <a:cubicBezTo>
                      <a:pt x="118262" y="0"/>
                      <a:pt x="152400" y="34138"/>
                      <a:pt x="152400" y="76200"/>
                    </a:cubicBezTo>
                    <a:lnTo>
                      <a:pt x="152400" y="1066800"/>
                    </a:lnTo>
                    <a:cubicBezTo>
                      <a:pt x="152400" y="1108862"/>
                      <a:pt x="118262" y="1143000"/>
                      <a:pt x="76200" y="1143000"/>
                    </a:cubicBezTo>
                    <a:close/>
                  </a:path>
                </a:pathLst>
              </a:custGeom>
              <a:grpFill/>
              <a:ln w="152400" cap="flat">
                <a:noFill/>
                <a:prstDash val="solid"/>
                <a:miter/>
              </a:ln>
            </p:spPr>
            <p:txBody>
              <a:bodyPr rtlCol="0" anchor="ctr"/>
              <a:lstStyle/>
              <a:p>
                <a:endParaRPr lang="en-GB"/>
              </a:p>
            </p:txBody>
          </p:sp>
          <p:sp>
            <p:nvSpPr>
              <p:cNvPr id="81" name="Freeform: Shape 80">
                <a:extLst>
                  <a:ext uri="{FF2B5EF4-FFF2-40B4-BE49-F238E27FC236}">
                    <a16:creationId xmlns:a16="http://schemas.microsoft.com/office/drawing/2014/main" id="{6F617C36-16E0-036E-02AF-9FCD131E96AF}"/>
                  </a:ext>
                </a:extLst>
              </p:cNvPr>
              <p:cNvSpPr/>
              <p:nvPr/>
            </p:nvSpPr>
            <p:spPr>
              <a:xfrm>
                <a:off x="5791200" y="3886200"/>
                <a:ext cx="762000" cy="152400"/>
              </a:xfrm>
              <a:custGeom>
                <a:avLst/>
                <a:gdLst>
                  <a:gd name="connsiteX0" fmla="*/ 685800 w 762000"/>
                  <a:gd name="connsiteY0" fmla="*/ 152400 h 152400"/>
                  <a:gd name="connsiteX1" fmla="*/ 76200 w 762000"/>
                  <a:gd name="connsiteY1" fmla="*/ 152400 h 152400"/>
                  <a:gd name="connsiteX2" fmla="*/ 0 w 762000"/>
                  <a:gd name="connsiteY2" fmla="*/ 76200 h 152400"/>
                  <a:gd name="connsiteX3" fmla="*/ 76200 w 762000"/>
                  <a:gd name="connsiteY3" fmla="*/ 0 h 152400"/>
                  <a:gd name="connsiteX4" fmla="*/ 685800 w 762000"/>
                  <a:gd name="connsiteY4" fmla="*/ 0 h 152400"/>
                  <a:gd name="connsiteX5" fmla="*/ 762000 w 762000"/>
                  <a:gd name="connsiteY5" fmla="*/ 76200 h 152400"/>
                  <a:gd name="connsiteX6" fmla="*/ 685800 w 762000"/>
                  <a:gd name="connsiteY6" fmla="*/ 1524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000" h="152400">
                    <a:moveTo>
                      <a:pt x="685800" y="152400"/>
                    </a:moveTo>
                    <a:lnTo>
                      <a:pt x="76200" y="152400"/>
                    </a:lnTo>
                    <a:cubicBezTo>
                      <a:pt x="34138" y="152400"/>
                      <a:pt x="0" y="118262"/>
                      <a:pt x="0" y="76200"/>
                    </a:cubicBezTo>
                    <a:cubicBezTo>
                      <a:pt x="0" y="34138"/>
                      <a:pt x="34138" y="0"/>
                      <a:pt x="76200" y="0"/>
                    </a:cubicBezTo>
                    <a:lnTo>
                      <a:pt x="685800" y="0"/>
                    </a:lnTo>
                    <a:cubicBezTo>
                      <a:pt x="727862" y="0"/>
                      <a:pt x="762000" y="34138"/>
                      <a:pt x="762000" y="76200"/>
                    </a:cubicBezTo>
                    <a:cubicBezTo>
                      <a:pt x="762000" y="118262"/>
                      <a:pt x="727862" y="152400"/>
                      <a:pt x="685800" y="152400"/>
                    </a:cubicBezTo>
                    <a:close/>
                  </a:path>
                </a:pathLst>
              </a:custGeom>
              <a:grpFill/>
              <a:ln w="152400" cap="flat">
                <a:noFill/>
                <a:prstDash val="solid"/>
                <a:miter/>
              </a:ln>
            </p:spPr>
            <p:txBody>
              <a:bodyPr rtlCol="0" anchor="ctr"/>
              <a:lstStyle/>
              <a:p>
                <a:endParaRPr lang="en-GB"/>
              </a:p>
            </p:txBody>
          </p:sp>
        </p:grpSp>
      </p:grpSp>
      <p:sp>
        <p:nvSpPr>
          <p:cNvPr id="100" name="Graphic 171">
            <a:extLst>
              <a:ext uri="{FF2B5EF4-FFF2-40B4-BE49-F238E27FC236}">
                <a16:creationId xmlns:a16="http://schemas.microsoft.com/office/drawing/2014/main" id="{160020B8-DF9C-CB20-A7B8-7CBA19485B7A}"/>
              </a:ext>
            </a:extLst>
          </p:cNvPr>
          <p:cNvSpPr/>
          <p:nvPr/>
        </p:nvSpPr>
        <p:spPr>
          <a:xfrm>
            <a:off x="5735857" y="1904052"/>
            <a:ext cx="720284" cy="716127"/>
          </a:xfrm>
          <a:custGeom>
            <a:avLst/>
            <a:gdLst>
              <a:gd name="connsiteX0" fmla="*/ 61113 w 629657"/>
              <a:gd name="connsiteY0" fmla="*/ 220311 h 631995"/>
              <a:gd name="connsiteX1" fmla="*/ 288040 w 629657"/>
              <a:gd name="connsiteY1" fmla="*/ 46192 h 631995"/>
              <a:gd name="connsiteX2" fmla="*/ 251515 w 629657"/>
              <a:gd name="connsiteY2" fmla="*/ 17562 h 631995"/>
              <a:gd name="connsiteX3" fmla="*/ 249842 w 629657"/>
              <a:gd name="connsiteY3" fmla="*/ 3763 h 631995"/>
              <a:gd name="connsiteX4" fmla="*/ 263641 w 629657"/>
              <a:gd name="connsiteY4" fmla="*/ 2090 h 631995"/>
              <a:gd name="connsiteX5" fmla="*/ 320877 w 629657"/>
              <a:gd name="connsiteY5" fmla="*/ 46955 h 631995"/>
              <a:gd name="connsiteX6" fmla="*/ 322549 w 629657"/>
              <a:gd name="connsiteY6" fmla="*/ 60753 h 631995"/>
              <a:gd name="connsiteX7" fmla="*/ 277685 w 629657"/>
              <a:gd name="connsiteY7" fmla="*/ 117989 h 631995"/>
              <a:gd name="connsiteX8" fmla="*/ 269937 w 629657"/>
              <a:gd name="connsiteY8" fmla="*/ 121753 h 631995"/>
              <a:gd name="connsiteX9" fmla="*/ 263874 w 629657"/>
              <a:gd name="connsiteY9" fmla="*/ 119662 h 631995"/>
              <a:gd name="connsiteX10" fmla="*/ 262202 w 629657"/>
              <a:gd name="connsiteY10" fmla="*/ 105863 h 631995"/>
              <a:gd name="connsiteX11" fmla="*/ 293919 w 629657"/>
              <a:gd name="connsiteY11" fmla="*/ 65390 h 631995"/>
              <a:gd name="connsiteX12" fmla="*/ 79474 w 629657"/>
              <a:gd name="connsiteY12" fmla="*/ 227235 h 631995"/>
              <a:gd name="connsiteX13" fmla="*/ 70275 w 629657"/>
              <a:gd name="connsiteY13" fmla="*/ 233593 h 631995"/>
              <a:gd name="connsiteX14" fmla="*/ 66807 w 629657"/>
              <a:gd name="connsiteY14" fmla="*/ 232953 h 631995"/>
              <a:gd name="connsiteX15" fmla="*/ 61113 w 629657"/>
              <a:gd name="connsiteY15" fmla="*/ 220311 h 631995"/>
              <a:gd name="connsiteX16" fmla="*/ 226057 w 629657"/>
              <a:gd name="connsiteY16" fmla="*/ 551343 h 631995"/>
              <a:gd name="connsiteX17" fmla="*/ 64175 w 629657"/>
              <a:gd name="connsiteY17" fmla="*/ 336308 h 631995"/>
              <a:gd name="connsiteX18" fmla="*/ 105756 w 629657"/>
              <a:gd name="connsiteY18" fmla="*/ 367558 h 631995"/>
              <a:gd name="connsiteX19" fmla="*/ 119517 w 629657"/>
              <a:gd name="connsiteY19" fmla="*/ 365602 h 631995"/>
              <a:gd name="connsiteX20" fmla="*/ 117562 w 629657"/>
              <a:gd name="connsiteY20" fmla="*/ 351841 h 631995"/>
              <a:gd name="connsiteX21" fmla="*/ 59453 w 629657"/>
              <a:gd name="connsiteY21" fmla="*/ 308157 h 631995"/>
              <a:gd name="connsiteX22" fmla="*/ 45691 w 629657"/>
              <a:gd name="connsiteY22" fmla="*/ 310113 h 631995"/>
              <a:gd name="connsiteX23" fmla="*/ 1971 w 629657"/>
              <a:gd name="connsiteY23" fmla="*/ 368259 h 631995"/>
              <a:gd name="connsiteX24" fmla="*/ 3926 w 629657"/>
              <a:gd name="connsiteY24" fmla="*/ 382021 h 631995"/>
              <a:gd name="connsiteX25" fmla="*/ 9829 w 629657"/>
              <a:gd name="connsiteY25" fmla="*/ 383988 h 631995"/>
              <a:gd name="connsiteX26" fmla="*/ 17700 w 629657"/>
              <a:gd name="connsiteY26" fmla="*/ 380065 h 631995"/>
              <a:gd name="connsiteX27" fmla="*/ 45101 w 629657"/>
              <a:gd name="connsiteY27" fmla="*/ 343613 h 631995"/>
              <a:gd name="connsiteX28" fmla="*/ 95265 w 629657"/>
              <a:gd name="connsiteY28" fmla="*/ 475082 h 631995"/>
              <a:gd name="connsiteX29" fmla="*/ 219121 w 629657"/>
              <a:gd name="connsiteY29" fmla="*/ 569729 h 631995"/>
              <a:gd name="connsiteX30" fmla="*/ 222589 w 629657"/>
              <a:gd name="connsiteY30" fmla="*/ 570369 h 631995"/>
              <a:gd name="connsiteX31" fmla="*/ 231788 w 629657"/>
              <a:gd name="connsiteY31" fmla="*/ 564010 h 631995"/>
              <a:gd name="connsiteX32" fmla="*/ 226057 w 629657"/>
              <a:gd name="connsiteY32" fmla="*/ 551343 h 631995"/>
              <a:gd name="connsiteX33" fmla="*/ 562845 w 629657"/>
              <a:gd name="connsiteY33" fmla="*/ 399066 h 631995"/>
              <a:gd name="connsiteX34" fmla="*/ 550178 w 629657"/>
              <a:gd name="connsiteY34" fmla="*/ 404797 h 631995"/>
              <a:gd name="connsiteX35" fmla="*/ 335684 w 629657"/>
              <a:gd name="connsiteY35" fmla="*/ 566630 h 631995"/>
              <a:gd name="connsiteX36" fmla="*/ 367426 w 629657"/>
              <a:gd name="connsiteY36" fmla="*/ 526132 h 631995"/>
              <a:gd name="connsiteX37" fmla="*/ 365753 w 629657"/>
              <a:gd name="connsiteY37" fmla="*/ 512333 h 631995"/>
              <a:gd name="connsiteX38" fmla="*/ 351955 w 629657"/>
              <a:gd name="connsiteY38" fmla="*/ 514006 h 631995"/>
              <a:gd name="connsiteX39" fmla="*/ 307090 w 629657"/>
              <a:gd name="connsiteY39" fmla="*/ 571242 h 631995"/>
              <a:gd name="connsiteX40" fmla="*/ 308763 w 629657"/>
              <a:gd name="connsiteY40" fmla="*/ 585040 h 631995"/>
              <a:gd name="connsiteX41" fmla="*/ 365999 w 629657"/>
              <a:gd name="connsiteY41" fmla="*/ 629904 h 631995"/>
              <a:gd name="connsiteX42" fmla="*/ 372062 w 629657"/>
              <a:gd name="connsiteY42" fmla="*/ 631995 h 631995"/>
              <a:gd name="connsiteX43" fmla="*/ 379810 w 629657"/>
              <a:gd name="connsiteY43" fmla="*/ 628232 h 631995"/>
              <a:gd name="connsiteX44" fmla="*/ 378138 w 629657"/>
              <a:gd name="connsiteY44" fmla="*/ 614433 h 631995"/>
              <a:gd name="connsiteX45" fmla="*/ 341636 w 629657"/>
              <a:gd name="connsiteY45" fmla="*/ 585827 h 631995"/>
              <a:gd name="connsiteX46" fmla="*/ 568576 w 629657"/>
              <a:gd name="connsiteY46" fmla="*/ 411733 h 631995"/>
              <a:gd name="connsiteX47" fmla="*/ 562845 w 629657"/>
              <a:gd name="connsiteY47" fmla="*/ 399066 h 631995"/>
              <a:gd name="connsiteX48" fmla="*/ 335389 w 629657"/>
              <a:gd name="connsiteY48" fmla="*/ 492803 h 631995"/>
              <a:gd name="connsiteX49" fmla="*/ 294251 w 629657"/>
              <a:gd name="connsiteY49" fmla="*/ 492803 h 631995"/>
              <a:gd name="connsiteX50" fmla="*/ 284904 w 629657"/>
              <a:gd name="connsiteY50" fmla="*/ 486002 h 631995"/>
              <a:gd name="connsiteX51" fmla="*/ 276271 w 629657"/>
              <a:gd name="connsiteY51" fmla="*/ 459438 h 631995"/>
              <a:gd name="connsiteX52" fmla="*/ 240680 w 629657"/>
              <a:gd name="connsiteY52" fmla="*/ 444705 h 631995"/>
              <a:gd name="connsiteX53" fmla="*/ 215788 w 629657"/>
              <a:gd name="connsiteY53" fmla="*/ 457397 h 631995"/>
              <a:gd name="connsiteX54" fmla="*/ 204375 w 629657"/>
              <a:gd name="connsiteY54" fmla="*/ 455601 h 631995"/>
              <a:gd name="connsiteX55" fmla="*/ 175253 w 629657"/>
              <a:gd name="connsiteY55" fmla="*/ 426479 h 631995"/>
              <a:gd name="connsiteX56" fmla="*/ 173458 w 629657"/>
              <a:gd name="connsiteY56" fmla="*/ 415066 h 631995"/>
              <a:gd name="connsiteX57" fmla="*/ 186149 w 629657"/>
              <a:gd name="connsiteY57" fmla="*/ 390162 h 631995"/>
              <a:gd name="connsiteX58" fmla="*/ 171404 w 629657"/>
              <a:gd name="connsiteY58" fmla="*/ 354571 h 631995"/>
              <a:gd name="connsiteX59" fmla="*/ 144815 w 629657"/>
              <a:gd name="connsiteY59" fmla="*/ 345950 h 631995"/>
              <a:gd name="connsiteX60" fmla="*/ 138014 w 629657"/>
              <a:gd name="connsiteY60" fmla="*/ 336603 h 631995"/>
              <a:gd name="connsiteX61" fmla="*/ 138014 w 629657"/>
              <a:gd name="connsiteY61" fmla="*/ 295466 h 631995"/>
              <a:gd name="connsiteX62" fmla="*/ 144803 w 629657"/>
              <a:gd name="connsiteY62" fmla="*/ 286119 h 631995"/>
              <a:gd name="connsiteX63" fmla="*/ 171416 w 629657"/>
              <a:gd name="connsiteY63" fmla="*/ 277449 h 631995"/>
              <a:gd name="connsiteX64" fmla="*/ 186149 w 629657"/>
              <a:gd name="connsiteY64" fmla="*/ 241870 h 631995"/>
              <a:gd name="connsiteX65" fmla="*/ 173458 w 629657"/>
              <a:gd name="connsiteY65" fmla="*/ 216953 h 631995"/>
              <a:gd name="connsiteX66" fmla="*/ 175265 w 629657"/>
              <a:gd name="connsiteY66" fmla="*/ 205541 h 631995"/>
              <a:gd name="connsiteX67" fmla="*/ 204388 w 629657"/>
              <a:gd name="connsiteY67" fmla="*/ 176455 h 631995"/>
              <a:gd name="connsiteX68" fmla="*/ 215788 w 629657"/>
              <a:gd name="connsiteY68" fmla="*/ 174647 h 631995"/>
              <a:gd name="connsiteX69" fmla="*/ 240704 w 629657"/>
              <a:gd name="connsiteY69" fmla="*/ 187327 h 631995"/>
              <a:gd name="connsiteX70" fmla="*/ 276296 w 629657"/>
              <a:gd name="connsiteY70" fmla="*/ 172569 h 631995"/>
              <a:gd name="connsiteX71" fmla="*/ 284929 w 629657"/>
              <a:gd name="connsiteY71" fmla="*/ 146005 h 631995"/>
              <a:gd name="connsiteX72" fmla="*/ 294276 w 629657"/>
              <a:gd name="connsiteY72" fmla="*/ 139204 h 631995"/>
              <a:gd name="connsiteX73" fmla="*/ 335413 w 629657"/>
              <a:gd name="connsiteY73" fmla="*/ 139204 h 631995"/>
              <a:gd name="connsiteX74" fmla="*/ 344760 w 629657"/>
              <a:gd name="connsiteY74" fmla="*/ 145980 h 631995"/>
              <a:gd name="connsiteX75" fmla="*/ 353406 w 629657"/>
              <a:gd name="connsiteY75" fmla="*/ 172569 h 631995"/>
              <a:gd name="connsiteX76" fmla="*/ 388997 w 629657"/>
              <a:gd name="connsiteY76" fmla="*/ 187327 h 631995"/>
              <a:gd name="connsiteX77" fmla="*/ 395552 w 629657"/>
              <a:gd name="connsiteY77" fmla="*/ 183969 h 631995"/>
              <a:gd name="connsiteX78" fmla="*/ 413925 w 629657"/>
              <a:gd name="connsiteY78" fmla="*/ 174647 h 631995"/>
              <a:gd name="connsiteX79" fmla="*/ 425326 w 629657"/>
              <a:gd name="connsiteY79" fmla="*/ 176468 h 631995"/>
              <a:gd name="connsiteX80" fmla="*/ 454399 w 629657"/>
              <a:gd name="connsiteY80" fmla="*/ 205541 h 631995"/>
              <a:gd name="connsiteX81" fmla="*/ 456207 w 629657"/>
              <a:gd name="connsiteY81" fmla="*/ 216953 h 631995"/>
              <a:gd name="connsiteX82" fmla="*/ 443515 w 629657"/>
              <a:gd name="connsiteY82" fmla="*/ 241857 h 631995"/>
              <a:gd name="connsiteX83" fmla="*/ 458285 w 629657"/>
              <a:gd name="connsiteY83" fmla="*/ 277461 h 631995"/>
              <a:gd name="connsiteX84" fmla="*/ 484874 w 629657"/>
              <a:gd name="connsiteY84" fmla="*/ 286107 h 631995"/>
              <a:gd name="connsiteX85" fmla="*/ 491663 w 629657"/>
              <a:gd name="connsiteY85" fmla="*/ 295453 h 631995"/>
              <a:gd name="connsiteX86" fmla="*/ 491663 w 629657"/>
              <a:gd name="connsiteY86" fmla="*/ 336591 h 631995"/>
              <a:gd name="connsiteX87" fmla="*/ 484862 w 629657"/>
              <a:gd name="connsiteY87" fmla="*/ 345938 h 631995"/>
              <a:gd name="connsiteX88" fmla="*/ 458273 w 629657"/>
              <a:gd name="connsiteY88" fmla="*/ 354571 h 631995"/>
              <a:gd name="connsiteX89" fmla="*/ 443527 w 629657"/>
              <a:gd name="connsiteY89" fmla="*/ 390150 h 631995"/>
              <a:gd name="connsiteX90" fmla="*/ 456219 w 629657"/>
              <a:gd name="connsiteY90" fmla="*/ 415054 h 631995"/>
              <a:gd name="connsiteX91" fmla="*/ 454424 w 629657"/>
              <a:gd name="connsiteY91" fmla="*/ 426467 h 631995"/>
              <a:gd name="connsiteX92" fmla="*/ 425338 w 629657"/>
              <a:gd name="connsiteY92" fmla="*/ 455589 h 631995"/>
              <a:gd name="connsiteX93" fmla="*/ 413925 w 629657"/>
              <a:gd name="connsiteY93" fmla="*/ 457397 h 631995"/>
              <a:gd name="connsiteX94" fmla="*/ 389009 w 629657"/>
              <a:gd name="connsiteY94" fmla="*/ 444705 h 631995"/>
              <a:gd name="connsiteX95" fmla="*/ 353406 w 629657"/>
              <a:gd name="connsiteY95" fmla="*/ 459438 h 631995"/>
              <a:gd name="connsiteX96" fmla="*/ 351143 w 629657"/>
              <a:gd name="connsiteY96" fmla="*/ 466436 h 631995"/>
              <a:gd name="connsiteX97" fmla="*/ 344748 w 629657"/>
              <a:gd name="connsiteY97" fmla="*/ 486027 h 631995"/>
              <a:gd name="connsiteX98" fmla="*/ 335389 w 629657"/>
              <a:gd name="connsiteY98" fmla="*/ 492803 h 631995"/>
              <a:gd name="connsiteX99" fmla="*/ 328256 w 629657"/>
              <a:gd name="connsiteY99" fmla="*/ 473138 h 631995"/>
              <a:gd name="connsiteX100" fmla="*/ 336348 w 629657"/>
              <a:gd name="connsiteY100" fmla="*/ 448185 h 631995"/>
              <a:gd name="connsiteX101" fmla="*/ 343518 w 629657"/>
              <a:gd name="connsiteY101" fmla="*/ 441618 h 631995"/>
              <a:gd name="connsiteX102" fmla="*/ 383364 w 629657"/>
              <a:gd name="connsiteY102" fmla="*/ 425126 h 631995"/>
              <a:gd name="connsiteX103" fmla="*/ 393055 w 629657"/>
              <a:gd name="connsiteY103" fmla="*/ 424696 h 631995"/>
              <a:gd name="connsiteX104" fmla="*/ 416459 w 629657"/>
              <a:gd name="connsiteY104" fmla="*/ 436625 h 631995"/>
              <a:gd name="connsiteX105" fmla="*/ 435435 w 629657"/>
              <a:gd name="connsiteY105" fmla="*/ 417624 h 631995"/>
              <a:gd name="connsiteX106" fmla="*/ 423506 w 629657"/>
              <a:gd name="connsiteY106" fmla="*/ 394196 h 631995"/>
              <a:gd name="connsiteX107" fmla="*/ 423949 w 629657"/>
              <a:gd name="connsiteY107" fmla="*/ 384517 h 631995"/>
              <a:gd name="connsiteX108" fmla="*/ 440428 w 629657"/>
              <a:gd name="connsiteY108" fmla="*/ 344732 h 631995"/>
              <a:gd name="connsiteX109" fmla="*/ 446983 w 629657"/>
              <a:gd name="connsiteY109" fmla="*/ 337550 h 631995"/>
              <a:gd name="connsiteX110" fmla="*/ 471986 w 629657"/>
              <a:gd name="connsiteY110" fmla="*/ 329433 h 631995"/>
              <a:gd name="connsiteX111" fmla="*/ 471986 w 629657"/>
              <a:gd name="connsiteY111" fmla="*/ 302574 h 631995"/>
              <a:gd name="connsiteX112" fmla="*/ 447032 w 629657"/>
              <a:gd name="connsiteY112" fmla="*/ 294482 h 631995"/>
              <a:gd name="connsiteX113" fmla="*/ 440465 w 629657"/>
              <a:gd name="connsiteY113" fmla="*/ 287312 h 631995"/>
              <a:gd name="connsiteX114" fmla="*/ 423949 w 629657"/>
              <a:gd name="connsiteY114" fmla="*/ 247490 h 631995"/>
              <a:gd name="connsiteX115" fmla="*/ 423506 w 629657"/>
              <a:gd name="connsiteY115" fmla="*/ 237787 h 631995"/>
              <a:gd name="connsiteX116" fmla="*/ 435435 w 629657"/>
              <a:gd name="connsiteY116" fmla="*/ 214371 h 631995"/>
              <a:gd name="connsiteX117" fmla="*/ 416459 w 629657"/>
              <a:gd name="connsiteY117" fmla="*/ 195395 h 631995"/>
              <a:gd name="connsiteX118" fmla="*/ 393080 w 629657"/>
              <a:gd name="connsiteY118" fmla="*/ 207312 h 631995"/>
              <a:gd name="connsiteX119" fmla="*/ 383352 w 629657"/>
              <a:gd name="connsiteY119" fmla="*/ 206881 h 631995"/>
              <a:gd name="connsiteX120" fmla="*/ 343530 w 629657"/>
              <a:gd name="connsiteY120" fmla="*/ 190365 h 631995"/>
              <a:gd name="connsiteX121" fmla="*/ 336360 w 629657"/>
              <a:gd name="connsiteY121" fmla="*/ 183797 h 631995"/>
              <a:gd name="connsiteX122" fmla="*/ 328268 w 629657"/>
              <a:gd name="connsiteY122" fmla="*/ 158844 h 631995"/>
              <a:gd name="connsiteX123" fmla="*/ 301409 w 629657"/>
              <a:gd name="connsiteY123" fmla="*/ 158844 h 631995"/>
              <a:gd name="connsiteX124" fmla="*/ 293292 w 629657"/>
              <a:gd name="connsiteY124" fmla="*/ 183822 h 631995"/>
              <a:gd name="connsiteX125" fmla="*/ 286134 w 629657"/>
              <a:gd name="connsiteY125" fmla="*/ 190365 h 631995"/>
              <a:gd name="connsiteX126" fmla="*/ 246349 w 629657"/>
              <a:gd name="connsiteY126" fmla="*/ 206869 h 631995"/>
              <a:gd name="connsiteX127" fmla="*/ 236621 w 629657"/>
              <a:gd name="connsiteY127" fmla="*/ 207312 h 631995"/>
              <a:gd name="connsiteX128" fmla="*/ 213218 w 629657"/>
              <a:gd name="connsiteY128" fmla="*/ 195382 h 631995"/>
              <a:gd name="connsiteX129" fmla="*/ 194217 w 629657"/>
              <a:gd name="connsiteY129" fmla="*/ 214358 h 631995"/>
              <a:gd name="connsiteX130" fmla="*/ 206146 w 629657"/>
              <a:gd name="connsiteY130" fmla="*/ 237774 h 631995"/>
              <a:gd name="connsiteX131" fmla="*/ 205716 w 629657"/>
              <a:gd name="connsiteY131" fmla="*/ 247465 h 631995"/>
              <a:gd name="connsiteX132" fmla="*/ 189224 w 629657"/>
              <a:gd name="connsiteY132" fmla="*/ 287275 h 631995"/>
              <a:gd name="connsiteX133" fmla="*/ 182681 w 629657"/>
              <a:gd name="connsiteY133" fmla="*/ 294432 h 631995"/>
              <a:gd name="connsiteX134" fmla="*/ 157679 w 629657"/>
              <a:gd name="connsiteY134" fmla="*/ 302574 h 631995"/>
              <a:gd name="connsiteX135" fmla="*/ 157679 w 629657"/>
              <a:gd name="connsiteY135" fmla="*/ 329421 h 631995"/>
              <a:gd name="connsiteX136" fmla="*/ 182681 w 629657"/>
              <a:gd name="connsiteY136" fmla="*/ 337538 h 631995"/>
              <a:gd name="connsiteX137" fmla="*/ 189224 w 629657"/>
              <a:gd name="connsiteY137" fmla="*/ 344720 h 631995"/>
              <a:gd name="connsiteX138" fmla="*/ 205704 w 629657"/>
              <a:gd name="connsiteY138" fmla="*/ 384505 h 631995"/>
              <a:gd name="connsiteX139" fmla="*/ 206146 w 629657"/>
              <a:gd name="connsiteY139" fmla="*/ 394184 h 631995"/>
              <a:gd name="connsiteX140" fmla="*/ 194217 w 629657"/>
              <a:gd name="connsiteY140" fmla="*/ 417612 h 631995"/>
              <a:gd name="connsiteX141" fmla="*/ 213218 w 629657"/>
              <a:gd name="connsiteY141" fmla="*/ 436613 h 631995"/>
              <a:gd name="connsiteX142" fmla="*/ 236646 w 629657"/>
              <a:gd name="connsiteY142" fmla="*/ 424683 h 631995"/>
              <a:gd name="connsiteX143" fmla="*/ 246325 w 629657"/>
              <a:gd name="connsiteY143" fmla="*/ 425126 h 631995"/>
              <a:gd name="connsiteX144" fmla="*/ 286122 w 629657"/>
              <a:gd name="connsiteY144" fmla="*/ 441606 h 631995"/>
              <a:gd name="connsiteX145" fmla="*/ 293280 w 629657"/>
              <a:gd name="connsiteY145" fmla="*/ 448148 h 631995"/>
              <a:gd name="connsiteX146" fmla="*/ 301396 w 629657"/>
              <a:gd name="connsiteY146" fmla="*/ 473126 h 631995"/>
              <a:gd name="connsiteX147" fmla="*/ 328256 w 629657"/>
              <a:gd name="connsiteY147" fmla="*/ 473126 h 631995"/>
              <a:gd name="connsiteX148" fmla="*/ 314826 w 629657"/>
              <a:gd name="connsiteY148" fmla="*/ 401600 h 631995"/>
              <a:gd name="connsiteX149" fmla="*/ 229206 w 629657"/>
              <a:gd name="connsiteY149" fmla="*/ 316016 h 631995"/>
              <a:gd name="connsiteX150" fmla="*/ 314826 w 629657"/>
              <a:gd name="connsiteY150" fmla="*/ 230395 h 631995"/>
              <a:gd name="connsiteX151" fmla="*/ 400447 w 629657"/>
              <a:gd name="connsiteY151" fmla="*/ 316016 h 631995"/>
              <a:gd name="connsiteX152" fmla="*/ 314826 w 629657"/>
              <a:gd name="connsiteY152" fmla="*/ 401600 h 631995"/>
              <a:gd name="connsiteX153" fmla="*/ 380782 w 629657"/>
              <a:gd name="connsiteY153" fmla="*/ 316016 h 631995"/>
              <a:gd name="connsiteX154" fmla="*/ 314826 w 629657"/>
              <a:gd name="connsiteY154" fmla="*/ 250060 h 631995"/>
              <a:gd name="connsiteX155" fmla="*/ 248870 w 629657"/>
              <a:gd name="connsiteY155" fmla="*/ 316016 h 631995"/>
              <a:gd name="connsiteX156" fmla="*/ 314826 w 629657"/>
              <a:gd name="connsiteY156" fmla="*/ 381935 h 631995"/>
              <a:gd name="connsiteX157" fmla="*/ 380782 w 629657"/>
              <a:gd name="connsiteY157" fmla="*/ 316016 h 631995"/>
              <a:gd name="connsiteX158" fmla="*/ 625726 w 629657"/>
              <a:gd name="connsiteY158" fmla="*/ 250011 h 631995"/>
              <a:gd name="connsiteX159" fmla="*/ 611964 w 629657"/>
              <a:gd name="connsiteY159" fmla="*/ 251967 h 631995"/>
              <a:gd name="connsiteX160" fmla="*/ 584564 w 629657"/>
              <a:gd name="connsiteY160" fmla="*/ 288443 h 631995"/>
              <a:gd name="connsiteX161" fmla="*/ 410531 w 629657"/>
              <a:gd name="connsiteY161" fmla="*/ 62278 h 631995"/>
              <a:gd name="connsiteX162" fmla="*/ 397864 w 629657"/>
              <a:gd name="connsiteY162" fmla="*/ 68009 h 631995"/>
              <a:gd name="connsiteX163" fmla="*/ 403595 w 629657"/>
              <a:gd name="connsiteY163" fmla="*/ 80676 h 631995"/>
              <a:gd name="connsiteX164" fmla="*/ 565477 w 629657"/>
              <a:gd name="connsiteY164" fmla="*/ 295711 h 631995"/>
              <a:gd name="connsiteX165" fmla="*/ 523897 w 629657"/>
              <a:gd name="connsiteY165" fmla="*/ 264449 h 631995"/>
              <a:gd name="connsiteX166" fmla="*/ 510135 w 629657"/>
              <a:gd name="connsiteY166" fmla="*/ 266405 h 631995"/>
              <a:gd name="connsiteX167" fmla="*/ 512090 w 629657"/>
              <a:gd name="connsiteY167" fmla="*/ 280166 h 631995"/>
              <a:gd name="connsiteX168" fmla="*/ 570236 w 629657"/>
              <a:gd name="connsiteY168" fmla="*/ 323887 h 631995"/>
              <a:gd name="connsiteX169" fmla="*/ 576140 w 629657"/>
              <a:gd name="connsiteY169" fmla="*/ 325855 h 631995"/>
              <a:gd name="connsiteX170" fmla="*/ 577517 w 629657"/>
              <a:gd name="connsiteY170" fmla="*/ 325756 h 631995"/>
              <a:gd name="connsiteX171" fmla="*/ 583998 w 629657"/>
              <a:gd name="connsiteY171" fmla="*/ 321931 h 631995"/>
              <a:gd name="connsiteX172" fmla="*/ 627682 w 629657"/>
              <a:gd name="connsiteY172" fmla="*/ 263785 h 631995"/>
              <a:gd name="connsiteX173" fmla="*/ 625726 w 629657"/>
              <a:gd name="connsiteY173" fmla="*/ 250011 h 63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629657" h="631995">
                <a:moveTo>
                  <a:pt x="61113" y="220311"/>
                </a:moveTo>
                <a:cubicBezTo>
                  <a:pt x="97639" y="123511"/>
                  <a:pt x="185879" y="56252"/>
                  <a:pt x="288040" y="46192"/>
                </a:cubicBezTo>
                <a:lnTo>
                  <a:pt x="251515" y="17562"/>
                </a:lnTo>
                <a:cubicBezTo>
                  <a:pt x="247247" y="14217"/>
                  <a:pt x="246497" y="8031"/>
                  <a:pt x="249842" y="3763"/>
                </a:cubicBezTo>
                <a:cubicBezTo>
                  <a:pt x="253187" y="-504"/>
                  <a:pt x="259373" y="-1255"/>
                  <a:pt x="263641" y="2090"/>
                </a:cubicBezTo>
                <a:lnTo>
                  <a:pt x="320877" y="46955"/>
                </a:lnTo>
                <a:cubicBezTo>
                  <a:pt x="325144" y="50300"/>
                  <a:pt x="325895" y="56486"/>
                  <a:pt x="322549" y="60753"/>
                </a:cubicBezTo>
                <a:lnTo>
                  <a:pt x="277685" y="117989"/>
                </a:lnTo>
                <a:cubicBezTo>
                  <a:pt x="275742" y="120461"/>
                  <a:pt x="272864" y="121753"/>
                  <a:pt x="269937" y="121753"/>
                </a:cubicBezTo>
                <a:cubicBezTo>
                  <a:pt x="267822" y="121753"/>
                  <a:pt x="265682" y="121064"/>
                  <a:pt x="263874" y="119662"/>
                </a:cubicBezTo>
                <a:cubicBezTo>
                  <a:pt x="259607" y="116317"/>
                  <a:pt x="258857" y="110131"/>
                  <a:pt x="262202" y="105863"/>
                </a:cubicBezTo>
                <a:lnTo>
                  <a:pt x="293919" y="65390"/>
                </a:lnTo>
                <a:cubicBezTo>
                  <a:pt x="197488" y="73334"/>
                  <a:pt x="113823" y="136203"/>
                  <a:pt x="79474" y="227235"/>
                </a:cubicBezTo>
                <a:cubicBezTo>
                  <a:pt x="77986" y="231170"/>
                  <a:pt x="74247" y="233593"/>
                  <a:pt x="70275" y="233593"/>
                </a:cubicBezTo>
                <a:cubicBezTo>
                  <a:pt x="69119" y="233593"/>
                  <a:pt x="67951" y="233384"/>
                  <a:pt x="66807" y="232953"/>
                </a:cubicBezTo>
                <a:cubicBezTo>
                  <a:pt x="61765" y="231059"/>
                  <a:pt x="59194" y="225390"/>
                  <a:pt x="61113" y="220311"/>
                </a:cubicBezTo>
                <a:close/>
                <a:moveTo>
                  <a:pt x="226057" y="551343"/>
                </a:moveTo>
                <a:cubicBezTo>
                  <a:pt x="134337" y="516748"/>
                  <a:pt x="71898" y="433194"/>
                  <a:pt x="64175" y="336308"/>
                </a:cubicBezTo>
                <a:lnTo>
                  <a:pt x="105756" y="367558"/>
                </a:lnTo>
                <a:cubicBezTo>
                  <a:pt x="110097" y="370817"/>
                  <a:pt x="116258" y="369944"/>
                  <a:pt x="119517" y="365602"/>
                </a:cubicBezTo>
                <a:cubicBezTo>
                  <a:pt x="122776" y="361261"/>
                  <a:pt x="121903" y="355100"/>
                  <a:pt x="117562" y="351841"/>
                </a:cubicBezTo>
                <a:lnTo>
                  <a:pt x="59453" y="308157"/>
                </a:lnTo>
                <a:cubicBezTo>
                  <a:pt x="55111" y="304898"/>
                  <a:pt x="48950" y="305771"/>
                  <a:pt x="45691" y="310113"/>
                </a:cubicBezTo>
                <a:lnTo>
                  <a:pt x="1971" y="368259"/>
                </a:lnTo>
                <a:cubicBezTo>
                  <a:pt x="-1288" y="372600"/>
                  <a:pt x="-415" y="378762"/>
                  <a:pt x="3926" y="382021"/>
                </a:cubicBezTo>
                <a:cubicBezTo>
                  <a:pt x="5697" y="383349"/>
                  <a:pt x="7775" y="383988"/>
                  <a:pt x="9829" y="383988"/>
                </a:cubicBezTo>
                <a:cubicBezTo>
                  <a:pt x="12818" y="383988"/>
                  <a:pt x="15757" y="382636"/>
                  <a:pt x="17700" y="380065"/>
                </a:cubicBezTo>
                <a:lnTo>
                  <a:pt x="45101" y="343613"/>
                </a:lnTo>
                <a:cubicBezTo>
                  <a:pt x="49909" y="391109"/>
                  <a:pt x="67065" y="436231"/>
                  <a:pt x="95265" y="475082"/>
                </a:cubicBezTo>
                <a:cubicBezTo>
                  <a:pt x="126601" y="518249"/>
                  <a:pt x="169424" y="550974"/>
                  <a:pt x="219121" y="569729"/>
                </a:cubicBezTo>
                <a:cubicBezTo>
                  <a:pt x="220265" y="570159"/>
                  <a:pt x="221433" y="570369"/>
                  <a:pt x="222589" y="570369"/>
                </a:cubicBezTo>
                <a:cubicBezTo>
                  <a:pt x="226561" y="570369"/>
                  <a:pt x="230300" y="567946"/>
                  <a:pt x="231788" y="564010"/>
                </a:cubicBezTo>
                <a:cubicBezTo>
                  <a:pt x="233694" y="558931"/>
                  <a:pt x="231136" y="553262"/>
                  <a:pt x="226057" y="551343"/>
                </a:cubicBezTo>
                <a:close/>
                <a:moveTo>
                  <a:pt x="562845" y="399066"/>
                </a:moveTo>
                <a:cubicBezTo>
                  <a:pt x="557766" y="397148"/>
                  <a:pt x="552096" y="399706"/>
                  <a:pt x="550178" y="404797"/>
                </a:cubicBezTo>
                <a:cubicBezTo>
                  <a:pt x="515829" y="495804"/>
                  <a:pt x="432115" y="558698"/>
                  <a:pt x="335684" y="566630"/>
                </a:cubicBezTo>
                <a:lnTo>
                  <a:pt x="367426" y="526132"/>
                </a:lnTo>
                <a:cubicBezTo>
                  <a:pt x="370771" y="521864"/>
                  <a:pt x="370033" y="515678"/>
                  <a:pt x="365753" y="512333"/>
                </a:cubicBezTo>
                <a:cubicBezTo>
                  <a:pt x="361473" y="508988"/>
                  <a:pt x="355300" y="509738"/>
                  <a:pt x="351955" y="514006"/>
                </a:cubicBezTo>
                <a:lnTo>
                  <a:pt x="307090" y="571242"/>
                </a:lnTo>
                <a:cubicBezTo>
                  <a:pt x="303745" y="575509"/>
                  <a:pt x="304483" y="581695"/>
                  <a:pt x="308763" y="585040"/>
                </a:cubicBezTo>
                <a:lnTo>
                  <a:pt x="365999" y="629904"/>
                </a:lnTo>
                <a:cubicBezTo>
                  <a:pt x="367795" y="631319"/>
                  <a:pt x="369935" y="631995"/>
                  <a:pt x="372062" y="631995"/>
                </a:cubicBezTo>
                <a:cubicBezTo>
                  <a:pt x="374977" y="631995"/>
                  <a:pt x="377867" y="630704"/>
                  <a:pt x="379810" y="628232"/>
                </a:cubicBezTo>
                <a:cubicBezTo>
                  <a:pt x="383155" y="623964"/>
                  <a:pt x="382417" y="617778"/>
                  <a:pt x="378138" y="614433"/>
                </a:cubicBezTo>
                <a:lnTo>
                  <a:pt x="341636" y="585827"/>
                </a:lnTo>
                <a:cubicBezTo>
                  <a:pt x="443773" y="575767"/>
                  <a:pt x="532050" y="508484"/>
                  <a:pt x="568576" y="411733"/>
                </a:cubicBezTo>
                <a:cubicBezTo>
                  <a:pt x="570495" y="406654"/>
                  <a:pt x="567924" y="400985"/>
                  <a:pt x="562845" y="399066"/>
                </a:cubicBezTo>
                <a:close/>
                <a:moveTo>
                  <a:pt x="335389" y="492803"/>
                </a:moveTo>
                <a:lnTo>
                  <a:pt x="294251" y="492803"/>
                </a:lnTo>
                <a:cubicBezTo>
                  <a:pt x="289996" y="492803"/>
                  <a:pt x="286220" y="490061"/>
                  <a:pt x="284904" y="486002"/>
                </a:cubicBezTo>
                <a:lnTo>
                  <a:pt x="276271" y="459438"/>
                </a:lnTo>
                <a:cubicBezTo>
                  <a:pt x="263776" y="456081"/>
                  <a:pt x="251847" y="451149"/>
                  <a:pt x="240680" y="444705"/>
                </a:cubicBezTo>
                <a:lnTo>
                  <a:pt x="215788" y="457397"/>
                </a:lnTo>
                <a:cubicBezTo>
                  <a:pt x="212000" y="459328"/>
                  <a:pt x="207388" y="458602"/>
                  <a:pt x="204375" y="455601"/>
                </a:cubicBezTo>
                <a:lnTo>
                  <a:pt x="175253" y="426479"/>
                </a:lnTo>
                <a:cubicBezTo>
                  <a:pt x="172240" y="423466"/>
                  <a:pt x="171527" y="418854"/>
                  <a:pt x="173458" y="415066"/>
                </a:cubicBezTo>
                <a:lnTo>
                  <a:pt x="186149" y="390162"/>
                </a:lnTo>
                <a:cubicBezTo>
                  <a:pt x="179656" y="378909"/>
                  <a:pt x="174712" y="366980"/>
                  <a:pt x="171404" y="354571"/>
                </a:cubicBezTo>
                <a:lnTo>
                  <a:pt x="144815" y="345950"/>
                </a:lnTo>
                <a:cubicBezTo>
                  <a:pt x="140756" y="344634"/>
                  <a:pt x="138014" y="340858"/>
                  <a:pt x="138014" y="336603"/>
                </a:cubicBezTo>
                <a:lnTo>
                  <a:pt x="138014" y="295466"/>
                </a:lnTo>
                <a:cubicBezTo>
                  <a:pt x="138014" y="291210"/>
                  <a:pt x="140756" y="287435"/>
                  <a:pt x="144803" y="286119"/>
                </a:cubicBezTo>
                <a:lnTo>
                  <a:pt x="171416" y="277449"/>
                </a:lnTo>
                <a:cubicBezTo>
                  <a:pt x="174761" y="264990"/>
                  <a:pt x="179705" y="253061"/>
                  <a:pt x="186149" y="241870"/>
                </a:cubicBezTo>
                <a:lnTo>
                  <a:pt x="173458" y="216953"/>
                </a:lnTo>
                <a:cubicBezTo>
                  <a:pt x="171527" y="213153"/>
                  <a:pt x="172252" y="208554"/>
                  <a:pt x="175265" y="205541"/>
                </a:cubicBezTo>
                <a:lnTo>
                  <a:pt x="204388" y="176455"/>
                </a:lnTo>
                <a:cubicBezTo>
                  <a:pt x="207401" y="173454"/>
                  <a:pt x="212000" y="172729"/>
                  <a:pt x="215788" y="174647"/>
                </a:cubicBezTo>
                <a:lnTo>
                  <a:pt x="240704" y="187327"/>
                </a:lnTo>
                <a:cubicBezTo>
                  <a:pt x="251847" y="180870"/>
                  <a:pt x="263776" y="175926"/>
                  <a:pt x="276296" y="172569"/>
                </a:cubicBezTo>
                <a:lnTo>
                  <a:pt x="284929" y="146005"/>
                </a:lnTo>
                <a:cubicBezTo>
                  <a:pt x="286245" y="141946"/>
                  <a:pt x="290020" y="139204"/>
                  <a:pt x="294276" y="139204"/>
                </a:cubicBezTo>
                <a:lnTo>
                  <a:pt x="335413" y="139204"/>
                </a:lnTo>
                <a:cubicBezTo>
                  <a:pt x="339669" y="139204"/>
                  <a:pt x="343444" y="141946"/>
                  <a:pt x="344760" y="145980"/>
                </a:cubicBezTo>
                <a:lnTo>
                  <a:pt x="353406" y="172569"/>
                </a:lnTo>
                <a:cubicBezTo>
                  <a:pt x="365888" y="175914"/>
                  <a:pt x="377818" y="180870"/>
                  <a:pt x="388997" y="187327"/>
                </a:cubicBezTo>
                <a:lnTo>
                  <a:pt x="395552" y="183969"/>
                </a:lnTo>
                <a:lnTo>
                  <a:pt x="413925" y="174647"/>
                </a:lnTo>
                <a:cubicBezTo>
                  <a:pt x="417713" y="172729"/>
                  <a:pt x="422313" y="173454"/>
                  <a:pt x="425326" y="176468"/>
                </a:cubicBezTo>
                <a:lnTo>
                  <a:pt x="454399" y="205541"/>
                </a:lnTo>
                <a:cubicBezTo>
                  <a:pt x="457412" y="208554"/>
                  <a:pt x="458138" y="213166"/>
                  <a:pt x="456207" y="216953"/>
                </a:cubicBezTo>
                <a:lnTo>
                  <a:pt x="443515" y="241857"/>
                </a:lnTo>
                <a:cubicBezTo>
                  <a:pt x="449984" y="253036"/>
                  <a:pt x="454928" y="264978"/>
                  <a:pt x="458285" y="277461"/>
                </a:cubicBezTo>
                <a:lnTo>
                  <a:pt x="484874" y="286107"/>
                </a:lnTo>
                <a:cubicBezTo>
                  <a:pt x="488920" y="287422"/>
                  <a:pt x="491663" y="291198"/>
                  <a:pt x="491663" y="295453"/>
                </a:cubicBezTo>
                <a:lnTo>
                  <a:pt x="491663" y="336591"/>
                </a:lnTo>
                <a:cubicBezTo>
                  <a:pt x="491663" y="340846"/>
                  <a:pt x="488920" y="344622"/>
                  <a:pt x="484862" y="345938"/>
                </a:cubicBezTo>
                <a:lnTo>
                  <a:pt x="458273" y="354571"/>
                </a:lnTo>
                <a:cubicBezTo>
                  <a:pt x="454952" y="366980"/>
                  <a:pt x="450009" y="378909"/>
                  <a:pt x="443527" y="390150"/>
                </a:cubicBezTo>
                <a:lnTo>
                  <a:pt x="456219" y="415054"/>
                </a:lnTo>
                <a:cubicBezTo>
                  <a:pt x="458150" y="418842"/>
                  <a:pt x="457424" y="423454"/>
                  <a:pt x="454424" y="426467"/>
                </a:cubicBezTo>
                <a:lnTo>
                  <a:pt x="425338" y="455589"/>
                </a:lnTo>
                <a:cubicBezTo>
                  <a:pt x="422325" y="458602"/>
                  <a:pt x="417713" y="459328"/>
                  <a:pt x="413925" y="457397"/>
                </a:cubicBezTo>
                <a:lnTo>
                  <a:pt x="389009" y="444705"/>
                </a:lnTo>
                <a:cubicBezTo>
                  <a:pt x="377805" y="451161"/>
                  <a:pt x="365876" y="456093"/>
                  <a:pt x="353406" y="459438"/>
                </a:cubicBezTo>
                <a:lnTo>
                  <a:pt x="351143" y="466436"/>
                </a:lnTo>
                <a:lnTo>
                  <a:pt x="344748" y="486027"/>
                </a:lnTo>
                <a:cubicBezTo>
                  <a:pt x="343420" y="490061"/>
                  <a:pt x="339644" y="492803"/>
                  <a:pt x="335389" y="492803"/>
                </a:cubicBezTo>
                <a:close/>
                <a:moveTo>
                  <a:pt x="328256" y="473138"/>
                </a:moveTo>
                <a:lnTo>
                  <a:pt x="336348" y="448185"/>
                </a:lnTo>
                <a:cubicBezTo>
                  <a:pt x="337418" y="444889"/>
                  <a:pt x="340136" y="442393"/>
                  <a:pt x="343518" y="441618"/>
                </a:cubicBezTo>
                <a:cubicBezTo>
                  <a:pt x="357649" y="438396"/>
                  <a:pt x="371054" y="432849"/>
                  <a:pt x="383364" y="425126"/>
                </a:cubicBezTo>
                <a:cubicBezTo>
                  <a:pt x="386291" y="423294"/>
                  <a:pt x="389968" y="423121"/>
                  <a:pt x="393055" y="424696"/>
                </a:cubicBezTo>
                <a:lnTo>
                  <a:pt x="416459" y="436625"/>
                </a:lnTo>
                <a:lnTo>
                  <a:pt x="435435" y="417624"/>
                </a:lnTo>
                <a:lnTo>
                  <a:pt x="423506" y="394196"/>
                </a:lnTo>
                <a:cubicBezTo>
                  <a:pt x="421944" y="391121"/>
                  <a:pt x="422116" y="387444"/>
                  <a:pt x="423949" y="384517"/>
                </a:cubicBezTo>
                <a:cubicBezTo>
                  <a:pt x="431709" y="372145"/>
                  <a:pt x="437255" y="358752"/>
                  <a:pt x="440428" y="344732"/>
                </a:cubicBezTo>
                <a:cubicBezTo>
                  <a:pt x="441191" y="341350"/>
                  <a:pt x="443687" y="338620"/>
                  <a:pt x="446983" y="337550"/>
                </a:cubicBezTo>
                <a:lnTo>
                  <a:pt x="471986" y="329433"/>
                </a:lnTo>
                <a:lnTo>
                  <a:pt x="471986" y="302574"/>
                </a:lnTo>
                <a:lnTo>
                  <a:pt x="447032" y="294482"/>
                </a:lnTo>
                <a:cubicBezTo>
                  <a:pt x="443736" y="293412"/>
                  <a:pt x="441240" y="290694"/>
                  <a:pt x="440465" y="287312"/>
                </a:cubicBezTo>
                <a:cubicBezTo>
                  <a:pt x="437231" y="273156"/>
                  <a:pt x="431684" y="259751"/>
                  <a:pt x="423949" y="247490"/>
                </a:cubicBezTo>
                <a:cubicBezTo>
                  <a:pt x="422104" y="244563"/>
                  <a:pt x="421932" y="240874"/>
                  <a:pt x="423506" y="237787"/>
                </a:cubicBezTo>
                <a:lnTo>
                  <a:pt x="435435" y="214371"/>
                </a:lnTo>
                <a:lnTo>
                  <a:pt x="416459" y="195395"/>
                </a:lnTo>
                <a:lnTo>
                  <a:pt x="393080" y="207312"/>
                </a:lnTo>
                <a:cubicBezTo>
                  <a:pt x="389993" y="208898"/>
                  <a:pt x="386291" y="208726"/>
                  <a:pt x="383352" y="206881"/>
                </a:cubicBezTo>
                <a:cubicBezTo>
                  <a:pt x="371091" y="199158"/>
                  <a:pt x="357686" y="193599"/>
                  <a:pt x="343530" y="190365"/>
                </a:cubicBezTo>
                <a:cubicBezTo>
                  <a:pt x="340148" y="189590"/>
                  <a:pt x="337430" y="187106"/>
                  <a:pt x="336360" y="183797"/>
                </a:cubicBezTo>
                <a:lnTo>
                  <a:pt x="328268" y="158844"/>
                </a:lnTo>
                <a:lnTo>
                  <a:pt x="301409" y="158844"/>
                </a:lnTo>
                <a:lnTo>
                  <a:pt x="293292" y="183822"/>
                </a:lnTo>
                <a:cubicBezTo>
                  <a:pt x="292222" y="187106"/>
                  <a:pt x="289504" y="189590"/>
                  <a:pt x="286134" y="190365"/>
                </a:cubicBezTo>
                <a:cubicBezTo>
                  <a:pt x="271942" y="193611"/>
                  <a:pt x="258549" y="199158"/>
                  <a:pt x="246349" y="206869"/>
                </a:cubicBezTo>
                <a:cubicBezTo>
                  <a:pt x="243410" y="208726"/>
                  <a:pt x="239721" y="208886"/>
                  <a:pt x="236621" y="207312"/>
                </a:cubicBezTo>
                <a:lnTo>
                  <a:pt x="213218" y="195382"/>
                </a:lnTo>
                <a:lnTo>
                  <a:pt x="194217" y="214358"/>
                </a:lnTo>
                <a:lnTo>
                  <a:pt x="206146" y="237774"/>
                </a:lnTo>
                <a:cubicBezTo>
                  <a:pt x="207721" y="240849"/>
                  <a:pt x="207548" y="244526"/>
                  <a:pt x="205716" y="247465"/>
                </a:cubicBezTo>
                <a:cubicBezTo>
                  <a:pt x="198005" y="259764"/>
                  <a:pt x="192458" y="273156"/>
                  <a:pt x="189224" y="287275"/>
                </a:cubicBezTo>
                <a:cubicBezTo>
                  <a:pt x="188449" y="290645"/>
                  <a:pt x="185965" y="293362"/>
                  <a:pt x="182681" y="294432"/>
                </a:cubicBezTo>
                <a:lnTo>
                  <a:pt x="157679" y="302574"/>
                </a:lnTo>
                <a:lnTo>
                  <a:pt x="157679" y="329421"/>
                </a:lnTo>
                <a:lnTo>
                  <a:pt x="182681" y="337538"/>
                </a:lnTo>
                <a:cubicBezTo>
                  <a:pt x="185977" y="338608"/>
                  <a:pt x="188461" y="341338"/>
                  <a:pt x="189224" y="344720"/>
                </a:cubicBezTo>
                <a:cubicBezTo>
                  <a:pt x="192397" y="358740"/>
                  <a:pt x="197943" y="372133"/>
                  <a:pt x="205704" y="384505"/>
                </a:cubicBezTo>
                <a:cubicBezTo>
                  <a:pt x="207536" y="387432"/>
                  <a:pt x="207708" y="391097"/>
                  <a:pt x="206146" y="394184"/>
                </a:cubicBezTo>
                <a:lnTo>
                  <a:pt x="194217" y="417612"/>
                </a:lnTo>
                <a:lnTo>
                  <a:pt x="213218" y="436613"/>
                </a:lnTo>
                <a:lnTo>
                  <a:pt x="236646" y="424683"/>
                </a:lnTo>
                <a:cubicBezTo>
                  <a:pt x="239721" y="423121"/>
                  <a:pt x="243410" y="423281"/>
                  <a:pt x="246325" y="425126"/>
                </a:cubicBezTo>
                <a:cubicBezTo>
                  <a:pt x="258562" y="432825"/>
                  <a:pt x="271954" y="438371"/>
                  <a:pt x="286122" y="441606"/>
                </a:cubicBezTo>
                <a:cubicBezTo>
                  <a:pt x="289492" y="442381"/>
                  <a:pt x="292210" y="444865"/>
                  <a:pt x="293280" y="448148"/>
                </a:cubicBezTo>
                <a:lnTo>
                  <a:pt x="301396" y="473126"/>
                </a:lnTo>
                <a:lnTo>
                  <a:pt x="328256" y="473126"/>
                </a:lnTo>
                <a:close/>
                <a:moveTo>
                  <a:pt x="314826" y="401600"/>
                </a:moveTo>
                <a:cubicBezTo>
                  <a:pt x="267613" y="401600"/>
                  <a:pt x="229206" y="363204"/>
                  <a:pt x="229206" y="316016"/>
                </a:cubicBezTo>
                <a:cubicBezTo>
                  <a:pt x="229206" y="268803"/>
                  <a:pt x="267613" y="230395"/>
                  <a:pt x="314826" y="230395"/>
                </a:cubicBezTo>
                <a:cubicBezTo>
                  <a:pt x="362039" y="230395"/>
                  <a:pt x="400447" y="268803"/>
                  <a:pt x="400447" y="316016"/>
                </a:cubicBezTo>
                <a:cubicBezTo>
                  <a:pt x="400447" y="363217"/>
                  <a:pt x="362039" y="401600"/>
                  <a:pt x="314826" y="401600"/>
                </a:cubicBezTo>
                <a:close/>
                <a:moveTo>
                  <a:pt x="380782" y="316016"/>
                </a:moveTo>
                <a:cubicBezTo>
                  <a:pt x="380782" y="279650"/>
                  <a:pt x="351192" y="250060"/>
                  <a:pt x="314826" y="250060"/>
                </a:cubicBezTo>
                <a:cubicBezTo>
                  <a:pt x="278460" y="250060"/>
                  <a:pt x="248870" y="279650"/>
                  <a:pt x="248870" y="316016"/>
                </a:cubicBezTo>
                <a:cubicBezTo>
                  <a:pt x="248870" y="352370"/>
                  <a:pt x="278460" y="381935"/>
                  <a:pt x="314826" y="381935"/>
                </a:cubicBezTo>
                <a:cubicBezTo>
                  <a:pt x="351192" y="381935"/>
                  <a:pt x="380782" y="352370"/>
                  <a:pt x="380782" y="316016"/>
                </a:cubicBezTo>
                <a:close/>
                <a:moveTo>
                  <a:pt x="625726" y="250011"/>
                </a:moveTo>
                <a:cubicBezTo>
                  <a:pt x="621385" y="246752"/>
                  <a:pt x="615223" y="247625"/>
                  <a:pt x="611964" y="251967"/>
                </a:cubicBezTo>
                <a:lnTo>
                  <a:pt x="584564" y="288443"/>
                </a:lnTo>
                <a:cubicBezTo>
                  <a:pt x="574258" y="186577"/>
                  <a:pt x="507171" y="98730"/>
                  <a:pt x="410531" y="62278"/>
                </a:cubicBezTo>
                <a:cubicBezTo>
                  <a:pt x="405452" y="60360"/>
                  <a:pt x="399782" y="62930"/>
                  <a:pt x="397864" y="68009"/>
                </a:cubicBezTo>
                <a:cubicBezTo>
                  <a:pt x="395945" y="73088"/>
                  <a:pt x="398516" y="78758"/>
                  <a:pt x="403595" y="80676"/>
                </a:cubicBezTo>
                <a:cubicBezTo>
                  <a:pt x="494885" y="115111"/>
                  <a:pt x="557754" y="198998"/>
                  <a:pt x="565477" y="295711"/>
                </a:cubicBezTo>
                <a:lnTo>
                  <a:pt x="523897" y="264449"/>
                </a:lnTo>
                <a:cubicBezTo>
                  <a:pt x="519555" y="261190"/>
                  <a:pt x="513394" y="262063"/>
                  <a:pt x="510135" y="266405"/>
                </a:cubicBezTo>
                <a:cubicBezTo>
                  <a:pt x="506876" y="270746"/>
                  <a:pt x="507749" y="276907"/>
                  <a:pt x="512090" y="280166"/>
                </a:cubicBezTo>
                <a:lnTo>
                  <a:pt x="570236" y="323887"/>
                </a:lnTo>
                <a:cubicBezTo>
                  <a:pt x="571946" y="325178"/>
                  <a:pt x="574024" y="325855"/>
                  <a:pt x="576140" y="325855"/>
                </a:cubicBezTo>
                <a:cubicBezTo>
                  <a:pt x="576595" y="325855"/>
                  <a:pt x="577062" y="325818"/>
                  <a:pt x="577517" y="325756"/>
                </a:cubicBezTo>
                <a:cubicBezTo>
                  <a:pt x="580100" y="325387"/>
                  <a:pt x="582424" y="324010"/>
                  <a:pt x="583998" y="321931"/>
                </a:cubicBezTo>
                <a:lnTo>
                  <a:pt x="627682" y="263785"/>
                </a:lnTo>
                <a:cubicBezTo>
                  <a:pt x="630953" y="259432"/>
                  <a:pt x="630067" y="253270"/>
                  <a:pt x="625726" y="250011"/>
                </a:cubicBezTo>
                <a:close/>
              </a:path>
            </a:pathLst>
          </a:custGeom>
          <a:gradFill>
            <a:gsLst>
              <a:gs pos="0">
                <a:srgbClr val="BDF2BD"/>
              </a:gs>
              <a:gs pos="55000">
                <a:srgbClr val="C3E9FC"/>
              </a:gs>
            </a:gsLst>
            <a:lin ang="2700000" scaled="1"/>
          </a:gradFill>
          <a:ln w="1228" cap="flat">
            <a:noFill/>
            <a:prstDash val="solid"/>
            <a:miter/>
          </a:ln>
        </p:spPr>
        <p:txBody>
          <a:bodyPr rtlCol="0" anchor="ctr"/>
          <a:lstStyle/>
          <a:p>
            <a:endParaRPr lang="en-GB"/>
          </a:p>
        </p:txBody>
      </p:sp>
    </p:spTree>
    <p:extLst>
      <p:ext uri="{BB962C8B-B14F-4D97-AF65-F5344CB8AC3E}">
        <p14:creationId xmlns:p14="http://schemas.microsoft.com/office/powerpoint/2010/main" val="375516819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250"/>
                                  </p:stCondLst>
                                  <p:childTnLst>
                                    <p:set>
                                      <p:cBhvr>
                                        <p:cTn id="6" dur="1" fill="hold">
                                          <p:stCondLst>
                                            <p:cond delay="0"/>
                                          </p:stCondLst>
                                        </p:cTn>
                                        <p:tgtEl>
                                          <p:spTgt spid="35"/>
                                        </p:tgtEl>
                                        <p:attrNameLst>
                                          <p:attrName>style.visibility</p:attrName>
                                        </p:attrNameLst>
                                      </p:cBhvr>
                                      <p:to>
                                        <p:strVal val="visible"/>
                                      </p:to>
                                    </p:set>
                                    <p:anim calcmode="lin" valueType="num">
                                      <p:cBhvr>
                                        <p:cTn id="7" dur="250" fill="hold"/>
                                        <p:tgtEl>
                                          <p:spTgt spid="35"/>
                                        </p:tgtEl>
                                        <p:attrNameLst>
                                          <p:attrName>ppt_w</p:attrName>
                                        </p:attrNameLst>
                                      </p:cBhvr>
                                      <p:tavLst>
                                        <p:tav tm="0">
                                          <p:val>
                                            <p:strVal val="2/3*#ppt_w"/>
                                          </p:val>
                                        </p:tav>
                                        <p:tav tm="100000">
                                          <p:val>
                                            <p:strVal val="#ppt_w"/>
                                          </p:val>
                                        </p:tav>
                                      </p:tavLst>
                                    </p:anim>
                                    <p:anim calcmode="lin" valueType="num">
                                      <p:cBhvr>
                                        <p:cTn id="8" dur="250" fill="hold"/>
                                        <p:tgtEl>
                                          <p:spTgt spid="35"/>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25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par>
                                <p:cTn id="12" presetID="6" presetClass="emph" presetSubtype="0" fill="hold" grpId="2" nodeType="withEffect">
                                  <p:stCondLst>
                                    <p:cond delay="250"/>
                                  </p:stCondLst>
                                  <p:childTnLst>
                                    <p:animScale>
                                      <p:cBhvr>
                                        <p:cTn id="13" dur="10" fill="hold"/>
                                        <p:tgtEl>
                                          <p:spTgt spid="35"/>
                                        </p:tgtEl>
                                      </p:cBhvr>
                                      <p:by x="80000" y="80000"/>
                                    </p:animScale>
                                  </p:childTnLst>
                                </p:cTn>
                              </p:par>
                              <p:par>
                                <p:cTn id="14" presetID="6" presetClass="emph" presetSubtype="0" decel="100000" fill="hold" grpId="3" nodeType="withEffect">
                                  <p:stCondLst>
                                    <p:cond delay="250"/>
                                  </p:stCondLst>
                                  <p:childTnLst>
                                    <p:animScale>
                                      <p:cBhvr>
                                        <p:cTn id="15" dur="1000" fill="hold"/>
                                        <p:tgtEl>
                                          <p:spTgt spid="35"/>
                                        </p:tgtEl>
                                      </p:cBhvr>
                                      <p:by x="125000" y="125000"/>
                                    </p:animScale>
                                  </p:childTnLst>
                                </p:cTn>
                              </p:par>
                              <p:par>
                                <p:cTn id="16" presetID="23" presetClass="entr" presetSubtype="272" fill="hold" grpId="0" nodeType="withEffect">
                                  <p:stCondLst>
                                    <p:cond delay="400"/>
                                  </p:stCondLst>
                                  <p:childTnLst>
                                    <p:set>
                                      <p:cBhvr>
                                        <p:cTn id="17" dur="1" fill="hold">
                                          <p:stCondLst>
                                            <p:cond delay="0"/>
                                          </p:stCondLst>
                                        </p:cTn>
                                        <p:tgtEl>
                                          <p:spTgt spid="36"/>
                                        </p:tgtEl>
                                        <p:attrNameLst>
                                          <p:attrName>style.visibility</p:attrName>
                                        </p:attrNameLst>
                                      </p:cBhvr>
                                      <p:to>
                                        <p:strVal val="visible"/>
                                      </p:to>
                                    </p:set>
                                    <p:anim calcmode="lin" valueType="num">
                                      <p:cBhvr>
                                        <p:cTn id="18" dur="250" fill="hold"/>
                                        <p:tgtEl>
                                          <p:spTgt spid="36"/>
                                        </p:tgtEl>
                                        <p:attrNameLst>
                                          <p:attrName>ppt_w</p:attrName>
                                        </p:attrNameLst>
                                      </p:cBhvr>
                                      <p:tavLst>
                                        <p:tav tm="0">
                                          <p:val>
                                            <p:strVal val="2/3*#ppt_w"/>
                                          </p:val>
                                        </p:tav>
                                        <p:tav tm="100000">
                                          <p:val>
                                            <p:strVal val="#ppt_w"/>
                                          </p:val>
                                        </p:tav>
                                      </p:tavLst>
                                    </p:anim>
                                    <p:anim calcmode="lin" valueType="num">
                                      <p:cBhvr>
                                        <p:cTn id="19" dur="250" fill="hold"/>
                                        <p:tgtEl>
                                          <p:spTgt spid="36"/>
                                        </p:tgtEl>
                                        <p:attrNameLst>
                                          <p:attrName>ppt_h</p:attrName>
                                        </p:attrNameLst>
                                      </p:cBhvr>
                                      <p:tavLst>
                                        <p:tav tm="0">
                                          <p:val>
                                            <p:strVal val="2/3*#ppt_h"/>
                                          </p:val>
                                        </p:tav>
                                        <p:tav tm="100000">
                                          <p:val>
                                            <p:strVal val="#ppt_h"/>
                                          </p:val>
                                        </p:tav>
                                      </p:tavLst>
                                    </p:anim>
                                  </p:childTnLst>
                                </p:cTn>
                              </p:par>
                              <p:par>
                                <p:cTn id="20" presetID="10" presetClass="entr" presetSubtype="0" fill="hold" grpId="1" nodeType="withEffect">
                                  <p:stCondLst>
                                    <p:cond delay="40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par>
                                <p:cTn id="23" presetID="6" presetClass="emph" presetSubtype="0" fill="hold" grpId="2" nodeType="withEffect">
                                  <p:stCondLst>
                                    <p:cond delay="400"/>
                                  </p:stCondLst>
                                  <p:childTnLst>
                                    <p:animScale>
                                      <p:cBhvr>
                                        <p:cTn id="24" dur="10" fill="hold"/>
                                        <p:tgtEl>
                                          <p:spTgt spid="36"/>
                                        </p:tgtEl>
                                      </p:cBhvr>
                                      <p:by x="80000" y="80000"/>
                                    </p:animScale>
                                  </p:childTnLst>
                                </p:cTn>
                              </p:par>
                              <p:par>
                                <p:cTn id="25" presetID="6" presetClass="emph" presetSubtype="0" decel="100000" fill="hold" grpId="3" nodeType="withEffect">
                                  <p:stCondLst>
                                    <p:cond delay="400"/>
                                  </p:stCondLst>
                                  <p:childTnLst>
                                    <p:animScale>
                                      <p:cBhvr>
                                        <p:cTn id="26" dur="1000" fill="hold"/>
                                        <p:tgtEl>
                                          <p:spTgt spid="36"/>
                                        </p:tgtEl>
                                      </p:cBhvr>
                                      <p:by x="125000" y="125000"/>
                                    </p:animScale>
                                  </p:childTnLst>
                                </p:cTn>
                              </p:par>
                              <p:par>
                                <p:cTn id="27" presetID="23" presetClass="entr" presetSubtype="272" fill="hold" nodeType="withEffect">
                                  <p:stCondLst>
                                    <p:cond delay="400"/>
                                  </p:stCondLst>
                                  <p:childTnLst>
                                    <p:set>
                                      <p:cBhvr>
                                        <p:cTn id="28" dur="1" fill="hold">
                                          <p:stCondLst>
                                            <p:cond delay="0"/>
                                          </p:stCondLst>
                                        </p:cTn>
                                        <p:tgtEl>
                                          <p:spTgt spid="38"/>
                                        </p:tgtEl>
                                        <p:attrNameLst>
                                          <p:attrName>style.visibility</p:attrName>
                                        </p:attrNameLst>
                                      </p:cBhvr>
                                      <p:to>
                                        <p:strVal val="visible"/>
                                      </p:to>
                                    </p:set>
                                    <p:anim calcmode="lin" valueType="num">
                                      <p:cBhvr>
                                        <p:cTn id="29" dur="250" fill="hold"/>
                                        <p:tgtEl>
                                          <p:spTgt spid="38"/>
                                        </p:tgtEl>
                                        <p:attrNameLst>
                                          <p:attrName>ppt_w</p:attrName>
                                        </p:attrNameLst>
                                      </p:cBhvr>
                                      <p:tavLst>
                                        <p:tav tm="0">
                                          <p:val>
                                            <p:strVal val="2/3*#ppt_w"/>
                                          </p:val>
                                        </p:tav>
                                        <p:tav tm="100000">
                                          <p:val>
                                            <p:strVal val="#ppt_w"/>
                                          </p:val>
                                        </p:tav>
                                      </p:tavLst>
                                    </p:anim>
                                    <p:anim calcmode="lin" valueType="num">
                                      <p:cBhvr>
                                        <p:cTn id="30" dur="250" fill="hold"/>
                                        <p:tgtEl>
                                          <p:spTgt spid="38"/>
                                        </p:tgtEl>
                                        <p:attrNameLst>
                                          <p:attrName>ppt_h</p:attrName>
                                        </p:attrNameLst>
                                      </p:cBhvr>
                                      <p:tavLst>
                                        <p:tav tm="0">
                                          <p:val>
                                            <p:strVal val="2/3*#ppt_h"/>
                                          </p:val>
                                        </p:tav>
                                        <p:tav tm="100000">
                                          <p:val>
                                            <p:strVal val="#ppt_h"/>
                                          </p:val>
                                        </p:tav>
                                      </p:tavLst>
                                    </p:anim>
                                  </p:childTnLst>
                                </p:cTn>
                              </p:par>
                              <p:par>
                                <p:cTn id="31" presetID="10" presetClass="entr" presetSubtype="0" fill="hold" nodeType="withEffect">
                                  <p:stCondLst>
                                    <p:cond delay="400"/>
                                  </p:stCondLst>
                                  <p:childTnLst>
                                    <p:set>
                                      <p:cBhvr>
                                        <p:cTn id="32" dur="1" fill="hold">
                                          <p:stCondLst>
                                            <p:cond delay="0"/>
                                          </p:stCondLst>
                                        </p:cTn>
                                        <p:tgtEl>
                                          <p:spTgt spid="38"/>
                                        </p:tgtEl>
                                        <p:attrNameLst>
                                          <p:attrName>style.visibility</p:attrName>
                                        </p:attrNameLst>
                                      </p:cBhvr>
                                      <p:to>
                                        <p:strVal val="visible"/>
                                      </p:to>
                                    </p:set>
                                    <p:animEffect transition="in" filter="fade">
                                      <p:cBhvr>
                                        <p:cTn id="33" dur="500"/>
                                        <p:tgtEl>
                                          <p:spTgt spid="38"/>
                                        </p:tgtEl>
                                      </p:cBhvr>
                                    </p:animEffect>
                                  </p:childTnLst>
                                </p:cTn>
                              </p:par>
                              <p:par>
                                <p:cTn id="34" presetID="6" presetClass="emph" presetSubtype="0" fill="hold" nodeType="withEffect">
                                  <p:stCondLst>
                                    <p:cond delay="400"/>
                                  </p:stCondLst>
                                  <p:childTnLst>
                                    <p:animScale>
                                      <p:cBhvr>
                                        <p:cTn id="35" dur="10" fill="hold"/>
                                        <p:tgtEl>
                                          <p:spTgt spid="38"/>
                                        </p:tgtEl>
                                      </p:cBhvr>
                                      <p:by x="80000" y="80000"/>
                                    </p:animScale>
                                  </p:childTnLst>
                                </p:cTn>
                              </p:par>
                              <p:par>
                                <p:cTn id="36" presetID="6" presetClass="emph" presetSubtype="0" decel="100000" fill="hold" nodeType="withEffect">
                                  <p:stCondLst>
                                    <p:cond delay="400"/>
                                  </p:stCondLst>
                                  <p:childTnLst>
                                    <p:animScale>
                                      <p:cBhvr>
                                        <p:cTn id="37" dur="1000" fill="hold"/>
                                        <p:tgtEl>
                                          <p:spTgt spid="38"/>
                                        </p:tgtEl>
                                      </p:cBhvr>
                                      <p:by x="125000" y="125000"/>
                                    </p:animScale>
                                  </p:childTnLst>
                                </p:cTn>
                              </p:par>
                              <p:par>
                                <p:cTn id="38" presetID="23" presetClass="entr" presetSubtype="272" fill="hold" nodeType="withEffect">
                                  <p:stCondLst>
                                    <p:cond delay="550"/>
                                  </p:stCondLst>
                                  <p:childTnLst>
                                    <p:set>
                                      <p:cBhvr>
                                        <p:cTn id="39" dur="1" fill="hold">
                                          <p:stCondLst>
                                            <p:cond delay="0"/>
                                          </p:stCondLst>
                                        </p:cTn>
                                        <p:tgtEl>
                                          <p:spTgt spid="41"/>
                                        </p:tgtEl>
                                        <p:attrNameLst>
                                          <p:attrName>style.visibility</p:attrName>
                                        </p:attrNameLst>
                                      </p:cBhvr>
                                      <p:to>
                                        <p:strVal val="visible"/>
                                      </p:to>
                                    </p:set>
                                    <p:anim calcmode="lin" valueType="num">
                                      <p:cBhvr>
                                        <p:cTn id="40" dur="250" fill="hold"/>
                                        <p:tgtEl>
                                          <p:spTgt spid="41"/>
                                        </p:tgtEl>
                                        <p:attrNameLst>
                                          <p:attrName>ppt_w</p:attrName>
                                        </p:attrNameLst>
                                      </p:cBhvr>
                                      <p:tavLst>
                                        <p:tav tm="0">
                                          <p:val>
                                            <p:strVal val="2/3*#ppt_w"/>
                                          </p:val>
                                        </p:tav>
                                        <p:tav tm="100000">
                                          <p:val>
                                            <p:strVal val="#ppt_w"/>
                                          </p:val>
                                        </p:tav>
                                      </p:tavLst>
                                    </p:anim>
                                    <p:anim calcmode="lin" valueType="num">
                                      <p:cBhvr>
                                        <p:cTn id="41" dur="250" fill="hold"/>
                                        <p:tgtEl>
                                          <p:spTgt spid="41"/>
                                        </p:tgtEl>
                                        <p:attrNameLst>
                                          <p:attrName>ppt_h</p:attrName>
                                        </p:attrNameLst>
                                      </p:cBhvr>
                                      <p:tavLst>
                                        <p:tav tm="0">
                                          <p:val>
                                            <p:strVal val="2/3*#ppt_h"/>
                                          </p:val>
                                        </p:tav>
                                        <p:tav tm="100000">
                                          <p:val>
                                            <p:strVal val="#ppt_h"/>
                                          </p:val>
                                        </p:tav>
                                      </p:tavLst>
                                    </p:anim>
                                  </p:childTnLst>
                                </p:cTn>
                              </p:par>
                              <p:par>
                                <p:cTn id="42" presetID="10" presetClass="entr" presetSubtype="0" fill="hold" nodeType="withEffect">
                                  <p:stCondLst>
                                    <p:cond delay="55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500"/>
                                        <p:tgtEl>
                                          <p:spTgt spid="41"/>
                                        </p:tgtEl>
                                      </p:cBhvr>
                                    </p:animEffect>
                                  </p:childTnLst>
                                </p:cTn>
                              </p:par>
                              <p:par>
                                <p:cTn id="45" presetID="6" presetClass="emph" presetSubtype="0" fill="hold" nodeType="withEffect">
                                  <p:stCondLst>
                                    <p:cond delay="550"/>
                                  </p:stCondLst>
                                  <p:childTnLst>
                                    <p:animScale>
                                      <p:cBhvr>
                                        <p:cTn id="46" dur="10" fill="hold"/>
                                        <p:tgtEl>
                                          <p:spTgt spid="41"/>
                                        </p:tgtEl>
                                      </p:cBhvr>
                                      <p:by x="80000" y="80000"/>
                                    </p:animScale>
                                  </p:childTnLst>
                                </p:cTn>
                              </p:par>
                              <p:par>
                                <p:cTn id="47" presetID="6" presetClass="emph" presetSubtype="0" decel="100000" fill="hold" nodeType="withEffect">
                                  <p:stCondLst>
                                    <p:cond delay="550"/>
                                  </p:stCondLst>
                                  <p:childTnLst>
                                    <p:animScale>
                                      <p:cBhvr>
                                        <p:cTn id="48" dur="1000" fill="hold"/>
                                        <p:tgtEl>
                                          <p:spTgt spid="41"/>
                                        </p:tgtEl>
                                      </p:cBhvr>
                                      <p:by x="125000" y="125000"/>
                                    </p:animScale>
                                  </p:childTnLst>
                                </p:cTn>
                              </p:par>
                              <p:par>
                                <p:cTn id="49" presetID="10" presetClass="entr" presetSubtype="0" fill="hold" grpId="0"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fade">
                                      <p:cBhvr>
                                        <p:cTn id="51" dur="1000"/>
                                        <p:tgtEl>
                                          <p:spTgt spid="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1000"/>
                                        <p:tgtEl>
                                          <p:spTgt spid="9"/>
                                        </p:tgtEl>
                                      </p:cBhvr>
                                    </p:animEffect>
                                  </p:childTnLst>
                                </p:cTn>
                              </p:par>
                              <p:par>
                                <p:cTn id="55" presetID="23" presetClass="entr" presetSubtype="272" fill="hold" grpId="0" nodeType="withEffect">
                                  <p:stCondLst>
                                    <p:cond delay="250"/>
                                  </p:stCondLst>
                                  <p:childTnLst>
                                    <p:set>
                                      <p:cBhvr>
                                        <p:cTn id="56" dur="1" fill="hold">
                                          <p:stCondLst>
                                            <p:cond delay="0"/>
                                          </p:stCondLst>
                                        </p:cTn>
                                        <p:tgtEl>
                                          <p:spTgt spid="15"/>
                                        </p:tgtEl>
                                        <p:attrNameLst>
                                          <p:attrName>style.visibility</p:attrName>
                                        </p:attrNameLst>
                                      </p:cBhvr>
                                      <p:to>
                                        <p:strVal val="visible"/>
                                      </p:to>
                                    </p:set>
                                    <p:anim calcmode="lin" valueType="num">
                                      <p:cBhvr>
                                        <p:cTn id="57" dur="250" fill="hold"/>
                                        <p:tgtEl>
                                          <p:spTgt spid="15"/>
                                        </p:tgtEl>
                                        <p:attrNameLst>
                                          <p:attrName>ppt_w</p:attrName>
                                        </p:attrNameLst>
                                      </p:cBhvr>
                                      <p:tavLst>
                                        <p:tav tm="0">
                                          <p:val>
                                            <p:strVal val="2/3*#ppt_w"/>
                                          </p:val>
                                        </p:tav>
                                        <p:tav tm="100000">
                                          <p:val>
                                            <p:strVal val="#ppt_w"/>
                                          </p:val>
                                        </p:tav>
                                      </p:tavLst>
                                    </p:anim>
                                    <p:anim calcmode="lin" valueType="num">
                                      <p:cBhvr>
                                        <p:cTn id="58" dur="250" fill="hold"/>
                                        <p:tgtEl>
                                          <p:spTgt spid="15"/>
                                        </p:tgtEl>
                                        <p:attrNameLst>
                                          <p:attrName>ppt_h</p:attrName>
                                        </p:attrNameLst>
                                      </p:cBhvr>
                                      <p:tavLst>
                                        <p:tav tm="0">
                                          <p:val>
                                            <p:strVal val="2/3*#ppt_h"/>
                                          </p:val>
                                        </p:tav>
                                        <p:tav tm="100000">
                                          <p:val>
                                            <p:strVal val="#ppt_h"/>
                                          </p:val>
                                        </p:tav>
                                      </p:tavLst>
                                    </p:anim>
                                  </p:childTnLst>
                                </p:cTn>
                              </p:par>
                              <p:par>
                                <p:cTn id="59" presetID="10" presetClass="entr" presetSubtype="0" fill="hold" grpId="1" nodeType="withEffect">
                                  <p:stCondLst>
                                    <p:cond delay="25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par>
                                <p:cTn id="62" presetID="6" presetClass="emph" presetSubtype="0" fill="hold" grpId="2" nodeType="withEffect">
                                  <p:stCondLst>
                                    <p:cond delay="250"/>
                                  </p:stCondLst>
                                  <p:childTnLst>
                                    <p:animScale>
                                      <p:cBhvr>
                                        <p:cTn id="63" dur="10" fill="hold"/>
                                        <p:tgtEl>
                                          <p:spTgt spid="15"/>
                                        </p:tgtEl>
                                      </p:cBhvr>
                                      <p:by x="80000" y="80000"/>
                                    </p:animScale>
                                  </p:childTnLst>
                                </p:cTn>
                              </p:par>
                              <p:par>
                                <p:cTn id="64" presetID="6" presetClass="emph" presetSubtype="0" decel="100000" fill="hold" grpId="3" nodeType="withEffect">
                                  <p:stCondLst>
                                    <p:cond delay="250"/>
                                  </p:stCondLst>
                                  <p:childTnLst>
                                    <p:animScale>
                                      <p:cBhvr>
                                        <p:cTn id="65" dur="1000" fill="hold"/>
                                        <p:tgtEl>
                                          <p:spTgt spid="15"/>
                                        </p:tgtEl>
                                      </p:cBhvr>
                                      <p:by x="125000" y="125000"/>
                                    </p:animScale>
                                  </p:childTnLst>
                                </p:cTn>
                              </p:par>
                              <p:par>
                                <p:cTn id="66" presetID="23" presetClass="entr" presetSubtype="272" fill="hold" nodeType="withEffect">
                                  <p:stCondLst>
                                    <p:cond delay="0"/>
                                  </p:stCondLst>
                                  <p:childTnLst>
                                    <p:set>
                                      <p:cBhvr>
                                        <p:cTn id="67" dur="1" fill="hold">
                                          <p:stCondLst>
                                            <p:cond delay="0"/>
                                          </p:stCondLst>
                                        </p:cTn>
                                        <p:tgtEl>
                                          <p:spTgt spid="44"/>
                                        </p:tgtEl>
                                        <p:attrNameLst>
                                          <p:attrName>style.visibility</p:attrName>
                                        </p:attrNameLst>
                                      </p:cBhvr>
                                      <p:to>
                                        <p:strVal val="visible"/>
                                      </p:to>
                                    </p:set>
                                    <p:anim calcmode="lin" valueType="num">
                                      <p:cBhvr>
                                        <p:cTn id="68" dur="250" fill="hold"/>
                                        <p:tgtEl>
                                          <p:spTgt spid="44"/>
                                        </p:tgtEl>
                                        <p:attrNameLst>
                                          <p:attrName>ppt_w</p:attrName>
                                        </p:attrNameLst>
                                      </p:cBhvr>
                                      <p:tavLst>
                                        <p:tav tm="0">
                                          <p:val>
                                            <p:strVal val="2/3*#ppt_w"/>
                                          </p:val>
                                        </p:tav>
                                        <p:tav tm="100000">
                                          <p:val>
                                            <p:strVal val="#ppt_w"/>
                                          </p:val>
                                        </p:tav>
                                      </p:tavLst>
                                    </p:anim>
                                    <p:anim calcmode="lin" valueType="num">
                                      <p:cBhvr>
                                        <p:cTn id="69" dur="250" fill="hold"/>
                                        <p:tgtEl>
                                          <p:spTgt spid="44"/>
                                        </p:tgtEl>
                                        <p:attrNameLst>
                                          <p:attrName>ppt_h</p:attrName>
                                        </p:attrNameLst>
                                      </p:cBhvr>
                                      <p:tavLst>
                                        <p:tav tm="0">
                                          <p:val>
                                            <p:strVal val="2/3*#ppt_h"/>
                                          </p:val>
                                        </p:tav>
                                        <p:tav tm="100000">
                                          <p:val>
                                            <p:strVal val="#ppt_h"/>
                                          </p:val>
                                        </p:tav>
                                      </p:tavLst>
                                    </p:anim>
                                  </p:childTnLst>
                                </p:cTn>
                              </p:par>
                              <p:par>
                                <p:cTn id="70" presetID="10" presetClass="entr" presetSubtype="0" fill="hold" nodeType="with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500"/>
                                        <p:tgtEl>
                                          <p:spTgt spid="44"/>
                                        </p:tgtEl>
                                      </p:cBhvr>
                                    </p:animEffect>
                                  </p:childTnLst>
                                </p:cTn>
                              </p:par>
                              <p:par>
                                <p:cTn id="73" presetID="6" presetClass="emph" presetSubtype="0" fill="hold" nodeType="withEffect">
                                  <p:stCondLst>
                                    <p:cond delay="0"/>
                                  </p:stCondLst>
                                  <p:childTnLst>
                                    <p:animScale>
                                      <p:cBhvr>
                                        <p:cTn id="74" dur="10" fill="hold"/>
                                        <p:tgtEl>
                                          <p:spTgt spid="44"/>
                                        </p:tgtEl>
                                      </p:cBhvr>
                                      <p:by x="80000" y="80000"/>
                                    </p:animScale>
                                  </p:childTnLst>
                                </p:cTn>
                              </p:par>
                              <p:par>
                                <p:cTn id="75" presetID="6" presetClass="emph" presetSubtype="0" decel="100000" fill="hold" nodeType="withEffect">
                                  <p:stCondLst>
                                    <p:cond delay="0"/>
                                  </p:stCondLst>
                                  <p:childTnLst>
                                    <p:animScale>
                                      <p:cBhvr>
                                        <p:cTn id="76" dur="1000" fill="hold"/>
                                        <p:tgtEl>
                                          <p:spTgt spid="44"/>
                                        </p:tgtEl>
                                      </p:cBhvr>
                                      <p:by x="125000" y="125000"/>
                                    </p:animScale>
                                  </p:childTnLst>
                                </p:cTn>
                              </p:par>
                              <p:par>
                                <p:cTn id="77" presetID="23" presetClass="entr" presetSubtype="272" fill="hold" nodeType="withEffect">
                                  <p:stCondLst>
                                    <p:cond delay="150"/>
                                  </p:stCondLst>
                                  <p:childTnLst>
                                    <p:set>
                                      <p:cBhvr>
                                        <p:cTn id="78" dur="1" fill="hold">
                                          <p:stCondLst>
                                            <p:cond delay="0"/>
                                          </p:stCondLst>
                                        </p:cTn>
                                        <p:tgtEl>
                                          <p:spTgt spid="55"/>
                                        </p:tgtEl>
                                        <p:attrNameLst>
                                          <p:attrName>style.visibility</p:attrName>
                                        </p:attrNameLst>
                                      </p:cBhvr>
                                      <p:to>
                                        <p:strVal val="visible"/>
                                      </p:to>
                                    </p:set>
                                    <p:anim calcmode="lin" valueType="num">
                                      <p:cBhvr>
                                        <p:cTn id="79" dur="250" fill="hold"/>
                                        <p:tgtEl>
                                          <p:spTgt spid="55"/>
                                        </p:tgtEl>
                                        <p:attrNameLst>
                                          <p:attrName>ppt_w</p:attrName>
                                        </p:attrNameLst>
                                      </p:cBhvr>
                                      <p:tavLst>
                                        <p:tav tm="0">
                                          <p:val>
                                            <p:strVal val="2/3*#ppt_w"/>
                                          </p:val>
                                        </p:tav>
                                        <p:tav tm="100000">
                                          <p:val>
                                            <p:strVal val="#ppt_w"/>
                                          </p:val>
                                        </p:tav>
                                      </p:tavLst>
                                    </p:anim>
                                    <p:anim calcmode="lin" valueType="num">
                                      <p:cBhvr>
                                        <p:cTn id="80" dur="250" fill="hold"/>
                                        <p:tgtEl>
                                          <p:spTgt spid="55"/>
                                        </p:tgtEl>
                                        <p:attrNameLst>
                                          <p:attrName>ppt_h</p:attrName>
                                        </p:attrNameLst>
                                      </p:cBhvr>
                                      <p:tavLst>
                                        <p:tav tm="0">
                                          <p:val>
                                            <p:strVal val="2/3*#ppt_h"/>
                                          </p:val>
                                        </p:tav>
                                        <p:tav tm="100000">
                                          <p:val>
                                            <p:strVal val="#ppt_h"/>
                                          </p:val>
                                        </p:tav>
                                      </p:tavLst>
                                    </p:anim>
                                  </p:childTnLst>
                                </p:cTn>
                              </p:par>
                              <p:par>
                                <p:cTn id="81" presetID="10" presetClass="entr" presetSubtype="0" fill="hold" nodeType="withEffect">
                                  <p:stCondLst>
                                    <p:cond delay="150"/>
                                  </p:stCondLst>
                                  <p:childTnLst>
                                    <p:set>
                                      <p:cBhvr>
                                        <p:cTn id="82" dur="1" fill="hold">
                                          <p:stCondLst>
                                            <p:cond delay="0"/>
                                          </p:stCondLst>
                                        </p:cTn>
                                        <p:tgtEl>
                                          <p:spTgt spid="55"/>
                                        </p:tgtEl>
                                        <p:attrNameLst>
                                          <p:attrName>style.visibility</p:attrName>
                                        </p:attrNameLst>
                                      </p:cBhvr>
                                      <p:to>
                                        <p:strVal val="visible"/>
                                      </p:to>
                                    </p:set>
                                    <p:animEffect transition="in" filter="fade">
                                      <p:cBhvr>
                                        <p:cTn id="83" dur="500"/>
                                        <p:tgtEl>
                                          <p:spTgt spid="55"/>
                                        </p:tgtEl>
                                      </p:cBhvr>
                                    </p:animEffect>
                                  </p:childTnLst>
                                </p:cTn>
                              </p:par>
                              <p:par>
                                <p:cTn id="84" presetID="6" presetClass="emph" presetSubtype="0" fill="hold" nodeType="withEffect">
                                  <p:stCondLst>
                                    <p:cond delay="150"/>
                                  </p:stCondLst>
                                  <p:childTnLst>
                                    <p:animScale>
                                      <p:cBhvr>
                                        <p:cTn id="85" dur="10" fill="hold"/>
                                        <p:tgtEl>
                                          <p:spTgt spid="55"/>
                                        </p:tgtEl>
                                      </p:cBhvr>
                                      <p:by x="80000" y="80000"/>
                                    </p:animScale>
                                  </p:childTnLst>
                                </p:cTn>
                              </p:par>
                              <p:par>
                                <p:cTn id="86" presetID="6" presetClass="emph" presetSubtype="0" decel="100000" fill="hold" nodeType="withEffect">
                                  <p:stCondLst>
                                    <p:cond delay="150"/>
                                  </p:stCondLst>
                                  <p:childTnLst>
                                    <p:animScale>
                                      <p:cBhvr>
                                        <p:cTn id="87" dur="1000" fill="hold"/>
                                        <p:tgtEl>
                                          <p:spTgt spid="55"/>
                                        </p:tgtEl>
                                      </p:cBhvr>
                                      <p:by x="125000" y="125000"/>
                                    </p:animScale>
                                  </p:childTnLst>
                                </p:cTn>
                              </p:par>
                              <p:par>
                                <p:cTn id="88" presetID="10" presetClass="entr" presetSubtype="0" fill="hold" grpId="0" nodeType="withEffect">
                                  <p:stCondLst>
                                    <p:cond delay="0"/>
                                  </p:stCondLst>
                                  <p:childTnLst>
                                    <p:set>
                                      <p:cBhvr>
                                        <p:cTn id="89" dur="1" fill="hold">
                                          <p:stCondLst>
                                            <p:cond delay="0"/>
                                          </p:stCondLst>
                                        </p:cTn>
                                        <p:tgtEl>
                                          <p:spTgt spid="85"/>
                                        </p:tgtEl>
                                        <p:attrNameLst>
                                          <p:attrName>style.visibility</p:attrName>
                                        </p:attrNameLst>
                                      </p:cBhvr>
                                      <p:to>
                                        <p:strVal val="visible"/>
                                      </p:to>
                                    </p:set>
                                    <p:animEffect transition="in" filter="fade">
                                      <p:cBhvr>
                                        <p:cTn id="90" dur="1000"/>
                                        <p:tgtEl>
                                          <p:spTgt spid="85"/>
                                        </p:tgtEl>
                                      </p:cBhvr>
                                    </p:animEffect>
                                  </p:childTnLst>
                                </p:cTn>
                              </p:par>
                              <p:par>
                                <p:cTn id="91" presetID="23" presetClass="entr" presetSubtype="272" fill="hold" grpId="0" nodeType="withEffect">
                                  <p:stCondLst>
                                    <p:cond delay="400"/>
                                  </p:stCondLst>
                                  <p:childTnLst>
                                    <p:set>
                                      <p:cBhvr>
                                        <p:cTn id="92" dur="1" fill="hold">
                                          <p:stCondLst>
                                            <p:cond delay="0"/>
                                          </p:stCondLst>
                                        </p:cTn>
                                        <p:tgtEl>
                                          <p:spTgt spid="16"/>
                                        </p:tgtEl>
                                        <p:attrNameLst>
                                          <p:attrName>style.visibility</p:attrName>
                                        </p:attrNameLst>
                                      </p:cBhvr>
                                      <p:to>
                                        <p:strVal val="visible"/>
                                      </p:to>
                                    </p:set>
                                    <p:anim calcmode="lin" valueType="num">
                                      <p:cBhvr>
                                        <p:cTn id="93" dur="250" fill="hold"/>
                                        <p:tgtEl>
                                          <p:spTgt spid="16"/>
                                        </p:tgtEl>
                                        <p:attrNameLst>
                                          <p:attrName>ppt_w</p:attrName>
                                        </p:attrNameLst>
                                      </p:cBhvr>
                                      <p:tavLst>
                                        <p:tav tm="0">
                                          <p:val>
                                            <p:strVal val="2/3*#ppt_w"/>
                                          </p:val>
                                        </p:tav>
                                        <p:tav tm="100000">
                                          <p:val>
                                            <p:strVal val="#ppt_w"/>
                                          </p:val>
                                        </p:tav>
                                      </p:tavLst>
                                    </p:anim>
                                    <p:anim calcmode="lin" valueType="num">
                                      <p:cBhvr>
                                        <p:cTn id="94" dur="250" fill="hold"/>
                                        <p:tgtEl>
                                          <p:spTgt spid="16"/>
                                        </p:tgtEl>
                                        <p:attrNameLst>
                                          <p:attrName>ppt_h</p:attrName>
                                        </p:attrNameLst>
                                      </p:cBhvr>
                                      <p:tavLst>
                                        <p:tav tm="0">
                                          <p:val>
                                            <p:strVal val="2/3*#ppt_h"/>
                                          </p:val>
                                        </p:tav>
                                        <p:tav tm="100000">
                                          <p:val>
                                            <p:strVal val="#ppt_h"/>
                                          </p:val>
                                        </p:tav>
                                      </p:tavLst>
                                    </p:anim>
                                  </p:childTnLst>
                                </p:cTn>
                              </p:par>
                              <p:par>
                                <p:cTn id="95" presetID="10" presetClass="entr" presetSubtype="0" fill="hold" grpId="1" nodeType="withEffect">
                                  <p:stCondLst>
                                    <p:cond delay="400"/>
                                  </p:stCondLst>
                                  <p:childTnLst>
                                    <p:set>
                                      <p:cBhvr>
                                        <p:cTn id="96" dur="1" fill="hold">
                                          <p:stCondLst>
                                            <p:cond delay="0"/>
                                          </p:stCondLst>
                                        </p:cTn>
                                        <p:tgtEl>
                                          <p:spTgt spid="16"/>
                                        </p:tgtEl>
                                        <p:attrNameLst>
                                          <p:attrName>style.visibility</p:attrName>
                                        </p:attrNameLst>
                                      </p:cBhvr>
                                      <p:to>
                                        <p:strVal val="visible"/>
                                      </p:to>
                                    </p:set>
                                    <p:animEffect transition="in" filter="fade">
                                      <p:cBhvr>
                                        <p:cTn id="97" dur="500"/>
                                        <p:tgtEl>
                                          <p:spTgt spid="16"/>
                                        </p:tgtEl>
                                      </p:cBhvr>
                                    </p:animEffect>
                                  </p:childTnLst>
                                </p:cTn>
                              </p:par>
                              <p:par>
                                <p:cTn id="98" presetID="6" presetClass="emph" presetSubtype="0" fill="hold" grpId="2" nodeType="withEffect">
                                  <p:stCondLst>
                                    <p:cond delay="400"/>
                                  </p:stCondLst>
                                  <p:childTnLst>
                                    <p:animScale>
                                      <p:cBhvr>
                                        <p:cTn id="99" dur="10" fill="hold"/>
                                        <p:tgtEl>
                                          <p:spTgt spid="16"/>
                                        </p:tgtEl>
                                      </p:cBhvr>
                                      <p:by x="80000" y="80000"/>
                                    </p:animScale>
                                  </p:childTnLst>
                                </p:cTn>
                              </p:par>
                              <p:par>
                                <p:cTn id="100" presetID="6" presetClass="emph" presetSubtype="0" decel="100000" fill="hold" grpId="3" nodeType="withEffect">
                                  <p:stCondLst>
                                    <p:cond delay="400"/>
                                  </p:stCondLst>
                                  <p:childTnLst>
                                    <p:animScale>
                                      <p:cBhvr>
                                        <p:cTn id="101" dur="1000" fill="hold"/>
                                        <p:tgtEl>
                                          <p:spTgt spid="16"/>
                                        </p:tgtEl>
                                      </p:cBhvr>
                                      <p:by x="125000" y="125000"/>
                                    </p:animScale>
                                  </p:childTnLst>
                                </p:cTn>
                              </p:par>
                              <p:par>
                                <p:cTn id="102" presetID="23" presetClass="entr" presetSubtype="272" fill="hold" nodeType="withEffect">
                                  <p:stCondLst>
                                    <p:cond delay="400"/>
                                  </p:stCondLst>
                                  <p:childTnLst>
                                    <p:set>
                                      <p:cBhvr>
                                        <p:cTn id="103" dur="1" fill="hold">
                                          <p:stCondLst>
                                            <p:cond delay="0"/>
                                          </p:stCondLst>
                                        </p:cTn>
                                        <p:tgtEl>
                                          <p:spTgt spid="17"/>
                                        </p:tgtEl>
                                        <p:attrNameLst>
                                          <p:attrName>style.visibility</p:attrName>
                                        </p:attrNameLst>
                                      </p:cBhvr>
                                      <p:to>
                                        <p:strVal val="visible"/>
                                      </p:to>
                                    </p:set>
                                    <p:anim calcmode="lin" valueType="num">
                                      <p:cBhvr>
                                        <p:cTn id="104" dur="250" fill="hold"/>
                                        <p:tgtEl>
                                          <p:spTgt spid="17"/>
                                        </p:tgtEl>
                                        <p:attrNameLst>
                                          <p:attrName>ppt_w</p:attrName>
                                        </p:attrNameLst>
                                      </p:cBhvr>
                                      <p:tavLst>
                                        <p:tav tm="0">
                                          <p:val>
                                            <p:strVal val="2/3*#ppt_w"/>
                                          </p:val>
                                        </p:tav>
                                        <p:tav tm="100000">
                                          <p:val>
                                            <p:strVal val="#ppt_w"/>
                                          </p:val>
                                        </p:tav>
                                      </p:tavLst>
                                    </p:anim>
                                    <p:anim calcmode="lin" valueType="num">
                                      <p:cBhvr>
                                        <p:cTn id="105" dur="250" fill="hold"/>
                                        <p:tgtEl>
                                          <p:spTgt spid="17"/>
                                        </p:tgtEl>
                                        <p:attrNameLst>
                                          <p:attrName>ppt_h</p:attrName>
                                        </p:attrNameLst>
                                      </p:cBhvr>
                                      <p:tavLst>
                                        <p:tav tm="0">
                                          <p:val>
                                            <p:strVal val="2/3*#ppt_h"/>
                                          </p:val>
                                        </p:tav>
                                        <p:tav tm="100000">
                                          <p:val>
                                            <p:strVal val="#ppt_h"/>
                                          </p:val>
                                        </p:tav>
                                      </p:tavLst>
                                    </p:anim>
                                  </p:childTnLst>
                                </p:cTn>
                              </p:par>
                              <p:par>
                                <p:cTn id="106" presetID="10" presetClass="entr" presetSubtype="0" fill="hold" nodeType="withEffect">
                                  <p:stCondLst>
                                    <p:cond delay="400"/>
                                  </p:stCondLst>
                                  <p:childTnLst>
                                    <p:set>
                                      <p:cBhvr>
                                        <p:cTn id="107" dur="1" fill="hold">
                                          <p:stCondLst>
                                            <p:cond delay="0"/>
                                          </p:stCondLst>
                                        </p:cTn>
                                        <p:tgtEl>
                                          <p:spTgt spid="17"/>
                                        </p:tgtEl>
                                        <p:attrNameLst>
                                          <p:attrName>style.visibility</p:attrName>
                                        </p:attrNameLst>
                                      </p:cBhvr>
                                      <p:to>
                                        <p:strVal val="visible"/>
                                      </p:to>
                                    </p:set>
                                    <p:animEffect transition="in" filter="fade">
                                      <p:cBhvr>
                                        <p:cTn id="108" dur="500"/>
                                        <p:tgtEl>
                                          <p:spTgt spid="17"/>
                                        </p:tgtEl>
                                      </p:cBhvr>
                                    </p:animEffect>
                                  </p:childTnLst>
                                </p:cTn>
                              </p:par>
                              <p:par>
                                <p:cTn id="109" presetID="6" presetClass="emph" presetSubtype="0" fill="hold" nodeType="withEffect">
                                  <p:stCondLst>
                                    <p:cond delay="400"/>
                                  </p:stCondLst>
                                  <p:childTnLst>
                                    <p:animScale>
                                      <p:cBhvr>
                                        <p:cTn id="110" dur="10" fill="hold"/>
                                        <p:tgtEl>
                                          <p:spTgt spid="17"/>
                                        </p:tgtEl>
                                      </p:cBhvr>
                                      <p:by x="80000" y="80000"/>
                                    </p:animScale>
                                  </p:childTnLst>
                                </p:cTn>
                              </p:par>
                              <p:par>
                                <p:cTn id="111" presetID="6" presetClass="emph" presetSubtype="0" decel="100000" fill="hold" nodeType="withEffect">
                                  <p:stCondLst>
                                    <p:cond delay="400"/>
                                  </p:stCondLst>
                                  <p:childTnLst>
                                    <p:animScale>
                                      <p:cBhvr>
                                        <p:cTn id="112" dur="1000" fill="hold"/>
                                        <p:tgtEl>
                                          <p:spTgt spid="17"/>
                                        </p:tgtEl>
                                      </p:cBhvr>
                                      <p:by x="125000" y="125000"/>
                                    </p:animScale>
                                  </p:childTnLst>
                                </p:cTn>
                              </p:par>
                              <p:par>
                                <p:cTn id="113" presetID="23" presetClass="entr" presetSubtype="272" fill="hold" nodeType="withEffect">
                                  <p:stCondLst>
                                    <p:cond delay="400"/>
                                  </p:stCondLst>
                                  <p:childTnLst>
                                    <p:set>
                                      <p:cBhvr>
                                        <p:cTn id="114" dur="1" fill="hold">
                                          <p:stCondLst>
                                            <p:cond delay="0"/>
                                          </p:stCondLst>
                                        </p:cTn>
                                        <p:tgtEl>
                                          <p:spTgt spid="26"/>
                                        </p:tgtEl>
                                        <p:attrNameLst>
                                          <p:attrName>style.visibility</p:attrName>
                                        </p:attrNameLst>
                                      </p:cBhvr>
                                      <p:to>
                                        <p:strVal val="visible"/>
                                      </p:to>
                                    </p:set>
                                    <p:anim calcmode="lin" valueType="num">
                                      <p:cBhvr>
                                        <p:cTn id="115" dur="250" fill="hold"/>
                                        <p:tgtEl>
                                          <p:spTgt spid="26"/>
                                        </p:tgtEl>
                                        <p:attrNameLst>
                                          <p:attrName>ppt_w</p:attrName>
                                        </p:attrNameLst>
                                      </p:cBhvr>
                                      <p:tavLst>
                                        <p:tav tm="0">
                                          <p:val>
                                            <p:strVal val="2/3*#ppt_w"/>
                                          </p:val>
                                        </p:tav>
                                        <p:tav tm="100000">
                                          <p:val>
                                            <p:strVal val="#ppt_w"/>
                                          </p:val>
                                        </p:tav>
                                      </p:tavLst>
                                    </p:anim>
                                    <p:anim calcmode="lin" valueType="num">
                                      <p:cBhvr>
                                        <p:cTn id="116" dur="250" fill="hold"/>
                                        <p:tgtEl>
                                          <p:spTgt spid="26"/>
                                        </p:tgtEl>
                                        <p:attrNameLst>
                                          <p:attrName>ppt_h</p:attrName>
                                        </p:attrNameLst>
                                      </p:cBhvr>
                                      <p:tavLst>
                                        <p:tav tm="0">
                                          <p:val>
                                            <p:strVal val="2/3*#ppt_h"/>
                                          </p:val>
                                        </p:tav>
                                        <p:tav tm="100000">
                                          <p:val>
                                            <p:strVal val="#ppt_h"/>
                                          </p:val>
                                        </p:tav>
                                      </p:tavLst>
                                    </p:anim>
                                  </p:childTnLst>
                                </p:cTn>
                              </p:par>
                              <p:par>
                                <p:cTn id="117" presetID="10" presetClass="entr" presetSubtype="0" fill="hold" nodeType="withEffect">
                                  <p:stCondLst>
                                    <p:cond delay="40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500"/>
                                        <p:tgtEl>
                                          <p:spTgt spid="26"/>
                                        </p:tgtEl>
                                      </p:cBhvr>
                                    </p:animEffect>
                                  </p:childTnLst>
                                </p:cTn>
                              </p:par>
                              <p:par>
                                <p:cTn id="120" presetID="6" presetClass="emph" presetSubtype="0" fill="hold" nodeType="withEffect">
                                  <p:stCondLst>
                                    <p:cond delay="400"/>
                                  </p:stCondLst>
                                  <p:childTnLst>
                                    <p:animScale>
                                      <p:cBhvr>
                                        <p:cTn id="121" dur="10" fill="hold"/>
                                        <p:tgtEl>
                                          <p:spTgt spid="26"/>
                                        </p:tgtEl>
                                      </p:cBhvr>
                                      <p:by x="80000" y="80000"/>
                                    </p:animScale>
                                  </p:childTnLst>
                                </p:cTn>
                              </p:par>
                              <p:par>
                                <p:cTn id="122" presetID="6" presetClass="emph" presetSubtype="0" decel="100000" fill="hold" nodeType="withEffect">
                                  <p:stCondLst>
                                    <p:cond delay="400"/>
                                  </p:stCondLst>
                                  <p:childTnLst>
                                    <p:animScale>
                                      <p:cBhvr>
                                        <p:cTn id="123" dur="1000" fill="hold"/>
                                        <p:tgtEl>
                                          <p:spTgt spid="26"/>
                                        </p:tgtEl>
                                      </p:cBhvr>
                                      <p:by x="125000" y="125000"/>
                                    </p:animScale>
                                  </p:childTnLst>
                                </p:cTn>
                              </p:par>
                              <p:par>
                                <p:cTn id="124" presetID="23" presetClass="entr" presetSubtype="272" fill="hold" nodeType="withEffect">
                                  <p:stCondLst>
                                    <p:cond delay="150"/>
                                  </p:stCondLst>
                                  <p:childTnLst>
                                    <p:set>
                                      <p:cBhvr>
                                        <p:cTn id="125" dur="1" fill="hold">
                                          <p:stCondLst>
                                            <p:cond delay="0"/>
                                          </p:stCondLst>
                                        </p:cTn>
                                        <p:tgtEl>
                                          <p:spTgt spid="8"/>
                                        </p:tgtEl>
                                        <p:attrNameLst>
                                          <p:attrName>style.visibility</p:attrName>
                                        </p:attrNameLst>
                                      </p:cBhvr>
                                      <p:to>
                                        <p:strVal val="visible"/>
                                      </p:to>
                                    </p:set>
                                    <p:anim calcmode="lin" valueType="num">
                                      <p:cBhvr>
                                        <p:cTn id="126" dur="250" fill="hold"/>
                                        <p:tgtEl>
                                          <p:spTgt spid="8"/>
                                        </p:tgtEl>
                                        <p:attrNameLst>
                                          <p:attrName>ppt_w</p:attrName>
                                        </p:attrNameLst>
                                      </p:cBhvr>
                                      <p:tavLst>
                                        <p:tav tm="0">
                                          <p:val>
                                            <p:strVal val="2/3*#ppt_w"/>
                                          </p:val>
                                        </p:tav>
                                        <p:tav tm="100000">
                                          <p:val>
                                            <p:strVal val="#ppt_w"/>
                                          </p:val>
                                        </p:tav>
                                      </p:tavLst>
                                    </p:anim>
                                    <p:anim calcmode="lin" valueType="num">
                                      <p:cBhvr>
                                        <p:cTn id="127" dur="250" fill="hold"/>
                                        <p:tgtEl>
                                          <p:spTgt spid="8"/>
                                        </p:tgtEl>
                                        <p:attrNameLst>
                                          <p:attrName>ppt_h</p:attrName>
                                        </p:attrNameLst>
                                      </p:cBhvr>
                                      <p:tavLst>
                                        <p:tav tm="0">
                                          <p:val>
                                            <p:strVal val="2/3*#ppt_h"/>
                                          </p:val>
                                        </p:tav>
                                        <p:tav tm="100000">
                                          <p:val>
                                            <p:strVal val="#ppt_h"/>
                                          </p:val>
                                        </p:tav>
                                      </p:tavLst>
                                    </p:anim>
                                  </p:childTnLst>
                                </p:cTn>
                              </p:par>
                              <p:par>
                                <p:cTn id="128" presetID="10" presetClass="entr" presetSubtype="0" fill="hold" nodeType="withEffect">
                                  <p:stCondLst>
                                    <p:cond delay="150"/>
                                  </p:stCondLst>
                                  <p:childTnLst>
                                    <p:set>
                                      <p:cBhvr>
                                        <p:cTn id="129" dur="1" fill="hold">
                                          <p:stCondLst>
                                            <p:cond delay="0"/>
                                          </p:stCondLst>
                                        </p:cTn>
                                        <p:tgtEl>
                                          <p:spTgt spid="8"/>
                                        </p:tgtEl>
                                        <p:attrNameLst>
                                          <p:attrName>style.visibility</p:attrName>
                                        </p:attrNameLst>
                                      </p:cBhvr>
                                      <p:to>
                                        <p:strVal val="visible"/>
                                      </p:to>
                                    </p:set>
                                    <p:animEffect transition="in" filter="fade">
                                      <p:cBhvr>
                                        <p:cTn id="130" dur="500"/>
                                        <p:tgtEl>
                                          <p:spTgt spid="8"/>
                                        </p:tgtEl>
                                      </p:cBhvr>
                                    </p:animEffect>
                                  </p:childTnLst>
                                </p:cTn>
                              </p:par>
                              <p:par>
                                <p:cTn id="131" presetID="6" presetClass="emph" presetSubtype="0" fill="hold" nodeType="withEffect">
                                  <p:stCondLst>
                                    <p:cond delay="150"/>
                                  </p:stCondLst>
                                  <p:childTnLst>
                                    <p:animScale>
                                      <p:cBhvr>
                                        <p:cTn id="132" dur="10" fill="hold"/>
                                        <p:tgtEl>
                                          <p:spTgt spid="8"/>
                                        </p:tgtEl>
                                      </p:cBhvr>
                                      <p:by x="80000" y="80000"/>
                                    </p:animScale>
                                  </p:childTnLst>
                                </p:cTn>
                              </p:par>
                              <p:par>
                                <p:cTn id="133" presetID="6" presetClass="emph" presetSubtype="0" decel="100000" fill="hold" nodeType="withEffect">
                                  <p:stCondLst>
                                    <p:cond delay="150"/>
                                  </p:stCondLst>
                                  <p:childTnLst>
                                    <p:animScale>
                                      <p:cBhvr>
                                        <p:cTn id="134" dur="1000" fill="hold"/>
                                        <p:tgtEl>
                                          <p:spTgt spid="8"/>
                                        </p:tgtEl>
                                      </p:cBhvr>
                                      <p:by x="125000" y="125000"/>
                                    </p:animScale>
                                  </p:childTnLst>
                                </p:cTn>
                              </p:par>
                              <p:par>
                                <p:cTn id="135" presetID="10" presetClass="entr" presetSubtype="0" fill="hold" grpId="0" nodeType="withEffect">
                                  <p:stCondLst>
                                    <p:cond delay="0"/>
                                  </p:stCondLst>
                                  <p:childTnLst>
                                    <p:set>
                                      <p:cBhvr>
                                        <p:cTn id="136" dur="1" fill="hold">
                                          <p:stCondLst>
                                            <p:cond delay="0"/>
                                          </p:stCondLst>
                                        </p:cTn>
                                        <p:tgtEl>
                                          <p:spTgt spid="98"/>
                                        </p:tgtEl>
                                        <p:attrNameLst>
                                          <p:attrName>style.visibility</p:attrName>
                                        </p:attrNameLst>
                                      </p:cBhvr>
                                      <p:to>
                                        <p:strVal val="visible"/>
                                      </p:to>
                                    </p:set>
                                    <p:animEffect transition="in" filter="fade">
                                      <p:cBhvr>
                                        <p:cTn id="137" dur="1000"/>
                                        <p:tgtEl>
                                          <p:spTgt spid="98"/>
                                        </p:tgtEl>
                                      </p:cBhvr>
                                    </p:animEffect>
                                  </p:childTnLst>
                                </p:cTn>
                              </p:par>
                              <p:par>
                                <p:cTn id="138" presetID="23" presetClass="entr" presetSubtype="272" fill="hold" grpId="0" nodeType="withEffect">
                                  <p:stCondLst>
                                    <p:cond delay="450"/>
                                  </p:stCondLst>
                                  <p:childTnLst>
                                    <p:set>
                                      <p:cBhvr>
                                        <p:cTn id="139" dur="1" fill="hold">
                                          <p:stCondLst>
                                            <p:cond delay="0"/>
                                          </p:stCondLst>
                                        </p:cTn>
                                        <p:tgtEl>
                                          <p:spTgt spid="100"/>
                                        </p:tgtEl>
                                        <p:attrNameLst>
                                          <p:attrName>style.visibility</p:attrName>
                                        </p:attrNameLst>
                                      </p:cBhvr>
                                      <p:to>
                                        <p:strVal val="visible"/>
                                      </p:to>
                                    </p:set>
                                    <p:anim calcmode="lin" valueType="num">
                                      <p:cBhvr>
                                        <p:cTn id="140" dur="250" fill="hold"/>
                                        <p:tgtEl>
                                          <p:spTgt spid="100"/>
                                        </p:tgtEl>
                                        <p:attrNameLst>
                                          <p:attrName>ppt_w</p:attrName>
                                        </p:attrNameLst>
                                      </p:cBhvr>
                                      <p:tavLst>
                                        <p:tav tm="0">
                                          <p:val>
                                            <p:strVal val="2/3*#ppt_w"/>
                                          </p:val>
                                        </p:tav>
                                        <p:tav tm="100000">
                                          <p:val>
                                            <p:strVal val="#ppt_w"/>
                                          </p:val>
                                        </p:tav>
                                      </p:tavLst>
                                    </p:anim>
                                    <p:anim calcmode="lin" valueType="num">
                                      <p:cBhvr>
                                        <p:cTn id="141" dur="250" fill="hold"/>
                                        <p:tgtEl>
                                          <p:spTgt spid="100"/>
                                        </p:tgtEl>
                                        <p:attrNameLst>
                                          <p:attrName>ppt_h</p:attrName>
                                        </p:attrNameLst>
                                      </p:cBhvr>
                                      <p:tavLst>
                                        <p:tav tm="0">
                                          <p:val>
                                            <p:strVal val="2/3*#ppt_h"/>
                                          </p:val>
                                        </p:tav>
                                        <p:tav tm="100000">
                                          <p:val>
                                            <p:strVal val="#ppt_h"/>
                                          </p:val>
                                        </p:tav>
                                      </p:tavLst>
                                    </p:anim>
                                  </p:childTnLst>
                                </p:cTn>
                              </p:par>
                              <p:par>
                                <p:cTn id="142" presetID="10" presetClass="entr" presetSubtype="0" fill="hold" grpId="1" nodeType="withEffect">
                                  <p:stCondLst>
                                    <p:cond delay="450"/>
                                  </p:stCondLst>
                                  <p:childTnLst>
                                    <p:set>
                                      <p:cBhvr>
                                        <p:cTn id="143" dur="1" fill="hold">
                                          <p:stCondLst>
                                            <p:cond delay="0"/>
                                          </p:stCondLst>
                                        </p:cTn>
                                        <p:tgtEl>
                                          <p:spTgt spid="100"/>
                                        </p:tgtEl>
                                        <p:attrNameLst>
                                          <p:attrName>style.visibility</p:attrName>
                                        </p:attrNameLst>
                                      </p:cBhvr>
                                      <p:to>
                                        <p:strVal val="visible"/>
                                      </p:to>
                                    </p:set>
                                    <p:animEffect transition="in" filter="fade">
                                      <p:cBhvr>
                                        <p:cTn id="144" dur="500"/>
                                        <p:tgtEl>
                                          <p:spTgt spid="100"/>
                                        </p:tgtEl>
                                      </p:cBhvr>
                                    </p:animEffect>
                                  </p:childTnLst>
                                </p:cTn>
                              </p:par>
                              <p:par>
                                <p:cTn id="145" presetID="6" presetClass="emph" presetSubtype="0" fill="hold" grpId="2" nodeType="withEffect">
                                  <p:stCondLst>
                                    <p:cond delay="450"/>
                                  </p:stCondLst>
                                  <p:childTnLst>
                                    <p:animScale>
                                      <p:cBhvr>
                                        <p:cTn id="146" dur="10" fill="hold"/>
                                        <p:tgtEl>
                                          <p:spTgt spid="100"/>
                                        </p:tgtEl>
                                      </p:cBhvr>
                                      <p:by x="80000" y="80000"/>
                                    </p:animScale>
                                  </p:childTnLst>
                                </p:cTn>
                              </p:par>
                              <p:par>
                                <p:cTn id="147" presetID="6" presetClass="emph" presetSubtype="0" decel="100000" fill="hold" grpId="3" nodeType="withEffect">
                                  <p:stCondLst>
                                    <p:cond delay="450"/>
                                  </p:stCondLst>
                                  <p:childTnLst>
                                    <p:animScale>
                                      <p:cBhvr>
                                        <p:cTn id="148" dur="1000" fill="hold"/>
                                        <p:tgtEl>
                                          <p:spTgt spid="100"/>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P spid="85" grpId="0" animBg="1"/>
      <p:bldP spid="6" grpId="0" animBg="1"/>
      <p:bldP spid="9" grpId="0" animBg="1"/>
      <p:bldP spid="35" grpId="0"/>
      <p:bldP spid="35" grpId="1"/>
      <p:bldP spid="35" grpId="2"/>
      <p:bldP spid="35" grpId="3"/>
      <p:bldP spid="36" grpId="0"/>
      <p:bldP spid="36" grpId="1"/>
      <p:bldP spid="36" grpId="2"/>
      <p:bldP spid="36" grpId="3"/>
      <p:bldP spid="15" grpId="0" animBg="1"/>
      <p:bldP spid="15" grpId="1" animBg="1"/>
      <p:bldP spid="15" grpId="2" animBg="1"/>
      <p:bldP spid="15" grpId="3" animBg="1"/>
      <p:bldP spid="16" grpId="0"/>
      <p:bldP spid="16" grpId="1"/>
      <p:bldP spid="16" grpId="2"/>
      <p:bldP spid="16" grpId="3"/>
      <p:bldP spid="100" grpId="0" animBg="1"/>
      <p:bldP spid="100" grpId="1" animBg="1"/>
      <p:bldP spid="100" grpId="2" animBg="1"/>
      <p:bldP spid="100" grpId="3"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2D6D1F4E-DDFA-4E70-2EC1-A053A224FCF9}"/>
              </a:ext>
            </a:extLst>
          </p:cNvPr>
          <p:cNvSpPr>
            <a:spLocks noGrp="1"/>
          </p:cNvSpPr>
          <p:nvPr>
            <p:ph type="title" idx="4294967295"/>
          </p:nvPr>
        </p:nvSpPr>
        <p:spPr>
          <a:xfrm>
            <a:off x="1174750" y="593725"/>
            <a:ext cx="11017250" cy="998538"/>
          </a:xfrm>
        </p:spPr>
        <p:txBody>
          <a:bodyPr/>
          <a:lstStyle/>
          <a:p>
            <a:r>
              <a:rPr lang="en-GB">
                <a:solidFill>
                  <a:schemeClr val="bg1"/>
                </a:solidFill>
              </a:rPr>
              <a:t>Evaluation Metrics in Azure AI Foundry</a:t>
            </a:r>
            <a:endParaRPr lang="en-GB">
              <a:solidFill>
                <a:schemeClr val="bg1"/>
              </a:solidFill>
              <a:latin typeface="+mn-lt"/>
            </a:endParaRPr>
          </a:p>
        </p:txBody>
      </p:sp>
      <p:grpSp>
        <p:nvGrpSpPr>
          <p:cNvPr id="47" name="Group 46">
            <a:extLst>
              <a:ext uri="{FF2B5EF4-FFF2-40B4-BE49-F238E27FC236}">
                <a16:creationId xmlns:a16="http://schemas.microsoft.com/office/drawing/2014/main" id="{7DA4335F-1F3E-5FF6-3EBF-6189A3BD4A08}"/>
              </a:ext>
            </a:extLst>
          </p:cNvPr>
          <p:cNvGrpSpPr/>
          <p:nvPr/>
        </p:nvGrpSpPr>
        <p:grpSpPr>
          <a:xfrm>
            <a:off x="1160270" y="1408615"/>
            <a:ext cx="3071370" cy="4788212"/>
            <a:chOff x="1160270" y="1408615"/>
            <a:chExt cx="3071370" cy="4788212"/>
          </a:xfrm>
        </p:grpSpPr>
        <p:grpSp>
          <p:nvGrpSpPr>
            <p:cNvPr id="259" name="Group 258">
              <a:extLst>
                <a:ext uri="{FF2B5EF4-FFF2-40B4-BE49-F238E27FC236}">
                  <a16:creationId xmlns:a16="http://schemas.microsoft.com/office/drawing/2014/main" id="{DF4A9369-7CBF-7804-E5B0-EED7999773E8}"/>
                </a:ext>
              </a:extLst>
            </p:cNvPr>
            <p:cNvGrpSpPr>
              <a:grpSpLocks/>
            </p:cNvGrpSpPr>
            <p:nvPr/>
          </p:nvGrpSpPr>
          <p:grpSpPr>
            <a:xfrm>
              <a:off x="1160270" y="1587073"/>
              <a:ext cx="3071370" cy="4609754"/>
              <a:chOff x="556578" y="1051166"/>
              <a:chExt cx="2591837" cy="28032826"/>
            </a:xfrm>
          </p:grpSpPr>
          <p:sp useBgFill="1">
            <p:nvSpPr>
              <p:cNvPr id="262" name="Rectangle: Rounded Corners 261">
                <a:extLst>
                  <a:ext uri="{FF2B5EF4-FFF2-40B4-BE49-F238E27FC236}">
                    <a16:creationId xmlns:a16="http://schemas.microsoft.com/office/drawing/2014/main" id="{70DDE538-66F3-7536-5A7D-729E68267988}"/>
                  </a:ext>
                </a:extLst>
              </p:cNvPr>
              <p:cNvSpPr/>
              <p:nvPr/>
            </p:nvSpPr>
            <p:spPr bwMode="auto">
              <a:xfrm>
                <a:off x="556578" y="1051172"/>
                <a:ext cx="2591837" cy="28032820"/>
              </a:xfrm>
              <a:prstGeom prst="roundRect">
                <a:avLst>
                  <a:gd name="adj" fmla="val 5065"/>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63" name="Rectangle: Rounded Corners 262">
                <a:extLst>
                  <a:ext uri="{FF2B5EF4-FFF2-40B4-BE49-F238E27FC236}">
                    <a16:creationId xmlns:a16="http://schemas.microsoft.com/office/drawing/2014/main" id="{1F9897F5-C1B5-F38D-DF0E-6A18203102A2}"/>
                  </a:ext>
                </a:extLst>
              </p:cNvPr>
              <p:cNvSpPr/>
              <p:nvPr/>
            </p:nvSpPr>
            <p:spPr bwMode="auto">
              <a:xfrm>
                <a:off x="556578" y="1051166"/>
                <a:ext cx="2591837" cy="28032814"/>
              </a:xfrm>
              <a:prstGeom prst="roundRect">
                <a:avLst>
                  <a:gd name="adj" fmla="val 5332"/>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60" name="TextBox 259">
              <a:extLst>
                <a:ext uri="{FF2B5EF4-FFF2-40B4-BE49-F238E27FC236}">
                  <a16:creationId xmlns:a16="http://schemas.microsoft.com/office/drawing/2014/main" id="{4CC7A21A-EBDA-104A-AB34-FEC891FA8EEE}"/>
                </a:ext>
              </a:extLst>
            </p:cNvPr>
            <p:cNvSpPr txBox="1"/>
            <p:nvPr/>
          </p:nvSpPr>
          <p:spPr>
            <a:xfrm>
              <a:off x="1340778" y="2415392"/>
              <a:ext cx="2710354" cy="1862048"/>
            </a:xfrm>
            <a:prstGeom prst="rect">
              <a:avLst/>
            </a:prstGeom>
            <a:noFill/>
          </p:spPr>
          <p:txBody>
            <a:bodyPr wrap="square" lIns="0" tIns="0" rIns="0" bIns="0" rtlCol="0" anchor="ctr" anchorCtr="0">
              <a:noAutofit/>
            </a:bodyPr>
            <a:lstStyle/>
            <a:p>
              <a:pPr algn="ctr">
                <a:spcAft>
                  <a:spcPts val="700"/>
                </a:spcAft>
                <a:buSzPct val="100000"/>
              </a:pPr>
              <a:r>
                <a:rPr lang="en-GB" sz="1400" b="1">
                  <a:solidFill>
                    <a:schemeClr val="bg1"/>
                  </a:solidFill>
                </a:rPr>
                <a:t>AI-assisted metrics</a:t>
              </a:r>
            </a:p>
            <a:p>
              <a:pPr algn="ctr">
                <a:spcAft>
                  <a:spcPts val="700"/>
                </a:spcAft>
                <a:buSzPct val="100000"/>
              </a:pPr>
              <a:r>
                <a:rPr lang="en-GB" sz="1400" err="1">
                  <a:solidFill>
                    <a:schemeClr val="bg1"/>
                  </a:solidFill>
                </a:rPr>
                <a:t>Groundedness</a:t>
              </a:r>
              <a:endParaRPr lang="en-GB" sz="1400">
                <a:solidFill>
                  <a:schemeClr val="bg1"/>
                </a:solidFill>
              </a:endParaRPr>
            </a:p>
            <a:p>
              <a:pPr algn="ctr">
                <a:spcAft>
                  <a:spcPts val="700"/>
                </a:spcAft>
                <a:buSzPct val="100000"/>
              </a:pPr>
              <a:r>
                <a:rPr lang="en-GB" sz="1400">
                  <a:solidFill>
                    <a:schemeClr val="bg1"/>
                  </a:solidFill>
                </a:rPr>
                <a:t>Coherence</a:t>
              </a:r>
            </a:p>
            <a:p>
              <a:pPr algn="ctr">
                <a:spcAft>
                  <a:spcPts val="700"/>
                </a:spcAft>
                <a:buSzPct val="100000"/>
              </a:pPr>
              <a:r>
                <a:rPr lang="en-GB" sz="1400">
                  <a:solidFill>
                    <a:schemeClr val="bg1"/>
                  </a:solidFill>
                </a:rPr>
                <a:t>Fluency</a:t>
              </a:r>
            </a:p>
            <a:p>
              <a:pPr algn="ctr">
                <a:spcAft>
                  <a:spcPts val="700"/>
                </a:spcAft>
                <a:buSzPct val="100000"/>
              </a:pPr>
              <a:r>
                <a:rPr lang="en-GB" sz="1400">
                  <a:solidFill>
                    <a:schemeClr val="bg1"/>
                  </a:solidFill>
                </a:rPr>
                <a:t>Relevance</a:t>
              </a:r>
            </a:p>
            <a:p>
              <a:pPr algn="ctr">
                <a:spcAft>
                  <a:spcPts val="700"/>
                </a:spcAft>
                <a:buSzPct val="100000"/>
              </a:pPr>
              <a:r>
                <a:rPr lang="en-GB" sz="1400">
                  <a:solidFill>
                    <a:schemeClr val="bg1"/>
                  </a:solidFill>
                </a:rPr>
                <a:t>Retrieval score</a:t>
              </a:r>
            </a:p>
            <a:p>
              <a:pPr algn="ctr">
                <a:spcAft>
                  <a:spcPts val="700"/>
                </a:spcAft>
                <a:buSzPct val="100000"/>
              </a:pPr>
              <a:r>
                <a:rPr lang="en-GB" sz="1400">
                  <a:solidFill>
                    <a:schemeClr val="bg1"/>
                  </a:solidFill>
                </a:rPr>
                <a:t>Similarity</a:t>
              </a:r>
            </a:p>
          </p:txBody>
        </p:sp>
        <p:sp>
          <p:nvSpPr>
            <p:cNvPr id="261" name="Rectangle: Rounded Corners 260">
              <a:extLst>
                <a:ext uri="{FF2B5EF4-FFF2-40B4-BE49-F238E27FC236}">
                  <a16:creationId xmlns:a16="http://schemas.microsoft.com/office/drawing/2014/main" id="{D1035570-2E35-791F-59DA-6E4D861C1F8C}"/>
                </a:ext>
              </a:extLst>
            </p:cNvPr>
            <p:cNvSpPr/>
            <p:nvPr/>
          </p:nvSpPr>
          <p:spPr bwMode="auto">
            <a:xfrm>
              <a:off x="1976470" y="1408615"/>
              <a:ext cx="1438970" cy="359183"/>
            </a:xfrm>
            <a:prstGeom prst="roundRect">
              <a:avLst>
                <a:gd name="adj" fmla="val 12662"/>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rgbClr val="FFFFFF"/>
                  </a:solidFill>
                  <a:latin typeface="Segoe Sans Text ExtraBold" pitchFamily="2" charset="0"/>
                  <a:cs typeface="Segoe Sans Text ExtraBold" pitchFamily="2" charset="0"/>
                </a:rPr>
                <a:t>Text</a:t>
              </a:r>
            </a:p>
          </p:txBody>
        </p:sp>
        <p:sp>
          <p:nvSpPr>
            <p:cNvPr id="5" name="TextBox 4">
              <a:extLst>
                <a:ext uri="{FF2B5EF4-FFF2-40B4-BE49-F238E27FC236}">
                  <a16:creationId xmlns:a16="http://schemas.microsoft.com/office/drawing/2014/main" id="{D5E0F1EC-1AA9-A9E2-2F4B-47708FA49BBE}"/>
                </a:ext>
              </a:extLst>
            </p:cNvPr>
            <p:cNvSpPr txBox="1"/>
            <p:nvPr/>
          </p:nvSpPr>
          <p:spPr>
            <a:xfrm>
              <a:off x="1340778" y="1884704"/>
              <a:ext cx="2710354" cy="422081"/>
            </a:xfrm>
            <a:prstGeom prst="rect">
              <a:avLst/>
            </a:prstGeom>
            <a:noFill/>
          </p:spPr>
          <p:txBody>
            <a:bodyPr wrap="square" lIns="0" tIns="0" rIns="0" bIns="0" rtlCol="0" anchor="ctr" anchorCtr="0">
              <a:noAutofit/>
            </a:bodyPr>
            <a:lstStyle/>
            <a:p>
              <a:pPr algn="ctr">
                <a:spcAft>
                  <a:spcPts val="700"/>
                </a:spcAft>
                <a:buSzPct val="100000"/>
              </a:pPr>
              <a:r>
                <a:rPr lang="en-GB" sz="2000" b="1">
                  <a:gradFill>
                    <a:gsLst>
                      <a:gs pos="0">
                        <a:srgbClr val="BDF2BD"/>
                      </a:gs>
                      <a:gs pos="100000">
                        <a:srgbClr val="C3E9FC"/>
                      </a:gs>
                    </a:gsLst>
                    <a:lin ang="5400000" scaled="1"/>
                  </a:gradFill>
                  <a:latin typeface="Segoe Sans Text Semibold"/>
                </a:rPr>
                <a:t>Generation Quality</a:t>
              </a:r>
            </a:p>
          </p:txBody>
        </p:sp>
        <p:sp>
          <p:nvSpPr>
            <p:cNvPr id="6" name="TextBox 5">
              <a:extLst>
                <a:ext uri="{FF2B5EF4-FFF2-40B4-BE49-F238E27FC236}">
                  <a16:creationId xmlns:a16="http://schemas.microsoft.com/office/drawing/2014/main" id="{7D649353-36D7-485D-FE9D-CD0C161EFF11}"/>
                </a:ext>
              </a:extLst>
            </p:cNvPr>
            <p:cNvSpPr txBox="1"/>
            <p:nvPr/>
          </p:nvSpPr>
          <p:spPr>
            <a:xfrm>
              <a:off x="1340778" y="4983346"/>
              <a:ext cx="2710354" cy="674544"/>
            </a:xfrm>
            <a:prstGeom prst="rect">
              <a:avLst/>
            </a:prstGeom>
            <a:noFill/>
          </p:spPr>
          <p:txBody>
            <a:bodyPr wrap="square" lIns="0" tIns="0" rIns="0" bIns="0" rtlCol="0" anchor="ctr" anchorCtr="0">
              <a:noAutofit/>
            </a:bodyPr>
            <a:lstStyle/>
            <a:p>
              <a:pPr algn="ctr">
                <a:spcAft>
                  <a:spcPts val="700"/>
                </a:spcAft>
                <a:buSzPct val="100000"/>
              </a:pPr>
              <a:r>
                <a:rPr lang="en-GB" sz="1400" b="1">
                  <a:solidFill>
                    <a:schemeClr val="bg1"/>
                  </a:solidFill>
                </a:rPr>
                <a:t>NLP metrics</a:t>
              </a:r>
            </a:p>
            <a:p>
              <a:pPr algn="ctr">
                <a:spcAft>
                  <a:spcPts val="700"/>
                </a:spcAft>
                <a:buSzPct val="100000"/>
              </a:pPr>
              <a:r>
                <a:rPr lang="en-GB" sz="1400">
                  <a:solidFill>
                    <a:schemeClr val="bg1"/>
                  </a:solidFill>
                </a:rPr>
                <a:t>F1 score, BLEU, ROUGE,                             GLEU, METEOR</a:t>
              </a:r>
            </a:p>
          </p:txBody>
        </p:sp>
        <p:grpSp>
          <p:nvGrpSpPr>
            <p:cNvPr id="7" name="Group 6">
              <a:extLst>
                <a:ext uri="{FF2B5EF4-FFF2-40B4-BE49-F238E27FC236}">
                  <a16:creationId xmlns:a16="http://schemas.microsoft.com/office/drawing/2014/main" id="{F8F9E876-1117-93FE-E79D-126A734F164D}"/>
                </a:ext>
              </a:extLst>
            </p:cNvPr>
            <p:cNvGrpSpPr/>
            <p:nvPr/>
          </p:nvGrpSpPr>
          <p:grpSpPr>
            <a:xfrm>
              <a:off x="1788406" y="4616188"/>
              <a:ext cx="1815098" cy="78348"/>
              <a:chOff x="704945" y="2877637"/>
              <a:chExt cx="3117755" cy="134578"/>
            </a:xfrm>
          </p:grpSpPr>
          <p:sp>
            <p:nvSpPr>
              <p:cNvPr id="8" name="Freeform: Shape 7">
                <a:extLst>
                  <a:ext uri="{FF2B5EF4-FFF2-40B4-BE49-F238E27FC236}">
                    <a16:creationId xmlns:a16="http://schemas.microsoft.com/office/drawing/2014/main" id="{EAC538E0-5486-7B3E-C176-7A7F595C3D26}"/>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9" name="Straight Connector 8">
                <a:extLst>
                  <a:ext uri="{FF2B5EF4-FFF2-40B4-BE49-F238E27FC236}">
                    <a16:creationId xmlns:a16="http://schemas.microsoft.com/office/drawing/2014/main" id="{94EA1207-241E-37D7-1783-385B65AA4DA4}"/>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AD8D67F-5D93-0C4E-33FB-376999CC51A2}"/>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48" name="Group 47">
            <a:extLst>
              <a:ext uri="{FF2B5EF4-FFF2-40B4-BE49-F238E27FC236}">
                <a16:creationId xmlns:a16="http://schemas.microsoft.com/office/drawing/2014/main" id="{3C986E74-DFB0-4A79-8678-343D99395651}"/>
              </a:ext>
            </a:extLst>
          </p:cNvPr>
          <p:cNvGrpSpPr/>
          <p:nvPr/>
        </p:nvGrpSpPr>
        <p:grpSpPr>
          <a:xfrm>
            <a:off x="4465670" y="1408615"/>
            <a:ext cx="3071370" cy="4788217"/>
            <a:chOff x="4465670" y="1408615"/>
            <a:chExt cx="3071370" cy="4788217"/>
          </a:xfrm>
        </p:grpSpPr>
        <p:grpSp>
          <p:nvGrpSpPr>
            <p:cNvPr id="12" name="Group 11">
              <a:extLst>
                <a:ext uri="{FF2B5EF4-FFF2-40B4-BE49-F238E27FC236}">
                  <a16:creationId xmlns:a16="http://schemas.microsoft.com/office/drawing/2014/main" id="{7A3536F2-AACB-2A2D-A7B1-D636D9C41F05}"/>
                </a:ext>
              </a:extLst>
            </p:cNvPr>
            <p:cNvGrpSpPr>
              <a:grpSpLocks/>
            </p:cNvGrpSpPr>
            <p:nvPr/>
          </p:nvGrpSpPr>
          <p:grpSpPr>
            <a:xfrm>
              <a:off x="4465670" y="1587073"/>
              <a:ext cx="3071370" cy="2630849"/>
              <a:chOff x="556578" y="1051166"/>
              <a:chExt cx="2591837" cy="28032826"/>
            </a:xfrm>
          </p:grpSpPr>
          <p:sp useBgFill="1">
            <p:nvSpPr>
              <p:cNvPr id="17" name="Rectangle: Rounded Corners 16">
                <a:extLst>
                  <a:ext uri="{FF2B5EF4-FFF2-40B4-BE49-F238E27FC236}">
                    <a16:creationId xmlns:a16="http://schemas.microsoft.com/office/drawing/2014/main" id="{90CB0620-2223-3650-DFEB-B303B964C71E}"/>
                  </a:ext>
                </a:extLst>
              </p:cNvPr>
              <p:cNvSpPr/>
              <p:nvPr/>
            </p:nvSpPr>
            <p:spPr bwMode="auto">
              <a:xfrm>
                <a:off x="556578" y="1051172"/>
                <a:ext cx="2591837" cy="28032820"/>
              </a:xfrm>
              <a:prstGeom prst="roundRect">
                <a:avLst>
                  <a:gd name="adj" fmla="val 5065"/>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8" name="Rectangle: Rounded Corners 17">
                <a:extLst>
                  <a:ext uri="{FF2B5EF4-FFF2-40B4-BE49-F238E27FC236}">
                    <a16:creationId xmlns:a16="http://schemas.microsoft.com/office/drawing/2014/main" id="{CAE04517-154F-A748-7CBE-2087ABF2F972}"/>
                  </a:ext>
                </a:extLst>
              </p:cNvPr>
              <p:cNvSpPr/>
              <p:nvPr/>
            </p:nvSpPr>
            <p:spPr bwMode="auto">
              <a:xfrm>
                <a:off x="556578" y="1051166"/>
                <a:ext cx="2591837" cy="28032814"/>
              </a:xfrm>
              <a:prstGeom prst="roundRect">
                <a:avLst>
                  <a:gd name="adj" fmla="val 5332"/>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13" name="TextBox 12">
              <a:extLst>
                <a:ext uri="{FF2B5EF4-FFF2-40B4-BE49-F238E27FC236}">
                  <a16:creationId xmlns:a16="http://schemas.microsoft.com/office/drawing/2014/main" id="{29D64353-01DC-FEAD-6F5F-FCC4ADF7AF22}"/>
                </a:ext>
              </a:extLst>
            </p:cNvPr>
            <p:cNvSpPr txBox="1"/>
            <p:nvPr/>
          </p:nvSpPr>
          <p:spPr>
            <a:xfrm>
              <a:off x="4646178" y="2276036"/>
              <a:ext cx="2710354" cy="1862048"/>
            </a:xfrm>
            <a:prstGeom prst="rect">
              <a:avLst/>
            </a:prstGeom>
            <a:noFill/>
          </p:spPr>
          <p:txBody>
            <a:bodyPr wrap="square" lIns="0" tIns="0" rIns="0" bIns="0" rtlCol="0" anchor="ctr" anchorCtr="0">
              <a:noAutofit/>
            </a:bodyPr>
            <a:lstStyle/>
            <a:p>
              <a:pPr algn="ctr">
                <a:spcAft>
                  <a:spcPts val="700"/>
                </a:spcAft>
                <a:buSzPct val="100000"/>
              </a:pPr>
              <a:r>
                <a:rPr lang="en-GB" sz="1400" b="1">
                  <a:solidFill>
                    <a:schemeClr val="bg1"/>
                  </a:solidFill>
                </a:rPr>
                <a:t>AI-assisted metrics</a:t>
              </a:r>
            </a:p>
            <a:p>
              <a:pPr algn="ctr">
                <a:spcAft>
                  <a:spcPts val="700"/>
                </a:spcAft>
                <a:buSzPct val="100000"/>
              </a:pPr>
              <a:r>
                <a:rPr lang="en-GB" sz="1400">
                  <a:solidFill>
                    <a:schemeClr val="bg1"/>
                  </a:solidFill>
                </a:rPr>
                <a:t>Hate and unfairness</a:t>
              </a:r>
            </a:p>
            <a:p>
              <a:pPr algn="ctr">
                <a:spcAft>
                  <a:spcPts val="700"/>
                </a:spcAft>
                <a:buSzPct val="100000"/>
              </a:pPr>
              <a:r>
                <a:rPr lang="en-GB" sz="1400">
                  <a:solidFill>
                    <a:schemeClr val="bg1"/>
                  </a:solidFill>
                </a:rPr>
                <a:t>Sexual</a:t>
              </a:r>
            </a:p>
            <a:p>
              <a:pPr algn="ctr">
                <a:spcAft>
                  <a:spcPts val="700"/>
                </a:spcAft>
                <a:buSzPct val="100000"/>
              </a:pPr>
              <a:r>
                <a:rPr lang="en-GB" sz="1400">
                  <a:solidFill>
                    <a:schemeClr val="bg1"/>
                  </a:solidFill>
                </a:rPr>
                <a:t>Violence</a:t>
              </a:r>
            </a:p>
            <a:p>
              <a:pPr algn="ctr">
                <a:spcAft>
                  <a:spcPts val="700"/>
                </a:spcAft>
                <a:buSzPct val="100000"/>
              </a:pPr>
              <a:r>
                <a:rPr lang="en-GB" sz="1400">
                  <a:solidFill>
                    <a:schemeClr val="bg1"/>
                  </a:solidFill>
                </a:rPr>
                <a:t>Self-harm</a:t>
              </a:r>
            </a:p>
            <a:p>
              <a:pPr algn="ctr">
                <a:spcAft>
                  <a:spcPts val="700"/>
                </a:spcAft>
                <a:buSzPct val="100000"/>
              </a:pPr>
              <a:r>
                <a:rPr lang="en-GB" sz="1400">
                  <a:solidFill>
                    <a:schemeClr val="bg1"/>
                  </a:solidFill>
                </a:rPr>
                <a:t>Protected materials</a:t>
              </a:r>
            </a:p>
          </p:txBody>
        </p:sp>
        <p:sp>
          <p:nvSpPr>
            <p:cNvPr id="14" name="Rectangle: Rounded Corners 13">
              <a:extLst>
                <a:ext uri="{FF2B5EF4-FFF2-40B4-BE49-F238E27FC236}">
                  <a16:creationId xmlns:a16="http://schemas.microsoft.com/office/drawing/2014/main" id="{1A214A98-B756-8DB9-2A9E-1F0DB87A48A5}"/>
                </a:ext>
              </a:extLst>
            </p:cNvPr>
            <p:cNvSpPr/>
            <p:nvPr/>
          </p:nvSpPr>
          <p:spPr bwMode="auto">
            <a:xfrm>
              <a:off x="5281870" y="1408615"/>
              <a:ext cx="1438970" cy="359183"/>
            </a:xfrm>
            <a:prstGeom prst="roundRect">
              <a:avLst>
                <a:gd name="adj" fmla="val 12662"/>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rgbClr val="FFFFFF"/>
                  </a:solidFill>
                  <a:latin typeface="Segoe Sans Text ExtraBold" pitchFamily="2" charset="0"/>
                  <a:cs typeface="Segoe Sans Text ExtraBold" pitchFamily="2" charset="0"/>
                </a:rPr>
                <a:t>Text + Image</a:t>
              </a:r>
            </a:p>
          </p:txBody>
        </p:sp>
        <p:sp>
          <p:nvSpPr>
            <p:cNvPr id="15" name="TextBox 14">
              <a:extLst>
                <a:ext uri="{FF2B5EF4-FFF2-40B4-BE49-F238E27FC236}">
                  <a16:creationId xmlns:a16="http://schemas.microsoft.com/office/drawing/2014/main" id="{4BCFC26E-28BF-DB21-F501-300CC022E12A}"/>
                </a:ext>
              </a:extLst>
            </p:cNvPr>
            <p:cNvSpPr txBox="1"/>
            <p:nvPr/>
          </p:nvSpPr>
          <p:spPr>
            <a:xfrm>
              <a:off x="4646178" y="1884704"/>
              <a:ext cx="2710354" cy="422081"/>
            </a:xfrm>
            <a:prstGeom prst="rect">
              <a:avLst/>
            </a:prstGeom>
            <a:noFill/>
          </p:spPr>
          <p:txBody>
            <a:bodyPr wrap="square" lIns="0" tIns="0" rIns="0" bIns="0" rtlCol="0" anchor="ctr" anchorCtr="0">
              <a:noAutofit/>
            </a:bodyPr>
            <a:lstStyle/>
            <a:p>
              <a:pPr algn="ctr">
                <a:spcAft>
                  <a:spcPts val="700"/>
                </a:spcAft>
                <a:buSzPct val="100000"/>
              </a:pPr>
              <a:r>
                <a:rPr lang="en-GB" sz="2000" b="1">
                  <a:gradFill>
                    <a:gsLst>
                      <a:gs pos="0">
                        <a:srgbClr val="BDF2BD"/>
                      </a:gs>
                      <a:gs pos="100000">
                        <a:srgbClr val="C3E9FC"/>
                      </a:gs>
                    </a:gsLst>
                    <a:lin ang="5400000" scaled="1"/>
                  </a:gradFill>
                  <a:latin typeface="Segoe Sans Text Semibold"/>
                </a:rPr>
                <a:t>Risk &amp; safety</a:t>
              </a:r>
            </a:p>
          </p:txBody>
        </p:sp>
        <p:grpSp>
          <p:nvGrpSpPr>
            <p:cNvPr id="25" name="Group 24">
              <a:extLst>
                <a:ext uri="{FF2B5EF4-FFF2-40B4-BE49-F238E27FC236}">
                  <a16:creationId xmlns:a16="http://schemas.microsoft.com/office/drawing/2014/main" id="{91303AC2-6951-3485-51F1-0411EE8E2D33}"/>
                </a:ext>
              </a:extLst>
            </p:cNvPr>
            <p:cNvGrpSpPr>
              <a:grpSpLocks/>
            </p:cNvGrpSpPr>
            <p:nvPr/>
          </p:nvGrpSpPr>
          <p:grpSpPr>
            <a:xfrm>
              <a:off x="4465670" y="4489915"/>
              <a:ext cx="3071370" cy="1706917"/>
              <a:chOff x="556578" y="1051166"/>
              <a:chExt cx="2591837" cy="28032826"/>
            </a:xfrm>
          </p:grpSpPr>
          <p:sp useBgFill="1">
            <p:nvSpPr>
              <p:cNvPr id="26" name="Rectangle: Rounded Corners 25">
                <a:extLst>
                  <a:ext uri="{FF2B5EF4-FFF2-40B4-BE49-F238E27FC236}">
                    <a16:creationId xmlns:a16="http://schemas.microsoft.com/office/drawing/2014/main" id="{2306BB5B-01B1-F5F5-A515-69CD5ECF6444}"/>
                  </a:ext>
                </a:extLst>
              </p:cNvPr>
              <p:cNvSpPr/>
              <p:nvPr/>
            </p:nvSpPr>
            <p:spPr bwMode="auto">
              <a:xfrm>
                <a:off x="556578" y="1051172"/>
                <a:ext cx="2591837" cy="28032820"/>
              </a:xfrm>
              <a:prstGeom prst="roundRect">
                <a:avLst>
                  <a:gd name="adj" fmla="val 5065"/>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7" name="Rectangle: Rounded Corners 26">
                <a:extLst>
                  <a:ext uri="{FF2B5EF4-FFF2-40B4-BE49-F238E27FC236}">
                    <a16:creationId xmlns:a16="http://schemas.microsoft.com/office/drawing/2014/main" id="{1EAC778C-6CE1-F843-745B-B40C4CFCE7E7}"/>
                  </a:ext>
                </a:extLst>
              </p:cNvPr>
              <p:cNvSpPr/>
              <p:nvPr/>
            </p:nvSpPr>
            <p:spPr bwMode="auto">
              <a:xfrm>
                <a:off x="556578" y="1051166"/>
                <a:ext cx="2591837" cy="28032814"/>
              </a:xfrm>
              <a:prstGeom prst="roundRect">
                <a:avLst>
                  <a:gd name="adj" fmla="val 5332"/>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8" name="TextBox 27">
              <a:extLst>
                <a:ext uri="{FF2B5EF4-FFF2-40B4-BE49-F238E27FC236}">
                  <a16:creationId xmlns:a16="http://schemas.microsoft.com/office/drawing/2014/main" id="{0061A1FD-E13F-966F-191C-671E06426593}"/>
                </a:ext>
              </a:extLst>
            </p:cNvPr>
            <p:cNvSpPr txBox="1"/>
            <p:nvPr/>
          </p:nvSpPr>
          <p:spPr>
            <a:xfrm>
              <a:off x="4646178" y="5178878"/>
              <a:ext cx="2710354" cy="967154"/>
            </a:xfrm>
            <a:prstGeom prst="rect">
              <a:avLst/>
            </a:prstGeom>
            <a:noFill/>
          </p:spPr>
          <p:txBody>
            <a:bodyPr wrap="square" lIns="0" tIns="0" rIns="0" bIns="0" rtlCol="0" anchor="ctr" anchorCtr="0">
              <a:noAutofit/>
            </a:bodyPr>
            <a:lstStyle/>
            <a:p>
              <a:pPr algn="ctr">
                <a:spcAft>
                  <a:spcPts val="700"/>
                </a:spcAft>
                <a:buSzPct val="100000"/>
              </a:pPr>
              <a:r>
                <a:rPr lang="en-GB" sz="1400" b="1">
                  <a:solidFill>
                    <a:schemeClr val="bg1"/>
                  </a:solidFill>
                </a:rPr>
                <a:t>AI-assisted metrics</a:t>
              </a:r>
            </a:p>
            <a:p>
              <a:pPr algn="ctr">
                <a:spcAft>
                  <a:spcPts val="700"/>
                </a:spcAft>
                <a:buSzPct val="100000"/>
              </a:pPr>
              <a:r>
                <a:rPr lang="en-GB" sz="1400">
                  <a:solidFill>
                    <a:schemeClr val="bg1"/>
                  </a:solidFill>
                </a:rPr>
                <a:t>Direct attack jailbreak</a:t>
              </a:r>
            </a:p>
            <a:p>
              <a:pPr algn="ctr">
                <a:spcAft>
                  <a:spcPts val="700"/>
                </a:spcAft>
                <a:buSzPct val="100000"/>
              </a:pPr>
              <a:r>
                <a:rPr lang="en-GB" sz="1400">
                  <a:solidFill>
                    <a:schemeClr val="bg1"/>
                  </a:solidFill>
                </a:rPr>
                <a:t>Indirect attack jailbreak</a:t>
              </a:r>
            </a:p>
          </p:txBody>
        </p:sp>
        <p:sp>
          <p:nvSpPr>
            <p:cNvPr id="29" name="Rectangle: Rounded Corners 28">
              <a:extLst>
                <a:ext uri="{FF2B5EF4-FFF2-40B4-BE49-F238E27FC236}">
                  <a16:creationId xmlns:a16="http://schemas.microsoft.com/office/drawing/2014/main" id="{446E0401-14DF-B20C-3FD0-C60816A7B2BE}"/>
                </a:ext>
              </a:extLst>
            </p:cNvPr>
            <p:cNvSpPr/>
            <p:nvPr/>
          </p:nvSpPr>
          <p:spPr bwMode="auto">
            <a:xfrm>
              <a:off x="5281870" y="4311457"/>
              <a:ext cx="1438970" cy="359183"/>
            </a:xfrm>
            <a:prstGeom prst="roundRect">
              <a:avLst>
                <a:gd name="adj" fmla="val 12662"/>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rgbClr val="FFFFFF"/>
                  </a:solidFill>
                  <a:latin typeface="Segoe Sans Text ExtraBold" pitchFamily="2" charset="0"/>
                  <a:cs typeface="Segoe Sans Text ExtraBold" pitchFamily="2" charset="0"/>
                </a:rPr>
                <a:t>Text</a:t>
              </a:r>
            </a:p>
          </p:txBody>
        </p:sp>
        <p:sp>
          <p:nvSpPr>
            <p:cNvPr id="30" name="TextBox 29">
              <a:extLst>
                <a:ext uri="{FF2B5EF4-FFF2-40B4-BE49-F238E27FC236}">
                  <a16:creationId xmlns:a16="http://schemas.microsoft.com/office/drawing/2014/main" id="{58B7DBBF-E414-7A43-7A07-28BDA447285E}"/>
                </a:ext>
              </a:extLst>
            </p:cNvPr>
            <p:cNvSpPr txBox="1"/>
            <p:nvPr/>
          </p:nvSpPr>
          <p:spPr>
            <a:xfrm>
              <a:off x="4646178" y="4787546"/>
              <a:ext cx="2710354" cy="422081"/>
            </a:xfrm>
            <a:prstGeom prst="rect">
              <a:avLst/>
            </a:prstGeom>
            <a:noFill/>
          </p:spPr>
          <p:txBody>
            <a:bodyPr wrap="square" lIns="0" tIns="0" rIns="0" bIns="0" rtlCol="0" anchor="ctr" anchorCtr="0">
              <a:noAutofit/>
            </a:bodyPr>
            <a:lstStyle/>
            <a:p>
              <a:pPr algn="ctr">
                <a:spcAft>
                  <a:spcPts val="700"/>
                </a:spcAft>
                <a:buSzPct val="100000"/>
              </a:pPr>
              <a:r>
                <a:rPr lang="en-GB" sz="2000" b="1">
                  <a:gradFill>
                    <a:gsLst>
                      <a:gs pos="0">
                        <a:srgbClr val="BDF2BD"/>
                      </a:gs>
                      <a:gs pos="100000">
                        <a:srgbClr val="C3E9FC"/>
                      </a:gs>
                    </a:gsLst>
                    <a:lin ang="5400000" scaled="1"/>
                  </a:gradFill>
                  <a:latin typeface="Segoe Sans Text Semibold"/>
                </a:rPr>
                <a:t>Risk &amp; safety</a:t>
              </a:r>
            </a:p>
          </p:txBody>
        </p:sp>
      </p:grpSp>
      <p:grpSp>
        <p:nvGrpSpPr>
          <p:cNvPr id="49" name="Group 48">
            <a:extLst>
              <a:ext uri="{FF2B5EF4-FFF2-40B4-BE49-F238E27FC236}">
                <a16:creationId xmlns:a16="http://schemas.microsoft.com/office/drawing/2014/main" id="{F7DB8F86-091B-004C-B447-5D34FF83161A}"/>
              </a:ext>
            </a:extLst>
          </p:cNvPr>
          <p:cNvGrpSpPr/>
          <p:nvPr/>
        </p:nvGrpSpPr>
        <p:grpSpPr>
          <a:xfrm>
            <a:off x="7804068" y="1408615"/>
            <a:ext cx="3071370" cy="4788212"/>
            <a:chOff x="7804068" y="1408615"/>
            <a:chExt cx="3071370" cy="4788212"/>
          </a:xfrm>
        </p:grpSpPr>
        <p:grpSp>
          <p:nvGrpSpPr>
            <p:cNvPr id="31" name="Group 30">
              <a:extLst>
                <a:ext uri="{FF2B5EF4-FFF2-40B4-BE49-F238E27FC236}">
                  <a16:creationId xmlns:a16="http://schemas.microsoft.com/office/drawing/2014/main" id="{CB33A800-5F97-27AE-BFC1-C9A7831EFB75}"/>
                </a:ext>
              </a:extLst>
            </p:cNvPr>
            <p:cNvGrpSpPr>
              <a:grpSpLocks/>
            </p:cNvGrpSpPr>
            <p:nvPr/>
          </p:nvGrpSpPr>
          <p:grpSpPr>
            <a:xfrm>
              <a:off x="7804068" y="1587073"/>
              <a:ext cx="3071370" cy="4609754"/>
              <a:chOff x="556578" y="1051166"/>
              <a:chExt cx="2591837" cy="28032826"/>
            </a:xfrm>
          </p:grpSpPr>
          <p:sp useBgFill="1">
            <p:nvSpPr>
              <p:cNvPr id="32" name="Rectangle: Rounded Corners 31">
                <a:extLst>
                  <a:ext uri="{FF2B5EF4-FFF2-40B4-BE49-F238E27FC236}">
                    <a16:creationId xmlns:a16="http://schemas.microsoft.com/office/drawing/2014/main" id="{E50DF51D-A126-5CBB-2AEE-D5E662FACF15}"/>
                  </a:ext>
                </a:extLst>
              </p:cNvPr>
              <p:cNvSpPr/>
              <p:nvPr/>
            </p:nvSpPr>
            <p:spPr bwMode="auto">
              <a:xfrm>
                <a:off x="556578" y="1051172"/>
                <a:ext cx="2591837" cy="28032820"/>
              </a:xfrm>
              <a:prstGeom prst="roundRect">
                <a:avLst>
                  <a:gd name="adj" fmla="val 5065"/>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33" name="Rectangle: Rounded Corners 32">
                <a:extLst>
                  <a:ext uri="{FF2B5EF4-FFF2-40B4-BE49-F238E27FC236}">
                    <a16:creationId xmlns:a16="http://schemas.microsoft.com/office/drawing/2014/main" id="{5457ED10-11B3-F50D-FE1A-A7D84A983BFE}"/>
                  </a:ext>
                </a:extLst>
              </p:cNvPr>
              <p:cNvSpPr/>
              <p:nvPr/>
            </p:nvSpPr>
            <p:spPr bwMode="auto">
              <a:xfrm>
                <a:off x="556578" y="1051166"/>
                <a:ext cx="2591837" cy="28032814"/>
              </a:xfrm>
              <a:prstGeom prst="roundRect">
                <a:avLst>
                  <a:gd name="adj" fmla="val 5332"/>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34" name="TextBox 33">
              <a:extLst>
                <a:ext uri="{FF2B5EF4-FFF2-40B4-BE49-F238E27FC236}">
                  <a16:creationId xmlns:a16="http://schemas.microsoft.com/office/drawing/2014/main" id="{078F70DC-2064-0B24-5CA9-885E27F73B95}"/>
                </a:ext>
              </a:extLst>
            </p:cNvPr>
            <p:cNvSpPr txBox="1"/>
            <p:nvPr/>
          </p:nvSpPr>
          <p:spPr>
            <a:xfrm>
              <a:off x="8212166" y="2943457"/>
              <a:ext cx="2255174" cy="829959"/>
            </a:xfrm>
            <a:prstGeom prst="rect">
              <a:avLst/>
            </a:prstGeom>
            <a:noFill/>
          </p:spPr>
          <p:txBody>
            <a:bodyPr wrap="square" lIns="0" tIns="0" rIns="0" bIns="0" rtlCol="0" anchor="ctr" anchorCtr="0">
              <a:noAutofit/>
            </a:bodyPr>
            <a:lstStyle/>
            <a:p>
              <a:pPr algn="ctr">
                <a:spcAft>
                  <a:spcPts val="700"/>
                </a:spcAft>
                <a:buSzPct val="100000"/>
              </a:pPr>
              <a:r>
                <a:rPr lang="en-GB" sz="1600">
                  <a:solidFill>
                    <a:schemeClr val="bg1"/>
                  </a:solidFill>
                </a:rPr>
                <a:t>Customize pre-built metrics or build your own metrics or synthetic data simulator with Azure AI Evaluation SDK</a:t>
              </a:r>
            </a:p>
          </p:txBody>
        </p:sp>
        <p:sp>
          <p:nvSpPr>
            <p:cNvPr id="35" name="Rectangle: Rounded Corners 34">
              <a:extLst>
                <a:ext uri="{FF2B5EF4-FFF2-40B4-BE49-F238E27FC236}">
                  <a16:creationId xmlns:a16="http://schemas.microsoft.com/office/drawing/2014/main" id="{DFBB497A-D05B-485B-909C-D34870D0C19C}"/>
                </a:ext>
              </a:extLst>
            </p:cNvPr>
            <p:cNvSpPr/>
            <p:nvPr/>
          </p:nvSpPr>
          <p:spPr bwMode="auto">
            <a:xfrm>
              <a:off x="8620268" y="1408615"/>
              <a:ext cx="1438970" cy="359183"/>
            </a:xfrm>
            <a:prstGeom prst="roundRect">
              <a:avLst>
                <a:gd name="adj" fmla="val 12662"/>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rgbClr val="FFFFFF"/>
                  </a:solidFill>
                  <a:latin typeface="Segoe Sans Text ExtraBold" pitchFamily="2" charset="0"/>
                  <a:cs typeface="Segoe Sans Text ExtraBold" pitchFamily="2" charset="0"/>
                </a:rPr>
                <a:t>Text</a:t>
              </a:r>
            </a:p>
          </p:txBody>
        </p:sp>
        <p:sp>
          <p:nvSpPr>
            <p:cNvPr id="36" name="TextBox 35">
              <a:extLst>
                <a:ext uri="{FF2B5EF4-FFF2-40B4-BE49-F238E27FC236}">
                  <a16:creationId xmlns:a16="http://schemas.microsoft.com/office/drawing/2014/main" id="{9FF2D6B7-2CE1-2E5D-7FF1-8A275D965C2D}"/>
                </a:ext>
              </a:extLst>
            </p:cNvPr>
            <p:cNvSpPr txBox="1"/>
            <p:nvPr/>
          </p:nvSpPr>
          <p:spPr>
            <a:xfrm>
              <a:off x="7984576" y="1884704"/>
              <a:ext cx="2710354" cy="422081"/>
            </a:xfrm>
            <a:prstGeom prst="rect">
              <a:avLst/>
            </a:prstGeom>
            <a:noFill/>
          </p:spPr>
          <p:txBody>
            <a:bodyPr wrap="square" lIns="0" tIns="0" rIns="0" bIns="0" rtlCol="0" anchor="ctr" anchorCtr="0">
              <a:noAutofit/>
            </a:bodyPr>
            <a:lstStyle/>
            <a:p>
              <a:pPr algn="ctr">
                <a:spcAft>
                  <a:spcPts val="700"/>
                </a:spcAft>
                <a:buSzPct val="100000"/>
              </a:pPr>
              <a:r>
                <a:rPr lang="en-GB" sz="2000" b="1">
                  <a:gradFill>
                    <a:gsLst>
                      <a:gs pos="0">
                        <a:srgbClr val="BDF2BD"/>
                      </a:gs>
                      <a:gs pos="100000">
                        <a:srgbClr val="C3E9FC"/>
                      </a:gs>
                    </a:gsLst>
                    <a:lin ang="5400000" scaled="1"/>
                  </a:gradFill>
                  <a:latin typeface="Segoe Sans Text Semibold"/>
                </a:rPr>
                <a:t>Custom</a:t>
              </a:r>
            </a:p>
          </p:txBody>
        </p:sp>
      </p:grpSp>
    </p:spTree>
    <p:extLst>
      <p:ext uri="{BB962C8B-B14F-4D97-AF65-F5344CB8AC3E}">
        <p14:creationId xmlns:p14="http://schemas.microsoft.com/office/powerpoint/2010/main" val="12594162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250" fill="hold"/>
                                        <p:tgtEl>
                                          <p:spTgt spid="47"/>
                                        </p:tgtEl>
                                        <p:attrNameLst>
                                          <p:attrName>ppt_w</p:attrName>
                                        </p:attrNameLst>
                                      </p:cBhvr>
                                      <p:tavLst>
                                        <p:tav tm="0">
                                          <p:val>
                                            <p:strVal val="2/3*#ppt_w"/>
                                          </p:val>
                                        </p:tav>
                                        <p:tav tm="100000">
                                          <p:val>
                                            <p:strVal val="#ppt_w"/>
                                          </p:val>
                                        </p:tav>
                                      </p:tavLst>
                                    </p:anim>
                                    <p:anim calcmode="lin" valueType="num">
                                      <p:cBhvr>
                                        <p:cTn id="8" dur="250" fill="hold"/>
                                        <p:tgtEl>
                                          <p:spTgt spid="47"/>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childTnLst>
                                </p:cTn>
                              </p:par>
                              <p:par>
                                <p:cTn id="12" presetID="6" presetClass="emph" presetSubtype="0" fill="hold" nodeType="withEffect">
                                  <p:stCondLst>
                                    <p:cond delay="0"/>
                                  </p:stCondLst>
                                  <p:childTnLst>
                                    <p:animScale>
                                      <p:cBhvr>
                                        <p:cTn id="13" dur="10" fill="hold"/>
                                        <p:tgtEl>
                                          <p:spTgt spid="47"/>
                                        </p:tgtEl>
                                      </p:cBhvr>
                                      <p:by x="80000" y="80000"/>
                                    </p:animScale>
                                  </p:childTnLst>
                                </p:cTn>
                              </p:par>
                              <p:par>
                                <p:cTn id="14" presetID="6" presetClass="emph" presetSubtype="0" decel="100000" fill="hold" nodeType="withEffect">
                                  <p:stCondLst>
                                    <p:cond delay="0"/>
                                  </p:stCondLst>
                                  <p:childTnLst>
                                    <p:animScale>
                                      <p:cBhvr>
                                        <p:cTn id="15" dur="1000" fill="hold"/>
                                        <p:tgtEl>
                                          <p:spTgt spid="47"/>
                                        </p:tgtEl>
                                      </p:cBhvr>
                                      <p:by x="125000" y="125000"/>
                                    </p:animScale>
                                  </p:childTnLst>
                                </p:cTn>
                              </p:par>
                              <p:par>
                                <p:cTn id="16" presetID="23" presetClass="entr" presetSubtype="272" fill="hold" nodeType="withEffect">
                                  <p:stCondLst>
                                    <p:cond delay="0"/>
                                  </p:stCondLst>
                                  <p:childTnLst>
                                    <p:set>
                                      <p:cBhvr>
                                        <p:cTn id="17" dur="1" fill="hold">
                                          <p:stCondLst>
                                            <p:cond delay="0"/>
                                          </p:stCondLst>
                                        </p:cTn>
                                        <p:tgtEl>
                                          <p:spTgt spid="48"/>
                                        </p:tgtEl>
                                        <p:attrNameLst>
                                          <p:attrName>style.visibility</p:attrName>
                                        </p:attrNameLst>
                                      </p:cBhvr>
                                      <p:to>
                                        <p:strVal val="visible"/>
                                      </p:to>
                                    </p:set>
                                    <p:anim calcmode="lin" valueType="num">
                                      <p:cBhvr>
                                        <p:cTn id="18" dur="250" fill="hold"/>
                                        <p:tgtEl>
                                          <p:spTgt spid="48"/>
                                        </p:tgtEl>
                                        <p:attrNameLst>
                                          <p:attrName>ppt_w</p:attrName>
                                        </p:attrNameLst>
                                      </p:cBhvr>
                                      <p:tavLst>
                                        <p:tav tm="0">
                                          <p:val>
                                            <p:strVal val="2/3*#ppt_w"/>
                                          </p:val>
                                        </p:tav>
                                        <p:tav tm="100000">
                                          <p:val>
                                            <p:strVal val="#ppt_w"/>
                                          </p:val>
                                        </p:tav>
                                      </p:tavLst>
                                    </p:anim>
                                    <p:anim calcmode="lin" valueType="num">
                                      <p:cBhvr>
                                        <p:cTn id="19" dur="250" fill="hold"/>
                                        <p:tgtEl>
                                          <p:spTgt spid="48"/>
                                        </p:tgtEl>
                                        <p:attrNameLst>
                                          <p:attrName>ppt_h</p:attrName>
                                        </p:attrNameLst>
                                      </p:cBhvr>
                                      <p:tavLst>
                                        <p:tav tm="0">
                                          <p:val>
                                            <p:strVal val="2/3*#ppt_h"/>
                                          </p:val>
                                        </p:tav>
                                        <p:tav tm="100000">
                                          <p:val>
                                            <p:strVal val="#ppt_h"/>
                                          </p:val>
                                        </p:tav>
                                      </p:tavLst>
                                    </p:anim>
                                  </p:childTnLst>
                                </p:cTn>
                              </p:par>
                              <p:par>
                                <p:cTn id="20" presetID="10"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6" presetClass="emph" presetSubtype="0" fill="hold" nodeType="withEffect">
                                  <p:stCondLst>
                                    <p:cond delay="0"/>
                                  </p:stCondLst>
                                  <p:childTnLst>
                                    <p:animScale>
                                      <p:cBhvr>
                                        <p:cTn id="24" dur="10" fill="hold"/>
                                        <p:tgtEl>
                                          <p:spTgt spid="48"/>
                                        </p:tgtEl>
                                      </p:cBhvr>
                                      <p:by x="80000" y="80000"/>
                                    </p:animScale>
                                  </p:childTnLst>
                                </p:cTn>
                              </p:par>
                              <p:par>
                                <p:cTn id="25" presetID="6" presetClass="emph" presetSubtype="0" decel="100000" fill="hold" nodeType="withEffect">
                                  <p:stCondLst>
                                    <p:cond delay="0"/>
                                  </p:stCondLst>
                                  <p:childTnLst>
                                    <p:animScale>
                                      <p:cBhvr>
                                        <p:cTn id="26" dur="1000" fill="hold"/>
                                        <p:tgtEl>
                                          <p:spTgt spid="48"/>
                                        </p:tgtEl>
                                      </p:cBhvr>
                                      <p:by x="125000" y="125000"/>
                                    </p:animScale>
                                  </p:childTnLst>
                                </p:cTn>
                              </p:par>
                              <p:par>
                                <p:cTn id="27" presetID="23" presetClass="entr" presetSubtype="272"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p:cTn id="29" dur="250" fill="hold"/>
                                        <p:tgtEl>
                                          <p:spTgt spid="49"/>
                                        </p:tgtEl>
                                        <p:attrNameLst>
                                          <p:attrName>ppt_w</p:attrName>
                                        </p:attrNameLst>
                                      </p:cBhvr>
                                      <p:tavLst>
                                        <p:tav tm="0">
                                          <p:val>
                                            <p:strVal val="2/3*#ppt_w"/>
                                          </p:val>
                                        </p:tav>
                                        <p:tav tm="100000">
                                          <p:val>
                                            <p:strVal val="#ppt_w"/>
                                          </p:val>
                                        </p:tav>
                                      </p:tavLst>
                                    </p:anim>
                                    <p:anim calcmode="lin" valueType="num">
                                      <p:cBhvr>
                                        <p:cTn id="30" dur="250" fill="hold"/>
                                        <p:tgtEl>
                                          <p:spTgt spid="49"/>
                                        </p:tgtEl>
                                        <p:attrNameLst>
                                          <p:attrName>ppt_h</p:attrName>
                                        </p:attrNameLst>
                                      </p:cBhvr>
                                      <p:tavLst>
                                        <p:tav tm="0">
                                          <p:val>
                                            <p:strVal val="2/3*#ppt_h"/>
                                          </p:val>
                                        </p:tav>
                                        <p:tav tm="100000">
                                          <p:val>
                                            <p:strVal val="#ppt_h"/>
                                          </p:val>
                                        </p:tav>
                                      </p:tavLst>
                                    </p:anim>
                                  </p:childTnLst>
                                </p:cTn>
                              </p:par>
                              <p:par>
                                <p:cTn id="31" presetID="10"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fade">
                                      <p:cBhvr>
                                        <p:cTn id="33" dur="500"/>
                                        <p:tgtEl>
                                          <p:spTgt spid="49"/>
                                        </p:tgtEl>
                                      </p:cBhvr>
                                    </p:animEffect>
                                  </p:childTnLst>
                                </p:cTn>
                              </p:par>
                              <p:par>
                                <p:cTn id="34" presetID="6" presetClass="emph" presetSubtype="0" fill="hold" nodeType="withEffect">
                                  <p:stCondLst>
                                    <p:cond delay="0"/>
                                  </p:stCondLst>
                                  <p:childTnLst>
                                    <p:animScale>
                                      <p:cBhvr>
                                        <p:cTn id="35" dur="10" fill="hold"/>
                                        <p:tgtEl>
                                          <p:spTgt spid="49"/>
                                        </p:tgtEl>
                                      </p:cBhvr>
                                      <p:by x="80000" y="80000"/>
                                    </p:animScale>
                                  </p:childTnLst>
                                </p:cTn>
                              </p:par>
                              <p:par>
                                <p:cTn id="36" presetID="6" presetClass="emph" presetSubtype="0" decel="100000" fill="hold" nodeType="withEffect">
                                  <p:stCondLst>
                                    <p:cond delay="0"/>
                                  </p:stCondLst>
                                  <p:childTnLst>
                                    <p:animScale>
                                      <p:cBhvr>
                                        <p:cTn id="37" dur="1000" fill="hold"/>
                                        <p:tgtEl>
                                          <p:spTgt spid="49"/>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9C3D-8B83-8A2D-A0BD-F533A870F65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258C98A-5AA7-01A3-B32B-66C4DEF40B1E}"/>
              </a:ext>
            </a:extLst>
          </p:cNvPr>
          <p:cNvPicPr>
            <a:picLocks noChangeAspect="1"/>
          </p:cNvPicPr>
          <p:nvPr/>
        </p:nvPicPr>
        <p:blipFill>
          <a:blip r:embed="rId3"/>
          <a:stretch>
            <a:fillRect/>
          </a:stretch>
        </p:blipFill>
        <p:spPr>
          <a:xfrm>
            <a:off x="800108" y="2105720"/>
            <a:ext cx="10421005" cy="3480433"/>
          </a:xfrm>
          <a:prstGeom prst="rect">
            <a:avLst/>
          </a:prstGeom>
        </p:spPr>
      </p:pic>
      <p:sp>
        <p:nvSpPr>
          <p:cNvPr id="2" name="Rectangle: Rounded Corners 1">
            <a:extLst>
              <a:ext uri="{FF2B5EF4-FFF2-40B4-BE49-F238E27FC236}">
                <a16:creationId xmlns:a16="http://schemas.microsoft.com/office/drawing/2014/main" id="{B42C1A58-FE66-E0BB-F261-A1ED342883D8}"/>
              </a:ext>
            </a:extLst>
          </p:cNvPr>
          <p:cNvSpPr>
            <a:spLocks/>
          </p:cNvSpPr>
          <p:nvPr/>
        </p:nvSpPr>
        <p:spPr bwMode="auto">
          <a:xfrm>
            <a:off x="350176" y="1352365"/>
            <a:ext cx="11392545" cy="5072911"/>
          </a:xfrm>
          <a:prstGeom prst="roundRect">
            <a:avLst>
              <a:gd name="adj" fmla="val 2665"/>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43" name="Title 42">
            <a:extLst>
              <a:ext uri="{FF2B5EF4-FFF2-40B4-BE49-F238E27FC236}">
                <a16:creationId xmlns:a16="http://schemas.microsoft.com/office/drawing/2014/main" id="{E1DBF936-124D-63F4-CECF-D95D13B08B04}"/>
              </a:ext>
            </a:extLst>
          </p:cNvPr>
          <p:cNvSpPr>
            <a:spLocks noGrp="1"/>
          </p:cNvSpPr>
          <p:nvPr>
            <p:ph type="title" idx="4294967295"/>
          </p:nvPr>
        </p:nvSpPr>
        <p:spPr>
          <a:xfrm>
            <a:off x="1174750" y="593725"/>
            <a:ext cx="11017250" cy="998538"/>
          </a:xfrm>
        </p:spPr>
        <p:txBody>
          <a:bodyPr>
            <a:normAutofit/>
          </a:bodyPr>
          <a:lstStyle/>
          <a:p>
            <a:r>
              <a:rPr lang="en-US">
                <a:solidFill>
                  <a:schemeClr val="bg1"/>
                </a:solidFill>
              </a:rPr>
              <a:t>Pre-Production Evaluation Logical Flow</a:t>
            </a:r>
            <a:endParaRPr lang="en-IN">
              <a:solidFill>
                <a:schemeClr val="bg1"/>
              </a:solidFill>
            </a:endParaRPr>
          </a:p>
        </p:txBody>
      </p:sp>
    </p:spTree>
    <p:extLst>
      <p:ext uri="{BB962C8B-B14F-4D97-AF65-F5344CB8AC3E}">
        <p14:creationId xmlns:p14="http://schemas.microsoft.com/office/powerpoint/2010/main" val="39991166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p:cTn id="7" dur="250" fill="hold"/>
                                        <p:tgtEl>
                                          <p:spTgt spid="2"/>
                                        </p:tgtEl>
                                        <p:attrNameLst>
                                          <p:attrName>ppt_w</p:attrName>
                                        </p:attrNameLst>
                                      </p:cBhvr>
                                      <p:tavLst>
                                        <p:tav tm="0">
                                          <p:val>
                                            <p:strVal val="2/3*#ppt_w"/>
                                          </p:val>
                                        </p:tav>
                                        <p:tav tm="100000">
                                          <p:val>
                                            <p:strVal val="#ppt_w"/>
                                          </p:val>
                                        </p:tav>
                                      </p:tavLst>
                                    </p:anim>
                                    <p:anim calcmode="lin" valueType="num">
                                      <p:cBhvr>
                                        <p:cTn id="8" dur="250" fill="hold"/>
                                        <p:tgtEl>
                                          <p:spTgt spid="2"/>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25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6" presetClass="emph" presetSubtype="0" fill="hold" grpId="2" nodeType="withEffect">
                                  <p:stCondLst>
                                    <p:cond delay="250"/>
                                  </p:stCondLst>
                                  <p:childTnLst>
                                    <p:animScale>
                                      <p:cBhvr>
                                        <p:cTn id="13" dur="10" fill="hold"/>
                                        <p:tgtEl>
                                          <p:spTgt spid="2"/>
                                        </p:tgtEl>
                                      </p:cBhvr>
                                      <p:by x="80000" y="80000"/>
                                    </p:animScale>
                                  </p:childTnLst>
                                </p:cTn>
                              </p:par>
                              <p:par>
                                <p:cTn id="14" presetID="6" presetClass="emph" presetSubtype="0" decel="100000" fill="hold" grpId="3" nodeType="withEffect">
                                  <p:stCondLst>
                                    <p:cond delay="250"/>
                                  </p:stCondLst>
                                  <p:childTnLst>
                                    <p:animScale>
                                      <p:cBhvr>
                                        <p:cTn id="15" dur="1000" fill="hold"/>
                                        <p:tgtEl>
                                          <p:spTgt spid="2"/>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9F497-C8A5-96F8-18F6-58D2FEEF6829}"/>
            </a:ext>
          </a:extLst>
        </p:cNvPr>
        <p:cNvGrpSpPr/>
        <p:nvPr/>
      </p:nvGrpSpPr>
      <p:grpSpPr>
        <a:xfrm>
          <a:off x="0" y="0"/>
          <a:ext cx="0" cy="0"/>
          <a:chOff x="0" y="0"/>
          <a:chExt cx="0" cy="0"/>
        </a:xfrm>
      </p:grpSpPr>
      <p:sp>
        <p:nvSpPr>
          <p:cNvPr id="56" name="Title 55">
            <a:extLst>
              <a:ext uri="{FF2B5EF4-FFF2-40B4-BE49-F238E27FC236}">
                <a16:creationId xmlns:a16="http://schemas.microsoft.com/office/drawing/2014/main" id="{B8C42399-E0A2-0E62-6384-FA7AD915E537}"/>
              </a:ext>
            </a:extLst>
          </p:cNvPr>
          <p:cNvSpPr>
            <a:spLocks noGrp="1"/>
          </p:cNvSpPr>
          <p:nvPr>
            <p:ph type="title"/>
          </p:nvPr>
        </p:nvSpPr>
        <p:spPr/>
        <p:txBody>
          <a:bodyPr/>
          <a:lstStyle/>
          <a:p>
            <a:r>
              <a:rPr lang="en-GB">
                <a:solidFill>
                  <a:schemeClr val="bg1"/>
                </a:solidFill>
              </a:rPr>
              <a:t>Model Evaluation in AI Foundry</a:t>
            </a:r>
            <a:endParaRPr lang="en-US">
              <a:solidFill>
                <a:schemeClr val="bg1"/>
              </a:solidFill>
            </a:endParaRPr>
          </a:p>
        </p:txBody>
      </p:sp>
      <p:sp>
        <p:nvSpPr>
          <p:cNvPr id="2" name="Title 55">
            <a:extLst>
              <a:ext uri="{FF2B5EF4-FFF2-40B4-BE49-F238E27FC236}">
                <a16:creationId xmlns:a16="http://schemas.microsoft.com/office/drawing/2014/main" id="{12AC4FAE-9F7B-8075-9D13-73E3D746FEA8}"/>
              </a:ext>
            </a:extLst>
          </p:cNvPr>
          <p:cNvSpPr txBox="1">
            <a:spLocks/>
          </p:cNvSpPr>
          <p:nvPr/>
        </p:nvSpPr>
        <p:spPr>
          <a:xfrm>
            <a:off x="7027730" y="2114430"/>
            <a:ext cx="3687424" cy="1051639"/>
          </a:xfrm>
          <a:prstGeom prst="rect">
            <a:avLst/>
          </a:prstGeom>
          <a:noFill/>
        </p:spPr>
        <p:txBody>
          <a:bodyPr vert="horz" wrap="square" lIns="0" tIns="0" rIns="0" bIns="0" rtlCol="0" anchor="t">
            <a:noAutofit/>
          </a:bodyPr>
          <a:lstStyle>
            <a:lvl1pPr algn="l" defTabSz="932742" rtl="0" eaLnBrk="1" latinLnBrk="0" hangingPunct="1">
              <a:lnSpc>
                <a:spcPct val="100000"/>
              </a:lnSpc>
              <a:spcBef>
                <a:spcPct val="0"/>
              </a:spcBef>
              <a:buNone/>
              <a:defRPr kumimoji="0" lang="en-GB" sz="3200" b="0" i="0" u="none" strike="noStrike" kern="1200" cap="none" spc="0" normalizeH="0" baseline="0" dirty="0">
                <a:ln>
                  <a:noFill/>
                </a:ln>
                <a:solidFill>
                  <a:srgbClr val="FFFFFF"/>
                </a:solidFill>
                <a:effectLst/>
                <a:uLnTx/>
                <a:uFillTx/>
                <a:latin typeface="Segoe Sans Text Semibold"/>
                <a:ea typeface="+mn-ea"/>
                <a:cs typeface="+mn-cs"/>
              </a:defRPr>
            </a:lvl1pPr>
          </a:lstStyle>
          <a:p>
            <a:pPr defTabSz="914367">
              <a:buSzPct val="90000"/>
              <a:defRPr/>
            </a:pPr>
            <a:r>
              <a:rPr lang="en-GB" sz="1800">
                <a:solidFill>
                  <a:schemeClr val="bg1"/>
                </a:solidFill>
                <a:latin typeface="+mj-lt"/>
                <a:cs typeface="Segoe Sans Display Semibold" pitchFamily="2" charset="0"/>
              </a:rPr>
              <a:t>Trade off</a:t>
            </a:r>
          </a:p>
        </p:txBody>
      </p:sp>
      <p:sp>
        <p:nvSpPr>
          <p:cNvPr id="83" name="Rectangle: Rounded Corners 82">
            <a:extLst>
              <a:ext uri="{FF2B5EF4-FFF2-40B4-BE49-F238E27FC236}">
                <a16:creationId xmlns:a16="http://schemas.microsoft.com/office/drawing/2014/main" id="{5AEB88BD-0F32-7BA6-F9DC-937132B0392A}"/>
              </a:ext>
            </a:extLst>
          </p:cNvPr>
          <p:cNvSpPr>
            <a:spLocks/>
          </p:cNvSpPr>
          <p:nvPr/>
        </p:nvSpPr>
        <p:spPr bwMode="auto">
          <a:xfrm>
            <a:off x="653934" y="1340310"/>
            <a:ext cx="10934007" cy="523782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6" name="Content Placeholder 2">
            <a:extLst>
              <a:ext uri="{FF2B5EF4-FFF2-40B4-BE49-F238E27FC236}">
                <a16:creationId xmlns:a16="http://schemas.microsoft.com/office/drawing/2014/main" id="{555E5162-8C51-A740-CA34-E237D8942504}"/>
              </a:ext>
            </a:extLst>
          </p:cNvPr>
          <p:cNvSpPr txBox="1">
            <a:spLocks/>
          </p:cNvSpPr>
          <p:nvPr/>
        </p:nvSpPr>
        <p:spPr>
          <a:xfrm>
            <a:off x="7223921" y="2546626"/>
            <a:ext cx="3979333"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defTabSz="609630" fontAlgn="base">
              <a:spcBef>
                <a:spcPts val="1200"/>
              </a:spcBef>
              <a:spcAft>
                <a:spcPct val="0"/>
              </a:spcAft>
              <a:buNone/>
              <a:defRPr/>
            </a:pPr>
            <a:r>
              <a:rPr lang="en-GB" sz="1400" spc="-49">
                <a:ln w="3175">
                  <a:noFill/>
                </a:ln>
                <a:solidFill>
                  <a:srgbClr val="FFFFFF"/>
                </a:solidFill>
              </a:rPr>
              <a:t>Cost vs Quality</a:t>
            </a:r>
          </a:p>
        </p:txBody>
      </p:sp>
      <p:sp>
        <p:nvSpPr>
          <p:cNvPr id="132" name="Content Placeholder 2">
            <a:extLst>
              <a:ext uri="{FF2B5EF4-FFF2-40B4-BE49-F238E27FC236}">
                <a16:creationId xmlns:a16="http://schemas.microsoft.com/office/drawing/2014/main" id="{C94978E3-2AD3-88BD-A055-1FF7AB8D98DF}"/>
              </a:ext>
            </a:extLst>
          </p:cNvPr>
          <p:cNvSpPr txBox="1">
            <a:spLocks/>
          </p:cNvSpPr>
          <p:nvPr/>
        </p:nvSpPr>
        <p:spPr>
          <a:xfrm>
            <a:off x="7223921" y="3219836"/>
            <a:ext cx="372830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a:latin typeface="+mn-lt"/>
              </a:rPr>
              <a:t>Cost vs Performance</a:t>
            </a:r>
          </a:p>
        </p:txBody>
      </p:sp>
      <p:sp>
        <p:nvSpPr>
          <p:cNvPr id="5" name="Title 55">
            <a:extLst>
              <a:ext uri="{FF2B5EF4-FFF2-40B4-BE49-F238E27FC236}">
                <a16:creationId xmlns:a16="http://schemas.microsoft.com/office/drawing/2014/main" id="{40BC508F-2E6F-367D-753D-603A0D187DD5}"/>
              </a:ext>
            </a:extLst>
          </p:cNvPr>
          <p:cNvSpPr txBox="1">
            <a:spLocks/>
          </p:cNvSpPr>
          <p:nvPr/>
        </p:nvSpPr>
        <p:spPr>
          <a:xfrm>
            <a:off x="7027730" y="3986271"/>
            <a:ext cx="3687424" cy="1051639"/>
          </a:xfrm>
          <a:prstGeom prst="rect">
            <a:avLst/>
          </a:prstGeom>
          <a:noFill/>
        </p:spPr>
        <p:txBody>
          <a:bodyPr vert="horz" wrap="square" lIns="0" tIns="0" rIns="0" bIns="0" rtlCol="0" anchor="t">
            <a:noAutofit/>
          </a:bodyPr>
          <a:lstStyle>
            <a:lvl1pPr algn="l" defTabSz="932742" rtl="0" eaLnBrk="1" latinLnBrk="0" hangingPunct="1">
              <a:lnSpc>
                <a:spcPct val="100000"/>
              </a:lnSpc>
              <a:spcBef>
                <a:spcPct val="0"/>
              </a:spcBef>
              <a:buNone/>
              <a:defRPr kumimoji="0" lang="en-GB" sz="3200" b="0" i="0" u="none" strike="noStrike" kern="1200" cap="none" spc="0" normalizeH="0" baseline="0" dirty="0">
                <a:ln>
                  <a:noFill/>
                </a:ln>
                <a:solidFill>
                  <a:srgbClr val="FFFFFF"/>
                </a:solidFill>
                <a:effectLst/>
                <a:uLnTx/>
                <a:uFillTx/>
                <a:latin typeface="Segoe Sans Text Semibold"/>
                <a:ea typeface="+mn-ea"/>
                <a:cs typeface="+mn-cs"/>
              </a:defRPr>
            </a:lvl1pPr>
          </a:lstStyle>
          <a:p>
            <a:pPr defTabSz="914367">
              <a:buSzPct val="90000"/>
              <a:defRPr/>
            </a:pPr>
            <a:r>
              <a:rPr lang="en-GB" sz="1800">
                <a:solidFill>
                  <a:schemeClr val="bg1"/>
                </a:solidFill>
                <a:latin typeface="+mj-lt"/>
                <a:cs typeface="Segoe Sans Display Semibold" pitchFamily="2" charset="0"/>
              </a:rPr>
              <a:t>Benchmark Datasets:</a:t>
            </a:r>
          </a:p>
        </p:txBody>
      </p:sp>
      <p:sp>
        <p:nvSpPr>
          <p:cNvPr id="8" name="Content Placeholder 2">
            <a:extLst>
              <a:ext uri="{FF2B5EF4-FFF2-40B4-BE49-F238E27FC236}">
                <a16:creationId xmlns:a16="http://schemas.microsoft.com/office/drawing/2014/main" id="{97D1E88D-F76F-1AD8-3CFA-435162CEA28C}"/>
              </a:ext>
            </a:extLst>
          </p:cNvPr>
          <p:cNvSpPr txBox="1">
            <a:spLocks/>
          </p:cNvSpPr>
          <p:nvPr/>
        </p:nvSpPr>
        <p:spPr>
          <a:xfrm>
            <a:off x="7223921" y="4418467"/>
            <a:ext cx="3979333"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defTabSz="609630" fontAlgn="base">
              <a:spcBef>
                <a:spcPts val="1200"/>
              </a:spcBef>
              <a:spcAft>
                <a:spcPct val="0"/>
              </a:spcAft>
              <a:buNone/>
              <a:defRPr/>
            </a:pPr>
            <a:r>
              <a:rPr lang="en-GB" sz="1400" spc="-49" err="1">
                <a:ln w="3175">
                  <a:noFill/>
                </a:ln>
                <a:solidFill>
                  <a:srgbClr val="FFFFFF"/>
                </a:solidFill>
              </a:rPr>
              <a:t>Human_eval</a:t>
            </a:r>
            <a:endParaRPr lang="en-GB" sz="1400" spc="-49">
              <a:ln w="3175">
                <a:noFill/>
              </a:ln>
              <a:solidFill>
                <a:srgbClr val="FFFFFF"/>
              </a:solidFill>
            </a:endParaRPr>
          </a:p>
        </p:txBody>
      </p:sp>
      <p:sp>
        <p:nvSpPr>
          <p:cNvPr id="10" name="Content Placeholder 2">
            <a:extLst>
              <a:ext uri="{FF2B5EF4-FFF2-40B4-BE49-F238E27FC236}">
                <a16:creationId xmlns:a16="http://schemas.microsoft.com/office/drawing/2014/main" id="{F7FFF3FA-F96A-5881-A40E-7515EA50C20F}"/>
              </a:ext>
            </a:extLst>
          </p:cNvPr>
          <p:cNvSpPr txBox="1">
            <a:spLocks/>
          </p:cNvSpPr>
          <p:nvPr/>
        </p:nvSpPr>
        <p:spPr>
          <a:xfrm>
            <a:off x="7223921" y="5091677"/>
            <a:ext cx="372830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defTabSz="609630" fontAlgn="base">
              <a:spcBef>
                <a:spcPts val="1200"/>
              </a:spcBef>
              <a:spcAft>
                <a:spcPct val="0"/>
              </a:spcAft>
              <a:buNone/>
              <a:defRPr/>
            </a:pPr>
            <a:r>
              <a:rPr lang="en-GB" sz="1400" spc="-49">
                <a:ln w="3175">
                  <a:noFill/>
                </a:ln>
                <a:solidFill>
                  <a:srgbClr val="FFFFFF"/>
                </a:solidFill>
              </a:rPr>
              <a:t>Truthfulqa_generation</a:t>
            </a:r>
          </a:p>
        </p:txBody>
      </p:sp>
      <p:sp>
        <p:nvSpPr>
          <p:cNvPr id="12" name="Content Placeholder 2">
            <a:extLst>
              <a:ext uri="{FF2B5EF4-FFF2-40B4-BE49-F238E27FC236}">
                <a16:creationId xmlns:a16="http://schemas.microsoft.com/office/drawing/2014/main" id="{B95F27E3-6705-84B3-A2BC-DF4E551F3D35}"/>
              </a:ext>
            </a:extLst>
          </p:cNvPr>
          <p:cNvSpPr txBox="1">
            <a:spLocks/>
          </p:cNvSpPr>
          <p:nvPr/>
        </p:nvSpPr>
        <p:spPr>
          <a:xfrm>
            <a:off x="7223921" y="5764887"/>
            <a:ext cx="372830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defTabSz="609630" fontAlgn="base">
              <a:spcBef>
                <a:spcPts val="1200"/>
              </a:spcBef>
              <a:spcAft>
                <a:spcPct val="0"/>
              </a:spcAft>
              <a:buNone/>
              <a:defRPr/>
            </a:pPr>
            <a:r>
              <a:rPr lang="en-GB" sz="1400" spc="-49" err="1">
                <a:ln w="3175">
                  <a:noFill/>
                </a:ln>
                <a:solidFill>
                  <a:srgbClr val="FFFFFF"/>
                </a:solidFill>
              </a:rPr>
              <a:t>OpenBookQA</a:t>
            </a:r>
            <a:r>
              <a:rPr lang="en-GB" sz="1400" spc="-49">
                <a:ln w="3175">
                  <a:noFill/>
                </a:ln>
                <a:solidFill>
                  <a:srgbClr val="FFFFFF"/>
                </a:solidFill>
              </a:rPr>
              <a:t> </a:t>
            </a:r>
          </a:p>
        </p:txBody>
      </p:sp>
      <p:pic>
        <p:nvPicPr>
          <p:cNvPr id="4" name="Picture 3">
            <a:extLst>
              <a:ext uri="{FF2B5EF4-FFF2-40B4-BE49-F238E27FC236}">
                <a16:creationId xmlns:a16="http://schemas.microsoft.com/office/drawing/2014/main" id="{529D0E3E-70C0-A882-4395-D07CA98ADBE9}"/>
              </a:ext>
            </a:extLst>
          </p:cNvPr>
          <p:cNvPicPr>
            <a:picLocks noChangeAspect="1"/>
          </p:cNvPicPr>
          <p:nvPr/>
        </p:nvPicPr>
        <p:blipFill>
          <a:blip r:embed="rId3"/>
          <a:srcRect r="8471" b="-2"/>
          <a:stretch/>
        </p:blipFill>
        <p:spPr>
          <a:xfrm>
            <a:off x="832804" y="2158798"/>
            <a:ext cx="5214937" cy="4187825"/>
          </a:xfrm>
          <a:prstGeom prst="rect">
            <a:avLst/>
          </a:prstGeom>
          <a:noFill/>
        </p:spPr>
      </p:pic>
      <p:pic>
        <p:nvPicPr>
          <p:cNvPr id="13" name="Picture 12">
            <a:extLst>
              <a:ext uri="{FF2B5EF4-FFF2-40B4-BE49-F238E27FC236}">
                <a16:creationId xmlns:a16="http://schemas.microsoft.com/office/drawing/2014/main" id="{684D4086-A8E2-CC2C-04F1-795734636A42}"/>
              </a:ext>
            </a:extLst>
          </p:cNvPr>
          <p:cNvPicPr>
            <a:picLocks noChangeAspect="1"/>
          </p:cNvPicPr>
          <p:nvPr/>
        </p:nvPicPr>
        <p:blipFill>
          <a:blip r:embed="rId4"/>
          <a:srcRect r="14075" b="-2"/>
          <a:stretch/>
        </p:blipFill>
        <p:spPr>
          <a:xfrm>
            <a:off x="6167237" y="2164339"/>
            <a:ext cx="5214937" cy="4187825"/>
          </a:xfrm>
          <a:prstGeom prst="rect">
            <a:avLst/>
          </a:prstGeom>
          <a:noFill/>
        </p:spPr>
      </p:pic>
      <p:sp>
        <p:nvSpPr>
          <p:cNvPr id="14" name="Rectangle: Rounded Corners 13">
            <a:extLst>
              <a:ext uri="{FF2B5EF4-FFF2-40B4-BE49-F238E27FC236}">
                <a16:creationId xmlns:a16="http://schemas.microsoft.com/office/drawing/2014/main" id="{847313A3-BFA5-5612-4D5E-AF028FC2E73E}"/>
              </a:ext>
            </a:extLst>
          </p:cNvPr>
          <p:cNvSpPr/>
          <p:nvPr/>
        </p:nvSpPr>
        <p:spPr bwMode="auto">
          <a:xfrm>
            <a:off x="845938" y="1691248"/>
            <a:ext cx="5183559" cy="359183"/>
          </a:xfrm>
          <a:prstGeom prst="roundRect">
            <a:avLst>
              <a:gd name="adj" fmla="val 12662"/>
            </a:avLst>
          </a:prstGeom>
          <a:solidFill>
            <a:schemeClr val="accent2"/>
          </a:soli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rgbClr val="FFFFFF"/>
                </a:solidFill>
                <a:latin typeface="Segoe Sans Text ExtraBold" pitchFamily="2" charset="0"/>
                <a:cs typeface="Segoe Sans Text ExtraBold" pitchFamily="2" charset="0"/>
              </a:rPr>
              <a:t>Automated Evaluation</a:t>
            </a:r>
          </a:p>
        </p:txBody>
      </p:sp>
      <p:sp>
        <p:nvSpPr>
          <p:cNvPr id="15" name="Rectangle: Rounded Corners 14">
            <a:extLst>
              <a:ext uri="{FF2B5EF4-FFF2-40B4-BE49-F238E27FC236}">
                <a16:creationId xmlns:a16="http://schemas.microsoft.com/office/drawing/2014/main" id="{51158B4F-E72A-04D8-A13F-06AF94F36D13}"/>
              </a:ext>
            </a:extLst>
          </p:cNvPr>
          <p:cNvSpPr/>
          <p:nvPr/>
        </p:nvSpPr>
        <p:spPr bwMode="auto">
          <a:xfrm>
            <a:off x="6146687" y="1688477"/>
            <a:ext cx="5183559" cy="359183"/>
          </a:xfrm>
          <a:prstGeom prst="roundRect">
            <a:avLst>
              <a:gd name="adj" fmla="val 12662"/>
            </a:avLst>
          </a:prstGeom>
          <a:solidFill>
            <a:schemeClr val="accent2"/>
          </a:soli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rgbClr val="FFFFFF"/>
                </a:solidFill>
                <a:latin typeface="Segoe Sans Text ExtraBold" pitchFamily="2" charset="0"/>
                <a:cs typeface="Segoe Sans Text ExtraBold" pitchFamily="2" charset="0"/>
              </a:rPr>
              <a:t>Manual Evaluation</a:t>
            </a:r>
          </a:p>
        </p:txBody>
      </p:sp>
    </p:spTree>
    <p:extLst>
      <p:ext uri="{BB962C8B-B14F-4D97-AF65-F5344CB8AC3E}">
        <p14:creationId xmlns:p14="http://schemas.microsoft.com/office/powerpoint/2010/main" val="37930602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250" fill="hold"/>
                                        <p:tgtEl>
                                          <p:spTgt spid="83"/>
                                        </p:tgtEl>
                                        <p:attrNameLst>
                                          <p:attrName>ppt_w</p:attrName>
                                        </p:attrNameLst>
                                      </p:cBhvr>
                                      <p:tavLst>
                                        <p:tav tm="0">
                                          <p:val>
                                            <p:strVal val="2/3*#ppt_w"/>
                                          </p:val>
                                        </p:tav>
                                        <p:tav tm="100000">
                                          <p:val>
                                            <p:strVal val="#ppt_w"/>
                                          </p:val>
                                        </p:tav>
                                      </p:tavLst>
                                    </p:anim>
                                    <p:anim calcmode="lin" valueType="num">
                                      <p:cBhvr>
                                        <p:cTn id="8" dur="250" fill="hold"/>
                                        <p:tgtEl>
                                          <p:spTgt spid="83"/>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fade">
                                      <p:cBhvr>
                                        <p:cTn id="11" dur="500"/>
                                        <p:tgtEl>
                                          <p:spTgt spid="83"/>
                                        </p:tgtEl>
                                      </p:cBhvr>
                                    </p:animEffect>
                                  </p:childTnLst>
                                </p:cTn>
                              </p:par>
                              <p:par>
                                <p:cTn id="12" presetID="6" presetClass="emph" presetSubtype="0" fill="hold" grpId="2" nodeType="withEffect">
                                  <p:stCondLst>
                                    <p:cond delay="0"/>
                                  </p:stCondLst>
                                  <p:childTnLst>
                                    <p:animScale>
                                      <p:cBhvr>
                                        <p:cTn id="13" dur="10" fill="hold"/>
                                        <p:tgtEl>
                                          <p:spTgt spid="83"/>
                                        </p:tgtEl>
                                      </p:cBhvr>
                                      <p:by x="80000" y="80000"/>
                                    </p:animScale>
                                  </p:childTnLst>
                                </p:cTn>
                              </p:par>
                              <p:par>
                                <p:cTn id="14" presetID="6" presetClass="emph" presetSubtype="0" decel="100000" fill="hold" grpId="3" nodeType="withEffect">
                                  <p:stCondLst>
                                    <p:cond delay="0"/>
                                  </p:stCondLst>
                                  <p:childTnLst>
                                    <p:animScale>
                                      <p:cBhvr>
                                        <p:cTn id="15" dur="1000" fill="hold"/>
                                        <p:tgtEl>
                                          <p:spTgt spid="83"/>
                                        </p:tgtEl>
                                      </p:cBhvr>
                                      <p:by x="125000" y="125000"/>
                                    </p:animScale>
                                  </p:childTnLst>
                                </p:cTn>
                              </p:par>
                              <p:par>
                                <p:cTn id="16" presetID="23" presetClass="entr" presetSubtype="272" fill="hold" grpId="0" nodeType="withEffect">
                                  <p:stCondLst>
                                    <p:cond delay="250"/>
                                  </p:stCondLst>
                                  <p:childTnLst>
                                    <p:set>
                                      <p:cBhvr>
                                        <p:cTn id="17" dur="1" fill="hold">
                                          <p:stCondLst>
                                            <p:cond delay="0"/>
                                          </p:stCondLst>
                                        </p:cTn>
                                        <p:tgtEl>
                                          <p:spTgt spid="86"/>
                                        </p:tgtEl>
                                        <p:attrNameLst>
                                          <p:attrName>style.visibility</p:attrName>
                                        </p:attrNameLst>
                                      </p:cBhvr>
                                      <p:to>
                                        <p:strVal val="visible"/>
                                      </p:to>
                                    </p:set>
                                    <p:anim calcmode="lin" valueType="num">
                                      <p:cBhvr>
                                        <p:cTn id="18" dur="250" fill="hold"/>
                                        <p:tgtEl>
                                          <p:spTgt spid="86"/>
                                        </p:tgtEl>
                                        <p:attrNameLst>
                                          <p:attrName>ppt_w</p:attrName>
                                        </p:attrNameLst>
                                      </p:cBhvr>
                                      <p:tavLst>
                                        <p:tav tm="0">
                                          <p:val>
                                            <p:strVal val="2/3*#ppt_w"/>
                                          </p:val>
                                        </p:tav>
                                        <p:tav tm="100000">
                                          <p:val>
                                            <p:strVal val="#ppt_w"/>
                                          </p:val>
                                        </p:tav>
                                      </p:tavLst>
                                    </p:anim>
                                    <p:anim calcmode="lin" valueType="num">
                                      <p:cBhvr>
                                        <p:cTn id="19" dur="250" fill="hold"/>
                                        <p:tgtEl>
                                          <p:spTgt spid="86"/>
                                        </p:tgtEl>
                                        <p:attrNameLst>
                                          <p:attrName>ppt_h</p:attrName>
                                        </p:attrNameLst>
                                      </p:cBhvr>
                                      <p:tavLst>
                                        <p:tav tm="0">
                                          <p:val>
                                            <p:strVal val="2/3*#ppt_h"/>
                                          </p:val>
                                        </p:tav>
                                        <p:tav tm="100000">
                                          <p:val>
                                            <p:strVal val="#ppt_h"/>
                                          </p:val>
                                        </p:tav>
                                      </p:tavLst>
                                    </p:anim>
                                  </p:childTnLst>
                                </p:cTn>
                              </p:par>
                              <p:par>
                                <p:cTn id="20" presetID="10" presetClass="entr" presetSubtype="0" fill="hold" grpId="1" nodeType="withEffect">
                                  <p:stCondLst>
                                    <p:cond delay="250"/>
                                  </p:stCondLst>
                                  <p:childTnLst>
                                    <p:set>
                                      <p:cBhvr>
                                        <p:cTn id="21" dur="1" fill="hold">
                                          <p:stCondLst>
                                            <p:cond delay="0"/>
                                          </p:stCondLst>
                                        </p:cTn>
                                        <p:tgtEl>
                                          <p:spTgt spid="86"/>
                                        </p:tgtEl>
                                        <p:attrNameLst>
                                          <p:attrName>style.visibility</p:attrName>
                                        </p:attrNameLst>
                                      </p:cBhvr>
                                      <p:to>
                                        <p:strVal val="visible"/>
                                      </p:to>
                                    </p:set>
                                    <p:animEffect transition="in" filter="fade">
                                      <p:cBhvr>
                                        <p:cTn id="22" dur="500"/>
                                        <p:tgtEl>
                                          <p:spTgt spid="86"/>
                                        </p:tgtEl>
                                      </p:cBhvr>
                                    </p:animEffect>
                                  </p:childTnLst>
                                </p:cTn>
                              </p:par>
                              <p:par>
                                <p:cTn id="23" presetID="6" presetClass="emph" presetSubtype="0" fill="hold" grpId="2" nodeType="withEffect">
                                  <p:stCondLst>
                                    <p:cond delay="250"/>
                                  </p:stCondLst>
                                  <p:childTnLst>
                                    <p:animScale>
                                      <p:cBhvr>
                                        <p:cTn id="24" dur="10" fill="hold"/>
                                        <p:tgtEl>
                                          <p:spTgt spid="86"/>
                                        </p:tgtEl>
                                      </p:cBhvr>
                                      <p:by x="80000" y="80000"/>
                                    </p:animScale>
                                  </p:childTnLst>
                                </p:cTn>
                              </p:par>
                              <p:par>
                                <p:cTn id="25" presetID="6" presetClass="emph" presetSubtype="0" decel="100000" fill="hold" grpId="3" nodeType="withEffect">
                                  <p:stCondLst>
                                    <p:cond delay="250"/>
                                  </p:stCondLst>
                                  <p:childTnLst>
                                    <p:animScale>
                                      <p:cBhvr>
                                        <p:cTn id="26" dur="1000" fill="hold"/>
                                        <p:tgtEl>
                                          <p:spTgt spid="86"/>
                                        </p:tgtEl>
                                      </p:cBhvr>
                                      <p:by x="125000" y="125000"/>
                                    </p:animScale>
                                  </p:childTnLst>
                                </p:cTn>
                              </p:par>
                              <p:par>
                                <p:cTn id="27" presetID="10" presetClass="entr" presetSubtype="0" fill="hold" grpId="0" nodeType="withEffect">
                                  <p:stCondLst>
                                    <p:cond delay="30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par>
                                <p:cTn id="30" presetID="23" presetClass="entr" presetSubtype="272" fill="hold" grpId="0" nodeType="withEffect">
                                  <p:stCondLst>
                                    <p:cond delay="250"/>
                                  </p:stCondLst>
                                  <p:childTnLst>
                                    <p:set>
                                      <p:cBhvr>
                                        <p:cTn id="31" dur="1" fill="hold">
                                          <p:stCondLst>
                                            <p:cond delay="0"/>
                                          </p:stCondLst>
                                        </p:cTn>
                                        <p:tgtEl>
                                          <p:spTgt spid="132"/>
                                        </p:tgtEl>
                                        <p:attrNameLst>
                                          <p:attrName>style.visibility</p:attrName>
                                        </p:attrNameLst>
                                      </p:cBhvr>
                                      <p:to>
                                        <p:strVal val="visible"/>
                                      </p:to>
                                    </p:set>
                                    <p:anim calcmode="lin" valueType="num">
                                      <p:cBhvr>
                                        <p:cTn id="32" dur="250" fill="hold"/>
                                        <p:tgtEl>
                                          <p:spTgt spid="132"/>
                                        </p:tgtEl>
                                        <p:attrNameLst>
                                          <p:attrName>ppt_w</p:attrName>
                                        </p:attrNameLst>
                                      </p:cBhvr>
                                      <p:tavLst>
                                        <p:tav tm="0">
                                          <p:val>
                                            <p:strVal val="2/3*#ppt_w"/>
                                          </p:val>
                                        </p:tav>
                                        <p:tav tm="100000">
                                          <p:val>
                                            <p:strVal val="#ppt_w"/>
                                          </p:val>
                                        </p:tav>
                                      </p:tavLst>
                                    </p:anim>
                                    <p:anim calcmode="lin" valueType="num">
                                      <p:cBhvr>
                                        <p:cTn id="33" dur="250" fill="hold"/>
                                        <p:tgtEl>
                                          <p:spTgt spid="132"/>
                                        </p:tgtEl>
                                        <p:attrNameLst>
                                          <p:attrName>ppt_h</p:attrName>
                                        </p:attrNameLst>
                                      </p:cBhvr>
                                      <p:tavLst>
                                        <p:tav tm="0">
                                          <p:val>
                                            <p:strVal val="2/3*#ppt_h"/>
                                          </p:val>
                                        </p:tav>
                                        <p:tav tm="100000">
                                          <p:val>
                                            <p:strVal val="#ppt_h"/>
                                          </p:val>
                                        </p:tav>
                                      </p:tavLst>
                                    </p:anim>
                                  </p:childTnLst>
                                </p:cTn>
                              </p:par>
                              <p:par>
                                <p:cTn id="34" presetID="10" presetClass="entr" presetSubtype="0" fill="hold" grpId="1" nodeType="withEffect">
                                  <p:stCondLst>
                                    <p:cond delay="250"/>
                                  </p:stCondLst>
                                  <p:childTnLst>
                                    <p:set>
                                      <p:cBhvr>
                                        <p:cTn id="35" dur="1" fill="hold">
                                          <p:stCondLst>
                                            <p:cond delay="0"/>
                                          </p:stCondLst>
                                        </p:cTn>
                                        <p:tgtEl>
                                          <p:spTgt spid="132"/>
                                        </p:tgtEl>
                                        <p:attrNameLst>
                                          <p:attrName>style.visibility</p:attrName>
                                        </p:attrNameLst>
                                      </p:cBhvr>
                                      <p:to>
                                        <p:strVal val="visible"/>
                                      </p:to>
                                    </p:set>
                                    <p:animEffect transition="in" filter="fade">
                                      <p:cBhvr>
                                        <p:cTn id="36" dur="500"/>
                                        <p:tgtEl>
                                          <p:spTgt spid="132"/>
                                        </p:tgtEl>
                                      </p:cBhvr>
                                    </p:animEffect>
                                  </p:childTnLst>
                                </p:cTn>
                              </p:par>
                              <p:par>
                                <p:cTn id="37" presetID="6" presetClass="emph" presetSubtype="0" fill="hold" grpId="2" nodeType="withEffect">
                                  <p:stCondLst>
                                    <p:cond delay="250"/>
                                  </p:stCondLst>
                                  <p:childTnLst>
                                    <p:animScale>
                                      <p:cBhvr>
                                        <p:cTn id="38" dur="10" fill="hold"/>
                                        <p:tgtEl>
                                          <p:spTgt spid="132"/>
                                        </p:tgtEl>
                                      </p:cBhvr>
                                      <p:by x="80000" y="80000"/>
                                    </p:animScale>
                                  </p:childTnLst>
                                </p:cTn>
                              </p:par>
                              <p:par>
                                <p:cTn id="39" presetID="6" presetClass="emph" presetSubtype="0" decel="100000" fill="hold" grpId="3" nodeType="withEffect">
                                  <p:stCondLst>
                                    <p:cond delay="250"/>
                                  </p:stCondLst>
                                  <p:childTnLst>
                                    <p:animScale>
                                      <p:cBhvr>
                                        <p:cTn id="40" dur="1000" fill="hold"/>
                                        <p:tgtEl>
                                          <p:spTgt spid="132"/>
                                        </p:tgtEl>
                                      </p:cBhvr>
                                      <p:by x="125000" y="125000"/>
                                    </p:animScale>
                                  </p:childTnLst>
                                </p:cTn>
                              </p:par>
                              <p:par>
                                <p:cTn id="41" presetID="23" presetClass="entr" presetSubtype="272" fill="hold" grpId="0" nodeType="withEffect">
                                  <p:stCondLst>
                                    <p:cond delay="250"/>
                                  </p:stCondLst>
                                  <p:childTnLst>
                                    <p:set>
                                      <p:cBhvr>
                                        <p:cTn id="42" dur="1" fill="hold">
                                          <p:stCondLst>
                                            <p:cond delay="0"/>
                                          </p:stCondLst>
                                        </p:cTn>
                                        <p:tgtEl>
                                          <p:spTgt spid="8"/>
                                        </p:tgtEl>
                                        <p:attrNameLst>
                                          <p:attrName>style.visibility</p:attrName>
                                        </p:attrNameLst>
                                      </p:cBhvr>
                                      <p:to>
                                        <p:strVal val="visible"/>
                                      </p:to>
                                    </p:set>
                                    <p:anim calcmode="lin" valueType="num">
                                      <p:cBhvr>
                                        <p:cTn id="43" dur="250" fill="hold"/>
                                        <p:tgtEl>
                                          <p:spTgt spid="8"/>
                                        </p:tgtEl>
                                        <p:attrNameLst>
                                          <p:attrName>ppt_w</p:attrName>
                                        </p:attrNameLst>
                                      </p:cBhvr>
                                      <p:tavLst>
                                        <p:tav tm="0">
                                          <p:val>
                                            <p:strVal val="2/3*#ppt_w"/>
                                          </p:val>
                                        </p:tav>
                                        <p:tav tm="100000">
                                          <p:val>
                                            <p:strVal val="#ppt_w"/>
                                          </p:val>
                                        </p:tav>
                                      </p:tavLst>
                                    </p:anim>
                                    <p:anim calcmode="lin" valueType="num">
                                      <p:cBhvr>
                                        <p:cTn id="44" dur="250" fill="hold"/>
                                        <p:tgtEl>
                                          <p:spTgt spid="8"/>
                                        </p:tgtEl>
                                        <p:attrNameLst>
                                          <p:attrName>ppt_h</p:attrName>
                                        </p:attrNameLst>
                                      </p:cBhvr>
                                      <p:tavLst>
                                        <p:tav tm="0">
                                          <p:val>
                                            <p:strVal val="2/3*#ppt_h"/>
                                          </p:val>
                                        </p:tav>
                                        <p:tav tm="100000">
                                          <p:val>
                                            <p:strVal val="#ppt_h"/>
                                          </p:val>
                                        </p:tav>
                                      </p:tavLst>
                                    </p:anim>
                                  </p:childTnLst>
                                </p:cTn>
                              </p:par>
                              <p:par>
                                <p:cTn id="45" presetID="10" presetClass="entr" presetSubtype="0" fill="hold" grpId="1" nodeType="withEffect">
                                  <p:stCondLst>
                                    <p:cond delay="25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par>
                                <p:cTn id="48" presetID="6" presetClass="emph" presetSubtype="0" fill="hold" grpId="2" nodeType="withEffect">
                                  <p:stCondLst>
                                    <p:cond delay="250"/>
                                  </p:stCondLst>
                                  <p:childTnLst>
                                    <p:animScale>
                                      <p:cBhvr>
                                        <p:cTn id="49" dur="10" fill="hold"/>
                                        <p:tgtEl>
                                          <p:spTgt spid="8"/>
                                        </p:tgtEl>
                                      </p:cBhvr>
                                      <p:by x="80000" y="80000"/>
                                    </p:animScale>
                                  </p:childTnLst>
                                </p:cTn>
                              </p:par>
                              <p:par>
                                <p:cTn id="50" presetID="6" presetClass="emph" presetSubtype="0" decel="100000" fill="hold" grpId="3" nodeType="withEffect">
                                  <p:stCondLst>
                                    <p:cond delay="250"/>
                                  </p:stCondLst>
                                  <p:childTnLst>
                                    <p:animScale>
                                      <p:cBhvr>
                                        <p:cTn id="51" dur="1000" fill="hold"/>
                                        <p:tgtEl>
                                          <p:spTgt spid="8"/>
                                        </p:tgtEl>
                                      </p:cBhvr>
                                      <p:by x="125000" y="125000"/>
                                    </p:animScale>
                                  </p:childTnLst>
                                </p:cTn>
                              </p:par>
                              <p:par>
                                <p:cTn id="52" presetID="10" presetClass="entr" presetSubtype="0" fill="hold" grpId="0" nodeType="withEffect">
                                  <p:stCondLst>
                                    <p:cond delay="300"/>
                                  </p:stCondLst>
                                  <p:childTnLst>
                                    <p:set>
                                      <p:cBhvr>
                                        <p:cTn id="53" dur="1" fill="hold">
                                          <p:stCondLst>
                                            <p:cond delay="0"/>
                                          </p:stCondLst>
                                        </p:cTn>
                                        <p:tgtEl>
                                          <p:spTgt spid="5"/>
                                        </p:tgtEl>
                                        <p:attrNameLst>
                                          <p:attrName>style.visibility</p:attrName>
                                        </p:attrNameLst>
                                      </p:cBhvr>
                                      <p:to>
                                        <p:strVal val="visible"/>
                                      </p:to>
                                    </p:set>
                                    <p:animEffect transition="in" filter="fade">
                                      <p:cBhvr>
                                        <p:cTn id="54" dur="500"/>
                                        <p:tgtEl>
                                          <p:spTgt spid="5"/>
                                        </p:tgtEl>
                                      </p:cBhvr>
                                    </p:animEffect>
                                  </p:childTnLst>
                                </p:cTn>
                              </p:par>
                              <p:par>
                                <p:cTn id="55" presetID="23" presetClass="entr" presetSubtype="272" fill="hold" grpId="0" nodeType="withEffect">
                                  <p:stCondLst>
                                    <p:cond delay="250"/>
                                  </p:stCondLst>
                                  <p:childTnLst>
                                    <p:set>
                                      <p:cBhvr>
                                        <p:cTn id="56" dur="1" fill="hold">
                                          <p:stCondLst>
                                            <p:cond delay="0"/>
                                          </p:stCondLst>
                                        </p:cTn>
                                        <p:tgtEl>
                                          <p:spTgt spid="10"/>
                                        </p:tgtEl>
                                        <p:attrNameLst>
                                          <p:attrName>style.visibility</p:attrName>
                                        </p:attrNameLst>
                                      </p:cBhvr>
                                      <p:to>
                                        <p:strVal val="visible"/>
                                      </p:to>
                                    </p:set>
                                    <p:anim calcmode="lin" valueType="num">
                                      <p:cBhvr>
                                        <p:cTn id="57" dur="250" fill="hold"/>
                                        <p:tgtEl>
                                          <p:spTgt spid="10"/>
                                        </p:tgtEl>
                                        <p:attrNameLst>
                                          <p:attrName>ppt_w</p:attrName>
                                        </p:attrNameLst>
                                      </p:cBhvr>
                                      <p:tavLst>
                                        <p:tav tm="0">
                                          <p:val>
                                            <p:strVal val="2/3*#ppt_w"/>
                                          </p:val>
                                        </p:tav>
                                        <p:tav tm="100000">
                                          <p:val>
                                            <p:strVal val="#ppt_w"/>
                                          </p:val>
                                        </p:tav>
                                      </p:tavLst>
                                    </p:anim>
                                    <p:anim calcmode="lin" valueType="num">
                                      <p:cBhvr>
                                        <p:cTn id="58" dur="250" fill="hold"/>
                                        <p:tgtEl>
                                          <p:spTgt spid="10"/>
                                        </p:tgtEl>
                                        <p:attrNameLst>
                                          <p:attrName>ppt_h</p:attrName>
                                        </p:attrNameLst>
                                      </p:cBhvr>
                                      <p:tavLst>
                                        <p:tav tm="0">
                                          <p:val>
                                            <p:strVal val="2/3*#ppt_h"/>
                                          </p:val>
                                        </p:tav>
                                        <p:tav tm="100000">
                                          <p:val>
                                            <p:strVal val="#ppt_h"/>
                                          </p:val>
                                        </p:tav>
                                      </p:tavLst>
                                    </p:anim>
                                  </p:childTnLst>
                                </p:cTn>
                              </p:par>
                              <p:par>
                                <p:cTn id="59" presetID="10" presetClass="entr" presetSubtype="0" fill="hold" grpId="1" nodeType="withEffect">
                                  <p:stCondLst>
                                    <p:cond delay="25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par>
                                <p:cTn id="62" presetID="6" presetClass="emph" presetSubtype="0" fill="hold" grpId="2" nodeType="withEffect">
                                  <p:stCondLst>
                                    <p:cond delay="250"/>
                                  </p:stCondLst>
                                  <p:childTnLst>
                                    <p:animScale>
                                      <p:cBhvr>
                                        <p:cTn id="63" dur="10" fill="hold"/>
                                        <p:tgtEl>
                                          <p:spTgt spid="10"/>
                                        </p:tgtEl>
                                      </p:cBhvr>
                                      <p:by x="80000" y="80000"/>
                                    </p:animScale>
                                  </p:childTnLst>
                                </p:cTn>
                              </p:par>
                              <p:par>
                                <p:cTn id="64" presetID="6" presetClass="emph" presetSubtype="0" decel="100000" fill="hold" grpId="3" nodeType="withEffect">
                                  <p:stCondLst>
                                    <p:cond delay="250"/>
                                  </p:stCondLst>
                                  <p:childTnLst>
                                    <p:animScale>
                                      <p:cBhvr>
                                        <p:cTn id="65" dur="1000" fill="hold"/>
                                        <p:tgtEl>
                                          <p:spTgt spid="10"/>
                                        </p:tgtEl>
                                      </p:cBhvr>
                                      <p:by x="125000" y="125000"/>
                                    </p:animScale>
                                  </p:childTnLst>
                                </p:cTn>
                              </p:par>
                              <p:par>
                                <p:cTn id="66" presetID="23" presetClass="entr" presetSubtype="272" fill="hold" grpId="0" nodeType="withEffect">
                                  <p:stCondLst>
                                    <p:cond delay="250"/>
                                  </p:stCondLst>
                                  <p:childTnLst>
                                    <p:set>
                                      <p:cBhvr>
                                        <p:cTn id="67" dur="1" fill="hold">
                                          <p:stCondLst>
                                            <p:cond delay="0"/>
                                          </p:stCondLst>
                                        </p:cTn>
                                        <p:tgtEl>
                                          <p:spTgt spid="12"/>
                                        </p:tgtEl>
                                        <p:attrNameLst>
                                          <p:attrName>style.visibility</p:attrName>
                                        </p:attrNameLst>
                                      </p:cBhvr>
                                      <p:to>
                                        <p:strVal val="visible"/>
                                      </p:to>
                                    </p:set>
                                    <p:anim calcmode="lin" valueType="num">
                                      <p:cBhvr>
                                        <p:cTn id="68" dur="250" fill="hold"/>
                                        <p:tgtEl>
                                          <p:spTgt spid="12"/>
                                        </p:tgtEl>
                                        <p:attrNameLst>
                                          <p:attrName>ppt_w</p:attrName>
                                        </p:attrNameLst>
                                      </p:cBhvr>
                                      <p:tavLst>
                                        <p:tav tm="0">
                                          <p:val>
                                            <p:strVal val="2/3*#ppt_w"/>
                                          </p:val>
                                        </p:tav>
                                        <p:tav tm="100000">
                                          <p:val>
                                            <p:strVal val="#ppt_w"/>
                                          </p:val>
                                        </p:tav>
                                      </p:tavLst>
                                    </p:anim>
                                    <p:anim calcmode="lin" valueType="num">
                                      <p:cBhvr>
                                        <p:cTn id="69" dur="250" fill="hold"/>
                                        <p:tgtEl>
                                          <p:spTgt spid="12"/>
                                        </p:tgtEl>
                                        <p:attrNameLst>
                                          <p:attrName>ppt_h</p:attrName>
                                        </p:attrNameLst>
                                      </p:cBhvr>
                                      <p:tavLst>
                                        <p:tav tm="0">
                                          <p:val>
                                            <p:strVal val="2/3*#ppt_h"/>
                                          </p:val>
                                        </p:tav>
                                        <p:tav tm="100000">
                                          <p:val>
                                            <p:strVal val="#ppt_h"/>
                                          </p:val>
                                        </p:tav>
                                      </p:tavLst>
                                    </p:anim>
                                  </p:childTnLst>
                                </p:cTn>
                              </p:par>
                              <p:par>
                                <p:cTn id="70" presetID="10" presetClass="entr" presetSubtype="0" fill="hold" grpId="1" nodeType="withEffect">
                                  <p:stCondLst>
                                    <p:cond delay="25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500"/>
                                        <p:tgtEl>
                                          <p:spTgt spid="12"/>
                                        </p:tgtEl>
                                      </p:cBhvr>
                                    </p:animEffect>
                                  </p:childTnLst>
                                </p:cTn>
                              </p:par>
                              <p:par>
                                <p:cTn id="73" presetID="6" presetClass="emph" presetSubtype="0" fill="hold" grpId="2" nodeType="withEffect">
                                  <p:stCondLst>
                                    <p:cond delay="250"/>
                                  </p:stCondLst>
                                  <p:childTnLst>
                                    <p:animScale>
                                      <p:cBhvr>
                                        <p:cTn id="74" dur="10" fill="hold"/>
                                        <p:tgtEl>
                                          <p:spTgt spid="12"/>
                                        </p:tgtEl>
                                      </p:cBhvr>
                                      <p:by x="80000" y="80000"/>
                                    </p:animScale>
                                  </p:childTnLst>
                                </p:cTn>
                              </p:par>
                              <p:par>
                                <p:cTn id="75" presetID="6" presetClass="emph" presetSubtype="0" decel="100000" fill="hold" grpId="3" nodeType="withEffect">
                                  <p:stCondLst>
                                    <p:cond delay="250"/>
                                  </p:stCondLst>
                                  <p:childTnLst>
                                    <p:animScale>
                                      <p:cBhvr>
                                        <p:cTn id="76" dur="1000" fill="hold"/>
                                        <p:tgtEl>
                                          <p:spTgt spid="12"/>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3" grpId="0" animBg="1"/>
      <p:bldP spid="83" grpId="1" animBg="1"/>
      <p:bldP spid="83" grpId="2" animBg="1"/>
      <p:bldP spid="83" grpId="3" animBg="1"/>
      <p:bldP spid="86" grpId="0"/>
      <p:bldP spid="86" grpId="1"/>
      <p:bldP spid="86" grpId="2"/>
      <p:bldP spid="86" grpId="3"/>
      <p:bldP spid="132" grpId="0"/>
      <p:bldP spid="132" grpId="1"/>
      <p:bldP spid="132" grpId="2"/>
      <p:bldP spid="132" grpId="3"/>
      <p:bldP spid="5" grpId="0"/>
      <p:bldP spid="8" grpId="0"/>
      <p:bldP spid="8" grpId="1"/>
      <p:bldP spid="8" grpId="2"/>
      <p:bldP spid="8" grpId="3"/>
      <p:bldP spid="10" grpId="0"/>
      <p:bldP spid="10" grpId="1"/>
      <p:bldP spid="10" grpId="2"/>
      <p:bldP spid="10" grpId="3"/>
      <p:bldP spid="12" grpId="0"/>
      <p:bldP spid="12" grpId="1"/>
      <p:bldP spid="12" grpId="2"/>
      <p:bldP spid="12" grpId="3"/>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E65C2-5B89-D2F8-0F5B-DD69DD141014}"/>
            </a:ext>
          </a:extLst>
        </p:cNvPr>
        <p:cNvGrpSpPr/>
        <p:nvPr/>
      </p:nvGrpSpPr>
      <p:grpSpPr>
        <a:xfrm>
          <a:off x="0" y="0"/>
          <a:ext cx="0" cy="0"/>
          <a:chOff x="0" y="0"/>
          <a:chExt cx="0" cy="0"/>
        </a:xfrm>
      </p:grpSpPr>
      <p:sp>
        <p:nvSpPr>
          <p:cNvPr id="56" name="Title 55">
            <a:extLst>
              <a:ext uri="{FF2B5EF4-FFF2-40B4-BE49-F238E27FC236}">
                <a16:creationId xmlns:a16="http://schemas.microsoft.com/office/drawing/2014/main" id="{FE9D0B5A-1841-1013-70F7-571A3EED0C60}"/>
              </a:ext>
            </a:extLst>
          </p:cNvPr>
          <p:cNvSpPr>
            <a:spLocks noGrp="1"/>
          </p:cNvSpPr>
          <p:nvPr>
            <p:ph type="title" idx="4294967295"/>
          </p:nvPr>
        </p:nvSpPr>
        <p:spPr>
          <a:xfrm>
            <a:off x="236084" y="291962"/>
            <a:ext cx="11017250" cy="998538"/>
          </a:xfrm>
        </p:spPr>
        <p:txBody>
          <a:bodyPr/>
          <a:lstStyle/>
          <a:p>
            <a:r>
              <a:rPr lang="en-GB">
                <a:solidFill>
                  <a:schemeClr val="bg1"/>
                </a:solidFill>
              </a:rPr>
              <a:t>Automated Model Evaluation Options in AI Foundry</a:t>
            </a:r>
            <a:endParaRPr lang="en-US">
              <a:solidFill>
                <a:schemeClr val="bg1"/>
              </a:solidFill>
            </a:endParaRPr>
          </a:p>
        </p:txBody>
      </p:sp>
      <p:sp>
        <p:nvSpPr>
          <p:cNvPr id="83" name="Rectangle: Rounded Corners 82">
            <a:extLst>
              <a:ext uri="{FF2B5EF4-FFF2-40B4-BE49-F238E27FC236}">
                <a16:creationId xmlns:a16="http://schemas.microsoft.com/office/drawing/2014/main" id="{15ADFFDA-3EF0-6B06-30B3-F74B00A4A9E4}"/>
              </a:ext>
            </a:extLst>
          </p:cNvPr>
          <p:cNvSpPr>
            <a:spLocks/>
          </p:cNvSpPr>
          <p:nvPr/>
        </p:nvSpPr>
        <p:spPr bwMode="auto">
          <a:xfrm>
            <a:off x="601614" y="1251331"/>
            <a:ext cx="10934007" cy="523782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pic>
        <p:nvPicPr>
          <p:cNvPr id="125" name="Picture 124" descr="A blue circle with black background&#10;&#10;Description automatically generated">
            <a:extLst>
              <a:ext uri="{FF2B5EF4-FFF2-40B4-BE49-F238E27FC236}">
                <a16:creationId xmlns:a16="http://schemas.microsoft.com/office/drawing/2014/main" id="{9C8C15CC-778F-3496-522C-8CC30DDBFAA3}"/>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93719" y="5413483"/>
            <a:ext cx="281865" cy="281865"/>
          </a:xfrm>
          <a:prstGeom prst="rect">
            <a:avLst/>
          </a:prstGeom>
          <a:effectLst>
            <a:outerShdw blurRad="114300" dist="139700" dir="2700000" algn="tl" rotWithShape="0">
              <a:prstClr val="black">
                <a:alpha val="18000"/>
              </a:prstClr>
            </a:outerShdw>
          </a:effectLst>
        </p:spPr>
      </p:pic>
      <p:sp>
        <p:nvSpPr>
          <p:cNvPr id="14" name="Rectangle: Rounded Corners 13">
            <a:extLst>
              <a:ext uri="{FF2B5EF4-FFF2-40B4-BE49-F238E27FC236}">
                <a16:creationId xmlns:a16="http://schemas.microsoft.com/office/drawing/2014/main" id="{972D5CD0-DE05-8B1B-13BD-DF1F82F954E4}"/>
              </a:ext>
            </a:extLst>
          </p:cNvPr>
          <p:cNvSpPr/>
          <p:nvPr/>
        </p:nvSpPr>
        <p:spPr bwMode="auto">
          <a:xfrm>
            <a:off x="845938" y="1691248"/>
            <a:ext cx="5183559" cy="359183"/>
          </a:xfrm>
          <a:prstGeom prst="roundRect">
            <a:avLst>
              <a:gd name="adj" fmla="val 12662"/>
            </a:avLst>
          </a:prstGeom>
          <a:solidFill>
            <a:schemeClr val="accent2"/>
          </a:soli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rgbClr val="FFFFFF"/>
                </a:solidFill>
                <a:latin typeface="Segoe Sans Text ExtraBold" pitchFamily="2" charset="0"/>
                <a:cs typeface="Segoe Sans Text ExtraBold" pitchFamily="2" charset="0"/>
              </a:rPr>
              <a:t>Automated Evaluation</a:t>
            </a:r>
          </a:p>
        </p:txBody>
      </p:sp>
      <p:sp>
        <p:nvSpPr>
          <p:cNvPr id="15" name="Rectangle: Rounded Corners 14">
            <a:extLst>
              <a:ext uri="{FF2B5EF4-FFF2-40B4-BE49-F238E27FC236}">
                <a16:creationId xmlns:a16="http://schemas.microsoft.com/office/drawing/2014/main" id="{5D5287B7-D658-C79D-4F66-4878F55DAB76}"/>
              </a:ext>
            </a:extLst>
          </p:cNvPr>
          <p:cNvSpPr/>
          <p:nvPr/>
        </p:nvSpPr>
        <p:spPr bwMode="auto">
          <a:xfrm>
            <a:off x="6146687" y="1688477"/>
            <a:ext cx="5183559" cy="359183"/>
          </a:xfrm>
          <a:prstGeom prst="roundRect">
            <a:avLst>
              <a:gd name="adj" fmla="val 12662"/>
            </a:avLst>
          </a:prstGeom>
          <a:solidFill>
            <a:schemeClr val="accent2"/>
          </a:soli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400">
                <a:solidFill>
                  <a:srgbClr val="FFFFFF"/>
                </a:solidFill>
                <a:latin typeface="Segoe Sans Text ExtraBold" pitchFamily="2" charset="0"/>
                <a:cs typeface="Segoe Sans Text ExtraBold" pitchFamily="2" charset="0"/>
              </a:rPr>
              <a:t>Evaluation Outputs</a:t>
            </a:r>
          </a:p>
        </p:txBody>
      </p:sp>
      <p:pic>
        <p:nvPicPr>
          <p:cNvPr id="6" name="Picture 5">
            <a:extLst>
              <a:ext uri="{FF2B5EF4-FFF2-40B4-BE49-F238E27FC236}">
                <a16:creationId xmlns:a16="http://schemas.microsoft.com/office/drawing/2014/main" id="{82EF6066-0F5F-B0B4-A103-D77198910287}"/>
              </a:ext>
            </a:extLst>
          </p:cNvPr>
          <p:cNvPicPr>
            <a:picLocks noChangeAspect="1"/>
          </p:cNvPicPr>
          <p:nvPr/>
        </p:nvPicPr>
        <p:blipFill>
          <a:blip r:embed="rId4"/>
          <a:stretch>
            <a:fillRect/>
          </a:stretch>
        </p:blipFill>
        <p:spPr>
          <a:xfrm>
            <a:off x="954683" y="2116975"/>
            <a:ext cx="4975614" cy="4278244"/>
          </a:xfrm>
          <a:prstGeom prst="rect">
            <a:avLst/>
          </a:prstGeom>
        </p:spPr>
      </p:pic>
      <p:pic>
        <p:nvPicPr>
          <p:cNvPr id="9" name="Picture 8">
            <a:extLst>
              <a:ext uri="{FF2B5EF4-FFF2-40B4-BE49-F238E27FC236}">
                <a16:creationId xmlns:a16="http://schemas.microsoft.com/office/drawing/2014/main" id="{D42C8480-1F3C-7FC6-A28F-41A86A2CF41E}"/>
              </a:ext>
            </a:extLst>
          </p:cNvPr>
          <p:cNvPicPr>
            <a:picLocks noChangeAspect="1"/>
          </p:cNvPicPr>
          <p:nvPr/>
        </p:nvPicPr>
        <p:blipFill>
          <a:blip r:embed="rId5"/>
          <a:stretch>
            <a:fillRect/>
          </a:stretch>
        </p:blipFill>
        <p:spPr>
          <a:xfrm>
            <a:off x="6201144" y="2499360"/>
            <a:ext cx="5208299" cy="3382922"/>
          </a:xfrm>
          <a:prstGeom prst="rect">
            <a:avLst/>
          </a:prstGeom>
        </p:spPr>
      </p:pic>
    </p:spTree>
    <p:extLst>
      <p:ext uri="{BB962C8B-B14F-4D97-AF65-F5344CB8AC3E}">
        <p14:creationId xmlns:p14="http://schemas.microsoft.com/office/powerpoint/2010/main" val="232789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250" fill="hold"/>
                                        <p:tgtEl>
                                          <p:spTgt spid="83"/>
                                        </p:tgtEl>
                                        <p:attrNameLst>
                                          <p:attrName>ppt_w</p:attrName>
                                        </p:attrNameLst>
                                      </p:cBhvr>
                                      <p:tavLst>
                                        <p:tav tm="0">
                                          <p:val>
                                            <p:strVal val="2/3*#ppt_w"/>
                                          </p:val>
                                        </p:tav>
                                        <p:tav tm="100000">
                                          <p:val>
                                            <p:strVal val="#ppt_w"/>
                                          </p:val>
                                        </p:tav>
                                      </p:tavLst>
                                    </p:anim>
                                    <p:anim calcmode="lin" valueType="num">
                                      <p:cBhvr>
                                        <p:cTn id="8" dur="250" fill="hold"/>
                                        <p:tgtEl>
                                          <p:spTgt spid="83"/>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fade">
                                      <p:cBhvr>
                                        <p:cTn id="11" dur="500"/>
                                        <p:tgtEl>
                                          <p:spTgt spid="83"/>
                                        </p:tgtEl>
                                      </p:cBhvr>
                                    </p:animEffect>
                                  </p:childTnLst>
                                </p:cTn>
                              </p:par>
                              <p:par>
                                <p:cTn id="12" presetID="6" presetClass="emph" presetSubtype="0" fill="hold" grpId="2" nodeType="withEffect">
                                  <p:stCondLst>
                                    <p:cond delay="0"/>
                                  </p:stCondLst>
                                  <p:childTnLst>
                                    <p:animScale>
                                      <p:cBhvr>
                                        <p:cTn id="13" dur="10" fill="hold"/>
                                        <p:tgtEl>
                                          <p:spTgt spid="83"/>
                                        </p:tgtEl>
                                      </p:cBhvr>
                                      <p:by x="80000" y="80000"/>
                                    </p:animScale>
                                  </p:childTnLst>
                                </p:cTn>
                              </p:par>
                              <p:par>
                                <p:cTn id="14" presetID="6" presetClass="emph" presetSubtype="0" decel="100000" fill="hold" grpId="3" nodeType="withEffect">
                                  <p:stCondLst>
                                    <p:cond delay="0"/>
                                  </p:stCondLst>
                                  <p:childTnLst>
                                    <p:animScale>
                                      <p:cBhvr>
                                        <p:cTn id="15" dur="1000" fill="hold"/>
                                        <p:tgtEl>
                                          <p:spTgt spid="83"/>
                                        </p:tgtEl>
                                      </p:cBhvr>
                                      <p:by x="125000" y="125000"/>
                                    </p:animScale>
                                  </p:childTnLst>
                                </p:cTn>
                              </p:par>
                              <p:par>
                                <p:cTn id="16" presetID="23" presetClass="entr" presetSubtype="272" fill="hold" nodeType="withEffect">
                                  <p:stCondLst>
                                    <p:cond delay="300"/>
                                  </p:stCondLst>
                                  <p:childTnLst>
                                    <p:set>
                                      <p:cBhvr>
                                        <p:cTn id="17" dur="1" fill="hold">
                                          <p:stCondLst>
                                            <p:cond delay="0"/>
                                          </p:stCondLst>
                                        </p:cTn>
                                        <p:tgtEl>
                                          <p:spTgt spid="125"/>
                                        </p:tgtEl>
                                        <p:attrNameLst>
                                          <p:attrName>style.visibility</p:attrName>
                                        </p:attrNameLst>
                                      </p:cBhvr>
                                      <p:to>
                                        <p:strVal val="visible"/>
                                      </p:to>
                                    </p:set>
                                    <p:anim calcmode="lin" valueType="num">
                                      <p:cBhvr>
                                        <p:cTn id="18" dur="250" fill="hold"/>
                                        <p:tgtEl>
                                          <p:spTgt spid="125"/>
                                        </p:tgtEl>
                                        <p:attrNameLst>
                                          <p:attrName>ppt_w</p:attrName>
                                        </p:attrNameLst>
                                      </p:cBhvr>
                                      <p:tavLst>
                                        <p:tav tm="0">
                                          <p:val>
                                            <p:strVal val="2/3*#ppt_w"/>
                                          </p:val>
                                        </p:tav>
                                        <p:tav tm="100000">
                                          <p:val>
                                            <p:strVal val="#ppt_w"/>
                                          </p:val>
                                        </p:tav>
                                      </p:tavLst>
                                    </p:anim>
                                    <p:anim calcmode="lin" valueType="num">
                                      <p:cBhvr>
                                        <p:cTn id="19" dur="250" fill="hold"/>
                                        <p:tgtEl>
                                          <p:spTgt spid="125"/>
                                        </p:tgtEl>
                                        <p:attrNameLst>
                                          <p:attrName>ppt_h</p:attrName>
                                        </p:attrNameLst>
                                      </p:cBhvr>
                                      <p:tavLst>
                                        <p:tav tm="0">
                                          <p:val>
                                            <p:strVal val="2/3*#ppt_h"/>
                                          </p:val>
                                        </p:tav>
                                        <p:tav tm="100000">
                                          <p:val>
                                            <p:strVal val="#ppt_h"/>
                                          </p:val>
                                        </p:tav>
                                      </p:tavLst>
                                    </p:anim>
                                  </p:childTnLst>
                                </p:cTn>
                              </p:par>
                              <p:par>
                                <p:cTn id="20" presetID="10" presetClass="entr" presetSubtype="0" fill="hold" nodeType="withEffect">
                                  <p:stCondLst>
                                    <p:cond delay="300"/>
                                  </p:stCondLst>
                                  <p:childTnLst>
                                    <p:set>
                                      <p:cBhvr>
                                        <p:cTn id="21" dur="1" fill="hold">
                                          <p:stCondLst>
                                            <p:cond delay="0"/>
                                          </p:stCondLst>
                                        </p:cTn>
                                        <p:tgtEl>
                                          <p:spTgt spid="125"/>
                                        </p:tgtEl>
                                        <p:attrNameLst>
                                          <p:attrName>style.visibility</p:attrName>
                                        </p:attrNameLst>
                                      </p:cBhvr>
                                      <p:to>
                                        <p:strVal val="visible"/>
                                      </p:to>
                                    </p:set>
                                    <p:animEffect transition="in" filter="fade">
                                      <p:cBhvr>
                                        <p:cTn id="22" dur="500"/>
                                        <p:tgtEl>
                                          <p:spTgt spid="125"/>
                                        </p:tgtEl>
                                      </p:cBhvr>
                                    </p:animEffect>
                                  </p:childTnLst>
                                </p:cTn>
                              </p:par>
                              <p:par>
                                <p:cTn id="23" presetID="6" presetClass="emph" presetSubtype="0" fill="hold" nodeType="withEffect">
                                  <p:stCondLst>
                                    <p:cond delay="300"/>
                                  </p:stCondLst>
                                  <p:childTnLst>
                                    <p:animScale>
                                      <p:cBhvr>
                                        <p:cTn id="24" dur="10" fill="hold"/>
                                        <p:tgtEl>
                                          <p:spTgt spid="125"/>
                                        </p:tgtEl>
                                      </p:cBhvr>
                                      <p:by x="80000" y="80000"/>
                                    </p:animScale>
                                  </p:childTnLst>
                                </p:cTn>
                              </p:par>
                              <p:par>
                                <p:cTn id="25" presetID="6" presetClass="emph" presetSubtype="0" decel="100000" fill="hold" nodeType="withEffect">
                                  <p:stCondLst>
                                    <p:cond delay="300"/>
                                  </p:stCondLst>
                                  <p:childTnLst>
                                    <p:animScale>
                                      <p:cBhvr>
                                        <p:cTn id="26" dur="1000" fill="hold"/>
                                        <p:tgtEl>
                                          <p:spTgt spid="125"/>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3" grpId="1" animBg="1"/>
      <p:bldP spid="83" grpId="2" animBg="1"/>
      <p:bldP spid="83" grpId="3"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6F786-1D3D-6A6A-0EB3-A1F98A4B4F32}"/>
              </a:ext>
            </a:extLst>
          </p:cNvPr>
          <p:cNvSpPr>
            <a:spLocks noGrp="1"/>
          </p:cNvSpPr>
          <p:nvPr>
            <p:ph type="title"/>
          </p:nvPr>
        </p:nvSpPr>
        <p:spPr/>
        <p:txBody>
          <a:bodyPr/>
          <a:lstStyle/>
          <a:p>
            <a:r>
              <a:rPr lang="en-GB">
                <a:solidFill>
                  <a:schemeClr val="bg1"/>
                </a:solidFill>
              </a:rPr>
              <a:t>Application Evaluation</a:t>
            </a:r>
          </a:p>
        </p:txBody>
      </p:sp>
      <p:pic>
        <p:nvPicPr>
          <p:cNvPr id="2050" name="Picture 2" descr="Diagram of generation quality metric workflow.">
            <a:extLst>
              <a:ext uri="{FF2B5EF4-FFF2-40B4-BE49-F238E27FC236}">
                <a16:creationId xmlns:a16="http://schemas.microsoft.com/office/drawing/2014/main" id="{6EC2317A-C3D8-A515-98F2-721E53726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6345" y="1194665"/>
            <a:ext cx="9724550" cy="5342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314328"/>
      </p:ext>
    </p:extLst>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87108-A252-B37B-0530-9D5E939B35CB}"/>
            </a:ext>
          </a:extLst>
        </p:cNvPr>
        <p:cNvGrpSpPr/>
        <p:nvPr/>
      </p:nvGrpSpPr>
      <p:grpSpPr>
        <a:xfrm>
          <a:off x="0" y="0"/>
          <a:ext cx="0" cy="0"/>
          <a:chOff x="0" y="0"/>
          <a:chExt cx="0" cy="0"/>
        </a:xfrm>
      </p:grpSpPr>
      <p:pic>
        <p:nvPicPr>
          <p:cNvPr id="5" name="Picture 4" descr="A blue and green background&#10;&#10;Description automatically generated">
            <a:extLst>
              <a:ext uri="{FF2B5EF4-FFF2-40B4-BE49-F238E27FC236}">
                <a16:creationId xmlns:a16="http://schemas.microsoft.com/office/drawing/2014/main" id="{7F6DF671-CC86-0AE3-E892-0EC41680572B}"/>
              </a:ext>
            </a:extLst>
          </p:cNvPr>
          <p:cNvPicPr>
            <a:picLocks noChangeAspect="1"/>
          </p:cNvPicPr>
          <p:nvPr/>
        </p:nvPicPr>
        <p:blipFill>
          <a:blip r:embed="rId3">
            <a:extLst>
              <a:ext uri="{28A0092B-C50C-407E-A947-70E740481C1C}">
                <a14:useLocalDpi xmlns:a14="http://schemas.microsoft.com/office/drawing/2010/main"/>
              </a:ext>
            </a:extLst>
          </a:blip>
          <a:srcRect l="55916" t="32180" r="4182" b="44096"/>
          <a:stretch/>
        </p:blipFill>
        <p:spPr>
          <a:xfrm>
            <a:off x="6817282" y="2206952"/>
            <a:ext cx="4864889" cy="1626928"/>
          </a:xfrm>
          <a:prstGeom prst="roundRect">
            <a:avLst>
              <a:gd name="adj" fmla="val 4339"/>
            </a:avLst>
          </a:prstGeom>
        </p:spPr>
      </p:pic>
      <p:sp>
        <p:nvSpPr>
          <p:cNvPr id="2" name="Title 1">
            <a:extLst>
              <a:ext uri="{FF2B5EF4-FFF2-40B4-BE49-F238E27FC236}">
                <a16:creationId xmlns:a16="http://schemas.microsoft.com/office/drawing/2014/main" id="{59C998D9-A75B-6D10-8DD6-360CADC29D3F}"/>
              </a:ext>
            </a:extLst>
          </p:cNvPr>
          <p:cNvSpPr>
            <a:spLocks noGrp="1"/>
          </p:cNvSpPr>
          <p:nvPr>
            <p:ph type="title"/>
          </p:nvPr>
        </p:nvSpPr>
        <p:spPr/>
        <p:txBody>
          <a:bodyPr/>
          <a:lstStyle/>
          <a:p>
            <a:r>
              <a:rPr lang="en-GB">
                <a:solidFill>
                  <a:schemeClr val="bg1"/>
                </a:solidFill>
              </a:rPr>
              <a:t>Azure AI Inference SDK </a:t>
            </a:r>
            <a:r>
              <a:rPr lang="en-GB" sz="2400">
                <a:solidFill>
                  <a:schemeClr val="bg1"/>
                </a:solidFill>
              </a:rPr>
              <a:t>(Preview)</a:t>
            </a:r>
          </a:p>
        </p:txBody>
      </p:sp>
      <p:sp>
        <p:nvSpPr>
          <p:cNvPr id="8" name="Rectangle: Rounded Corners 7">
            <a:extLst>
              <a:ext uri="{FF2B5EF4-FFF2-40B4-BE49-F238E27FC236}">
                <a16:creationId xmlns:a16="http://schemas.microsoft.com/office/drawing/2014/main" id="{B9B974C2-DC69-A7FD-CA5A-F22B2E0F1B3F}"/>
              </a:ext>
            </a:extLst>
          </p:cNvPr>
          <p:cNvSpPr>
            <a:spLocks/>
          </p:cNvSpPr>
          <p:nvPr/>
        </p:nvSpPr>
        <p:spPr bwMode="auto">
          <a:xfrm>
            <a:off x="1070200" y="2185606"/>
            <a:ext cx="4851239" cy="1648276"/>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33" name="Content Placeholder 2">
            <a:extLst>
              <a:ext uri="{FF2B5EF4-FFF2-40B4-BE49-F238E27FC236}">
                <a16:creationId xmlns:a16="http://schemas.microsoft.com/office/drawing/2014/main" id="{C7FFA637-E5C7-CD7E-52D2-41AE68840260}"/>
              </a:ext>
            </a:extLst>
          </p:cNvPr>
          <p:cNvSpPr txBox="1">
            <a:spLocks/>
          </p:cNvSpPr>
          <p:nvPr/>
        </p:nvSpPr>
        <p:spPr>
          <a:xfrm>
            <a:off x="7706465" y="2786932"/>
            <a:ext cx="3875993"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2000">
                <a:latin typeface="Segoe Sans Text Semibold"/>
              </a:rPr>
              <a:t>Tracing </a:t>
            </a:r>
          </a:p>
        </p:txBody>
      </p:sp>
      <p:grpSp>
        <p:nvGrpSpPr>
          <p:cNvPr id="103" name="Group 102">
            <a:extLst>
              <a:ext uri="{FF2B5EF4-FFF2-40B4-BE49-F238E27FC236}">
                <a16:creationId xmlns:a16="http://schemas.microsoft.com/office/drawing/2014/main" id="{112A269A-2466-02C5-075A-3C435EF2FD57}"/>
              </a:ext>
            </a:extLst>
          </p:cNvPr>
          <p:cNvGrpSpPr/>
          <p:nvPr/>
        </p:nvGrpSpPr>
        <p:grpSpPr>
          <a:xfrm>
            <a:off x="488614" y="2427890"/>
            <a:ext cx="1190058" cy="1190400"/>
            <a:chOff x="1600003" y="1811018"/>
            <a:chExt cx="1641521" cy="1641995"/>
          </a:xfrm>
        </p:grpSpPr>
        <p:sp>
          <p:nvSpPr>
            <p:cNvPr id="104" name="Oval 17">
              <a:extLst>
                <a:ext uri="{FF2B5EF4-FFF2-40B4-BE49-F238E27FC236}">
                  <a16:creationId xmlns:a16="http://schemas.microsoft.com/office/drawing/2014/main" id="{FFEF4647-8083-5274-E31C-874B3568F38C}"/>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105" name="Group 104">
              <a:extLst>
                <a:ext uri="{FF2B5EF4-FFF2-40B4-BE49-F238E27FC236}">
                  <a16:creationId xmlns:a16="http://schemas.microsoft.com/office/drawing/2014/main" id="{4E1F9780-0D89-E5D6-B74A-C8F9F0FB5BE5}"/>
                </a:ext>
              </a:extLst>
            </p:cNvPr>
            <p:cNvGrpSpPr/>
            <p:nvPr/>
          </p:nvGrpSpPr>
          <p:grpSpPr>
            <a:xfrm>
              <a:off x="1714608" y="1927192"/>
              <a:ext cx="1412311" cy="1409646"/>
              <a:chOff x="1261672" y="4833937"/>
              <a:chExt cx="954296" cy="954297"/>
            </a:xfrm>
          </p:grpSpPr>
          <p:sp>
            <p:nvSpPr>
              <p:cNvPr id="106" name="Rectangle: Rounded Corners 105">
                <a:extLst>
                  <a:ext uri="{FF2B5EF4-FFF2-40B4-BE49-F238E27FC236}">
                    <a16:creationId xmlns:a16="http://schemas.microsoft.com/office/drawing/2014/main" id="{16CB5838-AD07-E169-0165-F959F5CD44EA}"/>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07" name="Rectangle: Rounded Corners 106">
                <a:extLst>
                  <a:ext uri="{FF2B5EF4-FFF2-40B4-BE49-F238E27FC236}">
                    <a16:creationId xmlns:a16="http://schemas.microsoft.com/office/drawing/2014/main" id="{77D08346-DADE-E82F-086B-4D55718BD453}"/>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196" name="Rectangle: Rounded Corners 195">
            <a:extLst>
              <a:ext uri="{FF2B5EF4-FFF2-40B4-BE49-F238E27FC236}">
                <a16:creationId xmlns:a16="http://schemas.microsoft.com/office/drawing/2014/main" id="{5F0BB70D-07C9-5458-E8A6-6ACAC37F9528}"/>
              </a:ext>
            </a:extLst>
          </p:cNvPr>
          <p:cNvSpPr>
            <a:spLocks/>
          </p:cNvSpPr>
          <p:nvPr/>
        </p:nvSpPr>
        <p:spPr bwMode="auto">
          <a:xfrm>
            <a:off x="1097293" y="4153472"/>
            <a:ext cx="4851239" cy="1648276"/>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97" name="Content Placeholder 2">
            <a:extLst>
              <a:ext uri="{FF2B5EF4-FFF2-40B4-BE49-F238E27FC236}">
                <a16:creationId xmlns:a16="http://schemas.microsoft.com/office/drawing/2014/main" id="{11E5D5A4-6EBD-4CD6-679A-E0520E5EB6EA}"/>
              </a:ext>
            </a:extLst>
          </p:cNvPr>
          <p:cNvSpPr txBox="1">
            <a:spLocks/>
          </p:cNvSpPr>
          <p:nvPr/>
        </p:nvSpPr>
        <p:spPr>
          <a:xfrm>
            <a:off x="1922062" y="4754798"/>
            <a:ext cx="3968794"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2000">
                <a:latin typeface="Segoe Sans Text Semibold"/>
              </a:rPr>
              <a:t>Available in </a:t>
            </a:r>
            <a:r>
              <a:rPr lang="en-GB" sz="2000" err="1">
                <a:latin typeface="Segoe Sans Text Semibold"/>
              </a:rPr>
              <a:t>C#,Python</a:t>
            </a:r>
            <a:r>
              <a:rPr lang="en-GB" sz="2000">
                <a:latin typeface="Segoe Sans Text Semibold"/>
              </a:rPr>
              <a:t>, JavaScript</a:t>
            </a:r>
          </a:p>
        </p:txBody>
      </p:sp>
      <p:grpSp>
        <p:nvGrpSpPr>
          <p:cNvPr id="198" name="Group 197">
            <a:extLst>
              <a:ext uri="{FF2B5EF4-FFF2-40B4-BE49-F238E27FC236}">
                <a16:creationId xmlns:a16="http://schemas.microsoft.com/office/drawing/2014/main" id="{7366E98F-8C10-205F-81F6-F5F9854E48FE}"/>
              </a:ext>
            </a:extLst>
          </p:cNvPr>
          <p:cNvGrpSpPr/>
          <p:nvPr/>
        </p:nvGrpSpPr>
        <p:grpSpPr>
          <a:xfrm>
            <a:off x="488614" y="4395756"/>
            <a:ext cx="1190058" cy="1190400"/>
            <a:chOff x="1600003" y="1811018"/>
            <a:chExt cx="1641521" cy="1641995"/>
          </a:xfrm>
        </p:grpSpPr>
        <p:sp>
          <p:nvSpPr>
            <p:cNvPr id="199" name="Oval 17">
              <a:extLst>
                <a:ext uri="{FF2B5EF4-FFF2-40B4-BE49-F238E27FC236}">
                  <a16:creationId xmlns:a16="http://schemas.microsoft.com/office/drawing/2014/main" id="{B197B33D-B524-1E31-3675-B76AB9A16966}"/>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200" name="Group 199">
              <a:extLst>
                <a:ext uri="{FF2B5EF4-FFF2-40B4-BE49-F238E27FC236}">
                  <a16:creationId xmlns:a16="http://schemas.microsoft.com/office/drawing/2014/main" id="{ED3C40EA-2CFA-0F28-CF0D-1CE60C13D900}"/>
                </a:ext>
              </a:extLst>
            </p:cNvPr>
            <p:cNvGrpSpPr/>
            <p:nvPr/>
          </p:nvGrpSpPr>
          <p:grpSpPr>
            <a:xfrm>
              <a:off x="1714608" y="1927193"/>
              <a:ext cx="1412311" cy="1409648"/>
              <a:chOff x="1261672" y="4833936"/>
              <a:chExt cx="954296" cy="954298"/>
            </a:xfrm>
          </p:grpSpPr>
          <p:sp>
            <p:nvSpPr>
              <p:cNvPr id="201" name="Rectangle: Rounded Corners 200">
                <a:extLst>
                  <a:ext uri="{FF2B5EF4-FFF2-40B4-BE49-F238E27FC236}">
                    <a16:creationId xmlns:a16="http://schemas.microsoft.com/office/drawing/2014/main" id="{05962049-F136-305E-64C3-F2FD08A93927}"/>
                  </a:ext>
                </a:extLst>
              </p:cNvPr>
              <p:cNvSpPr/>
              <p:nvPr userDrawn="1"/>
            </p:nvSpPr>
            <p:spPr bwMode="auto">
              <a:xfrm>
                <a:off x="1261672" y="4833936"/>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02" name="Rectangle: Rounded Corners 201">
                <a:extLst>
                  <a:ext uri="{FF2B5EF4-FFF2-40B4-BE49-F238E27FC236}">
                    <a16:creationId xmlns:a16="http://schemas.microsoft.com/office/drawing/2014/main" id="{D320E7B5-E033-DBB8-C47E-C5E02D00AE7E}"/>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268" name="Rectangle: Rounded Corners 267">
            <a:extLst>
              <a:ext uri="{FF2B5EF4-FFF2-40B4-BE49-F238E27FC236}">
                <a16:creationId xmlns:a16="http://schemas.microsoft.com/office/drawing/2014/main" id="{9F1DB8A6-B2E9-C507-9C9C-4C1C885EF203}"/>
              </a:ext>
            </a:extLst>
          </p:cNvPr>
          <p:cNvSpPr>
            <a:spLocks/>
          </p:cNvSpPr>
          <p:nvPr/>
        </p:nvSpPr>
        <p:spPr bwMode="auto">
          <a:xfrm>
            <a:off x="6830933" y="4153472"/>
            <a:ext cx="4851239" cy="1648276"/>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69" name="Content Placeholder 2">
            <a:extLst>
              <a:ext uri="{FF2B5EF4-FFF2-40B4-BE49-F238E27FC236}">
                <a16:creationId xmlns:a16="http://schemas.microsoft.com/office/drawing/2014/main" id="{B9ADC4F0-695F-BE24-CC25-B9060A509582}"/>
              </a:ext>
            </a:extLst>
          </p:cNvPr>
          <p:cNvSpPr txBox="1">
            <a:spLocks/>
          </p:cNvSpPr>
          <p:nvPr/>
        </p:nvSpPr>
        <p:spPr>
          <a:xfrm>
            <a:off x="7655702" y="4754798"/>
            <a:ext cx="402647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2000">
                <a:latin typeface="Segoe Sans Text Semibold"/>
              </a:rPr>
              <a:t>Work with multiple orchestration</a:t>
            </a:r>
          </a:p>
        </p:txBody>
      </p:sp>
      <p:grpSp>
        <p:nvGrpSpPr>
          <p:cNvPr id="270" name="Group 269">
            <a:extLst>
              <a:ext uri="{FF2B5EF4-FFF2-40B4-BE49-F238E27FC236}">
                <a16:creationId xmlns:a16="http://schemas.microsoft.com/office/drawing/2014/main" id="{F4A0D351-75B8-0457-D279-AC1512E151C4}"/>
              </a:ext>
            </a:extLst>
          </p:cNvPr>
          <p:cNvGrpSpPr/>
          <p:nvPr/>
        </p:nvGrpSpPr>
        <p:grpSpPr>
          <a:xfrm>
            <a:off x="6222254" y="4395756"/>
            <a:ext cx="1190058" cy="1190400"/>
            <a:chOff x="1600003" y="1811018"/>
            <a:chExt cx="1641521" cy="1641995"/>
          </a:xfrm>
        </p:grpSpPr>
        <p:sp>
          <p:nvSpPr>
            <p:cNvPr id="271" name="Oval 17">
              <a:extLst>
                <a:ext uri="{FF2B5EF4-FFF2-40B4-BE49-F238E27FC236}">
                  <a16:creationId xmlns:a16="http://schemas.microsoft.com/office/drawing/2014/main" id="{9DC846D8-F8FC-DB62-AA54-F34303D5CC97}"/>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272" name="Group 271">
              <a:extLst>
                <a:ext uri="{FF2B5EF4-FFF2-40B4-BE49-F238E27FC236}">
                  <a16:creationId xmlns:a16="http://schemas.microsoft.com/office/drawing/2014/main" id="{87246DEF-6D72-6D6B-4A18-35214F7543D8}"/>
                </a:ext>
              </a:extLst>
            </p:cNvPr>
            <p:cNvGrpSpPr/>
            <p:nvPr/>
          </p:nvGrpSpPr>
          <p:grpSpPr>
            <a:xfrm>
              <a:off x="1714608" y="1927192"/>
              <a:ext cx="1412311" cy="1409646"/>
              <a:chOff x="1261672" y="4833937"/>
              <a:chExt cx="954296" cy="954297"/>
            </a:xfrm>
          </p:grpSpPr>
          <p:sp>
            <p:nvSpPr>
              <p:cNvPr id="273" name="Rectangle: Rounded Corners 272">
                <a:extLst>
                  <a:ext uri="{FF2B5EF4-FFF2-40B4-BE49-F238E27FC236}">
                    <a16:creationId xmlns:a16="http://schemas.microsoft.com/office/drawing/2014/main" id="{7C516BD1-2F53-2293-4C96-34CCC8D33414}"/>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74" name="Rectangle: Rounded Corners 273">
                <a:extLst>
                  <a:ext uri="{FF2B5EF4-FFF2-40B4-BE49-F238E27FC236}">
                    <a16:creationId xmlns:a16="http://schemas.microsoft.com/office/drawing/2014/main" id="{93B2DD9A-5266-6D3B-0166-39424DC51C9C}"/>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275" name="Graphic 174">
            <a:extLst>
              <a:ext uri="{FF2B5EF4-FFF2-40B4-BE49-F238E27FC236}">
                <a16:creationId xmlns:a16="http://schemas.microsoft.com/office/drawing/2014/main" id="{3D553B46-46D5-9E6E-5CDD-D88F1837B551}"/>
              </a:ext>
            </a:extLst>
          </p:cNvPr>
          <p:cNvGrpSpPr/>
          <p:nvPr/>
        </p:nvGrpSpPr>
        <p:grpSpPr>
          <a:xfrm>
            <a:off x="6533213" y="4668441"/>
            <a:ext cx="586686" cy="650258"/>
            <a:chOff x="6281500" y="4429475"/>
            <a:chExt cx="632815" cy="701385"/>
          </a:xfrm>
          <a:noFill/>
        </p:grpSpPr>
        <p:sp>
          <p:nvSpPr>
            <p:cNvPr id="276" name="Freeform: Shape 275">
              <a:extLst>
                <a:ext uri="{FF2B5EF4-FFF2-40B4-BE49-F238E27FC236}">
                  <a16:creationId xmlns:a16="http://schemas.microsoft.com/office/drawing/2014/main" id="{A3BFA544-6A6F-15D7-483D-29FEEE2098E9}"/>
                </a:ext>
              </a:extLst>
            </p:cNvPr>
            <p:cNvSpPr/>
            <p:nvPr/>
          </p:nvSpPr>
          <p:spPr>
            <a:xfrm flipV="1">
              <a:off x="6502797" y="4985816"/>
              <a:ext cx="190230" cy="99644"/>
            </a:xfrm>
            <a:custGeom>
              <a:avLst/>
              <a:gdLst>
                <a:gd name="connsiteX0" fmla="*/ 144609 w 190230"/>
                <a:gd name="connsiteY0" fmla="*/ 100263 h 99644"/>
                <a:gd name="connsiteX1" fmla="*/ 190607 w 190230"/>
                <a:gd name="connsiteY1" fmla="*/ 100263 h 99644"/>
                <a:gd name="connsiteX2" fmla="*/ 190607 w 190230"/>
                <a:gd name="connsiteY2" fmla="*/ 35484 h 99644"/>
                <a:gd name="connsiteX3" fmla="*/ 155741 w 190230"/>
                <a:gd name="connsiteY3" fmla="*/ 618 h 99644"/>
                <a:gd name="connsiteX4" fmla="*/ 35242 w 190230"/>
                <a:gd name="connsiteY4" fmla="*/ 618 h 99644"/>
                <a:gd name="connsiteX5" fmla="*/ 376 w 190230"/>
                <a:gd name="connsiteY5" fmla="*/ 35484 h 99644"/>
                <a:gd name="connsiteX6" fmla="*/ 376 w 190230"/>
                <a:gd name="connsiteY6" fmla="*/ 100263 h 99644"/>
                <a:gd name="connsiteX7" fmla="*/ 102325 w 190230"/>
                <a:gd name="connsiteY7" fmla="*/ 100263 h 9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230" h="99644">
                  <a:moveTo>
                    <a:pt x="144609" y="100263"/>
                  </a:moveTo>
                  <a:lnTo>
                    <a:pt x="190607" y="100263"/>
                  </a:lnTo>
                  <a:lnTo>
                    <a:pt x="190607" y="35484"/>
                  </a:lnTo>
                  <a:cubicBezTo>
                    <a:pt x="190607" y="16228"/>
                    <a:pt x="174997" y="618"/>
                    <a:pt x="155741" y="618"/>
                  </a:cubicBezTo>
                  <a:lnTo>
                    <a:pt x="35242" y="618"/>
                  </a:lnTo>
                  <a:cubicBezTo>
                    <a:pt x="15987" y="618"/>
                    <a:pt x="376" y="16228"/>
                    <a:pt x="376" y="35484"/>
                  </a:cubicBezTo>
                  <a:lnTo>
                    <a:pt x="376" y="100263"/>
                  </a:lnTo>
                  <a:lnTo>
                    <a:pt x="102325" y="100263"/>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77" name="Freeform: Shape 276">
              <a:extLst>
                <a:ext uri="{FF2B5EF4-FFF2-40B4-BE49-F238E27FC236}">
                  <a16:creationId xmlns:a16="http://schemas.microsoft.com/office/drawing/2014/main" id="{36912550-5384-28DD-1D36-EACEBF75DD5C}"/>
                </a:ext>
              </a:extLst>
            </p:cNvPr>
            <p:cNvSpPr/>
            <p:nvPr/>
          </p:nvSpPr>
          <p:spPr>
            <a:xfrm flipV="1">
              <a:off x="6536405" y="5085461"/>
              <a:ext cx="123015" cy="45400"/>
            </a:xfrm>
            <a:custGeom>
              <a:avLst/>
              <a:gdLst>
                <a:gd name="connsiteX0" fmla="*/ 298 w 123015"/>
                <a:gd name="connsiteY0" fmla="*/ 46068 h 45400"/>
                <a:gd name="connsiteX1" fmla="*/ 61805 w 123015"/>
                <a:gd name="connsiteY1" fmla="*/ 668 h 45400"/>
                <a:gd name="connsiteX2" fmla="*/ 123313 w 123015"/>
                <a:gd name="connsiteY2" fmla="*/ 46068 h 45400"/>
              </a:gdLst>
              <a:ahLst/>
              <a:cxnLst>
                <a:cxn ang="0">
                  <a:pos x="connsiteX0" y="connsiteY0"/>
                </a:cxn>
                <a:cxn ang="0">
                  <a:pos x="connsiteX1" y="connsiteY1"/>
                </a:cxn>
                <a:cxn ang="0">
                  <a:pos x="connsiteX2" y="connsiteY2"/>
                </a:cxn>
              </a:cxnLst>
              <a:rect l="l" t="t" r="r" b="b"/>
              <a:pathLst>
                <a:path w="123015" h="45400">
                  <a:moveTo>
                    <a:pt x="298" y="46068"/>
                  </a:moveTo>
                  <a:cubicBezTo>
                    <a:pt x="8387" y="19779"/>
                    <a:pt x="32862" y="668"/>
                    <a:pt x="61805" y="668"/>
                  </a:cubicBezTo>
                  <a:cubicBezTo>
                    <a:pt x="90749" y="668"/>
                    <a:pt x="115224" y="19779"/>
                    <a:pt x="123313" y="46068"/>
                  </a:cubicBezTo>
                  <a:close/>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78" name="Freeform: Shape 277">
              <a:extLst>
                <a:ext uri="{FF2B5EF4-FFF2-40B4-BE49-F238E27FC236}">
                  <a16:creationId xmlns:a16="http://schemas.microsoft.com/office/drawing/2014/main" id="{495DB8E2-9908-AE60-1FB5-531D83DC9790}"/>
                </a:ext>
              </a:extLst>
            </p:cNvPr>
            <p:cNvSpPr/>
            <p:nvPr/>
          </p:nvSpPr>
          <p:spPr>
            <a:xfrm flipV="1">
              <a:off x="6453781" y="4625500"/>
              <a:ext cx="288263" cy="288263"/>
            </a:xfrm>
            <a:custGeom>
              <a:avLst/>
              <a:gdLst>
                <a:gd name="connsiteX0" fmla="*/ 144473 w 288263"/>
                <a:gd name="connsiteY0" fmla="*/ 86485 h 288263"/>
                <a:gd name="connsiteX1" fmla="*/ 86536 w 288263"/>
                <a:gd name="connsiteY1" fmla="*/ 144422 h 288263"/>
                <a:gd name="connsiteX2" fmla="*/ 144473 w 288263"/>
                <a:gd name="connsiteY2" fmla="*/ 202359 h 288263"/>
                <a:gd name="connsiteX3" fmla="*/ 202410 w 288263"/>
                <a:gd name="connsiteY3" fmla="*/ 144422 h 288263"/>
                <a:gd name="connsiteX4" fmla="*/ 144473 w 288263"/>
                <a:gd name="connsiteY4" fmla="*/ 86485 h 288263"/>
                <a:gd name="connsiteX5" fmla="*/ 288605 w 288263"/>
                <a:gd name="connsiteY5" fmla="*/ 122773 h 288263"/>
                <a:gd name="connsiteX6" fmla="*/ 288605 w 288263"/>
                <a:gd name="connsiteY6" fmla="*/ 166071 h 288263"/>
                <a:gd name="connsiteX7" fmla="*/ 253185 w 288263"/>
                <a:gd name="connsiteY7" fmla="*/ 171099 h 288263"/>
                <a:gd name="connsiteX8" fmla="*/ 240206 w 288263"/>
                <a:gd name="connsiteY8" fmla="*/ 202430 h 288263"/>
                <a:gd name="connsiteX9" fmla="*/ 261697 w 288263"/>
                <a:gd name="connsiteY9" fmla="*/ 231030 h 288263"/>
                <a:gd name="connsiteX10" fmla="*/ 231082 w 288263"/>
                <a:gd name="connsiteY10" fmla="*/ 261645 h 288263"/>
                <a:gd name="connsiteX11" fmla="*/ 202481 w 288263"/>
                <a:gd name="connsiteY11" fmla="*/ 240155 h 288263"/>
                <a:gd name="connsiteX12" fmla="*/ 171148 w 288263"/>
                <a:gd name="connsiteY12" fmla="*/ 253135 h 288263"/>
                <a:gd name="connsiteX13" fmla="*/ 166122 w 288263"/>
                <a:gd name="connsiteY13" fmla="*/ 288553 h 288263"/>
                <a:gd name="connsiteX14" fmla="*/ 122824 w 288263"/>
                <a:gd name="connsiteY14" fmla="*/ 288553 h 288263"/>
                <a:gd name="connsiteX15" fmla="*/ 117796 w 288263"/>
                <a:gd name="connsiteY15" fmla="*/ 253135 h 288263"/>
                <a:gd name="connsiteX16" fmla="*/ 86465 w 288263"/>
                <a:gd name="connsiteY16" fmla="*/ 240155 h 288263"/>
                <a:gd name="connsiteX17" fmla="*/ 57864 w 288263"/>
                <a:gd name="connsiteY17" fmla="*/ 261645 h 288263"/>
                <a:gd name="connsiteX18" fmla="*/ 27248 w 288263"/>
                <a:gd name="connsiteY18" fmla="*/ 231030 h 288263"/>
                <a:gd name="connsiteX19" fmla="*/ 48738 w 288263"/>
                <a:gd name="connsiteY19" fmla="*/ 202430 h 288263"/>
                <a:gd name="connsiteX20" fmla="*/ 35760 w 288263"/>
                <a:gd name="connsiteY20" fmla="*/ 171099 h 288263"/>
                <a:gd name="connsiteX21" fmla="*/ 341 w 288263"/>
                <a:gd name="connsiteY21" fmla="*/ 166071 h 288263"/>
                <a:gd name="connsiteX22" fmla="*/ 341 w 288263"/>
                <a:gd name="connsiteY22" fmla="*/ 122773 h 288263"/>
                <a:gd name="connsiteX23" fmla="*/ 35760 w 288263"/>
                <a:gd name="connsiteY23" fmla="*/ 117745 h 288263"/>
                <a:gd name="connsiteX24" fmla="*/ 48738 w 288263"/>
                <a:gd name="connsiteY24" fmla="*/ 86414 h 288263"/>
                <a:gd name="connsiteX25" fmla="*/ 27248 w 288263"/>
                <a:gd name="connsiteY25" fmla="*/ 57813 h 288263"/>
                <a:gd name="connsiteX26" fmla="*/ 57864 w 288263"/>
                <a:gd name="connsiteY26" fmla="*/ 27198 h 288263"/>
                <a:gd name="connsiteX27" fmla="*/ 86465 w 288263"/>
                <a:gd name="connsiteY27" fmla="*/ 48688 h 288263"/>
                <a:gd name="connsiteX28" fmla="*/ 117796 w 288263"/>
                <a:gd name="connsiteY28" fmla="*/ 35709 h 288263"/>
                <a:gd name="connsiteX29" fmla="*/ 122824 w 288263"/>
                <a:gd name="connsiteY29" fmla="*/ 290 h 288263"/>
                <a:gd name="connsiteX30" fmla="*/ 166122 w 288263"/>
                <a:gd name="connsiteY30" fmla="*/ 290 h 288263"/>
                <a:gd name="connsiteX31" fmla="*/ 171148 w 288263"/>
                <a:gd name="connsiteY31" fmla="*/ 35709 h 288263"/>
                <a:gd name="connsiteX32" fmla="*/ 202481 w 288263"/>
                <a:gd name="connsiteY32" fmla="*/ 48688 h 288263"/>
                <a:gd name="connsiteX33" fmla="*/ 231082 w 288263"/>
                <a:gd name="connsiteY33" fmla="*/ 27198 h 288263"/>
                <a:gd name="connsiteX34" fmla="*/ 261697 w 288263"/>
                <a:gd name="connsiteY34" fmla="*/ 57813 h 288263"/>
                <a:gd name="connsiteX35" fmla="*/ 240206 w 288263"/>
                <a:gd name="connsiteY35" fmla="*/ 86414 h 288263"/>
                <a:gd name="connsiteX36" fmla="*/ 253186 w 288263"/>
                <a:gd name="connsiteY36" fmla="*/ 117745 h 288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88263" h="288263">
                  <a:moveTo>
                    <a:pt x="144473" y="86485"/>
                  </a:moveTo>
                  <a:cubicBezTo>
                    <a:pt x="112475" y="86485"/>
                    <a:pt x="86536" y="112424"/>
                    <a:pt x="86536" y="144422"/>
                  </a:cubicBezTo>
                  <a:cubicBezTo>
                    <a:pt x="86536" y="176419"/>
                    <a:pt x="112475" y="202359"/>
                    <a:pt x="144473" y="202359"/>
                  </a:cubicBezTo>
                  <a:cubicBezTo>
                    <a:pt x="176471" y="202359"/>
                    <a:pt x="202410" y="176419"/>
                    <a:pt x="202410" y="144422"/>
                  </a:cubicBezTo>
                  <a:cubicBezTo>
                    <a:pt x="202410" y="112424"/>
                    <a:pt x="176471" y="86485"/>
                    <a:pt x="144473" y="86485"/>
                  </a:cubicBezTo>
                  <a:close/>
                  <a:moveTo>
                    <a:pt x="288605" y="122773"/>
                  </a:moveTo>
                  <a:lnTo>
                    <a:pt x="288605" y="166071"/>
                  </a:lnTo>
                  <a:lnTo>
                    <a:pt x="253185" y="171099"/>
                  </a:lnTo>
                  <a:cubicBezTo>
                    <a:pt x="250448" y="182297"/>
                    <a:pt x="246032" y="192837"/>
                    <a:pt x="240206" y="202430"/>
                  </a:cubicBezTo>
                  <a:lnTo>
                    <a:pt x="261697" y="231030"/>
                  </a:lnTo>
                  <a:lnTo>
                    <a:pt x="231082" y="261645"/>
                  </a:lnTo>
                  <a:lnTo>
                    <a:pt x="202481" y="240155"/>
                  </a:lnTo>
                  <a:cubicBezTo>
                    <a:pt x="192888" y="245981"/>
                    <a:pt x="182348" y="250397"/>
                    <a:pt x="171148" y="253135"/>
                  </a:cubicBezTo>
                  <a:lnTo>
                    <a:pt x="166122" y="288553"/>
                  </a:lnTo>
                  <a:lnTo>
                    <a:pt x="122824" y="288553"/>
                  </a:lnTo>
                  <a:lnTo>
                    <a:pt x="117796" y="253135"/>
                  </a:lnTo>
                  <a:cubicBezTo>
                    <a:pt x="106598" y="250397"/>
                    <a:pt x="96058" y="245981"/>
                    <a:pt x="86465" y="240155"/>
                  </a:cubicBezTo>
                  <a:lnTo>
                    <a:pt x="57864" y="261645"/>
                  </a:lnTo>
                  <a:lnTo>
                    <a:pt x="27248" y="231030"/>
                  </a:lnTo>
                  <a:lnTo>
                    <a:pt x="48738" y="202430"/>
                  </a:lnTo>
                  <a:cubicBezTo>
                    <a:pt x="42914" y="192837"/>
                    <a:pt x="38498" y="182297"/>
                    <a:pt x="35760" y="171099"/>
                  </a:cubicBezTo>
                  <a:lnTo>
                    <a:pt x="341" y="166071"/>
                  </a:lnTo>
                  <a:lnTo>
                    <a:pt x="341" y="122773"/>
                  </a:lnTo>
                  <a:lnTo>
                    <a:pt x="35760" y="117745"/>
                  </a:lnTo>
                  <a:cubicBezTo>
                    <a:pt x="38498" y="106547"/>
                    <a:pt x="42914" y="96007"/>
                    <a:pt x="48738" y="86414"/>
                  </a:cubicBezTo>
                  <a:lnTo>
                    <a:pt x="27248" y="57813"/>
                  </a:lnTo>
                  <a:lnTo>
                    <a:pt x="57864" y="27198"/>
                  </a:lnTo>
                  <a:lnTo>
                    <a:pt x="86465" y="48688"/>
                  </a:lnTo>
                  <a:cubicBezTo>
                    <a:pt x="96058" y="42863"/>
                    <a:pt x="106598" y="38447"/>
                    <a:pt x="117796" y="35709"/>
                  </a:cubicBezTo>
                  <a:lnTo>
                    <a:pt x="122824" y="290"/>
                  </a:lnTo>
                  <a:lnTo>
                    <a:pt x="166122" y="290"/>
                  </a:lnTo>
                  <a:lnTo>
                    <a:pt x="171148" y="35709"/>
                  </a:lnTo>
                  <a:cubicBezTo>
                    <a:pt x="182348" y="38447"/>
                    <a:pt x="192888" y="42863"/>
                    <a:pt x="202481" y="48688"/>
                  </a:cubicBezTo>
                  <a:lnTo>
                    <a:pt x="231082" y="27198"/>
                  </a:lnTo>
                  <a:lnTo>
                    <a:pt x="261697" y="57813"/>
                  </a:lnTo>
                  <a:lnTo>
                    <a:pt x="240206" y="86414"/>
                  </a:lnTo>
                  <a:cubicBezTo>
                    <a:pt x="246032" y="96007"/>
                    <a:pt x="250448" y="106547"/>
                    <a:pt x="253186" y="117745"/>
                  </a:cubicBezTo>
                  <a:close/>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79" name="Freeform: Shape 278">
              <a:extLst>
                <a:ext uri="{FF2B5EF4-FFF2-40B4-BE49-F238E27FC236}">
                  <a16:creationId xmlns:a16="http://schemas.microsoft.com/office/drawing/2014/main" id="{4EC7A90A-3714-1230-5C35-F34EA9559BFB}"/>
                </a:ext>
              </a:extLst>
            </p:cNvPr>
            <p:cNvSpPr/>
            <p:nvPr/>
          </p:nvSpPr>
          <p:spPr>
            <a:xfrm flipV="1">
              <a:off x="6597908" y="4429475"/>
              <a:ext cx="1057" cy="61999"/>
            </a:xfrm>
            <a:custGeom>
              <a:avLst/>
              <a:gdLst>
                <a:gd name="connsiteX0" fmla="*/ 341 w 1057"/>
                <a:gd name="connsiteY0" fmla="*/ 17 h 61999"/>
                <a:gd name="connsiteX1" fmla="*/ 341 w 1057"/>
                <a:gd name="connsiteY1" fmla="*/ 62016 h 61999"/>
              </a:gdLst>
              <a:ahLst/>
              <a:cxnLst>
                <a:cxn ang="0">
                  <a:pos x="connsiteX0" y="connsiteY0"/>
                </a:cxn>
                <a:cxn ang="0">
                  <a:pos x="connsiteX1" y="connsiteY1"/>
                </a:cxn>
              </a:cxnLst>
              <a:rect l="l" t="t" r="r" b="b"/>
              <a:pathLst>
                <a:path w="1057" h="61999">
                  <a:moveTo>
                    <a:pt x="341" y="17"/>
                  </a:moveTo>
                  <a:lnTo>
                    <a:pt x="341" y="62016"/>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0" name="Freeform: Shape 279">
              <a:extLst>
                <a:ext uri="{FF2B5EF4-FFF2-40B4-BE49-F238E27FC236}">
                  <a16:creationId xmlns:a16="http://schemas.microsoft.com/office/drawing/2014/main" id="{1B1F4856-BA5F-0356-4E02-CAB1C93377B6}"/>
                </a:ext>
              </a:extLst>
            </p:cNvPr>
            <p:cNvSpPr/>
            <p:nvPr/>
          </p:nvSpPr>
          <p:spPr>
            <a:xfrm flipV="1">
              <a:off x="6852314" y="4745882"/>
              <a:ext cx="62000" cy="1057"/>
            </a:xfrm>
            <a:custGeom>
              <a:avLst/>
              <a:gdLst>
                <a:gd name="connsiteX0" fmla="*/ 589 w 62000"/>
                <a:gd name="connsiteY0" fmla="*/ 309 h 1057"/>
                <a:gd name="connsiteX1" fmla="*/ 62590 w 62000"/>
                <a:gd name="connsiteY1" fmla="*/ 309 h 1057"/>
              </a:gdLst>
              <a:ahLst/>
              <a:cxnLst>
                <a:cxn ang="0">
                  <a:pos x="connsiteX0" y="connsiteY0"/>
                </a:cxn>
                <a:cxn ang="0">
                  <a:pos x="connsiteX1" y="connsiteY1"/>
                </a:cxn>
              </a:cxnLst>
              <a:rect l="l" t="t" r="r" b="b"/>
              <a:pathLst>
                <a:path w="62000" h="1057">
                  <a:moveTo>
                    <a:pt x="589" y="309"/>
                  </a:moveTo>
                  <a:lnTo>
                    <a:pt x="62590" y="309"/>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1" name="Freeform: Shape 280">
              <a:extLst>
                <a:ext uri="{FF2B5EF4-FFF2-40B4-BE49-F238E27FC236}">
                  <a16:creationId xmlns:a16="http://schemas.microsoft.com/office/drawing/2014/main" id="{9508F730-DB4A-AC50-A0D5-1D8CEA124846}"/>
                </a:ext>
              </a:extLst>
            </p:cNvPr>
            <p:cNvSpPr/>
            <p:nvPr/>
          </p:nvSpPr>
          <p:spPr>
            <a:xfrm flipV="1">
              <a:off x="6281500" y="4745882"/>
              <a:ext cx="62000" cy="1057"/>
            </a:xfrm>
            <a:custGeom>
              <a:avLst/>
              <a:gdLst>
                <a:gd name="connsiteX0" fmla="*/ 49 w 62000"/>
                <a:gd name="connsiteY0" fmla="*/ 309 h 1057"/>
                <a:gd name="connsiteX1" fmla="*/ 62050 w 62000"/>
                <a:gd name="connsiteY1" fmla="*/ 309 h 1057"/>
              </a:gdLst>
              <a:ahLst/>
              <a:cxnLst>
                <a:cxn ang="0">
                  <a:pos x="connsiteX0" y="connsiteY0"/>
                </a:cxn>
                <a:cxn ang="0">
                  <a:pos x="connsiteX1" y="connsiteY1"/>
                </a:cxn>
              </a:cxnLst>
              <a:rect l="l" t="t" r="r" b="b"/>
              <a:pathLst>
                <a:path w="62000" h="1057">
                  <a:moveTo>
                    <a:pt x="49" y="309"/>
                  </a:moveTo>
                  <a:lnTo>
                    <a:pt x="62050" y="309"/>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2" name="Freeform: Shape 281">
              <a:extLst>
                <a:ext uri="{FF2B5EF4-FFF2-40B4-BE49-F238E27FC236}">
                  <a16:creationId xmlns:a16="http://schemas.microsoft.com/office/drawing/2014/main" id="{E0E22C9C-F064-1D0A-BE38-3FE1E49D0F18}"/>
                </a:ext>
              </a:extLst>
            </p:cNvPr>
            <p:cNvSpPr/>
            <p:nvPr/>
          </p:nvSpPr>
          <p:spPr>
            <a:xfrm flipV="1">
              <a:off x="6374174" y="4522148"/>
              <a:ext cx="43841" cy="43839"/>
            </a:xfrm>
            <a:custGeom>
              <a:avLst/>
              <a:gdLst>
                <a:gd name="connsiteX0" fmla="*/ 135 w 43841"/>
                <a:gd name="connsiteY0" fmla="*/ 43973 h 43839"/>
                <a:gd name="connsiteX1" fmla="*/ 43976 w 43841"/>
                <a:gd name="connsiteY1" fmla="*/ 134 h 43839"/>
              </a:gdLst>
              <a:ahLst/>
              <a:cxnLst>
                <a:cxn ang="0">
                  <a:pos x="connsiteX0" y="connsiteY0"/>
                </a:cxn>
                <a:cxn ang="0">
                  <a:pos x="connsiteX1" y="connsiteY1"/>
                </a:cxn>
              </a:cxnLst>
              <a:rect l="l" t="t" r="r" b="b"/>
              <a:pathLst>
                <a:path w="43841" h="43839">
                  <a:moveTo>
                    <a:pt x="135" y="43973"/>
                  </a:moveTo>
                  <a:lnTo>
                    <a:pt x="43976" y="134"/>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3" name="Freeform: Shape 282">
              <a:extLst>
                <a:ext uri="{FF2B5EF4-FFF2-40B4-BE49-F238E27FC236}">
                  <a16:creationId xmlns:a16="http://schemas.microsoft.com/office/drawing/2014/main" id="{B74BB285-0C4E-F1EC-40C4-069A6E4C415F}"/>
                </a:ext>
              </a:extLst>
            </p:cNvPr>
            <p:cNvSpPr/>
            <p:nvPr/>
          </p:nvSpPr>
          <p:spPr>
            <a:xfrm flipV="1">
              <a:off x="6339605" y="4644685"/>
              <a:ext cx="21426" cy="8393"/>
            </a:xfrm>
            <a:custGeom>
              <a:avLst/>
              <a:gdLst>
                <a:gd name="connsiteX0" fmla="*/ 100 w 21426"/>
                <a:gd name="connsiteY0" fmla="*/ 8613 h 8393"/>
                <a:gd name="connsiteX1" fmla="*/ 21526 w 21426"/>
                <a:gd name="connsiteY1" fmla="*/ 220 h 8393"/>
              </a:gdLst>
              <a:ahLst/>
              <a:cxnLst>
                <a:cxn ang="0">
                  <a:pos x="connsiteX0" y="connsiteY0"/>
                </a:cxn>
                <a:cxn ang="0">
                  <a:pos x="connsiteX1" y="connsiteY1"/>
                </a:cxn>
              </a:cxnLst>
              <a:rect l="l" t="t" r="r" b="b"/>
              <a:pathLst>
                <a:path w="21426" h="8393">
                  <a:moveTo>
                    <a:pt x="100" y="8613"/>
                  </a:moveTo>
                  <a:lnTo>
                    <a:pt x="21526" y="220"/>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4" name="Freeform: Shape 283">
              <a:extLst>
                <a:ext uri="{FF2B5EF4-FFF2-40B4-BE49-F238E27FC236}">
                  <a16:creationId xmlns:a16="http://schemas.microsoft.com/office/drawing/2014/main" id="{8F8B3182-9956-6172-E4A1-7A7938FFEB19}"/>
                </a:ext>
              </a:extLst>
            </p:cNvPr>
            <p:cNvSpPr/>
            <p:nvPr/>
          </p:nvSpPr>
          <p:spPr>
            <a:xfrm flipV="1">
              <a:off x="6496466" y="4486954"/>
              <a:ext cx="8638" cy="22052"/>
            </a:xfrm>
            <a:custGeom>
              <a:avLst/>
              <a:gdLst>
                <a:gd name="connsiteX0" fmla="*/ 8891 w 8638"/>
                <a:gd name="connsiteY0" fmla="*/ 67 h 22052"/>
                <a:gd name="connsiteX1" fmla="*/ 253 w 8638"/>
                <a:gd name="connsiteY1" fmla="*/ 22119 h 22052"/>
              </a:gdLst>
              <a:ahLst/>
              <a:cxnLst>
                <a:cxn ang="0">
                  <a:pos x="connsiteX0" y="connsiteY0"/>
                </a:cxn>
                <a:cxn ang="0">
                  <a:pos x="connsiteX1" y="connsiteY1"/>
                </a:cxn>
              </a:cxnLst>
              <a:rect l="l" t="t" r="r" b="b"/>
              <a:pathLst>
                <a:path w="8638" h="22052">
                  <a:moveTo>
                    <a:pt x="8891" y="67"/>
                  </a:moveTo>
                  <a:lnTo>
                    <a:pt x="253" y="22119"/>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5" name="Freeform: Shape 284">
              <a:extLst>
                <a:ext uri="{FF2B5EF4-FFF2-40B4-BE49-F238E27FC236}">
                  <a16:creationId xmlns:a16="http://schemas.microsoft.com/office/drawing/2014/main" id="{2CF08870-DFB4-E8A2-0731-253E4CD1806C}"/>
                </a:ext>
              </a:extLst>
            </p:cNvPr>
            <p:cNvSpPr/>
            <p:nvPr/>
          </p:nvSpPr>
          <p:spPr>
            <a:xfrm flipV="1">
              <a:off x="6690711" y="4486954"/>
              <a:ext cx="8640" cy="22052"/>
            </a:xfrm>
            <a:custGeom>
              <a:avLst/>
              <a:gdLst>
                <a:gd name="connsiteX0" fmla="*/ 430 w 8640"/>
                <a:gd name="connsiteY0" fmla="*/ 67 h 22052"/>
                <a:gd name="connsiteX1" fmla="*/ 9070 w 8640"/>
                <a:gd name="connsiteY1" fmla="*/ 22119 h 22052"/>
              </a:gdLst>
              <a:ahLst/>
              <a:cxnLst>
                <a:cxn ang="0">
                  <a:pos x="connsiteX0" y="connsiteY0"/>
                </a:cxn>
                <a:cxn ang="0">
                  <a:pos x="connsiteX1" y="connsiteY1"/>
                </a:cxn>
              </a:cxnLst>
              <a:rect l="l" t="t" r="r" b="b"/>
              <a:pathLst>
                <a:path w="8640" h="22052">
                  <a:moveTo>
                    <a:pt x="430" y="67"/>
                  </a:moveTo>
                  <a:lnTo>
                    <a:pt x="9070" y="22119"/>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6" name="Freeform: Shape 285">
              <a:extLst>
                <a:ext uri="{FF2B5EF4-FFF2-40B4-BE49-F238E27FC236}">
                  <a16:creationId xmlns:a16="http://schemas.microsoft.com/office/drawing/2014/main" id="{E8E4B372-9CD0-DEE6-567B-A8A37244B5A1}"/>
                </a:ext>
              </a:extLst>
            </p:cNvPr>
            <p:cNvSpPr/>
            <p:nvPr/>
          </p:nvSpPr>
          <p:spPr>
            <a:xfrm flipV="1">
              <a:off x="6777802" y="4522148"/>
              <a:ext cx="43839" cy="43839"/>
            </a:xfrm>
            <a:custGeom>
              <a:avLst/>
              <a:gdLst>
                <a:gd name="connsiteX0" fmla="*/ 44388 w 43839"/>
                <a:gd name="connsiteY0" fmla="*/ 43973 h 43839"/>
                <a:gd name="connsiteX1" fmla="*/ 548 w 43839"/>
                <a:gd name="connsiteY1" fmla="*/ 134 h 43839"/>
              </a:gdLst>
              <a:ahLst/>
              <a:cxnLst>
                <a:cxn ang="0">
                  <a:pos x="connsiteX0" y="connsiteY0"/>
                </a:cxn>
                <a:cxn ang="0">
                  <a:pos x="connsiteX1" y="connsiteY1"/>
                </a:cxn>
              </a:cxnLst>
              <a:rect l="l" t="t" r="r" b="b"/>
              <a:pathLst>
                <a:path w="43839" h="43839">
                  <a:moveTo>
                    <a:pt x="44388" y="43973"/>
                  </a:moveTo>
                  <a:lnTo>
                    <a:pt x="548" y="134"/>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7" name="Freeform: Shape 286">
              <a:extLst>
                <a:ext uri="{FF2B5EF4-FFF2-40B4-BE49-F238E27FC236}">
                  <a16:creationId xmlns:a16="http://schemas.microsoft.com/office/drawing/2014/main" id="{97FA9F8B-B4CD-C805-FDAB-57977BDC13D1}"/>
                </a:ext>
              </a:extLst>
            </p:cNvPr>
            <p:cNvSpPr/>
            <p:nvPr/>
          </p:nvSpPr>
          <p:spPr>
            <a:xfrm flipV="1">
              <a:off x="6834784" y="4644685"/>
              <a:ext cx="21426" cy="8393"/>
            </a:xfrm>
            <a:custGeom>
              <a:avLst/>
              <a:gdLst>
                <a:gd name="connsiteX0" fmla="*/ 22010 w 21426"/>
                <a:gd name="connsiteY0" fmla="*/ 8613 h 8393"/>
                <a:gd name="connsiteX1" fmla="*/ 583 w 21426"/>
                <a:gd name="connsiteY1" fmla="*/ 220 h 8393"/>
              </a:gdLst>
              <a:ahLst/>
              <a:cxnLst>
                <a:cxn ang="0">
                  <a:pos x="connsiteX0" y="connsiteY0"/>
                </a:cxn>
                <a:cxn ang="0">
                  <a:pos x="connsiteX1" y="connsiteY1"/>
                </a:cxn>
              </a:cxnLst>
              <a:rect l="l" t="t" r="r" b="b"/>
              <a:pathLst>
                <a:path w="21426" h="8393">
                  <a:moveTo>
                    <a:pt x="22010" y="8613"/>
                  </a:moveTo>
                  <a:lnTo>
                    <a:pt x="583" y="220"/>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8" name="Freeform: Shape 287">
              <a:extLst>
                <a:ext uri="{FF2B5EF4-FFF2-40B4-BE49-F238E27FC236}">
                  <a16:creationId xmlns:a16="http://schemas.microsoft.com/office/drawing/2014/main" id="{07836F20-DF99-E2EE-71F2-E14B9661F656}"/>
                </a:ext>
              </a:extLst>
            </p:cNvPr>
            <p:cNvSpPr/>
            <p:nvPr/>
          </p:nvSpPr>
          <p:spPr>
            <a:xfrm flipV="1">
              <a:off x="6382183" y="4599347"/>
              <a:ext cx="222562" cy="386468"/>
            </a:xfrm>
            <a:custGeom>
              <a:avLst/>
              <a:gdLst>
                <a:gd name="connsiteX0" fmla="*/ 66256 w 222562"/>
                <a:gd name="connsiteY0" fmla="*/ 386959 h 386468"/>
                <a:gd name="connsiteX1" fmla="*/ 210 w 222562"/>
                <a:gd name="connsiteY1" fmla="*/ 232231 h 386468"/>
                <a:gd name="connsiteX2" fmla="*/ 92272 w 222562"/>
                <a:gd name="connsiteY2" fmla="*/ 55465 h 386468"/>
                <a:gd name="connsiteX3" fmla="*/ 120825 w 222562"/>
                <a:gd name="connsiteY3" fmla="*/ 496 h 386468"/>
                <a:gd name="connsiteX4" fmla="*/ 120825 w 222562"/>
                <a:gd name="connsiteY4" fmla="*/ 490 h 386468"/>
                <a:gd name="connsiteX5" fmla="*/ 215940 w 222562"/>
                <a:gd name="connsiteY5" fmla="*/ 490 h 386468"/>
                <a:gd name="connsiteX6" fmla="*/ 222773 w 222562"/>
                <a:gd name="connsiteY6" fmla="*/ 490 h 386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562" h="386468">
                  <a:moveTo>
                    <a:pt x="66256" y="386959"/>
                  </a:moveTo>
                  <a:cubicBezTo>
                    <a:pt x="25636" y="347645"/>
                    <a:pt x="210" y="292691"/>
                    <a:pt x="210" y="232231"/>
                  </a:cubicBezTo>
                  <a:cubicBezTo>
                    <a:pt x="212" y="159098"/>
                    <a:pt x="36608" y="94473"/>
                    <a:pt x="92272" y="55465"/>
                  </a:cubicBezTo>
                  <a:cubicBezTo>
                    <a:pt x="110189" y="42907"/>
                    <a:pt x="120825" y="22375"/>
                    <a:pt x="120825" y="496"/>
                  </a:cubicBezTo>
                  <a:lnTo>
                    <a:pt x="120825" y="490"/>
                  </a:lnTo>
                  <a:lnTo>
                    <a:pt x="215940" y="490"/>
                  </a:lnTo>
                  <a:lnTo>
                    <a:pt x="222773" y="490"/>
                  </a:ln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sp>
          <p:nvSpPr>
            <p:cNvPr id="289" name="Freeform: Shape 288">
              <a:extLst>
                <a:ext uri="{FF2B5EF4-FFF2-40B4-BE49-F238E27FC236}">
                  <a16:creationId xmlns:a16="http://schemas.microsoft.com/office/drawing/2014/main" id="{563D7178-9EED-A4B2-9B10-E60651E5C9C5}"/>
                </a:ext>
              </a:extLst>
            </p:cNvPr>
            <p:cNvSpPr/>
            <p:nvPr/>
          </p:nvSpPr>
          <p:spPr>
            <a:xfrm flipV="1">
              <a:off x="6481388" y="4538342"/>
              <a:ext cx="332252" cy="447473"/>
            </a:xfrm>
            <a:custGeom>
              <a:avLst/>
              <a:gdLst>
                <a:gd name="connsiteX0" fmla="*/ 166029 w 332252"/>
                <a:gd name="connsiteY0" fmla="*/ 165 h 447473"/>
                <a:gd name="connsiteX1" fmla="*/ 212029 w 332252"/>
                <a:gd name="connsiteY1" fmla="*/ 165 h 447473"/>
                <a:gd name="connsiteX2" fmla="*/ 241011 w 332252"/>
                <a:gd name="connsiteY2" fmla="*/ 55443 h 447473"/>
                <a:gd name="connsiteX3" fmla="*/ 332640 w 332252"/>
                <a:gd name="connsiteY3" fmla="*/ 231909 h 447473"/>
                <a:gd name="connsiteX4" fmla="*/ 118755 w 332252"/>
                <a:gd name="connsiteY4" fmla="*/ 447632 h 447473"/>
                <a:gd name="connsiteX5" fmla="*/ 388 w 332252"/>
                <a:gd name="connsiteY5" fmla="*/ 413031 h 447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252" h="447473">
                  <a:moveTo>
                    <a:pt x="166029" y="165"/>
                  </a:moveTo>
                  <a:lnTo>
                    <a:pt x="212029" y="165"/>
                  </a:lnTo>
                  <a:cubicBezTo>
                    <a:pt x="212029" y="22232"/>
                    <a:pt x="222970" y="42734"/>
                    <a:pt x="241011" y="55443"/>
                  </a:cubicBezTo>
                  <a:cubicBezTo>
                    <a:pt x="296433" y="94485"/>
                    <a:pt x="332640" y="158965"/>
                    <a:pt x="332640" y="231909"/>
                  </a:cubicBezTo>
                  <a:cubicBezTo>
                    <a:pt x="332640" y="350439"/>
                    <a:pt x="237051" y="446642"/>
                    <a:pt x="118755" y="447632"/>
                  </a:cubicBezTo>
                  <a:cubicBezTo>
                    <a:pt x="75304" y="447994"/>
                    <a:pt x="34581" y="435206"/>
                    <a:pt x="388" y="413031"/>
                  </a:cubicBezTo>
                </a:path>
              </a:pathLst>
            </a:custGeom>
            <a:noFill/>
            <a:ln w="19050" cap="rnd">
              <a:gradFill>
                <a:gsLst>
                  <a:gs pos="0">
                    <a:srgbClr val="BDF2BD"/>
                  </a:gs>
                  <a:gs pos="100000">
                    <a:srgbClr val="C3E9FC"/>
                  </a:gs>
                </a:gsLst>
                <a:lin ang="5400000" scaled="1"/>
              </a:gradFill>
              <a:prstDash val="solid"/>
              <a:round/>
            </a:ln>
          </p:spPr>
          <p:txBody>
            <a:bodyPr rtlCol="0" anchor="ctr"/>
            <a:lstStyle/>
            <a:p>
              <a:endParaRPr lang="en-GB"/>
            </a:p>
          </p:txBody>
        </p:sp>
      </p:grpSp>
      <p:sp>
        <p:nvSpPr>
          <p:cNvPr id="3" name="Rectangle: Rounded Corners 2">
            <a:extLst>
              <a:ext uri="{FF2B5EF4-FFF2-40B4-BE49-F238E27FC236}">
                <a16:creationId xmlns:a16="http://schemas.microsoft.com/office/drawing/2014/main" id="{0E558D19-9BDD-105A-F304-0E9CE81E8172}"/>
              </a:ext>
            </a:extLst>
          </p:cNvPr>
          <p:cNvSpPr>
            <a:spLocks/>
          </p:cNvSpPr>
          <p:nvPr/>
        </p:nvSpPr>
        <p:spPr bwMode="auto">
          <a:xfrm>
            <a:off x="6817283" y="2209072"/>
            <a:ext cx="4851239" cy="1625096"/>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39" name="Content Placeholder 2">
            <a:extLst>
              <a:ext uri="{FF2B5EF4-FFF2-40B4-BE49-F238E27FC236}">
                <a16:creationId xmlns:a16="http://schemas.microsoft.com/office/drawing/2014/main" id="{EADB992C-3FDC-ED44-2223-026F060F8AF8}"/>
              </a:ext>
            </a:extLst>
          </p:cNvPr>
          <p:cNvSpPr txBox="1">
            <a:spLocks/>
          </p:cNvSpPr>
          <p:nvPr/>
        </p:nvSpPr>
        <p:spPr>
          <a:xfrm>
            <a:off x="1945781" y="2786932"/>
            <a:ext cx="4204875"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2000">
                <a:latin typeface="Segoe Sans Text Semibold"/>
              </a:rPr>
              <a:t>Multi Model Support</a:t>
            </a:r>
          </a:p>
        </p:txBody>
      </p:sp>
      <p:grpSp>
        <p:nvGrpSpPr>
          <p:cNvPr id="240" name="Group 239">
            <a:extLst>
              <a:ext uri="{FF2B5EF4-FFF2-40B4-BE49-F238E27FC236}">
                <a16:creationId xmlns:a16="http://schemas.microsoft.com/office/drawing/2014/main" id="{6B4B629E-7347-ACDD-AE7F-1335871A59D5}"/>
              </a:ext>
            </a:extLst>
          </p:cNvPr>
          <p:cNvGrpSpPr/>
          <p:nvPr/>
        </p:nvGrpSpPr>
        <p:grpSpPr>
          <a:xfrm>
            <a:off x="6222254" y="2427890"/>
            <a:ext cx="1190058" cy="1190400"/>
            <a:chOff x="1600003" y="1811018"/>
            <a:chExt cx="1641521" cy="1641995"/>
          </a:xfrm>
        </p:grpSpPr>
        <p:sp>
          <p:nvSpPr>
            <p:cNvPr id="241" name="Oval 17">
              <a:extLst>
                <a:ext uri="{FF2B5EF4-FFF2-40B4-BE49-F238E27FC236}">
                  <a16:creationId xmlns:a16="http://schemas.microsoft.com/office/drawing/2014/main" id="{8F7D2B50-40F8-7C6F-1B64-1E82C7D52162}"/>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a:solidFill>
                  <a:srgbClr val="FFFFFF"/>
                </a:solidFill>
                <a:latin typeface="Segoe Sans Text" pitchFamily="2" charset="0"/>
                <a:ea typeface="Segoe UI" pitchFamily="34" charset="0"/>
                <a:cs typeface="Segoe Sans Text" pitchFamily="2" charset="0"/>
              </a:endParaRPr>
            </a:p>
          </p:txBody>
        </p:sp>
        <p:grpSp>
          <p:nvGrpSpPr>
            <p:cNvPr id="242" name="Group 241">
              <a:extLst>
                <a:ext uri="{FF2B5EF4-FFF2-40B4-BE49-F238E27FC236}">
                  <a16:creationId xmlns:a16="http://schemas.microsoft.com/office/drawing/2014/main" id="{427DC944-8D3A-3C93-7183-7B8B6423E506}"/>
                </a:ext>
              </a:extLst>
            </p:cNvPr>
            <p:cNvGrpSpPr/>
            <p:nvPr/>
          </p:nvGrpSpPr>
          <p:grpSpPr>
            <a:xfrm>
              <a:off x="1714608" y="1927192"/>
              <a:ext cx="1412311" cy="1409646"/>
              <a:chOff x="1261672" y="4833937"/>
              <a:chExt cx="954296" cy="954297"/>
            </a:xfrm>
          </p:grpSpPr>
          <p:sp>
            <p:nvSpPr>
              <p:cNvPr id="243" name="Rectangle: Rounded Corners 242">
                <a:extLst>
                  <a:ext uri="{FF2B5EF4-FFF2-40B4-BE49-F238E27FC236}">
                    <a16:creationId xmlns:a16="http://schemas.microsoft.com/office/drawing/2014/main" id="{20DBE146-07B3-1955-E7F7-DCFBBA4C41A0}"/>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44" name="Rectangle: Rounded Corners 243">
                <a:extLst>
                  <a:ext uri="{FF2B5EF4-FFF2-40B4-BE49-F238E27FC236}">
                    <a16:creationId xmlns:a16="http://schemas.microsoft.com/office/drawing/2014/main" id="{2823C13B-EA6B-7610-CA5C-FB2EA1CEA62C}"/>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252" name="Graphic 171">
            <a:extLst>
              <a:ext uri="{FF2B5EF4-FFF2-40B4-BE49-F238E27FC236}">
                <a16:creationId xmlns:a16="http://schemas.microsoft.com/office/drawing/2014/main" id="{A14F5F23-465A-4CBA-FCDC-D6A693DA20FC}"/>
              </a:ext>
            </a:extLst>
          </p:cNvPr>
          <p:cNvSpPr/>
          <p:nvPr/>
        </p:nvSpPr>
        <p:spPr>
          <a:xfrm>
            <a:off x="6506320" y="2718812"/>
            <a:ext cx="629657" cy="631995"/>
          </a:xfrm>
          <a:custGeom>
            <a:avLst/>
            <a:gdLst>
              <a:gd name="connsiteX0" fmla="*/ 61113 w 629657"/>
              <a:gd name="connsiteY0" fmla="*/ 220311 h 631995"/>
              <a:gd name="connsiteX1" fmla="*/ 288040 w 629657"/>
              <a:gd name="connsiteY1" fmla="*/ 46192 h 631995"/>
              <a:gd name="connsiteX2" fmla="*/ 251515 w 629657"/>
              <a:gd name="connsiteY2" fmla="*/ 17562 h 631995"/>
              <a:gd name="connsiteX3" fmla="*/ 249842 w 629657"/>
              <a:gd name="connsiteY3" fmla="*/ 3763 h 631995"/>
              <a:gd name="connsiteX4" fmla="*/ 263641 w 629657"/>
              <a:gd name="connsiteY4" fmla="*/ 2090 h 631995"/>
              <a:gd name="connsiteX5" fmla="*/ 320877 w 629657"/>
              <a:gd name="connsiteY5" fmla="*/ 46955 h 631995"/>
              <a:gd name="connsiteX6" fmla="*/ 322549 w 629657"/>
              <a:gd name="connsiteY6" fmla="*/ 60753 h 631995"/>
              <a:gd name="connsiteX7" fmla="*/ 277685 w 629657"/>
              <a:gd name="connsiteY7" fmla="*/ 117989 h 631995"/>
              <a:gd name="connsiteX8" fmla="*/ 269937 w 629657"/>
              <a:gd name="connsiteY8" fmla="*/ 121753 h 631995"/>
              <a:gd name="connsiteX9" fmla="*/ 263874 w 629657"/>
              <a:gd name="connsiteY9" fmla="*/ 119662 h 631995"/>
              <a:gd name="connsiteX10" fmla="*/ 262202 w 629657"/>
              <a:gd name="connsiteY10" fmla="*/ 105863 h 631995"/>
              <a:gd name="connsiteX11" fmla="*/ 293919 w 629657"/>
              <a:gd name="connsiteY11" fmla="*/ 65390 h 631995"/>
              <a:gd name="connsiteX12" fmla="*/ 79474 w 629657"/>
              <a:gd name="connsiteY12" fmla="*/ 227235 h 631995"/>
              <a:gd name="connsiteX13" fmla="*/ 70275 w 629657"/>
              <a:gd name="connsiteY13" fmla="*/ 233593 h 631995"/>
              <a:gd name="connsiteX14" fmla="*/ 66807 w 629657"/>
              <a:gd name="connsiteY14" fmla="*/ 232953 h 631995"/>
              <a:gd name="connsiteX15" fmla="*/ 61113 w 629657"/>
              <a:gd name="connsiteY15" fmla="*/ 220311 h 631995"/>
              <a:gd name="connsiteX16" fmla="*/ 226057 w 629657"/>
              <a:gd name="connsiteY16" fmla="*/ 551343 h 631995"/>
              <a:gd name="connsiteX17" fmla="*/ 64175 w 629657"/>
              <a:gd name="connsiteY17" fmla="*/ 336308 h 631995"/>
              <a:gd name="connsiteX18" fmla="*/ 105756 w 629657"/>
              <a:gd name="connsiteY18" fmla="*/ 367558 h 631995"/>
              <a:gd name="connsiteX19" fmla="*/ 119517 w 629657"/>
              <a:gd name="connsiteY19" fmla="*/ 365602 h 631995"/>
              <a:gd name="connsiteX20" fmla="*/ 117562 w 629657"/>
              <a:gd name="connsiteY20" fmla="*/ 351841 h 631995"/>
              <a:gd name="connsiteX21" fmla="*/ 59453 w 629657"/>
              <a:gd name="connsiteY21" fmla="*/ 308157 h 631995"/>
              <a:gd name="connsiteX22" fmla="*/ 45691 w 629657"/>
              <a:gd name="connsiteY22" fmla="*/ 310113 h 631995"/>
              <a:gd name="connsiteX23" fmla="*/ 1971 w 629657"/>
              <a:gd name="connsiteY23" fmla="*/ 368259 h 631995"/>
              <a:gd name="connsiteX24" fmla="*/ 3926 w 629657"/>
              <a:gd name="connsiteY24" fmla="*/ 382021 h 631995"/>
              <a:gd name="connsiteX25" fmla="*/ 9829 w 629657"/>
              <a:gd name="connsiteY25" fmla="*/ 383988 h 631995"/>
              <a:gd name="connsiteX26" fmla="*/ 17700 w 629657"/>
              <a:gd name="connsiteY26" fmla="*/ 380065 h 631995"/>
              <a:gd name="connsiteX27" fmla="*/ 45101 w 629657"/>
              <a:gd name="connsiteY27" fmla="*/ 343613 h 631995"/>
              <a:gd name="connsiteX28" fmla="*/ 95265 w 629657"/>
              <a:gd name="connsiteY28" fmla="*/ 475082 h 631995"/>
              <a:gd name="connsiteX29" fmla="*/ 219121 w 629657"/>
              <a:gd name="connsiteY29" fmla="*/ 569729 h 631995"/>
              <a:gd name="connsiteX30" fmla="*/ 222589 w 629657"/>
              <a:gd name="connsiteY30" fmla="*/ 570369 h 631995"/>
              <a:gd name="connsiteX31" fmla="*/ 231788 w 629657"/>
              <a:gd name="connsiteY31" fmla="*/ 564010 h 631995"/>
              <a:gd name="connsiteX32" fmla="*/ 226057 w 629657"/>
              <a:gd name="connsiteY32" fmla="*/ 551343 h 631995"/>
              <a:gd name="connsiteX33" fmla="*/ 562845 w 629657"/>
              <a:gd name="connsiteY33" fmla="*/ 399066 h 631995"/>
              <a:gd name="connsiteX34" fmla="*/ 550178 w 629657"/>
              <a:gd name="connsiteY34" fmla="*/ 404797 h 631995"/>
              <a:gd name="connsiteX35" fmla="*/ 335684 w 629657"/>
              <a:gd name="connsiteY35" fmla="*/ 566630 h 631995"/>
              <a:gd name="connsiteX36" fmla="*/ 367426 w 629657"/>
              <a:gd name="connsiteY36" fmla="*/ 526132 h 631995"/>
              <a:gd name="connsiteX37" fmla="*/ 365753 w 629657"/>
              <a:gd name="connsiteY37" fmla="*/ 512333 h 631995"/>
              <a:gd name="connsiteX38" fmla="*/ 351955 w 629657"/>
              <a:gd name="connsiteY38" fmla="*/ 514006 h 631995"/>
              <a:gd name="connsiteX39" fmla="*/ 307090 w 629657"/>
              <a:gd name="connsiteY39" fmla="*/ 571242 h 631995"/>
              <a:gd name="connsiteX40" fmla="*/ 308763 w 629657"/>
              <a:gd name="connsiteY40" fmla="*/ 585040 h 631995"/>
              <a:gd name="connsiteX41" fmla="*/ 365999 w 629657"/>
              <a:gd name="connsiteY41" fmla="*/ 629904 h 631995"/>
              <a:gd name="connsiteX42" fmla="*/ 372062 w 629657"/>
              <a:gd name="connsiteY42" fmla="*/ 631995 h 631995"/>
              <a:gd name="connsiteX43" fmla="*/ 379810 w 629657"/>
              <a:gd name="connsiteY43" fmla="*/ 628232 h 631995"/>
              <a:gd name="connsiteX44" fmla="*/ 378138 w 629657"/>
              <a:gd name="connsiteY44" fmla="*/ 614433 h 631995"/>
              <a:gd name="connsiteX45" fmla="*/ 341636 w 629657"/>
              <a:gd name="connsiteY45" fmla="*/ 585827 h 631995"/>
              <a:gd name="connsiteX46" fmla="*/ 568576 w 629657"/>
              <a:gd name="connsiteY46" fmla="*/ 411733 h 631995"/>
              <a:gd name="connsiteX47" fmla="*/ 562845 w 629657"/>
              <a:gd name="connsiteY47" fmla="*/ 399066 h 631995"/>
              <a:gd name="connsiteX48" fmla="*/ 335389 w 629657"/>
              <a:gd name="connsiteY48" fmla="*/ 492803 h 631995"/>
              <a:gd name="connsiteX49" fmla="*/ 294251 w 629657"/>
              <a:gd name="connsiteY49" fmla="*/ 492803 h 631995"/>
              <a:gd name="connsiteX50" fmla="*/ 284904 w 629657"/>
              <a:gd name="connsiteY50" fmla="*/ 486002 h 631995"/>
              <a:gd name="connsiteX51" fmla="*/ 276271 w 629657"/>
              <a:gd name="connsiteY51" fmla="*/ 459438 h 631995"/>
              <a:gd name="connsiteX52" fmla="*/ 240680 w 629657"/>
              <a:gd name="connsiteY52" fmla="*/ 444705 h 631995"/>
              <a:gd name="connsiteX53" fmla="*/ 215788 w 629657"/>
              <a:gd name="connsiteY53" fmla="*/ 457397 h 631995"/>
              <a:gd name="connsiteX54" fmla="*/ 204375 w 629657"/>
              <a:gd name="connsiteY54" fmla="*/ 455601 h 631995"/>
              <a:gd name="connsiteX55" fmla="*/ 175253 w 629657"/>
              <a:gd name="connsiteY55" fmla="*/ 426479 h 631995"/>
              <a:gd name="connsiteX56" fmla="*/ 173458 w 629657"/>
              <a:gd name="connsiteY56" fmla="*/ 415066 h 631995"/>
              <a:gd name="connsiteX57" fmla="*/ 186149 w 629657"/>
              <a:gd name="connsiteY57" fmla="*/ 390162 h 631995"/>
              <a:gd name="connsiteX58" fmla="*/ 171404 w 629657"/>
              <a:gd name="connsiteY58" fmla="*/ 354571 h 631995"/>
              <a:gd name="connsiteX59" fmla="*/ 144815 w 629657"/>
              <a:gd name="connsiteY59" fmla="*/ 345950 h 631995"/>
              <a:gd name="connsiteX60" fmla="*/ 138014 w 629657"/>
              <a:gd name="connsiteY60" fmla="*/ 336603 h 631995"/>
              <a:gd name="connsiteX61" fmla="*/ 138014 w 629657"/>
              <a:gd name="connsiteY61" fmla="*/ 295466 h 631995"/>
              <a:gd name="connsiteX62" fmla="*/ 144803 w 629657"/>
              <a:gd name="connsiteY62" fmla="*/ 286119 h 631995"/>
              <a:gd name="connsiteX63" fmla="*/ 171416 w 629657"/>
              <a:gd name="connsiteY63" fmla="*/ 277449 h 631995"/>
              <a:gd name="connsiteX64" fmla="*/ 186149 w 629657"/>
              <a:gd name="connsiteY64" fmla="*/ 241870 h 631995"/>
              <a:gd name="connsiteX65" fmla="*/ 173458 w 629657"/>
              <a:gd name="connsiteY65" fmla="*/ 216953 h 631995"/>
              <a:gd name="connsiteX66" fmla="*/ 175265 w 629657"/>
              <a:gd name="connsiteY66" fmla="*/ 205541 h 631995"/>
              <a:gd name="connsiteX67" fmla="*/ 204388 w 629657"/>
              <a:gd name="connsiteY67" fmla="*/ 176455 h 631995"/>
              <a:gd name="connsiteX68" fmla="*/ 215788 w 629657"/>
              <a:gd name="connsiteY68" fmla="*/ 174647 h 631995"/>
              <a:gd name="connsiteX69" fmla="*/ 240704 w 629657"/>
              <a:gd name="connsiteY69" fmla="*/ 187327 h 631995"/>
              <a:gd name="connsiteX70" fmla="*/ 276296 w 629657"/>
              <a:gd name="connsiteY70" fmla="*/ 172569 h 631995"/>
              <a:gd name="connsiteX71" fmla="*/ 284929 w 629657"/>
              <a:gd name="connsiteY71" fmla="*/ 146005 h 631995"/>
              <a:gd name="connsiteX72" fmla="*/ 294276 w 629657"/>
              <a:gd name="connsiteY72" fmla="*/ 139204 h 631995"/>
              <a:gd name="connsiteX73" fmla="*/ 335413 w 629657"/>
              <a:gd name="connsiteY73" fmla="*/ 139204 h 631995"/>
              <a:gd name="connsiteX74" fmla="*/ 344760 w 629657"/>
              <a:gd name="connsiteY74" fmla="*/ 145980 h 631995"/>
              <a:gd name="connsiteX75" fmla="*/ 353406 w 629657"/>
              <a:gd name="connsiteY75" fmla="*/ 172569 h 631995"/>
              <a:gd name="connsiteX76" fmla="*/ 388997 w 629657"/>
              <a:gd name="connsiteY76" fmla="*/ 187327 h 631995"/>
              <a:gd name="connsiteX77" fmla="*/ 395552 w 629657"/>
              <a:gd name="connsiteY77" fmla="*/ 183969 h 631995"/>
              <a:gd name="connsiteX78" fmla="*/ 413925 w 629657"/>
              <a:gd name="connsiteY78" fmla="*/ 174647 h 631995"/>
              <a:gd name="connsiteX79" fmla="*/ 425326 w 629657"/>
              <a:gd name="connsiteY79" fmla="*/ 176468 h 631995"/>
              <a:gd name="connsiteX80" fmla="*/ 454399 w 629657"/>
              <a:gd name="connsiteY80" fmla="*/ 205541 h 631995"/>
              <a:gd name="connsiteX81" fmla="*/ 456207 w 629657"/>
              <a:gd name="connsiteY81" fmla="*/ 216953 h 631995"/>
              <a:gd name="connsiteX82" fmla="*/ 443515 w 629657"/>
              <a:gd name="connsiteY82" fmla="*/ 241857 h 631995"/>
              <a:gd name="connsiteX83" fmla="*/ 458285 w 629657"/>
              <a:gd name="connsiteY83" fmla="*/ 277461 h 631995"/>
              <a:gd name="connsiteX84" fmla="*/ 484874 w 629657"/>
              <a:gd name="connsiteY84" fmla="*/ 286107 h 631995"/>
              <a:gd name="connsiteX85" fmla="*/ 491663 w 629657"/>
              <a:gd name="connsiteY85" fmla="*/ 295453 h 631995"/>
              <a:gd name="connsiteX86" fmla="*/ 491663 w 629657"/>
              <a:gd name="connsiteY86" fmla="*/ 336591 h 631995"/>
              <a:gd name="connsiteX87" fmla="*/ 484862 w 629657"/>
              <a:gd name="connsiteY87" fmla="*/ 345938 h 631995"/>
              <a:gd name="connsiteX88" fmla="*/ 458273 w 629657"/>
              <a:gd name="connsiteY88" fmla="*/ 354571 h 631995"/>
              <a:gd name="connsiteX89" fmla="*/ 443527 w 629657"/>
              <a:gd name="connsiteY89" fmla="*/ 390150 h 631995"/>
              <a:gd name="connsiteX90" fmla="*/ 456219 w 629657"/>
              <a:gd name="connsiteY90" fmla="*/ 415054 h 631995"/>
              <a:gd name="connsiteX91" fmla="*/ 454424 w 629657"/>
              <a:gd name="connsiteY91" fmla="*/ 426467 h 631995"/>
              <a:gd name="connsiteX92" fmla="*/ 425338 w 629657"/>
              <a:gd name="connsiteY92" fmla="*/ 455589 h 631995"/>
              <a:gd name="connsiteX93" fmla="*/ 413925 w 629657"/>
              <a:gd name="connsiteY93" fmla="*/ 457397 h 631995"/>
              <a:gd name="connsiteX94" fmla="*/ 389009 w 629657"/>
              <a:gd name="connsiteY94" fmla="*/ 444705 h 631995"/>
              <a:gd name="connsiteX95" fmla="*/ 353406 w 629657"/>
              <a:gd name="connsiteY95" fmla="*/ 459438 h 631995"/>
              <a:gd name="connsiteX96" fmla="*/ 351143 w 629657"/>
              <a:gd name="connsiteY96" fmla="*/ 466436 h 631995"/>
              <a:gd name="connsiteX97" fmla="*/ 344748 w 629657"/>
              <a:gd name="connsiteY97" fmla="*/ 486027 h 631995"/>
              <a:gd name="connsiteX98" fmla="*/ 335389 w 629657"/>
              <a:gd name="connsiteY98" fmla="*/ 492803 h 631995"/>
              <a:gd name="connsiteX99" fmla="*/ 328256 w 629657"/>
              <a:gd name="connsiteY99" fmla="*/ 473138 h 631995"/>
              <a:gd name="connsiteX100" fmla="*/ 336348 w 629657"/>
              <a:gd name="connsiteY100" fmla="*/ 448185 h 631995"/>
              <a:gd name="connsiteX101" fmla="*/ 343518 w 629657"/>
              <a:gd name="connsiteY101" fmla="*/ 441618 h 631995"/>
              <a:gd name="connsiteX102" fmla="*/ 383364 w 629657"/>
              <a:gd name="connsiteY102" fmla="*/ 425126 h 631995"/>
              <a:gd name="connsiteX103" fmla="*/ 393055 w 629657"/>
              <a:gd name="connsiteY103" fmla="*/ 424696 h 631995"/>
              <a:gd name="connsiteX104" fmla="*/ 416459 w 629657"/>
              <a:gd name="connsiteY104" fmla="*/ 436625 h 631995"/>
              <a:gd name="connsiteX105" fmla="*/ 435435 w 629657"/>
              <a:gd name="connsiteY105" fmla="*/ 417624 h 631995"/>
              <a:gd name="connsiteX106" fmla="*/ 423506 w 629657"/>
              <a:gd name="connsiteY106" fmla="*/ 394196 h 631995"/>
              <a:gd name="connsiteX107" fmla="*/ 423949 w 629657"/>
              <a:gd name="connsiteY107" fmla="*/ 384517 h 631995"/>
              <a:gd name="connsiteX108" fmla="*/ 440428 w 629657"/>
              <a:gd name="connsiteY108" fmla="*/ 344732 h 631995"/>
              <a:gd name="connsiteX109" fmla="*/ 446983 w 629657"/>
              <a:gd name="connsiteY109" fmla="*/ 337550 h 631995"/>
              <a:gd name="connsiteX110" fmla="*/ 471986 w 629657"/>
              <a:gd name="connsiteY110" fmla="*/ 329433 h 631995"/>
              <a:gd name="connsiteX111" fmla="*/ 471986 w 629657"/>
              <a:gd name="connsiteY111" fmla="*/ 302574 h 631995"/>
              <a:gd name="connsiteX112" fmla="*/ 447032 w 629657"/>
              <a:gd name="connsiteY112" fmla="*/ 294482 h 631995"/>
              <a:gd name="connsiteX113" fmla="*/ 440465 w 629657"/>
              <a:gd name="connsiteY113" fmla="*/ 287312 h 631995"/>
              <a:gd name="connsiteX114" fmla="*/ 423949 w 629657"/>
              <a:gd name="connsiteY114" fmla="*/ 247490 h 631995"/>
              <a:gd name="connsiteX115" fmla="*/ 423506 w 629657"/>
              <a:gd name="connsiteY115" fmla="*/ 237787 h 631995"/>
              <a:gd name="connsiteX116" fmla="*/ 435435 w 629657"/>
              <a:gd name="connsiteY116" fmla="*/ 214371 h 631995"/>
              <a:gd name="connsiteX117" fmla="*/ 416459 w 629657"/>
              <a:gd name="connsiteY117" fmla="*/ 195395 h 631995"/>
              <a:gd name="connsiteX118" fmla="*/ 393080 w 629657"/>
              <a:gd name="connsiteY118" fmla="*/ 207312 h 631995"/>
              <a:gd name="connsiteX119" fmla="*/ 383352 w 629657"/>
              <a:gd name="connsiteY119" fmla="*/ 206881 h 631995"/>
              <a:gd name="connsiteX120" fmla="*/ 343530 w 629657"/>
              <a:gd name="connsiteY120" fmla="*/ 190365 h 631995"/>
              <a:gd name="connsiteX121" fmla="*/ 336360 w 629657"/>
              <a:gd name="connsiteY121" fmla="*/ 183797 h 631995"/>
              <a:gd name="connsiteX122" fmla="*/ 328268 w 629657"/>
              <a:gd name="connsiteY122" fmla="*/ 158844 h 631995"/>
              <a:gd name="connsiteX123" fmla="*/ 301409 w 629657"/>
              <a:gd name="connsiteY123" fmla="*/ 158844 h 631995"/>
              <a:gd name="connsiteX124" fmla="*/ 293292 w 629657"/>
              <a:gd name="connsiteY124" fmla="*/ 183822 h 631995"/>
              <a:gd name="connsiteX125" fmla="*/ 286134 w 629657"/>
              <a:gd name="connsiteY125" fmla="*/ 190365 h 631995"/>
              <a:gd name="connsiteX126" fmla="*/ 246349 w 629657"/>
              <a:gd name="connsiteY126" fmla="*/ 206869 h 631995"/>
              <a:gd name="connsiteX127" fmla="*/ 236621 w 629657"/>
              <a:gd name="connsiteY127" fmla="*/ 207312 h 631995"/>
              <a:gd name="connsiteX128" fmla="*/ 213218 w 629657"/>
              <a:gd name="connsiteY128" fmla="*/ 195382 h 631995"/>
              <a:gd name="connsiteX129" fmla="*/ 194217 w 629657"/>
              <a:gd name="connsiteY129" fmla="*/ 214358 h 631995"/>
              <a:gd name="connsiteX130" fmla="*/ 206146 w 629657"/>
              <a:gd name="connsiteY130" fmla="*/ 237774 h 631995"/>
              <a:gd name="connsiteX131" fmla="*/ 205716 w 629657"/>
              <a:gd name="connsiteY131" fmla="*/ 247465 h 631995"/>
              <a:gd name="connsiteX132" fmla="*/ 189224 w 629657"/>
              <a:gd name="connsiteY132" fmla="*/ 287275 h 631995"/>
              <a:gd name="connsiteX133" fmla="*/ 182681 w 629657"/>
              <a:gd name="connsiteY133" fmla="*/ 294432 h 631995"/>
              <a:gd name="connsiteX134" fmla="*/ 157679 w 629657"/>
              <a:gd name="connsiteY134" fmla="*/ 302574 h 631995"/>
              <a:gd name="connsiteX135" fmla="*/ 157679 w 629657"/>
              <a:gd name="connsiteY135" fmla="*/ 329421 h 631995"/>
              <a:gd name="connsiteX136" fmla="*/ 182681 w 629657"/>
              <a:gd name="connsiteY136" fmla="*/ 337538 h 631995"/>
              <a:gd name="connsiteX137" fmla="*/ 189224 w 629657"/>
              <a:gd name="connsiteY137" fmla="*/ 344720 h 631995"/>
              <a:gd name="connsiteX138" fmla="*/ 205704 w 629657"/>
              <a:gd name="connsiteY138" fmla="*/ 384505 h 631995"/>
              <a:gd name="connsiteX139" fmla="*/ 206146 w 629657"/>
              <a:gd name="connsiteY139" fmla="*/ 394184 h 631995"/>
              <a:gd name="connsiteX140" fmla="*/ 194217 w 629657"/>
              <a:gd name="connsiteY140" fmla="*/ 417612 h 631995"/>
              <a:gd name="connsiteX141" fmla="*/ 213218 w 629657"/>
              <a:gd name="connsiteY141" fmla="*/ 436613 h 631995"/>
              <a:gd name="connsiteX142" fmla="*/ 236646 w 629657"/>
              <a:gd name="connsiteY142" fmla="*/ 424683 h 631995"/>
              <a:gd name="connsiteX143" fmla="*/ 246325 w 629657"/>
              <a:gd name="connsiteY143" fmla="*/ 425126 h 631995"/>
              <a:gd name="connsiteX144" fmla="*/ 286122 w 629657"/>
              <a:gd name="connsiteY144" fmla="*/ 441606 h 631995"/>
              <a:gd name="connsiteX145" fmla="*/ 293280 w 629657"/>
              <a:gd name="connsiteY145" fmla="*/ 448148 h 631995"/>
              <a:gd name="connsiteX146" fmla="*/ 301396 w 629657"/>
              <a:gd name="connsiteY146" fmla="*/ 473126 h 631995"/>
              <a:gd name="connsiteX147" fmla="*/ 328256 w 629657"/>
              <a:gd name="connsiteY147" fmla="*/ 473126 h 631995"/>
              <a:gd name="connsiteX148" fmla="*/ 314826 w 629657"/>
              <a:gd name="connsiteY148" fmla="*/ 401600 h 631995"/>
              <a:gd name="connsiteX149" fmla="*/ 229206 w 629657"/>
              <a:gd name="connsiteY149" fmla="*/ 316016 h 631995"/>
              <a:gd name="connsiteX150" fmla="*/ 314826 w 629657"/>
              <a:gd name="connsiteY150" fmla="*/ 230395 h 631995"/>
              <a:gd name="connsiteX151" fmla="*/ 400447 w 629657"/>
              <a:gd name="connsiteY151" fmla="*/ 316016 h 631995"/>
              <a:gd name="connsiteX152" fmla="*/ 314826 w 629657"/>
              <a:gd name="connsiteY152" fmla="*/ 401600 h 631995"/>
              <a:gd name="connsiteX153" fmla="*/ 380782 w 629657"/>
              <a:gd name="connsiteY153" fmla="*/ 316016 h 631995"/>
              <a:gd name="connsiteX154" fmla="*/ 314826 w 629657"/>
              <a:gd name="connsiteY154" fmla="*/ 250060 h 631995"/>
              <a:gd name="connsiteX155" fmla="*/ 248870 w 629657"/>
              <a:gd name="connsiteY155" fmla="*/ 316016 h 631995"/>
              <a:gd name="connsiteX156" fmla="*/ 314826 w 629657"/>
              <a:gd name="connsiteY156" fmla="*/ 381935 h 631995"/>
              <a:gd name="connsiteX157" fmla="*/ 380782 w 629657"/>
              <a:gd name="connsiteY157" fmla="*/ 316016 h 631995"/>
              <a:gd name="connsiteX158" fmla="*/ 625726 w 629657"/>
              <a:gd name="connsiteY158" fmla="*/ 250011 h 631995"/>
              <a:gd name="connsiteX159" fmla="*/ 611964 w 629657"/>
              <a:gd name="connsiteY159" fmla="*/ 251967 h 631995"/>
              <a:gd name="connsiteX160" fmla="*/ 584564 w 629657"/>
              <a:gd name="connsiteY160" fmla="*/ 288443 h 631995"/>
              <a:gd name="connsiteX161" fmla="*/ 410531 w 629657"/>
              <a:gd name="connsiteY161" fmla="*/ 62278 h 631995"/>
              <a:gd name="connsiteX162" fmla="*/ 397864 w 629657"/>
              <a:gd name="connsiteY162" fmla="*/ 68009 h 631995"/>
              <a:gd name="connsiteX163" fmla="*/ 403595 w 629657"/>
              <a:gd name="connsiteY163" fmla="*/ 80676 h 631995"/>
              <a:gd name="connsiteX164" fmla="*/ 565477 w 629657"/>
              <a:gd name="connsiteY164" fmla="*/ 295711 h 631995"/>
              <a:gd name="connsiteX165" fmla="*/ 523897 w 629657"/>
              <a:gd name="connsiteY165" fmla="*/ 264449 h 631995"/>
              <a:gd name="connsiteX166" fmla="*/ 510135 w 629657"/>
              <a:gd name="connsiteY166" fmla="*/ 266405 h 631995"/>
              <a:gd name="connsiteX167" fmla="*/ 512090 w 629657"/>
              <a:gd name="connsiteY167" fmla="*/ 280166 h 631995"/>
              <a:gd name="connsiteX168" fmla="*/ 570236 w 629657"/>
              <a:gd name="connsiteY168" fmla="*/ 323887 h 631995"/>
              <a:gd name="connsiteX169" fmla="*/ 576140 w 629657"/>
              <a:gd name="connsiteY169" fmla="*/ 325855 h 631995"/>
              <a:gd name="connsiteX170" fmla="*/ 577517 w 629657"/>
              <a:gd name="connsiteY170" fmla="*/ 325756 h 631995"/>
              <a:gd name="connsiteX171" fmla="*/ 583998 w 629657"/>
              <a:gd name="connsiteY171" fmla="*/ 321931 h 631995"/>
              <a:gd name="connsiteX172" fmla="*/ 627682 w 629657"/>
              <a:gd name="connsiteY172" fmla="*/ 263785 h 631995"/>
              <a:gd name="connsiteX173" fmla="*/ 625726 w 629657"/>
              <a:gd name="connsiteY173" fmla="*/ 250011 h 631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629657" h="631995">
                <a:moveTo>
                  <a:pt x="61113" y="220311"/>
                </a:moveTo>
                <a:cubicBezTo>
                  <a:pt x="97639" y="123511"/>
                  <a:pt x="185879" y="56252"/>
                  <a:pt x="288040" y="46192"/>
                </a:cubicBezTo>
                <a:lnTo>
                  <a:pt x="251515" y="17562"/>
                </a:lnTo>
                <a:cubicBezTo>
                  <a:pt x="247247" y="14217"/>
                  <a:pt x="246497" y="8031"/>
                  <a:pt x="249842" y="3763"/>
                </a:cubicBezTo>
                <a:cubicBezTo>
                  <a:pt x="253187" y="-504"/>
                  <a:pt x="259373" y="-1255"/>
                  <a:pt x="263641" y="2090"/>
                </a:cubicBezTo>
                <a:lnTo>
                  <a:pt x="320877" y="46955"/>
                </a:lnTo>
                <a:cubicBezTo>
                  <a:pt x="325144" y="50300"/>
                  <a:pt x="325895" y="56486"/>
                  <a:pt x="322549" y="60753"/>
                </a:cubicBezTo>
                <a:lnTo>
                  <a:pt x="277685" y="117989"/>
                </a:lnTo>
                <a:cubicBezTo>
                  <a:pt x="275742" y="120461"/>
                  <a:pt x="272864" y="121753"/>
                  <a:pt x="269937" y="121753"/>
                </a:cubicBezTo>
                <a:cubicBezTo>
                  <a:pt x="267822" y="121753"/>
                  <a:pt x="265682" y="121064"/>
                  <a:pt x="263874" y="119662"/>
                </a:cubicBezTo>
                <a:cubicBezTo>
                  <a:pt x="259607" y="116317"/>
                  <a:pt x="258857" y="110131"/>
                  <a:pt x="262202" y="105863"/>
                </a:cubicBezTo>
                <a:lnTo>
                  <a:pt x="293919" y="65390"/>
                </a:lnTo>
                <a:cubicBezTo>
                  <a:pt x="197488" y="73334"/>
                  <a:pt x="113823" y="136203"/>
                  <a:pt x="79474" y="227235"/>
                </a:cubicBezTo>
                <a:cubicBezTo>
                  <a:pt x="77986" y="231170"/>
                  <a:pt x="74247" y="233593"/>
                  <a:pt x="70275" y="233593"/>
                </a:cubicBezTo>
                <a:cubicBezTo>
                  <a:pt x="69119" y="233593"/>
                  <a:pt x="67951" y="233384"/>
                  <a:pt x="66807" y="232953"/>
                </a:cubicBezTo>
                <a:cubicBezTo>
                  <a:pt x="61765" y="231059"/>
                  <a:pt x="59194" y="225390"/>
                  <a:pt x="61113" y="220311"/>
                </a:cubicBezTo>
                <a:close/>
                <a:moveTo>
                  <a:pt x="226057" y="551343"/>
                </a:moveTo>
                <a:cubicBezTo>
                  <a:pt x="134337" y="516748"/>
                  <a:pt x="71898" y="433194"/>
                  <a:pt x="64175" y="336308"/>
                </a:cubicBezTo>
                <a:lnTo>
                  <a:pt x="105756" y="367558"/>
                </a:lnTo>
                <a:cubicBezTo>
                  <a:pt x="110097" y="370817"/>
                  <a:pt x="116258" y="369944"/>
                  <a:pt x="119517" y="365602"/>
                </a:cubicBezTo>
                <a:cubicBezTo>
                  <a:pt x="122776" y="361261"/>
                  <a:pt x="121903" y="355100"/>
                  <a:pt x="117562" y="351841"/>
                </a:cubicBezTo>
                <a:lnTo>
                  <a:pt x="59453" y="308157"/>
                </a:lnTo>
                <a:cubicBezTo>
                  <a:pt x="55111" y="304898"/>
                  <a:pt x="48950" y="305771"/>
                  <a:pt x="45691" y="310113"/>
                </a:cubicBezTo>
                <a:lnTo>
                  <a:pt x="1971" y="368259"/>
                </a:lnTo>
                <a:cubicBezTo>
                  <a:pt x="-1288" y="372600"/>
                  <a:pt x="-415" y="378762"/>
                  <a:pt x="3926" y="382021"/>
                </a:cubicBezTo>
                <a:cubicBezTo>
                  <a:pt x="5697" y="383349"/>
                  <a:pt x="7775" y="383988"/>
                  <a:pt x="9829" y="383988"/>
                </a:cubicBezTo>
                <a:cubicBezTo>
                  <a:pt x="12818" y="383988"/>
                  <a:pt x="15757" y="382636"/>
                  <a:pt x="17700" y="380065"/>
                </a:cubicBezTo>
                <a:lnTo>
                  <a:pt x="45101" y="343613"/>
                </a:lnTo>
                <a:cubicBezTo>
                  <a:pt x="49909" y="391109"/>
                  <a:pt x="67065" y="436231"/>
                  <a:pt x="95265" y="475082"/>
                </a:cubicBezTo>
                <a:cubicBezTo>
                  <a:pt x="126601" y="518249"/>
                  <a:pt x="169424" y="550974"/>
                  <a:pt x="219121" y="569729"/>
                </a:cubicBezTo>
                <a:cubicBezTo>
                  <a:pt x="220265" y="570159"/>
                  <a:pt x="221433" y="570369"/>
                  <a:pt x="222589" y="570369"/>
                </a:cubicBezTo>
                <a:cubicBezTo>
                  <a:pt x="226561" y="570369"/>
                  <a:pt x="230300" y="567946"/>
                  <a:pt x="231788" y="564010"/>
                </a:cubicBezTo>
                <a:cubicBezTo>
                  <a:pt x="233694" y="558931"/>
                  <a:pt x="231136" y="553262"/>
                  <a:pt x="226057" y="551343"/>
                </a:cubicBezTo>
                <a:close/>
                <a:moveTo>
                  <a:pt x="562845" y="399066"/>
                </a:moveTo>
                <a:cubicBezTo>
                  <a:pt x="557766" y="397148"/>
                  <a:pt x="552096" y="399706"/>
                  <a:pt x="550178" y="404797"/>
                </a:cubicBezTo>
                <a:cubicBezTo>
                  <a:pt x="515829" y="495804"/>
                  <a:pt x="432115" y="558698"/>
                  <a:pt x="335684" y="566630"/>
                </a:cubicBezTo>
                <a:lnTo>
                  <a:pt x="367426" y="526132"/>
                </a:lnTo>
                <a:cubicBezTo>
                  <a:pt x="370771" y="521864"/>
                  <a:pt x="370033" y="515678"/>
                  <a:pt x="365753" y="512333"/>
                </a:cubicBezTo>
                <a:cubicBezTo>
                  <a:pt x="361473" y="508988"/>
                  <a:pt x="355300" y="509738"/>
                  <a:pt x="351955" y="514006"/>
                </a:cubicBezTo>
                <a:lnTo>
                  <a:pt x="307090" y="571242"/>
                </a:lnTo>
                <a:cubicBezTo>
                  <a:pt x="303745" y="575509"/>
                  <a:pt x="304483" y="581695"/>
                  <a:pt x="308763" y="585040"/>
                </a:cubicBezTo>
                <a:lnTo>
                  <a:pt x="365999" y="629904"/>
                </a:lnTo>
                <a:cubicBezTo>
                  <a:pt x="367795" y="631319"/>
                  <a:pt x="369935" y="631995"/>
                  <a:pt x="372062" y="631995"/>
                </a:cubicBezTo>
                <a:cubicBezTo>
                  <a:pt x="374977" y="631995"/>
                  <a:pt x="377867" y="630704"/>
                  <a:pt x="379810" y="628232"/>
                </a:cubicBezTo>
                <a:cubicBezTo>
                  <a:pt x="383155" y="623964"/>
                  <a:pt x="382417" y="617778"/>
                  <a:pt x="378138" y="614433"/>
                </a:cubicBezTo>
                <a:lnTo>
                  <a:pt x="341636" y="585827"/>
                </a:lnTo>
                <a:cubicBezTo>
                  <a:pt x="443773" y="575767"/>
                  <a:pt x="532050" y="508484"/>
                  <a:pt x="568576" y="411733"/>
                </a:cubicBezTo>
                <a:cubicBezTo>
                  <a:pt x="570495" y="406654"/>
                  <a:pt x="567924" y="400985"/>
                  <a:pt x="562845" y="399066"/>
                </a:cubicBezTo>
                <a:close/>
                <a:moveTo>
                  <a:pt x="335389" y="492803"/>
                </a:moveTo>
                <a:lnTo>
                  <a:pt x="294251" y="492803"/>
                </a:lnTo>
                <a:cubicBezTo>
                  <a:pt x="289996" y="492803"/>
                  <a:pt x="286220" y="490061"/>
                  <a:pt x="284904" y="486002"/>
                </a:cubicBezTo>
                <a:lnTo>
                  <a:pt x="276271" y="459438"/>
                </a:lnTo>
                <a:cubicBezTo>
                  <a:pt x="263776" y="456081"/>
                  <a:pt x="251847" y="451149"/>
                  <a:pt x="240680" y="444705"/>
                </a:cubicBezTo>
                <a:lnTo>
                  <a:pt x="215788" y="457397"/>
                </a:lnTo>
                <a:cubicBezTo>
                  <a:pt x="212000" y="459328"/>
                  <a:pt x="207388" y="458602"/>
                  <a:pt x="204375" y="455601"/>
                </a:cubicBezTo>
                <a:lnTo>
                  <a:pt x="175253" y="426479"/>
                </a:lnTo>
                <a:cubicBezTo>
                  <a:pt x="172240" y="423466"/>
                  <a:pt x="171527" y="418854"/>
                  <a:pt x="173458" y="415066"/>
                </a:cubicBezTo>
                <a:lnTo>
                  <a:pt x="186149" y="390162"/>
                </a:lnTo>
                <a:cubicBezTo>
                  <a:pt x="179656" y="378909"/>
                  <a:pt x="174712" y="366980"/>
                  <a:pt x="171404" y="354571"/>
                </a:cubicBezTo>
                <a:lnTo>
                  <a:pt x="144815" y="345950"/>
                </a:lnTo>
                <a:cubicBezTo>
                  <a:pt x="140756" y="344634"/>
                  <a:pt x="138014" y="340858"/>
                  <a:pt x="138014" y="336603"/>
                </a:cubicBezTo>
                <a:lnTo>
                  <a:pt x="138014" y="295466"/>
                </a:lnTo>
                <a:cubicBezTo>
                  <a:pt x="138014" y="291210"/>
                  <a:pt x="140756" y="287435"/>
                  <a:pt x="144803" y="286119"/>
                </a:cubicBezTo>
                <a:lnTo>
                  <a:pt x="171416" y="277449"/>
                </a:lnTo>
                <a:cubicBezTo>
                  <a:pt x="174761" y="264990"/>
                  <a:pt x="179705" y="253061"/>
                  <a:pt x="186149" y="241870"/>
                </a:cubicBezTo>
                <a:lnTo>
                  <a:pt x="173458" y="216953"/>
                </a:lnTo>
                <a:cubicBezTo>
                  <a:pt x="171527" y="213153"/>
                  <a:pt x="172252" y="208554"/>
                  <a:pt x="175265" y="205541"/>
                </a:cubicBezTo>
                <a:lnTo>
                  <a:pt x="204388" y="176455"/>
                </a:lnTo>
                <a:cubicBezTo>
                  <a:pt x="207401" y="173454"/>
                  <a:pt x="212000" y="172729"/>
                  <a:pt x="215788" y="174647"/>
                </a:cubicBezTo>
                <a:lnTo>
                  <a:pt x="240704" y="187327"/>
                </a:lnTo>
                <a:cubicBezTo>
                  <a:pt x="251847" y="180870"/>
                  <a:pt x="263776" y="175926"/>
                  <a:pt x="276296" y="172569"/>
                </a:cubicBezTo>
                <a:lnTo>
                  <a:pt x="284929" y="146005"/>
                </a:lnTo>
                <a:cubicBezTo>
                  <a:pt x="286245" y="141946"/>
                  <a:pt x="290020" y="139204"/>
                  <a:pt x="294276" y="139204"/>
                </a:cubicBezTo>
                <a:lnTo>
                  <a:pt x="335413" y="139204"/>
                </a:lnTo>
                <a:cubicBezTo>
                  <a:pt x="339669" y="139204"/>
                  <a:pt x="343444" y="141946"/>
                  <a:pt x="344760" y="145980"/>
                </a:cubicBezTo>
                <a:lnTo>
                  <a:pt x="353406" y="172569"/>
                </a:lnTo>
                <a:cubicBezTo>
                  <a:pt x="365888" y="175914"/>
                  <a:pt x="377818" y="180870"/>
                  <a:pt x="388997" y="187327"/>
                </a:cubicBezTo>
                <a:lnTo>
                  <a:pt x="395552" y="183969"/>
                </a:lnTo>
                <a:lnTo>
                  <a:pt x="413925" y="174647"/>
                </a:lnTo>
                <a:cubicBezTo>
                  <a:pt x="417713" y="172729"/>
                  <a:pt x="422313" y="173454"/>
                  <a:pt x="425326" y="176468"/>
                </a:cubicBezTo>
                <a:lnTo>
                  <a:pt x="454399" y="205541"/>
                </a:lnTo>
                <a:cubicBezTo>
                  <a:pt x="457412" y="208554"/>
                  <a:pt x="458138" y="213166"/>
                  <a:pt x="456207" y="216953"/>
                </a:cubicBezTo>
                <a:lnTo>
                  <a:pt x="443515" y="241857"/>
                </a:lnTo>
                <a:cubicBezTo>
                  <a:pt x="449984" y="253036"/>
                  <a:pt x="454928" y="264978"/>
                  <a:pt x="458285" y="277461"/>
                </a:cubicBezTo>
                <a:lnTo>
                  <a:pt x="484874" y="286107"/>
                </a:lnTo>
                <a:cubicBezTo>
                  <a:pt x="488920" y="287422"/>
                  <a:pt x="491663" y="291198"/>
                  <a:pt x="491663" y="295453"/>
                </a:cubicBezTo>
                <a:lnTo>
                  <a:pt x="491663" y="336591"/>
                </a:lnTo>
                <a:cubicBezTo>
                  <a:pt x="491663" y="340846"/>
                  <a:pt x="488920" y="344622"/>
                  <a:pt x="484862" y="345938"/>
                </a:cubicBezTo>
                <a:lnTo>
                  <a:pt x="458273" y="354571"/>
                </a:lnTo>
                <a:cubicBezTo>
                  <a:pt x="454952" y="366980"/>
                  <a:pt x="450009" y="378909"/>
                  <a:pt x="443527" y="390150"/>
                </a:cubicBezTo>
                <a:lnTo>
                  <a:pt x="456219" y="415054"/>
                </a:lnTo>
                <a:cubicBezTo>
                  <a:pt x="458150" y="418842"/>
                  <a:pt x="457424" y="423454"/>
                  <a:pt x="454424" y="426467"/>
                </a:cubicBezTo>
                <a:lnTo>
                  <a:pt x="425338" y="455589"/>
                </a:lnTo>
                <a:cubicBezTo>
                  <a:pt x="422325" y="458602"/>
                  <a:pt x="417713" y="459328"/>
                  <a:pt x="413925" y="457397"/>
                </a:cubicBezTo>
                <a:lnTo>
                  <a:pt x="389009" y="444705"/>
                </a:lnTo>
                <a:cubicBezTo>
                  <a:pt x="377805" y="451161"/>
                  <a:pt x="365876" y="456093"/>
                  <a:pt x="353406" y="459438"/>
                </a:cubicBezTo>
                <a:lnTo>
                  <a:pt x="351143" y="466436"/>
                </a:lnTo>
                <a:lnTo>
                  <a:pt x="344748" y="486027"/>
                </a:lnTo>
                <a:cubicBezTo>
                  <a:pt x="343420" y="490061"/>
                  <a:pt x="339644" y="492803"/>
                  <a:pt x="335389" y="492803"/>
                </a:cubicBezTo>
                <a:close/>
                <a:moveTo>
                  <a:pt x="328256" y="473138"/>
                </a:moveTo>
                <a:lnTo>
                  <a:pt x="336348" y="448185"/>
                </a:lnTo>
                <a:cubicBezTo>
                  <a:pt x="337418" y="444889"/>
                  <a:pt x="340136" y="442393"/>
                  <a:pt x="343518" y="441618"/>
                </a:cubicBezTo>
                <a:cubicBezTo>
                  <a:pt x="357649" y="438396"/>
                  <a:pt x="371054" y="432849"/>
                  <a:pt x="383364" y="425126"/>
                </a:cubicBezTo>
                <a:cubicBezTo>
                  <a:pt x="386291" y="423294"/>
                  <a:pt x="389968" y="423121"/>
                  <a:pt x="393055" y="424696"/>
                </a:cubicBezTo>
                <a:lnTo>
                  <a:pt x="416459" y="436625"/>
                </a:lnTo>
                <a:lnTo>
                  <a:pt x="435435" y="417624"/>
                </a:lnTo>
                <a:lnTo>
                  <a:pt x="423506" y="394196"/>
                </a:lnTo>
                <a:cubicBezTo>
                  <a:pt x="421944" y="391121"/>
                  <a:pt x="422116" y="387444"/>
                  <a:pt x="423949" y="384517"/>
                </a:cubicBezTo>
                <a:cubicBezTo>
                  <a:pt x="431709" y="372145"/>
                  <a:pt x="437255" y="358752"/>
                  <a:pt x="440428" y="344732"/>
                </a:cubicBezTo>
                <a:cubicBezTo>
                  <a:pt x="441191" y="341350"/>
                  <a:pt x="443687" y="338620"/>
                  <a:pt x="446983" y="337550"/>
                </a:cubicBezTo>
                <a:lnTo>
                  <a:pt x="471986" y="329433"/>
                </a:lnTo>
                <a:lnTo>
                  <a:pt x="471986" y="302574"/>
                </a:lnTo>
                <a:lnTo>
                  <a:pt x="447032" y="294482"/>
                </a:lnTo>
                <a:cubicBezTo>
                  <a:pt x="443736" y="293412"/>
                  <a:pt x="441240" y="290694"/>
                  <a:pt x="440465" y="287312"/>
                </a:cubicBezTo>
                <a:cubicBezTo>
                  <a:pt x="437231" y="273156"/>
                  <a:pt x="431684" y="259751"/>
                  <a:pt x="423949" y="247490"/>
                </a:cubicBezTo>
                <a:cubicBezTo>
                  <a:pt x="422104" y="244563"/>
                  <a:pt x="421932" y="240874"/>
                  <a:pt x="423506" y="237787"/>
                </a:cubicBezTo>
                <a:lnTo>
                  <a:pt x="435435" y="214371"/>
                </a:lnTo>
                <a:lnTo>
                  <a:pt x="416459" y="195395"/>
                </a:lnTo>
                <a:lnTo>
                  <a:pt x="393080" y="207312"/>
                </a:lnTo>
                <a:cubicBezTo>
                  <a:pt x="389993" y="208898"/>
                  <a:pt x="386291" y="208726"/>
                  <a:pt x="383352" y="206881"/>
                </a:cubicBezTo>
                <a:cubicBezTo>
                  <a:pt x="371091" y="199158"/>
                  <a:pt x="357686" y="193599"/>
                  <a:pt x="343530" y="190365"/>
                </a:cubicBezTo>
                <a:cubicBezTo>
                  <a:pt x="340148" y="189590"/>
                  <a:pt x="337430" y="187106"/>
                  <a:pt x="336360" y="183797"/>
                </a:cubicBezTo>
                <a:lnTo>
                  <a:pt x="328268" y="158844"/>
                </a:lnTo>
                <a:lnTo>
                  <a:pt x="301409" y="158844"/>
                </a:lnTo>
                <a:lnTo>
                  <a:pt x="293292" y="183822"/>
                </a:lnTo>
                <a:cubicBezTo>
                  <a:pt x="292222" y="187106"/>
                  <a:pt x="289504" y="189590"/>
                  <a:pt x="286134" y="190365"/>
                </a:cubicBezTo>
                <a:cubicBezTo>
                  <a:pt x="271942" y="193611"/>
                  <a:pt x="258549" y="199158"/>
                  <a:pt x="246349" y="206869"/>
                </a:cubicBezTo>
                <a:cubicBezTo>
                  <a:pt x="243410" y="208726"/>
                  <a:pt x="239721" y="208886"/>
                  <a:pt x="236621" y="207312"/>
                </a:cubicBezTo>
                <a:lnTo>
                  <a:pt x="213218" y="195382"/>
                </a:lnTo>
                <a:lnTo>
                  <a:pt x="194217" y="214358"/>
                </a:lnTo>
                <a:lnTo>
                  <a:pt x="206146" y="237774"/>
                </a:lnTo>
                <a:cubicBezTo>
                  <a:pt x="207721" y="240849"/>
                  <a:pt x="207548" y="244526"/>
                  <a:pt x="205716" y="247465"/>
                </a:cubicBezTo>
                <a:cubicBezTo>
                  <a:pt x="198005" y="259764"/>
                  <a:pt x="192458" y="273156"/>
                  <a:pt x="189224" y="287275"/>
                </a:cubicBezTo>
                <a:cubicBezTo>
                  <a:pt x="188449" y="290645"/>
                  <a:pt x="185965" y="293362"/>
                  <a:pt x="182681" y="294432"/>
                </a:cubicBezTo>
                <a:lnTo>
                  <a:pt x="157679" y="302574"/>
                </a:lnTo>
                <a:lnTo>
                  <a:pt x="157679" y="329421"/>
                </a:lnTo>
                <a:lnTo>
                  <a:pt x="182681" y="337538"/>
                </a:lnTo>
                <a:cubicBezTo>
                  <a:pt x="185977" y="338608"/>
                  <a:pt x="188461" y="341338"/>
                  <a:pt x="189224" y="344720"/>
                </a:cubicBezTo>
                <a:cubicBezTo>
                  <a:pt x="192397" y="358740"/>
                  <a:pt x="197943" y="372133"/>
                  <a:pt x="205704" y="384505"/>
                </a:cubicBezTo>
                <a:cubicBezTo>
                  <a:pt x="207536" y="387432"/>
                  <a:pt x="207708" y="391097"/>
                  <a:pt x="206146" y="394184"/>
                </a:cubicBezTo>
                <a:lnTo>
                  <a:pt x="194217" y="417612"/>
                </a:lnTo>
                <a:lnTo>
                  <a:pt x="213218" y="436613"/>
                </a:lnTo>
                <a:lnTo>
                  <a:pt x="236646" y="424683"/>
                </a:lnTo>
                <a:cubicBezTo>
                  <a:pt x="239721" y="423121"/>
                  <a:pt x="243410" y="423281"/>
                  <a:pt x="246325" y="425126"/>
                </a:cubicBezTo>
                <a:cubicBezTo>
                  <a:pt x="258562" y="432825"/>
                  <a:pt x="271954" y="438371"/>
                  <a:pt x="286122" y="441606"/>
                </a:cubicBezTo>
                <a:cubicBezTo>
                  <a:pt x="289492" y="442381"/>
                  <a:pt x="292210" y="444865"/>
                  <a:pt x="293280" y="448148"/>
                </a:cubicBezTo>
                <a:lnTo>
                  <a:pt x="301396" y="473126"/>
                </a:lnTo>
                <a:lnTo>
                  <a:pt x="328256" y="473126"/>
                </a:lnTo>
                <a:close/>
                <a:moveTo>
                  <a:pt x="314826" y="401600"/>
                </a:moveTo>
                <a:cubicBezTo>
                  <a:pt x="267613" y="401600"/>
                  <a:pt x="229206" y="363204"/>
                  <a:pt x="229206" y="316016"/>
                </a:cubicBezTo>
                <a:cubicBezTo>
                  <a:pt x="229206" y="268803"/>
                  <a:pt x="267613" y="230395"/>
                  <a:pt x="314826" y="230395"/>
                </a:cubicBezTo>
                <a:cubicBezTo>
                  <a:pt x="362039" y="230395"/>
                  <a:pt x="400447" y="268803"/>
                  <a:pt x="400447" y="316016"/>
                </a:cubicBezTo>
                <a:cubicBezTo>
                  <a:pt x="400447" y="363217"/>
                  <a:pt x="362039" y="401600"/>
                  <a:pt x="314826" y="401600"/>
                </a:cubicBezTo>
                <a:close/>
                <a:moveTo>
                  <a:pt x="380782" y="316016"/>
                </a:moveTo>
                <a:cubicBezTo>
                  <a:pt x="380782" y="279650"/>
                  <a:pt x="351192" y="250060"/>
                  <a:pt x="314826" y="250060"/>
                </a:cubicBezTo>
                <a:cubicBezTo>
                  <a:pt x="278460" y="250060"/>
                  <a:pt x="248870" y="279650"/>
                  <a:pt x="248870" y="316016"/>
                </a:cubicBezTo>
                <a:cubicBezTo>
                  <a:pt x="248870" y="352370"/>
                  <a:pt x="278460" y="381935"/>
                  <a:pt x="314826" y="381935"/>
                </a:cubicBezTo>
                <a:cubicBezTo>
                  <a:pt x="351192" y="381935"/>
                  <a:pt x="380782" y="352370"/>
                  <a:pt x="380782" y="316016"/>
                </a:cubicBezTo>
                <a:close/>
                <a:moveTo>
                  <a:pt x="625726" y="250011"/>
                </a:moveTo>
                <a:cubicBezTo>
                  <a:pt x="621385" y="246752"/>
                  <a:pt x="615223" y="247625"/>
                  <a:pt x="611964" y="251967"/>
                </a:cubicBezTo>
                <a:lnTo>
                  <a:pt x="584564" y="288443"/>
                </a:lnTo>
                <a:cubicBezTo>
                  <a:pt x="574258" y="186577"/>
                  <a:pt x="507171" y="98730"/>
                  <a:pt x="410531" y="62278"/>
                </a:cubicBezTo>
                <a:cubicBezTo>
                  <a:pt x="405452" y="60360"/>
                  <a:pt x="399782" y="62930"/>
                  <a:pt x="397864" y="68009"/>
                </a:cubicBezTo>
                <a:cubicBezTo>
                  <a:pt x="395945" y="73088"/>
                  <a:pt x="398516" y="78758"/>
                  <a:pt x="403595" y="80676"/>
                </a:cubicBezTo>
                <a:cubicBezTo>
                  <a:pt x="494885" y="115111"/>
                  <a:pt x="557754" y="198998"/>
                  <a:pt x="565477" y="295711"/>
                </a:cubicBezTo>
                <a:lnTo>
                  <a:pt x="523897" y="264449"/>
                </a:lnTo>
                <a:cubicBezTo>
                  <a:pt x="519555" y="261190"/>
                  <a:pt x="513394" y="262063"/>
                  <a:pt x="510135" y="266405"/>
                </a:cubicBezTo>
                <a:cubicBezTo>
                  <a:pt x="506876" y="270746"/>
                  <a:pt x="507749" y="276907"/>
                  <a:pt x="512090" y="280166"/>
                </a:cubicBezTo>
                <a:lnTo>
                  <a:pt x="570236" y="323887"/>
                </a:lnTo>
                <a:cubicBezTo>
                  <a:pt x="571946" y="325178"/>
                  <a:pt x="574024" y="325855"/>
                  <a:pt x="576140" y="325855"/>
                </a:cubicBezTo>
                <a:cubicBezTo>
                  <a:pt x="576595" y="325855"/>
                  <a:pt x="577062" y="325818"/>
                  <a:pt x="577517" y="325756"/>
                </a:cubicBezTo>
                <a:cubicBezTo>
                  <a:pt x="580100" y="325387"/>
                  <a:pt x="582424" y="324010"/>
                  <a:pt x="583998" y="321931"/>
                </a:cubicBezTo>
                <a:lnTo>
                  <a:pt x="627682" y="263785"/>
                </a:lnTo>
                <a:cubicBezTo>
                  <a:pt x="630953" y="259432"/>
                  <a:pt x="630067" y="253270"/>
                  <a:pt x="625726" y="250011"/>
                </a:cubicBezTo>
                <a:close/>
              </a:path>
            </a:pathLst>
          </a:custGeom>
          <a:gradFill>
            <a:gsLst>
              <a:gs pos="0">
                <a:srgbClr val="BDF2BD"/>
              </a:gs>
              <a:gs pos="55000">
                <a:srgbClr val="C3E9FC"/>
              </a:gs>
            </a:gsLst>
            <a:lin ang="2700000" scaled="1"/>
          </a:gradFill>
          <a:ln w="1228" cap="flat">
            <a:noFill/>
            <a:prstDash val="solid"/>
            <a:miter/>
          </a:ln>
        </p:spPr>
        <p:txBody>
          <a:bodyPr rtlCol="0" anchor="ctr"/>
          <a:lstStyle/>
          <a:p>
            <a:endParaRPr lang="en-GB"/>
          </a:p>
        </p:txBody>
      </p:sp>
      <p:pic>
        <p:nvPicPr>
          <p:cNvPr id="300" name="Picture 299">
            <a:extLst>
              <a:ext uri="{FF2B5EF4-FFF2-40B4-BE49-F238E27FC236}">
                <a16:creationId xmlns:a16="http://schemas.microsoft.com/office/drawing/2014/main" id="{9A94FB82-33D0-139A-FD33-437F5FE5248A}"/>
              </a:ext>
            </a:extLst>
          </p:cNvPr>
          <p:cNvPicPr>
            <a:picLocks noChangeAspect="1"/>
          </p:cNvPicPr>
          <p:nvPr/>
        </p:nvPicPr>
        <p:blipFill>
          <a:blip r:embed="rId4">
            <a:alphaModFix amt="35000"/>
            <a:extLst>
              <a:ext uri="{BEBA8EAE-BF5A-486C-A8C5-ECC9F3942E4B}">
                <a14:imgProps xmlns:a14="http://schemas.microsoft.com/office/drawing/2010/main">
                  <a14:imgLayer r:embed="rId5">
                    <a14:imgEffect>
                      <a14:artisticBlur radius="40"/>
                    </a14:imgEffect>
                  </a14:imgLayer>
                </a14:imgProps>
              </a:ext>
            </a:extLst>
          </a:blip>
          <a:srcRect l="50854" t="55429" r="8601" b="10905"/>
          <a:stretch/>
        </p:blipFill>
        <p:spPr>
          <a:xfrm>
            <a:off x="9533965" y="2185604"/>
            <a:ext cx="1999730" cy="1190401"/>
          </a:xfrm>
          <a:prstGeom prst="rect">
            <a:avLst/>
          </a:prstGeom>
        </p:spPr>
      </p:pic>
      <p:grpSp>
        <p:nvGrpSpPr>
          <p:cNvPr id="9" name="Graphic 6">
            <a:extLst>
              <a:ext uri="{FF2B5EF4-FFF2-40B4-BE49-F238E27FC236}">
                <a16:creationId xmlns:a16="http://schemas.microsoft.com/office/drawing/2014/main" id="{A566D108-B563-15E0-A49F-77D53EA3E78B}"/>
              </a:ext>
            </a:extLst>
          </p:cNvPr>
          <p:cNvGrpSpPr/>
          <p:nvPr/>
        </p:nvGrpSpPr>
        <p:grpSpPr>
          <a:xfrm>
            <a:off x="770253" y="2718812"/>
            <a:ext cx="633757" cy="655390"/>
            <a:chOff x="3674083" y="4867962"/>
            <a:chExt cx="965891" cy="998861"/>
          </a:xfrm>
          <a:gradFill>
            <a:gsLst>
              <a:gs pos="100000">
                <a:srgbClr val="BDF2BD"/>
              </a:gs>
              <a:gs pos="55000">
                <a:srgbClr val="C3E9FC"/>
              </a:gs>
            </a:gsLst>
            <a:lin ang="0" scaled="1"/>
          </a:gradFill>
        </p:grpSpPr>
        <p:sp>
          <p:nvSpPr>
            <p:cNvPr id="10" name="Freeform: Shape 9">
              <a:extLst>
                <a:ext uri="{FF2B5EF4-FFF2-40B4-BE49-F238E27FC236}">
                  <a16:creationId xmlns:a16="http://schemas.microsoft.com/office/drawing/2014/main" id="{EA90755D-7863-C0FC-8FC5-622BE3791568}"/>
                </a:ext>
              </a:extLst>
            </p:cNvPr>
            <p:cNvSpPr/>
            <p:nvPr/>
          </p:nvSpPr>
          <p:spPr>
            <a:xfrm>
              <a:off x="3973863" y="5250857"/>
              <a:ext cx="199778" cy="233076"/>
            </a:xfrm>
            <a:custGeom>
              <a:avLst/>
              <a:gdLst>
                <a:gd name="connsiteX0" fmla="*/ 10237 w 199778"/>
                <a:gd name="connsiteY0" fmla="*/ 231787 h 233076"/>
                <a:gd name="connsiteX1" fmla="*/ 22979 w 199778"/>
                <a:gd name="connsiteY1" fmla="*/ 231820 h 233076"/>
                <a:gd name="connsiteX2" fmla="*/ 32012 w 199778"/>
                <a:gd name="connsiteY2" fmla="*/ 222832 h 233076"/>
                <a:gd name="connsiteX3" fmla="*/ 55485 w 199778"/>
                <a:gd name="connsiteY3" fmla="*/ 166480 h 233076"/>
                <a:gd name="connsiteX4" fmla="*/ 144284 w 199778"/>
                <a:gd name="connsiteY4" fmla="*/ 166480 h 233076"/>
                <a:gd name="connsiteX5" fmla="*/ 167758 w 199778"/>
                <a:gd name="connsiteY5" fmla="*/ 222832 h 233076"/>
                <a:gd name="connsiteX6" fmla="*/ 189533 w 199778"/>
                <a:gd name="connsiteY6" fmla="*/ 231789 h 233076"/>
                <a:gd name="connsiteX7" fmla="*/ 198490 w 199778"/>
                <a:gd name="connsiteY7" fmla="*/ 210014 h 233076"/>
                <a:gd name="connsiteX8" fmla="*/ 115252 w 199778"/>
                <a:gd name="connsiteY8" fmla="*/ 10242 h 233076"/>
                <a:gd name="connsiteX9" fmla="*/ 99886 w 199778"/>
                <a:gd name="connsiteY9" fmla="*/ 0 h 233076"/>
                <a:gd name="connsiteX10" fmla="*/ 84521 w 199778"/>
                <a:gd name="connsiteY10" fmla="*/ 10242 h 233076"/>
                <a:gd name="connsiteX11" fmla="*/ 1283 w 199778"/>
                <a:gd name="connsiteY11" fmla="*/ 210014 h 233076"/>
                <a:gd name="connsiteX12" fmla="*/ 1250 w 199778"/>
                <a:gd name="connsiteY12" fmla="*/ 222757 h 233076"/>
                <a:gd name="connsiteX13" fmla="*/ 10237 w 199778"/>
                <a:gd name="connsiteY13" fmla="*/ 231787 h 233076"/>
                <a:gd name="connsiteX14" fmla="*/ 99885 w 199778"/>
                <a:gd name="connsiteY14" fmla="*/ 59933 h 233076"/>
                <a:gd name="connsiteX15" fmla="*/ 130400 w 199778"/>
                <a:gd name="connsiteY15" fmla="*/ 133184 h 233076"/>
                <a:gd name="connsiteX16" fmla="*/ 69369 w 199778"/>
                <a:gd name="connsiteY16" fmla="*/ 133184 h 233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778" h="233076">
                  <a:moveTo>
                    <a:pt x="10237" y="231787"/>
                  </a:moveTo>
                  <a:cubicBezTo>
                    <a:pt x="14312" y="233488"/>
                    <a:pt x="18896" y="233500"/>
                    <a:pt x="22979" y="231820"/>
                  </a:cubicBezTo>
                  <a:cubicBezTo>
                    <a:pt x="27062" y="230141"/>
                    <a:pt x="30313" y="226907"/>
                    <a:pt x="32012" y="222832"/>
                  </a:cubicBezTo>
                  <a:lnTo>
                    <a:pt x="55485" y="166480"/>
                  </a:lnTo>
                  <a:lnTo>
                    <a:pt x="144284" y="166480"/>
                  </a:lnTo>
                  <a:lnTo>
                    <a:pt x="167758" y="222832"/>
                  </a:lnTo>
                  <a:cubicBezTo>
                    <a:pt x="171297" y="231319"/>
                    <a:pt x="181047" y="235328"/>
                    <a:pt x="189533" y="231789"/>
                  </a:cubicBezTo>
                  <a:cubicBezTo>
                    <a:pt x="198020" y="228250"/>
                    <a:pt x="202029" y="218500"/>
                    <a:pt x="198490" y="210014"/>
                  </a:cubicBezTo>
                  <a:lnTo>
                    <a:pt x="115252" y="10242"/>
                  </a:lnTo>
                  <a:cubicBezTo>
                    <a:pt x="112666" y="4040"/>
                    <a:pt x="106606" y="0"/>
                    <a:pt x="99886" y="0"/>
                  </a:cubicBezTo>
                  <a:cubicBezTo>
                    <a:pt x="93167" y="0"/>
                    <a:pt x="87107" y="4040"/>
                    <a:pt x="84521" y="10242"/>
                  </a:cubicBezTo>
                  <a:lnTo>
                    <a:pt x="1283" y="210014"/>
                  </a:lnTo>
                  <a:cubicBezTo>
                    <a:pt x="-418" y="214089"/>
                    <a:pt x="-429" y="218674"/>
                    <a:pt x="1250" y="222757"/>
                  </a:cubicBezTo>
                  <a:cubicBezTo>
                    <a:pt x="2930" y="226839"/>
                    <a:pt x="6161" y="230088"/>
                    <a:pt x="10237" y="231787"/>
                  </a:cubicBezTo>
                  <a:close/>
                  <a:moveTo>
                    <a:pt x="99885" y="59933"/>
                  </a:moveTo>
                  <a:lnTo>
                    <a:pt x="130400" y="133184"/>
                  </a:lnTo>
                  <a:lnTo>
                    <a:pt x="69369" y="133184"/>
                  </a:lnTo>
                  <a:close/>
                </a:path>
              </a:pathLst>
            </a:custGeom>
            <a:grpFill/>
            <a:ln w="1624"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D0FAE200-23B6-B737-5B07-490C3592016E}"/>
                </a:ext>
              </a:extLst>
            </p:cNvPr>
            <p:cNvSpPr/>
            <p:nvPr/>
          </p:nvSpPr>
          <p:spPr>
            <a:xfrm>
              <a:off x="4190283" y="5250859"/>
              <a:ext cx="133182" cy="233068"/>
            </a:xfrm>
            <a:custGeom>
              <a:avLst/>
              <a:gdLst>
                <a:gd name="connsiteX0" fmla="*/ 16647 w 133182"/>
                <a:gd name="connsiteY0" fmla="*/ 199773 h 233068"/>
                <a:gd name="connsiteX1" fmla="*/ -1 w 133182"/>
                <a:gd name="connsiteY1" fmla="*/ 216421 h 233068"/>
                <a:gd name="connsiteX2" fmla="*/ 16647 w 133182"/>
                <a:gd name="connsiteY2" fmla="*/ 233069 h 233068"/>
                <a:gd name="connsiteX3" fmla="*/ 116533 w 133182"/>
                <a:gd name="connsiteY3" fmla="*/ 233069 h 233068"/>
                <a:gd name="connsiteX4" fmla="*/ 133181 w 133182"/>
                <a:gd name="connsiteY4" fmla="*/ 216421 h 233068"/>
                <a:gd name="connsiteX5" fmla="*/ 116533 w 133182"/>
                <a:gd name="connsiteY5" fmla="*/ 199773 h 233068"/>
                <a:gd name="connsiteX6" fmla="*/ 83237 w 133182"/>
                <a:gd name="connsiteY6" fmla="*/ 199773 h 233068"/>
                <a:gd name="connsiteX7" fmla="*/ 83237 w 133182"/>
                <a:gd name="connsiteY7" fmla="*/ 33296 h 233068"/>
                <a:gd name="connsiteX8" fmla="*/ 116533 w 133182"/>
                <a:gd name="connsiteY8" fmla="*/ 33296 h 233068"/>
                <a:gd name="connsiteX9" fmla="*/ 133181 w 133182"/>
                <a:gd name="connsiteY9" fmla="*/ 16648 h 233068"/>
                <a:gd name="connsiteX10" fmla="*/ 116533 w 133182"/>
                <a:gd name="connsiteY10" fmla="*/ 0 h 233068"/>
                <a:gd name="connsiteX11" fmla="*/ 16647 w 133182"/>
                <a:gd name="connsiteY11" fmla="*/ 0 h 233068"/>
                <a:gd name="connsiteX12" fmla="*/ -1 w 133182"/>
                <a:gd name="connsiteY12" fmla="*/ 16648 h 233068"/>
                <a:gd name="connsiteX13" fmla="*/ 16647 w 133182"/>
                <a:gd name="connsiteY13" fmla="*/ 33296 h 233068"/>
                <a:gd name="connsiteX14" fmla="*/ 49943 w 133182"/>
                <a:gd name="connsiteY14" fmla="*/ 33296 h 233068"/>
                <a:gd name="connsiteX15" fmla="*/ 49943 w 133182"/>
                <a:gd name="connsiteY15" fmla="*/ 199773 h 23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3182" h="233068">
                  <a:moveTo>
                    <a:pt x="16647" y="199773"/>
                  </a:moveTo>
                  <a:cubicBezTo>
                    <a:pt x="7452" y="199773"/>
                    <a:pt x="-1" y="207226"/>
                    <a:pt x="-1" y="216421"/>
                  </a:cubicBezTo>
                  <a:cubicBezTo>
                    <a:pt x="-1" y="225616"/>
                    <a:pt x="7452" y="233069"/>
                    <a:pt x="16647" y="233069"/>
                  </a:cubicBezTo>
                  <a:lnTo>
                    <a:pt x="116533" y="233069"/>
                  </a:lnTo>
                  <a:cubicBezTo>
                    <a:pt x="125728" y="233069"/>
                    <a:pt x="133181" y="225616"/>
                    <a:pt x="133181" y="216421"/>
                  </a:cubicBezTo>
                  <a:cubicBezTo>
                    <a:pt x="133181" y="207226"/>
                    <a:pt x="125728" y="199773"/>
                    <a:pt x="116533" y="199773"/>
                  </a:cubicBezTo>
                  <a:lnTo>
                    <a:pt x="83237" y="199773"/>
                  </a:lnTo>
                  <a:lnTo>
                    <a:pt x="83237" y="33296"/>
                  </a:lnTo>
                  <a:lnTo>
                    <a:pt x="116533" y="33296"/>
                  </a:lnTo>
                  <a:cubicBezTo>
                    <a:pt x="125728" y="33296"/>
                    <a:pt x="133181" y="25843"/>
                    <a:pt x="133181" y="16648"/>
                  </a:cubicBezTo>
                  <a:cubicBezTo>
                    <a:pt x="133181" y="7453"/>
                    <a:pt x="125728" y="0"/>
                    <a:pt x="116533" y="0"/>
                  </a:cubicBezTo>
                  <a:lnTo>
                    <a:pt x="16647" y="0"/>
                  </a:lnTo>
                  <a:cubicBezTo>
                    <a:pt x="7452" y="0"/>
                    <a:pt x="-1" y="7453"/>
                    <a:pt x="-1" y="16648"/>
                  </a:cubicBezTo>
                  <a:cubicBezTo>
                    <a:pt x="-1" y="25843"/>
                    <a:pt x="7452" y="33296"/>
                    <a:pt x="16647" y="33296"/>
                  </a:cubicBezTo>
                  <a:lnTo>
                    <a:pt x="49943" y="33296"/>
                  </a:lnTo>
                  <a:lnTo>
                    <a:pt x="49943" y="199773"/>
                  </a:lnTo>
                  <a:close/>
                </a:path>
              </a:pathLst>
            </a:custGeom>
            <a:grpFill/>
            <a:ln w="1624"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C6B198E5-30D7-F439-0EBC-82B01CD0A3F6}"/>
                </a:ext>
              </a:extLst>
            </p:cNvPr>
            <p:cNvSpPr/>
            <p:nvPr/>
          </p:nvSpPr>
          <p:spPr>
            <a:xfrm>
              <a:off x="3674083" y="4867962"/>
              <a:ext cx="965891" cy="998861"/>
            </a:xfrm>
            <a:custGeom>
              <a:avLst/>
              <a:gdLst>
                <a:gd name="connsiteX0" fmla="*/ 119 w 965891"/>
                <a:gd name="connsiteY0" fmla="*/ 732499 h 998861"/>
                <a:gd name="connsiteX1" fmla="*/ 66710 w 965891"/>
                <a:gd name="connsiteY1" fmla="*/ 799089 h 998861"/>
                <a:gd name="connsiteX2" fmla="*/ 91048 w 965891"/>
                <a:gd name="connsiteY2" fmla="*/ 794328 h 998861"/>
                <a:gd name="connsiteX3" fmla="*/ 254196 w 965891"/>
                <a:gd name="connsiteY3" fmla="*/ 840176 h 998861"/>
                <a:gd name="connsiteX4" fmla="*/ 286009 w 965891"/>
                <a:gd name="connsiteY4" fmla="*/ 838995 h 998861"/>
                <a:gd name="connsiteX5" fmla="*/ 482901 w 965891"/>
                <a:gd name="connsiteY5" fmla="*/ 998862 h 998861"/>
                <a:gd name="connsiteX6" fmla="*/ 679810 w 965891"/>
                <a:gd name="connsiteY6" fmla="*/ 839044 h 998861"/>
                <a:gd name="connsiteX7" fmla="*/ 711623 w 965891"/>
                <a:gd name="connsiteY7" fmla="*/ 840225 h 998861"/>
                <a:gd name="connsiteX8" fmla="*/ 874771 w 965891"/>
                <a:gd name="connsiteY8" fmla="*/ 794377 h 998861"/>
                <a:gd name="connsiteX9" fmla="*/ 899093 w 965891"/>
                <a:gd name="connsiteY9" fmla="*/ 799089 h 998861"/>
                <a:gd name="connsiteX10" fmla="*/ 962728 w 965891"/>
                <a:gd name="connsiteY10" fmla="*/ 751490 h 998861"/>
                <a:gd name="connsiteX11" fmla="*/ 935468 w 965891"/>
                <a:gd name="connsiteY11" fmla="*/ 676845 h 998861"/>
                <a:gd name="connsiteX12" fmla="*/ 874887 w 965891"/>
                <a:gd name="connsiteY12" fmla="*/ 499430 h 998861"/>
                <a:gd name="connsiteX13" fmla="*/ 935468 w 965891"/>
                <a:gd name="connsiteY13" fmla="*/ 322015 h 998861"/>
                <a:gd name="connsiteX14" fmla="*/ 958432 w 965891"/>
                <a:gd name="connsiteY14" fmla="*/ 235620 h 998861"/>
                <a:gd name="connsiteX15" fmla="*/ 874604 w 965891"/>
                <a:gd name="connsiteY15" fmla="*/ 204565 h 998861"/>
                <a:gd name="connsiteX16" fmla="*/ 679825 w 965891"/>
                <a:gd name="connsiteY16" fmla="*/ 160016 h 998861"/>
                <a:gd name="connsiteX17" fmla="*/ 482903 w 965891"/>
                <a:gd name="connsiteY17" fmla="*/ 0 h 998861"/>
                <a:gd name="connsiteX18" fmla="*/ 285927 w 965891"/>
                <a:gd name="connsiteY18" fmla="*/ 160018 h 998861"/>
                <a:gd name="connsiteX19" fmla="*/ 91148 w 965891"/>
                <a:gd name="connsiteY19" fmla="*/ 204567 h 998861"/>
                <a:gd name="connsiteX20" fmla="*/ 7459 w 965891"/>
                <a:gd name="connsiteY20" fmla="*/ 235693 h 998861"/>
                <a:gd name="connsiteX21" fmla="*/ 30284 w 965891"/>
                <a:gd name="connsiteY21" fmla="*/ 322017 h 998861"/>
                <a:gd name="connsiteX22" fmla="*/ 90916 w 965891"/>
                <a:gd name="connsiteY22" fmla="*/ 499432 h 998861"/>
                <a:gd name="connsiteX23" fmla="*/ 30335 w 965891"/>
                <a:gd name="connsiteY23" fmla="*/ 676847 h 998861"/>
                <a:gd name="connsiteX24" fmla="*/ 119 w 965891"/>
                <a:gd name="connsiteY24" fmla="*/ 732499 h 998861"/>
                <a:gd name="connsiteX25" fmla="*/ 33415 w 965891"/>
                <a:gd name="connsiteY25" fmla="*/ 732499 h 998861"/>
                <a:gd name="connsiteX26" fmla="*/ 66711 w 965891"/>
                <a:gd name="connsiteY26" fmla="*/ 699203 h 998861"/>
                <a:gd name="connsiteX27" fmla="*/ 100007 w 965891"/>
                <a:gd name="connsiteY27" fmla="*/ 732499 h 998861"/>
                <a:gd name="connsiteX28" fmla="*/ 66711 w 965891"/>
                <a:gd name="connsiteY28" fmla="*/ 765795 h 998861"/>
                <a:gd name="connsiteX29" fmla="*/ 43167 w 965891"/>
                <a:gd name="connsiteY29" fmla="*/ 756043 h 998861"/>
                <a:gd name="connsiteX30" fmla="*/ 33415 w 965891"/>
                <a:gd name="connsiteY30" fmla="*/ 732499 h 998861"/>
                <a:gd name="connsiteX31" fmla="*/ 306588 w 965891"/>
                <a:gd name="connsiteY31" fmla="*/ 195111 h 998861"/>
                <a:gd name="connsiteX32" fmla="*/ 436906 w 965891"/>
                <a:gd name="connsiteY32" fmla="*/ 224362 h 998861"/>
                <a:gd name="connsiteX33" fmla="*/ 349722 w 965891"/>
                <a:gd name="connsiteY33" fmla="*/ 268745 h 998861"/>
                <a:gd name="connsiteX34" fmla="*/ 267349 w 965891"/>
                <a:gd name="connsiteY34" fmla="*/ 322300 h 998861"/>
                <a:gd name="connsiteX35" fmla="*/ 306588 w 965891"/>
                <a:gd name="connsiteY35" fmla="*/ 195111 h 998861"/>
                <a:gd name="connsiteX36" fmla="*/ 698441 w 965891"/>
                <a:gd name="connsiteY36" fmla="*/ 322300 h 998861"/>
                <a:gd name="connsiteX37" fmla="*/ 616084 w 965891"/>
                <a:gd name="connsiteY37" fmla="*/ 268745 h 998861"/>
                <a:gd name="connsiteX38" fmla="*/ 529049 w 965891"/>
                <a:gd name="connsiteY38" fmla="*/ 224362 h 998861"/>
                <a:gd name="connsiteX39" fmla="*/ 659235 w 965891"/>
                <a:gd name="connsiteY39" fmla="*/ 195111 h 998861"/>
                <a:gd name="connsiteX40" fmla="*/ 698441 w 965891"/>
                <a:gd name="connsiteY40" fmla="*/ 322300 h 998861"/>
                <a:gd name="connsiteX41" fmla="*/ 659218 w 965891"/>
                <a:gd name="connsiteY41" fmla="*/ 803752 h 998861"/>
                <a:gd name="connsiteX42" fmla="*/ 528900 w 965891"/>
                <a:gd name="connsiteY42" fmla="*/ 774501 h 998861"/>
                <a:gd name="connsiteX43" fmla="*/ 616084 w 965891"/>
                <a:gd name="connsiteY43" fmla="*/ 730118 h 998861"/>
                <a:gd name="connsiteX44" fmla="*/ 698457 w 965891"/>
                <a:gd name="connsiteY44" fmla="*/ 676563 h 998861"/>
                <a:gd name="connsiteX45" fmla="*/ 659218 w 965891"/>
                <a:gd name="connsiteY45" fmla="*/ 803752 h 998861"/>
                <a:gd name="connsiteX46" fmla="*/ 599437 w 965891"/>
                <a:gd name="connsiteY46" fmla="*/ 297595 h 998861"/>
                <a:gd name="connsiteX47" fmla="*/ 706815 w 965891"/>
                <a:gd name="connsiteY47" fmla="*/ 370462 h 998861"/>
                <a:gd name="connsiteX48" fmla="*/ 715970 w 965891"/>
                <a:gd name="connsiteY48" fmla="*/ 499432 h 998861"/>
                <a:gd name="connsiteX49" fmla="*/ 706831 w 965891"/>
                <a:gd name="connsiteY49" fmla="*/ 628402 h 998861"/>
                <a:gd name="connsiteX50" fmla="*/ 599437 w 965891"/>
                <a:gd name="connsiteY50" fmla="*/ 701269 h 998861"/>
                <a:gd name="connsiteX51" fmla="*/ 482903 w 965891"/>
                <a:gd name="connsiteY51" fmla="*/ 757837 h 998861"/>
                <a:gd name="connsiteX52" fmla="*/ 366369 w 965891"/>
                <a:gd name="connsiteY52" fmla="*/ 701235 h 998861"/>
                <a:gd name="connsiteX53" fmla="*/ 258991 w 965891"/>
                <a:gd name="connsiteY53" fmla="*/ 628367 h 998861"/>
                <a:gd name="connsiteX54" fmla="*/ 258991 w 965891"/>
                <a:gd name="connsiteY54" fmla="*/ 370427 h 998861"/>
                <a:gd name="connsiteX55" fmla="*/ 366369 w 965891"/>
                <a:gd name="connsiteY55" fmla="*/ 297593 h 998861"/>
                <a:gd name="connsiteX56" fmla="*/ 483003 w 965891"/>
                <a:gd name="connsiteY56" fmla="*/ 240990 h 998861"/>
                <a:gd name="connsiteX57" fmla="*/ 599437 w 965891"/>
                <a:gd name="connsiteY57" fmla="*/ 297595 h 998861"/>
                <a:gd name="connsiteX58" fmla="*/ 744272 w 965891"/>
                <a:gd name="connsiteY58" fmla="*/ 401926 h 998861"/>
                <a:gd name="connsiteX59" fmla="*/ 834287 w 965891"/>
                <a:gd name="connsiteY59" fmla="*/ 499432 h 998861"/>
                <a:gd name="connsiteX60" fmla="*/ 744390 w 965891"/>
                <a:gd name="connsiteY60" fmla="*/ 596938 h 998861"/>
                <a:gd name="connsiteX61" fmla="*/ 749268 w 965891"/>
                <a:gd name="connsiteY61" fmla="*/ 499432 h 998861"/>
                <a:gd name="connsiteX62" fmla="*/ 744357 w 965891"/>
                <a:gd name="connsiteY62" fmla="*/ 401926 h 998861"/>
                <a:gd name="connsiteX63" fmla="*/ 221534 w 965891"/>
                <a:gd name="connsiteY63" fmla="*/ 596938 h 998861"/>
                <a:gd name="connsiteX64" fmla="*/ 131519 w 965891"/>
                <a:gd name="connsiteY64" fmla="*/ 499432 h 998861"/>
                <a:gd name="connsiteX65" fmla="*/ 221416 w 965891"/>
                <a:gd name="connsiteY65" fmla="*/ 401926 h 998861"/>
                <a:gd name="connsiteX66" fmla="*/ 221416 w 965891"/>
                <a:gd name="connsiteY66" fmla="*/ 596938 h 998861"/>
                <a:gd name="connsiteX67" fmla="*/ 349821 w 965891"/>
                <a:gd name="connsiteY67" fmla="*/ 730118 h 998861"/>
                <a:gd name="connsiteX68" fmla="*/ 436855 w 965891"/>
                <a:gd name="connsiteY68" fmla="*/ 774501 h 998861"/>
                <a:gd name="connsiteX69" fmla="*/ 306669 w 965891"/>
                <a:gd name="connsiteY69" fmla="*/ 803752 h 998861"/>
                <a:gd name="connsiteX70" fmla="*/ 267447 w 965891"/>
                <a:gd name="connsiteY70" fmla="*/ 676563 h 998861"/>
                <a:gd name="connsiteX71" fmla="*/ 349721 w 965891"/>
                <a:gd name="connsiteY71" fmla="*/ 730118 h 998861"/>
                <a:gd name="connsiteX72" fmla="*/ 482903 w 965891"/>
                <a:gd name="connsiteY72" fmla="*/ 965568 h 998861"/>
                <a:gd name="connsiteX73" fmla="*/ 321653 w 965891"/>
                <a:gd name="connsiteY73" fmla="*/ 835533 h 998861"/>
                <a:gd name="connsiteX74" fmla="*/ 482903 w 965891"/>
                <a:gd name="connsiteY74" fmla="*/ 793514 h 998861"/>
                <a:gd name="connsiteX75" fmla="*/ 644219 w 965891"/>
                <a:gd name="connsiteY75" fmla="*/ 835533 h 998861"/>
                <a:gd name="connsiteX76" fmla="*/ 482903 w 965891"/>
                <a:gd name="connsiteY76" fmla="*/ 965568 h 998861"/>
                <a:gd name="connsiteX77" fmla="*/ 899096 w 965891"/>
                <a:gd name="connsiteY77" fmla="*/ 765795 h 998861"/>
                <a:gd name="connsiteX78" fmla="*/ 865800 w 965891"/>
                <a:gd name="connsiteY78" fmla="*/ 732499 h 998861"/>
                <a:gd name="connsiteX79" fmla="*/ 899096 w 965891"/>
                <a:gd name="connsiteY79" fmla="*/ 699203 h 998861"/>
                <a:gd name="connsiteX80" fmla="*/ 932392 w 965891"/>
                <a:gd name="connsiteY80" fmla="*/ 732499 h 998861"/>
                <a:gd name="connsiteX81" fmla="*/ 899096 w 965891"/>
                <a:gd name="connsiteY81" fmla="*/ 765795 h 998861"/>
                <a:gd name="connsiteX82" fmla="*/ 902591 w 965891"/>
                <a:gd name="connsiteY82" fmla="*/ 666257 h 998861"/>
                <a:gd name="connsiteX83" fmla="*/ 899095 w 965891"/>
                <a:gd name="connsiteY83" fmla="*/ 665909 h 998861"/>
                <a:gd name="connsiteX84" fmla="*/ 832504 w 965891"/>
                <a:gd name="connsiteY84" fmla="*/ 732499 h 998861"/>
                <a:gd name="connsiteX85" fmla="*/ 846972 w 965891"/>
                <a:gd name="connsiteY85" fmla="*/ 773435 h 998861"/>
                <a:gd name="connsiteX86" fmla="*/ 694395 w 965891"/>
                <a:gd name="connsiteY86" fmla="*/ 806347 h 998861"/>
                <a:gd name="connsiteX87" fmla="*/ 737995 w 965891"/>
                <a:gd name="connsiteY87" fmla="*/ 646097 h 998861"/>
                <a:gd name="connsiteX88" fmla="*/ 854146 w 965891"/>
                <a:gd name="connsiteY88" fmla="*/ 528465 h 998861"/>
                <a:gd name="connsiteX89" fmla="*/ 902591 w 965891"/>
                <a:gd name="connsiteY89" fmla="*/ 666257 h 998861"/>
                <a:gd name="connsiteX90" fmla="*/ 932391 w 965891"/>
                <a:gd name="connsiteY90" fmla="*/ 266363 h 998861"/>
                <a:gd name="connsiteX91" fmla="*/ 899095 w 965891"/>
                <a:gd name="connsiteY91" fmla="*/ 299659 h 998861"/>
                <a:gd name="connsiteX92" fmla="*/ 865799 w 965891"/>
                <a:gd name="connsiteY92" fmla="*/ 266363 h 998861"/>
                <a:gd name="connsiteX93" fmla="*/ 899095 w 965891"/>
                <a:gd name="connsiteY93" fmla="*/ 233067 h 998861"/>
                <a:gd name="connsiteX94" fmla="*/ 932391 w 965891"/>
                <a:gd name="connsiteY94" fmla="*/ 266363 h 998861"/>
                <a:gd name="connsiteX95" fmla="*/ 846972 w 965891"/>
                <a:gd name="connsiteY95" fmla="*/ 225427 h 998861"/>
                <a:gd name="connsiteX96" fmla="*/ 832504 w 965891"/>
                <a:gd name="connsiteY96" fmla="*/ 266363 h 998861"/>
                <a:gd name="connsiteX97" fmla="*/ 899095 w 965891"/>
                <a:gd name="connsiteY97" fmla="*/ 332953 h 998861"/>
                <a:gd name="connsiteX98" fmla="*/ 902591 w 965891"/>
                <a:gd name="connsiteY98" fmla="*/ 332604 h 998861"/>
                <a:gd name="connsiteX99" fmla="*/ 854146 w 965891"/>
                <a:gd name="connsiteY99" fmla="*/ 470397 h 998861"/>
                <a:gd name="connsiteX100" fmla="*/ 737979 w 965891"/>
                <a:gd name="connsiteY100" fmla="*/ 352765 h 998861"/>
                <a:gd name="connsiteX101" fmla="*/ 694328 w 965891"/>
                <a:gd name="connsiteY101" fmla="*/ 192515 h 998861"/>
                <a:gd name="connsiteX102" fmla="*/ 846972 w 965891"/>
                <a:gd name="connsiteY102" fmla="*/ 225427 h 998861"/>
                <a:gd name="connsiteX103" fmla="*/ 482903 w 965891"/>
                <a:gd name="connsiteY103" fmla="*/ 33296 h 998861"/>
                <a:gd name="connsiteX104" fmla="*/ 644153 w 965891"/>
                <a:gd name="connsiteY104" fmla="*/ 163331 h 998861"/>
                <a:gd name="connsiteX105" fmla="*/ 482987 w 965891"/>
                <a:gd name="connsiteY105" fmla="*/ 205350 h 998861"/>
                <a:gd name="connsiteX106" fmla="*/ 321671 w 965891"/>
                <a:gd name="connsiteY106" fmla="*/ 163331 h 998861"/>
                <a:gd name="connsiteX107" fmla="*/ 482903 w 965891"/>
                <a:gd name="connsiteY107" fmla="*/ 33296 h 998861"/>
                <a:gd name="connsiteX108" fmla="*/ 66710 w 965891"/>
                <a:gd name="connsiteY108" fmla="*/ 233069 h 998861"/>
                <a:gd name="connsiteX109" fmla="*/ 100006 w 965891"/>
                <a:gd name="connsiteY109" fmla="*/ 266365 h 998861"/>
                <a:gd name="connsiteX110" fmla="*/ 66710 w 965891"/>
                <a:gd name="connsiteY110" fmla="*/ 299661 h 998861"/>
                <a:gd name="connsiteX111" fmla="*/ 33414 w 965891"/>
                <a:gd name="connsiteY111" fmla="*/ 266365 h 998861"/>
                <a:gd name="connsiteX112" fmla="*/ 66710 w 965891"/>
                <a:gd name="connsiteY112" fmla="*/ 233069 h 998861"/>
                <a:gd name="connsiteX113" fmla="*/ 63215 w 965891"/>
                <a:gd name="connsiteY113" fmla="*/ 332604 h 998861"/>
                <a:gd name="connsiteX114" fmla="*/ 66711 w 965891"/>
                <a:gd name="connsiteY114" fmla="*/ 332953 h 998861"/>
                <a:gd name="connsiteX115" fmla="*/ 133302 w 965891"/>
                <a:gd name="connsiteY115" fmla="*/ 266363 h 998861"/>
                <a:gd name="connsiteX116" fmla="*/ 118834 w 965891"/>
                <a:gd name="connsiteY116" fmla="*/ 225427 h 998861"/>
                <a:gd name="connsiteX117" fmla="*/ 271411 w 965891"/>
                <a:gd name="connsiteY117" fmla="*/ 192515 h 998861"/>
                <a:gd name="connsiteX118" fmla="*/ 227811 w 965891"/>
                <a:gd name="connsiteY118" fmla="*/ 352765 h 998861"/>
                <a:gd name="connsiteX119" fmla="*/ 111660 w 965891"/>
                <a:gd name="connsiteY119" fmla="*/ 470381 h 998861"/>
                <a:gd name="connsiteX120" fmla="*/ 63215 w 965891"/>
                <a:gd name="connsiteY120" fmla="*/ 332604 h 998861"/>
                <a:gd name="connsiteX121" fmla="*/ 111660 w 965891"/>
                <a:gd name="connsiteY121" fmla="*/ 528481 h 998861"/>
                <a:gd name="connsiteX122" fmla="*/ 227843 w 965891"/>
                <a:gd name="connsiteY122" fmla="*/ 646097 h 998861"/>
                <a:gd name="connsiteX123" fmla="*/ 271478 w 965891"/>
                <a:gd name="connsiteY123" fmla="*/ 806364 h 998861"/>
                <a:gd name="connsiteX124" fmla="*/ 118901 w 965891"/>
                <a:gd name="connsiteY124" fmla="*/ 773435 h 998861"/>
                <a:gd name="connsiteX125" fmla="*/ 133302 w 965891"/>
                <a:gd name="connsiteY125" fmla="*/ 732499 h 998861"/>
                <a:gd name="connsiteX126" fmla="*/ 66711 w 965891"/>
                <a:gd name="connsiteY126" fmla="*/ 665909 h 998861"/>
                <a:gd name="connsiteX127" fmla="*/ 63215 w 965891"/>
                <a:gd name="connsiteY127" fmla="*/ 666257 h 998861"/>
                <a:gd name="connsiteX128" fmla="*/ 111660 w 965891"/>
                <a:gd name="connsiteY128" fmla="*/ 528481 h 99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965891" h="998861">
                  <a:moveTo>
                    <a:pt x="119" y="732499"/>
                  </a:moveTo>
                  <a:cubicBezTo>
                    <a:pt x="119" y="769277"/>
                    <a:pt x="29934" y="799089"/>
                    <a:pt x="66710" y="799089"/>
                  </a:cubicBezTo>
                  <a:cubicBezTo>
                    <a:pt x="75051" y="799058"/>
                    <a:pt x="83310" y="797443"/>
                    <a:pt x="91048" y="794328"/>
                  </a:cubicBezTo>
                  <a:cubicBezTo>
                    <a:pt x="130403" y="824460"/>
                    <a:pt x="185941" y="840176"/>
                    <a:pt x="254196" y="840176"/>
                  </a:cubicBezTo>
                  <a:cubicBezTo>
                    <a:pt x="264483" y="840176"/>
                    <a:pt x="275172" y="839693"/>
                    <a:pt x="286009" y="838995"/>
                  </a:cubicBezTo>
                  <a:cubicBezTo>
                    <a:pt x="334354" y="937782"/>
                    <a:pt x="404108" y="998862"/>
                    <a:pt x="482901" y="998862"/>
                  </a:cubicBezTo>
                  <a:cubicBezTo>
                    <a:pt x="561695" y="998862"/>
                    <a:pt x="631449" y="937782"/>
                    <a:pt x="679810" y="839044"/>
                  </a:cubicBezTo>
                  <a:cubicBezTo>
                    <a:pt x="690665" y="839743"/>
                    <a:pt x="701336" y="840225"/>
                    <a:pt x="711623" y="840225"/>
                  </a:cubicBezTo>
                  <a:cubicBezTo>
                    <a:pt x="779878" y="840225"/>
                    <a:pt x="835416" y="824509"/>
                    <a:pt x="874771" y="794377"/>
                  </a:cubicBezTo>
                  <a:cubicBezTo>
                    <a:pt x="882507" y="797472"/>
                    <a:pt x="890760" y="799071"/>
                    <a:pt x="899093" y="799089"/>
                  </a:cubicBezTo>
                  <a:cubicBezTo>
                    <a:pt x="928485" y="799006"/>
                    <a:pt x="954346" y="779662"/>
                    <a:pt x="962728" y="751490"/>
                  </a:cubicBezTo>
                  <a:cubicBezTo>
                    <a:pt x="971110" y="723319"/>
                    <a:pt x="960033" y="692983"/>
                    <a:pt x="935468" y="676845"/>
                  </a:cubicBezTo>
                  <a:cubicBezTo>
                    <a:pt x="937798" y="623239"/>
                    <a:pt x="917072" y="562408"/>
                    <a:pt x="874887" y="499430"/>
                  </a:cubicBezTo>
                  <a:cubicBezTo>
                    <a:pt x="917072" y="436469"/>
                    <a:pt x="937799" y="375638"/>
                    <a:pt x="935468" y="322015"/>
                  </a:cubicBezTo>
                  <a:cubicBezTo>
                    <a:pt x="964248" y="303442"/>
                    <a:pt x="974192" y="266032"/>
                    <a:pt x="958432" y="235620"/>
                  </a:cubicBezTo>
                  <a:cubicBezTo>
                    <a:pt x="942672" y="205207"/>
                    <a:pt x="906373" y="191761"/>
                    <a:pt x="874604" y="204565"/>
                  </a:cubicBezTo>
                  <a:cubicBezTo>
                    <a:pt x="829372" y="169955"/>
                    <a:pt x="762582" y="154623"/>
                    <a:pt x="679825" y="160016"/>
                  </a:cubicBezTo>
                  <a:cubicBezTo>
                    <a:pt x="631518" y="61148"/>
                    <a:pt x="561731" y="0"/>
                    <a:pt x="482903" y="0"/>
                  </a:cubicBezTo>
                  <a:cubicBezTo>
                    <a:pt x="404075" y="0"/>
                    <a:pt x="334288" y="61148"/>
                    <a:pt x="285927" y="160018"/>
                  </a:cubicBezTo>
                  <a:cubicBezTo>
                    <a:pt x="203205" y="154657"/>
                    <a:pt x="136447" y="170006"/>
                    <a:pt x="91148" y="204567"/>
                  </a:cubicBezTo>
                  <a:cubicBezTo>
                    <a:pt x="59399" y="191866"/>
                    <a:pt x="23193" y="205332"/>
                    <a:pt x="7459" y="235693"/>
                  </a:cubicBezTo>
                  <a:cubicBezTo>
                    <a:pt x="-8274" y="266055"/>
                    <a:pt x="1600" y="303401"/>
                    <a:pt x="30284" y="322017"/>
                  </a:cubicBezTo>
                  <a:cubicBezTo>
                    <a:pt x="27987" y="375606"/>
                    <a:pt x="48730" y="436436"/>
                    <a:pt x="90916" y="499432"/>
                  </a:cubicBezTo>
                  <a:cubicBezTo>
                    <a:pt x="48730" y="562409"/>
                    <a:pt x="27987" y="623241"/>
                    <a:pt x="30335" y="676847"/>
                  </a:cubicBezTo>
                  <a:cubicBezTo>
                    <a:pt x="11506" y="689100"/>
                    <a:pt x="140" y="710034"/>
                    <a:pt x="119" y="732499"/>
                  </a:cubicBezTo>
                  <a:close/>
                  <a:moveTo>
                    <a:pt x="33415" y="732499"/>
                  </a:moveTo>
                  <a:cubicBezTo>
                    <a:pt x="33415" y="714111"/>
                    <a:pt x="48322" y="699203"/>
                    <a:pt x="66711" y="699203"/>
                  </a:cubicBezTo>
                  <a:cubicBezTo>
                    <a:pt x="85101" y="699203"/>
                    <a:pt x="100007" y="714109"/>
                    <a:pt x="100007" y="732499"/>
                  </a:cubicBezTo>
                  <a:cubicBezTo>
                    <a:pt x="100007" y="750888"/>
                    <a:pt x="85101" y="765795"/>
                    <a:pt x="66711" y="765795"/>
                  </a:cubicBezTo>
                  <a:cubicBezTo>
                    <a:pt x="57880" y="765795"/>
                    <a:pt x="49411" y="762287"/>
                    <a:pt x="43167" y="756043"/>
                  </a:cubicBezTo>
                  <a:cubicBezTo>
                    <a:pt x="36923" y="749799"/>
                    <a:pt x="33415" y="741330"/>
                    <a:pt x="33415" y="732499"/>
                  </a:cubicBezTo>
                  <a:close/>
                  <a:moveTo>
                    <a:pt x="306588" y="195111"/>
                  </a:moveTo>
                  <a:cubicBezTo>
                    <a:pt x="350907" y="200418"/>
                    <a:pt x="394571" y="210219"/>
                    <a:pt x="436906" y="224362"/>
                  </a:cubicBezTo>
                  <a:cubicBezTo>
                    <a:pt x="407108" y="237661"/>
                    <a:pt x="378008" y="252474"/>
                    <a:pt x="349722" y="268745"/>
                  </a:cubicBezTo>
                  <a:cubicBezTo>
                    <a:pt x="321337" y="285128"/>
                    <a:pt x="293841" y="303005"/>
                    <a:pt x="267349" y="322300"/>
                  </a:cubicBezTo>
                  <a:cubicBezTo>
                    <a:pt x="276077" y="278682"/>
                    <a:pt x="289225" y="236065"/>
                    <a:pt x="306588" y="195111"/>
                  </a:cubicBezTo>
                  <a:close/>
                  <a:moveTo>
                    <a:pt x="698441" y="322300"/>
                  </a:moveTo>
                  <a:cubicBezTo>
                    <a:pt x="671957" y="303003"/>
                    <a:pt x="644466" y="285125"/>
                    <a:pt x="616084" y="268745"/>
                  </a:cubicBezTo>
                  <a:cubicBezTo>
                    <a:pt x="587839" y="252494"/>
                    <a:pt x="558790" y="237681"/>
                    <a:pt x="529049" y="224362"/>
                  </a:cubicBezTo>
                  <a:cubicBezTo>
                    <a:pt x="571342" y="210226"/>
                    <a:pt x="614960" y="200426"/>
                    <a:pt x="659235" y="195111"/>
                  </a:cubicBezTo>
                  <a:cubicBezTo>
                    <a:pt x="676587" y="236067"/>
                    <a:pt x="689723" y="278682"/>
                    <a:pt x="698441" y="322300"/>
                  </a:cubicBezTo>
                  <a:close/>
                  <a:moveTo>
                    <a:pt x="659218" y="803752"/>
                  </a:moveTo>
                  <a:cubicBezTo>
                    <a:pt x="614899" y="798445"/>
                    <a:pt x="571235" y="788644"/>
                    <a:pt x="528900" y="774501"/>
                  </a:cubicBezTo>
                  <a:cubicBezTo>
                    <a:pt x="558698" y="761202"/>
                    <a:pt x="587798" y="746389"/>
                    <a:pt x="616084" y="730118"/>
                  </a:cubicBezTo>
                  <a:cubicBezTo>
                    <a:pt x="644469" y="713736"/>
                    <a:pt x="671965" y="695859"/>
                    <a:pt x="698457" y="676563"/>
                  </a:cubicBezTo>
                  <a:cubicBezTo>
                    <a:pt x="689729" y="720181"/>
                    <a:pt x="676582" y="762797"/>
                    <a:pt x="659218" y="803752"/>
                  </a:cubicBezTo>
                  <a:close/>
                  <a:moveTo>
                    <a:pt x="599437" y="297595"/>
                  </a:moveTo>
                  <a:cubicBezTo>
                    <a:pt x="636980" y="319201"/>
                    <a:pt x="672870" y="343556"/>
                    <a:pt x="706815" y="370462"/>
                  </a:cubicBezTo>
                  <a:cubicBezTo>
                    <a:pt x="712937" y="413179"/>
                    <a:pt x="715996" y="456279"/>
                    <a:pt x="715970" y="499432"/>
                  </a:cubicBezTo>
                  <a:cubicBezTo>
                    <a:pt x="716001" y="542585"/>
                    <a:pt x="712947" y="585685"/>
                    <a:pt x="706831" y="628402"/>
                  </a:cubicBezTo>
                  <a:cubicBezTo>
                    <a:pt x="672880" y="655306"/>
                    <a:pt x="636983" y="679663"/>
                    <a:pt x="599437" y="701269"/>
                  </a:cubicBezTo>
                  <a:cubicBezTo>
                    <a:pt x="562011" y="722916"/>
                    <a:pt x="523064" y="741821"/>
                    <a:pt x="482903" y="757837"/>
                  </a:cubicBezTo>
                  <a:cubicBezTo>
                    <a:pt x="442740" y="741813"/>
                    <a:pt x="403793" y="722896"/>
                    <a:pt x="366369" y="701235"/>
                  </a:cubicBezTo>
                  <a:cubicBezTo>
                    <a:pt x="328826" y="679629"/>
                    <a:pt x="292936" y="655274"/>
                    <a:pt x="258991" y="628367"/>
                  </a:cubicBezTo>
                  <a:cubicBezTo>
                    <a:pt x="246805" y="542819"/>
                    <a:pt x="246805" y="455976"/>
                    <a:pt x="258991" y="370427"/>
                  </a:cubicBezTo>
                  <a:cubicBezTo>
                    <a:pt x="292938" y="343534"/>
                    <a:pt x="328829" y="319191"/>
                    <a:pt x="366369" y="297593"/>
                  </a:cubicBezTo>
                  <a:cubicBezTo>
                    <a:pt x="403826" y="275930"/>
                    <a:pt x="442808" y="257013"/>
                    <a:pt x="483003" y="240990"/>
                  </a:cubicBezTo>
                  <a:cubicBezTo>
                    <a:pt x="523131" y="257021"/>
                    <a:pt x="562045" y="275938"/>
                    <a:pt x="599437" y="297595"/>
                  </a:cubicBezTo>
                  <a:close/>
                  <a:moveTo>
                    <a:pt x="744272" y="401926"/>
                  </a:moveTo>
                  <a:cubicBezTo>
                    <a:pt x="777476" y="431321"/>
                    <a:pt x="807633" y="463988"/>
                    <a:pt x="834287" y="499432"/>
                  </a:cubicBezTo>
                  <a:cubicBezTo>
                    <a:pt x="807671" y="534869"/>
                    <a:pt x="777552" y="567536"/>
                    <a:pt x="744390" y="596938"/>
                  </a:cubicBezTo>
                  <a:cubicBezTo>
                    <a:pt x="747659" y="564539"/>
                    <a:pt x="749287" y="531995"/>
                    <a:pt x="749268" y="499432"/>
                  </a:cubicBezTo>
                  <a:cubicBezTo>
                    <a:pt x="749278" y="466868"/>
                    <a:pt x="747638" y="434324"/>
                    <a:pt x="744357" y="401926"/>
                  </a:cubicBezTo>
                  <a:close/>
                  <a:moveTo>
                    <a:pt x="221534" y="596938"/>
                  </a:moveTo>
                  <a:cubicBezTo>
                    <a:pt x="188321" y="567551"/>
                    <a:pt x="158163" y="534882"/>
                    <a:pt x="131519" y="499432"/>
                  </a:cubicBezTo>
                  <a:cubicBezTo>
                    <a:pt x="158135" y="463994"/>
                    <a:pt x="188253" y="431328"/>
                    <a:pt x="221416" y="401926"/>
                  </a:cubicBezTo>
                  <a:cubicBezTo>
                    <a:pt x="214867" y="466765"/>
                    <a:pt x="214867" y="532099"/>
                    <a:pt x="221416" y="596938"/>
                  </a:cubicBezTo>
                  <a:close/>
                  <a:moveTo>
                    <a:pt x="349821" y="730118"/>
                  </a:moveTo>
                  <a:cubicBezTo>
                    <a:pt x="378065" y="746370"/>
                    <a:pt x="407115" y="761183"/>
                    <a:pt x="436855" y="774501"/>
                  </a:cubicBezTo>
                  <a:cubicBezTo>
                    <a:pt x="394563" y="788638"/>
                    <a:pt x="350945" y="798437"/>
                    <a:pt x="306669" y="803752"/>
                  </a:cubicBezTo>
                  <a:cubicBezTo>
                    <a:pt x="289312" y="762797"/>
                    <a:pt x="276170" y="720181"/>
                    <a:pt x="267447" y="676563"/>
                  </a:cubicBezTo>
                  <a:cubicBezTo>
                    <a:pt x="293905" y="695859"/>
                    <a:pt x="321368" y="713736"/>
                    <a:pt x="349721" y="730118"/>
                  </a:cubicBezTo>
                  <a:close/>
                  <a:moveTo>
                    <a:pt x="482903" y="965568"/>
                  </a:moveTo>
                  <a:cubicBezTo>
                    <a:pt x="420374" y="965568"/>
                    <a:pt x="363555" y="915974"/>
                    <a:pt x="321653" y="835533"/>
                  </a:cubicBezTo>
                  <a:cubicBezTo>
                    <a:pt x="376827" y="827711"/>
                    <a:pt x="430927" y="813612"/>
                    <a:pt x="482903" y="793514"/>
                  </a:cubicBezTo>
                  <a:cubicBezTo>
                    <a:pt x="534898" y="813622"/>
                    <a:pt x="589022" y="827719"/>
                    <a:pt x="644219" y="835533"/>
                  </a:cubicBezTo>
                  <a:cubicBezTo>
                    <a:pt x="602234" y="915974"/>
                    <a:pt x="545432" y="965568"/>
                    <a:pt x="482903" y="965568"/>
                  </a:cubicBezTo>
                  <a:close/>
                  <a:moveTo>
                    <a:pt x="899096" y="765795"/>
                  </a:moveTo>
                  <a:cubicBezTo>
                    <a:pt x="880708" y="765795"/>
                    <a:pt x="865800" y="750888"/>
                    <a:pt x="865800" y="732499"/>
                  </a:cubicBezTo>
                  <a:cubicBezTo>
                    <a:pt x="865800" y="714109"/>
                    <a:pt x="880707" y="699203"/>
                    <a:pt x="899096" y="699203"/>
                  </a:cubicBezTo>
                  <a:cubicBezTo>
                    <a:pt x="917486" y="699203"/>
                    <a:pt x="932392" y="714109"/>
                    <a:pt x="932392" y="732499"/>
                  </a:cubicBezTo>
                  <a:cubicBezTo>
                    <a:pt x="932392" y="750888"/>
                    <a:pt x="917484" y="765795"/>
                    <a:pt x="899096" y="765795"/>
                  </a:cubicBezTo>
                  <a:close/>
                  <a:moveTo>
                    <a:pt x="902591" y="666257"/>
                  </a:moveTo>
                  <a:cubicBezTo>
                    <a:pt x="901410" y="666257"/>
                    <a:pt x="900294" y="665909"/>
                    <a:pt x="899095" y="665909"/>
                  </a:cubicBezTo>
                  <a:cubicBezTo>
                    <a:pt x="862317" y="665909"/>
                    <a:pt x="832504" y="695723"/>
                    <a:pt x="832504" y="732499"/>
                  </a:cubicBezTo>
                  <a:cubicBezTo>
                    <a:pt x="832567" y="747386"/>
                    <a:pt x="837665" y="761813"/>
                    <a:pt x="846972" y="773435"/>
                  </a:cubicBezTo>
                  <a:cubicBezTo>
                    <a:pt x="810713" y="797357"/>
                    <a:pt x="757789" y="808728"/>
                    <a:pt x="694395" y="806347"/>
                  </a:cubicBezTo>
                  <a:cubicBezTo>
                    <a:pt x="715036" y="754783"/>
                    <a:pt x="729666" y="701010"/>
                    <a:pt x="737995" y="646097"/>
                  </a:cubicBezTo>
                  <a:cubicBezTo>
                    <a:pt x="781055" y="611424"/>
                    <a:pt x="820023" y="571958"/>
                    <a:pt x="854146" y="528465"/>
                  </a:cubicBezTo>
                  <a:cubicBezTo>
                    <a:pt x="882255" y="569274"/>
                    <a:pt x="898978" y="616838"/>
                    <a:pt x="902591" y="666257"/>
                  </a:cubicBezTo>
                  <a:close/>
                  <a:moveTo>
                    <a:pt x="932391" y="266363"/>
                  </a:moveTo>
                  <a:cubicBezTo>
                    <a:pt x="932391" y="284751"/>
                    <a:pt x="917484" y="299659"/>
                    <a:pt x="899095" y="299659"/>
                  </a:cubicBezTo>
                  <a:cubicBezTo>
                    <a:pt x="880705" y="299659"/>
                    <a:pt x="865799" y="284753"/>
                    <a:pt x="865799" y="266363"/>
                  </a:cubicBezTo>
                  <a:cubicBezTo>
                    <a:pt x="865799" y="247973"/>
                    <a:pt x="880705" y="233067"/>
                    <a:pt x="899095" y="233067"/>
                  </a:cubicBezTo>
                  <a:cubicBezTo>
                    <a:pt x="917484" y="233067"/>
                    <a:pt x="932391" y="247975"/>
                    <a:pt x="932391" y="266363"/>
                  </a:cubicBezTo>
                  <a:close/>
                  <a:moveTo>
                    <a:pt x="846972" y="225427"/>
                  </a:moveTo>
                  <a:cubicBezTo>
                    <a:pt x="837667" y="237048"/>
                    <a:pt x="832568" y="251476"/>
                    <a:pt x="832504" y="266363"/>
                  </a:cubicBezTo>
                  <a:cubicBezTo>
                    <a:pt x="832504" y="303141"/>
                    <a:pt x="862319" y="332953"/>
                    <a:pt x="899095" y="332953"/>
                  </a:cubicBezTo>
                  <a:cubicBezTo>
                    <a:pt x="900294" y="332953"/>
                    <a:pt x="901408" y="332670"/>
                    <a:pt x="902591" y="332604"/>
                  </a:cubicBezTo>
                  <a:cubicBezTo>
                    <a:pt x="898982" y="382026"/>
                    <a:pt x="882260" y="429591"/>
                    <a:pt x="854146" y="470397"/>
                  </a:cubicBezTo>
                  <a:cubicBezTo>
                    <a:pt x="820016" y="426902"/>
                    <a:pt x="781043" y="387436"/>
                    <a:pt x="737979" y="352765"/>
                  </a:cubicBezTo>
                  <a:cubicBezTo>
                    <a:pt x="729638" y="297849"/>
                    <a:pt x="714990" y="244076"/>
                    <a:pt x="694328" y="192515"/>
                  </a:cubicBezTo>
                  <a:cubicBezTo>
                    <a:pt x="757774" y="190118"/>
                    <a:pt x="810730" y="201437"/>
                    <a:pt x="846972" y="225427"/>
                  </a:cubicBezTo>
                  <a:close/>
                  <a:moveTo>
                    <a:pt x="482903" y="33296"/>
                  </a:moveTo>
                  <a:cubicBezTo>
                    <a:pt x="545432" y="33296"/>
                    <a:pt x="602251" y="82889"/>
                    <a:pt x="644153" y="163331"/>
                  </a:cubicBezTo>
                  <a:cubicBezTo>
                    <a:pt x="589007" y="171159"/>
                    <a:pt x="534934" y="185256"/>
                    <a:pt x="482987" y="205350"/>
                  </a:cubicBezTo>
                  <a:cubicBezTo>
                    <a:pt x="430991" y="185242"/>
                    <a:pt x="376868" y="171145"/>
                    <a:pt x="321671" y="163331"/>
                  </a:cubicBezTo>
                  <a:cubicBezTo>
                    <a:pt x="363572" y="82889"/>
                    <a:pt x="420374" y="33296"/>
                    <a:pt x="482903" y="33296"/>
                  </a:cubicBezTo>
                  <a:close/>
                  <a:moveTo>
                    <a:pt x="66710" y="233069"/>
                  </a:moveTo>
                  <a:cubicBezTo>
                    <a:pt x="85098" y="233069"/>
                    <a:pt x="100006" y="247975"/>
                    <a:pt x="100006" y="266365"/>
                  </a:cubicBezTo>
                  <a:cubicBezTo>
                    <a:pt x="100006" y="284754"/>
                    <a:pt x="85099" y="299661"/>
                    <a:pt x="66710" y="299661"/>
                  </a:cubicBezTo>
                  <a:cubicBezTo>
                    <a:pt x="48320" y="299661"/>
                    <a:pt x="33414" y="284754"/>
                    <a:pt x="33414" y="266365"/>
                  </a:cubicBezTo>
                  <a:cubicBezTo>
                    <a:pt x="33414" y="247975"/>
                    <a:pt x="48322" y="233069"/>
                    <a:pt x="66710" y="233069"/>
                  </a:cubicBezTo>
                  <a:close/>
                  <a:moveTo>
                    <a:pt x="63215" y="332604"/>
                  </a:moveTo>
                  <a:cubicBezTo>
                    <a:pt x="64396" y="332604"/>
                    <a:pt x="65512" y="332953"/>
                    <a:pt x="66711" y="332953"/>
                  </a:cubicBezTo>
                  <a:cubicBezTo>
                    <a:pt x="103489" y="332953"/>
                    <a:pt x="133302" y="303139"/>
                    <a:pt x="133302" y="266363"/>
                  </a:cubicBezTo>
                  <a:cubicBezTo>
                    <a:pt x="133239" y="251476"/>
                    <a:pt x="128141" y="237047"/>
                    <a:pt x="118834" y="225427"/>
                  </a:cubicBezTo>
                  <a:cubicBezTo>
                    <a:pt x="155076" y="201505"/>
                    <a:pt x="207999" y="190150"/>
                    <a:pt x="271411" y="192515"/>
                  </a:cubicBezTo>
                  <a:cubicBezTo>
                    <a:pt x="250771" y="244079"/>
                    <a:pt x="236140" y="297852"/>
                    <a:pt x="227811" y="352765"/>
                  </a:cubicBezTo>
                  <a:cubicBezTo>
                    <a:pt x="184756" y="387436"/>
                    <a:pt x="145788" y="426896"/>
                    <a:pt x="111660" y="470381"/>
                  </a:cubicBezTo>
                  <a:cubicBezTo>
                    <a:pt x="83541" y="429583"/>
                    <a:pt x="66818" y="382023"/>
                    <a:pt x="63215" y="332604"/>
                  </a:cubicBezTo>
                  <a:close/>
                  <a:moveTo>
                    <a:pt x="111660" y="528481"/>
                  </a:moveTo>
                  <a:cubicBezTo>
                    <a:pt x="145804" y="571963"/>
                    <a:pt x="184782" y="611423"/>
                    <a:pt x="227843" y="646097"/>
                  </a:cubicBezTo>
                  <a:cubicBezTo>
                    <a:pt x="236183" y="701018"/>
                    <a:pt x="250824" y="754796"/>
                    <a:pt x="271478" y="806364"/>
                  </a:cubicBezTo>
                  <a:cubicBezTo>
                    <a:pt x="208117" y="808761"/>
                    <a:pt x="155160" y="797357"/>
                    <a:pt x="118901" y="773435"/>
                  </a:cubicBezTo>
                  <a:cubicBezTo>
                    <a:pt x="128183" y="761805"/>
                    <a:pt x="133257" y="747377"/>
                    <a:pt x="133302" y="732499"/>
                  </a:cubicBezTo>
                  <a:cubicBezTo>
                    <a:pt x="133302" y="695721"/>
                    <a:pt x="103487" y="665909"/>
                    <a:pt x="66711" y="665909"/>
                  </a:cubicBezTo>
                  <a:cubicBezTo>
                    <a:pt x="65512" y="665909"/>
                    <a:pt x="64398" y="666208"/>
                    <a:pt x="63215" y="666257"/>
                  </a:cubicBezTo>
                  <a:cubicBezTo>
                    <a:pt x="66824" y="616841"/>
                    <a:pt x="83546" y="569283"/>
                    <a:pt x="111660" y="528481"/>
                  </a:cubicBezTo>
                  <a:close/>
                </a:path>
              </a:pathLst>
            </a:custGeom>
            <a:grpFill/>
            <a:ln w="1624" cap="flat">
              <a:noFill/>
              <a:prstDash val="solid"/>
              <a:miter/>
            </a:ln>
          </p:spPr>
          <p:txBody>
            <a:bodyPr rtlCol="0" anchor="ctr"/>
            <a:lstStyle/>
            <a:p>
              <a:endParaRPr lang="en-GB"/>
            </a:p>
          </p:txBody>
        </p:sp>
      </p:grpSp>
      <p:grpSp>
        <p:nvGrpSpPr>
          <p:cNvPr id="24" name="Group 23">
            <a:extLst>
              <a:ext uri="{FF2B5EF4-FFF2-40B4-BE49-F238E27FC236}">
                <a16:creationId xmlns:a16="http://schemas.microsoft.com/office/drawing/2014/main" id="{EB41A2D8-C639-B051-8C35-512C637A8F84}"/>
              </a:ext>
            </a:extLst>
          </p:cNvPr>
          <p:cNvGrpSpPr/>
          <p:nvPr/>
        </p:nvGrpSpPr>
        <p:grpSpPr>
          <a:xfrm>
            <a:off x="760264" y="4726810"/>
            <a:ext cx="643573" cy="567810"/>
            <a:chOff x="3405187" y="5184227"/>
            <a:chExt cx="935585" cy="825446"/>
          </a:xfrm>
          <a:gradFill>
            <a:gsLst>
              <a:gs pos="0">
                <a:srgbClr val="C3E9FC"/>
              </a:gs>
              <a:gs pos="100000">
                <a:srgbClr val="BDF2BD"/>
              </a:gs>
            </a:gsLst>
            <a:lin ang="13500000" scaled="1"/>
          </a:gradFill>
        </p:grpSpPr>
        <p:sp>
          <p:nvSpPr>
            <p:cNvPr id="16" name="Freeform: Shape 15">
              <a:extLst>
                <a:ext uri="{FF2B5EF4-FFF2-40B4-BE49-F238E27FC236}">
                  <a16:creationId xmlns:a16="http://schemas.microsoft.com/office/drawing/2014/main" id="{15E9177A-860C-3154-4563-7764CB843039}"/>
                </a:ext>
              </a:extLst>
            </p:cNvPr>
            <p:cNvSpPr/>
            <p:nvPr/>
          </p:nvSpPr>
          <p:spPr>
            <a:xfrm>
              <a:off x="3658942" y="5583591"/>
              <a:ext cx="130837" cy="201115"/>
            </a:xfrm>
            <a:custGeom>
              <a:avLst/>
              <a:gdLst>
                <a:gd name="connsiteX0" fmla="*/ 115379 w 130837"/>
                <a:gd name="connsiteY0" fmla="*/ 201116 h 201115"/>
                <a:gd name="connsiteX1" fmla="*/ 105381 w 130837"/>
                <a:gd name="connsiteY1" fmla="*/ 197427 h 201115"/>
                <a:gd name="connsiteX2" fmla="*/ 5430 w 130837"/>
                <a:gd name="connsiteY2" fmla="*/ 112319 h 201115"/>
                <a:gd name="connsiteX3" fmla="*/ 0 w 130837"/>
                <a:gd name="connsiteY3" fmla="*/ 100553 h 201115"/>
                <a:gd name="connsiteX4" fmla="*/ 5430 w 130837"/>
                <a:gd name="connsiteY4" fmla="*/ 88796 h 201115"/>
                <a:gd name="connsiteX5" fmla="*/ 105381 w 130837"/>
                <a:gd name="connsiteY5" fmla="*/ 3688 h 201115"/>
                <a:gd name="connsiteX6" fmla="*/ 127154 w 130837"/>
                <a:gd name="connsiteY6" fmla="*/ 5429 h 201115"/>
                <a:gd name="connsiteX7" fmla="*/ 125404 w 130837"/>
                <a:gd name="connsiteY7" fmla="*/ 27202 h 201115"/>
                <a:gd name="connsiteX8" fmla="*/ 39270 w 130837"/>
                <a:gd name="connsiteY8" fmla="*/ 100553 h 201115"/>
                <a:gd name="connsiteX9" fmla="*/ 125404 w 130837"/>
                <a:gd name="connsiteY9" fmla="*/ 173904 h 201115"/>
                <a:gd name="connsiteX10" fmla="*/ 127154 w 130837"/>
                <a:gd name="connsiteY10" fmla="*/ 195677 h 201115"/>
                <a:gd name="connsiteX11" fmla="*/ 115379 w 130837"/>
                <a:gd name="connsiteY11" fmla="*/ 201116 h 201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837" h="201115">
                  <a:moveTo>
                    <a:pt x="115379" y="201116"/>
                  </a:moveTo>
                  <a:cubicBezTo>
                    <a:pt x="111845" y="201116"/>
                    <a:pt x="108286" y="199900"/>
                    <a:pt x="105381" y="197427"/>
                  </a:cubicBezTo>
                  <a:lnTo>
                    <a:pt x="5430" y="112319"/>
                  </a:lnTo>
                  <a:cubicBezTo>
                    <a:pt x="1982" y="109379"/>
                    <a:pt x="0" y="105087"/>
                    <a:pt x="0" y="100553"/>
                  </a:cubicBezTo>
                  <a:cubicBezTo>
                    <a:pt x="0" y="96028"/>
                    <a:pt x="1991" y="91735"/>
                    <a:pt x="5430" y="88796"/>
                  </a:cubicBezTo>
                  <a:lnTo>
                    <a:pt x="105381" y="3688"/>
                  </a:lnTo>
                  <a:cubicBezTo>
                    <a:pt x="111871" y="-1846"/>
                    <a:pt x="121620" y="-1061"/>
                    <a:pt x="127154" y="5429"/>
                  </a:cubicBezTo>
                  <a:cubicBezTo>
                    <a:pt x="132679" y="11928"/>
                    <a:pt x="131903" y="21677"/>
                    <a:pt x="125404" y="27202"/>
                  </a:cubicBezTo>
                  <a:lnTo>
                    <a:pt x="39270" y="100553"/>
                  </a:lnTo>
                  <a:lnTo>
                    <a:pt x="125404" y="173904"/>
                  </a:lnTo>
                  <a:cubicBezTo>
                    <a:pt x="131903" y="179438"/>
                    <a:pt x="132679" y="189186"/>
                    <a:pt x="127154" y="195677"/>
                  </a:cubicBezTo>
                  <a:cubicBezTo>
                    <a:pt x="124094" y="199271"/>
                    <a:pt x="119749" y="201116"/>
                    <a:pt x="115379" y="201116"/>
                  </a:cubicBezTo>
                  <a:close/>
                </a:path>
              </a:pathLst>
            </a:custGeom>
            <a:grpFill/>
            <a:ln w="2202"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456A4D49-5AD7-19A8-835B-AC5FF02E2185}"/>
                </a:ext>
              </a:extLst>
            </p:cNvPr>
            <p:cNvSpPr/>
            <p:nvPr/>
          </p:nvSpPr>
          <p:spPr>
            <a:xfrm>
              <a:off x="3956183" y="5583591"/>
              <a:ext cx="130832" cy="201115"/>
            </a:xfrm>
            <a:custGeom>
              <a:avLst/>
              <a:gdLst>
                <a:gd name="connsiteX0" fmla="*/ 15454 w 130832"/>
                <a:gd name="connsiteY0" fmla="*/ 201116 h 201115"/>
                <a:gd name="connsiteX1" fmla="*/ 3688 w 130832"/>
                <a:gd name="connsiteY1" fmla="*/ 195677 h 201115"/>
                <a:gd name="connsiteX2" fmla="*/ 5429 w 130832"/>
                <a:gd name="connsiteY2" fmla="*/ 173904 h 201115"/>
                <a:gd name="connsiteX3" fmla="*/ 91563 w 130832"/>
                <a:gd name="connsiteY3" fmla="*/ 100553 h 201115"/>
                <a:gd name="connsiteX4" fmla="*/ 5429 w 130832"/>
                <a:gd name="connsiteY4" fmla="*/ 27202 h 201115"/>
                <a:gd name="connsiteX5" fmla="*/ 3688 w 130832"/>
                <a:gd name="connsiteY5" fmla="*/ 5429 h 201115"/>
                <a:gd name="connsiteX6" fmla="*/ 25452 w 130832"/>
                <a:gd name="connsiteY6" fmla="*/ 3688 h 201115"/>
                <a:gd name="connsiteX7" fmla="*/ 125403 w 130832"/>
                <a:gd name="connsiteY7" fmla="*/ 88796 h 201115"/>
                <a:gd name="connsiteX8" fmla="*/ 130833 w 130832"/>
                <a:gd name="connsiteY8" fmla="*/ 100553 h 201115"/>
                <a:gd name="connsiteX9" fmla="*/ 125403 w 130832"/>
                <a:gd name="connsiteY9" fmla="*/ 112319 h 201115"/>
                <a:gd name="connsiteX10" fmla="*/ 25452 w 130832"/>
                <a:gd name="connsiteY10" fmla="*/ 197427 h 201115"/>
                <a:gd name="connsiteX11" fmla="*/ 15454 w 130832"/>
                <a:gd name="connsiteY11" fmla="*/ 201116 h 201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832" h="201115">
                  <a:moveTo>
                    <a:pt x="15454" y="201116"/>
                  </a:moveTo>
                  <a:cubicBezTo>
                    <a:pt x="11084" y="201116"/>
                    <a:pt x="6739" y="199271"/>
                    <a:pt x="3688" y="195677"/>
                  </a:cubicBezTo>
                  <a:cubicBezTo>
                    <a:pt x="-1846" y="189186"/>
                    <a:pt x="-1061" y="179438"/>
                    <a:pt x="5429" y="173904"/>
                  </a:cubicBezTo>
                  <a:lnTo>
                    <a:pt x="91563" y="100553"/>
                  </a:lnTo>
                  <a:lnTo>
                    <a:pt x="5429" y="27202"/>
                  </a:lnTo>
                  <a:cubicBezTo>
                    <a:pt x="-1061" y="21677"/>
                    <a:pt x="-1846" y="11928"/>
                    <a:pt x="3688" y="5429"/>
                  </a:cubicBezTo>
                  <a:cubicBezTo>
                    <a:pt x="9213" y="-1061"/>
                    <a:pt x="18970" y="-1846"/>
                    <a:pt x="25452" y="3688"/>
                  </a:cubicBezTo>
                  <a:lnTo>
                    <a:pt x="125403" y="88796"/>
                  </a:lnTo>
                  <a:cubicBezTo>
                    <a:pt x="128851" y="91735"/>
                    <a:pt x="130833" y="96028"/>
                    <a:pt x="130833" y="100553"/>
                  </a:cubicBezTo>
                  <a:cubicBezTo>
                    <a:pt x="130833" y="105087"/>
                    <a:pt x="128851" y="109379"/>
                    <a:pt x="125403" y="112319"/>
                  </a:cubicBezTo>
                  <a:lnTo>
                    <a:pt x="25452" y="197427"/>
                  </a:lnTo>
                  <a:cubicBezTo>
                    <a:pt x="22547" y="199900"/>
                    <a:pt x="18988" y="201116"/>
                    <a:pt x="15454" y="201116"/>
                  </a:cubicBezTo>
                  <a:close/>
                </a:path>
              </a:pathLst>
            </a:custGeom>
            <a:grpFill/>
            <a:ln w="2202"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A8B41EB4-9803-12B2-BFCB-C3F19C3C99FC}"/>
                </a:ext>
              </a:extLst>
            </p:cNvPr>
            <p:cNvSpPr/>
            <p:nvPr/>
          </p:nvSpPr>
          <p:spPr>
            <a:xfrm>
              <a:off x="3822126" y="5521885"/>
              <a:ext cx="93190" cy="326656"/>
            </a:xfrm>
            <a:custGeom>
              <a:avLst/>
              <a:gdLst>
                <a:gd name="connsiteX0" fmla="*/ 15470 w 93190"/>
                <a:gd name="connsiteY0" fmla="*/ 326657 h 326656"/>
                <a:gd name="connsiteX1" fmla="*/ 12264 w 93190"/>
                <a:gd name="connsiteY1" fmla="*/ 326321 h 326656"/>
                <a:gd name="connsiteX2" fmla="*/ 335 w 93190"/>
                <a:gd name="connsiteY2" fmla="*/ 308022 h 326656"/>
                <a:gd name="connsiteX3" fmla="*/ 62627 w 93190"/>
                <a:gd name="connsiteY3" fmla="*/ 12264 h 326656"/>
                <a:gd name="connsiteX4" fmla="*/ 80926 w 93190"/>
                <a:gd name="connsiteY4" fmla="*/ 335 h 326656"/>
                <a:gd name="connsiteX5" fmla="*/ 92855 w 93190"/>
                <a:gd name="connsiteY5" fmla="*/ 18634 h 326656"/>
                <a:gd name="connsiteX6" fmla="*/ 30563 w 93190"/>
                <a:gd name="connsiteY6" fmla="*/ 314391 h 326656"/>
                <a:gd name="connsiteX7" fmla="*/ 15470 w 93190"/>
                <a:gd name="connsiteY7" fmla="*/ 326657 h 326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190" h="326656">
                  <a:moveTo>
                    <a:pt x="15470" y="326657"/>
                  </a:moveTo>
                  <a:cubicBezTo>
                    <a:pt x="14410" y="326657"/>
                    <a:pt x="13341" y="326545"/>
                    <a:pt x="12264" y="326321"/>
                  </a:cubicBezTo>
                  <a:cubicBezTo>
                    <a:pt x="3920" y="324562"/>
                    <a:pt x="-1424" y="316365"/>
                    <a:pt x="335" y="308022"/>
                  </a:cubicBezTo>
                  <a:lnTo>
                    <a:pt x="62627" y="12264"/>
                  </a:lnTo>
                  <a:cubicBezTo>
                    <a:pt x="64386" y="3920"/>
                    <a:pt x="72574" y="-1424"/>
                    <a:pt x="80926" y="335"/>
                  </a:cubicBezTo>
                  <a:cubicBezTo>
                    <a:pt x="89270" y="2093"/>
                    <a:pt x="94614" y="10282"/>
                    <a:pt x="92855" y="18634"/>
                  </a:cubicBezTo>
                  <a:lnTo>
                    <a:pt x="30563" y="314391"/>
                  </a:lnTo>
                  <a:cubicBezTo>
                    <a:pt x="29029" y="321666"/>
                    <a:pt x="22616" y="326657"/>
                    <a:pt x="15470" y="326657"/>
                  </a:cubicBezTo>
                  <a:close/>
                </a:path>
              </a:pathLst>
            </a:custGeom>
            <a:grpFill/>
            <a:ln w="2202"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9F9BF187-B500-57F0-B5F1-961BDFF7F5F1}"/>
                </a:ext>
              </a:extLst>
            </p:cNvPr>
            <p:cNvSpPr/>
            <p:nvPr/>
          </p:nvSpPr>
          <p:spPr>
            <a:xfrm>
              <a:off x="3405187" y="5184227"/>
              <a:ext cx="935585" cy="825446"/>
            </a:xfrm>
            <a:custGeom>
              <a:avLst/>
              <a:gdLst>
                <a:gd name="connsiteX0" fmla="*/ 831876 w 935585"/>
                <a:gd name="connsiteY0" fmla="*/ 825446 h 825446"/>
                <a:gd name="connsiteX1" fmla="*/ 103709 w 935585"/>
                <a:gd name="connsiteY1" fmla="*/ 825446 h 825446"/>
                <a:gd name="connsiteX2" fmla="*/ 0 w 935585"/>
                <a:gd name="connsiteY2" fmla="*/ 721738 h 825446"/>
                <a:gd name="connsiteX3" fmla="*/ 0 w 935585"/>
                <a:gd name="connsiteY3" fmla="*/ 103709 h 825446"/>
                <a:gd name="connsiteX4" fmla="*/ 103709 w 935585"/>
                <a:gd name="connsiteY4" fmla="*/ 0 h 825446"/>
                <a:gd name="connsiteX5" fmla="*/ 831876 w 935585"/>
                <a:gd name="connsiteY5" fmla="*/ 0 h 825446"/>
                <a:gd name="connsiteX6" fmla="*/ 935585 w 935585"/>
                <a:gd name="connsiteY6" fmla="*/ 103709 h 825446"/>
                <a:gd name="connsiteX7" fmla="*/ 935585 w 935585"/>
                <a:gd name="connsiteY7" fmla="*/ 721738 h 825446"/>
                <a:gd name="connsiteX8" fmla="*/ 831876 w 935585"/>
                <a:gd name="connsiteY8" fmla="*/ 825446 h 825446"/>
                <a:gd name="connsiteX9" fmla="*/ 103709 w 935585"/>
                <a:gd name="connsiteY9" fmla="*/ 30892 h 825446"/>
                <a:gd name="connsiteX10" fmla="*/ 30892 w 935585"/>
                <a:gd name="connsiteY10" fmla="*/ 103709 h 825446"/>
                <a:gd name="connsiteX11" fmla="*/ 30892 w 935585"/>
                <a:gd name="connsiteY11" fmla="*/ 721738 h 825446"/>
                <a:gd name="connsiteX12" fmla="*/ 103709 w 935585"/>
                <a:gd name="connsiteY12" fmla="*/ 794554 h 825446"/>
                <a:gd name="connsiteX13" fmla="*/ 831876 w 935585"/>
                <a:gd name="connsiteY13" fmla="*/ 794554 h 825446"/>
                <a:gd name="connsiteX14" fmla="*/ 904693 w 935585"/>
                <a:gd name="connsiteY14" fmla="*/ 721738 h 825446"/>
                <a:gd name="connsiteX15" fmla="*/ 904693 w 935585"/>
                <a:gd name="connsiteY15" fmla="*/ 103709 h 825446"/>
                <a:gd name="connsiteX16" fmla="*/ 831876 w 935585"/>
                <a:gd name="connsiteY16" fmla="*/ 30892 h 825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5585" h="825446">
                  <a:moveTo>
                    <a:pt x="831876" y="825446"/>
                  </a:moveTo>
                  <a:lnTo>
                    <a:pt x="103709" y="825446"/>
                  </a:lnTo>
                  <a:cubicBezTo>
                    <a:pt x="46528" y="825446"/>
                    <a:pt x="0" y="778927"/>
                    <a:pt x="0" y="721738"/>
                  </a:cubicBezTo>
                  <a:lnTo>
                    <a:pt x="0" y="103709"/>
                  </a:lnTo>
                  <a:cubicBezTo>
                    <a:pt x="0" y="46528"/>
                    <a:pt x="46528" y="0"/>
                    <a:pt x="103709" y="0"/>
                  </a:cubicBezTo>
                  <a:lnTo>
                    <a:pt x="831876" y="0"/>
                  </a:lnTo>
                  <a:cubicBezTo>
                    <a:pt x="889057" y="0"/>
                    <a:pt x="935585" y="46528"/>
                    <a:pt x="935585" y="103709"/>
                  </a:cubicBezTo>
                  <a:lnTo>
                    <a:pt x="935585" y="721738"/>
                  </a:lnTo>
                  <a:cubicBezTo>
                    <a:pt x="935585" y="778927"/>
                    <a:pt x="889057" y="825446"/>
                    <a:pt x="831876" y="825446"/>
                  </a:cubicBezTo>
                  <a:close/>
                  <a:moveTo>
                    <a:pt x="103709" y="30892"/>
                  </a:moveTo>
                  <a:cubicBezTo>
                    <a:pt x="63560" y="30892"/>
                    <a:pt x="30892" y="63560"/>
                    <a:pt x="30892" y="103709"/>
                  </a:cubicBezTo>
                  <a:lnTo>
                    <a:pt x="30892" y="721738"/>
                  </a:lnTo>
                  <a:cubicBezTo>
                    <a:pt x="30892" y="761887"/>
                    <a:pt x="63560" y="794554"/>
                    <a:pt x="103709" y="794554"/>
                  </a:cubicBezTo>
                  <a:lnTo>
                    <a:pt x="831876" y="794554"/>
                  </a:lnTo>
                  <a:cubicBezTo>
                    <a:pt x="872026" y="794554"/>
                    <a:pt x="904693" y="761887"/>
                    <a:pt x="904693" y="721738"/>
                  </a:cubicBezTo>
                  <a:lnTo>
                    <a:pt x="904693" y="103709"/>
                  </a:lnTo>
                  <a:cubicBezTo>
                    <a:pt x="904693" y="63560"/>
                    <a:pt x="872026" y="30892"/>
                    <a:pt x="831876" y="30892"/>
                  </a:cubicBezTo>
                  <a:close/>
                </a:path>
              </a:pathLst>
            </a:custGeom>
            <a:grpFill/>
            <a:ln w="2202"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914211B2-CDAF-5905-AF5E-294CBA714E6A}"/>
                </a:ext>
              </a:extLst>
            </p:cNvPr>
            <p:cNvSpPr/>
            <p:nvPr/>
          </p:nvSpPr>
          <p:spPr>
            <a:xfrm>
              <a:off x="3405187" y="5400668"/>
              <a:ext cx="935585" cy="30891"/>
            </a:xfrm>
            <a:custGeom>
              <a:avLst/>
              <a:gdLst>
                <a:gd name="connsiteX0" fmla="*/ 920139 w 935585"/>
                <a:gd name="connsiteY0" fmla="*/ 30892 h 30891"/>
                <a:gd name="connsiteX1" fmla="*/ 15446 w 935585"/>
                <a:gd name="connsiteY1" fmla="*/ 30892 h 30891"/>
                <a:gd name="connsiteX2" fmla="*/ 0 w 935585"/>
                <a:gd name="connsiteY2" fmla="*/ 15446 h 30891"/>
                <a:gd name="connsiteX3" fmla="*/ 15446 w 935585"/>
                <a:gd name="connsiteY3" fmla="*/ 0 h 30891"/>
                <a:gd name="connsiteX4" fmla="*/ 920139 w 935585"/>
                <a:gd name="connsiteY4" fmla="*/ 0 h 30891"/>
                <a:gd name="connsiteX5" fmla="*/ 935585 w 935585"/>
                <a:gd name="connsiteY5" fmla="*/ 15446 h 30891"/>
                <a:gd name="connsiteX6" fmla="*/ 920139 w 935585"/>
                <a:gd name="connsiteY6" fmla="*/ 30892 h 30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5585" h="30891">
                  <a:moveTo>
                    <a:pt x="920139" y="30892"/>
                  </a:moveTo>
                  <a:lnTo>
                    <a:pt x="15446" y="30892"/>
                  </a:lnTo>
                  <a:cubicBezTo>
                    <a:pt x="6913" y="30892"/>
                    <a:pt x="0" y="23979"/>
                    <a:pt x="0" y="15446"/>
                  </a:cubicBezTo>
                  <a:cubicBezTo>
                    <a:pt x="0" y="6921"/>
                    <a:pt x="6913" y="0"/>
                    <a:pt x="15446" y="0"/>
                  </a:cubicBezTo>
                  <a:lnTo>
                    <a:pt x="920139" y="0"/>
                  </a:lnTo>
                  <a:cubicBezTo>
                    <a:pt x="928672" y="0"/>
                    <a:pt x="935585" y="6921"/>
                    <a:pt x="935585" y="15446"/>
                  </a:cubicBezTo>
                  <a:cubicBezTo>
                    <a:pt x="935585" y="23979"/>
                    <a:pt x="928672" y="30892"/>
                    <a:pt x="920139" y="30892"/>
                  </a:cubicBezTo>
                  <a:close/>
                </a:path>
              </a:pathLst>
            </a:custGeom>
            <a:grpFill/>
            <a:ln w="2202"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5CD2B23B-9EDA-12A6-851A-4370460C8A49}"/>
                </a:ext>
              </a:extLst>
            </p:cNvPr>
            <p:cNvSpPr/>
            <p:nvPr/>
          </p:nvSpPr>
          <p:spPr>
            <a:xfrm>
              <a:off x="3620215" y="5259888"/>
              <a:ext cx="97761" cy="97761"/>
            </a:xfrm>
            <a:custGeom>
              <a:avLst/>
              <a:gdLst>
                <a:gd name="connsiteX0" fmla="*/ 48881 w 97761"/>
                <a:gd name="connsiteY0" fmla="*/ 97761 h 97761"/>
                <a:gd name="connsiteX1" fmla="*/ 0 w 97761"/>
                <a:gd name="connsiteY1" fmla="*/ 48881 h 97761"/>
                <a:gd name="connsiteX2" fmla="*/ 48881 w 97761"/>
                <a:gd name="connsiteY2" fmla="*/ 0 h 97761"/>
                <a:gd name="connsiteX3" fmla="*/ 97761 w 97761"/>
                <a:gd name="connsiteY3" fmla="*/ 48881 h 97761"/>
                <a:gd name="connsiteX4" fmla="*/ 48881 w 97761"/>
                <a:gd name="connsiteY4" fmla="*/ 97761 h 97761"/>
                <a:gd name="connsiteX5" fmla="*/ 48881 w 97761"/>
                <a:gd name="connsiteY5" fmla="*/ 30892 h 97761"/>
                <a:gd name="connsiteX6" fmla="*/ 30892 w 97761"/>
                <a:gd name="connsiteY6" fmla="*/ 48881 h 97761"/>
                <a:gd name="connsiteX7" fmla="*/ 48881 w 97761"/>
                <a:gd name="connsiteY7" fmla="*/ 66869 h 97761"/>
                <a:gd name="connsiteX8" fmla="*/ 66869 w 97761"/>
                <a:gd name="connsiteY8" fmla="*/ 48881 h 97761"/>
                <a:gd name="connsiteX9" fmla="*/ 48881 w 97761"/>
                <a:gd name="connsiteY9" fmla="*/ 30892 h 97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761" h="97761">
                  <a:moveTo>
                    <a:pt x="48881" y="97761"/>
                  </a:moveTo>
                  <a:cubicBezTo>
                    <a:pt x="21936" y="97761"/>
                    <a:pt x="0" y="75825"/>
                    <a:pt x="0" y="48881"/>
                  </a:cubicBezTo>
                  <a:cubicBezTo>
                    <a:pt x="0" y="21928"/>
                    <a:pt x="21936" y="0"/>
                    <a:pt x="48881" y="0"/>
                  </a:cubicBezTo>
                  <a:cubicBezTo>
                    <a:pt x="75834" y="0"/>
                    <a:pt x="97761" y="21928"/>
                    <a:pt x="97761" y="48881"/>
                  </a:cubicBezTo>
                  <a:cubicBezTo>
                    <a:pt x="97761" y="75825"/>
                    <a:pt x="75834" y="97761"/>
                    <a:pt x="48881" y="97761"/>
                  </a:cubicBezTo>
                  <a:close/>
                  <a:moveTo>
                    <a:pt x="48881" y="30892"/>
                  </a:moveTo>
                  <a:cubicBezTo>
                    <a:pt x="38968" y="30892"/>
                    <a:pt x="30892" y="38960"/>
                    <a:pt x="30892" y="48881"/>
                  </a:cubicBezTo>
                  <a:cubicBezTo>
                    <a:pt x="30892" y="58802"/>
                    <a:pt x="38968" y="66869"/>
                    <a:pt x="48881" y="66869"/>
                  </a:cubicBezTo>
                  <a:cubicBezTo>
                    <a:pt x="58802" y="66869"/>
                    <a:pt x="66869" y="58802"/>
                    <a:pt x="66869" y="48881"/>
                  </a:cubicBezTo>
                  <a:cubicBezTo>
                    <a:pt x="66869" y="38960"/>
                    <a:pt x="58802" y="30892"/>
                    <a:pt x="48881" y="30892"/>
                  </a:cubicBezTo>
                  <a:close/>
                </a:path>
              </a:pathLst>
            </a:custGeom>
            <a:grpFill/>
            <a:ln w="2202"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A513BA6B-9C67-F457-48F0-86840D83D5D8}"/>
                </a:ext>
              </a:extLst>
            </p:cNvPr>
            <p:cNvSpPr/>
            <p:nvPr/>
          </p:nvSpPr>
          <p:spPr>
            <a:xfrm>
              <a:off x="3470030" y="5259414"/>
              <a:ext cx="97761" cy="97761"/>
            </a:xfrm>
            <a:custGeom>
              <a:avLst/>
              <a:gdLst>
                <a:gd name="connsiteX0" fmla="*/ 48881 w 97761"/>
                <a:gd name="connsiteY0" fmla="*/ 97761 h 97761"/>
                <a:gd name="connsiteX1" fmla="*/ 0 w 97761"/>
                <a:gd name="connsiteY1" fmla="*/ 48881 h 97761"/>
                <a:gd name="connsiteX2" fmla="*/ 48881 w 97761"/>
                <a:gd name="connsiteY2" fmla="*/ 0 h 97761"/>
                <a:gd name="connsiteX3" fmla="*/ 97761 w 97761"/>
                <a:gd name="connsiteY3" fmla="*/ 48881 h 97761"/>
                <a:gd name="connsiteX4" fmla="*/ 48881 w 97761"/>
                <a:gd name="connsiteY4" fmla="*/ 97761 h 97761"/>
                <a:gd name="connsiteX5" fmla="*/ 48881 w 97761"/>
                <a:gd name="connsiteY5" fmla="*/ 30892 h 97761"/>
                <a:gd name="connsiteX6" fmla="*/ 30892 w 97761"/>
                <a:gd name="connsiteY6" fmla="*/ 48881 h 97761"/>
                <a:gd name="connsiteX7" fmla="*/ 48881 w 97761"/>
                <a:gd name="connsiteY7" fmla="*/ 66869 h 97761"/>
                <a:gd name="connsiteX8" fmla="*/ 66869 w 97761"/>
                <a:gd name="connsiteY8" fmla="*/ 48881 h 97761"/>
                <a:gd name="connsiteX9" fmla="*/ 48881 w 97761"/>
                <a:gd name="connsiteY9" fmla="*/ 30892 h 97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761" h="97761">
                  <a:moveTo>
                    <a:pt x="48881" y="97761"/>
                  </a:moveTo>
                  <a:cubicBezTo>
                    <a:pt x="21928" y="97761"/>
                    <a:pt x="0" y="75834"/>
                    <a:pt x="0" y="48881"/>
                  </a:cubicBezTo>
                  <a:cubicBezTo>
                    <a:pt x="0" y="21928"/>
                    <a:pt x="21928" y="0"/>
                    <a:pt x="48881" y="0"/>
                  </a:cubicBezTo>
                  <a:cubicBezTo>
                    <a:pt x="75834" y="0"/>
                    <a:pt x="97761" y="21928"/>
                    <a:pt x="97761" y="48881"/>
                  </a:cubicBezTo>
                  <a:cubicBezTo>
                    <a:pt x="97761" y="75834"/>
                    <a:pt x="75834" y="97761"/>
                    <a:pt x="48881" y="97761"/>
                  </a:cubicBezTo>
                  <a:close/>
                  <a:moveTo>
                    <a:pt x="48881" y="30892"/>
                  </a:moveTo>
                  <a:cubicBezTo>
                    <a:pt x="38968" y="30892"/>
                    <a:pt x="30892" y="38968"/>
                    <a:pt x="30892" y="48881"/>
                  </a:cubicBezTo>
                  <a:cubicBezTo>
                    <a:pt x="30892" y="58802"/>
                    <a:pt x="38968" y="66869"/>
                    <a:pt x="48881" y="66869"/>
                  </a:cubicBezTo>
                  <a:cubicBezTo>
                    <a:pt x="58802" y="66869"/>
                    <a:pt x="66869" y="58802"/>
                    <a:pt x="66869" y="48881"/>
                  </a:cubicBezTo>
                  <a:cubicBezTo>
                    <a:pt x="66869" y="38968"/>
                    <a:pt x="58802" y="30892"/>
                    <a:pt x="48881" y="30892"/>
                  </a:cubicBezTo>
                  <a:close/>
                </a:path>
              </a:pathLst>
            </a:custGeom>
            <a:grpFill/>
            <a:ln w="2202"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94965C77-10E0-F10B-3533-88F47F3CB67E}"/>
                </a:ext>
              </a:extLst>
            </p:cNvPr>
            <p:cNvSpPr/>
            <p:nvPr/>
          </p:nvSpPr>
          <p:spPr>
            <a:xfrm>
              <a:off x="3770408" y="5260362"/>
              <a:ext cx="97752" cy="97752"/>
            </a:xfrm>
            <a:custGeom>
              <a:avLst/>
              <a:gdLst>
                <a:gd name="connsiteX0" fmla="*/ 48872 w 97752"/>
                <a:gd name="connsiteY0" fmla="*/ 97753 h 97752"/>
                <a:gd name="connsiteX1" fmla="*/ 0 w 97752"/>
                <a:gd name="connsiteY1" fmla="*/ 48872 h 97752"/>
                <a:gd name="connsiteX2" fmla="*/ 48872 w 97752"/>
                <a:gd name="connsiteY2" fmla="*/ 0 h 97752"/>
                <a:gd name="connsiteX3" fmla="*/ 97753 w 97752"/>
                <a:gd name="connsiteY3" fmla="*/ 48872 h 97752"/>
                <a:gd name="connsiteX4" fmla="*/ 48872 w 97752"/>
                <a:gd name="connsiteY4" fmla="*/ 97753 h 97752"/>
                <a:gd name="connsiteX5" fmla="*/ 48872 w 97752"/>
                <a:gd name="connsiteY5" fmla="*/ 30883 h 97752"/>
                <a:gd name="connsiteX6" fmla="*/ 30892 w 97752"/>
                <a:gd name="connsiteY6" fmla="*/ 48872 h 97752"/>
                <a:gd name="connsiteX7" fmla="*/ 48872 w 97752"/>
                <a:gd name="connsiteY7" fmla="*/ 66861 h 97752"/>
                <a:gd name="connsiteX8" fmla="*/ 66861 w 97752"/>
                <a:gd name="connsiteY8" fmla="*/ 48872 h 97752"/>
                <a:gd name="connsiteX9" fmla="*/ 48872 w 97752"/>
                <a:gd name="connsiteY9" fmla="*/ 30883 h 9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752" h="97752">
                  <a:moveTo>
                    <a:pt x="48872" y="97753"/>
                  </a:moveTo>
                  <a:cubicBezTo>
                    <a:pt x="21928" y="97753"/>
                    <a:pt x="0" y="75825"/>
                    <a:pt x="0" y="48872"/>
                  </a:cubicBezTo>
                  <a:cubicBezTo>
                    <a:pt x="0" y="21928"/>
                    <a:pt x="21928" y="0"/>
                    <a:pt x="48872" y="0"/>
                  </a:cubicBezTo>
                  <a:cubicBezTo>
                    <a:pt x="75825" y="0"/>
                    <a:pt x="97753" y="21928"/>
                    <a:pt x="97753" y="48872"/>
                  </a:cubicBezTo>
                  <a:cubicBezTo>
                    <a:pt x="97753" y="75825"/>
                    <a:pt x="75825" y="97753"/>
                    <a:pt x="48872" y="97753"/>
                  </a:cubicBezTo>
                  <a:close/>
                  <a:moveTo>
                    <a:pt x="48872" y="30883"/>
                  </a:moveTo>
                  <a:cubicBezTo>
                    <a:pt x="38960" y="30883"/>
                    <a:pt x="30892" y="38951"/>
                    <a:pt x="30892" y="48872"/>
                  </a:cubicBezTo>
                  <a:cubicBezTo>
                    <a:pt x="30892" y="58793"/>
                    <a:pt x="38960" y="66861"/>
                    <a:pt x="48872" y="66861"/>
                  </a:cubicBezTo>
                  <a:cubicBezTo>
                    <a:pt x="58793" y="66861"/>
                    <a:pt x="66861" y="58793"/>
                    <a:pt x="66861" y="48872"/>
                  </a:cubicBezTo>
                  <a:cubicBezTo>
                    <a:pt x="66861" y="38951"/>
                    <a:pt x="58793" y="30883"/>
                    <a:pt x="48872" y="30883"/>
                  </a:cubicBezTo>
                  <a:close/>
                </a:path>
              </a:pathLst>
            </a:custGeom>
            <a:grpFill/>
            <a:ln w="2202" cap="flat">
              <a:noFill/>
              <a:prstDash val="solid"/>
              <a:miter/>
            </a:ln>
          </p:spPr>
          <p:txBody>
            <a:bodyPr rtlCol="0" anchor="ctr"/>
            <a:lstStyle/>
            <a:p>
              <a:endParaRPr lang="en-GB"/>
            </a:p>
          </p:txBody>
        </p:sp>
      </p:grpSp>
    </p:spTree>
    <p:extLst>
      <p:ext uri="{BB962C8B-B14F-4D97-AF65-F5344CB8AC3E}">
        <p14:creationId xmlns:p14="http://schemas.microsoft.com/office/powerpoint/2010/main" val="40453959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p:cTn id="7" dur="250" fill="hold"/>
                                        <p:tgtEl>
                                          <p:spTgt spid="103"/>
                                        </p:tgtEl>
                                        <p:attrNameLst>
                                          <p:attrName>ppt_w</p:attrName>
                                        </p:attrNameLst>
                                      </p:cBhvr>
                                      <p:tavLst>
                                        <p:tav tm="0">
                                          <p:val>
                                            <p:strVal val="2/3*#ppt_w"/>
                                          </p:val>
                                        </p:tav>
                                        <p:tav tm="100000">
                                          <p:val>
                                            <p:strVal val="#ppt_w"/>
                                          </p:val>
                                        </p:tav>
                                      </p:tavLst>
                                    </p:anim>
                                    <p:anim calcmode="lin" valueType="num">
                                      <p:cBhvr>
                                        <p:cTn id="8" dur="250" fill="hold"/>
                                        <p:tgtEl>
                                          <p:spTgt spid="103"/>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500"/>
                                        <p:tgtEl>
                                          <p:spTgt spid="103"/>
                                        </p:tgtEl>
                                      </p:cBhvr>
                                    </p:animEffect>
                                  </p:childTnLst>
                                </p:cTn>
                              </p:par>
                              <p:par>
                                <p:cTn id="12" presetID="6" presetClass="emph" presetSubtype="0" fill="hold" nodeType="withEffect">
                                  <p:stCondLst>
                                    <p:cond delay="0"/>
                                  </p:stCondLst>
                                  <p:childTnLst>
                                    <p:animScale>
                                      <p:cBhvr>
                                        <p:cTn id="13" dur="10" fill="hold"/>
                                        <p:tgtEl>
                                          <p:spTgt spid="103"/>
                                        </p:tgtEl>
                                      </p:cBhvr>
                                      <p:by x="80000" y="80000"/>
                                    </p:animScale>
                                  </p:childTnLst>
                                </p:cTn>
                              </p:par>
                              <p:par>
                                <p:cTn id="14" presetID="6" presetClass="emph" presetSubtype="0" decel="100000" fill="hold" nodeType="withEffect">
                                  <p:stCondLst>
                                    <p:cond delay="0"/>
                                  </p:stCondLst>
                                  <p:childTnLst>
                                    <p:animScale>
                                      <p:cBhvr>
                                        <p:cTn id="15" dur="1000" fill="hold"/>
                                        <p:tgtEl>
                                          <p:spTgt spid="103"/>
                                        </p:tgtEl>
                                      </p:cBhvr>
                                      <p:by x="125000" y="125000"/>
                                    </p:animScale>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childTnLst>
                                </p:cTn>
                              </p:par>
                              <p:par>
                                <p:cTn id="19" presetID="23" presetClass="entr" presetSubtype="272" fill="hold" grpId="0" nodeType="withEffect">
                                  <p:stCondLst>
                                    <p:cond delay="250"/>
                                  </p:stCondLst>
                                  <p:childTnLst>
                                    <p:set>
                                      <p:cBhvr>
                                        <p:cTn id="20" dur="1" fill="hold">
                                          <p:stCondLst>
                                            <p:cond delay="0"/>
                                          </p:stCondLst>
                                        </p:cTn>
                                        <p:tgtEl>
                                          <p:spTgt spid="33"/>
                                        </p:tgtEl>
                                        <p:attrNameLst>
                                          <p:attrName>style.visibility</p:attrName>
                                        </p:attrNameLst>
                                      </p:cBhvr>
                                      <p:to>
                                        <p:strVal val="visible"/>
                                      </p:to>
                                    </p:set>
                                    <p:anim calcmode="lin" valueType="num">
                                      <p:cBhvr>
                                        <p:cTn id="21" dur="250" fill="hold"/>
                                        <p:tgtEl>
                                          <p:spTgt spid="33"/>
                                        </p:tgtEl>
                                        <p:attrNameLst>
                                          <p:attrName>ppt_w</p:attrName>
                                        </p:attrNameLst>
                                      </p:cBhvr>
                                      <p:tavLst>
                                        <p:tav tm="0">
                                          <p:val>
                                            <p:strVal val="2/3*#ppt_w"/>
                                          </p:val>
                                        </p:tav>
                                        <p:tav tm="100000">
                                          <p:val>
                                            <p:strVal val="#ppt_w"/>
                                          </p:val>
                                        </p:tav>
                                      </p:tavLst>
                                    </p:anim>
                                    <p:anim calcmode="lin" valueType="num">
                                      <p:cBhvr>
                                        <p:cTn id="22" dur="250" fill="hold"/>
                                        <p:tgtEl>
                                          <p:spTgt spid="33"/>
                                        </p:tgtEl>
                                        <p:attrNameLst>
                                          <p:attrName>ppt_h</p:attrName>
                                        </p:attrNameLst>
                                      </p:cBhvr>
                                      <p:tavLst>
                                        <p:tav tm="0">
                                          <p:val>
                                            <p:strVal val="2/3*#ppt_h"/>
                                          </p:val>
                                        </p:tav>
                                        <p:tav tm="100000">
                                          <p:val>
                                            <p:strVal val="#ppt_h"/>
                                          </p:val>
                                        </p:tav>
                                      </p:tavLst>
                                    </p:anim>
                                  </p:childTnLst>
                                </p:cTn>
                              </p:par>
                              <p:par>
                                <p:cTn id="23" presetID="10" presetClass="entr" presetSubtype="0" fill="hold" grpId="1" nodeType="withEffect">
                                  <p:stCondLst>
                                    <p:cond delay="25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6" presetClass="emph" presetSubtype="0" fill="hold" grpId="2" nodeType="withEffect">
                                  <p:stCondLst>
                                    <p:cond delay="250"/>
                                  </p:stCondLst>
                                  <p:childTnLst>
                                    <p:animScale>
                                      <p:cBhvr>
                                        <p:cTn id="27" dur="10" fill="hold"/>
                                        <p:tgtEl>
                                          <p:spTgt spid="33"/>
                                        </p:tgtEl>
                                      </p:cBhvr>
                                      <p:by x="80000" y="80000"/>
                                    </p:animScale>
                                  </p:childTnLst>
                                </p:cTn>
                              </p:par>
                              <p:par>
                                <p:cTn id="28" presetID="6" presetClass="emph" presetSubtype="0" decel="100000" fill="hold" grpId="3" nodeType="withEffect">
                                  <p:stCondLst>
                                    <p:cond delay="250"/>
                                  </p:stCondLst>
                                  <p:childTnLst>
                                    <p:animScale>
                                      <p:cBhvr>
                                        <p:cTn id="29" dur="1000" fill="hold"/>
                                        <p:tgtEl>
                                          <p:spTgt spid="33"/>
                                        </p:tgtEl>
                                      </p:cBhvr>
                                      <p:by x="125000" y="125000"/>
                                    </p:animScale>
                                  </p:childTnLst>
                                </p:cTn>
                              </p:par>
                              <p:par>
                                <p:cTn id="30" presetID="23" presetClass="entr" presetSubtype="272" fill="hold" nodeType="withEffect">
                                  <p:stCondLst>
                                    <p:cond delay="100"/>
                                  </p:stCondLst>
                                  <p:childTnLst>
                                    <p:set>
                                      <p:cBhvr>
                                        <p:cTn id="31" dur="1" fill="hold">
                                          <p:stCondLst>
                                            <p:cond delay="0"/>
                                          </p:stCondLst>
                                        </p:cTn>
                                        <p:tgtEl>
                                          <p:spTgt spid="198"/>
                                        </p:tgtEl>
                                        <p:attrNameLst>
                                          <p:attrName>style.visibility</p:attrName>
                                        </p:attrNameLst>
                                      </p:cBhvr>
                                      <p:to>
                                        <p:strVal val="visible"/>
                                      </p:to>
                                    </p:set>
                                    <p:anim calcmode="lin" valueType="num">
                                      <p:cBhvr>
                                        <p:cTn id="32" dur="250" fill="hold"/>
                                        <p:tgtEl>
                                          <p:spTgt spid="198"/>
                                        </p:tgtEl>
                                        <p:attrNameLst>
                                          <p:attrName>ppt_w</p:attrName>
                                        </p:attrNameLst>
                                      </p:cBhvr>
                                      <p:tavLst>
                                        <p:tav tm="0">
                                          <p:val>
                                            <p:strVal val="2/3*#ppt_w"/>
                                          </p:val>
                                        </p:tav>
                                        <p:tav tm="100000">
                                          <p:val>
                                            <p:strVal val="#ppt_w"/>
                                          </p:val>
                                        </p:tav>
                                      </p:tavLst>
                                    </p:anim>
                                    <p:anim calcmode="lin" valueType="num">
                                      <p:cBhvr>
                                        <p:cTn id="33" dur="250" fill="hold"/>
                                        <p:tgtEl>
                                          <p:spTgt spid="198"/>
                                        </p:tgtEl>
                                        <p:attrNameLst>
                                          <p:attrName>ppt_h</p:attrName>
                                        </p:attrNameLst>
                                      </p:cBhvr>
                                      <p:tavLst>
                                        <p:tav tm="0">
                                          <p:val>
                                            <p:strVal val="2/3*#ppt_h"/>
                                          </p:val>
                                        </p:tav>
                                        <p:tav tm="100000">
                                          <p:val>
                                            <p:strVal val="#ppt_h"/>
                                          </p:val>
                                        </p:tav>
                                      </p:tavLst>
                                    </p:anim>
                                  </p:childTnLst>
                                </p:cTn>
                              </p:par>
                              <p:par>
                                <p:cTn id="34" presetID="10" presetClass="entr" presetSubtype="0" fill="hold" nodeType="withEffect">
                                  <p:stCondLst>
                                    <p:cond delay="100"/>
                                  </p:stCondLst>
                                  <p:childTnLst>
                                    <p:set>
                                      <p:cBhvr>
                                        <p:cTn id="35" dur="1" fill="hold">
                                          <p:stCondLst>
                                            <p:cond delay="0"/>
                                          </p:stCondLst>
                                        </p:cTn>
                                        <p:tgtEl>
                                          <p:spTgt spid="198"/>
                                        </p:tgtEl>
                                        <p:attrNameLst>
                                          <p:attrName>style.visibility</p:attrName>
                                        </p:attrNameLst>
                                      </p:cBhvr>
                                      <p:to>
                                        <p:strVal val="visible"/>
                                      </p:to>
                                    </p:set>
                                    <p:animEffect transition="in" filter="fade">
                                      <p:cBhvr>
                                        <p:cTn id="36" dur="500"/>
                                        <p:tgtEl>
                                          <p:spTgt spid="198"/>
                                        </p:tgtEl>
                                      </p:cBhvr>
                                    </p:animEffect>
                                  </p:childTnLst>
                                </p:cTn>
                              </p:par>
                              <p:par>
                                <p:cTn id="37" presetID="6" presetClass="emph" presetSubtype="0" fill="hold" nodeType="withEffect">
                                  <p:stCondLst>
                                    <p:cond delay="100"/>
                                  </p:stCondLst>
                                  <p:childTnLst>
                                    <p:animScale>
                                      <p:cBhvr>
                                        <p:cTn id="38" dur="10" fill="hold"/>
                                        <p:tgtEl>
                                          <p:spTgt spid="198"/>
                                        </p:tgtEl>
                                      </p:cBhvr>
                                      <p:by x="80000" y="80000"/>
                                    </p:animScale>
                                  </p:childTnLst>
                                </p:cTn>
                              </p:par>
                              <p:par>
                                <p:cTn id="39" presetID="6" presetClass="emph" presetSubtype="0" decel="100000" fill="hold" nodeType="withEffect">
                                  <p:stCondLst>
                                    <p:cond delay="100"/>
                                  </p:stCondLst>
                                  <p:childTnLst>
                                    <p:animScale>
                                      <p:cBhvr>
                                        <p:cTn id="40" dur="1000" fill="hold"/>
                                        <p:tgtEl>
                                          <p:spTgt spid="198"/>
                                        </p:tgtEl>
                                      </p:cBhvr>
                                      <p:by x="125000" y="125000"/>
                                    </p:animScale>
                                  </p:childTnLst>
                                </p:cTn>
                              </p:par>
                              <p:par>
                                <p:cTn id="41" presetID="10" presetClass="entr" presetSubtype="0" fill="hold" grpId="0" nodeType="withEffect">
                                  <p:stCondLst>
                                    <p:cond delay="100"/>
                                  </p:stCondLst>
                                  <p:childTnLst>
                                    <p:set>
                                      <p:cBhvr>
                                        <p:cTn id="42" dur="1" fill="hold">
                                          <p:stCondLst>
                                            <p:cond delay="0"/>
                                          </p:stCondLst>
                                        </p:cTn>
                                        <p:tgtEl>
                                          <p:spTgt spid="196"/>
                                        </p:tgtEl>
                                        <p:attrNameLst>
                                          <p:attrName>style.visibility</p:attrName>
                                        </p:attrNameLst>
                                      </p:cBhvr>
                                      <p:to>
                                        <p:strVal val="visible"/>
                                      </p:to>
                                    </p:set>
                                    <p:animEffect transition="in" filter="fade">
                                      <p:cBhvr>
                                        <p:cTn id="43" dur="1000"/>
                                        <p:tgtEl>
                                          <p:spTgt spid="196"/>
                                        </p:tgtEl>
                                      </p:cBhvr>
                                    </p:animEffect>
                                  </p:childTnLst>
                                </p:cTn>
                              </p:par>
                              <p:par>
                                <p:cTn id="44" presetID="23" presetClass="entr" presetSubtype="272" fill="hold" grpId="0" nodeType="withEffect">
                                  <p:stCondLst>
                                    <p:cond delay="350"/>
                                  </p:stCondLst>
                                  <p:childTnLst>
                                    <p:set>
                                      <p:cBhvr>
                                        <p:cTn id="45" dur="1" fill="hold">
                                          <p:stCondLst>
                                            <p:cond delay="0"/>
                                          </p:stCondLst>
                                        </p:cTn>
                                        <p:tgtEl>
                                          <p:spTgt spid="197"/>
                                        </p:tgtEl>
                                        <p:attrNameLst>
                                          <p:attrName>style.visibility</p:attrName>
                                        </p:attrNameLst>
                                      </p:cBhvr>
                                      <p:to>
                                        <p:strVal val="visible"/>
                                      </p:to>
                                    </p:set>
                                    <p:anim calcmode="lin" valueType="num">
                                      <p:cBhvr>
                                        <p:cTn id="46" dur="250" fill="hold"/>
                                        <p:tgtEl>
                                          <p:spTgt spid="197"/>
                                        </p:tgtEl>
                                        <p:attrNameLst>
                                          <p:attrName>ppt_w</p:attrName>
                                        </p:attrNameLst>
                                      </p:cBhvr>
                                      <p:tavLst>
                                        <p:tav tm="0">
                                          <p:val>
                                            <p:strVal val="2/3*#ppt_w"/>
                                          </p:val>
                                        </p:tav>
                                        <p:tav tm="100000">
                                          <p:val>
                                            <p:strVal val="#ppt_w"/>
                                          </p:val>
                                        </p:tav>
                                      </p:tavLst>
                                    </p:anim>
                                    <p:anim calcmode="lin" valueType="num">
                                      <p:cBhvr>
                                        <p:cTn id="47" dur="250" fill="hold"/>
                                        <p:tgtEl>
                                          <p:spTgt spid="197"/>
                                        </p:tgtEl>
                                        <p:attrNameLst>
                                          <p:attrName>ppt_h</p:attrName>
                                        </p:attrNameLst>
                                      </p:cBhvr>
                                      <p:tavLst>
                                        <p:tav tm="0">
                                          <p:val>
                                            <p:strVal val="2/3*#ppt_h"/>
                                          </p:val>
                                        </p:tav>
                                        <p:tav tm="100000">
                                          <p:val>
                                            <p:strVal val="#ppt_h"/>
                                          </p:val>
                                        </p:tav>
                                      </p:tavLst>
                                    </p:anim>
                                  </p:childTnLst>
                                </p:cTn>
                              </p:par>
                              <p:par>
                                <p:cTn id="48" presetID="10" presetClass="entr" presetSubtype="0" fill="hold" grpId="1" nodeType="withEffect">
                                  <p:stCondLst>
                                    <p:cond delay="350"/>
                                  </p:stCondLst>
                                  <p:childTnLst>
                                    <p:set>
                                      <p:cBhvr>
                                        <p:cTn id="49" dur="1" fill="hold">
                                          <p:stCondLst>
                                            <p:cond delay="0"/>
                                          </p:stCondLst>
                                        </p:cTn>
                                        <p:tgtEl>
                                          <p:spTgt spid="197"/>
                                        </p:tgtEl>
                                        <p:attrNameLst>
                                          <p:attrName>style.visibility</p:attrName>
                                        </p:attrNameLst>
                                      </p:cBhvr>
                                      <p:to>
                                        <p:strVal val="visible"/>
                                      </p:to>
                                    </p:set>
                                    <p:animEffect transition="in" filter="fade">
                                      <p:cBhvr>
                                        <p:cTn id="50" dur="500"/>
                                        <p:tgtEl>
                                          <p:spTgt spid="197"/>
                                        </p:tgtEl>
                                      </p:cBhvr>
                                    </p:animEffect>
                                  </p:childTnLst>
                                </p:cTn>
                              </p:par>
                              <p:par>
                                <p:cTn id="51" presetID="6" presetClass="emph" presetSubtype="0" fill="hold" grpId="2" nodeType="withEffect">
                                  <p:stCondLst>
                                    <p:cond delay="350"/>
                                  </p:stCondLst>
                                  <p:childTnLst>
                                    <p:animScale>
                                      <p:cBhvr>
                                        <p:cTn id="52" dur="10" fill="hold"/>
                                        <p:tgtEl>
                                          <p:spTgt spid="197"/>
                                        </p:tgtEl>
                                      </p:cBhvr>
                                      <p:by x="80000" y="80000"/>
                                    </p:animScale>
                                  </p:childTnLst>
                                </p:cTn>
                              </p:par>
                              <p:par>
                                <p:cTn id="53" presetID="6" presetClass="emph" presetSubtype="0" decel="100000" fill="hold" grpId="3" nodeType="withEffect">
                                  <p:stCondLst>
                                    <p:cond delay="350"/>
                                  </p:stCondLst>
                                  <p:childTnLst>
                                    <p:animScale>
                                      <p:cBhvr>
                                        <p:cTn id="54" dur="1000" fill="hold"/>
                                        <p:tgtEl>
                                          <p:spTgt spid="197"/>
                                        </p:tgtEl>
                                      </p:cBhvr>
                                      <p:by x="125000" y="125000"/>
                                    </p:animScale>
                                  </p:childTnLst>
                                </p:cTn>
                              </p:par>
                              <p:par>
                                <p:cTn id="55" presetID="23" presetClass="entr" presetSubtype="272" fill="hold" nodeType="withEffect">
                                  <p:stCondLst>
                                    <p:cond delay="200"/>
                                  </p:stCondLst>
                                  <p:childTnLst>
                                    <p:set>
                                      <p:cBhvr>
                                        <p:cTn id="56" dur="1" fill="hold">
                                          <p:stCondLst>
                                            <p:cond delay="0"/>
                                          </p:stCondLst>
                                        </p:cTn>
                                        <p:tgtEl>
                                          <p:spTgt spid="240"/>
                                        </p:tgtEl>
                                        <p:attrNameLst>
                                          <p:attrName>style.visibility</p:attrName>
                                        </p:attrNameLst>
                                      </p:cBhvr>
                                      <p:to>
                                        <p:strVal val="visible"/>
                                      </p:to>
                                    </p:set>
                                    <p:anim calcmode="lin" valueType="num">
                                      <p:cBhvr>
                                        <p:cTn id="57" dur="250" fill="hold"/>
                                        <p:tgtEl>
                                          <p:spTgt spid="240"/>
                                        </p:tgtEl>
                                        <p:attrNameLst>
                                          <p:attrName>ppt_w</p:attrName>
                                        </p:attrNameLst>
                                      </p:cBhvr>
                                      <p:tavLst>
                                        <p:tav tm="0">
                                          <p:val>
                                            <p:strVal val="2/3*#ppt_w"/>
                                          </p:val>
                                        </p:tav>
                                        <p:tav tm="100000">
                                          <p:val>
                                            <p:strVal val="#ppt_w"/>
                                          </p:val>
                                        </p:tav>
                                      </p:tavLst>
                                    </p:anim>
                                    <p:anim calcmode="lin" valueType="num">
                                      <p:cBhvr>
                                        <p:cTn id="58" dur="250" fill="hold"/>
                                        <p:tgtEl>
                                          <p:spTgt spid="240"/>
                                        </p:tgtEl>
                                        <p:attrNameLst>
                                          <p:attrName>ppt_h</p:attrName>
                                        </p:attrNameLst>
                                      </p:cBhvr>
                                      <p:tavLst>
                                        <p:tav tm="0">
                                          <p:val>
                                            <p:strVal val="2/3*#ppt_h"/>
                                          </p:val>
                                        </p:tav>
                                        <p:tav tm="100000">
                                          <p:val>
                                            <p:strVal val="#ppt_h"/>
                                          </p:val>
                                        </p:tav>
                                      </p:tavLst>
                                    </p:anim>
                                  </p:childTnLst>
                                </p:cTn>
                              </p:par>
                              <p:par>
                                <p:cTn id="59" presetID="10" presetClass="entr" presetSubtype="0" fill="hold" nodeType="withEffect">
                                  <p:stCondLst>
                                    <p:cond delay="200"/>
                                  </p:stCondLst>
                                  <p:childTnLst>
                                    <p:set>
                                      <p:cBhvr>
                                        <p:cTn id="60" dur="1" fill="hold">
                                          <p:stCondLst>
                                            <p:cond delay="0"/>
                                          </p:stCondLst>
                                        </p:cTn>
                                        <p:tgtEl>
                                          <p:spTgt spid="240"/>
                                        </p:tgtEl>
                                        <p:attrNameLst>
                                          <p:attrName>style.visibility</p:attrName>
                                        </p:attrNameLst>
                                      </p:cBhvr>
                                      <p:to>
                                        <p:strVal val="visible"/>
                                      </p:to>
                                    </p:set>
                                    <p:animEffect transition="in" filter="fade">
                                      <p:cBhvr>
                                        <p:cTn id="61" dur="500"/>
                                        <p:tgtEl>
                                          <p:spTgt spid="240"/>
                                        </p:tgtEl>
                                      </p:cBhvr>
                                    </p:animEffect>
                                  </p:childTnLst>
                                </p:cTn>
                              </p:par>
                              <p:par>
                                <p:cTn id="62" presetID="6" presetClass="emph" presetSubtype="0" fill="hold" nodeType="withEffect">
                                  <p:stCondLst>
                                    <p:cond delay="200"/>
                                  </p:stCondLst>
                                  <p:childTnLst>
                                    <p:animScale>
                                      <p:cBhvr>
                                        <p:cTn id="63" dur="10" fill="hold"/>
                                        <p:tgtEl>
                                          <p:spTgt spid="240"/>
                                        </p:tgtEl>
                                      </p:cBhvr>
                                      <p:by x="80000" y="80000"/>
                                    </p:animScale>
                                  </p:childTnLst>
                                </p:cTn>
                              </p:par>
                              <p:par>
                                <p:cTn id="64" presetID="6" presetClass="emph" presetSubtype="0" decel="100000" fill="hold" nodeType="withEffect">
                                  <p:stCondLst>
                                    <p:cond delay="200"/>
                                  </p:stCondLst>
                                  <p:childTnLst>
                                    <p:animScale>
                                      <p:cBhvr>
                                        <p:cTn id="65" dur="1000" fill="hold"/>
                                        <p:tgtEl>
                                          <p:spTgt spid="240"/>
                                        </p:tgtEl>
                                      </p:cBhvr>
                                      <p:by x="125000" y="125000"/>
                                    </p:animScale>
                                  </p:childTnLst>
                                </p:cTn>
                              </p:par>
                              <p:par>
                                <p:cTn id="66" presetID="23" presetClass="entr" presetSubtype="272" fill="hold" grpId="0" nodeType="withEffect">
                                  <p:stCondLst>
                                    <p:cond delay="450"/>
                                  </p:stCondLst>
                                  <p:childTnLst>
                                    <p:set>
                                      <p:cBhvr>
                                        <p:cTn id="67" dur="1" fill="hold">
                                          <p:stCondLst>
                                            <p:cond delay="0"/>
                                          </p:stCondLst>
                                        </p:cTn>
                                        <p:tgtEl>
                                          <p:spTgt spid="239"/>
                                        </p:tgtEl>
                                        <p:attrNameLst>
                                          <p:attrName>style.visibility</p:attrName>
                                        </p:attrNameLst>
                                      </p:cBhvr>
                                      <p:to>
                                        <p:strVal val="visible"/>
                                      </p:to>
                                    </p:set>
                                    <p:anim calcmode="lin" valueType="num">
                                      <p:cBhvr>
                                        <p:cTn id="68" dur="250" fill="hold"/>
                                        <p:tgtEl>
                                          <p:spTgt spid="239"/>
                                        </p:tgtEl>
                                        <p:attrNameLst>
                                          <p:attrName>ppt_w</p:attrName>
                                        </p:attrNameLst>
                                      </p:cBhvr>
                                      <p:tavLst>
                                        <p:tav tm="0">
                                          <p:val>
                                            <p:strVal val="2/3*#ppt_w"/>
                                          </p:val>
                                        </p:tav>
                                        <p:tav tm="100000">
                                          <p:val>
                                            <p:strVal val="#ppt_w"/>
                                          </p:val>
                                        </p:tav>
                                      </p:tavLst>
                                    </p:anim>
                                    <p:anim calcmode="lin" valueType="num">
                                      <p:cBhvr>
                                        <p:cTn id="69" dur="250" fill="hold"/>
                                        <p:tgtEl>
                                          <p:spTgt spid="239"/>
                                        </p:tgtEl>
                                        <p:attrNameLst>
                                          <p:attrName>ppt_h</p:attrName>
                                        </p:attrNameLst>
                                      </p:cBhvr>
                                      <p:tavLst>
                                        <p:tav tm="0">
                                          <p:val>
                                            <p:strVal val="2/3*#ppt_h"/>
                                          </p:val>
                                        </p:tav>
                                        <p:tav tm="100000">
                                          <p:val>
                                            <p:strVal val="#ppt_h"/>
                                          </p:val>
                                        </p:tav>
                                      </p:tavLst>
                                    </p:anim>
                                  </p:childTnLst>
                                </p:cTn>
                              </p:par>
                              <p:par>
                                <p:cTn id="70" presetID="10" presetClass="entr" presetSubtype="0" fill="hold" grpId="1" nodeType="withEffect">
                                  <p:stCondLst>
                                    <p:cond delay="450"/>
                                  </p:stCondLst>
                                  <p:childTnLst>
                                    <p:set>
                                      <p:cBhvr>
                                        <p:cTn id="71" dur="1" fill="hold">
                                          <p:stCondLst>
                                            <p:cond delay="0"/>
                                          </p:stCondLst>
                                        </p:cTn>
                                        <p:tgtEl>
                                          <p:spTgt spid="239"/>
                                        </p:tgtEl>
                                        <p:attrNameLst>
                                          <p:attrName>style.visibility</p:attrName>
                                        </p:attrNameLst>
                                      </p:cBhvr>
                                      <p:to>
                                        <p:strVal val="visible"/>
                                      </p:to>
                                    </p:set>
                                    <p:animEffect transition="in" filter="fade">
                                      <p:cBhvr>
                                        <p:cTn id="72" dur="500"/>
                                        <p:tgtEl>
                                          <p:spTgt spid="239"/>
                                        </p:tgtEl>
                                      </p:cBhvr>
                                    </p:animEffect>
                                  </p:childTnLst>
                                </p:cTn>
                              </p:par>
                              <p:par>
                                <p:cTn id="73" presetID="6" presetClass="emph" presetSubtype="0" fill="hold" grpId="2" nodeType="withEffect">
                                  <p:stCondLst>
                                    <p:cond delay="450"/>
                                  </p:stCondLst>
                                  <p:childTnLst>
                                    <p:animScale>
                                      <p:cBhvr>
                                        <p:cTn id="74" dur="10" fill="hold"/>
                                        <p:tgtEl>
                                          <p:spTgt spid="239"/>
                                        </p:tgtEl>
                                      </p:cBhvr>
                                      <p:by x="80000" y="80000"/>
                                    </p:animScale>
                                  </p:childTnLst>
                                </p:cTn>
                              </p:par>
                              <p:par>
                                <p:cTn id="75" presetID="6" presetClass="emph" presetSubtype="0" decel="100000" fill="hold" grpId="3" nodeType="withEffect">
                                  <p:stCondLst>
                                    <p:cond delay="450"/>
                                  </p:stCondLst>
                                  <p:childTnLst>
                                    <p:animScale>
                                      <p:cBhvr>
                                        <p:cTn id="76" dur="1000" fill="hold"/>
                                        <p:tgtEl>
                                          <p:spTgt spid="239"/>
                                        </p:tgtEl>
                                      </p:cBhvr>
                                      <p:by x="125000" y="125000"/>
                                    </p:animScale>
                                  </p:childTnLst>
                                </p:cTn>
                              </p:par>
                              <p:par>
                                <p:cTn id="77" presetID="23" presetClass="entr" presetSubtype="272" fill="hold" grpId="0" nodeType="withEffect">
                                  <p:stCondLst>
                                    <p:cond delay="450"/>
                                  </p:stCondLst>
                                  <p:childTnLst>
                                    <p:set>
                                      <p:cBhvr>
                                        <p:cTn id="78" dur="1" fill="hold">
                                          <p:stCondLst>
                                            <p:cond delay="0"/>
                                          </p:stCondLst>
                                        </p:cTn>
                                        <p:tgtEl>
                                          <p:spTgt spid="252"/>
                                        </p:tgtEl>
                                        <p:attrNameLst>
                                          <p:attrName>style.visibility</p:attrName>
                                        </p:attrNameLst>
                                      </p:cBhvr>
                                      <p:to>
                                        <p:strVal val="visible"/>
                                      </p:to>
                                    </p:set>
                                    <p:anim calcmode="lin" valueType="num">
                                      <p:cBhvr>
                                        <p:cTn id="79" dur="250" fill="hold"/>
                                        <p:tgtEl>
                                          <p:spTgt spid="252"/>
                                        </p:tgtEl>
                                        <p:attrNameLst>
                                          <p:attrName>ppt_w</p:attrName>
                                        </p:attrNameLst>
                                      </p:cBhvr>
                                      <p:tavLst>
                                        <p:tav tm="0">
                                          <p:val>
                                            <p:strVal val="2/3*#ppt_w"/>
                                          </p:val>
                                        </p:tav>
                                        <p:tav tm="100000">
                                          <p:val>
                                            <p:strVal val="#ppt_w"/>
                                          </p:val>
                                        </p:tav>
                                      </p:tavLst>
                                    </p:anim>
                                    <p:anim calcmode="lin" valueType="num">
                                      <p:cBhvr>
                                        <p:cTn id="80" dur="250" fill="hold"/>
                                        <p:tgtEl>
                                          <p:spTgt spid="252"/>
                                        </p:tgtEl>
                                        <p:attrNameLst>
                                          <p:attrName>ppt_h</p:attrName>
                                        </p:attrNameLst>
                                      </p:cBhvr>
                                      <p:tavLst>
                                        <p:tav tm="0">
                                          <p:val>
                                            <p:strVal val="2/3*#ppt_h"/>
                                          </p:val>
                                        </p:tav>
                                        <p:tav tm="100000">
                                          <p:val>
                                            <p:strVal val="#ppt_h"/>
                                          </p:val>
                                        </p:tav>
                                      </p:tavLst>
                                    </p:anim>
                                  </p:childTnLst>
                                </p:cTn>
                              </p:par>
                              <p:par>
                                <p:cTn id="81" presetID="10" presetClass="entr" presetSubtype="0" fill="hold" grpId="1" nodeType="withEffect">
                                  <p:stCondLst>
                                    <p:cond delay="450"/>
                                  </p:stCondLst>
                                  <p:childTnLst>
                                    <p:set>
                                      <p:cBhvr>
                                        <p:cTn id="82" dur="1" fill="hold">
                                          <p:stCondLst>
                                            <p:cond delay="0"/>
                                          </p:stCondLst>
                                        </p:cTn>
                                        <p:tgtEl>
                                          <p:spTgt spid="252"/>
                                        </p:tgtEl>
                                        <p:attrNameLst>
                                          <p:attrName>style.visibility</p:attrName>
                                        </p:attrNameLst>
                                      </p:cBhvr>
                                      <p:to>
                                        <p:strVal val="visible"/>
                                      </p:to>
                                    </p:set>
                                    <p:animEffect transition="in" filter="fade">
                                      <p:cBhvr>
                                        <p:cTn id="83" dur="500"/>
                                        <p:tgtEl>
                                          <p:spTgt spid="252"/>
                                        </p:tgtEl>
                                      </p:cBhvr>
                                    </p:animEffect>
                                  </p:childTnLst>
                                </p:cTn>
                              </p:par>
                              <p:par>
                                <p:cTn id="84" presetID="6" presetClass="emph" presetSubtype="0" fill="hold" grpId="2" nodeType="withEffect">
                                  <p:stCondLst>
                                    <p:cond delay="450"/>
                                  </p:stCondLst>
                                  <p:childTnLst>
                                    <p:animScale>
                                      <p:cBhvr>
                                        <p:cTn id="85" dur="10" fill="hold"/>
                                        <p:tgtEl>
                                          <p:spTgt spid="252"/>
                                        </p:tgtEl>
                                      </p:cBhvr>
                                      <p:by x="80000" y="80000"/>
                                    </p:animScale>
                                  </p:childTnLst>
                                </p:cTn>
                              </p:par>
                              <p:par>
                                <p:cTn id="86" presetID="6" presetClass="emph" presetSubtype="0" decel="100000" fill="hold" grpId="3" nodeType="withEffect">
                                  <p:stCondLst>
                                    <p:cond delay="450"/>
                                  </p:stCondLst>
                                  <p:childTnLst>
                                    <p:animScale>
                                      <p:cBhvr>
                                        <p:cTn id="87" dur="1000" fill="hold"/>
                                        <p:tgtEl>
                                          <p:spTgt spid="252"/>
                                        </p:tgtEl>
                                      </p:cBhvr>
                                      <p:by x="125000" y="125000"/>
                                    </p:animScale>
                                  </p:childTnLst>
                                </p:cTn>
                              </p:par>
                              <p:par>
                                <p:cTn id="88" presetID="23" presetClass="entr" presetSubtype="272" fill="hold" nodeType="withEffect">
                                  <p:stCondLst>
                                    <p:cond delay="300"/>
                                  </p:stCondLst>
                                  <p:childTnLst>
                                    <p:set>
                                      <p:cBhvr>
                                        <p:cTn id="89" dur="1" fill="hold">
                                          <p:stCondLst>
                                            <p:cond delay="0"/>
                                          </p:stCondLst>
                                        </p:cTn>
                                        <p:tgtEl>
                                          <p:spTgt spid="270"/>
                                        </p:tgtEl>
                                        <p:attrNameLst>
                                          <p:attrName>style.visibility</p:attrName>
                                        </p:attrNameLst>
                                      </p:cBhvr>
                                      <p:to>
                                        <p:strVal val="visible"/>
                                      </p:to>
                                    </p:set>
                                    <p:anim calcmode="lin" valueType="num">
                                      <p:cBhvr>
                                        <p:cTn id="90" dur="250" fill="hold"/>
                                        <p:tgtEl>
                                          <p:spTgt spid="270"/>
                                        </p:tgtEl>
                                        <p:attrNameLst>
                                          <p:attrName>ppt_w</p:attrName>
                                        </p:attrNameLst>
                                      </p:cBhvr>
                                      <p:tavLst>
                                        <p:tav tm="0">
                                          <p:val>
                                            <p:strVal val="2/3*#ppt_w"/>
                                          </p:val>
                                        </p:tav>
                                        <p:tav tm="100000">
                                          <p:val>
                                            <p:strVal val="#ppt_w"/>
                                          </p:val>
                                        </p:tav>
                                      </p:tavLst>
                                    </p:anim>
                                    <p:anim calcmode="lin" valueType="num">
                                      <p:cBhvr>
                                        <p:cTn id="91" dur="250" fill="hold"/>
                                        <p:tgtEl>
                                          <p:spTgt spid="270"/>
                                        </p:tgtEl>
                                        <p:attrNameLst>
                                          <p:attrName>ppt_h</p:attrName>
                                        </p:attrNameLst>
                                      </p:cBhvr>
                                      <p:tavLst>
                                        <p:tav tm="0">
                                          <p:val>
                                            <p:strVal val="2/3*#ppt_h"/>
                                          </p:val>
                                        </p:tav>
                                        <p:tav tm="100000">
                                          <p:val>
                                            <p:strVal val="#ppt_h"/>
                                          </p:val>
                                        </p:tav>
                                      </p:tavLst>
                                    </p:anim>
                                  </p:childTnLst>
                                </p:cTn>
                              </p:par>
                              <p:par>
                                <p:cTn id="92" presetID="10" presetClass="entr" presetSubtype="0" fill="hold" nodeType="withEffect">
                                  <p:stCondLst>
                                    <p:cond delay="300"/>
                                  </p:stCondLst>
                                  <p:childTnLst>
                                    <p:set>
                                      <p:cBhvr>
                                        <p:cTn id="93" dur="1" fill="hold">
                                          <p:stCondLst>
                                            <p:cond delay="0"/>
                                          </p:stCondLst>
                                        </p:cTn>
                                        <p:tgtEl>
                                          <p:spTgt spid="270"/>
                                        </p:tgtEl>
                                        <p:attrNameLst>
                                          <p:attrName>style.visibility</p:attrName>
                                        </p:attrNameLst>
                                      </p:cBhvr>
                                      <p:to>
                                        <p:strVal val="visible"/>
                                      </p:to>
                                    </p:set>
                                    <p:animEffect transition="in" filter="fade">
                                      <p:cBhvr>
                                        <p:cTn id="94" dur="500"/>
                                        <p:tgtEl>
                                          <p:spTgt spid="270"/>
                                        </p:tgtEl>
                                      </p:cBhvr>
                                    </p:animEffect>
                                  </p:childTnLst>
                                </p:cTn>
                              </p:par>
                              <p:par>
                                <p:cTn id="95" presetID="6" presetClass="emph" presetSubtype="0" fill="hold" nodeType="withEffect">
                                  <p:stCondLst>
                                    <p:cond delay="300"/>
                                  </p:stCondLst>
                                  <p:childTnLst>
                                    <p:animScale>
                                      <p:cBhvr>
                                        <p:cTn id="96" dur="10" fill="hold"/>
                                        <p:tgtEl>
                                          <p:spTgt spid="270"/>
                                        </p:tgtEl>
                                      </p:cBhvr>
                                      <p:by x="80000" y="80000"/>
                                    </p:animScale>
                                  </p:childTnLst>
                                </p:cTn>
                              </p:par>
                              <p:par>
                                <p:cTn id="97" presetID="6" presetClass="emph" presetSubtype="0" decel="100000" fill="hold" nodeType="withEffect">
                                  <p:stCondLst>
                                    <p:cond delay="300"/>
                                  </p:stCondLst>
                                  <p:childTnLst>
                                    <p:animScale>
                                      <p:cBhvr>
                                        <p:cTn id="98" dur="1000" fill="hold"/>
                                        <p:tgtEl>
                                          <p:spTgt spid="270"/>
                                        </p:tgtEl>
                                      </p:cBhvr>
                                      <p:by x="125000" y="125000"/>
                                    </p:animScale>
                                  </p:childTnLst>
                                </p:cTn>
                              </p:par>
                              <p:par>
                                <p:cTn id="99" presetID="10" presetClass="entr" presetSubtype="0" fill="hold" grpId="0" nodeType="withEffect">
                                  <p:stCondLst>
                                    <p:cond delay="300"/>
                                  </p:stCondLst>
                                  <p:childTnLst>
                                    <p:set>
                                      <p:cBhvr>
                                        <p:cTn id="100" dur="1" fill="hold">
                                          <p:stCondLst>
                                            <p:cond delay="0"/>
                                          </p:stCondLst>
                                        </p:cTn>
                                        <p:tgtEl>
                                          <p:spTgt spid="268"/>
                                        </p:tgtEl>
                                        <p:attrNameLst>
                                          <p:attrName>style.visibility</p:attrName>
                                        </p:attrNameLst>
                                      </p:cBhvr>
                                      <p:to>
                                        <p:strVal val="visible"/>
                                      </p:to>
                                    </p:set>
                                    <p:animEffect transition="in" filter="fade">
                                      <p:cBhvr>
                                        <p:cTn id="101" dur="1000"/>
                                        <p:tgtEl>
                                          <p:spTgt spid="268"/>
                                        </p:tgtEl>
                                      </p:cBhvr>
                                    </p:animEffect>
                                  </p:childTnLst>
                                </p:cTn>
                              </p:par>
                              <p:par>
                                <p:cTn id="102" presetID="23" presetClass="entr" presetSubtype="272" fill="hold" grpId="0" nodeType="withEffect">
                                  <p:stCondLst>
                                    <p:cond delay="550"/>
                                  </p:stCondLst>
                                  <p:childTnLst>
                                    <p:set>
                                      <p:cBhvr>
                                        <p:cTn id="103" dur="1" fill="hold">
                                          <p:stCondLst>
                                            <p:cond delay="0"/>
                                          </p:stCondLst>
                                        </p:cTn>
                                        <p:tgtEl>
                                          <p:spTgt spid="269"/>
                                        </p:tgtEl>
                                        <p:attrNameLst>
                                          <p:attrName>style.visibility</p:attrName>
                                        </p:attrNameLst>
                                      </p:cBhvr>
                                      <p:to>
                                        <p:strVal val="visible"/>
                                      </p:to>
                                    </p:set>
                                    <p:anim calcmode="lin" valueType="num">
                                      <p:cBhvr>
                                        <p:cTn id="104" dur="250" fill="hold"/>
                                        <p:tgtEl>
                                          <p:spTgt spid="269"/>
                                        </p:tgtEl>
                                        <p:attrNameLst>
                                          <p:attrName>ppt_w</p:attrName>
                                        </p:attrNameLst>
                                      </p:cBhvr>
                                      <p:tavLst>
                                        <p:tav tm="0">
                                          <p:val>
                                            <p:strVal val="2/3*#ppt_w"/>
                                          </p:val>
                                        </p:tav>
                                        <p:tav tm="100000">
                                          <p:val>
                                            <p:strVal val="#ppt_w"/>
                                          </p:val>
                                        </p:tav>
                                      </p:tavLst>
                                    </p:anim>
                                    <p:anim calcmode="lin" valueType="num">
                                      <p:cBhvr>
                                        <p:cTn id="105" dur="250" fill="hold"/>
                                        <p:tgtEl>
                                          <p:spTgt spid="269"/>
                                        </p:tgtEl>
                                        <p:attrNameLst>
                                          <p:attrName>ppt_h</p:attrName>
                                        </p:attrNameLst>
                                      </p:cBhvr>
                                      <p:tavLst>
                                        <p:tav tm="0">
                                          <p:val>
                                            <p:strVal val="2/3*#ppt_h"/>
                                          </p:val>
                                        </p:tav>
                                        <p:tav tm="100000">
                                          <p:val>
                                            <p:strVal val="#ppt_h"/>
                                          </p:val>
                                        </p:tav>
                                      </p:tavLst>
                                    </p:anim>
                                  </p:childTnLst>
                                </p:cTn>
                              </p:par>
                              <p:par>
                                <p:cTn id="106" presetID="10" presetClass="entr" presetSubtype="0" fill="hold" grpId="1" nodeType="withEffect">
                                  <p:stCondLst>
                                    <p:cond delay="550"/>
                                  </p:stCondLst>
                                  <p:childTnLst>
                                    <p:set>
                                      <p:cBhvr>
                                        <p:cTn id="107" dur="1" fill="hold">
                                          <p:stCondLst>
                                            <p:cond delay="0"/>
                                          </p:stCondLst>
                                        </p:cTn>
                                        <p:tgtEl>
                                          <p:spTgt spid="269"/>
                                        </p:tgtEl>
                                        <p:attrNameLst>
                                          <p:attrName>style.visibility</p:attrName>
                                        </p:attrNameLst>
                                      </p:cBhvr>
                                      <p:to>
                                        <p:strVal val="visible"/>
                                      </p:to>
                                    </p:set>
                                    <p:animEffect transition="in" filter="fade">
                                      <p:cBhvr>
                                        <p:cTn id="108" dur="500"/>
                                        <p:tgtEl>
                                          <p:spTgt spid="269"/>
                                        </p:tgtEl>
                                      </p:cBhvr>
                                    </p:animEffect>
                                  </p:childTnLst>
                                </p:cTn>
                              </p:par>
                              <p:par>
                                <p:cTn id="109" presetID="6" presetClass="emph" presetSubtype="0" fill="hold" grpId="2" nodeType="withEffect">
                                  <p:stCondLst>
                                    <p:cond delay="550"/>
                                  </p:stCondLst>
                                  <p:childTnLst>
                                    <p:animScale>
                                      <p:cBhvr>
                                        <p:cTn id="110" dur="10" fill="hold"/>
                                        <p:tgtEl>
                                          <p:spTgt spid="269"/>
                                        </p:tgtEl>
                                      </p:cBhvr>
                                      <p:by x="80000" y="80000"/>
                                    </p:animScale>
                                  </p:childTnLst>
                                </p:cTn>
                              </p:par>
                              <p:par>
                                <p:cTn id="111" presetID="6" presetClass="emph" presetSubtype="0" decel="100000" fill="hold" grpId="3" nodeType="withEffect">
                                  <p:stCondLst>
                                    <p:cond delay="550"/>
                                  </p:stCondLst>
                                  <p:childTnLst>
                                    <p:animScale>
                                      <p:cBhvr>
                                        <p:cTn id="112" dur="1000" fill="hold"/>
                                        <p:tgtEl>
                                          <p:spTgt spid="269"/>
                                        </p:tgtEl>
                                      </p:cBhvr>
                                      <p:by x="125000" y="125000"/>
                                    </p:animScale>
                                  </p:childTnLst>
                                </p:cTn>
                              </p:par>
                              <p:par>
                                <p:cTn id="113" presetID="23" presetClass="entr" presetSubtype="272" fill="hold" nodeType="withEffect">
                                  <p:stCondLst>
                                    <p:cond delay="550"/>
                                  </p:stCondLst>
                                  <p:childTnLst>
                                    <p:set>
                                      <p:cBhvr>
                                        <p:cTn id="114" dur="1" fill="hold">
                                          <p:stCondLst>
                                            <p:cond delay="0"/>
                                          </p:stCondLst>
                                        </p:cTn>
                                        <p:tgtEl>
                                          <p:spTgt spid="275"/>
                                        </p:tgtEl>
                                        <p:attrNameLst>
                                          <p:attrName>style.visibility</p:attrName>
                                        </p:attrNameLst>
                                      </p:cBhvr>
                                      <p:to>
                                        <p:strVal val="visible"/>
                                      </p:to>
                                    </p:set>
                                    <p:anim calcmode="lin" valueType="num">
                                      <p:cBhvr>
                                        <p:cTn id="115" dur="250" fill="hold"/>
                                        <p:tgtEl>
                                          <p:spTgt spid="275"/>
                                        </p:tgtEl>
                                        <p:attrNameLst>
                                          <p:attrName>ppt_w</p:attrName>
                                        </p:attrNameLst>
                                      </p:cBhvr>
                                      <p:tavLst>
                                        <p:tav tm="0">
                                          <p:val>
                                            <p:strVal val="2/3*#ppt_w"/>
                                          </p:val>
                                        </p:tav>
                                        <p:tav tm="100000">
                                          <p:val>
                                            <p:strVal val="#ppt_w"/>
                                          </p:val>
                                        </p:tav>
                                      </p:tavLst>
                                    </p:anim>
                                    <p:anim calcmode="lin" valueType="num">
                                      <p:cBhvr>
                                        <p:cTn id="116" dur="250" fill="hold"/>
                                        <p:tgtEl>
                                          <p:spTgt spid="275"/>
                                        </p:tgtEl>
                                        <p:attrNameLst>
                                          <p:attrName>ppt_h</p:attrName>
                                        </p:attrNameLst>
                                      </p:cBhvr>
                                      <p:tavLst>
                                        <p:tav tm="0">
                                          <p:val>
                                            <p:strVal val="2/3*#ppt_h"/>
                                          </p:val>
                                        </p:tav>
                                        <p:tav tm="100000">
                                          <p:val>
                                            <p:strVal val="#ppt_h"/>
                                          </p:val>
                                        </p:tav>
                                      </p:tavLst>
                                    </p:anim>
                                  </p:childTnLst>
                                </p:cTn>
                              </p:par>
                              <p:par>
                                <p:cTn id="117" presetID="10" presetClass="entr" presetSubtype="0" fill="hold" nodeType="withEffect">
                                  <p:stCondLst>
                                    <p:cond delay="550"/>
                                  </p:stCondLst>
                                  <p:childTnLst>
                                    <p:set>
                                      <p:cBhvr>
                                        <p:cTn id="118" dur="1" fill="hold">
                                          <p:stCondLst>
                                            <p:cond delay="0"/>
                                          </p:stCondLst>
                                        </p:cTn>
                                        <p:tgtEl>
                                          <p:spTgt spid="275"/>
                                        </p:tgtEl>
                                        <p:attrNameLst>
                                          <p:attrName>style.visibility</p:attrName>
                                        </p:attrNameLst>
                                      </p:cBhvr>
                                      <p:to>
                                        <p:strVal val="visible"/>
                                      </p:to>
                                    </p:set>
                                    <p:animEffect transition="in" filter="fade">
                                      <p:cBhvr>
                                        <p:cTn id="119" dur="500"/>
                                        <p:tgtEl>
                                          <p:spTgt spid="275"/>
                                        </p:tgtEl>
                                      </p:cBhvr>
                                    </p:animEffect>
                                  </p:childTnLst>
                                </p:cTn>
                              </p:par>
                              <p:par>
                                <p:cTn id="120" presetID="6" presetClass="emph" presetSubtype="0" fill="hold" nodeType="withEffect">
                                  <p:stCondLst>
                                    <p:cond delay="550"/>
                                  </p:stCondLst>
                                  <p:childTnLst>
                                    <p:animScale>
                                      <p:cBhvr>
                                        <p:cTn id="121" dur="10" fill="hold"/>
                                        <p:tgtEl>
                                          <p:spTgt spid="275"/>
                                        </p:tgtEl>
                                      </p:cBhvr>
                                      <p:by x="80000" y="80000"/>
                                    </p:animScale>
                                  </p:childTnLst>
                                </p:cTn>
                              </p:par>
                              <p:par>
                                <p:cTn id="122" presetID="6" presetClass="emph" presetSubtype="0" decel="100000" fill="hold" nodeType="withEffect">
                                  <p:stCondLst>
                                    <p:cond delay="550"/>
                                  </p:stCondLst>
                                  <p:childTnLst>
                                    <p:animScale>
                                      <p:cBhvr>
                                        <p:cTn id="123" dur="1000" fill="hold"/>
                                        <p:tgtEl>
                                          <p:spTgt spid="275"/>
                                        </p:tgtEl>
                                      </p:cBhvr>
                                      <p:by x="125000" y="125000"/>
                                    </p:animScale>
                                  </p:childTnLst>
                                </p:cTn>
                              </p:par>
                              <p:par>
                                <p:cTn id="124" presetID="10" presetClass="entr" presetSubtype="0" fill="hold" grpId="0" nodeType="withEffect">
                                  <p:stCondLst>
                                    <p:cond delay="300"/>
                                  </p:stCondLst>
                                  <p:childTnLst>
                                    <p:set>
                                      <p:cBhvr>
                                        <p:cTn id="125" dur="1" fill="hold">
                                          <p:stCondLst>
                                            <p:cond delay="0"/>
                                          </p:stCondLst>
                                        </p:cTn>
                                        <p:tgtEl>
                                          <p:spTgt spid="3"/>
                                        </p:tgtEl>
                                        <p:attrNameLst>
                                          <p:attrName>style.visibility</p:attrName>
                                        </p:attrNameLst>
                                      </p:cBhvr>
                                      <p:to>
                                        <p:strVal val="visible"/>
                                      </p:to>
                                    </p:set>
                                    <p:animEffect transition="in" filter="fade">
                                      <p:cBhvr>
                                        <p:cTn id="126" dur="1000"/>
                                        <p:tgtEl>
                                          <p:spTgt spid="3"/>
                                        </p:tgtEl>
                                      </p:cBhvr>
                                    </p:animEffect>
                                  </p:childTnLst>
                                </p:cTn>
                              </p:par>
                              <p:par>
                                <p:cTn id="127" presetID="10" presetClass="entr" presetSubtype="0" fill="hold" nodeType="withEffect">
                                  <p:stCondLst>
                                    <p:cond delay="300"/>
                                  </p:stCondLst>
                                  <p:childTnLst>
                                    <p:set>
                                      <p:cBhvr>
                                        <p:cTn id="128" dur="1" fill="hold">
                                          <p:stCondLst>
                                            <p:cond delay="0"/>
                                          </p:stCondLst>
                                        </p:cTn>
                                        <p:tgtEl>
                                          <p:spTgt spid="5"/>
                                        </p:tgtEl>
                                        <p:attrNameLst>
                                          <p:attrName>style.visibility</p:attrName>
                                        </p:attrNameLst>
                                      </p:cBhvr>
                                      <p:to>
                                        <p:strVal val="visible"/>
                                      </p:to>
                                    </p:set>
                                    <p:animEffect transition="in" filter="fade">
                                      <p:cBhvr>
                                        <p:cTn id="129" dur="500"/>
                                        <p:tgtEl>
                                          <p:spTgt spid="5"/>
                                        </p:tgtEl>
                                      </p:cBhvr>
                                    </p:animEffect>
                                  </p:childTnLst>
                                </p:cTn>
                              </p:par>
                              <p:par>
                                <p:cTn id="130" presetID="23" presetClass="entr" presetSubtype="272" fill="hold" nodeType="withEffect">
                                  <p:stCondLst>
                                    <p:cond delay="0"/>
                                  </p:stCondLst>
                                  <p:childTnLst>
                                    <p:set>
                                      <p:cBhvr>
                                        <p:cTn id="131" dur="1" fill="hold">
                                          <p:stCondLst>
                                            <p:cond delay="0"/>
                                          </p:stCondLst>
                                        </p:cTn>
                                        <p:tgtEl>
                                          <p:spTgt spid="9"/>
                                        </p:tgtEl>
                                        <p:attrNameLst>
                                          <p:attrName>style.visibility</p:attrName>
                                        </p:attrNameLst>
                                      </p:cBhvr>
                                      <p:to>
                                        <p:strVal val="visible"/>
                                      </p:to>
                                    </p:set>
                                    <p:anim calcmode="lin" valueType="num">
                                      <p:cBhvr>
                                        <p:cTn id="132" dur="250" fill="hold"/>
                                        <p:tgtEl>
                                          <p:spTgt spid="9"/>
                                        </p:tgtEl>
                                        <p:attrNameLst>
                                          <p:attrName>ppt_w</p:attrName>
                                        </p:attrNameLst>
                                      </p:cBhvr>
                                      <p:tavLst>
                                        <p:tav tm="0">
                                          <p:val>
                                            <p:strVal val="2/3*#ppt_w"/>
                                          </p:val>
                                        </p:tav>
                                        <p:tav tm="100000">
                                          <p:val>
                                            <p:strVal val="#ppt_w"/>
                                          </p:val>
                                        </p:tav>
                                      </p:tavLst>
                                    </p:anim>
                                    <p:anim calcmode="lin" valueType="num">
                                      <p:cBhvr>
                                        <p:cTn id="133" dur="250" fill="hold"/>
                                        <p:tgtEl>
                                          <p:spTgt spid="9"/>
                                        </p:tgtEl>
                                        <p:attrNameLst>
                                          <p:attrName>ppt_h</p:attrName>
                                        </p:attrNameLst>
                                      </p:cBhvr>
                                      <p:tavLst>
                                        <p:tav tm="0">
                                          <p:val>
                                            <p:strVal val="2/3*#ppt_h"/>
                                          </p:val>
                                        </p:tav>
                                        <p:tav tm="100000">
                                          <p:val>
                                            <p:strVal val="#ppt_h"/>
                                          </p:val>
                                        </p:tav>
                                      </p:tavLst>
                                    </p:anim>
                                  </p:childTnLst>
                                </p:cTn>
                              </p:par>
                              <p:par>
                                <p:cTn id="134" presetID="10" presetClass="entr" presetSubtype="0" fill="hold" nodeType="withEffect">
                                  <p:stCondLst>
                                    <p:cond delay="0"/>
                                  </p:stCondLst>
                                  <p:childTnLst>
                                    <p:set>
                                      <p:cBhvr>
                                        <p:cTn id="135" dur="1" fill="hold">
                                          <p:stCondLst>
                                            <p:cond delay="0"/>
                                          </p:stCondLst>
                                        </p:cTn>
                                        <p:tgtEl>
                                          <p:spTgt spid="9"/>
                                        </p:tgtEl>
                                        <p:attrNameLst>
                                          <p:attrName>style.visibility</p:attrName>
                                        </p:attrNameLst>
                                      </p:cBhvr>
                                      <p:to>
                                        <p:strVal val="visible"/>
                                      </p:to>
                                    </p:set>
                                    <p:animEffect transition="in" filter="fade">
                                      <p:cBhvr>
                                        <p:cTn id="136" dur="500"/>
                                        <p:tgtEl>
                                          <p:spTgt spid="9"/>
                                        </p:tgtEl>
                                      </p:cBhvr>
                                    </p:animEffect>
                                  </p:childTnLst>
                                </p:cTn>
                              </p:par>
                              <p:par>
                                <p:cTn id="137" presetID="6" presetClass="emph" presetSubtype="0" fill="hold" nodeType="withEffect">
                                  <p:stCondLst>
                                    <p:cond delay="0"/>
                                  </p:stCondLst>
                                  <p:childTnLst>
                                    <p:animScale>
                                      <p:cBhvr>
                                        <p:cTn id="138" dur="10" fill="hold"/>
                                        <p:tgtEl>
                                          <p:spTgt spid="9"/>
                                        </p:tgtEl>
                                      </p:cBhvr>
                                      <p:by x="80000" y="80000"/>
                                    </p:animScale>
                                  </p:childTnLst>
                                </p:cTn>
                              </p:par>
                              <p:par>
                                <p:cTn id="139" presetID="6" presetClass="emph" presetSubtype="0" decel="100000" fill="hold" nodeType="withEffect">
                                  <p:stCondLst>
                                    <p:cond delay="0"/>
                                  </p:stCondLst>
                                  <p:childTnLst>
                                    <p:animScale>
                                      <p:cBhvr>
                                        <p:cTn id="140" dur="1000" fill="hold"/>
                                        <p:tgtEl>
                                          <p:spTgt spid="9"/>
                                        </p:tgtEl>
                                      </p:cBhvr>
                                      <p:by x="125000" y="125000"/>
                                    </p:animScale>
                                  </p:childTnLst>
                                </p:cTn>
                              </p:par>
                              <p:par>
                                <p:cTn id="141" presetID="23" presetClass="entr" presetSubtype="272" fill="hold" nodeType="withEffect">
                                  <p:stCondLst>
                                    <p:cond delay="100"/>
                                  </p:stCondLst>
                                  <p:childTnLst>
                                    <p:set>
                                      <p:cBhvr>
                                        <p:cTn id="142" dur="1" fill="hold">
                                          <p:stCondLst>
                                            <p:cond delay="0"/>
                                          </p:stCondLst>
                                        </p:cTn>
                                        <p:tgtEl>
                                          <p:spTgt spid="24"/>
                                        </p:tgtEl>
                                        <p:attrNameLst>
                                          <p:attrName>style.visibility</p:attrName>
                                        </p:attrNameLst>
                                      </p:cBhvr>
                                      <p:to>
                                        <p:strVal val="visible"/>
                                      </p:to>
                                    </p:set>
                                    <p:anim calcmode="lin" valueType="num">
                                      <p:cBhvr>
                                        <p:cTn id="143" dur="250" fill="hold"/>
                                        <p:tgtEl>
                                          <p:spTgt spid="24"/>
                                        </p:tgtEl>
                                        <p:attrNameLst>
                                          <p:attrName>ppt_w</p:attrName>
                                        </p:attrNameLst>
                                      </p:cBhvr>
                                      <p:tavLst>
                                        <p:tav tm="0">
                                          <p:val>
                                            <p:strVal val="2/3*#ppt_w"/>
                                          </p:val>
                                        </p:tav>
                                        <p:tav tm="100000">
                                          <p:val>
                                            <p:strVal val="#ppt_w"/>
                                          </p:val>
                                        </p:tav>
                                      </p:tavLst>
                                    </p:anim>
                                    <p:anim calcmode="lin" valueType="num">
                                      <p:cBhvr>
                                        <p:cTn id="144" dur="250" fill="hold"/>
                                        <p:tgtEl>
                                          <p:spTgt spid="24"/>
                                        </p:tgtEl>
                                        <p:attrNameLst>
                                          <p:attrName>ppt_h</p:attrName>
                                        </p:attrNameLst>
                                      </p:cBhvr>
                                      <p:tavLst>
                                        <p:tav tm="0">
                                          <p:val>
                                            <p:strVal val="2/3*#ppt_h"/>
                                          </p:val>
                                        </p:tav>
                                        <p:tav tm="100000">
                                          <p:val>
                                            <p:strVal val="#ppt_h"/>
                                          </p:val>
                                        </p:tav>
                                      </p:tavLst>
                                    </p:anim>
                                  </p:childTnLst>
                                </p:cTn>
                              </p:par>
                              <p:par>
                                <p:cTn id="145" presetID="10" presetClass="entr" presetSubtype="0" fill="hold" nodeType="withEffect">
                                  <p:stCondLst>
                                    <p:cond delay="100"/>
                                  </p:stCondLst>
                                  <p:childTnLst>
                                    <p:set>
                                      <p:cBhvr>
                                        <p:cTn id="146" dur="1" fill="hold">
                                          <p:stCondLst>
                                            <p:cond delay="0"/>
                                          </p:stCondLst>
                                        </p:cTn>
                                        <p:tgtEl>
                                          <p:spTgt spid="24"/>
                                        </p:tgtEl>
                                        <p:attrNameLst>
                                          <p:attrName>style.visibility</p:attrName>
                                        </p:attrNameLst>
                                      </p:cBhvr>
                                      <p:to>
                                        <p:strVal val="visible"/>
                                      </p:to>
                                    </p:set>
                                    <p:animEffect transition="in" filter="fade">
                                      <p:cBhvr>
                                        <p:cTn id="147" dur="500"/>
                                        <p:tgtEl>
                                          <p:spTgt spid="24"/>
                                        </p:tgtEl>
                                      </p:cBhvr>
                                    </p:animEffect>
                                  </p:childTnLst>
                                </p:cTn>
                              </p:par>
                              <p:par>
                                <p:cTn id="148" presetID="6" presetClass="emph" presetSubtype="0" fill="hold" nodeType="withEffect">
                                  <p:stCondLst>
                                    <p:cond delay="100"/>
                                  </p:stCondLst>
                                  <p:childTnLst>
                                    <p:animScale>
                                      <p:cBhvr>
                                        <p:cTn id="149" dur="10" fill="hold"/>
                                        <p:tgtEl>
                                          <p:spTgt spid="24"/>
                                        </p:tgtEl>
                                      </p:cBhvr>
                                      <p:by x="80000" y="80000"/>
                                    </p:animScale>
                                  </p:childTnLst>
                                </p:cTn>
                              </p:par>
                              <p:par>
                                <p:cTn id="150" presetID="6" presetClass="emph" presetSubtype="0" decel="100000" fill="hold" nodeType="withEffect">
                                  <p:stCondLst>
                                    <p:cond delay="100"/>
                                  </p:stCondLst>
                                  <p:childTnLst>
                                    <p:animScale>
                                      <p:cBhvr>
                                        <p:cTn id="151" dur="1000" fill="hold"/>
                                        <p:tgtEl>
                                          <p:spTgt spid="24"/>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3" grpId="0"/>
      <p:bldP spid="33" grpId="1"/>
      <p:bldP spid="33" grpId="2"/>
      <p:bldP spid="33" grpId="3"/>
      <p:bldP spid="196" grpId="0" animBg="1"/>
      <p:bldP spid="197" grpId="0"/>
      <p:bldP spid="197" grpId="1"/>
      <p:bldP spid="197" grpId="2"/>
      <p:bldP spid="197" grpId="3"/>
      <p:bldP spid="268" grpId="0" animBg="1"/>
      <p:bldP spid="269" grpId="0"/>
      <p:bldP spid="269" grpId="1"/>
      <p:bldP spid="269" grpId="2"/>
      <p:bldP spid="269" grpId="3"/>
      <p:bldP spid="3" grpId="0" animBg="1"/>
      <p:bldP spid="239" grpId="0"/>
      <p:bldP spid="239" grpId="1"/>
      <p:bldP spid="239" grpId="2"/>
      <p:bldP spid="239" grpId="3"/>
      <p:bldP spid="252" grpId="0" animBg="1"/>
      <p:bldP spid="252" grpId="1" animBg="1"/>
      <p:bldP spid="252" grpId="2" animBg="1"/>
      <p:bldP spid="252" grpId="3" animBg="1"/>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44AD1B-220B-243D-3B4D-47AF1D80CCA8}"/>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5E4AF9D9-D316-9BD8-AA2E-09C4B5B47420}"/>
              </a:ext>
            </a:extLst>
          </p:cNvPr>
          <p:cNvSpPr>
            <a:spLocks noGrp="1"/>
          </p:cNvSpPr>
          <p:nvPr>
            <p:ph type="title"/>
          </p:nvPr>
        </p:nvSpPr>
        <p:spPr/>
        <p:txBody>
          <a:bodyPr>
            <a:normAutofit/>
          </a:bodyPr>
          <a:lstStyle/>
          <a:p>
            <a:r>
              <a:rPr lang="en-GB"/>
              <a:t>Azure AI Inference SDK </a:t>
            </a:r>
            <a:r>
              <a:rPr lang="en-GB" sz="2400"/>
              <a:t>(Preview)</a:t>
            </a:r>
            <a:endParaRPr lang="en-IN" sz="2400"/>
          </a:p>
        </p:txBody>
      </p:sp>
      <p:sp>
        <p:nvSpPr>
          <p:cNvPr id="2" name="Rectangle: Rounded Corners 1">
            <a:extLst>
              <a:ext uri="{FF2B5EF4-FFF2-40B4-BE49-F238E27FC236}">
                <a16:creationId xmlns:a16="http://schemas.microsoft.com/office/drawing/2014/main" id="{DAA88952-C428-4B57-9E84-086114477574}"/>
              </a:ext>
            </a:extLst>
          </p:cNvPr>
          <p:cNvSpPr>
            <a:spLocks/>
          </p:cNvSpPr>
          <p:nvPr/>
        </p:nvSpPr>
        <p:spPr bwMode="auto">
          <a:xfrm>
            <a:off x="805069" y="1290840"/>
            <a:ext cx="10447132" cy="5072911"/>
          </a:xfrm>
          <a:prstGeom prst="roundRect">
            <a:avLst>
              <a:gd name="adj" fmla="val 2665"/>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nvGrpSpPr>
          <p:cNvPr id="3" name="Group 2">
            <a:extLst>
              <a:ext uri="{FF2B5EF4-FFF2-40B4-BE49-F238E27FC236}">
                <a16:creationId xmlns:a16="http://schemas.microsoft.com/office/drawing/2014/main" id="{C1C29D11-48F6-ECF0-3626-6982FE42E4E3}"/>
              </a:ext>
            </a:extLst>
          </p:cNvPr>
          <p:cNvGrpSpPr/>
          <p:nvPr/>
        </p:nvGrpSpPr>
        <p:grpSpPr>
          <a:xfrm>
            <a:off x="879044" y="1359951"/>
            <a:ext cx="10291427" cy="4932680"/>
            <a:chOff x="457404" y="1493520"/>
            <a:chExt cx="10291427" cy="4932680"/>
          </a:xfrm>
        </p:grpSpPr>
        <p:sp>
          <p:nvSpPr>
            <p:cNvPr id="4" name="Rectangle: Rounded Corners 3">
              <a:extLst>
                <a:ext uri="{FF2B5EF4-FFF2-40B4-BE49-F238E27FC236}">
                  <a16:creationId xmlns:a16="http://schemas.microsoft.com/office/drawing/2014/main" id="{6AAB24A7-21B1-5DE3-4651-245120F392D1}"/>
                </a:ext>
              </a:extLst>
            </p:cNvPr>
            <p:cNvSpPr/>
            <p:nvPr/>
          </p:nvSpPr>
          <p:spPr bwMode="auto">
            <a:xfrm>
              <a:off x="459645" y="1493520"/>
              <a:ext cx="10289186" cy="4932680"/>
            </a:xfrm>
            <a:prstGeom prst="roundRect">
              <a:avLst>
                <a:gd name="adj" fmla="val 1628"/>
              </a:avLst>
            </a:prstGeom>
            <a:solidFill>
              <a:srgbClr val="FFFDF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err="1">
                <a:solidFill>
                  <a:srgbClr val="FFFFFF"/>
                </a:solidFill>
                <a:ea typeface="Segoe UI" pitchFamily="34" charset="0"/>
                <a:cs typeface="Segoe Sans Text" pitchFamily="2" charset="0"/>
              </a:endParaRPr>
            </a:p>
          </p:txBody>
        </p:sp>
        <p:pic>
          <p:nvPicPr>
            <p:cNvPr id="9" name="Picture 8" descr="A blue and green wavy lines&#10;&#10;Description automatically generated">
              <a:extLst>
                <a:ext uri="{FF2B5EF4-FFF2-40B4-BE49-F238E27FC236}">
                  <a16:creationId xmlns:a16="http://schemas.microsoft.com/office/drawing/2014/main" id="{DE9BE125-F136-AC23-4D06-6C94261D90BF}"/>
                </a:ext>
              </a:extLst>
            </p:cNvPr>
            <p:cNvPicPr>
              <a:picLocks noChangeAspect="1"/>
            </p:cNvPicPr>
            <p:nvPr/>
          </p:nvPicPr>
          <p:blipFill>
            <a:blip r:embed="rId3" cstate="hqprint">
              <a:extLst>
                <a:ext uri="{28A0092B-C50C-407E-A947-70E740481C1C}">
                  <a14:useLocalDpi xmlns:a14="http://schemas.microsoft.com/office/drawing/2010/main"/>
                </a:ext>
              </a:extLst>
            </a:blip>
            <a:srcRect t="1" r="20873" b="29311"/>
            <a:stretch/>
          </p:blipFill>
          <p:spPr>
            <a:xfrm rot="16200000" flipH="1" flipV="1">
              <a:off x="-207815" y="4284307"/>
              <a:ext cx="2807112" cy="1476674"/>
            </a:xfrm>
            <a:prstGeom prst="roundRect">
              <a:avLst>
                <a:gd name="adj" fmla="val 4567"/>
              </a:avLst>
            </a:prstGeom>
          </p:spPr>
        </p:pic>
      </p:grpSp>
      <p:pic>
        <p:nvPicPr>
          <p:cNvPr id="6" name="Picture 5" descr="screenshot of Azure AI model inference Service">
            <a:extLst>
              <a:ext uri="{FF2B5EF4-FFF2-40B4-BE49-F238E27FC236}">
                <a16:creationId xmlns:a16="http://schemas.microsoft.com/office/drawing/2014/main" id="{DD87C58E-934E-699E-FC1E-C7D80A38DE44}"/>
              </a:ext>
            </a:extLst>
          </p:cNvPr>
          <p:cNvPicPr>
            <a:picLocks noChangeAspect="1"/>
          </p:cNvPicPr>
          <p:nvPr/>
        </p:nvPicPr>
        <p:blipFill>
          <a:blip r:embed="rId4"/>
          <a:srcRect l="1240" t="1359"/>
          <a:stretch/>
        </p:blipFill>
        <p:spPr>
          <a:xfrm>
            <a:off x="952000" y="1419104"/>
            <a:ext cx="10147754" cy="4814374"/>
          </a:xfrm>
          <a:prstGeom prst="roundRect">
            <a:avLst>
              <a:gd name="adj" fmla="val 1874"/>
            </a:avLst>
          </a:prstGeom>
          <a:solidFill>
            <a:srgbClr val="FFFDF9"/>
          </a:solidFill>
          <a:ln>
            <a:noFill/>
            <a:headEnd type="none" w="med" len="med"/>
            <a:tailEnd type="none" w="med" len="med"/>
          </a:ln>
          <a:effectLst/>
        </p:spPr>
      </p:pic>
    </p:spTree>
    <p:extLst>
      <p:ext uri="{BB962C8B-B14F-4D97-AF65-F5344CB8AC3E}">
        <p14:creationId xmlns:p14="http://schemas.microsoft.com/office/powerpoint/2010/main" val="232058823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50" fill="hold"/>
                                        <p:tgtEl>
                                          <p:spTgt spid="3"/>
                                        </p:tgtEl>
                                        <p:attrNameLst>
                                          <p:attrName>ppt_w</p:attrName>
                                        </p:attrNameLst>
                                      </p:cBhvr>
                                      <p:tavLst>
                                        <p:tav tm="0">
                                          <p:val>
                                            <p:strVal val="2/3*#ppt_w"/>
                                          </p:val>
                                        </p:tav>
                                        <p:tav tm="100000">
                                          <p:val>
                                            <p:strVal val="#ppt_w"/>
                                          </p:val>
                                        </p:tav>
                                      </p:tavLst>
                                    </p:anim>
                                    <p:anim calcmode="lin" valueType="num">
                                      <p:cBhvr>
                                        <p:cTn id="8" dur="250" fill="hold"/>
                                        <p:tgtEl>
                                          <p:spTgt spid="3"/>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6" presetClass="emph" presetSubtype="0" fill="hold" nodeType="withEffect">
                                  <p:stCondLst>
                                    <p:cond delay="0"/>
                                  </p:stCondLst>
                                  <p:childTnLst>
                                    <p:animScale>
                                      <p:cBhvr>
                                        <p:cTn id="13" dur="10" fill="hold"/>
                                        <p:tgtEl>
                                          <p:spTgt spid="3"/>
                                        </p:tgtEl>
                                      </p:cBhvr>
                                      <p:by x="80000" y="80000"/>
                                    </p:animScale>
                                  </p:childTnLst>
                                </p:cTn>
                              </p:par>
                              <p:par>
                                <p:cTn id="14" presetID="6" presetClass="emph" presetSubtype="0" decel="100000" fill="hold" nodeType="withEffect">
                                  <p:stCondLst>
                                    <p:cond delay="0"/>
                                  </p:stCondLst>
                                  <p:childTnLst>
                                    <p:animScale>
                                      <p:cBhvr>
                                        <p:cTn id="15" dur="1000" fill="hold"/>
                                        <p:tgtEl>
                                          <p:spTgt spid="3"/>
                                        </p:tgtEl>
                                      </p:cBhvr>
                                      <p:by x="125000" y="125000"/>
                                    </p:animScale>
                                  </p:childTnLst>
                                </p:cTn>
                              </p:par>
                              <p:par>
                                <p:cTn id="16" presetID="23" presetClass="entr" presetSubtype="272" fill="hold" grpId="0" nodeType="withEffect">
                                  <p:stCondLst>
                                    <p:cond delay="250"/>
                                  </p:stCondLst>
                                  <p:childTnLst>
                                    <p:set>
                                      <p:cBhvr>
                                        <p:cTn id="17" dur="1" fill="hold">
                                          <p:stCondLst>
                                            <p:cond delay="0"/>
                                          </p:stCondLst>
                                        </p:cTn>
                                        <p:tgtEl>
                                          <p:spTgt spid="2"/>
                                        </p:tgtEl>
                                        <p:attrNameLst>
                                          <p:attrName>style.visibility</p:attrName>
                                        </p:attrNameLst>
                                      </p:cBhvr>
                                      <p:to>
                                        <p:strVal val="visible"/>
                                      </p:to>
                                    </p:set>
                                    <p:anim calcmode="lin" valueType="num">
                                      <p:cBhvr>
                                        <p:cTn id="18" dur="250" fill="hold"/>
                                        <p:tgtEl>
                                          <p:spTgt spid="2"/>
                                        </p:tgtEl>
                                        <p:attrNameLst>
                                          <p:attrName>ppt_w</p:attrName>
                                        </p:attrNameLst>
                                      </p:cBhvr>
                                      <p:tavLst>
                                        <p:tav tm="0">
                                          <p:val>
                                            <p:strVal val="2/3*#ppt_w"/>
                                          </p:val>
                                        </p:tav>
                                        <p:tav tm="100000">
                                          <p:val>
                                            <p:strVal val="#ppt_w"/>
                                          </p:val>
                                        </p:tav>
                                      </p:tavLst>
                                    </p:anim>
                                    <p:anim calcmode="lin" valueType="num">
                                      <p:cBhvr>
                                        <p:cTn id="19" dur="250" fill="hold"/>
                                        <p:tgtEl>
                                          <p:spTgt spid="2"/>
                                        </p:tgtEl>
                                        <p:attrNameLst>
                                          <p:attrName>ppt_h</p:attrName>
                                        </p:attrNameLst>
                                      </p:cBhvr>
                                      <p:tavLst>
                                        <p:tav tm="0">
                                          <p:val>
                                            <p:strVal val="2/3*#ppt_h"/>
                                          </p:val>
                                        </p:tav>
                                        <p:tav tm="100000">
                                          <p:val>
                                            <p:strVal val="#ppt_h"/>
                                          </p:val>
                                        </p:tav>
                                      </p:tavLst>
                                    </p:anim>
                                  </p:childTnLst>
                                </p:cTn>
                              </p:par>
                              <p:par>
                                <p:cTn id="20" presetID="10" presetClass="entr" presetSubtype="0" fill="hold" grpId="1" nodeType="withEffect">
                                  <p:stCondLst>
                                    <p:cond delay="25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6" presetClass="emph" presetSubtype="0" fill="hold" grpId="2" nodeType="withEffect">
                                  <p:stCondLst>
                                    <p:cond delay="250"/>
                                  </p:stCondLst>
                                  <p:childTnLst>
                                    <p:animScale>
                                      <p:cBhvr>
                                        <p:cTn id="24" dur="10" fill="hold"/>
                                        <p:tgtEl>
                                          <p:spTgt spid="2"/>
                                        </p:tgtEl>
                                      </p:cBhvr>
                                      <p:by x="80000" y="80000"/>
                                    </p:animScale>
                                  </p:childTnLst>
                                </p:cTn>
                              </p:par>
                              <p:par>
                                <p:cTn id="25" presetID="6" presetClass="emph" presetSubtype="0" decel="100000" fill="hold" grpId="3" nodeType="withEffect">
                                  <p:stCondLst>
                                    <p:cond delay="250"/>
                                  </p:stCondLst>
                                  <p:childTnLst>
                                    <p:animScale>
                                      <p:cBhvr>
                                        <p:cTn id="26" dur="1000" fill="hold"/>
                                        <p:tgtEl>
                                          <p:spTgt spid="2"/>
                                        </p:tgtEl>
                                      </p:cBhvr>
                                      <p:by x="125000" y="125000"/>
                                    </p:animScale>
                                  </p:childTnLst>
                                </p:cTn>
                              </p:par>
                              <p:par>
                                <p:cTn id="27" presetID="10" presetClass="entr" presetSubtype="0" fill="hold" nodeType="withEffect">
                                  <p:stCondLst>
                                    <p:cond delay="90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7884-DA29-6484-2F27-FC6D0E6E143D}"/>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B8A05699-2CF2-D26F-D9C8-F6A717FC1D4B}"/>
              </a:ext>
            </a:extLst>
          </p:cNvPr>
          <p:cNvSpPr>
            <a:spLocks noGrp="1"/>
          </p:cNvSpPr>
          <p:nvPr>
            <p:ph type="title"/>
          </p:nvPr>
        </p:nvSpPr>
        <p:spPr/>
        <p:txBody>
          <a:bodyPr>
            <a:normAutofit/>
          </a:bodyPr>
          <a:lstStyle/>
          <a:p>
            <a:r>
              <a:rPr lang="en-GB"/>
              <a:t>VS Code Integration on AI Foundry </a:t>
            </a:r>
            <a:r>
              <a:rPr lang="en-GB" sz="2400"/>
              <a:t>(Preview)</a:t>
            </a:r>
            <a:endParaRPr lang="en-IN" sz="2400"/>
          </a:p>
        </p:txBody>
      </p:sp>
      <p:sp>
        <p:nvSpPr>
          <p:cNvPr id="2" name="Rectangle: Rounded Corners 1">
            <a:extLst>
              <a:ext uri="{FF2B5EF4-FFF2-40B4-BE49-F238E27FC236}">
                <a16:creationId xmlns:a16="http://schemas.microsoft.com/office/drawing/2014/main" id="{4EB350ED-2AF4-98F1-7E80-12FFC8480F2A}"/>
              </a:ext>
            </a:extLst>
          </p:cNvPr>
          <p:cNvSpPr>
            <a:spLocks/>
          </p:cNvSpPr>
          <p:nvPr/>
        </p:nvSpPr>
        <p:spPr bwMode="auto">
          <a:xfrm>
            <a:off x="805069" y="1290840"/>
            <a:ext cx="10447132" cy="5072911"/>
          </a:xfrm>
          <a:prstGeom prst="roundRect">
            <a:avLst>
              <a:gd name="adj" fmla="val 2665"/>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nvGrpSpPr>
          <p:cNvPr id="3" name="Group 2">
            <a:extLst>
              <a:ext uri="{FF2B5EF4-FFF2-40B4-BE49-F238E27FC236}">
                <a16:creationId xmlns:a16="http://schemas.microsoft.com/office/drawing/2014/main" id="{6869C95A-4A2C-EAF0-E298-D7E63969A8D9}"/>
              </a:ext>
            </a:extLst>
          </p:cNvPr>
          <p:cNvGrpSpPr/>
          <p:nvPr/>
        </p:nvGrpSpPr>
        <p:grpSpPr>
          <a:xfrm>
            <a:off x="879044" y="1359951"/>
            <a:ext cx="10291427" cy="4932680"/>
            <a:chOff x="457404" y="1493520"/>
            <a:chExt cx="10291427" cy="4932680"/>
          </a:xfrm>
        </p:grpSpPr>
        <p:sp>
          <p:nvSpPr>
            <p:cNvPr id="4" name="Rectangle: Rounded Corners 3">
              <a:extLst>
                <a:ext uri="{FF2B5EF4-FFF2-40B4-BE49-F238E27FC236}">
                  <a16:creationId xmlns:a16="http://schemas.microsoft.com/office/drawing/2014/main" id="{6FF6D551-C207-9109-D961-0151A1A01A09}"/>
                </a:ext>
              </a:extLst>
            </p:cNvPr>
            <p:cNvSpPr/>
            <p:nvPr/>
          </p:nvSpPr>
          <p:spPr bwMode="auto">
            <a:xfrm>
              <a:off x="459645" y="1493520"/>
              <a:ext cx="10289186" cy="4932680"/>
            </a:xfrm>
            <a:prstGeom prst="roundRect">
              <a:avLst>
                <a:gd name="adj" fmla="val 1628"/>
              </a:avLst>
            </a:prstGeom>
            <a:solidFill>
              <a:srgbClr val="FFFDF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err="1">
                <a:solidFill>
                  <a:srgbClr val="FFFFFF"/>
                </a:solidFill>
                <a:ea typeface="Segoe UI" pitchFamily="34" charset="0"/>
                <a:cs typeface="Segoe Sans Text" pitchFamily="2" charset="0"/>
              </a:endParaRPr>
            </a:p>
          </p:txBody>
        </p:sp>
        <p:pic>
          <p:nvPicPr>
            <p:cNvPr id="5" name="Picture 4" descr="A blue and green wavy lines&#10;&#10;Description automatically generated">
              <a:extLst>
                <a:ext uri="{FF2B5EF4-FFF2-40B4-BE49-F238E27FC236}">
                  <a16:creationId xmlns:a16="http://schemas.microsoft.com/office/drawing/2014/main" id="{1B037A56-19B1-976B-898C-E26919D5CAC4}"/>
                </a:ext>
              </a:extLst>
            </p:cNvPr>
            <p:cNvPicPr>
              <a:picLocks noChangeAspect="1"/>
            </p:cNvPicPr>
            <p:nvPr/>
          </p:nvPicPr>
          <p:blipFill>
            <a:blip r:embed="rId3" cstate="hqprint">
              <a:extLst>
                <a:ext uri="{28A0092B-C50C-407E-A947-70E740481C1C}">
                  <a14:useLocalDpi xmlns:a14="http://schemas.microsoft.com/office/drawing/2010/main"/>
                </a:ext>
              </a:extLst>
            </a:blip>
            <a:srcRect t="1" r="20873" b="29311"/>
            <a:stretch/>
          </p:blipFill>
          <p:spPr>
            <a:xfrm rot="16200000">
              <a:off x="8606937" y="2158739"/>
              <a:ext cx="2807112" cy="1476674"/>
            </a:xfrm>
            <a:prstGeom prst="roundRect">
              <a:avLst>
                <a:gd name="adj" fmla="val 4567"/>
              </a:avLst>
            </a:prstGeom>
          </p:spPr>
        </p:pic>
        <p:pic>
          <p:nvPicPr>
            <p:cNvPr id="9" name="Picture 8" descr="A blue and green wavy lines&#10;&#10;Description automatically generated">
              <a:extLst>
                <a:ext uri="{FF2B5EF4-FFF2-40B4-BE49-F238E27FC236}">
                  <a16:creationId xmlns:a16="http://schemas.microsoft.com/office/drawing/2014/main" id="{A1363F00-7D43-568C-91B5-B450278C59A0}"/>
                </a:ext>
              </a:extLst>
            </p:cNvPr>
            <p:cNvPicPr>
              <a:picLocks noChangeAspect="1"/>
            </p:cNvPicPr>
            <p:nvPr/>
          </p:nvPicPr>
          <p:blipFill>
            <a:blip r:embed="rId3" cstate="hqprint">
              <a:extLst>
                <a:ext uri="{28A0092B-C50C-407E-A947-70E740481C1C}">
                  <a14:useLocalDpi xmlns:a14="http://schemas.microsoft.com/office/drawing/2010/main"/>
                </a:ext>
              </a:extLst>
            </a:blip>
            <a:srcRect t="1" r="20873" b="29311"/>
            <a:stretch/>
          </p:blipFill>
          <p:spPr>
            <a:xfrm rot="16200000" flipH="1" flipV="1">
              <a:off x="-207815" y="4284307"/>
              <a:ext cx="2807112" cy="1476674"/>
            </a:xfrm>
            <a:prstGeom prst="roundRect">
              <a:avLst>
                <a:gd name="adj" fmla="val 4567"/>
              </a:avLst>
            </a:prstGeom>
          </p:spPr>
        </p:pic>
      </p:grpSp>
      <p:pic>
        <p:nvPicPr>
          <p:cNvPr id="7" name="Picture 6">
            <a:extLst>
              <a:ext uri="{FF2B5EF4-FFF2-40B4-BE49-F238E27FC236}">
                <a16:creationId xmlns:a16="http://schemas.microsoft.com/office/drawing/2014/main" id="{2A73CE50-A23E-B02C-CE0A-1381630855F2}"/>
              </a:ext>
            </a:extLst>
          </p:cNvPr>
          <p:cNvPicPr>
            <a:picLocks noChangeAspect="1"/>
          </p:cNvPicPr>
          <p:nvPr/>
        </p:nvPicPr>
        <p:blipFill>
          <a:blip r:embed="rId4"/>
          <a:stretch>
            <a:fillRect/>
          </a:stretch>
        </p:blipFill>
        <p:spPr>
          <a:xfrm>
            <a:off x="889140" y="1365581"/>
            <a:ext cx="10346361" cy="5025115"/>
          </a:xfrm>
          <a:prstGeom prst="rect">
            <a:avLst/>
          </a:prstGeom>
        </p:spPr>
      </p:pic>
    </p:spTree>
    <p:extLst>
      <p:ext uri="{BB962C8B-B14F-4D97-AF65-F5344CB8AC3E}">
        <p14:creationId xmlns:p14="http://schemas.microsoft.com/office/powerpoint/2010/main" val="28158203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50" fill="hold"/>
                                        <p:tgtEl>
                                          <p:spTgt spid="3"/>
                                        </p:tgtEl>
                                        <p:attrNameLst>
                                          <p:attrName>ppt_w</p:attrName>
                                        </p:attrNameLst>
                                      </p:cBhvr>
                                      <p:tavLst>
                                        <p:tav tm="0">
                                          <p:val>
                                            <p:strVal val="2/3*#ppt_w"/>
                                          </p:val>
                                        </p:tav>
                                        <p:tav tm="100000">
                                          <p:val>
                                            <p:strVal val="#ppt_w"/>
                                          </p:val>
                                        </p:tav>
                                      </p:tavLst>
                                    </p:anim>
                                    <p:anim calcmode="lin" valueType="num">
                                      <p:cBhvr>
                                        <p:cTn id="8" dur="250" fill="hold"/>
                                        <p:tgtEl>
                                          <p:spTgt spid="3"/>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6" presetClass="emph" presetSubtype="0" fill="hold" nodeType="withEffect">
                                  <p:stCondLst>
                                    <p:cond delay="0"/>
                                  </p:stCondLst>
                                  <p:childTnLst>
                                    <p:animScale>
                                      <p:cBhvr>
                                        <p:cTn id="13" dur="10" fill="hold"/>
                                        <p:tgtEl>
                                          <p:spTgt spid="3"/>
                                        </p:tgtEl>
                                      </p:cBhvr>
                                      <p:by x="80000" y="80000"/>
                                    </p:animScale>
                                  </p:childTnLst>
                                </p:cTn>
                              </p:par>
                              <p:par>
                                <p:cTn id="14" presetID="6" presetClass="emph" presetSubtype="0" decel="100000" fill="hold" nodeType="withEffect">
                                  <p:stCondLst>
                                    <p:cond delay="0"/>
                                  </p:stCondLst>
                                  <p:childTnLst>
                                    <p:animScale>
                                      <p:cBhvr>
                                        <p:cTn id="15" dur="1000" fill="hold"/>
                                        <p:tgtEl>
                                          <p:spTgt spid="3"/>
                                        </p:tgtEl>
                                      </p:cBhvr>
                                      <p:by x="125000" y="125000"/>
                                    </p:animScale>
                                  </p:childTnLst>
                                </p:cTn>
                              </p:par>
                              <p:par>
                                <p:cTn id="16" presetID="23" presetClass="entr" presetSubtype="272" fill="hold" grpId="0" nodeType="withEffect">
                                  <p:stCondLst>
                                    <p:cond delay="250"/>
                                  </p:stCondLst>
                                  <p:childTnLst>
                                    <p:set>
                                      <p:cBhvr>
                                        <p:cTn id="17" dur="1" fill="hold">
                                          <p:stCondLst>
                                            <p:cond delay="0"/>
                                          </p:stCondLst>
                                        </p:cTn>
                                        <p:tgtEl>
                                          <p:spTgt spid="2"/>
                                        </p:tgtEl>
                                        <p:attrNameLst>
                                          <p:attrName>style.visibility</p:attrName>
                                        </p:attrNameLst>
                                      </p:cBhvr>
                                      <p:to>
                                        <p:strVal val="visible"/>
                                      </p:to>
                                    </p:set>
                                    <p:anim calcmode="lin" valueType="num">
                                      <p:cBhvr>
                                        <p:cTn id="18" dur="250" fill="hold"/>
                                        <p:tgtEl>
                                          <p:spTgt spid="2"/>
                                        </p:tgtEl>
                                        <p:attrNameLst>
                                          <p:attrName>ppt_w</p:attrName>
                                        </p:attrNameLst>
                                      </p:cBhvr>
                                      <p:tavLst>
                                        <p:tav tm="0">
                                          <p:val>
                                            <p:strVal val="2/3*#ppt_w"/>
                                          </p:val>
                                        </p:tav>
                                        <p:tav tm="100000">
                                          <p:val>
                                            <p:strVal val="#ppt_w"/>
                                          </p:val>
                                        </p:tav>
                                      </p:tavLst>
                                    </p:anim>
                                    <p:anim calcmode="lin" valueType="num">
                                      <p:cBhvr>
                                        <p:cTn id="19" dur="250" fill="hold"/>
                                        <p:tgtEl>
                                          <p:spTgt spid="2"/>
                                        </p:tgtEl>
                                        <p:attrNameLst>
                                          <p:attrName>ppt_h</p:attrName>
                                        </p:attrNameLst>
                                      </p:cBhvr>
                                      <p:tavLst>
                                        <p:tav tm="0">
                                          <p:val>
                                            <p:strVal val="2/3*#ppt_h"/>
                                          </p:val>
                                        </p:tav>
                                        <p:tav tm="100000">
                                          <p:val>
                                            <p:strVal val="#ppt_h"/>
                                          </p:val>
                                        </p:tav>
                                      </p:tavLst>
                                    </p:anim>
                                  </p:childTnLst>
                                </p:cTn>
                              </p:par>
                              <p:par>
                                <p:cTn id="20" presetID="10" presetClass="entr" presetSubtype="0" fill="hold" grpId="1" nodeType="withEffect">
                                  <p:stCondLst>
                                    <p:cond delay="25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6" presetClass="emph" presetSubtype="0" fill="hold" grpId="2" nodeType="withEffect">
                                  <p:stCondLst>
                                    <p:cond delay="250"/>
                                  </p:stCondLst>
                                  <p:childTnLst>
                                    <p:animScale>
                                      <p:cBhvr>
                                        <p:cTn id="24" dur="10" fill="hold"/>
                                        <p:tgtEl>
                                          <p:spTgt spid="2"/>
                                        </p:tgtEl>
                                      </p:cBhvr>
                                      <p:by x="80000" y="80000"/>
                                    </p:animScale>
                                  </p:childTnLst>
                                </p:cTn>
                              </p:par>
                              <p:par>
                                <p:cTn id="25" presetID="6" presetClass="emph" presetSubtype="0" decel="100000" fill="hold" grpId="3" nodeType="withEffect">
                                  <p:stCondLst>
                                    <p:cond delay="250"/>
                                  </p:stCondLst>
                                  <p:childTnLst>
                                    <p:animScale>
                                      <p:cBhvr>
                                        <p:cTn id="26" dur="1000" fill="hold"/>
                                        <p:tgtEl>
                                          <p:spTgt spid="2"/>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486DDD14-7F1F-989F-6E7A-BD3A1F160774}"/>
              </a:ext>
            </a:extLst>
          </p:cNvPr>
          <p:cNvSpPr>
            <a:spLocks/>
          </p:cNvSpPr>
          <p:nvPr/>
        </p:nvSpPr>
        <p:spPr bwMode="auto">
          <a:xfrm>
            <a:off x="3955622" y="2037080"/>
            <a:ext cx="7779806" cy="3994605"/>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3" name="Title 2">
            <a:extLst>
              <a:ext uri="{FF2B5EF4-FFF2-40B4-BE49-F238E27FC236}">
                <a16:creationId xmlns:a16="http://schemas.microsoft.com/office/drawing/2014/main" id="{CC9C243D-F9EC-DF27-96F2-1EFEEB83CA5E}"/>
              </a:ext>
            </a:extLst>
          </p:cNvPr>
          <p:cNvSpPr>
            <a:spLocks noGrp="1"/>
          </p:cNvSpPr>
          <p:nvPr>
            <p:ph type="title"/>
          </p:nvPr>
        </p:nvSpPr>
        <p:spPr/>
        <p:txBody>
          <a:bodyPr/>
          <a:lstStyle/>
          <a:p>
            <a:r>
              <a:rPr lang="en-US">
                <a:solidFill>
                  <a:schemeClr val="bg1"/>
                </a:solidFill>
              </a:rPr>
              <a:t>Azure OpenAI Stored Completions </a:t>
            </a:r>
            <a:br>
              <a:rPr lang="en-US">
                <a:solidFill>
                  <a:schemeClr val="bg1"/>
                </a:solidFill>
              </a:rPr>
            </a:br>
            <a:r>
              <a:rPr lang="en-US">
                <a:solidFill>
                  <a:schemeClr val="bg1"/>
                </a:solidFill>
              </a:rPr>
              <a:t>&amp; Distillation </a:t>
            </a:r>
            <a:r>
              <a:rPr lang="en-US" sz="2400">
                <a:solidFill>
                  <a:schemeClr val="bg1"/>
                </a:solidFill>
              </a:rPr>
              <a:t>(Preview</a:t>
            </a:r>
            <a:r>
              <a:rPr lang="en-US" sz="2400" b="1" i="0">
                <a:solidFill>
                  <a:schemeClr val="bg1"/>
                </a:solidFill>
                <a:effectLst/>
                <a:latin typeface="Segoe Sans Text" pitchFamily="2" charset="0"/>
              </a:rPr>
              <a:t>)</a:t>
            </a:r>
            <a:endParaRPr lang="en-AU" sz="2400">
              <a:solidFill>
                <a:schemeClr val="bg1"/>
              </a:solidFill>
            </a:endParaRPr>
          </a:p>
        </p:txBody>
      </p:sp>
      <p:sp>
        <p:nvSpPr>
          <p:cNvPr id="24" name="Text Placeholder 10">
            <a:extLst>
              <a:ext uri="{FF2B5EF4-FFF2-40B4-BE49-F238E27FC236}">
                <a16:creationId xmlns:a16="http://schemas.microsoft.com/office/drawing/2014/main" id="{D799CF81-6D39-2C25-6AC2-811F7B582E1F}"/>
              </a:ext>
            </a:extLst>
          </p:cNvPr>
          <p:cNvSpPr txBox="1">
            <a:spLocks/>
          </p:cNvSpPr>
          <p:nvPr/>
        </p:nvSpPr>
        <p:spPr>
          <a:xfrm>
            <a:off x="561391" y="3267167"/>
            <a:ext cx="3294329" cy="1846659"/>
          </a:xfrm>
          <a:prstGeom prst="rect">
            <a:avLst/>
          </a:prstGeom>
        </p:spPr>
        <p:txBody>
          <a:bodyPr vert="horz" wrap="square" lIns="0" tIns="0" rIns="0" bIns="0" rtlCol="0" anchor="ctr" anchorCtr="0">
            <a:spAutoFit/>
          </a:bodyPr>
          <a:lstStyle>
            <a:defPPr>
              <a:defRPr lang="en-US"/>
            </a:defPPr>
            <a:lvl1pPr marL="12700" marR="0" indent="0" defTabSz="932742" fontAlgn="auto">
              <a:lnSpc>
                <a:spcPct val="100000"/>
              </a:lnSpc>
              <a:spcBef>
                <a:spcPct val="20000"/>
              </a:spcBef>
              <a:spcAft>
                <a:spcPts val="0"/>
              </a:spcAft>
              <a:buClrTx/>
              <a:buSzPct val="90000"/>
              <a:buFont typeface="Wingdings" panose="05000000000000000000" pitchFamily="2" charset="2"/>
              <a:buNone/>
              <a:tabLst/>
              <a:defRPr sz="2800" spc="0" baseline="0">
                <a:solidFill>
                  <a:srgbClr val="49C5B1"/>
                </a:solidFill>
                <a:latin typeface="+mj-lt"/>
                <a:cs typeface="Segoe UI" panose="020B0502040204020203" pitchFamily="34" charset="0"/>
              </a:defRPr>
            </a:lvl1pPr>
            <a:lvl2pPr marL="12700" marR="0" indent="0" algn="ctr" defTabSz="932742" fontAlgn="auto">
              <a:lnSpc>
                <a:spcPct val="100000"/>
              </a:lnSpc>
              <a:spcBef>
                <a:spcPct val="20000"/>
              </a:spcBef>
              <a:spcAft>
                <a:spcPts val="0"/>
              </a:spcAft>
              <a:buClrTx/>
              <a:buSzPct val="90000"/>
              <a:buFont typeface="Wingdings" panose="05000000000000000000" pitchFamily="2" charset="2"/>
              <a:buNone/>
              <a:tabLst/>
              <a:defRPr sz="2800" spc="0" baseline="0">
                <a:latin typeface="+mj-lt"/>
              </a:defRPr>
            </a:lvl2pPr>
            <a:lvl3pPr marL="12700" marR="0" indent="0" algn="ctr" defTabSz="932742" fontAlgn="auto">
              <a:lnSpc>
                <a:spcPct val="100000"/>
              </a:lnSpc>
              <a:spcBef>
                <a:spcPct val="20000"/>
              </a:spcBef>
              <a:spcAft>
                <a:spcPts val="0"/>
              </a:spcAft>
              <a:buClrTx/>
              <a:buSzPct val="90000"/>
              <a:buFont typeface="Wingdings" panose="05000000000000000000" pitchFamily="2" charset="2"/>
              <a:buNone/>
              <a:tabLst/>
              <a:defRPr sz="2800" spc="0" baseline="0">
                <a:latin typeface="+mj-lt"/>
              </a:defRPr>
            </a:lvl3pPr>
            <a:lvl4pPr marL="12700" marR="0" indent="0" algn="ctr" defTabSz="932742" fontAlgn="auto">
              <a:lnSpc>
                <a:spcPct val="100000"/>
              </a:lnSpc>
              <a:spcBef>
                <a:spcPct val="20000"/>
              </a:spcBef>
              <a:spcAft>
                <a:spcPts val="0"/>
              </a:spcAft>
              <a:buClrTx/>
              <a:buSzPct val="90000"/>
              <a:buFont typeface="Wingdings" panose="05000000000000000000" pitchFamily="2" charset="2"/>
              <a:buNone/>
              <a:tabLst/>
              <a:defRPr sz="2800" spc="0" baseline="0">
                <a:latin typeface="+mj-lt"/>
              </a:defRPr>
            </a:lvl4pPr>
            <a:lvl5pPr marL="12700" marR="0" indent="0" algn="ctr" defTabSz="932742" fontAlgn="auto">
              <a:lnSpc>
                <a:spcPct val="100000"/>
              </a:lnSpc>
              <a:spcBef>
                <a:spcPct val="20000"/>
              </a:spcBef>
              <a:spcAft>
                <a:spcPts val="0"/>
              </a:spcAft>
              <a:buClrTx/>
              <a:buSzPct val="90000"/>
              <a:buFont typeface="Wingdings" panose="05000000000000000000" pitchFamily="2" charset="2"/>
              <a:buNone/>
              <a:tabLst/>
              <a:defRPr sz="2800" spc="0" baseline="0">
                <a:latin typeface="+mj-lt"/>
              </a:defRPr>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a:defRPr/>
            </a:pPr>
            <a:r>
              <a:rPr lang="en-US" sz="2000">
                <a:solidFill>
                  <a:srgbClr val="FFFFFF"/>
                </a:solidFill>
                <a:cs typeface="Segoe Sans Text" pitchFamily="2" charset="0"/>
              </a:rPr>
              <a:t>Stored completions allow you to capture the conversation history from chat completions  sessions to use as datasets for </a:t>
            </a:r>
            <a:r>
              <a:rPr lang="en-US" sz="2000">
                <a:solidFill>
                  <a:srgbClr val="FFFFFF"/>
                </a:solidFill>
                <a:cs typeface="Segoe Sans Text" pitchFamily="2" charset="0"/>
                <a:hlinkClick r:id="rId3">
                  <a:extLst>
                    <a:ext uri="{A12FA001-AC4F-418D-AE19-62706E023703}">
                      <ahyp:hlinkClr xmlns:ahyp="http://schemas.microsoft.com/office/drawing/2018/hyperlinkcolor" val="tx"/>
                    </a:ext>
                  </a:extLst>
                </a:hlinkClick>
              </a:rPr>
              <a:t>evaluations</a:t>
            </a:r>
            <a:r>
              <a:rPr lang="en-US" sz="2000">
                <a:solidFill>
                  <a:srgbClr val="FFFFFF"/>
                </a:solidFill>
                <a:cs typeface="Segoe Sans Text" pitchFamily="2" charset="0"/>
              </a:rPr>
              <a:t> and </a:t>
            </a:r>
            <a:r>
              <a:rPr lang="en-US" sz="2000">
                <a:solidFill>
                  <a:srgbClr val="FFFFFF"/>
                </a:solidFill>
                <a:cs typeface="Segoe Sans Text" pitchFamily="2" charset="0"/>
                <a:hlinkClick r:id="rId4">
                  <a:extLst>
                    <a:ext uri="{A12FA001-AC4F-418D-AE19-62706E023703}">
                      <ahyp:hlinkClr xmlns:ahyp="http://schemas.microsoft.com/office/drawing/2018/hyperlinkcolor" val="tx"/>
                    </a:ext>
                  </a:extLst>
                </a:hlinkClick>
              </a:rPr>
              <a:t>fine-tuning</a:t>
            </a:r>
            <a:r>
              <a:rPr lang="en-US" sz="2000">
                <a:solidFill>
                  <a:srgbClr val="FFFFFF"/>
                </a:solidFill>
                <a:cs typeface="Segoe Sans Text" pitchFamily="2" charset="0"/>
              </a:rPr>
              <a:t>.</a:t>
            </a:r>
            <a:endParaRPr lang="en-GB" sz="2000">
              <a:solidFill>
                <a:srgbClr val="FFFFFF"/>
              </a:solidFill>
              <a:cs typeface="Segoe Sans Text" pitchFamily="2" charset="0"/>
            </a:endParaRPr>
          </a:p>
        </p:txBody>
      </p:sp>
      <p:sp>
        <p:nvSpPr>
          <p:cNvPr id="29" name="Rounded Rectangle 5">
            <a:extLst>
              <a:ext uri="{FF2B5EF4-FFF2-40B4-BE49-F238E27FC236}">
                <a16:creationId xmlns:a16="http://schemas.microsoft.com/office/drawing/2014/main" id="{98053237-E46E-BA09-CDE7-95003BB97F51}"/>
              </a:ext>
              <a:ext uri="{C183D7F6-B498-43B3-948B-1728B52AA6E4}">
                <adec:decorative xmlns:adec="http://schemas.microsoft.com/office/drawing/2017/decorative" val="1"/>
              </a:ext>
            </a:extLst>
          </p:cNvPr>
          <p:cNvSpPr/>
          <p:nvPr/>
        </p:nvSpPr>
        <p:spPr bwMode="auto">
          <a:xfrm flipH="1">
            <a:off x="4060441" y="2141547"/>
            <a:ext cx="7570168" cy="3786954"/>
          </a:xfrm>
          <a:prstGeom prst="roundRect">
            <a:avLst>
              <a:gd name="adj" fmla="val 2657"/>
            </a:avLst>
          </a:prstGeom>
          <a:solidFill>
            <a:schemeClr val="bg1"/>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pic>
        <p:nvPicPr>
          <p:cNvPr id="2" name="Picture 2" descr="Screenshot of the stored completions User Experience.">
            <a:extLst>
              <a:ext uri="{FF2B5EF4-FFF2-40B4-BE49-F238E27FC236}">
                <a16:creationId xmlns:a16="http://schemas.microsoft.com/office/drawing/2014/main" id="{AAB95558-1AC4-61C1-BE80-C650CB8A3E3A}"/>
              </a:ext>
            </a:extLst>
          </p:cNvPr>
          <p:cNvPicPr>
            <a:picLocks noChangeAspect="1" noChangeArrowheads="1"/>
          </p:cNvPicPr>
          <p:nvPr/>
        </p:nvPicPr>
        <p:blipFill rotWithShape="1">
          <a:blip r:embed="rId5">
            <a:extLst>
              <a:ext uri="{28A0092B-C50C-407E-A947-70E740481C1C}">
                <a14:useLocalDpi xmlns:a14="http://schemas.microsoft.com/office/drawing/2010/main"/>
              </a:ext>
            </a:extLst>
          </a:blip>
          <a:srcRect b="2439"/>
          <a:stretch/>
        </p:blipFill>
        <p:spPr bwMode="auto">
          <a:xfrm>
            <a:off x="4237957" y="2377750"/>
            <a:ext cx="7222560" cy="3330492"/>
          </a:xfrm>
          <a:prstGeom prst="roundRect">
            <a:avLst>
              <a:gd name="adj" fmla="val 2150"/>
            </a:avLst>
          </a:prstGeom>
          <a:noFill/>
          <a:extLst>
            <a:ext uri="{909E8E84-426E-40DD-AFC4-6F175D3DCCD1}">
              <a14:hiddenFill xmlns:a14="http://schemas.microsoft.com/office/drawing/2010/main">
                <a:solidFill>
                  <a:srgbClr val="FFFFFF"/>
                </a:solidFill>
              </a14:hiddenFill>
            </a:ext>
          </a:extLst>
        </p:spPr>
      </p:pic>
      <p:sp>
        <p:nvSpPr>
          <p:cNvPr id="5" name="Rounded Rectangle 5">
            <a:extLst>
              <a:ext uri="{FF2B5EF4-FFF2-40B4-BE49-F238E27FC236}">
                <a16:creationId xmlns:a16="http://schemas.microsoft.com/office/drawing/2014/main" id="{F0D2AD4A-B752-7D99-51CA-35BF2624BD46}"/>
              </a:ext>
              <a:ext uri="{C183D7F6-B498-43B3-948B-1728B52AA6E4}">
                <adec:decorative xmlns:adec="http://schemas.microsoft.com/office/drawing/2017/decorative" val="1"/>
              </a:ext>
            </a:extLst>
          </p:cNvPr>
          <p:cNvSpPr/>
          <p:nvPr/>
        </p:nvSpPr>
        <p:spPr bwMode="auto">
          <a:xfrm flipH="1">
            <a:off x="8307015" y="1364795"/>
            <a:ext cx="3475547" cy="1724844"/>
          </a:xfrm>
          <a:prstGeom prst="roundRect">
            <a:avLst>
              <a:gd name="adj" fmla="val 2657"/>
            </a:avLst>
          </a:prstGeom>
          <a:solidFill>
            <a:schemeClr val="bg1"/>
          </a:soli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Sans Text" pitchFamily="2" charset="0"/>
            </a:endParaRPr>
          </a:p>
        </p:txBody>
      </p:sp>
      <p:pic>
        <p:nvPicPr>
          <p:cNvPr id="4" name="Picture 3">
            <a:extLst>
              <a:ext uri="{FF2B5EF4-FFF2-40B4-BE49-F238E27FC236}">
                <a16:creationId xmlns:a16="http://schemas.microsoft.com/office/drawing/2014/main" id="{4EE8F28A-5C10-AB21-21D6-E978232C22E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8366530" y="1427269"/>
            <a:ext cx="3356517" cy="1599896"/>
          </a:xfrm>
          <a:prstGeom prst="roundRect">
            <a:avLst>
              <a:gd name="adj" fmla="val 3649"/>
            </a:avLst>
          </a:prstGeom>
        </p:spPr>
      </p:pic>
    </p:spTree>
    <p:extLst>
      <p:ext uri="{BB962C8B-B14F-4D97-AF65-F5344CB8AC3E}">
        <p14:creationId xmlns:p14="http://schemas.microsoft.com/office/powerpoint/2010/main" val="332302637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600"/>
                                  </p:stCondLst>
                                  <p:childTnLst>
                                    <p:set>
                                      <p:cBhvr>
                                        <p:cTn id="6" dur="1" fill="hold">
                                          <p:stCondLst>
                                            <p:cond delay="0"/>
                                          </p:stCondLst>
                                        </p:cTn>
                                        <p:tgtEl>
                                          <p:spTgt spid="24"/>
                                        </p:tgtEl>
                                        <p:attrNameLst>
                                          <p:attrName>style.visibility</p:attrName>
                                        </p:attrNameLst>
                                      </p:cBhvr>
                                      <p:to>
                                        <p:strVal val="visible"/>
                                      </p:to>
                                    </p:set>
                                    <p:anim calcmode="lin" valueType="num">
                                      <p:cBhvr>
                                        <p:cTn id="7" dur="250" fill="hold"/>
                                        <p:tgtEl>
                                          <p:spTgt spid="24"/>
                                        </p:tgtEl>
                                        <p:attrNameLst>
                                          <p:attrName>ppt_w</p:attrName>
                                        </p:attrNameLst>
                                      </p:cBhvr>
                                      <p:tavLst>
                                        <p:tav tm="0">
                                          <p:val>
                                            <p:strVal val="2/3*#ppt_w"/>
                                          </p:val>
                                        </p:tav>
                                        <p:tav tm="100000">
                                          <p:val>
                                            <p:strVal val="#ppt_w"/>
                                          </p:val>
                                        </p:tav>
                                      </p:tavLst>
                                    </p:anim>
                                    <p:anim calcmode="lin" valueType="num">
                                      <p:cBhvr>
                                        <p:cTn id="8" dur="250" fill="hold"/>
                                        <p:tgtEl>
                                          <p:spTgt spid="24"/>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60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2" presetID="6" presetClass="emph" presetSubtype="0" fill="hold" grpId="2" nodeType="withEffect">
                                  <p:stCondLst>
                                    <p:cond delay="600"/>
                                  </p:stCondLst>
                                  <p:childTnLst>
                                    <p:animScale>
                                      <p:cBhvr>
                                        <p:cTn id="13" dur="10" fill="hold"/>
                                        <p:tgtEl>
                                          <p:spTgt spid="24"/>
                                        </p:tgtEl>
                                      </p:cBhvr>
                                      <p:by x="80000" y="80000"/>
                                    </p:animScale>
                                  </p:childTnLst>
                                </p:cTn>
                              </p:par>
                              <p:par>
                                <p:cTn id="14" presetID="6" presetClass="emph" presetSubtype="0" decel="100000" fill="hold" grpId="3" nodeType="withEffect">
                                  <p:stCondLst>
                                    <p:cond delay="600"/>
                                  </p:stCondLst>
                                  <p:childTnLst>
                                    <p:animScale>
                                      <p:cBhvr>
                                        <p:cTn id="15" dur="1000" fill="hold"/>
                                        <p:tgtEl>
                                          <p:spTgt spid="24"/>
                                        </p:tgtEl>
                                      </p:cBhvr>
                                      <p:by x="125000" y="125000"/>
                                    </p:animScale>
                                  </p:childTnLst>
                                </p:cTn>
                              </p:par>
                              <p:par>
                                <p:cTn id="16" presetID="23" presetClass="entr" presetSubtype="272" fill="hold" grpId="0" nodeType="withEffect">
                                  <p:stCondLst>
                                    <p:cond delay="250"/>
                                  </p:stCondLst>
                                  <p:childTnLst>
                                    <p:set>
                                      <p:cBhvr>
                                        <p:cTn id="17" dur="1" fill="hold">
                                          <p:stCondLst>
                                            <p:cond delay="0"/>
                                          </p:stCondLst>
                                        </p:cTn>
                                        <p:tgtEl>
                                          <p:spTgt spid="26"/>
                                        </p:tgtEl>
                                        <p:attrNameLst>
                                          <p:attrName>style.visibility</p:attrName>
                                        </p:attrNameLst>
                                      </p:cBhvr>
                                      <p:to>
                                        <p:strVal val="visible"/>
                                      </p:to>
                                    </p:set>
                                    <p:anim calcmode="lin" valueType="num">
                                      <p:cBhvr>
                                        <p:cTn id="18" dur="250" fill="hold"/>
                                        <p:tgtEl>
                                          <p:spTgt spid="26"/>
                                        </p:tgtEl>
                                        <p:attrNameLst>
                                          <p:attrName>ppt_w</p:attrName>
                                        </p:attrNameLst>
                                      </p:cBhvr>
                                      <p:tavLst>
                                        <p:tav tm="0">
                                          <p:val>
                                            <p:strVal val="2/3*#ppt_w"/>
                                          </p:val>
                                        </p:tav>
                                        <p:tav tm="100000">
                                          <p:val>
                                            <p:strVal val="#ppt_w"/>
                                          </p:val>
                                        </p:tav>
                                      </p:tavLst>
                                    </p:anim>
                                    <p:anim calcmode="lin" valueType="num">
                                      <p:cBhvr>
                                        <p:cTn id="19" dur="250" fill="hold"/>
                                        <p:tgtEl>
                                          <p:spTgt spid="26"/>
                                        </p:tgtEl>
                                        <p:attrNameLst>
                                          <p:attrName>ppt_h</p:attrName>
                                        </p:attrNameLst>
                                      </p:cBhvr>
                                      <p:tavLst>
                                        <p:tav tm="0">
                                          <p:val>
                                            <p:strVal val="2/3*#ppt_h"/>
                                          </p:val>
                                        </p:tav>
                                        <p:tav tm="100000">
                                          <p:val>
                                            <p:strVal val="#ppt_h"/>
                                          </p:val>
                                        </p:tav>
                                      </p:tavLst>
                                    </p:anim>
                                  </p:childTnLst>
                                </p:cTn>
                              </p:par>
                              <p:par>
                                <p:cTn id="20" presetID="10" presetClass="entr" presetSubtype="0" fill="hold" grpId="1" nodeType="withEffect">
                                  <p:stCondLst>
                                    <p:cond delay="25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6" presetClass="emph" presetSubtype="0" fill="hold" grpId="2" nodeType="withEffect">
                                  <p:stCondLst>
                                    <p:cond delay="250"/>
                                  </p:stCondLst>
                                  <p:childTnLst>
                                    <p:animScale>
                                      <p:cBhvr>
                                        <p:cTn id="24" dur="10" fill="hold"/>
                                        <p:tgtEl>
                                          <p:spTgt spid="26"/>
                                        </p:tgtEl>
                                      </p:cBhvr>
                                      <p:by x="80000" y="80000"/>
                                    </p:animScale>
                                  </p:childTnLst>
                                </p:cTn>
                              </p:par>
                              <p:par>
                                <p:cTn id="25" presetID="6" presetClass="emph" presetSubtype="0" decel="100000" fill="hold" grpId="3" nodeType="withEffect">
                                  <p:stCondLst>
                                    <p:cond delay="250"/>
                                  </p:stCondLst>
                                  <p:childTnLst>
                                    <p:animScale>
                                      <p:cBhvr>
                                        <p:cTn id="26" dur="1000" fill="hold"/>
                                        <p:tgtEl>
                                          <p:spTgt spid="26"/>
                                        </p:tgtEl>
                                      </p:cBhvr>
                                      <p:by x="125000" y="125000"/>
                                    </p:animScale>
                                  </p:childTnLst>
                                </p:cTn>
                              </p:par>
                              <p:par>
                                <p:cTn id="27" presetID="23" presetClass="entr" presetSubtype="272" fill="hold" nodeType="withEffect">
                                  <p:stCondLst>
                                    <p:cond delay="250"/>
                                  </p:stCondLst>
                                  <p:childTnLst>
                                    <p:set>
                                      <p:cBhvr>
                                        <p:cTn id="28" dur="1" fill="hold">
                                          <p:stCondLst>
                                            <p:cond delay="0"/>
                                          </p:stCondLst>
                                        </p:cTn>
                                        <p:tgtEl>
                                          <p:spTgt spid="2"/>
                                        </p:tgtEl>
                                        <p:attrNameLst>
                                          <p:attrName>style.visibility</p:attrName>
                                        </p:attrNameLst>
                                      </p:cBhvr>
                                      <p:to>
                                        <p:strVal val="visible"/>
                                      </p:to>
                                    </p:set>
                                    <p:anim calcmode="lin" valueType="num">
                                      <p:cBhvr>
                                        <p:cTn id="29" dur="250" fill="hold"/>
                                        <p:tgtEl>
                                          <p:spTgt spid="2"/>
                                        </p:tgtEl>
                                        <p:attrNameLst>
                                          <p:attrName>ppt_w</p:attrName>
                                        </p:attrNameLst>
                                      </p:cBhvr>
                                      <p:tavLst>
                                        <p:tav tm="0">
                                          <p:val>
                                            <p:strVal val="2/3*#ppt_w"/>
                                          </p:val>
                                        </p:tav>
                                        <p:tav tm="100000">
                                          <p:val>
                                            <p:strVal val="#ppt_w"/>
                                          </p:val>
                                        </p:tav>
                                      </p:tavLst>
                                    </p:anim>
                                    <p:anim calcmode="lin" valueType="num">
                                      <p:cBhvr>
                                        <p:cTn id="30" dur="250" fill="hold"/>
                                        <p:tgtEl>
                                          <p:spTgt spid="2"/>
                                        </p:tgtEl>
                                        <p:attrNameLst>
                                          <p:attrName>ppt_h</p:attrName>
                                        </p:attrNameLst>
                                      </p:cBhvr>
                                      <p:tavLst>
                                        <p:tav tm="0">
                                          <p:val>
                                            <p:strVal val="2/3*#ppt_h"/>
                                          </p:val>
                                        </p:tav>
                                        <p:tav tm="100000">
                                          <p:val>
                                            <p:strVal val="#ppt_h"/>
                                          </p:val>
                                        </p:tav>
                                      </p:tavLst>
                                    </p:anim>
                                  </p:childTnLst>
                                </p:cTn>
                              </p:par>
                              <p:par>
                                <p:cTn id="31" presetID="10" presetClass="entr" presetSubtype="0" fill="hold" nodeType="withEffect">
                                  <p:stCondLst>
                                    <p:cond delay="25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par>
                                <p:cTn id="34" presetID="6" presetClass="emph" presetSubtype="0" fill="hold" nodeType="withEffect">
                                  <p:stCondLst>
                                    <p:cond delay="250"/>
                                  </p:stCondLst>
                                  <p:childTnLst>
                                    <p:animScale>
                                      <p:cBhvr>
                                        <p:cTn id="35" dur="10" fill="hold"/>
                                        <p:tgtEl>
                                          <p:spTgt spid="2"/>
                                        </p:tgtEl>
                                      </p:cBhvr>
                                      <p:by x="80000" y="80000"/>
                                    </p:animScale>
                                  </p:childTnLst>
                                </p:cTn>
                              </p:par>
                              <p:par>
                                <p:cTn id="36" presetID="6" presetClass="emph" presetSubtype="0" decel="100000" fill="hold" nodeType="withEffect">
                                  <p:stCondLst>
                                    <p:cond delay="250"/>
                                  </p:stCondLst>
                                  <p:childTnLst>
                                    <p:animScale>
                                      <p:cBhvr>
                                        <p:cTn id="37" dur="1000" fill="hold"/>
                                        <p:tgtEl>
                                          <p:spTgt spid="2"/>
                                        </p:tgtEl>
                                      </p:cBhvr>
                                      <p:by x="125000" y="125000"/>
                                    </p:animScale>
                                  </p:childTnLst>
                                </p:cTn>
                              </p:par>
                              <p:par>
                                <p:cTn id="38" presetID="23" presetClass="entr" presetSubtype="272" fill="hold" grpId="0" nodeType="withEffect">
                                  <p:stCondLst>
                                    <p:cond delay="250"/>
                                  </p:stCondLst>
                                  <p:childTnLst>
                                    <p:set>
                                      <p:cBhvr>
                                        <p:cTn id="39" dur="1" fill="hold">
                                          <p:stCondLst>
                                            <p:cond delay="0"/>
                                          </p:stCondLst>
                                        </p:cTn>
                                        <p:tgtEl>
                                          <p:spTgt spid="29"/>
                                        </p:tgtEl>
                                        <p:attrNameLst>
                                          <p:attrName>style.visibility</p:attrName>
                                        </p:attrNameLst>
                                      </p:cBhvr>
                                      <p:to>
                                        <p:strVal val="visible"/>
                                      </p:to>
                                    </p:set>
                                    <p:anim calcmode="lin" valueType="num">
                                      <p:cBhvr>
                                        <p:cTn id="40" dur="250" fill="hold"/>
                                        <p:tgtEl>
                                          <p:spTgt spid="29"/>
                                        </p:tgtEl>
                                        <p:attrNameLst>
                                          <p:attrName>ppt_w</p:attrName>
                                        </p:attrNameLst>
                                      </p:cBhvr>
                                      <p:tavLst>
                                        <p:tav tm="0">
                                          <p:val>
                                            <p:strVal val="2/3*#ppt_w"/>
                                          </p:val>
                                        </p:tav>
                                        <p:tav tm="100000">
                                          <p:val>
                                            <p:strVal val="#ppt_w"/>
                                          </p:val>
                                        </p:tav>
                                      </p:tavLst>
                                    </p:anim>
                                    <p:anim calcmode="lin" valueType="num">
                                      <p:cBhvr>
                                        <p:cTn id="41" dur="250" fill="hold"/>
                                        <p:tgtEl>
                                          <p:spTgt spid="29"/>
                                        </p:tgtEl>
                                        <p:attrNameLst>
                                          <p:attrName>ppt_h</p:attrName>
                                        </p:attrNameLst>
                                      </p:cBhvr>
                                      <p:tavLst>
                                        <p:tav tm="0">
                                          <p:val>
                                            <p:strVal val="2/3*#ppt_h"/>
                                          </p:val>
                                        </p:tav>
                                        <p:tav tm="100000">
                                          <p:val>
                                            <p:strVal val="#ppt_h"/>
                                          </p:val>
                                        </p:tav>
                                      </p:tavLst>
                                    </p:anim>
                                  </p:childTnLst>
                                </p:cTn>
                              </p:par>
                              <p:par>
                                <p:cTn id="42" presetID="10" presetClass="entr" presetSubtype="0" fill="hold" grpId="1" nodeType="withEffect">
                                  <p:stCondLst>
                                    <p:cond delay="25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500"/>
                                        <p:tgtEl>
                                          <p:spTgt spid="29"/>
                                        </p:tgtEl>
                                      </p:cBhvr>
                                    </p:animEffect>
                                  </p:childTnLst>
                                </p:cTn>
                              </p:par>
                              <p:par>
                                <p:cTn id="45" presetID="6" presetClass="emph" presetSubtype="0" fill="hold" grpId="2" nodeType="withEffect">
                                  <p:stCondLst>
                                    <p:cond delay="250"/>
                                  </p:stCondLst>
                                  <p:childTnLst>
                                    <p:animScale>
                                      <p:cBhvr>
                                        <p:cTn id="46" dur="10" fill="hold"/>
                                        <p:tgtEl>
                                          <p:spTgt spid="29"/>
                                        </p:tgtEl>
                                      </p:cBhvr>
                                      <p:by x="80000" y="80000"/>
                                    </p:animScale>
                                  </p:childTnLst>
                                </p:cTn>
                              </p:par>
                              <p:par>
                                <p:cTn id="47" presetID="6" presetClass="emph" presetSubtype="0" decel="100000" fill="hold" grpId="3" nodeType="withEffect">
                                  <p:stCondLst>
                                    <p:cond delay="250"/>
                                  </p:stCondLst>
                                  <p:childTnLst>
                                    <p:animScale>
                                      <p:cBhvr>
                                        <p:cTn id="48" dur="1000" fill="hold"/>
                                        <p:tgtEl>
                                          <p:spTgt spid="29"/>
                                        </p:tgtEl>
                                      </p:cBhvr>
                                      <p:by x="125000" y="125000"/>
                                    </p:animScale>
                                  </p:childTnLst>
                                </p:cTn>
                              </p:par>
                              <p:par>
                                <p:cTn id="49" presetID="23" presetClass="entr" presetSubtype="272" fill="hold" grpId="0" nodeType="withEffect">
                                  <p:stCondLst>
                                    <p:cond delay="600"/>
                                  </p:stCondLst>
                                  <p:childTnLst>
                                    <p:set>
                                      <p:cBhvr>
                                        <p:cTn id="50" dur="1" fill="hold">
                                          <p:stCondLst>
                                            <p:cond delay="0"/>
                                          </p:stCondLst>
                                        </p:cTn>
                                        <p:tgtEl>
                                          <p:spTgt spid="5"/>
                                        </p:tgtEl>
                                        <p:attrNameLst>
                                          <p:attrName>style.visibility</p:attrName>
                                        </p:attrNameLst>
                                      </p:cBhvr>
                                      <p:to>
                                        <p:strVal val="visible"/>
                                      </p:to>
                                    </p:set>
                                    <p:anim calcmode="lin" valueType="num">
                                      <p:cBhvr>
                                        <p:cTn id="51" dur="250" fill="hold"/>
                                        <p:tgtEl>
                                          <p:spTgt spid="5"/>
                                        </p:tgtEl>
                                        <p:attrNameLst>
                                          <p:attrName>ppt_w</p:attrName>
                                        </p:attrNameLst>
                                      </p:cBhvr>
                                      <p:tavLst>
                                        <p:tav tm="0">
                                          <p:val>
                                            <p:strVal val="2/3*#ppt_w"/>
                                          </p:val>
                                        </p:tav>
                                        <p:tav tm="100000">
                                          <p:val>
                                            <p:strVal val="#ppt_w"/>
                                          </p:val>
                                        </p:tav>
                                      </p:tavLst>
                                    </p:anim>
                                    <p:anim calcmode="lin" valueType="num">
                                      <p:cBhvr>
                                        <p:cTn id="52" dur="250" fill="hold"/>
                                        <p:tgtEl>
                                          <p:spTgt spid="5"/>
                                        </p:tgtEl>
                                        <p:attrNameLst>
                                          <p:attrName>ppt_h</p:attrName>
                                        </p:attrNameLst>
                                      </p:cBhvr>
                                      <p:tavLst>
                                        <p:tav tm="0">
                                          <p:val>
                                            <p:strVal val="2/3*#ppt_h"/>
                                          </p:val>
                                        </p:tav>
                                        <p:tav tm="100000">
                                          <p:val>
                                            <p:strVal val="#ppt_h"/>
                                          </p:val>
                                        </p:tav>
                                      </p:tavLst>
                                    </p:anim>
                                  </p:childTnLst>
                                </p:cTn>
                              </p:par>
                              <p:par>
                                <p:cTn id="53" presetID="10" presetClass="entr" presetSubtype="0" fill="hold" grpId="1" nodeType="withEffect">
                                  <p:stCondLst>
                                    <p:cond delay="60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500"/>
                                        <p:tgtEl>
                                          <p:spTgt spid="5"/>
                                        </p:tgtEl>
                                      </p:cBhvr>
                                    </p:animEffect>
                                  </p:childTnLst>
                                </p:cTn>
                              </p:par>
                              <p:par>
                                <p:cTn id="56" presetID="6" presetClass="emph" presetSubtype="0" fill="hold" grpId="2" nodeType="withEffect">
                                  <p:stCondLst>
                                    <p:cond delay="600"/>
                                  </p:stCondLst>
                                  <p:childTnLst>
                                    <p:animScale>
                                      <p:cBhvr>
                                        <p:cTn id="57" dur="10" fill="hold"/>
                                        <p:tgtEl>
                                          <p:spTgt spid="5"/>
                                        </p:tgtEl>
                                      </p:cBhvr>
                                      <p:by x="80000" y="80000"/>
                                    </p:animScale>
                                  </p:childTnLst>
                                </p:cTn>
                              </p:par>
                              <p:par>
                                <p:cTn id="58" presetID="6" presetClass="emph" presetSubtype="0" decel="100000" fill="hold" grpId="3" nodeType="withEffect">
                                  <p:stCondLst>
                                    <p:cond delay="600"/>
                                  </p:stCondLst>
                                  <p:childTnLst>
                                    <p:animScale>
                                      <p:cBhvr>
                                        <p:cTn id="59" dur="1000" fill="hold"/>
                                        <p:tgtEl>
                                          <p:spTgt spid="5"/>
                                        </p:tgtEl>
                                      </p:cBhvr>
                                      <p:by x="125000" y="125000"/>
                                    </p:animScale>
                                  </p:childTnLst>
                                </p:cTn>
                              </p:par>
                              <p:par>
                                <p:cTn id="60" presetID="23" presetClass="entr" presetSubtype="272" fill="hold" nodeType="withEffect">
                                  <p:stCondLst>
                                    <p:cond delay="600"/>
                                  </p:stCondLst>
                                  <p:childTnLst>
                                    <p:set>
                                      <p:cBhvr>
                                        <p:cTn id="61" dur="1" fill="hold">
                                          <p:stCondLst>
                                            <p:cond delay="0"/>
                                          </p:stCondLst>
                                        </p:cTn>
                                        <p:tgtEl>
                                          <p:spTgt spid="4"/>
                                        </p:tgtEl>
                                        <p:attrNameLst>
                                          <p:attrName>style.visibility</p:attrName>
                                        </p:attrNameLst>
                                      </p:cBhvr>
                                      <p:to>
                                        <p:strVal val="visible"/>
                                      </p:to>
                                    </p:set>
                                    <p:anim calcmode="lin" valueType="num">
                                      <p:cBhvr>
                                        <p:cTn id="62" dur="250" fill="hold"/>
                                        <p:tgtEl>
                                          <p:spTgt spid="4"/>
                                        </p:tgtEl>
                                        <p:attrNameLst>
                                          <p:attrName>ppt_w</p:attrName>
                                        </p:attrNameLst>
                                      </p:cBhvr>
                                      <p:tavLst>
                                        <p:tav tm="0">
                                          <p:val>
                                            <p:strVal val="2/3*#ppt_w"/>
                                          </p:val>
                                        </p:tav>
                                        <p:tav tm="100000">
                                          <p:val>
                                            <p:strVal val="#ppt_w"/>
                                          </p:val>
                                        </p:tav>
                                      </p:tavLst>
                                    </p:anim>
                                    <p:anim calcmode="lin" valueType="num">
                                      <p:cBhvr>
                                        <p:cTn id="63" dur="250" fill="hold"/>
                                        <p:tgtEl>
                                          <p:spTgt spid="4"/>
                                        </p:tgtEl>
                                        <p:attrNameLst>
                                          <p:attrName>ppt_h</p:attrName>
                                        </p:attrNameLst>
                                      </p:cBhvr>
                                      <p:tavLst>
                                        <p:tav tm="0">
                                          <p:val>
                                            <p:strVal val="2/3*#ppt_h"/>
                                          </p:val>
                                        </p:tav>
                                        <p:tav tm="100000">
                                          <p:val>
                                            <p:strVal val="#ppt_h"/>
                                          </p:val>
                                        </p:tav>
                                      </p:tavLst>
                                    </p:anim>
                                  </p:childTnLst>
                                </p:cTn>
                              </p:par>
                              <p:par>
                                <p:cTn id="64" presetID="10" presetClass="entr" presetSubtype="0" fill="hold" nodeType="withEffect">
                                  <p:stCondLst>
                                    <p:cond delay="600"/>
                                  </p:stCondLst>
                                  <p:childTnLst>
                                    <p:set>
                                      <p:cBhvr>
                                        <p:cTn id="65" dur="1" fill="hold">
                                          <p:stCondLst>
                                            <p:cond delay="0"/>
                                          </p:stCondLst>
                                        </p:cTn>
                                        <p:tgtEl>
                                          <p:spTgt spid="4"/>
                                        </p:tgtEl>
                                        <p:attrNameLst>
                                          <p:attrName>style.visibility</p:attrName>
                                        </p:attrNameLst>
                                      </p:cBhvr>
                                      <p:to>
                                        <p:strVal val="visible"/>
                                      </p:to>
                                    </p:set>
                                    <p:animEffect transition="in" filter="fade">
                                      <p:cBhvr>
                                        <p:cTn id="66" dur="500"/>
                                        <p:tgtEl>
                                          <p:spTgt spid="4"/>
                                        </p:tgtEl>
                                      </p:cBhvr>
                                    </p:animEffect>
                                  </p:childTnLst>
                                </p:cTn>
                              </p:par>
                              <p:par>
                                <p:cTn id="67" presetID="6" presetClass="emph" presetSubtype="0" fill="hold" nodeType="withEffect">
                                  <p:stCondLst>
                                    <p:cond delay="600"/>
                                  </p:stCondLst>
                                  <p:childTnLst>
                                    <p:animScale>
                                      <p:cBhvr>
                                        <p:cTn id="68" dur="10" fill="hold"/>
                                        <p:tgtEl>
                                          <p:spTgt spid="4"/>
                                        </p:tgtEl>
                                      </p:cBhvr>
                                      <p:by x="80000" y="80000"/>
                                    </p:animScale>
                                  </p:childTnLst>
                                </p:cTn>
                              </p:par>
                              <p:par>
                                <p:cTn id="69" presetID="6" presetClass="emph" presetSubtype="0" decel="100000" fill="hold" nodeType="withEffect">
                                  <p:stCondLst>
                                    <p:cond delay="600"/>
                                  </p:stCondLst>
                                  <p:childTnLst>
                                    <p:animScale>
                                      <p:cBhvr>
                                        <p:cTn id="70" dur="1000" fill="hold"/>
                                        <p:tgtEl>
                                          <p:spTgt spid="4"/>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26" grpId="2" animBg="1"/>
      <p:bldP spid="26" grpId="3" animBg="1"/>
      <p:bldP spid="24" grpId="0"/>
      <p:bldP spid="24" grpId="1"/>
      <p:bldP spid="24" grpId="2"/>
      <p:bldP spid="24" grpId="3"/>
      <p:bldP spid="29" grpId="0" animBg="1"/>
      <p:bldP spid="29" grpId="1" animBg="1"/>
      <p:bldP spid="29" grpId="2" animBg="1"/>
      <p:bldP spid="29" grpId="3" animBg="1"/>
      <p:bldP spid="5" grpId="0" animBg="1"/>
      <p:bldP spid="5" grpId="1" animBg="1"/>
      <p:bldP spid="5" grpId="2" animBg="1"/>
      <p:bldP spid="5" grpId="3"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2AFF3-4DAD-686A-6156-8DD887C0630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24CF5BB-BA3D-F13E-94A8-CCAA9D9DED47}"/>
              </a:ext>
            </a:extLst>
          </p:cNvPr>
          <p:cNvPicPr>
            <a:picLocks noChangeAspect="1"/>
          </p:cNvPicPr>
          <p:nvPr/>
        </p:nvPicPr>
        <p:blipFill>
          <a:blip r:embed="rId3"/>
          <a:stretch>
            <a:fillRect/>
          </a:stretch>
        </p:blipFill>
        <p:spPr>
          <a:xfrm>
            <a:off x="4197953" y="2101605"/>
            <a:ext cx="7152805" cy="4451024"/>
          </a:xfrm>
          <a:prstGeom prst="rect">
            <a:avLst/>
          </a:prstGeom>
        </p:spPr>
      </p:pic>
      <p:sp>
        <p:nvSpPr>
          <p:cNvPr id="83" name="Rectangle: Rounded Corners 82">
            <a:extLst>
              <a:ext uri="{FF2B5EF4-FFF2-40B4-BE49-F238E27FC236}">
                <a16:creationId xmlns:a16="http://schemas.microsoft.com/office/drawing/2014/main" id="{3C2A784F-EFAA-7ACC-C8F3-AEA92EE76142}"/>
              </a:ext>
            </a:extLst>
          </p:cNvPr>
          <p:cNvSpPr>
            <a:spLocks/>
          </p:cNvSpPr>
          <p:nvPr/>
        </p:nvSpPr>
        <p:spPr bwMode="auto">
          <a:xfrm>
            <a:off x="4074876" y="1974983"/>
            <a:ext cx="7491514" cy="4668309"/>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5" name="Rectangle: Rounded Corners 84">
            <a:extLst>
              <a:ext uri="{FF2B5EF4-FFF2-40B4-BE49-F238E27FC236}">
                <a16:creationId xmlns:a16="http://schemas.microsoft.com/office/drawing/2014/main" id="{5718F549-5FAC-443A-A03F-32311570C06B}"/>
              </a:ext>
            </a:extLst>
          </p:cNvPr>
          <p:cNvSpPr>
            <a:spLocks/>
          </p:cNvSpPr>
          <p:nvPr/>
        </p:nvSpPr>
        <p:spPr bwMode="auto">
          <a:xfrm>
            <a:off x="552487" y="2372873"/>
            <a:ext cx="3432803" cy="1595515"/>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6" name="Content Placeholder 2">
            <a:extLst>
              <a:ext uri="{FF2B5EF4-FFF2-40B4-BE49-F238E27FC236}">
                <a16:creationId xmlns:a16="http://schemas.microsoft.com/office/drawing/2014/main" id="{D07FA53B-741B-8D86-134F-4178056A71E6}"/>
              </a:ext>
            </a:extLst>
          </p:cNvPr>
          <p:cNvSpPr txBox="1">
            <a:spLocks/>
          </p:cNvSpPr>
          <p:nvPr/>
        </p:nvSpPr>
        <p:spPr>
          <a:xfrm>
            <a:off x="748678" y="2470266"/>
            <a:ext cx="3165371" cy="137791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0"/>
              </a:spcBef>
              <a:spcAft>
                <a:spcPct val="0"/>
              </a:spcAft>
              <a:buNone/>
              <a:defRPr/>
            </a:pPr>
            <a:r>
              <a:rPr lang="en-US" sz="1600">
                <a:latin typeface="+mn-lt"/>
              </a:rPr>
              <a:t>Best in class Responsible AI</a:t>
            </a:r>
          </a:p>
          <a:p>
            <a:pPr marL="0" indent="0" defTabSz="609630" fontAlgn="base">
              <a:spcBef>
                <a:spcPts val="0"/>
              </a:spcBef>
              <a:spcAft>
                <a:spcPct val="0"/>
              </a:spcAft>
              <a:buNone/>
              <a:defRPr/>
            </a:pPr>
            <a:endParaRPr lang="en-US" sz="1600">
              <a:latin typeface="+mn-lt"/>
            </a:endParaRPr>
          </a:p>
          <a:p>
            <a:pPr marL="0" indent="0" defTabSz="609630" fontAlgn="base">
              <a:spcBef>
                <a:spcPts val="0"/>
              </a:spcBef>
              <a:spcAft>
                <a:spcPct val="0"/>
              </a:spcAft>
              <a:buNone/>
              <a:defRPr/>
            </a:pPr>
            <a:r>
              <a:rPr lang="en-US" sz="1600">
                <a:latin typeface="+mn-lt"/>
              </a:rPr>
              <a:t>Effective on AI and human content</a:t>
            </a:r>
          </a:p>
          <a:p>
            <a:pPr marL="0" indent="0" defTabSz="609630" fontAlgn="base">
              <a:spcBef>
                <a:spcPts val="0"/>
              </a:spcBef>
              <a:spcAft>
                <a:spcPct val="0"/>
              </a:spcAft>
              <a:buNone/>
              <a:defRPr/>
            </a:pPr>
            <a:endParaRPr lang="en-US" sz="1600">
              <a:latin typeface="+mn-lt"/>
            </a:endParaRPr>
          </a:p>
          <a:p>
            <a:pPr marL="0" indent="0" defTabSz="609630" fontAlgn="base">
              <a:spcBef>
                <a:spcPts val="0"/>
              </a:spcBef>
              <a:spcAft>
                <a:spcPct val="0"/>
              </a:spcAft>
              <a:buNone/>
              <a:defRPr/>
            </a:pPr>
            <a:r>
              <a:rPr lang="en-US" sz="1600">
                <a:latin typeface="+mn-lt"/>
              </a:rPr>
              <a:t>Tunable for your use case</a:t>
            </a:r>
          </a:p>
        </p:txBody>
      </p:sp>
      <p:sp useBgFill="1">
        <p:nvSpPr>
          <p:cNvPr id="13" name="Rectangle: Rounded Corners 12">
            <a:extLst>
              <a:ext uri="{FF2B5EF4-FFF2-40B4-BE49-F238E27FC236}">
                <a16:creationId xmlns:a16="http://schemas.microsoft.com/office/drawing/2014/main" id="{F1A0A2E1-D5EC-DB23-FCEB-6B61E5A59BF3}"/>
              </a:ext>
            </a:extLst>
          </p:cNvPr>
          <p:cNvSpPr>
            <a:spLocks/>
          </p:cNvSpPr>
          <p:nvPr/>
        </p:nvSpPr>
        <p:spPr bwMode="auto">
          <a:xfrm>
            <a:off x="543831" y="1917576"/>
            <a:ext cx="1109478" cy="344061"/>
          </a:xfrm>
          <a:prstGeom prst="roundRect">
            <a:avLst>
              <a:gd name="adj" fmla="val 19336"/>
            </a:avLst>
          </a:prstGeom>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5" name="TextBox 14">
            <a:extLst>
              <a:ext uri="{FF2B5EF4-FFF2-40B4-BE49-F238E27FC236}">
                <a16:creationId xmlns:a16="http://schemas.microsoft.com/office/drawing/2014/main" id="{A0D8E582-CD38-B0F3-9872-7B3D4E013A82}"/>
              </a:ext>
            </a:extLst>
          </p:cNvPr>
          <p:cNvSpPr txBox="1"/>
          <p:nvPr/>
        </p:nvSpPr>
        <p:spPr>
          <a:xfrm>
            <a:off x="640514" y="1914050"/>
            <a:ext cx="1054359" cy="338554"/>
          </a:xfrm>
          <a:prstGeom prst="rect">
            <a:avLst/>
          </a:prstGeom>
          <a:noFill/>
        </p:spPr>
        <p:txBody>
          <a:bodyPr wrap="square">
            <a:spAutoFit/>
          </a:bodyPr>
          <a:lstStyle/>
          <a:p>
            <a:pPr lvl="0" fontAlgn="base">
              <a:spcBef>
                <a:spcPct val="0"/>
              </a:spcBef>
              <a:spcAft>
                <a:spcPct val="0"/>
              </a:spcAft>
              <a:defRPr/>
            </a:pPr>
            <a:r>
              <a:rPr lang="en-US" sz="1600">
                <a:solidFill>
                  <a:schemeClr val="bg1"/>
                </a:solidFill>
                <a:latin typeface="+mj-lt"/>
                <a:cs typeface="Segoe Sans Display Semibold" pitchFamily="2" charset="0"/>
              </a:rPr>
              <a:t>Benefits</a:t>
            </a:r>
          </a:p>
        </p:txBody>
      </p:sp>
      <p:sp>
        <p:nvSpPr>
          <p:cNvPr id="5" name="Title 4">
            <a:extLst>
              <a:ext uri="{FF2B5EF4-FFF2-40B4-BE49-F238E27FC236}">
                <a16:creationId xmlns:a16="http://schemas.microsoft.com/office/drawing/2014/main" id="{3BD270F0-2CB7-E1FC-DFFB-DC54AF0B2B47}"/>
              </a:ext>
            </a:extLst>
          </p:cNvPr>
          <p:cNvSpPr>
            <a:spLocks noGrp="1"/>
          </p:cNvSpPr>
          <p:nvPr>
            <p:ph type="title"/>
          </p:nvPr>
        </p:nvSpPr>
        <p:spPr/>
        <p:txBody>
          <a:bodyPr/>
          <a:lstStyle/>
          <a:p>
            <a:r>
              <a:rPr lang="en-US">
                <a:solidFill>
                  <a:schemeClr val="bg1"/>
                </a:solidFill>
              </a:rPr>
              <a:t>Azure AI Content Safety</a:t>
            </a:r>
            <a:br>
              <a:rPr lang="en-US">
                <a:solidFill>
                  <a:schemeClr val="bg1"/>
                </a:solidFill>
              </a:rPr>
            </a:br>
            <a:r>
              <a:rPr lang="en-US" sz="2400">
                <a:solidFill>
                  <a:schemeClr val="bg1"/>
                </a:solidFill>
                <a:latin typeface="+mn-lt"/>
                <a:cs typeface="Segoe Sans Text" pitchFamily="2" charset="0"/>
              </a:rPr>
              <a:t>Incorporating Responsible AI into GenAI applications</a:t>
            </a:r>
            <a:endParaRPr lang="en-GB">
              <a:solidFill>
                <a:schemeClr val="bg1"/>
              </a:solidFill>
              <a:latin typeface="+mn-lt"/>
            </a:endParaRPr>
          </a:p>
        </p:txBody>
      </p:sp>
      <p:sp>
        <p:nvSpPr>
          <p:cNvPr id="6" name="Rectangle: Rounded Corners 5">
            <a:extLst>
              <a:ext uri="{FF2B5EF4-FFF2-40B4-BE49-F238E27FC236}">
                <a16:creationId xmlns:a16="http://schemas.microsoft.com/office/drawing/2014/main" id="{015B38FA-B249-4867-1E34-93C8391E4ED4}"/>
              </a:ext>
            </a:extLst>
          </p:cNvPr>
          <p:cNvSpPr>
            <a:spLocks/>
          </p:cNvSpPr>
          <p:nvPr/>
        </p:nvSpPr>
        <p:spPr bwMode="auto">
          <a:xfrm>
            <a:off x="552487" y="4668761"/>
            <a:ext cx="3432803" cy="1595515"/>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 name="Content Placeholder 2">
            <a:extLst>
              <a:ext uri="{FF2B5EF4-FFF2-40B4-BE49-F238E27FC236}">
                <a16:creationId xmlns:a16="http://schemas.microsoft.com/office/drawing/2014/main" id="{B5C2AA5D-F32F-DC81-F101-5D93A472AD84}"/>
              </a:ext>
            </a:extLst>
          </p:cNvPr>
          <p:cNvSpPr txBox="1">
            <a:spLocks/>
          </p:cNvSpPr>
          <p:nvPr/>
        </p:nvSpPr>
        <p:spPr>
          <a:xfrm>
            <a:off x="748678" y="4766154"/>
            <a:ext cx="3165371" cy="137791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609630" fontAlgn="base">
              <a:spcBef>
                <a:spcPts val="0"/>
              </a:spcBef>
              <a:spcAft>
                <a:spcPct val="0"/>
              </a:spcAft>
              <a:buNone/>
              <a:defRPr/>
            </a:pPr>
            <a:r>
              <a:rPr lang="en-US" sz="1600">
                <a:latin typeface="+mn-lt"/>
              </a:rPr>
              <a:t>Already in Azure OpenAI</a:t>
            </a:r>
          </a:p>
          <a:p>
            <a:pPr marL="0" lvl="0" indent="0" defTabSz="609630" fontAlgn="base">
              <a:spcBef>
                <a:spcPts val="0"/>
              </a:spcBef>
              <a:spcAft>
                <a:spcPct val="0"/>
              </a:spcAft>
              <a:buNone/>
              <a:defRPr/>
            </a:pPr>
            <a:endParaRPr lang="en-US" sz="1600">
              <a:latin typeface="+mn-lt"/>
            </a:endParaRPr>
          </a:p>
          <a:p>
            <a:pPr marL="0" lvl="0" indent="0" defTabSz="609630" fontAlgn="base">
              <a:spcBef>
                <a:spcPts val="0"/>
              </a:spcBef>
              <a:spcAft>
                <a:spcPct val="0"/>
              </a:spcAft>
              <a:buNone/>
              <a:defRPr/>
            </a:pPr>
            <a:r>
              <a:rPr lang="en-US" sz="1600">
                <a:latin typeface="+mn-lt"/>
              </a:rPr>
              <a:t>Native type in Prompt Flow</a:t>
            </a:r>
          </a:p>
          <a:p>
            <a:pPr marL="0" lvl="0" indent="0" defTabSz="609630" fontAlgn="base">
              <a:spcBef>
                <a:spcPts val="0"/>
              </a:spcBef>
              <a:spcAft>
                <a:spcPct val="0"/>
              </a:spcAft>
              <a:buNone/>
              <a:defRPr/>
            </a:pPr>
            <a:endParaRPr lang="en-US" sz="1600">
              <a:latin typeface="+mn-lt"/>
            </a:endParaRPr>
          </a:p>
          <a:p>
            <a:pPr marL="0" lvl="0" indent="0" defTabSz="609630" fontAlgn="base">
              <a:spcBef>
                <a:spcPts val="0"/>
              </a:spcBef>
              <a:spcAft>
                <a:spcPct val="0"/>
              </a:spcAft>
              <a:buNone/>
              <a:defRPr/>
            </a:pPr>
            <a:r>
              <a:rPr lang="en-US" sz="1600">
                <a:latin typeface="+mn-lt"/>
              </a:rPr>
              <a:t>Or, as a stand-alone service</a:t>
            </a:r>
          </a:p>
        </p:txBody>
      </p:sp>
      <p:sp useBgFill="1">
        <p:nvSpPr>
          <p:cNvPr id="11" name="Rectangle: Rounded Corners 10">
            <a:extLst>
              <a:ext uri="{FF2B5EF4-FFF2-40B4-BE49-F238E27FC236}">
                <a16:creationId xmlns:a16="http://schemas.microsoft.com/office/drawing/2014/main" id="{F7E41057-1677-67EA-5C4A-7A93FD9F28A7}"/>
              </a:ext>
            </a:extLst>
          </p:cNvPr>
          <p:cNvSpPr>
            <a:spLocks/>
          </p:cNvSpPr>
          <p:nvPr/>
        </p:nvSpPr>
        <p:spPr bwMode="auto">
          <a:xfrm>
            <a:off x="543831" y="4213464"/>
            <a:ext cx="1913042" cy="344061"/>
          </a:xfrm>
          <a:prstGeom prst="roundRect">
            <a:avLst>
              <a:gd name="adj" fmla="val 19336"/>
            </a:avLst>
          </a:prstGeom>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250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2" name="TextBox 11">
            <a:extLst>
              <a:ext uri="{FF2B5EF4-FFF2-40B4-BE49-F238E27FC236}">
                <a16:creationId xmlns:a16="http://schemas.microsoft.com/office/drawing/2014/main" id="{A5ABC6DC-5BFE-3FE6-D9D7-92F8354EB043}"/>
              </a:ext>
            </a:extLst>
          </p:cNvPr>
          <p:cNvSpPr txBox="1"/>
          <p:nvPr/>
        </p:nvSpPr>
        <p:spPr>
          <a:xfrm>
            <a:off x="640514" y="4209938"/>
            <a:ext cx="1964141" cy="338554"/>
          </a:xfrm>
          <a:prstGeom prst="rect">
            <a:avLst/>
          </a:prstGeom>
          <a:noFill/>
        </p:spPr>
        <p:txBody>
          <a:bodyPr wrap="square">
            <a:spAutoFit/>
          </a:bodyPr>
          <a:lstStyle/>
          <a:p>
            <a:pPr fontAlgn="base">
              <a:spcBef>
                <a:spcPct val="0"/>
              </a:spcBef>
              <a:spcAft>
                <a:spcPct val="0"/>
              </a:spcAft>
              <a:defRPr/>
            </a:pPr>
            <a:r>
              <a:rPr lang="en-US" sz="1600">
                <a:solidFill>
                  <a:schemeClr val="bg1"/>
                </a:solidFill>
                <a:latin typeface="+mj-lt"/>
                <a:cs typeface="Segoe Sans Display Semibold" pitchFamily="2" charset="0"/>
              </a:rPr>
              <a:t>Easily Integrated</a:t>
            </a:r>
          </a:p>
        </p:txBody>
      </p:sp>
    </p:spTree>
    <p:extLst>
      <p:ext uri="{BB962C8B-B14F-4D97-AF65-F5344CB8AC3E}">
        <p14:creationId xmlns:p14="http://schemas.microsoft.com/office/powerpoint/2010/main" val="33440426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250" fill="hold"/>
                                        <p:tgtEl>
                                          <p:spTgt spid="83"/>
                                        </p:tgtEl>
                                        <p:attrNameLst>
                                          <p:attrName>ppt_w</p:attrName>
                                        </p:attrNameLst>
                                      </p:cBhvr>
                                      <p:tavLst>
                                        <p:tav tm="0">
                                          <p:val>
                                            <p:strVal val="2/3*#ppt_w"/>
                                          </p:val>
                                        </p:tav>
                                        <p:tav tm="100000">
                                          <p:val>
                                            <p:strVal val="#ppt_w"/>
                                          </p:val>
                                        </p:tav>
                                      </p:tavLst>
                                    </p:anim>
                                    <p:anim calcmode="lin" valueType="num">
                                      <p:cBhvr>
                                        <p:cTn id="8" dur="250" fill="hold"/>
                                        <p:tgtEl>
                                          <p:spTgt spid="83"/>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fade">
                                      <p:cBhvr>
                                        <p:cTn id="11" dur="500"/>
                                        <p:tgtEl>
                                          <p:spTgt spid="83"/>
                                        </p:tgtEl>
                                      </p:cBhvr>
                                    </p:animEffect>
                                  </p:childTnLst>
                                </p:cTn>
                              </p:par>
                              <p:par>
                                <p:cTn id="12" presetID="6" presetClass="emph" presetSubtype="0" fill="hold" grpId="2" nodeType="withEffect">
                                  <p:stCondLst>
                                    <p:cond delay="0"/>
                                  </p:stCondLst>
                                  <p:childTnLst>
                                    <p:animScale>
                                      <p:cBhvr>
                                        <p:cTn id="13" dur="10" fill="hold"/>
                                        <p:tgtEl>
                                          <p:spTgt spid="83"/>
                                        </p:tgtEl>
                                      </p:cBhvr>
                                      <p:by x="80000" y="80000"/>
                                    </p:animScale>
                                  </p:childTnLst>
                                </p:cTn>
                              </p:par>
                              <p:par>
                                <p:cTn id="14" presetID="6" presetClass="emph" presetSubtype="0" decel="100000" fill="hold" grpId="3" nodeType="withEffect">
                                  <p:stCondLst>
                                    <p:cond delay="0"/>
                                  </p:stCondLst>
                                  <p:childTnLst>
                                    <p:animScale>
                                      <p:cBhvr>
                                        <p:cTn id="15" dur="1000" fill="hold"/>
                                        <p:tgtEl>
                                          <p:spTgt spid="83"/>
                                        </p:tgtEl>
                                      </p:cBhvr>
                                      <p:by x="125000" y="125000"/>
                                    </p:animScale>
                                  </p:childTnLst>
                                </p:cTn>
                              </p:par>
                              <p:par>
                                <p:cTn id="16" presetID="10" presetClass="entr" presetSubtype="0" fill="hold" grpId="0" nodeType="withEffect">
                                  <p:stCondLst>
                                    <p:cond delay="0"/>
                                  </p:stCondLst>
                                  <p:childTnLst>
                                    <p:set>
                                      <p:cBhvr>
                                        <p:cTn id="17" dur="1" fill="hold">
                                          <p:stCondLst>
                                            <p:cond delay="0"/>
                                          </p:stCondLst>
                                        </p:cTn>
                                        <p:tgtEl>
                                          <p:spTgt spid="85"/>
                                        </p:tgtEl>
                                        <p:attrNameLst>
                                          <p:attrName>style.visibility</p:attrName>
                                        </p:attrNameLst>
                                      </p:cBhvr>
                                      <p:to>
                                        <p:strVal val="visible"/>
                                      </p:to>
                                    </p:set>
                                    <p:animEffect transition="in" filter="fade">
                                      <p:cBhvr>
                                        <p:cTn id="18" dur="1000"/>
                                        <p:tgtEl>
                                          <p:spTgt spid="85"/>
                                        </p:tgtEl>
                                      </p:cBhvr>
                                    </p:animEffect>
                                  </p:childTnLst>
                                </p:cTn>
                              </p:par>
                              <p:par>
                                <p:cTn id="19" presetID="23" presetClass="entr" presetSubtype="272" fill="hold" grpId="0" nodeType="withEffect">
                                  <p:stCondLst>
                                    <p:cond delay="250"/>
                                  </p:stCondLst>
                                  <p:childTnLst>
                                    <p:set>
                                      <p:cBhvr>
                                        <p:cTn id="20" dur="1" fill="hold">
                                          <p:stCondLst>
                                            <p:cond delay="0"/>
                                          </p:stCondLst>
                                        </p:cTn>
                                        <p:tgtEl>
                                          <p:spTgt spid="86"/>
                                        </p:tgtEl>
                                        <p:attrNameLst>
                                          <p:attrName>style.visibility</p:attrName>
                                        </p:attrNameLst>
                                      </p:cBhvr>
                                      <p:to>
                                        <p:strVal val="visible"/>
                                      </p:to>
                                    </p:set>
                                    <p:anim calcmode="lin" valueType="num">
                                      <p:cBhvr>
                                        <p:cTn id="21" dur="250" fill="hold"/>
                                        <p:tgtEl>
                                          <p:spTgt spid="86"/>
                                        </p:tgtEl>
                                        <p:attrNameLst>
                                          <p:attrName>ppt_w</p:attrName>
                                        </p:attrNameLst>
                                      </p:cBhvr>
                                      <p:tavLst>
                                        <p:tav tm="0">
                                          <p:val>
                                            <p:strVal val="2/3*#ppt_w"/>
                                          </p:val>
                                        </p:tav>
                                        <p:tav tm="100000">
                                          <p:val>
                                            <p:strVal val="#ppt_w"/>
                                          </p:val>
                                        </p:tav>
                                      </p:tavLst>
                                    </p:anim>
                                    <p:anim calcmode="lin" valueType="num">
                                      <p:cBhvr>
                                        <p:cTn id="22" dur="250" fill="hold"/>
                                        <p:tgtEl>
                                          <p:spTgt spid="86"/>
                                        </p:tgtEl>
                                        <p:attrNameLst>
                                          <p:attrName>ppt_h</p:attrName>
                                        </p:attrNameLst>
                                      </p:cBhvr>
                                      <p:tavLst>
                                        <p:tav tm="0">
                                          <p:val>
                                            <p:strVal val="2/3*#ppt_h"/>
                                          </p:val>
                                        </p:tav>
                                        <p:tav tm="100000">
                                          <p:val>
                                            <p:strVal val="#ppt_h"/>
                                          </p:val>
                                        </p:tav>
                                      </p:tavLst>
                                    </p:anim>
                                  </p:childTnLst>
                                </p:cTn>
                              </p:par>
                              <p:par>
                                <p:cTn id="23" presetID="10" presetClass="entr" presetSubtype="0" fill="hold" grpId="1" nodeType="withEffect">
                                  <p:stCondLst>
                                    <p:cond delay="25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500"/>
                                        <p:tgtEl>
                                          <p:spTgt spid="86"/>
                                        </p:tgtEl>
                                      </p:cBhvr>
                                    </p:animEffect>
                                  </p:childTnLst>
                                </p:cTn>
                              </p:par>
                              <p:par>
                                <p:cTn id="26" presetID="6" presetClass="emph" presetSubtype="0" fill="hold" grpId="2" nodeType="withEffect">
                                  <p:stCondLst>
                                    <p:cond delay="250"/>
                                  </p:stCondLst>
                                  <p:childTnLst>
                                    <p:animScale>
                                      <p:cBhvr>
                                        <p:cTn id="27" dur="10" fill="hold"/>
                                        <p:tgtEl>
                                          <p:spTgt spid="86"/>
                                        </p:tgtEl>
                                      </p:cBhvr>
                                      <p:by x="80000" y="80000"/>
                                    </p:animScale>
                                  </p:childTnLst>
                                </p:cTn>
                              </p:par>
                              <p:par>
                                <p:cTn id="28" presetID="6" presetClass="emph" presetSubtype="0" decel="100000" fill="hold" grpId="3" nodeType="withEffect">
                                  <p:stCondLst>
                                    <p:cond delay="250"/>
                                  </p:stCondLst>
                                  <p:childTnLst>
                                    <p:animScale>
                                      <p:cBhvr>
                                        <p:cTn id="29" dur="1000" fill="hold"/>
                                        <p:tgtEl>
                                          <p:spTgt spid="86"/>
                                        </p:tgtEl>
                                      </p:cBhvr>
                                      <p:by x="125000" y="125000"/>
                                    </p:animScale>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childTnLst>
                                </p:cTn>
                              </p:par>
                              <p:par>
                                <p:cTn id="39" presetID="23" presetClass="entr" presetSubtype="272" fill="hold" grpId="0" nodeType="withEffect">
                                  <p:stCondLst>
                                    <p:cond delay="250"/>
                                  </p:stCondLst>
                                  <p:childTnLst>
                                    <p:set>
                                      <p:cBhvr>
                                        <p:cTn id="40" dur="1" fill="hold">
                                          <p:stCondLst>
                                            <p:cond delay="0"/>
                                          </p:stCondLst>
                                        </p:cTn>
                                        <p:tgtEl>
                                          <p:spTgt spid="9"/>
                                        </p:tgtEl>
                                        <p:attrNameLst>
                                          <p:attrName>style.visibility</p:attrName>
                                        </p:attrNameLst>
                                      </p:cBhvr>
                                      <p:to>
                                        <p:strVal val="visible"/>
                                      </p:to>
                                    </p:set>
                                    <p:anim calcmode="lin" valueType="num">
                                      <p:cBhvr>
                                        <p:cTn id="41" dur="250" fill="hold"/>
                                        <p:tgtEl>
                                          <p:spTgt spid="9"/>
                                        </p:tgtEl>
                                        <p:attrNameLst>
                                          <p:attrName>ppt_w</p:attrName>
                                        </p:attrNameLst>
                                      </p:cBhvr>
                                      <p:tavLst>
                                        <p:tav tm="0">
                                          <p:val>
                                            <p:strVal val="2/3*#ppt_w"/>
                                          </p:val>
                                        </p:tav>
                                        <p:tav tm="100000">
                                          <p:val>
                                            <p:strVal val="#ppt_w"/>
                                          </p:val>
                                        </p:tav>
                                      </p:tavLst>
                                    </p:anim>
                                    <p:anim calcmode="lin" valueType="num">
                                      <p:cBhvr>
                                        <p:cTn id="42" dur="250" fill="hold"/>
                                        <p:tgtEl>
                                          <p:spTgt spid="9"/>
                                        </p:tgtEl>
                                        <p:attrNameLst>
                                          <p:attrName>ppt_h</p:attrName>
                                        </p:attrNameLst>
                                      </p:cBhvr>
                                      <p:tavLst>
                                        <p:tav tm="0">
                                          <p:val>
                                            <p:strVal val="2/3*#ppt_h"/>
                                          </p:val>
                                        </p:tav>
                                        <p:tav tm="100000">
                                          <p:val>
                                            <p:strVal val="#ppt_h"/>
                                          </p:val>
                                        </p:tav>
                                      </p:tavLst>
                                    </p:anim>
                                  </p:childTnLst>
                                </p:cTn>
                              </p:par>
                              <p:par>
                                <p:cTn id="43" presetID="10" presetClass="entr" presetSubtype="0" fill="hold" grpId="1" nodeType="withEffect">
                                  <p:stCondLst>
                                    <p:cond delay="25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par>
                                <p:cTn id="46" presetID="6" presetClass="emph" presetSubtype="0" fill="hold" grpId="2" nodeType="withEffect">
                                  <p:stCondLst>
                                    <p:cond delay="250"/>
                                  </p:stCondLst>
                                  <p:childTnLst>
                                    <p:animScale>
                                      <p:cBhvr>
                                        <p:cTn id="47" dur="10" fill="hold"/>
                                        <p:tgtEl>
                                          <p:spTgt spid="9"/>
                                        </p:tgtEl>
                                      </p:cBhvr>
                                      <p:by x="80000" y="80000"/>
                                    </p:animScale>
                                  </p:childTnLst>
                                </p:cTn>
                              </p:par>
                              <p:par>
                                <p:cTn id="48" presetID="6" presetClass="emph" presetSubtype="0" decel="100000" fill="hold" grpId="3" nodeType="withEffect">
                                  <p:stCondLst>
                                    <p:cond delay="250"/>
                                  </p:stCondLst>
                                  <p:childTnLst>
                                    <p:animScale>
                                      <p:cBhvr>
                                        <p:cTn id="49" dur="1000" fill="hold"/>
                                        <p:tgtEl>
                                          <p:spTgt spid="9"/>
                                        </p:tgtEl>
                                      </p:cBhvr>
                                      <p:by x="125000" y="125000"/>
                                    </p:animScale>
                                  </p:childTnLst>
                                </p:cTn>
                              </p:par>
                              <p:par>
                                <p:cTn id="50" presetID="10"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3" grpId="1" animBg="1"/>
      <p:bldP spid="83" grpId="2" animBg="1"/>
      <p:bldP spid="83" grpId="3" animBg="1"/>
      <p:bldP spid="85" grpId="0" animBg="1"/>
      <p:bldP spid="86" grpId="0"/>
      <p:bldP spid="86" grpId="1"/>
      <p:bldP spid="86" grpId="2"/>
      <p:bldP spid="86" grpId="3"/>
      <p:bldP spid="13" grpId="0" animBg="1"/>
      <p:bldP spid="15" grpId="0"/>
      <p:bldP spid="6" grpId="0" animBg="1"/>
      <p:bldP spid="9" grpId="0"/>
      <p:bldP spid="9" grpId="1"/>
      <p:bldP spid="9" grpId="2"/>
      <p:bldP spid="9" grpId="3"/>
      <p:bldP spid="11" grpId="0" animBg="1"/>
      <p:bldP spid="1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72032-0F04-50C3-55C7-8DA2B7A4C2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236D51-F299-55EF-6C17-6AC70ECB6F4E}"/>
              </a:ext>
            </a:extLst>
          </p:cNvPr>
          <p:cNvSpPr>
            <a:spLocks noGrp="1"/>
          </p:cNvSpPr>
          <p:nvPr>
            <p:ph type="title"/>
          </p:nvPr>
        </p:nvSpPr>
        <p:spPr/>
        <p:txBody>
          <a:bodyPr>
            <a:normAutofit/>
          </a:bodyPr>
          <a:lstStyle/>
          <a:p>
            <a:r>
              <a:rPr lang="it-IT">
                <a:solidFill>
                  <a:schemeClr val="bg1"/>
                </a:solidFill>
              </a:rPr>
              <a:t>APIM as AI Gateway for Production </a:t>
            </a:r>
          </a:p>
        </p:txBody>
      </p:sp>
      <p:sp>
        <p:nvSpPr>
          <p:cNvPr id="1032" name="TextBox 1031">
            <a:extLst>
              <a:ext uri="{FF2B5EF4-FFF2-40B4-BE49-F238E27FC236}">
                <a16:creationId xmlns:a16="http://schemas.microsoft.com/office/drawing/2014/main" id="{939B7A94-B946-9FAB-D871-B7438E5C0D20}"/>
              </a:ext>
            </a:extLst>
          </p:cNvPr>
          <p:cNvSpPr txBox="1">
            <a:spLocks/>
          </p:cNvSpPr>
          <p:nvPr/>
        </p:nvSpPr>
        <p:spPr>
          <a:xfrm>
            <a:off x="750564" y="1869164"/>
            <a:ext cx="2220570" cy="584775"/>
          </a:xfrm>
          <a:prstGeom prst="rect">
            <a:avLst/>
          </a:prstGeom>
          <a:noFill/>
        </p:spPr>
        <p:txBody>
          <a:bodyPr wrap="square" l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a:gradFill>
                  <a:gsLst>
                    <a:gs pos="0">
                      <a:srgbClr val="BDF2BD"/>
                    </a:gs>
                    <a:gs pos="100000">
                      <a:srgbClr val="C3E9FC"/>
                    </a:gs>
                  </a:gsLst>
                  <a:lin ang="5400000" scaled="1"/>
                </a:gradFill>
                <a:latin typeface="Segoe Sans Text Semibold"/>
              </a:rPr>
              <a:t>OpenAI service </a:t>
            </a:r>
            <a:br>
              <a:rPr lang="en-US" sz="1600">
                <a:gradFill>
                  <a:gsLst>
                    <a:gs pos="0">
                      <a:srgbClr val="BDF2BD"/>
                    </a:gs>
                    <a:gs pos="100000">
                      <a:srgbClr val="C3E9FC"/>
                    </a:gs>
                  </a:gsLst>
                  <a:lin ang="5400000" scaled="1"/>
                </a:gradFill>
                <a:latin typeface="Segoe Sans Text Semibold"/>
              </a:rPr>
            </a:br>
            <a:r>
              <a:rPr lang="en-US" sz="1600">
                <a:gradFill>
                  <a:gsLst>
                    <a:gs pos="0">
                      <a:srgbClr val="BDF2BD"/>
                    </a:gs>
                    <a:gs pos="100000">
                      <a:srgbClr val="C3E9FC"/>
                    </a:gs>
                  </a:gsLst>
                  <a:lin ang="5400000" scaled="1"/>
                </a:gradFill>
                <a:latin typeface="Segoe Sans Text Semibold"/>
              </a:rPr>
              <a:t>per use case</a:t>
            </a:r>
          </a:p>
        </p:txBody>
      </p:sp>
      <p:sp>
        <p:nvSpPr>
          <p:cNvPr id="1033" name="TextBox 1032">
            <a:extLst>
              <a:ext uri="{FF2B5EF4-FFF2-40B4-BE49-F238E27FC236}">
                <a16:creationId xmlns:a16="http://schemas.microsoft.com/office/drawing/2014/main" id="{C305DF9A-A1F3-45E4-34D3-D136327C694D}"/>
              </a:ext>
            </a:extLst>
          </p:cNvPr>
          <p:cNvSpPr txBox="1">
            <a:spLocks/>
          </p:cNvSpPr>
          <p:nvPr/>
        </p:nvSpPr>
        <p:spPr>
          <a:xfrm>
            <a:off x="750564" y="2847031"/>
            <a:ext cx="2220570" cy="338554"/>
          </a:xfrm>
          <a:prstGeom prst="rect">
            <a:avLst/>
          </a:prstGeom>
          <a:noFill/>
        </p:spPr>
        <p:txBody>
          <a:bodyPr wrap="square" lIns="0">
            <a:spAutoFit/>
          </a:bodyPr>
          <a:lstStyle/>
          <a:p>
            <a:pPr>
              <a:defRPr/>
            </a:pPr>
            <a:r>
              <a:rPr lang="en-US" sz="1600">
                <a:gradFill>
                  <a:gsLst>
                    <a:gs pos="0">
                      <a:srgbClr val="BDF2BD"/>
                    </a:gs>
                    <a:gs pos="100000">
                      <a:srgbClr val="C3E9FC"/>
                    </a:gs>
                  </a:gsLst>
                  <a:lin ang="5400000" scaled="1"/>
                </a:gradFill>
                <a:latin typeface="Segoe Sans Text Semibold"/>
              </a:rPr>
              <a:t>Using master keys</a:t>
            </a:r>
          </a:p>
        </p:txBody>
      </p:sp>
      <p:sp>
        <p:nvSpPr>
          <p:cNvPr id="1034" name="TextBox 19">
            <a:extLst>
              <a:ext uri="{FF2B5EF4-FFF2-40B4-BE49-F238E27FC236}">
                <a16:creationId xmlns:a16="http://schemas.microsoft.com/office/drawing/2014/main" id="{6606BD29-67BD-B25A-F149-EFDEABD7028D}"/>
              </a:ext>
            </a:extLst>
          </p:cNvPr>
          <p:cNvSpPr txBox="1">
            <a:spLocks/>
          </p:cNvSpPr>
          <p:nvPr/>
        </p:nvSpPr>
        <p:spPr>
          <a:xfrm>
            <a:off x="750565" y="3613128"/>
            <a:ext cx="2020574" cy="584775"/>
          </a:xfrm>
          <a:prstGeom prst="rect">
            <a:avLst/>
          </a:prstGeom>
          <a:noFill/>
        </p:spPr>
        <p:txBody>
          <a:bodyPr wrap="square" lIns="0">
            <a:spAutoFit/>
          </a:bodyPr>
          <a:lstStyle>
            <a:defPPr>
              <a:defRPr lang="en-US"/>
            </a:defPPr>
            <a:lvl1pPr>
              <a:defRPr sz="1600">
                <a:gradFill>
                  <a:gsLst>
                    <a:gs pos="0">
                      <a:srgbClr val="BDF2BD"/>
                    </a:gs>
                    <a:gs pos="100000">
                      <a:srgbClr val="C3E9FC"/>
                    </a:gs>
                  </a:gsLst>
                  <a:lin ang="5400000" scaled="1"/>
                </a:gradFill>
                <a:latin typeface="Segoe Sans Text Semibold"/>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Different endpoint per AI service</a:t>
            </a:r>
          </a:p>
        </p:txBody>
      </p:sp>
      <p:sp>
        <p:nvSpPr>
          <p:cNvPr id="1035" name="TextBox 21">
            <a:extLst>
              <a:ext uri="{FF2B5EF4-FFF2-40B4-BE49-F238E27FC236}">
                <a16:creationId xmlns:a16="http://schemas.microsoft.com/office/drawing/2014/main" id="{B07CFFFE-7200-E54A-E085-0EA43A3FD39E}"/>
              </a:ext>
            </a:extLst>
          </p:cNvPr>
          <p:cNvSpPr txBox="1">
            <a:spLocks/>
          </p:cNvSpPr>
          <p:nvPr/>
        </p:nvSpPr>
        <p:spPr>
          <a:xfrm>
            <a:off x="750564" y="4501813"/>
            <a:ext cx="2257177" cy="584775"/>
          </a:xfrm>
          <a:prstGeom prst="rect">
            <a:avLst/>
          </a:prstGeom>
          <a:noFill/>
        </p:spPr>
        <p:txBody>
          <a:bodyPr wrap="square" lIns="0">
            <a:spAutoFit/>
          </a:bodyPr>
          <a:lstStyle>
            <a:defPPr>
              <a:defRPr lang="en-US"/>
            </a:defPPr>
            <a:lvl1pPr>
              <a:defRPr sz="1600">
                <a:gradFill>
                  <a:gsLst>
                    <a:gs pos="0">
                      <a:srgbClr val="BDF2BD"/>
                    </a:gs>
                    <a:gs pos="100000">
                      <a:srgbClr val="C3E9FC"/>
                    </a:gs>
                  </a:gsLst>
                  <a:lin ang="5400000" scaled="1"/>
                </a:gradFill>
                <a:latin typeface="Segoe Sans Text Semibold"/>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Many tools, </a:t>
            </a:r>
            <a:br>
              <a:rPr lang="en-US"/>
            </a:br>
            <a:r>
              <a:rPr lang="en-US"/>
              <a:t>ad hoc deployments</a:t>
            </a:r>
          </a:p>
        </p:txBody>
      </p:sp>
      <p:sp>
        <p:nvSpPr>
          <p:cNvPr id="1036" name="TextBox 20">
            <a:extLst>
              <a:ext uri="{FF2B5EF4-FFF2-40B4-BE49-F238E27FC236}">
                <a16:creationId xmlns:a16="http://schemas.microsoft.com/office/drawing/2014/main" id="{EDC820A0-91FB-8BD0-AA3C-4ED3DBC25423}"/>
              </a:ext>
            </a:extLst>
          </p:cNvPr>
          <p:cNvSpPr txBox="1">
            <a:spLocks/>
          </p:cNvSpPr>
          <p:nvPr/>
        </p:nvSpPr>
        <p:spPr>
          <a:xfrm>
            <a:off x="750564" y="5430535"/>
            <a:ext cx="2299656" cy="584775"/>
          </a:xfrm>
          <a:prstGeom prst="rect">
            <a:avLst/>
          </a:prstGeom>
          <a:noFill/>
        </p:spPr>
        <p:txBody>
          <a:bodyPr wrap="square" lIns="0">
            <a:spAutoFit/>
          </a:bodyPr>
          <a:lstStyle>
            <a:defPPr>
              <a:defRPr lang="en-US"/>
            </a:defPPr>
            <a:lvl1pPr>
              <a:defRPr sz="1600">
                <a:gradFill>
                  <a:gsLst>
                    <a:gs pos="0">
                      <a:srgbClr val="BDF2BD"/>
                    </a:gs>
                    <a:gs pos="100000">
                      <a:srgbClr val="C3E9FC"/>
                    </a:gs>
                  </a:gsLst>
                  <a:lin ang="5400000" scaled="1"/>
                </a:gradFill>
                <a:latin typeface="Segoe Sans Text Semibold"/>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Decentralized governance</a:t>
            </a:r>
          </a:p>
        </p:txBody>
      </p:sp>
      <p:sp>
        <p:nvSpPr>
          <p:cNvPr id="1041" name="Rectangle 1040">
            <a:extLst>
              <a:ext uri="{FF2B5EF4-FFF2-40B4-BE49-F238E27FC236}">
                <a16:creationId xmlns:a16="http://schemas.microsoft.com/office/drawing/2014/main" id="{72EBA5B9-76C1-9A6A-86AE-E94F6582EE31}"/>
              </a:ext>
            </a:extLst>
          </p:cNvPr>
          <p:cNvSpPr/>
          <p:nvPr/>
        </p:nvSpPr>
        <p:spPr bwMode="auto">
          <a:xfrm>
            <a:off x="750564" y="1163084"/>
            <a:ext cx="2228324" cy="450495"/>
          </a:xfrm>
          <a:prstGeom prst="rect">
            <a:avLst/>
          </a:prstGeom>
          <a:noFill/>
          <a:ln>
            <a:noFill/>
          </a:ln>
          <a:effectLst/>
        </p:spPr>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a:defRPr/>
            </a:pPr>
            <a:r>
              <a:rPr lang="en-US">
                <a:solidFill>
                  <a:srgbClr val="FFFFFF"/>
                </a:solidFill>
                <a:latin typeface="Segoe Sans Text ExtraBold" pitchFamily="2" charset="0"/>
                <a:cs typeface="Segoe Sans Text ExtraBold" pitchFamily="2" charset="0"/>
              </a:rPr>
              <a:t>Traditional </a:t>
            </a:r>
          </a:p>
        </p:txBody>
      </p:sp>
      <p:cxnSp>
        <p:nvCxnSpPr>
          <p:cNvPr id="14" name="Straight Connector 13">
            <a:extLst>
              <a:ext uri="{FF2B5EF4-FFF2-40B4-BE49-F238E27FC236}">
                <a16:creationId xmlns:a16="http://schemas.microsoft.com/office/drawing/2014/main" id="{034AC301-ECEA-87CE-2C13-1F9B750447F8}"/>
              </a:ext>
            </a:extLst>
          </p:cNvPr>
          <p:cNvCxnSpPr/>
          <p:nvPr/>
        </p:nvCxnSpPr>
        <p:spPr>
          <a:xfrm>
            <a:off x="750564" y="2623770"/>
            <a:ext cx="10598156" cy="0"/>
          </a:xfrm>
          <a:prstGeom prst="line">
            <a:avLst/>
          </a:prstGeom>
          <a:ln w="635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E2C112B-C43C-A5B6-D176-74D60D14E5BB}"/>
              </a:ext>
            </a:extLst>
          </p:cNvPr>
          <p:cNvCxnSpPr/>
          <p:nvPr/>
        </p:nvCxnSpPr>
        <p:spPr>
          <a:xfrm>
            <a:off x="750564" y="3511242"/>
            <a:ext cx="10598156" cy="0"/>
          </a:xfrm>
          <a:prstGeom prst="line">
            <a:avLst/>
          </a:prstGeom>
          <a:ln w="635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9422566-169B-8713-CA7B-1E3D2882E609}"/>
              </a:ext>
            </a:extLst>
          </p:cNvPr>
          <p:cNvCxnSpPr/>
          <p:nvPr/>
        </p:nvCxnSpPr>
        <p:spPr>
          <a:xfrm>
            <a:off x="750564" y="4398714"/>
            <a:ext cx="10598156" cy="0"/>
          </a:xfrm>
          <a:prstGeom prst="line">
            <a:avLst/>
          </a:prstGeom>
          <a:ln w="635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ECA929-28D2-978B-A3A6-CAB60EB17C96}"/>
              </a:ext>
            </a:extLst>
          </p:cNvPr>
          <p:cNvCxnSpPr/>
          <p:nvPr/>
        </p:nvCxnSpPr>
        <p:spPr>
          <a:xfrm>
            <a:off x="750564" y="5286185"/>
            <a:ext cx="10598156" cy="0"/>
          </a:xfrm>
          <a:prstGeom prst="line">
            <a:avLst/>
          </a:prstGeom>
          <a:ln w="635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EA8243D3-DF19-B84E-503E-CB3D9860604E}"/>
              </a:ext>
            </a:extLst>
          </p:cNvPr>
          <p:cNvGrpSpPr/>
          <p:nvPr/>
        </p:nvGrpSpPr>
        <p:grpSpPr>
          <a:xfrm>
            <a:off x="3188193" y="2058518"/>
            <a:ext cx="225566" cy="225566"/>
            <a:chOff x="7032873" y="3209897"/>
            <a:chExt cx="204632" cy="204632"/>
          </a:xfrm>
        </p:grpSpPr>
        <p:sp>
          <p:nvSpPr>
            <p:cNvPr id="19" name="Rectangle: Rounded Corners 18">
              <a:extLst>
                <a:ext uri="{FF2B5EF4-FFF2-40B4-BE49-F238E27FC236}">
                  <a16:creationId xmlns:a16="http://schemas.microsoft.com/office/drawing/2014/main" id="{D7D31482-F478-2022-28F5-23A663A4BB07}"/>
                </a:ext>
              </a:extLst>
            </p:cNvPr>
            <p:cNvSpPr>
              <a:spLocks/>
            </p:cNvSpPr>
            <p:nvPr/>
          </p:nvSpPr>
          <p:spPr bwMode="auto">
            <a:xfrm>
              <a:off x="7032873" y="3209897"/>
              <a:ext cx="204632" cy="204632"/>
            </a:xfrm>
            <a:prstGeom prst="roundRect">
              <a:avLst>
                <a:gd name="adj" fmla="val 5291"/>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200">
                <a:solidFill>
                  <a:schemeClr val="tx2"/>
                </a:solidFill>
                <a:latin typeface="+mj-lt"/>
                <a:cs typeface="Segoe Sans Text" pitchFamily="2" charset="0"/>
              </a:endParaRPr>
            </a:p>
          </p:txBody>
        </p:sp>
        <p:sp>
          <p:nvSpPr>
            <p:cNvPr id="20" name="Freeform: Shape 239">
              <a:extLst>
                <a:ext uri="{FF2B5EF4-FFF2-40B4-BE49-F238E27FC236}">
                  <a16:creationId xmlns:a16="http://schemas.microsoft.com/office/drawing/2014/main" id="{3E750BF7-71F0-902F-E55C-56CE87331B14}"/>
                </a:ext>
              </a:extLst>
            </p:cNvPr>
            <p:cNvSpPr/>
            <p:nvPr/>
          </p:nvSpPr>
          <p:spPr>
            <a:xfrm rot="5400000">
              <a:off x="7073218" y="3273041"/>
              <a:ext cx="123885" cy="7834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chemeClr val="tx2"/>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21" name="Group 20">
            <a:extLst>
              <a:ext uri="{FF2B5EF4-FFF2-40B4-BE49-F238E27FC236}">
                <a16:creationId xmlns:a16="http://schemas.microsoft.com/office/drawing/2014/main" id="{4370ACC8-4582-61D3-3135-B8CDEBDDCE99}"/>
              </a:ext>
            </a:extLst>
          </p:cNvPr>
          <p:cNvGrpSpPr/>
          <p:nvPr/>
        </p:nvGrpSpPr>
        <p:grpSpPr>
          <a:xfrm>
            <a:off x="3188193" y="2954344"/>
            <a:ext cx="225566" cy="225566"/>
            <a:chOff x="7032873" y="3209897"/>
            <a:chExt cx="204632" cy="204632"/>
          </a:xfrm>
        </p:grpSpPr>
        <p:sp>
          <p:nvSpPr>
            <p:cNvPr id="22" name="Rectangle: Rounded Corners 21">
              <a:extLst>
                <a:ext uri="{FF2B5EF4-FFF2-40B4-BE49-F238E27FC236}">
                  <a16:creationId xmlns:a16="http://schemas.microsoft.com/office/drawing/2014/main" id="{081773AA-4473-828D-7B88-BF30DFD8C218}"/>
                </a:ext>
              </a:extLst>
            </p:cNvPr>
            <p:cNvSpPr>
              <a:spLocks/>
            </p:cNvSpPr>
            <p:nvPr/>
          </p:nvSpPr>
          <p:spPr bwMode="auto">
            <a:xfrm>
              <a:off x="7032873" y="3209897"/>
              <a:ext cx="204632" cy="204632"/>
            </a:xfrm>
            <a:prstGeom prst="roundRect">
              <a:avLst>
                <a:gd name="adj" fmla="val 5291"/>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200">
                <a:solidFill>
                  <a:schemeClr val="tx2"/>
                </a:solidFill>
                <a:latin typeface="+mj-lt"/>
                <a:cs typeface="Segoe Sans Text" pitchFamily="2" charset="0"/>
              </a:endParaRPr>
            </a:p>
          </p:txBody>
        </p:sp>
        <p:sp>
          <p:nvSpPr>
            <p:cNvPr id="23" name="Freeform: Shape 239">
              <a:extLst>
                <a:ext uri="{FF2B5EF4-FFF2-40B4-BE49-F238E27FC236}">
                  <a16:creationId xmlns:a16="http://schemas.microsoft.com/office/drawing/2014/main" id="{D062DE69-CBCF-28D6-421C-BDEBBE2E0AD4}"/>
                </a:ext>
              </a:extLst>
            </p:cNvPr>
            <p:cNvSpPr/>
            <p:nvPr/>
          </p:nvSpPr>
          <p:spPr>
            <a:xfrm rot="5400000">
              <a:off x="7073218" y="3273041"/>
              <a:ext cx="123885" cy="7834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chemeClr val="tx2"/>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24" name="Group 23">
            <a:extLst>
              <a:ext uri="{FF2B5EF4-FFF2-40B4-BE49-F238E27FC236}">
                <a16:creationId xmlns:a16="http://schemas.microsoft.com/office/drawing/2014/main" id="{1175AE3B-52C9-9181-347C-AC3E046CB9EE}"/>
              </a:ext>
            </a:extLst>
          </p:cNvPr>
          <p:cNvGrpSpPr/>
          <p:nvPr/>
        </p:nvGrpSpPr>
        <p:grpSpPr>
          <a:xfrm>
            <a:off x="3188193" y="3850170"/>
            <a:ext cx="225566" cy="225566"/>
            <a:chOff x="7032873" y="3209897"/>
            <a:chExt cx="204632" cy="204632"/>
          </a:xfrm>
        </p:grpSpPr>
        <p:sp>
          <p:nvSpPr>
            <p:cNvPr id="25" name="Rectangle: Rounded Corners 24">
              <a:extLst>
                <a:ext uri="{FF2B5EF4-FFF2-40B4-BE49-F238E27FC236}">
                  <a16:creationId xmlns:a16="http://schemas.microsoft.com/office/drawing/2014/main" id="{3F34271E-B2B0-2BA8-A2A7-D9749E4C5EC2}"/>
                </a:ext>
              </a:extLst>
            </p:cNvPr>
            <p:cNvSpPr>
              <a:spLocks/>
            </p:cNvSpPr>
            <p:nvPr/>
          </p:nvSpPr>
          <p:spPr bwMode="auto">
            <a:xfrm>
              <a:off x="7032873" y="3209897"/>
              <a:ext cx="204632" cy="204632"/>
            </a:xfrm>
            <a:prstGeom prst="roundRect">
              <a:avLst>
                <a:gd name="adj" fmla="val 5291"/>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200">
                <a:solidFill>
                  <a:schemeClr val="tx2"/>
                </a:solidFill>
                <a:latin typeface="+mj-lt"/>
                <a:cs typeface="Segoe Sans Text" pitchFamily="2" charset="0"/>
              </a:endParaRPr>
            </a:p>
          </p:txBody>
        </p:sp>
        <p:sp>
          <p:nvSpPr>
            <p:cNvPr id="26" name="Freeform: Shape 239">
              <a:extLst>
                <a:ext uri="{FF2B5EF4-FFF2-40B4-BE49-F238E27FC236}">
                  <a16:creationId xmlns:a16="http://schemas.microsoft.com/office/drawing/2014/main" id="{4A3F0859-3BE6-4688-39E6-604AE557FEE7}"/>
                </a:ext>
              </a:extLst>
            </p:cNvPr>
            <p:cNvSpPr/>
            <p:nvPr/>
          </p:nvSpPr>
          <p:spPr>
            <a:xfrm rot="5400000">
              <a:off x="7073218" y="3273041"/>
              <a:ext cx="123885" cy="7834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chemeClr val="tx2"/>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27" name="Group 26">
            <a:extLst>
              <a:ext uri="{FF2B5EF4-FFF2-40B4-BE49-F238E27FC236}">
                <a16:creationId xmlns:a16="http://schemas.microsoft.com/office/drawing/2014/main" id="{985DD0A9-7558-3739-2E99-C90491AE738A}"/>
              </a:ext>
            </a:extLst>
          </p:cNvPr>
          <p:cNvGrpSpPr/>
          <p:nvPr/>
        </p:nvGrpSpPr>
        <p:grpSpPr>
          <a:xfrm>
            <a:off x="3188193" y="4745996"/>
            <a:ext cx="225566" cy="225566"/>
            <a:chOff x="7032873" y="3209897"/>
            <a:chExt cx="204632" cy="204632"/>
          </a:xfrm>
        </p:grpSpPr>
        <p:sp>
          <p:nvSpPr>
            <p:cNvPr id="28" name="Rectangle: Rounded Corners 27">
              <a:extLst>
                <a:ext uri="{FF2B5EF4-FFF2-40B4-BE49-F238E27FC236}">
                  <a16:creationId xmlns:a16="http://schemas.microsoft.com/office/drawing/2014/main" id="{8AC12B0A-0129-9BD6-C63E-655A39A7C648}"/>
                </a:ext>
              </a:extLst>
            </p:cNvPr>
            <p:cNvSpPr>
              <a:spLocks/>
            </p:cNvSpPr>
            <p:nvPr/>
          </p:nvSpPr>
          <p:spPr bwMode="auto">
            <a:xfrm>
              <a:off x="7032873" y="3209897"/>
              <a:ext cx="204632" cy="204632"/>
            </a:xfrm>
            <a:prstGeom prst="roundRect">
              <a:avLst>
                <a:gd name="adj" fmla="val 5291"/>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200">
                <a:solidFill>
                  <a:schemeClr val="tx2"/>
                </a:solidFill>
                <a:latin typeface="+mj-lt"/>
                <a:cs typeface="Segoe Sans Text" pitchFamily="2" charset="0"/>
              </a:endParaRPr>
            </a:p>
          </p:txBody>
        </p:sp>
        <p:sp>
          <p:nvSpPr>
            <p:cNvPr id="29" name="Freeform: Shape 239">
              <a:extLst>
                <a:ext uri="{FF2B5EF4-FFF2-40B4-BE49-F238E27FC236}">
                  <a16:creationId xmlns:a16="http://schemas.microsoft.com/office/drawing/2014/main" id="{71C0B2BC-C31E-F7FA-1C22-21BC46CAD9AB}"/>
                </a:ext>
              </a:extLst>
            </p:cNvPr>
            <p:cNvSpPr/>
            <p:nvPr/>
          </p:nvSpPr>
          <p:spPr>
            <a:xfrm rot="5400000">
              <a:off x="7073218" y="3273041"/>
              <a:ext cx="123885" cy="7834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chemeClr val="tx2"/>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30" name="Group 29">
            <a:extLst>
              <a:ext uri="{FF2B5EF4-FFF2-40B4-BE49-F238E27FC236}">
                <a16:creationId xmlns:a16="http://schemas.microsoft.com/office/drawing/2014/main" id="{55343B28-4755-CC6D-8AAE-C9EA004DA404}"/>
              </a:ext>
            </a:extLst>
          </p:cNvPr>
          <p:cNvGrpSpPr/>
          <p:nvPr/>
        </p:nvGrpSpPr>
        <p:grpSpPr>
          <a:xfrm>
            <a:off x="3188193" y="5641821"/>
            <a:ext cx="225566" cy="225566"/>
            <a:chOff x="7032873" y="3209897"/>
            <a:chExt cx="204632" cy="204632"/>
          </a:xfrm>
        </p:grpSpPr>
        <p:sp>
          <p:nvSpPr>
            <p:cNvPr id="31" name="Rectangle: Rounded Corners 30">
              <a:extLst>
                <a:ext uri="{FF2B5EF4-FFF2-40B4-BE49-F238E27FC236}">
                  <a16:creationId xmlns:a16="http://schemas.microsoft.com/office/drawing/2014/main" id="{A15D9826-FE91-9B0F-A2B3-1E8B2DE6DA80}"/>
                </a:ext>
              </a:extLst>
            </p:cNvPr>
            <p:cNvSpPr>
              <a:spLocks/>
            </p:cNvSpPr>
            <p:nvPr/>
          </p:nvSpPr>
          <p:spPr bwMode="auto">
            <a:xfrm>
              <a:off x="7032873" y="3209897"/>
              <a:ext cx="204632" cy="204632"/>
            </a:xfrm>
            <a:prstGeom prst="roundRect">
              <a:avLst>
                <a:gd name="adj" fmla="val 5291"/>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11430" numCol="1" spcCol="0" rtlCol="0" fromWordArt="0" anchor="ctr" anchorCtr="0" forceAA="0" compatLnSpc="1">
              <a:prstTxWarp prst="textNoShape">
                <a:avLst/>
              </a:prstTxWarp>
              <a:noAutofit/>
            </a:bodyPr>
            <a:lstStyle/>
            <a:p>
              <a:pPr algn="ctr" defTabSz="564085" fontAlgn="base">
                <a:spcBef>
                  <a:spcPct val="0"/>
                </a:spcBef>
                <a:spcAft>
                  <a:spcPct val="0"/>
                </a:spcAft>
              </a:pPr>
              <a:endParaRPr lang="en-GB" sz="1200">
                <a:solidFill>
                  <a:schemeClr val="tx2"/>
                </a:solidFill>
                <a:latin typeface="+mj-lt"/>
                <a:cs typeface="Segoe Sans Text" pitchFamily="2" charset="0"/>
              </a:endParaRPr>
            </a:p>
          </p:txBody>
        </p:sp>
        <p:sp>
          <p:nvSpPr>
            <p:cNvPr id="32" name="Freeform: Shape 239">
              <a:extLst>
                <a:ext uri="{FF2B5EF4-FFF2-40B4-BE49-F238E27FC236}">
                  <a16:creationId xmlns:a16="http://schemas.microsoft.com/office/drawing/2014/main" id="{C10B7FBA-5313-F2C8-E8E7-059C222033CC}"/>
                </a:ext>
              </a:extLst>
            </p:cNvPr>
            <p:cNvSpPr/>
            <p:nvPr/>
          </p:nvSpPr>
          <p:spPr>
            <a:xfrm rot="5400000">
              <a:off x="7073218" y="3273041"/>
              <a:ext cx="123885" cy="7834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chemeClr val="tx2"/>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1203" name="Group 1202">
            <a:extLst>
              <a:ext uri="{FF2B5EF4-FFF2-40B4-BE49-F238E27FC236}">
                <a16:creationId xmlns:a16="http://schemas.microsoft.com/office/drawing/2014/main" id="{0F358AA7-AAC5-C0EA-B1A4-A6175871EA76}"/>
              </a:ext>
            </a:extLst>
          </p:cNvPr>
          <p:cNvGrpSpPr/>
          <p:nvPr/>
        </p:nvGrpSpPr>
        <p:grpSpPr>
          <a:xfrm>
            <a:off x="3300976" y="1407160"/>
            <a:ext cx="8351686" cy="5120085"/>
            <a:chOff x="3300976" y="1407160"/>
            <a:chExt cx="8351686" cy="5120085"/>
          </a:xfrm>
        </p:grpSpPr>
        <p:sp>
          <p:nvSpPr>
            <p:cNvPr id="6" name="Rectangle: Rounded Corners 5">
              <a:extLst>
                <a:ext uri="{FF2B5EF4-FFF2-40B4-BE49-F238E27FC236}">
                  <a16:creationId xmlns:a16="http://schemas.microsoft.com/office/drawing/2014/main" id="{12C08433-319F-DB08-A805-6527122FC2F4}"/>
                </a:ext>
              </a:extLst>
            </p:cNvPr>
            <p:cNvSpPr>
              <a:spLocks/>
            </p:cNvSpPr>
            <p:nvPr/>
          </p:nvSpPr>
          <p:spPr bwMode="auto">
            <a:xfrm>
              <a:off x="3300976" y="1407160"/>
              <a:ext cx="8262380" cy="4826023"/>
            </a:xfrm>
            <a:prstGeom prst="roundRect">
              <a:avLst>
                <a:gd name="adj" fmla="val 2006"/>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037" name="TextBox 1036">
              <a:extLst>
                <a:ext uri="{FF2B5EF4-FFF2-40B4-BE49-F238E27FC236}">
                  <a16:creationId xmlns:a16="http://schemas.microsoft.com/office/drawing/2014/main" id="{AD482248-4CFA-3EC4-FB5B-B0A2C4A5F7E2}"/>
                </a:ext>
              </a:extLst>
            </p:cNvPr>
            <p:cNvSpPr txBox="1"/>
            <p:nvPr/>
          </p:nvSpPr>
          <p:spPr>
            <a:xfrm>
              <a:off x="4363490" y="1822438"/>
              <a:ext cx="2236777"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rPr>
                <a:t>Central AI Gateway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Multiple use cases using consistent hub</a:t>
              </a:r>
            </a:p>
          </p:txBody>
        </p:sp>
        <p:sp>
          <p:nvSpPr>
            <p:cNvPr id="1042" name="TextBox 1041">
              <a:extLst>
                <a:ext uri="{FF2B5EF4-FFF2-40B4-BE49-F238E27FC236}">
                  <a16:creationId xmlns:a16="http://schemas.microsoft.com/office/drawing/2014/main" id="{D3CF50E5-B996-65B0-F88E-8117A27F9ABF}"/>
                </a:ext>
              </a:extLst>
            </p:cNvPr>
            <p:cNvSpPr txBox="1"/>
            <p:nvPr/>
          </p:nvSpPr>
          <p:spPr>
            <a:xfrm>
              <a:off x="4363490" y="2705050"/>
              <a:ext cx="2089457"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rPr>
                <a:t>AI routing engine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Based on performance, model or priority</a:t>
              </a:r>
            </a:p>
          </p:txBody>
        </p:sp>
        <p:sp>
          <p:nvSpPr>
            <p:cNvPr id="1043" name="TextBox 1042">
              <a:extLst>
                <a:ext uri="{FF2B5EF4-FFF2-40B4-BE49-F238E27FC236}">
                  <a16:creationId xmlns:a16="http://schemas.microsoft.com/office/drawing/2014/main" id="{1D8A4135-6430-F6EE-A79E-EF5131F969D0}"/>
                </a:ext>
              </a:extLst>
            </p:cNvPr>
            <p:cNvSpPr txBox="1"/>
            <p:nvPr/>
          </p:nvSpPr>
          <p:spPr>
            <a:xfrm>
              <a:off x="4363490" y="3587662"/>
              <a:ext cx="2651060"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rPr>
                <a:t>Capacity management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Flexible rate limiting based                      on requests/tokens </a:t>
              </a:r>
            </a:p>
          </p:txBody>
        </p:sp>
        <p:sp>
          <p:nvSpPr>
            <p:cNvPr id="1046" name="TextBox 1045">
              <a:extLst>
                <a:ext uri="{FF2B5EF4-FFF2-40B4-BE49-F238E27FC236}">
                  <a16:creationId xmlns:a16="http://schemas.microsoft.com/office/drawing/2014/main" id="{79915B79-8BDA-40EF-D713-2ACD949F8BE6}"/>
                </a:ext>
              </a:extLst>
            </p:cNvPr>
            <p:cNvSpPr txBox="1"/>
            <p:nvPr/>
          </p:nvSpPr>
          <p:spPr>
            <a:xfrm>
              <a:off x="8582398" y="1833658"/>
              <a:ext cx="2651060"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rPr>
                <a:t>Seamless integration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Just update endpoint and keys             in existing apps &amp; frameworks</a:t>
              </a:r>
            </a:p>
          </p:txBody>
        </p:sp>
        <p:sp>
          <p:nvSpPr>
            <p:cNvPr id="1047" name="TextBox 1046">
              <a:extLst>
                <a:ext uri="{FF2B5EF4-FFF2-40B4-BE49-F238E27FC236}">
                  <a16:creationId xmlns:a16="http://schemas.microsoft.com/office/drawing/2014/main" id="{2AE7364D-723A-9584-35D8-53F01860DA94}"/>
                </a:ext>
              </a:extLst>
            </p:cNvPr>
            <p:cNvSpPr txBox="1"/>
            <p:nvPr/>
          </p:nvSpPr>
          <p:spPr>
            <a:xfrm>
              <a:off x="4361489" y="5363047"/>
              <a:ext cx="2782619"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rPr>
                <a:t>Granular access control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No master keys are used,                          only gateway keys</a:t>
              </a:r>
            </a:p>
          </p:txBody>
        </p:sp>
        <p:sp>
          <p:nvSpPr>
            <p:cNvPr id="1048" name="TextBox 1047">
              <a:extLst>
                <a:ext uri="{FF2B5EF4-FFF2-40B4-BE49-F238E27FC236}">
                  <a16:creationId xmlns:a16="http://schemas.microsoft.com/office/drawing/2014/main" id="{5578D182-E5E7-170E-8CE0-288905121C19}"/>
                </a:ext>
              </a:extLst>
            </p:cNvPr>
            <p:cNvSpPr txBox="1"/>
            <p:nvPr/>
          </p:nvSpPr>
          <p:spPr>
            <a:xfrm>
              <a:off x="8591810" y="3607572"/>
              <a:ext cx="2651060"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rPr>
                <a:t>Resiliency</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Enabling building highly                        reliable AI apps</a:t>
              </a:r>
            </a:p>
          </p:txBody>
        </p:sp>
        <p:sp>
          <p:nvSpPr>
            <p:cNvPr id="1051" name="TextBox 1050">
              <a:extLst>
                <a:ext uri="{FF2B5EF4-FFF2-40B4-BE49-F238E27FC236}">
                  <a16:creationId xmlns:a16="http://schemas.microsoft.com/office/drawing/2014/main" id="{AE9796BB-8E18-A841-F0C4-8CBD7C713287}"/>
                </a:ext>
              </a:extLst>
            </p:cNvPr>
            <p:cNvSpPr txBox="1"/>
            <p:nvPr/>
          </p:nvSpPr>
          <p:spPr>
            <a:xfrm>
              <a:off x="8591809" y="2720615"/>
              <a:ext cx="2585467" cy="707886"/>
            </a:xfrm>
            <a:prstGeom prst="rect">
              <a:avLst/>
            </a:prstGeom>
            <a:noFill/>
          </p:spPr>
          <p:txBody>
            <a:bodyPr wrap="square" lIns="91440" tIns="45720" rIns="91440" bIns="4572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rPr>
                <a:t>Pluggable Architecture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Centrally add new capabilities                 to your AI pipelines</a:t>
              </a:r>
              <a:endParaRPr kumimoji="0" lang="en-US" sz="1200" b="0" i="0" u="none" strike="noStrike" kern="0" cap="none" spc="0" normalizeH="0" baseline="0" noProof="0">
                <a:ln>
                  <a:noFill/>
                </a:ln>
                <a:solidFill>
                  <a:schemeClr val="bg1"/>
                </a:solidFill>
                <a:effectLst/>
                <a:uLnTx/>
                <a:uFillTx/>
                <a:cs typeface="Segoe Sans Text" pitchFamily="2" charset="0"/>
              </a:endParaRPr>
            </a:p>
          </p:txBody>
        </p:sp>
        <p:sp>
          <p:nvSpPr>
            <p:cNvPr id="1082" name="TextBox 1081">
              <a:extLst>
                <a:ext uri="{FF2B5EF4-FFF2-40B4-BE49-F238E27FC236}">
                  <a16:creationId xmlns:a16="http://schemas.microsoft.com/office/drawing/2014/main" id="{48CA5736-5CEB-CABE-2B4A-241E56E950A0}"/>
                </a:ext>
              </a:extLst>
            </p:cNvPr>
            <p:cNvSpPr txBox="1"/>
            <p:nvPr/>
          </p:nvSpPr>
          <p:spPr>
            <a:xfrm>
              <a:off x="4363489" y="4470274"/>
              <a:ext cx="2651060"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rPr>
                <a:t>Usage metrics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Generate usage reports                  for each use-case/team</a:t>
              </a:r>
            </a:p>
          </p:txBody>
        </p:sp>
        <p:sp>
          <p:nvSpPr>
            <p:cNvPr id="1085" name="TextBox 1084">
              <a:extLst>
                <a:ext uri="{FF2B5EF4-FFF2-40B4-BE49-F238E27FC236}">
                  <a16:creationId xmlns:a16="http://schemas.microsoft.com/office/drawing/2014/main" id="{F75CF01F-7CA3-EB82-3F72-B7A52D54E725}"/>
                </a:ext>
              </a:extLst>
            </p:cNvPr>
            <p:cNvSpPr txBox="1"/>
            <p:nvPr/>
          </p:nvSpPr>
          <p:spPr>
            <a:xfrm>
              <a:off x="8573563" y="4494529"/>
              <a:ext cx="2651060"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rPr>
                <a:t>Full observability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Detailed insights for performance and exceptions</a:t>
              </a:r>
            </a:p>
          </p:txBody>
        </p:sp>
        <p:sp>
          <p:nvSpPr>
            <p:cNvPr id="1089" name="TextBox 1088">
              <a:extLst>
                <a:ext uri="{FF2B5EF4-FFF2-40B4-BE49-F238E27FC236}">
                  <a16:creationId xmlns:a16="http://schemas.microsoft.com/office/drawing/2014/main" id="{1AA8E168-7EE2-4291-A44E-2419C182547D}"/>
                </a:ext>
              </a:extLst>
            </p:cNvPr>
            <p:cNvSpPr txBox="1"/>
            <p:nvPr/>
          </p:nvSpPr>
          <p:spPr>
            <a:xfrm>
              <a:off x="8591810" y="5391645"/>
              <a:ext cx="2651060" cy="70788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rPr>
                <a:t>Hybrid support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bg1"/>
                  </a:solidFill>
                  <a:effectLst/>
                  <a:uLnTx/>
                  <a:uFillTx/>
                </a:rPr>
                <a:t>Central gateway &amp; backends               can be deployed on-premises</a:t>
              </a:r>
            </a:p>
          </p:txBody>
        </p:sp>
        <p:sp>
          <p:nvSpPr>
            <p:cNvPr id="1096" name="TextBox 1095">
              <a:extLst>
                <a:ext uri="{FF2B5EF4-FFF2-40B4-BE49-F238E27FC236}">
                  <a16:creationId xmlns:a16="http://schemas.microsoft.com/office/drawing/2014/main" id="{79012417-5BE9-847A-694C-BE9807BDE99E}"/>
                </a:ext>
              </a:extLst>
            </p:cNvPr>
            <p:cNvSpPr txBox="1"/>
            <p:nvPr/>
          </p:nvSpPr>
          <p:spPr>
            <a:xfrm>
              <a:off x="3482602" y="6265635"/>
              <a:ext cx="8170060" cy="261610"/>
            </a:xfrm>
            <a:prstGeom prst="rect">
              <a:avLst/>
            </a:prstGeom>
            <a:noFill/>
          </p:spPr>
          <p:txBody>
            <a:bodyPr wrap="square">
              <a:spAutoFit/>
            </a:bodyPr>
            <a:lstStyle/>
            <a:p>
              <a:pPr algn="r"/>
              <a:r>
                <a:rPr lang="en-US" sz="1100">
                  <a:solidFill>
                    <a:schemeClr val="bg1"/>
                  </a:solidFill>
                  <a:hlinkClick r:id="rId3">
                    <a:extLst>
                      <a:ext uri="{A12FA001-AC4F-418D-AE19-62706E023703}">
                        <ahyp:hlinkClr xmlns:ahyp="http://schemas.microsoft.com/office/drawing/2018/hyperlinkcolor" val="tx"/>
                      </a:ext>
                    </a:extLst>
                  </a:hlinkClick>
                </a:rPr>
                <a:t>https://github.com/Azure-Samples/ai-hub-gateway-solution-accelerator</a:t>
              </a:r>
              <a:endParaRPr lang="en-US" sz="1100">
                <a:solidFill>
                  <a:schemeClr val="bg1"/>
                </a:solidFill>
              </a:endParaRPr>
            </a:p>
          </p:txBody>
        </p:sp>
        <p:grpSp>
          <p:nvGrpSpPr>
            <p:cNvPr id="34" name="Group 33">
              <a:extLst>
                <a:ext uri="{FF2B5EF4-FFF2-40B4-BE49-F238E27FC236}">
                  <a16:creationId xmlns:a16="http://schemas.microsoft.com/office/drawing/2014/main" id="{3F0D4814-FE27-7204-F3D7-F8B72F58A4D0}"/>
                </a:ext>
              </a:extLst>
            </p:cNvPr>
            <p:cNvGrpSpPr/>
            <p:nvPr/>
          </p:nvGrpSpPr>
          <p:grpSpPr>
            <a:xfrm>
              <a:off x="3688544" y="1860969"/>
              <a:ext cx="582265" cy="582432"/>
              <a:chOff x="1600003" y="1811018"/>
              <a:chExt cx="1641521" cy="1641995"/>
            </a:xfrm>
          </p:grpSpPr>
          <p:sp>
            <p:nvSpPr>
              <p:cNvPr id="35" name="Oval 17">
                <a:extLst>
                  <a:ext uri="{FF2B5EF4-FFF2-40B4-BE49-F238E27FC236}">
                    <a16:creationId xmlns:a16="http://schemas.microsoft.com/office/drawing/2014/main" id="{E9EB1DC6-D085-423F-923C-F124A79F4EEB}"/>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36" name="Group 35">
                <a:extLst>
                  <a:ext uri="{FF2B5EF4-FFF2-40B4-BE49-F238E27FC236}">
                    <a16:creationId xmlns:a16="http://schemas.microsoft.com/office/drawing/2014/main" id="{A3795A1B-9341-C22C-0399-E2B982169D1A}"/>
                  </a:ext>
                </a:extLst>
              </p:cNvPr>
              <p:cNvGrpSpPr/>
              <p:nvPr/>
            </p:nvGrpSpPr>
            <p:grpSpPr>
              <a:xfrm>
                <a:off x="1714608" y="1927192"/>
                <a:ext cx="1412311" cy="1409646"/>
                <a:chOff x="1261672" y="4833937"/>
                <a:chExt cx="954296" cy="954297"/>
              </a:xfrm>
            </p:grpSpPr>
            <p:sp>
              <p:nvSpPr>
                <p:cNvPr id="37" name="Rectangle: Rounded Corners 36">
                  <a:extLst>
                    <a:ext uri="{FF2B5EF4-FFF2-40B4-BE49-F238E27FC236}">
                      <a16:creationId xmlns:a16="http://schemas.microsoft.com/office/drawing/2014/main" id="{D1C63847-DD44-8816-0737-7869316BF16F}"/>
                    </a:ext>
                  </a:extLst>
                </p:cNvPr>
                <p:cNvSpPr/>
                <p:nvPr/>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38" name="Rectangle: Rounded Corners 37">
                  <a:extLst>
                    <a:ext uri="{FF2B5EF4-FFF2-40B4-BE49-F238E27FC236}">
                      <a16:creationId xmlns:a16="http://schemas.microsoft.com/office/drawing/2014/main" id="{AC9B8759-31D6-230F-6754-167E52B843B5}"/>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39" name="Group 38">
              <a:extLst>
                <a:ext uri="{FF2B5EF4-FFF2-40B4-BE49-F238E27FC236}">
                  <a16:creationId xmlns:a16="http://schemas.microsoft.com/office/drawing/2014/main" id="{CCD82E70-77E8-9E49-3172-73FFA8863093}"/>
                </a:ext>
              </a:extLst>
            </p:cNvPr>
            <p:cNvGrpSpPr/>
            <p:nvPr/>
          </p:nvGrpSpPr>
          <p:grpSpPr>
            <a:xfrm>
              <a:off x="3688544" y="2758050"/>
              <a:ext cx="582265" cy="582432"/>
              <a:chOff x="1600003" y="1811018"/>
              <a:chExt cx="1641521" cy="1641995"/>
            </a:xfrm>
          </p:grpSpPr>
          <p:sp>
            <p:nvSpPr>
              <p:cNvPr id="40" name="Oval 17">
                <a:extLst>
                  <a:ext uri="{FF2B5EF4-FFF2-40B4-BE49-F238E27FC236}">
                    <a16:creationId xmlns:a16="http://schemas.microsoft.com/office/drawing/2014/main" id="{CE49791C-6732-F362-5E27-2AC2C8CCA8CA}"/>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41" name="Group 40">
                <a:extLst>
                  <a:ext uri="{FF2B5EF4-FFF2-40B4-BE49-F238E27FC236}">
                    <a16:creationId xmlns:a16="http://schemas.microsoft.com/office/drawing/2014/main" id="{CDC3B585-D5BB-E0C2-5DC1-9EE8CC161CC0}"/>
                  </a:ext>
                </a:extLst>
              </p:cNvPr>
              <p:cNvGrpSpPr/>
              <p:nvPr/>
            </p:nvGrpSpPr>
            <p:grpSpPr>
              <a:xfrm>
                <a:off x="1714608" y="1927192"/>
                <a:ext cx="1412311" cy="1409646"/>
                <a:chOff x="1261672" y="4833937"/>
                <a:chExt cx="954296" cy="954297"/>
              </a:xfrm>
            </p:grpSpPr>
            <p:sp>
              <p:nvSpPr>
                <p:cNvPr id="42" name="Rectangle: Rounded Corners 41">
                  <a:extLst>
                    <a:ext uri="{FF2B5EF4-FFF2-40B4-BE49-F238E27FC236}">
                      <a16:creationId xmlns:a16="http://schemas.microsoft.com/office/drawing/2014/main" id="{BA79EB24-96C1-6379-6517-82CA9A451420}"/>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43" name="Rectangle: Rounded Corners 42">
                  <a:extLst>
                    <a:ext uri="{FF2B5EF4-FFF2-40B4-BE49-F238E27FC236}">
                      <a16:creationId xmlns:a16="http://schemas.microsoft.com/office/drawing/2014/main" id="{44374A25-10EA-3E3A-7D8F-CB243AC4D056}"/>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44" name="Group 43">
              <a:extLst>
                <a:ext uri="{FF2B5EF4-FFF2-40B4-BE49-F238E27FC236}">
                  <a16:creationId xmlns:a16="http://schemas.microsoft.com/office/drawing/2014/main" id="{26547F89-5CAD-7DC6-ECE1-075B2C396799}"/>
                </a:ext>
              </a:extLst>
            </p:cNvPr>
            <p:cNvGrpSpPr/>
            <p:nvPr/>
          </p:nvGrpSpPr>
          <p:grpSpPr>
            <a:xfrm>
              <a:off x="3688544" y="3655131"/>
              <a:ext cx="582265" cy="582432"/>
              <a:chOff x="1600003" y="1811018"/>
              <a:chExt cx="1641521" cy="1641995"/>
            </a:xfrm>
          </p:grpSpPr>
          <p:sp>
            <p:nvSpPr>
              <p:cNvPr id="45" name="Oval 17">
                <a:extLst>
                  <a:ext uri="{FF2B5EF4-FFF2-40B4-BE49-F238E27FC236}">
                    <a16:creationId xmlns:a16="http://schemas.microsoft.com/office/drawing/2014/main" id="{0E5C7518-6375-75CC-3067-609B87459591}"/>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46" name="Group 45">
                <a:extLst>
                  <a:ext uri="{FF2B5EF4-FFF2-40B4-BE49-F238E27FC236}">
                    <a16:creationId xmlns:a16="http://schemas.microsoft.com/office/drawing/2014/main" id="{4EAA598F-DD7B-4FDA-72B6-ACC17A50FA9F}"/>
                  </a:ext>
                </a:extLst>
              </p:cNvPr>
              <p:cNvGrpSpPr/>
              <p:nvPr/>
            </p:nvGrpSpPr>
            <p:grpSpPr>
              <a:xfrm>
                <a:off x="1714608" y="1927192"/>
                <a:ext cx="1412311" cy="1409646"/>
                <a:chOff x="1261672" y="4833937"/>
                <a:chExt cx="954296" cy="954297"/>
              </a:xfrm>
            </p:grpSpPr>
            <p:sp>
              <p:nvSpPr>
                <p:cNvPr id="47" name="Rectangle: Rounded Corners 46">
                  <a:extLst>
                    <a:ext uri="{FF2B5EF4-FFF2-40B4-BE49-F238E27FC236}">
                      <a16:creationId xmlns:a16="http://schemas.microsoft.com/office/drawing/2014/main" id="{99780245-5C29-E479-16DB-8488919D9FAA}"/>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48" name="Rectangle: Rounded Corners 47">
                  <a:extLst>
                    <a:ext uri="{FF2B5EF4-FFF2-40B4-BE49-F238E27FC236}">
                      <a16:creationId xmlns:a16="http://schemas.microsoft.com/office/drawing/2014/main" id="{ACF6140F-4AAE-CF36-52A1-3D9EFE885EC0}"/>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49" name="Group 48">
              <a:extLst>
                <a:ext uri="{FF2B5EF4-FFF2-40B4-BE49-F238E27FC236}">
                  <a16:creationId xmlns:a16="http://schemas.microsoft.com/office/drawing/2014/main" id="{7170C90E-07B5-44C3-2B31-78FE92C73384}"/>
                </a:ext>
              </a:extLst>
            </p:cNvPr>
            <p:cNvGrpSpPr/>
            <p:nvPr/>
          </p:nvGrpSpPr>
          <p:grpSpPr>
            <a:xfrm>
              <a:off x="3688544" y="4552212"/>
              <a:ext cx="582265" cy="582432"/>
              <a:chOff x="1600003" y="1811018"/>
              <a:chExt cx="1641521" cy="1641995"/>
            </a:xfrm>
          </p:grpSpPr>
          <p:sp>
            <p:nvSpPr>
              <p:cNvPr id="50" name="Oval 17">
                <a:extLst>
                  <a:ext uri="{FF2B5EF4-FFF2-40B4-BE49-F238E27FC236}">
                    <a16:creationId xmlns:a16="http://schemas.microsoft.com/office/drawing/2014/main" id="{FEFC8C4B-EA17-6A2F-EE6E-C5A03991070C}"/>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51" name="Group 50">
                <a:extLst>
                  <a:ext uri="{FF2B5EF4-FFF2-40B4-BE49-F238E27FC236}">
                    <a16:creationId xmlns:a16="http://schemas.microsoft.com/office/drawing/2014/main" id="{1BCCFABB-01E7-9845-7A0F-46C3E7CDCD21}"/>
                  </a:ext>
                </a:extLst>
              </p:cNvPr>
              <p:cNvGrpSpPr/>
              <p:nvPr/>
            </p:nvGrpSpPr>
            <p:grpSpPr>
              <a:xfrm>
                <a:off x="1714608" y="1927192"/>
                <a:ext cx="1412311" cy="1409646"/>
                <a:chOff x="1261672" y="4833937"/>
                <a:chExt cx="954296" cy="954297"/>
              </a:xfrm>
            </p:grpSpPr>
            <p:sp>
              <p:nvSpPr>
                <p:cNvPr id="52" name="Rectangle: Rounded Corners 51">
                  <a:extLst>
                    <a:ext uri="{FF2B5EF4-FFF2-40B4-BE49-F238E27FC236}">
                      <a16:creationId xmlns:a16="http://schemas.microsoft.com/office/drawing/2014/main" id="{AA78A868-B46F-B779-3A39-D0BD07D84A4D}"/>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53" name="Rectangle: Rounded Corners 52">
                  <a:extLst>
                    <a:ext uri="{FF2B5EF4-FFF2-40B4-BE49-F238E27FC236}">
                      <a16:creationId xmlns:a16="http://schemas.microsoft.com/office/drawing/2014/main" id="{767B77E5-8B02-0D59-F092-E82653195EA8}"/>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54" name="Group 53">
              <a:extLst>
                <a:ext uri="{FF2B5EF4-FFF2-40B4-BE49-F238E27FC236}">
                  <a16:creationId xmlns:a16="http://schemas.microsoft.com/office/drawing/2014/main" id="{1EB40DBC-365F-E6B7-E666-C12AACF21C82}"/>
                </a:ext>
              </a:extLst>
            </p:cNvPr>
            <p:cNvGrpSpPr/>
            <p:nvPr/>
          </p:nvGrpSpPr>
          <p:grpSpPr>
            <a:xfrm>
              <a:off x="3688544" y="5449292"/>
              <a:ext cx="582265" cy="582432"/>
              <a:chOff x="1600003" y="1811018"/>
              <a:chExt cx="1641521" cy="1641995"/>
            </a:xfrm>
          </p:grpSpPr>
          <p:sp>
            <p:nvSpPr>
              <p:cNvPr id="55" name="Oval 17">
                <a:extLst>
                  <a:ext uri="{FF2B5EF4-FFF2-40B4-BE49-F238E27FC236}">
                    <a16:creationId xmlns:a16="http://schemas.microsoft.com/office/drawing/2014/main" id="{1FC16A2F-98D5-9EA4-78DB-84E3F6CB4009}"/>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56" name="Group 55">
                <a:extLst>
                  <a:ext uri="{FF2B5EF4-FFF2-40B4-BE49-F238E27FC236}">
                    <a16:creationId xmlns:a16="http://schemas.microsoft.com/office/drawing/2014/main" id="{3C0646C0-DCD1-50C1-0640-5A8633613A43}"/>
                  </a:ext>
                </a:extLst>
              </p:cNvPr>
              <p:cNvGrpSpPr/>
              <p:nvPr/>
            </p:nvGrpSpPr>
            <p:grpSpPr>
              <a:xfrm>
                <a:off x="1714608" y="1927192"/>
                <a:ext cx="1412311" cy="1409646"/>
                <a:chOff x="1261672" y="4833937"/>
                <a:chExt cx="954296" cy="954297"/>
              </a:xfrm>
            </p:grpSpPr>
            <p:sp>
              <p:nvSpPr>
                <p:cNvPr id="57" name="Rectangle: Rounded Corners 56">
                  <a:extLst>
                    <a:ext uri="{FF2B5EF4-FFF2-40B4-BE49-F238E27FC236}">
                      <a16:creationId xmlns:a16="http://schemas.microsoft.com/office/drawing/2014/main" id="{70E5D68A-2238-3F85-3989-16F03765B00F}"/>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58" name="Rectangle: Rounded Corners 57">
                  <a:extLst>
                    <a:ext uri="{FF2B5EF4-FFF2-40B4-BE49-F238E27FC236}">
                      <a16:creationId xmlns:a16="http://schemas.microsoft.com/office/drawing/2014/main" id="{7977323F-857F-03CD-94E0-0437A2DBECB7}"/>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59" name="Group 58">
              <a:extLst>
                <a:ext uri="{FF2B5EF4-FFF2-40B4-BE49-F238E27FC236}">
                  <a16:creationId xmlns:a16="http://schemas.microsoft.com/office/drawing/2014/main" id="{876E6995-6F7F-7001-2A20-992593595AEB}"/>
                </a:ext>
              </a:extLst>
            </p:cNvPr>
            <p:cNvGrpSpPr/>
            <p:nvPr/>
          </p:nvGrpSpPr>
          <p:grpSpPr>
            <a:xfrm>
              <a:off x="7909983" y="1860969"/>
              <a:ext cx="582265" cy="582432"/>
              <a:chOff x="1600003" y="1811018"/>
              <a:chExt cx="1641521" cy="1641995"/>
            </a:xfrm>
          </p:grpSpPr>
          <p:sp>
            <p:nvSpPr>
              <p:cNvPr id="60" name="Oval 17">
                <a:extLst>
                  <a:ext uri="{FF2B5EF4-FFF2-40B4-BE49-F238E27FC236}">
                    <a16:creationId xmlns:a16="http://schemas.microsoft.com/office/drawing/2014/main" id="{CB363E35-5106-3EF0-0A1C-FFC86DAFC632}"/>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61" name="Group 60">
                <a:extLst>
                  <a:ext uri="{FF2B5EF4-FFF2-40B4-BE49-F238E27FC236}">
                    <a16:creationId xmlns:a16="http://schemas.microsoft.com/office/drawing/2014/main" id="{58714126-AEF4-4DA1-E4B8-948ECEF72484}"/>
                  </a:ext>
                </a:extLst>
              </p:cNvPr>
              <p:cNvGrpSpPr/>
              <p:nvPr/>
            </p:nvGrpSpPr>
            <p:grpSpPr>
              <a:xfrm>
                <a:off x="1714608" y="1927192"/>
                <a:ext cx="1412311" cy="1409646"/>
                <a:chOff x="1261672" y="4833937"/>
                <a:chExt cx="954296" cy="954297"/>
              </a:xfrm>
            </p:grpSpPr>
            <p:sp>
              <p:nvSpPr>
                <p:cNvPr id="62" name="Rectangle: Rounded Corners 61">
                  <a:extLst>
                    <a:ext uri="{FF2B5EF4-FFF2-40B4-BE49-F238E27FC236}">
                      <a16:creationId xmlns:a16="http://schemas.microsoft.com/office/drawing/2014/main" id="{011ED28B-3CA2-3A20-33EA-D7BECBA1DB4E}"/>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63" name="Rectangle: Rounded Corners 62">
                  <a:extLst>
                    <a:ext uri="{FF2B5EF4-FFF2-40B4-BE49-F238E27FC236}">
                      <a16:creationId xmlns:a16="http://schemas.microsoft.com/office/drawing/2014/main" id="{AFA6E7F6-B4A9-E05C-0015-57F302831D6B}"/>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1024" name="Group 1023">
              <a:extLst>
                <a:ext uri="{FF2B5EF4-FFF2-40B4-BE49-F238E27FC236}">
                  <a16:creationId xmlns:a16="http://schemas.microsoft.com/office/drawing/2014/main" id="{D080F284-DF37-192F-91F2-CCC312CC525D}"/>
                </a:ext>
              </a:extLst>
            </p:cNvPr>
            <p:cNvGrpSpPr/>
            <p:nvPr/>
          </p:nvGrpSpPr>
          <p:grpSpPr>
            <a:xfrm>
              <a:off x="7909983" y="2758050"/>
              <a:ext cx="582265" cy="582432"/>
              <a:chOff x="1600003" y="1811018"/>
              <a:chExt cx="1641521" cy="1641995"/>
            </a:xfrm>
          </p:grpSpPr>
          <p:sp>
            <p:nvSpPr>
              <p:cNvPr id="1025" name="Oval 17">
                <a:extLst>
                  <a:ext uri="{FF2B5EF4-FFF2-40B4-BE49-F238E27FC236}">
                    <a16:creationId xmlns:a16="http://schemas.microsoft.com/office/drawing/2014/main" id="{4E3CBFBB-307C-0730-7DE8-CEFFAB49DF6A}"/>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1026" name="Group 1025">
                <a:extLst>
                  <a:ext uri="{FF2B5EF4-FFF2-40B4-BE49-F238E27FC236}">
                    <a16:creationId xmlns:a16="http://schemas.microsoft.com/office/drawing/2014/main" id="{0C5E3647-B270-31E5-6738-16E7BEF1B42C}"/>
                  </a:ext>
                </a:extLst>
              </p:cNvPr>
              <p:cNvGrpSpPr/>
              <p:nvPr/>
            </p:nvGrpSpPr>
            <p:grpSpPr>
              <a:xfrm>
                <a:off x="1714608" y="1927192"/>
                <a:ext cx="1412311" cy="1409646"/>
                <a:chOff x="1261672" y="4833937"/>
                <a:chExt cx="954296" cy="954297"/>
              </a:xfrm>
            </p:grpSpPr>
            <p:sp>
              <p:nvSpPr>
                <p:cNvPr id="1027" name="Rectangle: Rounded Corners 1026">
                  <a:extLst>
                    <a:ext uri="{FF2B5EF4-FFF2-40B4-BE49-F238E27FC236}">
                      <a16:creationId xmlns:a16="http://schemas.microsoft.com/office/drawing/2014/main" id="{889352AB-F425-C2F0-F7E2-7D18040F8E6B}"/>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028" name="Rectangle: Rounded Corners 1027">
                  <a:extLst>
                    <a:ext uri="{FF2B5EF4-FFF2-40B4-BE49-F238E27FC236}">
                      <a16:creationId xmlns:a16="http://schemas.microsoft.com/office/drawing/2014/main" id="{6E2ED0C7-5899-ED6C-289E-ABB4192C90BB}"/>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1029" name="Group 1028">
              <a:extLst>
                <a:ext uri="{FF2B5EF4-FFF2-40B4-BE49-F238E27FC236}">
                  <a16:creationId xmlns:a16="http://schemas.microsoft.com/office/drawing/2014/main" id="{A07A860B-61E7-BFF0-7E0E-5B6F3353C838}"/>
                </a:ext>
              </a:extLst>
            </p:cNvPr>
            <p:cNvGrpSpPr/>
            <p:nvPr/>
          </p:nvGrpSpPr>
          <p:grpSpPr>
            <a:xfrm>
              <a:off x="7909983" y="3655131"/>
              <a:ext cx="582265" cy="582432"/>
              <a:chOff x="1600003" y="1811018"/>
              <a:chExt cx="1641521" cy="1641995"/>
            </a:xfrm>
          </p:grpSpPr>
          <p:sp>
            <p:nvSpPr>
              <p:cNvPr id="1030" name="Oval 17">
                <a:extLst>
                  <a:ext uri="{FF2B5EF4-FFF2-40B4-BE49-F238E27FC236}">
                    <a16:creationId xmlns:a16="http://schemas.microsoft.com/office/drawing/2014/main" id="{C7EDD9E8-D650-3AD6-1436-3D47415CB2A2}"/>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1038" name="Group 1037">
                <a:extLst>
                  <a:ext uri="{FF2B5EF4-FFF2-40B4-BE49-F238E27FC236}">
                    <a16:creationId xmlns:a16="http://schemas.microsoft.com/office/drawing/2014/main" id="{BD3A4905-6374-5D13-0BE6-9768A41C1A23}"/>
                  </a:ext>
                </a:extLst>
              </p:cNvPr>
              <p:cNvGrpSpPr/>
              <p:nvPr/>
            </p:nvGrpSpPr>
            <p:grpSpPr>
              <a:xfrm>
                <a:off x="1714608" y="1927192"/>
                <a:ext cx="1412311" cy="1409646"/>
                <a:chOff x="1261672" y="4833937"/>
                <a:chExt cx="954296" cy="954297"/>
              </a:xfrm>
            </p:grpSpPr>
            <p:sp>
              <p:nvSpPr>
                <p:cNvPr id="1039" name="Rectangle: Rounded Corners 1038">
                  <a:extLst>
                    <a:ext uri="{FF2B5EF4-FFF2-40B4-BE49-F238E27FC236}">
                      <a16:creationId xmlns:a16="http://schemas.microsoft.com/office/drawing/2014/main" id="{D6710C43-7486-DD87-0278-34407A28B7E8}"/>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040" name="Rectangle: Rounded Corners 1039">
                  <a:extLst>
                    <a:ext uri="{FF2B5EF4-FFF2-40B4-BE49-F238E27FC236}">
                      <a16:creationId xmlns:a16="http://schemas.microsoft.com/office/drawing/2014/main" id="{7F11AC6F-84C1-892C-C21B-8B82BB73E3BC}"/>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1052" name="Group 1051">
              <a:extLst>
                <a:ext uri="{FF2B5EF4-FFF2-40B4-BE49-F238E27FC236}">
                  <a16:creationId xmlns:a16="http://schemas.microsoft.com/office/drawing/2014/main" id="{42A29F70-F2E8-381D-5392-3063272AF7C2}"/>
                </a:ext>
              </a:extLst>
            </p:cNvPr>
            <p:cNvGrpSpPr/>
            <p:nvPr/>
          </p:nvGrpSpPr>
          <p:grpSpPr>
            <a:xfrm>
              <a:off x="7909983" y="4552212"/>
              <a:ext cx="582265" cy="582432"/>
              <a:chOff x="1600003" y="1811018"/>
              <a:chExt cx="1641521" cy="1641995"/>
            </a:xfrm>
          </p:grpSpPr>
          <p:sp>
            <p:nvSpPr>
              <p:cNvPr id="1053" name="Oval 17">
                <a:extLst>
                  <a:ext uri="{FF2B5EF4-FFF2-40B4-BE49-F238E27FC236}">
                    <a16:creationId xmlns:a16="http://schemas.microsoft.com/office/drawing/2014/main" id="{674841F8-88A6-6B92-5114-D20E48697EDE}"/>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1054" name="Group 1053">
                <a:extLst>
                  <a:ext uri="{FF2B5EF4-FFF2-40B4-BE49-F238E27FC236}">
                    <a16:creationId xmlns:a16="http://schemas.microsoft.com/office/drawing/2014/main" id="{FC2E40EA-AE93-E2F5-8AA5-3437C7896A76}"/>
                  </a:ext>
                </a:extLst>
              </p:cNvPr>
              <p:cNvGrpSpPr/>
              <p:nvPr/>
            </p:nvGrpSpPr>
            <p:grpSpPr>
              <a:xfrm>
                <a:off x="1714608" y="1927192"/>
                <a:ext cx="1412311" cy="1409646"/>
                <a:chOff x="1261672" y="4833937"/>
                <a:chExt cx="954296" cy="954297"/>
              </a:xfrm>
            </p:grpSpPr>
            <p:sp>
              <p:nvSpPr>
                <p:cNvPr id="1055" name="Rectangle: Rounded Corners 1054">
                  <a:extLst>
                    <a:ext uri="{FF2B5EF4-FFF2-40B4-BE49-F238E27FC236}">
                      <a16:creationId xmlns:a16="http://schemas.microsoft.com/office/drawing/2014/main" id="{D1E85BE6-C815-2BBA-F5D5-A086D3861760}"/>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056" name="Rectangle: Rounded Corners 1055">
                  <a:extLst>
                    <a:ext uri="{FF2B5EF4-FFF2-40B4-BE49-F238E27FC236}">
                      <a16:creationId xmlns:a16="http://schemas.microsoft.com/office/drawing/2014/main" id="{B299D15F-5187-CC1E-1C4B-450C16ADB296}"/>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1057" name="Group 1056">
              <a:extLst>
                <a:ext uri="{FF2B5EF4-FFF2-40B4-BE49-F238E27FC236}">
                  <a16:creationId xmlns:a16="http://schemas.microsoft.com/office/drawing/2014/main" id="{1046F8A8-B255-B488-69E8-F9DD5D1698C1}"/>
                </a:ext>
              </a:extLst>
            </p:cNvPr>
            <p:cNvGrpSpPr/>
            <p:nvPr/>
          </p:nvGrpSpPr>
          <p:grpSpPr>
            <a:xfrm>
              <a:off x="7909983" y="5449292"/>
              <a:ext cx="582265" cy="582432"/>
              <a:chOff x="1600003" y="1811018"/>
              <a:chExt cx="1641521" cy="1641995"/>
            </a:xfrm>
          </p:grpSpPr>
          <p:sp>
            <p:nvSpPr>
              <p:cNvPr id="1058" name="Oval 17">
                <a:extLst>
                  <a:ext uri="{FF2B5EF4-FFF2-40B4-BE49-F238E27FC236}">
                    <a16:creationId xmlns:a16="http://schemas.microsoft.com/office/drawing/2014/main" id="{938D3F0C-64B2-9BD5-BA12-D2BC9694BAE7}"/>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defTabSz="621679" fontAlgn="base">
                  <a:spcBef>
                    <a:spcPct val="0"/>
                  </a:spcBef>
                  <a:spcAft>
                    <a:spcPct val="0"/>
                  </a:spcAft>
                  <a:defRPr/>
                </a:pPr>
                <a:endParaRPr lang="en-GB" sz="1333" err="1">
                  <a:solidFill>
                    <a:srgbClr val="FFFFFF"/>
                  </a:solidFill>
                  <a:latin typeface="Segoe Sans Text" pitchFamily="2" charset="0"/>
                  <a:ea typeface="Segoe UI" pitchFamily="34" charset="0"/>
                  <a:cs typeface="Segoe Sans Text" pitchFamily="2" charset="0"/>
                </a:endParaRPr>
              </a:p>
            </p:txBody>
          </p:sp>
          <p:grpSp>
            <p:nvGrpSpPr>
              <p:cNvPr id="1059" name="Group 1058">
                <a:extLst>
                  <a:ext uri="{FF2B5EF4-FFF2-40B4-BE49-F238E27FC236}">
                    <a16:creationId xmlns:a16="http://schemas.microsoft.com/office/drawing/2014/main" id="{F6A275DA-C112-66F2-0C98-801079960102}"/>
                  </a:ext>
                </a:extLst>
              </p:cNvPr>
              <p:cNvGrpSpPr/>
              <p:nvPr/>
            </p:nvGrpSpPr>
            <p:grpSpPr>
              <a:xfrm>
                <a:off x="1714608" y="1927192"/>
                <a:ext cx="1412311" cy="1409646"/>
                <a:chOff x="1261672" y="4833937"/>
                <a:chExt cx="954296" cy="954297"/>
              </a:xfrm>
            </p:grpSpPr>
            <p:sp>
              <p:nvSpPr>
                <p:cNvPr id="1060" name="Rectangle: Rounded Corners 1059">
                  <a:extLst>
                    <a:ext uri="{FF2B5EF4-FFF2-40B4-BE49-F238E27FC236}">
                      <a16:creationId xmlns:a16="http://schemas.microsoft.com/office/drawing/2014/main" id="{66A3B341-ED5A-5109-1B76-673C1E3C41F1}"/>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061" name="Rectangle: Rounded Corners 1060">
                  <a:extLst>
                    <a:ext uri="{FF2B5EF4-FFF2-40B4-BE49-F238E27FC236}">
                      <a16:creationId xmlns:a16="http://schemas.microsoft.com/office/drawing/2014/main" id="{F85B2E8A-CAFC-A8AC-7A88-D089FE5F4435}"/>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1045" name="Freeform 13">
              <a:extLst>
                <a:ext uri="{FF2B5EF4-FFF2-40B4-BE49-F238E27FC236}">
                  <a16:creationId xmlns:a16="http://schemas.microsoft.com/office/drawing/2014/main" id="{7E80A03F-A8F4-53D9-F0FD-6CC341C161D1}"/>
                </a:ext>
                <a:ext uri="{C183D7F6-B498-43B3-948B-1728B52AA6E4}">
                  <adec:decorative xmlns:adec="http://schemas.microsoft.com/office/drawing/2017/decorative" val="1"/>
                </a:ext>
              </a:extLst>
            </p:cNvPr>
            <p:cNvSpPr/>
            <p:nvPr/>
          </p:nvSpPr>
          <p:spPr>
            <a:xfrm>
              <a:off x="8032324" y="1997585"/>
              <a:ext cx="337582" cy="337582"/>
            </a:xfrm>
            <a:custGeom>
              <a:avLst/>
              <a:gdLst>
                <a:gd name="connsiteX0" fmla="*/ 276508 w 552450"/>
                <a:gd name="connsiteY0" fmla="*/ 362634 h 525193"/>
                <a:gd name="connsiteX1" fmla="*/ 271463 w 552450"/>
                <a:gd name="connsiteY1" fmla="*/ 400929 h 525193"/>
                <a:gd name="connsiteX2" fmla="*/ 271818 w 552450"/>
                <a:gd name="connsiteY2" fmla="*/ 407963 h 525193"/>
                <a:gd name="connsiteX3" fmla="*/ 74807 w 552450"/>
                <a:gd name="connsiteY3" fmla="*/ 407963 h 525193"/>
                <a:gd name="connsiteX4" fmla="*/ 115 w 552450"/>
                <a:gd name="connsiteY4" fmla="*/ 338474 h 525193"/>
                <a:gd name="connsiteX5" fmla="*/ 0 w 552450"/>
                <a:gd name="connsiteY5" fmla="*/ 334303 h 525193"/>
                <a:gd name="connsiteX6" fmla="*/ 0 w 552450"/>
                <a:gd name="connsiteY6" fmla="*/ 73660 h 525193"/>
                <a:gd name="connsiteX7" fmla="*/ 70571 w 552450"/>
                <a:gd name="connsiteY7" fmla="*/ 114 h 525193"/>
                <a:gd name="connsiteX8" fmla="*/ 74807 w 552450"/>
                <a:gd name="connsiteY8" fmla="*/ 0 h 525193"/>
                <a:gd name="connsiteX9" fmla="*/ 339508 w 552450"/>
                <a:gd name="connsiteY9" fmla="*/ 0 h 525193"/>
                <a:gd name="connsiteX10" fmla="*/ 343743 w 552450"/>
                <a:gd name="connsiteY10" fmla="*/ 114 h 525193"/>
                <a:gd name="connsiteX11" fmla="*/ 414222 w 552450"/>
                <a:gd name="connsiteY11" fmla="*/ 69467 h 525193"/>
                <a:gd name="connsiteX12" fmla="*/ 414338 w 552450"/>
                <a:gd name="connsiteY12" fmla="*/ 73660 h 525193"/>
                <a:gd name="connsiteX13" fmla="*/ 414338 w 552450"/>
                <a:gd name="connsiteY13" fmla="*/ 249011 h 525193"/>
                <a:gd name="connsiteX14" fmla="*/ 368280 w 552450"/>
                <a:gd name="connsiteY14" fmla="*/ 259137 h 525193"/>
                <a:gd name="connsiteX15" fmla="*/ 368280 w 552450"/>
                <a:gd name="connsiteY15" fmla="*/ 113323 h 525193"/>
                <a:gd name="connsiteX16" fmla="*/ 46058 w 552450"/>
                <a:gd name="connsiteY16" fmla="*/ 113323 h 525193"/>
                <a:gd name="connsiteX17" fmla="*/ 46036 w 552450"/>
                <a:gd name="connsiteY17" fmla="*/ 334303 h 525193"/>
                <a:gd name="connsiteX18" fmla="*/ 71861 w 552450"/>
                <a:gd name="connsiteY18" fmla="*/ 362499 h 525193"/>
                <a:gd name="connsiteX19" fmla="*/ 74807 w 552450"/>
                <a:gd name="connsiteY19" fmla="*/ 362634 h 525193"/>
                <a:gd name="connsiteX20" fmla="*/ 276508 w 552450"/>
                <a:gd name="connsiteY20" fmla="*/ 362634 h 525193"/>
                <a:gd name="connsiteX21" fmla="*/ 183979 w 552450"/>
                <a:gd name="connsiteY21" fmla="*/ 162007 h 525193"/>
                <a:gd name="connsiteX22" fmla="*/ 184140 w 552450"/>
                <a:gd name="connsiteY22" fmla="*/ 164319 h 525193"/>
                <a:gd name="connsiteX23" fmla="*/ 184140 w 552450"/>
                <a:gd name="connsiteY23" fmla="*/ 322971 h 525193"/>
                <a:gd name="connsiteX24" fmla="*/ 169225 w 552450"/>
                <a:gd name="connsiteY24" fmla="*/ 339811 h 525193"/>
                <a:gd name="connsiteX25" fmla="*/ 166877 w 552450"/>
                <a:gd name="connsiteY25" fmla="*/ 339969 h 525193"/>
                <a:gd name="connsiteX26" fmla="*/ 86316 w 552450"/>
                <a:gd name="connsiteY26" fmla="*/ 339969 h 525193"/>
                <a:gd name="connsiteX27" fmla="*/ 69214 w 552450"/>
                <a:gd name="connsiteY27" fmla="*/ 325283 h 525193"/>
                <a:gd name="connsiteX28" fmla="*/ 69053 w 552450"/>
                <a:gd name="connsiteY28" fmla="*/ 322971 h 525193"/>
                <a:gd name="connsiteX29" fmla="*/ 69053 w 552450"/>
                <a:gd name="connsiteY29" fmla="*/ 164319 h 525193"/>
                <a:gd name="connsiteX30" fmla="*/ 83968 w 552450"/>
                <a:gd name="connsiteY30" fmla="*/ 147479 h 525193"/>
                <a:gd name="connsiteX31" fmla="*/ 86316 w 552450"/>
                <a:gd name="connsiteY31" fmla="*/ 147320 h 525193"/>
                <a:gd name="connsiteX32" fmla="*/ 166877 w 552450"/>
                <a:gd name="connsiteY32" fmla="*/ 147320 h 525193"/>
                <a:gd name="connsiteX33" fmla="*/ 183979 w 552450"/>
                <a:gd name="connsiteY33" fmla="*/ 162007 h 525193"/>
                <a:gd name="connsiteX34" fmla="*/ 149614 w 552450"/>
                <a:gd name="connsiteY34" fmla="*/ 181317 h 525193"/>
                <a:gd name="connsiteX35" fmla="*/ 103580 w 552450"/>
                <a:gd name="connsiteY35" fmla="*/ 181317 h 525193"/>
                <a:gd name="connsiteX36" fmla="*/ 103580 w 552450"/>
                <a:gd name="connsiteY36" fmla="*/ 305972 h 525193"/>
                <a:gd name="connsiteX37" fmla="*/ 149614 w 552450"/>
                <a:gd name="connsiteY37" fmla="*/ 305972 h 525193"/>
                <a:gd name="connsiteX38" fmla="*/ 149614 w 552450"/>
                <a:gd name="connsiteY38" fmla="*/ 181317 h 525193"/>
                <a:gd name="connsiteX39" fmla="*/ 330347 w 552450"/>
                <a:gd name="connsiteY39" fmla="*/ 181158 h 525193"/>
                <a:gd name="connsiteX40" fmla="*/ 345258 w 552450"/>
                <a:gd name="connsiteY40" fmla="*/ 164322 h 525193"/>
                <a:gd name="connsiteX41" fmla="*/ 327999 w 552450"/>
                <a:gd name="connsiteY41" fmla="*/ 147320 h 525193"/>
                <a:gd name="connsiteX42" fmla="*/ 224513 w 552450"/>
                <a:gd name="connsiteY42" fmla="*/ 147320 h 525193"/>
                <a:gd name="connsiteX43" fmla="*/ 222188 w 552450"/>
                <a:gd name="connsiteY43" fmla="*/ 147479 h 525193"/>
                <a:gd name="connsiteX44" fmla="*/ 207277 w 552450"/>
                <a:gd name="connsiteY44" fmla="*/ 164292 h 525193"/>
                <a:gd name="connsiteX45" fmla="*/ 224513 w 552450"/>
                <a:gd name="connsiteY45" fmla="*/ 181317 h 525193"/>
                <a:gd name="connsiteX46" fmla="*/ 327999 w 552450"/>
                <a:gd name="connsiteY46" fmla="*/ 181317 h 525193"/>
                <a:gd name="connsiteX47" fmla="*/ 330347 w 552450"/>
                <a:gd name="connsiteY47" fmla="*/ 181158 h 525193"/>
                <a:gd name="connsiteX48" fmla="*/ 224513 w 552450"/>
                <a:gd name="connsiteY48" fmla="*/ 215383 h 525193"/>
                <a:gd name="connsiteX49" fmla="*/ 222188 w 552450"/>
                <a:gd name="connsiteY49" fmla="*/ 215540 h 525193"/>
                <a:gd name="connsiteX50" fmla="*/ 207277 w 552450"/>
                <a:gd name="connsiteY50" fmla="*/ 232354 h 525193"/>
                <a:gd name="connsiteX51" fmla="*/ 224513 w 552450"/>
                <a:gd name="connsiteY51" fmla="*/ 249379 h 525193"/>
                <a:gd name="connsiteX52" fmla="*/ 304982 w 552450"/>
                <a:gd name="connsiteY52" fmla="*/ 249379 h 525193"/>
                <a:gd name="connsiteX53" fmla="*/ 307330 w 552450"/>
                <a:gd name="connsiteY53" fmla="*/ 249221 h 525193"/>
                <a:gd name="connsiteX54" fmla="*/ 322240 w 552450"/>
                <a:gd name="connsiteY54" fmla="*/ 232386 h 525193"/>
                <a:gd name="connsiteX55" fmla="*/ 304982 w 552450"/>
                <a:gd name="connsiteY55" fmla="*/ 215383 h 525193"/>
                <a:gd name="connsiteX56" fmla="*/ 224513 w 552450"/>
                <a:gd name="connsiteY56" fmla="*/ 215383 h 525193"/>
                <a:gd name="connsiteX57" fmla="*/ 552451 w 552450"/>
                <a:gd name="connsiteY57" fmla="*/ 400929 h 525193"/>
                <a:gd name="connsiteX58" fmla="*/ 423863 w 552450"/>
                <a:gd name="connsiteY58" fmla="*/ 525194 h 525193"/>
                <a:gd name="connsiteX59" fmla="*/ 295275 w 552450"/>
                <a:gd name="connsiteY59" fmla="*/ 400929 h 525193"/>
                <a:gd name="connsiteX60" fmla="*/ 423863 w 552450"/>
                <a:gd name="connsiteY60" fmla="*/ 276664 h 525193"/>
                <a:gd name="connsiteX61" fmla="*/ 552451 w 552450"/>
                <a:gd name="connsiteY61" fmla="*/ 400929 h 525193"/>
                <a:gd name="connsiteX62" fmla="*/ 488154 w 552450"/>
                <a:gd name="connsiteY62" fmla="*/ 400928 h 525193"/>
                <a:gd name="connsiteX63" fmla="*/ 479824 w 552450"/>
                <a:gd name="connsiteY63" fmla="*/ 391698 h 525193"/>
                <a:gd name="connsiteX64" fmla="*/ 478512 w 552450"/>
                <a:gd name="connsiteY64" fmla="*/ 391610 h 525193"/>
                <a:gd name="connsiteX65" fmla="*/ 433507 w 552450"/>
                <a:gd name="connsiteY65" fmla="*/ 391610 h 525193"/>
                <a:gd name="connsiteX66" fmla="*/ 433507 w 552450"/>
                <a:gd name="connsiteY66" fmla="*/ 348117 h 525193"/>
                <a:gd name="connsiteX67" fmla="*/ 423863 w 552450"/>
                <a:gd name="connsiteY67" fmla="*/ 338797 h 525193"/>
                <a:gd name="connsiteX68" fmla="*/ 414308 w 552450"/>
                <a:gd name="connsiteY68" fmla="*/ 346850 h 525193"/>
                <a:gd name="connsiteX69" fmla="*/ 414218 w 552450"/>
                <a:gd name="connsiteY69" fmla="*/ 348117 h 525193"/>
                <a:gd name="connsiteX70" fmla="*/ 414218 w 552450"/>
                <a:gd name="connsiteY70" fmla="*/ 391610 h 525193"/>
                <a:gd name="connsiteX71" fmla="*/ 369214 w 552450"/>
                <a:gd name="connsiteY71" fmla="*/ 391610 h 525193"/>
                <a:gd name="connsiteX72" fmla="*/ 359572 w 552450"/>
                <a:gd name="connsiteY72" fmla="*/ 400933 h 525193"/>
                <a:gd name="connsiteX73" fmla="*/ 367901 w 552450"/>
                <a:gd name="connsiteY73" fmla="*/ 410163 h 525193"/>
                <a:gd name="connsiteX74" fmla="*/ 369214 w 552450"/>
                <a:gd name="connsiteY74" fmla="*/ 410250 h 525193"/>
                <a:gd name="connsiteX75" fmla="*/ 414218 w 552450"/>
                <a:gd name="connsiteY75" fmla="*/ 410250 h 525193"/>
                <a:gd name="connsiteX76" fmla="*/ 414218 w 552450"/>
                <a:gd name="connsiteY76" fmla="*/ 453742 h 525193"/>
                <a:gd name="connsiteX77" fmla="*/ 423865 w 552450"/>
                <a:gd name="connsiteY77" fmla="*/ 463059 h 525193"/>
                <a:gd name="connsiteX78" fmla="*/ 433417 w 552450"/>
                <a:gd name="connsiteY78" fmla="*/ 455010 h 525193"/>
                <a:gd name="connsiteX79" fmla="*/ 433507 w 552450"/>
                <a:gd name="connsiteY79" fmla="*/ 453742 h 525193"/>
                <a:gd name="connsiteX80" fmla="*/ 433507 w 552450"/>
                <a:gd name="connsiteY80" fmla="*/ 410250 h 525193"/>
                <a:gd name="connsiteX81" fmla="*/ 478512 w 552450"/>
                <a:gd name="connsiteY81" fmla="*/ 410250 h 525193"/>
                <a:gd name="connsiteX82" fmla="*/ 488154 w 552450"/>
                <a:gd name="connsiteY82" fmla="*/ 400928 h 525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552450" h="525193">
                  <a:moveTo>
                    <a:pt x="276508" y="362634"/>
                  </a:moveTo>
                  <a:cubicBezTo>
                    <a:pt x="273329" y="374891"/>
                    <a:pt x="271463" y="387678"/>
                    <a:pt x="271463" y="400929"/>
                  </a:cubicBezTo>
                  <a:cubicBezTo>
                    <a:pt x="271463" y="403303"/>
                    <a:pt x="271710" y="405615"/>
                    <a:pt x="271818" y="407963"/>
                  </a:cubicBezTo>
                  <a:lnTo>
                    <a:pt x="74807" y="407963"/>
                  </a:lnTo>
                  <a:cubicBezTo>
                    <a:pt x="35136" y="407966"/>
                    <a:pt x="2361" y="377475"/>
                    <a:pt x="115" y="338474"/>
                  </a:cubicBezTo>
                  <a:lnTo>
                    <a:pt x="0" y="334303"/>
                  </a:lnTo>
                  <a:lnTo>
                    <a:pt x="0" y="73660"/>
                  </a:lnTo>
                  <a:cubicBezTo>
                    <a:pt x="-2" y="34597"/>
                    <a:pt x="30964" y="2325"/>
                    <a:pt x="70571" y="114"/>
                  </a:cubicBezTo>
                  <a:lnTo>
                    <a:pt x="74807" y="0"/>
                  </a:lnTo>
                  <a:lnTo>
                    <a:pt x="339508" y="0"/>
                  </a:lnTo>
                  <a:lnTo>
                    <a:pt x="343743" y="114"/>
                  </a:lnTo>
                  <a:cubicBezTo>
                    <a:pt x="381729" y="2220"/>
                    <a:pt x="412059" y="32065"/>
                    <a:pt x="414222" y="69467"/>
                  </a:cubicBezTo>
                  <a:lnTo>
                    <a:pt x="414338" y="73660"/>
                  </a:lnTo>
                  <a:lnTo>
                    <a:pt x="414338" y="249011"/>
                  </a:lnTo>
                  <a:cubicBezTo>
                    <a:pt x="398168" y="250013"/>
                    <a:pt x="382695" y="253481"/>
                    <a:pt x="368280" y="259137"/>
                  </a:cubicBezTo>
                  <a:lnTo>
                    <a:pt x="368280" y="113323"/>
                  </a:lnTo>
                  <a:lnTo>
                    <a:pt x="46058" y="113323"/>
                  </a:lnTo>
                  <a:lnTo>
                    <a:pt x="46036" y="334303"/>
                  </a:lnTo>
                  <a:cubicBezTo>
                    <a:pt x="46036" y="348967"/>
                    <a:pt x="57360" y="361048"/>
                    <a:pt x="71861" y="362499"/>
                  </a:cubicBezTo>
                  <a:lnTo>
                    <a:pt x="74807" y="362634"/>
                  </a:lnTo>
                  <a:lnTo>
                    <a:pt x="276508" y="362634"/>
                  </a:lnTo>
                  <a:close/>
                  <a:moveTo>
                    <a:pt x="183979" y="162007"/>
                  </a:moveTo>
                  <a:lnTo>
                    <a:pt x="184140" y="164319"/>
                  </a:lnTo>
                  <a:lnTo>
                    <a:pt x="184140" y="322971"/>
                  </a:lnTo>
                  <a:cubicBezTo>
                    <a:pt x="184140" y="331465"/>
                    <a:pt x="177771" y="338654"/>
                    <a:pt x="169225" y="339811"/>
                  </a:cubicBezTo>
                  <a:lnTo>
                    <a:pt x="166877" y="339969"/>
                  </a:lnTo>
                  <a:lnTo>
                    <a:pt x="86316" y="339969"/>
                  </a:lnTo>
                  <a:cubicBezTo>
                    <a:pt x="77689" y="339969"/>
                    <a:pt x="70386" y="333698"/>
                    <a:pt x="69214" y="325283"/>
                  </a:cubicBezTo>
                  <a:lnTo>
                    <a:pt x="69053" y="322971"/>
                  </a:lnTo>
                  <a:lnTo>
                    <a:pt x="69053" y="164319"/>
                  </a:lnTo>
                  <a:cubicBezTo>
                    <a:pt x="69053" y="155825"/>
                    <a:pt x="75422" y="148634"/>
                    <a:pt x="83968" y="147479"/>
                  </a:cubicBezTo>
                  <a:lnTo>
                    <a:pt x="86316" y="147320"/>
                  </a:lnTo>
                  <a:lnTo>
                    <a:pt x="166877" y="147320"/>
                  </a:lnTo>
                  <a:cubicBezTo>
                    <a:pt x="175504" y="147320"/>
                    <a:pt x="182805" y="153592"/>
                    <a:pt x="183979" y="162007"/>
                  </a:cubicBezTo>
                  <a:close/>
                  <a:moveTo>
                    <a:pt x="149614" y="181317"/>
                  </a:moveTo>
                  <a:lnTo>
                    <a:pt x="103580" y="181317"/>
                  </a:lnTo>
                  <a:lnTo>
                    <a:pt x="103580" y="305972"/>
                  </a:lnTo>
                  <a:lnTo>
                    <a:pt x="149614" y="305972"/>
                  </a:lnTo>
                  <a:lnTo>
                    <a:pt x="149614" y="181317"/>
                  </a:lnTo>
                  <a:close/>
                  <a:moveTo>
                    <a:pt x="330347" y="181158"/>
                  </a:moveTo>
                  <a:cubicBezTo>
                    <a:pt x="338889" y="180000"/>
                    <a:pt x="345256" y="172816"/>
                    <a:pt x="345258" y="164322"/>
                  </a:cubicBezTo>
                  <a:cubicBezTo>
                    <a:pt x="345260" y="154936"/>
                    <a:pt x="337533" y="147323"/>
                    <a:pt x="327999" y="147320"/>
                  </a:cubicBezTo>
                  <a:lnTo>
                    <a:pt x="224513" y="147320"/>
                  </a:lnTo>
                  <a:lnTo>
                    <a:pt x="222188" y="147479"/>
                  </a:lnTo>
                  <a:cubicBezTo>
                    <a:pt x="213653" y="148635"/>
                    <a:pt x="207292" y="155809"/>
                    <a:pt x="207277" y="164292"/>
                  </a:cubicBezTo>
                  <a:cubicBezTo>
                    <a:pt x="207261" y="173679"/>
                    <a:pt x="214978" y="181301"/>
                    <a:pt x="224513" y="181317"/>
                  </a:cubicBezTo>
                  <a:lnTo>
                    <a:pt x="327999" y="181317"/>
                  </a:lnTo>
                  <a:lnTo>
                    <a:pt x="330347" y="181158"/>
                  </a:lnTo>
                  <a:close/>
                  <a:moveTo>
                    <a:pt x="224513" y="215383"/>
                  </a:moveTo>
                  <a:lnTo>
                    <a:pt x="222188" y="215540"/>
                  </a:lnTo>
                  <a:cubicBezTo>
                    <a:pt x="213653" y="216696"/>
                    <a:pt x="207292" y="223869"/>
                    <a:pt x="207277" y="232354"/>
                  </a:cubicBezTo>
                  <a:cubicBezTo>
                    <a:pt x="207261" y="241741"/>
                    <a:pt x="214978" y="249363"/>
                    <a:pt x="224513" y="249379"/>
                  </a:cubicBezTo>
                  <a:lnTo>
                    <a:pt x="304982" y="249379"/>
                  </a:lnTo>
                  <a:lnTo>
                    <a:pt x="307330" y="249221"/>
                  </a:lnTo>
                  <a:cubicBezTo>
                    <a:pt x="315872" y="248062"/>
                    <a:pt x="322237" y="240877"/>
                    <a:pt x="322240" y="232386"/>
                  </a:cubicBezTo>
                  <a:cubicBezTo>
                    <a:pt x="322242" y="222998"/>
                    <a:pt x="314516" y="215384"/>
                    <a:pt x="304982" y="215383"/>
                  </a:cubicBezTo>
                  <a:lnTo>
                    <a:pt x="224513" y="215383"/>
                  </a:lnTo>
                  <a:close/>
                  <a:moveTo>
                    <a:pt x="552451" y="400929"/>
                  </a:moveTo>
                  <a:cubicBezTo>
                    <a:pt x="552451" y="469561"/>
                    <a:pt x="494882" y="525194"/>
                    <a:pt x="423863" y="525194"/>
                  </a:cubicBezTo>
                  <a:cubicBezTo>
                    <a:pt x="352844" y="525194"/>
                    <a:pt x="295275" y="469561"/>
                    <a:pt x="295275" y="400929"/>
                  </a:cubicBezTo>
                  <a:cubicBezTo>
                    <a:pt x="295275" y="332298"/>
                    <a:pt x="352844" y="276664"/>
                    <a:pt x="423863" y="276664"/>
                  </a:cubicBezTo>
                  <a:cubicBezTo>
                    <a:pt x="494882" y="276664"/>
                    <a:pt x="552451" y="332298"/>
                    <a:pt x="552451" y="400929"/>
                  </a:cubicBezTo>
                  <a:close/>
                  <a:moveTo>
                    <a:pt x="488154" y="400928"/>
                  </a:moveTo>
                  <a:cubicBezTo>
                    <a:pt x="488152" y="396271"/>
                    <a:pt x="484596" y="392333"/>
                    <a:pt x="479824" y="391698"/>
                  </a:cubicBezTo>
                  <a:lnTo>
                    <a:pt x="478512" y="391610"/>
                  </a:lnTo>
                  <a:lnTo>
                    <a:pt x="433507" y="391610"/>
                  </a:lnTo>
                  <a:lnTo>
                    <a:pt x="433507" y="348117"/>
                  </a:lnTo>
                  <a:cubicBezTo>
                    <a:pt x="433507" y="342970"/>
                    <a:pt x="429190" y="338797"/>
                    <a:pt x="423863" y="338797"/>
                  </a:cubicBezTo>
                  <a:cubicBezTo>
                    <a:pt x="419043" y="338797"/>
                    <a:pt x="414964" y="342236"/>
                    <a:pt x="414308" y="346850"/>
                  </a:cubicBezTo>
                  <a:lnTo>
                    <a:pt x="414218" y="348117"/>
                  </a:lnTo>
                  <a:lnTo>
                    <a:pt x="414218" y="391610"/>
                  </a:lnTo>
                  <a:lnTo>
                    <a:pt x="369214" y="391610"/>
                  </a:lnTo>
                  <a:cubicBezTo>
                    <a:pt x="363887" y="391610"/>
                    <a:pt x="359571" y="395786"/>
                    <a:pt x="359572" y="400933"/>
                  </a:cubicBezTo>
                  <a:cubicBezTo>
                    <a:pt x="359574" y="405588"/>
                    <a:pt x="363129" y="409528"/>
                    <a:pt x="367901" y="410163"/>
                  </a:cubicBezTo>
                  <a:lnTo>
                    <a:pt x="369214" y="410250"/>
                  </a:lnTo>
                  <a:lnTo>
                    <a:pt x="414218" y="410250"/>
                  </a:lnTo>
                  <a:lnTo>
                    <a:pt x="414218" y="453742"/>
                  </a:lnTo>
                  <a:cubicBezTo>
                    <a:pt x="414220" y="458890"/>
                    <a:pt x="418539" y="463060"/>
                    <a:pt x="423865" y="463059"/>
                  </a:cubicBezTo>
                  <a:cubicBezTo>
                    <a:pt x="428684" y="463058"/>
                    <a:pt x="432760" y="459621"/>
                    <a:pt x="433417" y="455010"/>
                  </a:cubicBezTo>
                  <a:lnTo>
                    <a:pt x="433507" y="453742"/>
                  </a:lnTo>
                  <a:lnTo>
                    <a:pt x="433507" y="410250"/>
                  </a:lnTo>
                  <a:lnTo>
                    <a:pt x="478512" y="410250"/>
                  </a:lnTo>
                  <a:cubicBezTo>
                    <a:pt x="483840" y="410248"/>
                    <a:pt x="488155" y="406075"/>
                    <a:pt x="488154" y="400928"/>
                  </a:cubicBezTo>
                  <a:close/>
                </a:path>
              </a:pathLst>
            </a:custGeom>
            <a:gradFill>
              <a:gsLst>
                <a:gs pos="100000">
                  <a:srgbClr val="BDF2BD"/>
                </a:gs>
                <a:gs pos="55000">
                  <a:srgbClr val="C3E9FC"/>
                </a:gs>
              </a:gsLst>
              <a:lin ang="0" scaled="1"/>
            </a:gradFill>
            <a:effectLst/>
          </p:spPr>
          <p:txBody>
            <a:bodyPr wrap="square" lIns="0" tIns="0" rIns="0" bIns="0" anchor="ctr" anchorCtr="0">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a:ln w="3175">
                  <a:noFill/>
                </a:ln>
                <a:solidFill>
                  <a:schemeClr val="bg1"/>
                </a:solidFill>
                <a:effectLst/>
                <a:uLnTx/>
                <a:uFillTx/>
                <a:cs typeface="Segoe Sans Text" pitchFamily="2" charset="0"/>
              </a:endParaRPr>
            </a:p>
          </p:txBody>
        </p:sp>
        <p:sp>
          <p:nvSpPr>
            <p:cNvPr id="1050" name="Graphic 6">
              <a:extLst>
                <a:ext uri="{FF2B5EF4-FFF2-40B4-BE49-F238E27FC236}">
                  <a16:creationId xmlns:a16="http://schemas.microsoft.com/office/drawing/2014/main" id="{8A6A5B80-D573-FBF2-D794-3EA2DA0A8948}"/>
                </a:ext>
                <a:ext uri="{C183D7F6-B498-43B3-948B-1728B52AA6E4}">
                  <adec:decorative xmlns:adec="http://schemas.microsoft.com/office/drawing/2017/decorative" val="1"/>
                </a:ext>
              </a:extLst>
            </p:cNvPr>
            <p:cNvSpPr>
              <a:spLocks noChangeAspect="1"/>
            </p:cNvSpPr>
            <p:nvPr/>
          </p:nvSpPr>
          <p:spPr>
            <a:xfrm>
              <a:off x="8036021" y="2900658"/>
              <a:ext cx="330188" cy="325978"/>
            </a:xfrm>
            <a:custGeom>
              <a:avLst/>
              <a:gdLst>
                <a:gd name="connsiteX0" fmla="*/ 122175 w 597871"/>
                <a:gd name="connsiteY0" fmla="*/ 141846 h 590249"/>
                <a:gd name="connsiteX1" fmla="*/ 321592 w 597871"/>
                <a:gd name="connsiteY1" fmla="*/ 2690 h 590249"/>
                <a:gd name="connsiteX2" fmla="*/ 460750 w 597871"/>
                <a:gd name="connsiteY2" fmla="*/ 141846 h 590249"/>
                <a:gd name="connsiteX3" fmla="*/ 463351 w 597871"/>
                <a:gd name="connsiteY3" fmla="*/ 141846 h 590249"/>
                <a:gd name="connsiteX4" fmla="*/ 579188 w 597871"/>
                <a:gd name="connsiteY4" fmla="*/ 231646 h 590249"/>
                <a:gd name="connsiteX5" fmla="*/ 575452 w 597871"/>
                <a:gd name="connsiteY5" fmla="*/ 231527 h 590249"/>
                <a:gd name="connsiteX6" fmla="*/ 455877 w 597871"/>
                <a:gd name="connsiteY6" fmla="*/ 231527 h 590249"/>
                <a:gd name="connsiteX7" fmla="*/ 403563 w 597871"/>
                <a:gd name="connsiteY7" fmla="*/ 283841 h 590249"/>
                <a:gd name="connsiteX8" fmla="*/ 403563 w 597871"/>
                <a:gd name="connsiteY8" fmla="*/ 308533 h 590249"/>
                <a:gd name="connsiteX9" fmla="*/ 337708 w 597871"/>
                <a:gd name="connsiteY9" fmla="*/ 368320 h 590249"/>
                <a:gd name="connsiteX10" fmla="*/ 333463 w 597871"/>
                <a:gd name="connsiteY10" fmla="*/ 380995 h 590249"/>
                <a:gd name="connsiteX11" fmla="*/ 119574 w 597871"/>
                <a:gd name="connsiteY11" fmla="*/ 380995 h 590249"/>
                <a:gd name="connsiteX12" fmla="*/ 0 w 597871"/>
                <a:gd name="connsiteY12" fmla="*/ 261420 h 590249"/>
                <a:gd name="connsiteX13" fmla="*/ 119574 w 597871"/>
                <a:gd name="connsiteY13" fmla="*/ 141846 h 590249"/>
                <a:gd name="connsiteX14" fmla="*/ 122175 w 597871"/>
                <a:gd name="connsiteY14" fmla="*/ 141846 h 590249"/>
                <a:gd name="connsiteX15" fmla="*/ 433457 w 597871"/>
                <a:gd name="connsiteY15" fmla="*/ 283841 h 590249"/>
                <a:gd name="connsiteX16" fmla="*/ 455877 w 597871"/>
                <a:gd name="connsiteY16" fmla="*/ 261420 h 590249"/>
                <a:gd name="connsiteX17" fmla="*/ 575452 w 597871"/>
                <a:gd name="connsiteY17" fmla="*/ 261420 h 590249"/>
                <a:gd name="connsiteX18" fmla="*/ 597872 w 597871"/>
                <a:gd name="connsiteY18" fmla="*/ 283841 h 590249"/>
                <a:gd name="connsiteX19" fmla="*/ 597872 w 597871"/>
                <a:gd name="connsiteY19" fmla="*/ 403415 h 590249"/>
                <a:gd name="connsiteX20" fmla="*/ 575452 w 597871"/>
                <a:gd name="connsiteY20" fmla="*/ 425835 h 590249"/>
                <a:gd name="connsiteX21" fmla="*/ 455877 w 597871"/>
                <a:gd name="connsiteY21" fmla="*/ 425835 h 590249"/>
                <a:gd name="connsiteX22" fmla="*/ 433457 w 597871"/>
                <a:gd name="connsiteY22" fmla="*/ 403415 h 590249"/>
                <a:gd name="connsiteX23" fmla="*/ 433457 w 597871"/>
                <a:gd name="connsiteY23" fmla="*/ 380995 h 590249"/>
                <a:gd name="connsiteX24" fmla="*/ 423801 w 597871"/>
                <a:gd name="connsiteY24" fmla="*/ 380995 h 590249"/>
                <a:gd name="connsiteX25" fmla="*/ 408615 w 597871"/>
                <a:gd name="connsiteY25" fmla="*/ 391936 h 590249"/>
                <a:gd name="connsiteX26" fmla="*/ 381293 w 597871"/>
                <a:gd name="connsiteY26" fmla="*/ 473904 h 590249"/>
                <a:gd name="connsiteX27" fmla="*/ 323538 w 597871"/>
                <a:gd name="connsiteY27" fmla="*/ 515516 h 590249"/>
                <a:gd name="connsiteX28" fmla="*/ 298936 w 597871"/>
                <a:gd name="connsiteY28" fmla="*/ 515516 h 590249"/>
                <a:gd name="connsiteX29" fmla="*/ 298936 w 597871"/>
                <a:gd name="connsiteY29" fmla="*/ 567830 h 590249"/>
                <a:gd name="connsiteX30" fmla="*/ 276516 w 597871"/>
                <a:gd name="connsiteY30" fmla="*/ 590250 h 590249"/>
                <a:gd name="connsiteX31" fmla="*/ 156941 w 597871"/>
                <a:gd name="connsiteY31" fmla="*/ 590250 h 590249"/>
                <a:gd name="connsiteX32" fmla="*/ 134521 w 597871"/>
                <a:gd name="connsiteY32" fmla="*/ 567830 h 590249"/>
                <a:gd name="connsiteX33" fmla="*/ 134521 w 597871"/>
                <a:gd name="connsiteY33" fmla="*/ 448255 h 590249"/>
                <a:gd name="connsiteX34" fmla="*/ 156941 w 597871"/>
                <a:gd name="connsiteY34" fmla="*/ 425835 h 590249"/>
                <a:gd name="connsiteX35" fmla="*/ 276516 w 597871"/>
                <a:gd name="connsiteY35" fmla="*/ 425835 h 590249"/>
                <a:gd name="connsiteX36" fmla="*/ 298936 w 597871"/>
                <a:gd name="connsiteY36" fmla="*/ 448255 h 590249"/>
                <a:gd name="connsiteX37" fmla="*/ 298936 w 597871"/>
                <a:gd name="connsiteY37" fmla="*/ 470675 h 590249"/>
                <a:gd name="connsiteX38" fmla="*/ 323538 w 597871"/>
                <a:gd name="connsiteY38" fmla="*/ 470675 h 590249"/>
                <a:gd name="connsiteX39" fmla="*/ 338724 w 597871"/>
                <a:gd name="connsiteY39" fmla="*/ 459734 h 590249"/>
                <a:gd name="connsiteX40" fmla="*/ 366047 w 597871"/>
                <a:gd name="connsiteY40" fmla="*/ 377766 h 590249"/>
                <a:gd name="connsiteX41" fmla="*/ 423801 w 597871"/>
                <a:gd name="connsiteY41" fmla="*/ 336154 h 590249"/>
                <a:gd name="connsiteX42" fmla="*/ 433457 w 597871"/>
                <a:gd name="connsiteY42" fmla="*/ 336154 h 590249"/>
                <a:gd name="connsiteX43" fmla="*/ 433457 w 597871"/>
                <a:gd name="connsiteY43" fmla="*/ 283841 h 590249"/>
                <a:gd name="connsiteX44" fmla="*/ 478297 w 597871"/>
                <a:gd name="connsiteY44" fmla="*/ 359113 h 590249"/>
                <a:gd name="connsiteX45" fmla="*/ 478297 w 597871"/>
                <a:gd name="connsiteY45" fmla="*/ 380995 h 590249"/>
                <a:gd name="connsiteX46" fmla="*/ 553031 w 597871"/>
                <a:gd name="connsiteY46" fmla="*/ 380995 h 590249"/>
                <a:gd name="connsiteX47" fmla="*/ 553031 w 597871"/>
                <a:gd name="connsiteY47" fmla="*/ 306261 h 590249"/>
                <a:gd name="connsiteX48" fmla="*/ 478297 w 597871"/>
                <a:gd name="connsiteY48" fmla="*/ 306261 h 590249"/>
                <a:gd name="connsiteX49" fmla="*/ 478297 w 597871"/>
                <a:gd name="connsiteY49" fmla="*/ 358036 h 590249"/>
                <a:gd name="connsiteX50" fmla="*/ 478297 w 597871"/>
                <a:gd name="connsiteY50" fmla="*/ 359113 h 590249"/>
                <a:gd name="connsiteX51" fmla="*/ 179362 w 597871"/>
                <a:gd name="connsiteY51" fmla="*/ 470675 h 590249"/>
                <a:gd name="connsiteX52" fmla="*/ 179362 w 597871"/>
                <a:gd name="connsiteY52" fmla="*/ 545409 h 590249"/>
                <a:gd name="connsiteX53" fmla="*/ 254095 w 597871"/>
                <a:gd name="connsiteY53" fmla="*/ 545409 h 590249"/>
                <a:gd name="connsiteX54" fmla="*/ 254095 w 597871"/>
                <a:gd name="connsiteY54" fmla="*/ 470675 h 590249"/>
                <a:gd name="connsiteX55" fmla="*/ 179362 w 597871"/>
                <a:gd name="connsiteY55" fmla="*/ 470675 h 590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7871" h="590249">
                  <a:moveTo>
                    <a:pt x="122175" y="141846"/>
                  </a:moveTo>
                  <a:cubicBezTo>
                    <a:pt x="138816" y="48351"/>
                    <a:pt x="228099" y="-13951"/>
                    <a:pt x="321592" y="2690"/>
                  </a:cubicBezTo>
                  <a:cubicBezTo>
                    <a:pt x="392563" y="15321"/>
                    <a:pt x="448120" y="70877"/>
                    <a:pt x="460750" y="141846"/>
                  </a:cubicBezTo>
                  <a:lnTo>
                    <a:pt x="463351" y="141846"/>
                  </a:lnTo>
                  <a:cubicBezTo>
                    <a:pt x="517927" y="141854"/>
                    <a:pt x="565578" y="178795"/>
                    <a:pt x="579188" y="231646"/>
                  </a:cubicBezTo>
                  <a:cubicBezTo>
                    <a:pt x="577945" y="231563"/>
                    <a:pt x="576698" y="231523"/>
                    <a:pt x="575452" y="231527"/>
                  </a:cubicBezTo>
                  <a:lnTo>
                    <a:pt x="455877" y="231527"/>
                  </a:lnTo>
                  <a:cubicBezTo>
                    <a:pt x="426985" y="231527"/>
                    <a:pt x="403563" y="254948"/>
                    <a:pt x="403563" y="283841"/>
                  </a:cubicBezTo>
                  <a:lnTo>
                    <a:pt x="403563" y="308533"/>
                  </a:lnTo>
                  <a:cubicBezTo>
                    <a:pt x="372680" y="315603"/>
                    <a:pt x="347719" y="338262"/>
                    <a:pt x="337708" y="368320"/>
                  </a:cubicBezTo>
                  <a:lnTo>
                    <a:pt x="333463" y="380995"/>
                  </a:lnTo>
                  <a:lnTo>
                    <a:pt x="119574" y="380995"/>
                  </a:lnTo>
                  <a:cubicBezTo>
                    <a:pt x="53535" y="380995"/>
                    <a:pt x="0" y="327458"/>
                    <a:pt x="0" y="261420"/>
                  </a:cubicBezTo>
                  <a:cubicBezTo>
                    <a:pt x="0" y="195381"/>
                    <a:pt x="53535" y="141846"/>
                    <a:pt x="119574" y="141846"/>
                  </a:cubicBezTo>
                  <a:lnTo>
                    <a:pt x="122175" y="141846"/>
                  </a:lnTo>
                  <a:close/>
                  <a:moveTo>
                    <a:pt x="433457" y="283841"/>
                  </a:moveTo>
                  <a:cubicBezTo>
                    <a:pt x="433457" y="271459"/>
                    <a:pt x="443495" y="261420"/>
                    <a:pt x="455877" y="261420"/>
                  </a:cubicBezTo>
                  <a:lnTo>
                    <a:pt x="575452" y="261420"/>
                  </a:lnTo>
                  <a:cubicBezTo>
                    <a:pt x="587833" y="261420"/>
                    <a:pt x="597872" y="271459"/>
                    <a:pt x="597872" y="283841"/>
                  </a:cubicBezTo>
                  <a:lnTo>
                    <a:pt x="597872" y="403415"/>
                  </a:lnTo>
                  <a:cubicBezTo>
                    <a:pt x="597872" y="415797"/>
                    <a:pt x="587833" y="425835"/>
                    <a:pt x="575452" y="425835"/>
                  </a:cubicBezTo>
                  <a:lnTo>
                    <a:pt x="455877" y="425835"/>
                  </a:lnTo>
                  <a:cubicBezTo>
                    <a:pt x="443495" y="425835"/>
                    <a:pt x="433457" y="415797"/>
                    <a:pt x="433457" y="403415"/>
                  </a:cubicBezTo>
                  <a:lnTo>
                    <a:pt x="433457" y="380995"/>
                  </a:lnTo>
                  <a:lnTo>
                    <a:pt x="423801" y="380995"/>
                  </a:lnTo>
                  <a:cubicBezTo>
                    <a:pt x="416914" y="380998"/>
                    <a:pt x="410801" y="385404"/>
                    <a:pt x="408615" y="391936"/>
                  </a:cubicBezTo>
                  <a:lnTo>
                    <a:pt x="381293" y="473904"/>
                  </a:lnTo>
                  <a:cubicBezTo>
                    <a:pt x="373006" y="498761"/>
                    <a:pt x="349740" y="515522"/>
                    <a:pt x="323538" y="515516"/>
                  </a:cubicBezTo>
                  <a:lnTo>
                    <a:pt x="298936" y="515516"/>
                  </a:lnTo>
                  <a:lnTo>
                    <a:pt x="298936" y="567830"/>
                  </a:lnTo>
                  <a:cubicBezTo>
                    <a:pt x="298936" y="580212"/>
                    <a:pt x="288898" y="590250"/>
                    <a:pt x="276516" y="590250"/>
                  </a:cubicBezTo>
                  <a:lnTo>
                    <a:pt x="156941" y="590250"/>
                  </a:lnTo>
                  <a:cubicBezTo>
                    <a:pt x="144559" y="590250"/>
                    <a:pt x="134521" y="580212"/>
                    <a:pt x="134521" y="567830"/>
                  </a:cubicBezTo>
                  <a:lnTo>
                    <a:pt x="134521" y="448255"/>
                  </a:lnTo>
                  <a:cubicBezTo>
                    <a:pt x="134521" y="435873"/>
                    <a:pt x="144559" y="425835"/>
                    <a:pt x="156941" y="425835"/>
                  </a:cubicBezTo>
                  <a:lnTo>
                    <a:pt x="276516" y="425835"/>
                  </a:lnTo>
                  <a:cubicBezTo>
                    <a:pt x="288898" y="425835"/>
                    <a:pt x="298936" y="435873"/>
                    <a:pt x="298936" y="448255"/>
                  </a:cubicBezTo>
                  <a:lnTo>
                    <a:pt x="298936" y="470675"/>
                  </a:lnTo>
                  <a:lnTo>
                    <a:pt x="323538" y="470675"/>
                  </a:lnTo>
                  <a:cubicBezTo>
                    <a:pt x="330414" y="470675"/>
                    <a:pt x="336572" y="466251"/>
                    <a:pt x="338724" y="459734"/>
                  </a:cubicBezTo>
                  <a:lnTo>
                    <a:pt x="366047" y="377766"/>
                  </a:lnTo>
                  <a:cubicBezTo>
                    <a:pt x="374333" y="352910"/>
                    <a:pt x="397600" y="336148"/>
                    <a:pt x="423801" y="336154"/>
                  </a:cubicBezTo>
                  <a:lnTo>
                    <a:pt x="433457" y="336154"/>
                  </a:lnTo>
                  <a:lnTo>
                    <a:pt x="433457" y="283841"/>
                  </a:lnTo>
                  <a:close/>
                  <a:moveTo>
                    <a:pt x="478297" y="359113"/>
                  </a:moveTo>
                  <a:lnTo>
                    <a:pt x="478297" y="380995"/>
                  </a:lnTo>
                  <a:lnTo>
                    <a:pt x="553031" y="380995"/>
                  </a:lnTo>
                  <a:lnTo>
                    <a:pt x="553031" y="306261"/>
                  </a:lnTo>
                  <a:lnTo>
                    <a:pt x="478297" y="306261"/>
                  </a:lnTo>
                  <a:lnTo>
                    <a:pt x="478297" y="358036"/>
                  </a:lnTo>
                  <a:cubicBezTo>
                    <a:pt x="478303" y="358395"/>
                    <a:pt x="478303" y="358754"/>
                    <a:pt x="478297" y="359113"/>
                  </a:cubicBezTo>
                  <a:close/>
                  <a:moveTo>
                    <a:pt x="179362" y="470675"/>
                  </a:moveTo>
                  <a:lnTo>
                    <a:pt x="179362" y="545409"/>
                  </a:lnTo>
                  <a:lnTo>
                    <a:pt x="254095" y="545409"/>
                  </a:lnTo>
                  <a:lnTo>
                    <a:pt x="254095" y="470675"/>
                  </a:lnTo>
                  <a:lnTo>
                    <a:pt x="179362" y="470675"/>
                  </a:lnTo>
                  <a:close/>
                </a:path>
              </a:pathLst>
            </a:custGeom>
            <a:gradFill>
              <a:gsLst>
                <a:gs pos="100000">
                  <a:srgbClr val="BDF2BD"/>
                </a:gs>
                <a:gs pos="55000">
                  <a:srgbClr val="C3E9FC"/>
                </a:gs>
              </a:gsLst>
              <a:lin ang="0" scaled="1"/>
            </a:gradFill>
            <a:effectLst/>
          </p:spPr>
          <p:txBody>
            <a:bodyPr wrap="square" lIns="0" tIns="0" rIns="0" bIns="0" anchor="ctr" anchorCtr="0">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200" b="1" i="0" u="none" strike="noStrike" kern="0" cap="none" spc="0" normalizeH="0" baseline="0" noProof="0">
                <a:ln w="3175">
                  <a:noFill/>
                </a:ln>
                <a:solidFill>
                  <a:schemeClr val="bg1"/>
                </a:solidFill>
                <a:effectLst/>
                <a:uLnTx/>
                <a:uFillTx/>
                <a:cs typeface="Segoe Sans Text" pitchFamily="2" charset="0"/>
              </a:endParaRPr>
            </a:p>
          </p:txBody>
        </p:sp>
        <p:grpSp>
          <p:nvGrpSpPr>
            <p:cNvPr id="1194" name="Graphic 1082" descr="Pie chart with solid fill">
              <a:extLst>
                <a:ext uri="{FF2B5EF4-FFF2-40B4-BE49-F238E27FC236}">
                  <a16:creationId xmlns:a16="http://schemas.microsoft.com/office/drawing/2014/main" id="{0A28B940-D14C-167D-5BBB-9A335EFAF351}"/>
                </a:ext>
              </a:extLst>
            </p:cNvPr>
            <p:cNvGrpSpPr/>
            <p:nvPr/>
          </p:nvGrpSpPr>
          <p:grpSpPr>
            <a:xfrm>
              <a:off x="3812976" y="4681010"/>
              <a:ext cx="333400" cy="333839"/>
              <a:chOff x="-2253736" y="4033602"/>
              <a:chExt cx="576806" cy="577566"/>
            </a:xfrm>
            <a:gradFill>
              <a:gsLst>
                <a:gs pos="100000">
                  <a:srgbClr val="BDF2BD"/>
                </a:gs>
                <a:gs pos="55000">
                  <a:srgbClr val="C3E9FC"/>
                </a:gs>
              </a:gsLst>
              <a:lin ang="0" scaled="1"/>
            </a:gradFill>
          </p:grpSpPr>
          <p:sp>
            <p:nvSpPr>
              <p:cNvPr id="1195" name="Freeform: Shape 1194">
                <a:extLst>
                  <a:ext uri="{FF2B5EF4-FFF2-40B4-BE49-F238E27FC236}">
                    <a16:creationId xmlns:a16="http://schemas.microsoft.com/office/drawing/2014/main" id="{1D3BC289-069D-3F62-7927-2638D6C41C03}"/>
                  </a:ext>
                </a:extLst>
              </p:cNvPr>
              <p:cNvSpPr/>
              <p:nvPr/>
            </p:nvSpPr>
            <p:spPr>
              <a:xfrm>
                <a:off x="-2253736" y="4033602"/>
                <a:ext cx="481812" cy="577566"/>
              </a:xfrm>
              <a:custGeom>
                <a:avLst/>
                <a:gdLst>
                  <a:gd name="connsiteX0" fmla="*/ 273584 w 481812"/>
                  <a:gd name="connsiteY0" fmla="*/ 0 h 577566"/>
                  <a:gd name="connsiteX1" fmla="*/ 0 w 481812"/>
                  <a:gd name="connsiteY1" fmla="*/ 288783 h 577566"/>
                  <a:gd name="connsiteX2" fmla="*/ 288783 w 481812"/>
                  <a:gd name="connsiteY2" fmla="*/ 577567 h 577566"/>
                  <a:gd name="connsiteX3" fmla="*/ 481812 w 481812"/>
                  <a:gd name="connsiteY3" fmla="*/ 503091 h 577566"/>
                  <a:gd name="connsiteX4" fmla="*/ 273584 w 481812"/>
                  <a:gd name="connsiteY4" fmla="*/ 294863 h 577566"/>
                  <a:gd name="connsiteX5" fmla="*/ 273584 w 481812"/>
                  <a:gd name="connsiteY5" fmla="*/ 0 h 577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812" h="577566">
                    <a:moveTo>
                      <a:pt x="273584" y="0"/>
                    </a:moveTo>
                    <a:cubicBezTo>
                      <a:pt x="121593" y="7600"/>
                      <a:pt x="0" y="135272"/>
                      <a:pt x="0" y="288783"/>
                    </a:cubicBezTo>
                    <a:cubicBezTo>
                      <a:pt x="0" y="448374"/>
                      <a:pt x="129193" y="577567"/>
                      <a:pt x="288783" y="577567"/>
                    </a:cubicBezTo>
                    <a:cubicBezTo>
                      <a:pt x="360979" y="577567"/>
                      <a:pt x="428615" y="551728"/>
                      <a:pt x="481812" y="503091"/>
                    </a:cubicBezTo>
                    <a:lnTo>
                      <a:pt x="273584" y="294863"/>
                    </a:lnTo>
                    <a:lnTo>
                      <a:pt x="273584" y="0"/>
                    </a:lnTo>
                    <a:close/>
                  </a:path>
                </a:pathLst>
              </a:custGeom>
              <a:grpFill/>
              <a:ln w="7541" cap="flat">
                <a:noFill/>
                <a:prstDash val="solid"/>
                <a:miter/>
              </a:ln>
            </p:spPr>
            <p:txBody>
              <a:bodyPr rtlCol="0" anchor="ctr"/>
              <a:lstStyle/>
              <a:p>
                <a:endParaRPr lang="en-GB"/>
              </a:p>
            </p:txBody>
          </p:sp>
          <p:sp>
            <p:nvSpPr>
              <p:cNvPr id="1196" name="Freeform: Shape 1195">
                <a:extLst>
                  <a:ext uri="{FF2B5EF4-FFF2-40B4-BE49-F238E27FC236}">
                    <a16:creationId xmlns:a16="http://schemas.microsoft.com/office/drawing/2014/main" id="{F3DB10C0-E272-6FAA-C38B-CCB488A9C157}"/>
                  </a:ext>
                </a:extLst>
              </p:cNvPr>
              <p:cNvSpPr/>
              <p:nvPr/>
            </p:nvSpPr>
            <p:spPr>
              <a:xfrm>
                <a:off x="-1949753" y="4033602"/>
                <a:ext cx="272824" cy="273584"/>
              </a:xfrm>
              <a:custGeom>
                <a:avLst/>
                <a:gdLst>
                  <a:gd name="connsiteX0" fmla="*/ 0 w 272824"/>
                  <a:gd name="connsiteY0" fmla="*/ 0 h 273584"/>
                  <a:gd name="connsiteX1" fmla="*/ 0 w 272824"/>
                  <a:gd name="connsiteY1" fmla="*/ 273584 h 273584"/>
                  <a:gd name="connsiteX2" fmla="*/ 272824 w 272824"/>
                  <a:gd name="connsiteY2" fmla="*/ 273584 h 273584"/>
                  <a:gd name="connsiteX3" fmla="*/ 0 w 272824"/>
                  <a:gd name="connsiteY3" fmla="*/ 0 h 273584"/>
                </a:gdLst>
                <a:ahLst/>
                <a:cxnLst>
                  <a:cxn ang="0">
                    <a:pos x="connsiteX0" y="connsiteY0"/>
                  </a:cxn>
                  <a:cxn ang="0">
                    <a:pos x="connsiteX1" y="connsiteY1"/>
                  </a:cxn>
                  <a:cxn ang="0">
                    <a:pos x="connsiteX2" y="connsiteY2"/>
                  </a:cxn>
                  <a:cxn ang="0">
                    <a:pos x="connsiteX3" y="connsiteY3"/>
                  </a:cxn>
                </a:cxnLst>
                <a:rect l="l" t="t" r="r" b="b"/>
                <a:pathLst>
                  <a:path w="272824" h="273584">
                    <a:moveTo>
                      <a:pt x="0" y="0"/>
                    </a:moveTo>
                    <a:lnTo>
                      <a:pt x="0" y="273584"/>
                    </a:lnTo>
                    <a:lnTo>
                      <a:pt x="272824" y="273584"/>
                    </a:lnTo>
                    <a:cubicBezTo>
                      <a:pt x="265225" y="125393"/>
                      <a:pt x="147432" y="7600"/>
                      <a:pt x="0" y="0"/>
                    </a:cubicBezTo>
                    <a:close/>
                  </a:path>
                </a:pathLst>
              </a:custGeom>
              <a:grpFill/>
              <a:ln w="7541" cap="flat">
                <a:noFill/>
                <a:prstDash val="solid"/>
                <a:miter/>
              </a:ln>
            </p:spPr>
            <p:txBody>
              <a:bodyPr rtlCol="0" anchor="ctr"/>
              <a:lstStyle/>
              <a:p>
                <a:endParaRPr lang="en-GB"/>
              </a:p>
            </p:txBody>
          </p:sp>
          <p:sp>
            <p:nvSpPr>
              <p:cNvPr id="1197" name="Freeform: Shape 1196">
                <a:extLst>
                  <a:ext uri="{FF2B5EF4-FFF2-40B4-BE49-F238E27FC236}">
                    <a16:creationId xmlns:a16="http://schemas.microsoft.com/office/drawing/2014/main" id="{22F12790-5B72-B818-F3A3-E41C433D5BB7}"/>
                  </a:ext>
                </a:extLst>
              </p:cNvPr>
              <p:cNvSpPr/>
              <p:nvPr/>
            </p:nvSpPr>
            <p:spPr>
              <a:xfrm>
                <a:off x="-1928475" y="4337585"/>
                <a:ext cx="251545" cy="177829"/>
              </a:xfrm>
              <a:custGeom>
                <a:avLst/>
                <a:gdLst>
                  <a:gd name="connsiteX0" fmla="*/ 0 w 251545"/>
                  <a:gd name="connsiteY0" fmla="*/ 0 h 177829"/>
                  <a:gd name="connsiteX1" fmla="*/ 177830 w 251545"/>
                  <a:gd name="connsiteY1" fmla="*/ 177830 h 177829"/>
                  <a:gd name="connsiteX2" fmla="*/ 251546 w 251545"/>
                  <a:gd name="connsiteY2" fmla="*/ 0 h 177829"/>
                  <a:gd name="connsiteX3" fmla="*/ 0 w 251545"/>
                  <a:gd name="connsiteY3" fmla="*/ 0 h 177829"/>
                </a:gdLst>
                <a:ahLst/>
                <a:cxnLst>
                  <a:cxn ang="0">
                    <a:pos x="connsiteX0" y="connsiteY0"/>
                  </a:cxn>
                  <a:cxn ang="0">
                    <a:pos x="connsiteX1" y="connsiteY1"/>
                  </a:cxn>
                  <a:cxn ang="0">
                    <a:pos x="connsiteX2" y="connsiteY2"/>
                  </a:cxn>
                  <a:cxn ang="0">
                    <a:pos x="connsiteX3" y="connsiteY3"/>
                  </a:cxn>
                </a:cxnLst>
                <a:rect l="l" t="t" r="r" b="b"/>
                <a:pathLst>
                  <a:path w="251545" h="177829">
                    <a:moveTo>
                      <a:pt x="0" y="0"/>
                    </a:moveTo>
                    <a:lnTo>
                      <a:pt x="177830" y="177830"/>
                    </a:lnTo>
                    <a:cubicBezTo>
                      <a:pt x="222667" y="128433"/>
                      <a:pt x="248506" y="66116"/>
                      <a:pt x="251546" y="0"/>
                    </a:cubicBezTo>
                    <a:lnTo>
                      <a:pt x="0" y="0"/>
                    </a:lnTo>
                    <a:close/>
                  </a:path>
                </a:pathLst>
              </a:custGeom>
              <a:grpFill/>
              <a:ln w="7541" cap="flat">
                <a:noFill/>
                <a:prstDash val="solid"/>
                <a:miter/>
              </a:ln>
            </p:spPr>
            <p:txBody>
              <a:bodyPr rtlCol="0" anchor="ctr"/>
              <a:lstStyle/>
              <a:p>
                <a:endParaRPr lang="en-GB"/>
              </a:p>
            </p:txBody>
          </p:sp>
        </p:grpSp>
        <p:sp>
          <p:nvSpPr>
            <p:cNvPr id="1168" name="Graphic 1085" descr="Heart with pulse with solid fill">
              <a:extLst>
                <a:ext uri="{FF2B5EF4-FFF2-40B4-BE49-F238E27FC236}">
                  <a16:creationId xmlns:a16="http://schemas.microsoft.com/office/drawing/2014/main" id="{1D839100-015F-99E6-A986-C1EDB3789099}"/>
                </a:ext>
              </a:extLst>
            </p:cNvPr>
            <p:cNvSpPr/>
            <p:nvPr/>
          </p:nvSpPr>
          <p:spPr>
            <a:xfrm>
              <a:off x="8051910" y="4726571"/>
              <a:ext cx="298410" cy="283052"/>
            </a:xfrm>
            <a:custGeom>
              <a:avLst/>
              <a:gdLst>
                <a:gd name="connsiteX0" fmla="*/ 260034 w 516270"/>
                <a:gd name="connsiteY0" fmla="*/ 488029 h 489700"/>
                <a:gd name="connsiteX1" fmla="*/ 355256 w 516270"/>
                <a:gd name="connsiteY1" fmla="*/ 403598 h 489700"/>
                <a:gd name="connsiteX2" fmla="*/ 470237 w 516270"/>
                <a:gd name="connsiteY2" fmla="*/ 264830 h 489700"/>
                <a:gd name="connsiteX3" fmla="*/ 509679 w 516270"/>
                <a:gd name="connsiteY3" fmla="*/ 94296 h 489700"/>
                <a:gd name="connsiteX4" fmla="*/ 396978 w 516270"/>
                <a:gd name="connsiteY4" fmla="*/ 517 h 489700"/>
                <a:gd name="connsiteX5" fmla="*/ 257906 w 516270"/>
                <a:gd name="connsiteY5" fmla="*/ 102047 h 489700"/>
                <a:gd name="connsiteX6" fmla="*/ 134869 w 516270"/>
                <a:gd name="connsiteY6" fmla="*/ 213 h 489700"/>
                <a:gd name="connsiteX7" fmla="*/ 12668 w 516270"/>
                <a:gd name="connsiteY7" fmla="*/ 78641 h 489700"/>
                <a:gd name="connsiteX8" fmla="*/ 36835 w 516270"/>
                <a:gd name="connsiteY8" fmla="*/ 250239 h 489700"/>
                <a:gd name="connsiteX9" fmla="*/ 150372 w 516270"/>
                <a:gd name="connsiteY9" fmla="*/ 393414 h 489700"/>
                <a:gd name="connsiteX10" fmla="*/ 257906 w 516270"/>
                <a:gd name="connsiteY10" fmla="*/ 489701 h 489700"/>
                <a:gd name="connsiteX11" fmla="*/ 136313 w 516270"/>
                <a:gd name="connsiteY11" fmla="*/ 229644 h 489700"/>
                <a:gd name="connsiteX12" fmla="*/ 159112 w 516270"/>
                <a:gd name="connsiteY12" fmla="*/ 161248 h 489700"/>
                <a:gd name="connsiteX13" fmla="*/ 172639 w 516270"/>
                <a:gd name="connsiteY13" fmla="*/ 120590 h 489700"/>
                <a:gd name="connsiteX14" fmla="*/ 196121 w 516270"/>
                <a:gd name="connsiteY14" fmla="*/ 101971 h 489700"/>
                <a:gd name="connsiteX15" fmla="*/ 206989 w 516270"/>
                <a:gd name="connsiteY15" fmla="*/ 122794 h 489700"/>
                <a:gd name="connsiteX16" fmla="*/ 213296 w 516270"/>
                <a:gd name="connsiteY16" fmla="*/ 156460 h 489700"/>
                <a:gd name="connsiteX17" fmla="*/ 231535 w 516270"/>
                <a:gd name="connsiteY17" fmla="*/ 253734 h 489700"/>
                <a:gd name="connsiteX18" fmla="*/ 243619 w 516270"/>
                <a:gd name="connsiteY18" fmla="*/ 318331 h 489700"/>
                <a:gd name="connsiteX19" fmla="*/ 287696 w 516270"/>
                <a:gd name="connsiteY19" fmla="*/ 201754 h 489700"/>
                <a:gd name="connsiteX20" fmla="*/ 297423 w 516270"/>
                <a:gd name="connsiteY20" fmla="*/ 176067 h 489700"/>
                <a:gd name="connsiteX21" fmla="*/ 312623 w 516270"/>
                <a:gd name="connsiteY21" fmla="*/ 160032 h 489700"/>
                <a:gd name="connsiteX22" fmla="*/ 330938 w 516270"/>
                <a:gd name="connsiteY22" fmla="*/ 178271 h 489700"/>
                <a:gd name="connsiteX23" fmla="*/ 340285 w 516270"/>
                <a:gd name="connsiteY23" fmla="*/ 210341 h 489700"/>
                <a:gd name="connsiteX24" fmla="*/ 358828 w 516270"/>
                <a:gd name="connsiteY24" fmla="*/ 274101 h 489700"/>
                <a:gd name="connsiteX25" fmla="*/ 377143 w 516270"/>
                <a:gd name="connsiteY25" fmla="*/ 253962 h 489700"/>
                <a:gd name="connsiteX26" fmla="*/ 396826 w 516270"/>
                <a:gd name="connsiteY26" fmla="*/ 232836 h 489700"/>
                <a:gd name="connsiteX27" fmla="*/ 427224 w 516270"/>
                <a:gd name="connsiteY27" fmla="*/ 229948 h 489700"/>
                <a:gd name="connsiteX28" fmla="*/ 455494 w 516270"/>
                <a:gd name="connsiteY28" fmla="*/ 229948 h 489700"/>
                <a:gd name="connsiteX29" fmla="*/ 436875 w 516270"/>
                <a:gd name="connsiteY29" fmla="*/ 260346 h 489700"/>
                <a:gd name="connsiteX30" fmla="*/ 412177 w 516270"/>
                <a:gd name="connsiteY30" fmla="*/ 260346 h 489700"/>
                <a:gd name="connsiteX31" fmla="*/ 363312 w 516270"/>
                <a:gd name="connsiteY31" fmla="*/ 314151 h 489700"/>
                <a:gd name="connsiteX32" fmla="*/ 341901 w 516270"/>
                <a:gd name="connsiteY32" fmla="*/ 316053 h 489700"/>
                <a:gd name="connsiteX33" fmla="*/ 338689 w 516270"/>
                <a:gd name="connsiteY33" fmla="*/ 312327 h 489700"/>
                <a:gd name="connsiteX34" fmla="*/ 335117 w 516270"/>
                <a:gd name="connsiteY34" fmla="*/ 301992 h 489700"/>
                <a:gd name="connsiteX35" fmla="*/ 322426 w 516270"/>
                <a:gd name="connsiteY35" fmla="*/ 258598 h 489700"/>
                <a:gd name="connsiteX36" fmla="*/ 312091 w 516270"/>
                <a:gd name="connsiteY36" fmla="*/ 223032 h 489700"/>
                <a:gd name="connsiteX37" fmla="*/ 254106 w 516270"/>
                <a:gd name="connsiteY37" fmla="*/ 376315 h 489700"/>
                <a:gd name="connsiteX38" fmla="*/ 247190 w 516270"/>
                <a:gd name="connsiteY38" fmla="*/ 386803 h 489700"/>
                <a:gd name="connsiteX39" fmla="*/ 226057 w 516270"/>
                <a:gd name="connsiteY39" fmla="*/ 382881 h 489700"/>
                <a:gd name="connsiteX40" fmla="*/ 223632 w 516270"/>
                <a:gd name="connsiteY40" fmla="*/ 376999 h 489700"/>
                <a:gd name="connsiteX41" fmla="*/ 219604 w 516270"/>
                <a:gd name="connsiteY41" fmla="*/ 355720 h 489700"/>
                <a:gd name="connsiteX42" fmla="*/ 200377 w 516270"/>
                <a:gd name="connsiteY42" fmla="*/ 253126 h 489700"/>
                <a:gd name="connsiteX43" fmla="*/ 186014 w 516270"/>
                <a:gd name="connsiteY43" fmla="*/ 176447 h 489700"/>
                <a:gd name="connsiteX44" fmla="*/ 164583 w 516270"/>
                <a:gd name="connsiteY44" fmla="*/ 240815 h 489700"/>
                <a:gd name="connsiteX45" fmla="*/ 146420 w 516270"/>
                <a:gd name="connsiteY45" fmla="*/ 260346 h 489700"/>
                <a:gd name="connsiteX46" fmla="*/ 112906 w 516270"/>
                <a:gd name="connsiteY46" fmla="*/ 260346 h 489700"/>
                <a:gd name="connsiteX47" fmla="*/ 78708 w 516270"/>
                <a:gd name="connsiteY47" fmla="*/ 260346 h 489700"/>
                <a:gd name="connsiteX48" fmla="*/ 60089 w 516270"/>
                <a:gd name="connsiteY48" fmla="*/ 229948 h 48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516270" h="489700">
                  <a:moveTo>
                    <a:pt x="260034" y="488029"/>
                  </a:moveTo>
                  <a:cubicBezTo>
                    <a:pt x="293356" y="461721"/>
                    <a:pt x="325149" y="433532"/>
                    <a:pt x="355256" y="403598"/>
                  </a:cubicBezTo>
                  <a:cubicBezTo>
                    <a:pt x="398900" y="362017"/>
                    <a:pt x="437492" y="315441"/>
                    <a:pt x="470237" y="264830"/>
                  </a:cubicBezTo>
                  <a:cubicBezTo>
                    <a:pt x="500636" y="215889"/>
                    <a:pt x="529666" y="152356"/>
                    <a:pt x="509679" y="94296"/>
                  </a:cubicBezTo>
                  <a:cubicBezTo>
                    <a:pt x="493492" y="46267"/>
                    <a:pt x="448579" y="5457"/>
                    <a:pt x="396978" y="517"/>
                  </a:cubicBezTo>
                  <a:cubicBezTo>
                    <a:pt x="331773" y="-5942"/>
                    <a:pt x="284580" y="49231"/>
                    <a:pt x="257906" y="102047"/>
                  </a:cubicBezTo>
                  <a:cubicBezTo>
                    <a:pt x="233511" y="53714"/>
                    <a:pt x="193158" y="3861"/>
                    <a:pt x="134869" y="213"/>
                  </a:cubicBezTo>
                  <a:cubicBezTo>
                    <a:pt x="83116" y="-2978"/>
                    <a:pt x="34935" y="33423"/>
                    <a:pt x="12668" y="78641"/>
                  </a:cubicBezTo>
                  <a:cubicBezTo>
                    <a:pt x="-15222" y="135409"/>
                    <a:pt x="7501" y="199246"/>
                    <a:pt x="36835" y="250239"/>
                  </a:cubicBezTo>
                  <a:cubicBezTo>
                    <a:pt x="67233" y="303436"/>
                    <a:pt x="107663" y="350173"/>
                    <a:pt x="150372" y="393414"/>
                  </a:cubicBezTo>
                  <a:cubicBezTo>
                    <a:pt x="184040" y="427860"/>
                    <a:pt x="219964" y="460027"/>
                    <a:pt x="257906" y="489701"/>
                  </a:cubicBezTo>
                  <a:close/>
                  <a:moveTo>
                    <a:pt x="136313" y="229644"/>
                  </a:moveTo>
                  <a:lnTo>
                    <a:pt x="159112" y="161248"/>
                  </a:lnTo>
                  <a:lnTo>
                    <a:pt x="172639" y="120590"/>
                  </a:lnTo>
                  <a:cubicBezTo>
                    <a:pt x="176135" y="110027"/>
                    <a:pt x="181530" y="95892"/>
                    <a:pt x="196121" y="101971"/>
                  </a:cubicBezTo>
                  <a:cubicBezTo>
                    <a:pt x="204937" y="105695"/>
                    <a:pt x="205469" y="114815"/>
                    <a:pt x="206989" y="122794"/>
                  </a:cubicBezTo>
                  <a:lnTo>
                    <a:pt x="213296" y="156460"/>
                  </a:lnTo>
                  <a:lnTo>
                    <a:pt x="231535" y="253734"/>
                  </a:lnTo>
                  <a:lnTo>
                    <a:pt x="243619" y="318331"/>
                  </a:lnTo>
                  <a:lnTo>
                    <a:pt x="287696" y="201754"/>
                  </a:lnTo>
                  <a:lnTo>
                    <a:pt x="297423" y="176067"/>
                  </a:lnTo>
                  <a:cubicBezTo>
                    <a:pt x="300235" y="168467"/>
                    <a:pt x="303123" y="160868"/>
                    <a:pt x="312623" y="160032"/>
                  </a:cubicBezTo>
                  <a:cubicBezTo>
                    <a:pt x="324706" y="158816"/>
                    <a:pt x="328278" y="169151"/>
                    <a:pt x="330938" y="178271"/>
                  </a:cubicBezTo>
                  <a:lnTo>
                    <a:pt x="340285" y="210341"/>
                  </a:lnTo>
                  <a:lnTo>
                    <a:pt x="358828" y="274101"/>
                  </a:lnTo>
                  <a:lnTo>
                    <a:pt x="377143" y="253962"/>
                  </a:lnTo>
                  <a:cubicBezTo>
                    <a:pt x="383001" y="246297"/>
                    <a:pt x="389593" y="239221"/>
                    <a:pt x="396826" y="232836"/>
                  </a:cubicBezTo>
                  <a:cubicBezTo>
                    <a:pt x="404425" y="227516"/>
                    <a:pt x="418484" y="229948"/>
                    <a:pt x="427224" y="229948"/>
                  </a:cubicBezTo>
                  <a:lnTo>
                    <a:pt x="455494" y="229948"/>
                  </a:lnTo>
                  <a:cubicBezTo>
                    <a:pt x="449871" y="240055"/>
                    <a:pt x="443639" y="250239"/>
                    <a:pt x="436875" y="260346"/>
                  </a:cubicBezTo>
                  <a:lnTo>
                    <a:pt x="412177" y="260346"/>
                  </a:lnTo>
                  <a:cubicBezTo>
                    <a:pt x="395990" y="278205"/>
                    <a:pt x="380487" y="297204"/>
                    <a:pt x="363312" y="314151"/>
                  </a:cubicBezTo>
                  <a:cubicBezTo>
                    <a:pt x="357924" y="320588"/>
                    <a:pt x="348339" y="321440"/>
                    <a:pt x="341901" y="316053"/>
                  </a:cubicBezTo>
                  <a:cubicBezTo>
                    <a:pt x="340635" y="314994"/>
                    <a:pt x="339550" y="313735"/>
                    <a:pt x="338689" y="312327"/>
                  </a:cubicBezTo>
                  <a:cubicBezTo>
                    <a:pt x="337038" y="309058"/>
                    <a:pt x="335836" y="305582"/>
                    <a:pt x="335117" y="301992"/>
                  </a:cubicBezTo>
                  <a:lnTo>
                    <a:pt x="322426" y="258598"/>
                  </a:lnTo>
                  <a:lnTo>
                    <a:pt x="312091" y="223032"/>
                  </a:lnTo>
                  <a:cubicBezTo>
                    <a:pt x="292712" y="274177"/>
                    <a:pt x="274093" y="325398"/>
                    <a:pt x="254106" y="376315"/>
                  </a:cubicBezTo>
                  <a:cubicBezTo>
                    <a:pt x="252988" y="380463"/>
                    <a:pt x="250563" y="384141"/>
                    <a:pt x="247190" y="386803"/>
                  </a:cubicBezTo>
                  <a:cubicBezTo>
                    <a:pt x="240271" y="391555"/>
                    <a:pt x="230810" y="389799"/>
                    <a:pt x="226057" y="382881"/>
                  </a:cubicBezTo>
                  <a:cubicBezTo>
                    <a:pt x="224842" y="381113"/>
                    <a:pt x="224016" y="379109"/>
                    <a:pt x="223632" y="376999"/>
                  </a:cubicBezTo>
                  <a:cubicBezTo>
                    <a:pt x="221884" y="370008"/>
                    <a:pt x="220972" y="362712"/>
                    <a:pt x="219604" y="355720"/>
                  </a:cubicBezTo>
                  <a:lnTo>
                    <a:pt x="200377" y="253126"/>
                  </a:lnTo>
                  <a:lnTo>
                    <a:pt x="186014" y="176447"/>
                  </a:lnTo>
                  <a:lnTo>
                    <a:pt x="164583" y="240815"/>
                  </a:lnTo>
                  <a:cubicBezTo>
                    <a:pt x="161316" y="250391"/>
                    <a:pt x="158732" y="259738"/>
                    <a:pt x="146420" y="260346"/>
                  </a:cubicBezTo>
                  <a:cubicBezTo>
                    <a:pt x="135249" y="260878"/>
                    <a:pt x="124002" y="260346"/>
                    <a:pt x="112906" y="260346"/>
                  </a:cubicBezTo>
                  <a:lnTo>
                    <a:pt x="78708" y="260346"/>
                  </a:lnTo>
                  <a:cubicBezTo>
                    <a:pt x="72021" y="250239"/>
                    <a:pt x="65713" y="240055"/>
                    <a:pt x="60089" y="229948"/>
                  </a:cubicBezTo>
                  <a:close/>
                </a:path>
              </a:pathLst>
            </a:custGeom>
            <a:gradFill>
              <a:gsLst>
                <a:gs pos="100000">
                  <a:srgbClr val="BDF2BD"/>
                </a:gs>
                <a:gs pos="55000">
                  <a:srgbClr val="C3E9FC"/>
                </a:gs>
              </a:gsLst>
              <a:lin ang="0" scaled="1"/>
            </a:gradFill>
            <a:ln w="7541" cap="flat">
              <a:noFill/>
              <a:prstDash val="solid"/>
              <a:miter/>
            </a:ln>
          </p:spPr>
          <p:txBody>
            <a:bodyPr rtlCol="0" anchor="ctr"/>
            <a:lstStyle/>
            <a:p>
              <a:endParaRPr lang="en-GB"/>
            </a:p>
          </p:txBody>
        </p:sp>
        <p:grpSp>
          <p:nvGrpSpPr>
            <p:cNvPr id="1169" name="Graphic 1086" descr="Checklist with solid fill">
              <a:extLst>
                <a:ext uri="{FF2B5EF4-FFF2-40B4-BE49-F238E27FC236}">
                  <a16:creationId xmlns:a16="http://schemas.microsoft.com/office/drawing/2014/main" id="{3A783D60-042D-7095-7F30-00B6124C1653}"/>
                </a:ext>
              </a:extLst>
            </p:cNvPr>
            <p:cNvGrpSpPr/>
            <p:nvPr/>
          </p:nvGrpSpPr>
          <p:grpSpPr>
            <a:xfrm>
              <a:off x="8057138" y="3770802"/>
              <a:ext cx="287954" cy="371554"/>
              <a:chOff x="-1080687" y="3104756"/>
              <a:chExt cx="498180" cy="642813"/>
            </a:xfrm>
            <a:gradFill>
              <a:gsLst>
                <a:gs pos="100000">
                  <a:srgbClr val="BDF2BD"/>
                </a:gs>
                <a:gs pos="55000">
                  <a:srgbClr val="C3E9FC"/>
                </a:gs>
              </a:gsLst>
              <a:lin ang="0" scaled="1"/>
            </a:gradFill>
          </p:grpSpPr>
          <p:sp>
            <p:nvSpPr>
              <p:cNvPr id="1170" name="Freeform: Shape 1169">
                <a:extLst>
                  <a:ext uri="{FF2B5EF4-FFF2-40B4-BE49-F238E27FC236}">
                    <a16:creationId xmlns:a16="http://schemas.microsoft.com/office/drawing/2014/main" id="{DF038B25-E6FA-52DB-DB48-7B79CC0EF456}"/>
                  </a:ext>
                </a:extLst>
              </p:cNvPr>
              <p:cNvSpPr/>
              <p:nvPr/>
            </p:nvSpPr>
            <p:spPr>
              <a:xfrm>
                <a:off x="-1080687" y="3104756"/>
                <a:ext cx="498180" cy="642813"/>
              </a:xfrm>
              <a:custGeom>
                <a:avLst/>
                <a:gdLst>
                  <a:gd name="connsiteX0" fmla="*/ 48211 w 498180"/>
                  <a:gd name="connsiteY0" fmla="*/ 48211 h 642813"/>
                  <a:gd name="connsiteX1" fmla="*/ 449969 w 498180"/>
                  <a:gd name="connsiteY1" fmla="*/ 48211 h 642813"/>
                  <a:gd name="connsiteX2" fmla="*/ 449969 w 498180"/>
                  <a:gd name="connsiteY2" fmla="*/ 594602 h 642813"/>
                  <a:gd name="connsiteX3" fmla="*/ 48211 w 498180"/>
                  <a:gd name="connsiteY3" fmla="*/ 594602 h 642813"/>
                  <a:gd name="connsiteX4" fmla="*/ 48211 w 498180"/>
                  <a:gd name="connsiteY4" fmla="*/ 48211 h 642813"/>
                  <a:gd name="connsiteX5" fmla="*/ 0 w 498180"/>
                  <a:gd name="connsiteY5" fmla="*/ 642813 h 642813"/>
                  <a:gd name="connsiteX6" fmla="*/ 498180 w 498180"/>
                  <a:gd name="connsiteY6" fmla="*/ 642813 h 642813"/>
                  <a:gd name="connsiteX7" fmla="*/ 498180 w 498180"/>
                  <a:gd name="connsiteY7" fmla="*/ 0 h 642813"/>
                  <a:gd name="connsiteX8" fmla="*/ 0 w 498180"/>
                  <a:gd name="connsiteY8" fmla="*/ 0 h 642813"/>
                  <a:gd name="connsiteX9" fmla="*/ 0 w 498180"/>
                  <a:gd name="connsiteY9" fmla="*/ 642813 h 6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8180" h="642813">
                    <a:moveTo>
                      <a:pt x="48211" y="48211"/>
                    </a:moveTo>
                    <a:lnTo>
                      <a:pt x="449969" y="48211"/>
                    </a:lnTo>
                    <a:lnTo>
                      <a:pt x="449969" y="594602"/>
                    </a:lnTo>
                    <a:lnTo>
                      <a:pt x="48211" y="594602"/>
                    </a:lnTo>
                    <a:lnTo>
                      <a:pt x="48211" y="48211"/>
                    </a:lnTo>
                    <a:close/>
                    <a:moveTo>
                      <a:pt x="0" y="642813"/>
                    </a:moveTo>
                    <a:lnTo>
                      <a:pt x="498180" y="642813"/>
                    </a:lnTo>
                    <a:lnTo>
                      <a:pt x="498180" y="0"/>
                    </a:lnTo>
                    <a:lnTo>
                      <a:pt x="0" y="0"/>
                    </a:lnTo>
                    <a:lnTo>
                      <a:pt x="0" y="642813"/>
                    </a:lnTo>
                    <a:close/>
                  </a:path>
                </a:pathLst>
              </a:custGeom>
              <a:grpFill/>
              <a:ln w="7938" cap="flat">
                <a:noFill/>
                <a:prstDash val="solid"/>
                <a:miter/>
              </a:ln>
            </p:spPr>
            <p:txBody>
              <a:bodyPr rtlCol="0" anchor="ctr"/>
              <a:lstStyle/>
              <a:p>
                <a:endParaRPr lang="en-GB"/>
              </a:p>
            </p:txBody>
          </p:sp>
          <p:sp>
            <p:nvSpPr>
              <p:cNvPr id="1171" name="Freeform: Shape 1170">
                <a:extLst>
                  <a:ext uri="{FF2B5EF4-FFF2-40B4-BE49-F238E27FC236}">
                    <a16:creationId xmlns:a16="http://schemas.microsoft.com/office/drawing/2014/main" id="{4E6674E6-905E-CA44-D83F-CEC2FF199F59}"/>
                  </a:ext>
                </a:extLst>
              </p:cNvPr>
              <p:cNvSpPr/>
              <p:nvPr/>
            </p:nvSpPr>
            <p:spPr>
              <a:xfrm>
                <a:off x="-815526" y="3225283"/>
                <a:ext cx="136597" cy="32140"/>
              </a:xfrm>
              <a:custGeom>
                <a:avLst/>
                <a:gdLst>
                  <a:gd name="connsiteX0" fmla="*/ 0 w 136597"/>
                  <a:gd name="connsiteY0" fmla="*/ 0 h 32140"/>
                  <a:gd name="connsiteX1" fmla="*/ 136598 w 136597"/>
                  <a:gd name="connsiteY1" fmla="*/ 0 h 32140"/>
                  <a:gd name="connsiteX2" fmla="*/ 136598 w 136597"/>
                  <a:gd name="connsiteY2" fmla="*/ 32141 h 32140"/>
                  <a:gd name="connsiteX3" fmla="*/ 0 w 136597"/>
                  <a:gd name="connsiteY3" fmla="*/ 32141 h 32140"/>
                </a:gdLst>
                <a:ahLst/>
                <a:cxnLst>
                  <a:cxn ang="0">
                    <a:pos x="connsiteX0" y="connsiteY0"/>
                  </a:cxn>
                  <a:cxn ang="0">
                    <a:pos x="connsiteX1" y="connsiteY1"/>
                  </a:cxn>
                  <a:cxn ang="0">
                    <a:pos x="connsiteX2" y="connsiteY2"/>
                  </a:cxn>
                  <a:cxn ang="0">
                    <a:pos x="connsiteX3" y="connsiteY3"/>
                  </a:cxn>
                </a:cxnLst>
                <a:rect l="l" t="t" r="r" b="b"/>
                <a:pathLst>
                  <a:path w="136597" h="32140">
                    <a:moveTo>
                      <a:pt x="0" y="0"/>
                    </a:moveTo>
                    <a:lnTo>
                      <a:pt x="136598" y="0"/>
                    </a:lnTo>
                    <a:lnTo>
                      <a:pt x="136598" y="32141"/>
                    </a:lnTo>
                    <a:lnTo>
                      <a:pt x="0" y="32141"/>
                    </a:lnTo>
                    <a:close/>
                  </a:path>
                </a:pathLst>
              </a:custGeom>
              <a:grpFill/>
              <a:ln w="7938" cap="flat">
                <a:noFill/>
                <a:prstDash val="solid"/>
                <a:miter/>
              </a:ln>
            </p:spPr>
            <p:txBody>
              <a:bodyPr rtlCol="0" anchor="ctr"/>
              <a:lstStyle/>
              <a:p>
                <a:endParaRPr lang="en-GB"/>
              </a:p>
            </p:txBody>
          </p:sp>
          <p:sp>
            <p:nvSpPr>
              <p:cNvPr id="1172" name="Freeform: Shape 1171">
                <a:extLst>
                  <a:ext uri="{FF2B5EF4-FFF2-40B4-BE49-F238E27FC236}">
                    <a16:creationId xmlns:a16="http://schemas.microsoft.com/office/drawing/2014/main" id="{76CDB689-18E5-1971-377E-7C36752C9B72}"/>
                  </a:ext>
                </a:extLst>
              </p:cNvPr>
              <p:cNvSpPr/>
              <p:nvPr/>
            </p:nvSpPr>
            <p:spPr>
              <a:xfrm>
                <a:off x="-815526" y="3353846"/>
                <a:ext cx="136597" cy="32140"/>
              </a:xfrm>
              <a:custGeom>
                <a:avLst/>
                <a:gdLst>
                  <a:gd name="connsiteX0" fmla="*/ 0 w 136597"/>
                  <a:gd name="connsiteY0" fmla="*/ 0 h 32140"/>
                  <a:gd name="connsiteX1" fmla="*/ 136598 w 136597"/>
                  <a:gd name="connsiteY1" fmla="*/ 0 h 32140"/>
                  <a:gd name="connsiteX2" fmla="*/ 136598 w 136597"/>
                  <a:gd name="connsiteY2" fmla="*/ 32141 h 32140"/>
                  <a:gd name="connsiteX3" fmla="*/ 0 w 136597"/>
                  <a:gd name="connsiteY3" fmla="*/ 32141 h 32140"/>
                </a:gdLst>
                <a:ahLst/>
                <a:cxnLst>
                  <a:cxn ang="0">
                    <a:pos x="connsiteX0" y="connsiteY0"/>
                  </a:cxn>
                  <a:cxn ang="0">
                    <a:pos x="connsiteX1" y="connsiteY1"/>
                  </a:cxn>
                  <a:cxn ang="0">
                    <a:pos x="connsiteX2" y="connsiteY2"/>
                  </a:cxn>
                  <a:cxn ang="0">
                    <a:pos x="connsiteX3" y="connsiteY3"/>
                  </a:cxn>
                </a:cxnLst>
                <a:rect l="l" t="t" r="r" b="b"/>
                <a:pathLst>
                  <a:path w="136597" h="32140">
                    <a:moveTo>
                      <a:pt x="0" y="0"/>
                    </a:moveTo>
                    <a:lnTo>
                      <a:pt x="136598" y="0"/>
                    </a:lnTo>
                    <a:lnTo>
                      <a:pt x="136598" y="32141"/>
                    </a:lnTo>
                    <a:lnTo>
                      <a:pt x="0" y="32141"/>
                    </a:lnTo>
                    <a:close/>
                  </a:path>
                </a:pathLst>
              </a:custGeom>
              <a:grpFill/>
              <a:ln w="7938" cap="flat">
                <a:noFill/>
                <a:prstDash val="solid"/>
                <a:miter/>
              </a:ln>
            </p:spPr>
            <p:txBody>
              <a:bodyPr rtlCol="0" anchor="ctr"/>
              <a:lstStyle/>
              <a:p>
                <a:endParaRPr lang="en-GB"/>
              </a:p>
            </p:txBody>
          </p:sp>
          <p:sp>
            <p:nvSpPr>
              <p:cNvPr id="1173" name="Freeform: Shape 1172">
                <a:extLst>
                  <a:ext uri="{FF2B5EF4-FFF2-40B4-BE49-F238E27FC236}">
                    <a16:creationId xmlns:a16="http://schemas.microsoft.com/office/drawing/2014/main" id="{BB83E2E8-7FBA-7695-975E-978EE6986CEA}"/>
                  </a:ext>
                </a:extLst>
              </p:cNvPr>
              <p:cNvSpPr/>
              <p:nvPr/>
            </p:nvSpPr>
            <p:spPr>
              <a:xfrm>
                <a:off x="-815526" y="3610971"/>
                <a:ext cx="136597" cy="32140"/>
              </a:xfrm>
              <a:custGeom>
                <a:avLst/>
                <a:gdLst>
                  <a:gd name="connsiteX0" fmla="*/ 0 w 136597"/>
                  <a:gd name="connsiteY0" fmla="*/ 0 h 32140"/>
                  <a:gd name="connsiteX1" fmla="*/ 136598 w 136597"/>
                  <a:gd name="connsiteY1" fmla="*/ 0 h 32140"/>
                  <a:gd name="connsiteX2" fmla="*/ 136598 w 136597"/>
                  <a:gd name="connsiteY2" fmla="*/ 32141 h 32140"/>
                  <a:gd name="connsiteX3" fmla="*/ 0 w 136597"/>
                  <a:gd name="connsiteY3" fmla="*/ 32141 h 32140"/>
                </a:gdLst>
                <a:ahLst/>
                <a:cxnLst>
                  <a:cxn ang="0">
                    <a:pos x="connsiteX0" y="connsiteY0"/>
                  </a:cxn>
                  <a:cxn ang="0">
                    <a:pos x="connsiteX1" y="connsiteY1"/>
                  </a:cxn>
                  <a:cxn ang="0">
                    <a:pos x="connsiteX2" y="connsiteY2"/>
                  </a:cxn>
                  <a:cxn ang="0">
                    <a:pos x="connsiteX3" y="connsiteY3"/>
                  </a:cxn>
                </a:cxnLst>
                <a:rect l="l" t="t" r="r" b="b"/>
                <a:pathLst>
                  <a:path w="136597" h="32140">
                    <a:moveTo>
                      <a:pt x="0" y="0"/>
                    </a:moveTo>
                    <a:lnTo>
                      <a:pt x="136598" y="0"/>
                    </a:lnTo>
                    <a:lnTo>
                      <a:pt x="136598" y="32141"/>
                    </a:lnTo>
                    <a:lnTo>
                      <a:pt x="0" y="32141"/>
                    </a:lnTo>
                    <a:close/>
                  </a:path>
                </a:pathLst>
              </a:custGeom>
              <a:grpFill/>
              <a:ln w="7938" cap="flat">
                <a:noFill/>
                <a:prstDash val="solid"/>
                <a:miter/>
              </a:ln>
            </p:spPr>
            <p:txBody>
              <a:bodyPr rtlCol="0" anchor="ctr"/>
              <a:lstStyle/>
              <a:p>
                <a:endParaRPr lang="en-GB"/>
              </a:p>
            </p:txBody>
          </p:sp>
          <p:sp>
            <p:nvSpPr>
              <p:cNvPr id="1174" name="Freeform: Shape 1173">
                <a:extLst>
                  <a:ext uri="{FF2B5EF4-FFF2-40B4-BE49-F238E27FC236}">
                    <a16:creationId xmlns:a16="http://schemas.microsoft.com/office/drawing/2014/main" id="{BB4DF9F1-89FB-469D-E882-1832295E4C98}"/>
                  </a:ext>
                </a:extLst>
              </p:cNvPr>
              <p:cNvSpPr/>
              <p:nvPr/>
            </p:nvSpPr>
            <p:spPr>
              <a:xfrm>
                <a:off x="-815526" y="3482409"/>
                <a:ext cx="136597" cy="32140"/>
              </a:xfrm>
              <a:custGeom>
                <a:avLst/>
                <a:gdLst>
                  <a:gd name="connsiteX0" fmla="*/ 0 w 136597"/>
                  <a:gd name="connsiteY0" fmla="*/ 0 h 32140"/>
                  <a:gd name="connsiteX1" fmla="*/ 136598 w 136597"/>
                  <a:gd name="connsiteY1" fmla="*/ 0 h 32140"/>
                  <a:gd name="connsiteX2" fmla="*/ 136598 w 136597"/>
                  <a:gd name="connsiteY2" fmla="*/ 32141 h 32140"/>
                  <a:gd name="connsiteX3" fmla="*/ 0 w 136597"/>
                  <a:gd name="connsiteY3" fmla="*/ 32141 h 32140"/>
                </a:gdLst>
                <a:ahLst/>
                <a:cxnLst>
                  <a:cxn ang="0">
                    <a:pos x="connsiteX0" y="connsiteY0"/>
                  </a:cxn>
                  <a:cxn ang="0">
                    <a:pos x="connsiteX1" y="connsiteY1"/>
                  </a:cxn>
                  <a:cxn ang="0">
                    <a:pos x="connsiteX2" y="connsiteY2"/>
                  </a:cxn>
                  <a:cxn ang="0">
                    <a:pos x="connsiteX3" y="connsiteY3"/>
                  </a:cxn>
                </a:cxnLst>
                <a:rect l="l" t="t" r="r" b="b"/>
                <a:pathLst>
                  <a:path w="136597" h="32140">
                    <a:moveTo>
                      <a:pt x="0" y="0"/>
                    </a:moveTo>
                    <a:lnTo>
                      <a:pt x="136598" y="0"/>
                    </a:lnTo>
                    <a:lnTo>
                      <a:pt x="136598" y="32141"/>
                    </a:lnTo>
                    <a:lnTo>
                      <a:pt x="0" y="32141"/>
                    </a:lnTo>
                    <a:close/>
                  </a:path>
                </a:pathLst>
              </a:custGeom>
              <a:grpFill/>
              <a:ln w="7938" cap="flat">
                <a:noFill/>
                <a:prstDash val="solid"/>
                <a:miter/>
              </a:ln>
            </p:spPr>
            <p:txBody>
              <a:bodyPr rtlCol="0" anchor="ctr"/>
              <a:lstStyle/>
              <a:p>
                <a:endParaRPr lang="en-GB"/>
              </a:p>
            </p:txBody>
          </p:sp>
          <p:sp>
            <p:nvSpPr>
              <p:cNvPr id="1175" name="Freeform: Shape 1174">
                <a:extLst>
                  <a:ext uri="{FF2B5EF4-FFF2-40B4-BE49-F238E27FC236}">
                    <a16:creationId xmlns:a16="http://schemas.microsoft.com/office/drawing/2014/main" id="{D74DF850-9C0D-34FC-7295-07CB3DEE21F2}"/>
                  </a:ext>
                </a:extLst>
              </p:cNvPr>
              <p:cNvSpPr/>
              <p:nvPr/>
            </p:nvSpPr>
            <p:spPr>
              <a:xfrm>
                <a:off x="-984265" y="3185108"/>
                <a:ext cx="118920" cy="98029"/>
              </a:xfrm>
              <a:custGeom>
                <a:avLst/>
                <a:gdLst>
                  <a:gd name="connsiteX0" fmla="*/ 118920 w 118920"/>
                  <a:gd name="connsiteY0" fmla="*/ 22498 h 98029"/>
                  <a:gd name="connsiteX1" fmla="*/ 96422 w 118920"/>
                  <a:gd name="connsiteY1" fmla="*/ 0 h 98029"/>
                  <a:gd name="connsiteX2" fmla="*/ 43390 w 118920"/>
                  <a:gd name="connsiteY2" fmla="*/ 53032 h 98029"/>
                  <a:gd name="connsiteX3" fmla="*/ 22498 w 118920"/>
                  <a:gd name="connsiteY3" fmla="*/ 32141 h 98029"/>
                  <a:gd name="connsiteX4" fmla="*/ 0 w 118920"/>
                  <a:gd name="connsiteY4" fmla="*/ 54639 h 98029"/>
                  <a:gd name="connsiteX5" fmla="*/ 43390 w 118920"/>
                  <a:gd name="connsiteY5" fmla="*/ 98029 h 9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920" h="98029">
                    <a:moveTo>
                      <a:pt x="118920" y="22498"/>
                    </a:moveTo>
                    <a:lnTo>
                      <a:pt x="96422" y="0"/>
                    </a:lnTo>
                    <a:lnTo>
                      <a:pt x="43390" y="53032"/>
                    </a:lnTo>
                    <a:lnTo>
                      <a:pt x="22498" y="32141"/>
                    </a:lnTo>
                    <a:lnTo>
                      <a:pt x="0" y="54639"/>
                    </a:lnTo>
                    <a:lnTo>
                      <a:pt x="43390" y="98029"/>
                    </a:lnTo>
                    <a:close/>
                  </a:path>
                </a:pathLst>
              </a:custGeom>
              <a:grpFill/>
              <a:ln w="7938" cap="flat">
                <a:noFill/>
                <a:prstDash val="solid"/>
                <a:miter/>
              </a:ln>
            </p:spPr>
            <p:txBody>
              <a:bodyPr rtlCol="0" anchor="ctr"/>
              <a:lstStyle/>
              <a:p>
                <a:endParaRPr lang="en-GB"/>
              </a:p>
            </p:txBody>
          </p:sp>
          <p:sp>
            <p:nvSpPr>
              <p:cNvPr id="1176" name="Freeform: Shape 1175">
                <a:extLst>
                  <a:ext uri="{FF2B5EF4-FFF2-40B4-BE49-F238E27FC236}">
                    <a16:creationId xmlns:a16="http://schemas.microsoft.com/office/drawing/2014/main" id="{070ACC29-DD36-B71F-6277-26F93A0A9AD8}"/>
                  </a:ext>
                </a:extLst>
              </p:cNvPr>
              <p:cNvSpPr/>
              <p:nvPr/>
            </p:nvSpPr>
            <p:spPr>
              <a:xfrm>
                <a:off x="-984265" y="3313670"/>
                <a:ext cx="118920" cy="98029"/>
              </a:xfrm>
              <a:custGeom>
                <a:avLst/>
                <a:gdLst>
                  <a:gd name="connsiteX0" fmla="*/ 118920 w 118920"/>
                  <a:gd name="connsiteY0" fmla="*/ 22498 h 98029"/>
                  <a:gd name="connsiteX1" fmla="*/ 96422 w 118920"/>
                  <a:gd name="connsiteY1" fmla="*/ 0 h 98029"/>
                  <a:gd name="connsiteX2" fmla="*/ 43390 w 118920"/>
                  <a:gd name="connsiteY2" fmla="*/ 53032 h 98029"/>
                  <a:gd name="connsiteX3" fmla="*/ 22498 w 118920"/>
                  <a:gd name="connsiteY3" fmla="*/ 32141 h 98029"/>
                  <a:gd name="connsiteX4" fmla="*/ 0 w 118920"/>
                  <a:gd name="connsiteY4" fmla="*/ 54639 h 98029"/>
                  <a:gd name="connsiteX5" fmla="*/ 43390 w 118920"/>
                  <a:gd name="connsiteY5" fmla="*/ 98029 h 9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920" h="98029">
                    <a:moveTo>
                      <a:pt x="118920" y="22498"/>
                    </a:moveTo>
                    <a:lnTo>
                      <a:pt x="96422" y="0"/>
                    </a:lnTo>
                    <a:lnTo>
                      <a:pt x="43390" y="53032"/>
                    </a:lnTo>
                    <a:lnTo>
                      <a:pt x="22498" y="32141"/>
                    </a:lnTo>
                    <a:lnTo>
                      <a:pt x="0" y="54639"/>
                    </a:lnTo>
                    <a:lnTo>
                      <a:pt x="43390" y="98029"/>
                    </a:lnTo>
                    <a:close/>
                  </a:path>
                </a:pathLst>
              </a:custGeom>
              <a:grpFill/>
              <a:ln w="7938" cap="flat">
                <a:noFill/>
                <a:prstDash val="solid"/>
                <a:miter/>
              </a:ln>
            </p:spPr>
            <p:txBody>
              <a:bodyPr rtlCol="0" anchor="ctr"/>
              <a:lstStyle/>
              <a:p>
                <a:endParaRPr lang="en-GB"/>
              </a:p>
            </p:txBody>
          </p:sp>
          <p:sp>
            <p:nvSpPr>
              <p:cNvPr id="1177" name="Freeform: Shape 1176">
                <a:extLst>
                  <a:ext uri="{FF2B5EF4-FFF2-40B4-BE49-F238E27FC236}">
                    <a16:creationId xmlns:a16="http://schemas.microsoft.com/office/drawing/2014/main" id="{BAD44135-5603-3E50-FEFC-AB6C31D21C50}"/>
                  </a:ext>
                </a:extLst>
              </p:cNvPr>
              <p:cNvSpPr/>
              <p:nvPr/>
            </p:nvSpPr>
            <p:spPr>
              <a:xfrm>
                <a:off x="-984265" y="3442233"/>
                <a:ext cx="118920" cy="98029"/>
              </a:xfrm>
              <a:custGeom>
                <a:avLst/>
                <a:gdLst>
                  <a:gd name="connsiteX0" fmla="*/ 118920 w 118920"/>
                  <a:gd name="connsiteY0" fmla="*/ 22498 h 98029"/>
                  <a:gd name="connsiteX1" fmla="*/ 96422 w 118920"/>
                  <a:gd name="connsiteY1" fmla="*/ 0 h 98029"/>
                  <a:gd name="connsiteX2" fmla="*/ 43390 w 118920"/>
                  <a:gd name="connsiteY2" fmla="*/ 53032 h 98029"/>
                  <a:gd name="connsiteX3" fmla="*/ 22498 w 118920"/>
                  <a:gd name="connsiteY3" fmla="*/ 32141 h 98029"/>
                  <a:gd name="connsiteX4" fmla="*/ 0 w 118920"/>
                  <a:gd name="connsiteY4" fmla="*/ 54639 h 98029"/>
                  <a:gd name="connsiteX5" fmla="*/ 43390 w 118920"/>
                  <a:gd name="connsiteY5" fmla="*/ 98029 h 9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920" h="98029">
                    <a:moveTo>
                      <a:pt x="118920" y="22498"/>
                    </a:moveTo>
                    <a:lnTo>
                      <a:pt x="96422" y="0"/>
                    </a:lnTo>
                    <a:lnTo>
                      <a:pt x="43390" y="53032"/>
                    </a:lnTo>
                    <a:lnTo>
                      <a:pt x="22498" y="32141"/>
                    </a:lnTo>
                    <a:lnTo>
                      <a:pt x="0" y="54639"/>
                    </a:lnTo>
                    <a:lnTo>
                      <a:pt x="43390" y="98029"/>
                    </a:lnTo>
                    <a:close/>
                  </a:path>
                </a:pathLst>
              </a:custGeom>
              <a:grpFill/>
              <a:ln w="7938" cap="flat">
                <a:noFill/>
                <a:prstDash val="solid"/>
                <a:miter/>
              </a:ln>
            </p:spPr>
            <p:txBody>
              <a:bodyPr rtlCol="0" anchor="ctr"/>
              <a:lstStyle/>
              <a:p>
                <a:endParaRPr lang="en-GB"/>
              </a:p>
            </p:txBody>
          </p:sp>
          <p:sp>
            <p:nvSpPr>
              <p:cNvPr id="1178" name="Freeform: Shape 1177">
                <a:extLst>
                  <a:ext uri="{FF2B5EF4-FFF2-40B4-BE49-F238E27FC236}">
                    <a16:creationId xmlns:a16="http://schemas.microsoft.com/office/drawing/2014/main" id="{E70E15E1-E75E-3C3E-C157-E283DA0A83AB}"/>
                  </a:ext>
                </a:extLst>
              </p:cNvPr>
              <p:cNvSpPr/>
              <p:nvPr/>
            </p:nvSpPr>
            <p:spPr>
              <a:xfrm>
                <a:off x="-984265" y="3569188"/>
                <a:ext cx="118920" cy="98029"/>
              </a:xfrm>
              <a:custGeom>
                <a:avLst/>
                <a:gdLst>
                  <a:gd name="connsiteX0" fmla="*/ 118920 w 118920"/>
                  <a:gd name="connsiteY0" fmla="*/ 22498 h 98029"/>
                  <a:gd name="connsiteX1" fmla="*/ 96422 w 118920"/>
                  <a:gd name="connsiteY1" fmla="*/ 0 h 98029"/>
                  <a:gd name="connsiteX2" fmla="*/ 43390 w 118920"/>
                  <a:gd name="connsiteY2" fmla="*/ 53032 h 98029"/>
                  <a:gd name="connsiteX3" fmla="*/ 22498 w 118920"/>
                  <a:gd name="connsiteY3" fmla="*/ 32141 h 98029"/>
                  <a:gd name="connsiteX4" fmla="*/ 0 w 118920"/>
                  <a:gd name="connsiteY4" fmla="*/ 54639 h 98029"/>
                  <a:gd name="connsiteX5" fmla="*/ 43390 w 118920"/>
                  <a:gd name="connsiteY5" fmla="*/ 98029 h 98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920" h="98029">
                    <a:moveTo>
                      <a:pt x="118920" y="22498"/>
                    </a:moveTo>
                    <a:lnTo>
                      <a:pt x="96422" y="0"/>
                    </a:lnTo>
                    <a:lnTo>
                      <a:pt x="43390" y="53032"/>
                    </a:lnTo>
                    <a:lnTo>
                      <a:pt x="22498" y="32141"/>
                    </a:lnTo>
                    <a:lnTo>
                      <a:pt x="0" y="54639"/>
                    </a:lnTo>
                    <a:lnTo>
                      <a:pt x="43390" y="98029"/>
                    </a:lnTo>
                    <a:close/>
                  </a:path>
                </a:pathLst>
              </a:custGeom>
              <a:grpFill/>
              <a:ln w="7938" cap="flat">
                <a:noFill/>
                <a:prstDash val="solid"/>
                <a:miter/>
              </a:ln>
            </p:spPr>
            <p:txBody>
              <a:bodyPr rtlCol="0" anchor="ctr"/>
              <a:lstStyle/>
              <a:p>
                <a:endParaRPr lang="en-GB"/>
              </a:p>
            </p:txBody>
          </p:sp>
        </p:grpSp>
        <p:grpSp>
          <p:nvGrpSpPr>
            <p:cNvPr id="1198" name="Group 1197">
              <a:extLst>
                <a:ext uri="{FF2B5EF4-FFF2-40B4-BE49-F238E27FC236}">
                  <a16:creationId xmlns:a16="http://schemas.microsoft.com/office/drawing/2014/main" id="{119422AF-9701-83F8-2394-F01808DE306C}"/>
                </a:ext>
              </a:extLst>
            </p:cNvPr>
            <p:cNvGrpSpPr/>
            <p:nvPr/>
          </p:nvGrpSpPr>
          <p:grpSpPr>
            <a:xfrm>
              <a:off x="8043001" y="5578967"/>
              <a:ext cx="316229" cy="325013"/>
              <a:chOff x="-1100245" y="4812286"/>
              <a:chExt cx="547098" cy="562295"/>
            </a:xfrm>
            <a:gradFill>
              <a:gsLst>
                <a:gs pos="100000">
                  <a:srgbClr val="BDF2BD"/>
                </a:gs>
                <a:gs pos="55000">
                  <a:srgbClr val="C3E9FC"/>
                </a:gs>
              </a:gsLst>
              <a:lin ang="0" scaled="1"/>
            </a:gradFill>
          </p:grpSpPr>
          <p:sp>
            <p:nvSpPr>
              <p:cNvPr id="1180" name="Freeform: Shape 1179">
                <a:extLst>
                  <a:ext uri="{FF2B5EF4-FFF2-40B4-BE49-F238E27FC236}">
                    <a16:creationId xmlns:a16="http://schemas.microsoft.com/office/drawing/2014/main" id="{31CB88D9-40F8-2D4C-6816-B8BD15701E9F}"/>
                  </a:ext>
                </a:extLst>
              </p:cNvPr>
              <p:cNvSpPr/>
              <p:nvPr/>
            </p:nvSpPr>
            <p:spPr>
              <a:xfrm>
                <a:off x="-849491" y="5237807"/>
                <a:ext cx="45591" cy="60788"/>
              </a:xfrm>
              <a:custGeom>
                <a:avLst/>
                <a:gdLst>
                  <a:gd name="connsiteX0" fmla="*/ 0 w 45591"/>
                  <a:gd name="connsiteY0" fmla="*/ 0 h 60788"/>
                  <a:gd name="connsiteX1" fmla="*/ 45592 w 45591"/>
                  <a:gd name="connsiteY1" fmla="*/ 0 h 60788"/>
                  <a:gd name="connsiteX2" fmla="*/ 45592 w 45591"/>
                  <a:gd name="connsiteY2" fmla="*/ 60789 h 60788"/>
                  <a:gd name="connsiteX3" fmla="*/ 0 w 45591"/>
                  <a:gd name="connsiteY3" fmla="*/ 60789 h 60788"/>
                </a:gdLst>
                <a:ahLst/>
                <a:cxnLst>
                  <a:cxn ang="0">
                    <a:pos x="connsiteX0" y="connsiteY0"/>
                  </a:cxn>
                  <a:cxn ang="0">
                    <a:pos x="connsiteX1" y="connsiteY1"/>
                  </a:cxn>
                  <a:cxn ang="0">
                    <a:pos x="connsiteX2" y="connsiteY2"/>
                  </a:cxn>
                  <a:cxn ang="0">
                    <a:pos x="connsiteX3" y="connsiteY3"/>
                  </a:cxn>
                </a:cxnLst>
                <a:rect l="l" t="t" r="r" b="b"/>
                <a:pathLst>
                  <a:path w="45591" h="60788">
                    <a:moveTo>
                      <a:pt x="0" y="0"/>
                    </a:moveTo>
                    <a:lnTo>
                      <a:pt x="45592" y="0"/>
                    </a:lnTo>
                    <a:lnTo>
                      <a:pt x="45592" y="60789"/>
                    </a:lnTo>
                    <a:lnTo>
                      <a:pt x="0" y="60789"/>
                    </a:lnTo>
                    <a:close/>
                  </a:path>
                </a:pathLst>
              </a:custGeom>
              <a:grpFill/>
              <a:ln w="7541" cap="flat">
                <a:noFill/>
                <a:prstDash val="solid"/>
                <a:miter/>
              </a:ln>
            </p:spPr>
            <p:txBody>
              <a:bodyPr rtlCol="0" anchor="ctr"/>
              <a:lstStyle/>
              <a:p>
                <a:endParaRPr lang="en-GB"/>
              </a:p>
            </p:txBody>
          </p:sp>
          <p:sp>
            <p:nvSpPr>
              <p:cNvPr id="1181" name="Freeform: Shape 1180">
                <a:extLst>
                  <a:ext uri="{FF2B5EF4-FFF2-40B4-BE49-F238E27FC236}">
                    <a16:creationId xmlns:a16="http://schemas.microsoft.com/office/drawing/2014/main" id="{5DE5A125-DA50-6B00-C6AA-1BE0BC1182FE}"/>
                  </a:ext>
                </a:extLst>
              </p:cNvPr>
              <p:cNvSpPr/>
              <p:nvPr/>
            </p:nvSpPr>
            <p:spPr>
              <a:xfrm>
                <a:off x="-849491" y="5328990"/>
                <a:ext cx="45591" cy="45591"/>
              </a:xfrm>
              <a:custGeom>
                <a:avLst/>
                <a:gdLst>
                  <a:gd name="connsiteX0" fmla="*/ 0 w 45591"/>
                  <a:gd name="connsiteY0" fmla="*/ 0 h 45591"/>
                  <a:gd name="connsiteX1" fmla="*/ 45592 w 45591"/>
                  <a:gd name="connsiteY1" fmla="*/ 0 h 45591"/>
                  <a:gd name="connsiteX2" fmla="*/ 45592 w 45591"/>
                  <a:gd name="connsiteY2" fmla="*/ 45592 h 45591"/>
                  <a:gd name="connsiteX3" fmla="*/ 0 w 45591"/>
                  <a:gd name="connsiteY3" fmla="*/ 45592 h 45591"/>
                </a:gdLst>
                <a:ahLst/>
                <a:cxnLst>
                  <a:cxn ang="0">
                    <a:pos x="connsiteX0" y="connsiteY0"/>
                  </a:cxn>
                  <a:cxn ang="0">
                    <a:pos x="connsiteX1" y="connsiteY1"/>
                  </a:cxn>
                  <a:cxn ang="0">
                    <a:pos x="connsiteX2" y="connsiteY2"/>
                  </a:cxn>
                  <a:cxn ang="0">
                    <a:pos x="connsiteX3" y="connsiteY3"/>
                  </a:cxn>
                </a:cxnLst>
                <a:rect l="l" t="t" r="r" b="b"/>
                <a:pathLst>
                  <a:path w="45591" h="45591">
                    <a:moveTo>
                      <a:pt x="0" y="0"/>
                    </a:moveTo>
                    <a:lnTo>
                      <a:pt x="45592" y="0"/>
                    </a:lnTo>
                    <a:lnTo>
                      <a:pt x="45592" y="45592"/>
                    </a:lnTo>
                    <a:lnTo>
                      <a:pt x="0" y="45592"/>
                    </a:lnTo>
                    <a:close/>
                  </a:path>
                </a:pathLst>
              </a:custGeom>
              <a:grpFill/>
              <a:ln w="7541" cap="flat">
                <a:noFill/>
                <a:prstDash val="solid"/>
                <a:miter/>
              </a:ln>
            </p:spPr>
            <p:txBody>
              <a:bodyPr rtlCol="0" anchor="ctr"/>
              <a:lstStyle/>
              <a:p>
                <a:endParaRPr lang="en-GB"/>
              </a:p>
            </p:txBody>
          </p:sp>
          <p:sp>
            <p:nvSpPr>
              <p:cNvPr id="1182" name="Freeform: Shape 1181">
                <a:extLst>
                  <a:ext uri="{FF2B5EF4-FFF2-40B4-BE49-F238E27FC236}">
                    <a16:creationId xmlns:a16="http://schemas.microsoft.com/office/drawing/2014/main" id="{78025EDD-9E28-AB13-6862-7AC38368FAD9}"/>
                  </a:ext>
                </a:extLst>
              </p:cNvPr>
              <p:cNvSpPr/>
              <p:nvPr/>
            </p:nvSpPr>
            <p:spPr>
              <a:xfrm>
                <a:off x="-773505" y="5328990"/>
                <a:ext cx="220358" cy="45591"/>
              </a:xfrm>
              <a:custGeom>
                <a:avLst/>
                <a:gdLst>
                  <a:gd name="connsiteX0" fmla="*/ 0 w 220358"/>
                  <a:gd name="connsiteY0" fmla="*/ 0 h 45591"/>
                  <a:gd name="connsiteX1" fmla="*/ 220359 w 220358"/>
                  <a:gd name="connsiteY1" fmla="*/ 0 h 45591"/>
                  <a:gd name="connsiteX2" fmla="*/ 220359 w 220358"/>
                  <a:gd name="connsiteY2" fmla="*/ 45592 h 45591"/>
                  <a:gd name="connsiteX3" fmla="*/ 0 w 220358"/>
                  <a:gd name="connsiteY3" fmla="*/ 45592 h 45591"/>
                </a:gdLst>
                <a:ahLst/>
                <a:cxnLst>
                  <a:cxn ang="0">
                    <a:pos x="connsiteX0" y="connsiteY0"/>
                  </a:cxn>
                  <a:cxn ang="0">
                    <a:pos x="connsiteX1" y="connsiteY1"/>
                  </a:cxn>
                  <a:cxn ang="0">
                    <a:pos x="connsiteX2" y="connsiteY2"/>
                  </a:cxn>
                  <a:cxn ang="0">
                    <a:pos x="connsiteX3" y="connsiteY3"/>
                  </a:cxn>
                </a:cxnLst>
                <a:rect l="l" t="t" r="r" b="b"/>
                <a:pathLst>
                  <a:path w="220358" h="45591">
                    <a:moveTo>
                      <a:pt x="0" y="0"/>
                    </a:moveTo>
                    <a:lnTo>
                      <a:pt x="220359" y="0"/>
                    </a:lnTo>
                    <a:lnTo>
                      <a:pt x="220359" y="45592"/>
                    </a:lnTo>
                    <a:lnTo>
                      <a:pt x="0" y="45592"/>
                    </a:lnTo>
                    <a:close/>
                  </a:path>
                </a:pathLst>
              </a:custGeom>
              <a:grpFill/>
              <a:ln w="7541" cap="flat">
                <a:noFill/>
                <a:prstDash val="solid"/>
                <a:miter/>
              </a:ln>
            </p:spPr>
            <p:txBody>
              <a:bodyPr rtlCol="0" anchor="ctr"/>
              <a:lstStyle/>
              <a:p>
                <a:endParaRPr lang="en-GB"/>
              </a:p>
            </p:txBody>
          </p:sp>
          <p:sp>
            <p:nvSpPr>
              <p:cNvPr id="1183" name="Freeform: Shape 1182">
                <a:extLst>
                  <a:ext uri="{FF2B5EF4-FFF2-40B4-BE49-F238E27FC236}">
                    <a16:creationId xmlns:a16="http://schemas.microsoft.com/office/drawing/2014/main" id="{80A9A298-F360-1B20-9658-41738C855B31}"/>
                  </a:ext>
                </a:extLst>
              </p:cNvPr>
              <p:cNvSpPr/>
              <p:nvPr/>
            </p:nvSpPr>
            <p:spPr>
              <a:xfrm>
                <a:off x="-1100245" y="5328990"/>
                <a:ext cx="220358" cy="45591"/>
              </a:xfrm>
              <a:custGeom>
                <a:avLst/>
                <a:gdLst>
                  <a:gd name="connsiteX0" fmla="*/ 0 w 220358"/>
                  <a:gd name="connsiteY0" fmla="*/ 0 h 45591"/>
                  <a:gd name="connsiteX1" fmla="*/ 220359 w 220358"/>
                  <a:gd name="connsiteY1" fmla="*/ 0 h 45591"/>
                  <a:gd name="connsiteX2" fmla="*/ 220359 w 220358"/>
                  <a:gd name="connsiteY2" fmla="*/ 45592 h 45591"/>
                  <a:gd name="connsiteX3" fmla="*/ 0 w 220358"/>
                  <a:gd name="connsiteY3" fmla="*/ 45592 h 45591"/>
                </a:gdLst>
                <a:ahLst/>
                <a:cxnLst>
                  <a:cxn ang="0">
                    <a:pos x="connsiteX0" y="connsiteY0"/>
                  </a:cxn>
                  <a:cxn ang="0">
                    <a:pos x="connsiteX1" y="connsiteY1"/>
                  </a:cxn>
                  <a:cxn ang="0">
                    <a:pos x="connsiteX2" y="connsiteY2"/>
                  </a:cxn>
                  <a:cxn ang="0">
                    <a:pos x="connsiteX3" y="connsiteY3"/>
                  </a:cxn>
                </a:cxnLst>
                <a:rect l="l" t="t" r="r" b="b"/>
                <a:pathLst>
                  <a:path w="220358" h="45591">
                    <a:moveTo>
                      <a:pt x="0" y="0"/>
                    </a:moveTo>
                    <a:lnTo>
                      <a:pt x="220359" y="0"/>
                    </a:lnTo>
                    <a:lnTo>
                      <a:pt x="220359" y="45592"/>
                    </a:lnTo>
                    <a:lnTo>
                      <a:pt x="0" y="45592"/>
                    </a:lnTo>
                    <a:close/>
                  </a:path>
                </a:pathLst>
              </a:custGeom>
              <a:grpFill/>
              <a:ln w="7541" cap="flat">
                <a:noFill/>
                <a:prstDash val="solid"/>
                <a:miter/>
              </a:ln>
            </p:spPr>
            <p:txBody>
              <a:bodyPr rtlCol="0" anchor="ctr"/>
              <a:lstStyle/>
              <a:p>
                <a:endParaRPr lang="en-GB"/>
              </a:p>
            </p:txBody>
          </p:sp>
          <p:sp>
            <p:nvSpPr>
              <p:cNvPr id="1184" name="Freeform: Shape 1183">
                <a:extLst>
                  <a:ext uri="{FF2B5EF4-FFF2-40B4-BE49-F238E27FC236}">
                    <a16:creationId xmlns:a16="http://schemas.microsoft.com/office/drawing/2014/main" id="{67A6AA6B-E351-6DCA-5CE5-5CA096A47373}"/>
                  </a:ext>
                </a:extLst>
              </p:cNvPr>
              <p:cNvSpPr/>
              <p:nvPr/>
            </p:nvSpPr>
            <p:spPr>
              <a:xfrm>
                <a:off x="-1069850" y="5116229"/>
                <a:ext cx="486309" cy="121577"/>
              </a:xfrm>
              <a:custGeom>
                <a:avLst/>
                <a:gdLst>
                  <a:gd name="connsiteX0" fmla="*/ 459106 w 486309"/>
                  <a:gd name="connsiteY0" fmla="*/ 0 h 121577"/>
                  <a:gd name="connsiteX1" fmla="*/ 27203 w 486309"/>
                  <a:gd name="connsiteY1" fmla="*/ 0 h 121577"/>
                  <a:gd name="connsiteX2" fmla="*/ 0 w 486309"/>
                  <a:gd name="connsiteY2" fmla="*/ 27203 h 121577"/>
                  <a:gd name="connsiteX3" fmla="*/ 0 w 486309"/>
                  <a:gd name="connsiteY3" fmla="*/ 94374 h 121577"/>
                  <a:gd name="connsiteX4" fmla="*/ 27203 w 486309"/>
                  <a:gd name="connsiteY4" fmla="*/ 121577 h 121577"/>
                  <a:gd name="connsiteX5" fmla="*/ 459106 w 486309"/>
                  <a:gd name="connsiteY5" fmla="*/ 121577 h 121577"/>
                  <a:gd name="connsiteX6" fmla="*/ 486309 w 486309"/>
                  <a:gd name="connsiteY6" fmla="*/ 94374 h 121577"/>
                  <a:gd name="connsiteX7" fmla="*/ 486309 w 486309"/>
                  <a:gd name="connsiteY7" fmla="*/ 27203 h 121577"/>
                  <a:gd name="connsiteX8" fmla="*/ 459106 w 486309"/>
                  <a:gd name="connsiteY8" fmla="*/ 0 h 121577"/>
                  <a:gd name="connsiteX9" fmla="*/ 75986 w 486309"/>
                  <a:gd name="connsiteY9" fmla="*/ 75986 h 121577"/>
                  <a:gd name="connsiteX10" fmla="*/ 60789 w 486309"/>
                  <a:gd name="connsiteY10" fmla="*/ 60789 h 121577"/>
                  <a:gd name="connsiteX11" fmla="*/ 75986 w 486309"/>
                  <a:gd name="connsiteY11" fmla="*/ 45592 h 121577"/>
                  <a:gd name="connsiteX12" fmla="*/ 91183 w 486309"/>
                  <a:gd name="connsiteY12" fmla="*/ 60789 h 121577"/>
                  <a:gd name="connsiteX13" fmla="*/ 75986 w 486309"/>
                  <a:gd name="connsiteY13" fmla="*/ 75986 h 121577"/>
                  <a:gd name="connsiteX14" fmla="*/ 151972 w 486309"/>
                  <a:gd name="connsiteY14" fmla="*/ 75986 h 121577"/>
                  <a:gd name="connsiteX15" fmla="*/ 136775 w 486309"/>
                  <a:gd name="connsiteY15" fmla="*/ 60789 h 121577"/>
                  <a:gd name="connsiteX16" fmla="*/ 151972 w 486309"/>
                  <a:gd name="connsiteY16" fmla="*/ 45592 h 121577"/>
                  <a:gd name="connsiteX17" fmla="*/ 167169 w 486309"/>
                  <a:gd name="connsiteY17" fmla="*/ 60789 h 121577"/>
                  <a:gd name="connsiteX18" fmla="*/ 151972 w 486309"/>
                  <a:gd name="connsiteY18" fmla="*/ 75986 h 121577"/>
                  <a:gd name="connsiteX19" fmla="*/ 227958 w 486309"/>
                  <a:gd name="connsiteY19" fmla="*/ 75986 h 121577"/>
                  <a:gd name="connsiteX20" fmla="*/ 212760 w 486309"/>
                  <a:gd name="connsiteY20" fmla="*/ 60789 h 121577"/>
                  <a:gd name="connsiteX21" fmla="*/ 227958 w 486309"/>
                  <a:gd name="connsiteY21" fmla="*/ 45592 h 121577"/>
                  <a:gd name="connsiteX22" fmla="*/ 243155 w 486309"/>
                  <a:gd name="connsiteY22" fmla="*/ 60789 h 121577"/>
                  <a:gd name="connsiteX23" fmla="*/ 227958 w 486309"/>
                  <a:gd name="connsiteY23" fmla="*/ 75986 h 12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6309" h="121577">
                    <a:moveTo>
                      <a:pt x="459106" y="0"/>
                    </a:moveTo>
                    <a:lnTo>
                      <a:pt x="27203" y="0"/>
                    </a:lnTo>
                    <a:cubicBezTo>
                      <a:pt x="12179" y="0"/>
                      <a:pt x="0" y="12179"/>
                      <a:pt x="0" y="27203"/>
                    </a:cubicBezTo>
                    <a:lnTo>
                      <a:pt x="0" y="94374"/>
                    </a:lnTo>
                    <a:cubicBezTo>
                      <a:pt x="0" y="109398"/>
                      <a:pt x="12179" y="121577"/>
                      <a:pt x="27203" y="121577"/>
                    </a:cubicBezTo>
                    <a:lnTo>
                      <a:pt x="459106" y="121577"/>
                    </a:lnTo>
                    <a:cubicBezTo>
                      <a:pt x="474130" y="121577"/>
                      <a:pt x="486309" y="109398"/>
                      <a:pt x="486309" y="94374"/>
                    </a:cubicBezTo>
                    <a:lnTo>
                      <a:pt x="486309" y="27203"/>
                    </a:lnTo>
                    <a:cubicBezTo>
                      <a:pt x="486309" y="12179"/>
                      <a:pt x="474130" y="0"/>
                      <a:pt x="459106" y="0"/>
                    </a:cubicBezTo>
                    <a:close/>
                    <a:moveTo>
                      <a:pt x="75986" y="75986"/>
                    </a:moveTo>
                    <a:cubicBezTo>
                      <a:pt x="67592" y="75986"/>
                      <a:pt x="60789" y="69182"/>
                      <a:pt x="60789" y="60789"/>
                    </a:cubicBezTo>
                    <a:cubicBezTo>
                      <a:pt x="60789" y="52395"/>
                      <a:pt x="67592" y="45592"/>
                      <a:pt x="75986" y="45592"/>
                    </a:cubicBezTo>
                    <a:cubicBezTo>
                      <a:pt x="84379" y="45592"/>
                      <a:pt x="91183" y="52395"/>
                      <a:pt x="91183" y="60789"/>
                    </a:cubicBezTo>
                    <a:cubicBezTo>
                      <a:pt x="91183" y="69182"/>
                      <a:pt x="84379" y="75986"/>
                      <a:pt x="75986" y="75986"/>
                    </a:cubicBezTo>
                    <a:close/>
                    <a:moveTo>
                      <a:pt x="151972" y="75986"/>
                    </a:moveTo>
                    <a:cubicBezTo>
                      <a:pt x="143578" y="75986"/>
                      <a:pt x="136775" y="69182"/>
                      <a:pt x="136775" y="60789"/>
                    </a:cubicBezTo>
                    <a:cubicBezTo>
                      <a:pt x="136775" y="52395"/>
                      <a:pt x="143578" y="45592"/>
                      <a:pt x="151972" y="45592"/>
                    </a:cubicBezTo>
                    <a:cubicBezTo>
                      <a:pt x="160365" y="45592"/>
                      <a:pt x="167169" y="52395"/>
                      <a:pt x="167169" y="60789"/>
                    </a:cubicBezTo>
                    <a:cubicBezTo>
                      <a:pt x="167169" y="69182"/>
                      <a:pt x="160365" y="75986"/>
                      <a:pt x="151972" y="75986"/>
                    </a:cubicBezTo>
                    <a:close/>
                    <a:moveTo>
                      <a:pt x="227958" y="75986"/>
                    </a:moveTo>
                    <a:cubicBezTo>
                      <a:pt x="219564" y="75986"/>
                      <a:pt x="212760" y="69182"/>
                      <a:pt x="212760" y="60789"/>
                    </a:cubicBezTo>
                    <a:cubicBezTo>
                      <a:pt x="212760" y="52395"/>
                      <a:pt x="219564" y="45592"/>
                      <a:pt x="227958" y="45592"/>
                    </a:cubicBezTo>
                    <a:cubicBezTo>
                      <a:pt x="236351" y="45592"/>
                      <a:pt x="243155" y="52395"/>
                      <a:pt x="243155" y="60789"/>
                    </a:cubicBezTo>
                    <a:cubicBezTo>
                      <a:pt x="243155" y="69182"/>
                      <a:pt x="236351" y="75986"/>
                      <a:pt x="227958" y="75986"/>
                    </a:cubicBezTo>
                    <a:close/>
                  </a:path>
                </a:pathLst>
              </a:custGeom>
              <a:grpFill/>
              <a:ln w="7541" cap="flat">
                <a:noFill/>
                <a:prstDash val="solid"/>
                <a:miter/>
              </a:ln>
            </p:spPr>
            <p:txBody>
              <a:bodyPr rtlCol="0" anchor="ctr"/>
              <a:lstStyle/>
              <a:p>
                <a:endParaRPr lang="en-GB"/>
              </a:p>
            </p:txBody>
          </p:sp>
          <p:sp>
            <p:nvSpPr>
              <p:cNvPr id="1185" name="Freeform: Shape 1184">
                <a:extLst>
                  <a:ext uri="{FF2B5EF4-FFF2-40B4-BE49-F238E27FC236}">
                    <a16:creationId xmlns:a16="http://schemas.microsoft.com/office/drawing/2014/main" id="{0E8C210B-14FE-AC50-9475-6D6C37F534F6}"/>
                  </a:ext>
                </a:extLst>
              </p:cNvPr>
              <p:cNvSpPr/>
              <p:nvPr/>
            </p:nvSpPr>
            <p:spPr>
              <a:xfrm>
                <a:off x="-1069850" y="4964258"/>
                <a:ext cx="486309" cy="121577"/>
              </a:xfrm>
              <a:custGeom>
                <a:avLst/>
                <a:gdLst>
                  <a:gd name="connsiteX0" fmla="*/ 459106 w 486309"/>
                  <a:gd name="connsiteY0" fmla="*/ 0 h 121577"/>
                  <a:gd name="connsiteX1" fmla="*/ 27203 w 486309"/>
                  <a:gd name="connsiteY1" fmla="*/ 0 h 121577"/>
                  <a:gd name="connsiteX2" fmla="*/ 0 w 486309"/>
                  <a:gd name="connsiteY2" fmla="*/ 27203 h 121577"/>
                  <a:gd name="connsiteX3" fmla="*/ 0 w 486309"/>
                  <a:gd name="connsiteY3" fmla="*/ 94374 h 121577"/>
                  <a:gd name="connsiteX4" fmla="*/ 27203 w 486309"/>
                  <a:gd name="connsiteY4" fmla="*/ 121577 h 121577"/>
                  <a:gd name="connsiteX5" fmla="*/ 459106 w 486309"/>
                  <a:gd name="connsiteY5" fmla="*/ 121577 h 121577"/>
                  <a:gd name="connsiteX6" fmla="*/ 486309 w 486309"/>
                  <a:gd name="connsiteY6" fmla="*/ 94374 h 121577"/>
                  <a:gd name="connsiteX7" fmla="*/ 486309 w 486309"/>
                  <a:gd name="connsiteY7" fmla="*/ 27203 h 121577"/>
                  <a:gd name="connsiteX8" fmla="*/ 459106 w 486309"/>
                  <a:gd name="connsiteY8" fmla="*/ 0 h 121577"/>
                  <a:gd name="connsiteX9" fmla="*/ 75986 w 486309"/>
                  <a:gd name="connsiteY9" fmla="*/ 75986 h 121577"/>
                  <a:gd name="connsiteX10" fmla="*/ 60789 w 486309"/>
                  <a:gd name="connsiteY10" fmla="*/ 60789 h 121577"/>
                  <a:gd name="connsiteX11" fmla="*/ 75986 w 486309"/>
                  <a:gd name="connsiteY11" fmla="*/ 45592 h 121577"/>
                  <a:gd name="connsiteX12" fmla="*/ 91183 w 486309"/>
                  <a:gd name="connsiteY12" fmla="*/ 60789 h 121577"/>
                  <a:gd name="connsiteX13" fmla="*/ 75986 w 486309"/>
                  <a:gd name="connsiteY13" fmla="*/ 75986 h 121577"/>
                  <a:gd name="connsiteX14" fmla="*/ 151972 w 486309"/>
                  <a:gd name="connsiteY14" fmla="*/ 75986 h 121577"/>
                  <a:gd name="connsiteX15" fmla="*/ 136775 w 486309"/>
                  <a:gd name="connsiteY15" fmla="*/ 60789 h 121577"/>
                  <a:gd name="connsiteX16" fmla="*/ 151972 w 486309"/>
                  <a:gd name="connsiteY16" fmla="*/ 45592 h 121577"/>
                  <a:gd name="connsiteX17" fmla="*/ 167169 w 486309"/>
                  <a:gd name="connsiteY17" fmla="*/ 60789 h 121577"/>
                  <a:gd name="connsiteX18" fmla="*/ 151972 w 486309"/>
                  <a:gd name="connsiteY18" fmla="*/ 75986 h 121577"/>
                  <a:gd name="connsiteX19" fmla="*/ 227958 w 486309"/>
                  <a:gd name="connsiteY19" fmla="*/ 75986 h 121577"/>
                  <a:gd name="connsiteX20" fmla="*/ 212760 w 486309"/>
                  <a:gd name="connsiteY20" fmla="*/ 60789 h 121577"/>
                  <a:gd name="connsiteX21" fmla="*/ 227958 w 486309"/>
                  <a:gd name="connsiteY21" fmla="*/ 45592 h 121577"/>
                  <a:gd name="connsiteX22" fmla="*/ 243155 w 486309"/>
                  <a:gd name="connsiteY22" fmla="*/ 60789 h 121577"/>
                  <a:gd name="connsiteX23" fmla="*/ 227958 w 486309"/>
                  <a:gd name="connsiteY23" fmla="*/ 75986 h 12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6309" h="121577">
                    <a:moveTo>
                      <a:pt x="459106" y="0"/>
                    </a:moveTo>
                    <a:lnTo>
                      <a:pt x="27203" y="0"/>
                    </a:lnTo>
                    <a:cubicBezTo>
                      <a:pt x="12179" y="0"/>
                      <a:pt x="0" y="12179"/>
                      <a:pt x="0" y="27203"/>
                    </a:cubicBezTo>
                    <a:lnTo>
                      <a:pt x="0" y="94374"/>
                    </a:lnTo>
                    <a:cubicBezTo>
                      <a:pt x="0" y="109398"/>
                      <a:pt x="12179" y="121577"/>
                      <a:pt x="27203" y="121577"/>
                    </a:cubicBezTo>
                    <a:lnTo>
                      <a:pt x="459106" y="121577"/>
                    </a:lnTo>
                    <a:cubicBezTo>
                      <a:pt x="474130" y="121577"/>
                      <a:pt x="486309" y="109398"/>
                      <a:pt x="486309" y="94374"/>
                    </a:cubicBezTo>
                    <a:lnTo>
                      <a:pt x="486309" y="27203"/>
                    </a:lnTo>
                    <a:cubicBezTo>
                      <a:pt x="486309" y="12179"/>
                      <a:pt x="474130" y="0"/>
                      <a:pt x="459106" y="0"/>
                    </a:cubicBezTo>
                    <a:close/>
                    <a:moveTo>
                      <a:pt x="75986" y="75986"/>
                    </a:moveTo>
                    <a:cubicBezTo>
                      <a:pt x="67592" y="75986"/>
                      <a:pt x="60789" y="69182"/>
                      <a:pt x="60789" y="60789"/>
                    </a:cubicBezTo>
                    <a:cubicBezTo>
                      <a:pt x="60789" y="52395"/>
                      <a:pt x="67592" y="45592"/>
                      <a:pt x="75986" y="45592"/>
                    </a:cubicBezTo>
                    <a:cubicBezTo>
                      <a:pt x="84379" y="45592"/>
                      <a:pt x="91183" y="52395"/>
                      <a:pt x="91183" y="60789"/>
                    </a:cubicBezTo>
                    <a:cubicBezTo>
                      <a:pt x="91183" y="69182"/>
                      <a:pt x="84379" y="75986"/>
                      <a:pt x="75986" y="75986"/>
                    </a:cubicBezTo>
                    <a:close/>
                    <a:moveTo>
                      <a:pt x="151972" y="75986"/>
                    </a:moveTo>
                    <a:cubicBezTo>
                      <a:pt x="143578" y="75986"/>
                      <a:pt x="136775" y="69182"/>
                      <a:pt x="136775" y="60789"/>
                    </a:cubicBezTo>
                    <a:cubicBezTo>
                      <a:pt x="136775" y="52395"/>
                      <a:pt x="143578" y="45592"/>
                      <a:pt x="151972" y="45592"/>
                    </a:cubicBezTo>
                    <a:cubicBezTo>
                      <a:pt x="160365" y="45592"/>
                      <a:pt x="167169" y="52395"/>
                      <a:pt x="167169" y="60789"/>
                    </a:cubicBezTo>
                    <a:cubicBezTo>
                      <a:pt x="167169" y="69182"/>
                      <a:pt x="160365" y="75986"/>
                      <a:pt x="151972" y="75986"/>
                    </a:cubicBezTo>
                    <a:close/>
                    <a:moveTo>
                      <a:pt x="227958" y="75986"/>
                    </a:moveTo>
                    <a:cubicBezTo>
                      <a:pt x="219564" y="75986"/>
                      <a:pt x="212760" y="69182"/>
                      <a:pt x="212760" y="60789"/>
                    </a:cubicBezTo>
                    <a:cubicBezTo>
                      <a:pt x="212760" y="52395"/>
                      <a:pt x="219564" y="45592"/>
                      <a:pt x="227958" y="45592"/>
                    </a:cubicBezTo>
                    <a:cubicBezTo>
                      <a:pt x="236351" y="45592"/>
                      <a:pt x="243155" y="52395"/>
                      <a:pt x="243155" y="60789"/>
                    </a:cubicBezTo>
                    <a:cubicBezTo>
                      <a:pt x="243155" y="69182"/>
                      <a:pt x="236351" y="75986"/>
                      <a:pt x="227958" y="75986"/>
                    </a:cubicBezTo>
                    <a:close/>
                  </a:path>
                </a:pathLst>
              </a:custGeom>
              <a:grpFill/>
              <a:ln w="7541" cap="flat">
                <a:noFill/>
                <a:prstDash val="solid"/>
                <a:miter/>
              </a:ln>
            </p:spPr>
            <p:txBody>
              <a:bodyPr rtlCol="0" anchor="ctr"/>
              <a:lstStyle/>
              <a:p>
                <a:endParaRPr lang="en-GB"/>
              </a:p>
            </p:txBody>
          </p:sp>
          <p:sp>
            <p:nvSpPr>
              <p:cNvPr id="1186" name="Freeform: Shape 1185">
                <a:extLst>
                  <a:ext uri="{FF2B5EF4-FFF2-40B4-BE49-F238E27FC236}">
                    <a16:creationId xmlns:a16="http://schemas.microsoft.com/office/drawing/2014/main" id="{C121B807-D4FC-A04B-5F37-9F45860F7960}"/>
                  </a:ext>
                </a:extLst>
              </p:cNvPr>
              <p:cNvSpPr/>
              <p:nvPr/>
            </p:nvSpPr>
            <p:spPr>
              <a:xfrm>
                <a:off x="-1069850" y="4812286"/>
                <a:ext cx="486309" cy="121577"/>
              </a:xfrm>
              <a:custGeom>
                <a:avLst/>
                <a:gdLst>
                  <a:gd name="connsiteX0" fmla="*/ 459106 w 486309"/>
                  <a:gd name="connsiteY0" fmla="*/ 0 h 121577"/>
                  <a:gd name="connsiteX1" fmla="*/ 27203 w 486309"/>
                  <a:gd name="connsiteY1" fmla="*/ 0 h 121577"/>
                  <a:gd name="connsiteX2" fmla="*/ 0 w 486309"/>
                  <a:gd name="connsiteY2" fmla="*/ 27203 h 121577"/>
                  <a:gd name="connsiteX3" fmla="*/ 0 w 486309"/>
                  <a:gd name="connsiteY3" fmla="*/ 94374 h 121577"/>
                  <a:gd name="connsiteX4" fmla="*/ 27203 w 486309"/>
                  <a:gd name="connsiteY4" fmla="*/ 121577 h 121577"/>
                  <a:gd name="connsiteX5" fmla="*/ 459106 w 486309"/>
                  <a:gd name="connsiteY5" fmla="*/ 121577 h 121577"/>
                  <a:gd name="connsiteX6" fmla="*/ 486309 w 486309"/>
                  <a:gd name="connsiteY6" fmla="*/ 94374 h 121577"/>
                  <a:gd name="connsiteX7" fmla="*/ 486309 w 486309"/>
                  <a:gd name="connsiteY7" fmla="*/ 27203 h 121577"/>
                  <a:gd name="connsiteX8" fmla="*/ 459106 w 486309"/>
                  <a:gd name="connsiteY8" fmla="*/ 0 h 121577"/>
                  <a:gd name="connsiteX9" fmla="*/ 75986 w 486309"/>
                  <a:gd name="connsiteY9" fmla="*/ 75986 h 121577"/>
                  <a:gd name="connsiteX10" fmla="*/ 60789 w 486309"/>
                  <a:gd name="connsiteY10" fmla="*/ 60789 h 121577"/>
                  <a:gd name="connsiteX11" fmla="*/ 75986 w 486309"/>
                  <a:gd name="connsiteY11" fmla="*/ 45592 h 121577"/>
                  <a:gd name="connsiteX12" fmla="*/ 91183 w 486309"/>
                  <a:gd name="connsiteY12" fmla="*/ 60789 h 121577"/>
                  <a:gd name="connsiteX13" fmla="*/ 75986 w 486309"/>
                  <a:gd name="connsiteY13" fmla="*/ 75986 h 121577"/>
                  <a:gd name="connsiteX14" fmla="*/ 151972 w 486309"/>
                  <a:gd name="connsiteY14" fmla="*/ 75986 h 121577"/>
                  <a:gd name="connsiteX15" fmla="*/ 136775 w 486309"/>
                  <a:gd name="connsiteY15" fmla="*/ 60789 h 121577"/>
                  <a:gd name="connsiteX16" fmla="*/ 151972 w 486309"/>
                  <a:gd name="connsiteY16" fmla="*/ 45592 h 121577"/>
                  <a:gd name="connsiteX17" fmla="*/ 167169 w 486309"/>
                  <a:gd name="connsiteY17" fmla="*/ 60789 h 121577"/>
                  <a:gd name="connsiteX18" fmla="*/ 151972 w 486309"/>
                  <a:gd name="connsiteY18" fmla="*/ 75986 h 121577"/>
                  <a:gd name="connsiteX19" fmla="*/ 227958 w 486309"/>
                  <a:gd name="connsiteY19" fmla="*/ 75986 h 121577"/>
                  <a:gd name="connsiteX20" fmla="*/ 212760 w 486309"/>
                  <a:gd name="connsiteY20" fmla="*/ 60789 h 121577"/>
                  <a:gd name="connsiteX21" fmla="*/ 227958 w 486309"/>
                  <a:gd name="connsiteY21" fmla="*/ 45592 h 121577"/>
                  <a:gd name="connsiteX22" fmla="*/ 243155 w 486309"/>
                  <a:gd name="connsiteY22" fmla="*/ 60789 h 121577"/>
                  <a:gd name="connsiteX23" fmla="*/ 227958 w 486309"/>
                  <a:gd name="connsiteY23" fmla="*/ 75986 h 12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6309" h="121577">
                    <a:moveTo>
                      <a:pt x="459106" y="0"/>
                    </a:moveTo>
                    <a:lnTo>
                      <a:pt x="27203" y="0"/>
                    </a:lnTo>
                    <a:cubicBezTo>
                      <a:pt x="12179" y="0"/>
                      <a:pt x="0" y="12179"/>
                      <a:pt x="0" y="27203"/>
                    </a:cubicBezTo>
                    <a:lnTo>
                      <a:pt x="0" y="94374"/>
                    </a:lnTo>
                    <a:cubicBezTo>
                      <a:pt x="0" y="109398"/>
                      <a:pt x="12179" y="121577"/>
                      <a:pt x="27203" y="121577"/>
                    </a:cubicBezTo>
                    <a:lnTo>
                      <a:pt x="459106" y="121577"/>
                    </a:lnTo>
                    <a:cubicBezTo>
                      <a:pt x="474130" y="121577"/>
                      <a:pt x="486309" y="109398"/>
                      <a:pt x="486309" y="94374"/>
                    </a:cubicBezTo>
                    <a:lnTo>
                      <a:pt x="486309" y="27203"/>
                    </a:lnTo>
                    <a:cubicBezTo>
                      <a:pt x="486309" y="12179"/>
                      <a:pt x="474130" y="0"/>
                      <a:pt x="459106" y="0"/>
                    </a:cubicBezTo>
                    <a:close/>
                    <a:moveTo>
                      <a:pt x="75986" y="75986"/>
                    </a:moveTo>
                    <a:cubicBezTo>
                      <a:pt x="67592" y="75986"/>
                      <a:pt x="60789" y="69182"/>
                      <a:pt x="60789" y="60789"/>
                    </a:cubicBezTo>
                    <a:cubicBezTo>
                      <a:pt x="60789" y="52395"/>
                      <a:pt x="67592" y="45592"/>
                      <a:pt x="75986" y="45592"/>
                    </a:cubicBezTo>
                    <a:cubicBezTo>
                      <a:pt x="84379" y="45592"/>
                      <a:pt x="91183" y="52395"/>
                      <a:pt x="91183" y="60789"/>
                    </a:cubicBezTo>
                    <a:cubicBezTo>
                      <a:pt x="91183" y="69182"/>
                      <a:pt x="84379" y="75986"/>
                      <a:pt x="75986" y="75986"/>
                    </a:cubicBezTo>
                    <a:close/>
                    <a:moveTo>
                      <a:pt x="151972" y="75986"/>
                    </a:moveTo>
                    <a:cubicBezTo>
                      <a:pt x="143578" y="75986"/>
                      <a:pt x="136775" y="69182"/>
                      <a:pt x="136775" y="60789"/>
                    </a:cubicBezTo>
                    <a:cubicBezTo>
                      <a:pt x="136775" y="52395"/>
                      <a:pt x="143578" y="45592"/>
                      <a:pt x="151972" y="45592"/>
                    </a:cubicBezTo>
                    <a:cubicBezTo>
                      <a:pt x="160365" y="45592"/>
                      <a:pt x="167169" y="52395"/>
                      <a:pt x="167169" y="60789"/>
                    </a:cubicBezTo>
                    <a:cubicBezTo>
                      <a:pt x="167169" y="69182"/>
                      <a:pt x="160365" y="75986"/>
                      <a:pt x="151972" y="75986"/>
                    </a:cubicBezTo>
                    <a:close/>
                    <a:moveTo>
                      <a:pt x="227958" y="75986"/>
                    </a:moveTo>
                    <a:cubicBezTo>
                      <a:pt x="219564" y="75986"/>
                      <a:pt x="212760" y="69182"/>
                      <a:pt x="212760" y="60789"/>
                    </a:cubicBezTo>
                    <a:cubicBezTo>
                      <a:pt x="212760" y="52395"/>
                      <a:pt x="219564" y="45592"/>
                      <a:pt x="227958" y="45592"/>
                    </a:cubicBezTo>
                    <a:cubicBezTo>
                      <a:pt x="236351" y="45592"/>
                      <a:pt x="243155" y="52395"/>
                      <a:pt x="243155" y="60789"/>
                    </a:cubicBezTo>
                    <a:cubicBezTo>
                      <a:pt x="243155" y="69182"/>
                      <a:pt x="236351" y="75986"/>
                      <a:pt x="227958" y="75986"/>
                    </a:cubicBezTo>
                    <a:close/>
                  </a:path>
                </a:pathLst>
              </a:custGeom>
              <a:grpFill/>
              <a:ln w="7541" cap="flat">
                <a:noFill/>
                <a:prstDash val="solid"/>
                <a:miter/>
              </a:ln>
            </p:spPr>
            <p:txBody>
              <a:bodyPr rtlCol="0" anchor="ctr"/>
              <a:lstStyle/>
              <a:p>
                <a:endParaRPr lang="en-GB"/>
              </a:p>
            </p:txBody>
          </p:sp>
        </p:grpSp>
        <p:grpSp>
          <p:nvGrpSpPr>
            <p:cNvPr id="1199" name="Group 1198">
              <a:extLst>
                <a:ext uri="{FF2B5EF4-FFF2-40B4-BE49-F238E27FC236}">
                  <a16:creationId xmlns:a16="http://schemas.microsoft.com/office/drawing/2014/main" id="{0E2FC55F-5942-FBF4-555E-20AD2B870AB3}"/>
                </a:ext>
              </a:extLst>
            </p:cNvPr>
            <p:cNvGrpSpPr/>
            <p:nvPr/>
          </p:nvGrpSpPr>
          <p:grpSpPr>
            <a:xfrm>
              <a:off x="3830484" y="5558089"/>
              <a:ext cx="298385" cy="355739"/>
              <a:chOff x="-2220578" y="4917910"/>
              <a:chExt cx="516226" cy="615451"/>
            </a:xfrm>
            <a:gradFill>
              <a:gsLst>
                <a:gs pos="100000">
                  <a:srgbClr val="BDF2BD"/>
                </a:gs>
                <a:gs pos="55000">
                  <a:srgbClr val="C3E9FC"/>
                </a:gs>
              </a:gsLst>
              <a:lin ang="0" scaled="1"/>
            </a:gradFill>
          </p:grpSpPr>
          <p:sp>
            <p:nvSpPr>
              <p:cNvPr id="1192" name="Freeform: Shape 1191">
                <a:extLst>
                  <a:ext uri="{FF2B5EF4-FFF2-40B4-BE49-F238E27FC236}">
                    <a16:creationId xmlns:a16="http://schemas.microsoft.com/office/drawing/2014/main" id="{0648D943-4198-A22D-29C5-9163C0202A2B}"/>
                  </a:ext>
                </a:extLst>
              </p:cNvPr>
              <p:cNvSpPr/>
              <p:nvPr/>
            </p:nvSpPr>
            <p:spPr>
              <a:xfrm>
                <a:off x="-2220578" y="4917910"/>
                <a:ext cx="516226" cy="615451"/>
              </a:xfrm>
              <a:custGeom>
                <a:avLst/>
                <a:gdLst>
                  <a:gd name="connsiteX0" fmla="*/ 489950 w 516226"/>
                  <a:gd name="connsiteY0" fmla="*/ 112771 h 615451"/>
                  <a:gd name="connsiteX1" fmla="*/ 279682 w 516226"/>
                  <a:gd name="connsiteY1" fmla="*/ 9878 h 615451"/>
                  <a:gd name="connsiteX2" fmla="*/ 239504 w 516226"/>
                  <a:gd name="connsiteY2" fmla="*/ 6919 h 615451"/>
                  <a:gd name="connsiteX3" fmla="*/ 236545 w 516226"/>
                  <a:gd name="connsiteY3" fmla="*/ 9878 h 615451"/>
                  <a:gd name="connsiteX4" fmla="*/ 26277 w 516226"/>
                  <a:gd name="connsiteY4" fmla="*/ 112771 h 615451"/>
                  <a:gd name="connsiteX5" fmla="*/ 1 w 516226"/>
                  <a:gd name="connsiteY5" fmla="*/ 141843 h 615451"/>
                  <a:gd name="connsiteX6" fmla="*/ 1 w 516226"/>
                  <a:gd name="connsiteY6" fmla="*/ 215192 h 615451"/>
                  <a:gd name="connsiteX7" fmla="*/ 242236 w 516226"/>
                  <a:gd name="connsiteY7" fmla="*/ 610789 h 615451"/>
                  <a:gd name="connsiteX8" fmla="*/ 273991 w 516226"/>
                  <a:gd name="connsiteY8" fmla="*/ 610789 h 615451"/>
                  <a:gd name="connsiteX9" fmla="*/ 516226 w 516226"/>
                  <a:gd name="connsiteY9" fmla="*/ 215192 h 615451"/>
                  <a:gd name="connsiteX10" fmla="*/ 516226 w 516226"/>
                  <a:gd name="connsiteY10" fmla="*/ 141843 h 615451"/>
                  <a:gd name="connsiteX11" fmla="*/ 489950 w 516226"/>
                  <a:gd name="connsiteY11" fmla="*/ 112771 h 615451"/>
                  <a:gd name="connsiteX12" fmla="*/ 466835 w 516226"/>
                  <a:gd name="connsiteY12" fmla="*/ 215192 h 615451"/>
                  <a:gd name="connsiteX13" fmla="*/ 264606 w 516226"/>
                  <a:gd name="connsiteY13" fmla="*/ 557706 h 615451"/>
                  <a:gd name="connsiteX14" fmla="*/ 258117 w 516226"/>
                  <a:gd name="connsiteY14" fmla="*/ 562196 h 615451"/>
                  <a:gd name="connsiteX15" fmla="*/ 251636 w 516226"/>
                  <a:gd name="connsiteY15" fmla="*/ 557706 h 615451"/>
                  <a:gd name="connsiteX16" fmla="*/ 49384 w 516226"/>
                  <a:gd name="connsiteY16" fmla="*/ 215192 h 615451"/>
                  <a:gd name="connsiteX17" fmla="*/ 49384 w 516226"/>
                  <a:gd name="connsiteY17" fmla="*/ 160095 h 615451"/>
                  <a:gd name="connsiteX18" fmla="*/ 58989 w 516226"/>
                  <a:gd name="connsiteY18" fmla="*/ 158575 h 615451"/>
                  <a:gd name="connsiteX19" fmla="*/ 250389 w 516226"/>
                  <a:gd name="connsiteY19" fmla="*/ 65872 h 615451"/>
                  <a:gd name="connsiteX20" fmla="*/ 258110 w 516226"/>
                  <a:gd name="connsiteY20" fmla="*/ 58760 h 615451"/>
                  <a:gd name="connsiteX21" fmla="*/ 265837 w 516226"/>
                  <a:gd name="connsiteY21" fmla="*/ 65872 h 615451"/>
                  <a:gd name="connsiteX22" fmla="*/ 457230 w 516226"/>
                  <a:gd name="connsiteY22" fmla="*/ 158575 h 615451"/>
                  <a:gd name="connsiteX23" fmla="*/ 466835 w 516226"/>
                  <a:gd name="connsiteY23" fmla="*/ 160095 h 61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16226" h="615451">
                    <a:moveTo>
                      <a:pt x="489950" y="112771"/>
                    </a:moveTo>
                    <a:cubicBezTo>
                      <a:pt x="409356" y="106351"/>
                      <a:pt x="334205" y="69576"/>
                      <a:pt x="279682" y="9878"/>
                    </a:cubicBezTo>
                    <a:cubicBezTo>
                      <a:pt x="269404" y="-2034"/>
                      <a:pt x="251416" y="-3359"/>
                      <a:pt x="239504" y="6919"/>
                    </a:cubicBezTo>
                    <a:cubicBezTo>
                      <a:pt x="238446" y="7831"/>
                      <a:pt x="237457" y="8821"/>
                      <a:pt x="236545" y="9878"/>
                    </a:cubicBezTo>
                    <a:cubicBezTo>
                      <a:pt x="182022" y="69576"/>
                      <a:pt x="106870" y="106351"/>
                      <a:pt x="26277" y="112771"/>
                    </a:cubicBezTo>
                    <a:cubicBezTo>
                      <a:pt x="11301" y="114174"/>
                      <a:pt x="-112" y="126801"/>
                      <a:pt x="1" y="141843"/>
                    </a:cubicBezTo>
                    <a:lnTo>
                      <a:pt x="1" y="215192"/>
                    </a:lnTo>
                    <a:cubicBezTo>
                      <a:pt x="1" y="374656"/>
                      <a:pt x="101419" y="520526"/>
                      <a:pt x="242236" y="610789"/>
                    </a:cubicBezTo>
                    <a:cubicBezTo>
                      <a:pt x="251908" y="617005"/>
                      <a:pt x="264318" y="617005"/>
                      <a:pt x="273991" y="610789"/>
                    </a:cubicBezTo>
                    <a:cubicBezTo>
                      <a:pt x="414807" y="520503"/>
                      <a:pt x="516226" y="374656"/>
                      <a:pt x="516226" y="215192"/>
                    </a:cubicBezTo>
                    <a:lnTo>
                      <a:pt x="516226" y="141843"/>
                    </a:lnTo>
                    <a:cubicBezTo>
                      <a:pt x="516339" y="126801"/>
                      <a:pt x="504926" y="114174"/>
                      <a:pt x="489950" y="112771"/>
                    </a:cubicBezTo>
                    <a:close/>
                    <a:moveTo>
                      <a:pt x="466835" y="215192"/>
                    </a:moveTo>
                    <a:cubicBezTo>
                      <a:pt x="466835" y="342088"/>
                      <a:pt x="391237" y="470102"/>
                      <a:pt x="264606" y="557706"/>
                    </a:cubicBezTo>
                    <a:lnTo>
                      <a:pt x="258117" y="562196"/>
                    </a:lnTo>
                    <a:lnTo>
                      <a:pt x="251636" y="557706"/>
                    </a:lnTo>
                    <a:cubicBezTo>
                      <a:pt x="124998" y="470094"/>
                      <a:pt x="49384" y="342050"/>
                      <a:pt x="49384" y="215192"/>
                    </a:cubicBezTo>
                    <a:lnTo>
                      <a:pt x="49384" y="160095"/>
                    </a:lnTo>
                    <a:lnTo>
                      <a:pt x="58989" y="158575"/>
                    </a:lnTo>
                    <a:cubicBezTo>
                      <a:pt x="130545" y="147260"/>
                      <a:pt x="197148" y="115002"/>
                      <a:pt x="250389" y="65872"/>
                    </a:cubicBezTo>
                    <a:lnTo>
                      <a:pt x="258110" y="58760"/>
                    </a:lnTo>
                    <a:lnTo>
                      <a:pt x="265837" y="65872"/>
                    </a:lnTo>
                    <a:cubicBezTo>
                      <a:pt x="319077" y="115002"/>
                      <a:pt x="385676" y="147260"/>
                      <a:pt x="457230" y="158575"/>
                    </a:cubicBezTo>
                    <a:lnTo>
                      <a:pt x="466835" y="160095"/>
                    </a:lnTo>
                    <a:close/>
                  </a:path>
                </a:pathLst>
              </a:custGeom>
              <a:grpFill/>
              <a:ln w="7541" cap="flat">
                <a:noFill/>
                <a:prstDash val="solid"/>
                <a:miter/>
              </a:ln>
            </p:spPr>
            <p:txBody>
              <a:bodyPr rtlCol="0" anchor="ctr"/>
              <a:lstStyle/>
              <a:p>
                <a:endParaRPr lang="en-GB"/>
              </a:p>
            </p:txBody>
          </p:sp>
          <p:sp>
            <p:nvSpPr>
              <p:cNvPr id="1193" name="Freeform: Shape 1192">
                <a:extLst>
                  <a:ext uri="{FF2B5EF4-FFF2-40B4-BE49-F238E27FC236}">
                    <a16:creationId xmlns:a16="http://schemas.microsoft.com/office/drawing/2014/main" id="{B2B4A681-9FFC-B07A-696D-94526A2C0DAE}"/>
                  </a:ext>
                </a:extLst>
              </p:cNvPr>
              <p:cNvSpPr/>
              <p:nvPr/>
            </p:nvSpPr>
            <p:spPr>
              <a:xfrm>
                <a:off x="-2148399" y="5007482"/>
                <a:ext cx="371859" cy="444836"/>
              </a:xfrm>
              <a:custGeom>
                <a:avLst/>
                <a:gdLst>
                  <a:gd name="connsiteX0" fmla="*/ 185930 w 371859"/>
                  <a:gd name="connsiteY0" fmla="*/ 0 h 444836"/>
                  <a:gd name="connsiteX1" fmla="*/ 0 w 371859"/>
                  <a:gd name="connsiteY1" fmla="*/ 89846 h 444836"/>
                  <a:gd name="connsiteX2" fmla="*/ 0 w 371859"/>
                  <a:gd name="connsiteY2" fmla="*/ 125620 h 444836"/>
                  <a:gd name="connsiteX3" fmla="*/ 185937 w 371859"/>
                  <a:gd name="connsiteY3" fmla="*/ 444836 h 444836"/>
                  <a:gd name="connsiteX4" fmla="*/ 371859 w 371859"/>
                  <a:gd name="connsiteY4" fmla="*/ 125620 h 444836"/>
                  <a:gd name="connsiteX5" fmla="*/ 371859 w 371859"/>
                  <a:gd name="connsiteY5" fmla="*/ 89846 h 444836"/>
                  <a:gd name="connsiteX6" fmla="*/ 185930 w 371859"/>
                  <a:gd name="connsiteY6" fmla="*/ 0 h 444836"/>
                  <a:gd name="connsiteX7" fmla="*/ 166417 w 371859"/>
                  <a:gd name="connsiteY7" fmla="*/ 296687 h 444836"/>
                  <a:gd name="connsiteX8" fmla="*/ 89580 w 371859"/>
                  <a:gd name="connsiteY8" fmla="*/ 219842 h 444836"/>
                  <a:gd name="connsiteX9" fmla="*/ 115688 w 371859"/>
                  <a:gd name="connsiteY9" fmla="*/ 193733 h 444836"/>
                  <a:gd name="connsiteX10" fmla="*/ 166417 w 371859"/>
                  <a:gd name="connsiteY10" fmla="*/ 244462 h 444836"/>
                  <a:gd name="connsiteX11" fmla="*/ 270304 w 371859"/>
                  <a:gd name="connsiteY11" fmla="*/ 140574 h 444836"/>
                  <a:gd name="connsiteX12" fmla="*/ 296413 w 371859"/>
                  <a:gd name="connsiteY12" fmla="*/ 166690 h 444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1859" h="444836">
                    <a:moveTo>
                      <a:pt x="185930" y="0"/>
                    </a:moveTo>
                    <a:cubicBezTo>
                      <a:pt x="133172" y="46141"/>
                      <a:pt x="68935" y="77182"/>
                      <a:pt x="0" y="89846"/>
                    </a:cubicBezTo>
                    <a:lnTo>
                      <a:pt x="0" y="125620"/>
                    </a:lnTo>
                    <a:cubicBezTo>
                      <a:pt x="0" y="242843"/>
                      <a:pt x="69352" y="361655"/>
                      <a:pt x="185937" y="444836"/>
                    </a:cubicBezTo>
                    <a:cubicBezTo>
                      <a:pt x="302507" y="361670"/>
                      <a:pt x="371859" y="242851"/>
                      <a:pt x="371859" y="125620"/>
                    </a:cubicBezTo>
                    <a:lnTo>
                      <a:pt x="371859" y="89846"/>
                    </a:lnTo>
                    <a:cubicBezTo>
                      <a:pt x="302924" y="77182"/>
                      <a:pt x="238687" y="46141"/>
                      <a:pt x="185930" y="0"/>
                    </a:cubicBezTo>
                    <a:close/>
                    <a:moveTo>
                      <a:pt x="166417" y="296687"/>
                    </a:moveTo>
                    <a:lnTo>
                      <a:pt x="89580" y="219842"/>
                    </a:lnTo>
                    <a:lnTo>
                      <a:pt x="115688" y="193733"/>
                    </a:lnTo>
                    <a:lnTo>
                      <a:pt x="166417" y="244462"/>
                    </a:lnTo>
                    <a:lnTo>
                      <a:pt x="270304" y="140574"/>
                    </a:lnTo>
                    <a:lnTo>
                      <a:pt x="296413" y="166690"/>
                    </a:lnTo>
                    <a:close/>
                  </a:path>
                </a:pathLst>
              </a:custGeom>
              <a:grpFill/>
              <a:ln w="7541" cap="flat">
                <a:noFill/>
                <a:prstDash val="solid"/>
                <a:miter/>
              </a:ln>
            </p:spPr>
            <p:txBody>
              <a:bodyPr rtlCol="0" anchor="ctr"/>
              <a:lstStyle/>
              <a:p>
                <a:endParaRPr lang="en-GB"/>
              </a:p>
            </p:txBody>
          </p:sp>
        </p:grpSp>
        <p:sp>
          <p:nvSpPr>
            <p:cNvPr id="1200" name="Graphic 1091" descr="Social network with solid fill">
              <a:extLst>
                <a:ext uri="{FF2B5EF4-FFF2-40B4-BE49-F238E27FC236}">
                  <a16:creationId xmlns:a16="http://schemas.microsoft.com/office/drawing/2014/main" id="{0E862796-8097-45A8-4B84-C850FC0B7607}"/>
                </a:ext>
              </a:extLst>
            </p:cNvPr>
            <p:cNvSpPr/>
            <p:nvPr/>
          </p:nvSpPr>
          <p:spPr>
            <a:xfrm>
              <a:off x="3801673" y="1982641"/>
              <a:ext cx="356006" cy="336574"/>
            </a:xfrm>
            <a:custGeom>
              <a:avLst/>
              <a:gdLst>
                <a:gd name="connsiteX0" fmla="*/ 544862 w 615914"/>
                <a:gd name="connsiteY0" fmla="*/ 303292 h 582296"/>
                <a:gd name="connsiteX1" fmla="*/ 615915 w 615914"/>
                <a:gd name="connsiteY1" fmla="*/ 232240 h 582296"/>
                <a:gd name="connsiteX2" fmla="*/ 544862 w 615914"/>
                <a:gd name="connsiteY2" fmla="*/ 161187 h 582296"/>
                <a:gd name="connsiteX3" fmla="*/ 473809 w 615914"/>
                <a:gd name="connsiteY3" fmla="*/ 232240 h 582296"/>
                <a:gd name="connsiteX4" fmla="*/ 474677 w 615914"/>
                <a:gd name="connsiteY4" fmla="*/ 242897 h 582296"/>
                <a:gd name="connsiteX5" fmla="*/ 392493 w 615914"/>
                <a:gd name="connsiteY5" fmla="*/ 277240 h 582296"/>
                <a:gd name="connsiteX6" fmla="*/ 322466 w 615914"/>
                <a:gd name="connsiteY6" fmla="*/ 228608 h 582296"/>
                <a:gd name="connsiteX7" fmla="*/ 322466 w 615914"/>
                <a:gd name="connsiteY7" fmla="*/ 140345 h 582296"/>
                <a:gd name="connsiteX8" fmla="*/ 375953 w 615914"/>
                <a:gd name="connsiteY8" fmla="*/ 55278 h 582296"/>
                <a:gd name="connsiteX9" fmla="*/ 290887 w 615914"/>
                <a:gd name="connsiteY9" fmla="*/ 1792 h 582296"/>
                <a:gd name="connsiteX10" fmla="*/ 237400 w 615914"/>
                <a:gd name="connsiteY10" fmla="*/ 86858 h 582296"/>
                <a:gd name="connsiteX11" fmla="*/ 290887 w 615914"/>
                <a:gd name="connsiteY11" fmla="*/ 140345 h 582296"/>
                <a:gd name="connsiteX12" fmla="*/ 290887 w 615914"/>
                <a:gd name="connsiteY12" fmla="*/ 228529 h 582296"/>
                <a:gd name="connsiteX13" fmla="*/ 221255 w 615914"/>
                <a:gd name="connsiteY13" fmla="*/ 276529 h 582296"/>
                <a:gd name="connsiteX14" fmla="*/ 141282 w 615914"/>
                <a:gd name="connsiteY14" fmla="*/ 243134 h 582296"/>
                <a:gd name="connsiteX15" fmla="*/ 81918 w 615914"/>
                <a:gd name="connsiteY15" fmla="*/ 162060 h 582296"/>
                <a:gd name="connsiteX16" fmla="*/ 844 w 615914"/>
                <a:gd name="connsiteY16" fmla="*/ 221423 h 582296"/>
                <a:gd name="connsiteX17" fmla="*/ 60207 w 615914"/>
                <a:gd name="connsiteY17" fmla="*/ 302497 h 582296"/>
                <a:gd name="connsiteX18" fmla="*/ 129360 w 615914"/>
                <a:gd name="connsiteY18" fmla="*/ 272898 h 582296"/>
                <a:gd name="connsiteX19" fmla="*/ 210045 w 615914"/>
                <a:gd name="connsiteY19" fmla="*/ 305898 h 582296"/>
                <a:gd name="connsiteX20" fmla="*/ 227729 w 615914"/>
                <a:gd name="connsiteY20" fmla="*/ 384845 h 582296"/>
                <a:gd name="connsiteX21" fmla="*/ 162440 w 615914"/>
                <a:gd name="connsiteY21" fmla="*/ 450766 h 582296"/>
                <a:gd name="connsiteX22" fmla="*/ 64660 w 615914"/>
                <a:gd name="connsiteY22" fmla="*/ 473922 h 582296"/>
                <a:gd name="connsiteX23" fmla="*/ 87816 w 615914"/>
                <a:gd name="connsiteY23" fmla="*/ 571702 h 582296"/>
                <a:gd name="connsiteX24" fmla="*/ 185595 w 615914"/>
                <a:gd name="connsiteY24" fmla="*/ 548546 h 582296"/>
                <a:gd name="connsiteX25" fmla="*/ 184782 w 615914"/>
                <a:gd name="connsiteY25" fmla="*/ 472635 h 582296"/>
                <a:gd name="connsiteX26" fmla="*/ 250545 w 615914"/>
                <a:gd name="connsiteY26" fmla="*/ 406872 h 582296"/>
                <a:gd name="connsiteX27" fmla="*/ 362887 w 615914"/>
                <a:gd name="connsiteY27" fmla="*/ 406872 h 582296"/>
                <a:gd name="connsiteX28" fmla="*/ 428651 w 615914"/>
                <a:gd name="connsiteY28" fmla="*/ 472556 h 582296"/>
                <a:gd name="connsiteX29" fmla="*/ 449648 w 615914"/>
                <a:gd name="connsiteY29" fmla="*/ 570821 h 582296"/>
                <a:gd name="connsiteX30" fmla="*/ 547914 w 615914"/>
                <a:gd name="connsiteY30" fmla="*/ 549824 h 582296"/>
                <a:gd name="connsiteX31" fmla="*/ 526916 w 615914"/>
                <a:gd name="connsiteY31" fmla="*/ 451559 h 582296"/>
                <a:gd name="connsiteX32" fmla="*/ 450519 w 615914"/>
                <a:gd name="connsiteY32" fmla="*/ 451003 h 582296"/>
                <a:gd name="connsiteX33" fmla="*/ 385624 w 615914"/>
                <a:gd name="connsiteY33" fmla="*/ 385240 h 582296"/>
                <a:gd name="connsiteX34" fmla="*/ 405677 w 615914"/>
                <a:gd name="connsiteY34" fmla="*/ 325871 h 582296"/>
                <a:gd name="connsiteX35" fmla="*/ 403782 w 615914"/>
                <a:gd name="connsiteY35" fmla="*/ 306687 h 582296"/>
                <a:gd name="connsiteX36" fmla="*/ 486756 w 615914"/>
                <a:gd name="connsiteY36" fmla="*/ 272740 h 582296"/>
                <a:gd name="connsiteX37" fmla="*/ 544862 w 615914"/>
                <a:gd name="connsiteY37" fmla="*/ 303292 h 582296"/>
                <a:gd name="connsiteX38" fmla="*/ 544862 w 615914"/>
                <a:gd name="connsiteY38" fmla="*/ 188739 h 582296"/>
                <a:gd name="connsiteX39" fmla="*/ 564835 w 615914"/>
                <a:gd name="connsiteY39" fmla="*/ 208713 h 582296"/>
                <a:gd name="connsiteX40" fmla="*/ 544862 w 615914"/>
                <a:gd name="connsiteY40" fmla="*/ 228687 h 582296"/>
                <a:gd name="connsiteX41" fmla="*/ 524888 w 615914"/>
                <a:gd name="connsiteY41" fmla="*/ 208713 h 582296"/>
                <a:gd name="connsiteX42" fmla="*/ 524888 w 615914"/>
                <a:gd name="connsiteY42" fmla="*/ 208634 h 582296"/>
                <a:gd name="connsiteX43" fmla="*/ 544862 w 615914"/>
                <a:gd name="connsiteY43" fmla="*/ 188739 h 582296"/>
                <a:gd name="connsiteX44" fmla="*/ 505388 w 615914"/>
                <a:gd name="connsiteY44" fmla="*/ 253476 h 582296"/>
                <a:gd name="connsiteX45" fmla="*/ 509414 w 615914"/>
                <a:gd name="connsiteY45" fmla="*/ 245582 h 582296"/>
                <a:gd name="connsiteX46" fmla="*/ 528835 w 615914"/>
                <a:gd name="connsiteY46" fmla="*/ 236108 h 582296"/>
                <a:gd name="connsiteX47" fmla="*/ 545256 w 615914"/>
                <a:gd name="connsiteY47" fmla="*/ 233661 h 582296"/>
                <a:gd name="connsiteX48" fmla="*/ 561678 w 615914"/>
                <a:gd name="connsiteY48" fmla="*/ 236108 h 582296"/>
                <a:gd name="connsiteX49" fmla="*/ 581099 w 615914"/>
                <a:gd name="connsiteY49" fmla="*/ 245582 h 582296"/>
                <a:gd name="connsiteX50" fmla="*/ 585046 w 615914"/>
                <a:gd name="connsiteY50" fmla="*/ 253476 h 582296"/>
                <a:gd name="connsiteX51" fmla="*/ 585046 w 615914"/>
                <a:gd name="connsiteY51" fmla="*/ 268634 h 582296"/>
                <a:gd name="connsiteX52" fmla="*/ 504993 w 615914"/>
                <a:gd name="connsiteY52" fmla="*/ 268634 h 582296"/>
                <a:gd name="connsiteX53" fmla="*/ 71571 w 615914"/>
                <a:gd name="connsiteY53" fmla="*/ 188739 h 582296"/>
                <a:gd name="connsiteX54" fmla="*/ 91545 w 615914"/>
                <a:gd name="connsiteY54" fmla="*/ 208713 h 582296"/>
                <a:gd name="connsiteX55" fmla="*/ 71571 w 615914"/>
                <a:gd name="connsiteY55" fmla="*/ 228687 h 582296"/>
                <a:gd name="connsiteX56" fmla="*/ 51597 w 615914"/>
                <a:gd name="connsiteY56" fmla="*/ 208713 h 582296"/>
                <a:gd name="connsiteX57" fmla="*/ 51597 w 615914"/>
                <a:gd name="connsiteY57" fmla="*/ 208634 h 582296"/>
                <a:gd name="connsiteX58" fmla="*/ 71176 w 615914"/>
                <a:gd name="connsiteY58" fmla="*/ 188739 h 582296"/>
                <a:gd name="connsiteX59" fmla="*/ 111045 w 615914"/>
                <a:gd name="connsiteY59" fmla="*/ 268713 h 582296"/>
                <a:gd name="connsiteX60" fmla="*/ 31308 w 615914"/>
                <a:gd name="connsiteY60" fmla="*/ 268713 h 582296"/>
                <a:gd name="connsiteX61" fmla="*/ 31308 w 615914"/>
                <a:gd name="connsiteY61" fmla="*/ 253476 h 582296"/>
                <a:gd name="connsiteX62" fmla="*/ 35334 w 615914"/>
                <a:gd name="connsiteY62" fmla="*/ 245582 h 582296"/>
                <a:gd name="connsiteX63" fmla="*/ 54755 w 615914"/>
                <a:gd name="connsiteY63" fmla="*/ 236108 h 582296"/>
                <a:gd name="connsiteX64" fmla="*/ 71176 w 615914"/>
                <a:gd name="connsiteY64" fmla="*/ 233661 h 582296"/>
                <a:gd name="connsiteX65" fmla="*/ 87597 w 615914"/>
                <a:gd name="connsiteY65" fmla="*/ 236108 h 582296"/>
                <a:gd name="connsiteX66" fmla="*/ 107018 w 615914"/>
                <a:gd name="connsiteY66" fmla="*/ 245582 h 582296"/>
                <a:gd name="connsiteX67" fmla="*/ 110966 w 615914"/>
                <a:gd name="connsiteY67" fmla="*/ 253476 h 582296"/>
                <a:gd name="connsiteX68" fmla="*/ 125097 w 615914"/>
                <a:gd name="connsiteY68" fmla="*/ 467740 h 582296"/>
                <a:gd name="connsiteX69" fmla="*/ 144992 w 615914"/>
                <a:gd name="connsiteY69" fmla="*/ 487635 h 582296"/>
                <a:gd name="connsiteX70" fmla="*/ 125097 w 615914"/>
                <a:gd name="connsiteY70" fmla="*/ 507530 h 582296"/>
                <a:gd name="connsiteX71" fmla="*/ 105203 w 615914"/>
                <a:gd name="connsiteY71" fmla="*/ 487635 h 582296"/>
                <a:gd name="connsiteX72" fmla="*/ 125097 w 615914"/>
                <a:gd name="connsiteY72" fmla="*/ 467740 h 582296"/>
                <a:gd name="connsiteX73" fmla="*/ 164571 w 615914"/>
                <a:gd name="connsiteY73" fmla="*/ 547635 h 582296"/>
                <a:gd name="connsiteX74" fmla="*/ 85624 w 615914"/>
                <a:gd name="connsiteY74" fmla="*/ 547635 h 582296"/>
                <a:gd name="connsiteX75" fmla="*/ 85624 w 615914"/>
                <a:gd name="connsiteY75" fmla="*/ 532398 h 582296"/>
                <a:gd name="connsiteX76" fmla="*/ 89571 w 615914"/>
                <a:gd name="connsiteY76" fmla="*/ 524504 h 582296"/>
                <a:gd name="connsiteX77" fmla="*/ 108992 w 615914"/>
                <a:gd name="connsiteY77" fmla="*/ 515109 h 582296"/>
                <a:gd name="connsiteX78" fmla="*/ 125097 w 615914"/>
                <a:gd name="connsiteY78" fmla="*/ 512504 h 582296"/>
                <a:gd name="connsiteX79" fmla="*/ 141518 w 615914"/>
                <a:gd name="connsiteY79" fmla="*/ 515030 h 582296"/>
                <a:gd name="connsiteX80" fmla="*/ 160940 w 615914"/>
                <a:gd name="connsiteY80" fmla="*/ 524425 h 582296"/>
                <a:gd name="connsiteX81" fmla="*/ 164887 w 615914"/>
                <a:gd name="connsiteY81" fmla="*/ 532319 h 582296"/>
                <a:gd name="connsiteX82" fmla="*/ 306677 w 615914"/>
                <a:gd name="connsiteY82" fmla="*/ 27607 h 582296"/>
                <a:gd name="connsiteX83" fmla="*/ 326572 w 615914"/>
                <a:gd name="connsiteY83" fmla="*/ 47502 h 582296"/>
                <a:gd name="connsiteX84" fmla="*/ 306677 w 615914"/>
                <a:gd name="connsiteY84" fmla="*/ 67397 h 582296"/>
                <a:gd name="connsiteX85" fmla="*/ 286782 w 615914"/>
                <a:gd name="connsiteY85" fmla="*/ 47581 h 582296"/>
                <a:gd name="connsiteX86" fmla="*/ 306598 w 615914"/>
                <a:gd name="connsiteY86" fmla="*/ 27607 h 582296"/>
                <a:gd name="connsiteX87" fmla="*/ 306677 w 615914"/>
                <a:gd name="connsiteY87" fmla="*/ 27607 h 582296"/>
                <a:gd name="connsiteX88" fmla="*/ 267203 w 615914"/>
                <a:gd name="connsiteY88" fmla="*/ 107502 h 582296"/>
                <a:gd name="connsiteX89" fmla="*/ 267203 w 615914"/>
                <a:gd name="connsiteY89" fmla="*/ 92265 h 582296"/>
                <a:gd name="connsiteX90" fmla="*/ 271150 w 615914"/>
                <a:gd name="connsiteY90" fmla="*/ 84371 h 582296"/>
                <a:gd name="connsiteX91" fmla="*/ 290571 w 615914"/>
                <a:gd name="connsiteY91" fmla="*/ 74976 h 582296"/>
                <a:gd name="connsiteX92" fmla="*/ 306677 w 615914"/>
                <a:gd name="connsiteY92" fmla="*/ 72371 h 582296"/>
                <a:gd name="connsiteX93" fmla="*/ 323098 w 615914"/>
                <a:gd name="connsiteY93" fmla="*/ 74897 h 582296"/>
                <a:gd name="connsiteX94" fmla="*/ 342519 w 615914"/>
                <a:gd name="connsiteY94" fmla="*/ 84292 h 582296"/>
                <a:gd name="connsiteX95" fmla="*/ 346466 w 615914"/>
                <a:gd name="connsiteY95" fmla="*/ 92186 h 582296"/>
                <a:gd name="connsiteX96" fmla="*/ 346466 w 615914"/>
                <a:gd name="connsiteY96" fmla="*/ 107423 h 582296"/>
                <a:gd name="connsiteX97" fmla="*/ 306677 w 615914"/>
                <a:gd name="connsiteY97" fmla="*/ 265398 h 582296"/>
                <a:gd name="connsiteX98" fmla="*/ 334466 w 615914"/>
                <a:gd name="connsiteY98" fmla="*/ 293029 h 582296"/>
                <a:gd name="connsiteX99" fmla="*/ 306835 w 615914"/>
                <a:gd name="connsiteY99" fmla="*/ 320819 h 582296"/>
                <a:gd name="connsiteX100" fmla="*/ 279045 w 615914"/>
                <a:gd name="connsiteY100" fmla="*/ 293187 h 582296"/>
                <a:gd name="connsiteX101" fmla="*/ 279045 w 615914"/>
                <a:gd name="connsiteY101" fmla="*/ 293108 h 582296"/>
                <a:gd name="connsiteX102" fmla="*/ 306677 w 615914"/>
                <a:gd name="connsiteY102" fmla="*/ 265398 h 582296"/>
                <a:gd name="connsiteX103" fmla="*/ 361940 w 615914"/>
                <a:gd name="connsiteY103" fmla="*/ 376477 h 582296"/>
                <a:gd name="connsiteX104" fmla="*/ 251413 w 615914"/>
                <a:gd name="connsiteY104" fmla="*/ 376477 h 582296"/>
                <a:gd name="connsiteX105" fmla="*/ 251413 w 615914"/>
                <a:gd name="connsiteY105" fmla="*/ 355477 h 582296"/>
                <a:gd name="connsiteX106" fmla="*/ 256940 w 615914"/>
                <a:gd name="connsiteY106" fmla="*/ 344424 h 582296"/>
                <a:gd name="connsiteX107" fmla="*/ 283940 w 615914"/>
                <a:gd name="connsiteY107" fmla="*/ 331240 h 582296"/>
                <a:gd name="connsiteX108" fmla="*/ 306677 w 615914"/>
                <a:gd name="connsiteY108" fmla="*/ 327687 h 582296"/>
                <a:gd name="connsiteX109" fmla="*/ 329493 w 615914"/>
                <a:gd name="connsiteY109" fmla="*/ 331082 h 582296"/>
                <a:gd name="connsiteX110" fmla="*/ 356493 w 615914"/>
                <a:gd name="connsiteY110" fmla="*/ 344266 h 582296"/>
                <a:gd name="connsiteX111" fmla="*/ 361940 w 615914"/>
                <a:gd name="connsiteY111" fmla="*/ 355477 h 582296"/>
                <a:gd name="connsiteX112" fmla="*/ 488256 w 615914"/>
                <a:gd name="connsiteY112" fmla="*/ 467740 h 582296"/>
                <a:gd name="connsiteX113" fmla="*/ 508151 w 615914"/>
                <a:gd name="connsiteY113" fmla="*/ 487635 h 582296"/>
                <a:gd name="connsiteX114" fmla="*/ 488256 w 615914"/>
                <a:gd name="connsiteY114" fmla="*/ 507530 h 582296"/>
                <a:gd name="connsiteX115" fmla="*/ 468362 w 615914"/>
                <a:gd name="connsiteY115" fmla="*/ 487635 h 582296"/>
                <a:gd name="connsiteX116" fmla="*/ 488256 w 615914"/>
                <a:gd name="connsiteY116" fmla="*/ 467740 h 582296"/>
                <a:gd name="connsiteX117" fmla="*/ 448782 w 615914"/>
                <a:gd name="connsiteY117" fmla="*/ 532398 h 582296"/>
                <a:gd name="connsiteX118" fmla="*/ 452730 w 615914"/>
                <a:gd name="connsiteY118" fmla="*/ 524504 h 582296"/>
                <a:gd name="connsiteX119" fmla="*/ 472151 w 615914"/>
                <a:gd name="connsiteY119" fmla="*/ 515109 h 582296"/>
                <a:gd name="connsiteX120" fmla="*/ 488256 w 615914"/>
                <a:gd name="connsiteY120" fmla="*/ 512504 h 582296"/>
                <a:gd name="connsiteX121" fmla="*/ 504677 w 615914"/>
                <a:gd name="connsiteY121" fmla="*/ 515030 h 582296"/>
                <a:gd name="connsiteX122" fmla="*/ 524099 w 615914"/>
                <a:gd name="connsiteY122" fmla="*/ 524425 h 582296"/>
                <a:gd name="connsiteX123" fmla="*/ 528046 w 615914"/>
                <a:gd name="connsiteY123" fmla="*/ 532319 h 582296"/>
                <a:gd name="connsiteX124" fmla="*/ 528046 w 615914"/>
                <a:gd name="connsiteY124" fmla="*/ 547556 h 582296"/>
                <a:gd name="connsiteX125" fmla="*/ 448782 w 615914"/>
                <a:gd name="connsiteY125" fmla="*/ 547556 h 58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15914" h="582296">
                  <a:moveTo>
                    <a:pt x="544862" y="303292"/>
                  </a:moveTo>
                  <a:cubicBezTo>
                    <a:pt x="584103" y="303292"/>
                    <a:pt x="615915" y="271481"/>
                    <a:pt x="615915" y="232240"/>
                  </a:cubicBezTo>
                  <a:cubicBezTo>
                    <a:pt x="615915" y="192998"/>
                    <a:pt x="584103" y="161187"/>
                    <a:pt x="544862" y="161187"/>
                  </a:cubicBezTo>
                  <a:cubicBezTo>
                    <a:pt x="505620" y="161187"/>
                    <a:pt x="473809" y="192998"/>
                    <a:pt x="473809" y="232240"/>
                  </a:cubicBezTo>
                  <a:cubicBezTo>
                    <a:pt x="473817" y="235810"/>
                    <a:pt x="474107" y="239373"/>
                    <a:pt x="474677" y="242897"/>
                  </a:cubicBezTo>
                  <a:lnTo>
                    <a:pt x="392493" y="277240"/>
                  </a:lnTo>
                  <a:cubicBezTo>
                    <a:pt x="377753" y="251230"/>
                    <a:pt x="351986" y="233335"/>
                    <a:pt x="322466" y="228608"/>
                  </a:cubicBezTo>
                  <a:lnTo>
                    <a:pt x="322466" y="140345"/>
                  </a:lnTo>
                  <a:cubicBezTo>
                    <a:pt x="360727" y="131624"/>
                    <a:pt x="384673" y="93539"/>
                    <a:pt x="375953" y="55278"/>
                  </a:cubicBezTo>
                  <a:cubicBezTo>
                    <a:pt x="367233" y="17019"/>
                    <a:pt x="329148" y="-6928"/>
                    <a:pt x="290887" y="1792"/>
                  </a:cubicBezTo>
                  <a:cubicBezTo>
                    <a:pt x="252627" y="10512"/>
                    <a:pt x="228681" y="48598"/>
                    <a:pt x="237400" y="86858"/>
                  </a:cubicBezTo>
                  <a:cubicBezTo>
                    <a:pt x="243469" y="113484"/>
                    <a:pt x="264261" y="134276"/>
                    <a:pt x="290887" y="140345"/>
                  </a:cubicBezTo>
                  <a:lnTo>
                    <a:pt x="290887" y="228529"/>
                  </a:lnTo>
                  <a:cubicBezTo>
                    <a:pt x="261645" y="233258"/>
                    <a:pt x="236078" y="250882"/>
                    <a:pt x="221255" y="276529"/>
                  </a:cubicBezTo>
                  <a:lnTo>
                    <a:pt x="141282" y="243134"/>
                  </a:lnTo>
                  <a:cubicBezTo>
                    <a:pt x="147277" y="204354"/>
                    <a:pt x="120699" y="168055"/>
                    <a:pt x="81918" y="162060"/>
                  </a:cubicBezTo>
                  <a:cubicBezTo>
                    <a:pt x="43138" y="156065"/>
                    <a:pt x="6840" y="182642"/>
                    <a:pt x="844" y="221423"/>
                  </a:cubicBezTo>
                  <a:cubicBezTo>
                    <a:pt x="-5151" y="260204"/>
                    <a:pt x="21426" y="296502"/>
                    <a:pt x="60207" y="302497"/>
                  </a:cubicBezTo>
                  <a:cubicBezTo>
                    <a:pt x="87019" y="306642"/>
                    <a:pt x="113851" y="295158"/>
                    <a:pt x="129360" y="272898"/>
                  </a:cubicBezTo>
                  <a:lnTo>
                    <a:pt x="210045" y="305898"/>
                  </a:lnTo>
                  <a:cubicBezTo>
                    <a:pt x="204324" y="333532"/>
                    <a:pt x="210766" y="362292"/>
                    <a:pt x="227729" y="384845"/>
                  </a:cubicBezTo>
                  <a:lnTo>
                    <a:pt x="162440" y="450766"/>
                  </a:lnTo>
                  <a:cubicBezTo>
                    <a:pt x="129044" y="430160"/>
                    <a:pt x="85267" y="440527"/>
                    <a:pt x="64660" y="473922"/>
                  </a:cubicBezTo>
                  <a:cubicBezTo>
                    <a:pt x="44053" y="507317"/>
                    <a:pt x="54420" y="551095"/>
                    <a:pt x="87816" y="571702"/>
                  </a:cubicBezTo>
                  <a:cubicBezTo>
                    <a:pt x="121211" y="592308"/>
                    <a:pt x="164988" y="581941"/>
                    <a:pt x="185595" y="548546"/>
                  </a:cubicBezTo>
                  <a:cubicBezTo>
                    <a:pt x="199997" y="525206"/>
                    <a:pt x="199681" y="495661"/>
                    <a:pt x="184782" y="472635"/>
                  </a:cubicBezTo>
                  <a:lnTo>
                    <a:pt x="250545" y="406872"/>
                  </a:lnTo>
                  <a:cubicBezTo>
                    <a:pt x="284317" y="430335"/>
                    <a:pt x="329115" y="430335"/>
                    <a:pt x="362887" y="406872"/>
                  </a:cubicBezTo>
                  <a:lnTo>
                    <a:pt x="428651" y="472556"/>
                  </a:lnTo>
                  <a:cubicBezTo>
                    <a:pt x="407314" y="505490"/>
                    <a:pt x="416715" y="549484"/>
                    <a:pt x="449648" y="570821"/>
                  </a:cubicBezTo>
                  <a:cubicBezTo>
                    <a:pt x="482582" y="592159"/>
                    <a:pt x="526577" y="582758"/>
                    <a:pt x="547914" y="549824"/>
                  </a:cubicBezTo>
                  <a:cubicBezTo>
                    <a:pt x="569251" y="516891"/>
                    <a:pt x="559850" y="472896"/>
                    <a:pt x="526916" y="451559"/>
                  </a:cubicBezTo>
                  <a:cubicBezTo>
                    <a:pt x="503725" y="436534"/>
                    <a:pt x="473927" y="436317"/>
                    <a:pt x="450519" y="451003"/>
                  </a:cubicBezTo>
                  <a:lnTo>
                    <a:pt x="385624" y="385240"/>
                  </a:lnTo>
                  <a:cubicBezTo>
                    <a:pt x="398648" y="368190"/>
                    <a:pt x="405696" y="347326"/>
                    <a:pt x="405677" y="325871"/>
                  </a:cubicBezTo>
                  <a:cubicBezTo>
                    <a:pt x="405649" y="319432"/>
                    <a:pt x="405015" y="313008"/>
                    <a:pt x="403782" y="306687"/>
                  </a:cubicBezTo>
                  <a:lnTo>
                    <a:pt x="486756" y="272740"/>
                  </a:lnTo>
                  <a:cubicBezTo>
                    <a:pt x="499977" y="291798"/>
                    <a:pt x="521668" y="303202"/>
                    <a:pt x="544862" y="303292"/>
                  </a:cubicBezTo>
                  <a:close/>
                  <a:moveTo>
                    <a:pt x="544862" y="188739"/>
                  </a:moveTo>
                  <a:cubicBezTo>
                    <a:pt x="555893" y="188739"/>
                    <a:pt x="564835" y="197682"/>
                    <a:pt x="564835" y="208713"/>
                  </a:cubicBezTo>
                  <a:cubicBezTo>
                    <a:pt x="564835" y="219744"/>
                    <a:pt x="555892" y="228687"/>
                    <a:pt x="544862" y="228687"/>
                  </a:cubicBezTo>
                  <a:cubicBezTo>
                    <a:pt x="533830" y="228687"/>
                    <a:pt x="524888" y="219744"/>
                    <a:pt x="524888" y="208713"/>
                  </a:cubicBezTo>
                  <a:cubicBezTo>
                    <a:pt x="524888" y="208687"/>
                    <a:pt x="524888" y="208660"/>
                    <a:pt x="524888" y="208634"/>
                  </a:cubicBezTo>
                  <a:cubicBezTo>
                    <a:pt x="524974" y="197652"/>
                    <a:pt x="533879" y="188782"/>
                    <a:pt x="544862" y="188739"/>
                  </a:cubicBezTo>
                  <a:close/>
                  <a:moveTo>
                    <a:pt x="505388" y="253476"/>
                  </a:moveTo>
                  <a:cubicBezTo>
                    <a:pt x="505466" y="250371"/>
                    <a:pt x="506946" y="247469"/>
                    <a:pt x="509414" y="245582"/>
                  </a:cubicBezTo>
                  <a:cubicBezTo>
                    <a:pt x="515317" y="241368"/>
                    <a:pt x="521881" y="238167"/>
                    <a:pt x="528835" y="236108"/>
                  </a:cubicBezTo>
                  <a:cubicBezTo>
                    <a:pt x="534174" y="234557"/>
                    <a:pt x="539698" y="233733"/>
                    <a:pt x="545256" y="233661"/>
                  </a:cubicBezTo>
                  <a:cubicBezTo>
                    <a:pt x="550821" y="233668"/>
                    <a:pt x="556353" y="234493"/>
                    <a:pt x="561678" y="236108"/>
                  </a:cubicBezTo>
                  <a:cubicBezTo>
                    <a:pt x="568708" y="237967"/>
                    <a:pt x="575306" y="241185"/>
                    <a:pt x="581099" y="245582"/>
                  </a:cubicBezTo>
                  <a:cubicBezTo>
                    <a:pt x="583519" y="247499"/>
                    <a:pt x="584965" y="250390"/>
                    <a:pt x="585046" y="253476"/>
                  </a:cubicBezTo>
                  <a:lnTo>
                    <a:pt x="585046" y="268634"/>
                  </a:lnTo>
                  <a:lnTo>
                    <a:pt x="504993" y="268634"/>
                  </a:lnTo>
                  <a:close/>
                  <a:moveTo>
                    <a:pt x="71571" y="188739"/>
                  </a:moveTo>
                  <a:cubicBezTo>
                    <a:pt x="82602" y="188739"/>
                    <a:pt x="91545" y="197682"/>
                    <a:pt x="91545" y="208713"/>
                  </a:cubicBezTo>
                  <a:cubicBezTo>
                    <a:pt x="91545" y="219744"/>
                    <a:pt x="82601" y="228687"/>
                    <a:pt x="71571" y="228687"/>
                  </a:cubicBezTo>
                  <a:cubicBezTo>
                    <a:pt x="60539" y="228687"/>
                    <a:pt x="51597" y="219744"/>
                    <a:pt x="51597" y="208713"/>
                  </a:cubicBezTo>
                  <a:cubicBezTo>
                    <a:pt x="51597" y="208687"/>
                    <a:pt x="51597" y="208660"/>
                    <a:pt x="51597" y="208634"/>
                  </a:cubicBezTo>
                  <a:cubicBezTo>
                    <a:pt x="51679" y="197803"/>
                    <a:pt x="60348" y="188995"/>
                    <a:pt x="71176" y="188739"/>
                  </a:cubicBezTo>
                  <a:close/>
                  <a:moveTo>
                    <a:pt x="111045" y="268713"/>
                  </a:moveTo>
                  <a:lnTo>
                    <a:pt x="31308" y="268713"/>
                  </a:lnTo>
                  <a:lnTo>
                    <a:pt x="31308" y="253476"/>
                  </a:lnTo>
                  <a:cubicBezTo>
                    <a:pt x="31386" y="250371"/>
                    <a:pt x="32866" y="247469"/>
                    <a:pt x="35334" y="245582"/>
                  </a:cubicBezTo>
                  <a:cubicBezTo>
                    <a:pt x="41238" y="241368"/>
                    <a:pt x="47800" y="238167"/>
                    <a:pt x="54755" y="236108"/>
                  </a:cubicBezTo>
                  <a:cubicBezTo>
                    <a:pt x="60093" y="234557"/>
                    <a:pt x="65617" y="233733"/>
                    <a:pt x="71176" y="233661"/>
                  </a:cubicBezTo>
                  <a:cubicBezTo>
                    <a:pt x="76740" y="233668"/>
                    <a:pt x="82273" y="234493"/>
                    <a:pt x="87597" y="236108"/>
                  </a:cubicBezTo>
                  <a:cubicBezTo>
                    <a:pt x="94627" y="237967"/>
                    <a:pt x="101226" y="241185"/>
                    <a:pt x="107018" y="245582"/>
                  </a:cubicBezTo>
                  <a:cubicBezTo>
                    <a:pt x="109439" y="247499"/>
                    <a:pt x="110884" y="250390"/>
                    <a:pt x="110966" y="253476"/>
                  </a:cubicBezTo>
                  <a:close/>
                  <a:moveTo>
                    <a:pt x="125097" y="467740"/>
                  </a:moveTo>
                  <a:cubicBezTo>
                    <a:pt x="136085" y="467740"/>
                    <a:pt x="144992" y="476647"/>
                    <a:pt x="144992" y="487635"/>
                  </a:cubicBezTo>
                  <a:cubicBezTo>
                    <a:pt x="144992" y="498623"/>
                    <a:pt x="136085" y="507530"/>
                    <a:pt x="125097" y="507530"/>
                  </a:cubicBezTo>
                  <a:cubicBezTo>
                    <a:pt x="114109" y="507530"/>
                    <a:pt x="105203" y="498623"/>
                    <a:pt x="105203" y="487635"/>
                  </a:cubicBezTo>
                  <a:cubicBezTo>
                    <a:pt x="105203" y="476647"/>
                    <a:pt x="114109" y="467740"/>
                    <a:pt x="125097" y="467740"/>
                  </a:cubicBezTo>
                  <a:close/>
                  <a:moveTo>
                    <a:pt x="164571" y="547635"/>
                  </a:moveTo>
                  <a:lnTo>
                    <a:pt x="85624" y="547635"/>
                  </a:lnTo>
                  <a:lnTo>
                    <a:pt x="85624" y="532398"/>
                  </a:lnTo>
                  <a:cubicBezTo>
                    <a:pt x="85694" y="529309"/>
                    <a:pt x="87142" y="526413"/>
                    <a:pt x="89571" y="524504"/>
                  </a:cubicBezTo>
                  <a:cubicBezTo>
                    <a:pt x="95469" y="520300"/>
                    <a:pt x="102035" y="517124"/>
                    <a:pt x="108992" y="515109"/>
                  </a:cubicBezTo>
                  <a:cubicBezTo>
                    <a:pt x="114223" y="513539"/>
                    <a:pt x="119638" y="512663"/>
                    <a:pt x="125097" y="512504"/>
                  </a:cubicBezTo>
                  <a:cubicBezTo>
                    <a:pt x="130665" y="512530"/>
                    <a:pt x="136200" y="513381"/>
                    <a:pt x="141518" y="515030"/>
                  </a:cubicBezTo>
                  <a:cubicBezTo>
                    <a:pt x="148546" y="516855"/>
                    <a:pt x="155146" y="520048"/>
                    <a:pt x="160940" y="524425"/>
                  </a:cubicBezTo>
                  <a:cubicBezTo>
                    <a:pt x="163369" y="526334"/>
                    <a:pt x="164817" y="529230"/>
                    <a:pt x="164887" y="532319"/>
                  </a:cubicBezTo>
                  <a:close/>
                  <a:moveTo>
                    <a:pt x="306677" y="27607"/>
                  </a:moveTo>
                  <a:cubicBezTo>
                    <a:pt x="317665" y="27607"/>
                    <a:pt x="326572" y="36515"/>
                    <a:pt x="326572" y="47502"/>
                  </a:cubicBezTo>
                  <a:cubicBezTo>
                    <a:pt x="326572" y="58490"/>
                    <a:pt x="317664" y="67397"/>
                    <a:pt x="306677" y="67397"/>
                  </a:cubicBezTo>
                  <a:cubicBezTo>
                    <a:pt x="295720" y="67397"/>
                    <a:pt x="286825" y="58537"/>
                    <a:pt x="286782" y="47581"/>
                  </a:cubicBezTo>
                  <a:cubicBezTo>
                    <a:pt x="286739" y="36594"/>
                    <a:pt x="295610" y="27651"/>
                    <a:pt x="306598" y="27607"/>
                  </a:cubicBezTo>
                  <a:cubicBezTo>
                    <a:pt x="306624" y="27607"/>
                    <a:pt x="306651" y="27607"/>
                    <a:pt x="306677" y="27607"/>
                  </a:cubicBezTo>
                  <a:close/>
                  <a:moveTo>
                    <a:pt x="267203" y="107502"/>
                  </a:moveTo>
                  <a:lnTo>
                    <a:pt x="267203" y="92265"/>
                  </a:lnTo>
                  <a:cubicBezTo>
                    <a:pt x="267273" y="89176"/>
                    <a:pt x="268721" y="86280"/>
                    <a:pt x="271150" y="84371"/>
                  </a:cubicBezTo>
                  <a:cubicBezTo>
                    <a:pt x="277049" y="80167"/>
                    <a:pt x="283615" y="76991"/>
                    <a:pt x="290571" y="74976"/>
                  </a:cubicBezTo>
                  <a:cubicBezTo>
                    <a:pt x="295803" y="73406"/>
                    <a:pt x="301218" y="72530"/>
                    <a:pt x="306677" y="72371"/>
                  </a:cubicBezTo>
                  <a:cubicBezTo>
                    <a:pt x="312245" y="72397"/>
                    <a:pt x="317779" y="73249"/>
                    <a:pt x="323098" y="74897"/>
                  </a:cubicBezTo>
                  <a:cubicBezTo>
                    <a:pt x="330126" y="76722"/>
                    <a:pt x="336725" y="79915"/>
                    <a:pt x="342519" y="84292"/>
                  </a:cubicBezTo>
                  <a:cubicBezTo>
                    <a:pt x="344948" y="86201"/>
                    <a:pt x="346396" y="89097"/>
                    <a:pt x="346466" y="92186"/>
                  </a:cubicBezTo>
                  <a:lnTo>
                    <a:pt x="346466" y="107423"/>
                  </a:lnTo>
                  <a:close/>
                  <a:moveTo>
                    <a:pt x="306677" y="265398"/>
                  </a:moveTo>
                  <a:cubicBezTo>
                    <a:pt x="321981" y="265354"/>
                    <a:pt x="334423" y="277725"/>
                    <a:pt x="334466" y="293029"/>
                  </a:cubicBezTo>
                  <a:cubicBezTo>
                    <a:pt x="334510" y="308333"/>
                    <a:pt x="322139" y="320775"/>
                    <a:pt x="306835" y="320819"/>
                  </a:cubicBezTo>
                  <a:cubicBezTo>
                    <a:pt x="291531" y="320862"/>
                    <a:pt x="279089" y="308491"/>
                    <a:pt x="279045" y="293187"/>
                  </a:cubicBezTo>
                  <a:cubicBezTo>
                    <a:pt x="279045" y="293161"/>
                    <a:pt x="279045" y="293134"/>
                    <a:pt x="279045" y="293108"/>
                  </a:cubicBezTo>
                  <a:cubicBezTo>
                    <a:pt x="279045" y="277835"/>
                    <a:pt x="291404" y="265441"/>
                    <a:pt x="306677" y="265398"/>
                  </a:cubicBezTo>
                  <a:close/>
                  <a:moveTo>
                    <a:pt x="361940" y="376477"/>
                  </a:moveTo>
                  <a:lnTo>
                    <a:pt x="251413" y="376477"/>
                  </a:lnTo>
                  <a:lnTo>
                    <a:pt x="251413" y="355477"/>
                  </a:lnTo>
                  <a:cubicBezTo>
                    <a:pt x="251518" y="351154"/>
                    <a:pt x="253544" y="347102"/>
                    <a:pt x="256940" y="344424"/>
                  </a:cubicBezTo>
                  <a:cubicBezTo>
                    <a:pt x="265133" y="338539"/>
                    <a:pt x="274262" y="334082"/>
                    <a:pt x="283940" y="331240"/>
                  </a:cubicBezTo>
                  <a:cubicBezTo>
                    <a:pt x="291330" y="329062"/>
                    <a:pt x="298975" y="327868"/>
                    <a:pt x="306677" y="327687"/>
                  </a:cubicBezTo>
                  <a:cubicBezTo>
                    <a:pt x="314406" y="327710"/>
                    <a:pt x="322091" y="328854"/>
                    <a:pt x="329493" y="331082"/>
                  </a:cubicBezTo>
                  <a:cubicBezTo>
                    <a:pt x="339285" y="333625"/>
                    <a:pt x="348466" y="338108"/>
                    <a:pt x="356493" y="344266"/>
                  </a:cubicBezTo>
                  <a:cubicBezTo>
                    <a:pt x="359901" y="346995"/>
                    <a:pt x="361901" y="351111"/>
                    <a:pt x="361940" y="355477"/>
                  </a:cubicBezTo>
                  <a:close/>
                  <a:moveTo>
                    <a:pt x="488256" y="467740"/>
                  </a:moveTo>
                  <a:cubicBezTo>
                    <a:pt x="499244" y="467740"/>
                    <a:pt x="508151" y="476647"/>
                    <a:pt x="508151" y="487635"/>
                  </a:cubicBezTo>
                  <a:cubicBezTo>
                    <a:pt x="508151" y="498623"/>
                    <a:pt x="499244" y="507530"/>
                    <a:pt x="488256" y="507530"/>
                  </a:cubicBezTo>
                  <a:cubicBezTo>
                    <a:pt x="477268" y="507530"/>
                    <a:pt x="468362" y="498623"/>
                    <a:pt x="468362" y="487635"/>
                  </a:cubicBezTo>
                  <a:cubicBezTo>
                    <a:pt x="468362" y="476647"/>
                    <a:pt x="477268" y="467740"/>
                    <a:pt x="488256" y="467740"/>
                  </a:cubicBezTo>
                  <a:close/>
                  <a:moveTo>
                    <a:pt x="448782" y="532398"/>
                  </a:moveTo>
                  <a:cubicBezTo>
                    <a:pt x="448853" y="529309"/>
                    <a:pt x="450301" y="526413"/>
                    <a:pt x="452730" y="524504"/>
                  </a:cubicBezTo>
                  <a:cubicBezTo>
                    <a:pt x="458628" y="520300"/>
                    <a:pt x="465194" y="517124"/>
                    <a:pt x="472151" y="515109"/>
                  </a:cubicBezTo>
                  <a:cubicBezTo>
                    <a:pt x="477382" y="513539"/>
                    <a:pt x="482797" y="512663"/>
                    <a:pt x="488256" y="512504"/>
                  </a:cubicBezTo>
                  <a:cubicBezTo>
                    <a:pt x="493824" y="512530"/>
                    <a:pt x="499359" y="513381"/>
                    <a:pt x="504677" y="515030"/>
                  </a:cubicBezTo>
                  <a:cubicBezTo>
                    <a:pt x="511705" y="516855"/>
                    <a:pt x="518305" y="520048"/>
                    <a:pt x="524099" y="524425"/>
                  </a:cubicBezTo>
                  <a:cubicBezTo>
                    <a:pt x="526528" y="526334"/>
                    <a:pt x="527976" y="529230"/>
                    <a:pt x="528046" y="532319"/>
                  </a:cubicBezTo>
                  <a:lnTo>
                    <a:pt x="528046" y="547556"/>
                  </a:lnTo>
                  <a:lnTo>
                    <a:pt x="448782" y="547556"/>
                  </a:lnTo>
                  <a:close/>
                </a:path>
              </a:pathLst>
            </a:custGeom>
            <a:gradFill>
              <a:gsLst>
                <a:gs pos="100000">
                  <a:srgbClr val="BDF2BD"/>
                </a:gs>
                <a:gs pos="55000">
                  <a:srgbClr val="C3E9FC"/>
                </a:gs>
              </a:gsLst>
              <a:lin ang="0" scaled="1"/>
            </a:gradFill>
            <a:ln w="7838" cap="flat">
              <a:noFill/>
              <a:prstDash val="solid"/>
              <a:miter/>
            </a:ln>
          </p:spPr>
          <p:txBody>
            <a:bodyPr rtlCol="0" anchor="ctr"/>
            <a:lstStyle/>
            <a:p>
              <a:endParaRPr lang="en-GB"/>
            </a:p>
          </p:txBody>
        </p:sp>
        <p:grpSp>
          <p:nvGrpSpPr>
            <p:cNvPr id="1201" name="Group 1200">
              <a:extLst>
                <a:ext uri="{FF2B5EF4-FFF2-40B4-BE49-F238E27FC236}">
                  <a16:creationId xmlns:a16="http://schemas.microsoft.com/office/drawing/2014/main" id="{2F5E85EF-EB9D-8EEB-95CB-DE9F7AAD112A}"/>
                </a:ext>
              </a:extLst>
            </p:cNvPr>
            <p:cNvGrpSpPr/>
            <p:nvPr/>
          </p:nvGrpSpPr>
          <p:grpSpPr>
            <a:xfrm>
              <a:off x="3801665" y="3810262"/>
              <a:ext cx="386503" cy="281093"/>
              <a:chOff x="-2257169" y="3169916"/>
              <a:chExt cx="668676" cy="486310"/>
            </a:xfrm>
          </p:grpSpPr>
          <p:sp>
            <p:nvSpPr>
              <p:cNvPr id="1188" name="Freeform: Shape 1187">
                <a:extLst>
                  <a:ext uri="{FF2B5EF4-FFF2-40B4-BE49-F238E27FC236}">
                    <a16:creationId xmlns:a16="http://schemas.microsoft.com/office/drawing/2014/main" id="{89EB5577-20F3-F4B6-FCD4-E62A3432513B}"/>
                  </a:ext>
                </a:extLst>
              </p:cNvPr>
              <p:cNvSpPr/>
              <p:nvPr/>
            </p:nvSpPr>
            <p:spPr>
              <a:xfrm>
                <a:off x="-2257169" y="3223106"/>
                <a:ext cx="281147" cy="364732"/>
              </a:xfrm>
              <a:custGeom>
                <a:avLst/>
                <a:gdLst>
                  <a:gd name="connsiteX0" fmla="*/ 281148 w 281147"/>
                  <a:gd name="connsiteY0" fmla="*/ 319141 h 364732"/>
                  <a:gd name="connsiteX1" fmla="*/ 45592 w 281147"/>
                  <a:gd name="connsiteY1" fmla="*/ 319141 h 364732"/>
                  <a:gd name="connsiteX2" fmla="*/ 45592 w 281147"/>
                  <a:gd name="connsiteY2" fmla="*/ 45592 h 364732"/>
                  <a:gd name="connsiteX3" fmla="*/ 253641 w 281147"/>
                  <a:gd name="connsiteY3" fmla="*/ 45592 h 364732"/>
                  <a:gd name="connsiteX4" fmla="*/ 272182 w 281147"/>
                  <a:gd name="connsiteY4" fmla="*/ 0 h 364732"/>
                  <a:gd name="connsiteX5" fmla="*/ 30394 w 281147"/>
                  <a:gd name="connsiteY5" fmla="*/ 0 h 364732"/>
                  <a:gd name="connsiteX6" fmla="*/ 0 w 281147"/>
                  <a:gd name="connsiteY6" fmla="*/ 30394 h 364732"/>
                  <a:gd name="connsiteX7" fmla="*/ 0 w 281147"/>
                  <a:gd name="connsiteY7" fmla="*/ 334338 h 364732"/>
                  <a:gd name="connsiteX8" fmla="*/ 30394 w 281147"/>
                  <a:gd name="connsiteY8" fmla="*/ 364733 h 364732"/>
                  <a:gd name="connsiteX9" fmla="*/ 281148 w 281147"/>
                  <a:gd name="connsiteY9" fmla="*/ 364733 h 36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147" h="364732">
                    <a:moveTo>
                      <a:pt x="281148" y="319141"/>
                    </a:moveTo>
                    <a:lnTo>
                      <a:pt x="45592" y="319141"/>
                    </a:lnTo>
                    <a:lnTo>
                      <a:pt x="45592" y="45592"/>
                    </a:lnTo>
                    <a:lnTo>
                      <a:pt x="253641" y="45592"/>
                    </a:lnTo>
                    <a:lnTo>
                      <a:pt x="272182" y="0"/>
                    </a:lnTo>
                    <a:lnTo>
                      <a:pt x="30394" y="0"/>
                    </a:lnTo>
                    <a:cubicBezTo>
                      <a:pt x="13608" y="0"/>
                      <a:pt x="0" y="13608"/>
                      <a:pt x="0" y="30394"/>
                    </a:cubicBezTo>
                    <a:lnTo>
                      <a:pt x="0" y="334338"/>
                    </a:lnTo>
                    <a:cubicBezTo>
                      <a:pt x="0" y="351124"/>
                      <a:pt x="13608" y="364733"/>
                      <a:pt x="30394" y="364733"/>
                    </a:cubicBezTo>
                    <a:lnTo>
                      <a:pt x="281148" y="364733"/>
                    </a:lnTo>
                    <a:close/>
                  </a:path>
                </a:pathLst>
              </a:custGeom>
              <a:gradFill>
                <a:gsLst>
                  <a:gs pos="100000">
                    <a:srgbClr val="BDF2BD"/>
                  </a:gs>
                  <a:gs pos="55000">
                    <a:srgbClr val="C3E9FC"/>
                  </a:gs>
                </a:gsLst>
                <a:lin ang="0" scaled="1"/>
              </a:gradFill>
              <a:ln w="7541" cap="flat">
                <a:noFill/>
                <a:prstDash val="solid"/>
                <a:miter/>
              </a:ln>
            </p:spPr>
            <p:txBody>
              <a:bodyPr rtlCol="0" anchor="ctr"/>
              <a:lstStyle/>
              <a:p>
                <a:endParaRPr lang="en-GB"/>
              </a:p>
            </p:txBody>
          </p:sp>
          <p:sp>
            <p:nvSpPr>
              <p:cNvPr id="1189" name="Freeform: Shape 1188">
                <a:extLst>
                  <a:ext uri="{FF2B5EF4-FFF2-40B4-BE49-F238E27FC236}">
                    <a16:creationId xmlns:a16="http://schemas.microsoft.com/office/drawing/2014/main" id="{08D67EDE-AFDA-10FB-F409-E000DDF8EEE1}"/>
                  </a:ext>
                </a:extLst>
              </p:cNvPr>
              <p:cNvSpPr/>
              <p:nvPr/>
            </p:nvSpPr>
            <p:spPr>
              <a:xfrm>
                <a:off x="-1900035" y="3223106"/>
                <a:ext cx="311542" cy="364732"/>
              </a:xfrm>
              <a:custGeom>
                <a:avLst/>
                <a:gdLst>
                  <a:gd name="connsiteX0" fmla="*/ 281148 w 311542"/>
                  <a:gd name="connsiteY0" fmla="*/ 113979 h 364732"/>
                  <a:gd name="connsiteX1" fmla="*/ 250754 w 311542"/>
                  <a:gd name="connsiteY1" fmla="*/ 113979 h 364732"/>
                  <a:gd name="connsiteX2" fmla="*/ 250754 w 311542"/>
                  <a:gd name="connsiteY2" fmla="*/ 30394 h 364732"/>
                  <a:gd name="connsiteX3" fmla="*/ 220359 w 311542"/>
                  <a:gd name="connsiteY3" fmla="*/ 0 h 364732"/>
                  <a:gd name="connsiteX4" fmla="*/ 0 w 311542"/>
                  <a:gd name="connsiteY4" fmla="*/ 0 h 364732"/>
                  <a:gd name="connsiteX5" fmla="*/ 0 w 311542"/>
                  <a:gd name="connsiteY5" fmla="*/ 45592 h 364732"/>
                  <a:gd name="connsiteX6" fmla="*/ 205162 w 311542"/>
                  <a:gd name="connsiteY6" fmla="*/ 45592 h 364732"/>
                  <a:gd name="connsiteX7" fmla="*/ 205162 w 311542"/>
                  <a:gd name="connsiteY7" fmla="*/ 319141 h 364732"/>
                  <a:gd name="connsiteX8" fmla="*/ 37993 w 311542"/>
                  <a:gd name="connsiteY8" fmla="*/ 319141 h 364732"/>
                  <a:gd name="connsiteX9" fmla="*/ 17857 w 311542"/>
                  <a:gd name="connsiteY9" fmla="*/ 364733 h 364732"/>
                  <a:gd name="connsiteX10" fmla="*/ 220359 w 311542"/>
                  <a:gd name="connsiteY10" fmla="*/ 364733 h 364732"/>
                  <a:gd name="connsiteX11" fmla="*/ 250754 w 311542"/>
                  <a:gd name="connsiteY11" fmla="*/ 334338 h 364732"/>
                  <a:gd name="connsiteX12" fmla="*/ 250754 w 311542"/>
                  <a:gd name="connsiteY12" fmla="*/ 250754 h 364732"/>
                  <a:gd name="connsiteX13" fmla="*/ 281148 w 311542"/>
                  <a:gd name="connsiteY13" fmla="*/ 250754 h 364732"/>
                  <a:gd name="connsiteX14" fmla="*/ 311542 w 311542"/>
                  <a:gd name="connsiteY14" fmla="*/ 220359 h 364732"/>
                  <a:gd name="connsiteX15" fmla="*/ 311542 w 311542"/>
                  <a:gd name="connsiteY15" fmla="*/ 144373 h 364732"/>
                  <a:gd name="connsiteX16" fmla="*/ 281148 w 311542"/>
                  <a:gd name="connsiteY16" fmla="*/ 113979 h 364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1542" h="364732">
                    <a:moveTo>
                      <a:pt x="281148" y="113979"/>
                    </a:moveTo>
                    <a:lnTo>
                      <a:pt x="250754" y="113979"/>
                    </a:lnTo>
                    <a:lnTo>
                      <a:pt x="250754" y="30394"/>
                    </a:lnTo>
                    <a:cubicBezTo>
                      <a:pt x="250754" y="13608"/>
                      <a:pt x="237145" y="0"/>
                      <a:pt x="220359" y="0"/>
                    </a:cubicBezTo>
                    <a:lnTo>
                      <a:pt x="0" y="0"/>
                    </a:lnTo>
                    <a:lnTo>
                      <a:pt x="0" y="45592"/>
                    </a:lnTo>
                    <a:lnTo>
                      <a:pt x="205162" y="45592"/>
                    </a:lnTo>
                    <a:lnTo>
                      <a:pt x="205162" y="319141"/>
                    </a:lnTo>
                    <a:lnTo>
                      <a:pt x="37993" y="319141"/>
                    </a:lnTo>
                    <a:lnTo>
                      <a:pt x="17857" y="364733"/>
                    </a:lnTo>
                    <a:lnTo>
                      <a:pt x="220359" y="364733"/>
                    </a:lnTo>
                    <a:cubicBezTo>
                      <a:pt x="237145" y="364733"/>
                      <a:pt x="250754" y="351124"/>
                      <a:pt x="250754" y="334338"/>
                    </a:cubicBezTo>
                    <a:lnTo>
                      <a:pt x="250754" y="250754"/>
                    </a:lnTo>
                    <a:lnTo>
                      <a:pt x="281148" y="250754"/>
                    </a:lnTo>
                    <a:cubicBezTo>
                      <a:pt x="297934" y="250754"/>
                      <a:pt x="311542" y="237145"/>
                      <a:pt x="311542" y="220359"/>
                    </a:cubicBezTo>
                    <a:lnTo>
                      <a:pt x="311542" y="144373"/>
                    </a:lnTo>
                    <a:cubicBezTo>
                      <a:pt x="311542" y="127587"/>
                      <a:pt x="297934" y="113979"/>
                      <a:pt x="281148" y="113979"/>
                    </a:cubicBezTo>
                    <a:close/>
                  </a:path>
                </a:pathLst>
              </a:custGeom>
              <a:gradFill>
                <a:gsLst>
                  <a:gs pos="100000">
                    <a:srgbClr val="BDF2BD"/>
                  </a:gs>
                  <a:gs pos="55000">
                    <a:srgbClr val="C3E9FC"/>
                  </a:gs>
                </a:gsLst>
                <a:lin ang="0" scaled="1"/>
              </a:gradFill>
              <a:ln w="7541" cap="flat">
                <a:noFill/>
                <a:prstDash val="solid"/>
                <a:miter/>
              </a:ln>
            </p:spPr>
            <p:txBody>
              <a:bodyPr rtlCol="0" anchor="ctr"/>
              <a:lstStyle/>
              <a:p>
                <a:endParaRPr lang="en-GB"/>
              </a:p>
            </p:txBody>
          </p:sp>
          <p:sp>
            <p:nvSpPr>
              <p:cNvPr id="1190" name="Freeform: Shape 1189">
                <a:extLst>
                  <a:ext uri="{FF2B5EF4-FFF2-40B4-BE49-F238E27FC236}">
                    <a16:creationId xmlns:a16="http://schemas.microsoft.com/office/drawing/2014/main" id="{0F908D08-B748-5523-8C2B-70F7F99F9201}"/>
                  </a:ext>
                </a:extLst>
              </p:cNvPr>
              <p:cNvSpPr/>
              <p:nvPr/>
            </p:nvSpPr>
            <p:spPr>
              <a:xfrm>
                <a:off x="-2054363" y="3169916"/>
                <a:ext cx="222714" cy="486310"/>
              </a:xfrm>
              <a:custGeom>
                <a:avLst/>
                <a:gdLst>
                  <a:gd name="connsiteX0" fmla="*/ 123933 w 222714"/>
                  <a:gd name="connsiteY0" fmla="*/ 227958 h 486310"/>
                  <a:gd name="connsiteX1" fmla="*/ 123933 w 222714"/>
                  <a:gd name="connsiteY1" fmla="*/ 0 h 486310"/>
                  <a:gd name="connsiteX2" fmla="*/ 0 w 222714"/>
                  <a:gd name="connsiteY2" fmla="*/ 303716 h 486310"/>
                  <a:gd name="connsiteX3" fmla="*/ 108736 w 222714"/>
                  <a:gd name="connsiteY3" fmla="*/ 303944 h 486310"/>
                  <a:gd name="connsiteX4" fmla="*/ 108736 w 222714"/>
                  <a:gd name="connsiteY4" fmla="*/ 486310 h 486310"/>
                  <a:gd name="connsiteX5" fmla="*/ 222715 w 222714"/>
                  <a:gd name="connsiteY5" fmla="*/ 227958 h 486310"/>
                  <a:gd name="connsiteX6" fmla="*/ 123933 w 222714"/>
                  <a:gd name="connsiteY6" fmla="*/ 227958 h 486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714" h="486310">
                    <a:moveTo>
                      <a:pt x="123933" y="227958"/>
                    </a:moveTo>
                    <a:lnTo>
                      <a:pt x="123933" y="0"/>
                    </a:lnTo>
                    <a:lnTo>
                      <a:pt x="0" y="303716"/>
                    </a:lnTo>
                    <a:lnTo>
                      <a:pt x="108736" y="303944"/>
                    </a:lnTo>
                    <a:lnTo>
                      <a:pt x="108736" y="486310"/>
                    </a:lnTo>
                    <a:lnTo>
                      <a:pt x="222715" y="227958"/>
                    </a:lnTo>
                    <a:lnTo>
                      <a:pt x="123933" y="227958"/>
                    </a:lnTo>
                    <a:close/>
                  </a:path>
                </a:pathLst>
              </a:custGeom>
              <a:gradFill>
                <a:gsLst>
                  <a:gs pos="100000">
                    <a:srgbClr val="BDF2BD"/>
                  </a:gs>
                  <a:gs pos="55000">
                    <a:srgbClr val="C3E9FC"/>
                  </a:gs>
                </a:gsLst>
                <a:lin ang="0" scaled="1"/>
              </a:gradFill>
              <a:ln w="7541" cap="flat">
                <a:noFill/>
                <a:prstDash val="solid"/>
                <a:miter/>
              </a:ln>
            </p:spPr>
            <p:txBody>
              <a:bodyPr rtlCol="0" anchor="ctr"/>
              <a:lstStyle/>
              <a:p>
                <a:endParaRPr lang="en-GB"/>
              </a:p>
            </p:txBody>
          </p:sp>
        </p:grpSp>
        <p:grpSp>
          <p:nvGrpSpPr>
            <p:cNvPr id="1202" name="Group 1201">
              <a:extLst>
                <a:ext uri="{FF2B5EF4-FFF2-40B4-BE49-F238E27FC236}">
                  <a16:creationId xmlns:a16="http://schemas.microsoft.com/office/drawing/2014/main" id="{B10C5C4E-CEA1-D9BF-BA0D-C521D5FEBB12}"/>
                </a:ext>
              </a:extLst>
            </p:cNvPr>
            <p:cNvGrpSpPr/>
            <p:nvPr/>
          </p:nvGrpSpPr>
          <p:grpSpPr>
            <a:xfrm>
              <a:off x="3828405" y="2909339"/>
              <a:ext cx="302543" cy="310301"/>
              <a:chOff x="-2242905" y="2202191"/>
              <a:chExt cx="523421" cy="536843"/>
            </a:xfrm>
          </p:grpSpPr>
          <p:sp>
            <p:nvSpPr>
              <p:cNvPr id="1164" name="Freeform: Shape 1163">
                <a:extLst>
                  <a:ext uri="{FF2B5EF4-FFF2-40B4-BE49-F238E27FC236}">
                    <a16:creationId xmlns:a16="http://schemas.microsoft.com/office/drawing/2014/main" id="{68F45127-676A-A71B-219C-5DB37CB25F10}"/>
                  </a:ext>
                </a:extLst>
              </p:cNvPr>
              <p:cNvSpPr/>
              <p:nvPr/>
            </p:nvSpPr>
            <p:spPr>
              <a:xfrm>
                <a:off x="-2242905" y="2202191"/>
                <a:ext cx="523421" cy="536843"/>
              </a:xfrm>
              <a:custGeom>
                <a:avLst/>
                <a:gdLst>
                  <a:gd name="connsiteX0" fmla="*/ 476053 w 523421"/>
                  <a:gd name="connsiteY0" fmla="*/ 489475 h 536843"/>
                  <a:gd name="connsiteX1" fmla="*/ 81316 w 523421"/>
                  <a:gd name="connsiteY1" fmla="*/ 489475 h 536843"/>
                  <a:gd name="connsiteX2" fmla="*/ 81316 w 523421"/>
                  <a:gd name="connsiteY2" fmla="*/ 47369 h 536843"/>
                  <a:gd name="connsiteX3" fmla="*/ 476053 w 523421"/>
                  <a:gd name="connsiteY3" fmla="*/ 47369 h 536843"/>
                  <a:gd name="connsiteX4" fmla="*/ 476053 w 523421"/>
                  <a:gd name="connsiteY4" fmla="*/ 489475 h 536843"/>
                  <a:gd name="connsiteX5" fmla="*/ 33947 w 523421"/>
                  <a:gd name="connsiteY5" fmla="*/ 0 h 536843"/>
                  <a:gd name="connsiteX6" fmla="*/ 33947 w 523421"/>
                  <a:gd name="connsiteY6" fmla="*/ 47369 h 536843"/>
                  <a:gd name="connsiteX7" fmla="*/ 23684 w 523421"/>
                  <a:gd name="connsiteY7" fmla="*/ 47369 h 536843"/>
                  <a:gd name="connsiteX8" fmla="*/ 2368 w 523421"/>
                  <a:gd name="connsiteY8" fmla="*/ 71053 h 536843"/>
                  <a:gd name="connsiteX9" fmla="*/ 23684 w 523421"/>
                  <a:gd name="connsiteY9" fmla="*/ 94737 h 536843"/>
                  <a:gd name="connsiteX10" fmla="*/ 33947 w 523421"/>
                  <a:gd name="connsiteY10" fmla="*/ 94737 h 536843"/>
                  <a:gd name="connsiteX11" fmla="*/ 33947 w 523421"/>
                  <a:gd name="connsiteY11" fmla="*/ 126316 h 536843"/>
                  <a:gd name="connsiteX12" fmla="*/ 23684 w 523421"/>
                  <a:gd name="connsiteY12" fmla="*/ 126316 h 536843"/>
                  <a:gd name="connsiteX13" fmla="*/ 0 w 523421"/>
                  <a:gd name="connsiteY13" fmla="*/ 150000 h 536843"/>
                  <a:gd name="connsiteX14" fmla="*/ 23684 w 523421"/>
                  <a:gd name="connsiteY14" fmla="*/ 173685 h 536843"/>
                  <a:gd name="connsiteX15" fmla="*/ 33947 w 523421"/>
                  <a:gd name="connsiteY15" fmla="*/ 173685 h 536843"/>
                  <a:gd name="connsiteX16" fmla="*/ 33947 w 523421"/>
                  <a:gd name="connsiteY16" fmla="*/ 205264 h 536843"/>
                  <a:gd name="connsiteX17" fmla="*/ 23684 w 523421"/>
                  <a:gd name="connsiteY17" fmla="*/ 205264 h 536843"/>
                  <a:gd name="connsiteX18" fmla="*/ 0 w 523421"/>
                  <a:gd name="connsiteY18" fmla="*/ 228948 h 536843"/>
                  <a:gd name="connsiteX19" fmla="*/ 23684 w 523421"/>
                  <a:gd name="connsiteY19" fmla="*/ 252632 h 536843"/>
                  <a:gd name="connsiteX20" fmla="*/ 33947 w 523421"/>
                  <a:gd name="connsiteY20" fmla="*/ 252632 h 536843"/>
                  <a:gd name="connsiteX21" fmla="*/ 33947 w 523421"/>
                  <a:gd name="connsiteY21" fmla="*/ 284211 h 536843"/>
                  <a:gd name="connsiteX22" fmla="*/ 23684 w 523421"/>
                  <a:gd name="connsiteY22" fmla="*/ 284211 h 536843"/>
                  <a:gd name="connsiteX23" fmla="*/ 0 w 523421"/>
                  <a:gd name="connsiteY23" fmla="*/ 307895 h 536843"/>
                  <a:gd name="connsiteX24" fmla="*/ 23684 w 523421"/>
                  <a:gd name="connsiteY24" fmla="*/ 331580 h 536843"/>
                  <a:gd name="connsiteX25" fmla="*/ 33947 w 523421"/>
                  <a:gd name="connsiteY25" fmla="*/ 331580 h 536843"/>
                  <a:gd name="connsiteX26" fmla="*/ 33947 w 523421"/>
                  <a:gd name="connsiteY26" fmla="*/ 363159 h 536843"/>
                  <a:gd name="connsiteX27" fmla="*/ 23684 w 523421"/>
                  <a:gd name="connsiteY27" fmla="*/ 363159 h 536843"/>
                  <a:gd name="connsiteX28" fmla="*/ 0 w 523421"/>
                  <a:gd name="connsiteY28" fmla="*/ 386843 h 536843"/>
                  <a:gd name="connsiteX29" fmla="*/ 23684 w 523421"/>
                  <a:gd name="connsiteY29" fmla="*/ 410527 h 536843"/>
                  <a:gd name="connsiteX30" fmla="*/ 33947 w 523421"/>
                  <a:gd name="connsiteY30" fmla="*/ 410527 h 536843"/>
                  <a:gd name="connsiteX31" fmla="*/ 33947 w 523421"/>
                  <a:gd name="connsiteY31" fmla="*/ 442106 h 536843"/>
                  <a:gd name="connsiteX32" fmla="*/ 23684 w 523421"/>
                  <a:gd name="connsiteY32" fmla="*/ 442106 h 536843"/>
                  <a:gd name="connsiteX33" fmla="*/ 0 w 523421"/>
                  <a:gd name="connsiteY33" fmla="*/ 465790 h 536843"/>
                  <a:gd name="connsiteX34" fmla="*/ 23684 w 523421"/>
                  <a:gd name="connsiteY34" fmla="*/ 489475 h 536843"/>
                  <a:gd name="connsiteX35" fmla="*/ 33947 w 523421"/>
                  <a:gd name="connsiteY35" fmla="*/ 489475 h 536843"/>
                  <a:gd name="connsiteX36" fmla="*/ 33947 w 523421"/>
                  <a:gd name="connsiteY36" fmla="*/ 536843 h 536843"/>
                  <a:gd name="connsiteX37" fmla="*/ 523422 w 523421"/>
                  <a:gd name="connsiteY37" fmla="*/ 536843 h 536843"/>
                  <a:gd name="connsiteX38" fmla="*/ 523422 w 523421"/>
                  <a:gd name="connsiteY38" fmla="*/ 0 h 536843"/>
                  <a:gd name="connsiteX39" fmla="*/ 33947 w 523421"/>
                  <a:gd name="connsiteY39" fmla="*/ 0 h 536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23421" h="536843">
                    <a:moveTo>
                      <a:pt x="476053" y="489475"/>
                    </a:moveTo>
                    <a:lnTo>
                      <a:pt x="81316" y="489475"/>
                    </a:lnTo>
                    <a:lnTo>
                      <a:pt x="81316" y="47369"/>
                    </a:lnTo>
                    <a:lnTo>
                      <a:pt x="476053" y="47369"/>
                    </a:lnTo>
                    <a:lnTo>
                      <a:pt x="476053" y="489475"/>
                    </a:lnTo>
                    <a:close/>
                    <a:moveTo>
                      <a:pt x="33947" y="0"/>
                    </a:moveTo>
                    <a:lnTo>
                      <a:pt x="33947" y="47369"/>
                    </a:lnTo>
                    <a:lnTo>
                      <a:pt x="23684" y="47369"/>
                    </a:lnTo>
                    <a:cubicBezTo>
                      <a:pt x="11053" y="48158"/>
                      <a:pt x="2368" y="58421"/>
                      <a:pt x="2368" y="71053"/>
                    </a:cubicBezTo>
                    <a:cubicBezTo>
                      <a:pt x="1579" y="83684"/>
                      <a:pt x="11053" y="93948"/>
                      <a:pt x="23684" y="94737"/>
                    </a:cubicBezTo>
                    <a:lnTo>
                      <a:pt x="33947" y="94737"/>
                    </a:lnTo>
                    <a:lnTo>
                      <a:pt x="33947" y="126316"/>
                    </a:lnTo>
                    <a:lnTo>
                      <a:pt x="23684" y="126316"/>
                    </a:lnTo>
                    <a:cubicBezTo>
                      <a:pt x="10263" y="126316"/>
                      <a:pt x="0" y="136579"/>
                      <a:pt x="0" y="150000"/>
                    </a:cubicBezTo>
                    <a:cubicBezTo>
                      <a:pt x="0" y="163421"/>
                      <a:pt x="10263" y="173685"/>
                      <a:pt x="23684" y="173685"/>
                    </a:cubicBezTo>
                    <a:lnTo>
                      <a:pt x="33947" y="173685"/>
                    </a:lnTo>
                    <a:lnTo>
                      <a:pt x="33947" y="205264"/>
                    </a:lnTo>
                    <a:lnTo>
                      <a:pt x="23684" y="205264"/>
                    </a:lnTo>
                    <a:cubicBezTo>
                      <a:pt x="10263" y="205264"/>
                      <a:pt x="0" y="215527"/>
                      <a:pt x="0" y="228948"/>
                    </a:cubicBezTo>
                    <a:cubicBezTo>
                      <a:pt x="0" y="242369"/>
                      <a:pt x="10263" y="252632"/>
                      <a:pt x="23684" y="252632"/>
                    </a:cubicBezTo>
                    <a:lnTo>
                      <a:pt x="33947" y="252632"/>
                    </a:lnTo>
                    <a:lnTo>
                      <a:pt x="33947" y="284211"/>
                    </a:lnTo>
                    <a:lnTo>
                      <a:pt x="23684" y="284211"/>
                    </a:lnTo>
                    <a:cubicBezTo>
                      <a:pt x="10263" y="284211"/>
                      <a:pt x="0" y="294474"/>
                      <a:pt x="0" y="307895"/>
                    </a:cubicBezTo>
                    <a:cubicBezTo>
                      <a:pt x="0" y="321316"/>
                      <a:pt x="10263" y="331580"/>
                      <a:pt x="23684" y="331580"/>
                    </a:cubicBezTo>
                    <a:lnTo>
                      <a:pt x="33947" y="331580"/>
                    </a:lnTo>
                    <a:lnTo>
                      <a:pt x="33947" y="363159"/>
                    </a:lnTo>
                    <a:lnTo>
                      <a:pt x="23684" y="363159"/>
                    </a:lnTo>
                    <a:cubicBezTo>
                      <a:pt x="10263" y="363159"/>
                      <a:pt x="0" y="373422"/>
                      <a:pt x="0" y="386843"/>
                    </a:cubicBezTo>
                    <a:cubicBezTo>
                      <a:pt x="0" y="400264"/>
                      <a:pt x="10263" y="410527"/>
                      <a:pt x="23684" y="410527"/>
                    </a:cubicBezTo>
                    <a:lnTo>
                      <a:pt x="33947" y="410527"/>
                    </a:lnTo>
                    <a:lnTo>
                      <a:pt x="33947" y="442106"/>
                    </a:lnTo>
                    <a:lnTo>
                      <a:pt x="23684" y="442106"/>
                    </a:lnTo>
                    <a:cubicBezTo>
                      <a:pt x="10263" y="442106"/>
                      <a:pt x="0" y="452369"/>
                      <a:pt x="0" y="465790"/>
                    </a:cubicBezTo>
                    <a:cubicBezTo>
                      <a:pt x="0" y="479211"/>
                      <a:pt x="10263" y="489475"/>
                      <a:pt x="23684" y="489475"/>
                    </a:cubicBezTo>
                    <a:lnTo>
                      <a:pt x="33947" y="489475"/>
                    </a:lnTo>
                    <a:lnTo>
                      <a:pt x="33947" y="536843"/>
                    </a:lnTo>
                    <a:lnTo>
                      <a:pt x="523422" y="536843"/>
                    </a:lnTo>
                    <a:lnTo>
                      <a:pt x="523422" y="0"/>
                    </a:lnTo>
                    <a:lnTo>
                      <a:pt x="33947" y="0"/>
                    </a:lnTo>
                    <a:close/>
                  </a:path>
                </a:pathLst>
              </a:custGeom>
              <a:gradFill>
                <a:gsLst>
                  <a:gs pos="100000">
                    <a:srgbClr val="BDF2BD"/>
                  </a:gs>
                  <a:gs pos="55000">
                    <a:srgbClr val="C3E9FC"/>
                  </a:gs>
                </a:gsLst>
                <a:lin ang="0" scaled="1"/>
              </a:gradFill>
              <a:ln w="7838" cap="flat">
                <a:noFill/>
                <a:prstDash val="solid"/>
                <a:miter/>
              </a:ln>
            </p:spPr>
            <p:txBody>
              <a:bodyPr rtlCol="0" anchor="ctr"/>
              <a:lstStyle/>
              <a:p>
                <a:endParaRPr lang="en-GB"/>
              </a:p>
            </p:txBody>
          </p:sp>
          <p:sp>
            <p:nvSpPr>
              <p:cNvPr id="1165" name="Freeform: Shape 1164">
                <a:extLst>
                  <a:ext uri="{FF2B5EF4-FFF2-40B4-BE49-F238E27FC236}">
                    <a16:creationId xmlns:a16="http://schemas.microsoft.com/office/drawing/2014/main" id="{6EBC7DCC-A898-D0C1-A029-E26CABD9FA09}"/>
                  </a:ext>
                </a:extLst>
              </p:cNvPr>
              <p:cNvSpPr/>
              <p:nvPr/>
            </p:nvSpPr>
            <p:spPr>
              <a:xfrm>
                <a:off x="-2113932" y="2296928"/>
                <a:ext cx="299712" cy="347369"/>
              </a:xfrm>
              <a:custGeom>
                <a:avLst/>
                <a:gdLst>
                  <a:gd name="connsiteX0" fmla="*/ 62870 w 299712"/>
                  <a:gd name="connsiteY0" fmla="*/ 252632 h 347369"/>
                  <a:gd name="connsiteX1" fmla="*/ 94449 w 299712"/>
                  <a:gd name="connsiteY1" fmla="*/ 284211 h 347369"/>
                  <a:gd name="connsiteX2" fmla="*/ 62870 w 299712"/>
                  <a:gd name="connsiteY2" fmla="*/ 315790 h 347369"/>
                  <a:gd name="connsiteX3" fmla="*/ 31291 w 299712"/>
                  <a:gd name="connsiteY3" fmla="*/ 284211 h 347369"/>
                  <a:gd name="connsiteX4" fmla="*/ 62870 w 299712"/>
                  <a:gd name="connsiteY4" fmla="*/ 252632 h 347369"/>
                  <a:gd name="connsiteX5" fmla="*/ 62870 w 299712"/>
                  <a:gd name="connsiteY5" fmla="*/ 347369 h 347369"/>
                  <a:gd name="connsiteX6" fmla="*/ 125238 w 299712"/>
                  <a:gd name="connsiteY6" fmla="*/ 292106 h 347369"/>
                  <a:gd name="connsiteX7" fmla="*/ 78659 w 299712"/>
                  <a:gd name="connsiteY7" fmla="*/ 223421 h 347369"/>
                  <a:gd name="connsiteX8" fmla="*/ 78659 w 299712"/>
                  <a:gd name="connsiteY8" fmla="*/ 205264 h 347369"/>
                  <a:gd name="connsiteX9" fmla="*/ 94449 w 299712"/>
                  <a:gd name="connsiteY9" fmla="*/ 189474 h 347369"/>
                  <a:gd name="connsiteX10" fmla="*/ 204975 w 299712"/>
                  <a:gd name="connsiteY10" fmla="*/ 189474 h 347369"/>
                  <a:gd name="connsiteX11" fmla="*/ 252344 w 299712"/>
                  <a:gd name="connsiteY11" fmla="*/ 142106 h 347369"/>
                  <a:gd name="connsiteX12" fmla="*/ 252344 w 299712"/>
                  <a:gd name="connsiteY12" fmla="*/ 53684 h 347369"/>
                  <a:gd name="connsiteX13" fmla="*/ 272870 w 299712"/>
                  <a:gd name="connsiteY13" fmla="*/ 74211 h 347369"/>
                  <a:gd name="connsiteX14" fmla="*/ 294975 w 299712"/>
                  <a:gd name="connsiteY14" fmla="*/ 74211 h 347369"/>
                  <a:gd name="connsiteX15" fmla="*/ 294975 w 299712"/>
                  <a:gd name="connsiteY15" fmla="*/ 52105 h 347369"/>
                  <a:gd name="connsiteX16" fmla="*/ 247607 w 299712"/>
                  <a:gd name="connsiteY16" fmla="*/ 4737 h 347369"/>
                  <a:gd name="connsiteX17" fmla="*/ 236554 w 299712"/>
                  <a:gd name="connsiteY17" fmla="*/ 0 h 347369"/>
                  <a:gd name="connsiteX18" fmla="*/ 225501 w 299712"/>
                  <a:gd name="connsiteY18" fmla="*/ 4737 h 347369"/>
                  <a:gd name="connsiteX19" fmla="*/ 178133 w 299712"/>
                  <a:gd name="connsiteY19" fmla="*/ 52105 h 347369"/>
                  <a:gd name="connsiteX20" fmla="*/ 178133 w 299712"/>
                  <a:gd name="connsiteY20" fmla="*/ 74211 h 347369"/>
                  <a:gd name="connsiteX21" fmla="*/ 200238 w 299712"/>
                  <a:gd name="connsiteY21" fmla="*/ 74211 h 347369"/>
                  <a:gd name="connsiteX22" fmla="*/ 220765 w 299712"/>
                  <a:gd name="connsiteY22" fmla="*/ 53684 h 347369"/>
                  <a:gd name="connsiteX23" fmla="*/ 220765 w 299712"/>
                  <a:gd name="connsiteY23" fmla="*/ 142106 h 347369"/>
                  <a:gd name="connsiteX24" fmla="*/ 204975 w 299712"/>
                  <a:gd name="connsiteY24" fmla="*/ 157895 h 347369"/>
                  <a:gd name="connsiteX25" fmla="*/ 94449 w 299712"/>
                  <a:gd name="connsiteY25" fmla="*/ 157895 h 347369"/>
                  <a:gd name="connsiteX26" fmla="*/ 47080 w 299712"/>
                  <a:gd name="connsiteY26" fmla="*/ 205264 h 347369"/>
                  <a:gd name="connsiteX27" fmla="*/ 47080 w 299712"/>
                  <a:gd name="connsiteY27" fmla="*/ 223421 h 347369"/>
                  <a:gd name="connsiteX28" fmla="*/ 501 w 299712"/>
                  <a:gd name="connsiteY28" fmla="*/ 292106 h 347369"/>
                  <a:gd name="connsiteX29" fmla="*/ 62870 w 299712"/>
                  <a:gd name="connsiteY29" fmla="*/ 347369 h 347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99712" h="347369">
                    <a:moveTo>
                      <a:pt x="62870" y="252632"/>
                    </a:moveTo>
                    <a:cubicBezTo>
                      <a:pt x="80238" y="252632"/>
                      <a:pt x="94449" y="266843"/>
                      <a:pt x="94449" y="284211"/>
                    </a:cubicBezTo>
                    <a:cubicBezTo>
                      <a:pt x="94449" y="301579"/>
                      <a:pt x="80238" y="315790"/>
                      <a:pt x="62870" y="315790"/>
                    </a:cubicBezTo>
                    <a:cubicBezTo>
                      <a:pt x="45501" y="315790"/>
                      <a:pt x="31291" y="301579"/>
                      <a:pt x="31291" y="284211"/>
                    </a:cubicBezTo>
                    <a:cubicBezTo>
                      <a:pt x="31291" y="266843"/>
                      <a:pt x="45501" y="252632"/>
                      <a:pt x="62870" y="252632"/>
                    </a:cubicBezTo>
                    <a:close/>
                    <a:moveTo>
                      <a:pt x="62870" y="347369"/>
                    </a:moveTo>
                    <a:cubicBezTo>
                      <a:pt x="94449" y="347369"/>
                      <a:pt x="121291" y="323685"/>
                      <a:pt x="125238" y="292106"/>
                    </a:cubicBezTo>
                    <a:cubicBezTo>
                      <a:pt x="129185" y="260527"/>
                      <a:pt x="109449" y="231316"/>
                      <a:pt x="78659" y="223421"/>
                    </a:cubicBezTo>
                    <a:lnTo>
                      <a:pt x="78659" y="205264"/>
                    </a:lnTo>
                    <a:cubicBezTo>
                      <a:pt x="78659" y="196579"/>
                      <a:pt x="85764" y="189474"/>
                      <a:pt x="94449" y="189474"/>
                    </a:cubicBezTo>
                    <a:lnTo>
                      <a:pt x="204975" y="189474"/>
                    </a:lnTo>
                    <a:cubicBezTo>
                      <a:pt x="231028" y="189474"/>
                      <a:pt x="252344" y="168158"/>
                      <a:pt x="252344" y="142106"/>
                    </a:cubicBezTo>
                    <a:lnTo>
                      <a:pt x="252344" y="53684"/>
                    </a:lnTo>
                    <a:lnTo>
                      <a:pt x="272870" y="74211"/>
                    </a:lnTo>
                    <a:cubicBezTo>
                      <a:pt x="279186" y="80526"/>
                      <a:pt x="288659" y="80526"/>
                      <a:pt x="294975" y="74211"/>
                    </a:cubicBezTo>
                    <a:cubicBezTo>
                      <a:pt x="301291" y="67895"/>
                      <a:pt x="301291" y="58421"/>
                      <a:pt x="294975" y="52105"/>
                    </a:cubicBezTo>
                    <a:lnTo>
                      <a:pt x="247607" y="4737"/>
                    </a:lnTo>
                    <a:cubicBezTo>
                      <a:pt x="244449" y="1579"/>
                      <a:pt x="240501" y="0"/>
                      <a:pt x="236554" y="0"/>
                    </a:cubicBezTo>
                    <a:cubicBezTo>
                      <a:pt x="232607" y="0"/>
                      <a:pt x="228659" y="1579"/>
                      <a:pt x="225501" y="4737"/>
                    </a:cubicBezTo>
                    <a:lnTo>
                      <a:pt x="178133" y="52105"/>
                    </a:lnTo>
                    <a:cubicBezTo>
                      <a:pt x="171817" y="58421"/>
                      <a:pt x="171817" y="67895"/>
                      <a:pt x="178133" y="74211"/>
                    </a:cubicBezTo>
                    <a:cubicBezTo>
                      <a:pt x="184449" y="80526"/>
                      <a:pt x="193922" y="80526"/>
                      <a:pt x="200238" y="74211"/>
                    </a:cubicBezTo>
                    <a:lnTo>
                      <a:pt x="220765" y="53684"/>
                    </a:lnTo>
                    <a:lnTo>
                      <a:pt x="220765" y="142106"/>
                    </a:lnTo>
                    <a:cubicBezTo>
                      <a:pt x="220765" y="150790"/>
                      <a:pt x="213659" y="157895"/>
                      <a:pt x="204975" y="157895"/>
                    </a:cubicBezTo>
                    <a:lnTo>
                      <a:pt x="94449" y="157895"/>
                    </a:lnTo>
                    <a:cubicBezTo>
                      <a:pt x="68396" y="157895"/>
                      <a:pt x="47080" y="179211"/>
                      <a:pt x="47080" y="205264"/>
                    </a:cubicBezTo>
                    <a:lnTo>
                      <a:pt x="47080" y="223421"/>
                    </a:lnTo>
                    <a:cubicBezTo>
                      <a:pt x="16290" y="231316"/>
                      <a:pt x="-3446" y="261316"/>
                      <a:pt x="501" y="292106"/>
                    </a:cubicBezTo>
                    <a:cubicBezTo>
                      <a:pt x="4448" y="323685"/>
                      <a:pt x="31291" y="347369"/>
                      <a:pt x="62870" y="347369"/>
                    </a:cubicBezTo>
                    <a:close/>
                  </a:path>
                </a:pathLst>
              </a:custGeom>
              <a:gradFill>
                <a:gsLst>
                  <a:gs pos="100000">
                    <a:srgbClr val="BDF2BD"/>
                  </a:gs>
                  <a:gs pos="55000">
                    <a:srgbClr val="C3E9FC"/>
                  </a:gs>
                </a:gsLst>
                <a:lin ang="0" scaled="1"/>
              </a:gradFill>
              <a:ln w="7838" cap="flat">
                <a:noFill/>
                <a:prstDash val="solid"/>
                <a:miter/>
              </a:ln>
            </p:spPr>
            <p:txBody>
              <a:bodyPr rtlCol="0" anchor="ctr"/>
              <a:lstStyle/>
              <a:p>
                <a:endParaRPr lang="en-GB"/>
              </a:p>
            </p:txBody>
          </p:sp>
          <p:sp>
            <p:nvSpPr>
              <p:cNvPr id="1166" name="Freeform: Shape 1165">
                <a:extLst>
                  <a:ext uri="{FF2B5EF4-FFF2-40B4-BE49-F238E27FC236}">
                    <a16:creationId xmlns:a16="http://schemas.microsoft.com/office/drawing/2014/main" id="{A641F03C-9325-3FD3-B5CF-04B0B31C5968}"/>
                  </a:ext>
                </a:extLst>
              </p:cNvPr>
              <p:cNvSpPr/>
              <p:nvPr/>
            </p:nvSpPr>
            <p:spPr>
              <a:xfrm>
                <a:off x="-1940536" y="2517981"/>
                <a:ext cx="126315" cy="126315"/>
              </a:xfrm>
              <a:custGeom>
                <a:avLst/>
                <a:gdLst>
                  <a:gd name="connsiteX0" fmla="*/ 121579 w 126315"/>
                  <a:gd name="connsiteY0" fmla="*/ 4737 h 126315"/>
                  <a:gd name="connsiteX1" fmla="*/ 110527 w 126315"/>
                  <a:gd name="connsiteY1" fmla="*/ 0 h 126315"/>
                  <a:gd name="connsiteX2" fmla="*/ 99474 w 126315"/>
                  <a:gd name="connsiteY2" fmla="*/ 4737 h 126315"/>
                  <a:gd name="connsiteX3" fmla="*/ 63158 w 126315"/>
                  <a:gd name="connsiteY3" fmla="*/ 41053 h 126315"/>
                  <a:gd name="connsiteX4" fmla="*/ 26842 w 126315"/>
                  <a:gd name="connsiteY4" fmla="*/ 4737 h 126315"/>
                  <a:gd name="connsiteX5" fmla="*/ 4737 w 126315"/>
                  <a:gd name="connsiteY5" fmla="*/ 4737 h 126315"/>
                  <a:gd name="connsiteX6" fmla="*/ 4737 w 126315"/>
                  <a:gd name="connsiteY6" fmla="*/ 26842 h 126315"/>
                  <a:gd name="connsiteX7" fmla="*/ 41053 w 126315"/>
                  <a:gd name="connsiteY7" fmla="*/ 63158 h 126315"/>
                  <a:gd name="connsiteX8" fmla="*/ 4737 w 126315"/>
                  <a:gd name="connsiteY8" fmla="*/ 99474 h 126315"/>
                  <a:gd name="connsiteX9" fmla="*/ 4737 w 126315"/>
                  <a:gd name="connsiteY9" fmla="*/ 121579 h 126315"/>
                  <a:gd name="connsiteX10" fmla="*/ 26842 w 126315"/>
                  <a:gd name="connsiteY10" fmla="*/ 121579 h 126315"/>
                  <a:gd name="connsiteX11" fmla="*/ 63158 w 126315"/>
                  <a:gd name="connsiteY11" fmla="*/ 85263 h 126315"/>
                  <a:gd name="connsiteX12" fmla="*/ 99474 w 126315"/>
                  <a:gd name="connsiteY12" fmla="*/ 121579 h 126315"/>
                  <a:gd name="connsiteX13" fmla="*/ 121579 w 126315"/>
                  <a:gd name="connsiteY13" fmla="*/ 121579 h 126315"/>
                  <a:gd name="connsiteX14" fmla="*/ 121579 w 126315"/>
                  <a:gd name="connsiteY14" fmla="*/ 99474 h 126315"/>
                  <a:gd name="connsiteX15" fmla="*/ 85263 w 126315"/>
                  <a:gd name="connsiteY15" fmla="*/ 63158 h 126315"/>
                  <a:gd name="connsiteX16" fmla="*/ 121579 w 126315"/>
                  <a:gd name="connsiteY16" fmla="*/ 26842 h 126315"/>
                  <a:gd name="connsiteX17" fmla="*/ 121579 w 126315"/>
                  <a:gd name="connsiteY17" fmla="*/ 4737 h 126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315" h="126315">
                    <a:moveTo>
                      <a:pt x="121579" y="4737"/>
                    </a:moveTo>
                    <a:cubicBezTo>
                      <a:pt x="118421" y="1579"/>
                      <a:pt x="114474" y="0"/>
                      <a:pt x="110527" y="0"/>
                    </a:cubicBezTo>
                    <a:cubicBezTo>
                      <a:pt x="106579" y="0"/>
                      <a:pt x="102632" y="1579"/>
                      <a:pt x="99474" y="4737"/>
                    </a:cubicBezTo>
                    <a:lnTo>
                      <a:pt x="63158" y="41053"/>
                    </a:lnTo>
                    <a:lnTo>
                      <a:pt x="26842" y="4737"/>
                    </a:lnTo>
                    <a:cubicBezTo>
                      <a:pt x="20526" y="-1579"/>
                      <a:pt x="11053" y="-1579"/>
                      <a:pt x="4737" y="4737"/>
                    </a:cubicBezTo>
                    <a:cubicBezTo>
                      <a:pt x="-1579" y="11053"/>
                      <a:pt x="-1579" y="20526"/>
                      <a:pt x="4737" y="26842"/>
                    </a:cubicBezTo>
                    <a:lnTo>
                      <a:pt x="41053" y="63158"/>
                    </a:lnTo>
                    <a:lnTo>
                      <a:pt x="4737" y="99474"/>
                    </a:lnTo>
                    <a:cubicBezTo>
                      <a:pt x="-1579" y="105790"/>
                      <a:pt x="-1579" y="115263"/>
                      <a:pt x="4737" y="121579"/>
                    </a:cubicBezTo>
                    <a:cubicBezTo>
                      <a:pt x="11053" y="127895"/>
                      <a:pt x="20526" y="127895"/>
                      <a:pt x="26842" y="121579"/>
                    </a:cubicBezTo>
                    <a:lnTo>
                      <a:pt x="63158" y="85263"/>
                    </a:lnTo>
                    <a:lnTo>
                      <a:pt x="99474" y="121579"/>
                    </a:lnTo>
                    <a:cubicBezTo>
                      <a:pt x="105790" y="127895"/>
                      <a:pt x="115263" y="127895"/>
                      <a:pt x="121579" y="121579"/>
                    </a:cubicBezTo>
                    <a:cubicBezTo>
                      <a:pt x="127895" y="115263"/>
                      <a:pt x="127895" y="105790"/>
                      <a:pt x="121579" y="99474"/>
                    </a:cubicBezTo>
                    <a:lnTo>
                      <a:pt x="85263" y="63158"/>
                    </a:lnTo>
                    <a:lnTo>
                      <a:pt x="121579" y="26842"/>
                    </a:lnTo>
                    <a:cubicBezTo>
                      <a:pt x="127895" y="20526"/>
                      <a:pt x="127895" y="11053"/>
                      <a:pt x="121579" y="4737"/>
                    </a:cubicBezTo>
                    <a:close/>
                  </a:path>
                </a:pathLst>
              </a:custGeom>
              <a:gradFill>
                <a:gsLst>
                  <a:gs pos="100000">
                    <a:srgbClr val="BDF2BD"/>
                  </a:gs>
                  <a:gs pos="55000">
                    <a:srgbClr val="C3E9FC"/>
                  </a:gs>
                </a:gsLst>
                <a:lin ang="0" scaled="1"/>
              </a:gradFill>
              <a:ln w="7838" cap="flat">
                <a:noFill/>
                <a:prstDash val="solid"/>
                <a:miter/>
              </a:ln>
            </p:spPr>
            <p:txBody>
              <a:bodyPr rtlCol="0" anchor="ctr"/>
              <a:lstStyle/>
              <a:p>
                <a:endParaRPr lang="en-GB"/>
              </a:p>
            </p:txBody>
          </p:sp>
          <p:sp>
            <p:nvSpPr>
              <p:cNvPr id="1167" name="Freeform: Shape 1166">
                <a:extLst>
                  <a:ext uri="{FF2B5EF4-FFF2-40B4-BE49-F238E27FC236}">
                    <a16:creationId xmlns:a16="http://schemas.microsoft.com/office/drawing/2014/main" id="{1893EA11-3177-D20C-1577-81B14B663194}"/>
                  </a:ext>
                </a:extLst>
              </p:cNvPr>
              <p:cNvSpPr/>
              <p:nvPr/>
            </p:nvSpPr>
            <p:spPr>
              <a:xfrm>
                <a:off x="-2114221" y="2296928"/>
                <a:ext cx="126316" cy="126316"/>
              </a:xfrm>
              <a:custGeom>
                <a:avLst/>
                <a:gdLst>
                  <a:gd name="connsiteX0" fmla="*/ 4737 w 126316"/>
                  <a:gd name="connsiteY0" fmla="*/ 121579 h 126316"/>
                  <a:gd name="connsiteX1" fmla="*/ 15790 w 126316"/>
                  <a:gd name="connsiteY1" fmla="*/ 126316 h 126316"/>
                  <a:gd name="connsiteX2" fmla="*/ 26842 w 126316"/>
                  <a:gd name="connsiteY2" fmla="*/ 121579 h 126316"/>
                  <a:gd name="connsiteX3" fmla="*/ 63158 w 126316"/>
                  <a:gd name="connsiteY3" fmla="*/ 85263 h 126316"/>
                  <a:gd name="connsiteX4" fmla="*/ 99474 w 126316"/>
                  <a:gd name="connsiteY4" fmla="*/ 121579 h 126316"/>
                  <a:gd name="connsiteX5" fmla="*/ 121579 w 126316"/>
                  <a:gd name="connsiteY5" fmla="*/ 121579 h 126316"/>
                  <a:gd name="connsiteX6" fmla="*/ 121579 w 126316"/>
                  <a:gd name="connsiteY6" fmla="*/ 99474 h 126316"/>
                  <a:gd name="connsiteX7" fmla="*/ 85263 w 126316"/>
                  <a:gd name="connsiteY7" fmla="*/ 63158 h 126316"/>
                  <a:gd name="connsiteX8" fmla="*/ 121579 w 126316"/>
                  <a:gd name="connsiteY8" fmla="*/ 26842 h 126316"/>
                  <a:gd name="connsiteX9" fmla="*/ 121579 w 126316"/>
                  <a:gd name="connsiteY9" fmla="*/ 4737 h 126316"/>
                  <a:gd name="connsiteX10" fmla="*/ 99474 w 126316"/>
                  <a:gd name="connsiteY10" fmla="*/ 4737 h 126316"/>
                  <a:gd name="connsiteX11" fmla="*/ 63158 w 126316"/>
                  <a:gd name="connsiteY11" fmla="*/ 41053 h 126316"/>
                  <a:gd name="connsiteX12" fmla="*/ 26842 w 126316"/>
                  <a:gd name="connsiteY12" fmla="*/ 4737 h 126316"/>
                  <a:gd name="connsiteX13" fmla="*/ 4737 w 126316"/>
                  <a:gd name="connsiteY13" fmla="*/ 4737 h 126316"/>
                  <a:gd name="connsiteX14" fmla="*/ 4737 w 126316"/>
                  <a:gd name="connsiteY14" fmla="*/ 26842 h 126316"/>
                  <a:gd name="connsiteX15" fmla="*/ 41053 w 126316"/>
                  <a:gd name="connsiteY15" fmla="*/ 63158 h 126316"/>
                  <a:gd name="connsiteX16" fmla="*/ 4737 w 126316"/>
                  <a:gd name="connsiteY16" fmla="*/ 99474 h 126316"/>
                  <a:gd name="connsiteX17" fmla="*/ 4737 w 126316"/>
                  <a:gd name="connsiteY17" fmla="*/ 121579 h 126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6316" h="126316">
                    <a:moveTo>
                      <a:pt x="4737" y="121579"/>
                    </a:moveTo>
                    <a:cubicBezTo>
                      <a:pt x="7895" y="124737"/>
                      <a:pt x="11842" y="126316"/>
                      <a:pt x="15790" y="126316"/>
                    </a:cubicBezTo>
                    <a:cubicBezTo>
                      <a:pt x="19737" y="126316"/>
                      <a:pt x="23684" y="124737"/>
                      <a:pt x="26842" y="121579"/>
                    </a:cubicBezTo>
                    <a:lnTo>
                      <a:pt x="63158" y="85263"/>
                    </a:lnTo>
                    <a:lnTo>
                      <a:pt x="99474" y="121579"/>
                    </a:lnTo>
                    <a:cubicBezTo>
                      <a:pt x="105790" y="127895"/>
                      <a:pt x="115263" y="127895"/>
                      <a:pt x="121579" y="121579"/>
                    </a:cubicBezTo>
                    <a:cubicBezTo>
                      <a:pt x="127895" y="115263"/>
                      <a:pt x="127895" y="105790"/>
                      <a:pt x="121579" y="99474"/>
                    </a:cubicBezTo>
                    <a:lnTo>
                      <a:pt x="85263" y="63158"/>
                    </a:lnTo>
                    <a:lnTo>
                      <a:pt x="121579" y="26842"/>
                    </a:lnTo>
                    <a:cubicBezTo>
                      <a:pt x="127895" y="20526"/>
                      <a:pt x="127895" y="11053"/>
                      <a:pt x="121579" y="4737"/>
                    </a:cubicBezTo>
                    <a:cubicBezTo>
                      <a:pt x="115263" y="-1579"/>
                      <a:pt x="105790" y="-1579"/>
                      <a:pt x="99474" y="4737"/>
                    </a:cubicBezTo>
                    <a:lnTo>
                      <a:pt x="63158" y="41053"/>
                    </a:lnTo>
                    <a:lnTo>
                      <a:pt x="26842" y="4737"/>
                    </a:lnTo>
                    <a:cubicBezTo>
                      <a:pt x="20526" y="-1579"/>
                      <a:pt x="11053" y="-1579"/>
                      <a:pt x="4737" y="4737"/>
                    </a:cubicBezTo>
                    <a:cubicBezTo>
                      <a:pt x="-1579" y="11053"/>
                      <a:pt x="-1579" y="20526"/>
                      <a:pt x="4737" y="26842"/>
                    </a:cubicBezTo>
                    <a:lnTo>
                      <a:pt x="41053" y="63158"/>
                    </a:lnTo>
                    <a:lnTo>
                      <a:pt x="4737" y="99474"/>
                    </a:lnTo>
                    <a:cubicBezTo>
                      <a:pt x="-1579" y="105790"/>
                      <a:pt x="-1579" y="115263"/>
                      <a:pt x="4737" y="121579"/>
                    </a:cubicBezTo>
                    <a:close/>
                  </a:path>
                </a:pathLst>
              </a:custGeom>
              <a:gradFill>
                <a:gsLst>
                  <a:gs pos="100000">
                    <a:srgbClr val="BDF2BD"/>
                  </a:gs>
                  <a:gs pos="55000">
                    <a:srgbClr val="C3E9FC"/>
                  </a:gs>
                </a:gsLst>
                <a:lin ang="0" scaled="1"/>
              </a:gradFill>
              <a:ln w="7838" cap="flat">
                <a:noFill/>
                <a:prstDash val="solid"/>
                <a:miter/>
              </a:ln>
            </p:spPr>
            <p:txBody>
              <a:bodyPr rtlCol="0" anchor="ctr"/>
              <a:lstStyle/>
              <a:p>
                <a:endParaRPr lang="en-GB"/>
              </a:p>
            </p:txBody>
          </p:sp>
        </p:grpSp>
      </p:grpSp>
      <p:sp>
        <p:nvSpPr>
          <p:cNvPr id="1080" name="Title 51">
            <a:extLst>
              <a:ext uri="{FF2B5EF4-FFF2-40B4-BE49-F238E27FC236}">
                <a16:creationId xmlns:a16="http://schemas.microsoft.com/office/drawing/2014/main" id="{5DF30BF3-2ABF-D304-2C35-BCE2DD9BA5EB}"/>
              </a:ext>
            </a:extLst>
          </p:cNvPr>
          <p:cNvSpPr txBox="1">
            <a:spLocks/>
          </p:cNvSpPr>
          <p:nvPr/>
        </p:nvSpPr>
        <p:spPr>
          <a:xfrm>
            <a:off x="3703320" y="1228861"/>
            <a:ext cx="7473956" cy="433330"/>
          </a:xfrm>
          <a:prstGeom prst="roundRect">
            <a:avLst>
              <a:gd name="adj" fmla="val 8225"/>
            </a:avLst>
          </a:prstGeom>
          <a:solidFill>
            <a:schemeClr val="tx2"/>
          </a:solidFill>
          <a:ln>
            <a:noFill/>
            <a:headEnd type="none" w="med" len="med"/>
            <a:tailEnd type="none" w="med" len="med"/>
          </a:ln>
          <a:effectLst>
            <a:outerShdw blurRad="127000" algn="ctr" rotWithShape="0">
              <a:prstClr val="black">
                <a:alpha val="3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defPPr>
              <a:defRPr lang="en-US"/>
            </a:defPPr>
            <a:lvl1pPr marR="0" lvl="0" indent="0" algn="ctr" defTabSz="932472" fontAlgn="base">
              <a:lnSpc>
                <a:spcPct val="100000"/>
              </a:lnSpc>
              <a:spcBef>
                <a:spcPct val="0"/>
              </a:spcBef>
              <a:spcAft>
                <a:spcPct val="0"/>
              </a:spcAft>
              <a:buClrTx/>
              <a:buSzTx/>
              <a:buFontTx/>
              <a:buNone/>
              <a:tabLst/>
              <a:defRPr kumimoji="0" sz="3600" b="0" i="0" u="none" strike="noStrike" cap="none" spc="0" normalizeH="0" baseline="0">
                <a:ln>
                  <a:noFill/>
                </a:ln>
                <a:solidFill>
                  <a:srgbClr val="FFFFFF"/>
                </a:solidFill>
                <a:effectLst/>
                <a:uLnTx/>
                <a:uFillTx/>
                <a:latin typeface="Segoe Sans Text ExtraBold" pitchFamily="2" charset="0"/>
                <a:ea typeface="Segoe Sans Text" pitchFamily="2" charset="0"/>
                <a:cs typeface="Segoe Sans Text Extra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a:latin typeface="Segoe Sans Text ExtraBold"/>
                <a:cs typeface="Segoe Sans Text ExtraBold"/>
                <a:sym typeface="Quattrocento Sans"/>
              </a:rPr>
              <a:t>AI Gateway</a:t>
            </a:r>
          </a:p>
        </p:txBody>
      </p:sp>
    </p:spTree>
    <p:extLst>
      <p:ext uri="{BB962C8B-B14F-4D97-AF65-F5344CB8AC3E}">
        <p14:creationId xmlns:p14="http://schemas.microsoft.com/office/powerpoint/2010/main" val="185379840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par>
                                <p:cTn id="8" presetID="22" presetClass="entr" presetSubtype="2"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500"/>
                                        <p:tgtEl>
                                          <p:spTgt spid="15"/>
                                        </p:tgtEl>
                                      </p:cBhvr>
                                    </p:animEffect>
                                  </p:childTnLst>
                                </p:cTn>
                              </p:par>
                              <p:par>
                                <p:cTn id="11" presetID="22" presetClass="entr" presetSubtype="2"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right)">
                                      <p:cBhvr>
                                        <p:cTn id="13" dur="500"/>
                                        <p:tgtEl>
                                          <p:spTgt spid="16"/>
                                        </p:tgtEl>
                                      </p:cBhvr>
                                    </p:animEffect>
                                  </p:childTnLst>
                                </p:cTn>
                              </p:par>
                              <p:par>
                                <p:cTn id="14" presetID="22" presetClass="entr" presetSubtype="2"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right)">
                                      <p:cBhvr>
                                        <p:cTn id="16" dur="500"/>
                                        <p:tgtEl>
                                          <p:spTgt spid="17"/>
                                        </p:tgtEl>
                                      </p:cBhvr>
                                    </p:animEffect>
                                  </p:childTnLst>
                                </p:cTn>
                              </p:par>
                              <p:par>
                                <p:cTn id="17" presetID="10" presetClass="entr" presetSubtype="0" fill="hold" nodeType="with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750"/>
                                        <p:tgtEl>
                                          <p:spTgt spid="18"/>
                                        </p:tgtEl>
                                      </p:cBhvr>
                                    </p:animEffect>
                                  </p:childTnLst>
                                </p:cTn>
                              </p:par>
                              <p:par>
                                <p:cTn id="20" presetID="42" presetClass="path" presetSubtype="0" decel="100000" fill="hold" nodeType="withEffect">
                                  <p:stCondLst>
                                    <p:cond delay="500"/>
                                  </p:stCondLst>
                                  <p:childTnLst>
                                    <p:animMotion origin="layout" path="M -0.01718 -0.00023 L -3.125E-6 3.33333E-6 " pathEditMode="relative" rAng="0" ptsTypes="AA">
                                      <p:cBhvr>
                                        <p:cTn id="21" dur="750" fill="hold"/>
                                        <p:tgtEl>
                                          <p:spTgt spid="18"/>
                                        </p:tgtEl>
                                        <p:attrNameLst>
                                          <p:attrName>ppt_x</p:attrName>
                                          <p:attrName>ppt_y</p:attrName>
                                        </p:attrNameLst>
                                      </p:cBhvr>
                                      <p:rCtr x="859" y="0"/>
                                    </p:animMotion>
                                  </p:childTnLst>
                                </p:cTn>
                              </p:par>
                              <p:par>
                                <p:cTn id="22" presetID="10" presetClass="entr" presetSubtype="0" fill="hold" nodeType="withEffect">
                                  <p:stCondLst>
                                    <p:cond delay="50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750"/>
                                        <p:tgtEl>
                                          <p:spTgt spid="21"/>
                                        </p:tgtEl>
                                      </p:cBhvr>
                                    </p:animEffect>
                                  </p:childTnLst>
                                </p:cTn>
                              </p:par>
                              <p:par>
                                <p:cTn id="25" presetID="42" presetClass="path" presetSubtype="0" decel="100000" fill="hold" nodeType="withEffect">
                                  <p:stCondLst>
                                    <p:cond delay="500"/>
                                  </p:stCondLst>
                                  <p:childTnLst>
                                    <p:animMotion origin="layout" path="M -0.01718 -0.00023 L -3.125E-6 -2.22222E-6 " pathEditMode="relative" rAng="0" ptsTypes="AA">
                                      <p:cBhvr>
                                        <p:cTn id="26" dur="750" fill="hold"/>
                                        <p:tgtEl>
                                          <p:spTgt spid="21"/>
                                        </p:tgtEl>
                                        <p:attrNameLst>
                                          <p:attrName>ppt_x</p:attrName>
                                          <p:attrName>ppt_y</p:attrName>
                                        </p:attrNameLst>
                                      </p:cBhvr>
                                      <p:rCtr x="859" y="0"/>
                                    </p:animMotion>
                                  </p:childTnLst>
                                </p:cTn>
                              </p:par>
                              <p:par>
                                <p:cTn id="27" presetID="10" presetClass="entr" presetSubtype="0" fill="hold" nodeType="withEffect">
                                  <p:stCondLst>
                                    <p:cond delay="50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750"/>
                                        <p:tgtEl>
                                          <p:spTgt spid="24"/>
                                        </p:tgtEl>
                                      </p:cBhvr>
                                    </p:animEffect>
                                  </p:childTnLst>
                                </p:cTn>
                              </p:par>
                              <p:par>
                                <p:cTn id="30" presetID="42" presetClass="path" presetSubtype="0" decel="100000" fill="hold" nodeType="withEffect">
                                  <p:stCondLst>
                                    <p:cond delay="500"/>
                                  </p:stCondLst>
                                  <p:childTnLst>
                                    <p:animMotion origin="layout" path="M -0.01718 -0.00023 L -3.125E-6 2.22222E-6 " pathEditMode="relative" rAng="0" ptsTypes="AA">
                                      <p:cBhvr>
                                        <p:cTn id="31" dur="750" fill="hold"/>
                                        <p:tgtEl>
                                          <p:spTgt spid="24"/>
                                        </p:tgtEl>
                                        <p:attrNameLst>
                                          <p:attrName>ppt_x</p:attrName>
                                          <p:attrName>ppt_y</p:attrName>
                                        </p:attrNameLst>
                                      </p:cBhvr>
                                      <p:rCtr x="859" y="0"/>
                                    </p:animMotion>
                                  </p:childTnLst>
                                </p:cTn>
                              </p:par>
                              <p:par>
                                <p:cTn id="32" presetID="10" presetClass="entr" presetSubtype="0" fill="hold" nodeType="withEffect">
                                  <p:stCondLst>
                                    <p:cond delay="50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750"/>
                                        <p:tgtEl>
                                          <p:spTgt spid="27"/>
                                        </p:tgtEl>
                                      </p:cBhvr>
                                    </p:animEffect>
                                  </p:childTnLst>
                                </p:cTn>
                              </p:par>
                              <p:par>
                                <p:cTn id="35" presetID="42" presetClass="path" presetSubtype="0" decel="100000" fill="hold" nodeType="withEffect">
                                  <p:stCondLst>
                                    <p:cond delay="500"/>
                                  </p:stCondLst>
                                  <p:childTnLst>
                                    <p:animMotion origin="layout" path="M -0.01718 -0.00023 L -3.125E-6 -4.81481E-6 " pathEditMode="relative" rAng="0" ptsTypes="AA">
                                      <p:cBhvr>
                                        <p:cTn id="36" dur="750" fill="hold"/>
                                        <p:tgtEl>
                                          <p:spTgt spid="27"/>
                                        </p:tgtEl>
                                        <p:attrNameLst>
                                          <p:attrName>ppt_x</p:attrName>
                                          <p:attrName>ppt_y</p:attrName>
                                        </p:attrNameLst>
                                      </p:cBhvr>
                                      <p:rCtr x="859" y="0"/>
                                    </p:animMotion>
                                  </p:childTnLst>
                                </p:cTn>
                              </p:par>
                              <p:par>
                                <p:cTn id="37" presetID="10" presetClass="entr" presetSubtype="0" fill="hold" nodeType="withEffect">
                                  <p:stCondLst>
                                    <p:cond delay="50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750"/>
                                        <p:tgtEl>
                                          <p:spTgt spid="30"/>
                                        </p:tgtEl>
                                      </p:cBhvr>
                                    </p:animEffect>
                                  </p:childTnLst>
                                </p:cTn>
                              </p:par>
                              <p:par>
                                <p:cTn id="40" presetID="42" presetClass="path" presetSubtype="0" decel="100000" fill="hold" nodeType="withEffect">
                                  <p:stCondLst>
                                    <p:cond delay="500"/>
                                  </p:stCondLst>
                                  <p:childTnLst>
                                    <p:animMotion origin="layout" path="M -0.01718 -0.00023 L -3.125E-6 -3.7037E-7 " pathEditMode="relative" rAng="0" ptsTypes="AA">
                                      <p:cBhvr>
                                        <p:cTn id="41" dur="750" fill="hold"/>
                                        <p:tgtEl>
                                          <p:spTgt spid="30"/>
                                        </p:tgtEl>
                                        <p:attrNameLst>
                                          <p:attrName>ppt_x</p:attrName>
                                          <p:attrName>ppt_y</p:attrName>
                                        </p:attrNameLst>
                                      </p:cBhvr>
                                      <p:rCtr x="859" y="0"/>
                                    </p:animMotion>
                                  </p:childTnLst>
                                </p:cTn>
                              </p:par>
                              <p:par>
                                <p:cTn id="42" presetID="23" presetClass="entr" presetSubtype="272" fill="hold" grpId="0" nodeType="withEffect">
                                  <p:stCondLst>
                                    <p:cond delay="0"/>
                                  </p:stCondLst>
                                  <p:childTnLst>
                                    <p:set>
                                      <p:cBhvr>
                                        <p:cTn id="43" dur="1" fill="hold">
                                          <p:stCondLst>
                                            <p:cond delay="0"/>
                                          </p:stCondLst>
                                        </p:cTn>
                                        <p:tgtEl>
                                          <p:spTgt spid="1080"/>
                                        </p:tgtEl>
                                        <p:attrNameLst>
                                          <p:attrName>style.visibility</p:attrName>
                                        </p:attrNameLst>
                                      </p:cBhvr>
                                      <p:to>
                                        <p:strVal val="visible"/>
                                      </p:to>
                                    </p:set>
                                    <p:anim calcmode="lin" valueType="num">
                                      <p:cBhvr>
                                        <p:cTn id="44" dur="250" fill="hold"/>
                                        <p:tgtEl>
                                          <p:spTgt spid="1080"/>
                                        </p:tgtEl>
                                        <p:attrNameLst>
                                          <p:attrName>ppt_w</p:attrName>
                                        </p:attrNameLst>
                                      </p:cBhvr>
                                      <p:tavLst>
                                        <p:tav tm="0">
                                          <p:val>
                                            <p:strVal val="2/3*#ppt_w"/>
                                          </p:val>
                                        </p:tav>
                                        <p:tav tm="100000">
                                          <p:val>
                                            <p:strVal val="#ppt_w"/>
                                          </p:val>
                                        </p:tav>
                                      </p:tavLst>
                                    </p:anim>
                                    <p:anim calcmode="lin" valueType="num">
                                      <p:cBhvr>
                                        <p:cTn id="45" dur="250" fill="hold"/>
                                        <p:tgtEl>
                                          <p:spTgt spid="1080"/>
                                        </p:tgtEl>
                                        <p:attrNameLst>
                                          <p:attrName>ppt_h</p:attrName>
                                        </p:attrNameLst>
                                      </p:cBhvr>
                                      <p:tavLst>
                                        <p:tav tm="0">
                                          <p:val>
                                            <p:strVal val="2/3*#ppt_h"/>
                                          </p:val>
                                        </p:tav>
                                        <p:tav tm="100000">
                                          <p:val>
                                            <p:strVal val="#ppt_h"/>
                                          </p:val>
                                        </p:tav>
                                      </p:tavLst>
                                    </p:anim>
                                  </p:childTnLst>
                                </p:cTn>
                              </p:par>
                              <p:par>
                                <p:cTn id="46" presetID="10" presetClass="entr" presetSubtype="0" fill="hold" grpId="1" nodeType="withEffect">
                                  <p:stCondLst>
                                    <p:cond delay="0"/>
                                  </p:stCondLst>
                                  <p:childTnLst>
                                    <p:set>
                                      <p:cBhvr>
                                        <p:cTn id="47" dur="1" fill="hold">
                                          <p:stCondLst>
                                            <p:cond delay="0"/>
                                          </p:stCondLst>
                                        </p:cTn>
                                        <p:tgtEl>
                                          <p:spTgt spid="1080"/>
                                        </p:tgtEl>
                                        <p:attrNameLst>
                                          <p:attrName>style.visibility</p:attrName>
                                        </p:attrNameLst>
                                      </p:cBhvr>
                                      <p:to>
                                        <p:strVal val="visible"/>
                                      </p:to>
                                    </p:set>
                                    <p:animEffect transition="in" filter="fade">
                                      <p:cBhvr>
                                        <p:cTn id="48" dur="500"/>
                                        <p:tgtEl>
                                          <p:spTgt spid="1080"/>
                                        </p:tgtEl>
                                      </p:cBhvr>
                                    </p:animEffect>
                                  </p:childTnLst>
                                </p:cTn>
                              </p:par>
                              <p:par>
                                <p:cTn id="49" presetID="6" presetClass="emph" presetSubtype="0" fill="hold" grpId="2" nodeType="withEffect">
                                  <p:stCondLst>
                                    <p:cond delay="0"/>
                                  </p:stCondLst>
                                  <p:childTnLst>
                                    <p:animScale>
                                      <p:cBhvr>
                                        <p:cTn id="50" dur="10" fill="hold"/>
                                        <p:tgtEl>
                                          <p:spTgt spid="1080"/>
                                        </p:tgtEl>
                                      </p:cBhvr>
                                      <p:by x="80000" y="80000"/>
                                    </p:animScale>
                                  </p:childTnLst>
                                </p:cTn>
                              </p:par>
                              <p:par>
                                <p:cTn id="51" presetID="6" presetClass="emph" presetSubtype="0" decel="100000" fill="hold" grpId="3" nodeType="withEffect">
                                  <p:stCondLst>
                                    <p:cond delay="0"/>
                                  </p:stCondLst>
                                  <p:childTnLst>
                                    <p:animScale>
                                      <p:cBhvr>
                                        <p:cTn id="52" dur="1000" fill="hold"/>
                                        <p:tgtEl>
                                          <p:spTgt spid="1080"/>
                                        </p:tgtEl>
                                      </p:cBhvr>
                                      <p:by x="125000" y="125000"/>
                                    </p:animScale>
                                  </p:childTnLst>
                                </p:cTn>
                              </p:par>
                              <p:par>
                                <p:cTn id="53" presetID="23" presetClass="entr" presetSubtype="272" fill="hold" nodeType="withEffect">
                                  <p:stCondLst>
                                    <p:cond delay="0"/>
                                  </p:stCondLst>
                                  <p:childTnLst>
                                    <p:set>
                                      <p:cBhvr>
                                        <p:cTn id="54" dur="1" fill="hold">
                                          <p:stCondLst>
                                            <p:cond delay="0"/>
                                          </p:stCondLst>
                                        </p:cTn>
                                        <p:tgtEl>
                                          <p:spTgt spid="1203"/>
                                        </p:tgtEl>
                                        <p:attrNameLst>
                                          <p:attrName>style.visibility</p:attrName>
                                        </p:attrNameLst>
                                      </p:cBhvr>
                                      <p:to>
                                        <p:strVal val="visible"/>
                                      </p:to>
                                    </p:set>
                                    <p:anim calcmode="lin" valueType="num">
                                      <p:cBhvr>
                                        <p:cTn id="55" dur="250" fill="hold"/>
                                        <p:tgtEl>
                                          <p:spTgt spid="1203"/>
                                        </p:tgtEl>
                                        <p:attrNameLst>
                                          <p:attrName>ppt_w</p:attrName>
                                        </p:attrNameLst>
                                      </p:cBhvr>
                                      <p:tavLst>
                                        <p:tav tm="0">
                                          <p:val>
                                            <p:strVal val="2/3*#ppt_w"/>
                                          </p:val>
                                        </p:tav>
                                        <p:tav tm="100000">
                                          <p:val>
                                            <p:strVal val="#ppt_w"/>
                                          </p:val>
                                        </p:tav>
                                      </p:tavLst>
                                    </p:anim>
                                    <p:anim calcmode="lin" valueType="num">
                                      <p:cBhvr>
                                        <p:cTn id="56" dur="250" fill="hold"/>
                                        <p:tgtEl>
                                          <p:spTgt spid="1203"/>
                                        </p:tgtEl>
                                        <p:attrNameLst>
                                          <p:attrName>ppt_h</p:attrName>
                                        </p:attrNameLst>
                                      </p:cBhvr>
                                      <p:tavLst>
                                        <p:tav tm="0">
                                          <p:val>
                                            <p:strVal val="2/3*#ppt_h"/>
                                          </p:val>
                                        </p:tav>
                                        <p:tav tm="100000">
                                          <p:val>
                                            <p:strVal val="#ppt_h"/>
                                          </p:val>
                                        </p:tav>
                                      </p:tavLst>
                                    </p:anim>
                                  </p:childTnLst>
                                </p:cTn>
                              </p:par>
                              <p:par>
                                <p:cTn id="57" presetID="10" presetClass="entr" presetSubtype="0" fill="hold" nodeType="withEffect">
                                  <p:stCondLst>
                                    <p:cond delay="0"/>
                                  </p:stCondLst>
                                  <p:childTnLst>
                                    <p:set>
                                      <p:cBhvr>
                                        <p:cTn id="58" dur="1" fill="hold">
                                          <p:stCondLst>
                                            <p:cond delay="0"/>
                                          </p:stCondLst>
                                        </p:cTn>
                                        <p:tgtEl>
                                          <p:spTgt spid="1203"/>
                                        </p:tgtEl>
                                        <p:attrNameLst>
                                          <p:attrName>style.visibility</p:attrName>
                                        </p:attrNameLst>
                                      </p:cBhvr>
                                      <p:to>
                                        <p:strVal val="visible"/>
                                      </p:to>
                                    </p:set>
                                    <p:animEffect transition="in" filter="fade">
                                      <p:cBhvr>
                                        <p:cTn id="59" dur="500"/>
                                        <p:tgtEl>
                                          <p:spTgt spid="1203"/>
                                        </p:tgtEl>
                                      </p:cBhvr>
                                    </p:animEffect>
                                  </p:childTnLst>
                                </p:cTn>
                              </p:par>
                              <p:par>
                                <p:cTn id="60" presetID="6" presetClass="emph" presetSubtype="0" fill="hold" nodeType="withEffect">
                                  <p:stCondLst>
                                    <p:cond delay="0"/>
                                  </p:stCondLst>
                                  <p:childTnLst>
                                    <p:animScale>
                                      <p:cBhvr>
                                        <p:cTn id="61" dur="10" fill="hold"/>
                                        <p:tgtEl>
                                          <p:spTgt spid="1203"/>
                                        </p:tgtEl>
                                      </p:cBhvr>
                                      <p:by x="80000" y="80000"/>
                                    </p:animScale>
                                  </p:childTnLst>
                                </p:cTn>
                              </p:par>
                              <p:par>
                                <p:cTn id="62" presetID="6" presetClass="emph" presetSubtype="0" decel="100000" fill="hold" nodeType="withEffect">
                                  <p:stCondLst>
                                    <p:cond delay="0"/>
                                  </p:stCondLst>
                                  <p:childTnLst>
                                    <p:animScale>
                                      <p:cBhvr>
                                        <p:cTn id="63" dur="1000" fill="hold"/>
                                        <p:tgtEl>
                                          <p:spTgt spid="1203"/>
                                        </p:tgtEl>
                                      </p:cBhvr>
                                      <p:by x="125000" y="125000"/>
                                    </p:animScale>
                                  </p:childTnLst>
                                </p:cTn>
                              </p:par>
                              <p:par>
                                <p:cTn id="64" presetID="10" presetClass="entr" presetSubtype="0" fill="hold" grpId="0" nodeType="withEffect">
                                  <p:stCondLst>
                                    <p:cond delay="0"/>
                                  </p:stCondLst>
                                  <p:childTnLst>
                                    <p:set>
                                      <p:cBhvr>
                                        <p:cTn id="65" dur="1" fill="hold">
                                          <p:stCondLst>
                                            <p:cond delay="0"/>
                                          </p:stCondLst>
                                        </p:cTn>
                                        <p:tgtEl>
                                          <p:spTgt spid="1032"/>
                                        </p:tgtEl>
                                        <p:attrNameLst>
                                          <p:attrName>style.visibility</p:attrName>
                                        </p:attrNameLst>
                                      </p:cBhvr>
                                      <p:to>
                                        <p:strVal val="visible"/>
                                      </p:to>
                                    </p:set>
                                    <p:animEffect transition="in" filter="fade">
                                      <p:cBhvr>
                                        <p:cTn id="66" dur="500"/>
                                        <p:tgtEl>
                                          <p:spTgt spid="103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033"/>
                                        </p:tgtEl>
                                        <p:attrNameLst>
                                          <p:attrName>style.visibility</p:attrName>
                                        </p:attrNameLst>
                                      </p:cBhvr>
                                      <p:to>
                                        <p:strVal val="visible"/>
                                      </p:to>
                                    </p:set>
                                    <p:animEffect transition="in" filter="fade">
                                      <p:cBhvr>
                                        <p:cTn id="69" dur="500"/>
                                        <p:tgtEl>
                                          <p:spTgt spid="103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034"/>
                                        </p:tgtEl>
                                        <p:attrNameLst>
                                          <p:attrName>style.visibility</p:attrName>
                                        </p:attrNameLst>
                                      </p:cBhvr>
                                      <p:to>
                                        <p:strVal val="visible"/>
                                      </p:to>
                                    </p:set>
                                    <p:animEffect transition="in" filter="fade">
                                      <p:cBhvr>
                                        <p:cTn id="72" dur="500"/>
                                        <p:tgtEl>
                                          <p:spTgt spid="103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035"/>
                                        </p:tgtEl>
                                        <p:attrNameLst>
                                          <p:attrName>style.visibility</p:attrName>
                                        </p:attrNameLst>
                                      </p:cBhvr>
                                      <p:to>
                                        <p:strVal val="visible"/>
                                      </p:to>
                                    </p:set>
                                    <p:animEffect transition="in" filter="fade">
                                      <p:cBhvr>
                                        <p:cTn id="75" dur="500"/>
                                        <p:tgtEl>
                                          <p:spTgt spid="103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036"/>
                                        </p:tgtEl>
                                        <p:attrNameLst>
                                          <p:attrName>style.visibility</p:attrName>
                                        </p:attrNameLst>
                                      </p:cBhvr>
                                      <p:to>
                                        <p:strVal val="visible"/>
                                      </p:to>
                                    </p:set>
                                    <p:animEffect transition="in" filter="fade">
                                      <p:cBhvr>
                                        <p:cTn id="78" dur="500"/>
                                        <p:tgtEl>
                                          <p:spTgt spid="103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041"/>
                                        </p:tgtEl>
                                        <p:attrNameLst>
                                          <p:attrName>style.visibility</p:attrName>
                                        </p:attrNameLst>
                                      </p:cBhvr>
                                      <p:to>
                                        <p:strVal val="visible"/>
                                      </p:to>
                                    </p:set>
                                    <p:animEffect transition="in" filter="fade">
                                      <p:cBhvr>
                                        <p:cTn id="81" dur="500"/>
                                        <p:tgtEl>
                                          <p:spTgt spid="1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2" grpId="0"/>
      <p:bldP spid="1033" grpId="0"/>
      <p:bldP spid="1034" grpId="0"/>
      <p:bldP spid="1035" grpId="0"/>
      <p:bldP spid="1036" grpId="0"/>
      <p:bldP spid="1041" grpId="0"/>
      <p:bldP spid="1080" grpId="0" animBg="1"/>
      <p:bldP spid="1080" grpId="1" animBg="1"/>
      <p:bldP spid="1080" grpId="2" animBg="1"/>
      <p:bldP spid="1080" grpId="3"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FC4D4-EF86-2740-1650-A16088D51675}"/>
              </a:ext>
            </a:extLst>
          </p:cNvPr>
          <p:cNvSpPr>
            <a:spLocks noGrp="1"/>
          </p:cNvSpPr>
          <p:nvPr>
            <p:ph type="title"/>
          </p:nvPr>
        </p:nvSpPr>
        <p:spPr/>
        <p:txBody>
          <a:bodyPr/>
          <a:lstStyle/>
          <a:p>
            <a:r>
              <a:rPr lang="en-GB"/>
              <a:t>Conceptual understanding of the use case</a:t>
            </a:r>
          </a:p>
        </p:txBody>
      </p:sp>
      <p:sp>
        <p:nvSpPr>
          <p:cNvPr id="4" name="Rounded Rectangle 18" descr="Announcing&#10;">
            <a:extLst>
              <a:ext uri="{FF2B5EF4-FFF2-40B4-BE49-F238E27FC236}">
                <a16:creationId xmlns:a16="http://schemas.microsoft.com/office/drawing/2014/main" id="{3299A7D0-B996-A884-D5A5-35F983018E9E}"/>
              </a:ext>
            </a:extLst>
          </p:cNvPr>
          <p:cNvSpPr txBox="1">
            <a:spLocks/>
          </p:cNvSpPr>
          <p:nvPr/>
        </p:nvSpPr>
        <p:spPr bwMode="auto">
          <a:xfrm>
            <a:off x="8910872" y="466673"/>
            <a:ext cx="3265492" cy="631877"/>
          </a:xfrm>
          <a:prstGeom prst="roundRect">
            <a:avLst>
              <a:gd name="adj" fmla="val 50000"/>
            </a:avLst>
          </a:prstGeom>
          <a:gradFill flip="none" rotWithShape="1">
            <a:gsLst>
              <a:gs pos="85000">
                <a:schemeClr val="accent4"/>
              </a:gs>
              <a:gs pos="6000">
                <a:srgbClr val="8DC8E8"/>
              </a:gs>
            </a:gsLst>
            <a:path path="circle">
              <a:fillToRect l="100000" t="100000"/>
            </a:path>
            <a:tileRect r="-100000" b="-100000"/>
          </a:gradFill>
          <a:ln>
            <a:noFill/>
            <a:prstDash/>
          </a:ln>
          <a:effectLst>
            <a:outerShdw blurRad="63500" dist="127000" dir="2700000" algn="tl" rotWithShape="0">
              <a:srgbClr val="000000">
                <a:alpha val="49804"/>
              </a:srgbClr>
            </a:outerShdw>
          </a:effectLst>
        </p:spPr>
        <p:txBody>
          <a:bodyPr rot="0" spcFirstLastPara="0" vertOverflow="overflow" horzOverflow="overflow" vert="horz" wrap="square" lIns="0" tIns="18288" rIns="0" bIns="45720" numCol="1" spcCol="0" rtlCol="0" fromWordArt="0" anchor="ctr"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algn="ctr" defTabSz="914367" fontAlgn="base">
              <a:spcAft>
                <a:spcPct val="0"/>
              </a:spcAft>
              <a:defRPr/>
            </a:pPr>
            <a:r>
              <a:rPr lang="en-CA" sz="2500" b="1" spc="0">
                <a:solidFill>
                  <a:schemeClr val="bg1"/>
                </a:solidFill>
                <a:latin typeface="Segoe UI Semibold"/>
              </a:rPr>
              <a:t>aka.ms/GPT-RAG</a:t>
            </a:r>
          </a:p>
        </p:txBody>
      </p:sp>
      <p:sp>
        <p:nvSpPr>
          <p:cNvPr id="5" name="TextBox 4">
            <a:extLst>
              <a:ext uri="{FF2B5EF4-FFF2-40B4-BE49-F238E27FC236}">
                <a16:creationId xmlns:a16="http://schemas.microsoft.com/office/drawing/2014/main" id="{5EBC4D81-6C48-63AC-E97B-7E8A9DAFFFCB}"/>
              </a:ext>
            </a:extLst>
          </p:cNvPr>
          <p:cNvSpPr txBox="1"/>
          <p:nvPr/>
        </p:nvSpPr>
        <p:spPr>
          <a:xfrm>
            <a:off x="1070799" y="2192554"/>
            <a:ext cx="1586632" cy="323165"/>
          </a:xfrm>
          <a:prstGeom prst="rect">
            <a:avLst/>
          </a:prstGeom>
          <a:noFill/>
        </p:spPr>
        <p:txBody>
          <a:bodyPr wrap="square">
            <a:spAutoFit/>
          </a:bodyPr>
          <a:lstStyle/>
          <a:p>
            <a:r>
              <a:rPr lang="es-AR" sz="1500" b="1">
                <a:solidFill>
                  <a:schemeClr val="bg1"/>
                </a:solidFill>
                <a:latin typeface="Segoe UI" panose="020B0502040204020203" pitchFamily="34" charset="0"/>
                <a:cs typeface="Segoe UI" panose="020B0502040204020203" pitchFamily="34" charset="0"/>
              </a:rPr>
              <a:t>     </a:t>
            </a:r>
            <a:r>
              <a:rPr lang="es-AR" sz="1500" b="1" err="1">
                <a:solidFill>
                  <a:schemeClr val="bg1"/>
                </a:solidFill>
                <a:latin typeface="Segoe UI" panose="020B0502040204020203" pitchFamily="34" charset="0"/>
                <a:cs typeface="Segoe UI" panose="020B0502040204020203" pitchFamily="34" charset="0"/>
              </a:rPr>
              <a:t>Ingestion</a:t>
            </a:r>
            <a:endParaRPr lang="es-AR" sz="1500" b="1">
              <a:solidFill>
                <a:schemeClr val="bg1"/>
              </a:solidFill>
              <a:latin typeface="Segoe UI" panose="020B0502040204020203" pitchFamily="34" charset="0"/>
              <a:cs typeface="Segoe UI" panose="020B0502040204020203" pitchFamily="34" charset="0"/>
            </a:endParaRPr>
          </a:p>
        </p:txBody>
      </p:sp>
      <p:grpSp>
        <p:nvGrpSpPr>
          <p:cNvPr id="6" name="file">
            <a:extLst>
              <a:ext uri="{FF2B5EF4-FFF2-40B4-BE49-F238E27FC236}">
                <a16:creationId xmlns:a16="http://schemas.microsoft.com/office/drawing/2014/main" id="{3C578C56-DBB3-1654-30FD-D1057771EF15}"/>
              </a:ext>
              <a:ext uri="{C183D7F6-B498-43B3-948B-1728B52AA6E4}">
                <adec:decorative xmlns:adec="http://schemas.microsoft.com/office/drawing/2017/decorative" val="1"/>
              </a:ext>
            </a:extLst>
          </p:cNvPr>
          <p:cNvGrpSpPr/>
          <p:nvPr/>
        </p:nvGrpSpPr>
        <p:grpSpPr>
          <a:xfrm>
            <a:off x="1622894" y="1551892"/>
            <a:ext cx="379615" cy="518666"/>
            <a:chOff x="8018464" y="4649789"/>
            <a:chExt cx="225425" cy="279400"/>
          </a:xfrm>
        </p:grpSpPr>
        <p:sp>
          <p:nvSpPr>
            <p:cNvPr id="7" name="Freeform 88">
              <a:extLst>
                <a:ext uri="{FF2B5EF4-FFF2-40B4-BE49-F238E27FC236}">
                  <a16:creationId xmlns:a16="http://schemas.microsoft.com/office/drawing/2014/main" id="{40076668-B30A-FDCC-BC09-4E1B9398556E}"/>
                </a:ext>
              </a:extLst>
            </p:cNvPr>
            <p:cNvSpPr>
              <a:spLocks/>
            </p:cNvSpPr>
            <p:nvPr/>
          </p:nvSpPr>
          <p:spPr bwMode="auto">
            <a:xfrm>
              <a:off x="8018464" y="4649789"/>
              <a:ext cx="225425" cy="279400"/>
            </a:xfrm>
            <a:custGeom>
              <a:avLst/>
              <a:gdLst>
                <a:gd name="T0" fmla="*/ 52 w 142"/>
                <a:gd name="T1" fmla="*/ 0 h 176"/>
                <a:gd name="T2" fmla="*/ 0 w 142"/>
                <a:gd name="T3" fmla="*/ 52 h 176"/>
                <a:gd name="T4" fmla="*/ 0 w 142"/>
                <a:gd name="T5" fmla="*/ 176 h 176"/>
                <a:gd name="T6" fmla="*/ 142 w 142"/>
                <a:gd name="T7" fmla="*/ 176 h 176"/>
                <a:gd name="T8" fmla="*/ 142 w 142"/>
                <a:gd name="T9" fmla="*/ 0 h 176"/>
                <a:gd name="T10" fmla="*/ 52 w 142"/>
                <a:gd name="T11" fmla="*/ 0 h 176"/>
              </a:gdLst>
              <a:ahLst/>
              <a:cxnLst>
                <a:cxn ang="0">
                  <a:pos x="T0" y="T1"/>
                </a:cxn>
                <a:cxn ang="0">
                  <a:pos x="T2" y="T3"/>
                </a:cxn>
                <a:cxn ang="0">
                  <a:pos x="T4" y="T5"/>
                </a:cxn>
                <a:cxn ang="0">
                  <a:pos x="T6" y="T7"/>
                </a:cxn>
                <a:cxn ang="0">
                  <a:pos x="T8" y="T9"/>
                </a:cxn>
                <a:cxn ang="0">
                  <a:pos x="T10" y="T11"/>
                </a:cxn>
              </a:cxnLst>
              <a:rect l="0" t="0" r="r" b="b"/>
              <a:pathLst>
                <a:path w="142" h="176">
                  <a:moveTo>
                    <a:pt x="52" y="0"/>
                  </a:moveTo>
                  <a:lnTo>
                    <a:pt x="0" y="52"/>
                  </a:lnTo>
                  <a:lnTo>
                    <a:pt x="0" y="176"/>
                  </a:lnTo>
                  <a:lnTo>
                    <a:pt x="142" y="176"/>
                  </a:lnTo>
                  <a:lnTo>
                    <a:pt x="142" y="0"/>
                  </a:lnTo>
                  <a:lnTo>
                    <a:pt x="52"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7570" tIns="53785" rIns="107570" bIns="53785" numCol="1" anchor="t" anchorCtr="0" compatLnSpc="1">
              <a:prstTxWarp prst="textNoShape">
                <a:avLst/>
              </a:prstTxWarp>
            </a:bodyPr>
            <a:lstStyle/>
            <a:p>
              <a:pPr algn="ctr" defTabSz="1075663" fontAlgn="base"/>
              <a:endParaRPr lang="en-US" sz="2000">
                <a:solidFill>
                  <a:schemeClr val="bg1"/>
                </a:solidFill>
                <a:latin typeface="Segoe UI"/>
              </a:endParaRPr>
            </a:p>
          </p:txBody>
        </p:sp>
        <p:sp>
          <p:nvSpPr>
            <p:cNvPr id="8" name="Freeform 89">
              <a:extLst>
                <a:ext uri="{FF2B5EF4-FFF2-40B4-BE49-F238E27FC236}">
                  <a16:creationId xmlns:a16="http://schemas.microsoft.com/office/drawing/2014/main" id="{633D109F-8D72-068F-2B4F-426D98E0A106}"/>
                </a:ext>
              </a:extLst>
            </p:cNvPr>
            <p:cNvSpPr>
              <a:spLocks/>
            </p:cNvSpPr>
            <p:nvPr/>
          </p:nvSpPr>
          <p:spPr bwMode="auto">
            <a:xfrm>
              <a:off x="8018464" y="4649789"/>
              <a:ext cx="82550" cy="82550"/>
            </a:xfrm>
            <a:custGeom>
              <a:avLst/>
              <a:gdLst>
                <a:gd name="T0" fmla="*/ 52 w 52"/>
                <a:gd name="T1" fmla="*/ 52 h 52"/>
                <a:gd name="T2" fmla="*/ 0 w 52"/>
                <a:gd name="T3" fmla="*/ 52 h 52"/>
                <a:gd name="T4" fmla="*/ 52 w 52"/>
                <a:gd name="T5" fmla="*/ 0 h 52"/>
                <a:gd name="T6" fmla="*/ 52 w 52"/>
                <a:gd name="T7" fmla="*/ 0 h 52"/>
                <a:gd name="T8" fmla="*/ 52 w 52"/>
                <a:gd name="T9" fmla="*/ 52 h 52"/>
              </a:gdLst>
              <a:ahLst/>
              <a:cxnLst>
                <a:cxn ang="0">
                  <a:pos x="T0" y="T1"/>
                </a:cxn>
                <a:cxn ang="0">
                  <a:pos x="T2" y="T3"/>
                </a:cxn>
                <a:cxn ang="0">
                  <a:pos x="T4" y="T5"/>
                </a:cxn>
                <a:cxn ang="0">
                  <a:pos x="T6" y="T7"/>
                </a:cxn>
                <a:cxn ang="0">
                  <a:pos x="T8" y="T9"/>
                </a:cxn>
              </a:cxnLst>
              <a:rect l="0" t="0" r="r" b="b"/>
              <a:pathLst>
                <a:path w="52" h="52">
                  <a:moveTo>
                    <a:pt x="52" y="52"/>
                  </a:moveTo>
                  <a:lnTo>
                    <a:pt x="0" y="52"/>
                  </a:lnTo>
                  <a:lnTo>
                    <a:pt x="52" y="0"/>
                  </a:lnTo>
                  <a:lnTo>
                    <a:pt x="52" y="0"/>
                  </a:lnTo>
                  <a:lnTo>
                    <a:pt x="52" y="52"/>
                  </a:lnTo>
                  <a:close/>
                </a:path>
              </a:pathLst>
            </a:custGeom>
            <a:solidFill>
              <a:srgbClr val="4FE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7570" tIns="53785" rIns="107570" bIns="53785" numCol="1" anchor="t" anchorCtr="0" compatLnSpc="1">
              <a:prstTxWarp prst="textNoShape">
                <a:avLst/>
              </a:prstTxWarp>
            </a:bodyPr>
            <a:lstStyle/>
            <a:p>
              <a:pPr algn="ctr" defTabSz="1075663" fontAlgn="base"/>
              <a:endParaRPr lang="en-US" sz="2000">
                <a:solidFill>
                  <a:schemeClr val="bg1"/>
                </a:solidFill>
                <a:latin typeface="Segoe UI"/>
              </a:endParaRPr>
            </a:p>
          </p:txBody>
        </p:sp>
        <p:sp>
          <p:nvSpPr>
            <p:cNvPr id="9" name="Line 90">
              <a:extLst>
                <a:ext uri="{FF2B5EF4-FFF2-40B4-BE49-F238E27FC236}">
                  <a16:creationId xmlns:a16="http://schemas.microsoft.com/office/drawing/2014/main" id="{CBC4F431-A7CA-31DC-2263-ECD940E823AA}"/>
                </a:ext>
              </a:extLst>
            </p:cNvPr>
            <p:cNvSpPr>
              <a:spLocks noChangeShapeType="1"/>
            </p:cNvSpPr>
            <p:nvPr/>
          </p:nvSpPr>
          <p:spPr bwMode="auto">
            <a:xfrm>
              <a:off x="8077201" y="4795839"/>
              <a:ext cx="106363" cy="0"/>
            </a:xfrm>
            <a:prstGeom prst="line">
              <a:avLst/>
            </a:prstGeom>
            <a:noFill/>
            <a:ln w="17463"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07570" tIns="53785" rIns="107570" bIns="53785" numCol="1" anchor="t" anchorCtr="0" compatLnSpc="1">
              <a:prstTxWarp prst="textNoShape">
                <a:avLst/>
              </a:prstTxWarp>
            </a:bodyPr>
            <a:lstStyle/>
            <a:p>
              <a:pPr algn="ctr" defTabSz="1075663" fontAlgn="base"/>
              <a:endParaRPr lang="en-US" sz="2000">
                <a:solidFill>
                  <a:schemeClr val="bg1"/>
                </a:solidFill>
                <a:latin typeface="Segoe UI"/>
              </a:endParaRPr>
            </a:p>
          </p:txBody>
        </p:sp>
        <p:sp>
          <p:nvSpPr>
            <p:cNvPr id="10" name="Line 91">
              <a:extLst>
                <a:ext uri="{FF2B5EF4-FFF2-40B4-BE49-F238E27FC236}">
                  <a16:creationId xmlns:a16="http://schemas.microsoft.com/office/drawing/2014/main" id="{5CCEEF04-D34E-2370-950C-6117B299C99E}"/>
                </a:ext>
              </a:extLst>
            </p:cNvPr>
            <p:cNvSpPr>
              <a:spLocks noChangeShapeType="1"/>
            </p:cNvSpPr>
            <p:nvPr/>
          </p:nvSpPr>
          <p:spPr bwMode="auto">
            <a:xfrm>
              <a:off x="8077201" y="4849814"/>
              <a:ext cx="106363" cy="0"/>
            </a:xfrm>
            <a:prstGeom prst="line">
              <a:avLst/>
            </a:prstGeom>
            <a:noFill/>
            <a:ln w="17463"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07570" tIns="53785" rIns="107570" bIns="53785" numCol="1" anchor="t" anchorCtr="0" compatLnSpc="1">
              <a:prstTxWarp prst="textNoShape">
                <a:avLst/>
              </a:prstTxWarp>
            </a:bodyPr>
            <a:lstStyle/>
            <a:p>
              <a:pPr algn="ctr" defTabSz="1075663" fontAlgn="base"/>
              <a:endParaRPr lang="en-US" sz="2000">
                <a:solidFill>
                  <a:schemeClr val="bg1"/>
                </a:solidFill>
                <a:latin typeface="Segoe UI"/>
              </a:endParaRPr>
            </a:p>
          </p:txBody>
        </p:sp>
      </p:grpSp>
      <p:pic>
        <p:nvPicPr>
          <p:cNvPr id="11" name="chat">
            <a:extLst>
              <a:ext uri="{FF2B5EF4-FFF2-40B4-BE49-F238E27FC236}">
                <a16:creationId xmlns:a16="http://schemas.microsoft.com/office/drawing/2014/main" id="{DFA635AD-28C0-7EA9-6680-3C6480E8B1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0754" y="3448678"/>
            <a:ext cx="679069" cy="679067"/>
          </a:xfrm>
          <a:prstGeom prst="rect">
            <a:avLst/>
          </a:prstGeom>
        </p:spPr>
      </p:pic>
      <p:grpSp>
        <p:nvGrpSpPr>
          <p:cNvPr id="12" name="gear">
            <a:extLst>
              <a:ext uri="{FF2B5EF4-FFF2-40B4-BE49-F238E27FC236}">
                <a16:creationId xmlns:a16="http://schemas.microsoft.com/office/drawing/2014/main" id="{D9EFFFB1-B585-70D0-F040-C8ED75D298A8}"/>
              </a:ext>
              <a:ext uri="{C183D7F6-B498-43B3-948B-1728B52AA6E4}">
                <adec:decorative xmlns:adec="http://schemas.microsoft.com/office/drawing/2017/decorative" val="1"/>
              </a:ext>
            </a:extLst>
          </p:cNvPr>
          <p:cNvGrpSpPr/>
          <p:nvPr/>
        </p:nvGrpSpPr>
        <p:grpSpPr>
          <a:xfrm>
            <a:off x="1553563" y="5649944"/>
            <a:ext cx="501256" cy="508678"/>
            <a:chOff x="3513079" y="2994448"/>
            <a:chExt cx="498751" cy="498751"/>
          </a:xfrm>
        </p:grpSpPr>
        <p:sp>
          <p:nvSpPr>
            <p:cNvPr id="13" name="Freeform: Shape 12">
              <a:extLst>
                <a:ext uri="{FF2B5EF4-FFF2-40B4-BE49-F238E27FC236}">
                  <a16:creationId xmlns:a16="http://schemas.microsoft.com/office/drawing/2014/main" id="{670D8CDC-C1FF-AF2C-D08E-87B2749549A4}"/>
                </a:ext>
              </a:extLst>
            </p:cNvPr>
            <p:cNvSpPr/>
            <p:nvPr/>
          </p:nvSpPr>
          <p:spPr>
            <a:xfrm>
              <a:off x="3510968" y="2992337"/>
              <a:ext cx="498751" cy="498751"/>
            </a:xfrm>
            <a:custGeom>
              <a:avLst/>
              <a:gdLst>
                <a:gd name="connsiteX0" fmla="*/ 499635 w 498751"/>
                <a:gd name="connsiteY0" fmla="*/ 277035 h 498751"/>
                <a:gd name="connsiteX1" fmla="*/ 499635 w 498751"/>
                <a:gd name="connsiteY1" fmla="*/ 224623 h 498751"/>
                <a:gd name="connsiteX2" fmla="*/ 445560 w 498751"/>
                <a:gd name="connsiteY2" fmla="*/ 224623 h 498751"/>
                <a:gd name="connsiteX3" fmla="*/ 407060 w 498751"/>
                <a:gd name="connsiteY3" fmla="*/ 131698 h 498751"/>
                <a:gd name="connsiteX4" fmla="*/ 445298 w 498751"/>
                <a:gd name="connsiteY4" fmla="*/ 93460 h 498751"/>
                <a:gd name="connsiteX5" fmla="*/ 408285 w 498751"/>
                <a:gd name="connsiteY5" fmla="*/ 56448 h 498751"/>
                <a:gd name="connsiteX6" fmla="*/ 370048 w 498751"/>
                <a:gd name="connsiteY6" fmla="*/ 94686 h 498751"/>
                <a:gd name="connsiteX7" fmla="*/ 277123 w 498751"/>
                <a:gd name="connsiteY7" fmla="*/ 56186 h 498751"/>
                <a:gd name="connsiteX8" fmla="*/ 277123 w 498751"/>
                <a:gd name="connsiteY8" fmla="*/ 2111 h 498751"/>
                <a:gd name="connsiteX9" fmla="*/ 224710 w 498751"/>
                <a:gd name="connsiteY9" fmla="*/ 2111 h 498751"/>
                <a:gd name="connsiteX10" fmla="*/ 224710 w 498751"/>
                <a:gd name="connsiteY10" fmla="*/ 56186 h 498751"/>
                <a:gd name="connsiteX11" fmla="*/ 131785 w 498751"/>
                <a:gd name="connsiteY11" fmla="*/ 94686 h 498751"/>
                <a:gd name="connsiteX12" fmla="*/ 93548 w 498751"/>
                <a:gd name="connsiteY12" fmla="*/ 56448 h 498751"/>
                <a:gd name="connsiteX13" fmla="*/ 56536 w 498751"/>
                <a:gd name="connsiteY13" fmla="*/ 93460 h 498751"/>
                <a:gd name="connsiteX14" fmla="*/ 94773 w 498751"/>
                <a:gd name="connsiteY14" fmla="*/ 131698 h 498751"/>
                <a:gd name="connsiteX15" fmla="*/ 56273 w 498751"/>
                <a:gd name="connsiteY15" fmla="*/ 224623 h 498751"/>
                <a:gd name="connsiteX16" fmla="*/ 2111 w 498751"/>
                <a:gd name="connsiteY16" fmla="*/ 224623 h 498751"/>
                <a:gd name="connsiteX17" fmla="*/ 2111 w 498751"/>
                <a:gd name="connsiteY17" fmla="*/ 277035 h 498751"/>
                <a:gd name="connsiteX18" fmla="*/ 56186 w 498751"/>
                <a:gd name="connsiteY18" fmla="*/ 277035 h 498751"/>
                <a:gd name="connsiteX19" fmla="*/ 112010 w 498751"/>
                <a:gd name="connsiteY19" fmla="*/ 389735 h 498751"/>
                <a:gd name="connsiteX20" fmla="*/ 224710 w 498751"/>
                <a:gd name="connsiteY20" fmla="*/ 445560 h 498751"/>
                <a:gd name="connsiteX21" fmla="*/ 224710 w 498751"/>
                <a:gd name="connsiteY21" fmla="*/ 499635 h 498751"/>
                <a:gd name="connsiteX22" fmla="*/ 277123 w 498751"/>
                <a:gd name="connsiteY22" fmla="*/ 499635 h 498751"/>
                <a:gd name="connsiteX23" fmla="*/ 277123 w 498751"/>
                <a:gd name="connsiteY23" fmla="*/ 445560 h 498751"/>
                <a:gd name="connsiteX24" fmla="*/ 370048 w 498751"/>
                <a:gd name="connsiteY24" fmla="*/ 407060 h 498751"/>
                <a:gd name="connsiteX25" fmla="*/ 408285 w 498751"/>
                <a:gd name="connsiteY25" fmla="*/ 445298 h 498751"/>
                <a:gd name="connsiteX26" fmla="*/ 445298 w 498751"/>
                <a:gd name="connsiteY26" fmla="*/ 408285 h 498751"/>
                <a:gd name="connsiteX27" fmla="*/ 407060 w 498751"/>
                <a:gd name="connsiteY27" fmla="*/ 370048 h 498751"/>
                <a:gd name="connsiteX28" fmla="*/ 445560 w 498751"/>
                <a:gd name="connsiteY28" fmla="*/ 277123 h 498751"/>
                <a:gd name="connsiteX29" fmla="*/ 499635 w 498751"/>
                <a:gd name="connsiteY29" fmla="*/ 277123 h 498751"/>
                <a:gd name="connsiteX30" fmla="*/ 499635 w 498751"/>
                <a:gd name="connsiteY30" fmla="*/ 277035 h 498751"/>
                <a:gd name="connsiteX31" fmla="*/ 106848 w 498751"/>
                <a:gd name="connsiteY31" fmla="*/ 250873 h 498751"/>
                <a:gd name="connsiteX32" fmla="*/ 139573 w 498751"/>
                <a:gd name="connsiteY32" fmla="*/ 159523 h 498751"/>
                <a:gd name="connsiteX33" fmla="*/ 222786 w 498751"/>
                <a:gd name="connsiteY33" fmla="*/ 109648 h 498751"/>
                <a:gd name="connsiteX34" fmla="*/ 318773 w 498751"/>
                <a:gd name="connsiteY34" fmla="*/ 123910 h 498751"/>
                <a:gd name="connsiteX35" fmla="*/ 383960 w 498751"/>
                <a:gd name="connsiteY35" fmla="*/ 195835 h 498751"/>
                <a:gd name="connsiteX36" fmla="*/ 388685 w 498751"/>
                <a:gd name="connsiteY36" fmla="*/ 292785 h 498751"/>
                <a:gd name="connsiteX37" fmla="*/ 330848 w 498751"/>
                <a:gd name="connsiteY37" fmla="*/ 370748 h 498751"/>
                <a:gd name="connsiteX38" fmla="*/ 236698 w 498751"/>
                <a:gd name="connsiteY38" fmla="*/ 394285 h 498751"/>
                <a:gd name="connsiteX39" fmla="*/ 148936 w 498751"/>
                <a:gd name="connsiteY39" fmla="*/ 352810 h 498751"/>
                <a:gd name="connsiteX40" fmla="*/ 117610 w 498751"/>
                <a:gd name="connsiteY40" fmla="*/ 306085 h 498751"/>
                <a:gd name="connsiteX41" fmla="*/ 106848 w 498751"/>
                <a:gd name="connsiteY41" fmla="*/ 250873 h 498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8751" h="498751">
                  <a:moveTo>
                    <a:pt x="499635" y="277035"/>
                  </a:moveTo>
                  <a:lnTo>
                    <a:pt x="499635" y="224623"/>
                  </a:lnTo>
                  <a:lnTo>
                    <a:pt x="445560" y="224623"/>
                  </a:lnTo>
                  <a:cubicBezTo>
                    <a:pt x="441098" y="190848"/>
                    <a:pt x="427798" y="158823"/>
                    <a:pt x="407060" y="131698"/>
                  </a:cubicBezTo>
                  <a:lnTo>
                    <a:pt x="445298" y="93460"/>
                  </a:lnTo>
                  <a:lnTo>
                    <a:pt x="408285" y="56448"/>
                  </a:lnTo>
                  <a:lnTo>
                    <a:pt x="370048" y="94686"/>
                  </a:lnTo>
                  <a:cubicBezTo>
                    <a:pt x="342923" y="73948"/>
                    <a:pt x="310898" y="60648"/>
                    <a:pt x="277123" y="56186"/>
                  </a:cubicBezTo>
                  <a:lnTo>
                    <a:pt x="277123" y="2111"/>
                  </a:lnTo>
                  <a:lnTo>
                    <a:pt x="224710" y="2111"/>
                  </a:lnTo>
                  <a:lnTo>
                    <a:pt x="224710" y="56186"/>
                  </a:lnTo>
                  <a:cubicBezTo>
                    <a:pt x="190935" y="60648"/>
                    <a:pt x="158911" y="73948"/>
                    <a:pt x="131785" y="94686"/>
                  </a:cubicBezTo>
                  <a:lnTo>
                    <a:pt x="93548" y="56448"/>
                  </a:lnTo>
                  <a:lnTo>
                    <a:pt x="56536" y="93460"/>
                  </a:lnTo>
                  <a:lnTo>
                    <a:pt x="94773" y="131698"/>
                  </a:lnTo>
                  <a:cubicBezTo>
                    <a:pt x="74036" y="158823"/>
                    <a:pt x="60736" y="190848"/>
                    <a:pt x="56273" y="224623"/>
                  </a:cubicBezTo>
                  <a:lnTo>
                    <a:pt x="2111" y="224623"/>
                  </a:lnTo>
                  <a:lnTo>
                    <a:pt x="2111" y="277035"/>
                  </a:lnTo>
                  <a:lnTo>
                    <a:pt x="56186" y="277035"/>
                  </a:lnTo>
                  <a:cubicBezTo>
                    <a:pt x="61961" y="319648"/>
                    <a:pt x="81561" y="359285"/>
                    <a:pt x="112010" y="389735"/>
                  </a:cubicBezTo>
                  <a:cubicBezTo>
                    <a:pt x="142461" y="420185"/>
                    <a:pt x="182011" y="439785"/>
                    <a:pt x="224710" y="445560"/>
                  </a:cubicBezTo>
                  <a:lnTo>
                    <a:pt x="224710" y="499635"/>
                  </a:lnTo>
                  <a:lnTo>
                    <a:pt x="277123" y="499635"/>
                  </a:lnTo>
                  <a:lnTo>
                    <a:pt x="277123" y="445560"/>
                  </a:lnTo>
                  <a:cubicBezTo>
                    <a:pt x="310898" y="441098"/>
                    <a:pt x="342923" y="427798"/>
                    <a:pt x="370048" y="407060"/>
                  </a:cubicBezTo>
                  <a:lnTo>
                    <a:pt x="408285" y="445298"/>
                  </a:lnTo>
                  <a:lnTo>
                    <a:pt x="445298" y="408285"/>
                  </a:lnTo>
                  <a:lnTo>
                    <a:pt x="407060" y="370048"/>
                  </a:lnTo>
                  <a:cubicBezTo>
                    <a:pt x="427798" y="342923"/>
                    <a:pt x="441098" y="310898"/>
                    <a:pt x="445560" y="277123"/>
                  </a:cubicBezTo>
                  <a:lnTo>
                    <a:pt x="499635" y="277123"/>
                  </a:lnTo>
                  <a:lnTo>
                    <a:pt x="499635" y="277035"/>
                  </a:lnTo>
                  <a:close/>
                  <a:moveTo>
                    <a:pt x="106848" y="250873"/>
                  </a:moveTo>
                  <a:cubicBezTo>
                    <a:pt x="106848" y="217535"/>
                    <a:pt x="118398" y="185248"/>
                    <a:pt x="139573" y="159523"/>
                  </a:cubicBezTo>
                  <a:cubicBezTo>
                    <a:pt x="160748" y="133798"/>
                    <a:pt x="190148" y="116123"/>
                    <a:pt x="222786" y="109648"/>
                  </a:cubicBezTo>
                  <a:cubicBezTo>
                    <a:pt x="255423" y="103173"/>
                    <a:pt x="289373" y="108161"/>
                    <a:pt x="318773" y="123910"/>
                  </a:cubicBezTo>
                  <a:cubicBezTo>
                    <a:pt x="348173" y="139573"/>
                    <a:pt x="371185" y="165035"/>
                    <a:pt x="383960" y="195835"/>
                  </a:cubicBezTo>
                  <a:cubicBezTo>
                    <a:pt x="396735" y="226635"/>
                    <a:pt x="398397" y="260848"/>
                    <a:pt x="388685" y="292785"/>
                  </a:cubicBezTo>
                  <a:cubicBezTo>
                    <a:pt x="378973" y="324635"/>
                    <a:pt x="358585" y="352197"/>
                    <a:pt x="330848" y="370748"/>
                  </a:cubicBezTo>
                  <a:cubicBezTo>
                    <a:pt x="303110" y="389298"/>
                    <a:pt x="269860" y="397610"/>
                    <a:pt x="236698" y="394285"/>
                  </a:cubicBezTo>
                  <a:cubicBezTo>
                    <a:pt x="203535" y="391048"/>
                    <a:pt x="172560" y="376347"/>
                    <a:pt x="148936" y="352810"/>
                  </a:cubicBezTo>
                  <a:cubicBezTo>
                    <a:pt x="135548" y="339510"/>
                    <a:pt x="124873" y="323585"/>
                    <a:pt x="117610" y="306085"/>
                  </a:cubicBezTo>
                  <a:cubicBezTo>
                    <a:pt x="110523" y="288498"/>
                    <a:pt x="106761" y="269773"/>
                    <a:pt x="106848" y="250873"/>
                  </a:cubicBezTo>
                  <a:close/>
                </a:path>
              </a:pathLst>
            </a:custGeom>
            <a:solidFill>
              <a:srgbClr val="50E6FF"/>
            </a:solidFill>
            <a:ln w="5159" cap="flat">
              <a:noFill/>
              <a:prstDash val="solid"/>
              <a:miter/>
            </a:ln>
          </p:spPr>
          <p:txBody>
            <a:bodyPr rtlCol="0" anchor="ctr"/>
            <a:lstStyle/>
            <a:p>
              <a:endParaRPr lang="en-US" sz="2592">
                <a:solidFill>
                  <a:schemeClr val="bg1"/>
                </a:solidFill>
              </a:endParaRPr>
            </a:p>
          </p:txBody>
        </p:sp>
        <p:sp>
          <p:nvSpPr>
            <p:cNvPr id="14" name="Freeform: Shape 13">
              <a:extLst>
                <a:ext uri="{FF2B5EF4-FFF2-40B4-BE49-F238E27FC236}">
                  <a16:creationId xmlns:a16="http://schemas.microsoft.com/office/drawing/2014/main" id="{C0B6B5DE-7B2B-F1A4-9C24-A6200C8EDDAC}"/>
                </a:ext>
              </a:extLst>
            </p:cNvPr>
            <p:cNvSpPr/>
            <p:nvPr/>
          </p:nvSpPr>
          <p:spPr>
            <a:xfrm>
              <a:off x="3525494" y="3127375"/>
              <a:ext cx="348087" cy="348087"/>
            </a:xfrm>
            <a:custGeom>
              <a:avLst/>
              <a:gdLst>
                <a:gd name="connsiteX0" fmla="*/ 286398 w 348086"/>
                <a:gd name="connsiteY0" fmla="*/ 124333 h 348086"/>
                <a:gd name="connsiteX1" fmla="*/ 226548 w 348086"/>
                <a:gd name="connsiteY1" fmla="*/ 64483 h 348086"/>
                <a:gd name="connsiteX2" fmla="*/ 280448 w 348086"/>
                <a:gd name="connsiteY2" fmla="*/ 10583 h 348086"/>
                <a:gd name="connsiteX3" fmla="*/ 216923 w 348086"/>
                <a:gd name="connsiteY3" fmla="*/ 4108 h 348086"/>
                <a:gd name="connsiteX4" fmla="*/ 160310 w 348086"/>
                <a:gd name="connsiteY4" fmla="*/ 33683 h 348086"/>
                <a:gd name="connsiteX5" fmla="*/ 129335 w 348086"/>
                <a:gd name="connsiteY5" fmla="*/ 89508 h 348086"/>
                <a:gd name="connsiteX6" fmla="*/ 134235 w 348086"/>
                <a:gd name="connsiteY6" fmla="*/ 153121 h 348086"/>
                <a:gd name="connsiteX7" fmla="*/ 15236 w 348086"/>
                <a:gd name="connsiteY7" fmla="*/ 272121 h 348086"/>
                <a:gd name="connsiteX8" fmla="*/ 2111 w 348086"/>
                <a:gd name="connsiteY8" fmla="*/ 303883 h 348086"/>
                <a:gd name="connsiteX9" fmla="*/ 15236 w 348086"/>
                <a:gd name="connsiteY9" fmla="*/ 335645 h 348086"/>
                <a:gd name="connsiteX10" fmla="*/ 46998 w 348086"/>
                <a:gd name="connsiteY10" fmla="*/ 348770 h 348086"/>
                <a:gd name="connsiteX11" fmla="*/ 78760 w 348086"/>
                <a:gd name="connsiteY11" fmla="*/ 335645 h 348086"/>
                <a:gd name="connsiteX12" fmla="*/ 197760 w 348086"/>
                <a:gd name="connsiteY12" fmla="*/ 216645 h 348086"/>
                <a:gd name="connsiteX13" fmla="*/ 261373 w 348086"/>
                <a:gd name="connsiteY13" fmla="*/ 221546 h 348086"/>
                <a:gd name="connsiteX14" fmla="*/ 317198 w 348086"/>
                <a:gd name="connsiteY14" fmla="*/ 190571 h 348086"/>
                <a:gd name="connsiteX15" fmla="*/ 346773 w 348086"/>
                <a:gd name="connsiteY15" fmla="*/ 134045 h 348086"/>
                <a:gd name="connsiteX16" fmla="*/ 340298 w 348086"/>
                <a:gd name="connsiteY16" fmla="*/ 70521 h 348086"/>
                <a:gd name="connsiteX17" fmla="*/ 286398 w 348086"/>
                <a:gd name="connsiteY17" fmla="*/ 124333 h 348086"/>
                <a:gd name="connsiteX18" fmla="*/ 63011 w 348086"/>
                <a:gd name="connsiteY18" fmla="*/ 319633 h 348086"/>
                <a:gd name="connsiteX19" fmla="*/ 51548 w 348086"/>
                <a:gd name="connsiteY19" fmla="*/ 325758 h 348086"/>
                <a:gd name="connsiteX20" fmla="*/ 38598 w 348086"/>
                <a:gd name="connsiteY20" fmla="*/ 324445 h 348086"/>
                <a:gd name="connsiteX21" fmla="*/ 28536 w 348086"/>
                <a:gd name="connsiteY21" fmla="*/ 316220 h 348086"/>
                <a:gd name="connsiteX22" fmla="*/ 24773 w 348086"/>
                <a:gd name="connsiteY22" fmla="*/ 303795 h 348086"/>
                <a:gd name="connsiteX23" fmla="*/ 28536 w 348086"/>
                <a:gd name="connsiteY23" fmla="*/ 291371 h 348086"/>
                <a:gd name="connsiteX24" fmla="*/ 38598 w 348086"/>
                <a:gd name="connsiteY24" fmla="*/ 283146 h 348086"/>
                <a:gd name="connsiteX25" fmla="*/ 51548 w 348086"/>
                <a:gd name="connsiteY25" fmla="*/ 281833 h 348086"/>
                <a:gd name="connsiteX26" fmla="*/ 63011 w 348086"/>
                <a:gd name="connsiteY26" fmla="*/ 287958 h 348086"/>
                <a:gd name="connsiteX27" fmla="*/ 69573 w 348086"/>
                <a:gd name="connsiteY27" fmla="*/ 303795 h 348086"/>
                <a:gd name="connsiteX28" fmla="*/ 63011 w 348086"/>
                <a:gd name="connsiteY28" fmla="*/ 319633 h 348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8086" h="348086">
                  <a:moveTo>
                    <a:pt x="286398" y="124333"/>
                  </a:moveTo>
                  <a:lnTo>
                    <a:pt x="226548" y="64483"/>
                  </a:lnTo>
                  <a:lnTo>
                    <a:pt x="280448" y="10583"/>
                  </a:lnTo>
                  <a:cubicBezTo>
                    <a:pt x="260410" y="2271"/>
                    <a:pt x="238273" y="-4"/>
                    <a:pt x="216923" y="4108"/>
                  </a:cubicBezTo>
                  <a:cubicBezTo>
                    <a:pt x="195573" y="8221"/>
                    <a:pt x="175885" y="18458"/>
                    <a:pt x="160310" y="33683"/>
                  </a:cubicBezTo>
                  <a:cubicBezTo>
                    <a:pt x="144735" y="48821"/>
                    <a:pt x="133973" y="68246"/>
                    <a:pt x="129335" y="89508"/>
                  </a:cubicBezTo>
                  <a:cubicBezTo>
                    <a:pt x="124698" y="110771"/>
                    <a:pt x="126448" y="132908"/>
                    <a:pt x="134235" y="153121"/>
                  </a:cubicBezTo>
                  <a:lnTo>
                    <a:pt x="15236" y="272121"/>
                  </a:lnTo>
                  <a:cubicBezTo>
                    <a:pt x="6836" y="280520"/>
                    <a:pt x="2111" y="291983"/>
                    <a:pt x="2111" y="303883"/>
                  </a:cubicBezTo>
                  <a:cubicBezTo>
                    <a:pt x="2111" y="315783"/>
                    <a:pt x="6836" y="327158"/>
                    <a:pt x="15236" y="335645"/>
                  </a:cubicBezTo>
                  <a:cubicBezTo>
                    <a:pt x="23636" y="344046"/>
                    <a:pt x="35098" y="348770"/>
                    <a:pt x="46998" y="348770"/>
                  </a:cubicBezTo>
                  <a:cubicBezTo>
                    <a:pt x="58898" y="348770"/>
                    <a:pt x="70273" y="344046"/>
                    <a:pt x="78760" y="335645"/>
                  </a:cubicBezTo>
                  <a:lnTo>
                    <a:pt x="197760" y="216645"/>
                  </a:lnTo>
                  <a:cubicBezTo>
                    <a:pt x="218060" y="224520"/>
                    <a:pt x="240110" y="226183"/>
                    <a:pt x="261373" y="221546"/>
                  </a:cubicBezTo>
                  <a:cubicBezTo>
                    <a:pt x="282635" y="216908"/>
                    <a:pt x="301973" y="206146"/>
                    <a:pt x="317198" y="190571"/>
                  </a:cubicBezTo>
                  <a:cubicBezTo>
                    <a:pt x="332335" y="174996"/>
                    <a:pt x="342660" y="155308"/>
                    <a:pt x="346773" y="134045"/>
                  </a:cubicBezTo>
                  <a:cubicBezTo>
                    <a:pt x="350885" y="112696"/>
                    <a:pt x="348610" y="90646"/>
                    <a:pt x="340298" y="70521"/>
                  </a:cubicBezTo>
                  <a:lnTo>
                    <a:pt x="286398" y="124333"/>
                  </a:lnTo>
                  <a:close/>
                  <a:moveTo>
                    <a:pt x="63011" y="319633"/>
                  </a:moveTo>
                  <a:cubicBezTo>
                    <a:pt x="59861" y="322783"/>
                    <a:pt x="55835" y="324883"/>
                    <a:pt x="51548" y="325758"/>
                  </a:cubicBezTo>
                  <a:cubicBezTo>
                    <a:pt x="47173" y="326633"/>
                    <a:pt x="42710" y="326196"/>
                    <a:pt x="38598" y="324445"/>
                  </a:cubicBezTo>
                  <a:cubicBezTo>
                    <a:pt x="34486" y="322783"/>
                    <a:pt x="30986" y="319896"/>
                    <a:pt x="28536" y="316220"/>
                  </a:cubicBezTo>
                  <a:cubicBezTo>
                    <a:pt x="26086" y="312545"/>
                    <a:pt x="24773" y="308170"/>
                    <a:pt x="24773" y="303795"/>
                  </a:cubicBezTo>
                  <a:cubicBezTo>
                    <a:pt x="24773" y="299333"/>
                    <a:pt x="26086" y="295045"/>
                    <a:pt x="28536" y="291371"/>
                  </a:cubicBezTo>
                  <a:cubicBezTo>
                    <a:pt x="30986" y="287696"/>
                    <a:pt x="34486" y="284808"/>
                    <a:pt x="38598" y="283146"/>
                  </a:cubicBezTo>
                  <a:cubicBezTo>
                    <a:pt x="42710" y="281483"/>
                    <a:pt x="47173" y="281046"/>
                    <a:pt x="51548" y="281833"/>
                  </a:cubicBezTo>
                  <a:cubicBezTo>
                    <a:pt x="55923" y="282708"/>
                    <a:pt x="59861" y="284808"/>
                    <a:pt x="63011" y="287958"/>
                  </a:cubicBezTo>
                  <a:cubicBezTo>
                    <a:pt x="67211" y="292158"/>
                    <a:pt x="69573" y="297846"/>
                    <a:pt x="69573" y="303795"/>
                  </a:cubicBezTo>
                  <a:cubicBezTo>
                    <a:pt x="69573" y="309746"/>
                    <a:pt x="67211" y="315433"/>
                    <a:pt x="63011" y="319633"/>
                  </a:cubicBezTo>
                  <a:close/>
                </a:path>
              </a:pathLst>
            </a:custGeom>
            <a:solidFill>
              <a:srgbClr val="0078D4"/>
            </a:solidFill>
            <a:ln w="5159" cap="flat">
              <a:noFill/>
              <a:prstDash val="solid"/>
              <a:miter/>
            </a:ln>
          </p:spPr>
          <p:txBody>
            <a:bodyPr rtlCol="0" anchor="ctr"/>
            <a:lstStyle/>
            <a:p>
              <a:endParaRPr lang="en-US" sz="2592">
                <a:solidFill>
                  <a:schemeClr val="bg1"/>
                </a:solidFill>
              </a:endParaRPr>
            </a:p>
          </p:txBody>
        </p:sp>
      </p:grpSp>
      <p:sp>
        <p:nvSpPr>
          <p:cNvPr id="15" name="TextBox 14">
            <a:extLst>
              <a:ext uri="{FF2B5EF4-FFF2-40B4-BE49-F238E27FC236}">
                <a16:creationId xmlns:a16="http://schemas.microsoft.com/office/drawing/2014/main" id="{F27484D1-2A73-A2CA-F879-C1D9C3975618}"/>
              </a:ext>
            </a:extLst>
          </p:cNvPr>
          <p:cNvSpPr txBox="1"/>
          <p:nvPr/>
        </p:nvSpPr>
        <p:spPr>
          <a:xfrm>
            <a:off x="1148163" y="4169194"/>
            <a:ext cx="1375297" cy="323165"/>
          </a:xfrm>
          <a:prstGeom prst="rect">
            <a:avLst/>
          </a:prstGeom>
          <a:noFill/>
        </p:spPr>
        <p:txBody>
          <a:bodyPr wrap="square">
            <a:spAutoFit/>
          </a:bodyPr>
          <a:lstStyle/>
          <a:p>
            <a:r>
              <a:rPr lang="es-AR" sz="1500" b="1">
                <a:solidFill>
                  <a:schemeClr val="bg1"/>
                </a:solidFill>
                <a:latin typeface="Segoe UI" panose="020B0502040204020203" pitchFamily="34" charset="0"/>
                <a:cs typeface="Segoe UI" panose="020B0502040204020203" pitchFamily="34" charset="0"/>
              </a:rPr>
              <a:t>Orchestrator</a:t>
            </a:r>
          </a:p>
        </p:txBody>
      </p:sp>
      <p:sp>
        <p:nvSpPr>
          <p:cNvPr id="16" name="TextBox 15">
            <a:extLst>
              <a:ext uri="{FF2B5EF4-FFF2-40B4-BE49-F238E27FC236}">
                <a16:creationId xmlns:a16="http://schemas.microsoft.com/office/drawing/2014/main" id="{994EBFF3-539C-5A1F-0502-49328E5BCF37}"/>
              </a:ext>
            </a:extLst>
          </p:cNvPr>
          <p:cNvSpPr txBox="1"/>
          <p:nvPr/>
        </p:nvSpPr>
        <p:spPr>
          <a:xfrm>
            <a:off x="1063588" y="6250608"/>
            <a:ext cx="1581213" cy="323165"/>
          </a:xfrm>
          <a:prstGeom prst="rect">
            <a:avLst/>
          </a:prstGeom>
          <a:noFill/>
        </p:spPr>
        <p:txBody>
          <a:bodyPr wrap="square">
            <a:spAutoFit/>
          </a:bodyPr>
          <a:lstStyle/>
          <a:p>
            <a:pPr algn="ctr"/>
            <a:r>
              <a:rPr lang="es-AR" sz="1500" b="1" err="1">
                <a:solidFill>
                  <a:schemeClr val="bg1"/>
                </a:solidFill>
                <a:latin typeface="Segoe UI" panose="020B0502040204020203" pitchFamily="34" charset="0"/>
                <a:cs typeface="Segoe UI" panose="020B0502040204020203" pitchFamily="34" charset="0"/>
              </a:rPr>
              <a:t>Frontend</a:t>
            </a:r>
            <a:endParaRPr lang="es-AR" sz="1500" b="1">
              <a:solidFill>
                <a:schemeClr val="bg1"/>
              </a:solidFill>
              <a:latin typeface="Segoe UI" panose="020B0502040204020203" pitchFamily="34" charset="0"/>
              <a:cs typeface="Segoe UI" panose="020B0502040204020203" pitchFamily="34" charset="0"/>
            </a:endParaRPr>
          </a:p>
        </p:txBody>
      </p:sp>
      <p:sp>
        <p:nvSpPr>
          <p:cNvPr id="17" name="Rounded Rectangle 17">
            <a:extLst>
              <a:ext uri="{FF2B5EF4-FFF2-40B4-BE49-F238E27FC236}">
                <a16:creationId xmlns:a16="http://schemas.microsoft.com/office/drawing/2014/main" id="{F523B1DB-E8C6-C202-AB3B-2F085EE0D02F}"/>
              </a:ext>
            </a:extLst>
          </p:cNvPr>
          <p:cNvSpPr/>
          <p:nvPr/>
        </p:nvSpPr>
        <p:spPr>
          <a:xfrm>
            <a:off x="1009032" y="1463040"/>
            <a:ext cx="1496424" cy="1271902"/>
          </a:xfrm>
          <a:prstGeom prst="roundRect">
            <a:avLst/>
          </a:prstGeom>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panose="020B0502040204020203" pitchFamily="34" charset="0"/>
              <a:ea typeface="+mn-ea"/>
              <a:cs typeface="+mn-cs"/>
            </a:endParaRPr>
          </a:p>
        </p:txBody>
      </p:sp>
      <p:sp>
        <p:nvSpPr>
          <p:cNvPr id="18" name="Rounded Rectangle 17">
            <a:extLst>
              <a:ext uri="{FF2B5EF4-FFF2-40B4-BE49-F238E27FC236}">
                <a16:creationId xmlns:a16="http://schemas.microsoft.com/office/drawing/2014/main" id="{E3A28312-42FE-EF1C-2A8A-17003997DB25}"/>
              </a:ext>
            </a:extLst>
          </p:cNvPr>
          <p:cNvSpPr/>
          <p:nvPr/>
        </p:nvSpPr>
        <p:spPr>
          <a:xfrm>
            <a:off x="1018176" y="3300984"/>
            <a:ext cx="1551288" cy="1351812"/>
          </a:xfrm>
          <a:prstGeom prst="roundRect">
            <a:avLst/>
          </a:prstGeom>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panose="020B0502040204020203" pitchFamily="34" charset="0"/>
              <a:ea typeface="+mn-ea"/>
              <a:cs typeface="+mn-cs"/>
            </a:endParaRPr>
          </a:p>
        </p:txBody>
      </p:sp>
      <p:sp>
        <p:nvSpPr>
          <p:cNvPr id="19" name="Rounded Rectangle 17">
            <a:extLst>
              <a:ext uri="{FF2B5EF4-FFF2-40B4-BE49-F238E27FC236}">
                <a16:creationId xmlns:a16="http://schemas.microsoft.com/office/drawing/2014/main" id="{D654E6BB-A0BB-E13B-1F87-471CDCF65D40}"/>
              </a:ext>
            </a:extLst>
          </p:cNvPr>
          <p:cNvSpPr/>
          <p:nvPr/>
        </p:nvSpPr>
        <p:spPr>
          <a:xfrm>
            <a:off x="1044532" y="5266943"/>
            <a:ext cx="1570652" cy="1304019"/>
          </a:xfrm>
          <a:prstGeom prst="roundRect">
            <a:avLst/>
          </a:prstGeom>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bg1"/>
              </a:solidFill>
              <a:effectLst/>
              <a:uLnTx/>
              <a:uFillTx/>
              <a:latin typeface="Segoe UI" panose="020B0502040204020203" pitchFamily="34" charset="0"/>
              <a:ea typeface="+mn-ea"/>
              <a:cs typeface="+mn-cs"/>
            </a:endParaRPr>
          </a:p>
        </p:txBody>
      </p:sp>
      <p:sp>
        <p:nvSpPr>
          <p:cNvPr id="20" name="TextBox 19">
            <a:extLst>
              <a:ext uri="{FF2B5EF4-FFF2-40B4-BE49-F238E27FC236}">
                <a16:creationId xmlns:a16="http://schemas.microsoft.com/office/drawing/2014/main" id="{9E2DDB91-831E-2230-3CF5-052D2CEC8E65}"/>
              </a:ext>
            </a:extLst>
          </p:cNvPr>
          <p:cNvSpPr txBox="1"/>
          <p:nvPr/>
        </p:nvSpPr>
        <p:spPr>
          <a:xfrm>
            <a:off x="3782736" y="1700203"/>
            <a:ext cx="2259629" cy="830997"/>
          </a:xfrm>
          <a:prstGeom prst="rect">
            <a:avLst/>
          </a:prstGeom>
          <a:noFill/>
        </p:spPr>
        <p:txBody>
          <a:bodyPr wrap="square">
            <a:spAutoFit/>
          </a:bodyPr>
          <a:lstStyle/>
          <a:p>
            <a:pPr algn="l"/>
            <a:r>
              <a:rPr lang="en-US" sz="1200">
                <a:solidFill>
                  <a:schemeClr val="bg1"/>
                </a:solidFill>
                <a:latin typeface="Segoe UI" panose="020B0502040204020203" pitchFamily="34" charset="0"/>
                <a:cs typeface="Segoe UI" panose="020B0502040204020203" pitchFamily="34" charset="0"/>
              </a:rPr>
              <a:t>Perform:</a:t>
            </a:r>
          </a:p>
          <a:p>
            <a:pPr marL="171450" indent="-171450" algn="l">
              <a:buFont typeface="Arial" panose="020B0604020202020204" pitchFamily="34" charset="0"/>
              <a:buChar char="•"/>
            </a:pPr>
            <a:endParaRPr lang="en-US" sz="1200">
              <a:solidFill>
                <a:schemeClr val="bg1"/>
              </a:solidFill>
              <a:latin typeface="Segoe UI" panose="020B0502040204020203" pitchFamily="34" charset="0"/>
              <a:cs typeface="Segoe UI" panose="020B0502040204020203" pitchFamily="34" charset="0"/>
            </a:endParaRPr>
          </a:p>
          <a:p>
            <a:pPr marL="171450" indent="-171450" algn="l">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Customized Data Sourcing</a:t>
            </a:r>
          </a:p>
          <a:p>
            <a:pPr marL="171450" indent="-171450" algn="l">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Vector Generation</a:t>
            </a:r>
          </a:p>
        </p:txBody>
      </p:sp>
      <p:sp>
        <p:nvSpPr>
          <p:cNvPr id="21" name="TextBox 20">
            <a:extLst>
              <a:ext uri="{FF2B5EF4-FFF2-40B4-BE49-F238E27FC236}">
                <a16:creationId xmlns:a16="http://schemas.microsoft.com/office/drawing/2014/main" id="{35F19F4C-954A-011C-75D2-AD0BBAAAC7B6}"/>
              </a:ext>
            </a:extLst>
          </p:cNvPr>
          <p:cNvSpPr txBox="1"/>
          <p:nvPr/>
        </p:nvSpPr>
        <p:spPr>
          <a:xfrm>
            <a:off x="8830351" y="1297976"/>
            <a:ext cx="3367019" cy="253916"/>
          </a:xfrm>
          <a:prstGeom prst="rect">
            <a:avLst/>
          </a:prstGeom>
          <a:noFill/>
        </p:spPr>
        <p:txBody>
          <a:bodyPr wrap="square">
            <a:spAutoFit/>
          </a:bodyPr>
          <a:lstStyle/>
          <a:p>
            <a:pPr algn="ctr"/>
            <a:r>
              <a:rPr lang="en-US" sz="1050">
                <a:solidFill>
                  <a:schemeClr val="bg1"/>
                </a:solidFill>
                <a:latin typeface="Segoe UI" panose="020B0502040204020203" pitchFamily="34" charset="0"/>
                <a:cs typeface="Segoe UI" panose="020B0502040204020203" pitchFamily="34" charset="0"/>
              </a:rPr>
              <a:t>Well-architected Framework + Zero Trust Principles</a:t>
            </a:r>
          </a:p>
        </p:txBody>
      </p:sp>
      <p:sp>
        <p:nvSpPr>
          <p:cNvPr id="22" name="TextBox 21">
            <a:extLst>
              <a:ext uri="{FF2B5EF4-FFF2-40B4-BE49-F238E27FC236}">
                <a16:creationId xmlns:a16="http://schemas.microsoft.com/office/drawing/2014/main" id="{C0399EDD-0649-F16A-41D0-6BC77A180B4E}"/>
              </a:ext>
            </a:extLst>
          </p:cNvPr>
          <p:cNvSpPr txBox="1"/>
          <p:nvPr/>
        </p:nvSpPr>
        <p:spPr>
          <a:xfrm>
            <a:off x="3865666" y="3346152"/>
            <a:ext cx="1677334" cy="276999"/>
          </a:xfrm>
          <a:prstGeom prst="rect">
            <a:avLst/>
          </a:prstGeom>
          <a:noFill/>
        </p:spPr>
        <p:txBody>
          <a:bodyPr wrap="square">
            <a:spAutoFit/>
          </a:bodyPr>
          <a:lstStyle/>
          <a:p>
            <a:pPr algn="l"/>
            <a:r>
              <a:rPr lang="en-US" sz="1200">
                <a:solidFill>
                  <a:schemeClr val="bg1"/>
                </a:solidFill>
                <a:latin typeface="Segoe UI" panose="020B0502040204020203" pitchFamily="34" charset="0"/>
                <a:cs typeface="Segoe UI" panose="020B0502040204020203" pitchFamily="34" charset="0"/>
              </a:rPr>
              <a:t>Bring Your Own Data</a:t>
            </a:r>
          </a:p>
        </p:txBody>
      </p:sp>
      <p:sp>
        <p:nvSpPr>
          <p:cNvPr id="23" name="TextBox 22">
            <a:extLst>
              <a:ext uri="{FF2B5EF4-FFF2-40B4-BE49-F238E27FC236}">
                <a16:creationId xmlns:a16="http://schemas.microsoft.com/office/drawing/2014/main" id="{F0569A47-1324-5922-2108-4D9A6E0CDF1C}"/>
              </a:ext>
            </a:extLst>
          </p:cNvPr>
          <p:cNvSpPr txBox="1"/>
          <p:nvPr/>
        </p:nvSpPr>
        <p:spPr>
          <a:xfrm>
            <a:off x="3804440" y="3977040"/>
            <a:ext cx="2001085" cy="276999"/>
          </a:xfrm>
          <a:prstGeom prst="rect">
            <a:avLst/>
          </a:prstGeom>
          <a:noFill/>
        </p:spPr>
        <p:txBody>
          <a:bodyPr wrap="square">
            <a:spAutoFit/>
          </a:bodyPr>
          <a:lstStyle/>
          <a:p>
            <a:pPr algn="l"/>
            <a:r>
              <a:rPr lang="en-US" sz="1200">
                <a:solidFill>
                  <a:schemeClr val="bg1"/>
                </a:solidFill>
                <a:latin typeface="Segoe UI" panose="020B0502040204020203" pitchFamily="34" charset="0"/>
                <a:cs typeface="Segoe UI" panose="020B0502040204020203" pitchFamily="34" charset="0"/>
              </a:rPr>
              <a:t>Embedding Integration</a:t>
            </a:r>
          </a:p>
        </p:txBody>
      </p:sp>
      <p:sp>
        <p:nvSpPr>
          <p:cNvPr id="24" name="TextBox 23">
            <a:extLst>
              <a:ext uri="{FF2B5EF4-FFF2-40B4-BE49-F238E27FC236}">
                <a16:creationId xmlns:a16="http://schemas.microsoft.com/office/drawing/2014/main" id="{BB5906A3-652D-7A44-BA34-20D163120833}"/>
              </a:ext>
            </a:extLst>
          </p:cNvPr>
          <p:cNvSpPr txBox="1"/>
          <p:nvPr/>
        </p:nvSpPr>
        <p:spPr>
          <a:xfrm>
            <a:off x="3810388" y="4569531"/>
            <a:ext cx="2001085" cy="276999"/>
          </a:xfrm>
          <a:prstGeom prst="rect">
            <a:avLst/>
          </a:prstGeom>
          <a:noFill/>
        </p:spPr>
        <p:txBody>
          <a:bodyPr wrap="square">
            <a:spAutoFit/>
          </a:bodyPr>
          <a:lstStyle/>
          <a:p>
            <a:pPr algn="l"/>
            <a:r>
              <a:rPr lang="en-US" sz="1200">
                <a:solidFill>
                  <a:schemeClr val="bg1"/>
                </a:solidFill>
                <a:latin typeface="Segoe UI" panose="020B0502040204020203" pitchFamily="34" charset="0"/>
                <a:cs typeface="Segoe UI" panose="020B0502040204020203" pitchFamily="34" charset="0"/>
              </a:rPr>
              <a:t>Cosmos DB Integration</a:t>
            </a:r>
          </a:p>
        </p:txBody>
      </p:sp>
      <p:cxnSp>
        <p:nvCxnSpPr>
          <p:cNvPr id="25" name="Straight Connector 24">
            <a:extLst>
              <a:ext uri="{FF2B5EF4-FFF2-40B4-BE49-F238E27FC236}">
                <a16:creationId xmlns:a16="http://schemas.microsoft.com/office/drawing/2014/main" id="{70D006AB-D38A-238E-3424-0B67E3239050}"/>
              </a:ext>
            </a:extLst>
          </p:cNvPr>
          <p:cNvCxnSpPr>
            <a:cxnSpLocks/>
          </p:cNvCxnSpPr>
          <p:nvPr/>
        </p:nvCxnSpPr>
        <p:spPr>
          <a:xfrm>
            <a:off x="377095" y="3008368"/>
            <a:ext cx="9740263" cy="0"/>
          </a:xfrm>
          <a:prstGeom prst="line">
            <a:avLst/>
          </a:prstGeom>
          <a:ln w="3175">
            <a:solidFill>
              <a:schemeClr val="bg1"/>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379E3F-1222-936E-36AC-00C71E4DAA25}"/>
              </a:ext>
            </a:extLst>
          </p:cNvPr>
          <p:cNvCxnSpPr>
            <a:cxnSpLocks/>
          </p:cNvCxnSpPr>
          <p:nvPr/>
        </p:nvCxnSpPr>
        <p:spPr>
          <a:xfrm>
            <a:off x="328110" y="5180068"/>
            <a:ext cx="9860919" cy="32012"/>
          </a:xfrm>
          <a:prstGeom prst="line">
            <a:avLst/>
          </a:prstGeom>
          <a:ln w="3175">
            <a:solidFill>
              <a:schemeClr val="bg1"/>
            </a:solidFill>
            <a:prstDash val="sysDot"/>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C8DAACE-64DA-9F30-583C-2CE1B4D250BB}"/>
              </a:ext>
            </a:extLst>
          </p:cNvPr>
          <p:cNvSpPr txBox="1"/>
          <p:nvPr/>
        </p:nvSpPr>
        <p:spPr>
          <a:xfrm>
            <a:off x="3878433" y="5702430"/>
            <a:ext cx="2417472" cy="830997"/>
          </a:xfrm>
          <a:prstGeom prst="rect">
            <a:avLst/>
          </a:prstGeom>
          <a:noFill/>
        </p:spPr>
        <p:txBody>
          <a:bodyPr wrap="square">
            <a:spAutoFit/>
          </a:bodyPr>
          <a:lstStyle/>
          <a:p>
            <a:pPr algn="l"/>
            <a:r>
              <a:rPr lang="en-US" sz="1200">
                <a:solidFill>
                  <a:schemeClr val="bg1"/>
                </a:solidFill>
                <a:latin typeface="Segoe UI" panose="020B0502040204020203" pitchFamily="34" charset="0"/>
                <a:cs typeface="Segoe UI" panose="020B0502040204020203" pitchFamily="34" charset="0"/>
              </a:rPr>
              <a:t>Front End</a:t>
            </a:r>
          </a:p>
          <a:p>
            <a:pPr marL="171450" indent="-171450" algn="l">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Chat UI</a:t>
            </a:r>
          </a:p>
          <a:p>
            <a:pPr marL="171450" indent="-171450" algn="l">
              <a:buFont typeface="Arial" panose="020B0604020202020204" pitchFamily="34" charset="0"/>
              <a:buChar char="•"/>
            </a:pPr>
            <a:r>
              <a:rPr lang="en-US" sz="1200">
                <a:solidFill>
                  <a:schemeClr val="bg1"/>
                </a:solidFill>
                <a:latin typeface="Segoe UI" panose="020B0502040204020203" pitchFamily="34" charset="0"/>
                <a:cs typeface="Segoe UI" panose="020B0502040204020203" pitchFamily="34" charset="0"/>
              </a:rPr>
              <a:t>Design Patterns Best Practices</a:t>
            </a:r>
          </a:p>
          <a:p>
            <a:pPr marL="171450" indent="-171450" algn="l">
              <a:buFont typeface="Arial" panose="020B0604020202020204" pitchFamily="34" charset="0"/>
              <a:buChar char="•"/>
            </a:pPr>
            <a:endParaRPr lang="en-US" sz="1200">
              <a:solidFill>
                <a:schemeClr val="bg1"/>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097B80F1-A489-DCFA-2A3C-D45F509D4D27}"/>
              </a:ext>
            </a:extLst>
          </p:cNvPr>
          <p:cNvSpPr txBox="1"/>
          <p:nvPr/>
        </p:nvSpPr>
        <p:spPr>
          <a:xfrm>
            <a:off x="7361845" y="5864347"/>
            <a:ext cx="2676061" cy="461665"/>
          </a:xfrm>
          <a:prstGeom prst="rect">
            <a:avLst/>
          </a:prstGeom>
          <a:noFill/>
        </p:spPr>
        <p:txBody>
          <a:bodyPr wrap="square">
            <a:spAutoFit/>
          </a:bodyPr>
          <a:lstStyle/>
          <a:p>
            <a:r>
              <a:rPr lang="en-US" sz="1200">
                <a:solidFill>
                  <a:schemeClr val="bg1"/>
                </a:solidFill>
                <a:latin typeface="Segoe UI" panose="020B0502040204020203" pitchFamily="34" charset="0"/>
                <a:cs typeface="Segoe UI" panose="020B0502040204020203" pitchFamily="34" charset="0"/>
              </a:rPr>
              <a:t>User Friendly Experience</a:t>
            </a:r>
          </a:p>
          <a:p>
            <a:r>
              <a:rPr lang="en-US" sz="1200">
                <a:solidFill>
                  <a:schemeClr val="bg1"/>
                </a:solidFill>
                <a:latin typeface="Segoe UI" panose="020B0502040204020203" pitchFamily="34" charset="0"/>
                <a:cs typeface="Segoe UI" panose="020B0502040204020203" pitchFamily="34" charset="0"/>
              </a:rPr>
              <a:t>Comprehensive Accessibility Options</a:t>
            </a:r>
          </a:p>
        </p:txBody>
      </p:sp>
      <p:sp>
        <p:nvSpPr>
          <p:cNvPr id="29" name="TextBox 28">
            <a:extLst>
              <a:ext uri="{FF2B5EF4-FFF2-40B4-BE49-F238E27FC236}">
                <a16:creationId xmlns:a16="http://schemas.microsoft.com/office/drawing/2014/main" id="{75AA613F-EBFD-A07C-99DA-9FFBEFC3B5C2}"/>
              </a:ext>
            </a:extLst>
          </p:cNvPr>
          <p:cNvSpPr txBox="1"/>
          <p:nvPr/>
        </p:nvSpPr>
        <p:spPr>
          <a:xfrm>
            <a:off x="10750361" y="3858959"/>
            <a:ext cx="1351734" cy="646331"/>
          </a:xfrm>
          <a:prstGeom prst="rect">
            <a:avLst/>
          </a:prstGeom>
          <a:noFill/>
        </p:spPr>
        <p:txBody>
          <a:bodyPr wrap="square">
            <a:spAutoFit/>
          </a:bodyPr>
          <a:lstStyle/>
          <a:p>
            <a:pPr algn="ctr"/>
            <a:r>
              <a:rPr lang="en-US" sz="1200">
                <a:solidFill>
                  <a:schemeClr val="bg1"/>
                </a:solidFill>
                <a:latin typeface="Segoe UI" panose="020B0502040204020203" pitchFamily="34" charset="0"/>
                <a:cs typeface="Segoe UI" panose="020B0502040204020203" pitchFamily="34" charset="0"/>
              </a:rPr>
              <a:t>Modular</a:t>
            </a:r>
          </a:p>
          <a:p>
            <a:pPr algn="ctr"/>
            <a:r>
              <a:rPr lang="en-US" sz="1200">
                <a:solidFill>
                  <a:schemeClr val="bg1"/>
                </a:solidFill>
                <a:latin typeface="Segoe UI" panose="020B0502040204020203" pitchFamily="34" charset="0"/>
                <a:cs typeface="Segoe UI" panose="020B0502040204020203" pitchFamily="34" charset="0"/>
              </a:rPr>
              <a:t>&amp;</a:t>
            </a:r>
          </a:p>
          <a:p>
            <a:pPr algn="ctr"/>
            <a:r>
              <a:rPr lang="en-US" sz="1200">
                <a:solidFill>
                  <a:schemeClr val="bg1"/>
                </a:solidFill>
                <a:latin typeface="Segoe UI" panose="020B0502040204020203" pitchFamily="34" charset="0"/>
                <a:cs typeface="Segoe UI" panose="020B0502040204020203" pitchFamily="34" charset="0"/>
              </a:rPr>
              <a:t>Scalable</a:t>
            </a:r>
          </a:p>
        </p:txBody>
      </p:sp>
      <p:sp>
        <p:nvSpPr>
          <p:cNvPr id="30" name="Rounded Rectangle 12">
            <a:extLst>
              <a:ext uri="{FF2B5EF4-FFF2-40B4-BE49-F238E27FC236}">
                <a16:creationId xmlns:a16="http://schemas.microsoft.com/office/drawing/2014/main" id="{6062F793-1090-6B18-7358-2DA973F49F9B}"/>
              </a:ext>
            </a:extLst>
          </p:cNvPr>
          <p:cNvSpPr/>
          <p:nvPr/>
        </p:nvSpPr>
        <p:spPr>
          <a:xfrm>
            <a:off x="7229116" y="5839026"/>
            <a:ext cx="2866975" cy="537710"/>
          </a:xfrm>
          <a:prstGeom prst="roundRect">
            <a:avLst/>
          </a:prstGeom>
          <a:noFill/>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mn-cs"/>
            </a:endParaRPr>
          </a:p>
        </p:txBody>
      </p:sp>
      <p:sp>
        <p:nvSpPr>
          <p:cNvPr id="31" name="Rounded Rectangle 12">
            <a:extLst>
              <a:ext uri="{FF2B5EF4-FFF2-40B4-BE49-F238E27FC236}">
                <a16:creationId xmlns:a16="http://schemas.microsoft.com/office/drawing/2014/main" id="{81F50340-3C6C-5D94-AF0E-2A400907E409}"/>
              </a:ext>
            </a:extLst>
          </p:cNvPr>
          <p:cNvSpPr/>
          <p:nvPr/>
        </p:nvSpPr>
        <p:spPr>
          <a:xfrm>
            <a:off x="3759533" y="5619355"/>
            <a:ext cx="2651024" cy="1002178"/>
          </a:xfrm>
          <a:prstGeom prst="roundRect">
            <a:avLst/>
          </a:prstGeom>
          <a:noFill/>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mn-cs"/>
            </a:endParaRPr>
          </a:p>
        </p:txBody>
      </p:sp>
      <p:sp>
        <p:nvSpPr>
          <p:cNvPr id="32" name="Rounded Rectangle 12">
            <a:extLst>
              <a:ext uri="{FF2B5EF4-FFF2-40B4-BE49-F238E27FC236}">
                <a16:creationId xmlns:a16="http://schemas.microsoft.com/office/drawing/2014/main" id="{1776561B-2590-57D5-37E2-2F5F7864386C}"/>
              </a:ext>
            </a:extLst>
          </p:cNvPr>
          <p:cNvSpPr/>
          <p:nvPr/>
        </p:nvSpPr>
        <p:spPr>
          <a:xfrm>
            <a:off x="3592133" y="1669472"/>
            <a:ext cx="2566013" cy="1110348"/>
          </a:xfrm>
          <a:prstGeom prst="roundRect">
            <a:avLst/>
          </a:prstGeom>
          <a:noFill/>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mn-cs"/>
            </a:endParaRPr>
          </a:p>
        </p:txBody>
      </p:sp>
      <p:sp>
        <p:nvSpPr>
          <p:cNvPr id="33" name="Rounded Rectangle 12">
            <a:extLst>
              <a:ext uri="{FF2B5EF4-FFF2-40B4-BE49-F238E27FC236}">
                <a16:creationId xmlns:a16="http://schemas.microsoft.com/office/drawing/2014/main" id="{4DAF51B1-D9D0-9F08-D56E-762E76B65D4D}"/>
              </a:ext>
            </a:extLst>
          </p:cNvPr>
          <p:cNvSpPr/>
          <p:nvPr/>
        </p:nvSpPr>
        <p:spPr>
          <a:xfrm>
            <a:off x="3740510" y="3224925"/>
            <a:ext cx="2417636" cy="537710"/>
          </a:xfrm>
          <a:prstGeom prst="roundRect">
            <a:avLst/>
          </a:prstGeom>
          <a:noFill/>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mn-cs"/>
            </a:endParaRPr>
          </a:p>
        </p:txBody>
      </p:sp>
      <p:sp>
        <p:nvSpPr>
          <p:cNvPr id="34" name="Rounded Rectangle 12">
            <a:extLst>
              <a:ext uri="{FF2B5EF4-FFF2-40B4-BE49-F238E27FC236}">
                <a16:creationId xmlns:a16="http://schemas.microsoft.com/office/drawing/2014/main" id="{65938AA6-BCDA-E662-A6B0-A2EE1DC4923E}"/>
              </a:ext>
            </a:extLst>
          </p:cNvPr>
          <p:cNvSpPr/>
          <p:nvPr/>
        </p:nvSpPr>
        <p:spPr>
          <a:xfrm>
            <a:off x="3756507" y="3851198"/>
            <a:ext cx="2417636" cy="537710"/>
          </a:xfrm>
          <a:prstGeom prst="roundRect">
            <a:avLst/>
          </a:prstGeom>
          <a:noFill/>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mn-cs"/>
            </a:endParaRPr>
          </a:p>
        </p:txBody>
      </p:sp>
      <p:sp>
        <p:nvSpPr>
          <p:cNvPr id="35" name="Rounded Rectangle 12">
            <a:extLst>
              <a:ext uri="{FF2B5EF4-FFF2-40B4-BE49-F238E27FC236}">
                <a16:creationId xmlns:a16="http://schemas.microsoft.com/office/drawing/2014/main" id="{2C62504F-69DA-81AC-C799-CAC00EC69336}"/>
              </a:ext>
            </a:extLst>
          </p:cNvPr>
          <p:cNvSpPr/>
          <p:nvPr/>
        </p:nvSpPr>
        <p:spPr>
          <a:xfrm>
            <a:off x="3756506" y="4454336"/>
            <a:ext cx="2417635" cy="537710"/>
          </a:xfrm>
          <a:prstGeom prst="roundRect">
            <a:avLst/>
          </a:prstGeom>
          <a:noFill/>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mn-cs"/>
            </a:endParaRPr>
          </a:p>
        </p:txBody>
      </p:sp>
      <p:cxnSp>
        <p:nvCxnSpPr>
          <p:cNvPr id="36" name="Connector: Elbow 35">
            <a:extLst>
              <a:ext uri="{FF2B5EF4-FFF2-40B4-BE49-F238E27FC236}">
                <a16:creationId xmlns:a16="http://schemas.microsoft.com/office/drawing/2014/main" id="{0E248751-2261-7AD3-5FC0-088CAE303B8C}"/>
              </a:ext>
              <a:ext uri="{C183D7F6-B498-43B3-948B-1728B52AA6E4}">
                <adec:decorative xmlns:adec="http://schemas.microsoft.com/office/drawing/2017/decorative" val="1"/>
              </a:ext>
            </a:extLst>
          </p:cNvPr>
          <p:cNvCxnSpPr>
            <a:cxnSpLocks/>
          </p:cNvCxnSpPr>
          <p:nvPr/>
        </p:nvCxnSpPr>
        <p:spPr>
          <a:xfrm>
            <a:off x="6430368" y="6094877"/>
            <a:ext cx="731520" cy="69"/>
          </a:xfrm>
          <a:prstGeom prst="bentConnector3">
            <a:avLst/>
          </a:prstGeom>
          <a:ln w="57150">
            <a:solidFill>
              <a:srgbClr val="A1EF9B"/>
            </a:solidFill>
            <a:headEnd type="none" w="lg" len="med"/>
            <a:tailEnd type="arrow"/>
          </a:ln>
        </p:spPr>
        <p:style>
          <a:lnRef idx="1">
            <a:schemeClr val="accent1"/>
          </a:lnRef>
          <a:fillRef idx="0">
            <a:schemeClr val="accent1"/>
          </a:fillRef>
          <a:effectRef idx="0">
            <a:schemeClr val="accent1"/>
          </a:effectRef>
          <a:fontRef idx="minor">
            <a:schemeClr val="tx1"/>
          </a:fontRef>
        </p:style>
      </p:cxnSp>
      <p:sp>
        <p:nvSpPr>
          <p:cNvPr id="37" name="Right Brace 36">
            <a:extLst>
              <a:ext uri="{FF2B5EF4-FFF2-40B4-BE49-F238E27FC236}">
                <a16:creationId xmlns:a16="http://schemas.microsoft.com/office/drawing/2014/main" id="{835BA344-467A-C375-2E31-5079EDF27F37}"/>
              </a:ext>
            </a:extLst>
          </p:cNvPr>
          <p:cNvSpPr/>
          <p:nvPr/>
        </p:nvSpPr>
        <p:spPr>
          <a:xfrm>
            <a:off x="10520855" y="1851077"/>
            <a:ext cx="208985" cy="4604577"/>
          </a:xfrm>
          <a:prstGeom prst="rightBrace">
            <a:avLst>
              <a:gd name="adj1" fmla="val 17551"/>
              <a:gd name="adj2" fmla="val 50423"/>
            </a:avLst>
          </a:prstGeom>
          <a:ln>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39" name="Rounded Rectangle 12">
            <a:extLst>
              <a:ext uri="{FF2B5EF4-FFF2-40B4-BE49-F238E27FC236}">
                <a16:creationId xmlns:a16="http://schemas.microsoft.com/office/drawing/2014/main" id="{5A7C1A48-C9FE-EC05-6B29-121E9B1CD1DE}"/>
              </a:ext>
            </a:extLst>
          </p:cNvPr>
          <p:cNvSpPr/>
          <p:nvPr/>
        </p:nvSpPr>
        <p:spPr>
          <a:xfrm>
            <a:off x="7038299" y="2113656"/>
            <a:ext cx="2570557" cy="1825407"/>
          </a:xfrm>
          <a:prstGeom prst="roundRect">
            <a:avLst>
              <a:gd name="adj" fmla="val 9420"/>
            </a:avLst>
          </a:prstGeom>
          <a:solidFill>
            <a:schemeClr val="bg1"/>
          </a:solidFill>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Segoe UI" panose="020B0502040204020203" pitchFamily="34" charset="0"/>
              <a:ea typeface="+mn-ea"/>
              <a:cs typeface="+mn-cs"/>
            </a:endParaRPr>
          </a:p>
        </p:txBody>
      </p:sp>
      <p:sp>
        <p:nvSpPr>
          <p:cNvPr id="40" name="TextBox 39">
            <a:extLst>
              <a:ext uri="{FF2B5EF4-FFF2-40B4-BE49-F238E27FC236}">
                <a16:creationId xmlns:a16="http://schemas.microsoft.com/office/drawing/2014/main" id="{896C778F-53E0-7197-207D-07DB70C3380D}"/>
              </a:ext>
            </a:extLst>
          </p:cNvPr>
          <p:cNvSpPr txBox="1"/>
          <p:nvPr/>
        </p:nvSpPr>
        <p:spPr>
          <a:xfrm>
            <a:off x="7737347" y="2549337"/>
            <a:ext cx="1127515" cy="276999"/>
          </a:xfrm>
          <a:prstGeom prst="rect">
            <a:avLst/>
          </a:prstGeom>
          <a:noFill/>
        </p:spPr>
        <p:txBody>
          <a:bodyPr wrap="square">
            <a:spAutoFit/>
          </a:bodyPr>
          <a:lstStyle/>
          <a:p>
            <a:pPr algn="l"/>
            <a:r>
              <a:rPr lang="en-US" sz="1200">
                <a:latin typeface="Segoe UI" panose="020B0502040204020203" pitchFamily="34" charset="0"/>
                <a:cs typeface="Segoe UI" panose="020B0502040204020203" pitchFamily="34" charset="0"/>
              </a:rPr>
              <a:t>Azure OpenAI</a:t>
            </a:r>
          </a:p>
        </p:txBody>
      </p:sp>
      <p:sp>
        <p:nvSpPr>
          <p:cNvPr id="41" name="TextBox 40">
            <a:extLst>
              <a:ext uri="{FF2B5EF4-FFF2-40B4-BE49-F238E27FC236}">
                <a16:creationId xmlns:a16="http://schemas.microsoft.com/office/drawing/2014/main" id="{3443A5DA-DD54-913E-FE6B-3F6006C80917}"/>
              </a:ext>
            </a:extLst>
          </p:cNvPr>
          <p:cNvSpPr txBox="1"/>
          <p:nvPr/>
        </p:nvSpPr>
        <p:spPr>
          <a:xfrm>
            <a:off x="7657527" y="3218969"/>
            <a:ext cx="1402001" cy="276999"/>
          </a:xfrm>
          <a:prstGeom prst="rect">
            <a:avLst/>
          </a:prstGeom>
          <a:noFill/>
        </p:spPr>
        <p:txBody>
          <a:bodyPr wrap="square">
            <a:spAutoFit/>
          </a:bodyPr>
          <a:lstStyle/>
          <a:p>
            <a:pPr algn="ctr"/>
            <a:r>
              <a:rPr lang="en-US" sz="1200">
                <a:latin typeface="Segoe UI" panose="020B0502040204020203" pitchFamily="34" charset="0"/>
                <a:cs typeface="Segoe UI" panose="020B0502040204020203" pitchFamily="34" charset="0"/>
              </a:rPr>
              <a:t>AI Search</a:t>
            </a:r>
          </a:p>
        </p:txBody>
      </p:sp>
      <p:sp>
        <p:nvSpPr>
          <p:cNvPr id="42" name="Rounded Rectangle 12">
            <a:extLst>
              <a:ext uri="{FF2B5EF4-FFF2-40B4-BE49-F238E27FC236}">
                <a16:creationId xmlns:a16="http://schemas.microsoft.com/office/drawing/2014/main" id="{4B4E8964-56C3-52CF-92F9-42984AED03EC}"/>
              </a:ext>
            </a:extLst>
          </p:cNvPr>
          <p:cNvSpPr/>
          <p:nvPr/>
        </p:nvSpPr>
        <p:spPr>
          <a:xfrm>
            <a:off x="7423388" y="2397721"/>
            <a:ext cx="1802489" cy="537710"/>
          </a:xfrm>
          <a:prstGeom prst="roundRect">
            <a:avLst/>
          </a:prstGeom>
          <a:noFill/>
          <a:ln w="44450">
            <a:gradFill flip="none" rotWithShape="1">
              <a:gsLst>
                <a:gs pos="100000">
                  <a:srgbClr val="8DE971"/>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panose="020B0502040204020203" pitchFamily="34" charset="0"/>
              <a:ea typeface="+mn-ea"/>
              <a:cs typeface="+mn-cs"/>
            </a:endParaRPr>
          </a:p>
        </p:txBody>
      </p:sp>
      <p:sp>
        <p:nvSpPr>
          <p:cNvPr id="43" name="Rounded Rectangle 12">
            <a:extLst>
              <a:ext uri="{FF2B5EF4-FFF2-40B4-BE49-F238E27FC236}">
                <a16:creationId xmlns:a16="http://schemas.microsoft.com/office/drawing/2014/main" id="{16A08B43-DA64-C15B-0026-B234BD2690A4}"/>
              </a:ext>
            </a:extLst>
          </p:cNvPr>
          <p:cNvSpPr/>
          <p:nvPr/>
        </p:nvSpPr>
        <p:spPr>
          <a:xfrm>
            <a:off x="7423389" y="3088613"/>
            <a:ext cx="1802490" cy="537710"/>
          </a:xfrm>
          <a:prstGeom prst="roundRect">
            <a:avLst/>
          </a:prstGeom>
          <a:noFill/>
          <a:ln w="44450">
            <a:gradFill flip="none" rotWithShape="1">
              <a:gsLst>
                <a:gs pos="100000">
                  <a:schemeClr val="accent4"/>
                </a:gs>
                <a:gs pos="15000">
                  <a:srgbClr val="8DC8E8"/>
                </a:gs>
              </a:gsLst>
              <a:path path="circle">
                <a:fillToRect l="100000" t="100000"/>
              </a:path>
              <a:tileRect r="-100000" b="-100000"/>
            </a:gra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403988315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5" grpId="0"/>
      <p:bldP spid="16" grpId="0"/>
      <p:bldP spid="20" grpId="0"/>
      <p:bldP spid="21" grpId="0"/>
      <p:bldP spid="22" grpId="0"/>
      <p:bldP spid="23" grpId="0"/>
      <p:bldP spid="24" grpId="0"/>
      <p:bldP spid="27" grpId="0"/>
      <p:bldP spid="28" grpId="0"/>
      <p:bldP spid="29" grpId="0"/>
      <p:bldP spid="40" grpId="0"/>
      <p:bldP spid="4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DEED3-A923-1714-8650-0F0B91308A6D}"/>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09C53B66-4690-8D43-9F90-ED060E3CB6C3}"/>
              </a:ext>
            </a:extLst>
          </p:cNvPr>
          <p:cNvSpPr>
            <a:spLocks noGrp="1"/>
          </p:cNvSpPr>
          <p:nvPr>
            <p:ph type="title"/>
          </p:nvPr>
        </p:nvSpPr>
        <p:spPr/>
        <p:txBody>
          <a:bodyPr>
            <a:normAutofit/>
          </a:bodyPr>
          <a:lstStyle/>
          <a:p>
            <a:r>
              <a:rPr lang="en-US"/>
              <a:t>Building Use Case architecture diagram Step by Step</a:t>
            </a:r>
            <a:endParaRPr lang="en-IN"/>
          </a:p>
        </p:txBody>
      </p:sp>
      <p:sp>
        <p:nvSpPr>
          <p:cNvPr id="2" name="Rectangle: Rounded Corners 1">
            <a:extLst>
              <a:ext uri="{FF2B5EF4-FFF2-40B4-BE49-F238E27FC236}">
                <a16:creationId xmlns:a16="http://schemas.microsoft.com/office/drawing/2014/main" id="{9F92963C-4D4F-30F1-5B00-AE4B2BA5C43C}"/>
              </a:ext>
            </a:extLst>
          </p:cNvPr>
          <p:cNvSpPr>
            <a:spLocks/>
          </p:cNvSpPr>
          <p:nvPr/>
        </p:nvSpPr>
        <p:spPr bwMode="auto">
          <a:xfrm>
            <a:off x="383428" y="1424409"/>
            <a:ext cx="11392545" cy="5072911"/>
          </a:xfrm>
          <a:prstGeom prst="roundRect">
            <a:avLst>
              <a:gd name="adj" fmla="val 2665"/>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4" name="Rectangle: Rounded Corners 3">
            <a:extLst>
              <a:ext uri="{FF2B5EF4-FFF2-40B4-BE49-F238E27FC236}">
                <a16:creationId xmlns:a16="http://schemas.microsoft.com/office/drawing/2014/main" id="{FE6257C0-C946-C2AE-3242-A77A43C401F1}"/>
              </a:ext>
            </a:extLst>
          </p:cNvPr>
          <p:cNvSpPr/>
          <p:nvPr/>
        </p:nvSpPr>
        <p:spPr bwMode="auto">
          <a:xfrm>
            <a:off x="395953" y="1117600"/>
            <a:ext cx="11305432" cy="5429250"/>
          </a:xfrm>
          <a:prstGeom prst="roundRect">
            <a:avLst>
              <a:gd name="adj" fmla="val 1628"/>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err="1">
              <a:solidFill>
                <a:srgbClr val="FFFFFF"/>
              </a:solidFill>
              <a:ea typeface="Segoe UI" pitchFamily="34" charset="0"/>
              <a:cs typeface="Segoe Sans Text" pitchFamily="2" charset="0"/>
            </a:endParaRPr>
          </a:p>
        </p:txBody>
      </p:sp>
      <p:pic>
        <p:nvPicPr>
          <p:cNvPr id="5" name="Picture 4">
            <a:extLst>
              <a:ext uri="{FF2B5EF4-FFF2-40B4-BE49-F238E27FC236}">
                <a16:creationId xmlns:a16="http://schemas.microsoft.com/office/drawing/2014/main" id="{E9079C2E-DD3D-30EE-A7B0-0BC3F25B9A19}"/>
              </a:ext>
            </a:extLst>
          </p:cNvPr>
          <p:cNvPicPr>
            <a:picLocks noChangeAspect="1"/>
          </p:cNvPicPr>
          <p:nvPr/>
        </p:nvPicPr>
        <p:blipFill>
          <a:blip r:embed="rId3"/>
          <a:stretch>
            <a:fillRect/>
          </a:stretch>
        </p:blipFill>
        <p:spPr>
          <a:xfrm>
            <a:off x="490615" y="1374879"/>
            <a:ext cx="10915650" cy="4744110"/>
          </a:xfrm>
          <a:prstGeom prst="rect">
            <a:avLst/>
          </a:prstGeom>
        </p:spPr>
      </p:pic>
    </p:spTree>
    <p:extLst>
      <p:ext uri="{BB962C8B-B14F-4D97-AF65-F5344CB8AC3E}">
        <p14:creationId xmlns:p14="http://schemas.microsoft.com/office/powerpoint/2010/main" val="427954597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p:cTn id="7" dur="250" fill="hold"/>
                                        <p:tgtEl>
                                          <p:spTgt spid="2"/>
                                        </p:tgtEl>
                                        <p:attrNameLst>
                                          <p:attrName>ppt_w</p:attrName>
                                        </p:attrNameLst>
                                      </p:cBhvr>
                                      <p:tavLst>
                                        <p:tav tm="0">
                                          <p:val>
                                            <p:strVal val="2/3*#ppt_w"/>
                                          </p:val>
                                        </p:tav>
                                        <p:tav tm="100000">
                                          <p:val>
                                            <p:strVal val="#ppt_w"/>
                                          </p:val>
                                        </p:tav>
                                      </p:tavLst>
                                    </p:anim>
                                    <p:anim calcmode="lin" valueType="num">
                                      <p:cBhvr>
                                        <p:cTn id="8" dur="250" fill="hold"/>
                                        <p:tgtEl>
                                          <p:spTgt spid="2"/>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25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6" presetClass="emph" presetSubtype="0" fill="hold" grpId="2" nodeType="withEffect">
                                  <p:stCondLst>
                                    <p:cond delay="250"/>
                                  </p:stCondLst>
                                  <p:childTnLst>
                                    <p:animScale>
                                      <p:cBhvr>
                                        <p:cTn id="13" dur="10" fill="hold"/>
                                        <p:tgtEl>
                                          <p:spTgt spid="2"/>
                                        </p:tgtEl>
                                      </p:cBhvr>
                                      <p:by x="80000" y="80000"/>
                                    </p:animScale>
                                  </p:childTnLst>
                                </p:cTn>
                              </p:par>
                              <p:par>
                                <p:cTn id="14" presetID="6" presetClass="emph" presetSubtype="0" decel="100000" fill="hold" grpId="3" nodeType="withEffect">
                                  <p:stCondLst>
                                    <p:cond delay="250"/>
                                  </p:stCondLst>
                                  <p:childTnLst>
                                    <p:animScale>
                                      <p:cBhvr>
                                        <p:cTn id="15" dur="1000" fill="hold"/>
                                        <p:tgtEl>
                                          <p:spTgt spid="2"/>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D3B5E-6EC7-F45E-5473-D07623E825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52725A-8A59-7B0E-74FA-C6E92135B73C}"/>
              </a:ext>
            </a:extLst>
          </p:cNvPr>
          <p:cNvSpPr>
            <a:spLocks noGrp="1"/>
          </p:cNvSpPr>
          <p:nvPr>
            <p:ph type="title"/>
          </p:nvPr>
        </p:nvSpPr>
        <p:spPr>
          <a:xfrm>
            <a:off x="575481" y="1085599"/>
            <a:ext cx="11045019" cy="553998"/>
          </a:xfrm>
        </p:spPr>
        <p:txBody>
          <a:bodyPr/>
          <a:lstStyle/>
          <a:p>
            <a:r>
              <a:rPr lang="en-US"/>
              <a:t>Demonstration</a:t>
            </a:r>
          </a:p>
        </p:txBody>
      </p:sp>
      <p:sp>
        <p:nvSpPr>
          <p:cNvPr id="17" name="Rectangle 16">
            <a:extLst>
              <a:ext uri="{FF2B5EF4-FFF2-40B4-BE49-F238E27FC236}">
                <a16:creationId xmlns:a16="http://schemas.microsoft.com/office/drawing/2014/main" id="{B220F282-F684-B78D-D61A-D24EAD9B9AC3}"/>
              </a:ext>
            </a:extLst>
          </p:cNvPr>
          <p:cNvSpPr>
            <a:spLocks/>
          </p:cNvSpPr>
          <p:nvPr/>
        </p:nvSpPr>
        <p:spPr bwMode="auto">
          <a:xfrm>
            <a:off x="571499" y="2298700"/>
            <a:ext cx="11048999" cy="397033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3500">
                <a:solidFill>
                  <a:schemeClr val="tx1"/>
                </a:solidFill>
                <a:latin typeface="+mj-lt"/>
                <a:ea typeface="Segoe UI" pitchFamily="34" charset="0"/>
                <a:cs typeface="Segoe UI" pitchFamily="34" charset="0"/>
              </a:rPr>
              <a:t>Provisioning Resources, AI Foundry Project Set Up,  APIM integration “Building &amp; Augmentation” Stage in GenAI </a:t>
            </a:r>
            <a:r>
              <a:rPr lang="en-US" sz="3500" err="1">
                <a:solidFill>
                  <a:schemeClr val="tx1"/>
                </a:solidFill>
                <a:latin typeface="+mj-lt"/>
                <a:ea typeface="Segoe UI" pitchFamily="34" charset="0"/>
                <a:cs typeface="Segoe UI" pitchFamily="34" charset="0"/>
              </a:rPr>
              <a:t>LifeCycle</a:t>
            </a:r>
            <a:br>
              <a:rPr lang="en-US" sz="3500">
                <a:solidFill>
                  <a:schemeClr val="tx1"/>
                </a:solidFill>
                <a:latin typeface="+mj-lt"/>
                <a:ea typeface="Segoe UI" pitchFamily="34" charset="0"/>
                <a:cs typeface="Segoe UI" pitchFamily="34" charset="0"/>
              </a:rPr>
            </a:br>
            <a:endParaRPr lang="en-US" sz="3500">
              <a:solidFill>
                <a:schemeClr val="tx1"/>
              </a:solidFill>
              <a:latin typeface="+mj-lt"/>
              <a:ea typeface="Segoe UI" pitchFamily="34" charset="0"/>
              <a:cs typeface="Segoe UI" pitchFamily="34" charset="0"/>
            </a:endParaRPr>
          </a:p>
        </p:txBody>
      </p:sp>
      <p:sp>
        <p:nvSpPr>
          <p:cNvPr id="10" name="Footer Placeholder 3">
            <a:extLst>
              <a:ext uri="{FF2B5EF4-FFF2-40B4-BE49-F238E27FC236}">
                <a16:creationId xmlns:a16="http://schemas.microsoft.com/office/drawing/2014/main" id="{E8CEC77D-7721-B6D3-4022-635AF748AD9B}"/>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E6E3276B-1245-07FB-C5F4-9EA0DFBB52A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51</a:t>
            </a:fld>
            <a:endParaRPr kumimoji="0" lang="en-US" sz="800" b="0" i="0" u="none" strike="noStrike" kern="1200" cap="none" spc="0" normalizeH="0" baseline="0" noProof="0">
              <a:ln>
                <a:noFill/>
              </a:ln>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754014306"/>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1AD5D-6DE4-31CB-E5BB-A1A3CFE579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A871529-E0B0-F5E2-CF78-DB25E2920F9D}"/>
              </a:ext>
            </a:extLst>
          </p:cNvPr>
          <p:cNvSpPr>
            <a:spLocks noGrp="1"/>
          </p:cNvSpPr>
          <p:nvPr>
            <p:ph type="title"/>
          </p:nvPr>
        </p:nvSpPr>
        <p:spPr>
          <a:xfrm>
            <a:off x="575481" y="1085599"/>
            <a:ext cx="11045019" cy="553998"/>
          </a:xfrm>
        </p:spPr>
        <p:txBody>
          <a:bodyPr/>
          <a:lstStyle/>
          <a:p>
            <a:r>
              <a:rPr lang="en-US"/>
              <a:t>Demonstration</a:t>
            </a:r>
          </a:p>
        </p:txBody>
      </p:sp>
      <p:sp>
        <p:nvSpPr>
          <p:cNvPr id="17" name="Rectangle 16">
            <a:extLst>
              <a:ext uri="{FF2B5EF4-FFF2-40B4-BE49-F238E27FC236}">
                <a16:creationId xmlns:a16="http://schemas.microsoft.com/office/drawing/2014/main" id="{74399B59-4F4B-4CD6-B280-ACCADAEF52F0}"/>
              </a:ext>
            </a:extLst>
          </p:cNvPr>
          <p:cNvSpPr>
            <a:spLocks/>
          </p:cNvSpPr>
          <p:nvPr/>
        </p:nvSpPr>
        <p:spPr bwMode="auto">
          <a:xfrm>
            <a:off x="571499" y="2298700"/>
            <a:ext cx="11048999" cy="397033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3500">
                <a:solidFill>
                  <a:schemeClr val="tx1"/>
                </a:solidFill>
                <a:latin typeface="+mj-lt"/>
                <a:ea typeface="Segoe UI" pitchFamily="34" charset="0"/>
                <a:cs typeface="Segoe UI" pitchFamily="34" charset="0"/>
              </a:rPr>
              <a:t>Evaluations “Building &amp; Augmentation” Stage in GenAI </a:t>
            </a:r>
            <a:r>
              <a:rPr lang="en-US" sz="3500" err="1">
                <a:solidFill>
                  <a:schemeClr val="tx1"/>
                </a:solidFill>
                <a:latin typeface="+mj-lt"/>
                <a:ea typeface="Segoe UI" pitchFamily="34" charset="0"/>
                <a:cs typeface="Segoe UI" pitchFamily="34" charset="0"/>
              </a:rPr>
              <a:t>LifeCycle</a:t>
            </a:r>
            <a:endParaRPr lang="en-US" sz="3500">
              <a:solidFill>
                <a:schemeClr val="tx1"/>
              </a:solidFill>
              <a:latin typeface="+mj-lt"/>
              <a:ea typeface="Segoe UI" pitchFamily="34" charset="0"/>
              <a:cs typeface="Segoe UI" pitchFamily="34" charset="0"/>
            </a:endParaRPr>
          </a:p>
        </p:txBody>
      </p:sp>
      <p:sp>
        <p:nvSpPr>
          <p:cNvPr id="10" name="Footer Placeholder 3">
            <a:extLst>
              <a:ext uri="{FF2B5EF4-FFF2-40B4-BE49-F238E27FC236}">
                <a16:creationId xmlns:a16="http://schemas.microsoft.com/office/drawing/2014/main" id="{8D706DC0-1468-0668-D37E-237A46AEDB56}"/>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9195AA25-3936-A2A1-5B07-83B9B025014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52</a:t>
            </a:fld>
            <a:endParaRPr kumimoji="0" lang="en-US" sz="800" b="0" i="0" u="none" strike="noStrike" kern="1200" cap="none" spc="0" normalizeH="0" baseline="0" noProof="0">
              <a:ln>
                <a:noFill/>
              </a:ln>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803675653"/>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6F97C-45C1-6404-4359-B717E4374A8C}"/>
            </a:ext>
          </a:extLst>
        </p:cNvPr>
        <p:cNvGrpSpPr/>
        <p:nvPr/>
      </p:nvGrpSpPr>
      <p:grpSpPr>
        <a:xfrm>
          <a:off x="0" y="0"/>
          <a:ext cx="0" cy="0"/>
          <a:chOff x="0" y="0"/>
          <a:chExt cx="0" cy="0"/>
        </a:xfrm>
      </p:grpSpPr>
      <p:sp>
        <p:nvSpPr>
          <p:cNvPr id="17" name="ADVANCE PROJECT">
            <a:extLst>
              <a:ext uri="{FF2B5EF4-FFF2-40B4-BE49-F238E27FC236}">
                <a16:creationId xmlns:a16="http://schemas.microsoft.com/office/drawing/2014/main" id="{FA43F124-FA42-FCDD-55CD-310461B894EB}"/>
              </a:ext>
              <a:ext uri="{C183D7F6-B498-43B3-948B-1728B52AA6E4}">
                <adec:decorative xmlns:adec="http://schemas.microsoft.com/office/drawing/2017/decorative" val="1"/>
              </a:ext>
            </a:extLst>
          </p:cNvPr>
          <p:cNvSpPr txBox="1"/>
          <p:nvPr/>
        </p:nvSpPr>
        <p:spPr>
          <a:xfrm>
            <a:off x="3121831" y="1640554"/>
            <a:ext cx="2444525" cy="1207961"/>
          </a:xfrm>
          <a:prstGeom prst="ellipse">
            <a:avLst/>
          </a:prstGeom>
          <a:noFill/>
        </p:spPr>
        <p:txBody>
          <a:bodyPr wrap="none" rtlCol="0">
            <a:prstTxWarp prst="textArchUp">
              <a:avLst>
                <a:gd name="adj" fmla="val 12451684"/>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alpha val="25000"/>
                  </a:schemeClr>
                </a:solidFill>
                <a:effectLst/>
                <a:uLnTx/>
                <a:uFillTx/>
                <a:ea typeface="+mn-ea"/>
                <a:cs typeface="Segoe Sans Text" pitchFamily="2" charset="0"/>
              </a:rPr>
              <a:t>ADVANCE PROJECT </a:t>
            </a:r>
          </a:p>
        </p:txBody>
      </p:sp>
      <p:sp>
        <p:nvSpPr>
          <p:cNvPr id="24" name="REVERT PROJECT">
            <a:extLst>
              <a:ext uri="{FF2B5EF4-FFF2-40B4-BE49-F238E27FC236}">
                <a16:creationId xmlns:a16="http://schemas.microsoft.com/office/drawing/2014/main" id="{3A99C032-A1DE-2F6B-FD90-76C1A776C7B1}"/>
              </a:ext>
              <a:ext uri="{C183D7F6-B498-43B3-948B-1728B52AA6E4}">
                <adec:decorative xmlns:adec="http://schemas.microsoft.com/office/drawing/2017/decorative" val="1"/>
              </a:ext>
            </a:extLst>
          </p:cNvPr>
          <p:cNvSpPr txBox="1"/>
          <p:nvPr/>
        </p:nvSpPr>
        <p:spPr>
          <a:xfrm>
            <a:off x="3505086" y="4416510"/>
            <a:ext cx="1550538" cy="726100"/>
          </a:xfrm>
          <a:prstGeom prst="rect">
            <a:avLst/>
          </a:prstGeom>
          <a:noFill/>
        </p:spPr>
        <p:txBody>
          <a:bodyPr wrap="none" rtlCol="0">
            <a:prstTxWarp prst="textArchDown">
              <a:avLst>
                <a:gd name="adj" fmla="val 1375053"/>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alpha val="25000"/>
                  </a:schemeClr>
                </a:solidFill>
                <a:effectLst/>
                <a:uLnTx/>
                <a:uFillTx/>
                <a:ea typeface="+mn-ea"/>
                <a:cs typeface="Segoe Sans Text" pitchFamily="2" charset="0"/>
              </a:rPr>
              <a:t>REVERT PROJECT</a:t>
            </a:r>
          </a:p>
        </p:txBody>
      </p:sp>
      <p:sp>
        <p:nvSpPr>
          <p:cNvPr id="18" name="Inner &gt; Middle">
            <a:extLst>
              <a:ext uri="{FF2B5EF4-FFF2-40B4-BE49-F238E27FC236}">
                <a16:creationId xmlns:a16="http://schemas.microsoft.com/office/drawing/2014/main" id="{69A60F10-358A-F2D6-D5C2-1A8F4E80E34E}"/>
              </a:ext>
              <a:ext uri="{C183D7F6-B498-43B3-948B-1728B52AA6E4}">
                <adec:decorative xmlns:adec="http://schemas.microsoft.com/office/drawing/2017/decorative" val="1"/>
              </a:ext>
            </a:extLst>
          </p:cNvPr>
          <p:cNvSpPr>
            <a:spLocks noChangeAspect="1"/>
          </p:cNvSpPr>
          <p:nvPr/>
        </p:nvSpPr>
        <p:spPr>
          <a:xfrm flipV="1">
            <a:off x="2565152" y="1965661"/>
            <a:ext cx="3563916" cy="3563915"/>
          </a:xfrm>
          <a:prstGeom prst="arc">
            <a:avLst>
              <a:gd name="adj1" fmla="val 3562138"/>
              <a:gd name="adj2" fmla="val 7636710"/>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15"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6AD8F707-36CF-5F3E-4C94-D41D72314116}"/>
              </a:ext>
            </a:extLst>
          </p:cNvPr>
          <p:cNvSpPr>
            <a:spLocks noChangeAspect="1"/>
          </p:cNvSpPr>
          <p:nvPr/>
        </p:nvSpPr>
        <p:spPr>
          <a:xfrm flipH="1">
            <a:off x="2496712" y="1737790"/>
            <a:ext cx="3549107" cy="3549106"/>
          </a:xfrm>
          <a:prstGeom prst="arc">
            <a:avLst>
              <a:gd name="adj1" fmla="val 3234220"/>
              <a:gd name="adj2" fmla="val 7327573"/>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2" name="Title 1">
            <a:extLst>
              <a:ext uri="{FF2B5EF4-FFF2-40B4-BE49-F238E27FC236}">
                <a16:creationId xmlns:a16="http://schemas.microsoft.com/office/drawing/2014/main" id="{5D922626-44C2-59B4-982C-E2F5322719EA}"/>
              </a:ext>
            </a:extLst>
          </p:cNvPr>
          <p:cNvSpPr>
            <a:spLocks noGrp="1"/>
          </p:cNvSpPr>
          <p:nvPr>
            <p:ph type="title"/>
          </p:nvPr>
        </p:nvSpPr>
        <p:spPr/>
        <p:txBody>
          <a:bodyPr/>
          <a:lstStyle/>
          <a:p>
            <a:r>
              <a:rPr lang="en-US" err="1">
                <a:solidFill>
                  <a:schemeClr val="bg1"/>
                </a:solidFill>
              </a:rPr>
              <a:t>GenAI</a:t>
            </a:r>
            <a:r>
              <a:rPr lang="en-US">
                <a:solidFill>
                  <a:schemeClr val="bg1"/>
                </a:solidFill>
              </a:rPr>
              <a:t> Lifecycle and Best Practices</a:t>
            </a:r>
            <a:endParaRPr lang="en-GB">
              <a:solidFill>
                <a:schemeClr val="bg1"/>
              </a:solidFill>
            </a:endParaRPr>
          </a:p>
        </p:txBody>
      </p:sp>
      <p:sp>
        <p:nvSpPr>
          <p:cNvPr id="3" name="TextBox 2">
            <a:extLst>
              <a:ext uri="{FF2B5EF4-FFF2-40B4-BE49-F238E27FC236}">
                <a16:creationId xmlns:a16="http://schemas.microsoft.com/office/drawing/2014/main" id="{2B120462-1ACD-421D-6788-DE95B8241033}"/>
              </a:ext>
            </a:extLst>
          </p:cNvPr>
          <p:cNvSpPr txBox="1"/>
          <p:nvPr/>
        </p:nvSpPr>
        <p:spPr>
          <a:xfrm>
            <a:off x="629050" y="3528672"/>
            <a:ext cx="296556" cy="16158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50" b="1">
                <a:ln w="3175">
                  <a:noFill/>
                </a:ln>
                <a:solidFill>
                  <a:schemeClr val="bg1">
                    <a:alpha val="25000"/>
                  </a:schemeClr>
                </a:solidFill>
              </a:rPr>
              <a:t>Data</a:t>
            </a:r>
          </a:p>
        </p:txBody>
      </p:sp>
      <p:cxnSp>
        <p:nvCxnSpPr>
          <p:cNvPr id="4" name="Straight Connector 3" descr="Leads to">
            <a:extLst>
              <a:ext uri="{FF2B5EF4-FFF2-40B4-BE49-F238E27FC236}">
                <a16:creationId xmlns:a16="http://schemas.microsoft.com/office/drawing/2014/main" id="{5D610B97-89D4-0F29-B949-388F334EF23E}"/>
              </a:ext>
              <a:ext uri="{C183D7F6-B498-43B3-948B-1728B52AA6E4}">
                <adec:decorative xmlns:adec="http://schemas.microsoft.com/office/drawing/2017/decorative" val="0"/>
              </a:ext>
            </a:extLst>
          </p:cNvPr>
          <p:cNvCxnSpPr>
            <a:cxnSpLocks/>
          </p:cNvCxnSpPr>
          <p:nvPr/>
        </p:nvCxnSpPr>
        <p:spPr>
          <a:xfrm flipH="1">
            <a:off x="1015955" y="3627057"/>
            <a:ext cx="374011" cy="0"/>
          </a:xfrm>
          <a:prstGeom prst="line">
            <a:avLst/>
          </a:prstGeom>
          <a:ln w="9525">
            <a:solidFill>
              <a:schemeClr val="bg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41FD223-04DE-AE2E-0843-36C616DD1461}"/>
              </a:ext>
              <a:ext uri="{C183D7F6-B498-43B3-948B-1728B52AA6E4}">
                <adec:decorative xmlns:adec="http://schemas.microsoft.com/office/drawing/2017/decorative" val="1"/>
              </a:ext>
            </a:extLst>
          </p:cNvPr>
          <p:cNvSpPr txBox="1"/>
          <p:nvPr/>
        </p:nvSpPr>
        <p:spPr>
          <a:xfrm>
            <a:off x="1485799" y="5677592"/>
            <a:ext cx="270995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0078D4"/>
                    </a:gs>
                    <a:gs pos="80000">
                      <a:srgbClr val="399A91"/>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solidFill>
                  <a:schemeClr val="bg1">
                    <a:alpha val="19000"/>
                  </a:schemeClr>
                </a:solidFill>
                <a:latin typeface="Segoe Sans Text Semibold"/>
                <a:cs typeface="Segoe Sans Text" pitchFamily="2" charset="0"/>
              </a:rPr>
              <a:t>Prototyping</a:t>
            </a:r>
          </a:p>
          <a:p>
            <a:pPr algn="ctr" defTabSz="914400">
              <a:defRPr/>
            </a:pPr>
            <a:r>
              <a:rPr lang="en-GB" sz="1050" b="1">
                <a:solidFill>
                  <a:schemeClr val="bg1">
                    <a:alpha val="19000"/>
                  </a:schemeClr>
                </a:solidFill>
                <a:latin typeface="+mn-lt"/>
                <a:cs typeface="Segoe Sans Text" pitchFamily="2" charset="0"/>
              </a:rPr>
              <a:t>Ideating &amp; Explore</a:t>
            </a:r>
          </a:p>
        </p:txBody>
      </p:sp>
      <p:grpSp>
        <p:nvGrpSpPr>
          <p:cNvPr id="62" name="Group 61">
            <a:extLst>
              <a:ext uri="{FF2B5EF4-FFF2-40B4-BE49-F238E27FC236}">
                <a16:creationId xmlns:a16="http://schemas.microsoft.com/office/drawing/2014/main" id="{E81F59C3-0072-0D06-CB2E-EB88B539B85F}"/>
              </a:ext>
            </a:extLst>
          </p:cNvPr>
          <p:cNvGrpSpPr/>
          <p:nvPr/>
        </p:nvGrpSpPr>
        <p:grpSpPr>
          <a:xfrm>
            <a:off x="1493058" y="2275150"/>
            <a:ext cx="2688577" cy="2688578"/>
            <a:chOff x="1493058" y="2275150"/>
            <a:chExt cx="2688577" cy="2688578"/>
          </a:xfrm>
        </p:grpSpPr>
        <p:sp>
          <p:nvSpPr>
            <p:cNvPr id="6" name="Circle: Hollow 5">
              <a:extLst>
                <a:ext uri="{FF2B5EF4-FFF2-40B4-BE49-F238E27FC236}">
                  <a16:creationId xmlns:a16="http://schemas.microsoft.com/office/drawing/2014/main" id="{FEB1B792-A31A-6DD6-AF1F-E8503E7DA57D}"/>
                </a:ext>
                <a:ext uri="{C183D7F6-B498-43B3-948B-1728B52AA6E4}">
                  <adec:decorative xmlns:adec="http://schemas.microsoft.com/office/drawing/2017/decorative" val="1"/>
                </a:ext>
              </a:extLst>
            </p:cNvPr>
            <p:cNvSpPr>
              <a:spLocks noChangeAspect="1"/>
            </p:cNvSpPr>
            <p:nvPr/>
          </p:nvSpPr>
          <p:spPr bwMode="auto">
            <a:xfrm>
              <a:off x="1493058" y="2275150"/>
              <a:ext cx="2688577" cy="2688578"/>
            </a:xfrm>
            <a:prstGeom prst="donut">
              <a:avLst>
                <a:gd name="adj" fmla="val 12613"/>
              </a:avLst>
            </a:prstGeom>
            <a:gradFill flip="none" rotWithShape="1">
              <a:gsLst>
                <a:gs pos="0">
                  <a:srgbClr val="0078D4">
                    <a:alpha val="12000"/>
                  </a:srgbClr>
                </a:gs>
                <a:gs pos="80000">
                  <a:srgbClr val="399A91">
                    <a:alpha val="20000"/>
                  </a:srgbClr>
                </a:gs>
              </a:gsLst>
              <a:path path="circle">
                <a:fillToRect l="100000" t="100000"/>
              </a:path>
              <a:tileRect r="-100000" b="-100000"/>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alpha val="25000"/>
                  </a:srgbClr>
                </a:solidFill>
                <a:effectLst/>
                <a:uLnTx/>
                <a:uFillTx/>
                <a:ea typeface="+mn-ea"/>
                <a:cs typeface="+mn-cs"/>
              </a:endParaRPr>
            </a:p>
          </p:txBody>
        </p:sp>
        <p:sp>
          <p:nvSpPr>
            <p:cNvPr id="7" name="TextBox 6">
              <a:extLst>
                <a:ext uri="{FF2B5EF4-FFF2-40B4-BE49-F238E27FC236}">
                  <a16:creationId xmlns:a16="http://schemas.microsoft.com/office/drawing/2014/main" id="{A4232E9A-FD11-6CC6-AE5D-BD8F27EB8898}"/>
                </a:ext>
                <a:ext uri="{C183D7F6-B498-43B3-948B-1728B52AA6E4}">
                  <adec:decorative xmlns:adec="http://schemas.microsoft.com/office/drawing/2017/decorative" val="1"/>
                </a:ext>
              </a:extLst>
            </p:cNvPr>
            <p:cNvSpPr txBox="1">
              <a:spLocks noChangeAspect="1"/>
            </p:cNvSpPr>
            <p:nvPr/>
          </p:nvSpPr>
          <p:spPr>
            <a:xfrm rot="1643445">
              <a:off x="1632640" y="2464411"/>
              <a:ext cx="2439784" cy="2439784"/>
            </a:xfrm>
            <a:prstGeom prst="rect">
              <a:avLst/>
            </a:prstGeom>
            <a:noFill/>
          </p:spPr>
          <p:txBody>
            <a:bodyPr wrap="square" lIns="0" tIns="0" rIns="0" bIns="0" rtlCol="0">
              <a:prstTxWarp prst="textArchUp">
                <a:avLst>
                  <a:gd name="adj" fmla="val 1261381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Establish feasibility </a:t>
              </a:r>
            </a:p>
          </p:txBody>
        </p:sp>
        <p:sp>
          <p:nvSpPr>
            <p:cNvPr id="9" name="TextBox 8">
              <a:extLst>
                <a:ext uri="{FF2B5EF4-FFF2-40B4-BE49-F238E27FC236}">
                  <a16:creationId xmlns:a16="http://schemas.microsoft.com/office/drawing/2014/main" id="{B8554D9F-7C67-3326-7396-39931CC850B3}"/>
                </a:ext>
                <a:ext uri="{C183D7F6-B498-43B3-948B-1728B52AA6E4}">
                  <adec:decorative xmlns:adec="http://schemas.microsoft.com/office/drawing/2017/decorative" val="1"/>
                </a:ext>
              </a:extLst>
            </p:cNvPr>
            <p:cNvSpPr txBox="1">
              <a:spLocks noChangeAspect="1"/>
            </p:cNvSpPr>
            <p:nvPr/>
          </p:nvSpPr>
          <p:spPr>
            <a:xfrm rot="11682144">
              <a:off x="1662441" y="2406264"/>
              <a:ext cx="2289378" cy="2384153"/>
            </a:xfrm>
            <a:prstGeom prst="rect">
              <a:avLst/>
            </a:prstGeom>
            <a:noFill/>
          </p:spPr>
          <p:txBody>
            <a:bodyPr wrap="square" lIns="0" tIns="0" rIns="0" bIns="0" rtlCol="0">
              <a:prstTxWarp prst="textArchUp">
                <a:avLst>
                  <a:gd name="adj" fmla="val 13727663"/>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Test   Prompts</a:t>
              </a:r>
            </a:p>
          </p:txBody>
        </p:sp>
        <p:sp>
          <p:nvSpPr>
            <p:cNvPr id="8" name="TextBox 7">
              <a:extLst>
                <a:ext uri="{FF2B5EF4-FFF2-40B4-BE49-F238E27FC236}">
                  <a16:creationId xmlns:a16="http://schemas.microsoft.com/office/drawing/2014/main" id="{455E8E3B-F631-4F83-28F0-CA8B1797BC56}"/>
                </a:ext>
                <a:ext uri="{C183D7F6-B498-43B3-948B-1728B52AA6E4}">
                  <adec:decorative xmlns:adec="http://schemas.microsoft.com/office/drawing/2017/decorative" val="1"/>
                </a:ext>
              </a:extLst>
            </p:cNvPr>
            <p:cNvSpPr txBox="1">
              <a:spLocks noChangeAspect="1"/>
            </p:cNvSpPr>
            <p:nvPr/>
          </p:nvSpPr>
          <p:spPr>
            <a:xfrm rot="16200000">
              <a:off x="1676692" y="2461064"/>
              <a:ext cx="2293484" cy="2293484"/>
            </a:xfrm>
            <a:prstGeom prst="rect">
              <a:avLst/>
            </a:prstGeom>
            <a:noFill/>
          </p:spPr>
          <p:txBody>
            <a:bodyPr wrap="square" lIns="0" tIns="0" rIns="0" bIns="0" rtlCol="0">
              <a:prstTxWarp prst="textArchUp">
                <a:avLst>
                  <a:gd name="adj" fmla="val 1420148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Choose LLM or SLM</a:t>
              </a:r>
            </a:p>
          </p:txBody>
        </p:sp>
        <p:sp>
          <p:nvSpPr>
            <p:cNvPr id="10" name="TextBox 9">
              <a:extLst>
                <a:ext uri="{FF2B5EF4-FFF2-40B4-BE49-F238E27FC236}">
                  <a16:creationId xmlns:a16="http://schemas.microsoft.com/office/drawing/2014/main" id="{43C18311-6D25-9B9E-B726-8B82DC0F14BF}"/>
                </a:ext>
                <a:ext uri="{C183D7F6-B498-43B3-948B-1728B52AA6E4}">
                  <adec:decorative xmlns:adec="http://schemas.microsoft.com/office/drawing/2017/decorative" val="1"/>
                </a:ext>
              </a:extLst>
            </p:cNvPr>
            <p:cNvSpPr txBox="1">
              <a:spLocks noChangeAspect="1"/>
            </p:cNvSpPr>
            <p:nvPr/>
          </p:nvSpPr>
          <p:spPr>
            <a:xfrm rot="5400000">
              <a:off x="1687616" y="2515859"/>
              <a:ext cx="2293484" cy="2293484"/>
            </a:xfrm>
            <a:prstGeom prst="rect">
              <a:avLst/>
            </a:prstGeom>
            <a:noFill/>
          </p:spPr>
          <p:txBody>
            <a:bodyPr wrap="square" lIns="0" tIns="0" rIns="0" bIns="0" rtlCol="0">
              <a:prstTxWarp prst="textArchUp">
                <a:avLst>
                  <a:gd name="adj" fmla="val 1297096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rgbClr val="FFFFFF">
                      <a:alpha val="25000"/>
                    </a:srgbClr>
                  </a:solidFill>
                  <a:latin typeface="+mj-lt"/>
                </a:rPr>
                <a:t>                 Define Use Case </a:t>
              </a:r>
              <a:endParaRPr kumimoji="0" lang="en-GB" sz="1100" b="0" i="0" u="none" strike="noStrike" kern="1200" cap="none" spc="0" normalizeH="0" baseline="0" noProof="0">
                <a:ln>
                  <a:noFill/>
                </a:ln>
                <a:solidFill>
                  <a:srgbClr val="FFFFFF">
                    <a:alpha val="25000"/>
                  </a:srgbClr>
                </a:solidFill>
                <a:effectLst/>
                <a:uLnTx/>
                <a:uFillTx/>
                <a:latin typeface="+mj-lt"/>
              </a:endParaRPr>
            </a:p>
          </p:txBody>
        </p:sp>
        <p:sp>
          <p:nvSpPr>
            <p:cNvPr id="11" name="Inner &gt; Middle">
              <a:extLst>
                <a:ext uri="{FF2B5EF4-FFF2-40B4-BE49-F238E27FC236}">
                  <a16:creationId xmlns:a16="http://schemas.microsoft.com/office/drawing/2014/main" id="{15464ED7-3217-56C3-08BB-75D66177EEFE}"/>
                </a:ext>
                <a:ext uri="{C183D7F6-B498-43B3-948B-1728B52AA6E4}">
                  <adec:decorative xmlns:adec="http://schemas.microsoft.com/office/drawing/2017/decorative" val="1"/>
                </a:ext>
              </a:extLst>
            </p:cNvPr>
            <p:cNvSpPr>
              <a:spLocks noChangeAspect="1"/>
            </p:cNvSpPr>
            <p:nvPr/>
          </p:nvSpPr>
          <p:spPr>
            <a:xfrm flipV="1">
              <a:off x="1937941" y="2707290"/>
              <a:ext cx="1798812" cy="1798811"/>
            </a:xfrm>
            <a:prstGeom prst="arc">
              <a:avLst>
                <a:gd name="adj1" fmla="val 8319039"/>
                <a:gd name="adj2" fmla="val 7957849"/>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740495" rtl="0" eaLnBrk="1" fontAlgn="auto" latinLnBrk="0" hangingPunct="1">
                <a:lnSpc>
                  <a:spcPct val="100000"/>
                </a:lnSpc>
                <a:spcBef>
                  <a:spcPts val="0"/>
                </a:spcBef>
                <a:spcAft>
                  <a:spcPts val="0"/>
                </a:spcAft>
                <a:buClrTx/>
                <a:buSzTx/>
                <a:buFontTx/>
                <a:buNone/>
                <a:tabLst/>
                <a:defRPr/>
              </a:pPr>
              <a:endParaRPr kumimoji="0" lang="en-GB" sz="1429" b="0" i="0" u="none" strike="noStrike" kern="1200" cap="none" spc="0" normalizeH="0" baseline="0" noProof="0">
                <a:ln>
                  <a:noFill/>
                </a:ln>
                <a:solidFill>
                  <a:prstClr val="black">
                    <a:alpha val="25000"/>
                  </a:prstClr>
                </a:solidFill>
                <a:effectLst/>
                <a:uLnTx/>
                <a:uFillTx/>
                <a:ea typeface="+mn-ea"/>
                <a:cs typeface="+mn-cs"/>
              </a:endParaRPr>
            </a:p>
          </p:txBody>
        </p:sp>
        <p:sp>
          <p:nvSpPr>
            <p:cNvPr id="13" name="Rectangle 12">
              <a:extLst>
                <a:ext uri="{FF2B5EF4-FFF2-40B4-BE49-F238E27FC236}">
                  <a16:creationId xmlns:a16="http://schemas.microsoft.com/office/drawing/2014/main" id="{C7317AF7-6981-1EEC-6CF1-1CF51A7BEC62}"/>
                </a:ext>
                <a:ext uri="{C183D7F6-B498-43B3-948B-1728B52AA6E4}">
                  <adec:decorative xmlns:adec="http://schemas.microsoft.com/office/drawing/2017/decorative" val="1"/>
                </a:ext>
              </a:extLst>
            </p:cNvPr>
            <p:cNvSpPr/>
            <p:nvPr/>
          </p:nvSpPr>
          <p:spPr bwMode="auto">
            <a:xfrm>
              <a:off x="2063784" y="2950245"/>
              <a:ext cx="1528509" cy="133003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alpha val="25000"/>
                    </a:schemeClr>
                  </a:solidFill>
                  <a:latin typeface="+mj-lt"/>
                </a:rPr>
                <a:t>Prove that it works</a:t>
              </a:r>
            </a:p>
          </p:txBody>
        </p:sp>
      </p:grpSp>
      <p:sp>
        <p:nvSpPr>
          <p:cNvPr id="23" name="TextBox 22">
            <a:extLst>
              <a:ext uri="{FF2B5EF4-FFF2-40B4-BE49-F238E27FC236}">
                <a16:creationId xmlns:a16="http://schemas.microsoft.com/office/drawing/2014/main" id="{071262E2-936F-5F83-2AED-33805A448D1F}"/>
              </a:ext>
              <a:ext uri="{C183D7F6-B498-43B3-948B-1728B52AA6E4}">
                <adec:decorative xmlns:adec="http://schemas.microsoft.com/office/drawing/2017/decorative" val="1"/>
              </a:ext>
            </a:extLst>
          </p:cNvPr>
          <p:cNvSpPr txBox="1"/>
          <p:nvPr/>
        </p:nvSpPr>
        <p:spPr>
          <a:xfrm>
            <a:off x="4676618" y="5682066"/>
            <a:ext cx="2798819"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C03BC4"/>
                    </a:gs>
                    <a:gs pos="80000">
                      <a:srgbClr val="0078D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solidFill>
                  <a:schemeClr val="bg1">
                    <a:alpha val="19000"/>
                  </a:schemeClr>
                </a:solidFill>
                <a:latin typeface="Segoe Sans Text Semibold"/>
                <a:cs typeface="Segoe Sans Text" pitchFamily="2" charset="0"/>
              </a:rPr>
              <a:t>Optimizing</a:t>
            </a:r>
          </a:p>
          <a:p>
            <a:pPr algn="ctr" defTabSz="914400">
              <a:defRPr/>
            </a:pPr>
            <a:r>
              <a:rPr lang="en-GB" sz="1050" b="1">
                <a:solidFill>
                  <a:schemeClr val="bg1">
                    <a:alpha val="19000"/>
                  </a:schemeClr>
                </a:solidFill>
                <a:latin typeface="+mn-lt"/>
                <a:cs typeface="Segoe Sans Text" pitchFamily="2" charset="0"/>
              </a:rPr>
              <a:t>Design &amp; Customize</a:t>
            </a:r>
          </a:p>
        </p:txBody>
      </p:sp>
      <p:grpSp>
        <p:nvGrpSpPr>
          <p:cNvPr id="63" name="Group 62">
            <a:extLst>
              <a:ext uri="{FF2B5EF4-FFF2-40B4-BE49-F238E27FC236}">
                <a16:creationId xmlns:a16="http://schemas.microsoft.com/office/drawing/2014/main" id="{B57F6B3E-93CF-FB7C-051B-CD4C45421FC7}"/>
              </a:ext>
            </a:extLst>
          </p:cNvPr>
          <p:cNvGrpSpPr/>
          <p:nvPr/>
        </p:nvGrpSpPr>
        <p:grpSpPr>
          <a:xfrm>
            <a:off x="4278933" y="1544233"/>
            <a:ext cx="3378292" cy="3673783"/>
            <a:chOff x="4278933" y="1544233"/>
            <a:chExt cx="3378292" cy="3673783"/>
          </a:xfrm>
        </p:grpSpPr>
        <p:sp>
          <p:nvSpPr>
            <p:cNvPr id="19" name="Circle: Hollow 18">
              <a:extLst>
                <a:ext uri="{FF2B5EF4-FFF2-40B4-BE49-F238E27FC236}">
                  <a16:creationId xmlns:a16="http://schemas.microsoft.com/office/drawing/2014/main" id="{281B6EE7-7245-C77D-7AC9-0CB95F14D000}"/>
                </a:ext>
                <a:ext uri="{C183D7F6-B498-43B3-948B-1728B52AA6E4}">
                  <adec:decorative xmlns:adec="http://schemas.microsoft.com/office/drawing/2017/decorative" val="1"/>
                </a:ext>
              </a:extLst>
            </p:cNvPr>
            <p:cNvSpPr>
              <a:spLocks noChangeAspect="1"/>
            </p:cNvSpPr>
            <p:nvPr/>
          </p:nvSpPr>
          <p:spPr bwMode="auto">
            <a:xfrm rot="1000141">
              <a:off x="4460071" y="2020862"/>
              <a:ext cx="3197154" cy="3197154"/>
            </a:xfrm>
            <a:prstGeom prst="donut">
              <a:avLst>
                <a:gd name="adj" fmla="val 11285"/>
              </a:avLst>
            </a:prstGeom>
            <a:gradFill>
              <a:gsLst>
                <a:gs pos="0">
                  <a:srgbClr val="0078D4">
                    <a:alpha val="12000"/>
                  </a:srgbClr>
                </a:gs>
                <a:gs pos="80000">
                  <a:srgbClr val="399A91">
                    <a:alpha val="20000"/>
                  </a:srgbClr>
                </a:gs>
              </a:gsLst>
              <a:path path="circle">
                <a:fillToRect l="100000" t="100000"/>
              </a:path>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alpha val="25000"/>
                  </a:srgbClr>
                </a:solidFill>
                <a:effectLst/>
                <a:uLnTx/>
                <a:uFillTx/>
                <a:ea typeface="+mn-ea"/>
                <a:cs typeface="+mn-cs"/>
              </a:endParaRPr>
            </a:p>
          </p:txBody>
        </p:sp>
        <p:sp>
          <p:nvSpPr>
            <p:cNvPr id="20" name="TextBox 19">
              <a:extLst>
                <a:ext uri="{FF2B5EF4-FFF2-40B4-BE49-F238E27FC236}">
                  <a16:creationId xmlns:a16="http://schemas.microsoft.com/office/drawing/2014/main" id="{4E1B7A32-ACD5-E0C7-F120-5064B47E9B59}"/>
                </a:ext>
                <a:ext uri="{C183D7F6-B498-43B3-948B-1728B52AA6E4}">
                  <adec:decorative xmlns:adec="http://schemas.microsoft.com/office/drawing/2017/decorative" val="1"/>
                </a:ext>
              </a:extLst>
            </p:cNvPr>
            <p:cNvSpPr txBox="1">
              <a:spLocks noChangeAspect="1"/>
            </p:cNvSpPr>
            <p:nvPr/>
          </p:nvSpPr>
          <p:spPr>
            <a:xfrm rot="8693215">
              <a:off x="4278933" y="1544233"/>
              <a:ext cx="3111987" cy="3554728"/>
            </a:xfrm>
            <a:prstGeom prst="rect">
              <a:avLst/>
            </a:prstGeom>
            <a:noFill/>
          </p:spPr>
          <p:txBody>
            <a:bodyPr wrap="square" lIns="0" tIns="0" rIns="0" bIns="0" rtlCol="0">
              <a:prstTxWarp prst="textArchUp">
                <a:avLst>
                  <a:gd name="adj" fmla="val 12806076"/>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err="1">
                  <a:solidFill>
                    <a:srgbClr val="FFFFFF">
                      <a:alpha val="25000"/>
                    </a:srgbClr>
                  </a:solidFill>
                  <a:latin typeface="+mj-lt"/>
                </a:rPr>
                <a:t>Orchestraion</a:t>
              </a:r>
              <a:r>
                <a:rPr lang="en-GB" sz="1100">
                  <a:solidFill>
                    <a:srgbClr val="FFFFFF">
                      <a:alpha val="25000"/>
                    </a:srgbClr>
                  </a:solidFill>
                  <a:latin typeface="+mj-lt"/>
                </a:rPr>
                <a:t>   Integration    Debugging</a:t>
              </a:r>
              <a:endParaRPr kumimoji="0" lang="en-GB" sz="1100" b="0" i="0" u="none" strike="noStrike" kern="1200" cap="none" spc="0" normalizeH="0" baseline="0" noProof="0">
                <a:ln>
                  <a:noFill/>
                </a:ln>
                <a:solidFill>
                  <a:srgbClr val="FFFFFF">
                    <a:alpha val="25000"/>
                  </a:srgbClr>
                </a:solidFill>
                <a:effectLst/>
                <a:uLnTx/>
                <a:uFillTx/>
                <a:latin typeface="+mj-lt"/>
              </a:endParaRPr>
            </a:p>
          </p:txBody>
        </p:sp>
        <p:sp>
          <p:nvSpPr>
            <p:cNvPr id="21" name="TextBox 20">
              <a:extLst>
                <a:ext uri="{FF2B5EF4-FFF2-40B4-BE49-F238E27FC236}">
                  <a16:creationId xmlns:a16="http://schemas.microsoft.com/office/drawing/2014/main" id="{1DF044A6-C7D7-A23D-60D1-23C1A7EA76E2}"/>
                </a:ext>
                <a:ext uri="{C183D7F6-B498-43B3-948B-1728B52AA6E4}">
                  <adec:decorative xmlns:adec="http://schemas.microsoft.com/office/drawing/2017/decorative" val="1"/>
                </a:ext>
              </a:extLst>
            </p:cNvPr>
            <p:cNvSpPr txBox="1">
              <a:spLocks noChangeAspect="1"/>
            </p:cNvSpPr>
            <p:nvPr/>
          </p:nvSpPr>
          <p:spPr>
            <a:xfrm>
              <a:off x="4663552" y="2211303"/>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 Techniques - Prompt Engineering, RAG, Fine-tuning</a:t>
              </a:r>
            </a:p>
          </p:txBody>
        </p:sp>
        <p:sp>
          <p:nvSpPr>
            <p:cNvPr id="25" name="TextBox 24">
              <a:extLst>
                <a:ext uri="{FF2B5EF4-FFF2-40B4-BE49-F238E27FC236}">
                  <a16:creationId xmlns:a16="http://schemas.microsoft.com/office/drawing/2014/main" id="{1D266F32-71A7-D0A2-0D65-41E88D155470}"/>
                </a:ext>
                <a:ext uri="{C183D7F6-B498-43B3-948B-1728B52AA6E4}">
                  <adec:decorative xmlns:adec="http://schemas.microsoft.com/office/drawing/2017/decorative" val="1"/>
                </a:ext>
              </a:extLst>
            </p:cNvPr>
            <p:cNvSpPr txBox="1">
              <a:spLocks noChangeAspect="1"/>
            </p:cNvSpPr>
            <p:nvPr/>
          </p:nvSpPr>
          <p:spPr>
            <a:xfrm rot="14349291">
              <a:off x="4636304" y="2194099"/>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 Define Metrics     Evaluation</a:t>
              </a:r>
            </a:p>
          </p:txBody>
        </p:sp>
        <p:sp>
          <p:nvSpPr>
            <p:cNvPr id="22" name="Inner &gt; Middle">
              <a:extLst>
                <a:ext uri="{FF2B5EF4-FFF2-40B4-BE49-F238E27FC236}">
                  <a16:creationId xmlns:a16="http://schemas.microsoft.com/office/drawing/2014/main" id="{DBA03F53-787A-320B-5FAD-BCAEDD80DA35}"/>
                </a:ext>
                <a:ext uri="{C183D7F6-B498-43B3-948B-1728B52AA6E4}">
                  <adec:decorative xmlns:adec="http://schemas.microsoft.com/office/drawing/2017/decorative" val="1"/>
                </a:ext>
              </a:extLst>
            </p:cNvPr>
            <p:cNvSpPr>
              <a:spLocks noChangeAspect="1"/>
            </p:cNvSpPr>
            <p:nvPr/>
          </p:nvSpPr>
          <p:spPr>
            <a:xfrm flipV="1">
              <a:off x="4933374" y="2486913"/>
              <a:ext cx="2257898" cy="2257897"/>
            </a:xfrm>
            <a:prstGeom prst="arc">
              <a:avLst>
                <a:gd name="adj1" fmla="val 7569981"/>
                <a:gd name="adj2" fmla="val 7363122"/>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26" name="Rectangle 25">
              <a:extLst>
                <a:ext uri="{FF2B5EF4-FFF2-40B4-BE49-F238E27FC236}">
                  <a16:creationId xmlns:a16="http://schemas.microsoft.com/office/drawing/2014/main" id="{B54B1851-0868-1097-5DD0-870D6CDB3E2C}"/>
                </a:ext>
              </a:extLst>
            </p:cNvPr>
            <p:cNvSpPr/>
            <p:nvPr/>
          </p:nvSpPr>
          <p:spPr bwMode="auto">
            <a:xfrm>
              <a:off x="5102546" y="2950245"/>
              <a:ext cx="1926170" cy="142710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alpha val="25000"/>
                    </a:schemeClr>
                  </a:solidFill>
                  <a:latin typeface="+mj-lt"/>
                </a:rPr>
                <a:t>Building &amp; Augmenting</a:t>
              </a:r>
            </a:p>
          </p:txBody>
        </p:sp>
      </p:grpSp>
      <p:sp>
        <p:nvSpPr>
          <p:cNvPr id="40" name="BUSINESS NEED"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323D2A0A-FB41-83A9-DC05-AC9D2B2235A3}"/>
              </a:ext>
            </a:extLst>
          </p:cNvPr>
          <p:cNvSpPr txBox="1"/>
          <p:nvPr/>
        </p:nvSpPr>
        <p:spPr>
          <a:xfrm>
            <a:off x="585217" y="2456663"/>
            <a:ext cx="818622" cy="446469"/>
          </a:xfrm>
          <a:prstGeom prst="rect">
            <a:avLst/>
          </a:prstGeom>
          <a:noFill/>
        </p:spPr>
        <p:txBody>
          <a:bodyPr wrap="none" rtlCol="0">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lang="en-US" sz="1000" b="1" spc="32">
                <a:ln w="3175">
                  <a:noFill/>
                </a:ln>
                <a:solidFill>
                  <a:schemeClr val="bg1">
                    <a:alpha val="25000"/>
                  </a:schemeClr>
                </a:solidFill>
                <a:cs typeface="Segoe Sans Text" pitchFamily="2" charset="0"/>
              </a:rPr>
              <a:t>BUSINESS</a:t>
            </a:r>
            <a:br>
              <a:rPr lang="en-US" sz="1000" b="1" spc="32">
                <a:ln w="3175">
                  <a:noFill/>
                </a:ln>
                <a:solidFill>
                  <a:schemeClr val="bg1">
                    <a:alpha val="25000"/>
                  </a:schemeClr>
                </a:solidFill>
                <a:cs typeface="Segoe Sans Text" pitchFamily="2" charset="0"/>
              </a:rPr>
            </a:br>
            <a:r>
              <a:rPr lang="en-US" sz="1000" b="1" spc="32">
                <a:ln w="3175">
                  <a:noFill/>
                </a:ln>
                <a:solidFill>
                  <a:schemeClr val="bg1">
                    <a:alpha val="25000"/>
                  </a:schemeClr>
                </a:solidFill>
                <a:cs typeface="Segoe Sans Text" pitchFamily="2" charset="0"/>
              </a:rPr>
              <a:t>NEED</a:t>
            </a:r>
          </a:p>
        </p:txBody>
      </p:sp>
      <p:sp>
        <p:nvSpPr>
          <p:cNvPr id="41"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097E827E-F356-04ED-BA7F-DD9BC8DAF1AC}"/>
              </a:ext>
            </a:extLst>
          </p:cNvPr>
          <p:cNvSpPr>
            <a:spLocks noChangeAspect="1"/>
          </p:cNvSpPr>
          <p:nvPr/>
        </p:nvSpPr>
        <p:spPr>
          <a:xfrm flipH="1">
            <a:off x="1100697" y="2179207"/>
            <a:ext cx="1530771" cy="1531095"/>
          </a:xfrm>
          <a:prstGeom prst="arc">
            <a:avLst>
              <a:gd name="adj1" fmla="val 14631255"/>
              <a:gd name="adj2" fmla="val 19066496"/>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5" name="PREPARE FOR APP DEPLOYMENT">
            <a:extLst>
              <a:ext uri="{FF2B5EF4-FFF2-40B4-BE49-F238E27FC236}">
                <a16:creationId xmlns:a16="http://schemas.microsoft.com/office/drawing/2014/main" id="{BC0B0374-AC03-1BC0-63E6-8B6536B6D247}"/>
              </a:ext>
              <a:ext uri="{C183D7F6-B498-43B3-948B-1728B52AA6E4}">
                <adec:decorative xmlns:adec="http://schemas.microsoft.com/office/drawing/2017/decorative" val="1"/>
              </a:ext>
            </a:extLst>
          </p:cNvPr>
          <p:cNvSpPr txBox="1"/>
          <p:nvPr/>
        </p:nvSpPr>
        <p:spPr>
          <a:xfrm rot="21253932">
            <a:off x="5868077" y="1262647"/>
            <a:ext cx="3878850" cy="2699173"/>
          </a:xfrm>
          <a:prstGeom prst="ellipse">
            <a:avLst/>
          </a:prstGeom>
          <a:noFill/>
          <a:effectLst/>
        </p:spPr>
        <p:txBody>
          <a:bodyPr wrap="none" rtlCol="0">
            <a:prstTxWarp prst="textArchUp">
              <a:avLst>
                <a:gd name="adj" fmla="val 12686236"/>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ADVANCE PROJECT</a:t>
            </a:r>
            <a:endParaRPr kumimoji="0" lang="en-US" sz="1000" b="1" i="0" u="sng" strike="noStrike" kern="1200" cap="none" spc="32" normalizeH="0" baseline="0" noProof="0">
              <a:ln w="3175">
                <a:noFill/>
              </a:ln>
              <a:solidFill>
                <a:schemeClr val="bg1"/>
              </a:solidFill>
              <a:effectLst/>
              <a:uLnTx/>
              <a:uFillTx/>
              <a:ea typeface="+mn-ea"/>
              <a:cs typeface="Segoe Sans Text" pitchFamily="2" charset="0"/>
            </a:endParaRPr>
          </a:p>
        </p:txBody>
      </p:sp>
      <p:sp>
        <p:nvSpPr>
          <p:cNvPr id="14" name="SEND FEEDBACK">
            <a:extLst>
              <a:ext uri="{FF2B5EF4-FFF2-40B4-BE49-F238E27FC236}">
                <a16:creationId xmlns:a16="http://schemas.microsoft.com/office/drawing/2014/main" id="{7BC4B198-7A57-788E-FC34-F5DF39D2D597}"/>
              </a:ext>
              <a:ext uri="{C183D7F6-B498-43B3-948B-1728B52AA6E4}">
                <adec:decorative xmlns:adec="http://schemas.microsoft.com/office/drawing/2017/decorative" val="1"/>
              </a:ext>
            </a:extLst>
          </p:cNvPr>
          <p:cNvSpPr txBox="1"/>
          <p:nvPr/>
        </p:nvSpPr>
        <p:spPr>
          <a:xfrm>
            <a:off x="7217230" y="4645518"/>
            <a:ext cx="1692304" cy="770249"/>
          </a:xfrm>
          <a:prstGeom prst="rect">
            <a:avLst/>
          </a:prstGeom>
          <a:noFill/>
        </p:spPr>
        <p:txBody>
          <a:bodyPr wrap="none" rtlCol="0">
            <a:prstTxWarp prst="textArchDown">
              <a:avLst>
                <a:gd name="adj" fmla="val 1663301"/>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solidFill>
                <a:effectLst/>
                <a:uLnTx/>
                <a:uFillTx/>
                <a:ea typeface="+mn-ea"/>
                <a:cs typeface="Segoe Sans Text" pitchFamily="2" charset="0"/>
              </a:rPr>
              <a:t>REVERT PROJECT</a:t>
            </a:r>
          </a:p>
        </p:txBody>
      </p:sp>
      <p:sp>
        <p:nvSpPr>
          <p:cNvPr id="16" name="Inner &gt; Middle">
            <a:extLst>
              <a:ext uri="{FF2B5EF4-FFF2-40B4-BE49-F238E27FC236}">
                <a16:creationId xmlns:a16="http://schemas.microsoft.com/office/drawing/2014/main" id="{F89DA31E-45EF-E91E-18EA-C625FE137EC1}"/>
              </a:ext>
              <a:ext uri="{C183D7F6-B498-43B3-948B-1728B52AA6E4}">
                <adec:decorative xmlns:adec="http://schemas.microsoft.com/office/drawing/2017/decorative" val="1"/>
              </a:ext>
            </a:extLst>
          </p:cNvPr>
          <p:cNvSpPr>
            <a:spLocks noChangeAspect="1"/>
          </p:cNvSpPr>
          <p:nvPr/>
        </p:nvSpPr>
        <p:spPr>
          <a:xfrm flipV="1">
            <a:off x="6111799" y="1795961"/>
            <a:ext cx="3549106" cy="3549106"/>
          </a:xfrm>
          <a:prstGeom prst="arc">
            <a:avLst>
              <a:gd name="adj1" fmla="val 3543377"/>
              <a:gd name="adj2" fmla="val 7641374"/>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27" name="Inner &gt; Middle">
            <a:extLst>
              <a:ext uri="{FF2B5EF4-FFF2-40B4-BE49-F238E27FC236}">
                <a16:creationId xmlns:a16="http://schemas.microsoft.com/office/drawing/2014/main" id="{2D0529E0-84E3-B6EC-8989-72E8DB062F15}"/>
              </a:ext>
              <a:ext uri="{C183D7F6-B498-43B3-948B-1728B52AA6E4}">
                <adec:decorative xmlns:adec="http://schemas.microsoft.com/office/drawing/2017/decorative" val="1"/>
              </a:ext>
            </a:extLst>
          </p:cNvPr>
          <p:cNvSpPr>
            <a:spLocks noChangeAspect="1"/>
          </p:cNvSpPr>
          <p:nvPr/>
        </p:nvSpPr>
        <p:spPr>
          <a:xfrm flipH="1">
            <a:off x="6129068" y="1672847"/>
            <a:ext cx="3878848" cy="3878848"/>
          </a:xfrm>
          <a:prstGeom prst="arc">
            <a:avLst>
              <a:gd name="adj1" fmla="val 2950208"/>
              <a:gd name="adj2" fmla="val 7486031"/>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38" name="TextBox 37">
            <a:extLst>
              <a:ext uri="{FF2B5EF4-FFF2-40B4-BE49-F238E27FC236}">
                <a16:creationId xmlns:a16="http://schemas.microsoft.com/office/drawing/2014/main" id="{3A96CBB2-8949-6C86-7EDC-2A3F8CB4BC4E}"/>
              </a:ext>
              <a:ext uri="{C183D7F6-B498-43B3-948B-1728B52AA6E4}">
                <adec:decorative xmlns:adec="http://schemas.microsoft.com/office/drawing/2017/decorative" val="1"/>
              </a:ext>
            </a:extLst>
          </p:cNvPr>
          <p:cNvSpPr txBox="1"/>
          <p:nvPr/>
        </p:nvSpPr>
        <p:spPr>
          <a:xfrm>
            <a:off x="8121823" y="5677592"/>
            <a:ext cx="315176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FF5C39"/>
                    </a:gs>
                    <a:gs pos="80000">
                      <a:srgbClr val="C03BC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gradFill>
                  <a:gsLst>
                    <a:gs pos="0">
                      <a:srgbClr val="BDF2BD"/>
                    </a:gs>
                    <a:gs pos="100000">
                      <a:srgbClr val="C3E9FC"/>
                    </a:gs>
                  </a:gsLst>
                  <a:lin ang="5400000" scaled="1"/>
                </a:gradFill>
                <a:latin typeface="Segoe Sans Text Semibold"/>
                <a:cs typeface="Segoe Sans Text" pitchFamily="2" charset="0"/>
              </a:rPr>
              <a:t>Operationalizing</a:t>
            </a:r>
          </a:p>
          <a:p>
            <a:pPr algn="ctr" defTabSz="914400">
              <a:defRPr/>
            </a:pPr>
            <a:r>
              <a:rPr lang="en-GB" sz="1050" b="1">
                <a:solidFill>
                  <a:schemeClr val="bg1"/>
                </a:solidFill>
                <a:latin typeface="+mn-lt"/>
                <a:cs typeface="Segoe Sans Text" pitchFamily="2" charset="0"/>
              </a:rPr>
              <a:t>Manage &amp; Optimize</a:t>
            </a:r>
          </a:p>
        </p:txBody>
      </p:sp>
      <p:grpSp>
        <p:nvGrpSpPr>
          <p:cNvPr id="42" name="Group 41">
            <a:extLst>
              <a:ext uri="{FF2B5EF4-FFF2-40B4-BE49-F238E27FC236}">
                <a16:creationId xmlns:a16="http://schemas.microsoft.com/office/drawing/2014/main" id="{BA857E83-66B7-FD3E-ACDF-E989372BC6FD}"/>
              </a:ext>
            </a:extLst>
          </p:cNvPr>
          <p:cNvGrpSpPr/>
          <p:nvPr/>
        </p:nvGrpSpPr>
        <p:grpSpPr>
          <a:xfrm>
            <a:off x="7935661" y="1857394"/>
            <a:ext cx="3524090" cy="3524090"/>
            <a:chOff x="7935661" y="1857394"/>
            <a:chExt cx="3524090" cy="3524090"/>
          </a:xfrm>
        </p:grpSpPr>
        <p:sp useBgFill="1">
          <p:nvSpPr>
            <p:cNvPr id="43" name="Circle: Hollow 42">
              <a:extLst>
                <a:ext uri="{FF2B5EF4-FFF2-40B4-BE49-F238E27FC236}">
                  <a16:creationId xmlns:a16="http://schemas.microsoft.com/office/drawing/2014/main" id="{E4BB911C-3693-FEBA-0685-B8104D1C3A85}"/>
                </a:ext>
                <a:ext uri="{C183D7F6-B498-43B3-948B-1728B52AA6E4}">
                  <adec:decorative xmlns:adec="http://schemas.microsoft.com/office/drawing/2017/decorative" val="1"/>
                </a:ext>
              </a:extLst>
            </p:cNvPr>
            <p:cNvSpPr>
              <a:spLocks noChangeAspect="1"/>
            </p:cNvSpPr>
            <p:nvPr/>
          </p:nvSpPr>
          <p:spPr bwMode="auto">
            <a:xfrm>
              <a:off x="7935661" y="1857394"/>
              <a:ext cx="3524090" cy="3524090"/>
            </a:xfrm>
            <a:prstGeom prst="donut">
              <a:avLst>
                <a:gd name="adj" fmla="val 11141"/>
              </a:avLst>
            </a:prstGeom>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solidFill>
                <a:effectLst/>
                <a:uLnTx/>
                <a:uFillTx/>
                <a:ea typeface="+mn-ea"/>
                <a:cs typeface="+mn-cs"/>
              </a:endParaRPr>
            </a:p>
          </p:txBody>
        </p:sp>
        <p:sp>
          <p:nvSpPr>
            <p:cNvPr id="44" name="TextBox 43">
              <a:extLst>
                <a:ext uri="{FF2B5EF4-FFF2-40B4-BE49-F238E27FC236}">
                  <a16:creationId xmlns:a16="http://schemas.microsoft.com/office/drawing/2014/main" id="{B83D7EF7-7F43-62E9-409B-1A7556F6EE7C}"/>
                </a:ext>
                <a:ext uri="{C183D7F6-B498-43B3-948B-1728B52AA6E4}">
                  <adec:decorative xmlns:adec="http://schemas.microsoft.com/office/drawing/2017/decorative" val="1"/>
                </a:ext>
              </a:extLst>
            </p:cNvPr>
            <p:cNvSpPr txBox="1">
              <a:spLocks noChangeAspect="1"/>
            </p:cNvSpPr>
            <p:nvPr/>
          </p:nvSpPr>
          <p:spPr>
            <a:xfrm rot="7894997">
              <a:off x="8140354" y="207332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Segoe Sans Text" pitchFamily="2" charset="0"/>
                </a:rPr>
                <a:t>Continuous Evaluation &amp; Monitoring    </a:t>
              </a:r>
              <a:r>
                <a:rPr lang="en-GB" sz="1100">
                  <a:solidFill>
                    <a:srgbClr val="FFFFFF"/>
                  </a:solidFill>
                  <a:latin typeface="Segoe Sans Text" pitchFamily="2" charset="0"/>
                </a:rPr>
                <a:t>Quota &amp; Cost Management</a:t>
              </a:r>
              <a:endParaRPr kumimoji="0" lang="en-GB" sz="1100" b="0" i="0" u="none" strike="noStrike" kern="1200" cap="none" spc="0" normalizeH="0" baseline="0" noProof="0">
                <a:ln>
                  <a:noFill/>
                </a:ln>
                <a:solidFill>
                  <a:srgbClr val="FFFFFF"/>
                </a:solidFill>
                <a:effectLst/>
                <a:uLnTx/>
                <a:uFillTx/>
                <a:latin typeface="Segoe Sans Text" pitchFamily="2" charset="0"/>
              </a:endParaRPr>
            </a:p>
          </p:txBody>
        </p:sp>
        <p:sp>
          <p:nvSpPr>
            <p:cNvPr id="45" name="TextBox 44">
              <a:extLst>
                <a:ext uri="{FF2B5EF4-FFF2-40B4-BE49-F238E27FC236}">
                  <a16:creationId xmlns:a16="http://schemas.microsoft.com/office/drawing/2014/main" id="{200A26B3-7D8E-F58F-5935-BE45EF3B3C22}"/>
                </a:ext>
                <a:ext uri="{C183D7F6-B498-43B3-948B-1728B52AA6E4}">
                  <adec:decorative xmlns:adec="http://schemas.microsoft.com/office/drawing/2017/decorative" val="1"/>
                </a:ext>
              </a:extLst>
            </p:cNvPr>
            <p:cNvSpPr txBox="1">
              <a:spLocks noChangeAspect="1"/>
            </p:cNvSpPr>
            <p:nvPr/>
          </p:nvSpPr>
          <p:spPr>
            <a:xfrm rot="15183746">
              <a:off x="8157551" y="1975283"/>
              <a:ext cx="3224508" cy="3224508"/>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mj-lt"/>
                  <a:ea typeface="+mn-ea"/>
                  <a:cs typeface="+mn-cs"/>
                </a:rPr>
                <a:t>Security and data privacy</a:t>
              </a:r>
            </a:p>
          </p:txBody>
        </p:sp>
        <p:sp>
          <p:nvSpPr>
            <p:cNvPr id="46" name="TextBox 45">
              <a:extLst>
                <a:ext uri="{FF2B5EF4-FFF2-40B4-BE49-F238E27FC236}">
                  <a16:creationId xmlns:a16="http://schemas.microsoft.com/office/drawing/2014/main" id="{20A7F377-FAD7-916F-9919-09D2255581EC}"/>
                </a:ext>
                <a:ext uri="{C183D7F6-B498-43B3-948B-1728B52AA6E4}">
                  <adec:decorative xmlns:adec="http://schemas.microsoft.com/office/drawing/2017/decorative" val="1"/>
                </a:ext>
              </a:extLst>
            </p:cNvPr>
            <p:cNvSpPr txBox="1">
              <a:spLocks noChangeAspect="1"/>
            </p:cNvSpPr>
            <p:nvPr/>
          </p:nvSpPr>
          <p:spPr>
            <a:xfrm rot="21287264">
              <a:off x="8148814" y="205983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a:solidFill>
                    <a:srgbClr val="FFFFFF"/>
                  </a:solidFill>
                  <a:latin typeface="+mj-lt"/>
                </a:rPr>
                <a:t>Deploy LLM App, UI, Model, Workflow</a:t>
              </a:r>
              <a:endParaRPr kumimoji="0" lang="en-GB" sz="1100" i="0" u="none" strike="noStrike" kern="1200" cap="none" spc="0" normalizeH="0" baseline="0" noProof="0">
                <a:ln>
                  <a:noFill/>
                </a:ln>
                <a:solidFill>
                  <a:srgbClr val="FFFFFF"/>
                </a:solidFill>
                <a:effectLst/>
                <a:uLnTx/>
                <a:uFillTx/>
                <a:latin typeface="+mj-lt"/>
              </a:endParaRPr>
            </a:p>
          </p:txBody>
        </p:sp>
        <p:sp>
          <p:nvSpPr>
            <p:cNvPr id="50" name="Inner &gt; Middle">
              <a:extLst>
                <a:ext uri="{FF2B5EF4-FFF2-40B4-BE49-F238E27FC236}">
                  <a16:creationId xmlns:a16="http://schemas.microsoft.com/office/drawing/2014/main" id="{7C4A0EAB-E719-C2E1-8D56-E5EF70CB0D01}"/>
                </a:ext>
                <a:ext uri="{C183D7F6-B498-43B3-948B-1728B52AA6E4}">
                  <adec:decorative xmlns:adec="http://schemas.microsoft.com/office/drawing/2017/decorative" val="1"/>
                </a:ext>
              </a:extLst>
            </p:cNvPr>
            <p:cNvSpPr>
              <a:spLocks noChangeAspect="1"/>
            </p:cNvSpPr>
            <p:nvPr/>
          </p:nvSpPr>
          <p:spPr>
            <a:xfrm flipV="1">
              <a:off x="8440406" y="2349396"/>
              <a:ext cx="2514600" cy="2514600"/>
            </a:xfrm>
            <a:prstGeom prst="arc">
              <a:avLst>
                <a:gd name="adj1" fmla="val 8319039"/>
                <a:gd name="adj2" fmla="val 8134095"/>
              </a:avLst>
            </a:prstGeom>
            <a:ln w="9525" cap="rnd">
              <a:solidFill>
                <a:schemeClr val="bg1"/>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solidFill>
              </a:endParaRPr>
            </a:p>
          </p:txBody>
        </p:sp>
        <p:sp>
          <p:nvSpPr>
            <p:cNvPr id="53" name="Rectangle 52">
              <a:extLst>
                <a:ext uri="{FF2B5EF4-FFF2-40B4-BE49-F238E27FC236}">
                  <a16:creationId xmlns:a16="http://schemas.microsoft.com/office/drawing/2014/main" id="{DE47DC4D-CBFF-B3DE-AFCB-95E859AB3016}"/>
                </a:ext>
              </a:extLst>
            </p:cNvPr>
            <p:cNvSpPr/>
            <p:nvPr/>
          </p:nvSpPr>
          <p:spPr bwMode="auto">
            <a:xfrm>
              <a:off x="8669330" y="2950245"/>
              <a:ext cx="2068977" cy="1483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solidFill>
                  <a:latin typeface="+mj-lt"/>
                </a:rPr>
                <a:t>Deploying &amp; Monitoring</a:t>
              </a:r>
            </a:p>
          </p:txBody>
        </p:sp>
      </p:grpSp>
    </p:spTree>
    <p:extLst>
      <p:ext uri="{BB962C8B-B14F-4D97-AF65-F5344CB8AC3E}">
        <p14:creationId xmlns:p14="http://schemas.microsoft.com/office/powerpoint/2010/main" val="18761991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700"/>
                                  </p:stCondLst>
                                  <p:childTnLst>
                                    <p:set>
                                      <p:cBhvr>
                                        <p:cTn id="6" dur="1" fill="hold">
                                          <p:stCondLst>
                                            <p:cond delay="0"/>
                                          </p:stCondLst>
                                        </p:cTn>
                                        <p:tgtEl>
                                          <p:spTgt spid="15"/>
                                        </p:tgtEl>
                                        <p:attrNameLst>
                                          <p:attrName>style.visibility</p:attrName>
                                        </p:attrNameLst>
                                      </p:cBhvr>
                                      <p:to>
                                        <p:strVal val="visible"/>
                                      </p:to>
                                    </p:set>
                                    <p:animEffect transition="in" filter="wipe(right)">
                                      <p:cBhvr>
                                        <p:cTn id="7" dur="500"/>
                                        <p:tgtEl>
                                          <p:spTgt spid="15"/>
                                        </p:tgtEl>
                                      </p:cBhvr>
                                    </p:animEffect>
                                  </p:childTnLst>
                                </p:cTn>
                              </p:par>
                              <p:par>
                                <p:cTn id="8" presetID="23" presetClass="entr" presetSubtype="272" fill="hold" nodeType="withEffect">
                                  <p:stCondLst>
                                    <p:cond delay="0"/>
                                  </p:stCondLst>
                                  <p:childTnLst>
                                    <p:set>
                                      <p:cBhvr>
                                        <p:cTn id="9" dur="1" fill="hold">
                                          <p:stCondLst>
                                            <p:cond delay="0"/>
                                          </p:stCondLst>
                                        </p:cTn>
                                        <p:tgtEl>
                                          <p:spTgt spid="62"/>
                                        </p:tgtEl>
                                        <p:attrNameLst>
                                          <p:attrName>style.visibility</p:attrName>
                                        </p:attrNameLst>
                                      </p:cBhvr>
                                      <p:to>
                                        <p:strVal val="visible"/>
                                      </p:to>
                                    </p:set>
                                    <p:anim calcmode="lin" valueType="num">
                                      <p:cBhvr>
                                        <p:cTn id="10" dur="250" fill="hold"/>
                                        <p:tgtEl>
                                          <p:spTgt spid="62"/>
                                        </p:tgtEl>
                                        <p:attrNameLst>
                                          <p:attrName>ppt_w</p:attrName>
                                        </p:attrNameLst>
                                      </p:cBhvr>
                                      <p:tavLst>
                                        <p:tav tm="0">
                                          <p:val>
                                            <p:strVal val="2/3*#ppt_w"/>
                                          </p:val>
                                        </p:tav>
                                        <p:tav tm="100000">
                                          <p:val>
                                            <p:strVal val="#ppt_w"/>
                                          </p:val>
                                        </p:tav>
                                      </p:tavLst>
                                    </p:anim>
                                    <p:anim calcmode="lin" valueType="num">
                                      <p:cBhvr>
                                        <p:cTn id="11" dur="250" fill="hold"/>
                                        <p:tgtEl>
                                          <p:spTgt spid="62"/>
                                        </p:tgtEl>
                                        <p:attrNameLst>
                                          <p:attrName>ppt_h</p:attrName>
                                        </p:attrNameLst>
                                      </p:cBhvr>
                                      <p:tavLst>
                                        <p:tav tm="0">
                                          <p:val>
                                            <p:strVal val="2/3*#ppt_h"/>
                                          </p:val>
                                        </p:tav>
                                        <p:tav tm="100000">
                                          <p:val>
                                            <p:strVal val="#ppt_h"/>
                                          </p:val>
                                        </p:tav>
                                      </p:tavLst>
                                    </p:anim>
                                  </p:childTnLst>
                                </p:cTn>
                              </p:par>
                              <p:par>
                                <p:cTn id="12" presetID="10" presetClass="entr" presetSubtype="0" fill="hold" nodeType="withEffect">
                                  <p:stCondLst>
                                    <p:cond delay="0"/>
                                  </p:stCondLst>
                                  <p:childTnLst>
                                    <p:set>
                                      <p:cBhvr>
                                        <p:cTn id="13" dur="1" fill="hold">
                                          <p:stCondLst>
                                            <p:cond delay="0"/>
                                          </p:stCondLst>
                                        </p:cTn>
                                        <p:tgtEl>
                                          <p:spTgt spid="62"/>
                                        </p:tgtEl>
                                        <p:attrNameLst>
                                          <p:attrName>style.visibility</p:attrName>
                                        </p:attrNameLst>
                                      </p:cBhvr>
                                      <p:to>
                                        <p:strVal val="visible"/>
                                      </p:to>
                                    </p:set>
                                    <p:animEffect transition="in" filter="fade">
                                      <p:cBhvr>
                                        <p:cTn id="14" dur="500"/>
                                        <p:tgtEl>
                                          <p:spTgt spid="62"/>
                                        </p:tgtEl>
                                      </p:cBhvr>
                                    </p:animEffect>
                                  </p:childTnLst>
                                </p:cTn>
                              </p:par>
                              <p:par>
                                <p:cTn id="15" presetID="6" presetClass="emph" presetSubtype="0" fill="hold" nodeType="withEffect">
                                  <p:stCondLst>
                                    <p:cond delay="0"/>
                                  </p:stCondLst>
                                  <p:childTnLst>
                                    <p:animScale>
                                      <p:cBhvr>
                                        <p:cTn id="16" dur="10" fill="hold"/>
                                        <p:tgtEl>
                                          <p:spTgt spid="62"/>
                                        </p:tgtEl>
                                      </p:cBhvr>
                                      <p:by x="80000" y="80000"/>
                                    </p:animScale>
                                  </p:childTnLst>
                                </p:cTn>
                              </p:par>
                              <p:par>
                                <p:cTn id="17" presetID="6" presetClass="emph" presetSubtype="0" decel="100000" fill="hold" nodeType="withEffect">
                                  <p:stCondLst>
                                    <p:cond delay="0"/>
                                  </p:stCondLst>
                                  <p:childTnLst>
                                    <p:animScale>
                                      <p:cBhvr>
                                        <p:cTn id="18" dur="1000" fill="hold"/>
                                        <p:tgtEl>
                                          <p:spTgt spid="62"/>
                                        </p:tgtEl>
                                      </p:cBhvr>
                                      <p:by x="125000" y="125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23" presetClass="entr" presetSubtype="272" fill="hold" nodeType="withEffect">
                                  <p:stCondLst>
                                    <p:cond delay="200"/>
                                  </p:stCondLst>
                                  <p:childTnLst>
                                    <p:set>
                                      <p:cBhvr>
                                        <p:cTn id="23" dur="1" fill="hold">
                                          <p:stCondLst>
                                            <p:cond delay="0"/>
                                          </p:stCondLst>
                                        </p:cTn>
                                        <p:tgtEl>
                                          <p:spTgt spid="63"/>
                                        </p:tgtEl>
                                        <p:attrNameLst>
                                          <p:attrName>style.visibility</p:attrName>
                                        </p:attrNameLst>
                                      </p:cBhvr>
                                      <p:to>
                                        <p:strVal val="visible"/>
                                      </p:to>
                                    </p:set>
                                    <p:anim calcmode="lin" valueType="num">
                                      <p:cBhvr>
                                        <p:cTn id="24" dur="250" fill="hold"/>
                                        <p:tgtEl>
                                          <p:spTgt spid="63"/>
                                        </p:tgtEl>
                                        <p:attrNameLst>
                                          <p:attrName>ppt_w</p:attrName>
                                        </p:attrNameLst>
                                      </p:cBhvr>
                                      <p:tavLst>
                                        <p:tav tm="0">
                                          <p:val>
                                            <p:strVal val="2/3*#ppt_w"/>
                                          </p:val>
                                        </p:tav>
                                        <p:tav tm="100000">
                                          <p:val>
                                            <p:strVal val="#ppt_w"/>
                                          </p:val>
                                        </p:tav>
                                      </p:tavLst>
                                    </p:anim>
                                    <p:anim calcmode="lin" valueType="num">
                                      <p:cBhvr>
                                        <p:cTn id="25" dur="250" fill="hold"/>
                                        <p:tgtEl>
                                          <p:spTgt spid="63"/>
                                        </p:tgtEl>
                                        <p:attrNameLst>
                                          <p:attrName>ppt_h</p:attrName>
                                        </p:attrNameLst>
                                      </p:cBhvr>
                                      <p:tavLst>
                                        <p:tav tm="0">
                                          <p:val>
                                            <p:strVal val="2/3*#ppt_h"/>
                                          </p:val>
                                        </p:tav>
                                        <p:tav tm="100000">
                                          <p:val>
                                            <p:strVal val="#ppt_h"/>
                                          </p:val>
                                        </p:tav>
                                      </p:tavLst>
                                    </p:anim>
                                  </p:childTnLst>
                                </p:cTn>
                              </p:par>
                              <p:par>
                                <p:cTn id="26" presetID="10" presetClass="entr" presetSubtype="0" fill="hold" nodeType="withEffect">
                                  <p:stCondLst>
                                    <p:cond delay="200"/>
                                  </p:stCondLst>
                                  <p:childTnLst>
                                    <p:set>
                                      <p:cBhvr>
                                        <p:cTn id="27" dur="1" fill="hold">
                                          <p:stCondLst>
                                            <p:cond delay="0"/>
                                          </p:stCondLst>
                                        </p:cTn>
                                        <p:tgtEl>
                                          <p:spTgt spid="63"/>
                                        </p:tgtEl>
                                        <p:attrNameLst>
                                          <p:attrName>style.visibility</p:attrName>
                                        </p:attrNameLst>
                                      </p:cBhvr>
                                      <p:to>
                                        <p:strVal val="visible"/>
                                      </p:to>
                                    </p:set>
                                    <p:animEffect transition="in" filter="fade">
                                      <p:cBhvr>
                                        <p:cTn id="28" dur="500"/>
                                        <p:tgtEl>
                                          <p:spTgt spid="63"/>
                                        </p:tgtEl>
                                      </p:cBhvr>
                                    </p:animEffect>
                                  </p:childTnLst>
                                </p:cTn>
                              </p:par>
                              <p:par>
                                <p:cTn id="29" presetID="6" presetClass="emph" presetSubtype="0" fill="hold" nodeType="withEffect">
                                  <p:stCondLst>
                                    <p:cond delay="200"/>
                                  </p:stCondLst>
                                  <p:childTnLst>
                                    <p:animScale>
                                      <p:cBhvr>
                                        <p:cTn id="30" dur="10" fill="hold"/>
                                        <p:tgtEl>
                                          <p:spTgt spid="63"/>
                                        </p:tgtEl>
                                      </p:cBhvr>
                                      <p:by x="80000" y="80000"/>
                                    </p:animScale>
                                  </p:childTnLst>
                                </p:cTn>
                              </p:par>
                              <p:par>
                                <p:cTn id="31" presetID="6" presetClass="emph" presetSubtype="0" decel="100000" fill="hold" nodeType="withEffect">
                                  <p:stCondLst>
                                    <p:cond delay="200"/>
                                  </p:stCondLst>
                                  <p:childTnLst>
                                    <p:animScale>
                                      <p:cBhvr>
                                        <p:cTn id="32" dur="1000" fill="hold"/>
                                        <p:tgtEl>
                                          <p:spTgt spid="63"/>
                                        </p:tgtEl>
                                      </p:cBhvr>
                                      <p:by x="125000" y="125000"/>
                                    </p:animScale>
                                  </p:childTnLst>
                                </p:cTn>
                              </p:par>
                              <p:par>
                                <p:cTn id="33" presetID="10" presetClass="entr" presetSubtype="0" fill="hold" grpId="0" nodeType="withEffect">
                                  <p:stCondLst>
                                    <p:cond delay="20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par>
                                <p:cTn id="36" presetID="10" presetClass="entr" presetSubtype="0" fill="hold" grpId="0" nodeType="withEffect">
                                  <p:stCondLst>
                                    <p:cond delay="40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par>
                                <p:cTn id="39" presetID="10" presetClass="entr" presetSubtype="0" fill="hold" grpId="0" nodeType="withEffect">
                                  <p:stCondLst>
                                    <p:cond delay="40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500"/>
                                        <p:tgtEl>
                                          <p:spTgt spid="41"/>
                                        </p:tgtEl>
                                      </p:cBhvr>
                                    </p:animEffect>
                                  </p:childTnLst>
                                </p:cTn>
                              </p:par>
                              <p:par>
                                <p:cTn id="42" presetID="10" presetClass="entr" presetSubtype="0" fill="hold" grpId="0" nodeType="withEffect">
                                  <p:stCondLst>
                                    <p:cond delay="40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00"/>
                                        <p:tgtEl>
                                          <p:spTgt spid="24"/>
                                        </p:tgtEl>
                                      </p:cBhvr>
                                    </p:animEffect>
                                  </p:childTnLst>
                                </p:cTn>
                              </p:par>
                              <p:par>
                                <p:cTn id="45" presetID="10" presetClass="entr" presetSubtype="0" fill="hold" grpId="0" nodeType="withEffect">
                                  <p:stCondLst>
                                    <p:cond delay="40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400"/>
                                  </p:stCondLst>
                                  <p:childTnLst>
                                    <p:set>
                                      <p:cBhvr>
                                        <p:cTn id="49" dur="1" fill="hold">
                                          <p:stCondLst>
                                            <p:cond delay="0"/>
                                          </p:stCondLst>
                                        </p:cTn>
                                        <p:tgtEl>
                                          <p:spTgt spid="3"/>
                                        </p:tgtEl>
                                        <p:attrNameLst>
                                          <p:attrName>style.visibility</p:attrName>
                                        </p:attrNameLst>
                                      </p:cBhvr>
                                      <p:to>
                                        <p:strVal val="visible"/>
                                      </p:to>
                                    </p:set>
                                    <p:animEffect transition="in" filter="fade">
                                      <p:cBhvr>
                                        <p:cTn id="50" dur="500"/>
                                        <p:tgtEl>
                                          <p:spTgt spid="3"/>
                                        </p:tgtEl>
                                      </p:cBhvr>
                                    </p:animEffect>
                                  </p:childTnLst>
                                </p:cTn>
                              </p:par>
                              <p:par>
                                <p:cTn id="51" presetID="10" presetClass="entr" presetSubtype="0" fill="hold" nodeType="withEffect">
                                  <p:stCondLst>
                                    <p:cond delay="400"/>
                                  </p:stCondLst>
                                  <p:childTnLst>
                                    <p:set>
                                      <p:cBhvr>
                                        <p:cTn id="52" dur="1" fill="hold">
                                          <p:stCondLst>
                                            <p:cond delay="0"/>
                                          </p:stCondLst>
                                        </p:cTn>
                                        <p:tgtEl>
                                          <p:spTgt spid="4"/>
                                        </p:tgtEl>
                                        <p:attrNameLst>
                                          <p:attrName>style.visibility</p:attrName>
                                        </p:attrNameLst>
                                      </p:cBhvr>
                                      <p:to>
                                        <p:strVal val="visible"/>
                                      </p:to>
                                    </p:set>
                                    <p:animEffect transition="in" filter="fade">
                                      <p:cBhvr>
                                        <p:cTn id="53" dur="500"/>
                                        <p:tgtEl>
                                          <p:spTgt spid="4"/>
                                        </p:tgtEl>
                                      </p:cBhvr>
                                    </p:animEffect>
                                  </p:childTnLst>
                                </p:cTn>
                              </p:par>
                              <p:par>
                                <p:cTn id="54" presetID="22" presetClass="entr" presetSubtype="8" fill="hold" grpId="0" nodeType="withEffect">
                                  <p:stCondLst>
                                    <p:cond delay="400"/>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500"/>
                                        <p:tgtEl>
                                          <p:spTgt spid="18"/>
                                        </p:tgtEl>
                                      </p:cBhvr>
                                    </p:animEffect>
                                  </p:childTnLst>
                                </p:cTn>
                              </p:par>
                              <p:par>
                                <p:cTn id="57" presetID="22" presetClass="entr" presetSubtype="2" fill="hold" grpId="0" nodeType="withEffect">
                                  <p:stCondLst>
                                    <p:cond delay="800"/>
                                  </p:stCondLst>
                                  <p:childTnLst>
                                    <p:set>
                                      <p:cBhvr>
                                        <p:cTn id="58" dur="1" fill="hold">
                                          <p:stCondLst>
                                            <p:cond delay="0"/>
                                          </p:stCondLst>
                                        </p:cTn>
                                        <p:tgtEl>
                                          <p:spTgt spid="27"/>
                                        </p:tgtEl>
                                        <p:attrNameLst>
                                          <p:attrName>style.visibility</p:attrName>
                                        </p:attrNameLst>
                                      </p:cBhvr>
                                      <p:to>
                                        <p:strVal val="visible"/>
                                      </p:to>
                                    </p:set>
                                    <p:animEffect transition="in" filter="wipe(right)">
                                      <p:cBhvr>
                                        <p:cTn id="59" dur="500"/>
                                        <p:tgtEl>
                                          <p:spTgt spid="27"/>
                                        </p:tgtEl>
                                      </p:cBhvr>
                                    </p:animEffect>
                                  </p:childTnLst>
                                </p:cTn>
                              </p:par>
                              <p:par>
                                <p:cTn id="60" presetID="23" presetClass="entr" presetSubtype="272" fill="hold" nodeType="withEffect">
                                  <p:stCondLst>
                                    <p:cond delay="400"/>
                                  </p:stCondLst>
                                  <p:childTnLst>
                                    <p:set>
                                      <p:cBhvr>
                                        <p:cTn id="61" dur="1" fill="hold">
                                          <p:stCondLst>
                                            <p:cond delay="0"/>
                                          </p:stCondLst>
                                        </p:cTn>
                                        <p:tgtEl>
                                          <p:spTgt spid="42"/>
                                        </p:tgtEl>
                                        <p:attrNameLst>
                                          <p:attrName>style.visibility</p:attrName>
                                        </p:attrNameLst>
                                      </p:cBhvr>
                                      <p:to>
                                        <p:strVal val="visible"/>
                                      </p:to>
                                    </p:set>
                                    <p:anim calcmode="lin" valueType="num">
                                      <p:cBhvr>
                                        <p:cTn id="62" dur="250" fill="hold"/>
                                        <p:tgtEl>
                                          <p:spTgt spid="42"/>
                                        </p:tgtEl>
                                        <p:attrNameLst>
                                          <p:attrName>ppt_w</p:attrName>
                                        </p:attrNameLst>
                                      </p:cBhvr>
                                      <p:tavLst>
                                        <p:tav tm="0">
                                          <p:val>
                                            <p:strVal val="2/3*#ppt_w"/>
                                          </p:val>
                                        </p:tav>
                                        <p:tav tm="100000">
                                          <p:val>
                                            <p:strVal val="#ppt_w"/>
                                          </p:val>
                                        </p:tav>
                                      </p:tavLst>
                                    </p:anim>
                                    <p:anim calcmode="lin" valueType="num">
                                      <p:cBhvr>
                                        <p:cTn id="63" dur="250" fill="hold"/>
                                        <p:tgtEl>
                                          <p:spTgt spid="42"/>
                                        </p:tgtEl>
                                        <p:attrNameLst>
                                          <p:attrName>ppt_h</p:attrName>
                                        </p:attrNameLst>
                                      </p:cBhvr>
                                      <p:tavLst>
                                        <p:tav tm="0">
                                          <p:val>
                                            <p:strVal val="2/3*#ppt_h"/>
                                          </p:val>
                                        </p:tav>
                                        <p:tav tm="100000">
                                          <p:val>
                                            <p:strVal val="#ppt_h"/>
                                          </p:val>
                                        </p:tav>
                                      </p:tavLst>
                                    </p:anim>
                                  </p:childTnLst>
                                </p:cTn>
                              </p:par>
                              <p:par>
                                <p:cTn id="64" presetID="10" presetClass="entr" presetSubtype="0" fill="hold" nodeType="withEffect">
                                  <p:stCondLst>
                                    <p:cond delay="400"/>
                                  </p:stCondLst>
                                  <p:childTnLst>
                                    <p:set>
                                      <p:cBhvr>
                                        <p:cTn id="65" dur="1" fill="hold">
                                          <p:stCondLst>
                                            <p:cond delay="0"/>
                                          </p:stCondLst>
                                        </p:cTn>
                                        <p:tgtEl>
                                          <p:spTgt spid="42"/>
                                        </p:tgtEl>
                                        <p:attrNameLst>
                                          <p:attrName>style.visibility</p:attrName>
                                        </p:attrNameLst>
                                      </p:cBhvr>
                                      <p:to>
                                        <p:strVal val="visible"/>
                                      </p:to>
                                    </p:set>
                                    <p:animEffect transition="in" filter="fade">
                                      <p:cBhvr>
                                        <p:cTn id="66" dur="500"/>
                                        <p:tgtEl>
                                          <p:spTgt spid="42"/>
                                        </p:tgtEl>
                                      </p:cBhvr>
                                    </p:animEffect>
                                  </p:childTnLst>
                                </p:cTn>
                              </p:par>
                              <p:par>
                                <p:cTn id="67" presetID="6" presetClass="emph" presetSubtype="0" fill="hold" nodeType="withEffect">
                                  <p:stCondLst>
                                    <p:cond delay="400"/>
                                  </p:stCondLst>
                                  <p:childTnLst>
                                    <p:animScale>
                                      <p:cBhvr>
                                        <p:cTn id="68" dur="10" fill="hold"/>
                                        <p:tgtEl>
                                          <p:spTgt spid="42"/>
                                        </p:tgtEl>
                                      </p:cBhvr>
                                      <p:by x="80000" y="80000"/>
                                    </p:animScale>
                                  </p:childTnLst>
                                </p:cTn>
                              </p:par>
                              <p:par>
                                <p:cTn id="69" presetID="6" presetClass="emph" presetSubtype="0" decel="100000" fill="hold" nodeType="withEffect">
                                  <p:stCondLst>
                                    <p:cond delay="400"/>
                                  </p:stCondLst>
                                  <p:childTnLst>
                                    <p:animScale>
                                      <p:cBhvr>
                                        <p:cTn id="70" dur="1000" fill="hold"/>
                                        <p:tgtEl>
                                          <p:spTgt spid="42"/>
                                        </p:tgtEl>
                                      </p:cBhvr>
                                      <p:by x="125000" y="125000"/>
                                    </p:animScale>
                                  </p:childTnLst>
                                </p:cTn>
                              </p:par>
                              <p:par>
                                <p:cTn id="71" presetID="10" presetClass="entr" presetSubtype="0" fill="hold" grpId="0" nodeType="withEffect">
                                  <p:stCondLst>
                                    <p:cond delay="40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500"/>
                                        <p:tgtEl>
                                          <p:spTgt spid="38"/>
                                        </p:tgtEl>
                                      </p:cBhvr>
                                    </p:animEffect>
                                  </p:childTnLst>
                                </p:cTn>
                              </p:par>
                              <p:par>
                                <p:cTn id="74" presetID="10" presetClass="entr" presetSubtype="0" fill="hold" grpId="0" nodeType="withEffect">
                                  <p:stCondLst>
                                    <p:cond delay="40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500"/>
                                        <p:tgtEl>
                                          <p:spTgt spid="14"/>
                                        </p:tgtEl>
                                      </p:cBhvr>
                                    </p:animEffect>
                                  </p:childTnLst>
                                </p:cTn>
                              </p:par>
                              <p:par>
                                <p:cTn id="77" presetID="10" presetClass="entr" presetSubtype="0" fill="hold" grpId="0" nodeType="withEffect">
                                  <p:stCondLst>
                                    <p:cond delay="400"/>
                                  </p:stCondLst>
                                  <p:childTnLst>
                                    <p:set>
                                      <p:cBhvr>
                                        <p:cTn id="78" dur="1" fill="hold">
                                          <p:stCondLst>
                                            <p:cond delay="0"/>
                                          </p:stCondLst>
                                        </p:cTn>
                                        <p:tgtEl>
                                          <p:spTgt spid="5"/>
                                        </p:tgtEl>
                                        <p:attrNameLst>
                                          <p:attrName>style.visibility</p:attrName>
                                        </p:attrNameLst>
                                      </p:cBhvr>
                                      <p:to>
                                        <p:strVal val="visible"/>
                                      </p:to>
                                    </p:set>
                                    <p:animEffect transition="in" filter="fade">
                                      <p:cBhvr>
                                        <p:cTn id="79" dur="500"/>
                                        <p:tgtEl>
                                          <p:spTgt spid="5"/>
                                        </p:tgtEl>
                                      </p:cBhvr>
                                    </p:animEffect>
                                  </p:childTnLst>
                                </p:cTn>
                              </p:par>
                              <p:par>
                                <p:cTn id="80" presetID="22" presetClass="entr" presetSubtype="8" fill="hold" grpId="0" nodeType="withEffect">
                                  <p:stCondLst>
                                    <p:cond delay="500"/>
                                  </p:stCondLst>
                                  <p:childTnLst>
                                    <p:set>
                                      <p:cBhvr>
                                        <p:cTn id="81" dur="1" fill="hold">
                                          <p:stCondLst>
                                            <p:cond delay="0"/>
                                          </p:stCondLst>
                                        </p:cTn>
                                        <p:tgtEl>
                                          <p:spTgt spid="16"/>
                                        </p:tgtEl>
                                        <p:attrNameLst>
                                          <p:attrName>style.visibility</p:attrName>
                                        </p:attrNameLst>
                                      </p:cBhvr>
                                      <p:to>
                                        <p:strVal val="visible"/>
                                      </p:to>
                                    </p:set>
                                    <p:animEffect transition="in" filter="wipe(left)">
                                      <p:cBhvr>
                                        <p:cTn id="8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4" grpId="0"/>
      <p:bldP spid="18" grpId="0" animBg="1"/>
      <p:bldP spid="15" grpId="0" animBg="1"/>
      <p:bldP spid="3" grpId="0"/>
      <p:bldP spid="12" grpId="0"/>
      <p:bldP spid="23" grpId="0"/>
      <p:bldP spid="40" grpId="0"/>
      <p:bldP spid="41" grpId="0" animBg="1"/>
      <p:bldP spid="5" grpId="0"/>
      <p:bldP spid="14" grpId="0"/>
      <p:bldP spid="16" grpId="0" animBg="1"/>
      <p:bldP spid="27" grpId="0" animBg="1"/>
      <p:bldP spid="3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CCD860-9D2D-6E21-3BA4-C6CD3963D68F}"/>
              </a:ext>
            </a:extLst>
          </p:cNvPr>
          <p:cNvSpPr>
            <a:spLocks noGrp="1"/>
          </p:cNvSpPr>
          <p:nvPr>
            <p:ph type="title" idx="4294967295"/>
          </p:nvPr>
        </p:nvSpPr>
        <p:spPr>
          <a:xfrm>
            <a:off x="1174750" y="593725"/>
            <a:ext cx="11017250" cy="998538"/>
          </a:xfrm>
        </p:spPr>
        <p:txBody>
          <a:bodyPr/>
          <a:lstStyle/>
          <a:p>
            <a:r>
              <a:rPr lang="en-GB">
                <a:solidFill>
                  <a:schemeClr val="bg1"/>
                </a:solidFill>
              </a:rPr>
              <a:t>Azure Capabilities for GenAI Operationalization</a:t>
            </a:r>
          </a:p>
        </p:txBody>
      </p:sp>
      <p:grpSp>
        <p:nvGrpSpPr>
          <p:cNvPr id="290" name="Group 289">
            <a:extLst>
              <a:ext uri="{FF2B5EF4-FFF2-40B4-BE49-F238E27FC236}">
                <a16:creationId xmlns:a16="http://schemas.microsoft.com/office/drawing/2014/main" id="{55227527-2794-7CAA-2B7B-3F3AB9C9A16B}"/>
              </a:ext>
            </a:extLst>
          </p:cNvPr>
          <p:cNvGrpSpPr/>
          <p:nvPr/>
        </p:nvGrpSpPr>
        <p:grpSpPr>
          <a:xfrm>
            <a:off x="1865187" y="2079724"/>
            <a:ext cx="8874824" cy="4778276"/>
            <a:chOff x="569913" y="1533094"/>
            <a:chExt cx="8416841" cy="4021458"/>
          </a:xfrm>
        </p:grpSpPr>
        <p:sp useBgFill="1">
          <p:nvSpPr>
            <p:cNvPr id="11" name="Rectangle: Rounded Corners 10">
              <a:extLst>
                <a:ext uri="{FF2B5EF4-FFF2-40B4-BE49-F238E27FC236}">
                  <a16:creationId xmlns:a16="http://schemas.microsoft.com/office/drawing/2014/main" id="{65AAC226-692B-3A0D-B828-59974863C0E8}"/>
                </a:ext>
              </a:extLst>
            </p:cNvPr>
            <p:cNvSpPr/>
            <p:nvPr/>
          </p:nvSpPr>
          <p:spPr bwMode="auto">
            <a:xfrm>
              <a:off x="569913" y="1533094"/>
              <a:ext cx="8416841" cy="4021458"/>
            </a:xfrm>
            <a:prstGeom prst="roundRect">
              <a:avLst>
                <a:gd name="adj" fmla="val 3811"/>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2" name="Rectangle: Rounded Corners 11">
              <a:extLst>
                <a:ext uri="{FF2B5EF4-FFF2-40B4-BE49-F238E27FC236}">
                  <a16:creationId xmlns:a16="http://schemas.microsoft.com/office/drawing/2014/main" id="{AE573E07-2FBD-E7B9-4355-4C55CF522400}"/>
                </a:ext>
              </a:extLst>
            </p:cNvPr>
            <p:cNvSpPr/>
            <p:nvPr/>
          </p:nvSpPr>
          <p:spPr bwMode="auto">
            <a:xfrm>
              <a:off x="569913" y="1533094"/>
              <a:ext cx="8416841" cy="4021458"/>
            </a:xfrm>
            <a:prstGeom prst="roundRect">
              <a:avLst>
                <a:gd name="adj" fmla="val 3328"/>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4" name="Rectangle: Rounded Corners 3">
            <a:extLst>
              <a:ext uri="{FF2B5EF4-FFF2-40B4-BE49-F238E27FC236}">
                <a16:creationId xmlns:a16="http://schemas.microsoft.com/office/drawing/2014/main" id="{97CD3A6A-3EB8-50D3-167E-C21188A6CFEC}"/>
              </a:ext>
            </a:extLst>
          </p:cNvPr>
          <p:cNvSpPr>
            <a:spLocks/>
          </p:cNvSpPr>
          <p:nvPr/>
        </p:nvSpPr>
        <p:spPr bwMode="auto">
          <a:xfrm>
            <a:off x="2722749" y="1862264"/>
            <a:ext cx="1619061"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7" name="Rectangle: Rounded Corners 6">
            <a:extLst>
              <a:ext uri="{FF2B5EF4-FFF2-40B4-BE49-F238E27FC236}">
                <a16:creationId xmlns:a16="http://schemas.microsoft.com/office/drawing/2014/main" id="{5FE3BBDC-76B9-BF27-064A-AFEBEED0AF91}"/>
              </a:ext>
            </a:extLst>
          </p:cNvPr>
          <p:cNvSpPr>
            <a:spLocks/>
          </p:cNvSpPr>
          <p:nvPr/>
        </p:nvSpPr>
        <p:spPr bwMode="auto">
          <a:xfrm>
            <a:off x="4498219" y="1796090"/>
            <a:ext cx="1573711"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nvGrpSpPr>
          <p:cNvPr id="35" name="Group 34">
            <a:extLst>
              <a:ext uri="{FF2B5EF4-FFF2-40B4-BE49-F238E27FC236}">
                <a16:creationId xmlns:a16="http://schemas.microsoft.com/office/drawing/2014/main" id="{B5BFB432-C336-851F-1BFB-368780754B99}"/>
              </a:ext>
            </a:extLst>
          </p:cNvPr>
          <p:cNvGrpSpPr/>
          <p:nvPr/>
        </p:nvGrpSpPr>
        <p:grpSpPr>
          <a:xfrm>
            <a:off x="2709896" y="2974165"/>
            <a:ext cx="1577188" cy="66330"/>
            <a:chOff x="704945" y="2877637"/>
            <a:chExt cx="3117755" cy="134578"/>
          </a:xfrm>
        </p:grpSpPr>
        <p:sp>
          <p:nvSpPr>
            <p:cNvPr id="36" name="Freeform: Shape 239">
              <a:extLst>
                <a:ext uri="{FF2B5EF4-FFF2-40B4-BE49-F238E27FC236}">
                  <a16:creationId xmlns:a16="http://schemas.microsoft.com/office/drawing/2014/main" id="{386B966A-DEB7-6E06-30B2-36C015B4A584}"/>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38" name="Straight Connector 37">
              <a:extLst>
                <a:ext uri="{FF2B5EF4-FFF2-40B4-BE49-F238E27FC236}">
                  <a16:creationId xmlns:a16="http://schemas.microsoft.com/office/drawing/2014/main" id="{DA158C3D-79C3-9600-1693-08478B277F6E}"/>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B17B6B-D3AF-E898-7533-443E59FBC401}"/>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1410C854-9145-3F06-004D-7F5E4C7B8960}"/>
              </a:ext>
            </a:extLst>
          </p:cNvPr>
          <p:cNvGrpSpPr/>
          <p:nvPr/>
        </p:nvGrpSpPr>
        <p:grpSpPr>
          <a:xfrm>
            <a:off x="4579785" y="2974165"/>
            <a:ext cx="1464494" cy="113042"/>
            <a:chOff x="704945" y="2877637"/>
            <a:chExt cx="3117755" cy="134578"/>
          </a:xfrm>
        </p:grpSpPr>
        <p:sp>
          <p:nvSpPr>
            <p:cNvPr id="44" name="Freeform: Shape 239">
              <a:extLst>
                <a:ext uri="{FF2B5EF4-FFF2-40B4-BE49-F238E27FC236}">
                  <a16:creationId xmlns:a16="http://schemas.microsoft.com/office/drawing/2014/main" id="{9B99B0D2-61EB-E522-F60B-49D3646B4180}"/>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45" name="Straight Connector 44">
              <a:extLst>
                <a:ext uri="{FF2B5EF4-FFF2-40B4-BE49-F238E27FC236}">
                  <a16:creationId xmlns:a16="http://schemas.microsoft.com/office/drawing/2014/main" id="{1FE62C90-6E6E-54E6-BDDE-A036A38F4EAD}"/>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202C014-5C3D-37CD-4DFA-94121E406FB8}"/>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1CF75FD5-20B6-A54B-A420-4AFADE9EE985}"/>
              </a:ext>
            </a:extLst>
          </p:cNvPr>
          <p:cNvGrpSpPr/>
          <p:nvPr/>
        </p:nvGrpSpPr>
        <p:grpSpPr>
          <a:xfrm>
            <a:off x="6554481" y="2996971"/>
            <a:ext cx="1305426" cy="60156"/>
            <a:chOff x="704945" y="2877637"/>
            <a:chExt cx="3117755" cy="134578"/>
          </a:xfrm>
        </p:grpSpPr>
        <p:sp>
          <p:nvSpPr>
            <p:cNvPr id="48" name="Freeform: Shape 239">
              <a:extLst>
                <a:ext uri="{FF2B5EF4-FFF2-40B4-BE49-F238E27FC236}">
                  <a16:creationId xmlns:a16="http://schemas.microsoft.com/office/drawing/2014/main" id="{866FBCED-4461-1523-553E-A4A7951C5D5F}"/>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49" name="Straight Connector 48">
              <a:extLst>
                <a:ext uri="{FF2B5EF4-FFF2-40B4-BE49-F238E27FC236}">
                  <a16:creationId xmlns:a16="http://schemas.microsoft.com/office/drawing/2014/main" id="{D53B1E96-82DA-2A1F-74DF-6BFBF5A38BDF}"/>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5B7B433-357B-B46E-08FF-9875EC3E4406}"/>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F97D83F9-3CEF-6958-242F-5F7DE29B61C8}"/>
              </a:ext>
            </a:extLst>
          </p:cNvPr>
          <p:cNvGrpSpPr/>
          <p:nvPr/>
        </p:nvGrpSpPr>
        <p:grpSpPr>
          <a:xfrm>
            <a:off x="8162021" y="2974165"/>
            <a:ext cx="1577188" cy="66330"/>
            <a:chOff x="704945" y="2877637"/>
            <a:chExt cx="3117755" cy="134578"/>
          </a:xfrm>
        </p:grpSpPr>
        <p:sp>
          <p:nvSpPr>
            <p:cNvPr id="57" name="Freeform: Shape 239">
              <a:extLst>
                <a:ext uri="{FF2B5EF4-FFF2-40B4-BE49-F238E27FC236}">
                  <a16:creationId xmlns:a16="http://schemas.microsoft.com/office/drawing/2014/main" id="{EBA9A7FA-6FC1-3BB4-F5D1-1ED25AB61D94}"/>
                </a:ext>
              </a:extLst>
            </p:cNvPr>
            <p:cNvSpPr/>
            <p:nvPr userDrawn="1"/>
          </p:nvSpPr>
          <p:spPr>
            <a:xfrm rot="10800000">
              <a:off x="2157425" y="2877637"/>
              <a:ext cx="212794" cy="134578"/>
            </a:xfrm>
            <a:custGeom>
              <a:avLst/>
              <a:gdLst>
                <a:gd name="connsiteX0" fmla="*/ 185189 w 212794"/>
                <a:gd name="connsiteY0" fmla="*/ 134578 h 134578"/>
                <a:gd name="connsiteX1" fmla="*/ 106972 w 212794"/>
                <a:gd name="connsiteY1" fmla="*/ 56362 h 134578"/>
                <a:gd name="connsiteX2" fmla="*/ 27606 w 212794"/>
                <a:gd name="connsiteY2" fmla="*/ 134578 h 134578"/>
                <a:gd name="connsiteX3" fmla="*/ 0 w 212794"/>
                <a:gd name="connsiteY3" fmla="*/ 106973 h 134578"/>
                <a:gd name="connsiteX4" fmla="*/ 106972 w 212794"/>
                <a:gd name="connsiteY4" fmla="*/ 0 h 134578"/>
                <a:gd name="connsiteX5" fmla="*/ 212794 w 212794"/>
                <a:gd name="connsiteY5" fmla="*/ 106973 h 134578"/>
                <a:gd name="connsiteX6" fmla="*/ 185189 w 212794"/>
                <a:gd name="connsiteY6" fmla="*/ 134578 h 13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794" h="134578">
                  <a:moveTo>
                    <a:pt x="185189" y="134578"/>
                  </a:moveTo>
                  <a:lnTo>
                    <a:pt x="106972" y="56362"/>
                  </a:lnTo>
                  <a:lnTo>
                    <a:pt x="27606" y="134578"/>
                  </a:lnTo>
                  <a:lnTo>
                    <a:pt x="0" y="106973"/>
                  </a:lnTo>
                  <a:lnTo>
                    <a:pt x="106972" y="0"/>
                  </a:lnTo>
                  <a:lnTo>
                    <a:pt x="212794" y="106973"/>
                  </a:lnTo>
                  <a:lnTo>
                    <a:pt x="185189" y="134578"/>
                  </a:lnTo>
                  <a:close/>
                </a:path>
              </a:pathLst>
            </a:custGeom>
            <a:solidFill>
              <a:srgbClr val="FFFFFF"/>
            </a:solidFill>
            <a:ln w="1143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Segoe Sans Text"/>
                <a:ea typeface="+mn-ea"/>
                <a:cs typeface="+mn-cs"/>
              </a:endParaRPr>
            </a:p>
          </p:txBody>
        </p:sp>
        <p:cxnSp>
          <p:nvCxnSpPr>
            <p:cNvPr id="58" name="Straight Connector 57">
              <a:extLst>
                <a:ext uri="{FF2B5EF4-FFF2-40B4-BE49-F238E27FC236}">
                  <a16:creationId xmlns:a16="http://schemas.microsoft.com/office/drawing/2014/main" id="{1ADA443C-B696-55B5-6D95-9E627B4F46BE}"/>
                </a:ext>
              </a:extLst>
            </p:cNvPr>
            <p:cNvCxnSpPr/>
            <p:nvPr userDrawn="1"/>
          </p:nvCxnSpPr>
          <p:spPr>
            <a:xfrm flipH="1">
              <a:off x="704945"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EC65FD6-AD23-7C57-3459-B1C0C595AD21}"/>
                </a:ext>
              </a:extLst>
            </p:cNvPr>
            <p:cNvCxnSpPr/>
            <p:nvPr userDrawn="1"/>
          </p:nvCxnSpPr>
          <p:spPr>
            <a:xfrm flipH="1">
              <a:off x="2397674" y="2942771"/>
              <a:ext cx="1425026" cy="0"/>
            </a:xfrm>
            <a:prstGeom prst="line">
              <a:avLst/>
            </a:prstGeom>
            <a:ln w="635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36" name="Group 235">
            <a:extLst>
              <a:ext uri="{FF2B5EF4-FFF2-40B4-BE49-F238E27FC236}">
                <a16:creationId xmlns:a16="http://schemas.microsoft.com/office/drawing/2014/main" id="{F05FF123-6C3B-F5BA-F0CC-77ED829140CD}"/>
              </a:ext>
            </a:extLst>
          </p:cNvPr>
          <p:cNvGrpSpPr/>
          <p:nvPr/>
        </p:nvGrpSpPr>
        <p:grpSpPr>
          <a:xfrm>
            <a:off x="6536459" y="1790074"/>
            <a:ext cx="3134221" cy="1056910"/>
            <a:chOff x="6438512" y="2642844"/>
            <a:chExt cx="3789882" cy="1056910"/>
          </a:xfrm>
        </p:grpSpPr>
        <p:sp>
          <p:nvSpPr>
            <p:cNvPr id="10" name="Rectangle: Rounded Corners 9">
              <a:extLst>
                <a:ext uri="{FF2B5EF4-FFF2-40B4-BE49-F238E27FC236}">
                  <a16:creationId xmlns:a16="http://schemas.microsoft.com/office/drawing/2014/main" id="{23F95FF0-7ADB-7BBE-2F5B-6DF90D0B0329}"/>
                </a:ext>
              </a:extLst>
            </p:cNvPr>
            <p:cNvSpPr>
              <a:spLocks/>
            </p:cNvSpPr>
            <p:nvPr/>
          </p:nvSpPr>
          <p:spPr bwMode="auto">
            <a:xfrm>
              <a:off x="6438512" y="2642844"/>
              <a:ext cx="1614888"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3" name="Rectangle: Rounded Corners 12">
              <a:extLst>
                <a:ext uri="{FF2B5EF4-FFF2-40B4-BE49-F238E27FC236}">
                  <a16:creationId xmlns:a16="http://schemas.microsoft.com/office/drawing/2014/main" id="{DA3E3A0B-8C85-7B23-8000-CC6AEDFAF421}"/>
                </a:ext>
              </a:extLst>
            </p:cNvPr>
            <p:cNvSpPr>
              <a:spLocks/>
            </p:cNvSpPr>
            <p:nvPr/>
          </p:nvSpPr>
          <p:spPr bwMode="auto">
            <a:xfrm>
              <a:off x="8417099" y="2642844"/>
              <a:ext cx="1811295" cy="1056910"/>
            </a:xfrm>
            <a:prstGeom prst="roundRect">
              <a:avLst>
                <a:gd name="adj" fmla="val 290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grpSp>
        <p:nvGrpSpPr>
          <p:cNvPr id="240" name="Group 239">
            <a:extLst>
              <a:ext uri="{FF2B5EF4-FFF2-40B4-BE49-F238E27FC236}">
                <a16:creationId xmlns:a16="http://schemas.microsoft.com/office/drawing/2014/main" id="{10E86C8B-A94E-0AC8-EF37-D798C33C610B}"/>
              </a:ext>
            </a:extLst>
          </p:cNvPr>
          <p:cNvGrpSpPr/>
          <p:nvPr/>
        </p:nvGrpSpPr>
        <p:grpSpPr>
          <a:xfrm>
            <a:off x="4395694" y="1410619"/>
            <a:ext cx="3706043" cy="3470269"/>
            <a:chOff x="4492828" y="1952625"/>
            <a:chExt cx="3706043" cy="4072558"/>
          </a:xfrm>
        </p:grpSpPr>
        <p:cxnSp>
          <p:nvCxnSpPr>
            <p:cNvPr id="237" name="Straight Connector 236">
              <a:extLst>
                <a:ext uri="{FF2B5EF4-FFF2-40B4-BE49-F238E27FC236}">
                  <a16:creationId xmlns:a16="http://schemas.microsoft.com/office/drawing/2014/main" id="{0A7D7678-360B-4EE4-866E-DCF8E72B360C}"/>
                </a:ext>
              </a:extLst>
            </p:cNvPr>
            <p:cNvCxnSpPr>
              <a:cxnSpLocks/>
            </p:cNvCxnSpPr>
            <p:nvPr/>
          </p:nvCxnSpPr>
          <p:spPr>
            <a:xfrm>
              <a:off x="6316110" y="2003725"/>
              <a:ext cx="0" cy="4021458"/>
            </a:xfrm>
            <a:prstGeom prst="line">
              <a:avLst/>
            </a:prstGeom>
            <a:ln w="9525">
              <a:solidFill>
                <a:schemeClr val="accent2">
                  <a:lumMod val="40000"/>
                  <a:lumOff val="60000"/>
                  <a:alpha val="2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CA9180D7-42A9-C49D-2BD0-9D65A0FFE63A}"/>
                </a:ext>
              </a:extLst>
            </p:cNvPr>
            <p:cNvCxnSpPr>
              <a:cxnSpLocks/>
            </p:cNvCxnSpPr>
            <p:nvPr/>
          </p:nvCxnSpPr>
          <p:spPr>
            <a:xfrm>
              <a:off x="8198871" y="1952625"/>
              <a:ext cx="0" cy="4021458"/>
            </a:xfrm>
            <a:prstGeom prst="line">
              <a:avLst/>
            </a:prstGeom>
            <a:ln w="9525">
              <a:solidFill>
                <a:schemeClr val="accent2">
                  <a:lumMod val="40000"/>
                  <a:lumOff val="60000"/>
                  <a:alpha val="2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E1CD976-3839-D118-AE96-BE898B986459}"/>
                </a:ext>
              </a:extLst>
            </p:cNvPr>
            <p:cNvCxnSpPr>
              <a:cxnSpLocks/>
            </p:cNvCxnSpPr>
            <p:nvPr/>
          </p:nvCxnSpPr>
          <p:spPr>
            <a:xfrm>
              <a:off x="4492828" y="1952625"/>
              <a:ext cx="0" cy="4021458"/>
            </a:xfrm>
            <a:prstGeom prst="line">
              <a:avLst/>
            </a:prstGeom>
            <a:ln w="9525">
              <a:solidFill>
                <a:schemeClr val="accent2">
                  <a:lumMod val="40000"/>
                  <a:lumOff val="60000"/>
                  <a:alpha val="2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41" name="Rectangle: Rounded Corners 240">
            <a:extLst>
              <a:ext uri="{FF2B5EF4-FFF2-40B4-BE49-F238E27FC236}">
                <a16:creationId xmlns:a16="http://schemas.microsoft.com/office/drawing/2014/main" id="{1627B812-73DE-747E-CAE0-D9DFDFF84FE0}"/>
              </a:ext>
            </a:extLst>
          </p:cNvPr>
          <p:cNvSpPr>
            <a:spLocks/>
          </p:cNvSpPr>
          <p:nvPr/>
        </p:nvSpPr>
        <p:spPr bwMode="auto">
          <a:xfrm>
            <a:off x="2604494" y="3207346"/>
            <a:ext cx="1787992" cy="980361"/>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GB" sz="1600">
                <a:solidFill>
                  <a:srgbClr val="FFFFFF"/>
                </a:solidFill>
                <a:cs typeface="Segoe Sans Text ExtraBold" pitchFamily="2" charset="0"/>
              </a:rPr>
              <a:t>Azure DevOps</a:t>
            </a:r>
            <a:endParaRPr lang="en-GB" sz="1600">
              <a:solidFill>
                <a:schemeClr val="bg1"/>
              </a:solidFill>
              <a:cs typeface="Segoe Sans Text ExtraBold" pitchFamily="2" charset="0"/>
            </a:endParaRPr>
          </a:p>
          <a:p>
            <a:pPr algn="ctr" defTabSz="932472" fontAlgn="base">
              <a:spcBef>
                <a:spcPct val="0"/>
              </a:spcBef>
              <a:spcAft>
                <a:spcPts val="800"/>
              </a:spcAft>
            </a:pPr>
            <a:r>
              <a:rPr lang="en-GB" sz="1600" err="1">
                <a:solidFill>
                  <a:schemeClr val="bg1"/>
                </a:solidFill>
                <a:cs typeface="Segoe Sans Text ExtraBold" pitchFamily="2" charset="0"/>
              </a:rPr>
              <a:t>Github</a:t>
            </a:r>
            <a:r>
              <a:rPr lang="en-GB" sz="1600">
                <a:solidFill>
                  <a:schemeClr val="bg1"/>
                </a:solidFill>
                <a:cs typeface="Segoe Sans Text ExtraBold" pitchFamily="2" charset="0"/>
              </a:rPr>
              <a:t> Actions</a:t>
            </a:r>
          </a:p>
          <a:p>
            <a:pPr algn="ctr" defTabSz="932472" fontAlgn="base">
              <a:spcBef>
                <a:spcPct val="0"/>
              </a:spcBef>
              <a:spcAft>
                <a:spcPts val="800"/>
              </a:spcAft>
            </a:pPr>
            <a:endParaRPr lang="en-GB" sz="1600">
              <a:solidFill>
                <a:schemeClr val="bg1"/>
              </a:solidFill>
              <a:cs typeface="Segoe Sans Text ExtraBold" pitchFamily="2" charset="0"/>
            </a:endParaRPr>
          </a:p>
        </p:txBody>
      </p:sp>
      <p:sp>
        <p:nvSpPr>
          <p:cNvPr id="242" name="Rectangle: Rounded Corners 241">
            <a:extLst>
              <a:ext uri="{FF2B5EF4-FFF2-40B4-BE49-F238E27FC236}">
                <a16:creationId xmlns:a16="http://schemas.microsoft.com/office/drawing/2014/main" id="{7A92745A-A824-8DC1-877B-9A35100A7EE5}"/>
              </a:ext>
            </a:extLst>
          </p:cNvPr>
          <p:cNvSpPr>
            <a:spLocks/>
          </p:cNvSpPr>
          <p:nvPr/>
        </p:nvSpPr>
        <p:spPr bwMode="auto">
          <a:xfrm>
            <a:off x="4473753" y="3207346"/>
            <a:ext cx="1787992" cy="3430111"/>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GB" sz="1600">
                <a:solidFill>
                  <a:schemeClr val="bg1"/>
                </a:solidFill>
                <a:cs typeface="Segoe Sans Text ExtraBold" pitchFamily="2" charset="0"/>
              </a:rPr>
              <a:t>Built-in Safety</a:t>
            </a:r>
          </a:p>
          <a:p>
            <a:pPr algn="ctr" defTabSz="932472" fontAlgn="base">
              <a:spcBef>
                <a:spcPct val="0"/>
              </a:spcBef>
              <a:spcAft>
                <a:spcPts val="800"/>
              </a:spcAft>
            </a:pPr>
            <a:r>
              <a:rPr lang="en-GB" sz="1600">
                <a:solidFill>
                  <a:schemeClr val="bg1"/>
                </a:solidFill>
                <a:cs typeface="Segoe Sans Text ExtraBold" pitchFamily="2" charset="0"/>
              </a:rPr>
              <a:t>Built-in </a:t>
            </a:r>
            <a:r>
              <a:rPr lang="en-GB" sz="1600" err="1">
                <a:solidFill>
                  <a:schemeClr val="bg1"/>
                </a:solidFill>
                <a:cs typeface="Segoe Sans Text ExtraBold" pitchFamily="2" charset="0"/>
              </a:rPr>
              <a:t>Github</a:t>
            </a:r>
            <a:r>
              <a:rPr lang="en-GB" sz="1600">
                <a:solidFill>
                  <a:schemeClr val="bg1"/>
                </a:solidFill>
                <a:cs typeface="Segoe Sans Text ExtraBold" pitchFamily="2" charset="0"/>
              </a:rPr>
              <a:t> Actions Integration (Preview)</a:t>
            </a:r>
          </a:p>
          <a:p>
            <a:pPr algn="ctr" defTabSz="932472" fontAlgn="base">
              <a:spcBef>
                <a:spcPct val="0"/>
              </a:spcBef>
              <a:spcAft>
                <a:spcPts val="800"/>
              </a:spcAft>
            </a:pPr>
            <a:r>
              <a:rPr lang="en-GB" sz="1600">
                <a:solidFill>
                  <a:schemeClr val="bg1"/>
                </a:solidFill>
                <a:cs typeface="Segoe Sans Text ExtraBold" pitchFamily="2" charset="0"/>
              </a:rPr>
              <a:t>Performance/ Safety Monitoring</a:t>
            </a:r>
          </a:p>
          <a:p>
            <a:pPr algn="ctr" defTabSz="932472" fontAlgn="base">
              <a:spcBef>
                <a:spcPct val="0"/>
              </a:spcBef>
              <a:spcAft>
                <a:spcPts val="800"/>
              </a:spcAft>
            </a:pPr>
            <a:r>
              <a:rPr lang="en-GB" sz="1600">
                <a:solidFill>
                  <a:schemeClr val="bg1"/>
                </a:solidFill>
                <a:cs typeface="Segoe Sans Text ExtraBold" pitchFamily="2" charset="0"/>
              </a:rPr>
              <a:t>Quota Management</a:t>
            </a:r>
          </a:p>
          <a:p>
            <a:pPr algn="ctr" defTabSz="932472" fontAlgn="base">
              <a:spcBef>
                <a:spcPct val="0"/>
              </a:spcBef>
            </a:pPr>
            <a:r>
              <a:rPr lang="en-GB" sz="1600">
                <a:solidFill>
                  <a:schemeClr val="bg1"/>
                </a:solidFill>
                <a:cs typeface="Segoe Sans Text ExtraBold" pitchFamily="2" charset="0"/>
              </a:rPr>
              <a:t>Managed Online </a:t>
            </a:r>
          </a:p>
          <a:p>
            <a:pPr algn="ctr" defTabSz="932472" fontAlgn="base">
              <a:spcBef>
                <a:spcPct val="0"/>
              </a:spcBef>
            </a:pPr>
            <a:r>
              <a:rPr lang="en-GB" sz="1600">
                <a:solidFill>
                  <a:schemeClr val="bg1"/>
                </a:solidFill>
                <a:cs typeface="Segoe Sans Text ExtraBold" pitchFamily="2" charset="0"/>
              </a:rPr>
              <a:t>Endpoint</a:t>
            </a:r>
          </a:p>
          <a:p>
            <a:pPr algn="ctr" defTabSz="932472" fontAlgn="base">
              <a:spcBef>
                <a:spcPct val="0"/>
              </a:spcBef>
            </a:pPr>
            <a:endParaRPr lang="en-GB" sz="1600">
              <a:solidFill>
                <a:schemeClr val="bg1"/>
              </a:solidFill>
              <a:cs typeface="Segoe Sans Text ExtraBold" pitchFamily="2" charset="0"/>
            </a:endParaRPr>
          </a:p>
          <a:p>
            <a:pPr algn="ctr" defTabSz="932472" fontAlgn="base">
              <a:spcBef>
                <a:spcPct val="0"/>
              </a:spcBef>
            </a:pPr>
            <a:r>
              <a:rPr lang="en-GB" sz="1600">
                <a:solidFill>
                  <a:schemeClr val="bg1"/>
                </a:solidFill>
                <a:cs typeface="Segoe Sans Text ExtraBold" pitchFamily="2" charset="0"/>
              </a:rPr>
              <a:t>Secure Infra</a:t>
            </a:r>
          </a:p>
        </p:txBody>
      </p:sp>
      <p:sp>
        <p:nvSpPr>
          <p:cNvPr id="256" name="Rectangle: Rounded Corners 255">
            <a:extLst>
              <a:ext uri="{FF2B5EF4-FFF2-40B4-BE49-F238E27FC236}">
                <a16:creationId xmlns:a16="http://schemas.microsoft.com/office/drawing/2014/main" id="{E35D2ABB-E613-EC78-7562-401DA61714B2}"/>
              </a:ext>
            </a:extLst>
          </p:cNvPr>
          <p:cNvSpPr>
            <a:spLocks/>
          </p:cNvSpPr>
          <p:nvPr/>
        </p:nvSpPr>
        <p:spPr bwMode="auto">
          <a:xfrm>
            <a:off x="6341881" y="3207346"/>
            <a:ext cx="1787992" cy="1960721"/>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GB" sz="1600">
                <a:solidFill>
                  <a:schemeClr val="bg1"/>
                </a:solidFill>
                <a:cs typeface="Segoe Sans Text ExtraBold" pitchFamily="2" charset="0"/>
              </a:rPr>
              <a:t>Centralized Logging</a:t>
            </a:r>
          </a:p>
          <a:p>
            <a:pPr algn="ctr" defTabSz="932472" fontAlgn="base">
              <a:spcBef>
                <a:spcPct val="0"/>
              </a:spcBef>
              <a:spcAft>
                <a:spcPts val="800"/>
              </a:spcAft>
            </a:pPr>
            <a:r>
              <a:rPr lang="en-GB" sz="1600">
                <a:solidFill>
                  <a:schemeClr val="bg1"/>
                </a:solidFill>
                <a:cs typeface="Segoe Sans Text ExtraBold" pitchFamily="2" charset="0"/>
              </a:rPr>
              <a:t>Audit Trail</a:t>
            </a:r>
          </a:p>
          <a:p>
            <a:pPr algn="ctr" defTabSz="932472" fontAlgn="base">
              <a:spcBef>
                <a:spcPct val="0"/>
              </a:spcBef>
              <a:spcAft>
                <a:spcPts val="800"/>
              </a:spcAft>
            </a:pPr>
            <a:r>
              <a:rPr lang="en-GB" sz="1600">
                <a:solidFill>
                  <a:schemeClr val="bg1"/>
                </a:solidFill>
                <a:cs typeface="Segoe Sans Text ExtraBold" pitchFamily="2" charset="0"/>
              </a:rPr>
              <a:t>Secure Access</a:t>
            </a:r>
          </a:p>
          <a:p>
            <a:pPr algn="ctr" defTabSz="932472" fontAlgn="base">
              <a:spcBef>
                <a:spcPct val="0"/>
              </a:spcBef>
              <a:spcAft>
                <a:spcPts val="800"/>
              </a:spcAft>
            </a:pPr>
            <a:r>
              <a:rPr lang="en-GB" sz="1600">
                <a:solidFill>
                  <a:schemeClr val="bg1"/>
                </a:solidFill>
                <a:cs typeface="Segoe Sans Text ExtraBold" pitchFamily="2" charset="0"/>
              </a:rPr>
              <a:t>High availability </a:t>
            </a:r>
          </a:p>
          <a:p>
            <a:pPr algn="ctr" defTabSz="932472" fontAlgn="base">
              <a:spcBef>
                <a:spcPct val="0"/>
              </a:spcBef>
              <a:spcAft>
                <a:spcPts val="800"/>
              </a:spcAft>
            </a:pPr>
            <a:r>
              <a:rPr lang="en-GB" sz="1600">
                <a:solidFill>
                  <a:schemeClr val="bg1"/>
                </a:solidFill>
                <a:cs typeface="Segoe Sans Text ExtraBold" pitchFamily="2" charset="0"/>
              </a:rPr>
              <a:t>Charge back</a:t>
            </a:r>
          </a:p>
        </p:txBody>
      </p:sp>
      <p:sp>
        <p:nvSpPr>
          <p:cNvPr id="262" name="Rectangle: Rounded Corners 261">
            <a:extLst>
              <a:ext uri="{FF2B5EF4-FFF2-40B4-BE49-F238E27FC236}">
                <a16:creationId xmlns:a16="http://schemas.microsoft.com/office/drawing/2014/main" id="{646D8469-18A3-10CF-B8B8-09D649078D14}"/>
              </a:ext>
            </a:extLst>
          </p:cNvPr>
          <p:cNvSpPr>
            <a:spLocks/>
          </p:cNvSpPr>
          <p:nvPr/>
        </p:nvSpPr>
        <p:spPr bwMode="auto">
          <a:xfrm>
            <a:off x="8054729" y="3207346"/>
            <a:ext cx="1787992" cy="1236107"/>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ts val="800"/>
              </a:spcAft>
            </a:pPr>
            <a:r>
              <a:rPr lang="en-GB" sz="1600">
                <a:solidFill>
                  <a:schemeClr val="bg1"/>
                </a:solidFill>
                <a:cs typeface="Segoe Sans Text ExtraBold" pitchFamily="2" charset="0"/>
              </a:rPr>
              <a:t>Operational Monitoring</a:t>
            </a:r>
          </a:p>
          <a:p>
            <a:pPr algn="ctr" defTabSz="932472" fontAlgn="base">
              <a:spcBef>
                <a:spcPct val="0"/>
              </a:spcBef>
              <a:spcAft>
                <a:spcPts val="800"/>
              </a:spcAft>
            </a:pPr>
            <a:r>
              <a:rPr lang="en-GB" sz="1600">
                <a:solidFill>
                  <a:schemeClr val="bg1"/>
                </a:solidFill>
                <a:cs typeface="Segoe Sans Text ExtraBold" pitchFamily="2" charset="0"/>
              </a:rPr>
              <a:t>Alerts</a:t>
            </a:r>
          </a:p>
          <a:p>
            <a:pPr algn="ctr" defTabSz="932472" fontAlgn="base">
              <a:spcBef>
                <a:spcPct val="0"/>
              </a:spcBef>
              <a:spcAft>
                <a:spcPts val="800"/>
              </a:spcAft>
            </a:pPr>
            <a:endParaRPr lang="en-US" sz="1600">
              <a:solidFill>
                <a:schemeClr val="bg1"/>
              </a:solidFill>
              <a:cs typeface="Segoe Sans Text ExtraBold" pitchFamily="2" charset="0"/>
            </a:endParaRPr>
          </a:p>
        </p:txBody>
      </p:sp>
      <p:sp>
        <p:nvSpPr>
          <p:cNvPr id="60" name="Rectangle: Rounded Corners 59">
            <a:extLst>
              <a:ext uri="{FF2B5EF4-FFF2-40B4-BE49-F238E27FC236}">
                <a16:creationId xmlns:a16="http://schemas.microsoft.com/office/drawing/2014/main" id="{9C0F11FD-91E5-5DE4-B692-4024E7FBAA7C}"/>
              </a:ext>
            </a:extLst>
          </p:cNvPr>
          <p:cNvSpPr>
            <a:spLocks/>
          </p:cNvSpPr>
          <p:nvPr/>
        </p:nvSpPr>
        <p:spPr bwMode="auto">
          <a:xfrm>
            <a:off x="2679512" y="2401495"/>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US" sz="1600" b="1">
                <a:solidFill>
                  <a:srgbClr val="FFFFFF"/>
                </a:solidFill>
                <a:cs typeface="Segoe Sans Text ExtraBold" pitchFamily="2" charset="0"/>
              </a:rPr>
              <a:t>Ops</a:t>
            </a:r>
            <a:endParaRPr lang="en-GB" sz="1600" b="1">
              <a:solidFill>
                <a:srgbClr val="FFFFFF"/>
              </a:solidFill>
              <a:cs typeface="Segoe Sans Text ExtraBold" pitchFamily="2" charset="0"/>
            </a:endParaRPr>
          </a:p>
        </p:txBody>
      </p:sp>
      <p:sp>
        <p:nvSpPr>
          <p:cNvPr id="61" name="Rectangle: Rounded Corners 60">
            <a:extLst>
              <a:ext uri="{FF2B5EF4-FFF2-40B4-BE49-F238E27FC236}">
                <a16:creationId xmlns:a16="http://schemas.microsoft.com/office/drawing/2014/main" id="{86A4F4C6-2462-79B2-31A2-B7336BFB844E}"/>
              </a:ext>
            </a:extLst>
          </p:cNvPr>
          <p:cNvSpPr>
            <a:spLocks/>
          </p:cNvSpPr>
          <p:nvPr/>
        </p:nvSpPr>
        <p:spPr bwMode="auto">
          <a:xfrm>
            <a:off x="4548771" y="2401495"/>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GB" sz="1600" b="1">
                <a:solidFill>
                  <a:srgbClr val="FFFFFF"/>
                </a:solidFill>
                <a:cs typeface="Segoe Sans Text ExtraBold" pitchFamily="2" charset="0"/>
              </a:rPr>
              <a:t>AI Foundry</a:t>
            </a:r>
          </a:p>
        </p:txBody>
      </p:sp>
      <p:sp>
        <p:nvSpPr>
          <p:cNvPr id="193" name="Rectangle: Rounded Corners 192">
            <a:extLst>
              <a:ext uri="{FF2B5EF4-FFF2-40B4-BE49-F238E27FC236}">
                <a16:creationId xmlns:a16="http://schemas.microsoft.com/office/drawing/2014/main" id="{CBA380BD-5656-9807-9E47-F1DDF7306947}"/>
              </a:ext>
            </a:extLst>
          </p:cNvPr>
          <p:cNvSpPr>
            <a:spLocks/>
          </p:cNvSpPr>
          <p:nvPr/>
        </p:nvSpPr>
        <p:spPr bwMode="auto">
          <a:xfrm>
            <a:off x="6302599" y="2401495"/>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GB" sz="1600" b="1">
                <a:solidFill>
                  <a:srgbClr val="FFFFFF"/>
                </a:solidFill>
                <a:cs typeface="Segoe Sans Text ExtraBold" pitchFamily="2" charset="0"/>
              </a:rPr>
              <a:t>APIM</a:t>
            </a:r>
          </a:p>
        </p:txBody>
      </p:sp>
      <p:sp>
        <p:nvSpPr>
          <p:cNvPr id="194" name="Rectangle: Rounded Corners 193">
            <a:extLst>
              <a:ext uri="{FF2B5EF4-FFF2-40B4-BE49-F238E27FC236}">
                <a16:creationId xmlns:a16="http://schemas.microsoft.com/office/drawing/2014/main" id="{CEEABBAB-8537-CF99-BAC2-BF75FB52A793}"/>
              </a:ext>
            </a:extLst>
          </p:cNvPr>
          <p:cNvSpPr>
            <a:spLocks/>
          </p:cNvSpPr>
          <p:nvPr/>
        </p:nvSpPr>
        <p:spPr bwMode="auto">
          <a:xfrm>
            <a:off x="8129747" y="2401495"/>
            <a:ext cx="1637956" cy="255746"/>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32472" fontAlgn="base">
              <a:spcBef>
                <a:spcPct val="0"/>
              </a:spcBef>
              <a:spcAft>
                <a:spcPct val="0"/>
              </a:spcAft>
            </a:pPr>
            <a:r>
              <a:rPr lang="en-GB" sz="1600" b="1">
                <a:solidFill>
                  <a:srgbClr val="FFFFFF"/>
                </a:solidFill>
                <a:cs typeface="Segoe Sans Text ExtraBold" pitchFamily="2" charset="0"/>
              </a:rPr>
              <a:t>Azure Monitor</a:t>
            </a:r>
          </a:p>
        </p:txBody>
      </p:sp>
      <p:sp>
        <p:nvSpPr>
          <p:cNvPr id="2" name="Rectangle: Rounded Corners 1">
            <a:extLst>
              <a:ext uri="{FF2B5EF4-FFF2-40B4-BE49-F238E27FC236}">
                <a16:creationId xmlns:a16="http://schemas.microsoft.com/office/drawing/2014/main" id="{ED26B838-9C36-8109-908F-ABFAE14EC1D0}"/>
              </a:ext>
            </a:extLst>
          </p:cNvPr>
          <p:cNvSpPr/>
          <p:nvPr/>
        </p:nvSpPr>
        <p:spPr bwMode="auto">
          <a:xfrm>
            <a:off x="1390073" y="1429712"/>
            <a:ext cx="9411854" cy="648923"/>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a:solidFill>
                <a:srgbClr val="FFFFFF"/>
              </a:solidFill>
              <a:latin typeface="Segoe Sans Text ExtraBold" pitchFamily="2" charset="0"/>
              <a:cs typeface="Segoe Sans Text ExtraBold" pitchFamily="2" charset="0"/>
            </a:endParaRPr>
          </a:p>
        </p:txBody>
      </p:sp>
      <p:pic>
        <p:nvPicPr>
          <p:cNvPr id="1026" name="Picture 2">
            <a:extLst>
              <a:ext uri="{FF2B5EF4-FFF2-40B4-BE49-F238E27FC236}">
                <a16:creationId xmlns:a16="http://schemas.microsoft.com/office/drawing/2014/main" id="{11149A99-ED51-6DAA-0650-E71B71C1EB39}"/>
              </a:ext>
            </a:extLst>
          </p:cNvPr>
          <p:cNvPicPr>
            <a:picLocks noChangeAspect="1" noChangeArrowheads="1"/>
          </p:cNvPicPr>
          <p:nvPr/>
        </p:nvPicPr>
        <p:blipFill>
          <a:blip r:embed="rId3" cstate="hqprint">
            <a:biLevel thresh="25000"/>
            <a:extLst>
              <a:ext uri="{28A0092B-C50C-407E-A947-70E740481C1C}">
                <a14:useLocalDpi xmlns:a14="http://schemas.microsoft.com/office/drawing/2010/main"/>
              </a:ext>
            </a:extLst>
          </a:blip>
          <a:srcRect/>
          <a:stretch>
            <a:fillRect/>
          </a:stretch>
        </p:blipFill>
        <p:spPr bwMode="auto">
          <a:xfrm>
            <a:off x="5250873" y="1507851"/>
            <a:ext cx="1438564" cy="415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28492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400"/>
                                  </p:stCondLst>
                                  <p:childTnLst>
                                    <p:set>
                                      <p:cBhvr>
                                        <p:cTn id="6" dur="1" fill="hold">
                                          <p:stCondLst>
                                            <p:cond delay="0"/>
                                          </p:stCondLst>
                                        </p:cTn>
                                        <p:tgtEl>
                                          <p:spTgt spid="35"/>
                                        </p:tgtEl>
                                        <p:attrNameLst>
                                          <p:attrName>style.visibility</p:attrName>
                                        </p:attrNameLst>
                                      </p:cBhvr>
                                      <p:to>
                                        <p:strVal val="visible"/>
                                      </p:to>
                                    </p:set>
                                    <p:animEffect transition="in" filter="barn(inVertical)">
                                      <p:cBhvr>
                                        <p:cTn id="7" dur="500"/>
                                        <p:tgtEl>
                                          <p:spTgt spid="35"/>
                                        </p:tgtEl>
                                      </p:cBhvr>
                                    </p:animEffect>
                                  </p:childTnLst>
                                </p:cTn>
                              </p:par>
                              <p:par>
                                <p:cTn id="8" presetID="16" presetClass="entr" presetSubtype="21" fill="hold" nodeType="withEffect">
                                  <p:stCondLst>
                                    <p:cond delay="400"/>
                                  </p:stCondLst>
                                  <p:childTnLst>
                                    <p:set>
                                      <p:cBhvr>
                                        <p:cTn id="9" dur="1" fill="hold">
                                          <p:stCondLst>
                                            <p:cond delay="0"/>
                                          </p:stCondLst>
                                        </p:cTn>
                                        <p:tgtEl>
                                          <p:spTgt spid="43"/>
                                        </p:tgtEl>
                                        <p:attrNameLst>
                                          <p:attrName>style.visibility</p:attrName>
                                        </p:attrNameLst>
                                      </p:cBhvr>
                                      <p:to>
                                        <p:strVal val="visible"/>
                                      </p:to>
                                    </p:set>
                                    <p:animEffect transition="in" filter="barn(inVertical)">
                                      <p:cBhvr>
                                        <p:cTn id="10" dur="500"/>
                                        <p:tgtEl>
                                          <p:spTgt spid="43"/>
                                        </p:tgtEl>
                                      </p:cBhvr>
                                    </p:animEffect>
                                  </p:childTnLst>
                                </p:cTn>
                              </p:par>
                              <p:par>
                                <p:cTn id="11" presetID="16" presetClass="entr" presetSubtype="21" fill="hold" nodeType="withEffect">
                                  <p:stCondLst>
                                    <p:cond delay="400"/>
                                  </p:stCondLst>
                                  <p:childTnLst>
                                    <p:set>
                                      <p:cBhvr>
                                        <p:cTn id="12" dur="1" fill="hold">
                                          <p:stCondLst>
                                            <p:cond delay="0"/>
                                          </p:stCondLst>
                                        </p:cTn>
                                        <p:tgtEl>
                                          <p:spTgt spid="47"/>
                                        </p:tgtEl>
                                        <p:attrNameLst>
                                          <p:attrName>style.visibility</p:attrName>
                                        </p:attrNameLst>
                                      </p:cBhvr>
                                      <p:to>
                                        <p:strVal val="visible"/>
                                      </p:to>
                                    </p:set>
                                    <p:animEffect transition="in" filter="barn(inVertical)">
                                      <p:cBhvr>
                                        <p:cTn id="13" dur="500"/>
                                        <p:tgtEl>
                                          <p:spTgt spid="47"/>
                                        </p:tgtEl>
                                      </p:cBhvr>
                                    </p:animEffect>
                                  </p:childTnLst>
                                </p:cTn>
                              </p:par>
                              <p:par>
                                <p:cTn id="14" presetID="16" presetClass="entr" presetSubtype="21" fill="hold" nodeType="withEffect">
                                  <p:stCondLst>
                                    <p:cond delay="400"/>
                                  </p:stCondLst>
                                  <p:childTnLst>
                                    <p:set>
                                      <p:cBhvr>
                                        <p:cTn id="15" dur="1" fill="hold">
                                          <p:stCondLst>
                                            <p:cond delay="0"/>
                                          </p:stCondLst>
                                        </p:cTn>
                                        <p:tgtEl>
                                          <p:spTgt spid="56"/>
                                        </p:tgtEl>
                                        <p:attrNameLst>
                                          <p:attrName>style.visibility</p:attrName>
                                        </p:attrNameLst>
                                      </p:cBhvr>
                                      <p:to>
                                        <p:strVal val="visible"/>
                                      </p:to>
                                    </p:set>
                                    <p:animEffect transition="in" filter="barn(inVertical)">
                                      <p:cBhvr>
                                        <p:cTn id="16" dur="500"/>
                                        <p:tgtEl>
                                          <p:spTgt spid="56"/>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241"/>
                                        </p:tgtEl>
                                        <p:attrNameLst>
                                          <p:attrName>style.visibility</p:attrName>
                                        </p:attrNameLst>
                                      </p:cBhvr>
                                      <p:to>
                                        <p:strVal val="visible"/>
                                      </p:to>
                                    </p:set>
                                    <p:animEffect transition="in" filter="fade">
                                      <p:cBhvr>
                                        <p:cTn id="19" dur="750"/>
                                        <p:tgtEl>
                                          <p:spTgt spid="241"/>
                                        </p:tgtEl>
                                      </p:cBhvr>
                                    </p:animEffect>
                                  </p:childTnLst>
                                </p:cTn>
                              </p:par>
                              <p:par>
                                <p:cTn id="20" presetID="42" presetClass="path" presetSubtype="0" decel="100000" fill="hold" grpId="1" nodeType="withEffect">
                                  <p:stCondLst>
                                    <p:cond delay="500"/>
                                  </p:stCondLst>
                                  <p:childTnLst>
                                    <p:animMotion origin="layout" path="M -3.54167E-6 0.03889 L -3.54167E-6 1.11111E-6 " pathEditMode="relative" rAng="0" ptsTypes="AA">
                                      <p:cBhvr>
                                        <p:cTn id="21" dur="750" fill="hold"/>
                                        <p:tgtEl>
                                          <p:spTgt spid="241"/>
                                        </p:tgtEl>
                                        <p:attrNameLst>
                                          <p:attrName>ppt_x</p:attrName>
                                          <p:attrName>ppt_y</p:attrName>
                                        </p:attrNameLst>
                                      </p:cBhvr>
                                      <p:rCtr x="0" y="-1944"/>
                                    </p:animMotion>
                                  </p:childTnLst>
                                </p:cTn>
                              </p:par>
                              <p:par>
                                <p:cTn id="22" presetID="10" presetClass="entr" presetSubtype="0" fill="hold" grpId="0" nodeType="withEffect">
                                  <p:stCondLst>
                                    <p:cond delay="500"/>
                                  </p:stCondLst>
                                  <p:childTnLst>
                                    <p:set>
                                      <p:cBhvr>
                                        <p:cTn id="23" dur="1" fill="hold">
                                          <p:stCondLst>
                                            <p:cond delay="0"/>
                                          </p:stCondLst>
                                        </p:cTn>
                                        <p:tgtEl>
                                          <p:spTgt spid="242"/>
                                        </p:tgtEl>
                                        <p:attrNameLst>
                                          <p:attrName>style.visibility</p:attrName>
                                        </p:attrNameLst>
                                      </p:cBhvr>
                                      <p:to>
                                        <p:strVal val="visible"/>
                                      </p:to>
                                    </p:set>
                                    <p:animEffect transition="in" filter="fade">
                                      <p:cBhvr>
                                        <p:cTn id="24" dur="750"/>
                                        <p:tgtEl>
                                          <p:spTgt spid="242"/>
                                        </p:tgtEl>
                                      </p:cBhvr>
                                    </p:animEffect>
                                  </p:childTnLst>
                                </p:cTn>
                              </p:par>
                              <p:par>
                                <p:cTn id="25" presetID="42" presetClass="path" presetSubtype="0" decel="100000" fill="hold" grpId="1" nodeType="withEffect">
                                  <p:stCondLst>
                                    <p:cond delay="500"/>
                                  </p:stCondLst>
                                  <p:childTnLst>
                                    <p:animMotion origin="layout" path="M -4.16667E-7 0.03889 L -4.16667E-7 3.33333E-6 " pathEditMode="relative" rAng="0" ptsTypes="AA">
                                      <p:cBhvr>
                                        <p:cTn id="26" dur="750" fill="hold"/>
                                        <p:tgtEl>
                                          <p:spTgt spid="242"/>
                                        </p:tgtEl>
                                        <p:attrNameLst>
                                          <p:attrName>ppt_x</p:attrName>
                                          <p:attrName>ppt_y</p:attrName>
                                        </p:attrNameLst>
                                      </p:cBhvr>
                                      <p:rCtr x="0" y="-1944"/>
                                    </p:animMotion>
                                  </p:childTnLst>
                                </p:cTn>
                              </p:par>
                              <p:par>
                                <p:cTn id="27" presetID="10" presetClass="entr" presetSubtype="0" fill="hold" grpId="0" nodeType="withEffect">
                                  <p:stCondLst>
                                    <p:cond delay="500"/>
                                  </p:stCondLst>
                                  <p:childTnLst>
                                    <p:set>
                                      <p:cBhvr>
                                        <p:cTn id="28" dur="1" fill="hold">
                                          <p:stCondLst>
                                            <p:cond delay="0"/>
                                          </p:stCondLst>
                                        </p:cTn>
                                        <p:tgtEl>
                                          <p:spTgt spid="256"/>
                                        </p:tgtEl>
                                        <p:attrNameLst>
                                          <p:attrName>style.visibility</p:attrName>
                                        </p:attrNameLst>
                                      </p:cBhvr>
                                      <p:to>
                                        <p:strVal val="visible"/>
                                      </p:to>
                                    </p:set>
                                    <p:animEffect transition="in" filter="fade">
                                      <p:cBhvr>
                                        <p:cTn id="29" dur="750"/>
                                        <p:tgtEl>
                                          <p:spTgt spid="256"/>
                                        </p:tgtEl>
                                      </p:cBhvr>
                                    </p:animEffect>
                                  </p:childTnLst>
                                </p:cTn>
                              </p:par>
                              <p:par>
                                <p:cTn id="30" presetID="42" presetClass="path" presetSubtype="0" decel="100000" fill="hold" grpId="1" nodeType="withEffect">
                                  <p:stCondLst>
                                    <p:cond delay="500"/>
                                  </p:stCondLst>
                                  <p:childTnLst>
                                    <p:animMotion origin="layout" path="M 2.70833E-6 0.03889 L 2.70833E-6 3.7037E-7 " pathEditMode="relative" rAng="0" ptsTypes="AA">
                                      <p:cBhvr>
                                        <p:cTn id="31" dur="750" fill="hold"/>
                                        <p:tgtEl>
                                          <p:spTgt spid="256"/>
                                        </p:tgtEl>
                                        <p:attrNameLst>
                                          <p:attrName>ppt_x</p:attrName>
                                          <p:attrName>ppt_y</p:attrName>
                                        </p:attrNameLst>
                                      </p:cBhvr>
                                      <p:rCtr x="0" y="-1944"/>
                                    </p:animMotion>
                                  </p:childTnLst>
                                </p:cTn>
                              </p:par>
                              <p:par>
                                <p:cTn id="32" presetID="10" presetClass="entr" presetSubtype="0" fill="hold" grpId="0" nodeType="withEffect">
                                  <p:stCondLst>
                                    <p:cond delay="500"/>
                                  </p:stCondLst>
                                  <p:childTnLst>
                                    <p:set>
                                      <p:cBhvr>
                                        <p:cTn id="33" dur="1" fill="hold">
                                          <p:stCondLst>
                                            <p:cond delay="0"/>
                                          </p:stCondLst>
                                        </p:cTn>
                                        <p:tgtEl>
                                          <p:spTgt spid="262"/>
                                        </p:tgtEl>
                                        <p:attrNameLst>
                                          <p:attrName>style.visibility</p:attrName>
                                        </p:attrNameLst>
                                      </p:cBhvr>
                                      <p:to>
                                        <p:strVal val="visible"/>
                                      </p:to>
                                    </p:set>
                                    <p:animEffect transition="in" filter="fade">
                                      <p:cBhvr>
                                        <p:cTn id="34" dur="750"/>
                                        <p:tgtEl>
                                          <p:spTgt spid="262"/>
                                        </p:tgtEl>
                                      </p:cBhvr>
                                    </p:animEffect>
                                  </p:childTnLst>
                                </p:cTn>
                              </p:par>
                              <p:par>
                                <p:cTn id="35" presetID="42" presetClass="path" presetSubtype="0" decel="100000" fill="hold" grpId="1" nodeType="withEffect">
                                  <p:stCondLst>
                                    <p:cond delay="500"/>
                                  </p:stCondLst>
                                  <p:childTnLst>
                                    <p:animMotion origin="layout" path="M -4.16667E-6 0.03889 L -4.16667E-6 1.11111E-6 " pathEditMode="relative" rAng="0" ptsTypes="AA">
                                      <p:cBhvr>
                                        <p:cTn id="36" dur="750" fill="hold"/>
                                        <p:tgtEl>
                                          <p:spTgt spid="262"/>
                                        </p:tgtEl>
                                        <p:attrNameLst>
                                          <p:attrName>ppt_x</p:attrName>
                                          <p:attrName>ppt_y</p:attrName>
                                        </p:attrNameLst>
                                      </p:cBhvr>
                                      <p:rCtr x="0" y="-1944"/>
                                    </p:animMotion>
                                  </p:childTnLst>
                                </p:cTn>
                              </p:par>
                              <p:par>
                                <p:cTn id="37" presetID="10" presetClass="entr" presetSubtype="0" fill="hold" nodeType="withEffect">
                                  <p:stCondLst>
                                    <p:cond delay="0"/>
                                  </p:stCondLst>
                                  <p:childTnLst>
                                    <p:set>
                                      <p:cBhvr>
                                        <p:cTn id="38" dur="1" fill="hold">
                                          <p:stCondLst>
                                            <p:cond delay="0"/>
                                          </p:stCondLst>
                                        </p:cTn>
                                        <p:tgtEl>
                                          <p:spTgt spid="290"/>
                                        </p:tgtEl>
                                        <p:attrNameLst>
                                          <p:attrName>style.visibility</p:attrName>
                                        </p:attrNameLst>
                                      </p:cBhvr>
                                      <p:to>
                                        <p:strVal val="visible"/>
                                      </p:to>
                                    </p:set>
                                    <p:animEffect transition="in" filter="fade">
                                      <p:cBhvr>
                                        <p:cTn id="39" dur="500"/>
                                        <p:tgtEl>
                                          <p:spTgt spid="290"/>
                                        </p:tgtEl>
                                      </p:cBhvr>
                                    </p:animEffect>
                                  </p:childTnLst>
                                </p:cTn>
                              </p:par>
                              <p:par>
                                <p:cTn id="40" presetID="6" presetClass="emph" presetSubtype="0" fill="hold" nodeType="withEffect">
                                  <p:stCondLst>
                                    <p:cond delay="0"/>
                                  </p:stCondLst>
                                  <p:childTnLst>
                                    <p:animScale>
                                      <p:cBhvr>
                                        <p:cTn id="41" dur="10" fill="hold"/>
                                        <p:tgtEl>
                                          <p:spTgt spid="290"/>
                                        </p:tgtEl>
                                      </p:cBhvr>
                                      <p:by x="125000" y="125000"/>
                                    </p:animScale>
                                  </p:childTnLst>
                                </p:cTn>
                              </p:par>
                              <p:par>
                                <p:cTn id="42" presetID="6" presetClass="emph" presetSubtype="0" decel="100000" fill="hold" nodeType="withEffect">
                                  <p:stCondLst>
                                    <p:cond delay="0"/>
                                  </p:stCondLst>
                                  <p:childTnLst>
                                    <p:animScale>
                                      <p:cBhvr>
                                        <p:cTn id="43" dur="750" fill="hold"/>
                                        <p:tgtEl>
                                          <p:spTgt spid="290"/>
                                        </p:tgtEl>
                                      </p:cBhvr>
                                      <p:by x="80000" y="80000"/>
                                    </p:animScale>
                                  </p:childTnLst>
                                </p:cTn>
                              </p:par>
                              <p:par>
                                <p:cTn id="44" presetID="10" presetClass="entr" presetSubtype="0" fill="hold" grpId="0" nodeType="withEffect">
                                  <p:stCondLst>
                                    <p:cond delay="250"/>
                                  </p:stCondLst>
                                  <p:childTnLst>
                                    <p:set>
                                      <p:cBhvr>
                                        <p:cTn id="45" dur="1" fill="hold">
                                          <p:stCondLst>
                                            <p:cond delay="0"/>
                                          </p:stCondLst>
                                        </p:cTn>
                                        <p:tgtEl>
                                          <p:spTgt spid="60"/>
                                        </p:tgtEl>
                                        <p:attrNameLst>
                                          <p:attrName>style.visibility</p:attrName>
                                        </p:attrNameLst>
                                      </p:cBhvr>
                                      <p:to>
                                        <p:strVal val="visible"/>
                                      </p:to>
                                    </p:set>
                                    <p:animEffect transition="in" filter="fade">
                                      <p:cBhvr>
                                        <p:cTn id="46" dur="750"/>
                                        <p:tgtEl>
                                          <p:spTgt spid="60"/>
                                        </p:tgtEl>
                                      </p:cBhvr>
                                    </p:animEffect>
                                  </p:childTnLst>
                                </p:cTn>
                              </p:par>
                              <p:par>
                                <p:cTn id="47" presetID="42" presetClass="path" presetSubtype="0" decel="100000" fill="hold" grpId="1" nodeType="withEffect">
                                  <p:stCondLst>
                                    <p:cond delay="250"/>
                                  </p:stCondLst>
                                  <p:childTnLst>
                                    <p:animMotion origin="layout" path="M -3.54167E-6 0.03889 L -3.54167E-6 1.85185E-6 " pathEditMode="relative" rAng="0" ptsTypes="AA">
                                      <p:cBhvr>
                                        <p:cTn id="48" dur="750" fill="hold"/>
                                        <p:tgtEl>
                                          <p:spTgt spid="60"/>
                                        </p:tgtEl>
                                        <p:attrNameLst>
                                          <p:attrName>ppt_x</p:attrName>
                                          <p:attrName>ppt_y</p:attrName>
                                        </p:attrNameLst>
                                      </p:cBhvr>
                                      <p:rCtr x="0" y="-1944"/>
                                    </p:animMotion>
                                  </p:childTnLst>
                                </p:cTn>
                              </p:par>
                              <p:par>
                                <p:cTn id="49" presetID="10" presetClass="entr" presetSubtype="0" fill="hold" grpId="0" nodeType="withEffect">
                                  <p:stCondLst>
                                    <p:cond delay="250"/>
                                  </p:stCondLst>
                                  <p:childTnLst>
                                    <p:set>
                                      <p:cBhvr>
                                        <p:cTn id="50" dur="1" fill="hold">
                                          <p:stCondLst>
                                            <p:cond delay="0"/>
                                          </p:stCondLst>
                                        </p:cTn>
                                        <p:tgtEl>
                                          <p:spTgt spid="61"/>
                                        </p:tgtEl>
                                        <p:attrNameLst>
                                          <p:attrName>style.visibility</p:attrName>
                                        </p:attrNameLst>
                                      </p:cBhvr>
                                      <p:to>
                                        <p:strVal val="visible"/>
                                      </p:to>
                                    </p:set>
                                    <p:animEffect transition="in" filter="fade">
                                      <p:cBhvr>
                                        <p:cTn id="51" dur="750"/>
                                        <p:tgtEl>
                                          <p:spTgt spid="61"/>
                                        </p:tgtEl>
                                      </p:cBhvr>
                                    </p:animEffect>
                                  </p:childTnLst>
                                </p:cTn>
                              </p:par>
                              <p:par>
                                <p:cTn id="52" presetID="42" presetClass="path" presetSubtype="0" decel="100000" fill="hold" grpId="1" nodeType="withEffect">
                                  <p:stCondLst>
                                    <p:cond delay="250"/>
                                  </p:stCondLst>
                                  <p:childTnLst>
                                    <p:animMotion origin="layout" path="M -4.16667E-7 0.03889 L -4.16667E-7 1.85185E-6 " pathEditMode="relative" rAng="0" ptsTypes="AA">
                                      <p:cBhvr>
                                        <p:cTn id="53" dur="750" fill="hold"/>
                                        <p:tgtEl>
                                          <p:spTgt spid="61"/>
                                        </p:tgtEl>
                                        <p:attrNameLst>
                                          <p:attrName>ppt_x</p:attrName>
                                          <p:attrName>ppt_y</p:attrName>
                                        </p:attrNameLst>
                                      </p:cBhvr>
                                      <p:rCtr x="0" y="-1944"/>
                                    </p:animMotion>
                                  </p:childTnLst>
                                </p:cTn>
                              </p:par>
                              <p:par>
                                <p:cTn id="54" presetID="10" presetClass="entr" presetSubtype="0" fill="hold" grpId="0" nodeType="withEffect">
                                  <p:stCondLst>
                                    <p:cond delay="250"/>
                                  </p:stCondLst>
                                  <p:childTnLst>
                                    <p:set>
                                      <p:cBhvr>
                                        <p:cTn id="55" dur="1" fill="hold">
                                          <p:stCondLst>
                                            <p:cond delay="0"/>
                                          </p:stCondLst>
                                        </p:cTn>
                                        <p:tgtEl>
                                          <p:spTgt spid="193"/>
                                        </p:tgtEl>
                                        <p:attrNameLst>
                                          <p:attrName>style.visibility</p:attrName>
                                        </p:attrNameLst>
                                      </p:cBhvr>
                                      <p:to>
                                        <p:strVal val="visible"/>
                                      </p:to>
                                    </p:set>
                                    <p:animEffect transition="in" filter="fade">
                                      <p:cBhvr>
                                        <p:cTn id="56" dur="750"/>
                                        <p:tgtEl>
                                          <p:spTgt spid="193"/>
                                        </p:tgtEl>
                                      </p:cBhvr>
                                    </p:animEffect>
                                  </p:childTnLst>
                                </p:cTn>
                              </p:par>
                              <p:par>
                                <p:cTn id="57" presetID="42" presetClass="path" presetSubtype="0" decel="100000" fill="hold" grpId="1" nodeType="withEffect">
                                  <p:stCondLst>
                                    <p:cond delay="250"/>
                                  </p:stCondLst>
                                  <p:childTnLst>
                                    <p:animMotion origin="layout" path="M 2.70833E-6 0.03889 L 2.70833E-6 1.85185E-6 " pathEditMode="relative" rAng="0" ptsTypes="AA">
                                      <p:cBhvr>
                                        <p:cTn id="58" dur="750" fill="hold"/>
                                        <p:tgtEl>
                                          <p:spTgt spid="193"/>
                                        </p:tgtEl>
                                        <p:attrNameLst>
                                          <p:attrName>ppt_x</p:attrName>
                                          <p:attrName>ppt_y</p:attrName>
                                        </p:attrNameLst>
                                      </p:cBhvr>
                                      <p:rCtr x="0" y="-1944"/>
                                    </p:animMotion>
                                  </p:childTnLst>
                                </p:cTn>
                              </p:par>
                              <p:par>
                                <p:cTn id="59" presetID="10" presetClass="entr" presetSubtype="0" fill="hold" grpId="0" nodeType="withEffect">
                                  <p:stCondLst>
                                    <p:cond delay="250"/>
                                  </p:stCondLst>
                                  <p:childTnLst>
                                    <p:set>
                                      <p:cBhvr>
                                        <p:cTn id="60" dur="1" fill="hold">
                                          <p:stCondLst>
                                            <p:cond delay="0"/>
                                          </p:stCondLst>
                                        </p:cTn>
                                        <p:tgtEl>
                                          <p:spTgt spid="194"/>
                                        </p:tgtEl>
                                        <p:attrNameLst>
                                          <p:attrName>style.visibility</p:attrName>
                                        </p:attrNameLst>
                                      </p:cBhvr>
                                      <p:to>
                                        <p:strVal val="visible"/>
                                      </p:to>
                                    </p:set>
                                    <p:animEffect transition="in" filter="fade">
                                      <p:cBhvr>
                                        <p:cTn id="61" dur="750"/>
                                        <p:tgtEl>
                                          <p:spTgt spid="194"/>
                                        </p:tgtEl>
                                      </p:cBhvr>
                                    </p:animEffect>
                                  </p:childTnLst>
                                </p:cTn>
                              </p:par>
                              <p:par>
                                <p:cTn id="62" presetID="42" presetClass="path" presetSubtype="0" decel="100000" fill="hold" grpId="1" nodeType="withEffect">
                                  <p:stCondLst>
                                    <p:cond delay="250"/>
                                  </p:stCondLst>
                                  <p:childTnLst>
                                    <p:animMotion origin="layout" path="M -4.16667E-6 0.03889 L -4.16667E-6 1.85185E-6 " pathEditMode="relative" rAng="0" ptsTypes="AA">
                                      <p:cBhvr>
                                        <p:cTn id="63" dur="750" fill="hold"/>
                                        <p:tgtEl>
                                          <p:spTgt spid="194"/>
                                        </p:tgtEl>
                                        <p:attrNameLst>
                                          <p:attrName>ppt_x</p:attrName>
                                          <p:attrName>ppt_y</p:attrName>
                                        </p:attrNameLst>
                                      </p:cBhvr>
                                      <p:rCtr x="0" y="-1944"/>
                                    </p:animMotion>
                                  </p:childTnLst>
                                </p:cTn>
                              </p:par>
                              <p:par>
                                <p:cTn id="64" presetID="10" presetClass="entr" presetSubtype="0" fill="hold" nodeType="withEffect">
                                  <p:stCondLst>
                                    <p:cond delay="250"/>
                                  </p:stCondLst>
                                  <p:childTnLst>
                                    <p:set>
                                      <p:cBhvr>
                                        <p:cTn id="65" dur="1" fill="hold">
                                          <p:stCondLst>
                                            <p:cond delay="0"/>
                                          </p:stCondLst>
                                        </p:cTn>
                                        <p:tgtEl>
                                          <p:spTgt spid="236"/>
                                        </p:tgtEl>
                                        <p:attrNameLst>
                                          <p:attrName>style.visibility</p:attrName>
                                        </p:attrNameLst>
                                      </p:cBhvr>
                                      <p:to>
                                        <p:strVal val="visible"/>
                                      </p:to>
                                    </p:set>
                                    <p:animEffect transition="in" filter="fade">
                                      <p:cBhvr>
                                        <p:cTn id="66" dur="750"/>
                                        <p:tgtEl>
                                          <p:spTgt spid="236"/>
                                        </p:tgtEl>
                                      </p:cBhvr>
                                    </p:animEffect>
                                  </p:childTnLst>
                                </p:cTn>
                              </p:par>
                              <p:par>
                                <p:cTn id="67" presetID="42" presetClass="path" presetSubtype="0" decel="100000" fill="hold" nodeType="withEffect">
                                  <p:stCondLst>
                                    <p:cond delay="250"/>
                                  </p:stCondLst>
                                  <p:childTnLst>
                                    <p:animMotion origin="layout" path="M 4.16667E-6 0.03889 L 4.16667E-6 -1.11111E-6 " pathEditMode="relative" rAng="0" ptsTypes="AA">
                                      <p:cBhvr>
                                        <p:cTn id="68" dur="750" fill="hold"/>
                                        <p:tgtEl>
                                          <p:spTgt spid="236"/>
                                        </p:tgtEl>
                                        <p:attrNameLst>
                                          <p:attrName>ppt_x</p:attrName>
                                          <p:attrName>ppt_y</p:attrName>
                                        </p:attrNameLst>
                                      </p:cBhvr>
                                      <p:rCtr x="0" y="-1944"/>
                                    </p:animMotion>
                                  </p:childTnLst>
                                </p:cTn>
                              </p:par>
                              <p:par>
                                <p:cTn id="69" presetID="10" presetClass="entr" presetSubtype="0" fill="hold" grpId="0" nodeType="withEffect">
                                  <p:stCondLst>
                                    <p:cond delay="250"/>
                                  </p:stCondLst>
                                  <p:childTnLst>
                                    <p:set>
                                      <p:cBhvr>
                                        <p:cTn id="70" dur="1" fill="hold">
                                          <p:stCondLst>
                                            <p:cond delay="0"/>
                                          </p:stCondLst>
                                        </p:cTn>
                                        <p:tgtEl>
                                          <p:spTgt spid="7"/>
                                        </p:tgtEl>
                                        <p:attrNameLst>
                                          <p:attrName>style.visibility</p:attrName>
                                        </p:attrNameLst>
                                      </p:cBhvr>
                                      <p:to>
                                        <p:strVal val="visible"/>
                                      </p:to>
                                    </p:set>
                                    <p:animEffect transition="in" filter="fade">
                                      <p:cBhvr>
                                        <p:cTn id="71" dur="750"/>
                                        <p:tgtEl>
                                          <p:spTgt spid="7"/>
                                        </p:tgtEl>
                                      </p:cBhvr>
                                    </p:animEffect>
                                  </p:childTnLst>
                                </p:cTn>
                              </p:par>
                              <p:par>
                                <p:cTn id="72" presetID="42" presetClass="path" presetSubtype="0" decel="100000" fill="hold" grpId="1" nodeType="withEffect">
                                  <p:stCondLst>
                                    <p:cond delay="250"/>
                                  </p:stCondLst>
                                  <p:childTnLst>
                                    <p:animMotion origin="layout" path="M -4.16667E-7 0.03889 L -4.16667E-7 -1.11111E-6 " pathEditMode="relative" rAng="0" ptsTypes="AA">
                                      <p:cBhvr>
                                        <p:cTn id="73" dur="750" fill="hold"/>
                                        <p:tgtEl>
                                          <p:spTgt spid="7"/>
                                        </p:tgtEl>
                                        <p:attrNameLst>
                                          <p:attrName>ppt_x</p:attrName>
                                          <p:attrName>ppt_y</p:attrName>
                                        </p:attrNameLst>
                                      </p:cBhvr>
                                      <p:rCtr x="0" y="-1944"/>
                                    </p:animMotion>
                                  </p:childTnLst>
                                </p:cTn>
                              </p:par>
                              <p:par>
                                <p:cTn id="74" presetID="10" presetClass="entr" presetSubtype="0" fill="hold" grpId="0" nodeType="withEffect">
                                  <p:stCondLst>
                                    <p:cond delay="250"/>
                                  </p:stCondLst>
                                  <p:childTnLst>
                                    <p:set>
                                      <p:cBhvr>
                                        <p:cTn id="75" dur="1" fill="hold">
                                          <p:stCondLst>
                                            <p:cond delay="0"/>
                                          </p:stCondLst>
                                        </p:cTn>
                                        <p:tgtEl>
                                          <p:spTgt spid="4"/>
                                        </p:tgtEl>
                                        <p:attrNameLst>
                                          <p:attrName>style.visibility</p:attrName>
                                        </p:attrNameLst>
                                      </p:cBhvr>
                                      <p:to>
                                        <p:strVal val="visible"/>
                                      </p:to>
                                    </p:set>
                                    <p:animEffect transition="in" filter="fade">
                                      <p:cBhvr>
                                        <p:cTn id="76" dur="750"/>
                                        <p:tgtEl>
                                          <p:spTgt spid="4"/>
                                        </p:tgtEl>
                                      </p:cBhvr>
                                    </p:animEffect>
                                  </p:childTnLst>
                                </p:cTn>
                              </p:par>
                              <p:par>
                                <p:cTn id="77" presetID="42" presetClass="path" presetSubtype="0" decel="100000" fill="hold" grpId="1" nodeType="withEffect">
                                  <p:stCondLst>
                                    <p:cond delay="250"/>
                                  </p:stCondLst>
                                  <p:childTnLst>
                                    <p:animMotion origin="layout" path="M -3.54167E-6 0.03889 L -3.54167E-6 -1.11111E-6 " pathEditMode="relative" rAng="0" ptsTypes="AA">
                                      <p:cBhvr>
                                        <p:cTn id="78" dur="750" fill="hold"/>
                                        <p:tgtEl>
                                          <p:spTgt spid="4"/>
                                        </p:tgtEl>
                                        <p:attrNameLst>
                                          <p:attrName>ppt_x</p:attrName>
                                          <p:attrName>ppt_y</p:attrName>
                                        </p:attrNameLst>
                                      </p:cBhvr>
                                      <p:rCtr x="0" y="-1944"/>
                                    </p:animMotion>
                                  </p:childTnLst>
                                </p:cTn>
                              </p:par>
                              <p:par>
                                <p:cTn id="79" presetID="22" presetClass="entr" presetSubtype="1" fill="hold" nodeType="withEffect">
                                  <p:stCondLst>
                                    <p:cond delay="500"/>
                                  </p:stCondLst>
                                  <p:childTnLst>
                                    <p:set>
                                      <p:cBhvr>
                                        <p:cTn id="80" dur="1" fill="hold">
                                          <p:stCondLst>
                                            <p:cond delay="0"/>
                                          </p:stCondLst>
                                        </p:cTn>
                                        <p:tgtEl>
                                          <p:spTgt spid="240"/>
                                        </p:tgtEl>
                                        <p:attrNameLst>
                                          <p:attrName>style.visibility</p:attrName>
                                        </p:attrNameLst>
                                      </p:cBhvr>
                                      <p:to>
                                        <p:strVal val="visible"/>
                                      </p:to>
                                    </p:set>
                                    <p:animEffect transition="in" filter="wipe(up)">
                                      <p:cBhvr>
                                        <p:cTn id="81" dur="500"/>
                                        <p:tgtEl>
                                          <p:spTgt spid="240"/>
                                        </p:tgtEl>
                                      </p:cBhvr>
                                    </p:animEffect>
                                  </p:childTnLst>
                                </p:cTn>
                              </p:par>
                              <p:par>
                                <p:cTn id="82" presetID="10" presetClass="entr" presetSubtype="0" fill="hold" grpId="0" nodeType="withEffect">
                                  <p:stCondLst>
                                    <p:cond delay="250"/>
                                  </p:stCondLst>
                                  <p:childTnLst>
                                    <p:set>
                                      <p:cBhvr>
                                        <p:cTn id="83" dur="1" fill="hold">
                                          <p:stCondLst>
                                            <p:cond delay="0"/>
                                          </p:stCondLst>
                                        </p:cTn>
                                        <p:tgtEl>
                                          <p:spTgt spid="2"/>
                                        </p:tgtEl>
                                        <p:attrNameLst>
                                          <p:attrName>style.visibility</p:attrName>
                                        </p:attrNameLst>
                                      </p:cBhvr>
                                      <p:to>
                                        <p:strVal val="visible"/>
                                      </p:to>
                                    </p:set>
                                    <p:animEffect transition="in" filter="fade">
                                      <p:cBhvr>
                                        <p:cTn id="84" dur="750"/>
                                        <p:tgtEl>
                                          <p:spTgt spid="2"/>
                                        </p:tgtEl>
                                      </p:cBhvr>
                                    </p:animEffect>
                                  </p:childTnLst>
                                </p:cTn>
                              </p:par>
                              <p:par>
                                <p:cTn id="85" presetID="42" presetClass="path" presetSubtype="0" decel="100000" fill="hold" grpId="1" nodeType="withEffect">
                                  <p:stCondLst>
                                    <p:cond delay="250"/>
                                  </p:stCondLst>
                                  <p:childTnLst>
                                    <p:animMotion origin="layout" path="M 0 0.03889 L 0 -3.7037E-6 " pathEditMode="relative" rAng="0" ptsTypes="AA">
                                      <p:cBhvr>
                                        <p:cTn id="86" dur="750" fill="hold"/>
                                        <p:tgtEl>
                                          <p:spTgt spid="2"/>
                                        </p:tgtEl>
                                        <p:attrNameLst>
                                          <p:attrName>ppt_x</p:attrName>
                                          <p:attrName>ppt_y</p:attrName>
                                        </p:attrNameLst>
                                      </p:cBhvr>
                                      <p:rCtr x="0" y="-1944"/>
                                    </p:animMotion>
                                  </p:childTnLst>
                                </p:cTn>
                              </p:par>
                              <p:par>
                                <p:cTn id="87" presetID="10" presetClass="entr" presetSubtype="0" fill="hold" nodeType="withEffect">
                                  <p:stCondLst>
                                    <p:cond delay="250"/>
                                  </p:stCondLst>
                                  <p:childTnLst>
                                    <p:set>
                                      <p:cBhvr>
                                        <p:cTn id="88" dur="1" fill="hold">
                                          <p:stCondLst>
                                            <p:cond delay="0"/>
                                          </p:stCondLst>
                                        </p:cTn>
                                        <p:tgtEl>
                                          <p:spTgt spid="1026"/>
                                        </p:tgtEl>
                                        <p:attrNameLst>
                                          <p:attrName>style.visibility</p:attrName>
                                        </p:attrNameLst>
                                      </p:cBhvr>
                                      <p:to>
                                        <p:strVal val="visible"/>
                                      </p:to>
                                    </p:set>
                                    <p:animEffect transition="in" filter="fade">
                                      <p:cBhvr>
                                        <p:cTn id="89" dur="750"/>
                                        <p:tgtEl>
                                          <p:spTgt spid="1026"/>
                                        </p:tgtEl>
                                      </p:cBhvr>
                                    </p:animEffect>
                                  </p:childTnLst>
                                </p:cTn>
                              </p:par>
                              <p:par>
                                <p:cTn id="90" presetID="42" presetClass="path" presetSubtype="0" decel="100000" fill="hold" nodeType="withEffect">
                                  <p:stCondLst>
                                    <p:cond delay="250"/>
                                  </p:stCondLst>
                                  <p:childTnLst>
                                    <p:animMotion origin="layout" path="M -3.54167E-6 0.03889 L -3.54167E-6 3.7037E-7 " pathEditMode="relative" rAng="0" ptsTypes="AA">
                                      <p:cBhvr>
                                        <p:cTn id="91" dur="750" fill="hold"/>
                                        <p:tgtEl>
                                          <p:spTgt spid="1026"/>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7" grpId="0" animBg="1"/>
      <p:bldP spid="7" grpId="1" animBg="1"/>
      <p:bldP spid="241" grpId="0"/>
      <p:bldP spid="241" grpId="1"/>
      <p:bldP spid="242" grpId="0"/>
      <p:bldP spid="242" grpId="1"/>
      <p:bldP spid="256" grpId="0"/>
      <p:bldP spid="256" grpId="1"/>
      <p:bldP spid="262" grpId="0"/>
      <p:bldP spid="262" grpId="1"/>
      <p:bldP spid="60" grpId="0"/>
      <p:bldP spid="60" grpId="1"/>
      <p:bldP spid="61" grpId="0"/>
      <p:bldP spid="61" grpId="1"/>
      <p:bldP spid="193" grpId="0"/>
      <p:bldP spid="193" grpId="1"/>
      <p:bldP spid="194" grpId="0"/>
      <p:bldP spid="194" grpId="1"/>
      <p:bldP spid="2" grpId="0" animBg="1"/>
      <p:bldP spid="2" grpId="1" animBg="1"/>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450F1-711A-1DBF-42FD-ECEE379221C9}"/>
              </a:ext>
            </a:extLst>
          </p:cNvPr>
          <p:cNvSpPr>
            <a:spLocks noGrp="1"/>
          </p:cNvSpPr>
          <p:nvPr>
            <p:ph type="title"/>
          </p:nvPr>
        </p:nvSpPr>
        <p:spPr/>
        <p:txBody>
          <a:bodyPr/>
          <a:lstStyle/>
          <a:p>
            <a:br>
              <a:rPr lang="en-GB" dirty="0">
                <a:cs typeface="Segoe Sans Text Semibold"/>
              </a:rPr>
            </a:br>
            <a:endParaRPr lang="en-GB"/>
          </a:p>
        </p:txBody>
      </p:sp>
      <p:pic>
        <p:nvPicPr>
          <p:cNvPr id="3074" name="Picture 2">
            <a:extLst>
              <a:ext uri="{FF2B5EF4-FFF2-40B4-BE49-F238E27FC236}">
                <a16:creationId xmlns:a16="http://schemas.microsoft.com/office/drawing/2014/main" id="{92DC4417-F118-1B3C-1A3A-2CF57CAEAF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176" y="257623"/>
            <a:ext cx="10601325" cy="595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7460738"/>
      </p:ext>
    </p:extLst>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8E26B-DDC4-AD1E-49D9-7F3EAA51C764}"/>
            </a:ext>
          </a:extLst>
        </p:cNvPr>
        <p:cNvGrpSpPr/>
        <p:nvPr/>
      </p:nvGrpSpPr>
      <p:grpSpPr>
        <a:xfrm>
          <a:off x="0" y="0"/>
          <a:ext cx="0" cy="0"/>
          <a:chOff x="0" y="0"/>
          <a:chExt cx="0" cy="0"/>
        </a:xfrm>
      </p:grpSpPr>
      <p:sp>
        <p:nvSpPr>
          <p:cNvPr id="4" name="Title 14">
            <a:extLst>
              <a:ext uri="{FF2B5EF4-FFF2-40B4-BE49-F238E27FC236}">
                <a16:creationId xmlns:a16="http://schemas.microsoft.com/office/drawing/2014/main" id="{40809C50-597E-506E-A97C-DF6C23A52A9E}"/>
              </a:ext>
            </a:extLst>
          </p:cNvPr>
          <p:cNvSpPr>
            <a:spLocks noGrp="1"/>
          </p:cNvSpPr>
          <p:nvPr>
            <p:ph type="title" idx="4294967295"/>
          </p:nvPr>
        </p:nvSpPr>
        <p:spPr>
          <a:xfrm>
            <a:off x="1248324" y="593725"/>
            <a:ext cx="11017250" cy="998538"/>
          </a:xfrm>
        </p:spPr>
        <p:txBody>
          <a:bodyPr/>
          <a:lstStyle/>
          <a:p>
            <a:r>
              <a:rPr lang="en-US">
                <a:solidFill>
                  <a:schemeClr val="bg1"/>
                </a:solidFill>
              </a:rPr>
              <a:t>AI Workflow Deployment Options</a:t>
            </a:r>
          </a:p>
        </p:txBody>
      </p:sp>
      <p:sp>
        <p:nvSpPr>
          <p:cNvPr id="44" name="Rectangle: Rounded Corners 43">
            <a:extLst>
              <a:ext uri="{FF2B5EF4-FFF2-40B4-BE49-F238E27FC236}">
                <a16:creationId xmlns:a16="http://schemas.microsoft.com/office/drawing/2014/main" id="{D4C6B07A-1361-C48F-221D-BD215677E2A8}"/>
              </a:ext>
            </a:extLst>
          </p:cNvPr>
          <p:cNvSpPr>
            <a:spLocks/>
          </p:cNvSpPr>
          <p:nvPr/>
        </p:nvSpPr>
        <p:spPr bwMode="auto">
          <a:xfrm>
            <a:off x="686445" y="1503680"/>
            <a:ext cx="2566430" cy="4765358"/>
          </a:xfrm>
          <a:prstGeom prst="roundRect">
            <a:avLst>
              <a:gd name="adj" fmla="val 3281"/>
            </a:avLst>
          </a:prstGeom>
          <a:solidFill>
            <a:srgbClr val="103658"/>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45" name="Rectangle: Rounded Corners 44">
            <a:extLst>
              <a:ext uri="{FF2B5EF4-FFF2-40B4-BE49-F238E27FC236}">
                <a16:creationId xmlns:a16="http://schemas.microsoft.com/office/drawing/2014/main" id="{85947240-CD38-9C24-1489-8A799A084B72}"/>
              </a:ext>
            </a:extLst>
          </p:cNvPr>
          <p:cNvSpPr>
            <a:spLocks/>
          </p:cNvSpPr>
          <p:nvPr/>
        </p:nvSpPr>
        <p:spPr bwMode="auto">
          <a:xfrm>
            <a:off x="686445" y="1503680"/>
            <a:ext cx="2566430" cy="476535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46" name="Rectangle: Top Corners Rounded 45">
            <a:extLst>
              <a:ext uri="{FF2B5EF4-FFF2-40B4-BE49-F238E27FC236}">
                <a16:creationId xmlns:a16="http://schemas.microsoft.com/office/drawing/2014/main" id="{EE9ACDD2-171A-01C6-9568-B7C45C77A911}"/>
              </a:ext>
            </a:extLst>
          </p:cNvPr>
          <p:cNvSpPr>
            <a:spLocks/>
          </p:cNvSpPr>
          <p:nvPr/>
        </p:nvSpPr>
        <p:spPr bwMode="auto">
          <a:xfrm flipV="1">
            <a:off x="686445" y="5089105"/>
            <a:ext cx="2566430" cy="1179930"/>
          </a:xfrm>
          <a:prstGeom prst="round2SameRect">
            <a:avLst>
              <a:gd name="adj1" fmla="val 4689"/>
              <a:gd name="adj2" fmla="val 0"/>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pic>
        <p:nvPicPr>
          <p:cNvPr id="47" name="Picture 46">
            <a:extLst>
              <a:ext uri="{FF2B5EF4-FFF2-40B4-BE49-F238E27FC236}">
                <a16:creationId xmlns:a16="http://schemas.microsoft.com/office/drawing/2014/main" id="{12E3E2E0-0375-F637-DF65-E99939D1660D}"/>
              </a:ext>
            </a:extLst>
          </p:cNvPr>
          <p:cNvPicPr>
            <a:picLocks noChangeAspect="1"/>
          </p:cNvPicPr>
          <p:nvPr/>
        </p:nvPicPr>
        <p:blipFill>
          <a:blip r:embed="rId3">
            <a:alphaModFix amt="35000"/>
            <a:extLst>
              <a:ext uri="{BEBA8EAE-BF5A-486C-A8C5-ECC9F3942E4B}">
                <a14:imgProps xmlns:a14="http://schemas.microsoft.com/office/drawing/2010/main">
                  <a14:imgLayer r:embed="rId4">
                    <a14:imgEffect>
                      <a14:artisticBlur radius="25"/>
                    </a14:imgEffect>
                  </a14:imgLayer>
                </a14:imgProps>
              </a:ext>
            </a:extLst>
          </a:blip>
          <a:srcRect l="6531" t="35217" r="49389" b="12072"/>
          <a:stretch/>
        </p:blipFill>
        <p:spPr>
          <a:xfrm>
            <a:off x="681687" y="4675094"/>
            <a:ext cx="2566430" cy="1593944"/>
          </a:xfrm>
          <a:prstGeom prst="rect">
            <a:avLst/>
          </a:prstGeom>
        </p:spPr>
      </p:pic>
      <p:sp>
        <p:nvSpPr>
          <p:cNvPr id="50" name="Rectangle: Rounded Corners 49">
            <a:extLst>
              <a:ext uri="{FF2B5EF4-FFF2-40B4-BE49-F238E27FC236}">
                <a16:creationId xmlns:a16="http://schemas.microsoft.com/office/drawing/2014/main" id="{C81D63FA-C3A3-BDF5-9348-20369280CFE1}"/>
              </a:ext>
            </a:extLst>
          </p:cNvPr>
          <p:cNvSpPr>
            <a:spLocks/>
          </p:cNvSpPr>
          <p:nvPr/>
        </p:nvSpPr>
        <p:spPr bwMode="auto">
          <a:xfrm>
            <a:off x="3469264" y="1503680"/>
            <a:ext cx="2566430" cy="476535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1" name="Rectangle: Top Corners Rounded 50">
            <a:extLst>
              <a:ext uri="{FF2B5EF4-FFF2-40B4-BE49-F238E27FC236}">
                <a16:creationId xmlns:a16="http://schemas.microsoft.com/office/drawing/2014/main" id="{79F283F1-527D-6182-F50C-679DBDB3F45E}"/>
              </a:ext>
            </a:extLst>
          </p:cNvPr>
          <p:cNvSpPr>
            <a:spLocks/>
          </p:cNvSpPr>
          <p:nvPr/>
        </p:nvSpPr>
        <p:spPr bwMode="auto">
          <a:xfrm flipV="1">
            <a:off x="3476259" y="5089104"/>
            <a:ext cx="2566430" cy="1179931"/>
          </a:xfrm>
          <a:prstGeom prst="round2SameRect">
            <a:avLst>
              <a:gd name="adj1" fmla="val 4689"/>
              <a:gd name="adj2" fmla="val 0"/>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3" name="Rectangle: Rounded Corners 52">
            <a:extLst>
              <a:ext uri="{FF2B5EF4-FFF2-40B4-BE49-F238E27FC236}">
                <a16:creationId xmlns:a16="http://schemas.microsoft.com/office/drawing/2014/main" id="{25A916DA-90B2-6840-319A-FEBEC03D1552}"/>
              </a:ext>
            </a:extLst>
          </p:cNvPr>
          <p:cNvSpPr>
            <a:spLocks/>
          </p:cNvSpPr>
          <p:nvPr/>
        </p:nvSpPr>
        <p:spPr bwMode="auto">
          <a:xfrm>
            <a:off x="6287342" y="1503680"/>
            <a:ext cx="2566430" cy="476535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4" name="Rectangle: Top Corners Rounded 53">
            <a:extLst>
              <a:ext uri="{FF2B5EF4-FFF2-40B4-BE49-F238E27FC236}">
                <a16:creationId xmlns:a16="http://schemas.microsoft.com/office/drawing/2014/main" id="{F73D6DF8-3187-2FB8-8360-960CE47BB985}"/>
              </a:ext>
            </a:extLst>
          </p:cNvPr>
          <p:cNvSpPr>
            <a:spLocks/>
          </p:cNvSpPr>
          <p:nvPr/>
        </p:nvSpPr>
        <p:spPr bwMode="auto">
          <a:xfrm flipV="1">
            <a:off x="6280347" y="5089103"/>
            <a:ext cx="2566430" cy="1179932"/>
          </a:xfrm>
          <a:prstGeom prst="round2SameRect">
            <a:avLst>
              <a:gd name="adj1" fmla="val 4689"/>
              <a:gd name="adj2" fmla="val 0"/>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6" name="Rectangle: Rounded Corners 55">
            <a:extLst>
              <a:ext uri="{FF2B5EF4-FFF2-40B4-BE49-F238E27FC236}">
                <a16:creationId xmlns:a16="http://schemas.microsoft.com/office/drawing/2014/main" id="{23B38111-3E1D-DDC2-CDD4-BAFB6E30A38C}"/>
              </a:ext>
            </a:extLst>
          </p:cNvPr>
          <p:cNvSpPr>
            <a:spLocks/>
          </p:cNvSpPr>
          <p:nvPr/>
        </p:nvSpPr>
        <p:spPr bwMode="auto">
          <a:xfrm>
            <a:off x="9063281" y="1503680"/>
            <a:ext cx="2566430" cy="476535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7" name="Rectangle: Top Corners Rounded 56">
            <a:extLst>
              <a:ext uri="{FF2B5EF4-FFF2-40B4-BE49-F238E27FC236}">
                <a16:creationId xmlns:a16="http://schemas.microsoft.com/office/drawing/2014/main" id="{DBC4A0B7-E030-7DA2-468C-840B195BB2F5}"/>
              </a:ext>
            </a:extLst>
          </p:cNvPr>
          <p:cNvSpPr>
            <a:spLocks/>
          </p:cNvSpPr>
          <p:nvPr/>
        </p:nvSpPr>
        <p:spPr bwMode="auto">
          <a:xfrm flipV="1">
            <a:off x="9056286" y="5089103"/>
            <a:ext cx="2566430" cy="1179932"/>
          </a:xfrm>
          <a:prstGeom prst="round2SameRect">
            <a:avLst>
              <a:gd name="adj1" fmla="val 4689"/>
              <a:gd name="adj2" fmla="val 0"/>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nvGrpSpPr>
          <p:cNvPr id="69" name="Group 68">
            <a:extLst>
              <a:ext uri="{FF2B5EF4-FFF2-40B4-BE49-F238E27FC236}">
                <a16:creationId xmlns:a16="http://schemas.microsoft.com/office/drawing/2014/main" id="{A5DDCFA3-19D0-A691-7ED6-0A9ABAB65235}"/>
              </a:ext>
            </a:extLst>
          </p:cNvPr>
          <p:cNvGrpSpPr/>
          <p:nvPr/>
        </p:nvGrpSpPr>
        <p:grpSpPr>
          <a:xfrm>
            <a:off x="799813" y="1320800"/>
            <a:ext cx="10716530" cy="271463"/>
            <a:chOff x="726239" y="1320800"/>
            <a:chExt cx="10716530" cy="376228"/>
          </a:xfrm>
          <a:blipFill dpi="0" rotWithShape="1">
            <a:blip r:embed="rId5">
              <a:extLst>
                <a:ext uri="{28A0092B-C50C-407E-A947-70E740481C1C}">
                  <a14:useLocalDpi xmlns:a14="http://schemas.microsoft.com/office/drawing/2010/main" val="0"/>
                </a:ext>
              </a:extLst>
            </a:blip>
            <a:srcRect/>
            <a:stretch>
              <a:fillRect/>
            </a:stretch>
          </a:blipFill>
        </p:grpSpPr>
        <p:sp>
          <p:nvSpPr>
            <p:cNvPr id="65" name="Arrow: Pentagon 5">
              <a:extLst>
                <a:ext uri="{FF2B5EF4-FFF2-40B4-BE49-F238E27FC236}">
                  <a16:creationId xmlns:a16="http://schemas.microsoft.com/office/drawing/2014/main" id="{84530E97-A1CB-781F-C5C5-E6288EB7DAB8}"/>
                </a:ext>
              </a:extLst>
            </p:cNvPr>
            <p:cNvSpPr/>
            <p:nvPr/>
          </p:nvSpPr>
          <p:spPr bwMode="auto">
            <a:xfrm>
              <a:off x="726239" y="1320800"/>
              <a:ext cx="2339694" cy="376228"/>
            </a:xfrm>
            <a:prstGeom prst="roundRect">
              <a:avLst>
                <a:gd name="adj" fmla="val 50000"/>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r>
                <a:rPr lang="en-US" sz="1600">
                  <a:solidFill>
                    <a:schemeClr val="bg1"/>
                  </a:solidFill>
                  <a:latin typeface="Segoe Sans Text" pitchFamily="2" charset="0"/>
                  <a:cs typeface="Segoe Sans Text" pitchFamily="2" charset="0"/>
                </a:rPr>
                <a:t>Name</a:t>
              </a:r>
            </a:p>
          </p:txBody>
        </p:sp>
        <p:sp>
          <p:nvSpPr>
            <p:cNvPr id="66" name="Arrow: Pentagon 6">
              <a:extLst>
                <a:ext uri="{FF2B5EF4-FFF2-40B4-BE49-F238E27FC236}">
                  <a16:creationId xmlns:a16="http://schemas.microsoft.com/office/drawing/2014/main" id="{9742E206-359C-F989-C0BC-A8AE3AACE036}"/>
                </a:ext>
              </a:extLst>
            </p:cNvPr>
            <p:cNvSpPr/>
            <p:nvPr/>
          </p:nvSpPr>
          <p:spPr bwMode="auto">
            <a:xfrm>
              <a:off x="3509058" y="1320800"/>
              <a:ext cx="2339694" cy="376228"/>
            </a:xfrm>
            <a:prstGeom prst="roundRect">
              <a:avLst>
                <a:gd name="adj" fmla="val 50000"/>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r>
                <a:rPr lang="en-US" sz="1600">
                  <a:solidFill>
                    <a:schemeClr val="bg1"/>
                  </a:solidFill>
                  <a:latin typeface="Segoe Sans Text" pitchFamily="2" charset="0"/>
                  <a:cs typeface="Segoe Sans Text" pitchFamily="2" charset="0"/>
                </a:rPr>
                <a:t>When to Use It</a:t>
              </a:r>
            </a:p>
          </p:txBody>
        </p:sp>
        <p:sp>
          <p:nvSpPr>
            <p:cNvPr id="67" name="Arrow: Pentagon 7">
              <a:extLst>
                <a:ext uri="{FF2B5EF4-FFF2-40B4-BE49-F238E27FC236}">
                  <a16:creationId xmlns:a16="http://schemas.microsoft.com/office/drawing/2014/main" id="{55CA75DB-7B02-CA87-1DEF-8D55BB9A4315}"/>
                </a:ext>
              </a:extLst>
            </p:cNvPr>
            <p:cNvSpPr/>
            <p:nvPr/>
          </p:nvSpPr>
          <p:spPr bwMode="auto">
            <a:xfrm>
              <a:off x="6327136" y="1320800"/>
              <a:ext cx="2339694" cy="376228"/>
            </a:xfrm>
            <a:prstGeom prst="roundRect">
              <a:avLst>
                <a:gd name="adj" fmla="val 5000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r>
                <a:rPr lang="en-US" sz="1600">
                  <a:solidFill>
                    <a:schemeClr val="bg1"/>
                  </a:solidFill>
                  <a:latin typeface="Segoe Sans Text" pitchFamily="2" charset="0"/>
                  <a:cs typeface="Segoe Sans Text" pitchFamily="2" charset="0"/>
                </a:rPr>
                <a:t>Advantages</a:t>
              </a:r>
            </a:p>
          </p:txBody>
        </p:sp>
        <p:sp>
          <p:nvSpPr>
            <p:cNvPr id="68" name="Arrow: Pentagon 8">
              <a:extLst>
                <a:ext uri="{FF2B5EF4-FFF2-40B4-BE49-F238E27FC236}">
                  <a16:creationId xmlns:a16="http://schemas.microsoft.com/office/drawing/2014/main" id="{7D95570B-557B-BB7C-2CA7-CB7753456A0E}"/>
                </a:ext>
              </a:extLst>
            </p:cNvPr>
            <p:cNvSpPr/>
            <p:nvPr/>
          </p:nvSpPr>
          <p:spPr bwMode="auto">
            <a:xfrm>
              <a:off x="9103075" y="1320800"/>
              <a:ext cx="2339694" cy="376228"/>
            </a:xfrm>
            <a:prstGeom prst="roundRect">
              <a:avLst>
                <a:gd name="adj" fmla="val 50000"/>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r>
                <a:rPr lang="en-US" sz="1600">
                  <a:solidFill>
                    <a:schemeClr val="bg1"/>
                  </a:solidFill>
                  <a:latin typeface="Segoe Sans Text" pitchFamily="2" charset="0"/>
                  <a:cs typeface="Segoe Sans Text" pitchFamily="2" charset="0"/>
                </a:rPr>
                <a:t>Considerations</a:t>
              </a:r>
            </a:p>
          </p:txBody>
        </p:sp>
      </p:grpSp>
      <p:grpSp>
        <p:nvGrpSpPr>
          <p:cNvPr id="70" name="Group 69">
            <a:extLst>
              <a:ext uri="{FF2B5EF4-FFF2-40B4-BE49-F238E27FC236}">
                <a16:creationId xmlns:a16="http://schemas.microsoft.com/office/drawing/2014/main" id="{06AD6257-0418-AB0B-5CA4-92A52B5198F9}"/>
              </a:ext>
            </a:extLst>
          </p:cNvPr>
          <p:cNvGrpSpPr/>
          <p:nvPr/>
        </p:nvGrpSpPr>
        <p:grpSpPr>
          <a:xfrm>
            <a:off x="3190965" y="1302848"/>
            <a:ext cx="340208" cy="340306"/>
            <a:chOff x="1600003" y="1811018"/>
            <a:chExt cx="1641521" cy="1641995"/>
          </a:xfrm>
        </p:grpSpPr>
        <p:sp>
          <p:nvSpPr>
            <p:cNvPr id="71" name="Oval 17">
              <a:extLst>
                <a:ext uri="{FF2B5EF4-FFF2-40B4-BE49-F238E27FC236}">
                  <a16:creationId xmlns:a16="http://schemas.microsoft.com/office/drawing/2014/main" id="{030EF2AF-2DEC-94CD-4D8A-37410576E8FF}"/>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72" name="Group 71">
              <a:extLst>
                <a:ext uri="{FF2B5EF4-FFF2-40B4-BE49-F238E27FC236}">
                  <a16:creationId xmlns:a16="http://schemas.microsoft.com/office/drawing/2014/main" id="{6E5E1706-33F5-3315-23E4-8E2CC5DA670B}"/>
                </a:ext>
              </a:extLst>
            </p:cNvPr>
            <p:cNvGrpSpPr/>
            <p:nvPr/>
          </p:nvGrpSpPr>
          <p:grpSpPr>
            <a:xfrm>
              <a:off x="1714607" y="1927189"/>
              <a:ext cx="1412311" cy="1409649"/>
              <a:chOff x="1261672" y="4833935"/>
              <a:chExt cx="954296" cy="954299"/>
            </a:xfrm>
          </p:grpSpPr>
          <p:sp>
            <p:nvSpPr>
              <p:cNvPr id="73" name="Rectangle: Rounded Corners 72">
                <a:extLst>
                  <a:ext uri="{FF2B5EF4-FFF2-40B4-BE49-F238E27FC236}">
                    <a16:creationId xmlns:a16="http://schemas.microsoft.com/office/drawing/2014/main" id="{35356112-CCDA-A417-7696-24AF66C81201}"/>
                  </a:ext>
                </a:extLst>
              </p:cNvPr>
              <p:cNvSpPr/>
              <p:nvPr userDrawn="1"/>
            </p:nvSpPr>
            <p:spPr bwMode="auto">
              <a:xfrm>
                <a:off x="1261672" y="4833935"/>
                <a:ext cx="954296" cy="954296"/>
              </a:xfrm>
              <a:prstGeom prst="roundRect">
                <a:avLst>
                  <a:gd name="adj" fmla="val 10707"/>
                </a:avLst>
              </a:prstGeom>
              <a:solidFill>
                <a:schemeClr val="bg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74" name="Rectangle: Rounded Corners 73">
                <a:extLst>
                  <a:ext uri="{FF2B5EF4-FFF2-40B4-BE49-F238E27FC236}">
                    <a16:creationId xmlns:a16="http://schemas.microsoft.com/office/drawing/2014/main" id="{6C566D60-2C57-9DD6-33B5-175B68ED62EA}"/>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75" name="Arrow: Chevron 74">
                <a:extLst>
                  <a:ext uri="{FF2B5EF4-FFF2-40B4-BE49-F238E27FC236}">
                    <a16:creationId xmlns:a16="http://schemas.microsoft.com/office/drawing/2014/main" id="{A010516A-901D-68E6-35F7-78662B6B6647}"/>
                  </a:ext>
                </a:extLst>
              </p:cNvPr>
              <p:cNvSpPr/>
              <p:nvPr/>
            </p:nvSpPr>
            <p:spPr bwMode="auto">
              <a:xfrm>
                <a:off x="1622330" y="5065441"/>
                <a:ext cx="321639" cy="490862"/>
              </a:xfrm>
              <a:prstGeom prst="chevron">
                <a:avLst>
                  <a:gd name="adj" fmla="val 74991"/>
                </a:avLst>
              </a:prstGeom>
              <a:solidFill>
                <a:schemeClr val="tx2"/>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300" normalizeH="0" baseline="0" noProof="0">
                  <a:ln>
                    <a:noFill/>
                  </a:ln>
                  <a:solidFill>
                    <a:srgbClr val="FFFFFF"/>
                  </a:solidFill>
                  <a:effectLst/>
                  <a:uLnTx/>
                  <a:uFillTx/>
                  <a:latin typeface="Segoe Sans Text Semibold"/>
                  <a:ea typeface="+mn-ea"/>
                  <a:cs typeface="+mn-cs"/>
                </a:endParaRPr>
              </a:p>
            </p:txBody>
          </p:sp>
        </p:grpSp>
      </p:grpSp>
      <p:grpSp>
        <p:nvGrpSpPr>
          <p:cNvPr id="76" name="Group 75">
            <a:extLst>
              <a:ext uri="{FF2B5EF4-FFF2-40B4-BE49-F238E27FC236}">
                <a16:creationId xmlns:a16="http://schemas.microsoft.com/office/drawing/2014/main" id="{58EE5648-C5B8-DD4E-57BD-99A7F37D4AB8}"/>
              </a:ext>
            </a:extLst>
          </p:cNvPr>
          <p:cNvGrpSpPr/>
          <p:nvPr/>
        </p:nvGrpSpPr>
        <p:grpSpPr>
          <a:xfrm>
            <a:off x="5978615" y="1302848"/>
            <a:ext cx="340208" cy="340306"/>
            <a:chOff x="1600003" y="1811018"/>
            <a:chExt cx="1641521" cy="1641995"/>
          </a:xfrm>
        </p:grpSpPr>
        <p:sp>
          <p:nvSpPr>
            <p:cNvPr id="77" name="Oval 17">
              <a:extLst>
                <a:ext uri="{FF2B5EF4-FFF2-40B4-BE49-F238E27FC236}">
                  <a16:creationId xmlns:a16="http://schemas.microsoft.com/office/drawing/2014/main" id="{494B3DE9-AAF0-FFF0-083E-04C07888C5B0}"/>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78" name="Group 77">
              <a:extLst>
                <a:ext uri="{FF2B5EF4-FFF2-40B4-BE49-F238E27FC236}">
                  <a16:creationId xmlns:a16="http://schemas.microsoft.com/office/drawing/2014/main" id="{9435B743-20A3-D6C2-CAE3-DD47626D42AF}"/>
                </a:ext>
              </a:extLst>
            </p:cNvPr>
            <p:cNvGrpSpPr/>
            <p:nvPr/>
          </p:nvGrpSpPr>
          <p:grpSpPr>
            <a:xfrm>
              <a:off x="1714607" y="1927189"/>
              <a:ext cx="1412311" cy="1409649"/>
              <a:chOff x="1261672" y="4833935"/>
              <a:chExt cx="954296" cy="954299"/>
            </a:xfrm>
          </p:grpSpPr>
          <p:sp>
            <p:nvSpPr>
              <p:cNvPr id="79" name="Rectangle: Rounded Corners 78">
                <a:extLst>
                  <a:ext uri="{FF2B5EF4-FFF2-40B4-BE49-F238E27FC236}">
                    <a16:creationId xmlns:a16="http://schemas.microsoft.com/office/drawing/2014/main" id="{E3B89DED-039E-35C4-C898-00B4EEF8CBFF}"/>
                  </a:ext>
                </a:extLst>
              </p:cNvPr>
              <p:cNvSpPr/>
              <p:nvPr userDrawn="1"/>
            </p:nvSpPr>
            <p:spPr bwMode="auto">
              <a:xfrm>
                <a:off x="1261672" y="4833935"/>
                <a:ext cx="954296" cy="954296"/>
              </a:xfrm>
              <a:prstGeom prst="roundRect">
                <a:avLst>
                  <a:gd name="adj" fmla="val 10707"/>
                </a:avLst>
              </a:prstGeom>
              <a:solidFill>
                <a:schemeClr val="bg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80" name="Rectangle: Rounded Corners 79">
                <a:extLst>
                  <a:ext uri="{FF2B5EF4-FFF2-40B4-BE49-F238E27FC236}">
                    <a16:creationId xmlns:a16="http://schemas.microsoft.com/office/drawing/2014/main" id="{EA21597D-BECB-7D10-9832-4DEE6EA7CCD7}"/>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1" name="Arrow: Chevron 80">
                <a:extLst>
                  <a:ext uri="{FF2B5EF4-FFF2-40B4-BE49-F238E27FC236}">
                    <a16:creationId xmlns:a16="http://schemas.microsoft.com/office/drawing/2014/main" id="{B1487D1B-98B8-7411-2B9F-F0737FA63703}"/>
                  </a:ext>
                </a:extLst>
              </p:cNvPr>
              <p:cNvSpPr/>
              <p:nvPr/>
            </p:nvSpPr>
            <p:spPr bwMode="auto">
              <a:xfrm>
                <a:off x="1622330" y="5065441"/>
                <a:ext cx="321639" cy="490862"/>
              </a:xfrm>
              <a:prstGeom prst="chevron">
                <a:avLst>
                  <a:gd name="adj" fmla="val 74991"/>
                </a:avLst>
              </a:prstGeom>
              <a:solidFill>
                <a:schemeClr val="tx2"/>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300" normalizeH="0" baseline="0" noProof="0">
                  <a:ln>
                    <a:noFill/>
                  </a:ln>
                  <a:solidFill>
                    <a:srgbClr val="FFFFFF"/>
                  </a:solidFill>
                  <a:effectLst/>
                  <a:uLnTx/>
                  <a:uFillTx/>
                  <a:latin typeface="Segoe Sans Text Semibold"/>
                  <a:ea typeface="+mn-ea"/>
                  <a:cs typeface="+mn-cs"/>
                </a:endParaRPr>
              </a:p>
            </p:txBody>
          </p:sp>
        </p:grpSp>
      </p:grpSp>
      <p:grpSp>
        <p:nvGrpSpPr>
          <p:cNvPr id="82" name="Group 81">
            <a:extLst>
              <a:ext uri="{FF2B5EF4-FFF2-40B4-BE49-F238E27FC236}">
                <a16:creationId xmlns:a16="http://schemas.microsoft.com/office/drawing/2014/main" id="{D896E653-D2E1-4BB0-AF95-D01DB41C6529}"/>
              </a:ext>
            </a:extLst>
          </p:cNvPr>
          <p:cNvGrpSpPr/>
          <p:nvPr/>
        </p:nvGrpSpPr>
        <p:grpSpPr>
          <a:xfrm>
            <a:off x="8792935" y="1302848"/>
            <a:ext cx="340208" cy="340306"/>
            <a:chOff x="1600003" y="1811018"/>
            <a:chExt cx="1641521" cy="1641995"/>
          </a:xfrm>
        </p:grpSpPr>
        <p:sp>
          <p:nvSpPr>
            <p:cNvPr id="83" name="Oval 17">
              <a:extLst>
                <a:ext uri="{FF2B5EF4-FFF2-40B4-BE49-F238E27FC236}">
                  <a16:creationId xmlns:a16="http://schemas.microsoft.com/office/drawing/2014/main" id="{4C10DBDE-ED0A-E01A-7940-817E5119D6DD}"/>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84" name="Group 83">
              <a:extLst>
                <a:ext uri="{FF2B5EF4-FFF2-40B4-BE49-F238E27FC236}">
                  <a16:creationId xmlns:a16="http://schemas.microsoft.com/office/drawing/2014/main" id="{4A22A70F-42BF-B139-4AE3-F22C066EB36F}"/>
                </a:ext>
              </a:extLst>
            </p:cNvPr>
            <p:cNvGrpSpPr/>
            <p:nvPr/>
          </p:nvGrpSpPr>
          <p:grpSpPr>
            <a:xfrm>
              <a:off x="1714607" y="1927189"/>
              <a:ext cx="1412311" cy="1409649"/>
              <a:chOff x="1261672" y="4833935"/>
              <a:chExt cx="954296" cy="954299"/>
            </a:xfrm>
          </p:grpSpPr>
          <p:sp>
            <p:nvSpPr>
              <p:cNvPr id="85" name="Rectangle: Rounded Corners 84">
                <a:extLst>
                  <a:ext uri="{FF2B5EF4-FFF2-40B4-BE49-F238E27FC236}">
                    <a16:creationId xmlns:a16="http://schemas.microsoft.com/office/drawing/2014/main" id="{C2156CDC-868A-AB45-0D8E-6E9C8C17179C}"/>
                  </a:ext>
                </a:extLst>
              </p:cNvPr>
              <p:cNvSpPr/>
              <p:nvPr userDrawn="1"/>
            </p:nvSpPr>
            <p:spPr bwMode="auto">
              <a:xfrm>
                <a:off x="1261672" y="4833935"/>
                <a:ext cx="954296" cy="954296"/>
              </a:xfrm>
              <a:prstGeom prst="roundRect">
                <a:avLst>
                  <a:gd name="adj" fmla="val 10707"/>
                </a:avLst>
              </a:prstGeom>
              <a:solidFill>
                <a:schemeClr val="bg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86" name="Rectangle: Rounded Corners 85">
                <a:extLst>
                  <a:ext uri="{FF2B5EF4-FFF2-40B4-BE49-F238E27FC236}">
                    <a16:creationId xmlns:a16="http://schemas.microsoft.com/office/drawing/2014/main" id="{F56C99FB-0384-2051-529B-C6078C20DC38}"/>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7" name="Arrow: Chevron 86">
                <a:extLst>
                  <a:ext uri="{FF2B5EF4-FFF2-40B4-BE49-F238E27FC236}">
                    <a16:creationId xmlns:a16="http://schemas.microsoft.com/office/drawing/2014/main" id="{036843CB-2514-E4CD-8609-D08C7BED2019}"/>
                  </a:ext>
                </a:extLst>
              </p:cNvPr>
              <p:cNvSpPr/>
              <p:nvPr/>
            </p:nvSpPr>
            <p:spPr bwMode="auto">
              <a:xfrm>
                <a:off x="1622330" y="5065441"/>
                <a:ext cx="321639" cy="490862"/>
              </a:xfrm>
              <a:prstGeom prst="chevron">
                <a:avLst>
                  <a:gd name="adj" fmla="val 74991"/>
                </a:avLst>
              </a:prstGeom>
              <a:solidFill>
                <a:schemeClr val="tx2"/>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300" normalizeH="0" baseline="0" noProof="0">
                  <a:ln>
                    <a:noFill/>
                  </a:ln>
                  <a:solidFill>
                    <a:srgbClr val="FFFFFF"/>
                  </a:solidFill>
                  <a:effectLst/>
                  <a:uLnTx/>
                  <a:uFillTx/>
                  <a:latin typeface="Segoe Sans Text Semibold"/>
                  <a:ea typeface="+mn-ea"/>
                  <a:cs typeface="+mn-cs"/>
                </a:endParaRPr>
              </a:p>
            </p:txBody>
          </p:sp>
        </p:grpSp>
      </p:grpSp>
      <p:sp>
        <p:nvSpPr>
          <p:cNvPr id="5" name="Rectangle 4">
            <a:extLst>
              <a:ext uri="{FF2B5EF4-FFF2-40B4-BE49-F238E27FC236}">
                <a16:creationId xmlns:a16="http://schemas.microsoft.com/office/drawing/2014/main" id="{DE075B08-1481-2269-D810-17B7C64A00D7}"/>
              </a:ext>
            </a:extLst>
          </p:cNvPr>
          <p:cNvSpPr>
            <a:spLocks/>
          </p:cNvSpPr>
          <p:nvPr/>
        </p:nvSpPr>
        <p:spPr bwMode="auto">
          <a:xfrm flipV="1">
            <a:off x="693325" y="2687817"/>
            <a:ext cx="2566430" cy="1179930"/>
          </a:xfrm>
          <a:prstGeom prst="rect">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6" name="Rectangle 5">
            <a:extLst>
              <a:ext uri="{FF2B5EF4-FFF2-40B4-BE49-F238E27FC236}">
                <a16:creationId xmlns:a16="http://schemas.microsoft.com/office/drawing/2014/main" id="{63716EF9-6E7D-9384-BCC4-56BD4C1D56B3}"/>
              </a:ext>
            </a:extLst>
          </p:cNvPr>
          <p:cNvSpPr>
            <a:spLocks/>
          </p:cNvSpPr>
          <p:nvPr/>
        </p:nvSpPr>
        <p:spPr bwMode="auto">
          <a:xfrm flipV="1">
            <a:off x="3476259" y="2687818"/>
            <a:ext cx="2566430" cy="1179931"/>
          </a:xfrm>
          <a:prstGeom prst="rect">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7" name="Rectangle 6">
            <a:extLst>
              <a:ext uri="{FF2B5EF4-FFF2-40B4-BE49-F238E27FC236}">
                <a16:creationId xmlns:a16="http://schemas.microsoft.com/office/drawing/2014/main" id="{FBAB7524-1484-6810-E52F-DF5ADB53F345}"/>
              </a:ext>
            </a:extLst>
          </p:cNvPr>
          <p:cNvSpPr>
            <a:spLocks/>
          </p:cNvSpPr>
          <p:nvPr/>
        </p:nvSpPr>
        <p:spPr bwMode="auto">
          <a:xfrm flipV="1">
            <a:off x="6280347" y="2687817"/>
            <a:ext cx="2566430" cy="1179932"/>
          </a:xfrm>
          <a:prstGeom prst="rect">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 name="Rectangle 7">
            <a:extLst>
              <a:ext uri="{FF2B5EF4-FFF2-40B4-BE49-F238E27FC236}">
                <a16:creationId xmlns:a16="http://schemas.microsoft.com/office/drawing/2014/main" id="{71C293DC-A01E-793C-CFFD-98BF29A9106E}"/>
              </a:ext>
            </a:extLst>
          </p:cNvPr>
          <p:cNvSpPr>
            <a:spLocks/>
          </p:cNvSpPr>
          <p:nvPr/>
        </p:nvSpPr>
        <p:spPr bwMode="auto">
          <a:xfrm flipV="1">
            <a:off x="9056286" y="2687817"/>
            <a:ext cx="2566430" cy="1179932"/>
          </a:xfrm>
          <a:prstGeom prst="rect">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aphicFrame>
        <p:nvGraphicFramePr>
          <p:cNvPr id="9" name="Table 8">
            <a:extLst>
              <a:ext uri="{FF2B5EF4-FFF2-40B4-BE49-F238E27FC236}">
                <a16:creationId xmlns:a16="http://schemas.microsoft.com/office/drawing/2014/main" id="{E789348C-1090-41AE-103A-9DB9713A2915}"/>
              </a:ext>
            </a:extLst>
          </p:cNvPr>
          <p:cNvGraphicFramePr>
            <a:graphicFrameLocks noGrp="1"/>
          </p:cNvGraphicFramePr>
          <p:nvPr>
            <p:extLst>
              <p:ext uri="{D42A27DB-BD31-4B8C-83A1-F6EECF244321}">
                <p14:modId xmlns:p14="http://schemas.microsoft.com/office/powerpoint/2010/main" val="967243424"/>
              </p:ext>
            </p:extLst>
          </p:nvPr>
        </p:nvGraphicFramePr>
        <p:xfrm>
          <a:off x="686445" y="1618946"/>
          <a:ext cx="10936272" cy="4645329"/>
        </p:xfrm>
        <a:graphic>
          <a:graphicData uri="http://schemas.openxmlformats.org/drawingml/2006/table">
            <a:tbl>
              <a:tblPr bandRow="1">
                <a:tableStyleId>{2D5ABB26-0587-4C30-8999-92F81FD0307C}</a:tableStyleId>
              </a:tblPr>
              <a:tblGrid>
                <a:gridCol w="2768477">
                  <a:extLst>
                    <a:ext uri="{9D8B030D-6E8A-4147-A177-3AD203B41FA5}">
                      <a16:colId xmlns:a16="http://schemas.microsoft.com/office/drawing/2014/main" val="2146477172"/>
                    </a:ext>
                  </a:extLst>
                </a:gridCol>
                <a:gridCol w="2825340">
                  <a:extLst>
                    <a:ext uri="{9D8B030D-6E8A-4147-A177-3AD203B41FA5}">
                      <a16:colId xmlns:a16="http://schemas.microsoft.com/office/drawing/2014/main" val="1917749675"/>
                    </a:ext>
                  </a:extLst>
                </a:gridCol>
                <a:gridCol w="2779524">
                  <a:extLst>
                    <a:ext uri="{9D8B030D-6E8A-4147-A177-3AD203B41FA5}">
                      <a16:colId xmlns:a16="http://schemas.microsoft.com/office/drawing/2014/main" val="1868029818"/>
                    </a:ext>
                  </a:extLst>
                </a:gridCol>
                <a:gridCol w="2562931">
                  <a:extLst>
                    <a:ext uri="{9D8B030D-6E8A-4147-A177-3AD203B41FA5}">
                      <a16:colId xmlns:a16="http://schemas.microsoft.com/office/drawing/2014/main" val="1180551454"/>
                    </a:ext>
                  </a:extLst>
                </a:gridCol>
              </a:tblGrid>
              <a:tr h="1171071">
                <a:tc>
                  <a:txBody>
                    <a:bodyPr/>
                    <a:lstStyle/>
                    <a:p>
                      <a:pPr marL="0" indent="0" rtl="0" fontAlgn="base">
                        <a:lnSpc>
                          <a:spcPts val="1575"/>
                        </a:lnSpc>
                        <a:buFont typeface="Arial" panose="020B0604020202020204" pitchFamily="34" charset="0"/>
                        <a:buNone/>
                      </a:pPr>
                      <a:r>
                        <a:rPr kumimoji="0" lang="en-US" sz="1300" b="0" i="0" u="none" strike="noStrike" kern="1200" cap="none" spc="0" normalizeH="0" baseline="0">
                          <a:ln>
                            <a:noFill/>
                          </a:ln>
                          <a:gradFill>
                            <a:gsLst>
                              <a:gs pos="0">
                                <a:srgbClr val="C3E9FC"/>
                              </a:gs>
                              <a:gs pos="100000">
                                <a:srgbClr val="BDF2BD"/>
                              </a:gs>
                            </a:gsLst>
                            <a:lin ang="13500000" scaled="0"/>
                          </a:gradFill>
                          <a:effectLst/>
                          <a:uLnTx/>
                          <a:uFillTx/>
                          <a:latin typeface="+mj-lt"/>
                          <a:ea typeface="+mn-ea"/>
                          <a:cs typeface="+mn-cs"/>
                        </a:rPr>
                        <a:t>Managed Online Endpoints</a:t>
                      </a: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US" sz="1100" b="0" i="0" kern="1200">
                          <a:solidFill>
                            <a:srgbClr val="FFFFFF"/>
                          </a:solidFill>
                          <a:latin typeface="Segoe Sans Text" pitchFamily="2" charset="0"/>
                          <a:ea typeface="+mn-ea"/>
                          <a:cs typeface="+mn-cs"/>
                        </a:rPr>
                        <a:t>For users who want a managed model deployment and enhances </a:t>
                      </a:r>
                      <a:r>
                        <a:rPr lang="en-US" sz="1100" b="0" i="0" kern="1200" err="1">
                          <a:solidFill>
                            <a:srgbClr val="FFFFFF"/>
                          </a:solidFill>
                          <a:latin typeface="Segoe Sans Text" pitchFamily="2" charset="0"/>
                          <a:ea typeface="+mn-ea"/>
                          <a:cs typeface="+mn-cs"/>
                        </a:rPr>
                        <a:t>MLOps</a:t>
                      </a:r>
                      <a:r>
                        <a:rPr lang="en-US" sz="1100" b="0" i="0" kern="1200">
                          <a:solidFill>
                            <a:srgbClr val="FFFFFF"/>
                          </a:solidFill>
                          <a:latin typeface="Segoe Sans Text" pitchFamily="2" charset="0"/>
                          <a:ea typeface="+mn-ea"/>
                          <a:cs typeface="+mn-cs"/>
                        </a:rPr>
                        <a:t> experience.</a:t>
                      </a: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US" sz="1100" b="0" i="0" kern="1200">
                          <a:solidFill>
                            <a:srgbClr val="FFFFFF"/>
                          </a:solidFill>
                          <a:latin typeface="Segoe Sans Text" pitchFamily="2" charset="0"/>
                          <a:ea typeface="+mn-ea"/>
                          <a:cs typeface="+mn-cs"/>
                        </a:rPr>
                        <a:t>Users don't need to worry about the infrastructure, maintenance or logging &amp; monitoring as its all managed by Ai Foundry preconfigured environment.</a:t>
                      </a: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US" sz="1100" b="0" i="0" kern="1200">
                          <a:solidFill>
                            <a:srgbClr val="FFFFFF"/>
                          </a:solidFill>
                          <a:latin typeface="Segoe Sans Text" pitchFamily="2" charset="0"/>
                          <a:ea typeface="+mn-ea"/>
                          <a:cs typeface="+mn-cs"/>
                        </a:rPr>
                        <a:t>You'll get less control about how the deployment environment will be configured compared to other deployment options.</a:t>
                      </a:r>
                    </a:p>
                  </a:txBody>
                  <a:tcPr marL="108000" marR="216000" marT="43434" marB="4343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130305057"/>
                  </a:ext>
                </a:extLst>
              </a:tr>
              <a:tr h="1158086">
                <a:tc>
                  <a:txBody>
                    <a:bodyPr/>
                    <a:lstStyle/>
                    <a:p>
                      <a:pPr marL="0" indent="0" rtl="0" fontAlgn="base">
                        <a:lnSpc>
                          <a:spcPts val="1575"/>
                        </a:lnSpc>
                        <a:buFont typeface="Arial" panose="020B0604020202020204" pitchFamily="34" charset="0"/>
                        <a:buNone/>
                      </a:pPr>
                      <a:r>
                        <a:rPr kumimoji="0" lang="en-US" sz="1300" b="0" i="0" u="none" strike="noStrike" kern="1200" cap="none" spc="0" normalizeH="0" baseline="0">
                          <a:ln>
                            <a:noFill/>
                          </a:ln>
                          <a:gradFill>
                            <a:gsLst>
                              <a:gs pos="0">
                                <a:srgbClr val="C3E9FC"/>
                              </a:gs>
                              <a:gs pos="100000">
                                <a:srgbClr val="BDF2BD"/>
                              </a:gs>
                            </a:gsLst>
                            <a:lin ang="13500000" scaled="0"/>
                          </a:gradFill>
                          <a:effectLst/>
                          <a:uLnTx/>
                          <a:uFillTx/>
                          <a:latin typeface="+mj-lt"/>
                          <a:ea typeface="+mn-ea"/>
                          <a:cs typeface="+mn-cs"/>
                        </a:rPr>
                        <a:t>App Service</a:t>
                      </a: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GB" sz="1100" b="0" i="0" kern="1200">
                          <a:solidFill>
                            <a:srgbClr val="FFFFFF"/>
                          </a:solidFill>
                          <a:latin typeface="Segoe Sans Text" pitchFamily="2" charset="0"/>
                          <a:ea typeface="+mn-ea"/>
                          <a:cs typeface="+mn-cs"/>
                        </a:rPr>
                        <a:t>For users who want to build, deploy, and scale web apps quickly</a:t>
                      </a:r>
                      <a:endParaRPr lang="en-US" sz="1100" b="0" i="0" kern="1200">
                        <a:solidFill>
                          <a:srgbClr val="FFFFFF"/>
                        </a:solidFill>
                        <a:latin typeface="Segoe Sans Text" pitchFamily="2" charset="0"/>
                        <a:ea typeface="+mn-ea"/>
                        <a:cs typeface="+mn-cs"/>
                      </a:endParaRP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GB" sz="1100" b="0" i="0" kern="1200">
                          <a:solidFill>
                            <a:srgbClr val="FFFFFF"/>
                          </a:solidFill>
                          <a:latin typeface="Segoe Sans Text" pitchFamily="2" charset="0"/>
                          <a:ea typeface="+mn-ea"/>
                          <a:cs typeface="+mn-cs"/>
                        </a:rPr>
                        <a:t>Fully managed platform with built-in DevOps capabilities</a:t>
                      </a:r>
                      <a:endParaRPr lang="en-US" sz="1100" b="0" i="0" kern="1200">
                        <a:solidFill>
                          <a:srgbClr val="FFFFFF"/>
                        </a:solidFill>
                        <a:latin typeface="Segoe Sans Text" pitchFamily="2" charset="0"/>
                        <a:ea typeface="+mn-ea"/>
                        <a:cs typeface="+mn-cs"/>
                      </a:endParaRP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GB" sz="1100" b="0" i="0" kern="1200">
                          <a:solidFill>
                            <a:srgbClr val="FFFFFF"/>
                          </a:solidFill>
                          <a:latin typeface="Segoe Sans Text" pitchFamily="2" charset="0"/>
                          <a:ea typeface="+mn-ea"/>
                          <a:cs typeface="+mn-cs"/>
                        </a:rPr>
                        <a:t>Less control over underlying infrastructure. Not suitable for complex container orchestration.</a:t>
                      </a:r>
                      <a:endParaRPr lang="en-US" sz="1100" b="0" i="0" kern="1200">
                        <a:solidFill>
                          <a:srgbClr val="FFFFFF"/>
                        </a:solidFill>
                        <a:latin typeface="Segoe Sans Text" pitchFamily="2" charset="0"/>
                        <a:ea typeface="+mn-ea"/>
                        <a:cs typeface="+mn-cs"/>
                      </a:endParaRPr>
                    </a:p>
                  </a:txBody>
                  <a:tcPr marL="108000" marR="216000" marT="43434" marB="4343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31949436"/>
                  </a:ext>
                </a:extLst>
              </a:tr>
              <a:tr h="1158086">
                <a:tc>
                  <a:txBody>
                    <a:bodyPr/>
                    <a:lstStyle/>
                    <a:p>
                      <a:pPr marL="0" indent="0" rtl="0" fontAlgn="base">
                        <a:lnSpc>
                          <a:spcPts val="1575"/>
                        </a:lnSpc>
                        <a:buFont typeface="Arial" panose="020B0604020202020204" pitchFamily="34" charset="0"/>
                        <a:buNone/>
                      </a:pPr>
                      <a:r>
                        <a:rPr kumimoji="0" lang="en-US" sz="1300" b="0" i="0" u="none" strike="noStrike" kern="1200" cap="none" spc="0" normalizeH="0" baseline="0">
                          <a:ln>
                            <a:noFill/>
                          </a:ln>
                          <a:gradFill>
                            <a:gsLst>
                              <a:gs pos="0">
                                <a:srgbClr val="C3E9FC"/>
                              </a:gs>
                              <a:gs pos="100000">
                                <a:srgbClr val="BDF2BD"/>
                              </a:gs>
                            </a:gsLst>
                            <a:lin ang="13500000" scaled="0"/>
                          </a:gradFill>
                          <a:effectLst/>
                          <a:uLnTx/>
                          <a:uFillTx/>
                          <a:latin typeface="+mj-lt"/>
                          <a:ea typeface="+mn-ea"/>
                          <a:cs typeface="+mn-cs"/>
                        </a:rPr>
                        <a:t>Azure Container App</a:t>
                      </a: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GB" sz="1100" b="0" i="0" kern="1200">
                          <a:solidFill>
                            <a:srgbClr val="FFFFFF"/>
                          </a:solidFill>
                          <a:latin typeface="Segoe Sans Text" pitchFamily="2" charset="0"/>
                          <a:ea typeface="+mn-ea"/>
                          <a:cs typeface="+mn-cs"/>
                        </a:rPr>
                        <a:t>For users who want to deploy and manage containerized applications without dealing with Kubernetes complexities,</a:t>
                      </a:r>
                      <a:endParaRPr lang="en-US" sz="1100" b="0" i="0" kern="1200">
                        <a:solidFill>
                          <a:srgbClr val="FFFFFF"/>
                        </a:solidFill>
                        <a:latin typeface="Segoe Sans Text" pitchFamily="2" charset="0"/>
                        <a:ea typeface="+mn-ea"/>
                        <a:cs typeface="+mn-cs"/>
                      </a:endParaRP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GB" sz="1100" b="0" i="0" kern="1200">
                          <a:solidFill>
                            <a:srgbClr val="FFFFFF"/>
                          </a:solidFill>
                          <a:latin typeface="Segoe Sans Text" pitchFamily="2" charset="0"/>
                          <a:ea typeface="+mn-ea"/>
                          <a:cs typeface="+mn-cs"/>
                        </a:rPr>
                        <a:t>Simplifies deployment in a serverless environment while providing Kubernetes features</a:t>
                      </a:r>
                      <a:endParaRPr lang="en-US" sz="1100" b="0" i="0" kern="1200">
                        <a:solidFill>
                          <a:srgbClr val="FFFFFF"/>
                        </a:solidFill>
                        <a:latin typeface="Segoe Sans Text" pitchFamily="2" charset="0"/>
                        <a:ea typeface="+mn-ea"/>
                        <a:cs typeface="+mn-cs"/>
                      </a:endParaRP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GB" sz="1100" b="0" i="0" kern="1200">
                          <a:solidFill>
                            <a:srgbClr val="FFFFFF"/>
                          </a:solidFill>
                          <a:latin typeface="Segoe Sans Text" pitchFamily="2" charset="0"/>
                          <a:ea typeface="+mn-ea"/>
                          <a:cs typeface="+mn-cs"/>
                        </a:rPr>
                        <a:t>Limited customization compared to full Kubernetes access</a:t>
                      </a:r>
                      <a:endParaRPr lang="en-US" sz="1100" b="0" i="0" kern="1200">
                        <a:solidFill>
                          <a:srgbClr val="FFFFFF"/>
                        </a:solidFill>
                        <a:latin typeface="Segoe Sans Text" pitchFamily="2" charset="0"/>
                        <a:ea typeface="+mn-ea"/>
                        <a:cs typeface="+mn-cs"/>
                      </a:endParaRPr>
                    </a:p>
                  </a:txBody>
                  <a:tcPr marL="108000" marR="216000" marT="43434" marB="4343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007040758"/>
                  </a:ext>
                </a:extLst>
              </a:tr>
              <a:tr h="1158086">
                <a:tc>
                  <a:txBody>
                    <a:bodyPr/>
                    <a:lstStyle/>
                    <a:p>
                      <a:pPr marL="0" indent="0" rtl="0" fontAlgn="base">
                        <a:lnSpc>
                          <a:spcPts val="1575"/>
                        </a:lnSpc>
                        <a:buFont typeface="Arial" panose="020B0604020202020204" pitchFamily="34" charset="0"/>
                        <a:buNone/>
                      </a:pPr>
                      <a:r>
                        <a:rPr kumimoji="0" lang="en-US" sz="1300" b="0" i="0" u="none" strike="noStrike" kern="1200" cap="none" spc="0" normalizeH="0" baseline="0">
                          <a:ln>
                            <a:noFill/>
                          </a:ln>
                          <a:gradFill>
                            <a:gsLst>
                              <a:gs pos="0">
                                <a:srgbClr val="C3E9FC"/>
                              </a:gs>
                              <a:gs pos="100000">
                                <a:srgbClr val="BDF2BD"/>
                              </a:gs>
                            </a:gsLst>
                            <a:lin ang="13500000" scaled="0"/>
                          </a:gradFill>
                          <a:effectLst/>
                          <a:uLnTx/>
                          <a:uFillTx/>
                          <a:latin typeface="+mj-lt"/>
                          <a:ea typeface="+mn-ea"/>
                          <a:cs typeface="+mn-cs"/>
                        </a:rPr>
                        <a:t>Azure Kubernetes Service</a:t>
                      </a: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US" sz="1100" b="0" i="0" kern="1200">
                          <a:solidFill>
                            <a:srgbClr val="FFFFFF"/>
                          </a:solidFill>
                          <a:latin typeface="Segoe Sans Text" pitchFamily="2" charset="0"/>
                          <a:ea typeface="+mn-ea"/>
                          <a:cs typeface="+mn-cs"/>
                        </a:rPr>
                        <a:t>For users who prefer Kubernetes and can self-manage the infrastructure requirements.</a:t>
                      </a: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US" sz="1100" b="0" i="0" kern="1200">
                          <a:solidFill>
                            <a:srgbClr val="FFFFFF"/>
                          </a:solidFill>
                          <a:latin typeface="Segoe Sans Text" pitchFamily="2" charset="0"/>
                          <a:ea typeface="+mn-ea"/>
                          <a:cs typeface="+mn-cs"/>
                        </a:rPr>
                        <a:t>Gives the user control over more aspects of the deployment that they may not get with other options.</a:t>
                      </a:r>
                    </a:p>
                  </a:txBody>
                  <a:tcPr marL="108000" marR="216000" marT="43434" marB="43434" anchor="ctr">
                    <a:lnL>
                      <a:noFill/>
                    </a:lnL>
                    <a:lnR>
                      <a:noFill/>
                    </a:lnR>
                    <a:lnT>
                      <a:noFill/>
                    </a:lnT>
                    <a:lnB>
                      <a:noFill/>
                    </a:lnB>
                    <a:lnTlToBr w="12700" cmpd="sng">
                      <a:noFill/>
                      <a:prstDash val="solid"/>
                    </a:lnTlToBr>
                    <a:lnBlToTr w="12700" cmpd="sng">
                      <a:noFill/>
                      <a:prstDash val="solid"/>
                    </a:lnBlToTr>
                  </a:tcPr>
                </a:tc>
                <a:tc>
                  <a:txBody>
                    <a:bodyPr/>
                    <a:lstStyle/>
                    <a:p>
                      <a:pPr marL="14288" lvl="3" indent="0" algn="l" defTabSz="533400" rtl="0" eaLnBrk="1" fontAlgn="base" latinLnBrk="0" hangingPunct="1">
                        <a:lnSpc>
                          <a:spcPct val="90000"/>
                        </a:lnSpc>
                        <a:spcBef>
                          <a:spcPct val="0"/>
                        </a:spcBef>
                        <a:spcAft>
                          <a:spcPct val="15000"/>
                        </a:spcAft>
                        <a:buSzPct val="90000"/>
                        <a:buFont typeface="Arial" panose="020B0604020202020204" pitchFamily="34" charset="0"/>
                        <a:buNone/>
                        <a:defRPr/>
                      </a:pPr>
                      <a:r>
                        <a:rPr lang="en-US" sz="1100" b="0" i="0" kern="1200">
                          <a:solidFill>
                            <a:srgbClr val="FFFFFF"/>
                          </a:solidFill>
                          <a:latin typeface="Segoe Sans Text" pitchFamily="2" charset="0"/>
                          <a:ea typeface="+mn-ea"/>
                          <a:cs typeface="+mn-cs"/>
                        </a:rPr>
                        <a:t>Virtual networks, compute type, monitoring &amp; logging and node provisioning &amp; maintenance, are the user's responsibility. Mirrored traffic is not supported.</a:t>
                      </a:r>
                    </a:p>
                  </a:txBody>
                  <a:tcPr marL="108000" marR="216000" marT="43434" marB="43434"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546451807"/>
                  </a:ext>
                </a:extLst>
              </a:tr>
            </a:tbl>
          </a:graphicData>
        </a:graphic>
      </p:graphicFrame>
    </p:spTree>
    <p:extLst>
      <p:ext uri="{BB962C8B-B14F-4D97-AF65-F5344CB8AC3E}">
        <p14:creationId xmlns:p14="http://schemas.microsoft.com/office/powerpoint/2010/main" val="7761603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1000"/>
                                        <p:tgtEl>
                                          <p:spTgt spid="4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10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1000"/>
                                        <p:tgtEl>
                                          <p:spTgt spid="4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fade">
                                      <p:cBhvr>
                                        <p:cTn id="16" dur="1000"/>
                                        <p:tgtEl>
                                          <p:spTgt spid="5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1000"/>
                                        <p:tgtEl>
                                          <p:spTgt spid="5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1000"/>
                                        <p:tgtEl>
                                          <p:spTgt spid="5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fade">
                                      <p:cBhvr>
                                        <p:cTn id="25" dur="1000"/>
                                        <p:tgtEl>
                                          <p:spTgt spid="5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1000"/>
                                        <p:tgtEl>
                                          <p:spTgt spid="5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1000"/>
                                        <p:tgtEl>
                                          <p:spTgt spid="57"/>
                                        </p:tgtEl>
                                      </p:cBhvr>
                                    </p:animEffect>
                                  </p:childTnLst>
                                </p:cTn>
                              </p:par>
                              <p:par>
                                <p:cTn id="32" presetID="23" presetClass="entr" presetSubtype="272" fill="hold" nodeType="withEffect">
                                  <p:stCondLst>
                                    <p:cond delay="0"/>
                                  </p:stCondLst>
                                  <p:childTnLst>
                                    <p:set>
                                      <p:cBhvr>
                                        <p:cTn id="33" dur="1" fill="hold">
                                          <p:stCondLst>
                                            <p:cond delay="0"/>
                                          </p:stCondLst>
                                        </p:cTn>
                                        <p:tgtEl>
                                          <p:spTgt spid="69"/>
                                        </p:tgtEl>
                                        <p:attrNameLst>
                                          <p:attrName>style.visibility</p:attrName>
                                        </p:attrNameLst>
                                      </p:cBhvr>
                                      <p:to>
                                        <p:strVal val="visible"/>
                                      </p:to>
                                    </p:set>
                                    <p:anim calcmode="lin" valueType="num">
                                      <p:cBhvr>
                                        <p:cTn id="34" dur="250" fill="hold"/>
                                        <p:tgtEl>
                                          <p:spTgt spid="69"/>
                                        </p:tgtEl>
                                        <p:attrNameLst>
                                          <p:attrName>ppt_w</p:attrName>
                                        </p:attrNameLst>
                                      </p:cBhvr>
                                      <p:tavLst>
                                        <p:tav tm="0">
                                          <p:val>
                                            <p:strVal val="2/3*#ppt_w"/>
                                          </p:val>
                                        </p:tav>
                                        <p:tav tm="100000">
                                          <p:val>
                                            <p:strVal val="#ppt_w"/>
                                          </p:val>
                                        </p:tav>
                                      </p:tavLst>
                                    </p:anim>
                                    <p:anim calcmode="lin" valueType="num">
                                      <p:cBhvr>
                                        <p:cTn id="35" dur="250" fill="hold"/>
                                        <p:tgtEl>
                                          <p:spTgt spid="69"/>
                                        </p:tgtEl>
                                        <p:attrNameLst>
                                          <p:attrName>ppt_h</p:attrName>
                                        </p:attrNameLst>
                                      </p:cBhvr>
                                      <p:tavLst>
                                        <p:tav tm="0">
                                          <p:val>
                                            <p:strVal val="2/3*#ppt_h"/>
                                          </p:val>
                                        </p:tav>
                                        <p:tav tm="100000">
                                          <p:val>
                                            <p:strVal val="#ppt_h"/>
                                          </p:val>
                                        </p:tav>
                                      </p:tavLst>
                                    </p:anim>
                                  </p:childTnLst>
                                </p:cTn>
                              </p:par>
                              <p:par>
                                <p:cTn id="36" presetID="10" presetClass="entr" presetSubtype="0" fill="hold" nodeType="withEffect">
                                  <p:stCondLst>
                                    <p:cond delay="0"/>
                                  </p:stCondLst>
                                  <p:childTnLst>
                                    <p:set>
                                      <p:cBhvr>
                                        <p:cTn id="37" dur="1" fill="hold">
                                          <p:stCondLst>
                                            <p:cond delay="0"/>
                                          </p:stCondLst>
                                        </p:cTn>
                                        <p:tgtEl>
                                          <p:spTgt spid="69"/>
                                        </p:tgtEl>
                                        <p:attrNameLst>
                                          <p:attrName>style.visibility</p:attrName>
                                        </p:attrNameLst>
                                      </p:cBhvr>
                                      <p:to>
                                        <p:strVal val="visible"/>
                                      </p:to>
                                    </p:set>
                                    <p:animEffect transition="in" filter="fade">
                                      <p:cBhvr>
                                        <p:cTn id="38" dur="500"/>
                                        <p:tgtEl>
                                          <p:spTgt spid="69"/>
                                        </p:tgtEl>
                                      </p:cBhvr>
                                    </p:animEffect>
                                  </p:childTnLst>
                                </p:cTn>
                              </p:par>
                              <p:par>
                                <p:cTn id="39" presetID="6" presetClass="emph" presetSubtype="0" fill="hold" nodeType="withEffect">
                                  <p:stCondLst>
                                    <p:cond delay="0"/>
                                  </p:stCondLst>
                                  <p:childTnLst>
                                    <p:animScale>
                                      <p:cBhvr>
                                        <p:cTn id="40" dur="10" fill="hold"/>
                                        <p:tgtEl>
                                          <p:spTgt spid="69"/>
                                        </p:tgtEl>
                                      </p:cBhvr>
                                      <p:by x="80000" y="80000"/>
                                    </p:animScale>
                                  </p:childTnLst>
                                </p:cTn>
                              </p:par>
                              <p:par>
                                <p:cTn id="41" presetID="6" presetClass="emph" presetSubtype="0" decel="100000" fill="hold" nodeType="withEffect">
                                  <p:stCondLst>
                                    <p:cond delay="0"/>
                                  </p:stCondLst>
                                  <p:childTnLst>
                                    <p:animScale>
                                      <p:cBhvr>
                                        <p:cTn id="42" dur="1000" fill="hold"/>
                                        <p:tgtEl>
                                          <p:spTgt spid="69"/>
                                        </p:tgtEl>
                                      </p:cBhvr>
                                      <p:by x="125000" y="125000"/>
                                    </p:animScale>
                                  </p:childTnLst>
                                </p:cTn>
                              </p:par>
                              <p:par>
                                <p:cTn id="43" presetID="23" presetClass="entr" presetSubtype="272" fill="hold" nodeType="withEffect">
                                  <p:stCondLst>
                                    <p:cond delay="150"/>
                                  </p:stCondLst>
                                  <p:childTnLst>
                                    <p:set>
                                      <p:cBhvr>
                                        <p:cTn id="44" dur="1" fill="hold">
                                          <p:stCondLst>
                                            <p:cond delay="0"/>
                                          </p:stCondLst>
                                        </p:cTn>
                                        <p:tgtEl>
                                          <p:spTgt spid="70"/>
                                        </p:tgtEl>
                                        <p:attrNameLst>
                                          <p:attrName>style.visibility</p:attrName>
                                        </p:attrNameLst>
                                      </p:cBhvr>
                                      <p:to>
                                        <p:strVal val="visible"/>
                                      </p:to>
                                    </p:set>
                                    <p:anim calcmode="lin" valueType="num">
                                      <p:cBhvr>
                                        <p:cTn id="45" dur="250" fill="hold"/>
                                        <p:tgtEl>
                                          <p:spTgt spid="70"/>
                                        </p:tgtEl>
                                        <p:attrNameLst>
                                          <p:attrName>ppt_w</p:attrName>
                                        </p:attrNameLst>
                                      </p:cBhvr>
                                      <p:tavLst>
                                        <p:tav tm="0">
                                          <p:val>
                                            <p:strVal val="2/3*#ppt_w"/>
                                          </p:val>
                                        </p:tav>
                                        <p:tav tm="100000">
                                          <p:val>
                                            <p:strVal val="#ppt_w"/>
                                          </p:val>
                                        </p:tav>
                                      </p:tavLst>
                                    </p:anim>
                                    <p:anim calcmode="lin" valueType="num">
                                      <p:cBhvr>
                                        <p:cTn id="46" dur="250" fill="hold"/>
                                        <p:tgtEl>
                                          <p:spTgt spid="70"/>
                                        </p:tgtEl>
                                        <p:attrNameLst>
                                          <p:attrName>ppt_h</p:attrName>
                                        </p:attrNameLst>
                                      </p:cBhvr>
                                      <p:tavLst>
                                        <p:tav tm="0">
                                          <p:val>
                                            <p:strVal val="2/3*#ppt_h"/>
                                          </p:val>
                                        </p:tav>
                                        <p:tav tm="100000">
                                          <p:val>
                                            <p:strVal val="#ppt_h"/>
                                          </p:val>
                                        </p:tav>
                                      </p:tavLst>
                                    </p:anim>
                                  </p:childTnLst>
                                </p:cTn>
                              </p:par>
                              <p:par>
                                <p:cTn id="47" presetID="10" presetClass="entr" presetSubtype="0" fill="hold" nodeType="withEffect">
                                  <p:stCondLst>
                                    <p:cond delay="150"/>
                                  </p:stCondLst>
                                  <p:childTnLst>
                                    <p:set>
                                      <p:cBhvr>
                                        <p:cTn id="48" dur="1" fill="hold">
                                          <p:stCondLst>
                                            <p:cond delay="0"/>
                                          </p:stCondLst>
                                        </p:cTn>
                                        <p:tgtEl>
                                          <p:spTgt spid="70"/>
                                        </p:tgtEl>
                                        <p:attrNameLst>
                                          <p:attrName>style.visibility</p:attrName>
                                        </p:attrNameLst>
                                      </p:cBhvr>
                                      <p:to>
                                        <p:strVal val="visible"/>
                                      </p:to>
                                    </p:set>
                                    <p:animEffect transition="in" filter="fade">
                                      <p:cBhvr>
                                        <p:cTn id="49" dur="500"/>
                                        <p:tgtEl>
                                          <p:spTgt spid="70"/>
                                        </p:tgtEl>
                                      </p:cBhvr>
                                    </p:animEffect>
                                  </p:childTnLst>
                                </p:cTn>
                              </p:par>
                              <p:par>
                                <p:cTn id="50" presetID="6" presetClass="emph" presetSubtype="0" fill="hold" nodeType="withEffect">
                                  <p:stCondLst>
                                    <p:cond delay="150"/>
                                  </p:stCondLst>
                                  <p:childTnLst>
                                    <p:animScale>
                                      <p:cBhvr>
                                        <p:cTn id="51" dur="10" fill="hold"/>
                                        <p:tgtEl>
                                          <p:spTgt spid="70"/>
                                        </p:tgtEl>
                                      </p:cBhvr>
                                      <p:by x="80000" y="80000"/>
                                    </p:animScale>
                                  </p:childTnLst>
                                </p:cTn>
                              </p:par>
                              <p:par>
                                <p:cTn id="52" presetID="6" presetClass="emph" presetSubtype="0" decel="100000" fill="hold" nodeType="withEffect">
                                  <p:stCondLst>
                                    <p:cond delay="150"/>
                                  </p:stCondLst>
                                  <p:childTnLst>
                                    <p:animScale>
                                      <p:cBhvr>
                                        <p:cTn id="53" dur="1000" fill="hold"/>
                                        <p:tgtEl>
                                          <p:spTgt spid="70"/>
                                        </p:tgtEl>
                                      </p:cBhvr>
                                      <p:by x="125000" y="125000"/>
                                    </p:animScale>
                                  </p:childTnLst>
                                </p:cTn>
                              </p:par>
                              <p:par>
                                <p:cTn id="54" presetID="23" presetClass="entr" presetSubtype="272" fill="hold" nodeType="withEffect">
                                  <p:stCondLst>
                                    <p:cond delay="150"/>
                                  </p:stCondLst>
                                  <p:childTnLst>
                                    <p:set>
                                      <p:cBhvr>
                                        <p:cTn id="55" dur="1" fill="hold">
                                          <p:stCondLst>
                                            <p:cond delay="0"/>
                                          </p:stCondLst>
                                        </p:cTn>
                                        <p:tgtEl>
                                          <p:spTgt spid="76"/>
                                        </p:tgtEl>
                                        <p:attrNameLst>
                                          <p:attrName>style.visibility</p:attrName>
                                        </p:attrNameLst>
                                      </p:cBhvr>
                                      <p:to>
                                        <p:strVal val="visible"/>
                                      </p:to>
                                    </p:set>
                                    <p:anim calcmode="lin" valueType="num">
                                      <p:cBhvr>
                                        <p:cTn id="56" dur="250" fill="hold"/>
                                        <p:tgtEl>
                                          <p:spTgt spid="76"/>
                                        </p:tgtEl>
                                        <p:attrNameLst>
                                          <p:attrName>ppt_w</p:attrName>
                                        </p:attrNameLst>
                                      </p:cBhvr>
                                      <p:tavLst>
                                        <p:tav tm="0">
                                          <p:val>
                                            <p:strVal val="2/3*#ppt_w"/>
                                          </p:val>
                                        </p:tav>
                                        <p:tav tm="100000">
                                          <p:val>
                                            <p:strVal val="#ppt_w"/>
                                          </p:val>
                                        </p:tav>
                                      </p:tavLst>
                                    </p:anim>
                                    <p:anim calcmode="lin" valueType="num">
                                      <p:cBhvr>
                                        <p:cTn id="57" dur="250" fill="hold"/>
                                        <p:tgtEl>
                                          <p:spTgt spid="76"/>
                                        </p:tgtEl>
                                        <p:attrNameLst>
                                          <p:attrName>ppt_h</p:attrName>
                                        </p:attrNameLst>
                                      </p:cBhvr>
                                      <p:tavLst>
                                        <p:tav tm="0">
                                          <p:val>
                                            <p:strVal val="2/3*#ppt_h"/>
                                          </p:val>
                                        </p:tav>
                                        <p:tav tm="100000">
                                          <p:val>
                                            <p:strVal val="#ppt_h"/>
                                          </p:val>
                                        </p:tav>
                                      </p:tavLst>
                                    </p:anim>
                                  </p:childTnLst>
                                </p:cTn>
                              </p:par>
                              <p:par>
                                <p:cTn id="58" presetID="10" presetClass="entr" presetSubtype="0" fill="hold" nodeType="withEffect">
                                  <p:stCondLst>
                                    <p:cond delay="150"/>
                                  </p:stCondLst>
                                  <p:childTnLst>
                                    <p:set>
                                      <p:cBhvr>
                                        <p:cTn id="59" dur="1" fill="hold">
                                          <p:stCondLst>
                                            <p:cond delay="0"/>
                                          </p:stCondLst>
                                        </p:cTn>
                                        <p:tgtEl>
                                          <p:spTgt spid="76"/>
                                        </p:tgtEl>
                                        <p:attrNameLst>
                                          <p:attrName>style.visibility</p:attrName>
                                        </p:attrNameLst>
                                      </p:cBhvr>
                                      <p:to>
                                        <p:strVal val="visible"/>
                                      </p:to>
                                    </p:set>
                                    <p:animEffect transition="in" filter="fade">
                                      <p:cBhvr>
                                        <p:cTn id="60" dur="500"/>
                                        <p:tgtEl>
                                          <p:spTgt spid="76"/>
                                        </p:tgtEl>
                                      </p:cBhvr>
                                    </p:animEffect>
                                  </p:childTnLst>
                                </p:cTn>
                              </p:par>
                              <p:par>
                                <p:cTn id="61" presetID="6" presetClass="emph" presetSubtype="0" fill="hold" nodeType="withEffect">
                                  <p:stCondLst>
                                    <p:cond delay="150"/>
                                  </p:stCondLst>
                                  <p:childTnLst>
                                    <p:animScale>
                                      <p:cBhvr>
                                        <p:cTn id="62" dur="10" fill="hold"/>
                                        <p:tgtEl>
                                          <p:spTgt spid="76"/>
                                        </p:tgtEl>
                                      </p:cBhvr>
                                      <p:by x="80000" y="80000"/>
                                    </p:animScale>
                                  </p:childTnLst>
                                </p:cTn>
                              </p:par>
                              <p:par>
                                <p:cTn id="63" presetID="6" presetClass="emph" presetSubtype="0" decel="100000" fill="hold" nodeType="withEffect">
                                  <p:stCondLst>
                                    <p:cond delay="150"/>
                                  </p:stCondLst>
                                  <p:childTnLst>
                                    <p:animScale>
                                      <p:cBhvr>
                                        <p:cTn id="64" dur="1000" fill="hold"/>
                                        <p:tgtEl>
                                          <p:spTgt spid="76"/>
                                        </p:tgtEl>
                                      </p:cBhvr>
                                      <p:by x="125000" y="125000"/>
                                    </p:animScale>
                                  </p:childTnLst>
                                </p:cTn>
                              </p:par>
                              <p:par>
                                <p:cTn id="65" presetID="23" presetClass="entr" presetSubtype="272" fill="hold" nodeType="withEffect">
                                  <p:stCondLst>
                                    <p:cond delay="150"/>
                                  </p:stCondLst>
                                  <p:childTnLst>
                                    <p:set>
                                      <p:cBhvr>
                                        <p:cTn id="66" dur="1" fill="hold">
                                          <p:stCondLst>
                                            <p:cond delay="0"/>
                                          </p:stCondLst>
                                        </p:cTn>
                                        <p:tgtEl>
                                          <p:spTgt spid="82"/>
                                        </p:tgtEl>
                                        <p:attrNameLst>
                                          <p:attrName>style.visibility</p:attrName>
                                        </p:attrNameLst>
                                      </p:cBhvr>
                                      <p:to>
                                        <p:strVal val="visible"/>
                                      </p:to>
                                    </p:set>
                                    <p:anim calcmode="lin" valueType="num">
                                      <p:cBhvr>
                                        <p:cTn id="67" dur="250" fill="hold"/>
                                        <p:tgtEl>
                                          <p:spTgt spid="82"/>
                                        </p:tgtEl>
                                        <p:attrNameLst>
                                          <p:attrName>ppt_w</p:attrName>
                                        </p:attrNameLst>
                                      </p:cBhvr>
                                      <p:tavLst>
                                        <p:tav tm="0">
                                          <p:val>
                                            <p:strVal val="2/3*#ppt_w"/>
                                          </p:val>
                                        </p:tav>
                                        <p:tav tm="100000">
                                          <p:val>
                                            <p:strVal val="#ppt_w"/>
                                          </p:val>
                                        </p:tav>
                                      </p:tavLst>
                                    </p:anim>
                                    <p:anim calcmode="lin" valueType="num">
                                      <p:cBhvr>
                                        <p:cTn id="68" dur="250" fill="hold"/>
                                        <p:tgtEl>
                                          <p:spTgt spid="82"/>
                                        </p:tgtEl>
                                        <p:attrNameLst>
                                          <p:attrName>ppt_h</p:attrName>
                                        </p:attrNameLst>
                                      </p:cBhvr>
                                      <p:tavLst>
                                        <p:tav tm="0">
                                          <p:val>
                                            <p:strVal val="2/3*#ppt_h"/>
                                          </p:val>
                                        </p:tav>
                                        <p:tav tm="100000">
                                          <p:val>
                                            <p:strVal val="#ppt_h"/>
                                          </p:val>
                                        </p:tav>
                                      </p:tavLst>
                                    </p:anim>
                                  </p:childTnLst>
                                </p:cTn>
                              </p:par>
                              <p:par>
                                <p:cTn id="69" presetID="10" presetClass="entr" presetSubtype="0" fill="hold" nodeType="withEffect">
                                  <p:stCondLst>
                                    <p:cond delay="150"/>
                                  </p:stCondLst>
                                  <p:childTnLst>
                                    <p:set>
                                      <p:cBhvr>
                                        <p:cTn id="70" dur="1" fill="hold">
                                          <p:stCondLst>
                                            <p:cond delay="0"/>
                                          </p:stCondLst>
                                        </p:cTn>
                                        <p:tgtEl>
                                          <p:spTgt spid="82"/>
                                        </p:tgtEl>
                                        <p:attrNameLst>
                                          <p:attrName>style.visibility</p:attrName>
                                        </p:attrNameLst>
                                      </p:cBhvr>
                                      <p:to>
                                        <p:strVal val="visible"/>
                                      </p:to>
                                    </p:set>
                                    <p:animEffect transition="in" filter="fade">
                                      <p:cBhvr>
                                        <p:cTn id="71" dur="500"/>
                                        <p:tgtEl>
                                          <p:spTgt spid="82"/>
                                        </p:tgtEl>
                                      </p:cBhvr>
                                    </p:animEffect>
                                  </p:childTnLst>
                                </p:cTn>
                              </p:par>
                              <p:par>
                                <p:cTn id="72" presetID="6" presetClass="emph" presetSubtype="0" fill="hold" nodeType="withEffect">
                                  <p:stCondLst>
                                    <p:cond delay="150"/>
                                  </p:stCondLst>
                                  <p:childTnLst>
                                    <p:animScale>
                                      <p:cBhvr>
                                        <p:cTn id="73" dur="10" fill="hold"/>
                                        <p:tgtEl>
                                          <p:spTgt spid="82"/>
                                        </p:tgtEl>
                                      </p:cBhvr>
                                      <p:by x="80000" y="80000"/>
                                    </p:animScale>
                                  </p:childTnLst>
                                </p:cTn>
                              </p:par>
                              <p:par>
                                <p:cTn id="74" presetID="6" presetClass="emph" presetSubtype="0" decel="100000" fill="hold" nodeType="withEffect">
                                  <p:stCondLst>
                                    <p:cond delay="150"/>
                                  </p:stCondLst>
                                  <p:childTnLst>
                                    <p:animScale>
                                      <p:cBhvr>
                                        <p:cTn id="75" dur="1000" fill="hold"/>
                                        <p:tgtEl>
                                          <p:spTgt spid="82"/>
                                        </p:tgtEl>
                                      </p:cBhvr>
                                      <p:by x="125000" y="125000"/>
                                    </p:animScale>
                                  </p:childTnLst>
                                </p:cTn>
                              </p:par>
                              <p:par>
                                <p:cTn id="76" presetID="10" presetClass="entr" presetSubtype="0" fill="hold" grpId="0" nodeType="withEffect">
                                  <p:stCondLst>
                                    <p:cond delay="0"/>
                                  </p:stCondLst>
                                  <p:childTnLst>
                                    <p:set>
                                      <p:cBhvr>
                                        <p:cTn id="77" dur="1" fill="hold">
                                          <p:stCondLst>
                                            <p:cond delay="0"/>
                                          </p:stCondLst>
                                        </p:cTn>
                                        <p:tgtEl>
                                          <p:spTgt spid="5"/>
                                        </p:tgtEl>
                                        <p:attrNameLst>
                                          <p:attrName>style.visibility</p:attrName>
                                        </p:attrNameLst>
                                      </p:cBhvr>
                                      <p:to>
                                        <p:strVal val="visible"/>
                                      </p:to>
                                    </p:set>
                                    <p:animEffect transition="in" filter="fade">
                                      <p:cBhvr>
                                        <p:cTn id="78" dur="1000"/>
                                        <p:tgtEl>
                                          <p:spTgt spid="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fade">
                                      <p:cBhvr>
                                        <p:cTn id="81" dur="1000"/>
                                        <p:tgtEl>
                                          <p:spTgt spid="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fade">
                                      <p:cBhvr>
                                        <p:cTn id="84" dur="1000"/>
                                        <p:tgtEl>
                                          <p:spTgt spid="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fade">
                                      <p:cBhvr>
                                        <p:cTn id="87" dur="1000"/>
                                        <p:tgtEl>
                                          <p:spTgt spid="8"/>
                                        </p:tgtEl>
                                      </p:cBhvr>
                                    </p:animEffect>
                                  </p:childTnLst>
                                </p:cTn>
                              </p:par>
                              <p:par>
                                <p:cTn id="88" presetID="10" presetClass="entr" presetSubtype="0" fill="hold" nodeType="with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fade">
                                      <p:cBhvr>
                                        <p:cTn id="9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50" grpId="0" animBg="1"/>
      <p:bldP spid="51" grpId="0" animBg="1"/>
      <p:bldP spid="53" grpId="0" animBg="1"/>
      <p:bldP spid="54" grpId="0" animBg="1"/>
      <p:bldP spid="56" grpId="0" animBg="1"/>
      <p:bldP spid="57" grpId="0" animBg="1"/>
      <p:bldP spid="5" grpId="0" animBg="1"/>
      <p:bldP spid="6" grpId="0" animBg="1"/>
      <p:bldP spid="7" grpId="0" animBg="1"/>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 name="Title 55">
            <a:extLst>
              <a:ext uri="{FF2B5EF4-FFF2-40B4-BE49-F238E27FC236}">
                <a16:creationId xmlns:a16="http://schemas.microsoft.com/office/drawing/2014/main" id="{3B1E156C-916E-3BAD-0645-8F7FC410E263}"/>
              </a:ext>
            </a:extLst>
          </p:cNvPr>
          <p:cNvSpPr txBox="1">
            <a:spLocks/>
          </p:cNvSpPr>
          <p:nvPr/>
        </p:nvSpPr>
        <p:spPr>
          <a:xfrm>
            <a:off x="1683415" y="1205705"/>
            <a:ext cx="6059120" cy="336328"/>
          </a:xfrm>
          <a:prstGeom prst="rect">
            <a:avLst/>
          </a:prstGeom>
          <a:noFill/>
        </p:spPr>
        <p:txBody>
          <a:bodyPr vert="horz" wrap="square" lIns="0" tIns="0" rIns="0" bIns="0" rtlCol="0" anchor="t">
            <a:noAutofit/>
          </a:bodyPr>
          <a:lstStyle>
            <a:lvl1pPr algn="l" defTabSz="932742" rtl="0" eaLnBrk="1" latinLnBrk="0" hangingPunct="1">
              <a:lnSpc>
                <a:spcPct val="100000"/>
              </a:lnSpc>
              <a:spcBef>
                <a:spcPct val="0"/>
              </a:spcBef>
              <a:buNone/>
              <a:defRPr kumimoji="0" lang="en-GB" sz="3200" b="0" i="0" u="none" strike="noStrike" kern="1200" cap="none" spc="0" normalizeH="0" baseline="0" dirty="0">
                <a:ln>
                  <a:noFill/>
                </a:ln>
                <a:solidFill>
                  <a:srgbClr val="FFFFFF"/>
                </a:solidFill>
                <a:effectLst/>
                <a:uLnTx/>
                <a:uFillTx/>
                <a:latin typeface="Segoe Sans Text Semibold"/>
                <a:ea typeface="+mn-ea"/>
                <a:cs typeface="+mn-cs"/>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mn-cs"/>
            </a:endParaRPr>
          </a:p>
        </p:txBody>
      </p:sp>
      <p:grpSp>
        <p:nvGrpSpPr>
          <p:cNvPr id="132" name="Group 131">
            <a:extLst>
              <a:ext uri="{FF2B5EF4-FFF2-40B4-BE49-F238E27FC236}">
                <a16:creationId xmlns:a16="http://schemas.microsoft.com/office/drawing/2014/main" id="{840C649F-F814-9766-667A-1F3815049CCB}"/>
              </a:ext>
            </a:extLst>
          </p:cNvPr>
          <p:cNvGrpSpPr/>
          <p:nvPr/>
        </p:nvGrpSpPr>
        <p:grpSpPr>
          <a:xfrm>
            <a:off x="1164409" y="1422562"/>
            <a:ext cx="3137931" cy="4182798"/>
            <a:chOff x="1164409" y="1422562"/>
            <a:chExt cx="3137931" cy="4182798"/>
          </a:xfrm>
        </p:grpSpPr>
        <p:sp useBgFill="1">
          <p:nvSpPr>
            <p:cNvPr id="3" name="Rectangle: Rounded Corners 2">
              <a:extLst>
                <a:ext uri="{FF2B5EF4-FFF2-40B4-BE49-F238E27FC236}">
                  <a16:creationId xmlns:a16="http://schemas.microsoft.com/office/drawing/2014/main" id="{0FF6475F-4C18-51D8-4CAA-B355A9F784DB}"/>
                </a:ext>
              </a:extLst>
            </p:cNvPr>
            <p:cNvSpPr>
              <a:spLocks/>
            </p:cNvSpPr>
            <p:nvPr/>
          </p:nvSpPr>
          <p:spPr bwMode="auto">
            <a:xfrm>
              <a:off x="1164409" y="1422562"/>
              <a:ext cx="3137931" cy="418279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4" name="TextBox 3">
              <a:extLst>
                <a:ext uri="{FF2B5EF4-FFF2-40B4-BE49-F238E27FC236}">
                  <a16:creationId xmlns:a16="http://schemas.microsoft.com/office/drawing/2014/main" id="{1313C972-F682-20F3-68E8-0CF8F73BABDF}"/>
                </a:ext>
              </a:extLst>
            </p:cNvPr>
            <p:cNvSpPr txBox="1"/>
            <p:nvPr/>
          </p:nvSpPr>
          <p:spPr>
            <a:xfrm>
              <a:off x="1429020" y="3659296"/>
              <a:ext cx="2640059" cy="1384995"/>
            </a:xfrm>
            <a:prstGeom prst="rect">
              <a:avLst/>
            </a:prstGeom>
            <a:noFill/>
          </p:spPr>
          <p:txBody>
            <a:bodyPr wrap="square" lIns="0" tIns="0" rIns="0" bIns="0" rtlCol="0">
              <a:spAutoFit/>
            </a:bodyPr>
            <a:lstStyle/>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a:solidFill>
                    <a:srgbClr val="FFFFFF"/>
                  </a:solidFill>
                  <a:latin typeface="Segoe Sans Text Semibold"/>
                </a:rPr>
                <a:t>Optimize cost</a:t>
              </a:r>
            </a:p>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a:solidFill>
                    <a:srgbClr val="FFFFFF"/>
                  </a:solidFill>
                </a:rPr>
                <a:t>Choose the right SKU</a:t>
              </a:r>
            </a:p>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a:solidFill>
                    <a:srgbClr val="FFFFFF"/>
                  </a:solidFill>
                </a:rPr>
                <a:t>Auto Scale</a:t>
              </a:r>
            </a:p>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a:solidFill>
                    <a:srgbClr val="FFFFFF"/>
                  </a:solidFill>
                </a:rPr>
                <a:t>Monitor and manage costs</a:t>
              </a:r>
            </a:p>
          </p:txBody>
        </p:sp>
        <p:grpSp>
          <p:nvGrpSpPr>
            <p:cNvPr id="5" name="Group 4">
              <a:extLst>
                <a:ext uri="{FF2B5EF4-FFF2-40B4-BE49-F238E27FC236}">
                  <a16:creationId xmlns:a16="http://schemas.microsoft.com/office/drawing/2014/main" id="{18DBCD77-63DD-D8E9-C442-7788BF93ECB3}"/>
                </a:ext>
              </a:extLst>
            </p:cNvPr>
            <p:cNvGrpSpPr/>
            <p:nvPr/>
          </p:nvGrpSpPr>
          <p:grpSpPr>
            <a:xfrm>
              <a:off x="1429021" y="2461803"/>
              <a:ext cx="1004700" cy="1004989"/>
              <a:chOff x="1600003" y="1811018"/>
              <a:chExt cx="1641521" cy="1641995"/>
            </a:xfrm>
          </p:grpSpPr>
          <p:sp>
            <p:nvSpPr>
              <p:cNvPr id="6" name="Oval 17">
                <a:extLst>
                  <a:ext uri="{FF2B5EF4-FFF2-40B4-BE49-F238E27FC236}">
                    <a16:creationId xmlns:a16="http://schemas.microsoft.com/office/drawing/2014/main" id="{D20FB174-F7A1-C3B5-D6CA-587FC2927C4A}"/>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7" name="Group 6">
                <a:extLst>
                  <a:ext uri="{FF2B5EF4-FFF2-40B4-BE49-F238E27FC236}">
                    <a16:creationId xmlns:a16="http://schemas.microsoft.com/office/drawing/2014/main" id="{0CD656CD-14AD-3FFE-4142-1042B7EF66BF}"/>
                  </a:ext>
                </a:extLst>
              </p:cNvPr>
              <p:cNvGrpSpPr/>
              <p:nvPr/>
            </p:nvGrpSpPr>
            <p:grpSpPr>
              <a:xfrm>
                <a:off x="1714608" y="1927189"/>
                <a:ext cx="1412311" cy="1409648"/>
                <a:chOff x="1261672" y="4833938"/>
                <a:chExt cx="954296" cy="954299"/>
              </a:xfrm>
            </p:grpSpPr>
            <p:sp>
              <p:nvSpPr>
                <p:cNvPr id="8" name="Rectangle: Rounded Corners 7">
                  <a:extLst>
                    <a:ext uri="{FF2B5EF4-FFF2-40B4-BE49-F238E27FC236}">
                      <a16:creationId xmlns:a16="http://schemas.microsoft.com/office/drawing/2014/main" id="{45BC4687-B0D7-262C-DEB1-7B0D18409B33}"/>
                    </a:ext>
                  </a:extLst>
                </p:cNvPr>
                <p:cNvSpPr/>
                <p:nvPr userDrawn="1"/>
              </p:nvSpPr>
              <p:spPr bwMode="auto">
                <a:xfrm>
                  <a:off x="1261672" y="4833940"/>
                  <a:ext cx="954296" cy="954297"/>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9" name="Rectangle: Rounded Corners 8">
                  <a:extLst>
                    <a:ext uri="{FF2B5EF4-FFF2-40B4-BE49-F238E27FC236}">
                      <a16:creationId xmlns:a16="http://schemas.microsoft.com/office/drawing/2014/main" id="{E7FEC396-B81C-9EE4-FC4E-900B74EC9104}"/>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114" name="Graphic 80">
              <a:extLst>
                <a:ext uri="{FF2B5EF4-FFF2-40B4-BE49-F238E27FC236}">
                  <a16:creationId xmlns:a16="http://schemas.microsoft.com/office/drawing/2014/main" id="{9E6145C3-99D5-8EDB-2E3B-1458AC0E70E8}"/>
                </a:ext>
              </a:extLst>
            </p:cNvPr>
            <p:cNvSpPr/>
            <p:nvPr/>
          </p:nvSpPr>
          <p:spPr>
            <a:xfrm>
              <a:off x="1673800" y="2694209"/>
              <a:ext cx="552497" cy="552467"/>
            </a:xfrm>
            <a:custGeom>
              <a:avLst/>
              <a:gdLst>
                <a:gd name="connsiteX0" fmla="*/ 454877 w 552497"/>
                <a:gd name="connsiteY0" fmla="*/ 233149 h 552467"/>
                <a:gd name="connsiteX1" fmla="*/ 435430 w 552497"/>
                <a:gd name="connsiteY1" fmla="*/ 233149 h 552467"/>
                <a:gd name="connsiteX2" fmla="*/ 419247 w 552497"/>
                <a:gd name="connsiteY2" fmla="*/ 194166 h 552467"/>
                <a:gd name="connsiteX3" fmla="*/ 433002 w 552497"/>
                <a:gd name="connsiteY3" fmla="*/ 180433 h 552467"/>
                <a:gd name="connsiteX4" fmla="*/ 434628 w 552497"/>
                <a:gd name="connsiteY4" fmla="*/ 157211 h 552467"/>
                <a:gd name="connsiteX5" fmla="*/ 395312 w 552497"/>
                <a:gd name="connsiteY5" fmla="*/ 117894 h 552467"/>
                <a:gd name="connsiteX6" fmla="*/ 372056 w 552497"/>
                <a:gd name="connsiteY6" fmla="*/ 119487 h 552467"/>
                <a:gd name="connsiteX7" fmla="*/ 358301 w 552497"/>
                <a:gd name="connsiteY7" fmla="*/ 133242 h 552467"/>
                <a:gd name="connsiteX8" fmla="*/ 319318 w 552497"/>
                <a:gd name="connsiteY8" fmla="*/ 117070 h 552467"/>
                <a:gd name="connsiteX9" fmla="*/ 319318 w 552497"/>
                <a:gd name="connsiteY9" fmla="*/ 97612 h 552467"/>
                <a:gd name="connsiteX10" fmla="*/ 304115 w 552497"/>
                <a:gd name="connsiteY10" fmla="*/ 80048 h 552467"/>
                <a:gd name="connsiteX11" fmla="*/ 248515 w 552497"/>
                <a:gd name="connsiteY11" fmla="*/ 80048 h 552467"/>
                <a:gd name="connsiteX12" fmla="*/ 233245 w 552497"/>
                <a:gd name="connsiteY12" fmla="*/ 97612 h 552467"/>
                <a:gd name="connsiteX13" fmla="*/ 233245 w 552497"/>
                <a:gd name="connsiteY13" fmla="*/ 117070 h 552467"/>
                <a:gd name="connsiteX14" fmla="*/ 194262 w 552497"/>
                <a:gd name="connsiteY14" fmla="*/ 133242 h 552467"/>
                <a:gd name="connsiteX15" fmla="*/ 180485 w 552497"/>
                <a:gd name="connsiteY15" fmla="*/ 119487 h 552467"/>
                <a:gd name="connsiteX16" fmla="*/ 157262 w 552497"/>
                <a:gd name="connsiteY16" fmla="*/ 117861 h 552467"/>
                <a:gd name="connsiteX17" fmla="*/ 117946 w 552497"/>
                <a:gd name="connsiteY17" fmla="*/ 157177 h 552467"/>
                <a:gd name="connsiteX18" fmla="*/ 119539 w 552497"/>
                <a:gd name="connsiteY18" fmla="*/ 180433 h 552467"/>
                <a:gd name="connsiteX19" fmla="*/ 133294 w 552497"/>
                <a:gd name="connsiteY19" fmla="*/ 194189 h 552467"/>
                <a:gd name="connsiteX20" fmla="*/ 117111 w 552497"/>
                <a:gd name="connsiteY20" fmla="*/ 233171 h 552467"/>
                <a:gd name="connsiteX21" fmla="*/ 97664 w 552497"/>
                <a:gd name="connsiteY21" fmla="*/ 233171 h 552467"/>
                <a:gd name="connsiteX22" fmla="*/ 80099 w 552497"/>
                <a:gd name="connsiteY22" fmla="*/ 248374 h 552467"/>
                <a:gd name="connsiteX23" fmla="*/ 80099 w 552497"/>
                <a:gd name="connsiteY23" fmla="*/ 303974 h 552467"/>
                <a:gd name="connsiteX24" fmla="*/ 97664 w 552497"/>
                <a:gd name="connsiteY24" fmla="*/ 319244 h 552467"/>
                <a:gd name="connsiteX25" fmla="*/ 117111 w 552497"/>
                <a:gd name="connsiteY25" fmla="*/ 319244 h 552467"/>
                <a:gd name="connsiteX26" fmla="*/ 133294 w 552497"/>
                <a:gd name="connsiteY26" fmla="*/ 358227 h 552467"/>
                <a:gd name="connsiteX27" fmla="*/ 119539 w 552497"/>
                <a:gd name="connsiteY27" fmla="*/ 372004 h 552467"/>
                <a:gd name="connsiteX28" fmla="*/ 117912 w 552497"/>
                <a:gd name="connsiteY28" fmla="*/ 395227 h 552467"/>
                <a:gd name="connsiteX29" fmla="*/ 157229 w 552497"/>
                <a:gd name="connsiteY29" fmla="*/ 434543 h 552467"/>
                <a:gd name="connsiteX30" fmla="*/ 180485 w 552497"/>
                <a:gd name="connsiteY30" fmla="*/ 432951 h 552467"/>
                <a:gd name="connsiteX31" fmla="*/ 194240 w 552497"/>
                <a:gd name="connsiteY31" fmla="*/ 419195 h 552467"/>
                <a:gd name="connsiteX32" fmla="*/ 233223 w 552497"/>
                <a:gd name="connsiteY32" fmla="*/ 435368 h 552467"/>
                <a:gd name="connsiteX33" fmla="*/ 233223 w 552497"/>
                <a:gd name="connsiteY33" fmla="*/ 454825 h 552467"/>
                <a:gd name="connsiteX34" fmla="*/ 248426 w 552497"/>
                <a:gd name="connsiteY34" fmla="*/ 472390 h 552467"/>
                <a:gd name="connsiteX35" fmla="*/ 304026 w 552497"/>
                <a:gd name="connsiteY35" fmla="*/ 472390 h 552467"/>
                <a:gd name="connsiteX36" fmla="*/ 319296 w 552497"/>
                <a:gd name="connsiteY36" fmla="*/ 454825 h 552467"/>
                <a:gd name="connsiteX37" fmla="*/ 319296 w 552497"/>
                <a:gd name="connsiteY37" fmla="*/ 435379 h 552467"/>
                <a:gd name="connsiteX38" fmla="*/ 358278 w 552497"/>
                <a:gd name="connsiteY38" fmla="*/ 419195 h 552467"/>
                <a:gd name="connsiteX39" fmla="*/ 372056 w 552497"/>
                <a:gd name="connsiteY39" fmla="*/ 432951 h 552467"/>
                <a:gd name="connsiteX40" fmla="*/ 395278 w 552497"/>
                <a:gd name="connsiteY40" fmla="*/ 434577 h 552467"/>
                <a:gd name="connsiteX41" fmla="*/ 434595 w 552497"/>
                <a:gd name="connsiteY41" fmla="*/ 395260 h 552467"/>
                <a:gd name="connsiteX42" fmla="*/ 433002 w 552497"/>
                <a:gd name="connsiteY42" fmla="*/ 372004 h 552467"/>
                <a:gd name="connsiteX43" fmla="*/ 419247 w 552497"/>
                <a:gd name="connsiteY43" fmla="*/ 358249 h 552467"/>
                <a:gd name="connsiteX44" fmla="*/ 435419 w 552497"/>
                <a:gd name="connsiteY44" fmla="*/ 319267 h 552467"/>
                <a:gd name="connsiteX45" fmla="*/ 454877 w 552497"/>
                <a:gd name="connsiteY45" fmla="*/ 319267 h 552467"/>
                <a:gd name="connsiteX46" fmla="*/ 472441 w 552497"/>
                <a:gd name="connsiteY46" fmla="*/ 304063 h 552467"/>
                <a:gd name="connsiteX47" fmla="*/ 472441 w 552497"/>
                <a:gd name="connsiteY47" fmla="*/ 248463 h 552467"/>
                <a:gd name="connsiteX48" fmla="*/ 454877 w 552497"/>
                <a:gd name="connsiteY48" fmla="*/ 233149 h 552467"/>
                <a:gd name="connsiteX49" fmla="*/ 454799 w 552497"/>
                <a:gd name="connsiteY49" fmla="*/ 301468 h 552467"/>
                <a:gd name="connsiteX50" fmla="*/ 428447 w 552497"/>
                <a:gd name="connsiteY50" fmla="*/ 301468 h 552467"/>
                <a:gd name="connsiteX51" fmla="*/ 419748 w 552497"/>
                <a:gd name="connsiteY51" fmla="*/ 308430 h 552467"/>
                <a:gd name="connsiteX52" fmla="*/ 400491 w 552497"/>
                <a:gd name="connsiteY52" fmla="*/ 354886 h 552467"/>
                <a:gd name="connsiteX53" fmla="*/ 401705 w 552497"/>
                <a:gd name="connsiteY53" fmla="*/ 365957 h 552467"/>
                <a:gd name="connsiteX54" fmla="*/ 420350 w 552497"/>
                <a:gd name="connsiteY54" fmla="*/ 384601 h 552467"/>
                <a:gd name="connsiteX55" fmla="*/ 384642 w 552497"/>
                <a:gd name="connsiteY55" fmla="*/ 420298 h 552467"/>
                <a:gd name="connsiteX56" fmla="*/ 366008 w 552497"/>
                <a:gd name="connsiteY56" fmla="*/ 401664 h 552467"/>
                <a:gd name="connsiteX57" fmla="*/ 354937 w 552497"/>
                <a:gd name="connsiteY57" fmla="*/ 400439 h 552467"/>
                <a:gd name="connsiteX58" fmla="*/ 308481 w 552497"/>
                <a:gd name="connsiteY58" fmla="*/ 419697 h 552467"/>
                <a:gd name="connsiteX59" fmla="*/ 301520 w 552497"/>
                <a:gd name="connsiteY59" fmla="*/ 428395 h 552467"/>
                <a:gd name="connsiteX60" fmla="*/ 301520 w 552497"/>
                <a:gd name="connsiteY60" fmla="*/ 454759 h 552467"/>
                <a:gd name="connsiteX61" fmla="*/ 251021 w 552497"/>
                <a:gd name="connsiteY61" fmla="*/ 454759 h 552467"/>
                <a:gd name="connsiteX62" fmla="*/ 251021 w 552497"/>
                <a:gd name="connsiteY62" fmla="*/ 428395 h 552467"/>
                <a:gd name="connsiteX63" fmla="*/ 244060 w 552497"/>
                <a:gd name="connsiteY63" fmla="*/ 419697 h 552467"/>
                <a:gd name="connsiteX64" fmla="*/ 197604 w 552497"/>
                <a:gd name="connsiteY64" fmla="*/ 400439 h 552467"/>
                <a:gd name="connsiteX65" fmla="*/ 186533 w 552497"/>
                <a:gd name="connsiteY65" fmla="*/ 401653 h 552467"/>
                <a:gd name="connsiteX66" fmla="*/ 167888 w 552497"/>
                <a:gd name="connsiteY66" fmla="*/ 420298 h 552467"/>
                <a:gd name="connsiteX67" fmla="*/ 132247 w 552497"/>
                <a:gd name="connsiteY67" fmla="*/ 384590 h 552467"/>
                <a:gd name="connsiteX68" fmla="*/ 150880 w 552497"/>
                <a:gd name="connsiteY68" fmla="*/ 365957 h 552467"/>
                <a:gd name="connsiteX69" fmla="*/ 152106 w 552497"/>
                <a:gd name="connsiteY69" fmla="*/ 354886 h 552467"/>
                <a:gd name="connsiteX70" fmla="*/ 132848 w 552497"/>
                <a:gd name="connsiteY70" fmla="*/ 308430 h 552467"/>
                <a:gd name="connsiteX71" fmla="*/ 124150 w 552497"/>
                <a:gd name="connsiteY71" fmla="*/ 301468 h 552467"/>
                <a:gd name="connsiteX72" fmla="*/ 97731 w 552497"/>
                <a:gd name="connsiteY72" fmla="*/ 301468 h 552467"/>
                <a:gd name="connsiteX73" fmla="*/ 97731 w 552497"/>
                <a:gd name="connsiteY73" fmla="*/ 250969 h 552467"/>
                <a:gd name="connsiteX74" fmla="*/ 124083 w 552497"/>
                <a:gd name="connsiteY74" fmla="*/ 250969 h 552467"/>
                <a:gd name="connsiteX75" fmla="*/ 132781 w 552497"/>
                <a:gd name="connsiteY75" fmla="*/ 244008 h 552467"/>
                <a:gd name="connsiteX76" fmla="*/ 152039 w 552497"/>
                <a:gd name="connsiteY76" fmla="*/ 197552 h 552467"/>
                <a:gd name="connsiteX77" fmla="*/ 150814 w 552497"/>
                <a:gd name="connsiteY77" fmla="*/ 186481 h 552467"/>
                <a:gd name="connsiteX78" fmla="*/ 132180 w 552497"/>
                <a:gd name="connsiteY78" fmla="*/ 167836 h 552467"/>
                <a:gd name="connsiteX79" fmla="*/ 167888 w 552497"/>
                <a:gd name="connsiteY79" fmla="*/ 132195 h 552467"/>
                <a:gd name="connsiteX80" fmla="*/ 186522 w 552497"/>
                <a:gd name="connsiteY80" fmla="*/ 150840 h 552467"/>
                <a:gd name="connsiteX81" fmla="*/ 197593 w 552497"/>
                <a:gd name="connsiteY81" fmla="*/ 152054 h 552467"/>
                <a:gd name="connsiteX82" fmla="*/ 244049 w 552497"/>
                <a:gd name="connsiteY82" fmla="*/ 132797 h 552467"/>
                <a:gd name="connsiteX83" fmla="*/ 251010 w 552497"/>
                <a:gd name="connsiteY83" fmla="*/ 124109 h 552467"/>
                <a:gd name="connsiteX84" fmla="*/ 251010 w 552497"/>
                <a:gd name="connsiteY84" fmla="*/ 97679 h 552467"/>
                <a:gd name="connsiteX85" fmla="*/ 301509 w 552497"/>
                <a:gd name="connsiteY85" fmla="*/ 97679 h 552467"/>
                <a:gd name="connsiteX86" fmla="*/ 301509 w 552497"/>
                <a:gd name="connsiteY86" fmla="*/ 124042 h 552467"/>
                <a:gd name="connsiteX87" fmla="*/ 308470 w 552497"/>
                <a:gd name="connsiteY87" fmla="*/ 132730 h 552467"/>
                <a:gd name="connsiteX88" fmla="*/ 354926 w 552497"/>
                <a:gd name="connsiteY88" fmla="*/ 151987 h 552467"/>
                <a:gd name="connsiteX89" fmla="*/ 365997 w 552497"/>
                <a:gd name="connsiteY89" fmla="*/ 150773 h 552467"/>
                <a:gd name="connsiteX90" fmla="*/ 384642 w 552497"/>
                <a:gd name="connsiteY90" fmla="*/ 132128 h 552467"/>
                <a:gd name="connsiteX91" fmla="*/ 420339 w 552497"/>
                <a:gd name="connsiteY91" fmla="*/ 167836 h 552467"/>
                <a:gd name="connsiteX92" fmla="*/ 401705 w 552497"/>
                <a:gd name="connsiteY92" fmla="*/ 186470 h 552467"/>
                <a:gd name="connsiteX93" fmla="*/ 400480 w 552497"/>
                <a:gd name="connsiteY93" fmla="*/ 197541 h 552467"/>
                <a:gd name="connsiteX94" fmla="*/ 419737 w 552497"/>
                <a:gd name="connsiteY94" fmla="*/ 243997 h 552467"/>
                <a:gd name="connsiteX95" fmla="*/ 428436 w 552497"/>
                <a:gd name="connsiteY95" fmla="*/ 250958 h 552467"/>
                <a:gd name="connsiteX96" fmla="*/ 454810 w 552497"/>
                <a:gd name="connsiteY96" fmla="*/ 250958 h 552467"/>
                <a:gd name="connsiteX97" fmla="*/ 454810 w 552497"/>
                <a:gd name="connsiteY97" fmla="*/ 301457 h 552467"/>
                <a:gd name="connsiteX98" fmla="*/ 433826 w 552497"/>
                <a:gd name="connsiteY98" fmla="*/ 492360 h 552467"/>
                <a:gd name="connsiteX99" fmla="*/ 431465 w 552497"/>
                <a:gd name="connsiteY99" fmla="*/ 504734 h 552467"/>
                <a:gd name="connsiteX100" fmla="*/ 47707 w 552497"/>
                <a:gd name="connsiteY100" fmla="*/ 431356 h 552467"/>
                <a:gd name="connsiteX101" fmla="*/ 30781 w 552497"/>
                <a:gd name="connsiteY101" fmla="*/ 149437 h 552467"/>
                <a:gd name="connsiteX102" fmla="*/ 15934 w 552497"/>
                <a:gd name="connsiteY102" fmla="*/ 157601 h 552467"/>
                <a:gd name="connsiteX103" fmla="*/ 3627 w 552497"/>
                <a:gd name="connsiteY103" fmla="*/ 154894 h 552467"/>
                <a:gd name="connsiteX104" fmla="*/ 6334 w 552497"/>
                <a:gd name="connsiteY104" fmla="*/ 142587 h 552467"/>
                <a:gd name="connsiteX105" fmla="*/ 7392 w 552497"/>
                <a:gd name="connsiteY105" fmla="*/ 142008 h 552467"/>
                <a:gd name="connsiteX106" fmla="*/ 50829 w 552497"/>
                <a:gd name="connsiteY106" fmla="*/ 118262 h 552467"/>
                <a:gd name="connsiteX107" fmla="*/ 62919 w 552497"/>
                <a:gd name="connsiteY107" fmla="*/ 121816 h 552467"/>
                <a:gd name="connsiteX108" fmla="*/ 64005 w 552497"/>
                <a:gd name="connsiteY108" fmla="*/ 126281 h 552467"/>
                <a:gd name="connsiteX109" fmla="*/ 62891 w 552497"/>
                <a:gd name="connsiteY109" fmla="*/ 175800 h 552467"/>
                <a:gd name="connsiteX110" fmla="*/ 53775 w 552497"/>
                <a:gd name="connsiteY110" fmla="*/ 184504 h 552467"/>
                <a:gd name="connsiteX111" fmla="*/ 45071 w 552497"/>
                <a:gd name="connsiteY111" fmla="*/ 175388 h 552467"/>
                <a:gd name="connsiteX112" fmla="*/ 45427 w 552497"/>
                <a:gd name="connsiteY112" fmla="*/ 160073 h 552467"/>
                <a:gd name="connsiteX113" fmla="*/ 17872 w 552497"/>
                <a:gd name="connsiteY113" fmla="*/ 276219 h 552467"/>
                <a:gd name="connsiteX114" fmla="*/ 276270 w 552497"/>
                <a:gd name="connsiteY114" fmla="*/ 534617 h 552467"/>
                <a:gd name="connsiteX115" fmla="*/ 421441 w 552497"/>
                <a:gd name="connsiteY115" fmla="*/ 489999 h 552467"/>
                <a:gd name="connsiteX116" fmla="*/ 433821 w 552497"/>
                <a:gd name="connsiteY116" fmla="*/ 492351 h 552467"/>
                <a:gd name="connsiteX117" fmla="*/ 433826 w 552497"/>
                <a:gd name="connsiteY117" fmla="*/ 492360 h 552467"/>
                <a:gd name="connsiteX118" fmla="*/ 548268 w 552497"/>
                <a:gd name="connsiteY118" fmla="*/ 397621 h 552467"/>
                <a:gd name="connsiteX119" fmla="*/ 544929 w 552497"/>
                <a:gd name="connsiteY119" fmla="*/ 409772 h 552467"/>
                <a:gd name="connsiteX120" fmla="*/ 544927 w 552497"/>
                <a:gd name="connsiteY120" fmla="*/ 409773 h 552467"/>
                <a:gd name="connsiteX121" fmla="*/ 501812 w 552497"/>
                <a:gd name="connsiteY121" fmla="*/ 434165 h 552467"/>
                <a:gd name="connsiteX122" fmla="*/ 489668 w 552497"/>
                <a:gd name="connsiteY122" fmla="*/ 430799 h 552467"/>
                <a:gd name="connsiteX123" fmla="*/ 488513 w 552497"/>
                <a:gd name="connsiteY123" fmla="*/ 426368 h 552467"/>
                <a:gd name="connsiteX124" fmla="*/ 488925 w 552497"/>
                <a:gd name="connsiteY124" fmla="*/ 376838 h 552467"/>
                <a:gd name="connsiteX125" fmla="*/ 497836 w 552497"/>
                <a:gd name="connsiteY125" fmla="*/ 368006 h 552467"/>
                <a:gd name="connsiteX126" fmla="*/ 497914 w 552497"/>
                <a:gd name="connsiteY126" fmla="*/ 368006 h 552467"/>
                <a:gd name="connsiteX127" fmla="*/ 506746 w 552497"/>
                <a:gd name="connsiteY127" fmla="*/ 376993 h 552467"/>
                <a:gd name="connsiteX128" fmla="*/ 506746 w 552497"/>
                <a:gd name="connsiteY128" fmla="*/ 376994 h 552467"/>
                <a:gd name="connsiteX129" fmla="*/ 506612 w 552497"/>
                <a:gd name="connsiteY129" fmla="*/ 393456 h 552467"/>
                <a:gd name="connsiteX130" fmla="*/ 534669 w 552497"/>
                <a:gd name="connsiteY130" fmla="*/ 276219 h 552467"/>
                <a:gd name="connsiteX131" fmla="*/ 276270 w 552497"/>
                <a:gd name="connsiteY131" fmla="*/ 17821 h 552467"/>
                <a:gd name="connsiteX132" fmla="*/ 131100 w 552497"/>
                <a:gd name="connsiteY132" fmla="*/ 62439 h 552467"/>
                <a:gd name="connsiteX133" fmla="*/ 118720 w 552497"/>
                <a:gd name="connsiteY133" fmla="*/ 60083 h 552467"/>
                <a:gd name="connsiteX134" fmla="*/ 121076 w 552497"/>
                <a:gd name="connsiteY134" fmla="*/ 47704 h 552467"/>
                <a:gd name="connsiteX135" fmla="*/ 504820 w 552497"/>
                <a:gd name="connsiteY135" fmla="*/ 121155 h 552467"/>
                <a:gd name="connsiteX136" fmla="*/ 522161 w 552497"/>
                <a:gd name="connsiteY136" fmla="*/ 402166 h 552467"/>
                <a:gd name="connsiteX137" fmla="*/ 536128 w 552497"/>
                <a:gd name="connsiteY137" fmla="*/ 394280 h 552467"/>
                <a:gd name="connsiteX138" fmla="*/ 548268 w 552497"/>
                <a:gd name="connsiteY138" fmla="*/ 397621 h 552467"/>
                <a:gd name="connsiteX139" fmla="*/ 276270 w 552497"/>
                <a:gd name="connsiteY139" fmla="*/ 170855 h 552467"/>
                <a:gd name="connsiteX140" fmla="*/ 170906 w 552497"/>
                <a:gd name="connsiteY140" fmla="*/ 276219 h 552467"/>
                <a:gd name="connsiteX141" fmla="*/ 276270 w 552497"/>
                <a:gd name="connsiteY141" fmla="*/ 381583 h 552467"/>
                <a:gd name="connsiteX142" fmla="*/ 381635 w 552497"/>
                <a:gd name="connsiteY142" fmla="*/ 276219 h 552467"/>
                <a:gd name="connsiteX143" fmla="*/ 276270 w 552497"/>
                <a:gd name="connsiteY143" fmla="*/ 170855 h 552467"/>
                <a:gd name="connsiteX144" fmla="*/ 276270 w 552497"/>
                <a:gd name="connsiteY144" fmla="*/ 363762 h 552467"/>
                <a:gd name="connsiteX145" fmla="*/ 188727 w 552497"/>
                <a:gd name="connsiteY145" fmla="*/ 276219 h 552467"/>
                <a:gd name="connsiteX146" fmla="*/ 276270 w 552497"/>
                <a:gd name="connsiteY146" fmla="*/ 188675 h 552467"/>
                <a:gd name="connsiteX147" fmla="*/ 363814 w 552497"/>
                <a:gd name="connsiteY147" fmla="*/ 276219 h 552467"/>
                <a:gd name="connsiteX148" fmla="*/ 276270 w 552497"/>
                <a:gd name="connsiteY148" fmla="*/ 363762 h 552467"/>
                <a:gd name="connsiteX149" fmla="*/ 290917 w 552497"/>
                <a:gd name="connsiteY149" fmla="*/ 253498 h 552467"/>
                <a:gd name="connsiteX150" fmla="*/ 290917 w 552497"/>
                <a:gd name="connsiteY150" fmla="*/ 252607 h 552467"/>
                <a:gd name="connsiteX151" fmla="*/ 276215 w 552497"/>
                <a:gd name="connsiteY151" fmla="*/ 237971 h 552467"/>
                <a:gd name="connsiteX152" fmla="*/ 261580 w 552497"/>
                <a:gd name="connsiteY152" fmla="*/ 252673 h 552467"/>
                <a:gd name="connsiteX153" fmla="*/ 276270 w 552497"/>
                <a:gd name="connsiteY153" fmla="*/ 267309 h 552467"/>
                <a:gd name="connsiteX154" fmla="*/ 308793 w 552497"/>
                <a:gd name="connsiteY154" fmla="*/ 299764 h 552467"/>
                <a:gd name="connsiteX155" fmla="*/ 285181 w 552497"/>
                <a:gd name="connsiteY155" fmla="*/ 331051 h 552467"/>
                <a:gd name="connsiteX156" fmla="*/ 285181 w 552497"/>
                <a:gd name="connsiteY156" fmla="*/ 336987 h 552467"/>
                <a:gd name="connsiteX157" fmla="*/ 276270 w 552497"/>
                <a:gd name="connsiteY157" fmla="*/ 345897 h 552467"/>
                <a:gd name="connsiteX158" fmla="*/ 267360 w 552497"/>
                <a:gd name="connsiteY158" fmla="*/ 336987 h 552467"/>
                <a:gd name="connsiteX159" fmla="*/ 267360 w 552497"/>
                <a:gd name="connsiteY159" fmla="*/ 331051 h 552467"/>
                <a:gd name="connsiteX160" fmla="*/ 243781 w 552497"/>
                <a:gd name="connsiteY160" fmla="*/ 299798 h 552467"/>
                <a:gd name="connsiteX161" fmla="*/ 243781 w 552497"/>
                <a:gd name="connsiteY161" fmla="*/ 298082 h 552467"/>
                <a:gd name="connsiteX162" fmla="*/ 253154 w 552497"/>
                <a:gd name="connsiteY162" fmla="*/ 289634 h 552467"/>
                <a:gd name="connsiteX163" fmla="*/ 261602 w 552497"/>
                <a:gd name="connsiteY163" fmla="*/ 299007 h 552467"/>
                <a:gd name="connsiteX164" fmla="*/ 261602 w 552497"/>
                <a:gd name="connsiteY164" fmla="*/ 299798 h 552467"/>
                <a:gd name="connsiteX165" fmla="*/ 276270 w 552497"/>
                <a:gd name="connsiteY165" fmla="*/ 314466 h 552467"/>
                <a:gd name="connsiteX166" fmla="*/ 290939 w 552497"/>
                <a:gd name="connsiteY166" fmla="*/ 299798 h 552467"/>
                <a:gd name="connsiteX167" fmla="*/ 276270 w 552497"/>
                <a:gd name="connsiteY167" fmla="*/ 285129 h 552467"/>
                <a:gd name="connsiteX168" fmla="*/ 243748 w 552497"/>
                <a:gd name="connsiteY168" fmla="*/ 252673 h 552467"/>
                <a:gd name="connsiteX169" fmla="*/ 267360 w 552497"/>
                <a:gd name="connsiteY169" fmla="*/ 221387 h 552467"/>
                <a:gd name="connsiteX170" fmla="*/ 267360 w 552497"/>
                <a:gd name="connsiteY170" fmla="*/ 215451 h 552467"/>
                <a:gd name="connsiteX171" fmla="*/ 276270 w 552497"/>
                <a:gd name="connsiteY171" fmla="*/ 206540 h 552467"/>
                <a:gd name="connsiteX172" fmla="*/ 285181 w 552497"/>
                <a:gd name="connsiteY172" fmla="*/ 215451 h 552467"/>
                <a:gd name="connsiteX173" fmla="*/ 285181 w 552497"/>
                <a:gd name="connsiteY173" fmla="*/ 221387 h 552467"/>
                <a:gd name="connsiteX174" fmla="*/ 308760 w 552497"/>
                <a:gd name="connsiteY174" fmla="*/ 252640 h 552467"/>
                <a:gd name="connsiteX175" fmla="*/ 308704 w 552497"/>
                <a:gd name="connsiteY175" fmla="*/ 254611 h 552467"/>
                <a:gd name="connsiteX176" fmla="*/ 299237 w 552497"/>
                <a:gd name="connsiteY176" fmla="*/ 262965 h 552467"/>
                <a:gd name="connsiteX177" fmla="*/ 290883 w 552497"/>
                <a:gd name="connsiteY177" fmla="*/ 253498 h 55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552497" h="552467">
                  <a:moveTo>
                    <a:pt x="454877" y="233149"/>
                  </a:moveTo>
                  <a:lnTo>
                    <a:pt x="435430" y="233149"/>
                  </a:lnTo>
                  <a:cubicBezTo>
                    <a:pt x="431744" y="219509"/>
                    <a:pt x="426304" y="206407"/>
                    <a:pt x="419247" y="194166"/>
                  </a:cubicBezTo>
                  <a:lnTo>
                    <a:pt x="433002" y="180433"/>
                  </a:lnTo>
                  <a:cubicBezTo>
                    <a:pt x="439309" y="174204"/>
                    <a:pt x="440005" y="164259"/>
                    <a:pt x="434628" y="157211"/>
                  </a:cubicBezTo>
                  <a:cubicBezTo>
                    <a:pt x="423425" y="142332"/>
                    <a:pt x="410191" y="129098"/>
                    <a:pt x="395312" y="117894"/>
                  </a:cubicBezTo>
                  <a:cubicBezTo>
                    <a:pt x="388267" y="112484"/>
                    <a:pt x="378296" y="113166"/>
                    <a:pt x="372056" y="119487"/>
                  </a:cubicBezTo>
                  <a:lnTo>
                    <a:pt x="358301" y="133242"/>
                  </a:lnTo>
                  <a:cubicBezTo>
                    <a:pt x="346059" y="126192"/>
                    <a:pt x="332955" y="120757"/>
                    <a:pt x="319318" y="117070"/>
                  </a:cubicBezTo>
                  <a:lnTo>
                    <a:pt x="319318" y="97612"/>
                  </a:lnTo>
                  <a:cubicBezTo>
                    <a:pt x="319378" y="88771"/>
                    <a:pt x="312874" y="81256"/>
                    <a:pt x="304115" y="80048"/>
                  </a:cubicBezTo>
                  <a:cubicBezTo>
                    <a:pt x="285671" y="77475"/>
                    <a:pt x="266959" y="77475"/>
                    <a:pt x="248515" y="80048"/>
                  </a:cubicBezTo>
                  <a:cubicBezTo>
                    <a:pt x="239729" y="81225"/>
                    <a:pt x="233189" y="88749"/>
                    <a:pt x="233245" y="97612"/>
                  </a:cubicBezTo>
                  <a:lnTo>
                    <a:pt x="233245" y="117070"/>
                  </a:lnTo>
                  <a:cubicBezTo>
                    <a:pt x="219608" y="120757"/>
                    <a:pt x="206504" y="126192"/>
                    <a:pt x="194262" y="133242"/>
                  </a:cubicBezTo>
                  <a:lnTo>
                    <a:pt x="180485" y="119487"/>
                  </a:lnTo>
                  <a:cubicBezTo>
                    <a:pt x="174256" y="113181"/>
                    <a:pt x="164311" y="112485"/>
                    <a:pt x="157262" y="117861"/>
                  </a:cubicBezTo>
                  <a:cubicBezTo>
                    <a:pt x="142381" y="129061"/>
                    <a:pt x="129146" y="142296"/>
                    <a:pt x="117946" y="157177"/>
                  </a:cubicBezTo>
                  <a:cubicBezTo>
                    <a:pt x="112535" y="164222"/>
                    <a:pt x="113218" y="174193"/>
                    <a:pt x="119539" y="180433"/>
                  </a:cubicBezTo>
                  <a:lnTo>
                    <a:pt x="133294" y="194189"/>
                  </a:lnTo>
                  <a:cubicBezTo>
                    <a:pt x="126239" y="206429"/>
                    <a:pt x="120799" y="219533"/>
                    <a:pt x="117111" y="233171"/>
                  </a:cubicBezTo>
                  <a:lnTo>
                    <a:pt x="97664" y="233171"/>
                  </a:lnTo>
                  <a:cubicBezTo>
                    <a:pt x="88822" y="233111"/>
                    <a:pt x="81307" y="239615"/>
                    <a:pt x="80099" y="248374"/>
                  </a:cubicBezTo>
                  <a:cubicBezTo>
                    <a:pt x="77515" y="266817"/>
                    <a:pt x="77515" y="285531"/>
                    <a:pt x="80099" y="303974"/>
                  </a:cubicBezTo>
                  <a:cubicBezTo>
                    <a:pt x="81277" y="312760"/>
                    <a:pt x="88800" y="319300"/>
                    <a:pt x="97664" y="319244"/>
                  </a:cubicBezTo>
                  <a:lnTo>
                    <a:pt x="117111" y="319244"/>
                  </a:lnTo>
                  <a:cubicBezTo>
                    <a:pt x="120797" y="332884"/>
                    <a:pt x="126237" y="345986"/>
                    <a:pt x="133294" y="358227"/>
                  </a:cubicBezTo>
                  <a:lnTo>
                    <a:pt x="119539" y="372004"/>
                  </a:lnTo>
                  <a:cubicBezTo>
                    <a:pt x="113232" y="378234"/>
                    <a:pt x="112536" y="388179"/>
                    <a:pt x="117912" y="395227"/>
                  </a:cubicBezTo>
                  <a:cubicBezTo>
                    <a:pt x="129113" y="410108"/>
                    <a:pt x="142348" y="423343"/>
                    <a:pt x="157229" y="434543"/>
                  </a:cubicBezTo>
                  <a:cubicBezTo>
                    <a:pt x="164270" y="439964"/>
                    <a:pt x="174249" y="439280"/>
                    <a:pt x="180485" y="432951"/>
                  </a:cubicBezTo>
                  <a:lnTo>
                    <a:pt x="194240" y="419195"/>
                  </a:lnTo>
                  <a:cubicBezTo>
                    <a:pt x="206482" y="426247"/>
                    <a:pt x="219584" y="431683"/>
                    <a:pt x="233223" y="435368"/>
                  </a:cubicBezTo>
                  <a:lnTo>
                    <a:pt x="233223" y="454825"/>
                  </a:lnTo>
                  <a:cubicBezTo>
                    <a:pt x="233162" y="463667"/>
                    <a:pt x="239667" y="471182"/>
                    <a:pt x="248426" y="472390"/>
                  </a:cubicBezTo>
                  <a:cubicBezTo>
                    <a:pt x="266869" y="474974"/>
                    <a:pt x="285583" y="474974"/>
                    <a:pt x="304026" y="472390"/>
                  </a:cubicBezTo>
                  <a:cubicBezTo>
                    <a:pt x="312812" y="471213"/>
                    <a:pt x="319352" y="463689"/>
                    <a:pt x="319296" y="454825"/>
                  </a:cubicBezTo>
                  <a:lnTo>
                    <a:pt x="319296" y="435379"/>
                  </a:lnTo>
                  <a:cubicBezTo>
                    <a:pt x="332935" y="431692"/>
                    <a:pt x="346038" y="426252"/>
                    <a:pt x="358278" y="419195"/>
                  </a:cubicBezTo>
                  <a:lnTo>
                    <a:pt x="372056" y="432951"/>
                  </a:lnTo>
                  <a:cubicBezTo>
                    <a:pt x="378285" y="439257"/>
                    <a:pt x="388230" y="439953"/>
                    <a:pt x="395278" y="434577"/>
                  </a:cubicBezTo>
                  <a:cubicBezTo>
                    <a:pt x="410160" y="423377"/>
                    <a:pt x="423395" y="410142"/>
                    <a:pt x="434595" y="395260"/>
                  </a:cubicBezTo>
                  <a:cubicBezTo>
                    <a:pt x="440006" y="388216"/>
                    <a:pt x="439323" y="378245"/>
                    <a:pt x="433002" y="372004"/>
                  </a:cubicBezTo>
                  <a:lnTo>
                    <a:pt x="419247" y="358249"/>
                  </a:lnTo>
                  <a:cubicBezTo>
                    <a:pt x="426298" y="346008"/>
                    <a:pt x="431735" y="332905"/>
                    <a:pt x="435419" y="319267"/>
                  </a:cubicBezTo>
                  <a:lnTo>
                    <a:pt x="454877" y="319267"/>
                  </a:lnTo>
                  <a:cubicBezTo>
                    <a:pt x="463718" y="319327"/>
                    <a:pt x="471234" y="312822"/>
                    <a:pt x="472441" y="304063"/>
                  </a:cubicBezTo>
                  <a:cubicBezTo>
                    <a:pt x="475025" y="285620"/>
                    <a:pt x="475025" y="266907"/>
                    <a:pt x="472441" y="248463"/>
                  </a:cubicBezTo>
                  <a:cubicBezTo>
                    <a:pt x="471284" y="239660"/>
                    <a:pt x="463755" y="233095"/>
                    <a:pt x="454877" y="233149"/>
                  </a:cubicBezTo>
                  <a:close/>
                  <a:moveTo>
                    <a:pt x="454799" y="301468"/>
                  </a:moveTo>
                  <a:lnTo>
                    <a:pt x="428447" y="301468"/>
                  </a:lnTo>
                  <a:cubicBezTo>
                    <a:pt x="424276" y="301466"/>
                    <a:pt x="420660" y="304359"/>
                    <a:pt x="419748" y="308430"/>
                  </a:cubicBezTo>
                  <a:cubicBezTo>
                    <a:pt x="416065" y="324912"/>
                    <a:pt x="409549" y="340630"/>
                    <a:pt x="400491" y="354886"/>
                  </a:cubicBezTo>
                  <a:cubicBezTo>
                    <a:pt x="398256" y="358405"/>
                    <a:pt x="398760" y="363005"/>
                    <a:pt x="401705" y="365957"/>
                  </a:cubicBezTo>
                  <a:lnTo>
                    <a:pt x="420350" y="384601"/>
                  </a:lnTo>
                  <a:cubicBezTo>
                    <a:pt x="410173" y="398110"/>
                    <a:pt x="398153" y="410126"/>
                    <a:pt x="384642" y="420298"/>
                  </a:cubicBezTo>
                  <a:lnTo>
                    <a:pt x="366008" y="401664"/>
                  </a:lnTo>
                  <a:cubicBezTo>
                    <a:pt x="363059" y="398715"/>
                    <a:pt x="358459" y="398206"/>
                    <a:pt x="354937" y="400439"/>
                  </a:cubicBezTo>
                  <a:cubicBezTo>
                    <a:pt x="340684" y="409501"/>
                    <a:pt x="324965" y="416017"/>
                    <a:pt x="308481" y="419697"/>
                  </a:cubicBezTo>
                  <a:cubicBezTo>
                    <a:pt x="304410" y="420609"/>
                    <a:pt x="301518" y="424224"/>
                    <a:pt x="301520" y="428395"/>
                  </a:cubicBezTo>
                  <a:lnTo>
                    <a:pt x="301520" y="454759"/>
                  </a:lnTo>
                  <a:cubicBezTo>
                    <a:pt x="284769" y="457098"/>
                    <a:pt x="267772" y="457098"/>
                    <a:pt x="251021" y="454759"/>
                  </a:cubicBezTo>
                  <a:lnTo>
                    <a:pt x="251021" y="428395"/>
                  </a:lnTo>
                  <a:cubicBezTo>
                    <a:pt x="251023" y="424224"/>
                    <a:pt x="248131" y="420609"/>
                    <a:pt x="244060" y="419697"/>
                  </a:cubicBezTo>
                  <a:cubicBezTo>
                    <a:pt x="227577" y="416013"/>
                    <a:pt x="211859" y="409498"/>
                    <a:pt x="197604" y="400439"/>
                  </a:cubicBezTo>
                  <a:cubicBezTo>
                    <a:pt x="194084" y="398204"/>
                    <a:pt x="189484" y="398709"/>
                    <a:pt x="186533" y="401653"/>
                  </a:cubicBezTo>
                  <a:lnTo>
                    <a:pt x="167888" y="420298"/>
                  </a:lnTo>
                  <a:cubicBezTo>
                    <a:pt x="154399" y="410118"/>
                    <a:pt x="142402" y="398098"/>
                    <a:pt x="132247" y="384590"/>
                  </a:cubicBezTo>
                  <a:lnTo>
                    <a:pt x="150880" y="365957"/>
                  </a:lnTo>
                  <a:cubicBezTo>
                    <a:pt x="153830" y="363007"/>
                    <a:pt x="154339" y="358407"/>
                    <a:pt x="152106" y="354886"/>
                  </a:cubicBezTo>
                  <a:cubicBezTo>
                    <a:pt x="143044" y="340632"/>
                    <a:pt x="136528" y="324914"/>
                    <a:pt x="132848" y="308430"/>
                  </a:cubicBezTo>
                  <a:cubicBezTo>
                    <a:pt x="131936" y="304359"/>
                    <a:pt x="128321" y="301466"/>
                    <a:pt x="124150" y="301468"/>
                  </a:cubicBezTo>
                  <a:lnTo>
                    <a:pt x="97731" y="301468"/>
                  </a:lnTo>
                  <a:cubicBezTo>
                    <a:pt x="95392" y="284717"/>
                    <a:pt x="95392" y="267721"/>
                    <a:pt x="97731" y="250969"/>
                  </a:cubicBezTo>
                  <a:lnTo>
                    <a:pt x="124083" y="250969"/>
                  </a:lnTo>
                  <a:cubicBezTo>
                    <a:pt x="128254" y="250972"/>
                    <a:pt x="131869" y="248079"/>
                    <a:pt x="132781" y="244008"/>
                  </a:cubicBezTo>
                  <a:cubicBezTo>
                    <a:pt x="136458" y="227523"/>
                    <a:pt x="142975" y="211804"/>
                    <a:pt x="152039" y="197552"/>
                  </a:cubicBezTo>
                  <a:cubicBezTo>
                    <a:pt x="154272" y="194030"/>
                    <a:pt x="153763" y="189430"/>
                    <a:pt x="150814" y="186481"/>
                  </a:cubicBezTo>
                  <a:lnTo>
                    <a:pt x="132180" y="167836"/>
                  </a:lnTo>
                  <a:cubicBezTo>
                    <a:pt x="142360" y="154347"/>
                    <a:pt x="154380" y="142351"/>
                    <a:pt x="167888" y="132195"/>
                  </a:cubicBezTo>
                  <a:lnTo>
                    <a:pt x="186522" y="150840"/>
                  </a:lnTo>
                  <a:cubicBezTo>
                    <a:pt x="189473" y="153785"/>
                    <a:pt x="194073" y="154289"/>
                    <a:pt x="197593" y="152054"/>
                  </a:cubicBezTo>
                  <a:cubicBezTo>
                    <a:pt x="211848" y="142996"/>
                    <a:pt x="227566" y="136480"/>
                    <a:pt x="244049" y="132797"/>
                  </a:cubicBezTo>
                  <a:cubicBezTo>
                    <a:pt x="248115" y="131885"/>
                    <a:pt x="251006" y="128277"/>
                    <a:pt x="251010" y="124109"/>
                  </a:cubicBezTo>
                  <a:lnTo>
                    <a:pt x="251010" y="97679"/>
                  </a:lnTo>
                  <a:cubicBezTo>
                    <a:pt x="267762" y="95346"/>
                    <a:pt x="284756" y="95346"/>
                    <a:pt x="301509" y="97679"/>
                  </a:cubicBezTo>
                  <a:lnTo>
                    <a:pt x="301509" y="124042"/>
                  </a:lnTo>
                  <a:cubicBezTo>
                    <a:pt x="301512" y="128210"/>
                    <a:pt x="304404" y="131819"/>
                    <a:pt x="308470" y="132730"/>
                  </a:cubicBezTo>
                  <a:cubicBezTo>
                    <a:pt x="324953" y="136413"/>
                    <a:pt x="340671" y="142929"/>
                    <a:pt x="354926" y="151987"/>
                  </a:cubicBezTo>
                  <a:cubicBezTo>
                    <a:pt x="358446" y="154223"/>
                    <a:pt x="363045" y="153718"/>
                    <a:pt x="365997" y="150773"/>
                  </a:cubicBezTo>
                  <a:lnTo>
                    <a:pt x="384642" y="132128"/>
                  </a:lnTo>
                  <a:cubicBezTo>
                    <a:pt x="398145" y="142311"/>
                    <a:pt x="410161" y="154330"/>
                    <a:pt x="420339" y="167836"/>
                  </a:cubicBezTo>
                  <a:lnTo>
                    <a:pt x="401705" y="186470"/>
                  </a:lnTo>
                  <a:cubicBezTo>
                    <a:pt x="398756" y="189419"/>
                    <a:pt x="398247" y="194019"/>
                    <a:pt x="400480" y="197541"/>
                  </a:cubicBezTo>
                  <a:cubicBezTo>
                    <a:pt x="409542" y="211794"/>
                    <a:pt x="416057" y="227513"/>
                    <a:pt x="419737" y="243997"/>
                  </a:cubicBezTo>
                  <a:cubicBezTo>
                    <a:pt x="420649" y="248068"/>
                    <a:pt x="424265" y="250960"/>
                    <a:pt x="428436" y="250958"/>
                  </a:cubicBezTo>
                  <a:lnTo>
                    <a:pt x="454810" y="250958"/>
                  </a:lnTo>
                  <a:cubicBezTo>
                    <a:pt x="457149" y="267710"/>
                    <a:pt x="457149" y="284706"/>
                    <a:pt x="454810" y="301457"/>
                  </a:cubicBezTo>
                  <a:close/>
                  <a:moveTo>
                    <a:pt x="433826" y="492360"/>
                  </a:moveTo>
                  <a:cubicBezTo>
                    <a:pt x="436590" y="496430"/>
                    <a:pt x="435533" y="501969"/>
                    <a:pt x="431465" y="504734"/>
                  </a:cubicBezTo>
                  <a:cubicBezTo>
                    <a:pt x="305230" y="590443"/>
                    <a:pt x="133415" y="557591"/>
                    <a:pt x="47707" y="431356"/>
                  </a:cubicBezTo>
                  <a:cubicBezTo>
                    <a:pt x="-9171" y="347585"/>
                    <a:pt x="-15666" y="239410"/>
                    <a:pt x="30781" y="149437"/>
                  </a:cubicBezTo>
                  <a:lnTo>
                    <a:pt x="15934" y="157601"/>
                  </a:lnTo>
                  <a:cubicBezTo>
                    <a:pt x="11788" y="160252"/>
                    <a:pt x="6278" y="159040"/>
                    <a:pt x="3627" y="154894"/>
                  </a:cubicBezTo>
                  <a:cubicBezTo>
                    <a:pt x="977" y="150748"/>
                    <a:pt x="2189" y="145238"/>
                    <a:pt x="6334" y="142587"/>
                  </a:cubicBezTo>
                  <a:cubicBezTo>
                    <a:pt x="6673" y="142370"/>
                    <a:pt x="7027" y="142177"/>
                    <a:pt x="7392" y="142008"/>
                  </a:cubicBezTo>
                  <a:lnTo>
                    <a:pt x="50829" y="118262"/>
                  </a:lnTo>
                  <a:cubicBezTo>
                    <a:pt x="55149" y="115905"/>
                    <a:pt x="60562" y="117496"/>
                    <a:pt x="62919" y="121816"/>
                  </a:cubicBezTo>
                  <a:cubicBezTo>
                    <a:pt x="63665" y="123184"/>
                    <a:pt x="64040" y="124723"/>
                    <a:pt x="64005" y="126281"/>
                  </a:cubicBezTo>
                  <a:lnTo>
                    <a:pt x="62891" y="175800"/>
                  </a:lnTo>
                  <a:cubicBezTo>
                    <a:pt x="62778" y="180721"/>
                    <a:pt x="58696" y="184618"/>
                    <a:pt x="53775" y="184504"/>
                  </a:cubicBezTo>
                  <a:cubicBezTo>
                    <a:pt x="48854" y="184391"/>
                    <a:pt x="44957" y="180309"/>
                    <a:pt x="45071" y="175388"/>
                  </a:cubicBezTo>
                  <a:lnTo>
                    <a:pt x="45427" y="160073"/>
                  </a:lnTo>
                  <a:cubicBezTo>
                    <a:pt x="27271" y="196095"/>
                    <a:pt x="17832" y="235880"/>
                    <a:pt x="17872" y="276219"/>
                  </a:cubicBezTo>
                  <a:cubicBezTo>
                    <a:pt x="17872" y="418694"/>
                    <a:pt x="133784" y="534617"/>
                    <a:pt x="276270" y="534617"/>
                  </a:cubicBezTo>
                  <a:cubicBezTo>
                    <a:pt x="328051" y="534711"/>
                    <a:pt x="378652" y="519159"/>
                    <a:pt x="421441" y="489999"/>
                  </a:cubicBezTo>
                  <a:cubicBezTo>
                    <a:pt x="425510" y="487230"/>
                    <a:pt x="431052" y="488284"/>
                    <a:pt x="433821" y="492351"/>
                  </a:cubicBezTo>
                  <a:cubicBezTo>
                    <a:pt x="433823" y="492354"/>
                    <a:pt x="433824" y="492357"/>
                    <a:pt x="433826" y="492360"/>
                  </a:cubicBezTo>
                  <a:close/>
                  <a:moveTo>
                    <a:pt x="548268" y="397621"/>
                  </a:moveTo>
                  <a:cubicBezTo>
                    <a:pt x="550700" y="401898"/>
                    <a:pt x="549206" y="407339"/>
                    <a:pt x="544929" y="409772"/>
                  </a:cubicBezTo>
                  <a:cubicBezTo>
                    <a:pt x="544928" y="409772"/>
                    <a:pt x="544928" y="409773"/>
                    <a:pt x="544927" y="409773"/>
                  </a:cubicBezTo>
                  <a:lnTo>
                    <a:pt x="501812" y="434165"/>
                  </a:lnTo>
                  <a:cubicBezTo>
                    <a:pt x="497529" y="436588"/>
                    <a:pt x="492092" y="435081"/>
                    <a:pt x="489668" y="430799"/>
                  </a:cubicBezTo>
                  <a:cubicBezTo>
                    <a:pt x="488904" y="429448"/>
                    <a:pt x="488506" y="427921"/>
                    <a:pt x="488513" y="426368"/>
                  </a:cubicBezTo>
                  <a:lnTo>
                    <a:pt x="488925" y="376838"/>
                  </a:lnTo>
                  <a:cubicBezTo>
                    <a:pt x="488968" y="371948"/>
                    <a:pt x="492945" y="368006"/>
                    <a:pt x="497836" y="368006"/>
                  </a:cubicBezTo>
                  <a:lnTo>
                    <a:pt x="497914" y="368006"/>
                  </a:lnTo>
                  <a:cubicBezTo>
                    <a:pt x="502834" y="368048"/>
                    <a:pt x="506789" y="372072"/>
                    <a:pt x="506746" y="376993"/>
                  </a:cubicBezTo>
                  <a:cubicBezTo>
                    <a:pt x="506746" y="376994"/>
                    <a:pt x="506746" y="376994"/>
                    <a:pt x="506746" y="376994"/>
                  </a:cubicBezTo>
                  <a:lnTo>
                    <a:pt x="506612" y="393456"/>
                  </a:lnTo>
                  <a:cubicBezTo>
                    <a:pt x="525095" y="357142"/>
                    <a:pt x="534710" y="316966"/>
                    <a:pt x="534669" y="276219"/>
                  </a:cubicBezTo>
                  <a:cubicBezTo>
                    <a:pt x="534669" y="133743"/>
                    <a:pt x="418757" y="17821"/>
                    <a:pt x="276270" y="17821"/>
                  </a:cubicBezTo>
                  <a:cubicBezTo>
                    <a:pt x="224489" y="17727"/>
                    <a:pt x="173889" y="33279"/>
                    <a:pt x="131100" y="62439"/>
                  </a:cubicBezTo>
                  <a:cubicBezTo>
                    <a:pt x="127031" y="65207"/>
                    <a:pt x="121488" y="64152"/>
                    <a:pt x="118720" y="60083"/>
                  </a:cubicBezTo>
                  <a:cubicBezTo>
                    <a:pt x="115952" y="56014"/>
                    <a:pt x="117007" y="50472"/>
                    <a:pt x="121076" y="47704"/>
                  </a:cubicBezTo>
                  <a:cubicBezTo>
                    <a:pt x="247326" y="-37982"/>
                    <a:pt x="419136" y="-5096"/>
                    <a:pt x="504820" y="121155"/>
                  </a:cubicBezTo>
                  <a:cubicBezTo>
                    <a:pt x="561475" y="204633"/>
                    <a:pt x="568123" y="312356"/>
                    <a:pt x="522161" y="402166"/>
                  </a:cubicBezTo>
                  <a:lnTo>
                    <a:pt x="536128" y="394280"/>
                  </a:lnTo>
                  <a:cubicBezTo>
                    <a:pt x="540403" y="391854"/>
                    <a:pt x="545835" y="393349"/>
                    <a:pt x="548268" y="397621"/>
                  </a:cubicBezTo>
                  <a:close/>
                  <a:moveTo>
                    <a:pt x="276270" y="170855"/>
                  </a:moveTo>
                  <a:cubicBezTo>
                    <a:pt x="218080" y="170855"/>
                    <a:pt x="170906" y="218028"/>
                    <a:pt x="170906" y="276219"/>
                  </a:cubicBezTo>
                  <a:cubicBezTo>
                    <a:pt x="170906" y="334410"/>
                    <a:pt x="218080" y="381583"/>
                    <a:pt x="276270" y="381583"/>
                  </a:cubicBezTo>
                  <a:cubicBezTo>
                    <a:pt x="334461" y="381583"/>
                    <a:pt x="381635" y="334410"/>
                    <a:pt x="381635" y="276219"/>
                  </a:cubicBezTo>
                  <a:cubicBezTo>
                    <a:pt x="381567" y="218056"/>
                    <a:pt x="334433" y="170923"/>
                    <a:pt x="276270" y="170855"/>
                  </a:cubicBezTo>
                  <a:close/>
                  <a:moveTo>
                    <a:pt x="276270" y="363762"/>
                  </a:moveTo>
                  <a:cubicBezTo>
                    <a:pt x="227921" y="363762"/>
                    <a:pt x="188727" y="324568"/>
                    <a:pt x="188727" y="276219"/>
                  </a:cubicBezTo>
                  <a:cubicBezTo>
                    <a:pt x="188727" y="227869"/>
                    <a:pt x="227921" y="188675"/>
                    <a:pt x="276270" y="188675"/>
                  </a:cubicBezTo>
                  <a:cubicBezTo>
                    <a:pt x="324620" y="188675"/>
                    <a:pt x="363814" y="227869"/>
                    <a:pt x="363814" y="276219"/>
                  </a:cubicBezTo>
                  <a:cubicBezTo>
                    <a:pt x="363758" y="324545"/>
                    <a:pt x="324596" y="363707"/>
                    <a:pt x="276270" y="363762"/>
                  </a:cubicBezTo>
                  <a:close/>
                  <a:moveTo>
                    <a:pt x="290917" y="253498"/>
                  </a:moveTo>
                  <a:cubicBezTo>
                    <a:pt x="290917" y="253197"/>
                    <a:pt x="290917" y="252907"/>
                    <a:pt x="290917" y="252607"/>
                  </a:cubicBezTo>
                  <a:cubicBezTo>
                    <a:pt x="290898" y="244505"/>
                    <a:pt x="284316" y="237953"/>
                    <a:pt x="276215" y="237971"/>
                  </a:cubicBezTo>
                  <a:cubicBezTo>
                    <a:pt x="268113" y="237990"/>
                    <a:pt x="261561" y="244572"/>
                    <a:pt x="261580" y="252673"/>
                  </a:cubicBezTo>
                  <a:cubicBezTo>
                    <a:pt x="261599" y="260771"/>
                    <a:pt x="268173" y="267321"/>
                    <a:pt x="276270" y="267309"/>
                  </a:cubicBezTo>
                  <a:cubicBezTo>
                    <a:pt x="294213" y="267291"/>
                    <a:pt x="308774" y="281821"/>
                    <a:pt x="308793" y="299764"/>
                  </a:cubicBezTo>
                  <a:cubicBezTo>
                    <a:pt x="308807" y="314301"/>
                    <a:pt x="299164" y="327079"/>
                    <a:pt x="285181" y="331051"/>
                  </a:cubicBezTo>
                  <a:lnTo>
                    <a:pt x="285181" y="336987"/>
                  </a:lnTo>
                  <a:cubicBezTo>
                    <a:pt x="285181" y="341908"/>
                    <a:pt x="281191" y="345897"/>
                    <a:pt x="276270" y="345897"/>
                  </a:cubicBezTo>
                  <a:cubicBezTo>
                    <a:pt x="271350" y="345897"/>
                    <a:pt x="267360" y="341908"/>
                    <a:pt x="267360" y="336987"/>
                  </a:cubicBezTo>
                  <a:lnTo>
                    <a:pt x="267360" y="331051"/>
                  </a:lnTo>
                  <a:cubicBezTo>
                    <a:pt x="253413" y="327053"/>
                    <a:pt x="243796" y="314307"/>
                    <a:pt x="243781" y="299798"/>
                  </a:cubicBezTo>
                  <a:cubicBezTo>
                    <a:pt x="243781" y="299219"/>
                    <a:pt x="243781" y="298684"/>
                    <a:pt x="243781" y="298082"/>
                  </a:cubicBezTo>
                  <a:cubicBezTo>
                    <a:pt x="244036" y="293162"/>
                    <a:pt x="248233" y="289379"/>
                    <a:pt x="253154" y="289634"/>
                  </a:cubicBezTo>
                  <a:cubicBezTo>
                    <a:pt x="258075" y="289889"/>
                    <a:pt x="261857" y="294086"/>
                    <a:pt x="261602" y="299007"/>
                  </a:cubicBezTo>
                  <a:cubicBezTo>
                    <a:pt x="261602" y="299274"/>
                    <a:pt x="261602" y="299530"/>
                    <a:pt x="261602" y="299798"/>
                  </a:cubicBezTo>
                  <a:cubicBezTo>
                    <a:pt x="261602" y="307899"/>
                    <a:pt x="268169" y="314466"/>
                    <a:pt x="276270" y="314466"/>
                  </a:cubicBezTo>
                  <a:cubicBezTo>
                    <a:pt x="284372" y="314466"/>
                    <a:pt x="290939" y="307899"/>
                    <a:pt x="290939" y="299798"/>
                  </a:cubicBezTo>
                  <a:cubicBezTo>
                    <a:pt x="290939" y="291696"/>
                    <a:pt x="284372" y="285129"/>
                    <a:pt x="276270" y="285129"/>
                  </a:cubicBezTo>
                  <a:cubicBezTo>
                    <a:pt x="258327" y="285147"/>
                    <a:pt x="243767" y="270617"/>
                    <a:pt x="243748" y="252673"/>
                  </a:cubicBezTo>
                  <a:cubicBezTo>
                    <a:pt x="243733" y="238136"/>
                    <a:pt x="253377" y="225359"/>
                    <a:pt x="267360" y="221387"/>
                  </a:cubicBezTo>
                  <a:lnTo>
                    <a:pt x="267360" y="215451"/>
                  </a:lnTo>
                  <a:cubicBezTo>
                    <a:pt x="267360" y="210530"/>
                    <a:pt x="271350" y="206540"/>
                    <a:pt x="276270" y="206540"/>
                  </a:cubicBezTo>
                  <a:cubicBezTo>
                    <a:pt x="281191" y="206540"/>
                    <a:pt x="285181" y="210530"/>
                    <a:pt x="285181" y="215451"/>
                  </a:cubicBezTo>
                  <a:lnTo>
                    <a:pt x="285181" y="221387"/>
                  </a:lnTo>
                  <a:cubicBezTo>
                    <a:pt x="299131" y="225381"/>
                    <a:pt x="308748" y="238130"/>
                    <a:pt x="308760" y="252640"/>
                  </a:cubicBezTo>
                  <a:cubicBezTo>
                    <a:pt x="308760" y="253297"/>
                    <a:pt x="308760" y="253954"/>
                    <a:pt x="308704" y="254611"/>
                  </a:cubicBezTo>
                  <a:cubicBezTo>
                    <a:pt x="308396" y="259532"/>
                    <a:pt x="304157" y="263272"/>
                    <a:pt x="299237" y="262965"/>
                  </a:cubicBezTo>
                  <a:cubicBezTo>
                    <a:pt x="294316" y="262657"/>
                    <a:pt x="290576" y="258418"/>
                    <a:pt x="290883" y="253498"/>
                  </a:cubicBezTo>
                  <a:close/>
                </a:path>
              </a:pathLst>
            </a:custGeom>
            <a:gradFill>
              <a:gsLst>
                <a:gs pos="100000">
                  <a:srgbClr val="BDF2BD"/>
                </a:gs>
                <a:gs pos="55000">
                  <a:srgbClr val="C3E9FC"/>
                </a:gs>
              </a:gsLst>
              <a:lin ang="0" scaled="1"/>
            </a:gradFill>
            <a:ln w="1098" cap="flat">
              <a:noFill/>
              <a:prstDash val="solid"/>
              <a:miter/>
            </a:ln>
          </p:spPr>
          <p:txBody>
            <a:bodyPr rtlCol="0" anchor="ctr"/>
            <a:lstStyle/>
            <a:p>
              <a:endParaRPr lang="en-GB"/>
            </a:p>
          </p:txBody>
        </p:sp>
      </p:grpSp>
      <p:grpSp>
        <p:nvGrpSpPr>
          <p:cNvPr id="133" name="Group 132">
            <a:extLst>
              <a:ext uri="{FF2B5EF4-FFF2-40B4-BE49-F238E27FC236}">
                <a16:creationId xmlns:a16="http://schemas.microsoft.com/office/drawing/2014/main" id="{7F4E6FE1-9655-8839-6388-EF1B54B6EDB0}"/>
              </a:ext>
            </a:extLst>
          </p:cNvPr>
          <p:cNvGrpSpPr/>
          <p:nvPr/>
        </p:nvGrpSpPr>
        <p:grpSpPr>
          <a:xfrm>
            <a:off x="4486968" y="1422562"/>
            <a:ext cx="3137931" cy="4182798"/>
            <a:chOff x="4527035" y="1422562"/>
            <a:chExt cx="3137931" cy="4182798"/>
          </a:xfrm>
        </p:grpSpPr>
        <p:sp>
          <p:nvSpPr>
            <p:cNvPr id="2" name="Rectangle: Rounded Corners 1">
              <a:extLst>
                <a:ext uri="{FF2B5EF4-FFF2-40B4-BE49-F238E27FC236}">
                  <a16:creationId xmlns:a16="http://schemas.microsoft.com/office/drawing/2014/main" id="{C4CD2C52-8830-76C3-5CA0-F7B6128757CA}"/>
                </a:ext>
              </a:extLst>
            </p:cNvPr>
            <p:cNvSpPr>
              <a:spLocks/>
            </p:cNvSpPr>
            <p:nvPr/>
          </p:nvSpPr>
          <p:spPr bwMode="auto">
            <a:xfrm>
              <a:off x="4527035" y="1422562"/>
              <a:ext cx="3137931" cy="418279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0" name="TextBox 9">
              <a:extLst>
                <a:ext uri="{FF2B5EF4-FFF2-40B4-BE49-F238E27FC236}">
                  <a16:creationId xmlns:a16="http://schemas.microsoft.com/office/drawing/2014/main" id="{035DC068-9D63-02E4-16C7-357D500801A1}"/>
                </a:ext>
              </a:extLst>
            </p:cNvPr>
            <p:cNvSpPr txBox="1"/>
            <p:nvPr/>
          </p:nvSpPr>
          <p:spPr>
            <a:xfrm>
              <a:off x="4791646" y="3659296"/>
              <a:ext cx="2735261" cy="1815882"/>
            </a:xfrm>
            <a:prstGeom prst="rect">
              <a:avLst/>
            </a:prstGeom>
            <a:noFill/>
          </p:spPr>
          <p:txBody>
            <a:bodyPr wrap="square" lIns="0" tIns="0" rIns="0" bIns="0" rtlCol="0">
              <a:spAutoFit/>
            </a:bodyPr>
            <a:lstStyle/>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a:solidFill>
                    <a:srgbClr val="FFFFFF"/>
                  </a:solidFill>
                  <a:latin typeface="Segoe Sans Text Semibold"/>
                </a:rPr>
                <a:t>Streamline development</a:t>
              </a:r>
            </a:p>
            <a:p>
              <a:pPr marR="0" lvl="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err="1">
                  <a:solidFill>
                    <a:srgbClr val="FFFFFF"/>
                  </a:solidFill>
                </a:rPr>
                <a:t>LLMOps</a:t>
              </a:r>
              <a:r>
                <a:rPr lang="en-US" sz="1400">
                  <a:solidFill>
                    <a:srgbClr val="FFFFFF"/>
                  </a:solidFill>
                </a:rPr>
                <a:t> /DevOps with CLI</a:t>
              </a:r>
            </a:p>
            <a:p>
              <a:pPr marR="0" lvl="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a:solidFill>
                    <a:srgbClr val="FFFFFF"/>
                  </a:solidFill>
                </a:rPr>
                <a:t>Local endpoints for </a:t>
              </a:r>
              <a:br>
                <a:rPr lang="en-US" sz="1400">
                  <a:solidFill>
                    <a:srgbClr val="FFFFFF"/>
                  </a:solidFill>
                </a:rPr>
              </a:br>
              <a:r>
                <a:rPr lang="en-US" sz="1400">
                  <a:solidFill>
                    <a:srgbClr val="FFFFFF"/>
                  </a:solidFill>
                </a:rPr>
                <a:t>development &amp; debugging</a:t>
              </a:r>
            </a:p>
            <a:p>
              <a:pPr marR="0" lvl="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a:solidFill>
                    <a:srgbClr val="FFFFFF"/>
                  </a:solidFill>
                </a:rPr>
                <a:t>Shadow Traffic to dev environments</a:t>
              </a:r>
            </a:p>
          </p:txBody>
        </p:sp>
        <p:grpSp>
          <p:nvGrpSpPr>
            <p:cNvPr id="11" name="Group 10">
              <a:extLst>
                <a:ext uri="{FF2B5EF4-FFF2-40B4-BE49-F238E27FC236}">
                  <a16:creationId xmlns:a16="http://schemas.microsoft.com/office/drawing/2014/main" id="{B1B243E1-591B-7731-4BA4-AD3C000D7CAA}"/>
                </a:ext>
              </a:extLst>
            </p:cNvPr>
            <p:cNvGrpSpPr/>
            <p:nvPr/>
          </p:nvGrpSpPr>
          <p:grpSpPr>
            <a:xfrm>
              <a:off x="4791647" y="2461805"/>
              <a:ext cx="1004700" cy="1004994"/>
              <a:chOff x="1600003" y="1811018"/>
              <a:chExt cx="1641521" cy="1641998"/>
            </a:xfrm>
          </p:grpSpPr>
          <p:sp>
            <p:nvSpPr>
              <p:cNvPr id="12" name="Oval 17">
                <a:extLst>
                  <a:ext uri="{FF2B5EF4-FFF2-40B4-BE49-F238E27FC236}">
                    <a16:creationId xmlns:a16="http://schemas.microsoft.com/office/drawing/2014/main" id="{B0813F42-19DD-C014-4FB6-444EFC00276E}"/>
                  </a:ext>
                </a:extLst>
              </p:cNvPr>
              <p:cNvSpPr>
                <a:spLocks/>
              </p:cNvSpPr>
              <p:nvPr/>
            </p:nvSpPr>
            <p:spPr bwMode="auto">
              <a:xfrm>
                <a:off x="1600003" y="1811018"/>
                <a:ext cx="1641521" cy="1641998"/>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13" name="Group 12">
                <a:extLst>
                  <a:ext uri="{FF2B5EF4-FFF2-40B4-BE49-F238E27FC236}">
                    <a16:creationId xmlns:a16="http://schemas.microsoft.com/office/drawing/2014/main" id="{C29A498D-038F-7DD4-3E2A-95A6AD3A2772}"/>
                  </a:ext>
                </a:extLst>
              </p:cNvPr>
              <p:cNvGrpSpPr/>
              <p:nvPr/>
            </p:nvGrpSpPr>
            <p:grpSpPr>
              <a:xfrm>
                <a:off x="1714608" y="1927180"/>
                <a:ext cx="1412311" cy="1409653"/>
                <a:chOff x="1261672" y="4833938"/>
                <a:chExt cx="954296" cy="954303"/>
              </a:xfrm>
            </p:grpSpPr>
            <p:sp>
              <p:nvSpPr>
                <p:cNvPr id="14" name="Rectangle: Rounded Corners 13">
                  <a:extLst>
                    <a:ext uri="{FF2B5EF4-FFF2-40B4-BE49-F238E27FC236}">
                      <a16:creationId xmlns:a16="http://schemas.microsoft.com/office/drawing/2014/main" id="{E2BC7E76-1066-48AD-27C5-395F6CFEB169}"/>
                    </a:ext>
                  </a:extLst>
                </p:cNvPr>
                <p:cNvSpPr/>
                <p:nvPr userDrawn="1"/>
              </p:nvSpPr>
              <p:spPr bwMode="auto">
                <a:xfrm>
                  <a:off x="1261672" y="4833946"/>
                  <a:ext cx="954296" cy="954295"/>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15" name="Rectangle: Rounded Corners 14">
                  <a:extLst>
                    <a:ext uri="{FF2B5EF4-FFF2-40B4-BE49-F238E27FC236}">
                      <a16:creationId xmlns:a16="http://schemas.microsoft.com/office/drawing/2014/main" id="{7375F448-C8C7-B712-42F5-B09D73E8353C}"/>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grpSp>
          <p:nvGrpSpPr>
            <p:cNvPr id="115" name="Graphic 82">
              <a:extLst>
                <a:ext uri="{FF2B5EF4-FFF2-40B4-BE49-F238E27FC236}">
                  <a16:creationId xmlns:a16="http://schemas.microsoft.com/office/drawing/2014/main" id="{19A39AAE-3B76-05DE-CB98-EC044B0B8757}"/>
                </a:ext>
              </a:extLst>
            </p:cNvPr>
            <p:cNvGrpSpPr/>
            <p:nvPr/>
          </p:nvGrpSpPr>
          <p:grpSpPr>
            <a:xfrm>
              <a:off x="5022752" y="2696404"/>
              <a:ext cx="552521" cy="552209"/>
              <a:chOff x="5022752" y="2696404"/>
              <a:chExt cx="552521" cy="552209"/>
            </a:xfrm>
            <a:gradFill>
              <a:gsLst>
                <a:gs pos="100000">
                  <a:srgbClr val="BDF2BD"/>
                </a:gs>
                <a:gs pos="55000">
                  <a:srgbClr val="C3E9FC"/>
                </a:gs>
              </a:gsLst>
              <a:lin ang="0" scaled="1"/>
            </a:gradFill>
          </p:grpSpPr>
          <p:sp>
            <p:nvSpPr>
              <p:cNvPr id="116" name="Freeform: Shape 115">
                <a:extLst>
                  <a:ext uri="{FF2B5EF4-FFF2-40B4-BE49-F238E27FC236}">
                    <a16:creationId xmlns:a16="http://schemas.microsoft.com/office/drawing/2014/main" id="{46E8D387-09B7-F0FC-7D19-DBFFFBFF1820}"/>
                  </a:ext>
                </a:extLst>
              </p:cNvPr>
              <p:cNvSpPr/>
              <p:nvPr/>
            </p:nvSpPr>
            <p:spPr>
              <a:xfrm>
                <a:off x="5076534" y="2749874"/>
                <a:ext cx="106939" cy="106939"/>
              </a:xfrm>
              <a:custGeom>
                <a:avLst/>
                <a:gdLst>
                  <a:gd name="connsiteX0" fmla="*/ 53470 w 106939"/>
                  <a:gd name="connsiteY0" fmla="*/ 0 h 106939"/>
                  <a:gd name="connsiteX1" fmla="*/ 0 w 106939"/>
                  <a:gd name="connsiteY1" fmla="*/ 53470 h 106939"/>
                  <a:gd name="connsiteX2" fmla="*/ 53470 w 106939"/>
                  <a:gd name="connsiteY2" fmla="*/ 106940 h 106939"/>
                  <a:gd name="connsiteX3" fmla="*/ 106940 w 106939"/>
                  <a:gd name="connsiteY3" fmla="*/ 53470 h 106939"/>
                  <a:gd name="connsiteX4" fmla="*/ 53470 w 106939"/>
                  <a:gd name="connsiteY4" fmla="*/ 0 h 106939"/>
                  <a:gd name="connsiteX5" fmla="*/ 53470 w 106939"/>
                  <a:gd name="connsiteY5" fmla="*/ 89116 h 106939"/>
                  <a:gd name="connsiteX6" fmla="*/ 17823 w 106939"/>
                  <a:gd name="connsiteY6" fmla="*/ 53470 h 106939"/>
                  <a:gd name="connsiteX7" fmla="*/ 53470 w 106939"/>
                  <a:gd name="connsiteY7" fmla="*/ 17823 h 106939"/>
                  <a:gd name="connsiteX8" fmla="*/ 89116 w 106939"/>
                  <a:gd name="connsiteY8" fmla="*/ 53470 h 106939"/>
                  <a:gd name="connsiteX9" fmla="*/ 53470 w 106939"/>
                  <a:gd name="connsiteY9" fmla="*/ 89116 h 106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939" h="106939">
                    <a:moveTo>
                      <a:pt x="53470" y="0"/>
                    </a:moveTo>
                    <a:cubicBezTo>
                      <a:pt x="23981" y="0"/>
                      <a:pt x="0" y="23981"/>
                      <a:pt x="0" y="53470"/>
                    </a:cubicBezTo>
                    <a:cubicBezTo>
                      <a:pt x="0" y="82958"/>
                      <a:pt x="23981" y="106940"/>
                      <a:pt x="53470" y="106940"/>
                    </a:cubicBezTo>
                    <a:cubicBezTo>
                      <a:pt x="82958" y="106940"/>
                      <a:pt x="106940" y="82958"/>
                      <a:pt x="106940" y="53470"/>
                    </a:cubicBezTo>
                    <a:cubicBezTo>
                      <a:pt x="106940" y="23981"/>
                      <a:pt x="82958" y="0"/>
                      <a:pt x="53470" y="0"/>
                    </a:cubicBezTo>
                    <a:close/>
                    <a:moveTo>
                      <a:pt x="53470" y="89116"/>
                    </a:moveTo>
                    <a:cubicBezTo>
                      <a:pt x="33811" y="89116"/>
                      <a:pt x="17823" y="73129"/>
                      <a:pt x="17823" y="53470"/>
                    </a:cubicBezTo>
                    <a:cubicBezTo>
                      <a:pt x="17823" y="33811"/>
                      <a:pt x="33811" y="17823"/>
                      <a:pt x="53470" y="17823"/>
                    </a:cubicBezTo>
                    <a:cubicBezTo>
                      <a:pt x="73129" y="17823"/>
                      <a:pt x="89116" y="33811"/>
                      <a:pt x="89116" y="53470"/>
                    </a:cubicBezTo>
                    <a:cubicBezTo>
                      <a:pt x="89116" y="73129"/>
                      <a:pt x="73129" y="89116"/>
                      <a:pt x="53470" y="89116"/>
                    </a:cubicBezTo>
                    <a:close/>
                  </a:path>
                </a:pathLst>
              </a:custGeom>
              <a:grpFill/>
              <a:ln w="8781" cap="flat">
                <a:noFill/>
                <a:prstDash val="solid"/>
                <a:miter/>
              </a:ln>
            </p:spPr>
            <p:txBody>
              <a:bodyPr rtlCol="0" anchor="ctr"/>
              <a:lstStyle/>
              <a:p>
                <a:endParaRPr lang="en-GB"/>
              </a:p>
            </p:txBody>
          </p:sp>
          <p:sp>
            <p:nvSpPr>
              <p:cNvPr id="117" name="Freeform: Shape 116">
                <a:extLst>
                  <a:ext uri="{FF2B5EF4-FFF2-40B4-BE49-F238E27FC236}">
                    <a16:creationId xmlns:a16="http://schemas.microsoft.com/office/drawing/2014/main" id="{B33BB4F8-FA55-A252-F23A-6036C35CE3C5}"/>
                  </a:ext>
                </a:extLst>
              </p:cNvPr>
              <p:cNvSpPr/>
              <p:nvPr/>
            </p:nvSpPr>
            <p:spPr>
              <a:xfrm>
                <a:off x="5426387" y="3108639"/>
                <a:ext cx="101717" cy="90194"/>
              </a:xfrm>
              <a:custGeom>
                <a:avLst/>
                <a:gdLst>
                  <a:gd name="connsiteX0" fmla="*/ 101717 w 101717"/>
                  <a:gd name="connsiteY0" fmla="*/ 12601 h 90194"/>
                  <a:gd name="connsiteX1" fmla="*/ 89116 w 101717"/>
                  <a:gd name="connsiteY1" fmla="*/ 0 h 90194"/>
                  <a:gd name="connsiteX2" fmla="*/ 24124 w 101717"/>
                  <a:gd name="connsiteY2" fmla="*/ 64993 h 90194"/>
                  <a:gd name="connsiteX3" fmla="*/ 12601 w 101717"/>
                  <a:gd name="connsiteY3" fmla="*/ 53470 h 90194"/>
                  <a:gd name="connsiteX4" fmla="*/ 0 w 101717"/>
                  <a:gd name="connsiteY4" fmla="*/ 66071 h 90194"/>
                  <a:gd name="connsiteX5" fmla="*/ 24124 w 101717"/>
                  <a:gd name="connsiteY5" fmla="*/ 90195 h 90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717" h="90194">
                    <a:moveTo>
                      <a:pt x="101717" y="12601"/>
                    </a:moveTo>
                    <a:lnTo>
                      <a:pt x="89116" y="0"/>
                    </a:lnTo>
                    <a:lnTo>
                      <a:pt x="24124" y="64993"/>
                    </a:lnTo>
                    <a:lnTo>
                      <a:pt x="12601" y="53470"/>
                    </a:lnTo>
                    <a:lnTo>
                      <a:pt x="0" y="66071"/>
                    </a:lnTo>
                    <a:lnTo>
                      <a:pt x="24124" y="90195"/>
                    </a:lnTo>
                    <a:close/>
                  </a:path>
                </a:pathLst>
              </a:custGeom>
              <a:grpFill/>
              <a:ln w="8781" cap="flat">
                <a:noFill/>
                <a:prstDash val="solid"/>
                <a:miter/>
              </a:ln>
            </p:spPr>
            <p:txBody>
              <a:bodyPr rtlCol="0" anchor="ctr"/>
              <a:lstStyle/>
              <a:p>
                <a:endParaRPr lang="en-GB"/>
              </a:p>
            </p:txBody>
          </p:sp>
          <p:sp>
            <p:nvSpPr>
              <p:cNvPr id="118" name="Freeform: Shape 117">
                <a:extLst>
                  <a:ext uri="{FF2B5EF4-FFF2-40B4-BE49-F238E27FC236}">
                    <a16:creationId xmlns:a16="http://schemas.microsoft.com/office/drawing/2014/main" id="{55F38E3C-FA39-C92F-D9AD-1EF692207A89}"/>
                  </a:ext>
                </a:extLst>
              </p:cNvPr>
              <p:cNvSpPr/>
              <p:nvPr/>
            </p:nvSpPr>
            <p:spPr>
              <a:xfrm>
                <a:off x="5325748" y="2794120"/>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19" name="Freeform: Shape 118">
                <a:extLst>
                  <a:ext uri="{FF2B5EF4-FFF2-40B4-BE49-F238E27FC236}">
                    <a16:creationId xmlns:a16="http://schemas.microsoft.com/office/drawing/2014/main" id="{9057B502-0082-28B4-A345-3A824D64AA2A}"/>
                  </a:ext>
                </a:extLst>
              </p:cNvPr>
              <p:cNvSpPr/>
              <p:nvPr/>
            </p:nvSpPr>
            <p:spPr>
              <a:xfrm>
                <a:off x="5432688" y="2794120"/>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0" name="Freeform: Shape 119">
                <a:extLst>
                  <a:ext uri="{FF2B5EF4-FFF2-40B4-BE49-F238E27FC236}">
                    <a16:creationId xmlns:a16="http://schemas.microsoft.com/office/drawing/2014/main" id="{1B29E0A6-75D5-2E87-DF14-06048721987F}"/>
                  </a:ext>
                </a:extLst>
              </p:cNvPr>
              <p:cNvSpPr/>
              <p:nvPr/>
            </p:nvSpPr>
            <p:spPr>
              <a:xfrm>
                <a:off x="5397041" y="2794120"/>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1" name="Freeform: Shape 120">
                <a:extLst>
                  <a:ext uri="{FF2B5EF4-FFF2-40B4-BE49-F238E27FC236}">
                    <a16:creationId xmlns:a16="http://schemas.microsoft.com/office/drawing/2014/main" id="{D8D37F3C-5A55-C2DF-948F-CA193EA3B138}"/>
                  </a:ext>
                </a:extLst>
              </p:cNvPr>
              <p:cNvSpPr/>
              <p:nvPr/>
            </p:nvSpPr>
            <p:spPr>
              <a:xfrm>
                <a:off x="5361394" y="2794120"/>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2" name="Freeform: Shape 121">
                <a:extLst>
                  <a:ext uri="{FF2B5EF4-FFF2-40B4-BE49-F238E27FC236}">
                    <a16:creationId xmlns:a16="http://schemas.microsoft.com/office/drawing/2014/main" id="{B57DED2A-33DB-8270-4446-F86B2B4CB0C2}"/>
                  </a:ext>
                </a:extLst>
              </p:cNvPr>
              <p:cNvSpPr/>
              <p:nvPr/>
            </p:nvSpPr>
            <p:spPr>
              <a:xfrm>
                <a:off x="5022752" y="2696404"/>
                <a:ext cx="552521" cy="552209"/>
              </a:xfrm>
              <a:custGeom>
                <a:avLst/>
                <a:gdLst>
                  <a:gd name="connsiteX0" fmla="*/ 204968 w 552521"/>
                  <a:gd name="connsiteY0" fmla="*/ 320507 h 552209"/>
                  <a:gd name="connsiteX1" fmla="*/ 347554 w 552521"/>
                  <a:gd name="connsiteY1" fmla="*/ 320507 h 552209"/>
                  <a:gd name="connsiteX2" fmla="*/ 374289 w 552521"/>
                  <a:gd name="connsiteY2" fmla="*/ 293772 h 552209"/>
                  <a:gd name="connsiteX3" fmla="*/ 374289 w 552521"/>
                  <a:gd name="connsiteY3" fmla="*/ 284861 h 552209"/>
                  <a:gd name="connsiteX4" fmla="*/ 490140 w 552521"/>
                  <a:gd name="connsiteY4" fmla="*/ 284861 h 552209"/>
                  <a:gd name="connsiteX5" fmla="*/ 552522 w 552521"/>
                  <a:gd name="connsiteY5" fmla="*/ 222479 h 552209"/>
                  <a:gd name="connsiteX6" fmla="*/ 552522 w 552521"/>
                  <a:gd name="connsiteY6" fmla="*/ 160098 h 552209"/>
                  <a:gd name="connsiteX7" fmla="*/ 490140 w 552521"/>
                  <a:gd name="connsiteY7" fmla="*/ 97716 h 552209"/>
                  <a:gd name="connsiteX8" fmla="*/ 463405 w 552521"/>
                  <a:gd name="connsiteY8" fmla="*/ 97716 h 552209"/>
                  <a:gd name="connsiteX9" fmla="*/ 463405 w 552521"/>
                  <a:gd name="connsiteY9" fmla="*/ 88805 h 552209"/>
                  <a:gd name="connsiteX10" fmla="*/ 436670 w 552521"/>
                  <a:gd name="connsiteY10" fmla="*/ 62070 h 552209"/>
                  <a:gd name="connsiteX11" fmla="*/ 294084 w 552521"/>
                  <a:gd name="connsiteY11" fmla="*/ 62070 h 552209"/>
                  <a:gd name="connsiteX12" fmla="*/ 267349 w 552521"/>
                  <a:gd name="connsiteY12" fmla="*/ 88805 h 552209"/>
                  <a:gd name="connsiteX13" fmla="*/ 267349 w 552521"/>
                  <a:gd name="connsiteY13" fmla="*/ 97716 h 552209"/>
                  <a:gd name="connsiteX14" fmla="*/ 214191 w 552521"/>
                  <a:gd name="connsiteY14" fmla="*/ 97716 h 552209"/>
                  <a:gd name="connsiteX15" fmla="*/ 214191 w 552521"/>
                  <a:gd name="connsiteY15" fmla="*/ 82317 h 552209"/>
                  <a:gd name="connsiteX16" fmla="*/ 190798 w 552521"/>
                  <a:gd name="connsiteY16" fmla="*/ 75927 h 552209"/>
                  <a:gd name="connsiteX17" fmla="*/ 188250 w 552521"/>
                  <a:gd name="connsiteY17" fmla="*/ 69823 h 552209"/>
                  <a:gd name="connsiteX18" fmla="*/ 200289 w 552521"/>
                  <a:gd name="connsiteY18" fmla="*/ 48738 h 552209"/>
                  <a:gd name="connsiteX19" fmla="*/ 165462 w 552521"/>
                  <a:gd name="connsiteY19" fmla="*/ 13911 h 552209"/>
                  <a:gd name="connsiteX20" fmla="*/ 144386 w 552521"/>
                  <a:gd name="connsiteY20" fmla="*/ 25942 h 552209"/>
                  <a:gd name="connsiteX21" fmla="*/ 138282 w 552521"/>
                  <a:gd name="connsiteY21" fmla="*/ 23393 h 552209"/>
                  <a:gd name="connsiteX22" fmla="*/ 131883 w 552521"/>
                  <a:gd name="connsiteY22" fmla="*/ 0 h 552209"/>
                  <a:gd name="connsiteX23" fmla="*/ 82629 w 552521"/>
                  <a:gd name="connsiteY23" fmla="*/ 0 h 552209"/>
                  <a:gd name="connsiteX24" fmla="*/ 76230 w 552521"/>
                  <a:gd name="connsiteY24" fmla="*/ 23393 h 552209"/>
                  <a:gd name="connsiteX25" fmla="*/ 70135 w 552521"/>
                  <a:gd name="connsiteY25" fmla="*/ 25942 h 552209"/>
                  <a:gd name="connsiteX26" fmla="*/ 49050 w 552521"/>
                  <a:gd name="connsiteY26" fmla="*/ 13911 h 552209"/>
                  <a:gd name="connsiteX27" fmla="*/ 14223 w 552521"/>
                  <a:gd name="connsiteY27" fmla="*/ 48738 h 552209"/>
                  <a:gd name="connsiteX28" fmla="*/ 26254 w 552521"/>
                  <a:gd name="connsiteY28" fmla="*/ 69823 h 552209"/>
                  <a:gd name="connsiteX29" fmla="*/ 23705 w 552521"/>
                  <a:gd name="connsiteY29" fmla="*/ 75927 h 552209"/>
                  <a:gd name="connsiteX30" fmla="*/ 312 w 552521"/>
                  <a:gd name="connsiteY30" fmla="*/ 82317 h 552209"/>
                  <a:gd name="connsiteX31" fmla="*/ 312 w 552521"/>
                  <a:gd name="connsiteY31" fmla="*/ 131563 h 552209"/>
                  <a:gd name="connsiteX32" fmla="*/ 23705 w 552521"/>
                  <a:gd name="connsiteY32" fmla="*/ 137961 h 552209"/>
                  <a:gd name="connsiteX33" fmla="*/ 26254 w 552521"/>
                  <a:gd name="connsiteY33" fmla="*/ 144066 h 552209"/>
                  <a:gd name="connsiteX34" fmla="*/ 14214 w 552521"/>
                  <a:gd name="connsiteY34" fmla="*/ 165151 h 552209"/>
                  <a:gd name="connsiteX35" fmla="*/ 49041 w 552521"/>
                  <a:gd name="connsiteY35" fmla="*/ 199968 h 552209"/>
                  <a:gd name="connsiteX36" fmla="*/ 70126 w 552521"/>
                  <a:gd name="connsiteY36" fmla="*/ 187938 h 552209"/>
                  <a:gd name="connsiteX37" fmla="*/ 76221 w 552521"/>
                  <a:gd name="connsiteY37" fmla="*/ 190486 h 552209"/>
                  <a:gd name="connsiteX38" fmla="*/ 82620 w 552521"/>
                  <a:gd name="connsiteY38" fmla="*/ 213879 h 552209"/>
                  <a:gd name="connsiteX39" fmla="*/ 131874 w 552521"/>
                  <a:gd name="connsiteY39" fmla="*/ 213879 h 552209"/>
                  <a:gd name="connsiteX40" fmla="*/ 138273 w 552521"/>
                  <a:gd name="connsiteY40" fmla="*/ 190486 h 552209"/>
                  <a:gd name="connsiteX41" fmla="*/ 144377 w 552521"/>
                  <a:gd name="connsiteY41" fmla="*/ 187938 h 552209"/>
                  <a:gd name="connsiteX42" fmla="*/ 165454 w 552521"/>
                  <a:gd name="connsiteY42" fmla="*/ 199959 h 552209"/>
                  <a:gd name="connsiteX43" fmla="*/ 200280 w 552521"/>
                  <a:gd name="connsiteY43" fmla="*/ 165142 h 552209"/>
                  <a:gd name="connsiteX44" fmla="*/ 188241 w 552521"/>
                  <a:gd name="connsiteY44" fmla="*/ 144057 h 552209"/>
                  <a:gd name="connsiteX45" fmla="*/ 190789 w 552521"/>
                  <a:gd name="connsiteY45" fmla="*/ 137952 h 552209"/>
                  <a:gd name="connsiteX46" fmla="*/ 214182 w 552521"/>
                  <a:gd name="connsiteY46" fmla="*/ 131554 h 552209"/>
                  <a:gd name="connsiteX47" fmla="*/ 214182 w 552521"/>
                  <a:gd name="connsiteY47" fmla="*/ 115539 h 552209"/>
                  <a:gd name="connsiteX48" fmla="*/ 267349 w 552521"/>
                  <a:gd name="connsiteY48" fmla="*/ 115539 h 552209"/>
                  <a:gd name="connsiteX49" fmla="*/ 267349 w 552521"/>
                  <a:gd name="connsiteY49" fmla="*/ 124451 h 552209"/>
                  <a:gd name="connsiteX50" fmla="*/ 294084 w 552521"/>
                  <a:gd name="connsiteY50" fmla="*/ 151186 h 552209"/>
                  <a:gd name="connsiteX51" fmla="*/ 436670 w 552521"/>
                  <a:gd name="connsiteY51" fmla="*/ 151186 h 552209"/>
                  <a:gd name="connsiteX52" fmla="*/ 463405 w 552521"/>
                  <a:gd name="connsiteY52" fmla="*/ 124451 h 552209"/>
                  <a:gd name="connsiteX53" fmla="*/ 463405 w 552521"/>
                  <a:gd name="connsiteY53" fmla="*/ 115539 h 552209"/>
                  <a:gd name="connsiteX54" fmla="*/ 490140 w 552521"/>
                  <a:gd name="connsiteY54" fmla="*/ 115539 h 552209"/>
                  <a:gd name="connsiteX55" fmla="*/ 534698 w 552521"/>
                  <a:gd name="connsiteY55" fmla="*/ 160098 h 552209"/>
                  <a:gd name="connsiteX56" fmla="*/ 534698 w 552521"/>
                  <a:gd name="connsiteY56" fmla="*/ 222479 h 552209"/>
                  <a:gd name="connsiteX57" fmla="*/ 490140 w 552521"/>
                  <a:gd name="connsiteY57" fmla="*/ 267037 h 552209"/>
                  <a:gd name="connsiteX58" fmla="*/ 374289 w 552521"/>
                  <a:gd name="connsiteY58" fmla="*/ 267037 h 552209"/>
                  <a:gd name="connsiteX59" fmla="*/ 374289 w 552521"/>
                  <a:gd name="connsiteY59" fmla="*/ 258126 h 552209"/>
                  <a:gd name="connsiteX60" fmla="*/ 347554 w 552521"/>
                  <a:gd name="connsiteY60" fmla="*/ 231391 h 552209"/>
                  <a:gd name="connsiteX61" fmla="*/ 204968 w 552521"/>
                  <a:gd name="connsiteY61" fmla="*/ 231391 h 552209"/>
                  <a:gd name="connsiteX62" fmla="*/ 178233 w 552521"/>
                  <a:gd name="connsiteY62" fmla="*/ 258126 h 552209"/>
                  <a:gd name="connsiteX63" fmla="*/ 178233 w 552521"/>
                  <a:gd name="connsiteY63" fmla="*/ 267037 h 552209"/>
                  <a:gd name="connsiteX64" fmla="*/ 62381 w 552521"/>
                  <a:gd name="connsiteY64" fmla="*/ 267037 h 552209"/>
                  <a:gd name="connsiteX65" fmla="*/ 0 w 552521"/>
                  <a:gd name="connsiteY65" fmla="*/ 329419 h 552209"/>
                  <a:gd name="connsiteX66" fmla="*/ 0 w 552521"/>
                  <a:gd name="connsiteY66" fmla="*/ 400712 h 552209"/>
                  <a:gd name="connsiteX67" fmla="*/ 62381 w 552521"/>
                  <a:gd name="connsiteY67" fmla="*/ 463093 h 552209"/>
                  <a:gd name="connsiteX68" fmla="*/ 89116 w 552521"/>
                  <a:gd name="connsiteY68" fmla="*/ 463093 h 552209"/>
                  <a:gd name="connsiteX69" fmla="*/ 89116 w 552521"/>
                  <a:gd name="connsiteY69" fmla="*/ 472005 h 552209"/>
                  <a:gd name="connsiteX70" fmla="*/ 115851 w 552521"/>
                  <a:gd name="connsiteY70" fmla="*/ 498740 h 552209"/>
                  <a:gd name="connsiteX71" fmla="*/ 258438 w 552521"/>
                  <a:gd name="connsiteY71" fmla="*/ 498740 h 552209"/>
                  <a:gd name="connsiteX72" fmla="*/ 285173 w 552521"/>
                  <a:gd name="connsiteY72" fmla="*/ 472005 h 552209"/>
                  <a:gd name="connsiteX73" fmla="*/ 285173 w 552521"/>
                  <a:gd name="connsiteY73" fmla="*/ 463093 h 552209"/>
                  <a:gd name="connsiteX74" fmla="*/ 356920 w 552521"/>
                  <a:gd name="connsiteY74" fmla="*/ 463093 h 552209"/>
                  <a:gd name="connsiteX75" fmla="*/ 454494 w 552521"/>
                  <a:gd name="connsiteY75" fmla="*/ 552210 h 552209"/>
                  <a:gd name="connsiteX76" fmla="*/ 552522 w 552521"/>
                  <a:gd name="connsiteY76" fmla="*/ 454182 h 552209"/>
                  <a:gd name="connsiteX77" fmla="*/ 454494 w 552521"/>
                  <a:gd name="connsiteY77" fmla="*/ 356154 h 552209"/>
                  <a:gd name="connsiteX78" fmla="*/ 356920 w 552521"/>
                  <a:gd name="connsiteY78" fmla="*/ 445270 h 552209"/>
                  <a:gd name="connsiteX79" fmla="*/ 285173 w 552521"/>
                  <a:gd name="connsiteY79" fmla="*/ 445270 h 552209"/>
                  <a:gd name="connsiteX80" fmla="*/ 285173 w 552521"/>
                  <a:gd name="connsiteY80" fmla="*/ 436358 h 552209"/>
                  <a:gd name="connsiteX81" fmla="*/ 258438 w 552521"/>
                  <a:gd name="connsiteY81" fmla="*/ 409624 h 552209"/>
                  <a:gd name="connsiteX82" fmla="*/ 115851 w 552521"/>
                  <a:gd name="connsiteY82" fmla="*/ 409624 h 552209"/>
                  <a:gd name="connsiteX83" fmla="*/ 89116 w 552521"/>
                  <a:gd name="connsiteY83" fmla="*/ 436358 h 552209"/>
                  <a:gd name="connsiteX84" fmla="*/ 89116 w 552521"/>
                  <a:gd name="connsiteY84" fmla="*/ 445270 h 552209"/>
                  <a:gd name="connsiteX85" fmla="*/ 62381 w 552521"/>
                  <a:gd name="connsiteY85" fmla="*/ 445270 h 552209"/>
                  <a:gd name="connsiteX86" fmla="*/ 17823 w 552521"/>
                  <a:gd name="connsiteY86" fmla="*/ 400712 h 552209"/>
                  <a:gd name="connsiteX87" fmla="*/ 17823 w 552521"/>
                  <a:gd name="connsiteY87" fmla="*/ 329419 h 552209"/>
                  <a:gd name="connsiteX88" fmla="*/ 62381 w 552521"/>
                  <a:gd name="connsiteY88" fmla="*/ 284861 h 552209"/>
                  <a:gd name="connsiteX89" fmla="*/ 178233 w 552521"/>
                  <a:gd name="connsiteY89" fmla="*/ 284861 h 552209"/>
                  <a:gd name="connsiteX90" fmla="*/ 178233 w 552521"/>
                  <a:gd name="connsiteY90" fmla="*/ 293772 h 552209"/>
                  <a:gd name="connsiteX91" fmla="*/ 204968 w 552521"/>
                  <a:gd name="connsiteY91" fmla="*/ 320507 h 552209"/>
                  <a:gd name="connsiteX92" fmla="*/ 196368 w 552521"/>
                  <a:gd name="connsiteY92" fmla="*/ 117963 h 552209"/>
                  <a:gd name="connsiteX93" fmla="*/ 176825 w 552521"/>
                  <a:gd name="connsiteY93" fmla="*/ 123310 h 552209"/>
                  <a:gd name="connsiteX94" fmla="*/ 175390 w 552521"/>
                  <a:gd name="connsiteY94" fmla="*/ 127989 h 552209"/>
                  <a:gd name="connsiteX95" fmla="*/ 170293 w 552521"/>
                  <a:gd name="connsiteY95" fmla="*/ 140198 h 552209"/>
                  <a:gd name="connsiteX96" fmla="*/ 167993 w 552521"/>
                  <a:gd name="connsiteY96" fmla="*/ 144529 h 552209"/>
                  <a:gd name="connsiteX97" fmla="*/ 178064 w 552521"/>
                  <a:gd name="connsiteY97" fmla="*/ 162165 h 552209"/>
                  <a:gd name="connsiteX98" fmla="*/ 162486 w 552521"/>
                  <a:gd name="connsiteY98" fmla="*/ 177752 h 552209"/>
                  <a:gd name="connsiteX99" fmla="*/ 144841 w 552521"/>
                  <a:gd name="connsiteY99" fmla="*/ 167690 h 552209"/>
                  <a:gd name="connsiteX100" fmla="*/ 140519 w 552521"/>
                  <a:gd name="connsiteY100" fmla="*/ 169981 h 552209"/>
                  <a:gd name="connsiteX101" fmla="*/ 128310 w 552521"/>
                  <a:gd name="connsiteY101" fmla="*/ 175069 h 552209"/>
                  <a:gd name="connsiteX102" fmla="*/ 123640 w 552521"/>
                  <a:gd name="connsiteY102" fmla="*/ 176513 h 552209"/>
                  <a:gd name="connsiteX103" fmla="*/ 118284 w 552521"/>
                  <a:gd name="connsiteY103" fmla="*/ 196056 h 552209"/>
                  <a:gd name="connsiteX104" fmla="*/ 96246 w 552521"/>
                  <a:gd name="connsiteY104" fmla="*/ 196056 h 552209"/>
                  <a:gd name="connsiteX105" fmla="*/ 90890 w 552521"/>
                  <a:gd name="connsiteY105" fmla="*/ 176513 h 552209"/>
                  <a:gd name="connsiteX106" fmla="*/ 86220 w 552521"/>
                  <a:gd name="connsiteY106" fmla="*/ 175069 h 552209"/>
                  <a:gd name="connsiteX107" fmla="*/ 74011 w 552521"/>
                  <a:gd name="connsiteY107" fmla="*/ 169981 h 552209"/>
                  <a:gd name="connsiteX108" fmla="*/ 69680 w 552521"/>
                  <a:gd name="connsiteY108" fmla="*/ 167690 h 552209"/>
                  <a:gd name="connsiteX109" fmla="*/ 52044 w 552521"/>
                  <a:gd name="connsiteY109" fmla="*/ 177752 h 552209"/>
                  <a:gd name="connsiteX110" fmla="*/ 36449 w 552521"/>
                  <a:gd name="connsiteY110" fmla="*/ 162165 h 552209"/>
                  <a:gd name="connsiteX111" fmla="*/ 46519 w 552521"/>
                  <a:gd name="connsiteY111" fmla="*/ 144529 h 552209"/>
                  <a:gd name="connsiteX112" fmla="*/ 44220 w 552521"/>
                  <a:gd name="connsiteY112" fmla="*/ 140198 h 552209"/>
                  <a:gd name="connsiteX113" fmla="*/ 39122 w 552521"/>
                  <a:gd name="connsiteY113" fmla="*/ 127989 h 552209"/>
                  <a:gd name="connsiteX114" fmla="*/ 37687 w 552521"/>
                  <a:gd name="connsiteY114" fmla="*/ 123310 h 552209"/>
                  <a:gd name="connsiteX115" fmla="*/ 18144 w 552521"/>
                  <a:gd name="connsiteY115" fmla="*/ 117963 h 552209"/>
                  <a:gd name="connsiteX116" fmla="*/ 18144 w 552521"/>
                  <a:gd name="connsiteY116" fmla="*/ 95916 h 552209"/>
                  <a:gd name="connsiteX117" fmla="*/ 37687 w 552521"/>
                  <a:gd name="connsiteY117" fmla="*/ 90578 h 552209"/>
                  <a:gd name="connsiteX118" fmla="*/ 39131 w 552521"/>
                  <a:gd name="connsiteY118" fmla="*/ 85899 h 552209"/>
                  <a:gd name="connsiteX119" fmla="*/ 44220 w 552521"/>
                  <a:gd name="connsiteY119" fmla="*/ 73699 h 552209"/>
                  <a:gd name="connsiteX120" fmla="*/ 46519 w 552521"/>
                  <a:gd name="connsiteY120" fmla="*/ 69359 h 552209"/>
                  <a:gd name="connsiteX121" fmla="*/ 36449 w 552521"/>
                  <a:gd name="connsiteY121" fmla="*/ 51723 h 552209"/>
                  <a:gd name="connsiteX122" fmla="*/ 52026 w 552521"/>
                  <a:gd name="connsiteY122" fmla="*/ 36137 h 552209"/>
                  <a:gd name="connsiteX123" fmla="*/ 69662 w 552521"/>
                  <a:gd name="connsiteY123" fmla="*/ 46198 h 552209"/>
                  <a:gd name="connsiteX124" fmla="*/ 73993 w 552521"/>
                  <a:gd name="connsiteY124" fmla="*/ 43908 h 552209"/>
                  <a:gd name="connsiteX125" fmla="*/ 86202 w 552521"/>
                  <a:gd name="connsiteY125" fmla="*/ 38810 h 552209"/>
                  <a:gd name="connsiteX126" fmla="*/ 90872 w 552521"/>
                  <a:gd name="connsiteY126" fmla="*/ 37367 h 552209"/>
                  <a:gd name="connsiteX127" fmla="*/ 96228 w 552521"/>
                  <a:gd name="connsiteY127" fmla="*/ 17823 h 552209"/>
                  <a:gd name="connsiteX128" fmla="*/ 118266 w 552521"/>
                  <a:gd name="connsiteY128" fmla="*/ 17823 h 552209"/>
                  <a:gd name="connsiteX129" fmla="*/ 123622 w 552521"/>
                  <a:gd name="connsiteY129" fmla="*/ 37367 h 552209"/>
                  <a:gd name="connsiteX130" fmla="*/ 128292 w 552521"/>
                  <a:gd name="connsiteY130" fmla="*/ 38810 h 552209"/>
                  <a:gd name="connsiteX131" fmla="*/ 140501 w 552521"/>
                  <a:gd name="connsiteY131" fmla="*/ 43908 h 552209"/>
                  <a:gd name="connsiteX132" fmla="*/ 144823 w 552521"/>
                  <a:gd name="connsiteY132" fmla="*/ 46198 h 552209"/>
                  <a:gd name="connsiteX133" fmla="*/ 162468 w 552521"/>
                  <a:gd name="connsiteY133" fmla="*/ 36137 h 552209"/>
                  <a:gd name="connsiteX134" fmla="*/ 178046 w 552521"/>
                  <a:gd name="connsiteY134" fmla="*/ 51723 h 552209"/>
                  <a:gd name="connsiteX135" fmla="*/ 167976 w 552521"/>
                  <a:gd name="connsiteY135" fmla="*/ 69359 h 552209"/>
                  <a:gd name="connsiteX136" fmla="*/ 170275 w 552521"/>
                  <a:gd name="connsiteY136" fmla="*/ 73690 h 552209"/>
                  <a:gd name="connsiteX137" fmla="*/ 175363 w 552521"/>
                  <a:gd name="connsiteY137" fmla="*/ 85890 h 552209"/>
                  <a:gd name="connsiteX138" fmla="*/ 176807 w 552521"/>
                  <a:gd name="connsiteY138" fmla="*/ 90569 h 552209"/>
                  <a:gd name="connsiteX139" fmla="*/ 196350 w 552521"/>
                  <a:gd name="connsiteY139" fmla="*/ 95907 h 552209"/>
                  <a:gd name="connsiteX140" fmla="*/ 196350 w 552521"/>
                  <a:gd name="connsiteY140" fmla="*/ 117963 h 552209"/>
                  <a:gd name="connsiteX141" fmla="*/ 445582 w 552521"/>
                  <a:gd name="connsiteY141" fmla="*/ 124451 h 552209"/>
                  <a:gd name="connsiteX142" fmla="*/ 436670 w 552521"/>
                  <a:gd name="connsiteY142" fmla="*/ 133363 h 552209"/>
                  <a:gd name="connsiteX143" fmla="*/ 294084 w 552521"/>
                  <a:gd name="connsiteY143" fmla="*/ 133363 h 552209"/>
                  <a:gd name="connsiteX144" fmla="*/ 285173 w 552521"/>
                  <a:gd name="connsiteY144" fmla="*/ 124451 h 552209"/>
                  <a:gd name="connsiteX145" fmla="*/ 285173 w 552521"/>
                  <a:gd name="connsiteY145" fmla="*/ 88805 h 552209"/>
                  <a:gd name="connsiteX146" fmla="*/ 294084 w 552521"/>
                  <a:gd name="connsiteY146" fmla="*/ 79893 h 552209"/>
                  <a:gd name="connsiteX147" fmla="*/ 436670 w 552521"/>
                  <a:gd name="connsiteY147" fmla="*/ 79893 h 552209"/>
                  <a:gd name="connsiteX148" fmla="*/ 445582 w 552521"/>
                  <a:gd name="connsiteY148" fmla="*/ 88805 h 552209"/>
                  <a:gd name="connsiteX149" fmla="*/ 454494 w 552521"/>
                  <a:gd name="connsiteY149" fmla="*/ 373977 h 552209"/>
                  <a:gd name="connsiteX150" fmla="*/ 534698 w 552521"/>
                  <a:gd name="connsiteY150" fmla="*/ 454182 h 552209"/>
                  <a:gd name="connsiteX151" fmla="*/ 454494 w 552521"/>
                  <a:gd name="connsiteY151" fmla="*/ 534387 h 552209"/>
                  <a:gd name="connsiteX152" fmla="*/ 374289 w 552521"/>
                  <a:gd name="connsiteY152" fmla="*/ 454182 h 552209"/>
                  <a:gd name="connsiteX153" fmla="*/ 454494 w 552521"/>
                  <a:gd name="connsiteY153" fmla="*/ 373977 h 552209"/>
                  <a:gd name="connsiteX154" fmla="*/ 106940 w 552521"/>
                  <a:gd name="connsiteY154" fmla="*/ 436358 h 552209"/>
                  <a:gd name="connsiteX155" fmla="*/ 115851 w 552521"/>
                  <a:gd name="connsiteY155" fmla="*/ 427447 h 552209"/>
                  <a:gd name="connsiteX156" fmla="*/ 258438 w 552521"/>
                  <a:gd name="connsiteY156" fmla="*/ 427447 h 552209"/>
                  <a:gd name="connsiteX157" fmla="*/ 267349 w 552521"/>
                  <a:gd name="connsiteY157" fmla="*/ 436358 h 552209"/>
                  <a:gd name="connsiteX158" fmla="*/ 267349 w 552521"/>
                  <a:gd name="connsiteY158" fmla="*/ 472005 h 552209"/>
                  <a:gd name="connsiteX159" fmla="*/ 258438 w 552521"/>
                  <a:gd name="connsiteY159" fmla="*/ 480917 h 552209"/>
                  <a:gd name="connsiteX160" fmla="*/ 115851 w 552521"/>
                  <a:gd name="connsiteY160" fmla="*/ 480917 h 552209"/>
                  <a:gd name="connsiteX161" fmla="*/ 106940 w 552521"/>
                  <a:gd name="connsiteY161" fmla="*/ 472005 h 552209"/>
                  <a:gd name="connsiteX162" fmla="*/ 196056 w 552521"/>
                  <a:gd name="connsiteY162" fmla="*/ 258126 h 552209"/>
                  <a:gd name="connsiteX163" fmla="*/ 204968 w 552521"/>
                  <a:gd name="connsiteY163" fmla="*/ 249214 h 552209"/>
                  <a:gd name="connsiteX164" fmla="*/ 347554 w 552521"/>
                  <a:gd name="connsiteY164" fmla="*/ 249214 h 552209"/>
                  <a:gd name="connsiteX165" fmla="*/ 356466 w 552521"/>
                  <a:gd name="connsiteY165" fmla="*/ 258126 h 552209"/>
                  <a:gd name="connsiteX166" fmla="*/ 356466 w 552521"/>
                  <a:gd name="connsiteY166" fmla="*/ 293772 h 552209"/>
                  <a:gd name="connsiteX167" fmla="*/ 347554 w 552521"/>
                  <a:gd name="connsiteY167" fmla="*/ 302684 h 552209"/>
                  <a:gd name="connsiteX168" fmla="*/ 204968 w 552521"/>
                  <a:gd name="connsiteY168" fmla="*/ 302684 h 552209"/>
                  <a:gd name="connsiteX169" fmla="*/ 196056 w 552521"/>
                  <a:gd name="connsiteY169" fmla="*/ 293772 h 552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Lst>
                <a:rect l="l" t="t" r="r" b="b"/>
                <a:pathLst>
                  <a:path w="552521" h="552209">
                    <a:moveTo>
                      <a:pt x="204968" y="320507"/>
                    </a:moveTo>
                    <a:lnTo>
                      <a:pt x="347554" y="320507"/>
                    </a:lnTo>
                    <a:cubicBezTo>
                      <a:pt x="362294" y="320507"/>
                      <a:pt x="374289" y="308512"/>
                      <a:pt x="374289" y="293772"/>
                    </a:cubicBezTo>
                    <a:lnTo>
                      <a:pt x="374289" y="284861"/>
                    </a:lnTo>
                    <a:lnTo>
                      <a:pt x="490140" y="284861"/>
                    </a:lnTo>
                    <a:cubicBezTo>
                      <a:pt x="524530" y="284861"/>
                      <a:pt x="552522" y="256878"/>
                      <a:pt x="552522" y="222479"/>
                    </a:cubicBezTo>
                    <a:lnTo>
                      <a:pt x="552522" y="160098"/>
                    </a:lnTo>
                    <a:cubicBezTo>
                      <a:pt x="552522" y="125699"/>
                      <a:pt x="524530" y="97716"/>
                      <a:pt x="490140" y="97716"/>
                    </a:cubicBezTo>
                    <a:lnTo>
                      <a:pt x="463405" y="97716"/>
                    </a:lnTo>
                    <a:lnTo>
                      <a:pt x="463405" y="88805"/>
                    </a:lnTo>
                    <a:cubicBezTo>
                      <a:pt x="463405" y="74065"/>
                      <a:pt x="451410" y="62070"/>
                      <a:pt x="436670" y="62070"/>
                    </a:cubicBezTo>
                    <a:lnTo>
                      <a:pt x="294084" y="62070"/>
                    </a:lnTo>
                    <a:cubicBezTo>
                      <a:pt x="279344" y="62070"/>
                      <a:pt x="267349" y="74065"/>
                      <a:pt x="267349" y="88805"/>
                    </a:cubicBezTo>
                    <a:lnTo>
                      <a:pt x="267349" y="97716"/>
                    </a:lnTo>
                    <a:lnTo>
                      <a:pt x="214191" y="97716"/>
                    </a:lnTo>
                    <a:lnTo>
                      <a:pt x="214191" y="82317"/>
                    </a:lnTo>
                    <a:lnTo>
                      <a:pt x="190798" y="75927"/>
                    </a:lnTo>
                    <a:cubicBezTo>
                      <a:pt x="190032" y="73878"/>
                      <a:pt x="189176" y="71837"/>
                      <a:pt x="188250" y="69823"/>
                    </a:cubicBezTo>
                    <a:lnTo>
                      <a:pt x="200289" y="48738"/>
                    </a:lnTo>
                    <a:lnTo>
                      <a:pt x="165462" y="13911"/>
                    </a:lnTo>
                    <a:lnTo>
                      <a:pt x="144386" y="25942"/>
                    </a:lnTo>
                    <a:cubicBezTo>
                      <a:pt x="142363" y="25015"/>
                      <a:pt x="140332" y="24159"/>
                      <a:pt x="138282" y="23393"/>
                    </a:cubicBezTo>
                    <a:lnTo>
                      <a:pt x="131883" y="0"/>
                    </a:lnTo>
                    <a:lnTo>
                      <a:pt x="82629" y="0"/>
                    </a:lnTo>
                    <a:lnTo>
                      <a:pt x="76230" y="23393"/>
                    </a:lnTo>
                    <a:cubicBezTo>
                      <a:pt x="74181" y="24159"/>
                      <a:pt x="72149" y="25006"/>
                      <a:pt x="70135" y="25942"/>
                    </a:cubicBezTo>
                    <a:lnTo>
                      <a:pt x="49050" y="13911"/>
                    </a:lnTo>
                    <a:lnTo>
                      <a:pt x="14223" y="48738"/>
                    </a:lnTo>
                    <a:lnTo>
                      <a:pt x="26254" y="69823"/>
                    </a:lnTo>
                    <a:cubicBezTo>
                      <a:pt x="25327" y="71837"/>
                      <a:pt x="24471" y="73878"/>
                      <a:pt x="23705" y="75927"/>
                    </a:cubicBezTo>
                    <a:lnTo>
                      <a:pt x="312" y="82317"/>
                    </a:lnTo>
                    <a:lnTo>
                      <a:pt x="312" y="131563"/>
                    </a:lnTo>
                    <a:lnTo>
                      <a:pt x="23705" y="137961"/>
                    </a:lnTo>
                    <a:cubicBezTo>
                      <a:pt x="24471" y="140011"/>
                      <a:pt x="25327" y="142052"/>
                      <a:pt x="26254" y="144066"/>
                    </a:cubicBezTo>
                    <a:lnTo>
                      <a:pt x="14214" y="165151"/>
                    </a:lnTo>
                    <a:lnTo>
                      <a:pt x="49041" y="199968"/>
                    </a:lnTo>
                    <a:lnTo>
                      <a:pt x="70126" y="187938"/>
                    </a:lnTo>
                    <a:cubicBezTo>
                      <a:pt x="72140" y="188864"/>
                      <a:pt x="74172" y="189720"/>
                      <a:pt x="76221" y="190486"/>
                    </a:cubicBezTo>
                    <a:lnTo>
                      <a:pt x="82620" y="213879"/>
                    </a:lnTo>
                    <a:lnTo>
                      <a:pt x="131874" y="213879"/>
                    </a:lnTo>
                    <a:lnTo>
                      <a:pt x="138273" y="190486"/>
                    </a:lnTo>
                    <a:cubicBezTo>
                      <a:pt x="140314" y="189720"/>
                      <a:pt x="142355" y="188864"/>
                      <a:pt x="144377" y="187938"/>
                    </a:cubicBezTo>
                    <a:lnTo>
                      <a:pt x="165454" y="199959"/>
                    </a:lnTo>
                    <a:lnTo>
                      <a:pt x="200280" y="165142"/>
                    </a:lnTo>
                    <a:lnTo>
                      <a:pt x="188241" y="144057"/>
                    </a:lnTo>
                    <a:cubicBezTo>
                      <a:pt x="189167" y="142043"/>
                      <a:pt x="190023" y="140002"/>
                      <a:pt x="190789" y="137952"/>
                    </a:cubicBezTo>
                    <a:lnTo>
                      <a:pt x="214182" y="131554"/>
                    </a:lnTo>
                    <a:lnTo>
                      <a:pt x="214182" y="115539"/>
                    </a:lnTo>
                    <a:lnTo>
                      <a:pt x="267349" y="115539"/>
                    </a:lnTo>
                    <a:lnTo>
                      <a:pt x="267349" y="124451"/>
                    </a:lnTo>
                    <a:cubicBezTo>
                      <a:pt x="267349" y="139191"/>
                      <a:pt x="279344" y="151186"/>
                      <a:pt x="294084" y="151186"/>
                    </a:cubicBezTo>
                    <a:lnTo>
                      <a:pt x="436670" y="151186"/>
                    </a:lnTo>
                    <a:cubicBezTo>
                      <a:pt x="451410" y="151186"/>
                      <a:pt x="463405" y="139191"/>
                      <a:pt x="463405" y="124451"/>
                    </a:cubicBezTo>
                    <a:lnTo>
                      <a:pt x="463405" y="115539"/>
                    </a:lnTo>
                    <a:lnTo>
                      <a:pt x="490140" y="115539"/>
                    </a:lnTo>
                    <a:cubicBezTo>
                      <a:pt x="514710" y="115539"/>
                      <a:pt x="534698" y="135528"/>
                      <a:pt x="534698" y="160098"/>
                    </a:cubicBezTo>
                    <a:lnTo>
                      <a:pt x="534698" y="222479"/>
                    </a:lnTo>
                    <a:cubicBezTo>
                      <a:pt x="534698" y="247049"/>
                      <a:pt x="514710" y="267037"/>
                      <a:pt x="490140" y="267037"/>
                    </a:cubicBezTo>
                    <a:lnTo>
                      <a:pt x="374289" y="267037"/>
                    </a:lnTo>
                    <a:lnTo>
                      <a:pt x="374289" y="258126"/>
                    </a:lnTo>
                    <a:cubicBezTo>
                      <a:pt x="374289" y="243386"/>
                      <a:pt x="362294" y="231391"/>
                      <a:pt x="347554" y="231391"/>
                    </a:cubicBezTo>
                    <a:lnTo>
                      <a:pt x="204968" y="231391"/>
                    </a:lnTo>
                    <a:cubicBezTo>
                      <a:pt x="190228" y="231391"/>
                      <a:pt x="178233" y="243386"/>
                      <a:pt x="178233" y="258126"/>
                    </a:cubicBezTo>
                    <a:lnTo>
                      <a:pt x="178233" y="267037"/>
                    </a:lnTo>
                    <a:lnTo>
                      <a:pt x="62381" y="267037"/>
                    </a:lnTo>
                    <a:cubicBezTo>
                      <a:pt x="27991" y="267037"/>
                      <a:pt x="0" y="295029"/>
                      <a:pt x="0" y="329419"/>
                    </a:cubicBezTo>
                    <a:lnTo>
                      <a:pt x="0" y="400712"/>
                    </a:lnTo>
                    <a:cubicBezTo>
                      <a:pt x="0" y="435102"/>
                      <a:pt x="27991" y="463093"/>
                      <a:pt x="62381" y="463093"/>
                    </a:cubicBezTo>
                    <a:lnTo>
                      <a:pt x="89116" y="463093"/>
                    </a:lnTo>
                    <a:lnTo>
                      <a:pt x="89116" y="472005"/>
                    </a:lnTo>
                    <a:cubicBezTo>
                      <a:pt x="89116" y="486745"/>
                      <a:pt x="101111" y="498740"/>
                      <a:pt x="115851" y="498740"/>
                    </a:cubicBezTo>
                    <a:lnTo>
                      <a:pt x="258438" y="498740"/>
                    </a:lnTo>
                    <a:cubicBezTo>
                      <a:pt x="273177" y="498740"/>
                      <a:pt x="285173" y="486745"/>
                      <a:pt x="285173" y="472005"/>
                    </a:cubicBezTo>
                    <a:lnTo>
                      <a:pt x="285173" y="463093"/>
                    </a:lnTo>
                    <a:lnTo>
                      <a:pt x="356920" y="463093"/>
                    </a:lnTo>
                    <a:cubicBezTo>
                      <a:pt x="361438" y="512981"/>
                      <a:pt x="403448" y="552210"/>
                      <a:pt x="454494" y="552210"/>
                    </a:cubicBezTo>
                    <a:cubicBezTo>
                      <a:pt x="508543" y="552210"/>
                      <a:pt x="552522" y="508231"/>
                      <a:pt x="552522" y="454182"/>
                    </a:cubicBezTo>
                    <a:cubicBezTo>
                      <a:pt x="552522" y="400133"/>
                      <a:pt x="508543" y="356154"/>
                      <a:pt x="454494" y="356154"/>
                    </a:cubicBezTo>
                    <a:cubicBezTo>
                      <a:pt x="403448" y="356154"/>
                      <a:pt x="361438" y="395383"/>
                      <a:pt x="356920" y="445270"/>
                    </a:cubicBezTo>
                    <a:lnTo>
                      <a:pt x="285173" y="445270"/>
                    </a:lnTo>
                    <a:lnTo>
                      <a:pt x="285173" y="436358"/>
                    </a:lnTo>
                    <a:cubicBezTo>
                      <a:pt x="285173" y="421619"/>
                      <a:pt x="273177" y="409624"/>
                      <a:pt x="258438" y="409624"/>
                    </a:cubicBezTo>
                    <a:lnTo>
                      <a:pt x="115851" y="409624"/>
                    </a:lnTo>
                    <a:cubicBezTo>
                      <a:pt x="101111" y="409624"/>
                      <a:pt x="89116" y="421619"/>
                      <a:pt x="89116" y="436358"/>
                    </a:cubicBezTo>
                    <a:lnTo>
                      <a:pt x="89116" y="445270"/>
                    </a:lnTo>
                    <a:lnTo>
                      <a:pt x="62381" y="445270"/>
                    </a:lnTo>
                    <a:cubicBezTo>
                      <a:pt x="37812" y="445270"/>
                      <a:pt x="17823" y="425281"/>
                      <a:pt x="17823" y="400712"/>
                    </a:cubicBezTo>
                    <a:lnTo>
                      <a:pt x="17823" y="329419"/>
                    </a:lnTo>
                    <a:cubicBezTo>
                      <a:pt x="17823" y="304849"/>
                      <a:pt x="37812" y="284861"/>
                      <a:pt x="62381" y="284861"/>
                    </a:cubicBezTo>
                    <a:lnTo>
                      <a:pt x="178233" y="284861"/>
                    </a:lnTo>
                    <a:lnTo>
                      <a:pt x="178233" y="293772"/>
                    </a:lnTo>
                    <a:cubicBezTo>
                      <a:pt x="178233" y="308512"/>
                      <a:pt x="190228" y="320507"/>
                      <a:pt x="204968" y="320507"/>
                    </a:cubicBezTo>
                    <a:close/>
                    <a:moveTo>
                      <a:pt x="196368" y="117963"/>
                    </a:moveTo>
                    <a:lnTo>
                      <a:pt x="176825" y="123310"/>
                    </a:lnTo>
                    <a:lnTo>
                      <a:pt x="175390" y="127989"/>
                    </a:lnTo>
                    <a:cubicBezTo>
                      <a:pt x="174107" y="132115"/>
                      <a:pt x="172396" y="136223"/>
                      <a:pt x="170293" y="140198"/>
                    </a:cubicBezTo>
                    <a:lnTo>
                      <a:pt x="167993" y="144529"/>
                    </a:lnTo>
                    <a:lnTo>
                      <a:pt x="178064" y="162165"/>
                    </a:lnTo>
                    <a:lnTo>
                      <a:pt x="162486" y="177752"/>
                    </a:lnTo>
                    <a:lnTo>
                      <a:pt x="144841" y="167690"/>
                    </a:lnTo>
                    <a:lnTo>
                      <a:pt x="140519" y="169981"/>
                    </a:lnTo>
                    <a:cubicBezTo>
                      <a:pt x="136553" y="172084"/>
                      <a:pt x="132445" y="173795"/>
                      <a:pt x="128310" y="175069"/>
                    </a:cubicBezTo>
                    <a:lnTo>
                      <a:pt x="123640" y="176513"/>
                    </a:lnTo>
                    <a:lnTo>
                      <a:pt x="118284" y="196056"/>
                    </a:lnTo>
                    <a:lnTo>
                      <a:pt x="96246" y="196056"/>
                    </a:lnTo>
                    <a:lnTo>
                      <a:pt x="90890" y="176513"/>
                    </a:lnTo>
                    <a:lnTo>
                      <a:pt x="86220" y="175069"/>
                    </a:lnTo>
                    <a:cubicBezTo>
                      <a:pt x="82103" y="173795"/>
                      <a:pt x="77995" y="172093"/>
                      <a:pt x="74011" y="169981"/>
                    </a:cubicBezTo>
                    <a:lnTo>
                      <a:pt x="69680" y="167690"/>
                    </a:lnTo>
                    <a:lnTo>
                      <a:pt x="52044" y="177752"/>
                    </a:lnTo>
                    <a:lnTo>
                      <a:pt x="36449" y="162165"/>
                    </a:lnTo>
                    <a:lnTo>
                      <a:pt x="46519" y="144529"/>
                    </a:lnTo>
                    <a:lnTo>
                      <a:pt x="44220" y="140198"/>
                    </a:lnTo>
                    <a:cubicBezTo>
                      <a:pt x="42116" y="136223"/>
                      <a:pt x="40396" y="132115"/>
                      <a:pt x="39122" y="127989"/>
                    </a:cubicBezTo>
                    <a:lnTo>
                      <a:pt x="37687" y="123310"/>
                    </a:lnTo>
                    <a:lnTo>
                      <a:pt x="18144" y="117963"/>
                    </a:lnTo>
                    <a:lnTo>
                      <a:pt x="18144" y="95916"/>
                    </a:lnTo>
                    <a:lnTo>
                      <a:pt x="37687" y="90578"/>
                    </a:lnTo>
                    <a:lnTo>
                      <a:pt x="39131" y="85899"/>
                    </a:lnTo>
                    <a:cubicBezTo>
                      <a:pt x="40405" y="81773"/>
                      <a:pt x="42116" y="77665"/>
                      <a:pt x="44220" y="73699"/>
                    </a:cubicBezTo>
                    <a:lnTo>
                      <a:pt x="46519" y="69359"/>
                    </a:lnTo>
                    <a:lnTo>
                      <a:pt x="36449" y="51723"/>
                    </a:lnTo>
                    <a:lnTo>
                      <a:pt x="52026" y="36137"/>
                    </a:lnTo>
                    <a:lnTo>
                      <a:pt x="69662" y="46198"/>
                    </a:lnTo>
                    <a:lnTo>
                      <a:pt x="73993" y="43908"/>
                    </a:lnTo>
                    <a:cubicBezTo>
                      <a:pt x="77995" y="41796"/>
                      <a:pt x="82103" y="40076"/>
                      <a:pt x="86202" y="38810"/>
                    </a:cubicBezTo>
                    <a:lnTo>
                      <a:pt x="90872" y="37367"/>
                    </a:lnTo>
                    <a:lnTo>
                      <a:pt x="96228" y="17823"/>
                    </a:lnTo>
                    <a:lnTo>
                      <a:pt x="118266" y="17823"/>
                    </a:lnTo>
                    <a:lnTo>
                      <a:pt x="123622" y="37367"/>
                    </a:lnTo>
                    <a:lnTo>
                      <a:pt x="128292" y="38810"/>
                    </a:lnTo>
                    <a:cubicBezTo>
                      <a:pt x="132409" y="40085"/>
                      <a:pt x="136517" y="41796"/>
                      <a:pt x="140501" y="43908"/>
                    </a:cubicBezTo>
                    <a:lnTo>
                      <a:pt x="144823" y="46198"/>
                    </a:lnTo>
                    <a:lnTo>
                      <a:pt x="162468" y="36137"/>
                    </a:lnTo>
                    <a:lnTo>
                      <a:pt x="178046" y="51723"/>
                    </a:lnTo>
                    <a:lnTo>
                      <a:pt x="167976" y="69359"/>
                    </a:lnTo>
                    <a:lnTo>
                      <a:pt x="170275" y="73690"/>
                    </a:lnTo>
                    <a:cubicBezTo>
                      <a:pt x="172378" y="77656"/>
                      <a:pt x="174098" y="81764"/>
                      <a:pt x="175363" y="85890"/>
                    </a:cubicBezTo>
                    <a:lnTo>
                      <a:pt x="176807" y="90569"/>
                    </a:lnTo>
                    <a:lnTo>
                      <a:pt x="196350" y="95907"/>
                    </a:lnTo>
                    <a:lnTo>
                      <a:pt x="196350" y="117963"/>
                    </a:lnTo>
                    <a:close/>
                    <a:moveTo>
                      <a:pt x="445582" y="124451"/>
                    </a:moveTo>
                    <a:cubicBezTo>
                      <a:pt x="445582" y="129361"/>
                      <a:pt x="441590" y="133363"/>
                      <a:pt x="436670" y="133363"/>
                    </a:cubicBezTo>
                    <a:lnTo>
                      <a:pt x="294084" y="133363"/>
                    </a:lnTo>
                    <a:cubicBezTo>
                      <a:pt x="289165" y="133363"/>
                      <a:pt x="285173" y="129361"/>
                      <a:pt x="285173" y="124451"/>
                    </a:cubicBezTo>
                    <a:lnTo>
                      <a:pt x="285173" y="88805"/>
                    </a:lnTo>
                    <a:cubicBezTo>
                      <a:pt x="285173" y="83894"/>
                      <a:pt x="289165" y="79893"/>
                      <a:pt x="294084" y="79893"/>
                    </a:cubicBezTo>
                    <a:lnTo>
                      <a:pt x="436670" y="79893"/>
                    </a:lnTo>
                    <a:cubicBezTo>
                      <a:pt x="441590" y="79893"/>
                      <a:pt x="445582" y="83894"/>
                      <a:pt x="445582" y="88805"/>
                    </a:cubicBezTo>
                    <a:close/>
                    <a:moveTo>
                      <a:pt x="454494" y="373977"/>
                    </a:moveTo>
                    <a:cubicBezTo>
                      <a:pt x="498722" y="373977"/>
                      <a:pt x="534698" y="409953"/>
                      <a:pt x="534698" y="454182"/>
                    </a:cubicBezTo>
                    <a:cubicBezTo>
                      <a:pt x="534698" y="498410"/>
                      <a:pt x="498722" y="534387"/>
                      <a:pt x="454494" y="534387"/>
                    </a:cubicBezTo>
                    <a:cubicBezTo>
                      <a:pt x="410265" y="534387"/>
                      <a:pt x="374289" y="498410"/>
                      <a:pt x="374289" y="454182"/>
                    </a:cubicBezTo>
                    <a:cubicBezTo>
                      <a:pt x="374289" y="409953"/>
                      <a:pt x="410265" y="373977"/>
                      <a:pt x="454494" y="373977"/>
                    </a:cubicBezTo>
                    <a:close/>
                    <a:moveTo>
                      <a:pt x="106940" y="436358"/>
                    </a:moveTo>
                    <a:cubicBezTo>
                      <a:pt x="106940" y="431439"/>
                      <a:pt x="110932" y="427447"/>
                      <a:pt x="115851" y="427447"/>
                    </a:cubicBezTo>
                    <a:lnTo>
                      <a:pt x="258438" y="427447"/>
                    </a:lnTo>
                    <a:cubicBezTo>
                      <a:pt x="263357" y="427447"/>
                      <a:pt x="267349" y="431439"/>
                      <a:pt x="267349" y="436358"/>
                    </a:cubicBezTo>
                    <a:lnTo>
                      <a:pt x="267349" y="472005"/>
                    </a:lnTo>
                    <a:cubicBezTo>
                      <a:pt x="267349" y="476924"/>
                      <a:pt x="263357" y="480917"/>
                      <a:pt x="258438" y="480917"/>
                    </a:cubicBezTo>
                    <a:lnTo>
                      <a:pt x="115851" y="480917"/>
                    </a:lnTo>
                    <a:cubicBezTo>
                      <a:pt x="110932" y="480917"/>
                      <a:pt x="106940" y="476924"/>
                      <a:pt x="106940" y="472005"/>
                    </a:cubicBezTo>
                    <a:close/>
                    <a:moveTo>
                      <a:pt x="196056" y="258126"/>
                    </a:moveTo>
                    <a:cubicBezTo>
                      <a:pt x="196056" y="253215"/>
                      <a:pt x="200049" y="249214"/>
                      <a:pt x="204968" y="249214"/>
                    </a:cubicBezTo>
                    <a:lnTo>
                      <a:pt x="347554" y="249214"/>
                    </a:lnTo>
                    <a:cubicBezTo>
                      <a:pt x="352473" y="249214"/>
                      <a:pt x="356466" y="253215"/>
                      <a:pt x="356466" y="258126"/>
                    </a:cubicBezTo>
                    <a:lnTo>
                      <a:pt x="356466" y="293772"/>
                    </a:lnTo>
                    <a:cubicBezTo>
                      <a:pt x="356466" y="298691"/>
                      <a:pt x="352473" y="302684"/>
                      <a:pt x="347554" y="302684"/>
                    </a:cubicBezTo>
                    <a:lnTo>
                      <a:pt x="204968" y="302684"/>
                    </a:lnTo>
                    <a:cubicBezTo>
                      <a:pt x="200049" y="302684"/>
                      <a:pt x="196056" y="298691"/>
                      <a:pt x="196056" y="293772"/>
                    </a:cubicBezTo>
                    <a:close/>
                  </a:path>
                </a:pathLst>
              </a:custGeom>
              <a:grpFill/>
              <a:ln w="8781" cap="flat">
                <a:noFill/>
                <a:prstDash val="solid"/>
                <a:miter/>
              </a:ln>
            </p:spPr>
            <p:txBody>
              <a:bodyPr rtlCol="0" anchor="ctr"/>
              <a:lstStyle/>
              <a:p>
                <a:endParaRPr lang="en-GB"/>
              </a:p>
            </p:txBody>
          </p:sp>
          <p:sp>
            <p:nvSpPr>
              <p:cNvPr id="123" name="Freeform: Shape 122">
                <a:extLst>
                  <a:ext uri="{FF2B5EF4-FFF2-40B4-BE49-F238E27FC236}">
                    <a16:creationId xmlns:a16="http://schemas.microsoft.com/office/drawing/2014/main" id="{DA53DA6C-43DC-3AEC-2F96-111D5C10BEA5}"/>
                  </a:ext>
                </a:extLst>
              </p:cNvPr>
              <p:cNvSpPr/>
              <p:nvPr/>
            </p:nvSpPr>
            <p:spPr>
              <a:xfrm>
                <a:off x="5307925" y="2963441"/>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4" name="Freeform: Shape 123">
                <a:extLst>
                  <a:ext uri="{FF2B5EF4-FFF2-40B4-BE49-F238E27FC236}">
                    <a16:creationId xmlns:a16="http://schemas.microsoft.com/office/drawing/2014/main" id="{CBDA3E6B-EE94-7E0D-4CD0-E7368B7C7EC3}"/>
                  </a:ext>
                </a:extLst>
              </p:cNvPr>
              <p:cNvSpPr/>
              <p:nvPr/>
            </p:nvSpPr>
            <p:spPr>
              <a:xfrm>
                <a:off x="5272278" y="2963441"/>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5" name="Freeform: Shape 124">
                <a:extLst>
                  <a:ext uri="{FF2B5EF4-FFF2-40B4-BE49-F238E27FC236}">
                    <a16:creationId xmlns:a16="http://schemas.microsoft.com/office/drawing/2014/main" id="{14B1B841-D5FC-7642-BE48-42432449E018}"/>
                  </a:ext>
                </a:extLst>
              </p:cNvPr>
              <p:cNvSpPr/>
              <p:nvPr/>
            </p:nvSpPr>
            <p:spPr>
              <a:xfrm>
                <a:off x="5236632" y="2963441"/>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6" name="Freeform: Shape 125">
                <a:extLst>
                  <a:ext uri="{FF2B5EF4-FFF2-40B4-BE49-F238E27FC236}">
                    <a16:creationId xmlns:a16="http://schemas.microsoft.com/office/drawing/2014/main" id="{8E5C838D-A194-1612-30C4-56F46A38460F}"/>
                  </a:ext>
                </a:extLst>
              </p:cNvPr>
              <p:cNvSpPr/>
              <p:nvPr/>
            </p:nvSpPr>
            <p:spPr>
              <a:xfrm>
                <a:off x="5343571" y="2963441"/>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7" name="Freeform: Shape 126">
                <a:extLst>
                  <a:ext uri="{FF2B5EF4-FFF2-40B4-BE49-F238E27FC236}">
                    <a16:creationId xmlns:a16="http://schemas.microsoft.com/office/drawing/2014/main" id="{3B82163E-5C62-6296-053F-CC79D02F25C6}"/>
                  </a:ext>
                </a:extLst>
              </p:cNvPr>
              <p:cNvSpPr/>
              <p:nvPr/>
            </p:nvSpPr>
            <p:spPr>
              <a:xfrm>
                <a:off x="5183162" y="3141674"/>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8" name="Freeform: Shape 127">
                <a:extLst>
                  <a:ext uri="{FF2B5EF4-FFF2-40B4-BE49-F238E27FC236}">
                    <a16:creationId xmlns:a16="http://schemas.microsoft.com/office/drawing/2014/main" id="{668E9630-6DA9-1157-9EE6-C656A27D9715}"/>
                  </a:ext>
                </a:extLst>
              </p:cNvPr>
              <p:cNvSpPr/>
              <p:nvPr/>
            </p:nvSpPr>
            <p:spPr>
              <a:xfrm>
                <a:off x="5254455" y="3141674"/>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9" name="Freeform: Shape 128">
                <a:extLst>
                  <a:ext uri="{FF2B5EF4-FFF2-40B4-BE49-F238E27FC236}">
                    <a16:creationId xmlns:a16="http://schemas.microsoft.com/office/drawing/2014/main" id="{EE48F897-EFDF-EDB5-2BA4-B5939A201C8D}"/>
                  </a:ext>
                </a:extLst>
              </p:cNvPr>
              <p:cNvSpPr/>
              <p:nvPr/>
            </p:nvSpPr>
            <p:spPr>
              <a:xfrm>
                <a:off x="5218808" y="3141674"/>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30" name="Freeform: Shape 129">
                <a:extLst>
                  <a:ext uri="{FF2B5EF4-FFF2-40B4-BE49-F238E27FC236}">
                    <a16:creationId xmlns:a16="http://schemas.microsoft.com/office/drawing/2014/main" id="{03753B65-80A5-6AE7-42F6-0DC9AA5B309A}"/>
                  </a:ext>
                </a:extLst>
              </p:cNvPr>
              <p:cNvSpPr/>
              <p:nvPr/>
            </p:nvSpPr>
            <p:spPr>
              <a:xfrm>
                <a:off x="5147515" y="3141674"/>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grpSp>
      </p:grpSp>
      <p:grpSp>
        <p:nvGrpSpPr>
          <p:cNvPr id="134" name="Group 133">
            <a:extLst>
              <a:ext uri="{FF2B5EF4-FFF2-40B4-BE49-F238E27FC236}">
                <a16:creationId xmlns:a16="http://schemas.microsoft.com/office/drawing/2014/main" id="{0D7EA6C3-BD1F-B90D-1761-512D5A6E23F1}"/>
              </a:ext>
            </a:extLst>
          </p:cNvPr>
          <p:cNvGrpSpPr/>
          <p:nvPr/>
        </p:nvGrpSpPr>
        <p:grpSpPr>
          <a:xfrm>
            <a:off x="7889480" y="1422562"/>
            <a:ext cx="3137931" cy="4182798"/>
            <a:chOff x="7889480" y="1422562"/>
            <a:chExt cx="3137931" cy="4182798"/>
          </a:xfrm>
        </p:grpSpPr>
        <p:sp>
          <p:nvSpPr>
            <p:cNvPr id="17" name="Rectangle: Rounded Corners 16">
              <a:extLst>
                <a:ext uri="{FF2B5EF4-FFF2-40B4-BE49-F238E27FC236}">
                  <a16:creationId xmlns:a16="http://schemas.microsoft.com/office/drawing/2014/main" id="{B92BEB23-D643-4EB3-1A01-8FB54A5AF146}"/>
                </a:ext>
              </a:extLst>
            </p:cNvPr>
            <p:cNvSpPr>
              <a:spLocks/>
            </p:cNvSpPr>
            <p:nvPr/>
          </p:nvSpPr>
          <p:spPr bwMode="auto">
            <a:xfrm>
              <a:off x="7889480" y="1422562"/>
              <a:ext cx="3137931" cy="418279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8" name="TextBox 17">
              <a:extLst>
                <a:ext uri="{FF2B5EF4-FFF2-40B4-BE49-F238E27FC236}">
                  <a16:creationId xmlns:a16="http://schemas.microsoft.com/office/drawing/2014/main" id="{2D9C5092-F7A5-8C1B-27C8-1023241C1CE0}"/>
                </a:ext>
              </a:extLst>
            </p:cNvPr>
            <p:cNvSpPr txBox="1"/>
            <p:nvPr/>
          </p:nvSpPr>
          <p:spPr>
            <a:xfrm>
              <a:off x="8154092" y="3659296"/>
              <a:ext cx="2447867" cy="1815882"/>
            </a:xfrm>
            <a:prstGeom prst="rect">
              <a:avLst/>
            </a:prstGeom>
            <a:noFill/>
          </p:spPr>
          <p:txBody>
            <a:bodyPr wrap="square" lIns="0" tIns="0" rIns="0" bIns="0" rtlCol="0">
              <a:spAutoFit/>
            </a:bodyPr>
            <a:lstStyle/>
            <a:p>
              <a:pPr lvl="0" defTabSz="609630" fontAlgn="base">
                <a:spcBef>
                  <a:spcPts val="1200"/>
                </a:spcBef>
                <a:spcAft>
                  <a:spcPct val="0"/>
                </a:spcAft>
                <a:buSzPct val="90000"/>
                <a:defRPr/>
              </a:pPr>
              <a:r>
                <a:rPr lang="en-US">
                  <a:solidFill>
                    <a:srgbClr val="FFFFFF"/>
                  </a:solidFill>
                  <a:latin typeface="Segoe Sans Text Semibold"/>
                </a:rPr>
                <a:t>Enhance operations</a:t>
              </a:r>
            </a:p>
            <a:p>
              <a:pPr marR="0" lvl="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a:solidFill>
                    <a:srgbClr val="FFFFFF"/>
                  </a:solidFill>
                </a:rPr>
                <a:t>Managed compute—no need to create and manage clusters</a:t>
              </a:r>
            </a:p>
            <a:p>
              <a:pPr marR="0" lvl="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a:solidFill>
                    <a:srgbClr val="FFFFFF"/>
                  </a:solidFill>
                </a:rPr>
                <a:t>Safe rollout with</a:t>
              </a:r>
              <a:br>
                <a:rPr lang="en-US" sz="1400">
                  <a:solidFill>
                    <a:srgbClr val="FFFFFF"/>
                  </a:solidFill>
                </a:rPr>
              </a:br>
              <a:r>
                <a:rPr lang="en-US" sz="1400">
                  <a:solidFill>
                    <a:srgbClr val="FFFFFF"/>
                  </a:solidFill>
                </a:rPr>
                <a:t>Traffic Management</a:t>
              </a:r>
            </a:p>
            <a:p>
              <a:pPr marR="0" lvl="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a:solidFill>
                    <a:srgbClr val="FFFFFF"/>
                  </a:solidFill>
                </a:rPr>
                <a:t>Log and analyze metrics</a:t>
              </a:r>
            </a:p>
          </p:txBody>
        </p:sp>
        <p:grpSp>
          <p:nvGrpSpPr>
            <p:cNvPr id="19" name="Group 18">
              <a:extLst>
                <a:ext uri="{FF2B5EF4-FFF2-40B4-BE49-F238E27FC236}">
                  <a16:creationId xmlns:a16="http://schemas.microsoft.com/office/drawing/2014/main" id="{D9A4D74A-3EC7-AFA3-E42A-84593244CC7E}"/>
                </a:ext>
              </a:extLst>
            </p:cNvPr>
            <p:cNvGrpSpPr/>
            <p:nvPr/>
          </p:nvGrpSpPr>
          <p:grpSpPr>
            <a:xfrm>
              <a:off x="8154092" y="2461804"/>
              <a:ext cx="1004700" cy="1004990"/>
              <a:chOff x="1600003" y="1811018"/>
              <a:chExt cx="1641521" cy="1641995"/>
            </a:xfrm>
          </p:grpSpPr>
          <p:sp>
            <p:nvSpPr>
              <p:cNvPr id="20" name="Oval 17">
                <a:extLst>
                  <a:ext uri="{FF2B5EF4-FFF2-40B4-BE49-F238E27FC236}">
                    <a16:creationId xmlns:a16="http://schemas.microsoft.com/office/drawing/2014/main" id="{BA3C3DE8-EF9A-FE62-2BCB-D2DF43472A3F}"/>
                  </a:ext>
                </a:extLst>
              </p:cNvPr>
              <p:cNvSpPr>
                <a:spLocks/>
              </p:cNvSpPr>
              <p:nvPr/>
            </p:nvSpPr>
            <p:spPr bwMode="auto">
              <a:xfrm>
                <a:off x="1600003" y="1811018"/>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grpSp>
            <p:nvGrpSpPr>
              <p:cNvPr id="24" name="Group 23">
                <a:extLst>
                  <a:ext uri="{FF2B5EF4-FFF2-40B4-BE49-F238E27FC236}">
                    <a16:creationId xmlns:a16="http://schemas.microsoft.com/office/drawing/2014/main" id="{8D901A28-15F5-6ED0-16E1-66C7B5C9F3EA}"/>
                  </a:ext>
                </a:extLst>
              </p:cNvPr>
              <p:cNvGrpSpPr/>
              <p:nvPr/>
            </p:nvGrpSpPr>
            <p:grpSpPr>
              <a:xfrm>
                <a:off x="1714608" y="1927192"/>
                <a:ext cx="1412311" cy="1409646"/>
                <a:chOff x="1261672" y="4833937"/>
                <a:chExt cx="954296" cy="954297"/>
              </a:xfrm>
            </p:grpSpPr>
            <p:sp>
              <p:nvSpPr>
                <p:cNvPr id="25" name="Rectangle: Rounded Corners 24">
                  <a:extLst>
                    <a:ext uri="{FF2B5EF4-FFF2-40B4-BE49-F238E27FC236}">
                      <a16:creationId xmlns:a16="http://schemas.microsoft.com/office/drawing/2014/main" id="{53EE0E6A-0402-B2C4-F047-0F5F39D07951}"/>
                    </a:ext>
                  </a:extLst>
                </p:cNvPr>
                <p:cNvSpPr/>
                <p:nvPr userDrawn="1"/>
              </p:nvSpPr>
              <p:spPr bwMode="auto">
                <a:xfrm>
                  <a:off x="1261672" y="4833937"/>
                  <a:ext cx="954296" cy="954296"/>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sp>
              <p:nvSpPr>
                <p:cNvPr id="26" name="Rectangle: Rounded Corners 25">
                  <a:extLst>
                    <a:ext uri="{FF2B5EF4-FFF2-40B4-BE49-F238E27FC236}">
                      <a16:creationId xmlns:a16="http://schemas.microsoft.com/office/drawing/2014/main" id="{0B0B99C8-4BA4-D706-59AF-11C9FF77DFC7}"/>
                    </a:ext>
                  </a:extLst>
                </p:cNvPr>
                <p:cNvSpPr/>
                <p:nvPr userDrawn="1"/>
              </p:nvSpPr>
              <p:spPr bwMode="auto">
                <a:xfrm>
                  <a:off x="1261672" y="4833938"/>
                  <a:ext cx="954296" cy="954296"/>
                </a:xfrm>
                <a:prstGeom prst="roundRect">
                  <a:avLst>
                    <a:gd name="adj" fmla="val 10488"/>
                  </a:avLst>
                </a:prstGeom>
                <a:no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a:ea typeface="Segoe UI" pitchFamily="34" charset="0"/>
                    <a:cs typeface="Segoe Sans Text" pitchFamily="2" charset="0"/>
                  </a:endParaRPr>
                </a:p>
              </p:txBody>
            </p:sp>
          </p:grpSp>
        </p:grpSp>
        <p:sp>
          <p:nvSpPr>
            <p:cNvPr id="131" name="Graphic 84">
              <a:extLst>
                <a:ext uri="{FF2B5EF4-FFF2-40B4-BE49-F238E27FC236}">
                  <a16:creationId xmlns:a16="http://schemas.microsoft.com/office/drawing/2014/main" id="{7223CEF6-D030-711C-2339-F614D2165887}"/>
                </a:ext>
              </a:extLst>
            </p:cNvPr>
            <p:cNvSpPr/>
            <p:nvPr/>
          </p:nvSpPr>
          <p:spPr>
            <a:xfrm>
              <a:off x="8333189" y="2657558"/>
              <a:ext cx="596834" cy="596834"/>
            </a:xfrm>
            <a:custGeom>
              <a:avLst/>
              <a:gdLst>
                <a:gd name="connsiteX0" fmla="*/ 139308 w 596834"/>
                <a:gd name="connsiteY0" fmla="*/ 502365 h 596834"/>
                <a:gd name="connsiteX1" fmla="*/ 0 w 596834"/>
                <a:gd name="connsiteY1" fmla="*/ 337207 h 596834"/>
                <a:gd name="connsiteX2" fmla="*/ 29802 w 596834"/>
                <a:gd name="connsiteY2" fmla="*/ 241801 h 596834"/>
                <a:gd name="connsiteX3" fmla="*/ 22512 w 596834"/>
                <a:gd name="connsiteY3" fmla="*/ 234512 h 596834"/>
                <a:gd name="connsiteX4" fmla="*/ 22512 w 596834"/>
                <a:gd name="connsiteY4" fmla="*/ 210264 h 596834"/>
                <a:gd name="connsiteX5" fmla="*/ 40582 w 596834"/>
                <a:gd name="connsiteY5" fmla="*/ 192194 h 596834"/>
                <a:gd name="connsiteX6" fmla="*/ 64831 w 596834"/>
                <a:gd name="connsiteY6" fmla="*/ 192194 h 596834"/>
                <a:gd name="connsiteX7" fmla="*/ 72121 w 596834"/>
                <a:gd name="connsiteY7" fmla="*/ 199484 h 596834"/>
                <a:gd name="connsiteX8" fmla="*/ 137602 w 596834"/>
                <a:gd name="connsiteY8" fmla="*/ 172346 h 596834"/>
                <a:gd name="connsiteX9" fmla="*/ 137602 w 596834"/>
                <a:gd name="connsiteY9" fmla="*/ 161269 h 596834"/>
                <a:gd name="connsiteX10" fmla="*/ 121579 w 596834"/>
                <a:gd name="connsiteY10" fmla="*/ 143082 h 596834"/>
                <a:gd name="connsiteX11" fmla="*/ 121579 w 596834"/>
                <a:gd name="connsiteY11" fmla="*/ 129735 h 596834"/>
                <a:gd name="connsiteX12" fmla="*/ 138724 w 596834"/>
                <a:gd name="connsiteY12" fmla="*/ 111506 h 596834"/>
                <a:gd name="connsiteX13" fmla="*/ 196326 w 596834"/>
                <a:gd name="connsiteY13" fmla="*/ 111506 h 596834"/>
                <a:gd name="connsiteX14" fmla="*/ 213472 w 596834"/>
                <a:gd name="connsiteY14" fmla="*/ 129735 h 596834"/>
                <a:gd name="connsiteX15" fmla="*/ 213472 w 596834"/>
                <a:gd name="connsiteY15" fmla="*/ 143082 h 596834"/>
                <a:gd name="connsiteX16" fmla="*/ 197449 w 596834"/>
                <a:gd name="connsiteY16" fmla="*/ 161269 h 596834"/>
                <a:gd name="connsiteX17" fmla="*/ 197449 w 596834"/>
                <a:gd name="connsiteY17" fmla="*/ 172346 h 596834"/>
                <a:gd name="connsiteX18" fmla="*/ 262930 w 596834"/>
                <a:gd name="connsiteY18" fmla="*/ 199484 h 596834"/>
                <a:gd name="connsiteX19" fmla="*/ 270219 w 596834"/>
                <a:gd name="connsiteY19" fmla="*/ 192194 h 596834"/>
                <a:gd name="connsiteX20" fmla="*/ 294468 w 596834"/>
                <a:gd name="connsiteY20" fmla="*/ 192194 h 596834"/>
                <a:gd name="connsiteX21" fmla="*/ 312538 w 596834"/>
                <a:gd name="connsiteY21" fmla="*/ 210264 h 596834"/>
                <a:gd name="connsiteX22" fmla="*/ 312538 w 596834"/>
                <a:gd name="connsiteY22" fmla="*/ 234512 h 596834"/>
                <a:gd name="connsiteX23" fmla="*/ 305249 w 596834"/>
                <a:gd name="connsiteY23" fmla="*/ 241801 h 596834"/>
                <a:gd name="connsiteX24" fmla="*/ 335051 w 596834"/>
                <a:gd name="connsiteY24" fmla="*/ 337207 h 596834"/>
                <a:gd name="connsiteX25" fmla="*/ 328834 w 596834"/>
                <a:gd name="connsiteY25" fmla="*/ 382572 h 596834"/>
                <a:gd name="connsiteX26" fmla="*/ 339534 w 596834"/>
                <a:gd name="connsiteY26" fmla="*/ 382572 h 596834"/>
                <a:gd name="connsiteX27" fmla="*/ 349160 w 596834"/>
                <a:gd name="connsiteY27" fmla="*/ 392199 h 596834"/>
                <a:gd name="connsiteX28" fmla="*/ 349160 w 596834"/>
                <a:gd name="connsiteY28" fmla="*/ 587209 h 596834"/>
                <a:gd name="connsiteX29" fmla="*/ 339534 w 596834"/>
                <a:gd name="connsiteY29" fmla="*/ 596835 h 596834"/>
                <a:gd name="connsiteX30" fmla="*/ 272858 w 596834"/>
                <a:gd name="connsiteY30" fmla="*/ 596835 h 596834"/>
                <a:gd name="connsiteX31" fmla="*/ 263232 w 596834"/>
                <a:gd name="connsiteY31" fmla="*/ 587209 h 596834"/>
                <a:gd name="connsiteX32" fmla="*/ 263232 w 596834"/>
                <a:gd name="connsiteY32" fmla="*/ 474718 h 596834"/>
                <a:gd name="connsiteX33" fmla="*/ 225323 w 596834"/>
                <a:gd name="connsiteY33" fmla="*/ 494493 h 596834"/>
                <a:gd name="connsiteX34" fmla="*/ 225323 w 596834"/>
                <a:gd name="connsiteY34" fmla="*/ 587209 h 596834"/>
                <a:gd name="connsiteX35" fmla="*/ 215697 w 596834"/>
                <a:gd name="connsiteY35" fmla="*/ 596835 h 596834"/>
                <a:gd name="connsiteX36" fmla="*/ 148934 w 596834"/>
                <a:gd name="connsiteY36" fmla="*/ 596835 h 596834"/>
                <a:gd name="connsiteX37" fmla="*/ 139308 w 596834"/>
                <a:gd name="connsiteY37" fmla="*/ 587209 h 596834"/>
                <a:gd name="connsiteX38" fmla="*/ 41760 w 596834"/>
                <a:gd name="connsiteY38" fmla="*/ 226533 h 596834"/>
                <a:gd name="connsiteX39" fmla="*/ 56852 w 596834"/>
                <a:gd name="connsiteY39" fmla="*/ 211442 h 596834"/>
                <a:gd name="connsiteX40" fmla="*/ 52707 w 596834"/>
                <a:gd name="connsiteY40" fmla="*/ 207297 h 596834"/>
                <a:gd name="connsiteX41" fmla="*/ 37616 w 596834"/>
                <a:gd name="connsiteY41" fmla="*/ 222387 h 596834"/>
                <a:gd name="connsiteX42" fmla="*/ 156854 w 596834"/>
                <a:gd name="connsiteY42" fmla="*/ 170016 h 596834"/>
                <a:gd name="connsiteX43" fmla="*/ 167525 w 596834"/>
                <a:gd name="connsiteY43" fmla="*/ 169682 h 596834"/>
                <a:gd name="connsiteX44" fmla="*/ 178196 w 596834"/>
                <a:gd name="connsiteY44" fmla="*/ 170016 h 596834"/>
                <a:gd name="connsiteX45" fmla="*/ 178196 w 596834"/>
                <a:gd name="connsiteY45" fmla="*/ 161310 h 596834"/>
                <a:gd name="connsiteX46" fmla="*/ 156854 w 596834"/>
                <a:gd name="connsiteY46" fmla="*/ 161310 h 596834"/>
                <a:gd name="connsiteX47" fmla="*/ 278198 w 596834"/>
                <a:gd name="connsiteY47" fmla="*/ 211442 h 596834"/>
                <a:gd name="connsiteX48" fmla="*/ 293289 w 596834"/>
                <a:gd name="connsiteY48" fmla="*/ 226533 h 596834"/>
                <a:gd name="connsiteX49" fmla="*/ 297434 w 596834"/>
                <a:gd name="connsiteY49" fmla="*/ 222387 h 596834"/>
                <a:gd name="connsiteX50" fmla="*/ 282344 w 596834"/>
                <a:gd name="connsiteY50" fmla="*/ 207297 h 596834"/>
                <a:gd name="connsiteX51" fmla="*/ 322133 w 596834"/>
                <a:gd name="connsiteY51" fmla="*/ 401825 h 596834"/>
                <a:gd name="connsiteX52" fmla="*/ 282485 w 596834"/>
                <a:gd name="connsiteY52" fmla="*/ 459062 h 596834"/>
                <a:gd name="connsiteX53" fmla="*/ 282485 w 596834"/>
                <a:gd name="connsiteY53" fmla="*/ 577582 h 596834"/>
                <a:gd name="connsiteX54" fmla="*/ 329908 w 596834"/>
                <a:gd name="connsiteY54" fmla="*/ 577582 h 596834"/>
                <a:gd name="connsiteX55" fmla="*/ 329908 w 596834"/>
                <a:gd name="connsiteY55" fmla="*/ 401825 h 596834"/>
                <a:gd name="connsiteX56" fmla="*/ 206070 w 596834"/>
                <a:gd name="connsiteY56" fmla="*/ 500275 h 596834"/>
                <a:gd name="connsiteX57" fmla="*/ 167525 w 596834"/>
                <a:gd name="connsiteY57" fmla="*/ 504731 h 596834"/>
                <a:gd name="connsiteX58" fmla="*/ 158561 w 596834"/>
                <a:gd name="connsiteY58" fmla="*/ 504495 h 596834"/>
                <a:gd name="connsiteX59" fmla="*/ 158561 w 596834"/>
                <a:gd name="connsiteY59" fmla="*/ 577582 h 596834"/>
                <a:gd name="connsiteX60" fmla="*/ 206070 w 596834"/>
                <a:gd name="connsiteY60" fmla="*/ 577582 h 596834"/>
                <a:gd name="connsiteX61" fmla="*/ 167525 w 596834"/>
                <a:gd name="connsiteY61" fmla="*/ 188934 h 596834"/>
                <a:gd name="connsiteX62" fmla="*/ 19253 w 596834"/>
                <a:gd name="connsiteY62" fmla="*/ 337207 h 596834"/>
                <a:gd name="connsiteX63" fmla="*/ 167525 w 596834"/>
                <a:gd name="connsiteY63" fmla="*/ 485478 h 596834"/>
                <a:gd name="connsiteX64" fmla="*/ 315798 w 596834"/>
                <a:gd name="connsiteY64" fmla="*/ 337207 h 596834"/>
                <a:gd name="connsiteX65" fmla="*/ 167525 w 596834"/>
                <a:gd name="connsiteY65" fmla="*/ 188934 h 596834"/>
                <a:gd name="connsiteX66" fmla="*/ 167525 w 596834"/>
                <a:gd name="connsiteY66" fmla="*/ 204132 h 596834"/>
                <a:gd name="connsiteX67" fmla="*/ 300599 w 596834"/>
                <a:gd name="connsiteY67" fmla="*/ 337207 h 596834"/>
                <a:gd name="connsiteX68" fmla="*/ 167525 w 596834"/>
                <a:gd name="connsiteY68" fmla="*/ 470281 h 596834"/>
                <a:gd name="connsiteX69" fmla="*/ 34450 w 596834"/>
                <a:gd name="connsiteY69" fmla="*/ 337207 h 596834"/>
                <a:gd name="connsiteX70" fmla="*/ 167525 w 596834"/>
                <a:gd name="connsiteY70" fmla="*/ 204132 h 596834"/>
                <a:gd name="connsiteX71" fmla="*/ 167525 w 596834"/>
                <a:gd name="connsiteY71" fmla="*/ 223385 h 596834"/>
                <a:gd name="connsiteX72" fmla="*/ 53703 w 596834"/>
                <a:gd name="connsiteY72" fmla="*/ 337207 h 596834"/>
                <a:gd name="connsiteX73" fmla="*/ 167525 w 596834"/>
                <a:gd name="connsiteY73" fmla="*/ 451028 h 596834"/>
                <a:gd name="connsiteX74" fmla="*/ 281346 w 596834"/>
                <a:gd name="connsiteY74" fmla="*/ 337207 h 596834"/>
                <a:gd name="connsiteX75" fmla="*/ 167525 w 596834"/>
                <a:gd name="connsiteY75" fmla="*/ 223385 h 596834"/>
                <a:gd name="connsiteX76" fmla="*/ 192272 w 596834"/>
                <a:gd name="connsiteY76" fmla="*/ 346833 h 596834"/>
                <a:gd name="connsiteX77" fmla="*/ 167525 w 596834"/>
                <a:gd name="connsiteY77" fmla="*/ 363754 h 596834"/>
                <a:gd name="connsiteX78" fmla="*/ 140978 w 596834"/>
                <a:gd name="connsiteY78" fmla="*/ 337207 h 596834"/>
                <a:gd name="connsiteX79" fmla="*/ 157899 w 596834"/>
                <a:gd name="connsiteY79" fmla="*/ 312458 h 596834"/>
                <a:gd name="connsiteX80" fmla="*/ 157899 w 596834"/>
                <a:gd name="connsiteY80" fmla="*/ 279366 h 596834"/>
                <a:gd name="connsiteX81" fmla="*/ 167525 w 596834"/>
                <a:gd name="connsiteY81" fmla="*/ 269739 h 596834"/>
                <a:gd name="connsiteX82" fmla="*/ 177152 w 596834"/>
                <a:gd name="connsiteY82" fmla="*/ 279366 h 596834"/>
                <a:gd name="connsiteX83" fmla="*/ 177152 w 596834"/>
                <a:gd name="connsiteY83" fmla="*/ 312459 h 596834"/>
                <a:gd name="connsiteX84" fmla="*/ 192272 w 596834"/>
                <a:gd name="connsiteY84" fmla="*/ 327581 h 596834"/>
                <a:gd name="connsiteX85" fmla="*/ 225367 w 596834"/>
                <a:gd name="connsiteY85" fmla="*/ 327581 h 596834"/>
                <a:gd name="connsiteX86" fmla="*/ 234993 w 596834"/>
                <a:gd name="connsiteY86" fmla="*/ 337207 h 596834"/>
                <a:gd name="connsiteX87" fmla="*/ 225367 w 596834"/>
                <a:gd name="connsiteY87" fmla="*/ 346833 h 596834"/>
                <a:gd name="connsiteX88" fmla="*/ 167525 w 596834"/>
                <a:gd name="connsiteY88" fmla="*/ 329911 h 596834"/>
                <a:gd name="connsiteX89" fmla="*/ 160231 w 596834"/>
                <a:gd name="connsiteY89" fmla="*/ 337207 h 596834"/>
                <a:gd name="connsiteX90" fmla="*/ 167525 w 596834"/>
                <a:gd name="connsiteY90" fmla="*/ 344501 h 596834"/>
                <a:gd name="connsiteX91" fmla="*/ 174818 w 596834"/>
                <a:gd name="connsiteY91" fmla="*/ 337207 h 596834"/>
                <a:gd name="connsiteX92" fmla="*/ 167525 w 596834"/>
                <a:gd name="connsiteY92" fmla="*/ 329911 h 596834"/>
                <a:gd name="connsiteX93" fmla="*/ 243832 w 596834"/>
                <a:gd name="connsiteY93" fmla="*/ 399900 h 596834"/>
                <a:gd name="connsiteX94" fmla="*/ 243832 w 596834"/>
                <a:gd name="connsiteY94" fmla="*/ 413513 h 596834"/>
                <a:gd name="connsiteX95" fmla="*/ 230218 w 596834"/>
                <a:gd name="connsiteY95" fmla="*/ 413513 h 596834"/>
                <a:gd name="connsiteX96" fmla="*/ 222684 w 596834"/>
                <a:gd name="connsiteY96" fmla="*/ 405979 h 596834"/>
                <a:gd name="connsiteX97" fmla="*/ 222684 w 596834"/>
                <a:gd name="connsiteY97" fmla="*/ 392366 h 596834"/>
                <a:gd name="connsiteX98" fmla="*/ 236298 w 596834"/>
                <a:gd name="connsiteY98" fmla="*/ 392366 h 596834"/>
                <a:gd name="connsiteX99" fmla="*/ 104832 w 596834"/>
                <a:gd name="connsiteY99" fmla="*/ 413513 h 596834"/>
                <a:gd name="connsiteX100" fmla="*/ 91218 w 596834"/>
                <a:gd name="connsiteY100" fmla="*/ 413513 h 596834"/>
                <a:gd name="connsiteX101" fmla="*/ 91218 w 596834"/>
                <a:gd name="connsiteY101" fmla="*/ 399900 h 596834"/>
                <a:gd name="connsiteX102" fmla="*/ 98752 w 596834"/>
                <a:gd name="connsiteY102" fmla="*/ 392366 h 596834"/>
                <a:gd name="connsiteX103" fmla="*/ 112365 w 596834"/>
                <a:gd name="connsiteY103" fmla="*/ 392366 h 596834"/>
                <a:gd name="connsiteX104" fmla="*/ 112366 w 596834"/>
                <a:gd name="connsiteY104" fmla="*/ 405979 h 596834"/>
                <a:gd name="connsiteX105" fmla="*/ 91218 w 596834"/>
                <a:gd name="connsiteY105" fmla="*/ 274513 h 596834"/>
                <a:gd name="connsiteX106" fmla="*/ 91218 w 596834"/>
                <a:gd name="connsiteY106" fmla="*/ 260899 h 596834"/>
                <a:gd name="connsiteX107" fmla="*/ 104832 w 596834"/>
                <a:gd name="connsiteY107" fmla="*/ 260900 h 596834"/>
                <a:gd name="connsiteX108" fmla="*/ 112366 w 596834"/>
                <a:gd name="connsiteY108" fmla="*/ 268434 h 596834"/>
                <a:gd name="connsiteX109" fmla="*/ 112365 w 596834"/>
                <a:gd name="connsiteY109" fmla="*/ 282047 h 596834"/>
                <a:gd name="connsiteX110" fmla="*/ 98752 w 596834"/>
                <a:gd name="connsiteY110" fmla="*/ 282047 h 596834"/>
                <a:gd name="connsiteX111" fmla="*/ 69238 w 596834"/>
                <a:gd name="connsiteY111" fmla="*/ 346832 h 596834"/>
                <a:gd name="connsiteX112" fmla="*/ 59611 w 596834"/>
                <a:gd name="connsiteY112" fmla="*/ 337206 h 596834"/>
                <a:gd name="connsiteX113" fmla="*/ 69238 w 596834"/>
                <a:gd name="connsiteY113" fmla="*/ 327579 h 596834"/>
                <a:gd name="connsiteX114" fmla="*/ 79892 w 596834"/>
                <a:gd name="connsiteY114" fmla="*/ 327579 h 596834"/>
                <a:gd name="connsiteX115" fmla="*/ 89518 w 596834"/>
                <a:gd name="connsiteY115" fmla="*/ 337206 h 596834"/>
                <a:gd name="connsiteX116" fmla="*/ 79892 w 596834"/>
                <a:gd name="connsiteY116" fmla="*/ 346832 h 596834"/>
                <a:gd name="connsiteX117" fmla="*/ 177152 w 596834"/>
                <a:gd name="connsiteY117" fmla="*/ 435493 h 596834"/>
                <a:gd name="connsiteX118" fmla="*/ 167525 w 596834"/>
                <a:gd name="connsiteY118" fmla="*/ 445120 h 596834"/>
                <a:gd name="connsiteX119" fmla="*/ 157899 w 596834"/>
                <a:gd name="connsiteY119" fmla="*/ 435493 h 596834"/>
                <a:gd name="connsiteX120" fmla="*/ 157899 w 596834"/>
                <a:gd name="connsiteY120" fmla="*/ 424839 h 596834"/>
                <a:gd name="connsiteX121" fmla="*/ 167525 w 596834"/>
                <a:gd name="connsiteY121" fmla="*/ 415213 h 596834"/>
                <a:gd name="connsiteX122" fmla="*/ 177152 w 596834"/>
                <a:gd name="connsiteY122" fmla="*/ 424839 h 596834"/>
                <a:gd name="connsiteX123" fmla="*/ 230218 w 596834"/>
                <a:gd name="connsiteY123" fmla="*/ 260899 h 596834"/>
                <a:gd name="connsiteX124" fmla="*/ 243832 w 596834"/>
                <a:gd name="connsiteY124" fmla="*/ 260899 h 596834"/>
                <a:gd name="connsiteX125" fmla="*/ 243832 w 596834"/>
                <a:gd name="connsiteY125" fmla="*/ 274513 h 596834"/>
                <a:gd name="connsiteX126" fmla="*/ 236298 w 596834"/>
                <a:gd name="connsiteY126" fmla="*/ 282047 h 596834"/>
                <a:gd name="connsiteX127" fmla="*/ 222684 w 596834"/>
                <a:gd name="connsiteY127" fmla="*/ 282047 h 596834"/>
                <a:gd name="connsiteX128" fmla="*/ 222684 w 596834"/>
                <a:gd name="connsiteY128" fmla="*/ 268434 h 596834"/>
                <a:gd name="connsiteX129" fmla="*/ 265813 w 596834"/>
                <a:gd name="connsiteY129" fmla="*/ 327579 h 596834"/>
                <a:gd name="connsiteX130" fmla="*/ 275439 w 596834"/>
                <a:gd name="connsiteY130" fmla="*/ 337206 h 596834"/>
                <a:gd name="connsiteX131" fmla="*/ 265813 w 596834"/>
                <a:gd name="connsiteY131" fmla="*/ 346832 h 596834"/>
                <a:gd name="connsiteX132" fmla="*/ 255159 w 596834"/>
                <a:gd name="connsiteY132" fmla="*/ 346832 h 596834"/>
                <a:gd name="connsiteX133" fmla="*/ 245533 w 596834"/>
                <a:gd name="connsiteY133" fmla="*/ 337206 h 596834"/>
                <a:gd name="connsiteX134" fmla="*/ 255159 w 596834"/>
                <a:gd name="connsiteY134" fmla="*/ 327579 h 596834"/>
                <a:gd name="connsiteX135" fmla="*/ 157899 w 596834"/>
                <a:gd name="connsiteY135" fmla="*/ 238918 h 596834"/>
                <a:gd name="connsiteX136" fmla="*/ 167525 w 596834"/>
                <a:gd name="connsiteY136" fmla="*/ 229292 h 596834"/>
                <a:gd name="connsiteX137" fmla="*/ 177152 w 596834"/>
                <a:gd name="connsiteY137" fmla="*/ 238918 h 596834"/>
                <a:gd name="connsiteX138" fmla="*/ 177152 w 596834"/>
                <a:gd name="connsiteY138" fmla="*/ 249573 h 596834"/>
                <a:gd name="connsiteX139" fmla="*/ 167525 w 596834"/>
                <a:gd name="connsiteY139" fmla="*/ 259198 h 596834"/>
                <a:gd name="connsiteX140" fmla="*/ 157899 w 596834"/>
                <a:gd name="connsiteY140" fmla="*/ 249573 h 596834"/>
                <a:gd name="connsiteX141" fmla="*/ 140830 w 596834"/>
                <a:gd name="connsiteY141" fmla="*/ 130759 h 596834"/>
                <a:gd name="connsiteX142" fmla="*/ 140830 w 596834"/>
                <a:gd name="connsiteY142" fmla="*/ 142058 h 596834"/>
                <a:gd name="connsiteX143" fmla="*/ 194219 w 596834"/>
                <a:gd name="connsiteY143" fmla="*/ 142058 h 596834"/>
                <a:gd name="connsiteX144" fmla="*/ 194219 w 596834"/>
                <a:gd name="connsiteY144" fmla="*/ 130759 h 596834"/>
                <a:gd name="connsiteX145" fmla="*/ 475670 w 596834"/>
                <a:gd name="connsiteY145" fmla="*/ 20888 h 596834"/>
                <a:gd name="connsiteX146" fmla="*/ 498911 w 596834"/>
                <a:gd name="connsiteY146" fmla="*/ 30315 h 596834"/>
                <a:gd name="connsiteX147" fmla="*/ 513863 w 596834"/>
                <a:gd name="connsiteY147" fmla="*/ 23814 h 596834"/>
                <a:gd name="connsiteX148" fmla="*/ 524431 w 596834"/>
                <a:gd name="connsiteY148" fmla="*/ 25760 h 596834"/>
                <a:gd name="connsiteX149" fmla="*/ 547254 w 596834"/>
                <a:gd name="connsiteY149" fmla="*/ 48076 h 596834"/>
                <a:gd name="connsiteX150" fmla="*/ 549293 w 596834"/>
                <a:gd name="connsiteY150" fmla="*/ 58931 h 596834"/>
                <a:gd name="connsiteX151" fmla="*/ 542785 w 596834"/>
                <a:gd name="connsiteY151" fmla="*/ 73296 h 596834"/>
                <a:gd name="connsiteX152" fmla="*/ 552312 w 596834"/>
                <a:gd name="connsiteY152" fmla="*/ 95821 h 596834"/>
                <a:gd name="connsiteX153" fmla="*/ 567454 w 596834"/>
                <a:gd name="connsiteY153" fmla="*/ 101520 h 596834"/>
                <a:gd name="connsiteX154" fmla="*/ 573690 w 596834"/>
                <a:gd name="connsiteY154" fmla="*/ 110529 h 596834"/>
                <a:gd name="connsiteX155" fmla="*/ 573690 w 596834"/>
                <a:gd name="connsiteY155" fmla="*/ 142097 h 596834"/>
                <a:gd name="connsiteX156" fmla="*/ 567454 w 596834"/>
                <a:gd name="connsiteY156" fmla="*/ 151106 h 596834"/>
                <a:gd name="connsiteX157" fmla="*/ 552306 w 596834"/>
                <a:gd name="connsiteY157" fmla="*/ 156806 h 596834"/>
                <a:gd name="connsiteX158" fmla="*/ 542780 w 596834"/>
                <a:gd name="connsiteY158" fmla="*/ 179286 h 596834"/>
                <a:gd name="connsiteX159" fmla="*/ 549293 w 596834"/>
                <a:gd name="connsiteY159" fmla="*/ 193662 h 596834"/>
                <a:gd name="connsiteX160" fmla="*/ 547254 w 596834"/>
                <a:gd name="connsiteY160" fmla="*/ 204518 h 596834"/>
                <a:gd name="connsiteX161" fmla="*/ 524431 w 596834"/>
                <a:gd name="connsiteY161" fmla="*/ 226835 h 596834"/>
                <a:gd name="connsiteX162" fmla="*/ 513875 w 596834"/>
                <a:gd name="connsiteY162" fmla="*/ 228785 h 596834"/>
                <a:gd name="connsiteX163" fmla="*/ 498925 w 596834"/>
                <a:gd name="connsiteY163" fmla="*/ 222309 h 596834"/>
                <a:gd name="connsiteX164" fmla="*/ 475667 w 596834"/>
                <a:gd name="connsiteY164" fmla="*/ 231740 h 596834"/>
                <a:gd name="connsiteX165" fmla="*/ 469859 w 596834"/>
                <a:gd name="connsiteY165" fmla="*/ 246494 h 596834"/>
                <a:gd name="connsiteX166" fmla="*/ 460902 w 596834"/>
                <a:gd name="connsiteY166" fmla="*/ 252595 h 596834"/>
                <a:gd name="connsiteX167" fmla="*/ 428618 w 596834"/>
                <a:gd name="connsiteY167" fmla="*/ 252595 h 596834"/>
                <a:gd name="connsiteX168" fmla="*/ 419660 w 596834"/>
                <a:gd name="connsiteY168" fmla="*/ 246494 h 596834"/>
                <a:gd name="connsiteX169" fmla="*/ 413854 w 596834"/>
                <a:gd name="connsiteY169" fmla="*/ 231742 h 596834"/>
                <a:gd name="connsiteX170" fmla="*/ 390579 w 596834"/>
                <a:gd name="connsiteY170" fmla="*/ 222303 h 596834"/>
                <a:gd name="connsiteX171" fmla="*/ 375613 w 596834"/>
                <a:gd name="connsiteY171" fmla="*/ 228785 h 596834"/>
                <a:gd name="connsiteX172" fmla="*/ 365056 w 596834"/>
                <a:gd name="connsiteY172" fmla="*/ 226835 h 596834"/>
                <a:gd name="connsiteX173" fmla="*/ 342233 w 596834"/>
                <a:gd name="connsiteY173" fmla="*/ 204518 h 596834"/>
                <a:gd name="connsiteX174" fmla="*/ 340199 w 596834"/>
                <a:gd name="connsiteY174" fmla="*/ 193650 h 596834"/>
                <a:gd name="connsiteX175" fmla="*/ 346727 w 596834"/>
                <a:gd name="connsiteY175" fmla="*/ 179296 h 596834"/>
                <a:gd name="connsiteX176" fmla="*/ 337194 w 596834"/>
                <a:gd name="connsiteY176" fmla="*/ 156811 h 596834"/>
                <a:gd name="connsiteX177" fmla="*/ 322033 w 596834"/>
                <a:gd name="connsiteY177" fmla="*/ 151106 h 596834"/>
                <a:gd name="connsiteX178" fmla="*/ 315798 w 596834"/>
                <a:gd name="connsiteY178" fmla="*/ 142097 h 596834"/>
                <a:gd name="connsiteX179" fmla="*/ 315798 w 596834"/>
                <a:gd name="connsiteY179" fmla="*/ 110529 h 596834"/>
                <a:gd name="connsiteX180" fmla="*/ 322033 w 596834"/>
                <a:gd name="connsiteY180" fmla="*/ 101520 h 596834"/>
                <a:gd name="connsiteX181" fmla="*/ 337190 w 596834"/>
                <a:gd name="connsiteY181" fmla="*/ 95816 h 596834"/>
                <a:gd name="connsiteX182" fmla="*/ 346730 w 596834"/>
                <a:gd name="connsiteY182" fmla="*/ 73305 h 596834"/>
                <a:gd name="connsiteX183" fmla="*/ 340199 w 596834"/>
                <a:gd name="connsiteY183" fmla="*/ 58945 h 596834"/>
                <a:gd name="connsiteX184" fmla="*/ 342233 w 596834"/>
                <a:gd name="connsiteY184" fmla="*/ 48076 h 596834"/>
                <a:gd name="connsiteX185" fmla="*/ 365056 w 596834"/>
                <a:gd name="connsiteY185" fmla="*/ 25760 h 596834"/>
                <a:gd name="connsiteX186" fmla="*/ 375625 w 596834"/>
                <a:gd name="connsiteY186" fmla="*/ 23814 h 596834"/>
                <a:gd name="connsiteX187" fmla="*/ 390575 w 596834"/>
                <a:gd name="connsiteY187" fmla="*/ 30316 h 596834"/>
                <a:gd name="connsiteX188" fmla="*/ 413826 w 596834"/>
                <a:gd name="connsiteY188" fmla="*/ 20886 h 596834"/>
                <a:gd name="connsiteX189" fmla="*/ 419663 w 596834"/>
                <a:gd name="connsiteY189" fmla="*/ 6092 h 596834"/>
                <a:gd name="connsiteX190" fmla="*/ 428618 w 596834"/>
                <a:gd name="connsiteY190" fmla="*/ 0 h 596834"/>
                <a:gd name="connsiteX191" fmla="*/ 460902 w 596834"/>
                <a:gd name="connsiteY191" fmla="*/ 0 h 596834"/>
                <a:gd name="connsiteX192" fmla="*/ 469862 w 596834"/>
                <a:gd name="connsiteY192" fmla="*/ 6106 h 596834"/>
                <a:gd name="connsiteX193" fmla="*/ 459551 w 596834"/>
                <a:gd name="connsiteY193" fmla="*/ 32507 h 596834"/>
                <a:gd name="connsiteX194" fmla="*/ 454342 w 596834"/>
                <a:gd name="connsiteY194" fmla="*/ 19253 h 596834"/>
                <a:gd name="connsiteX195" fmla="*/ 435167 w 596834"/>
                <a:gd name="connsiteY195" fmla="*/ 19253 h 596834"/>
                <a:gd name="connsiteX196" fmla="*/ 429932 w 596834"/>
                <a:gd name="connsiteY196" fmla="*/ 32520 h 596834"/>
                <a:gd name="connsiteX197" fmla="*/ 423156 w 596834"/>
                <a:gd name="connsiteY197" fmla="*/ 38363 h 596834"/>
                <a:gd name="connsiteX198" fmla="*/ 396131 w 596834"/>
                <a:gd name="connsiteY198" fmla="*/ 49312 h 596834"/>
                <a:gd name="connsiteX199" fmla="*/ 387325 w 596834"/>
                <a:gd name="connsiteY199" fmla="*/ 49895 h 596834"/>
                <a:gd name="connsiteX200" fmla="*/ 373887 w 596834"/>
                <a:gd name="connsiteY200" fmla="*/ 44053 h 596834"/>
                <a:gd name="connsiteX201" fmla="*/ 360521 w 596834"/>
                <a:gd name="connsiteY201" fmla="*/ 57122 h 596834"/>
                <a:gd name="connsiteX202" fmla="*/ 366341 w 596834"/>
                <a:gd name="connsiteY202" fmla="*/ 69922 h 596834"/>
                <a:gd name="connsiteX203" fmla="*/ 365723 w 596834"/>
                <a:gd name="connsiteY203" fmla="*/ 79039 h 596834"/>
                <a:gd name="connsiteX204" fmla="*/ 354540 w 596834"/>
                <a:gd name="connsiteY204" fmla="*/ 105385 h 596834"/>
                <a:gd name="connsiteX205" fmla="*/ 348582 w 596834"/>
                <a:gd name="connsiteY205" fmla="*/ 112100 h 596834"/>
                <a:gd name="connsiteX206" fmla="*/ 335051 w 596834"/>
                <a:gd name="connsiteY206" fmla="*/ 117191 h 596834"/>
                <a:gd name="connsiteX207" fmla="*/ 335051 w 596834"/>
                <a:gd name="connsiteY207" fmla="*/ 135435 h 596834"/>
                <a:gd name="connsiteX208" fmla="*/ 348582 w 596834"/>
                <a:gd name="connsiteY208" fmla="*/ 140527 h 596834"/>
                <a:gd name="connsiteX209" fmla="*/ 354538 w 596834"/>
                <a:gd name="connsiteY209" fmla="*/ 147234 h 596834"/>
                <a:gd name="connsiteX210" fmla="*/ 365714 w 596834"/>
                <a:gd name="connsiteY210" fmla="*/ 173543 h 596834"/>
                <a:gd name="connsiteX211" fmla="*/ 366341 w 596834"/>
                <a:gd name="connsiteY211" fmla="*/ 182672 h 596834"/>
                <a:gd name="connsiteX212" fmla="*/ 360521 w 596834"/>
                <a:gd name="connsiteY212" fmla="*/ 195473 h 596834"/>
                <a:gd name="connsiteX213" fmla="*/ 373893 w 596834"/>
                <a:gd name="connsiteY213" fmla="*/ 208549 h 596834"/>
                <a:gd name="connsiteX214" fmla="*/ 387337 w 596834"/>
                <a:gd name="connsiteY214" fmla="*/ 202725 h 596834"/>
                <a:gd name="connsiteX215" fmla="*/ 396111 w 596834"/>
                <a:gd name="connsiteY215" fmla="*/ 203302 h 596834"/>
                <a:gd name="connsiteX216" fmla="*/ 423182 w 596834"/>
                <a:gd name="connsiteY216" fmla="*/ 214261 h 596834"/>
                <a:gd name="connsiteX217" fmla="*/ 429967 w 596834"/>
                <a:gd name="connsiteY217" fmla="*/ 220114 h 596834"/>
                <a:gd name="connsiteX218" fmla="*/ 435173 w 596834"/>
                <a:gd name="connsiteY218" fmla="*/ 233342 h 596834"/>
                <a:gd name="connsiteX219" fmla="*/ 454345 w 596834"/>
                <a:gd name="connsiteY219" fmla="*/ 233342 h 596834"/>
                <a:gd name="connsiteX220" fmla="*/ 459552 w 596834"/>
                <a:gd name="connsiteY220" fmla="*/ 220114 h 596834"/>
                <a:gd name="connsiteX221" fmla="*/ 466331 w 596834"/>
                <a:gd name="connsiteY221" fmla="*/ 214263 h 596834"/>
                <a:gd name="connsiteX222" fmla="*/ 493343 w 596834"/>
                <a:gd name="connsiteY222" fmla="*/ 203321 h 596834"/>
                <a:gd name="connsiteX223" fmla="*/ 502150 w 596834"/>
                <a:gd name="connsiteY223" fmla="*/ 202725 h 596834"/>
                <a:gd name="connsiteX224" fmla="*/ 515594 w 596834"/>
                <a:gd name="connsiteY224" fmla="*/ 208548 h 596834"/>
                <a:gd name="connsiteX225" fmla="*/ 528974 w 596834"/>
                <a:gd name="connsiteY225" fmla="*/ 195466 h 596834"/>
                <a:gd name="connsiteX226" fmla="*/ 523173 w 596834"/>
                <a:gd name="connsiteY226" fmla="*/ 182660 h 596834"/>
                <a:gd name="connsiteX227" fmla="*/ 523784 w 596834"/>
                <a:gd name="connsiteY227" fmla="*/ 173577 h 596834"/>
                <a:gd name="connsiteX228" fmla="*/ 534942 w 596834"/>
                <a:gd name="connsiteY228" fmla="*/ 147263 h 596834"/>
                <a:gd name="connsiteX229" fmla="*/ 540906 w 596834"/>
                <a:gd name="connsiteY229" fmla="*/ 140527 h 596834"/>
                <a:gd name="connsiteX230" fmla="*/ 554437 w 596834"/>
                <a:gd name="connsiteY230" fmla="*/ 135435 h 596834"/>
                <a:gd name="connsiteX231" fmla="*/ 554437 w 596834"/>
                <a:gd name="connsiteY231" fmla="*/ 117191 h 596834"/>
                <a:gd name="connsiteX232" fmla="*/ 540906 w 596834"/>
                <a:gd name="connsiteY232" fmla="*/ 112100 h 596834"/>
                <a:gd name="connsiteX233" fmla="*/ 534941 w 596834"/>
                <a:gd name="connsiteY233" fmla="*/ 105357 h 596834"/>
                <a:gd name="connsiteX234" fmla="*/ 523797 w 596834"/>
                <a:gd name="connsiteY234" fmla="*/ 79039 h 596834"/>
                <a:gd name="connsiteX235" fmla="*/ 523173 w 596834"/>
                <a:gd name="connsiteY235" fmla="*/ 69934 h 596834"/>
                <a:gd name="connsiteX236" fmla="*/ 528974 w 596834"/>
                <a:gd name="connsiteY236" fmla="*/ 57129 h 596834"/>
                <a:gd name="connsiteX237" fmla="*/ 515600 w 596834"/>
                <a:gd name="connsiteY237" fmla="*/ 44053 h 596834"/>
                <a:gd name="connsiteX238" fmla="*/ 502162 w 596834"/>
                <a:gd name="connsiteY238" fmla="*/ 49895 h 596834"/>
                <a:gd name="connsiteX239" fmla="*/ 493356 w 596834"/>
                <a:gd name="connsiteY239" fmla="*/ 49312 h 596834"/>
                <a:gd name="connsiteX240" fmla="*/ 466331 w 596834"/>
                <a:gd name="connsiteY240" fmla="*/ 38363 h 596834"/>
                <a:gd name="connsiteX241" fmla="*/ 459551 w 596834"/>
                <a:gd name="connsiteY241" fmla="*/ 32507 h 596834"/>
                <a:gd name="connsiteX242" fmla="*/ 444743 w 596834"/>
                <a:gd name="connsiteY242" fmla="*/ 61610 h 596834"/>
                <a:gd name="connsiteX243" fmla="*/ 510714 w 596834"/>
                <a:gd name="connsiteY243" fmla="*/ 126297 h 596834"/>
                <a:gd name="connsiteX244" fmla="*/ 444743 w 596834"/>
                <a:gd name="connsiteY244" fmla="*/ 191016 h 596834"/>
                <a:gd name="connsiteX245" fmla="*/ 378806 w 596834"/>
                <a:gd name="connsiteY245" fmla="*/ 126297 h 596834"/>
                <a:gd name="connsiteX246" fmla="*/ 444743 w 596834"/>
                <a:gd name="connsiteY246" fmla="*/ 61610 h 596834"/>
                <a:gd name="connsiteX247" fmla="*/ 444743 w 596834"/>
                <a:gd name="connsiteY247" fmla="*/ 80863 h 596834"/>
                <a:gd name="connsiteX248" fmla="*/ 398059 w 596834"/>
                <a:gd name="connsiteY248" fmla="*/ 126297 h 596834"/>
                <a:gd name="connsiteX249" fmla="*/ 444743 w 596834"/>
                <a:gd name="connsiteY249" fmla="*/ 171763 h 596834"/>
                <a:gd name="connsiteX250" fmla="*/ 491461 w 596834"/>
                <a:gd name="connsiteY250" fmla="*/ 126297 h 596834"/>
                <a:gd name="connsiteX251" fmla="*/ 444743 w 596834"/>
                <a:gd name="connsiteY251" fmla="*/ 80863 h 596834"/>
                <a:gd name="connsiteX252" fmla="*/ 472998 w 596834"/>
                <a:gd name="connsiteY252" fmla="*/ 322151 h 596834"/>
                <a:gd name="connsiteX253" fmla="*/ 472998 w 596834"/>
                <a:gd name="connsiteY253" fmla="*/ 587209 h 596834"/>
                <a:gd name="connsiteX254" fmla="*/ 463371 w 596834"/>
                <a:gd name="connsiteY254" fmla="*/ 596835 h 596834"/>
                <a:gd name="connsiteX255" fmla="*/ 396697 w 596834"/>
                <a:gd name="connsiteY255" fmla="*/ 596835 h 596834"/>
                <a:gd name="connsiteX256" fmla="*/ 387070 w 596834"/>
                <a:gd name="connsiteY256" fmla="*/ 587209 h 596834"/>
                <a:gd name="connsiteX257" fmla="*/ 387070 w 596834"/>
                <a:gd name="connsiteY257" fmla="*/ 322151 h 596834"/>
                <a:gd name="connsiteX258" fmla="*/ 396697 w 596834"/>
                <a:gd name="connsiteY258" fmla="*/ 312525 h 596834"/>
                <a:gd name="connsiteX259" fmla="*/ 463371 w 596834"/>
                <a:gd name="connsiteY259" fmla="*/ 312525 h 596834"/>
                <a:gd name="connsiteX260" fmla="*/ 472998 w 596834"/>
                <a:gd name="connsiteY260" fmla="*/ 322151 h 596834"/>
                <a:gd name="connsiteX261" fmla="*/ 453745 w 596834"/>
                <a:gd name="connsiteY261" fmla="*/ 331778 h 596834"/>
                <a:gd name="connsiteX262" fmla="*/ 406323 w 596834"/>
                <a:gd name="connsiteY262" fmla="*/ 331778 h 596834"/>
                <a:gd name="connsiteX263" fmla="*/ 406323 w 596834"/>
                <a:gd name="connsiteY263" fmla="*/ 577582 h 596834"/>
                <a:gd name="connsiteX264" fmla="*/ 453745 w 596834"/>
                <a:gd name="connsiteY264" fmla="*/ 577582 h 596834"/>
                <a:gd name="connsiteX265" fmla="*/ 520534 w 596834"/>
                <a:gd name="connsiteY265" fmla="*/ 249568 h 596834"/>
                <a:gd name="connsiteX266" fmla="*/ 587209 w 596834"/>
                <a:gd name="connsiteY266" fmla="*/ 249568 h 596834"/>
                <a:gd name="connsiteX267" fmla="*/ 596835 w 596834"/>
                <a:gd name="connsiteY267" fmla="*/ 259195 h 596834"/>
                <a:gd name="connsiteX268" fmla="*/ 596835 w 596834"/>
                <a:gd name="connsiteY268" fmla="*/ 587209 h 596834"/>
                <a:gd name="connsiteX269" fmla="*/ 587209 w 596834"/>
                <a:gd name="connsiteY269" fmla="*/ 596835 h 596834"/>
                <a:gd name="connsiteX270" fmla="*/ 520534 w 596834"/>
                <a:gd name="connsiteY270" fmla="*/ 596835 h 596834"/>
                <a:gd name="connsiteX271" fmla="*/ 510907 w 596834"/>
                <a:gd name="connsiteY271" fmla="*/ 587209 h 596834"/>
                <a:gd name="connsiteX272" fmla="*/ 510907 w 596834"/>
                <a:gd name="connsiteY272" fmla="*/ 259195 h 596834"/>
                <a:gd name="connsiteX273" fmla="*/ 520534 w 596834"/>
                <a:gd name="connsiteY273" fmla="*/ 249568 h 596834"/>
                <a:gd name="connsiteX274" fmla="*/ 530160 w 596834"/>
                <a:gd name="connsiteY274" fmla="*/ 268821 h 596834"/>
                <a:gd name="connsiteX275" fmla="*/ 530160 w 596834"/>
                <a:gd name="connsiteY275" fmla="*/ 577582 h 596834"/>
                <a:gd name="connsiteX276" fmla="*/ 577582 w 596834"/>
                <a:gd name="connsiteY276" fmla="*/ 577582 h 596834"/>
                <a:gd name="connsiteX277" fmla="*/ 577582 w 596834"/>
                <a:gd name="connsiteY277" fmla="*/ 268821 h 59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596834" h="596834">
                  <a:moveTo>
                    <a:pt x="139308" y="502365"/>
                  </a:moveTo>
                  <a:cubicBezTo>
                    <a:pt x="60223" y="488951"/>
                    <a:pt x="0" y="420112"/>
                    <a:pt x="0" y="337207"/>
                  </a:cubicBezTo>
                  <a:cubicBezTo>
                    <a:pt x="0" y="301755"/>
                    <a:pt x="11013" y="268875"/>
                    <a:pt x="29802" y="241801"/>
                  </a:cubicBezTo>
                  <a:lnTo>
                    <a:pt x="22512" y="234512"/>
                  </a:lnTo>
                  <a:cubicBezTo>
                    <a:pt x="15835" y="227834"/>
                    <a:pt x="15835" y="216941"/>
                    <a:pt x="22512" y="210264"/>
                  </a:cubicBezTo>
                  <a:lnTo>
                    <a:pt x="40582" y="192194"/>
                  </a:lnTo>
                  <a:cubicBezTo>
                    <a:pt x="47259" y="185516"/>
                    <a:pt x="58153" y="185516"/>
                    <a:pt x="64831" y="192194"/>
                  </a:cubicBezTo>
                  <a:lnTo>
                    <a:pt x="72121" y="199484"/>
                  </a:lnTo>
                  <a:cubicBezTo>
                    <a:pt x="91394" y="186107"/>
                    <a:pt x="113610" y="176672"/>
                    <a:pt x="137602" y="172346"/>
                  </a:cubicBezTo>
                  <a:lnTo>
                    <a:pt x="137602" y="161269"/>
                  </a:lnTo>
                  <a:cubicBezTo>
                    <a:pt x="128997" y="160654"/>
                    <a:pt x="121579" y="153028"/>
                    <a:pt x="121579" y="143082"/>
                  </a:cubicBezTo>
                  <a:lnTo>
                    <a:pt x="121579" y="129735"/>
                  </a:lnTo>
                  <a:cubicBezTo>
                    <a:pt x="121579" y="119356"/>
                    <a:pt x="129653" y="111506"/>
                    <a:pt x="138724" y="111506"/>
                  </a:cubicBezTo>
                  <a:lnTo>
                    <a:pt x="196326" y="111506"/>
                  </a:lnTo>
                  <a:cubicBezTo>
                    <a:pt x="205398" y="111506"/>
                    <a:pt x="213472" y="119356"/>
                    <a:pt x="213472" y="129735"/>
                  </a:cubicBezTo>
                  <a:lnTo>
                    <a:pt x="213472" y="143082"/>
                  </a:lnTo>
                  <a:cubicBezTo>
                    <a:pt x="213472" y="153028"/>
                    <a:pt x="206054" y="160654"/>
                    <a:pt x="197449" y="161269"/>
                  </a:cubicBezTo>
                  <a:lnTo>
                    <a:pt x="197449" y="172346"/>
                  </a:lnTo>
                  <a:cubicBezTo>
                    <a:pt x="221440" y="176672"/>
                    <a:pt x="243657" y="186107"/>
                    <a:pt x="262930" y="199484"/>
                  </a:cubicBezTo>
                  <a:lnTo>
                    <a:pt x="270219" y="192194"/>
                  </a:lnTo>
                  <a:cubicBezTo>
                    <a:pt x="276898" y="185516"/>
                    <a:pt x="287791" y="185516"/>
                    <a:pt x="294468" y="192194"/>
                  </a:cubicBezTo>
                  <a:lnTo>
                    <a:pt x="312538" y="210264"/>
                  </a:lnTo>
                  <a:cubicBezTo>
                    <a:pt x="319215" y="216941"/>
                    <a:pt x="319215" y="227834"/>
                    <a:pt x="312538" y="234512"/>
                  </a:cubicBezTo>
                  <a:lnTo>
                    <a:pt x="305249" y="241801"/>
                  </a:lnTo>
                  <a:cubicBezTo>
                    <a:pt x="324038" y="268875"/>
                    <a:pt x="335051" y="301755"/>
                    <a:pt x="335051" y="337207"/>
                  </a:cubicBezTo>
                  <a:cubicBezTo>
                    <a:pt x="335051" y="352929"/>
                    <a:pt x="332885" y="368145"/>
                    <a:pt x="328834" y="382572"/>
                  </a:cubicBezTo>
                  <a:lnTo>
                    <a:pt x="339534" y="382572"/>
                  </a:lnTo>
                  <a:cubicBezTo>
                    <a:pt x="344850" y="382572"/>
                    <a:pt x="349160" y="386883"/>
                    <a:pt x="349160" y="392199"/>
                  </a:cubicBezTo>
                  <a:lnTo>
                    <a:pt x="349160" y="587209"/>
                  </a:lnTo>
                  <a:cubicBezTo>
                    <a:pt x="349160" y="592525"/>
                    <a:pt x="344850" y="596835"/>
                    <a:pt x="339534" y="596835"/>
                  </a:cubicBezTo>
                  <a:lnTo>
                    <a:pt x="272858" y="596835"/>
                  </a:lnTo>
                  <a:cubicBezTo>
                    <a:pt x="267542" y="596835"/>
                    <a:pt x="263232" y="592525"/>
                    <a:pt x="263232" y="587209"/>
                  </a:cubicBezTo>
                  <a:lnTo>
                    <a:pt x="263232" y="474718"/>
                  </a:lnTo>
                  <a:cubicBezTo>
                    <a:pt x="251589" y="482837"/>
                    <a:pt x="238866" y="489515"/>
                    <a:pt x="225323" y="494493"/>
                  </a:cubicBezTo>
                  <a:lnTo>
                    <a:pt x="225323" y="587209"/>
                  </a:lnTo>
                  <a:cubicBezTo>
                    <a:pt x="225323" y="592525"/>
                    <a:pt x="221013" y="596835"/>
                    <a:pt x="215697" y="596835"/>
                  </a:cubicBezTo>
                  <a:lnTo>
                    <a:pt x="148934" y="596835"/>
                  </a:lnTo>
                  <a:cubicBezTo>
                    <a:pt x="143618" y="596835"/>
                    <a:pt x="139308" y="592525"/>
                    <a:pt x="139308" y="587209"/>
                  </a:cubicBezTo>
                  <a:close/>
                  <a:moveTo>
                    <a:pt x="41760" y="226533"/>
                  </a:moveTo>
                  <a:cubicBezTo>
                    <a:pt x="46466" y="221189"/>
                    <a:pt x="51508" y="216148"/>
                    <a:pt x="56852" y="211442"/>
                  </a:cubicBezTo>
                  <a:lnTo>
                    <a:pt x="52707" y="207297"/>
                  </a:lnTo>
                  <a:lnTo>
                    <a:pt x="37616" y="222387"/>
                  </a:lnTo>
                  <a:close/>
                  <a:moveTo>
                    <a:pt x="156854" y="170016"/>
                  </a:moveTo>
                  <a:cubicBezTo>
                    <a:pt x="160383" y="169794"/>
                    <a:pt x="163941" y="169682"/>
                    <a:pt x="167525" y="169682"/>
                  </a:cubicBezTo>
                  <a:cubicBezTo>
                    <a:pt x="171110" y="169682"/>
                    <a:pt x="174668" y="169794"/>
                    <a:pt x="178196" y="170016"/>
                  </a:cubicBezTo>
                  <a:lnTo>
                    <a:pt x="178196" y="161310"/>
                  </a:lnTo>
                  <a:lnTo>
                    <a:pt x="156854" y="161310"/>
                  </a:lnTo>
                  <a:close/>
                  <a:moveTo>
                    <a:pt x="278198" y="211442"/>
                  </a:moveTo>
                  <a:cubicBezTo>
                    <a:pt x="283542" y="216148"/>
                    <a:pt x="288583" y="221189"/>
                    <a:pt x="293289" y="226533"/>
                  </a:cubicBezTo>
                  <a:lnTo>
                    <a:pt x="297434" y="222387"/>
                  </a:lnTo>
                  <a:lnTo>
                    <a:pt x="282344" y="207297"/>
                  </a:lnTo>
                  <a:close/>
                  <a:moveTo>
                    <a:pt x="322133" y="401825"/>
                  </a:moveTo>
                  <a:cubicBezTo>
                    <a:pt x="313011" y="423626"/>
                    <a:pt x="299411" y="443089"/>
                    <a:pt x="282485" y="459062"/>
                  </a:cubicBezTo>
                  <a:lnTo>
                    <a:pt x="282485" y="577582"/>
                  </a:lnTo>
                  <a:lnTo>
                    <a:pt x="329908" y="577582"/>
                  </a:lnTo>
                  <a:lnTo>
                    <a:pt x="329908" y="401825"/>
                  </a:lnTo>
                  <a:close/>
                  <a:moveTo>
                    <a:pt x="206070" y="500275"/>
                  </a:moveTo>
                  <a:cubicBezTo>
                    <a:pt x="193695" y="503190"/>
                    <a:pt x="180790" y="504731"/>
                    <a:pt x="167525" y="504731"/>
                  </a:cubicBezTo>
                  <a:cubicBezTo>
                    <a:pt x="164518" y="504731"/>
                    <a:pt x="161529" y="504652"/>
                    <a:pt x="158561" y="504495"/>
                  </a:cubicBezTo>
                  <a:lnTo>
                    <a:pt x="158561" y="577582"/>
                  </a:lnTo>
                  <a:lnTo>
                    <a:pt x="206070" y="577582"/>
                  </a:lnTo>
                  <a:close/>
                  <a:moveTo>
                    <a:pt x="167525" y="188934"/>
                  </a:moveTo>
                  <a:cubicBezTo>
                    <a:pt x="85636" y="188934"/>
                    <a:pt x="19253" y="255318"/>
                    <a:pt x="19253" y="337207"/>
                  </a:cubicBezTo>
                  <a:cubicBezTo>
                    <a:pt x="19253" y="419095"/>
                    <a:pt x="85636" y="485478"/>
                    <a:pt x="167525" y="485478"/>
                  </a:cubicBezTo>
                  <a:cubicBezTo>
                    <a:pt x="249413" y="485478"/>
                    <a:pt x="315798" y="419095"/>
                    <a:pt x="315798" y="337207"/>
                  </a:cubicBezTo>
                  <a:cubicBezTo>
                    <a:pt x="315798" y="255318"/>
                    <a:pt x="249413" y="188934"/>
                    <a:pt x="167525" y="188934"/>
                  </a:cubicBezTo>
                  <a:close/>
                  <a:moveTo>
                    <a:pt x="167525" y="204132"/>
                  </a:moveTo>
                  <a:cubicBezTo>
                    <a:pt x="241018" y="204132"/>
                    <a:pt x="300599" y="263713"/>
                    <a:pt x="300599" y="337207"/>
                  </a:cubicBezTo>
                  <a:cubicBezTo>
                    <a:pt x="300599" y="410699"/>
                    <a:pt x="241018" y="470281"/>
                    <a:pt x="167525" y="470281"/>
                  </a:cubicBezTo>
                  <a:cubicBezTo>
                    <a:pt x="94032" y="470281"/>
                    <a:pt x="34450" y="410699"/>
                    <a:pt x="34450" y="337207"/>
                  </a:cubicBezTo>
                  <a:cubicBezTo>
                    <a:pt x="34450" y="263713"/>
                    <a:pt x="94032" y="204132"/>
                    <a:pt x="167525" y="204132"/>
                  </a:cubicBezTo>
                  <a:close/>
                  <a:moveTo>
                    <a:pt x="167525" y="223385"/>
                  </a:moveTo>
                  <a:cubicBezTo>
                    <a:pt x="104665" y="223385"/>
                    <a:pt x="53703" y="274345"/>
                    <a:pt x="53703" y="337207"/>
                  </a:cubicBezTo>
                  <a:cubicBezTo>
                    <a:pt x="53703" y="400067"/>
                    <a:pt x="104665" y="451028"/>
                    <a:pt x="167525" y="451028"/>
                  </a:cubicBezTo>
                  <a:cubicBezTo>
                    <a:pt x="230385" y="451028"/>
                    <a:pt x="281346" y="400067"/>
                    <a:pt x="281346" y="337207"/>
                  </a:cubicBezTo>
                  <a:cubicBezTo>
                    <a:pt x="281346" y="274345"/>
                    <a:pt x="230385" y="223385"/>
                    <a:pt x="167525" y="223385"/>
                  </a:cubicBezTo>
                  <a:close/>
                  <a:moveTo>
                    <a:pt x="192272" y="346833"/>
                  </a:moveTo>
                  <a:cubicBezTo>
                    <a:pt x="188418" y="356735"/>
                    <a:pt x="178792" y="363754"/>
                    <a:pt x="167525" y="363754"/>
                  </a:cubicBezTo>
                  <a:cubicBezTo>
                    <a:pt x="152863" y="363754"/>
                    <a:pt x="140978" y="351868"/>
                    <a:pt x="140978" y="337207"/>
                  </a:cubicBezTo>
                  <a:cubicBezTo>
                    <a:pt x="140978" y="325940"/>
                    <a:pt x="147996" y="316313"/>
                    <a:pt x="157899" y="312458"/>
                  </a:cubicBezTo>
                  <a:lnTo>
                    <a:pt x="157899" y="279366"/>
                  </a:lnTo>
                  <a:cubicBezTo>
                    <a:pt x="157899" y="274053"/>
                    <a:pt x="162213" y="269739"/>
                    <a:pt x="167525" y="269739"/>
                  </a:cubicBezTo>
                  <a:cubicBezTo>
                    <a:pt x="172838" y="269739"/>
                    <a:pt x="177152" y="274053"/>
                    <a:pt x="177152" y="279366"/>
                  </a:cubicBezTo>
                  <a:lnTo>
                    <a:pt x="177152" y="312459"/>
                  </a:lnTo>
                  <a:cubicBezTo>
                    <a:pt x="184069" y="315152"/>
                    <a:pt x="189579" y="320662"/>
                    <a:pt x="192272" y="327581"/>
                  </a:cubicBezTo>
                  <a:lnTo>
                    <a:pt x="225367" y="327581"/>
                  </a:lnTo>
                  <a:cubicBezTo>
                    <a:pt x="230679" y="327581"/>
                    <a:pt x="234993" y="331894"/>
                    <a:pt x="234993" y="337207"/>
                  </a:cubicBezTo>
                  <a:cubicBezTo>
                    <a:pt x="234993" y="342519"/>
                    <a:pt x="230679" y="346833"/>
                    <a:pt x="225367" y="346833"/>
                  </a:cubicBezTo>
                  <a:close/>
                  <a:moveTo>
                    <a:pt x="167525" y="329911"/>
                  </a:moveTo>
                  <a:cubicBezTo>
                    <a:pt x="163497" y="329911"/>
                    <a:pt x="160231" y="333177"/>
                    <a:pt x="160231" y="337207"/>
                  </a:cubicBezTo>
                  <a:cubicBezTo>
                    <a:pt x="160231" y="341236"/>
                    <a:pt x="163497" y="344501"/>
                    <a:pt x="167525" y="344501"/>
                  </a:cubicBezTo>
                  <a:cubicBezTo>
                    <a:pt x="171554" y="344501"/>
                    <a:pt x="174818" y="341234"/>
                    <a:pt x="174818" y="337207"/>
                  </a:cubicBezTo>
                  <a:cubicBezTo>
                    <a:pt x="174818" y="333178"/>
                    <a:pt x="171554" y="329911"/>
                    <a:pt x="167525" y="329911"/>
                  </a:cubicBezTo>
                  <a:close/>
                  <a:moveTo>
                    <a:pt x="243832" y="399900"/>
                  </a:moveTo>
                  <a:cubicBezTo>
                    <a:pt x="247589" y="403657"/>
                    <a:pt x="247589" y="409756"/>
                    <a:pt x="243832" y="413513"/>
                  </a:cubicBezTo>
                  <a:cubicBezTo>
                    <a:pt x="240076" y="417269"/>
                    <a:pt x="233975" y="417269"/>
                    <a:pt x="230218" y="413513"/>
                  </a:cubicBezTo>
                  <a:lnTo>
                    <a:pt x="222684" y="405979"/>
                  </a:lnTo>
                  <a:cubicBezTo>
                    <a:pt x="218928" y="402222"/>
                    <a:pt x="218928" y="396123"/>
                    <a:pt x="222684" y="392366"/>
                  </a:cubicBezTo>
                  <a:cubicBezTo>
                    <a:pt x="226441" y="388609"/>
                    <a:pt x="232542" y="388609"/>
                    <a:pt x="236298" y="392366"/>
                  </a:cubicBezTo>
                  <a:close/>
                  <a:moveTo>
                    <a:pt x="104832" y="413513"/>
                  </a:moveTo>
                  <a:cubicBezTo>
                    <a:pt x="101076" y="417269"/>
                    <a:pt x="94975" y="417271"/>
                    <a:pt x="91218" y="413513"/>
                  </a:cubicBezTo>
                  <a:cubicBezTo>
                    <a:pt x="87462" y="409756"/>
                    <a:pt x="87462" y="403657"/>
                    <a:pt x="91218" y="399900"/>
                  </a:cubicBezTo>
                  <a:lnTo>
                    <a:pt x="98752" y="392366"/>
                  </a:lnTo>
                  <a:cubicBezTo>
                    <a:pt x="102509" y="388609"/>
                    <a:pt x="108608" y="388609"/>
                    <a:pt x="112365" y="392366"/>
                  </a:cubicBezTo>
                  <a:cubicBezTo>
                    <a:pt x="116123" y="396123"/>
                    <a:pt x="116123" y="402222"/>
                    <a:pt x="112366" y="405979"/>
                  </a:cubicBezTo>
                  <a:close/>
                  <a:moveTo>
                    <a:pt x="91218" y="274513"/>
                  </a:moveTo>
                  <a:cubicBezTo>
                    <a:pt x="87462" y="270756"/>
                    <a:pt x="87462" y="264655"/>
                    <a:pt x="91218" y="260899"/>
                  </a:cubicBezTo>
                  <a:cubicBezTo>
                    <a:pt x="94975" y="257142"/>
                    <a:pt x="101076" y="257142"/>
                    <a:pt x="104832" y="260900"/>
                  </a:cubicBezTo>
                  <a:lnTo>
                    <a:pt x="112366" y="268434"/>
                  </a:lnTo>
                  <a:cubicBezTo>
                    <a:pt x="116123" y="272190"/>
                    <a:pt x="116123" y="278290"/>
                    <a:pt x="112365" y="282047"/>
                  </a:cubicBezTo>
                  <a:cubicBezTo>
                    <a:pt x="108608" y="285803"/>
                    <a:pt x="102509" y="285803"/>
                    <a:pt x="98752" y="282047"/>
                  </a:cubicBezTo>
                  <a:close/>
                  <a:moveTo>
                    <a:pt x="69238" y="346832"/>
                  </a:moveTo>
                  <a:cubicBezTo>
                    <a:pt x="63925" y="346832"/>
                    <a:pt x="59611" y="342518"/>
                    <a:pt x="59611" y="337206"/>
                  </a:cubicBezTo>
                  <a:cubicBezTo>
                    <a:pt x="59611" y="331893"/>
                    <a:pt x="63925" y="327579"/>
                    <a:pt x="69238" y="327579"/>
                  </a:cubicBezTo>
                  <a:lnTo>
                    <a:pt x="79892" y="327579"/>
                  </a:lnTo>
                  <a:cubicBezTo>
                    <a:pt x="85204" y="327579"/>
                    <a:pt x="89518" y="331893"/>
                    <a:pt x="89518" y="337206"/>
                  </a:cubicBezTo>
                  <a:cubicBezTo>
                    <a:pt x="89518" y="342518"/>
                    <a:pt x="85204" y="346832"/>
                    <a:pt x="79892" y="346832"/>
                  </a:cubicBezTo>
                  <a:close/>
                  <a:moveTo>
                    <a:pt x="177152" y="435493"/>
                  </a:moveTo>
                  <a:cubicBezTo>
                    <a:pt x="177152" y="440806"/>
                    <a:pt x="172838" y="445120"/>
                    <a:pt x="167525" y="445120"/>
                  </a:cubicBezTo>
                  <a:cubicBezTo>
                    <a:pt x="162213" y="445120"/>
                    <a:pt x="157899" y="440806"/>
                    <a:pt x="157899" y="435493"/>
                  </a:cubicBezTo>
                  <a:lnTo>
                    <a:pt x="157899" y="424839"/>
                  </a:lnTo>
                  <a:cubicBezTo>
                    <a:pt x="157899" y="419527"/>
                    <a:pt x="162213" y="415213"/>
                    <a:pt x="167525" y="415213"/>
                  </a:cubicBezTo>
                  <a:cubicBezTo>
                    <a:pt x="172838" y="415213"/>
                    <a:pt x="177152" y="419527"/>
                    <a:pt x="177152" y="424839"/>
                  </a:cubicBezTo>
                  <a:close/>
                  <a:moveTo>
                    <a:pt x="230218" y="260899"/>
                  </a:moveTo>
                  <a:cubicBezTo>
                    <a:pt x="233975" y="257142"/>
                    <a:pt x="240076" y="257142"/>
                    <a:pt x="243832" y="260899"/>
                  </a:cubicBezTo>
                  <a:cubicBezTo>
                    <a:pt x="247589" y="264657"/>
                    <a:pt x="247589" y="270756"/>
                    <a:pt x="243832" y="274513"/>
                  </a:cubicBezTo>
                  <a:lnTo>
                    <a:pt x="236298" y="282047"/>
                  </a:lnTo>
                  <a:cubicBezTo>
                    <a:pt x="232542" y="285803"/>
                    <a:pt x="226441" y="285803"/>
                    <a:pt x="222684" y="282047"/>
                  </a:cubicBezTo>
                  <a:cubicBezTo>
                    <a:pt x="218928" y="278290"/>
                    <a:pt x="218928" y="272190"/>
                    <a:pt x="222684" y="268434"/>
                  </a:cubicBezTo>
                  <a:close/>
                  <a:moveTo>
                    <a:pt x="265813" y="327579"/>
                  </a:moveTo>
                  <a:cubicBezTo>
                    <a:pt x="271125" y="327579"/>
                    <a:pt x="275439" y="331893"/>
                    <a:pt x="275439" y="337206"/>
                  </a:cubicBezTo>
                  <a:cubicBezTo>
                    <a:pt x="275439" y="342518"/>
                    <a:pt x="271125" y="346832"/>
                    <a:pt x="265813" y="346832"/>
                  </a:cubicBezTo>
                  <a:lnTo>
                    <a:pt x="255159" y="346832"/>
                  </a:lnTo>
                  <a:cubicBezTo>
                    <a:pt x="249846" y="346832"/>
                    <a:pt x="245533" y="342518"/>
                    <a:pt x="245533" y="337206"/>
                  </a:cubicBezTo>
                  <a:cubicBezTo>
                    <a:pt x="245533" y="331893"/>
                    <a:pt x="249846" y="327579"/>
                    <a:pt x="255159" y="327579"/>
                  </a:cubicBezTo>
                  <a:close/>
                  <a:moveTo>
                    <a:pt x="157899" y="238918"/>
                  </a:moveTo>
                  <a:cubicBezTo>
                    <a:pt x="157899" y="233606"/>
                    <a:pt x="162213" y="229292"/>
                    <a:pt x="167525" y="229292"/>
                  </a:cubicBezTo>
                  <a:cubicBezTo>
                    <a:pt x="172838" y="229292"/>
                    <a:pt x="177152" y="233606"/>
                    <a:pt x="177152" y="238918"/>
                  </a:cubicBezTo>
                  <a:lnTo>
                    <a:pt x="177152" y="249573"/>
                  </a:lnTo>
                  <a:cubicBezTo>
                    <a:pt x="177152" y="254886"/>
                    <a:pt x="172838" y="259198"/>
                    <a:pt x="167525" y="259198"/>
                  </a:cubicBezTo>
                  <a:cubicBezTo>
                    <a:pt x="162213" y="259198"/>
                    <a:pt x="157899" y="254886"/>
                    <a:pt x="157899" y="249573"/>
                  </a:cubicBezTo>
                  <a:close/>
                  <a:moveTo>
                    <a:pt x="140830" y="130759"/>
                  </a:moveTo>
                  <a:lnTo>
                    <a:pt x="140830" y="142058"/>
                  </a:lnTo>
                  <a:lnTo>
                    <a:pt x="194219" y="142058"/>
                  </a:lnTo>
                  <a:lnTo>
                    <a:pt x="194219" y="130759"/>
                  </a:lnTo>
                  <a:close/>
                  <a:moveTo>
                    <a:pt x="475670" y="20888"/>
                  </a:moveTo>
                  <a:cubicBezTo>
                    <a:pt x="483756" y="23159"/>
                    <a:pt x="491546" y="26317"/>
                    <a:pt x="498911" y="30315"/>
                  </a:cubicBezTo>
                  <a:lnTo>
                    <a:pt x="513863" y="23814"/>
                  </a:lnTo>
                  <a:cubicBezTo>
                    <a:pt x="517453" y="22254"/>
                    <a:pt x="521631" y="23023"/>
                    <a:pt x="524431" y="25760"/>
                  </a:cubicBezTo>
                  <a:lnTo>
                    <a:pt x="547254" y="48076"/>
                  </a:lnTo>
                  <a:cubicBezTo>
                    <a:pt x="550149" y="50907"/>
                    <a:pt x="550964" y="55245"/>
                    <a:pt x="549293" y="58931"/>
                  </a:cubicBezTo>
                  <a:cubicBezTo>
                    <a:pt x="549293" y="58931"/>
                    <a:pt x="542785" y="73298"/>
                    <a:pt x="542785" y="73296"/>
                  </a:cubicBezTo>
                  <a:cubicBezTo>
                    <a:pt x="546814" y="80434"/>
                    <a:pt x="550006" y="87979"/>
                    <a:pt x="552312" y="95821"/>
                  </a:cubicBezTo>
                  <a:lnTo>
                    <a:pt x="567454" y="101520"/>
                  </a:lnTo>
                  <a:cubicBezTo>
                    <a:pt x="571206" y="102931"/>
                    <a:pt x="573690" y="106521"/>
                    <a:pt x="573690" y="110529"/>
                  </a:cubicBezTo>
                  <a:lnTo>
                    <a:pt x="573690" y="142097"/>
                  </a:lnTo>
                  <a:cubicBezTo>
                    <a:pt x="573690" y="146105"/>
                    <a:pt x="571206" y="149695"/>
                    <a:pt x="567454" y="151106"/>
                  </a:cubicBezTo>
                  <a:cubicBezTo>
                    <a:pt x="567454" y="151106"/>
                    <a:pt x="552305" y="156808"/>
                    <a:pt x="552306" y="156806"/>
                  </a:cubicBezTo>
                  <a:cubicBezTo>
                    <a:pt x="549997" y="164623"/>
                    <a:pt x="546793" y="172157"/>
                    <a:pt x="542780" y="179286"/>
                  </a:cubicBezTo>
                  <a:lnTo>
                    <a:pt x="549293" y="193662"/>
                  </a:lnTo>
                  <a:cubicBezTo>
                    <a:pt x="550964" y="197350"/>
                    <a:pt x="550149" y="201688"/>
                    <a:pt x="547254" y="204518"/>
                  </a:cubicBezTo>
                  <a:lnTo>
                    <a:pt x="524431" y="226835"/>
                  </a:lnTo>
                  <a:cubicBezTo>
                    <a:pt x="521635" y="229568"/>
                    <a:pt x="517463" y="230340"/>
                    <a:pt x="513875" y="228785"/>
                  </a:cubicBezTo>
                  <a:cubicBezTo>
                    <a:pt x="513875" y="228785"/>
                    <a:pt x="498924" y="222310"/>
                    <a:pt x="498925" y="222309"/>
                  </a:cubicBezTo>
                  <a:cubicBezTo>
                    <a:pt x="491569" y="226308"/>
                    <a:pt x="483761" y="229469"/>
                    <a:pt x="475667" y="231740"/>
                  </a:cubicBezTo>
                  <a:lnTo>
                    <a:pt x="469859" y="246494"/>
                  </a:lnTo>
                  <a:cubicBezTo>
                    <a:pt x="468411" y="250175"/>
                    <a:pt x="464857" y="252595"/>
                    <a:pt x="460902" y="252595"/>
                  </a:cubicBezTo>
                  <a:lnTo>
                    <a:pt x="428618" y="252595"/>
                  </a:lnTo>
                  <a:cubicBezTo>
                    <a:pt x="424662" y="252595"/>
                    <a:pt x="421109" y="250175"/>
                    <a:pt x="419660" y="246494"/>
                  </a:cubicBezTo>
                  <a:cubicBezTo>
                    <a:pt x="419660" y="246494"/>
                    <a:pt x="413853" y="231742"/>
                    <a:pt x="413854" y="231742"/>
                  </a:cubicBezTo>
                  <a:cubicBezTo>
                    <a:pt x="405744" y="229466"/>
                    <a:pt x="397947" y="226291"/>
                    <a:pt x="390579" y="222303"/>
                  </a:cubicBezTo>
                  <a:lnTo>
                    <a:pt x="375613" y="228785"/>
                  </a:lnTo>
                  <a:cubicBezTo>
                    <a:pt x="372024" y="230340"/>
                    <a:pt x="367852" y="229568"/>
                    <a:pt x="365056" y="226835"/>
                  </a:cubicBezTo>
                  <a:lnTo>
                    <a:pt x="342233" y="204518"/>
                  </a:lnTo>
                  <a:cubicBezTo>
                    <a:pt x="339334" y="201684"/>
                    <a:pt x="338522" y="197339"/>
                    <a:pt x="340199" y="193650"/>
                  </a:cubicBezTo>
                  <a:cubicBezTo>
                    <a:pt x="340199" y="193650"/>
                    <a:pt x="346727" y="179295"/>
                    <a:pt x="346727" y="179296"/>
                  </a:cubicBezTo>
                  <a:cubicBezTo>
                    <a:pt x="342705" y="172178"/>
                    <a:pt x="339514" y="164631"/>
                    <a:pt x="337194" y="156811"/>
                  </a:cubicBezTo>
                  <a:lnTo>
                    <a:pt x="322033" y="151106"/>
                  </a:lnTo>
                  <a:cubicBezTo>
                    <a:pt x="318281" y="149695"/>
                    <a:pt x="315798" y="146105"/>
                    <a:pt x="315798" y="142097"/>
                  </a:cubicBezTo>
                  <a:lnTo>
                    <a:pt x="315798" y="110529"/>
                  </a:lnTo>
                  <a:cubicBezTo>
                    <a:pt x="315798" y="106521"/>
                    <a:pt x="318281" y="102931"/>
                    <a:pt x="322033" y="101520"/>
                  </a:cubicBezTo>
                  <a:cubicBezTo>
                    <a:pt x="322033" y="101520"/>
                    <a:pt x="337190" y="95816"/>
                    <a:pt x="337190" y="95816"/>
                  </a:cubicBezTo>
                  <a:cubicBezTo>
                    <a:pt x="339511" y="87978"/>
                    <a:pt x="342704" y="80438"/>
                    <a:pt x="346730" y="73305"/>
                  </a:cubicBezTo>
                  <a:lnTo>
                    <a:pt x="340199" y="58945"/>
                  </a:lnTo>
                  <a:cubicBezTo>
                    <a:pt x="338522" y="55255"/>
                    <a:pt x="339334" y="50910"/>
                    <a:pt x="342233" y="48076"/>
                  </a:cubicBezTo>
                  <a:lnTo>
                    <a:pt x="365056" y="25760"/>
                  </a:lnTo>
                  <a:cubicBezTo>
                    <a:pt x="367856" y="23023"/>
                    <a:pt x="372034" y="22254"/>
                    <a:pt x="375625" y="23814"/>
                  </a:cubicBezTo>
                  <a:cubicBezTo>
                    <a:pt x="375625" y="23814"/>
                    <a:pt x="390575" y="30315"/>
                    <a:pt x="390575" y="30316"/>
                  </a:cubicBezTo>
                  <a:cubicBezTo>
                    <a:pt x="397943" y="26316"/>
                    <a:pt x="405736" y="23156"/>
                    <a:pt x="413826" y="20886"/>
                  </a:cubicBezTo>
                  <a:lnTo>
                    <a:pt x="419663" y="6092"/>
                  </a:lnTo>
                  <a:cubicBezTo>
                    <a:pt x="421114" y="2416"/>
                    <a:pt x="424665" y="0"/>
                    <a:pt x="428618" y="0"/>
                  </a:cubicBezTo>
                  <a:lnTo>
                    <a:pt x="460902" y="0"/>
                  </a:lnTo>
                  <a:cubicBezTo>
                    <a:pt x="464860" y="0"/>
                    <a:pt x="468414" y="2422"/>
                    <a:pt x="469862" y="6106"/>
                  </a:cubicBezTo>
                  <a:close/>
                  <a:moveTo>
                    <a:pt x="459551" y="32507"/>
                  </a:moveTo>
                  <a:lnTo>
                    <a:pt x="454342" y="19253"/>
                  </a:lnTo>
                  <a:lnTo>
                    <a:pt x="435167" y="19253"/>
                  </a:lnTo>
                  <a:lnTo>
                    <a:pt x="429932" y="32520"/>
                  </a:lnTo>
                  <a:cubicBezTo>
                    <a:pt x="428770" y="35464"/>
                    <a:pt x="426238" y="37648"/>
                    <a:pt x="423156" y="38363"/>
                  </a:cubicBezTo>
                  <a:cubicBezTo>
                    <a:pt x="413608" y="40582"/>
                    <a:pt x="404501" y="44269"/>
                    <a:pt x="396131" y="49312"/>
                  </a:cubicBezTo>
                  <a:cubicBezTo>
                    <a:pt x="393463" y="50920"/>
                    <a:pt x="390182" y="51138"/>
                    <a:pt x="387325" y="49895"/>
                  </a:cubicBezTo>
                  <a:lnTo>
                    <a:pt x="373887" y="44053"/>
                  </a:lnTo>
                  <a:cubicBezTo>
                    <a:pt x="373887" y="44053"/>
                    <a:pt x="360521" y="57122"/>
                    <a:pt x="360521" y="57122"/>
                  </a:cubicBezTo>
                  <a:lnTo>
                    <a:pt x="366341" y="69922"/>
                  </a:lnTo>
                  <a:cubicBezTo>
                    <a:pt x="367683" y="72872"/>
                    <a:pt x="367449" y="76297"/>
                    <a:pt x="365723" y="79039"/>
                  </a:cubicBezTo>
                  <a:cubicBezTo>
                    <a:pt x="360586" y="87190"/>
                    <a:pt x="356829" y="96058"/>
                    <a:pt x="354540" y="105385"/>
                  </a:cubicBezTo>
                  <a:cubicBezTo>
                    <a:pt x="353783" y="108469"/>
                    <a:pt x="351554" y="110981"/>
                    <a:pt x="348582" y="112100"/>
                  </a:cubicBezTo>
                  <a:cubicBezTo>
                    <a:pt x="348582" y="112100"/>
                    <a:pt x="335051" y="117191"/>
                    <a:pt x="335051" y="117191"/>
                  </a:cubicBezTo>
                  <a:lnTo>
                    <a:pt x="335051" y="135435"/>
                  </a:lnTo>
                  <a:lnTo>
                    <a:pt x="348582" y="140527"/>
                  </a:lnTo>
                  <a:cubicBezTo>
                    <a:pt x="351551" y="141644"/>
                    <a:pt x="353780" y="144154"/>
                    <a:pt x="354538" y="147234"/>
                  </a:cubicBezTo>
                  <a:cubicBezTo>
                    <a:pt x="356827" y="156530"/>
                    <a:pt x="360580" y="165424"/>
                    <a:pt x="365714" y="173543"/>
                  </a:cubicBezTo>
                  <a:cubicBezTo>
                    <a:pt x="367449" y="176285"/>
                    <a:pt x="367685" y="179718"/>
                    <a:pt x="366341" y="182672"/>
                  </a:cubicBezTo>
                  <a:lnTo>
                    <a:pt x="360521" y="195473"/>
                  </a:lnTo>
                  <a:lnTo>
                    <a:pt x="373893" y="208549"/>
                  </a:lnTo>
                  <a:lnTo>
                    <a:pt x="387337" y="202725"/>
                  </a:lnTo>
                  <a:cubicBezTo>
                    <a:pt x="390183" y="201493"/>
                    <a:pt x="393450" y="201707"/>
                    <a:pt x="396111" y="203302"/>
                  </a:cubicBezTo>
                  <a:cubicBezTo>
                    <a:pt x="404486" y="208318"/>
                    <a:pt x="413598" y="212041"/>
                    <a:pt x="423182" y="214261"/>
                  </a:cubicBezTo>
                  <a:cubicBezTo>
                    <a:pt x="426269" y="214976"/>
                    <a:pt x="428807" y="217165"/>
                    <a:pt x="429967" y="220114"/>
                  </a:cubicBezTo>
                  <a:lnTo>
                    <a:pt x="435173" y="233342"/>
                  </a:lnTo>
                  <a:lnTo>
                    <a:pt x="454345" y="233342"/>
                  </a:lnTo>
                  <a:lnTo>
                    <a:pt x="459552" y="220114"/>
                  </a:lnTo>
                  <a:cubicBezTo>
                    <a:pt x="460712" y="217167"/>
                    <a:pt x="463247" y="214980"/>
                    <a:pt x="466331" y="214263"/>
                  </a:cubicBezTo>
                  <a:cubicBezTo>
                    <a:pt x="475875" y="212045"/>
                    <a:pt x="485007" y="208362"/>
                    <a:pt x="493343" y="203321"/>
                  </a:cubicBezTo>
                  <a:cubicBezTo>
                    <a:pt x="496010" y="201710"/>
                    <a:pt x="499291" y="201487"/>
                    <a:pt x="502150" y="202725"/>
                  </a:cubicBezTo>
                  <a:lnTo>
                    <a:pt x="515594" y="208548"/>
                  </a:lnTo>
                  <a:lnTo>
                    <a:pt x="528974" y="195466"/>
                  </a:lnTo>
                  <a:lnTo>
                    <a:pt x="523173" y="182660"/>
                  </a:lnTo>
                  <a:cubicBezTo>
                    <a:pt x="521842" y="179721"/>
                    <a:pt x="522070" y="176311"/>
                    <a:pt x="523784" y="173577"/>
                  </a:cubicBezTo>
                  <a:cubicBezTo>
                    <a:pt x="528891" y="165427"/>
                    <a:pt x="532682" y="156561"/>
                    <a:pt x="534942" y="147263"/>
                  </a:cubicBezTo>
                  <a:cubicBezTo>
                    <a:pt x="535694" y="144169"/>
                    <a:pt x="537926" y="141647"/>
                    <a:pt x="540906" y="140527"/>
                  </a:cubicBezTo>
                  <a:cubicBezTo>
                    <a:pt x="540906" y="140527"/>
                    <a:pt x="554437" y="135435"/>
                    <a:pt x="554437" y="135435"/>
                  </a:cubicBezTo>
                  <a:lnTo>
                    <a:pt x="554437" y="117191"/>
                  </a:lnTo>
                  <a:lnTo>
                    <a:pt x="540906" y="112100"/>
                  </a:lnTo>
                  <a:cubicBezTo>
                    <a:pt x="537924" y="110978"/>
                    <a:pt x="535691" y="108453"/>
                    <a:pt x="534941" y="105357"/>
                  </a:cubicBezTo>
                  <a:cubicBezTo>
                    <a:pt x="532682" y="96040"/>
                    <a:pt x="528928" y="87181"/>
                    <a:pt x="523797" y="79039"/>
                  </a:cubicBezTo>
                  <a:cubicBezTo>
                    <a:pt x="522073" y="76302"/>
                    <a:pt x="521838" y="72881"/>
                    <a:pt x="523173" y="69934"/>
                  </a:cubicBezTo>
                  <a:cubicBezTo>
                    <a:pt x="523173" y="69934"/>
                    <a:pt x="528974" y="57129"/>
                    <a:pt x="528974" y="57129"/>
                  </a:cubicBezTo>
                  <a:lnTo>
                    <a:pt x="515600" y="44053"/>
                  </a:lnTo>
                  <a:lnTo>
                    <a:pt x="502162" y="49895"/>
                  </a:lnTo>
                  <a:cubicBezTo>
                    <a:pt x="499305" y="51138"/>
                    <a:pt x="496024" y="50920"/>
                    <a:pt x="493356" y="49312"/>
                  </a:cubicBezTo>
                  <a:cubicBezTo>
                    <a:pt x="484986" y="44269"/>
                    <a:pt x="475880" y="40582"/>
                    <a:pt x="466331" y="38363"/>
                  </a:cubicBezTo>
                  <a:cubicBezTo>
                    <a:pt x="463245" y="37646"/>
                    <a:pt x="460710" y="35456"/>
                    <a:pt x="459551" y="32507"/>
                  </a:cubicBezTo>
                  <a:close/>
                  <a:moveTo>
                    <a:pt x="444743" y="61610"/>
                  </a:moveTo>
                  <a:cubicBezTo>
                    <a:pt x="481234" y="61610"/>
                    <a:pt x="510714" y="90617"/>
                    <a:pt x="510714" y="126297"/>
                  </a:cubicBezTo>
                  <a:cubicBezTo>
                    <a:pt x="510714" y="161976"/>
                    <a:pt x="481233" y="191016"/>
                    <a:pt x="444743" y="191016"/>
                  </a:cubicBezTo>
                  <a:cubicBezTo>
                    <a:pt x="408253" y="191016"/>
                    <a:pt x="378806" y="161978"/>
                    <a:pt x="378806" y="126297"/>
                  </a:cubicBezTo>
                  <a:cubicBezTo>
                    <a:pt x="378806" y="90615"/>
                    <a:pt x="408252" y="61610"/>
                    <a:pt x="444743" y="61610"/>
                  </a:cubicBezTo>
                  <a:close/>
                  <a:moveTo>
                    <a:pt x="444743" y="80863"/>
                  </a:moveTo>
                  <a:cubicBezTo>
                    <a:pt x="419007" y="80863"/>
                    <a:pt x="398059" y="101132"/>
                    <a:pt x="398059" y="126297"/>
                  </a:cubicBezTo>
                  <a:cubicBezTo>
                    <a:pt x="398059" y="151464"/>
                    <a:pt x="419006" y="171763"/>
                    <a:pt x="444743" y="171763"/>
                  </a:cubicBezTo>
                  <a:cubicBezTo>
                    <a:pt x="470483" y="171763"/>
                    <a:pt x="491461" y="151465"/>
                    <a:pt x="491461" y="126297"/>
                  </a:cubicBezTo>
                  <a:cubicBezTo>
                    <a:pt x="491461" y="101131"/>
                    <a:pt x="470482" y="80863"/>
                    <a:pt x="444743" y="80863"/>
                  </a:cubicBezTo>
                  <a:close/>
                  <a:moveTo>
                    <a:pt x="472998" y="322151"/>
                  </a:moveTo>
                  <a:lnTo>
                    <a:pt x="472998" y="587209"/>
                  </a:lnTo>
                  <a:cubicBezTo>
                    <a:pt x="472998" y="592525"/>
                    <a:pt x="468687" y="596835"/>
                    <a:pt x="463371" y="596835"/>
                  </a:cubicBezTo>
                  <a:lnTo>
                    <a:pt x="396697" y="596835"/>
                  </a:lnTo>
                  <a:cubicBezTo>
                    <a:pt x="391379" y="596835"/>
                    <a:pt x="387070" y="592525"/>
                    <a:pt x="387070" y="587209"/>
                  </a:cubicBezTo>
                  <a:lnTo>
                    <a:pt x="387070" y="322151"/>
                  </a:lnTo>
                  <a:cubicBezTo>
                    <a:pt x="387070" y="316835"/>
                    <a:pt x="391379" y="312525"/>
                    <a:pt x="396697" y="312525"/>
                  </a:cubicBezTo>
                  <a:lnTo>
                    <a:pt x="463371" y="312525"/>
                  </a:lnTo>
                  <a:cubicBezTo>
                    <a:pt x="468687" y="312525"/>
                    <a:pt x="472998" y="316835"/>
                    <a:pt x="472998" y="322151"/>
                  </a:cubicBezTo>
                  <a:close/>
                  <a:moveTo>
                    <a:pt x="453745" y="331778"/>
                  </a:moveTo>
                  <a:lnTo>
                    <a:pt x="406323" y="331778"/>
                  </a:lnTo>
                  <a:lnTo>
                    <a:pt x="406323" y="577582"/>
                  </a:lnTo>
                  <a:lnTo>
                    <a:pt x="453745" y="577582"/>
                  </a:lnTo>
                  <a:close/>
                  <a:moveTo>
                    <a:pt x="520534" y="249568"/>
                  </a:moveTo>
                  <a:lnTo>
                    <a:pt x="587209" y="249568"/>
                  </a:lnTo>
                  <a:cubicBezTo>
                    <a:pt x="592525" y="249568"/>
                    <a:pt x="596835" y="253879"/>
                    <a:pt x="596835" y="259195"/>
                  </a:cubicBezTo>
                  <a:lnTo>
                    <a:pt x="596835" y="587209"/>
                  </a:lnTo>
                  <a:cubicBezTo>
                    <a:pt x="596835" y="592525"/>
                    <a:pt x="592525" y="596835"/>
                    <a:pt x="587209" y="596835"/>
                  </a:cubicBezTo>
                  <a:lnTo>
                    <a:pt x="520534" y="596835"/>
                  </a:lnTo>
                  <a:cubicBezTo>
                    <a:pt x="515216" y="596835"/>
                    <a:pt x="510907" y="592525"/>
                    <a:pt x="510907" y="587209"/>
                  </a:cubicBezTo>
                  <a:lnTo>
                    <a:pt x="510907" y="259195"/>
                  </a:lnTo>
                  <a:cubicBezTo>
                    <a:pt x="510907" y="253879"/>
                    <a:pt x="515216" y="249568"/>
                    <a:pt x="520534" y="249568"/>
                  </a:cubicBezTo>
                  <a:close/>
                  <a:moveTo>
                    <a:pt x="530160" y="268821"/>
                  </a:moveTo>
                  <a:lnTo>
                    <a:pt x="530160" y="577582"/>
                  </a:lnTo>
                  <a:lnTo>
                    <a:pt x="577582" y="577582"/>
                  </a:lnTo>
                  <a:lnTo>
                    <a:pt x="577582" y="268821"/>
                  </a:lnTo>
                  <a:close/>
                </a:path>
              </a:pathLst>
            </a:custGeom>
            <a:gradFill>
              <a:gsLst>
                <a:gs pos="100000">
                  <a:srgbClr val="BDF2BD"/>
                </a:gs>
                <a:gs pos="55000">
                  <a:srgbClr val="C3E9FC"/>
                </a:gs>
              </a:gsLst>
              <a:lin ang="0" scaled="1"/>
            </a:gradFill>
            <a:ln w="1195" cap="flat">
              <a:noFill/>
              <a:prstDash val="solid"/>
              <a:round/>
            </a:ln>
          </p:spPr>
          <p:txBody>
            <a:bodyPr rtlCol="0" anchor="ctr"/>
            <a:lstStyle/>
            <a:p>
              <a:endParaRPr lang="en-GB"/>
            </a:p>
          </p:txBody>
        </p:sp>
      </p:grpSp>
      <p:sp>
        <p:nvSpPr>
          <p:cNvPr id="21" name="Title 20">
            <a:extLst>
              <a:ext uri="{FF2B5EF4-FFF2-40B4-BE49-F238E27FC236}">
                <a16:creationId xmlns:a16="http://schemas.microsoft.com/office/drawing/2014/main" id="{A3BB65BC-EC9C-15EE-94A6-5FD4E4E714D7}"/>
              </a:ext>
            </a:extLst>
          </p:cNvPr>
          <p:cNvSpPr>
            <a:spLocks noGrp="1"/>
          </p:cNvSpPr>
          <p:nvPr>
            <p:ph type="title"/>
          </p:nvPr>
        </p:nvSpPr>
        <p:spPr/>
        <p:txBody>
          <a:bodyPr/>
          <a:lstStyle/>
          <a:p>
            <a:r>
              <a:rPr lang="en-US"/>
              <a:t>Deploy LLM flows to Managed Online Endpoint</a:t>
            </a:r>
          </a:p>
        </p:txBody>
      </p:sp>
    </p:spTree>
    <p:extLst>
      <p:ext uri="{BB962C8B-B14F-4D97-AF65-F5344CB8AC3E}">
        <p14:creationId xmlns:p14="http://schemas.microsoft.com/office/powerpoint/2010/main" val="303839807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250"/>
                                  </p:stCondLst>
                                  <p:childTnLst>
                                    <p:set>
                                      <p:cBhvr>
                                        <p:cTn id="6" dur="1" fill="hold">
                                          <p:stCondLst>
                                            <p:cond delay="0"/>
                                          </p:stCondLst>
                                        </p:cTn>
                                        <p:tgtEl>
                                          <p:spTgt spid="132"/>
                                        </p:tgtEl>
                                        <p:attrNameLst>
                                          <p:attrName>style.visibility</p:attrName>
                                        </p:attrNameLst>
                                      </p:cBhvr>
                                      <p:to>
                                        <p:strVal val="visible"/>
                                      </p:to>
                                    </p:set>
                                    <p:anim calcmode="lin" valueType="num">
                                      <p:cBhvr>
                                        <p:cTn id="7" dur="250" fill="hold"/>
                                        <p:tgtEl>
                                          <p:spTgt spid="132"/>
                                        </p:tgtEl>
                                        <p:attrNameLst>
                                          <p:attrName>ppt_w</p:attrName>
                                        </p:attrNameLst>
                                      </p:cBhvr>
                                      <p:tavLst>
                                        <p:tav tm="0">
                                          <p:val>
                                            <p:strVal val="2/3*#ppt_w"/>
                                          </p:val>
                                        </p:tav>
                                        <p:tav tm="100000">
                                          <p:val>
                                            <p:strVal val="#ppt_w"/>
                                          </p:val>
                                        </p:tav>
                                      </p:tavLst>
                                    </p:anim>
                                    <p:anim calcmode="lin" valueType="num">
                                      <p:cBhvr>
                                        <p:cTn id="8" dur="250" fill="hold"/>
                                        <p:tgtEl>
                                          <p:spTgt spid="132"/>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250"/>
                                  </p:stCondLst>
                                  <p:childTnLst>
                                    <p:set>
                                      <p:cBhvr>
                                        <p:cTn id="10" dur="1" fill="hold">
                                          <p:stCondLst>
                                            <p:cond delay="0"/>
                                          </p:stCondLst>
                                        </p:cTn>
                                        <p:tgtEl>
                                          <p:spTgt spid="132"/>
                                        </p:tgtEl>
                                        <p:attrNameLst>
                                          <p:attrName>style.visibility</p:attrName>
                                        </p:attrNameLst>
                                      </p:cBhvr>
                                      <p:to>
                                        <p:strVal val="visible"/>
                                      </p:to>
                                    </p:set>
                                    <p:animEffect transition="in" filter="fade">
                                      <p:cBhvr>
                                        <p:cTn id="11" dur="500"/>
                                        <p:tgtEl>
                                          <p:spTgt spid="132"/>
                                        </p:tgtEl>
                                      </p:cBhvr>
                                    </p:animEffect>
                                  </p:childTnLst>
                                </p:cTn>
                              </p:par>
                              <p:par>
                                <p:cTn id="12" presetID="6" presetClass="emph" presetSubtype="0" fill="hold" nodeType="withEffect">
                                  <p:stCondLst>
                                    <p:cond delay="250"/>
                                  </p:stCondLst>
                                  <p:childTnLst>
                                    <p:animScale>
                                      <p:cBhvr>
                                        <p:cTn id="13" dur="10" fill="hold"/>
                                        <p:tgtEl>
                                          <p:spTgt spid="132"/>
                                        </p:tgtEl>
                                      </p:cBhvr>
                                      <p:by x="80000" y="80000"/>
                                    </p:animScale>
                                  </p:childTnLst>
                                </p:cTn>
                              </p:par>
                              <p:par>
                                <p:cTn id="14" presetID="6" presetClass="emph" presetSubtype="0" decel="100000" fill="hold" nodeType="withEffect">
                                  <p:stCondLst>
                                    <p:cond delay="250"/>
                                  </p:stCondLst>
                                  <p:childTnLst>
                                    <p:animScale>
                                      <p:cBhvr>
                                        <p:cTn id="15" dur="1000" fill="hold"/>
                                        <p:tgtEl>
                                          <p:spTgt spid="132"/>
                                        </p:tgtEl>
                                      </p:cBhvr>
                                      <p:by x="125000" y="125000"/>
                                    </p:animScale>
                                  </p:childTnLst>
                                </p:cTn>
                              </p:par>
                              <p:par>
                                <p:cTn id="16" presetID="23" presetClass="entr" presetSubtype="272" fill="hold" nodeType="withEffect">
                                  <p:stCondLst>
                                    <p:cond delay="350"/>
                                  </p:stCondLst>
                                  <p:childTnLst>
                                    <p:set>
                                      <p:cBhvr>
                                        <p:cTn id="17" dur="1" fill="hold">
                                          <p:stCondLst>
                                            <p:cond delay="0"/>
                                          </p:stCondLst>
                                        </p:cTn>
                                        <p:tgtEl>
                                          <p:spTgt spid="133"/>
                                        </p:tgtEl>
                                        <p:attrNameLst>
                                          <p:attrName>style.visibility</p:attrName>
                                        </p:attrNameLst>
                                      </p:cBhvr>
                                      <p:to>
                                        <p:strVal val="visible"/>
                                      </p:to>
                                    </p:set>
                                    <p:anim calcmode="lin" valueType="num">
                                      <p:cBhvr>
                                        <p:cTn id="18" dur="250" fill="hold"/>
                                        <p:tgtEl>
                                          <p:spTgt spid="133"/>
                                        </p:tgtEl>
                                        <p:attrNameLst>
                                          <p:attrName>ppt_w</p:attrName>
                                        </p:attrNameLst>
                                      </p:cBhvr>
                                      <p:tavLst>
                                        <p:tav tm="0">
                                          <p:val>
                                            <p:strVal val="2/3*#ppt_w"/>
                                          </p:val>
                                        </p:tav>
                                        <p:tav tm="100000">
                                          <p:val>
                                            <p:strVal val="#ppt_w"/>
                                          </p:val>
                                        </p:tav>
                                      </p:tavLst>
                                    </p:anim>
                                    <p:anim calcmode="lin" valueType="num">
                                      <p:cBhvr>
                                        <p:cTn id="19" dur="250" fill="hold"/>
                                        <p:tgtEl>
                                          <p:spTgt spid="133"/>
                                        </p:tgtEl>
                                        <p:attrNameLst>
                                          <p:attrName>ppt_h</p:attrName>
                                        </p:attrNameLst>
                                      </p:cBhvr>
                                      <p:tavLst>
                                        <p:tav tm="0">
                                          <p:val>
                                            <p:strVal val="2/3*#ppt_h"/>
                                          </p:val>
                                        </p:tav>
                                        <p:tav tm="100000">
                                          <p:val>
                                            <p:strVal val="#ppt_h"/>
                                          </p:val>
                                        </p:tav>
                                      </p:tavLst>
                                    </p:anim>
                                  </p:childTnLst>
                                </p:cTn>
                              </p:par>
                              <p:par>
                                <p:cTn id="20" presetID="10" presetClass="entr" presetSubtype="0" fill="hold" nodeType="withEffect">
                                  <p:stCondLst>
                                    <p:cond delay="350"/>
                                  </p:stCondLst>
                                  <p:childTnLst>
                                    <p:set>
                                      <p:cBhvr>
                                        <p:cTn id="21" dur="1" fill="hold">
                                          <p:stCondLst>
                                            <p:cond delay="0"/>
                                          </p:stCondLst>
                                        </p:cTn>
                                        <p:tgtEl>
                                          <p:spTgt spid="133"/>
                                        </p:tgtEl>
                                        <p:attrNameLst>
                                          <p:attrName>style.visibility</p:attrName>
                                        </p:attrNameLst>
                                      </p:cBhvr>
                                      <p:to>
                                        <p:strVal val="visible"/>
                                      </p:to>
                                    </p:set>
                                    <p:animEffect transition="in" filter="fade">
                                      <p:cBhvr>
                                        <p:cTn id="22" dur="500"/>
                                        <p:tgtEl>
                                          <p:spTgt spid="133"/>
                                        </p:tgtEl>
                                      </p:cBhvr>
                                    </p:animEffect>
                                  </p:childTnLst>
                                </p:cTn>
                              </p:par>
                              <p:par>
                                <p:cTn id="23" presetID="6" presetClass="emph" presetSubtype="0" fill="hold" nodeType="withEffect">
                                  <p:stCondLst>
                                    <p:cond delay="350"/>
                                  </p:stCondLst>
                                  <p:childTnLst>
                                    <p:animScale>
                                      <p:cBhvr>
                                        <p:cTn id="24" dur="10" fill="hold"/>
                                        <p:tgtEl>
                                          <p:spTgt spid="133"/>
                                        </p:tgtEl>
                                      </p:cBhvr>
                                      <p:by x="80000" y="80000"/>
                                    </p:animScale>
                                  </p:childTnLst>
                                </p:cTn>
                              </p:par>
                              <p:par>
                                <p:cTn id="25" presetID="6" presetClass="emph" presetSubtype="0" decel="100000" fill="hold" nodeType="withEffect">
                                  <p:stCondLst>
                                    <p:cond delay="350"/>
                                  </p:stCondLst>
                                  <p:childTnLst>
                                    <p:animScale>
                                      <p:cBhvr>
                                        <p:cTn id="26" dur="1000" fill="hold"/>
                                        <p:tgtEl>
                                          <p:spTgt spid="133"/>
                                        </p:tgtEl>
                                      </p:cBhvr>
                                      <p:by x="125000" y="125000"/>
                                    </p:animScale>
                                  </p:childTnLst>
                                </p:cTn>
                              </p:par>
                              <p:par>
                                <p:cTn id="27" presetID="23" presetClass="entr" presetSubtype="272" fill="hold" nodeType="withEffect">
                                  <p:stCondLst>
                                    <p:cond delay="450"/>
                                  </p:stCondLst>
                                  <p:childTnLst>
                                    <p:set>
                                      <p:cBhvr>
                                        <p:cTn id="28" dur="1" fill="hold">
                                          <p:stCondLst>
                                            <p:cond delay="0"/>
                                          </p:stCondLst>
                                        </p:cTn>
                                        <p:tgtEl>
                                          <p:spTgt spid="134"/>
                                        </p:tgtEl>
                                        <p:attrNameLst>
                                          <p:attrName>style.visibility</p:attrName>
                                        </p:attrNameLst>
                                      </p:cBhvr>
                                      <p:to>
                                        <p:strVal val="visible"/>
                                      </p:to>
                                    </p:set>
                                    <p:anim calcmode="lin" valueType="num">
                                      <p:cBhvr>
                                        <p:cTn id="29" dur="250" fill="hold"/>
                                        <p:tgtEl>
                                          <p:spTgt spid="134"/>
                                        </p:tgtEl>
                                        <p:attrNameLst>
                                          <p:attrName>ppt_w</p:attrName>
                                        </p:attrNameLst>
                                      </p:cBhvr>
                                      <p:tavLst>
                                        <p:tav tm="0">
                                          <p:val>
                                            <p:strVal val="2/3*#ppt_w"/>
                                          </p:val>
                                        </p:tav>
                                        <p:tav tm="100000">
                                          <p:val>
                                            <p:strVal val="#ppt_w"/>
                                          </p:val>
                                        </p:tav>
                                      </p:tavLst>
                                    </p:anim>
                                    <p:anim calcmode="lin" valueType="num">
                                      <p:cBhvr>
                                        <p:cTn id="30" dur="250" fill="hold"/>
                                        <p:tgtEl>
                                          <p:spTgt spid="134"/>
                                        </p:tgtEl>
                                        <p:attrNameLst>
                                          <p:attrName>ppt_h</p:attrName>
                                        </p:attrNameLst>
                                      </p:cBhvr>
                                      <p:tavLst>
                                        <p:tav tm="0">
                                          <p:val>
                                            <p:strVal val="2/3*#ppt_h"/>
                                          </p:val>
                                        </p:tav>
                                        <p:tav tm="100000">
                                          <p:val>
                                            <p:strVal val="#ppt_h"/>
                                          </p:val>
                                        </p:tav>
                                      </p:tavLst>
                                    </p:anim>
                                  </p:childTnLst>
                                </p:cTn>
                              </p:par>
                              <p:par>
                                <p:cTn id="31" presetID="10" presetClass="entr" presetSubtype="0" fill="hold" nodeType="withEffect">
                                  <p:stCondLst>
                                    <p:cond delay="450"/>
                                  </p:stCondLst>
                                  <p:childTnLst>
                                    <p:set>
                                      <p:cBhvr>
                                        <p:cTn id="32" dur="1" fill="hold">
                                          <p:stCondLst>
                                            <p:cond delay="0"/>
                                          </p:stCondLst>
                                        </p:cTn>
                                        <p:tgtEl>
                                          <p:spTgt spid="134"/>
                                        </p:tgtEl>
                                        <p:attrNameLst>
                                          <p:attrName>style.visibility</p:attrName>
                                        </p:attrNameLst>
                                      </p:cBhvr>
                                      <p:to>
                                        <p:strVal val="visible"/>
                                      </p:to>
                                    </p:set>
                                    <p:animEffect transition="in" filter="fade">
                                      <p:cBhvr>
                                        <p:cTn id="33" dur="500"/>
                                        <p:tgtEl>
                                          <p:spTgt spid="134"/>
                                        </p:tgtEl>
                                      </p:cBhvr>
                                    </p:animEffect>
                                  </p:childTnLst>
                                </p:cTn>
                              </p:par>
                              <p:par>
                                <p:cTn id="34" presetID="6" presetClass="emph" presetSubtype="0" fill="hold" nodeType="withEffect">
                                  <p:stCondLst>
                                    <p:cond delay="450"/>
                                  </p:stCondLst>
                                  <p:childTnLst>
                                    <p:animScale>
                                      <p:cBhvr>
                                        <p:cTn id="35" dur="10" fill="hold"/>
                                        <p:tgtEl>
                                          <p:spTgt spid="134"/>
                                        </p:tgtEl>
                                      </p:cBhvr>
                                      <p:by x="80000" y="80000"/>
                                    </p:animScale>
                                  </p:childTnLst>
                                </p:cTn>
                              </p:par>
                              <p:par>
                                <p:cTn id="36" presetID="6" presetClass="emph" presetSubtype="0" decel="100000" fill="hold" nodeType="withEffect">
                                  <p:stCondLst>
                                    <p:cond delay="450"/>
                                  </p:stCondLst>
                                  <p:childTnLst>
                                    <p:animScale>
                                      <p:cBhvr>
                                        <p:cTn id="37" dur="1000" fill="hold"/>
                                        <p:tgtEl>
                                          <p:spTgt spid="134"/>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C9963F-2CAE-1887-E09C-D2237F9B60F3}"/>
            </a:ext>
          </a:extLst>
        </p:cNvPr>
        <p:cNvGrpSpPr/>
        <p:nvPr/>
      </p:nvGrpSpPr>
      <p:grpSpPr>
        <a:xfrm>
          <a:off x="0" y="0"/>
          <a:ext cx="0" cy="0"/>
          <a:chOff x="0" y="0"/>
          <a:chExt cx="0" cy="0"/>
        </a:xfrm>
      </p:grpSpPr>
      <p:sp>
        <p:nvSpPr>
          <p:cNvPr id="83" name="Rectangle: Rounded Corners 82">
            <a:extLst>
              <a:ext uri="{FF2B5EF4-FFF2-40B4-BE49-F238E27FC236}">
                <a16:creationId xmlns:a16="http://schemas.microsoft.com/office/drawing/2014/main" id="{E9EB6F7C-0379-E40D-CF5E-12BEA15BB8A2}"/>
              </a:ext>
            </a:extLst>
          </p:cNvPr>
          <p:cNvSpPr>
            <a:spLocks/>
          </p:cNvSpPr>
          <p:nvPr/>
        </p:nvSpPr>
        <p:spPr bwMode="auto">
          <a:xfrm>
            <a:off x="4114800" y="1427019"/>
            <a:ext cx="7402861" cy="4837258"/>
          </a:xfrm>
          <a:prstGeom prst="roundRect">
            <a:avLst>
              <a:gd name="adj" fmla="val 2523"/>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6" name="Title 55">
            <a:extLst>
              <a:ext uri="{FF2B5EF4-FFF2-40B4-BE49-F238E27FC236}">
                <a16:creationId xmlns:a16="http://schemas.microsoft.com/office/drawing/2014/main" id="{DC22472D-DEE3-6A18-32BA-9BE85AC53E2B}"/>
              </a:ext>
            </a:extLst>
          </p:cNvPr>
          <p:cNvSpPr>
            <a:spLocks noGrp="1"/>
          </p:cNvSpPr>
          <p:nvPr>
            <p:ph type="title" idx="4294967295"/>
          </p:nvPr>
        </p:nvSpPr>
        <p:spPr>
          <a:xfrm>
            <a:off x="380628" y="377682"/>
            <a:ext cx="8464550" cy="998538"/>
          </a:xfrm>
        </p:spPr>
        <p:txBody>
          <a:bodyPr/>
          <a:lstStyle/>
          <a:p>
            <a:r>
              <a:rPr lang="en-GB">
                <a:solidFill>
                  <a:schemeClr val="bg1"/>
                </a:solidFill>
              </a:rPr>
              <a:t>Tracing With Prompt Flow</a:t>
            </a:r>
            <a:endParaRPr lang="en-US">
              <a:solidFill>
                <a:schemeClr val="bg1"/>
              </a:solidFill>
            </a:endParaRPr>
          </a:p>
        </p:txBody>
      </p:sp>
      <p:sp>
        <p:nvSpPr>
          <p:cNvPr id="133" name="Rectangle: Rounded Corners 132">
            <a:extLst>
              <a:ext uri="{FF2B5EF4-FFF2-40B4-BE49-F238E27FC236}">
                <a16:creationId xmlns:a16="http://schemas.microsoft.com/office/drawing/2014/main" id="{3F779872-613F-EA31-F10F-87A636E9DCE2}"/>
              </a:ext>
            </a:extLst>
          </p:cNvPr>
          <p:cNvSpPr>
            <a:spLocks/>
          </p:cNvSpPr>
          <p:nvPr/>
        </p:nvSpPr>
        <p:spPr bwMode="auto">
          <a:xfrm>
            <a:off x="588263" y="4211951"/>
            <a:ext cx="3410762" cy="96169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4" name="Content Placeholder 2">
            <a:extLst>
              <a:ext uri="{FF2B5EF4-FFF2-40B4-BE49-F238E27FC236}">
                <a16:creationId xmlns:a16="http://schemas.microsoft.com/office/drawing/2014/main" id="{B62ECD5B-F191-AD0E-36E4-247DF83B50FD}"/>
              </a:ext>
            </a:extLst>
          </p:cNvPr>
          <p:cNvSpPr txBox="1">
            <a:spLocks/>
          </p:cNvSpPr>
          <p:nvPr/>
        </p:nvSpPr>
        <p:spPr>
          <a:xfrm>
            <a:off x="803390" y="4421817"/>
            <a:ext cx="1958284"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Build in with managed endpoint</a:t>
            </a:r>
          </a:p>
        </p:txBody>
      </p:sp>
      <p:sp>
        <p:nvSpPr>
          <p:cNvPr id="11" name="Rectangle: Rounded Corners 10">
            <a:extLst>
              <a:ext uri="{FF2B5EF4-FFF2-40B4-BE49-F238E27FC236}">
                <a16:creationId xmlns:a16="http://schemas.microsoft.com/office/drawing/2014/main" id="{85092BB2-6F6D-6F78-EDED-27D4F0C163C6}"/>
              </a:ext>
            </a:extLst>
          </p:cNvPr>
          <p:cNvSpPr>
            <a:spLocks/>
          </p:cNvSpPr>
          <p:nvPr/>
        </p:nvSpPr>
        <p:spPr bwMode="auto">
          <a:xfrm>
            <a:off x="588263" y="5299412"/>
            <a:ext cx="3410762" cy="96169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2" name="Content Placeholder 2">
            <a:extLst>
              <a:ext uri="{FF2B5EF4-FFF2-40B4-BE49-F238E27FC236}">
                <a16:creationId xmlns:a16="http://schemas.microsoft.com/office/drawing/2014/main" id="{213C8F73-4890-C602-8F61-B622FDDB6CF9}"/>
              </a:ext>
            </a:extLst>
          </p:cNvPr>
          <p:cNvSpPr txBox="1">
            <a:spLocks/>
          </p:cNvSpPr>
          <p:nvPr/>
        </p:nvSpPr>
        <p:spPr>
          <a:xfrm>
            <a:off x="803389" y="5509278"/>
            <a:ext cx="3896301"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Monitoring                                                       per deployment</a:t>
            </a:r>
          </a:p>
        </p:txBody>
      </p:sp>
      <p:sp>
        <p:nvSpPr>
          <p:cNvPr id="4" name="Rectangle: Rounded Corners 3">
            <a:extLst>
              <a:ext uri="{FF2B5EF4-FFF2-40B4-BE49-F238E27FC236}">
                <a16:creationId xmlns:a16="http://schemas.microsoft.com/office/drawing/2014/main" id="{431773CF-15F8-64C2-8C2D-A6C91DBDD61A}"/>
              </a:ext>
            </a:extLst>
          </p:cNvPr>
          <p:cNvSpPr/>
          <p:nvPr/>
        </p:nvSpPr>
        <p:spPr bwMode="auto">
          <a:xfrm>
            <a:off x="4224088" y="1528618"/>
            <a:ext cx="7184284" cy="4641946"/>
          </a:xfrm>
          <a:prstGeom prst="roundRect">
            <a:avLst>
              <a:gd name="adj" fmla="val 1661"/>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err="1">
              <a:solidFill>
                <a:srgbClr val="FFFFFF"/>
              </a:solidFill>
              <a:ea typeface="Segoe UI" pitchFamily="34" charset="0"/>
              <a:cs typeface="Segoe Sans Text" pitchFamily="2" charset="0"/>
            </a:endParaRPr>
          </a:p>
        </p:txBody>
      </p:sp>
      <p:pic>
        <p:nvPicPr>
          <p:cNvPr id="9" name="Picture 8" descr="A blue circle with black background&#10;&#10;Description automatically generated">
            <a:extLst>
              <a:ext uri="{FF2B5EF4-FFF2-40B4-BE49-F238E27FC236}">
                <a16:creationId xmlns:a16="http://schemas.microsoft.com/office/drawing/2014/main" id="{6CD0E8DF-D273-37BF-0B96-697509960618}"/>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612903" y="6047182"/>
            <a:ext cx="282863" cy="282863"/>
          </a:xfrm>
          <a:prstGeom prst="rect">
            <a:avLst/>
          </a:prstGeom>
          <a:effectLst>
            <a:outerShdw blurRad="114300" dist="139700" dir="2700000" algn="tl" rotWithShape="0">
              <a:prstClr val="black">
                <a:alpha val="18000"/>
              </a:prstClr>
            </a:outerShdw>
          </a:effectLst>
        </p:spPr>
      </p:pic>
      <p:pic>
        <p:nvPicPr>
          <p:cNvPr id="13" name="Picture 12">
            <a:extLst>
              <a:ext uri="{FF2B5EF4-FFF2-40B4-BE49-F238E27FC236}">
                <a16:creationId xmlns:a16="http://schemas.microsoft.com/office/drawing/2014/main" id="{6AC95013-0164-ADB3-F533-6E5B88896803}"/>
              </a:ext>
            </a:extLst>
          </p:cNvPr>
          <p:cNvPicPr>
            <a:picLocks noChangeAspect="1"/>
          </p:cNvPicPr>
          <p:nvPr/>
        </p:nvPicPr>
        <p:blipFill>
          <a:blip r:embed="rId4"/>
          <a:stretch>
            <a:fillRect/>
          </a:stretch>
        </p:blipFill>
        <p:spPr>
          <a:xfrm>
            <a:off x="4289035" y="1933743"/>
            <a:ext cx="7054389" cy="3903573"/>
          </a:xfrm>
          <a:prstGeom prst="roundRect">
            <a:avLst>
              <a:gd name="adj" fmla="val 2214"/>
            </a:avLst>
          </a:prstGeom>
        </p:spPr>
      </p:pic>
    </p:spTree>
    <p:extLst>
      <p:ext uri="{BB962C8B-B14F-4D97-AF65-F5344CB8AC3E}">
        <p14:creationId xmlns:p14="http://schemas.microsoft.com/office/powerpoint/2010/main" val="151665531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250" fill="hold"/>
                                        <p:tgtEl>
                                          <p:spTgt spid="83"/>
                                        </p:tgtEl>
                                        <p:attrNameLst>
                                          <p:attrName>ppt_w</p:attrName>
                                        </p:attrNameLst>
                                      </p:cBhvr>
                                      <p:tavLst>
                                        <p:tav tm="0">
                                          <p:val>
                                            <p:strVal val="2/3*#ppt_w"/>
                                          </p:val>
                                        </p:tav>
                                        <p:tav tm="100000">
                                          <p:val>
                                            <p:strVal val="#ppt_w"/>
                                          </p:val>
                                        </p:tav>
                                      </p:tavLst>
                                    </p:anim>
                                    <p:anim calcmode="lin" valueType="num">
                                      <p:cBhvr>
                                        <p:cTn id="8" dur="250" fill="hold"/>
                                        <p:tgtEl>
                                          <p:spTgt spid="83"/>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fade">
                                      <p:cBhvr>
                                        <p:cTn id="11" dur="500"/>
                                        <p:tgtEl>
                                          <p:spTgt spid="83"/>
                                        </p:tgtEl>
                                      </p:cBhvr>
                                    </p:animEffect>
                                  </p:childTnLst>
                                </p:cTn>
                              </p:par>
                              <p:par>
                                <p:cTn id="12" presetID="6" presetClass="emph" presetSubtype="0" fill="hold" grpId="2" nodeType="withEffect">
                                  <p:stCondLst>
                                    <p:cond delay="0"/>
                                  </p:stCondLst>
                                  <p:childTnLst>
                                    <p:animScale>
                                      <p:cBhvr>
                                        <p:cTn id="13" dur="10" fill="hold"/>
                                        <p:tgtEl>
                                          <p:spTgt spid="83"/>
                                        </p:tgtEl>
                                      </p:cBhvr>
                                      <p:by x="80000" y="80000"/>
                                    </p:animScale>
                                  </p:childTnLst>
                                </p:cTn>
                              </p:par>
                              <p:par>
                                <p:cTn id="14" presetID="6" presetClass="emph" presetSubtype="0" decel="100000" fill="hold" grpId="3" nodeType="withEffect">
                                  <p:stCondLst>
                                    <p:cond delay="0"/>
                                  </p:stCondLst>
                                  <p:childTnLst>
                                    <p:animScale>
                                      <p:cBhvr>
                                        <p:cTn id="15" dur="1000" fill="hold"/>
                                        <p:tgtEl>
                                          <p:spTgt spid="83"/>
                                        </p:tgtEl>
                                      </p:cBhvr>
                                      <p:by x="125000" y="125000"/>
                                    </p:animScale>
                                  </p:childTnLst>
                                </p:cTn>
                              </p:par>
                              <p:par>
                                <p:cTn id="16" presetID="10" presetClass="entr" presetSubtype="0" fill="hold" grpId="0" nodeType="withEffect">
                                  <p:stCondLst>
                                    <p:cond delay="0"/>
                                  </p:stCondLst>
                                  <p:childTnLst>
                                    <p:set>
                                      <p:cBhvr>
                                        <p:cTn id="17" dur="1" fill="hold">
                                          <p:stCondLst>
                                            <p:cond delay="0"/>
                                          </p:stCondLst>
                                        </p:cTn>
                                        <p:tgtEl>
                                          <p:spTgt spid="133"/>
                                        </p:tgtEl>
                                        <p:attrNameLst>
                                          <p:attrName>style.visibility</p:attrName>
                                        </p:attrNameLst>
                                      </p:cBhvr>
                                      <p:to>
                                        <p:strVal val="visible"/>
                                      </p:to>
                                    </p:set>
                                    <p:animEffect transition="in" filter="fade">
                                      <p:cBhvr>
                                        <p:cTn id="18" dur="1000"/>
                                        <p:tgtEl>
                                          <p:spTgt spid="13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childTnLst>
                                </p:cTn>
                              </p:par>
                              <p:par>
                                <p:cTn id="22" presetID="23" presetClass="entr" presetSubtype="272" fill="hold" grpId="0" nodeType="withEffect">
                                  <p:stCondLst>
                                    <p:cond delay="250"/>
                                  </p:stCondLst>
                                  <p:childTnLst>
                                    <p:set>
                                      <p:cBhvr>
                                        <p:cTn id="23" dur="1" fill="hold">
                                          <p:stCondLst>
                                            <p:cond delay="0"/>
                                          </p:stCondLst>
                                        </p:cTn>
                                        <p:tgtEl>
                                          <p:spTgt spid="134"/>
                                        </p:tgtEl>
                                        <p:attrNameLst>
                                          <p:attrName>style.visibility</p:attrName>
                                        </p:attrNameLst>
                                      </p:cBhvr>
                                      <p:to>
                                        <p:strVal val="visible"/>
                                      </p:to>
                                    </p:set>
                                    <p:anim calcmode="lin" valueType="num">
                                      <p:cBhvr>
                                        <p:cTn id="24" dur="250" fill="hold"/>
                                        <p:tgtEl>
                                          <p:spTgt spid="134"/>
                                        </p:tgtEl>
                                        <p:attrNameLst>
                                          <p:attrName>ppt_w</p:attrName>
                                        </p:attrNameLst>
                                      </p:cBhvr>
                                      <p:tavLst>
                                        <p:tav tm="0">
                                          <p:val>
                                            <p:strVal val="2/3*#ppt_w"/>
                                          </p:val>
                                        </p:tav>
                                        <p:tav tm="100000">
                                          <p:val>
                                            <p:strVal val="#ppt_w"/>
                                          </p:val>
                                        </p:tav>
                                      </p:tavLst>
                                    </p:anim>
                                    <p:anim calcmode="lin" valueType="num">
                                      <p:cBhvr>
                                        <p:cTn id="25" dur="250" fill="hold"/>
                                        <p:tgtEl>
                                          <p:spTgt spid="134"/>
                                        </p:tgtEl>
                                        <p:attrNameLst>
                                          <p:attrName>ppt_h</p:attrName>
                                        </p:attrNameLst>
                                      </p:cBhvr>
                                      <p:tavLst>
                                        <p:tav tm="0">
                                          <p:val>
                                            <p:strVal val="2/3*#ppt_h"/>
                                          </p:val>
                                        </p:tav>
                                        <p:tav tm="100000">
                                          <p:val>
                                            <p:strVal val="#ppt_h"/>
                                          </p:val>
                                        </p:tav>
                                      </p:tavLst>
                                    </p:anim>
                                  </p:childTnLst>
                                </p:cTn>
                              </p:par>
                              <p:par>
                                <p:cTn id="26" presetID="10" presetClass="entr" presetSubtype="0" fill="hold" grpId="1" nodeType="withEffect">
                                  <p:stCondLst>
                                    <p:cond delay="250"/>
                                  </p:stCondLst>
                                  <p:childTnLst>
                                    <p:set>
                                      <p:cBhvr>
                                        <p:cTn id="27" dur="1" fill="hold">
                                          <p:stCondLst>
                                            <p:cond delay="0"/>
                                          </p:stCondLst>
                                        </p:cTn>
                                        <p:tgtEl>
                                          <p:spTgt spid="134"/>
                                        </p:tgtEl>
                                        <p:attrNameLst>
                                          <p:attrName>style.visibility</p:attrName>
                                        </p:attrNameLst>
                                      </p:cBhvr>
                                      <p:to>
                                        <p:strVal val="visible"/>
                                      </p:to>
                                    </p:set>
                                    <p:animEffect transition="in" filter="fade">
                                      <p:cBhvr>
                                        <p:cTn id="28" dur="500"/>
                                        <p:tgtEl>
                                          <p:spTgt spid="134"/>
                                        </p:tgtEl>
                                      </p:cBhvr>
                                    </p:animEffect>
                                  </p:childTnLst>
                                </p:cTn>
                              </p:par>
                              <p:par>
                                <p:cTn id="29" presetID="6" presetClass="emph" presetSubtype="0" fill="hold" grpId="2" nodeType="withEffect">
                                  <p:stCondLst>
                                    <p:cond delay="250"/>
                                  </p:stCondLst>
                                  <p:childTnLst>
                                    <p:animScale>
                                      <p:cBhvr>
                                        <p:cTn id="30" dur="10" fill="hold"/>
                                        <p:tgtEl>
                                          <p:spTgt spid="134"/>
                                        </p:tgtEl>
                                      </p:cBhvr>
                                      <p:by x="80000" y="80000"/>
                                    </p:animScale>
                                  </p:childTnLst>
                                </p:cTn>
                              </p:par>
                              <p:par>
                                <p:cTn id="31" presetID="6" presetClass="emph" presetSubtype="0" decel="100000" fill="hold" grpId="3" nodeType="withEffect">
                                  <p:stCondLst>
                                    <p:cond delay="250"/>
                                  </p:stCondLst>
                                  <p:childTnLst>
                                    <p:animScale>
                                      <p:cBhvr>
                                        <p:cTn id="32" dur="1000" fill="hold"/>
                                        <p:tgtEl>
                                          <p:spTgt spid="134"/>
                                        </p:tgtEl>
                                      </p:cBhvr>
                                      <p:by x="125000" y="125000"/>
                                    </p:animScale>
                                  </p:childTnLst>
                                </p:cTn>
                              </p:par>
                              <p:par>
                                <p:cTn id="33" presetID="23" presetClass="entr" presetSubtype="272" fill="hold" grpId="0" nodeType="withEffect">
                                  <p:stCondLst>
                                    <p:cond delay="250"/>
                                  </p:stCondLst>
                                  <p:childTnLst>
                                    <p:set>
                                      <p:cBhvr>
                                        <p:cTn id="34" dur="1" fill="hold">
                                          <p:stCondLst>
                                            <p:cond delay="0"/>
                                          </p:stCondLst>
                                        </p:cTn>
                                        <p:tgtEl>
                                          <p:spTgt spid="12"/>
                                        </p:tgtEl>
                                        <p:attrNameLst>
                                          <p:attrName>style.visibility</p:attrName>
                                        </p:attrNameLst>
                                      </p:cBhvr>
                                      <p:to>
                                        <p:strVal val="visible"/>
                                      </p:to>
                                    </p:set>
                                    <p:anim calcmode="lin" valueType="num">
                                      <p:cBhvr>
                                        <p:cTn id="35" dur="250" fill="hold"/>
                                        <p:tgtEl>
                                          <p:spTgt spid="12"/>
                                        </p:tgtEl>
                                        <p:attrNameLst>
                                          <p:attrName>ppt_w</p:attrName>
                                        </p:attrNameLst>
                                      </p:cBhvr>
                                      <p:tavLst>
                                        <p:tav tm="0">
                                          <p:val>
                                            <p:strVal val="2/3*#ppt_w"/>
                                          </p:val>
                                        </p:tav>
                                        <p:tav tm="100000">
                                          <p:val>
                                            <p:strVal val="#ppt_w"/>
                                          </p:val>
                                        </p:tav>
                                      </p:tavLst>
                                    </p:anim>
                                    <p:anim calcmode="lin" valueType="num">
                                      <p:cBhvr>
                                        <p:cTn id="36" dur="250" fill="hold"/>
                                        <p:tgtEl>
                                          <p:spTgt spid="12"/>
                                        </p:tgtEl>
                                        <p:attrNameLst>
                                          <p:attrName>ppt_h</p:attrName>
                                        </p:attrNameLst>
                                      </p:cBhvr>
                                      <p:tavLst>
                                        <p:tav tm="0">
                                          <p:val>
                                            <p:strVal val="2/3*#ppt_h"/>
                                          </p:val>
                                        </p:tav>
                                        <p:tav tm="100000">
                                          <p:val>
                                            <p:strVal val="#ppt_h"/>
                                          </p:val>
                                        </p:tav>
                                      </p:tavLst>
                                    </p:anim>
                                  </p:childTnLst>
                                </p:cTn>
                              </p:par>
                              <p:par>
                                <p:cTn id="37" presetID="10" presetClass="entr" presetSubtype="0" fill="hold" grpId="1" nodeType="withEffect">
                                  <p:stCondLst>
                                    <p:cond delay="25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6" presetClass="emph" presetSubtype="0" fill="hold" grpId="2" nodeType="withEffect">
                                  <p:stCondLst>
                                    <p:cond delay="250"/>
                                  </p:stCondLst>
                                  <p:childTnLst>
                                    <p:animScale>
                                      <p:cBhvr>
                                        <p:cTn id="41" dur="10" fill="hold"/>
                                        <p:tgtEl>
                                          <p:spTgt spid="12"/>
                                        </p:tgtEl>
                                      </p:cBhvr>
                                      <p:by x="80000" y="80000"/>
                                    </p:animScale>
                                  </p:childTnLst>
                                </p:cTn>
                              </p:par>
                              <p:par>
                                <p:cTn id="42" presetID="6" presetClass="emph" presetSubtype="0" decel="100000" fill="hold" grpId="3" nodeType="withEffect">
                                  <p:stCondLst>
                                    <p:cond delay="250"/>
                                  </p:stCondLst>
                                  <p:childTnLst>
                                    <p:animScale>
                                      <p:cBhvr>
                                        <p:cTn id="43" dur="1000" fill="hold"/>
                                        <p:tgtEl>
                                          <p:spTgt spid="12"/>
                                        </p:tgtEl>
                                      </p:cBhvr>
                                      <p:by x="125000" y="125000"/>
                                    </p:animScale>
                                  </p:childTnLst>
                                </p:cTn>
                              </p:par>
                              <p:par>
                                <p:cTn id="44" presetID="23" presetClass="entr" presetSubtype="272" fill="hold" nodeType="withEffect">
                                  <p:stCondLst>
                                    <p:cond delay="550"/>
                                  </p:stCondLst>
                                  <p:childTnLst>
                                    <p:set>
                                      <p:cBhvr>
                                        <p:cTn id="45" dur="1" fill="hold">
                                          <p:stCondLst>
                                            <p:cond delay="0"/>
                                          </p:stCondLst>
                                        </p:cTn>
                                        <p:tgtEl>
                                          <p:spTgt spid="9"/>
                                        </p:tgtEl>
                                        <p:attrNameLst>
                                          <p:attrName>style.visibility</p:attrName>
                                        </p:attrNameLst>
                                      </p:cBhvr>
                                      <p:to>
                                        <p:strVal val="visible"/>
                                      </p:to>
                                    </p:set>
                                    <p:anim calcmode="lin" valueType="num">
                                      <p:cBhvr>
                                        <p:cTn id="46" dur="250" fill="hold"/>
                                        <p:tgtEl>
                                          <p:spTgt spid="9"/>
                                        </p:tgtEl>
                                        <p:attrNameLst>
                                          <p:attrName>ppt_w</p:attrName>
                                        </p:attrNameLst>
                                      </p:cBhvr>
                                      <p:tavLst>
                                        <p:tav tm="0">
                                          <p:val>
                                            <p:strVal val="2/3*#ppt_w"/>
                                          </p:val>
                                        </p:tav>
                                        <p:tav tm="100000">
                                          <p:val>
                                            <p:strVal val="#ppt_w"/>
                                          </p:val>
                                        </p:tav>
                                      </p:tavLst>
                                    </p:anim>
                                    <p:anim calcmode="lin" valueType="num">
                                      <p:cBhvr>
                                        <p:cTn id="47" dur="250" fill="hold"/>
                                        <p:tgtEl>
                                          <p:spTgt spid="9"/>
                                        </p:tgtEl>
                                        <p:attrNameLst>
                                          <p:attrName>ppt_h</p:attrName>
                                        </p:attrNameLst>
                                      </p:cBhvr>
                                      <p:tavLst>
                                        <p:tav tm="0">
                                          <p:val>
                                            <p:strVal val="2/3*#ppt_h"/>
                                          </p:val>
                                        </p:tav>
                                        <p:tav tm="100000">
                                          <p:val>
                                            <p:strVal val="#ppt_h"/>
                                          </p:val>
                                        </p:tav>
                                      </p:tavLst>
                                    </p:anim>
                                  </p:childTnLst>
                                </p:cTn>
                              </p:par>
                              <p:par>
                                <p:cTn id="48" presetID="10" presetClass="entr" presetSubtype="0" fill="hold" nodeType="withEffect">
                                  <p:stCondLst>
                                    <p:cond delay="55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par>
                                <p:cTn id="51" presetID="6" presetClass="emph" presetSubtype="0" fill="hold" nodeType="withEffect">
                                  <p:stCondLst>
                                    <p:cond delay="550"/>
                                  </p:stCondLst>
                                  <p:childTnLst>
                                    <p:animScale>
                                      <p:cBhvr>
                                        <p:cTn id="52" dur="10" fill="hold"/>
                                        <p:tgtEl>
                                          <p:spTgt spid="9"/>
                                        </p:tgtEl>
                                      </p:cBhvr>
                                      <p:by x="80000" y="80000"/>
                                    </p:animScale>
                                  </p:childTnLst>
                                </p:cTn>
                              </p:par>
                              <p:par>
                                <p:cTn id="53" presetID="6" presetClass="emph" presetSubtype="0" decel="100000" fill="hold" nodeType="withEffect">
                                  <p:stCondLst>
                                    <p:cond delay="550"/>
                                  </p:stCondLst>
                                  <p:childTnLst>
                                    <p:animScale>
                                      <p:cBhvr>
                                        <p:cTn id="54" dur="1000" fill="hold"/>
                                        <p:tgtEl>
                                          <p:spTgt spid="9"/>
                                        </p:tgtEl>
                                      </p:cBhvr>
                                      <p:by x="125000" y="125000"/>
                                    </p:animScale>
                                  </p:childTnLst>
                                </p:cTn>
                              </p:par>
                              <p:par>
                                <p:cTn id="55" presetID="10" presetClass="entr" presetSubtype="0" fill="hold" grpId="0" nodeType="withEffect">
                                  <p:stCondLst>
                                    <p:cond delay="55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750"/>
                                        <p:tgtEl>
                                          <p:spTgt spid="4"/>
                                        </p:tgtEl>
                                      </p:cBhvr>
                                    </p:animEffect>
                                  </p:childTnLst>
                                </p:cTn>
                              </p:par>
                              <p:par>
                                <p:cTn id="58" presetID="10" presetClass="entr" presetSubtype="0" fill="hold" nodeType="withEffect">
                                  <p:stCondLst>
                                    <p:cond delay="110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3" grpId="1" animBg="1"/>
      <p:bldP spid="83" grpId="2" animBg="1"/>
      <p:bldP spid="83" grpId="3" animBg="1"/>
      <p:bldP spid="133" grpId="0" animBg="1"/>
      <p:bldP spid="134" grpId="0"/>
      <p:bldP spid="134" grpId="1"/>
      <p:bldP spid="134" grpId="2"/>
      <p:bldP spid="134" grpId="3"/>
      <p:bldP spid="11" grpId="0" animBg="1"/>
      <p:bldP spid="12" grpId="0"/>
      <p:bldP spid="12" grpId="1"/>
      <p:bldP spid="12" grpId="2"/>
      <p:bldP spid="12" grpId="3"/>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D1DEE-F7A8-DFD1-CB4E-6A36CC746B6A}"/>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54C90EEB-6BCB-7B33-F28C-0BB85D289EC7}"/>
              </a:ext>
            </a:extLst>
          </p:cNvPr>
          <p:cNvSpPr>
            <a:spLocks noGrp="1"/>
          </p:cNvSpPr>
          <p:nvPr>
            <p:ph type="title" idx="4294967295"/>
          </p:nvPr>
        </p:nvSpPr>
        <p:spPr>
          <a:xfrm>
            <a:off x="1174750" y="593725"/>
            <a:ext cx="11017250" cy="998538"/>
          </a:xfrm>
        </p:spPr>
        <p:txBody>
          <a:bodyPr>
            <a:normAutofit/>
          </a:bodyPr>
          <a:lstStyle/>
          <a:p>
            <a:r>
              <a:rPr lang="en-US">
                <a:solidFill>
                  <a:schemeClr val="bg1"/>
                </a:solidFill>
              </a:rPr>
              <a:t>Final Use Case Architecture</a:t>
            </a:r>
            <a:endParaRPr lang="en-IN">
              <a:solidFill>
                <a:schemeClr val="bg1"/>
              </a:solidFill>
            </a:endParaRPr>
          </a:p>
        </p:txBody>
      </p:sp>
      <p:pic>
        <p:nvPicPr>
          <p:cNvPr id="92" name="Picture 91" descr="A blue circle with black background&#10;&#10;Description automatically generated">
            <a:extLst>
              <a:ext uri="{FF2B5EF4-FFF2-40B4-BE49-F238E27FC236}">
                <a16:creationId xmlns:a16="http://schemas.microsoft.com/office/drawing/2014/main" id="{36107D28-2C13-7EC9-8F39-5560E6B33B4C}"/>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1301946" y="5048497"/>
            <a:ext cx="385094" cy="385094"/>
          </a:xfrm>
          <a:prstGeom prst="rect">
            <a:avLst/>
          </a:prstGeom>
          <a:effectLst>
            <a:outerShdw blurRad="114300" dist="139700" dir="2700000" algn="tl" rotWithShape="0">
              <a:prstClr val="black">
                <a:alpha val="18000"/>
              </a:prstClr>
            </a:outerShdw>
          </a:effectLst>
        </p:spPr>
      </p:pic>
      <p:sp>
        <p:nvSpPr>
          <p:cNvPr id="2" name="Rectangle: Rounded Corners 1">
            <a:extLst>
              <a:ext uri="{FF2B5EF4-FFF2-40B4-BE49-F238E27FC236}">
                <a16:creationId xmlns:a16="http://schemas.microsoft.com/office/drawing/2014/main" id="{EDFA4E95-D89E-8C38-AC74-7CACCC9B8507}"/>
              </a:ext>
            </a:extLst>
          </p:cNvPr>
          <p:cNvSpPr>
            <a:spLocks/>
          </p:cNvSpPr>
          <p:nvPr/>
        </p:nvSpPr>
        <p:spPr bwMode="auto">
          <a:xfrm>
            <a:off x="383428" y="1424409"/>
            <a:ext cx="11392545" cy="5072911"/>
          </a:xfrm>
          <a:prstGeom prst="roundRect">
            <a:avLst>
              <a:gd name="adj" fmla="val 2665"/>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4" name="Rectangle: Rounded Corners 3">
            <a:extLst>
              <a:ext uri="{FF2B5EF4-FFF2-40B4-BE49-F238E27FC236}">
                <a16:creationId xmlns:a16="http://schemas.microsoft.com/office/drawing/2014/main" id="{D22045DA-63FE-4060-7CE5-F8A4A2B0A47E}"/>
              </a:ext>
            </a:extLst>
          </p:cNvPr>
          <p:cNvSpPr/>
          <p:nvPr/>
        </p:nvSpPr>
        <p:spPr bwMode="auto">
          <a:xfrm>
            <a:off x="459644" y="1493520"/>
            <a:ext cx="11241741" cy="4932680"/>
          </a:xfrm>
          <a:prstGeom prst="roundRect">
            <a:avLst>
              <a:gd name="adj" fmla="val 1628"/>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err="1">
              <a:solidFill>
                <a:srgbClr val="FFFFFF"/>
              </a:solidFill>
              <a:ea typeface="Segoe UI" pitchFamily="34" charset="0"/>
              <a:cs typeface="Segoe Sans Text" pitchFamily="2" charset="0"/>
            </a:endParaRPr>
          </a:p>
        </p:txBody>
      </p:sp>
      <p:pic>
        <p:nvPicPr>
          <p:cNvPr id="7" name="Picture 6">
            <a:extLst>
              <a:ext uri="{FF2B5EF4-FFF2-40B4-BE49-F238E27FC236}">
                <a16:creationId xmlns:a16="http://schemas.microsoft.com/office/drawing/2014/main" id="{50466FD6-A119-FD53-3E0C-B58CD48891F0}"/>
              </a:ext>
            </a:extLst>
          </p:cNvPr>
          <p:cNvPicPr>
            <a:picLocks noChangeAspect="1"/>
          </p:cNvPicPr>
          <p:nvPr/>
        </p:nvPicPr>
        <p:blipFill>
          <a:blip r:embed="rId4"/>
          <a:stretch>
            <a:fillRect/>
          </a:stretch>
        </p:blipFill>
        <p:spPr>
          <a:xfrm>
            <a:off x="2048544" y="1517202"/>
            <a:ext cx="7847809" cy="4826848"/>
          </a:xfrm>
          <a:prstGeom prst="rect">
            <a:avLst/>
          </a:prstGeom>
        </p:spPr>
      </p:pic>
    </p:spTree>
    <p:extLst>
      <p:ext uri="{BB962C8B-B14F-4D97-AF65-F5344CB8AC3E}">
        <p14:creationId xmlns:p14="http://schemas.microsoft.com/office/powerpoint/2010/main" val="25969449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250"/>
                                  </p:stCondLst>
                                  <p:childTnLst>
                                    <p:set>
                                      <p:cBhvr>
                                        <p:cTn id="6" dur="1" fill="hold">
                                          <p:stCondLst>
                                            <p:cond delay="0"/>
                                          </p:stCondLst>
                                        </p:cTn>
                                        <p:tgtEl>
                                          <p:spTgt spid="92"/>
                                        </p:tgtEl>
                                        <p:attrNameLst>
                                          <p:attrName>style.visibility</p:attrName>
                                        </p:attrNameLst>
                                      </p:cBhvr>
                                      <p:to>
                                        <p:strVal val="visible"/>
                                      </p:to>
                                    </p:set>
                                    <p:anim calcmode="lin" valueType="num">
                                      <p:cBhvr>
                                        <p:cTn id="7" dur="250" fill="hold"/>
                                        <p:tgtEl>
                                          <p:spTgt spid="92"/>
                                        </p:tgtEl>
                                        <p:attrNameLst>
                                          <p:attrName>ppt_w</p:attrName>
                                        </p:attrNameLst>
                                      </p:cBhvr>
                                      <p:tavLst>
                                        <p:tav tm="0">
                                          <p:val>
                                            <p:strVal val="2/3*#ppt_w"/>
                                          </p:val>
                                        </p:tav>
                                        <p:tav tm="100000">
                                          <p:val>
                                            <p:strVal val="#ppt_w"/>
                                          </p:val>
                                        </p:tav>
                                      </p:tavLst>
                                    </p:anim>
                                    <p:anim calcmode="lin" valueType="num">
                                      <p:cBhvr>
                                        <p:cTn id="8" dur="250" fill="hold"/>
                                        <p:tgtEl>
                                          <p:spTgt spid="92"/>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250"/>
                                  </p:stCondLst>
                                  <p:childTnLst>
                                    <p:set>
                                      <p:cBhvr>
                                        <p:cTn id="10" dur="1" fill="hold">
                                          <p:stCondLst>
                                            <p:cond delay="0"/>
                                          </p:stCondLst>
                                        </p:cTn>
                                        <p:tgtEl>
                                          <p:spTgt spid="92"/>
                                        </p:tgtEl>
                                        <p:attrNameLst>
                                          <p:attrName>style.visibility</p:attrName>
                                        </p:attrNameLst>
                                      </p:cBhvr>
                                      <p:to>
                                        <p:strVal val="visible"/>
                                      </p:to>
                                    </p:set>
                                    <p:animEffect transition="in" filter="fade">
                                      <p:cBhvr>
                                        <p:cTn id="11" dur="500"/>
                                        <p:tgtEl>
                                          <p:spTgt spid="92"/>
                                        </p:tgtEl>
                                      </p:cBhvr>
                                    </p:animEffect>
                                  </p:childTnLst>
                                </p:cTn>
                              </p:par>
                              <p:par>
                                <p:cTn id="12" presetID="6" presetClass="emph" presetSubtype="0" fill="hold" nodeType="withEffect">
                                  <p:stCondLst>
                                    <p:cond delay="250"/>
                                  </p:stCondLst>
                                  <p:childTnLst>
                                    <p:animScale>
                                      <p:cBhvr>
                                        <p:cTn id="13" dur="10" fill="hold"/>
                                        <p:tgtEl>
                                          <p:spTgt spid="92"/>
                                        </p:tgtEl>
                                      </p:cBhvr>
                                      <p:by x="80000" y="80000"/>
                                    </p:animScale>
                                  </p:childTnLst>
                                </p:cTn>
                              </p:par>
                              <p:par>
                                <p:cTn id="14" presetID="6" presetClass="emph" presetSubtype="0" decel="100000" fill="hold" nodeType="withEffect">
                                  <p:stCondLst>
                                    <p:cond delay="250"/>
                                  </p:stCondLst>
                                  <p:childTnLst>
                                    <p:animScale>
                                      <p:cBhvr>
                                        <p:cTn id="15" dur="1000" fill="hold"/>
                                        <p:tgtEl>
                                          <p:spTgt spid="92"/>
                                        </p:tgtEl>
                                      </p:cBhvr>
                                      <p:by x="125000" y="125000"/>
                                    </p:animScale>
                                  </p:childTnLst>
                                </p:cTn>
                              </p:par>
                              <p:par>
                                <p:cTn id="16" presetID="23" presetClass="entr" presetSubtype="272" fill="hold" grpId="0" nodeType="withEffect">
                                  <p:stCondLst>
                                    <p:cond delay="250"/>
                                  </p:stCondLst>
                                  <p:childTnLst>
                                    <p:set>
                                      <p:cBhvr>
                                        <p:cTn id="17" dur="1" fill="hold">
                                          <p:stCondLst>
                                            <p:cond delay="0"/>
                                          </p:stCondLst>
                                        </p:cTn>
                                        <p:tgtEl>
                                          <p:spTgt spid="2"/>
                                        </p:tgtEl>
                                        <p:attrNameLst>
                                          <p:attrName>style.visibility</p:attrName>
                                        </p:attrNameLst>
                                      </p:cBhvr>
                                      <p:to>
                                        <p:strVal val="visible"/>
                                      </p:to>
                                    </p:set>
                                    <p:anim calcmode="lin" valueType="num">
                                      <p:cBhvr>
                                        <p:cTn id="18" dur="250" fill="hold"/>
                                        <p:tgtEl>
                                          <p:spTgt spid="2"/>
                                        </p:tgtEl>
                                        <p:attrNameLst>
                                          <p:attrName>ppt_w</p:attrName>
                                        </p:attrNameLst>
                                      </p:cBhvr>
                                      <p:tavLst>
                                        <p:tav tm="0">
                                          <p:val>
                                            <p:strVal val="2/3*#ppt_w"/>
                                          </p:val>
                                        </p:tav>
                                        <p:tav tm="100000">
                                          <p:val>
                                            <p:strVal val="#ppt_w"/>
                                          </p:val>
                                        </p:tav>
                                      </p:tavLst>
                                    </p:anim>
                                    <p:anim calcmode="lin" valueType="num">
                                      <p:cBhvr>
                                        <p:cTn id="19" dur="250" fill="hold"/>
                                        <p:tgtEl>
                                          <p:spTgt spid="2"/>
                                        </p:tgtEl>
                                        <p:attrNameLst>
                                          <p:attrName>ppt_h</p:attrName>
                                        </p:attrNameLst>
                                      </p:cBhvr>
                                      <p:tavLst>
                                        <p:tav tm="0">
                                          <p:val>
                                            <p:strVal val="2/3*#ppt_h"/>
                                          </p:val>
                                        </p:tav>
                                        <p:tav tm="100000">
                                          <p:val>
                                            <p:strVal val="#ppt_h"/>
                                          </p:val>
                                        </p:tav>
                                      </p:tavLst>
                                    </p:anim>
                                  </p:childTnLst>
                                </p:cTn>
                              </p:par>
                              <p:par>
                                <p:cTn id="20" presetID="10" presetClass="entr" presetSubtype="0" fill="hold" grpId="1" nodeType="withEffect">
                                  <p:stCondLst>
                                    <p:cond delay="25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6" presetClass="emph" presetSubtype="0" fill="hold" grpId="2" nodeType="withEffect">
                                  <p:stCondLst>
                                    <p:cond delay="250"/>
                                  </p:stCondLst>
                                  <p:childTnLst>
                                    <p:animScale>
                                      <p:cBhvr>
                                        <p:cTn id="24" dur="10" fill="hold"/>
                                        <p:tgtEl>
                                          <p:spTgt spid="2"/>
                                        </p:tgtEl>
                                      </p:cBhvr>
                                      <p:by x="80000" y="80000"/>
                                    </p:animScale>
                                  </p:childTnLst>
                                </p:cTn>
                              </p:par>
                              <p:par>
                                <p:cTn id="25" presetID="6" presetClass="emph" presetSubtype="0" decel="100000" fill="hold" grpId="3" nodeType="withEffect">
                                  <p:stCondLst>
                                    <p:cond delay="250"/>
                                  </p:stCondLst>
                                  <p:childTnLst>
                                    <p:animScale>
                                      <p:cBhvr>
                                        <p:cTn id="26" dur="1000" fill="hold"/>
                                        <p:tgtEl>
                                          <p:spTgt spid="2"/>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66621-CF5A-C58A-F639-F485A20D24F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3B94F2-AC9E-E400-8FCD-FC8510815E19}"/>
              </a:ext>
            </a:extLst>
          </p:cNvPr>
          <p:cNvSpPr>
            <a:spLocks noGrp="1"/>
          </p:cNvSpPr>
          <p:nvPr>
            <p:ph type="title"/>
          </p:nvPr>
        </p:nvSpPr>
        <p:spPr>
          <a:xfrm>
            <a:off x="575481" y="1085599"/>
            <a:ext cx="11045019" cy="553998"/>
          </a:xfrm>
        </p:spPr>
        <p:txBody>
          <a:bodyPr/>
          <a:lstStyle/>
          <a:p>
            <a:r>
              <a:rPr lang="en-US"/>
              <a:t>Demonstration</a:t>
            </a:r>
          </a:p>
        </p:txBody>
      </p:sp>
      <p:sp>
        <p:nvSpPr>
          <p:cNvPr id="17" name="Rectangle 16">
            <a:extLst>
              <a:ext uri="{FF2B5EF4-FFF2-40B4-BE49-F238E27FC236}">
                <a16:creationId xmlns:a16="http://schemas.microsoft.com/office/drawing/2014/main" id="{CA9BC01B-317C-552A-E0BB-65CECACBF319}"/>
              </a:ext>
            </a:extLst>
          </p:cNvPr>
          <p:cNvSpPr>
            <a:spLocks/>
          </p:cNvSpPr>
          <p:nvPr/>
        </p:nvSpPr>
        <p:spPr bwMode="auto">
          <a:xfrm>
            <a:off x="571499" y="2298700"/>
            <a:ext cx="11048999" cy="397033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3500">
                <a:solidFill>
                  <a:schemeClr val="tx1"/>
                </a:solidFill>
                <a:latin typeface="+mj-lt"/>
                <a:ea typeface="Segoe UI" pitchFamily="34" charset="0"/>
                <a:cs typeface="Segoe UI" pitchFamily="34" charset="0"/>
              </a:rPr>
              <a:t>E2E Demo</a:t>
            </a:r>
          </a:p>
        </p:txBody>
      </p:sp>
      <p:sp>
        <p:nvSpPr>
          <p:cNvPr id="10" name="Footer Placeholder 3">
            <a:extLst>
              <a:ext uri="{FF2B5EF4-FFF2-40B4-BE49-F238E27FC236}">
                <a16:creationId xmlns:a16="http://schemas.microsoft.com/office/drawing/2014/main" id="{E8775CE3-112E-129C-56CA-068267E97F1A}"/>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0E426AFE-C3A1-1AD7-859E-8CB1AB780D58}"/>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60</a:t>
            </a:fld>
            <a:endParaRPr kumimoji="0" lang="en-US" sz="800" b="0" i="0" u="none" strike="noStrike" kern="1200" cap="none" spc="0" normalizeH="0" baseline="0" noProof="0">
              <a:ln>
                <a:noFill/>
              </a:ln>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978386244"/>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D3A33-D40C-6582-3848-3E8ED0E5D657}"/>
              </a:ext>
            </a:extLst>
          </p:cNvPr>
          <p:cNvSpPr>
            <a:spLocks noGrp="1"/>
          </p:cNvSpPr>
          <p:nvPr>
            <p:ph type="title"/>
          </p:nvPr>
        </p:nvSpPr>
        <p:spPr>
          <a:xfrm>
            <a:off x="584200" y="2303312"/>
            <a:ext cx="9169400" cy="3046988"/>
          </a:xfrm>
        </p:spPr>
        <p:txBody>
          <a:bodyPr/>
          <a:lstStyle/>
          <a:p>
            <a:r>
              <a:rPr lang="en-US"/>
              <a:t>How to monitor GenAI Apps in production?</a:t>
            </a:r>
            <a:br>
              <a:rPr lang="en-US"/>
            </a:br>
            <a:endParaRPr lang="en-US"/>
          </a:p>
        </p:txBody>
      </p:sp>
      <p:sp>
        <p:nvSpPr>
          <p:cNvPr id="3" name="Text Placeholder 2">
            <a:extLst>
              <a:ext uri="{FF2B5EF4-FFF2-40B4-BE49-F238E27FC236}">
                <a16:creationId xmlns:a16="http://schemas.microsoft.com/office/drawing/2014/main" id="{DF03C1AF-5123-1390-CD58-65ACA46DC3A5}"/>
              </a:ext>
            </a:extLst>
          </p:cNvPr>
          <p:cNvSpPr>
            <a:spLocks noGrp="1"/>
          </p:cNvSpPr>
          <p:nvPr>
            <p:ph type="body" sz="quarter" idx="12"/>
          </p:nvPr>
        </p:nvSpPr>
        <p:spPr/>
        <p:txBody>
          <a:bodyPr/>
          <a:lstStyle/>
          <a:p>
            <a:endParaRPr lang="en-US"/>
          </a:p>
        </p:txBody>
      </p:sp>
      <p:sp>
        <p:nvSpPr>
          <p:cNvPr id="4" name="Footer Placeholder 3">
            <a:extLst>
              <a:ext uri="{FF2B5EF4-FFF2-40B4-BE49-F238E27FC236}">
                <a16:creationId xmlns:a16="http://schemas.microsoft.com/office/drawing/2014/main" id="{691F0742-9198-B63E-6945-8DCC358315F6}"/>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DFD2CB19-A578-2566-6F01-6D3B76306BD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61</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556292705"/>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4210D-9D21-E312-329E-D67B0C560218}"/>
            </a:ext>
          </a:extLst>
        </p:cNvPr>
        <p:cNvGrpSpPr/>
        <p:nvPr/>
      </p:nvGrpSpPr>
      <p:grpSpPr>
        <a:xfrm>
          <a:off x="0" y="0"/>
          <a:ext cx="0" cy="0"/>
          <a:chOff x="0" y="0"/>
          <a:chExt cx="0" cy="0"/>
        </a:xfrm>
      </p:grpSpPr>
      <p:sp>
        <p:nvSpPr>
          <p:cNvPr id="48" name="Title 55">
            <a:extLst>
              <a:ext uri="{FF2B5EF4-FFF2-40B4-BE49-F238E27FC236}">
                <a16:creationId xmlns:a16="http://schemas.microsoft.com/office/drawing/2014/main" id="{0937FF3C-899E-E168-67B9-9B1061D4AB8F}"/>
              </a:ext>
            </a:extLst>
          </p:cNvPr>
          <p:cNvSpPr txBox="1">
            <a:spLocks/>
          </p:cNvSpPr>
          <p:nvPr/>
        </p:nvSpPr>
        <p:spPr>
          <a:xfrm>
            <a:off x="1683415" y="1205705"/>
            <a:ext cx="6059120" cy="336328"/>
          </a:xfrm>
          <a:prstGeom prst="rect">
            <a:avLst/>
          </a:prstGeom>
          <a:noFill/>
        </p:spPr>
        <p:txBody>
          <a:bodyPr vert="horz" wrap="square" lIns="0" tIns="0" rIns="0" bIns="0" rtlCol="0" anchor="t">
            <a:noAutofit/>
          </a:bodyPr>
          <a:lstStyle>
            <a:lvl1pPr algn="l" defTabSz="932742" rtl="0" eaLnBrk="1" latinLnBrk="0" hangingPunct="1">
              <a:lnSpc>
                <a:spcPct val="100000"/>
              </a:lnSpc>
              <a:spcBef>
                <a:spcPct val="0"/>
              </a:spcBef>
              <a:buNone/>
              <a:defRPr kumimoji="0" lang="en-GB" sz="3200" b="0" i="0" u="none" strike="noStrike" kern="1200" cap="none" spc="0" normalizeH="0" baseline="0" dirty="0">
                <a:ln>
                  <a:noFill/>
                </a:ln>
                <a:solidFill>
                  <a:srgbClr val="FFFFFF"/>
                </a:solidFill>
                <a:effectLst/>
                <a:uLnTx/>
                <a:uFillTx/>
                <a:latin typeface="Segoe Sans Text Semibold"/>
                <a:ea typeface="+mn-ea"/>
                <a:cs typeface="+mn-cs"/>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mn-cs"/>
            </a:endParaRPr>
          </a:p>
        </p:txBody>
      </p:sp>
      <p:grpSp>
        <p:nvGrpSpPr>
          <p:cNvPr id="132" name="Group 131">
            <a:extLst>
              <a:ext uri="{FF2B5EF4-FFF2-40B4-BE49-F238E27FC236}">
                <a16:creationId xmlns:a16="http://schemas.microsoft.com/office/drawing/2014/main" id="{4FD48667-92B5-B47A-20DF-788F616178D4}"/>
              </a:ext>
            </a:extLst>
          </p:cNvPr>
          <p:cNvGrpSpPr/>
          <p:nvPr/>
        </p:nvGrpSpPr>
        <p:grpSpPr>
          <a:xfrm>
            <a:off x="1103449" y="1402239"/>
            <a:ext cx="3137931" cy="4619254"/>
            <a:chOff x="1103449" y="1348055"/>
            <a:chExt cx="3137931" cy="4319505"/>
          </a:xfrm>
        </p:grpSpPr>
        <p:sp useBgFill="1">
          <p:nvSpPr>
            <p:cNvPr id="3" name="Rectangle: Rounded Corners 2">
              <a:extLst>
                <a:ext uri="{FF2B5EF4-FFF2-40B4-BE49-F238E27FC236}">
                  <a16:creationId xmlns:a16="http://schemas.microsoft.com/office/drawing/2014/main" id="{AF3B8820-4634-9284-55C8-A58439AB7535}"/>
                </a:ext>
              </a:extLst>
            </p:cNvPr>
            <p:cNvSpPr>
              <a:spLocks/>
            </p:cNvSpPr>
            <p:nvPr/>
          </p:nvSpPr>
          <p:spPr bwMode="auto">
            <a:xfrm>
              <a:off x="1103449" y="1348055"/>
              <a:ext cx="3137931" cy="421183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spcBef>
                  <a:spcPct val="0"/>
                </a:spcBef>
                <a:spcAft>
                  <a:spcPct val="0"/>
                </a:spcAft>
              </a:pPr>
              <a:endParaRPr lang="en-US" sz="2000">
                <a:solidFill>
                  <a:srgbClr val="FFFFFF"/>
                </a:solidFill>
                <a:latin typeface="Segoe Sans Text"/>
                <a:cs typeface="Segoe Sans Text" pitchFamily="2" charset="0"/>
              </a:endParaRPr>
            </a:p>
          </p:txBody>
        </p:sp>
        <p:sp>
          <p:nvSpPr>
            <p:cNvPr id="4" name="TextBox 3">
              <a:extLst>
                <a:ext uri="{FF2B5EF4-FFF2-40B4-BE49-F238E27FC236}">
                  <a16:creationId xmlns:a16="http://schemas.microsoft.com/office/drawing/2014/main" id="{023A8F06-4697-A983-D8EA-86EE4A3DD622}"/>
                </a:ext>
              </a:extLst>
            </p:cNvPr>
            <p:cNvSpPr txBox="1"/>
            <p:nvPr/>
          </p:nvSpPr>
          <p:spPr>
            <a:xfrm>
              <a:off x="1483360" y="2634829"/>
              <a:ext cx="2743200" cy="3032731"/>
            </a:xfrm>
            <a:prstGeom prst="rect">
              <a:avLst/>
            </a:prstGeom>
            <a:noFill/>
          </p:spPr>
          <p:txBody>
            <a:bodyPr wrap="square" lIns="0" tIns="0" rIns="0" bIns="0" rtlCol="0">
              <a:spAutoFit/>
            </a:bodyPr>
            <a:lstStyle/>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a:solidFill>
                    <a:srgbClr val="FFFFFF"/>
                  </a:solidFill>
                  <a:latin typeface="Segoe Sans Text Semibold"/>
                </a:rPr>
                <a:t>Azure OpenAI Resource Level</a:t>
              </a:r>
            </a:p>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b="1">
                  <a:solidFill>
                    <a:srgbClr val="FFFFFF"/>
                  </a:solidFill>
                </a:rPr>
                <a:t>AI Foundry Built-in Data collection: </a:t>
              </a:r>
              <a:r>
                <a:rPr lang="en-US" sz="1400">
                  <a:solidFill>
                    <a:srgbClr val="FFFFFF"/>
                  </a:solidFill>
                </a:rPr>
                <a:t>Azure OpenAI stored completions &amp;distillation </a:t>
              </a:r>
              <a:r>
                <a:rPr lang="en-US" sz="1200">
                  <a:solidFill>
                    <a:srgbClr val="FFFFFF"/>
                  </a:solidFill>
                </a:rPr>
                <a:t>(Preview)</a:t>
              </a:r>
            </a:p>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b="1">
                  <a:solidFill>
                    <a:srgbClr val="FFFFFF"/>
                  </a:solidFill>
                </a:rPr>
                <a:t>Evaluation SDK </a:t>
              </a:r>
              <a:r>
                <a:rPr lang="en-US" sz="1400">
                  <a:solidFill>
                    <a:srgbClr val="FFFFFF"/>
                  </a:solidFill>
                </a:rPr>
                <a:t>for performance metrics and safety metrics</a:t>
              </a:r>
            </a:p>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b="1">
                  <a:solidFill>
                    <a:srgbClr val="FFFFFF"/>
                  </a:solidFill>
                </a:rPr>
                <a:t>Azure Monitor</a:t>
              </a:r>
            </a:p>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sz="1400" b="1">
                  <a:solidFill>
                    <a:srgbClr val="FFFFFF"/>
                  </a:solidFill>
                </a:rPr>
                <a:t>AI Foundry Built-in Tracing </a:t>
              </a:r>
              <a:r>
                <a:rPr lang="en-US" sz="1400">
                  <a:solidFill>
                    <a:srgbClr val="FFFFFF"/>
                  </a:solidFill>
                </a:rPr>
                <a:t>for detailed logs of the workflow by </a:t>
              </a:r>
              <a:r>
                <a:rPr lang="en-US" sz="1400" b="1">
                  <a:solidFill>
                    <a:srgbClr val="FFFFFF"/>
                  </a:solidFill>
                </a:rPr>
                <a:t>Inference SDK</a:t>
              </a:r>
              <a:r>
                <a:rPr lang="en-US" sz="1200">
                  <a:solidFill>
                    <a:srgbClr val="FFFFFF"/>
                  </a:solidFill>
                </a:rPr>
                <a:t>(Preview)</a:t>
              </a:r>
              <a:r>
                <a:rPr lang="en-US" sz="1400">
                  <a:solidFill>
                    <a:srgbClr val="FFFFFF"/>
                  </a:solidFill>
                </a:rPr>
                <a:t>.</a:t>
              </a:r>
            </a:p>
          </p:txBody>
        </p:sp>
        <p:grpSp>
          <p:nvGrpSpPr>
            <p:cNvPr id="5" name="Group 4">
              <a:extLst>
                <a:ext uri="{FF2B5EF4-FFF2-40B4-BE49-F238E27FC236}">
                  <a16:creationId xmlns:a16="http://schemas.microsoft.com/office/drawing/2014/main" id="{C50FAB0D-CB06-141D-B4D2-7B1F1BD41F84}"/>
                </a:ext>
              </a:extLst>
            </p:cNvPr>
            <p:cNvGrpSpPr/>
            <p:nvPr/>
          </p:nvGrpSpPr>
          <p:grpSpPr>
            <a:xfrm>
              <a:off x="1517074" y="1513540"/>
              <a:ext cx="1004700" cy="1004984"/>
              <a:chOff x="1743868" y="261706"/>
              <a:chExt cx="1641519" cy="1641993"/>
            </a:xfrm>
          </p:grpSpPr>
          <p:sp>
            <p:nvSpPr>
              <p:cNvPr id="6" name="Oval 17">
                <a:extLst>
                  <a:ext uri="{FF2B5EF4-FFF2-40B4-BE49-F238E27FC236}">
                    <a16:creationId xmlns:a16="http://schemas.microsoft.com/office/drawing/2014/main" id="{B2971789-9D67-A0FD-3AAC-496F8091EF88}"/>
                  </a:ext>
                </a:extLst>
              </p:cNvPr>
              <p:cNvSpPr>
                <a:spLocks/>
              </p:cNvSpPr>
              <p:nvPr/>
            </p:nvSpPr>
            <p:spPr bwMode="auto">
              <a:xfrm>
                <a:off x="1743868" y="261706"/>
                <a:ext cx="1641519" cy="1641993"/>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8" name="Rectangle: Rounded Corners 7">
                <a:extLst>
                  <a:ext uri="{FF2B5EF4-FFF2-40B4-BE49-F238E27FC236}">
                    <a16:creationId xmlns:a16="http://schemas.microsoft.com/office/drawing/2014/main" id="{506E54CA-6E1F-897E-7A00-1261F7CD7A75}"/>
                  </a:ext>
                </a:extLst>
              </p:cNvPr>
              <p:cNvSpPr/>
              <p:nvPr userDrawn="1"/>
            </p:nvSpPr>
            <p:spPr bwMode="auto">
              <a:xfrm>
                <a:off x="1880606" y="355742"/>
                <a:ext cx="1412309" cy="1409645"/>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grpSp>
      </p:grpSp>
      <p:grpSp>
        <p:nvGrpSpPr>
          <p:cNvPr id="133" name="Group 132">
            <a:extLst>
              <a:ext uri="{FF2B5EF4-FFF2-40B4-BE49-F238E27FC236}">
                <a16:creationId xmlns:a16="http://schemas.microsoft.com/office/drawing/2014/main" id="{77ADDCB1-9516-9026-BA90-4FC084CA50B4}"/>
              </a:ext>
            </a:extLst>
          </p:cNvPr>
          <p:cNvGrpSpPr/>
          <p:nvPr/>
        </p:nvGrpSpPr>
        <p:grpSpPr>
          <a:xfrm>
            <a:off x="4527036" y="1415789"/>
            <a:ext cx="3302936" cy="4429598"/>
            <a:chOff x="4547355" y="1124535"/>
            <a:chExt cx="3302936" cy="4182798"/>
          </a:xfrm>
        </p:grpSpPr>
        <p:sp>
          <p:nvSpPr>
            <p:cNvPr id="2" name="Rectangle: Rounded Corners 1">
              <a:extLst>
                <a:ext uri="{FF2B5EF4-FFF2-40B4-BE49-F238E27FC236}">
                  <a16:creationId xmlns:a16="http://schemas.microsoft.com/office/drawing/2014/main" id="{A75384F6-ED39-9FDB-1BEC-7BD69E728A00}"/>
                </a:ext>
              </a:extLst>
            </p:cNvPr>
            <p:cNvSpPr>
              <a:spLocks/>
            </p:cNvSpPr>
            <p:nvPr/>
          </p:nvSpPr>
          <p:spPr bwMode="auto">
            <a:xfrm>
              <a:off x="4547355" y="1124535"/>
              <a:ext cx="3137931" cy="418279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0" name="TextBox 9">
              <a:extLst>
                <a:ext uri="{FF2B5EF4-FFF2-40B4-BE49-F238E27FC236}">
                  <a16:creationId xmlns:a16="http://schemas.microsoft.com/office/drawing/2014/main" id="{9ED4891D-0961-2D05-0E87-3934773B8F44}"/>
                </a:ext>
              </a:extLst>
            </p:cNvPr>
            <p:cNvSpPr txBox="1"/>
            <p:nvPr/>
          </p:nvSpPr>
          <p:spPr>
            <a:xfrm>
              <a:off x="4798418" y="2377439"/>
              <a:ext cx="3051873" cy="2677656"/>
            </a:xfrm>
            <a:prstGeom prst="rect">
              <a:avLst/>
            </a:prstGeom>
            <a:noFill/>
          </p:spPr>
          <p:txBody>
            <a:bodyPr wrap="square" lIns="0" tIns="0" rIns="0" bIns="0" rtlCol="0" anchor="t">
              <a:spAutoFit/>
            </a:bodyPr>
            <a:lstStyle/>
            <a:p>
              <a:pPr marR="0" indent="0" defTabSz="609630" fontAlgn="base">
                <a:lnSpc>
                  <a:spcPct val="100000"/>
                </a:lnSpc>
                <a:spcBef>
                  <a:spcPts val="1200"/>
                </a:spcBef>
                <a:spcAft>
                  <a:spcPct val="0"/>
                </a:spcAft>
                <a:buClrTx/>
                <a:buSzPct val="90000"/>
                <a:buFont typeface="Wingdings" panose="05000000000000000000" pitchFamily="2" charset="2"/>
                <a:buNone/>
                <a:tabLst/>
                <a:defRPr/>
              </a:pPr>
              <a:r>
                <a:rPr lang="en-US">
                  <a:solidFill>
                    <a:srgbClr val="FFFFFF"/>
                  </a:solidFill>
                  <a:latin typeface="Segoe Sans Text Semibold"/>
                </a:rPr>
                <a:t>Application Level</a:t>
              </a:r>
            </a:p>
            <a:p>
              <a:pPr defTabSz="609630">
                <a:spcBef>
                  <a:spcPts val="1200"/>
                </a:spcBef>
                <a:spcAft>
                  <a:spcPct val="0"/>
                </a:spcAft>
                <a:defRPr/>
              </a:pPr>
              <a:r>
                <a:rPr lang="en-US" sz="1400" b="1">
                  <a:solidFill>
                    <a:srgbClr val="FFFFFF"/>
                  </a:solidFill>
                  <a:ea typeface="+mn-lt"/>
                  <a:cs typeface="+mn-lt"/>
                </a:rPr>
                <a:t>Application Insight: </a:t>
              </a:r>
              <a:r>
                <a:rPr lang="en-US" sz="1400">
                  <a:solidFill>
                    <a:srgbClr val="FFFFFF"/>
                  </a:solidFill>
                </a:rPr>
                <a:t>Application level log and metric stored in Log Analytics Workspace</a:t>
              </a:r>
              <a:br>
                <a:rPr lang="en-US" sz="1400">
                  <a:solidFill>
                    <a:srgbClr val="FFFFFF"/>
                  </a:solidFill>
                </a:rPr>
              </a:br>
              <a:br>
                <a:rPr lang="en-US" sz="1400"/>
              </a:br>
              <a:r>
                <a:rPr lang="en-US" sz="1400" b="1">
                  <a:solidFill>
                    <a:srgbClr val="FFFFFF"/>
                  </a:solidFill>
                  <a:cs typeface="Segoe Sans Text"/>
                </a:rPr>
                <a:t>Evaluation SDK </a:t>
              </a:r>
              <a:r>
                <a:rPr lang="en-US" sz="1400">
                  <a:solidFill>
                    <a:srgbClr val="FFFFFF"/>
                  </a:solidFill>
                  <a:cs typeface="Segoe Sans Text"/>
                </a:rPr>
                <a:t>for performance metrics and safety metrics</a:t>
              </a:r>
            </a:p>
            <a:p>
              <a:pPr defTabSz="609630">
                <a:spcBef>
                  <a:spcPts val="1200"/>
                </a:spcBef>
                <a:spcAft>
                  <a:spcPct val="0"/>
                </a:spcAft>
                <a:defRPr/>
              </a:pPr>
              <a:r>
                <a:rPr lang="en-US" sz="1400" b="1">
                  <a:solidFill>
                    <a:srgbClr val="FFFFFF"/>
                  </a:solidFill>
                  <a:cs typeface="Segoe Sans Text"/>
                </a:rPr>
                <a:t>Built-in Monitoring: </a:t>
              </a:r>
              <a:r>
                <a:rPr lang="en-US" sz="1400">
                  <a:solidFill>
                    <a:srgbClr val="FFFFFF"/>
                  </a:solidFill>
                  <a:cs typeface="Segoe Sans Text"/>
                </a:rPr>
                <a:t>Generative AI Applications Dashboard </a:t>
              </a:r>
              <a:r>
                <a:rPr lang="en-US" sz="1200">
                  <a:solidFill>
                    <a:srgbClr val="FFFFFF"/>
                  </a:solidFill>
                  <a:cs typeface="Segoe Sans Text"/>
                </a:rPr>
                <a:t>(Preview)</a:t>
              </a:r>
              <a:endParaRPr lang="en-US" sz="1200">
                <a:solidFill>
                  <a:srgbClr val="000000"/>
                </a:solidFill>
                <a:cs typeface="Segoe Sans Text"/>
              </a:endParaRPr>
            </a:p>
            <a:p>
              <a:pPr defTabSz="609630">
                <a:spcBef>
                  <a:spcPts val="1200"/>
                </a:spcBef>
                <a:spcAft>
                  <a:spcPct val="0"/>
                </a:spcAft>
                <a:defRPr/>
              </a:pPr>
              <a:endParaRPr lang="en-US" sz="1400"/>
            </a:p>
          </p:txBody>
        </p:sp>
        <p:grpSp>
          <p:nvGrpSpPr>
            <p:cNvPr id="11" name="Group 10">
              <a:extLst>
                <a:ext uri="{FF2B5EF4-FFF2-40B4-BE49-F238E27FC236}">
                  <a16:creationId xmlns:a16="http://schemas.microsoft.com/office/drawing/2014/main" id="{9C2B9D08-26F0-AA55-88E7-B270D30DF2B4}"/>
                </a:ext>
              </a:extLst>
            </p:cNvPr>
            <p:cNvGrpSpPr/>
            <p:nvPr/>
          </p:nvGrpSpPr>
          <p:grpSpPr>
            <a:xfrm>
              <a:off x="4811965" y="1290025"/>
              <a:ext cx="1004700" cy="1004990"/>
              <a:chOff x="1633201" y="-103489"/>
              <a:chExt cx="1641521" cy="1641995"/>
            </a:xfrm>
          </p:grpSpPr>
          <p:sp>
            <p:nvSpPr>
              <p:cNvPr id="12" name="Oval 17">
                <a:extLst>
                  <a:ext uri="{FF2B5EF4-FFF2-40B4-BE49-F238E27FC236}">
                    <a16:creationId xmlns:a16="http://schemas.microsoft.com/office/drawing/2014/main" id="{91C48A2F-CC13-C239-6B80-57FFD1F38081}"/>
                  </a:ext>
                </a:extLst>
              </p:cNvPr>
              <p:cNvSpPr>
                <a:spLocks/>
              </p:cNvSpPr>
              <p:nvPr/>
            </p:nvSpPr>
            <p:spPr bwMode="auto">
              <a:xfrm>
                <a:off x="1633201" y="-103489"/>
                <a:ext cx="1641521" cy="1641995"/>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14" name="Rectangle: Rounded Corners 13">
                <a:extLst>
                  <a:ext uri="{FF2B5EF4-FFF2-40B4-BE49-F238E27FC236}">
                    <a16:creationId xmlns:a16="http://schemas.microsoft.com/office/drawing/2014/main" id="{994AA0C3-AAC1-1FEF-F1DC-AB402E3F87DF}"/>
                  </a:ext>
                </a:extLst>
              </p:cNvPr>
              <p:cNvSpPr/>
              <p:nvPr/>
            </p:nvSpPr>
            <p:spPr bwMode="auto">
              <a:xfrm>
                <a:off x="1725668" y="23755"/>
                <a:ext cx="1412308" cy="1409643"/>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grpSp>
        <p:grpSp>
          <p:nvGrpSpPr>
            <p:cNvPr id="115" name="Graphic 82">
              <a:extLst>
                <a:ext uri="{FF2B5EF4-FFF2-40B4-BE49-F238E27FC236}">
                  <a16:creationId xmlns:a16="http://schemas.microsoft.com/office/drawing/2014/main" id="{E91E2AE9-1A8B-1AAD-D052-755816D1C007}"/>
                </a:ext>
              </a:extLst>
            </p:cNvPr>
            <p:cNvGrpSpPr/>
            <p:nvPr/>
          </p:nvGrpSpPr>
          <p:grpSpPr>
            <a:xfrm>
              <a:off x="5183162" y="2794120"/>
              <a:ext cx="267349" cy="365377"/>
              <a:chOff x="5183162" y="2794120"/>
              <a:chExt cx="267349" cy="365377"/>
            </a:xfrm>
            <a:gradFill>
              <a:gsLst>
                <a:gs pos="100000">
                  <a:srgbClr val="BDF2BD"/>
                </a:gs>
                <a:gs pos="55000">
                  <a:srgbClr val="C3E9FC"/>
                </a:gs>
              </a:gsLst>
              <a:lin ang="0" scaled="1"/>
            </a:gradFill>
          </p:grpSpPr>
          <p:sp>
            <p:nvSpPr>
              <p:cNvPr id="118" name="Freeform: Shape 117">
                <a:extLst>
                  <a:ext uri="{FF2B5EF4-FFF2-40B4-BE49-F238E27FC236}">
                    <a16:creationId xmlns:a16="http://schemas.microsoft.com/office/drawing/2014/main" id="{BDC0E94D-0596-702B-000C-42C29B949BFD}"/>
                  </a:ext>
                </a:extLst>
              </p:cNvPr>
              <p:cNvSpPr/>
              <p:nvPr/>
            </p:nvSpPr>
            <p:spPr>
              <a:xfrm>
                <a:off x="5325748" y="2794120"/>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19" name="Freeform: Shape 118">
                <a:extLst>
                  <a:ext uri="{FF2B5EF4-FFF2-40B4-BE49-F238E27FC236}">
                    <a16:creationId xmlns:a16="http://schemas.microsoft.com/office/drawing/2014/main" id="{8480157B-CF0D-FFE2-E12C-626D7439DD13}"/>
                  </a:ext>
                </a:extLst>
              </p:cNvPr>
              <p:cNvSpPr/>
              <p:nvPr/>
            </p:nvSpPr>
            <p:spPr>
              <a:xfrm>
                <a:off x="5432688" y="2794120"/>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0" name="Freeform: Shape 119">
                <a:extLst>
                  <a:ext uri="{FF2B5EF4-FFF2-40B4-BE49-F238E27FC236}">
                    <a16:creationId xmlns:a16="http://schemas.microsoft.com/office/drawing/2014/main" id="{7956DF1B-CA73-C487-7660-20BBC899EE04}"/>
                  </a:ext>
                </a:extLst>
              </p:cNvPr>
              <p:cNvSpPr/>
              <p:nvPr/>
            </p:nvSpPr>
            <p:spPr>
              <a:xfrm>
                <a:off x="5397041" y="2794120"/>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1" name="Freeform: Shape 120">
                <a:extLst>
                  <a:ext uri="{FF2B5EF4-FFF2-40B4-BE49-F238E27FC236}">
                    <a16:creationId xmlns:a16="http://schemas.microsoft.com/office/drawing/2014/main" id="{0B50492B-E3A1-141B-287C-D061EB2D0205}"/>
                  </a:ext>
                </a:extLst>
              </p:cNvPr>
              <p:cNvSpPr/>
              <p:nvPr/>
            </p:nvSpPr>
            <p:spPr>
              <a:xfrm>
                <a:off x="5361394" y="2794120"/>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3" name="Freeform: Shape 122">
                <a:extLst>
                  <a:ext uri="{FF2B5EF4-FFF2-40B4-BE49-F238E27FC236}">
                    <a16:creationId xmlns:a16="http://schemas.microsoft.com/office/drawing/2014/main" id="{13F437F6-4189-B4F1-9673-E0EDE9932781}"/>
                  </a:ext>
                </a:extLst>
              </p:cNvPr>
              <p:cNvSpPr/>
              <p:nvPr/>
            </p:nvSpPr>
            <p:spPr>
              <a:xfrm>
                <a:off x="5307925" y="2963441"/>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4" name="Freeform: Shape 123">
                <a:extLst>
                  <a:ext uri="{FF2B5EF4-FFF2-40B4-BE49-F238E27FC236}">
                    <a16:creationId xmlns:a16="http://schemas.microsoft.com/office/drawing/2014/main" id="{23789BF3-5546-751A-6A4F-BFF4290BA7DF}"/>
                  </a:ext>
                </a:extLst>
              </p:cNvPr>
              <p:cNvSpPr/>
              <p:nvPr/>
            </p:nvSpPr>
            <p:spPr>
              <a:xfrm>
                <a:off x="5272278" y="2963441"/>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5" name="Freeform: Shape 124">
                <a:extLst>
                  <a:ext uri="{FF2B5EF4-FFF2-40B4-BE49-F238E27FC236}">
                    <a16:creationId xmlns:a16="http://schemas.microsoft.com/office/drawing/2014/main" id="{6F9D7D0C-5BB3-11E6-C4C8-874D40EA24D7}"/>
                  </a:ext>
                </a:extLst>
              </p:cNvPr>
              <p:cNvSpPr/>
              <p:nvPr/>
            </p:nvSpPr>
            <p:spPr>
              <a:xfrm>
                <a:off x="5236632" y="2963441"/>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7" name="Freeform: Shape 126">
                <a:extLst>
                  <a:ext uri="{FF2B5EF4-FFF2-40B4-BE49-F238E27FC236}">
                    <a16:creationId xmlns:a16="http://schemas.microsoft.com/office/drawing/2014/main" id="{7BEF3E37-4920-DE2A-C62F-B0EBA23BD564}"/>
                  </a:ext>
                </a:extLst>
              </p:cNvPr>
              <p:cNvSpPr/>
              <p:nvPr/>
            </p:nvSpPr>
            <p:spPr>
              <a:xfrm>
                <a:off x="5183162" y="3141674"/>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sp>
            <p:nvSpPr>
              <p:cNvPr id="128" name="Freeform: Shape 127">
                <a:extLst>
                  <a:ext uri="{FF2B5EF4-FFF2-40B4-BE49-F238E27FC236}">
                    <a16:creationId xmlns:a16="http://schemas.microsoft.com/office/drawing/2014/main" id="{ECAF6FE5-EFA8-24A7-003E-46DBCE5FB63E}"/>
                  </a:ext>
                </a:extLst>
              </p:cNvPr>
              <p:cNvSpPr/>
              <p:nvPr/>
            </p:nvSpPr>
            <p:spPr>
              <a:xfrm>
                <a:off x="5254455" y="3141674"/>
                <a:ext cx="17823" cy="17823"/>
              </a:xfrm>
              <a:custGeom>
                <a:avLst/>
                <a:gdLst>
                  <a:gd name="connsiteX0" fmla="*/ 0 w 17823"/>
                  <a:gd name="connsiteY0" fmla="*/ 0 h 17823"/>
                  <a:gd name="connsiteX1" fmla="*/ 17823 w 17823"/>
                  <a:gd name="connsiteY1" fmla="*/ 0 h 17823"/>
                  <a:gd name="connsiteX2" fmla="*/ 17823 w 17823"/>
                  <a:gd name="connsiteY2" fmla="*/ 17823 h 17823"/>
                  <a:gd name="connsiteX3" fmla="*/ 0 w 17823"/>
                  <a:gd name="connsiteY3" fmla="*/ 17823 h 17823"/>
                </a:gdLst>
                <a:ahLst/>
                <a:cxnLst>
                  <a:cxn ang="0">
                    <a:pos x="connsiteX0" y="connsiteY0"/>
                  </a:cxn>
                  <a:cxn ang="0">
                    <a:pos x="connsiteX1" y="connsiteY1"/>
                  </a:cxn>
                  <a:cxn ang="0">
                    <a:pos x="connsiteX2" y="connsiteY2"/>
                  </a:cxn>
                  <a:cxn ang="0">
                    <a:pos x="connsiteX3" y="connsiteY3"/>
                  </a:cxn>
                </a:cxnLst>
                <a:rect l="l" t="t" r="r" b="b"/>
                <a:pathLst>
                  <a:path w="17823" h="17823">
                    <a:moveTo>
                      <a:pt x="0" y="0"/>
                    </a:moveTo>
                    <a:lnTo>
                      <a:pt x="17823" y="0"/>
                    </a:lnTo>
                    <a:lnTo>
                      <a:pt x="17823" y="17823"/>
                    </a:lnTo>
                    <a:lnTo>
                      <a:pt x="0" y="17823"/>
                    </a:lnTo>
                    <a:close/>
                  </a:path>
                </a:pathLst>
              </a:custGeom>
              <a:grpFill/>
              <a:ln w="8781" cap="flat">
                <a:noFill/>
                <a:prstDash val="solid"/>
                <a:miter/>
              </a:ln>
            </p:spPr>
            <p:txBody>
              <a:bodyPr rtlCol="0" anchor="ctr"/>
              <a:lstStyle/>
              <a:p>
                <a:endParaRPr lang="en-GB"/>
              </a:p>
            </p:txBody>
          </p:sp>
        </p:grpSp>
      </p:grpSp>
      <p:grpSp>
        <p:nvGrpSpPr>
          <p:cNvPr id="134" name="Group 133">
            <a:extLst>
              <a:ext uri="{FF2B5EF4-FFF2-40B4-BE49-F238E27FC236}">
                <a16:creationId xmlns:a16="http://schemas.microsoft.com/office/drawing/2014/main" id="{EDE3CF67-CCE5-F900-80D5-FBF91F85DFFC}"/>
              </a:ext>
            </a:extLst>
          </p:cNvPr>
          <p:cNvGrpSpPr/>
          <p:nvPr/>
        </p:nvGrpSpPr>
        <p:grpSpPr>
          <a:xfrm>
            <a:off x="7889480" y="1422562"/>
            <a:ext cx="3137931" cy="4429598"/>
            <a:chOff x="7889480" y="1422562"/>
            <a:chExt cx="3137931" cy="4182798"/>
          </a:xfrm>
        </p:grpSpPr>
        <p:sp>
          <p:nvSpPr>
            <p:cNvPr id="17" name="Rectangle: Rounded Corners 16">
              <a:extLst>
                <a:ext uri="{FF2B5EF4-FFF2-40B4-BE49-F238E27FC236}">
                  <a16:creationId xmlns:a16="http://schemas.microsoft.com/office/drawing/2014/main" id="{07EB9B36-8771-E103-B1B5-4AB85DEAC293}"/>
                </a:ext>
              </a:extLst>
            </p:cNvPr>
            <p:cNvSpPr>
              <a:spLocks/>
            </p:cNvSpPr>
            <p:nvPr/>
          </p:nvSpPr>
          <p:spPr bwMode="auto">
            <a:xfrm>
              <a:off x="7889480" y="1422562"/>
              <a:ext cx="3137931" cy="4182798"/>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8" name="TextBox 17">
              <a:extLst>
                <a:ext uri="{FF2B5EF4-FFF2-40B4-BE49-F238E27FC236}">
                  <a16:creationId xmlns:a16="http://schemas.microsoft.com/office/drawing/2014/main" id="{D4FCB873-2F7E-444E-A9A1-6C602849FACD}"/>
                </a:ext>
              </a:extLst>
            </p:cNvPr>
            <p:cNvSpPr txBox="1"/>
            <p:nvPr/>
          </p:nvSpPr>
          <p:spPr>
            <a:xfrm>
              <a:off x="8154093" y="2648373"/>
              <a:ext cx="2764520" cy="2400657"/>
            </a:xfrm>
            <a:prstGeom prst="rect">
              <a:avLst/>
            </a:prstGeom>
            <a:noFill/>
          </p:spPr>
          <p:txBody>
            <a:bodyPr wrap="square" lIns="0" tIns="0" rIns="0" bIns="0" rtlCol="0" anchor="t">
              <a:spAutoFit/>
            </a:bodyPr>
            <a:lstStyle/>
            <a:p>
              <a:pPr lvl="0" defTabSz="609630" fontAlgn="base">
                <a:spcBef>
                  <a:spcPts val="1200"/>
                </a:spcBef>
                <a:spcAft>
                  <a:spcPct val="0"/>
                </a:spcAft>
                <a:buSzPct val="90000"/>
                <a:defRPr/>
              </a:pPr>
              <a:r>
                <a:rPr lang="en-US">
                  <a:solidFill>
                    <a:srgbClr val="FFFFFF"/>
                  </a:solidFill>
                  <a:latin typeface="Segoe Sans Text Semibold"/>
                </a:rPr>
                <a:t>API Management</a:t>
              </a:r>
            </a:p>
            <a:p>
              <a:pPr defTabSz="609630" fontAlgn="base">
                <a:spcBef>
                  <a:spcPts val="1200"/>
                </a:spcBef>
                <a:spcAft>
                  <a:spcPct val="0"/>
                </a:spcAft>
                <a:buSzPct val="90000"/>
                <a:defRPr/>
              </a:pPr>
              <a:r>
                <a:rPr lang="en-US" sz="1400" b="1">
                  <a:solidFill>
                    <a:srgbClr val="FFFFFF"/>
                  </a:solidFill>
                </a:rPr>
                <a:t>Built-in Monitoring: R</a:t>
              </a:r>
              <a:r>
                <a:rPr lang="en-US" sz="1400">
                  <a:solidFill>
                    <a:srgbClr val="FFFFFF"/>
                  </a:solidFill>
                </a:rPr>
                <a:t>equest and response is stored in Log Analytics Workspace</a:t>
              </a:r>
              <a:endParaRPr lang="en-US" sz="1400">
                <a:solidFill>
                  <a:srgbClr val="FFFFFF"/>
                </a:solidFill>
                <a:cs typeface="Segoe Sans Text"/>
              </a:endParaRPr>
            </a:p>
            <a:p>
              <a:pPr defTabSz="609630" fontAlgn="base">
                <a:spcBef>
                  <a:spcPts val="1200"/>
                </a:spcBef>
                <a:spcAft>
                  <a:spcPct val="0"/>
                </a:spcAft>
                <a:buSzPct val="90000"/>
                <a:defRPr/>
              </a:pPr>
              <a:r>
                <a:rPr lang="en-US" sz="1400" b="1">
                  <a:solidFill>
                    <a:srgbClr val="FFFFFF"/>
                  </a:solidFill>
                </a:rPr>
                <a:t>Evaluation SDK </a:t>
              </a:r>
              <a:r>
                <a:rPr lang="en-US" sz="1400">
                  <a:solidFill>
                    <a:srgbClr val="FFFFFF"/>
                  </a:solidFill>
                </a:rPr>
                <a:t>for performance metrics and safety metrics</a:t>
              </a:r>
              <a:endParaRPr lang="en-US" sz="1400">
                <a:solidFill>
                  <a:srgbClr val="FFFFFF"/>
                </a:solidFill>
                <a:cs typeface="Segoe Sans Text"/>
              </a:endParaRPr>
            </a:p>
            <a:p>
              <a:pPr defTabSz="609630" fontAlgn="base">
                <a:spcBef>
                  <a:spcPts val="1200"/>
                </a:spcBef>
                <a:spcAft>
                  <a:spcPct val="0"/>
                </a:spcAft>
                <a:buSzPct val="90000"/>
                <a:defRPr/>
              </a:pPr>
              <a:r>
                <a:rPr lang="en-US" sz="1400" b="1">
                  <a:solidFill>
                    <a:srgbClr val="FFFFFF"/>
                  </a:solidFill>
                </a:rPr>
                <a:t>Audit Trail</a:t>
              </a:r>
              <a:endParaRPr lang="en-US" sz="1400" b="1">
                <a:solidFill>
                  <a:srgbClr val="FFFFFF"/>
                </a:solidFill>
                <a:cs typeface="Segoe Sans Text"/>
              </a:endParaRPr>
            </a:p>
            <a:p>
              <a:pPr marR="0" lvl="0" indent="0" defTabSz="609630" fontAlgn="base">
                <a:lnSpc>
                  <a:spcPct val="100000"/>
                </a:lnSpc>
                <a:spcBef>
                  <a:spcPts val="1200"/>
                </a:spcBef>
                <a:spcAft>
                  <a:spcPct val="0"/>
                </a:spcAft>
                <a:buClrTx/>
                <a:buSzPct val="90000"/>
                <a:buFont typeface="Wingdings" panose="05000000000000000000" pitchFamily="2" charset="2"/>
                <a:buNone/>
                <a:tabLst/>
                <a:defRPr/>
              </a:pPr>
              <a:endParaRPr lang="en-US" sz="1400">
                <a:solidFill>
                  <a:srgbClr val="FFFFFF"/>
                </a:solidFill>
              </a:endParaRPr>
            </a:p>
          </p:txBody>
        </p:sp>
        <p:grpSp>
          <p:nvGrpSpPr>
            <p:cNvPr id="19" name="Group 18">
              <a:extLst>
                <a:ext uri="{FF2B5EF4-FFF2-40B4-BE49-F238E27FC236}">
                  <a16:creationId xmlns:a16="http://schemas.microsoft.com/office/drawing/2014/main" id="{1D7E8DFC-8732-6395-2C32-53FE1F715EDF}"/>
                </a:ext>
              </a:extLst>
            </p:cNvPr>
            <p:cNvGrpSpPr/>
            <p:nvPr/>
          </p:nvGrpSpPr>
          <p:grpSpPr>
            <a:xfrm>
              <a:off x="8154092" y="1574498"/>
              <a:ext cx="1004700" cy="1004992"/>
              <a:chOff x="1600003" y="361299"/>
              <a:chExt cx="1641521" cy="1641999"/>
            </a:xfrm>
          </p:grpSpPr>
          <p:sp>
            <p:nvSpPr>
              <p:cNvPr id="20" name="Oval 17">
                <a:extLst>
                  <a:ext uri="{FF2B5EF4-FFF2-40B4-BE49-F238E27FC236}">
                    <a16:creationId xmlns:a16="http://schemas.microsoft.com/office/drawing/2014/main" id="{DB7DE79D-40E2-BB4B-8A6E-C6682E759D65}"/>
                  </a:ext>
                </a:extLst>
              </p:cNvPr>
              <p:cNvSpPr>
                <a:spLocks/>
              </p:cNvSpPr>
              <p:nvPr/>
            </p:nvSpPr>
            <p:spPr bwMode="auto">
              <a:xfrm>
                <a:off x="1600003" y="361299"/>
                <a:ext cx="1641521" cy="1641999"/>
              </a:xfrm>
              <a:prstGeom prst="roundRect">
                <a:avLst/>
              </a:prstGeom>
              <a:gradFill>
                <a:gsLst>
                  <a:gs pos="100000">
                    <a:srgbClr val="BDF2BD"/>
                  </a:gs>
                  <a:gs pos="55000">
                    <a:srgbClr val="C3E9FC"/>
                  </a:gs>
                </a:gsLst>
                <a:lin ang="0" scaled="1"/>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97536" rIns="121920" bIns="97536" numCol="1" spcCol="0" rtlCol="0" fromWordArt="0" anchor="t" anchorCtr="0" forceAA="0" compatLnSpc="1">
                <a:prstTxWarp prst="textNoShape">
                  <a:avLst/>
                </a:prstTxWarp>
                <a:noAutofit/>
              </a:bodyPr>
              <a:lstStyle/>
              <a:p>
                <a:pPr marL="0" marR="0" lvl="0" indent="0" algn="l" defTabSz="621679" rtl="0" eaLnBrk="1" fontAlgn="base" latinLnBrk="0" hangingPunct="1">
                  <a:lnSpc>
                    <a:spcPct val="100000"/>
                  </a:lnSpc>
                  <a:spcBef>
                    <a:spcPct val="0"/>
                  </a:spcBef>
                  <a:spcAft>
                    <a:spcPct val="0"/>
                  </a:spcAft>
                  <a:buClrTx/>
                  <a:buSzTx/>
                  <a:buFontTx/>
                  <a:buNone/>
                  <a:tabLst/>
                  <a:defRPr/>
                </a:pPr>
                <a:endParaRPr kumimoji="0" lang="en-GB" sz="1333" b="0" i="0" u="none" strike="noStrike" kern="1200" cap="none" spc="0" normalizeH="0" baseline="0" noProof="0" err="1">
                  <a:ln>
                    <a:noFill/>
                  </a:ln>
                  <a:solidFill>
                    <a:srgbClr val="FFFFFF"/>
                  </a:solidFill>
                  <a:effectLst/>
                  <a:uLnTx/>
                  <a:uFillTx/>
                  <a:latin typeface="Segoe Sans Text" pitchFamily="2" charset="0"/>
                  <a:ea typeface="Segoe UI" pitchFamily="34" charset="0"/>
                  <a:cs typeface="Segoe Sans Text" pitchFamily="2" charset="0"/>
                </a:endParaRPr>
              </a:p>
            </p:txBody>
          </p:sp>
          <p:sp>
            <p:nvSpPr>
              <p:cNvPr id="25" name="Rectangle: Rounded Corners 24">
                <a:extLst>
                  <a:ext uri="{FF2B5EF4-FFF2-40B4-BE49-F238E27FC236}">
                    <a16:creationId xmlns:a16="http://schemas.microsoft.com/office/drawing/2014/main" id="{12364266-23D8-A056-4A28-E1BEB1F0C6F9}"/>
                  </a:ext>
                </a:extLst>
              </p:cNvPr>
              <p:cNvSpPr/>
              <p:nvPr userDrawn="1"/>
            </p:nvSpPr>
            <p:spPr bwMode="auto">
              <a:xfrm>
                <a:off x="1714607" y="510698"/>
                <a:ext cx="1412311" cy="1409637"/>
              </a:xfrm>
              <a:prstGeom prst="roundRect">
                <a:avLst>
                  <a:gd name="adj" fmla="val 10707"/>
                </a:avLst>
              </a:prstGeom>
              <a:solidFill>
                <a:schemeClr val="accent1"/>
              </a:solidFill>
              <a:ln w="6350">
                <a:noFill/>
                <a:headEnd type="none" w="med" len="med"/>
                <a:tailEnd type="none" w="med" len="med"/>
              </a:ln>
              <a:effectLst>
                <a:outerShdw blurRad="165100" sx="101000" sy="101000" algn="ctr" rotWithShape="0">
                  <a:schemeClr val="accent2">
                    <a:lumMod val="50000"/>
                    <a:alpha val="34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4000" b="0" i="0" u="none" strike="noStrike" kern="1200" cap="none" spc="300" normalizeH="0" baseline="0" noProof="0">
                  <a:ln>
                    <a:noFill/>
                  </a:ln>
                  <a:solidFill>
                    <a:srgbClr val="FFFFFF"/>
                  </a:solidFill>
                  <a:effectLst/>
                  <a:uLnTx/>
                  <a:uFillTx/>
                  <a:latin typeface="Segoe Sans Text Semibold"/>
                  <a:ea typeface="+mn-ea"/>
                  <a:cs typeface="+mn-cs"/>
                </a:endParaRPr>
              </a:p>
            </p:txBody>
          </p:sp>
        </p:grpSp>
      </p:grpSp>
      <p:pic>
        <p:nvPicPr>
          <p:cNvPr id="7" name="Picture 6">
            <a:extLst>
              <a:ext uri="{FF2B5EF4-FFF2-40B4-BE49-F238E27FC236}">
                <a16:creationId xmlns:a16="http://schemas.microsoft.com/office/drawing/2014/main" id="{1CD04FC1-DACC-8BF4-11C6-2ECC5443A29E}"/>
              </a:ext>
            </a:extLst>
          </p:cNvPr>
          <p:cNvPicPr>
            <a:picLocks noChangeAspect="1"/>
          </p:cNvPicPr>
          <p:nvPr/>
        </p:nvPicPr>
        <p:blipFill>
          <a:blip r:embed="rId3"/>
          <a:stretch>
            <a:fillRect/>
          </a:stretch>
        </p:blipFill>
        <p:spPr>
          <a:xfrm>
            <a:off x="1639853" y="1699443"/>
            <a:ext cx="776818" cy="783292"/>
          </a:xfrm>
          <a:prstGeom prst="rect">
            <a:avLst/>
          </a:prstGeom>
        </p:spPr>
      </p:pic>
      <p:pic>
        <p:nvPicPr>
          <p:cNvPr id="13" name="Picture 12">
            <a:extLst>
              <a:ext uri="{FF2B5EF4-FFF2-40B4-BE49-F238E27FC236}">
                <a16:creationId xmlns:a16="http://schemas.microsoft.com/office/drawing/2014/main" id="{568AE760-AAED-EE10-F21A-72D1D06CD15B}"/>
              </a:ext>
            </a:extLst>
          </p:cNvPr>
          <p:cNvPicPr>
            <a:picLocks noChangeAspect="1"/>
          </p:cNvPicPr>
          <p:nvPr/>
        </p:nvPicPr>
        <p:blipFill>
          <a:blip r:embed="rId4"/>
          <a:stretch>
            <a:fillRect/>
          </a:stretch>
        </p:blipFill>
        <p:spPr>
          <a:xfrm>
            <a:off x="5002439" y="1745673"/>
            <a:ext cx="581281" cy="764844"/>
          </a:xfrm>
          <a:prstGeom prst="rect">
            <a:avLst/>
          </a:prstGeom>
        </p:spPr>
      </p:pic>
      <p:pic>
        <p:nvPicPr>
          <p:cNvPr id="23" name="Picture 22">
            <a:extLst>
              <a:ext uri="{FF2B5EF4-FFF2-40B4-BE49-F238E27FC236}">
                <a16:creationId xmlns:a16="http://schemas.microsoft.com/office/drawing/2014/main" id="{CF195999-EB80-759A-F11A-DF8D9B61AB8B}"/>
              </a:ext>
            </a:extLst>
          </p:cNvPr>
          <p:cNvPicPr>
            <a:picLocks noChangeAspect="1"/>
          </p:cNvPicPr>
          <p:nvPr/>
        </p:nvPicPr>
        <p:blipFill>
          <a:blip r:embed="rId5"/>
          <a:stretch>
            <a:fillRect/>
          </a:stretch>
        </p:blipFill>
        <p:spPr>
          <a:xfrm>
            <a:off x="8256097" y="1772544"/>
            <a:ext cx="799400" cy="682481"/>
          </a:xfrm>
          <a:prstGeom prst="rect">
            <a:avLst/>
          </a:prstGeom>
        </p:spPr>
      </p:pic>
      <p:sp>
        <p:nvSpPr>
          <p:cNvPr id="9" name="Title 8">
            <a:extLst>
              <a:ext uri="{FF2B5EF4-FFF2-40B4-BE49-F238E27FC236}">
                <a16:creationId xmlns:a16="http://schemas.microsoft.com/office/drawing/2014/main" id="{CFC66245-CEEB-6339-3C85-749EA35D2587}"/>
              </a:ext>
            </a:extLst>
          </p:cNvPr>
          <p:cNvSpPr>
            <a:spLocks noGrp="1"/>
          </p:cNvSpPr>
          <p:nvPr>
            <p:ph type="title"/>
          </p:nvPr>
        </p:nvSpPr>
        <p:spPr/>
        <p:txBody>
          <a:bodyPr/>
          <a:lstStyle/>
          <a:p>
            <a:r>
              <a:rPr lang="en-US">
                <a:solidFill>
                  <a:schemeClr val="bg1"/>
                </a:solidFill>
              </a:rPr>
              <a:t>Monitoring Options</a:t>
            </a:r>
            <a:br>
              <a:rPr lang="en-US">
                <a:solidFill>
                  <a:schemeClr val="bg1"/>
                </a:solidFill>
              </a:rPr>
            </a:br>
            <a:endParaRPr lang="en-US"/>
          </a:p>
        </p:txBody>
      </p:sp>
    </p:spTree>
    <p:extLst>
      <p:ext uri="{BB962C8B-B14F-4D97-AF65-F5344CB8AC3E}">
        <p14:creationId xmlns:p14="http://schemas.microsoft.com/office/powerpoint/2010/main" val="71078406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250"/>
                                  </p:stCondLst>
                                  <p:childTnLst>
                                    <p:set>
                                      <p:cBhvr>
                                        <p:cTn id="6" dur="1" fill="hold">
                                          <p:stCondLst>
                                            <p:cond delay="0"/>
                                          </p:stCondLst>
                                        </p:cTn>
                                        <p:tgtEl>
                                          <p:spTgt spid="132"/>
                                        </p:tgtEl>
                                        <p:attrNameLst>
                                          <p:attrName>style.visibility</p:attrName>
                                        </p:attrNameLst>
                                      </p:cBhvr>
                                      <p:to>
                                        <p:strVal val="visible"/>
                                      </p:to>
                                    </p:set>
                                    <p:anim calcmode="lin" valueType="num">
                                      <p:cBhvr>
                                        <p:cTn id="7" dur="250" fill="hold"/>
                                        <p:tgtEl>
                                          <p:spTgt spid="132"/>
                                        </p:tgtEl>
                                        <p:attrNameLst>
                                          <p:attrName>ppt_w</p:attrName>
                                        </p:attrNameLst>
                                      </p:cBhvr>
                                      <p:tavLst>
                                        <p:tav tm="0">
                                          <p:val>
                                            <p:strVal val="2/3*#ppt_w"/>
                                          </p:val>
                                        </p:tav>
                                        <p:tav tm="100000">
                                          <p:val>
                                            <p:strVal val="#ppt_w"/>
                                          </p:val>
                                        </p:tav>
                                      </p:tavLst>
                                    </p:anim>
                                    <p:anim calcmode="lin" valueType="num">
                                      <p:cBhvr>
                                        <p:cTn id="8" dur="250" fill="hold"/>
                                        <p:tgtEl>
                                          <p:spTgt spid="132"/>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250"/>
                                  </p:stCondLst>
                                  <p:childTnLst>
                                    <p:set>
                                      <p:cBhvr>
                                        <p:cTn id="10" dur="1" fill="hold">
                                          <p:stCondLst>
                                            <p:cond delay="0"/>
                                          </p:stCondLst>
                                        </p:cTn>
                                        <p:tgtEl>
                                          <p:spTgt spid="132"/>
                                        </p:tgtEl>
                                        <p:attrNameLst>
                                          <p:attrName>style.visibility</p:attrName>
                                        </p:attrNameLst>
                                      </p:cBhvr>
                                      <p:to>
                                        <p:strVal val="visible"/>
                                      </p:to>
                                    </p:set>
                                    <p:animEffect transition="in" filter="fade">
                                      <p:cBhvr>
                                        <p:cTn id="11" dur="500"/>
                                        <p:tgtEl>
                                          <p:spTgt spid="132"/>
                                        </p:tgtEl>
                                      </p:cBhvr>
                                    </p:animEffect>
                                  </p:childTnLst>
                                </p:cTn>
                              </p:par>
                              <p:par>
                                <p:cTn id="12" presetID="6" presetClass="emph" presetSubtype="0" fill="hold" nodeType="withEffect">
                                  <p:stCondLst>
                                    <p:cond delay="250"/>
                                  </p:stCondLst>
                                  <p:childTnLst>
                                    <p:animScale>
                                      <p:cBhvr>
                                        <p:cTn id="13" dur="10" fill="hold"/>
                                        <p:tgtEl>
                                          <p:spTgt spid="132"/>
                                        </p:tgtEl>
                                      </p:cBhvr>
                                      <p:by x="80000" y="80000"/>
                                    </p:animScale>
                                  </p:childTnLst>
                                </p:cTn>
                              </p:par>
                              <p:par>
                                <p:cTn id="14" presetID="6" presetClass="emph" presetSubtype="0" decel="100000" fill="hold" nodeType="withEffect">
                                  <p:stCondLst>
                                    <p:cond delay="250"/>
                                  </p:stCondLst>
                                  <p:childTnLst>
                                    <p:animScale>
                                      <p:cBhvr>
                                        <p:cTn id="15" dur="1000" fill="hold"/>
                                        <p:tgtEl>
                                          <p:spTgt spid="132"/>
                                        </p:tgtEl>
                                      </p:cBhvr>
                                      <p:by x="125000" y="125000"/>
                                    </p:animScale>
                                  </p:childTnLst>
                                </p:cTn>
                              </p:par>
                              <p:par>
                                <p:cTn id="16" presetID="23" presetClass="entr" presetSubtype="272" fill="hold" nodeType="withEffect">
                                  <p:stCondLst>
                                    <p:cond delay="350"/>
                                  </p:stCondLst>
                                  <p:childTnLst>
                                    <p:set>
                                      <p:cBhvr>
                                        <p:cTn id="17" dur="1" fill="hold">
                                          <p:stCondLst>
                                            <p:cond delay="0"/>
                                          </p:stCondLst>
                                        </p:cTn>
                                        <p:tgtEl>
                                          <p:spTgt spid="133"/>
                                        </p:tgtEl>
                                        <p:attrNameLst>
                                          <p:attrName>style.visibility</p:attrName>
                                        </p:attrNameLst>
                                      </p:cBhvr>
                                      <p:to>
                                        <p:strVal val="visible"/>
                                      </p:to>
                                    </p:set>
                                    <p:anim calcmode="lin" valueType="num">
                                      <p:cBhvr>
                                        <p:cTn id="18" dur="250" fill="hold"/>
                                        <p:tgtEl>
                                          <p:spTgt spid="133"/>
                                        </p:tgtEl>
                                        <p:attrNameLst>
                                          <p:attrName>ppt_w</p:attrName>
                                        </p:attrNameLst>
                                      </p:cBhvr>
                                      <p:tavLst>
                                        <p:tav tm="0">
                                          <p:val>
                                            <p:strVal val="2/3*#ppt_w"/>
                                          </p:val>
                                        </p:tav>
                                        <p:tav tm="100000">
                                          <p:val>
                                            <p:strVal val="#ppt_w"/>
                                          </p:val>
                                        </p:tav>
                                      </p:tavLst>
                                    </p:anim>
                                    <p:anim calcmode="lin" valueType="num">
                                      <p:cBhvr>
                                        <p:cTn id="19" dur="250" fill="hold"/>
                                        <p:tgtEl>
                                          <p:spTgt spid="133"/>
                                        </p:tgtEl>
                                        <p:attrNameLst>
                                          <p:attrName>ppt_h</p:attrName>
                                        </p:attrNameLst>
                                      </p:cBhvr>
                                      <p:tavLst>
                                        <p:tav tm="0">
                                          <p:val>
                                            <p:strVal val="2/3*#ppt_h"/>
                                          </p:val>
                                        </p:tav>
                                        <p:tav tm="100000">
                                          <p:val>
                                            <p:strVal val="#ppt_h"/>
                                          </p:val>
                                        </p:tav>
                                      </p:tavLst>
                                    </p:anim>
                                  </p:childTnLst>
                                </p:cTn>
                              </p:par>
                              <p:par>
                                <p:cTn id="20" presetID="10" presetClass="entr" presetSubtype="0" fill="hold" nodeType="withEffect">
                                  <p:stCondLst>
                                    <p:cond delay="350"/>
                                  </p:stCondLst>
                                  <p:childTnLst>
                                    <p:set>
                                      <p:cBhvr>
                                        <p:cTn id="21" dur="1" fill="hold">
                                          <p:stCondLst>
                                            <p:cond delay="0"/>
                                          </p:stCondLst>
                                        </p:cTn>
                                        <p:tgtEl>
                                          <p:spTgt spid="133"/>
                                        </p:tgtEl>
                                        <p:attrNameLst>
                                          <p:attrName>style.visibility</p:attrName>
                                        </p:attrNameLst>
                                      </p:cBhvr>
                                      <p:to>
                                        <p:strVal val="visible"/>
                                      </p:to>
                                    </p:set>
                                    <p:animEffect transition="in" filter="fade">
                                      <p:cBhvr>
                                        <p:cTn id="22" dur="500"/>
                                        <p:tgtEl>
                                          <p:spTgt spid="133"/>
                                        </p:tgtEl>
                                      </p:cBhvr>
                                    </p:animEffect>
                                  </p:childTnLst>
                                </p:cTn>
                              </p:par>
                              <p:par>
                                <p:cTn id="23" presetID="6" presetClass="emph" presetSubtype="0" fill="hold" nodeType="withEffect">
                                  <p:stCondLst>
                                    <p:cond delay="350"/>
                                  </p:stCondLst>
                                  <p:childTnLst>
                                    <p:animScale>
                                      <p:cBhvr>
                                        <p:cTn id="24" dur="10" fill="hold"/>
                                        <p:tgtEl>
                                          <p:spTgt spid="133"/>
                                        </p:tgtEl>
                                      </p:cBhvr>
                                      <p:by x="80000" y="80000"/>
                                    </p:animScale>
                                  </p:childTnLst>
                                </p:cTn>
                              </p:par>
                              <p:par>
                                <p:cTn id="25" presetID="6" presetClass="emph" presetSubtype="0" decel="100000" fill="hold" nodeType="withEffect">
                                  <p:stCondLst>
                                    <p:cond delay="350"/>
                                  </p:stCondLst>
                                  <p:childTnLst>
                                    <p:animScale>
                                      <p:cBhvr>
                                        <p:cTn id="26" dur="1000" fill="hold"/>
                                        <p:tgtEl>
                                          <p:spTgt spid="133"/>
                                        </p:tgtEl>
                                      </p:cBhvr>
                                      <p:by x="125000" y="125000"/>
                                    </p:animScale>
                                  </p:childTnLst>
                                </p:cTn>
                              </p:par>
                              <p:par>
                                <p:cTn id="27" presetID="23" presetClass="entr" presetSubtype="272" fill="hold" nodeType="withEffect">
                                  <p:stCondLst>
                                    <p:cond delay="450"/>
                                  </p:stCondLst>
                                  <p:childTnLst>
                                    <p:set>
                                      <p:cBhvr>
                                        <p:cTn id="28" dur="1" fill="hold">
                                          <p:stCondLst>
                                            <p:cond delay="0"/>
                                          </p:stCondLst>
                                        </p:cTn>
                                        <p:tgtEl>
                                          <p:spTgt spid="134"/>
                                        </p:tgtEl>
                                        <p:attrNameLst>
                                          <p:attrName>style.visibility</p:attrName>
                                        </p:attrNameLst>
                                      </p:cBhvr>
                                      <p:to>
                                        <p:strVal val="visible"/>
                                      </p:to>
                                    </p:set>
                                    <p:anim calcmode="lin" valueType="num">
                                      <p:cBhvr>
                                        <p:cTn id="29" dur="250" fill="hold"/>
                                        <p:tgtEl>
                                          <p:spTgt spid="134"/>
                                        </p:tgtEl>
                                        <p:attrNameLst>
                                          <p:attrName>ppt_w</p:attrName>
                                        </p:attrNameLst>
                                      </p:cBhvr>
                                      <p:tavLst>
                                        <p:tav tm="0">
                                          <p:val>
                                            <p:strVal val="2/3*#ppt_w"/>
                                          </p:val>
                                        </p:tav>
                                        <p:tav tm="100000">
                                          <p:val>
                                            <p:strVal val="#ppt_w"/>
                                          </p:val>
                                        </p:tav>
                                      </p:tavLst>
                                    </p:anim>
                                    <p:anim calcmode="lin" valueType="num">
                                      <p:cBhvr>
                                        <p:cTn id="30" dur="250" fill="hold"/>
                                        <p:tgtEl>
                                          <p:spTgt spid="134"/>
                                        </p:tgtEl>
                                        <p:attrNameLst>
                                          <p:attrName>ppt_h</p:attrName>
                                        </p:attrNameLst>
                                      </p:cBhvr>
                                      <p:tavLst>
                                        <p:tav tm="0">
                                          <p:val>
                                            <p:strVal val="2/3*#ppt_h"/>
                                          </p:val>
                                        </p:tav>
                                        <p:tav tm="100000">
                                          <p:val>
                                            <p:strVal val="#ppt_h"/>
                                          </p:val>
                                        </p:tav>
                                      </p:tavLst>
                                    </p:anim>
                                  </p:childTnLst>
                                </p:cTn>
                              </p:par>
                              <p:par>
                                <p:cTn id="31" presetID="10" presetClass="entr" presetSubtype="0" fill="hold" nodeType="withEffect">
                                  <p:stCondLst>
                                    <p:cond delay="450"/>
                                  </p:stCondLst>
                                  <p:childTnLst>
                                    <p:set>
                                      <p:cBhvr>
                                        <p:cTn id="32" dur="1" fill="hold">
                                          <p:stCondLst>
                                            <p:cond delay="0"/>
                                          </p:stCondLst>
                                        </p:cTn>
                                        <p:tgtEl>
                                          <p:spTgt spid="134"/>
                                        </p:tgtEl>
                                        <p:attrNameLst>
                                          <p:attrName>style.visibility</p:attrName>
                                        </p:attrNameLst>
                                      </p:cBhvr>
                                      <p:to>
                                        <p:strVal val="visible"/>
                                      </p:to>
                                    </p:set>
                                    <p:animEffect transition="in" filter="fade">
                                      <p:cBhvr>
                                        <p:cTn id="33" dur="500"/>
                                        <p:tgtEl>
                                          <p:spTgt spid="134"/>
                                        </p:tgtEl>
                                      </p:cBhvr>
                                    </p:animEffect>
                                  </p:childTnLst>
                                </p:cTn>
                              </p:par>
                              <p:par>
                                <p:cTn id="34" presetID="6" presetClass="emph" presetSubtype="0" fill="hold" nodeType="withEffect">
                                  <p:stCondLst>
                                    <p:cond delay="450"/>
                                  </p:stCondLst>
                                  <p:childTnLst>
                                    <p:animScale>
                                      <p:cBhvr>
                                        <p:cTn id="35" dur="10" fill="hold"/>
                                        <p:tgtEl>
                                          <p:spTgt spid="134"/>
                                        </p:tgtEl>
                                      </p:cBhvr>
                                      <p:by x="80000" y="80000"/>
                                    </p:animScale>
                                  </p:childTnLst>
                                </p:cTn>
                              </p:par>
                              <p:par>
                                <p:cTn id="36" presetID="6" presetClass="emph" presetSubtype="0" decel="100000" fill="hold" nodeType="withEffect">
                                  <p:stCondLst>
                                    <p:cond delay="450"/>
                                  </p:stCondLst>
                                  <p:childTnLst>
                                    <p:animScale>
                                      <p:cBhvr>
                                        <p:cTn id="37" dur="1000" fill="hold"/>
                                        <p:tgtEl>
                                          <p:spTgt spid="134"/>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CCD860-9D2D-6E21-3BA4-C6CD3963D68F}"/>
              </a:ext>
            </a:extLst>
          </p:cNvPr>
          <p:cNvSpPr>
            <a:spLocks noGrp="1"/>
          </p:cNvSpPr>
          <p:nvPr>
            <p:ph type="title"/>
          </p:nvPr>
        </p:nvSpPr>
        <p:spPr/>
        <p:txBody>
          <a:bodyPr/>
          <a:lstStyle/>
          <a:p>
            <a:r>
              <a:rPr lang="en-US">
                <a:solidFill>
                  <a:schemeClr val="bg1"/>
                </a:solidFill>
              </a:rPr>
              <a:t>Azure OpenAI Resource Level: Operational Monitoring </a:t>
            </a:r>
            <a:endParaRPr lang="en-GB">
              <a:solidFill>
                <a:schemeClr val="bg1"/>
              </a:solidFill>
            </a:endParaRPr>
          </a:p>
        </p:txBody>
      </p:sp>
      <p:sp>
        <p:nvSpPr>
          <p:cNvPr id="60" name="Title 3">
            <a:extLst>
              <a:ext uri="{FF2B5EF4-FFF2-40B4-BE49-F238E27FC236}">
                <a16:creationId xmlns:a16="http://schemas.microsoft.com/office/drawing/2014/main" id="{8EE23283-1F25-0EAE-07CF-BE6523AADE22}"/>
              </a:ext>
            </a:extLst>
          </p:cNvPr>
          <p:cNvSpPr txBox="1">
            <a:spLocks/>
          </p:cNvSpPr>
          <p:nvPr/>
        </p:nvSpPr>
        <p:spPr>
          <a:xfrm>
            <a:off x="7578887" y="1661120"/>
            <a:ext cx="4394200" cy="276999"/>
          </a:xfrm>
          <a:prstGeom prst="rect">
            <a:avLst/>
          </a:prstGeom>
          <a:noFill/>
        </p:spPr>
        <p:txBody>
          <a:bodyPr vert="horz" wrap="square" lIns="0" tIns="0" rIns="0" bIns="0" rtlCol="0" anchor="ctr"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r>
              <a:rPr lang="en-US" sz="1800" b="1">
                <a:gradFill>
                  <a:gsLst>
                    <a:gs pos="0">
                      <a:srgbClr val="0078D4">
                        <a:lumMod val="20000"/>
                        <a:lumOff val="80000"/>
                      </a:srgbClr>
                    </a:gs>
                    <a:gs pos="100000">
                      <a:srgbClr val="8DE971">
                        <a:lumMod val="60000"/>
                        <a:lumOff val="40000"/>
                      </a:srgbClr>
                    </a:gs>
                  </a:gsLst>
                  <a:lin ang="2700000" scaled="0"/>
                </a:gradFill>
                <a:latin typeface="Segoe Sans Text"/>
              </a:rPr>
              <a:t>Key features:</a:t>
            </a:r>
          </a:p>
        </p:txBody>
      </p:sp>
      <p:sp>
        <p:nvSpPr>
          <p:cNvPr id="2" name="Rectangle: Rounded Corners 1">
            <a:extLst>
              <a:ext uri="{FF2B5EF4-FFF2-40B4-BE49-F238E27FC236}">
                <a16:creationId xmlns:a16="http://schemas.microsoft.com/office/drawing/2014/main" id="{E9037AF9-34E6-246F-D7C4-8276F2BCFD98}"/>
              </a:ext>
            </a:extLst>
          </p:cNvPr>
          <p:cNvSpPr>
            <a:spLocks/>
          </p:cNvSpPr>
          <p:nvPr/>
        </p:nvSpPr>
        <p:spPr bwMode="auto">
          <a:xfrm>
            <a:off x="588263" y="1118561"/>
            <a:ext cx="11015474" cy="383619"/>
          </a:xfrm>
          <a:prstGeom prst="roundRect">
            <a:avLst>
              <a:gd name="adj" fmla="val 7046"/>
            </a:avLst>
          </a:prstGeom>
          <a:no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US" sz="2400">
                <a:solidFill>
                  <a:schemeClr val="bg1"/>
                </a:solidFill>
                <a:cs typeface="Segoe Sans Text ExtraBold" pitchFamily="2" charset="0"/>
              </a:rPr>
              <a:t>Out-of-the-box dashboard for Azure OpenAI resources</a:t>
            </a:r>
          </a:p>
        </p:txBody>
      </p:sp>
      <p:sp>
        <p:nvSpPr>
          <p:cNvPr id="9" name="Rectangle: Rounded Corners 8">
            <a:extLst>
              <a:ext uri="{FF2B5EF4-FFF2-40B4-BE49-F238E27FC236}">
                <a16:creationId xmlns:a16="http://schemas.microsoft.com/office/drawing/2014/main" id="{923845E6-29DE-2114-3381-0C301957DCF9}"/>
              </a:ext>
            </a:extLst>
          </p:cNvPr>
          <p:cNvSpPr>
            <a:spLocks/>
          </p:cNvSpPr>
          <p:nvPr/>
        </p:nvSpPr>
        <p:spPr bwMode="auto">
          <a:xfrm>
            <a:off x="585249" y="1668157"/>
            <a:ext cx="6843902" cy="4520202"/>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1" name="Rectangle: Rounded Corners 20">
            <a:extLst>
              <a:ext uri="{FF2B5EF4-FFF2-40B4-BE49-F238E27FC236}">
                <a16:creationId xmlns:a16="http://schemas.microsoft.com/office/drawing/2014/main" id="{B13CB0F3-93D4-923F-C479-ADE069325ED7}"/>
              </a:ext>
            </a:extLst>
          </p:cNvPr>
          <p:cNvSpPr>
            <a:spLocks/>
          </p:cNvSpPr>
          <p:nvPr/>
        </p:nvSpPr>
        <p:spPr bwMode="auto">
          <a:xfrm>
            <a:off x="7581933" y="2041689"/>
            <a:ext cx="4122282" cy="764682"/>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2" name="Content Placeholder 2">
            <a:extLst>
              <a:ext uri="{FF2B5EF4-FFF2-40B4-BE49-F238E27FC236}">
                <a16:creationId xmlns:a16="http://schemas.microsoft.com/office/drawing/2014/main" id="{F9450428-9FB2-4DEE-EDCC-C746E7345650}"/>
              </a:ext>
            </a:extLst>
          </p:cNvPr>
          <p:cNvSpPr txBox="1">
            <a:spLocks/>
          </p:cNvSpPr>
          <p:nvPr/>
        </p:nvSpPr>
        <p:spPr>
          <a:xfrm>
            <a:off x="7797059" y="2153050"/>
            <a:ext cx="3243474"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indent="0" defTabSz="609630" fontAlgn="base">
              <a:spcBef>
                <a:spcPts val="1200"/>
              </a:spcBef>
              <a:spcAft>
                <a:spcPct val="0"/>
              </a:spcAft>
              <a:buNone/>
              <a:defRPr/>
            </a:pPr>
            <a:r>
              <a:rPr lang="en-US" sz="1200">
                <a:solidFill>
                  <a:srgbClr val="FFFFFF"/>
                </a:solidFill>
                <a:latin typeface="Segoe Sans Text"/>
              </a:rPr>
              <a:t>4 categories: HTTP Requests, Token-based Usage, PTU Utilization, Fine-Tuning, Latency</a:t>
            </a:r>
          </a:p>
        </p:txBody>
      </p:sp>
      <p:sp>
        <p:nvSpPr>
          <p:cNvPr id="23" name="Rectangle: Rounded Corners 22">
            <a:extLst>
              <a:ext uri="{FF2B5EF4-FFF2-40B4-BE49-F238E27FC236}">
                <a16:creationId xmlns:a16="http://schemas.microsoft.com/office/drawing/2014/main" id="{349F128D-0C3E-4FBA-F9D0-C053BDFD9645}"/>
              </a:ext>
            </a:extLst>
          </p:cNvPr>
          <p:cNvSpPr>
            <a:spLocks/>
          </p:cNvSpPr>
          <p:nvPr/>
        </p:nvSpPr>
        <p:spPr bwMode="auto">
          <a:xfrm>
            <a:off x="7581933" y="2888494"/>
            <a:ext cx="3953054" cy="1500626"/>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4" name="Content Placeholder 2">
            <a:extLst>
              <a:ext uri="{FF2B5EF4-FFF2-40B4-BE49-F238E27FC236}">
                <a16:creationId xmlns:a16="http://schemas.microsoft.com/office/drawing/2014/main" id="{8359DECF-33F0-60A6-F8AC-189E68C047CA}"/>
              </a:ext>
            </a:extLst>
          </p:cNvPr>
          <p:cNvSpPr txBox="1">
            <a:spLocks/>
          </p:cNvSpPr>
          <p:nvPr/>
        </p:nvSpPr>
        <p:spPr>
          <a:xfrm>
            <a:off x="7797059" y="2999855"/>
            <a:ext cx="3690514" cy="134185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ts val="800"/>
              </a:spcAft>
              <a:buNone/>
            </a:pPr>
            <a:r>
              <a:rPr lang="en-US" sz="1200" spc="0"/>
              <a:t>Metric examples: Processed Prompt Tokens by Model Name, Generated Completions Tokens by Deployment,  Azure OpenAI requests by deployment, Azure OpenAI Requests by Status Code, Provisioned Managed Utilization by Model Name, Processed Finetuned Training hours by deployment, Time to Response etc.</a:t>
            </a:r>
          </a:p>
        </p:txBody>
      </p:sp>
      <p:sp>
        <p:nvSpPr>
          <p:cNvPr id="27" name="Rectangle: Rounded Corners 26">
            <a:extLst>
              <a:ext uri="{FF2B5EF4-FFF2-40B4-BE49-F238E27FC236}">
                <a16:creationId xmlns:a16="http://schemas.microsoft.com/office/drawing/2014/main" id="{A63AEAC7-79BA-951C-1332-0B9604846165}"/>
              </a:ext>
            </a:extLst>
          </p:cNvPr>
          <p:cNvSpPr>
            <a:spLocks/>
          </p:cNvSpPr>
          <p:nvPr/>
        </p:nvSpPr>
        <p:spPr bwMode="auto">
          <a:xfrm>
            <a:off x="7581933" y="4582104"/>
            <a:ext cx="4122282" cy="764682"/>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8" name="Content Placeholder 2">
            <a:extLst>
              <a:ext uri="{FF2B5EF4-FFF2-40B4-BE49-F238E27FC236}">
                <a16:creationId xmlns:a16="http://schemas.microsoft.com/office/drawing/2014/main" id="{F5F43C8D-53FF-EF4E-08C6-B67414A7A894}"/>
              </a:ext>
            </a:extLst>
          </p:cNvPr>
          <p:cNvSpPr txBox="1">
            <a:spLocks/>
          </p:cNvSpPr>
          <p:nvPr/>
        </p:nvSpPr>
        <p:spPr>
          <a:xfrm>
            <a:off x="7797059" y="4693465"/>
            <a:ext cx="2622021"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indent="0" defTabSz="609630" fontAlgn="base">
              <a:spcBef>
                <a:spcPts val="1200"/>
              </a:spcBef>
              <a:spcAft>
                <a:spcPct val="0"/>
              </a:spcAft>
              <a:buNone/>
              <a:defRPr/>
            </a:pPr>
            <a:r>
              <a:rPr lang="en-US" sz="1200">
                <a:solidFill>
                  <a:srgbClr val="FFFFFF"/>
                </a:solidFill>
                <a:latin typeface="Segoe Sans Text"/>
              </a:rPr>
              <a:t>Create alert rules based on signals. </a:t>
            </a:r>
          </a:p>
        </p:txBody>
      </p:sp>
      <p:sp>
        <p:nvSpPr>
          <p:cNvPr id="29" name="Rectangle: Rounded Corners 28">
            <a:extLst>
              <a:ext uri="{FF2B5EF4-FFF2-40B4-BE49-F238E27FC236}">
                <a16:creationId xmlns:a16="http://schemas.microsoft.com/office/drawing/2014/main" id="{E2DBC873-65F2-C93A-E111-3898DF26B9CA}"/>
              </a:ext>
            </a:extLst>
          </p:cNvPr>
          <p:cNvSpPr>
            <a:spLocks/>
          </p:cNvSpPr>
          <p:nvPr/>
        </p:nvSpPr>
        <p:spPr bwMode="auto">
          <a:xfrm>
            <a:off x="7581933" y="5428909"/>
            <a:ext cx="4122282" cy="764682"/>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30" name="Content Placeholder 2">
            <a:extLst>
              <a:ext uri="{FF2B5EF4-FFF2-40B4-BE49-F238E27FC236}">
                <a16:creationId xmlns:a16="http://schemas.microsoft.com/office/drawing/2014/main" id="{1EFF7C73-1434-25D9-7AD1-6714A1420081}"/>
              </a:ext>
            </a:extLst>
          </p:cNvPr>
          <p:cNvSpPr txBox="1">
            <a:spLocks/>
          </p:cNvSpPr>
          <p:nvPr/>
        </p:nvSpPr>
        <p:spPr>
          <a:xfrm>
            <a:off x="7797059" y="5540270"/>
            <a:ext cx="3712260"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ts val="800"/>
              </a:spcAft>
              <a:buNone/>
            </a:pPr>
            <a:r>
              <a:rPr lang="en-US" sz="1200" spc="0"/>
              <a:t>Enable diagnostics setting to collect data</a:t>
            </a:r>
            <a:endParaRPr lang="en-US" sz="1200"/>
          </a:p>
        </p:txBody>
      </p:sp>
      <p:pic>
        <p:nvPicPr>
          <p:cNvPr id="31" name="Picture 30" descr="A blue and green sphere&#10;&#10;Description automatically generated">
            <a:extLst>
              <a:ext uri="{FF2B5EF4-FFF2-40B4-BE49-F238E27FC236}">
                <a16:creationId xmlns:a16="http://schemas.microsoft.com/office/drawing/2014/main" id="{CB871DD4-C6B0-9494-A186-28F20CAA445A}"/>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2143473" y="6003519"/>
            <a:ext cx="254571" cy="251521"/>
          </a:xfrm>
          <a:prstGeom prst="rect">
            <a:avLst/>
          </a:prstGeom>
          <a:effectLst>
            <a:outerShdw blurRad="228600" dist="165100" dir="2700000" algn="tl" rotWithShape="0">
              <a:prstClr val="black">
                <a:alpha val="40000"/>
              </a:prstClr>
            </a:outerShdw>
          </a:effectLst>
        </p:spPr>
      </p:pic>
      <p:pic>
        <p:nvPicPr>
          <p:cNvPr id="3" name="Picture 2" descr="Screenshot that shows out-of-box dashboards for an Azure OpenAI resource in the Azure portal.">
            <a:extLst>
              <a:ext uri="{FF2B5EF4-FFF2-40B4-BE49-F238E27FC236}">
                <a16:creationId xmlns:a16="http://schemas.microsoft.com/office/drawing/2014/main" id="{99BBB69E-9C85-C284-593F-B1A9E6618B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238" y="1761066"/>
            <a:ext cx="6690888" cy="4477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236228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750"/>
                                        <p:tgtEl>
                                          <p:spTgt spid="60"/>
                                        </p:tgtEl>
                                      </p:cBhvr>
                                    </p:animEffect>
                                  </p:childTnLst>
                                </p:cTn>
                              </p:par>
                              <p:par>
                                <p:cTn id="8" presetID="42" presetClass="path" presetSubtype="0" decel="100000" fill="hold" grpId="1" nodeType="withEffect">
                                  <p:stCondLst>
                                    <p:cond delay="300"/>
                                  </p:stCondLst>
                                  <p:childTnLst>
                                    <p:animMotion origin="layout" path="M -0.01718 -0.00023 L -2.91667E-6 1.48148E-6 " pathEditMode="relative" rAng="0" ptsTypes="AA">
                                      <p:cBhvr>
                                        <p:cTn id="9" dur="750" fill="hold"/>
                                        <p:tgtEl>
                                          <p:spTgt spid="60"/>
                                        </p:tgtEl>
                                        <p:attrNameLst>
                                          <p:attrName>ppt_x</p:attrName>
                                          <p:attrName>ppt_y</p:attrName>
                                        </p:attrNameLst>
                                      </p:cBhvr>
                                      <p:rCtr x="859" y="0"/>
                                    </p:animMotion>
                                  </p:childTnLst>
                                </p:cTn>
                              </p:par>
                              <p:par>
                                <p:cTn id="10" presetID="10" presetClass="entr" presetSubtype="0" fill="hold" grpId="0" nodeType="withEffect">
                                  <p:stCondLst>
                                    <p:cond delay="25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750"/>
                                        <p:tgtEl>
                                          <p:spTgt spid="2"/>
                                        </p:tgtEl>
                                      </p:cBhvr>
                                    </p:animEffect>
                                  </p:childTnLst>
                                </p:cTn>
                              </p:par>
                              <p:par>
                                <p:cTn id="13" presetID="42" presetClass="path" presetSubtype="0" decel="100000" fill="hold" grpId="1" nodeType="withEffect">
                                  <p:stCondLst>
                                    <p:cond delay="250"/>
                                  </p:stCondLst>
                                  <p:childTnLst>
                                    <p:animMotion origin="layout" path="M 0 0.03889 L 0 -2.22222E-6 " pathEditMode="relative" rAng="0" ptsTypes="AA">
                                      <p:cBhvr>
                                        <p:cTn id="14" dur="750" fill="hold"/>
                                        <p:tgtEl>
                                          <p:spTgt spid="2"/>
                                        </p:tgtEl>
                                        <p:attrNameLst>
                                          <p:attrName>ppt_x</p:attrName>
                                          <p:attrName>ppt_y</p:attrName>
                                        </p:attrNameLst>
                                      </p:cBhvr>
                                      <p:rCtr x="0" y="-1944"/>
                                    </p:animMotion>
                                  </p:childTnLst>
                                </p:cTn>
                              </p:par>
                              <p:par>
                                <p:cTn id="15" presetID="23" presetClass="entr" presetSubtype="272"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250" fill="hold"/>
                                        <p:tgtEl>
                                          <p:spTgt spid="9"/>
                                        </p:tgtEl>
                                        <p:attrNameLst>
                                          <p:attrName>ppt_w</p:attrName>
                                        </p:attrNameLst>
                                      </p:cBhvr>
                                      <p:tavLst>
                                        <p:tav tm="0">
                                          <p:val>
                                            <p:strVal val="2/3*#ppt_w"/>
                                          </p:val>
                                        </p:tav>
                                        <p:tav tm="100000">
                                          <p:val>
                                            <p:strVal val="#ppt_w"/>
                                          </p:val>
                                        </p:tav>
                                      </p:tavLst>
                                    </p:anim>
                                    <p:anim calcmode="lin" valueType="num">
                                      <p:cBhvr>
                                        <p:cTn id="18" dur="250" fill="hold"/>
                                        <p:tgtEl>
                                          <p:spTgt spid="9"/>
                                        </p:tgtEl>
                                        <p:attrNameLst>
                                          <p:attrName>ppt_h</p:attrName>
                                        </p:attrNameLst>
                                      </p:cBhvr>
                                      <p:tavLst>
                                        <p:tav tm="0">
                                          <p:val>
                                            <p:strVal val="2/3*#ppt_h"/>
                                          </p:val>
                                        </p:tav>
                                        <p:tav tm="100000">
                                          <p:val>
                                            <p:strVal val="#ppt_h"/>
                                          </p:val>
                                        </p:tav>
                                      </p:tavLst>
                                    </p:anim>
                                  </p:childTnLst>
                                </p:cTn>
                              </p:par>
                              <p:par>
                                <p:cTn id="19" presetID="10" presetClass="entr" presetSubtype="0" fill="hold" grpId="1"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6" presetClass="emph" presetSubtype="0" fill="hold" grpId="2" nodeType="withEffect">
                                  <p:stCondLst>
                                    <p:cond delay="0"/>
                                  </p:stCondLst>
                                  <p:childTnLst>
                                    <p:animScale>
                                      <p:cBhvr>
                                        <p:cTn id="23" dur="10" fill="hold"/>
                                        <p:tgtEl>
                                          <p:spTgt spid="9"/>
                                        </p:tgtEl>
                                      </p:cBhvr>
                                      <p:by x="80000" y="80000"/>
                                    </p:animScale>
                                  </p:childTnLst>
                                </p:cTn>
                              </p:par>
                              <p:par>
                                <p:cTn id="24" presetID="6" presetClass="emph" presetSubtype="0" decel="100000" fill="hold" grpId="3" nodeType="withEffect">
                                  <p:stCondLst>
                                    <p:cond delay="0"/>
                                  </p:stCondLst>
                                  <p:childTnLst>
                                    <p:animScale>
                                      <p:cBhvr>
                                        <p:cTn id="25" dur="1000" fill="hold"/>
                                        <p:tgtEl>
                                          <p:spTgt spid="9"/>
                                        </p:tgtEl>
                                      </p:cBhvr>
                                      <p:by x="125000" y="125000"/>
                                    </p:animScale>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childTnLst>
                                </p:cTn>
                              </p:par>
                              <p:par>
                                <p:cTn id="29" presetID="23" presetClass="entr" presetSubtype="272" fill="hold" grpId="0" nodeType="withEffect">
                                  <p:stCondLst>
                                    <p:cond delay="250"/>
                                  </p:stCondLst>
                                  <p:childTnLst>
                                    <p:set>
                                      <p:cBhvr>
                                        <p:cTn id="30" dur="1" fill="hold">
                                          <p:stCondLst>
                                            <p:cond delay="0"/>
                                          </p:stCondLst>
                                        </p:cTn>
                                        <p:tgtEl>
                                          <p:spTgt spid="22"/>
                                        </p:tgtEl>
                                        <p:attrNameLst>
                                          <p:attrName>style.visibility</p:attrName>
                                        </p:attrNameLst>
                                      </p:cBhvr>
                                      <p:to>
                                        <p:strVal val="visible"/>
                                      </p:to>
                                    </p:set>
                                    <p:anim calcmode="lin" valueType="num">
                                      <p:cBhvr>
                                        <p:cTn id="31" dur="250" fill="hold"/>
                                        <p:tgtEl>
                                          <p:spTgt spid="22"/>
                                        </p:tgtEl>
                                        <p:attrNameLst>
                                          <p:attrName>ppt_w</p:attrName>
                                        </p:attrNameLst>
                                      </p:cBhvr>
                                      <p:tavLst>
                                        <p:tav tm="0">
                                          <p:val>
                                            <p:strVal val="2/3*#ppt_w"/>
                                          </p:val>
                                        </p:tav>
                                        <p:tav tm="100000">
                                          <p:val>
                                            <p:strVal val="#ppt_w"/>
                                          </p:val>
                                        </p:tav>
                                      </p:tavLst>
                                    </p:anim>
                                    <p:anim calcmode="lin" valueType="num">
                                      <p:cBhvr>
                                        <p:cTn id="32" dur="250" fill="hold"/>
                                        <p:tgtEl>
                                          <p:spTgt spid="22"/>
                                        </p:tgtEl>
                                        <p:attrNameLst>
                                          <p:attrName>ppt_h</p:attrName>
                                        </p:attrNameLst>
                                      </p:cBhvr>
                                      <p:tavLst>
                                        <p:tav tm="0">
                                          <p:val>
                                            <p:strVal val="2/3*#ppt_h"/>
                                          </p:val>
                                        </p:tav>
                                        <p:tav tm="100000">
                                          <p:val>
                                            <p:strVal val="#ppt_h"/>
                                          </p:val>
                                        </p:tav>
                                      </p:tavLst>
                                    </p:anim>
                                  </p:childTnLst>
                                </p:cTn>
                              </p:par>
                              <p:par>
                                <p:cTn id="33" presetID="10" presetClass="entr" presetSubtype="0" fill="hold" grpId="1" nodeType="withEffect">
                                  <p:stCondLst>
                                    <p:cond delay="25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6" presetClass="emph" presetSubtype="0" fill="hold" grpId="2" nodeType="withEffect">
                                  <p:stCondLst>
                                    <p:cond delay="250"/>
                                  </p:stCondLst>
                                  <p:childTnLst>
                                    <p:animScale>
                                      <p:cBhvr>
                                        <p:cTn id="37" dur="10" fill="hold"/>
                                        <p:tgtEl>
                                          <p:spTgt spid="22"/>
                                        </p:tgtEl>
                                      </p:cBhvr>
                                      <p:by x="80000" y="80000"/>
                                    </p:animScale>
                                  </p:childTnLst>
                                </p:cTn>
                              </p:par>
                              <p:par>
                                <p:cTn id="38" presetID="6" presetClass="emph" presetSubtype="0" decel="100000" fill="hold" grpId="3" nodeType="withEffect">
                                  <p:stCondLst>
                                    <p:cond delay="250"/>
                                  </p:stCondLst>
                                  <p:childTnLst>
                                    <p:animScale>
                                      <p:cBhvr>
                                        <p:cTn id="39" dur="1000" fill="hold"/>
                                        <p:tgtEl>
                                          <p:spTgt spid="22"/>
                                        </p:tgtEl>
                                      </p:cBhvr>
                                      <p:by x="125000" y="125000"/>
                                    </p:animScale>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childTnLst>
                                </p:cTn>
                              </p:par>
                              <p:par>
                                <p:cTn id="43" presetID="23" presetClass="entr" presetSubtype="272" fill="hold" grpId="0" nodeType="withEffect">
                                  <p:stCondLst>
                                    <p:cond delay="250"/>
                                  </p:stCondLst>
                                  <p:childTnLst>
                                    <p:set>
                                      <p:cBhvr>
                                        <p:cTn id="44" dur="1" fill="hold">
                                          <p:stCondLst>
                                            <p:cond delay="0"/>
                                          </p:stCondLst>
                                        </p:cTn>
                                        <p:tgtEl>
                                          <p:spTgt spid="24"/>
                                        </p:tgtEl>
                                        <p:attrNameLst>
                                          <p:attrName>style.visibility</p:attrName>
                                        </p:attrNameLst>
                                      </p:cBhvr>
                                      <p:to>
                                        <p:strVal val="visible"/>
                                      </p:to>
                                    </p:set>
                                    <p:anim calcmode="lin" valueType="num">
                                      <p:cBhvr>
                                        <p:cTn id="45" dur="250" fill="hold"/>
                                        <p:tgtEl>
                                          <p:spTgt spid="24"/>
                                        </p:tgtEl>
                                        <p:attrNameLst>
                                          <p:attrName>ppt_w</p:attrName>
                                        </p:attrNameLst>
                                      </p:cBhvr>
                                      <p:tavLst>
                                        <p:tav tm="0">
                                          <p:val>
                                            <p:strVal val="2/3*#ppt_w"/>
                                          </p:val>
                                        </p:tav>
                                        <p:tav tm="100000">
                                          <p:val>
                                            <p:strVal val="#ppt_w"/>
                                          </p:val>
                                        </p:tav>
                                      </p:tavLst>
                                    </p:anim>
                                    <p:anim calcmode="lin" valueType="num">
                                      <p:cBhvr>
                                        <p:cTn id="46" dur="250" fill="hold"/>
                                        <p:tgtEl>
                                          <p:spTgt spid="24"/>
                                        </p:tgtEl>
                                        <p:attrNameLst>
                                          <p:attrName>ppt_h</p:attrName>
                                        </p:attrNameLst>
                                      </p:cBhvr>
                                      <p:tavLst>
                                        <p:tav tm="0">
                                          <p:val>
                                            <p:strVal val="2/3*#ppt_h"/>
                                          </p:val>
                                        </p:tav>
                                        <p:tav tm="100000">
                                          <p:val>
                                            <p:strVal val="#ppt_h"/>
                                          </p:val>
                                        </p:tav>
                                      </p:tavLst>
                                    </p:anim>
                                  </p:childTnLst>
                                </p:cTn>
                              </p:par>
                              <p:par>
                                <p:cTn id="47" presetID="10" presetClass="entr" presetSubtype="0" fill="hold" grpId="1" nodeType="withEffect">
                                  <p:stCondLst>
                                    <p:cond delay="25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0" presetID="6" presetClass="emph" presetSubtype="0" fill="hold" grpId="2" nodeType="withEffect">
                                  <p:stCondLst>
                                    <p:cond delay="250"/>
                                  </p:stCondLst>
                                  <p:childTnLst>
                                    <p:animScale>
                                      <p:cBhvr>
                                        <p:cTn id="51" dur="10" fill="hold"/>
                                        <p:tgtEl>
                                          <p:spTgt spid="24"/>
                                        </p:tgtEl>
                                      </p:cBhvr>
                                      <p:by x="80000" y="80000"/>
                                    </p:animScale>
                                  </p:childTnLst>
                                </p:cTn>
                              </p:par>
                              <p:par>
                                <p:cTn id="52" presetID="6" presetClass="emph" presetSubtype="0" decel="100000" fill="hold" grpId="3" nodeType="withEffect">
                                  <p:stCondLst>
                                    <p:cond delay="250"/>
                                  </p:stCondLst>
                                  <p:childTnLst>
                                    <p:animScale>
                                      <p:cBhvr>
                                        <p:cTn id="53" dur="1000" fill="hold"/>
                                        <p:tgtEl>
                                          <p:spTgt spid="24"/>
                                        </p:tgtEl>
                                      </p:cBhvr>
                                      <p:by x="125000" y="125000"/>
                                    </p:animScale>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1000"/>
                                        <p:tgtEl>
                                          <p:spTgt spid="27"/>
                                        </p:tgtEl>
                                      </p:cBhvr>
                                    </p:animEffect>
                                  </p:childTnLst>
                                </p:cTn>
                              </p:par>
                              <p:par>
                                <p:cTn id="57" presetID="23" presetClass="entr" presetSubtype="272" fill="hold" grpId="0" nodeType="withEffect">
                                  <p:stCondLst>
                                    <p:cond delay="250"/>
                                  </p:stCondLst>
                                  <p:childTnLst>
                                    <p:set>
                                      <p:cBhvr>
                                        <p:cTn id="58" dur="1" fill="hold">
                                          <p:stCondLst>
                                            <p:cond delay="0"/>
                                          </p:stCondLst>
                                        </p:cTn>
                                        <p:tgtEl>
                                          <p:spTgt spid="28"/>
                                        </p:tgtEl>
                                        <p:attrNameLst>
                                          <p:attrName>style.visibility</p:attrName>
                                        </p:attrNameLst>
                                      </p:cBhvr>
                                      <p:to>
                                        <p:strVal val="visible"/>
                                      </p:to>
                                    </p:set>
                                    <p:anim calcmode="lin" valueType="num">
                                      <p:cBhvr>
                                        <p:cTn id="59" dur="250" fill="hold"/>
                                        <p:tgtEl>
                                          <p:spTgt spid="28"/>
                                        </p:tgtEl>
                                        <p:attrNameLst>
                                          <p:attrName>ppt_w</p:attrName>
                                        </p:attrNameLst>
                                      </p:cBhvr>
                                      <p:tavLst>
                                        <p:tav tm="0">
                                          <p:val>
                                            <p:strVal val="2/3*#ppt_w"/>
                                          </p:val>
                                        </p:tav>
                                        <p:tav tm="100000">
                                          <p:val>
                                            <p:strVal val="#ppt_w"/>
                                          </p:val>
                                        </p:tav>
                                      </p:tavLst>
                                    </p:anim>
                                    <p:anim calcmode="lin" valueType="num">
                                      <p:cBhvr>
                                        <p:cTn id="60" dur="250" fill="hold"/>
                                        <p:tgtEl>
                                          <p:spTgt spid="28"/>
                                        </p:tgtEl>
                                        <p:attrNameLst>
                                          <p:attrName>ppt_h</p:attrName>
                                        </p:attrNameLst>
                                      </p:cBhvr>
                                      <p:tavLst>
                                        <p:tav tm="0">
                                          <p:val>
                                            <p:strVal val="2/3*#ppt_h"/>
                                          </p:val>
                                        </p:tav>
                                        <p:tav tm="100000">
                                          <p:val>
                                            <p:strVal val="#ppt_h"/>
                                          </p:val>
                                        </p:tav>
                                      </p:tavLst>
                                    </p:anim>
                                  </p:childTnLst>
                                </p:cTn>
                              </p:par>
                              <p:par>
                                <p:cTn id="61" presetID="10" presetClass="entr" presetSubtype="0" fill="hold" grpId="1" nodeType="withEffect">
                                  <p:stCondLst>
                                    <p:cond delay="25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4" presetID="6" presetClass="emph" presetSubtype="0" fill="hold" grpId="2" nodeType="withEffect">
                                  <p:stCondLst>
                                    <p:cond delay="250"/>
                                  </p:stCondLst>
                                  <p:childTnLst>
                                    <p:animScale>
                                      <p:cBhvr>
                                        <p:cTn id="65" dur="10" fill="hold"/>
                                        <p:tgtEl>
                                          <p:spTgt spid="28"/>
                                        </p:tgtEl>
                                      </p:cBhvr>
                                      <p:by x="80000" y="80000"/>
                                    </p:animScale>
                                  </p:childTnLst>
                                </p:cTn>
                              </p:par>
                              <p:par>
                                <p:cTn id="66" presetID="6" presetClass="emph" presetSubtype="0" decel="100000" fill="hold" grpId="3" nodeType="withEffect">
                                  <p:stCondLst>
                                    <p:cond delay="250"/>
                                  </p:stCondLst>
                                  <p:childTnLst>
                                    <p:animScale>
                                      <p:cBhvr>
                                        <p:cTn id="67" dur="1000" fill="hold"/>
                                        <p:tgtEl>
                                          <p:spTgt spid="28"/>
                                        </p:tgtEl>
                                      </p:cBhvr>
                                      <p:by x="125000" y="125000"/>
                                    </p:animScale>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1000"/>
                                        <p:tgtEl>
                                          <p:spTgt spid="29"/>
                                        </p:tgtEl>
                                      </p:cBhvr>
                                    </p:animEffect>
                                  </p:childTnLst>
                                </p:cTn>
                              </p:par>
                              <p:par>
                                <p:cTn id="71" presetID="23" presetClass="entr" presetSubtype="272" fill="hold" grpId="0" nodeType="withEffect">
                                  <p:stCondLst>
                                    <p:cond delay="250"/>
                                  </p:stCondLst>
                                  <p:childTnLst>
                                    <p:set>
                                      <p:cBhvr>
                                        <p:cTn id="72" dur="1" fill="hold">
                                          <p:stCondLst>
                                            <p:cond delay="0"/>
                                          </p:stCondLst>
                                        </p:cTn>
                                        <p:tgtEl>
                                          <p:spTgt spid="30"/>
                                        </p:tgtEl>
                                        <p:attrNameLst>
                                          <p:attrName>style.visibility</p:attrName>
                                        </p:attrNameLst>
                                      </p:cBhvr>
                                      <p:to>
                                        <p:strVal val="visible"/>
                                      </p:to>
                                    </p:set>
                                    <p:anim calcmode="lin" valueType="num">
                                      <p:cBhvr>
                                        <p:cTn id="73" dur="250" fill="hold"/>
                                        <p:tgtEl>
                                          <p:spTgt spid="30"/>
                                        </p:tgtEl>
                                        <p:attrNameLst>
                                          <p:attrName>ppt_w</p:attrName>
                                        </p:attrNameLst>
                                      </p:cBhvr>
                                      <p:tavLst>
                                        <p:tav tm="0">
                                          <p:val>
                                            <p:strVal val="2/3*#ppt_w"/>
                                          </p:val>
                                        </p:tav>
                                        <p:tav tm="100000">
                                          <p:val>
                                            <p:strVal val="#ppt_w"/>
                                          </p:val>
                                        </p:tav>
                                      </p:tavLst>
                                    </p:anim>
                                    <p:anim calcmode="lin" valueType="num">
                                      <p:cBhvr>
                                        <p:cTn id="74" dur="250" fill="hold"/>
                                        <p:tgtEl>
                                          <p:spTgt spid="30"/>
                                        </p:tgtEl>
                                        <p:attrNameLst>
                                          <p:attrName>ppt_h</p:attrName>
                                        </p:attrNameLst>
                                      </p:cBhvr>
                                      <p:tavLst>
                                        <p:tav tm="0">
                                          <p:val>
                                            <p:strVal val="2/3*#ppt_h"/>
                                          </p:val>
                                        </p:tav>
                                        <p:tav tm="100000">
                                          <p:val>
                                            <p:strVal val="#ppt_h"/>
                                          </p:val>
                                        </p:tav>
                                      </p:tavLst>
                                    </p:anim>
                                  </p:childTnLst>
                                </p:cTn>
                              </p:par>
                              <p:par>
                                <p:cTn id="75" presetID="10" presetClass="entr" presetSubtype="0" fill="hold" grpId="1" nodeType="withEffect">
                                  <p:stCondLst>
                                    <p:cond delay="25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par>
                                <p:cTn id="78" presetID="6" presetClass="emph" presetSubtype="0" fill="hold" grpId="2" nodeType="withEffect">
                                  <p:stCondLst>
                                    <p:cond delay="250"/>
                                  </p:stCondLst>
                                  <p:childTnLst>
                                    <p:animScale>
                                      <p:cBhvr>
                                        <p:cTn id="79" dur="10" fill="hold"/>
                                        <p:tgtEl>
                                          <p:spTgt spid="30"/>
                                        </p:tgtEl>
                                      </p:cBhvr>
                                      <p:by x="80000" y="80000"/>
                                    </p:animScale>
                                  </p:childTnLst>
                                </p:cTn>
                              </p:par>
                              <p:par>
                                <p:cTn id="80" presetID="6" presetClass="emph" presetSubtype="0" decel="100000" fill="hold" grpId="3" nodeType="withEffect">
                                  <p:stCondLst>
                                    <p:cond delay="250"/>
                                  </p:stCondLst>
                                  <p:childTnLst>
                                    <p:animScale>
                                      <p:cBhvr>
                                        <p:cTn id="81" dur="1000" fill="hold"/>
                                        <p:tgtEl>
                                          <p:spTgt spid="30"/>
                                        </p:tgtEl>
                                      </p:cBhvr>
                                      <p:by x="125000" y="125000"/>
                                    </p:animScale>
                                  </p:childTnLst>
                                </p:cTn>
                              </p:par>
                              <p:par>
                                <p:cTn id="82" presetID="23" presetClass="entr" presetSubtype="272"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 calcmode="lin" valueType="num">
                                      <p:cBhvr>
                                        <p:cTn id="84" dur="250" fill="hold"/>
                                        <p:tgtEl>
                                          <p:spTgt spid="31"/>
                                        </p:tgtEl>
                                        <p:attrNameLst>
                                          <p:attrName>ppt_w</p:attrName>
                                        </p:attrNameLst>
                                      </p:cBhvr>
                                      <p:tavLst>
                                        <p:tav tm="0">
                                          <p:val>
                                            <p:strVal val="2/3*#ppt_w"/>
                                          </p:val>
                                        </p:tav>
                                        <p:tav tm="100000">
                                          <p:val>
                                            <p:strVal val="#ppt_w"/>
                                          </p:val>
                                        </p:tav>
                                      </p:tavLst>
                                    </p:anim>
                                    <p:anim calcmode="lin" valueType="num">
                                      <p:cBhvr>
                                        <p:cTn id="85" dur="250" fill="hold"/>
                                        <p:tgtEl>
                                          <p:spTgt spid="31"/>
                                        </p:tgtEl>
                                        <p:attrNameLst>
                                          <p:attrName>ppt_h</p:attrName>
                                        </p:attrNameLst>
                                      </p:cBhvr>
                                      <p:tavLst>
                                        <p:tav tm="0">
                                          <p:val>
                                            <p:strVal val="2/3*#ppt_h"/>
                                          </p:val>
                                        </p:tav>
                                        <p:tav tm="100000">
                                          <p:val>
                                            <p:strVal val="#ppt_h"/>
                                          </p:val>
                                        </p:tav>
                                      </p:tavLst>
                                    </p:anim>
                                  </p:childTnLst>
                                </p:cTn>
                              </p:par>
                              <p:par>
                                <p:cTn id="86" presetID="10" presetClass="entr" presetSubtype="0" fill="hold"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500"/>
                                        <p:tgtEl>
                                          <p:spTgt spid="31"/>
                                        </p:tgtEl>
                                      </p:cBhvr>
                                    </p:animEffect>
                                  </p:childTnLst>
                                </p:cTn>
                              </p:par>
                              <p:par>
                                <p:cTn id="89" presetID="6" presetClass="emph" presetSubtype="0" fill="hold" nodeType="withEffect">
                                  <p:stCondLst>
                                    <p:cond delay="0"/>
                                  </p:stCondLst>
                                  <p:childTnLst>
                                    <p:animScale>
                                      <p:cBhvr>
                                        <p:cTn id="90" dur="10" fill="hold"/>
                                        <p:tgtEl>
                                          <p:spTgt spid="31"/>
                                        </p:tgtEl>
                                      </p:cBhvr>
                                      <p:by x="80000" y="80000"/>
                                    </p:animScale>
                                  </p:childTnLst>
                                </p:cTn>
                              </p:par>
                              <p:par>
                                <p:cTn id="91" presetID="6" presetClass="emph" presetSubtype="0" decel="100000" fill="hold" nodeType="withEffect">
                                  <p:stCondLst>
                                    <p:cond delay="0"/>
                                  </p:stCondLst>
                                  <p:childTnLst>
                                    <p:animScale>
                                      <p:cBhvr>
                                        <p:cTn id="92" dur="1000" fill="hold"/>
                                        <p:tgtEl>
                                          <p:spTgt spid="31"/>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0" grpId="1"/>
      <p:bldP spid="2" grpId="0"/>
      <p:bldP spid="2" grpId="1"/>
      <p:bldP spid="9" grpId="0" animBg="1"/>
      <p:bldP spid="9" grpId="1" animBg="1"/>
      <p:bldP spid="9" grpId="2" animBg="1"/>
      <p:bldP spid="9" grpId="3" animBg="1"/>
      <p:bldP spid="21" grpId="0" animBg="1"/>
      <p:bldP spid="22" grpId="0"/>
      <p:bldP spid="22" grpId="1"/>
      <p:bldP spid="22" grpId="2"/>
      <p:bldP spid="22" grpId="3"/>
      <p:bldP spid="23" grpId="0" animBg="1"/>
      <p:bldP spid="24" grpId="0"/>
      <p:bldP spid="24" grpId="1"/>
      <p:bldP spid="24" grpId="2"/>
      <p:bldP spid="24" grpId="3"/>
      <p:bldP spid="27" grpId="0" animBg="1"/>
      <p:bldP spid="28" grpId="0"/>
      <p:bldP spid="28" grpId="1"/>
      <p:bldP spid="28" grpId="2"/>
      <p:bldP spid="28" grpId="3"/>
      <p:bldP spid="29" grpId="0" animBg="1"/>
      <p:bldP spid="30" grpId="0"/>
      <p:bldP spid="30" grpId="1"/>
      <p:bldP spid="30" grpId="2"/>
      <p:bldP spid="30" grpId="3"/>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5FBD7-E5DA-2DBB-7B71-482DF955A4E2}"/>
              </a:ext>
            </a:extLst>
          </p:cNvPr>
          <p:cNvSpPr>
            <a:spLocks noGrp="1"/>
          </p:cNvSpPr>
          <p:nvPr>
            <p:ph type="title"/>
          </p:nvPr>
        </p:nvSpPr>
        <p:spPr/>
        <p:txBody>
          <a:bodyPr/>
          <a:lstStyle/>
          <a:p>
            <a:r>
              <a:rPr lang="en-GB"/>
              <a:t>API Management </a:t>
            </a:r>
            <a:br>
              <a:rPr lang="en-GB"/>
            </a:br>
            <a:r>
              <a:rPr lang="en-GB"/>
              <a:t>Logging Options</a:t>
            </a:r>
          </a:p>
        </p:txBody>
      </p:sp>
      <p:pic>
        <p:nvPicPr>
          <p:cNvPr id="4" name="Picture 3">
            <a:extLst>
              <a:ext uri="{FF2B5EF4-FFF2-40B4-BE49-F238E27FC236}">
                <a16:creationId xmlns:a16="http://schemas.microsoft.com/office/drawing/2014/main" id="{C47920DC-5CED-0A3E-3A05-07674F45AEC2}"/>
              </a:ext>
            </a:extLst>
          </p:cNvPr>
          <p:cNvPicPr>
            <a:picLocks noChangeAspect="1"/>
          </p:cNvPicPr>
          <p:nvPr/>
        </p:nvPicPr>
        <p:blipFill>
          <a:blip r:embed="rId3"/>
          <a:stretch>
            <a:fillRect/>
          </a:stretch>
        </p:blipFill>
        <p:spPr>
          <a:xfrm>
            <a:off x="6245013" y="291201"/>
            <a:ext cx="5642188" cy="5094450"/>
          </a:xfrm>
          <a:prstGeom prst="rect">
            <a:avLst/>
          </a:prstGeom>
          <a:ln w="28575">
            <a:solidFill>
              <a:schemeClr val="tx2">
                <a:lumMod val="40000"/>
                <a:lumOff val="60000"/>
              </a:schemeClr>
            </a:solidFill>
          </a:ln>
        </p:spPr>
      </p:pic>
      <p:sp>
        <p:nvSpPr>
          <p:cNvPr id="5" name="TextBox 4">
            <a:extLst>
              <a:ext uri="{FF2B5EF4-FFF2-40B4-BE49-F238E27FC236}">
                <a16:creationId xmlns:a16="http://schemas.microsoft.com/office/drawing/2014/main" id="{D9203473-9090-0601-95F9-A4D507672537}"/>
              </a:ext>
            </a:extLst>
          </p:cNvPr>
          <p:cNvSpPr txBox="1"/>
          <p:nvPr/>
        </p:nvSpPr>
        <p:spPr>
          <a:xfrm>
            <a:off x="11060854" y="3264748"/>
            <a:ext cx="507999" cy="291252"/>
          </a:xfrm>
          <a:prstGeom prst="rect">
            <a:avLst/>
          </a:prstGeom>
          <a:noFill/>
          <a:ln w="28575">
            <a:solidFill>
              <a:srgbClr val="C00000"/>
            </a:solidFill>
          </a:ln>
        </p:spPr>
        <p:txBody>
          <a:bodyPr wrap="square" lIns="0" tIns="0" rIns="0" bIns="0" rtlCol="0">
            <a:spAutoFit/>
          </a:bodyPr>
          <a:lstStyle/>
          <a:p>
            <a:pPr algn="l"/>
            <a:endParaRPr lang="en-GB" sz="2000"/>
          </a:p>
        </p:txBody>
      </p:sp>
      <p:sp>
        <p:nvSpPr>
          <p:cNvPr id="7" name="Rectangle: Rounded Corners 6">
            <a:extLst>
              <a:ext uri="{FF2B5EF4-FFF2-40B4-BE49-F238E27FC236}">
                <a16:creationId xmlns:a16="http://schemas.microsoft.com/office/drawing/2014/main" id="{BFA8D21E-E45A-5E4E-A642-B0AD068512EA}"/>
              </a:ext>
            </a:extLst>
          </p:cNvPr>
          <p:cNvSpPr>
            <a:spLocks/>
          </p:cNvSpPr>
          <p:nvPr/>
        </p:nvSpPr>
        <p:spPr bwMode="auto">
          <a:xfrm>
            <a:off x="588263" y="2009934"/>
            <a:ext cx="3773764" cy="85518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 name="Content Placeholder 2">
            <a:extLst>
              <a:ext uri="{FF2B5EF4-FFF2-40B4-BE49-F238E27FC236}">
                <a16:creationId xmlns:a16="http://schemas.microsoft.com/office/drawing/2014/main" id="{8C560A7B-7FB6-2607-BCF0-561D6F66A68D}"/>
              </a:ext>
            </a:extLst>
          </p:cNvPr>
          <p:cNvSpPr txBox="1">
            <a:spLocks/>
          </p:cNvSpPr>
          <p:nvPr/>
        </p:nvSpPr>
        <p:spPr>
          <a:xfrm>
            <a:off x="803389" y="2158851"/>
            <a:ext cx="4363390"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Blob Storage</a:t>
            </a:r>
          </a:p>
        </p:txBody>
      </p:sp>
      <p:sp>
        <p:nvSpPr>
          <p:cNvPr id="9" name="Rectangle: Rounded Corners 8">
            <a:extLst>
              <a:ext uri="{FF2B5EF4-FFF2-40B4-BE49-F238E27FC236}">
                <a16:creationId xmlns:a16="http://schemas.microsoft.com/office/drawing/2014/main" id="{C7F31669-A316-23CD-1E06-774CC6BA3279}"/>
              </a:ext>
            </a:extLst>
          </p:cNvPr>
          <p:cNvSpPr>
            <a:spLocks/>
          </p:cNvSpPr>
          <p:nvPr/>
        </p:nvSpPr>
        <p:spPr bwMode="auto">
          <a:xfrm>
            <a:off x="571329" y="3090280"/>
            <a:ext cx="3790697" cy="85518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0" name="Content Placeholder 2">
            <a:extLst>
              <a:ext uri="{FF2B5EF4-FFF2-40B4-BE49-F238E27FC236}">
                <a16:creationId xmlns:a16="http://schemas.microsoft.com/office/drawing/2014/main" id="{896B3A2F-1BA1-F988-CF42-05EBF7499A82}"/>
              </a:ext>
            </a:extLst>
          </p:cNvPr>
          <p:cNvSpPr txBox="1">
            <a:spLocks/>
          </p:cNvSpPr>
          <p:nvPr/>
        </p:nvSpPr>
        <p:spPr>
          <a:xfrm>
            <a:off x="786456" y="3239197"/>
            <a:ext cx="4363390"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Application Insights</a:t>
            </a:r>
          </a:p>
        </p:txBody>
      </p:sp>
      <p:sp>
        <p:nvSpPr>
          <p:cNvPr id="11" name="Rectangle: Rounded Corners 10">
            <a:extLst>
              <a:ext uri="{FF2B5EF4-FFF2-40B4-BE49-F238E27FC236}">
                <a16:creationId xmlns:a16="http://schemas.microsoft.com/office/drawing/2014/main" id="{C34936D7-E9DC-7AD2-F150-659AA5E359F4}"/>
              </a:ext>
            </a:extLst>
          </p:cNvPr>
          <p:cNvSpPr>
            <a:spLocks/>
          </p:cNvSpPr>
          <p:nvPr/>
        </p:nvSpPr>
        <p:spPr bwMode="auto">
          <a:xfrm>
            <a:off x="584876" y="4153690"/>
            <a:ext cx="3763603" cy="85518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2" name="Content Placeholder 2">
            <a:extLst>
              <a:ext uri="{FF2B5EF4-FFF2-40B4-BE49-F238E27FC236}">
                <a16:creationId xmlns:a16="http://schemas.microsoft.com/office/drawing/2014/main" id="{93843D46-ED8D-467F-435B-C31533ECB75F}"/>
              </a:ext>
            </a:extLst>
          </p:cNvPr>
          <p:cNvSpPr txBox="1">
            <a:spLocks/>
          </p:cNvSpPr>
          <p:nvPr/>
        </p:nvSpPr>
        <p:spPr>
          <a:xfrm>
            <a:off x="800003" y="4302607"/>
            <a:ext cx="4363390"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Event Hub</a:t>
            </a:r>
          </a:p>
        </p:txBody>
      </p:sp>
      <p:sp>
        <p:nvSpPr>
          <p:cNvPr id="14" name="Rectangle: Rounded Corners 13">
            <a:extLst>
              <a:ext uri="{FF2B5EF4-FFF2-40B4-BE49-F238E27FC236}">
                <a16:creationId xmlns:a16="http://schemas.microsoft.com/office/drawing/2014/main" id="{CBD773A0-6C3F-2C45-B6E8-C050646E33DB}"/>
              </a:ext>
            </a:extLst>
          </p:cNvPr>
          <p:cNvSpPr>
            <a:spLocks/>
          </p:cNvSpPr>
          <p:nvPr/>
        </p:nvSpPr>
        <p:spPr bwMode="auto">
          <a:xfrm>
            <a:off x="601811" y="5234039"/>
            <a:ext cx="3739896" cy="85518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5" name="Content Placeholder 2">
            <a:extLst>
              <a:ext uri="{FF2B5EF4-FFF2-40B4-BE49-F238E27FC236}">
                <a16:creationId xmlns:a16="http://schemas.microsoft.com/office/drawing/2014/main" id="{3E6ADBEB-5E8E-15F2-6036-AEFF6122D380}"/>
              </a:ext>
            </a:extLst>
          </p:cNvPr>
          <p:cNvSpPr txBox="1">
            <a:spLocks/>
          </p:cNvSpPr>
          <p:nvPr/>
        </p:nvSpPr>
        <p:spPr>
          <a:xfrm>
            <a:off x="816937" y="5382956"/>
            <a:ext cx="4363390"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latin typeface="Segoe UI"/>
              </a:rPr>
              <a:t>APIM AI Monitoring</a:t>
            </a:r>
            <a:endParaRPr lang="en-GB" sz="1600" b="1" spc="0">
              <a:ln>
                <a:noFill/>
              </a:ln>
            </a:endParaRPr>
          </a:p>
        </p:txBody>
      </p:sp>
      <p:pic>
        <p:nvPicPr>
          <p:cNvPr id="17" name="Picture 16">
            <a:extLst>
              <a:ext uri="{FF2B5EF4-FFF2-40B4-BE49-F238E27FC236}">
                <a16:creationId xmlns:a16="http://schemas.microsoft.com/office/drawing/2014/main" id="{85D90937-6614-2A9C-B976-9C32143BFF97}"/>
              </a:ext>
            </a:extLst>
          </p:cNvPr>
          <p:cNvPicPr>
            <a:picLocks noChangeAspect="1"/>
          </p:cNvPicPr>
          <p:nvPr/>
        </p:nvPicPr>
        <p:blipFill>
          <a:blip r:embed="rId4"/>
          <a:stretch>
            <a:fillRect/>
          </a:stretch>
        </p:blipFill>
        <p:spPr>
          <a:xfrm>
            <a:off x="4653280" y="3121107"/>
            <a:ext cx="4798762" cy="3296992"/>
          </a:xfrm>
          <a:prstGeom prst="rect">
            <a:avLst/>
          </a:prstGeom>
          <a:ln w="28575">
            <a:solidFill>
              <a:schemeClr val="accent1">
                <a:lumMod val="40000"/>
                <a:lumOff val="60000"/>
              </a:schemeClr>
            </a:solidFill>
          </a:ln>
        </p:spPr>
      </p:pic>
      <p:sp>
        <p:nvSpPr>
          <p:cNvPr id="18" name="TextBox 17">
            <a:extLst>
              <a:ext uri="{FF2B5EF4-FFF2-40B4-BE49-F238E27FC236}">
                <a16:creationId xmlns:a16="http://schemas.microsoft.com/office/drawing/2014/main" id="{177F9421-8847-C273-808A-543AE86F03F3}"/>
              </a:ext>
            </a:extLst>
          </p:cNvPr>
          <p:cNvSpPr txBox="1"/>
          <p:nvPr/>
        </p:nvSpPr>
        <p:spPr>
          <a:xfrm>
            <a:off x="11064245" y="3600024"/>
            <a:ext cx="507999" cy="291252"/>
          </a:xfrm>
          <a:prstGeom prst="rect">
            <a:avLst/>
          </a:prstGeom>
          <a:noFill/>
          <a:ln w="28575">
            <a:solidFill>
              <a:srgbClr val="C00000"/>
            </a:solidFill>
          </a:ln>
        </p:spPr>
        <p:txBody>
          <a:bodyPr wrap="square" lIns="0" tIns="0" rIns="0" bIns="0" rtlCol="0">
            <a:spAutoFit/>
          </a:bodyPr>
          <a:lstStyle/>
          <a:p>
            <a:pPr algn="l"/>
            <a:endParaRPr lang="en-GB" sz="2000"/>
          </a:p>
        </p:txBody>
      </p:sp>
      <p:sp>
        <p:nvSpPr>
          <p:cNvPr id="19" name="TextBox 18">
            <a:extLst>
              <a:ext uri="{FF2B5EF4-FFF2-40B4-BE49-F238E27FC236}">
                <a16:creationId xmlns:a16="http://schemas.microsoft.com/office/drawing/2014/main" id="{83D2EE30-028D-10B5-03BF-28DC25F373A3}"/>
              </a:ext>
            </a:extLst>
          </p:cNvPr>
          <p:cNvSpPr txBox="1"/>
          <p:nvPr/>
        </p:nvSpPr>
        <p:spPr>
          <a:xfrm>
            <a:off x="11057471" y="2834642"/>
            <a:ext cx="504609" cy="375917"/>
          </a:xfrm>
          <a:prstGeom prst="rect">
            <a:avLst/>
          </a:prstGeom>
          <a:noFill/>
          <a:ln w="28575">
            <a:solidFill>
              <a:srgbClr val="C00000"/>
            </a:solidFill>
          </a:ln>
        </p:spPr>
        <p:txBody>
          <a:bodyPr wrap="square" lIns="0" tIns="0" rIns="0" bIns="0" rtlCol="0">
            <a:spAutoFit/>
          </a:bodyPr>
          <a:lstStyle/>
          <a:p>
            <a:pPr algn="l"/>
            <a:endParaRPr lang="en-GB" sz="2000"/>
          </a:p>
        </p:txBody>
      </p:sp>
    </p:spTree>
    <p:extLst>
      <p:ext uri="{BB962C8B-B14F-4D97-AF65-F5344CB8AC3E}">
        <p14:creationId xmlns:p14="http://schemas.microsoft.com/office/powerpoint/2010/main" val="422106822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23" presetClass="entr" presetSubtype="272" fill="hold" grpId="0" nodeType="withEffect">
                                  <p:stCondLst>
                                    <p:cond delay="250"/>
                                  </p:stCondLst>
                                  <p:childTnLst>
                                    <p:set>
                                      <p:cBhvr>
                                        <p:cTn id="9" dur="1" fill="hold">
                                          <p:stCondLst>
                                            <p:cond delay="0"/>
                                          </p:stCondLst>
                                        </p:cTn>
                                        <p:tgtEl>
                                          <p:spTgt spid="8"/>
                                        </p:tgtEl>
                                        <p:attrNameLst>
                                          <p:attrName>style.visibility</p:attrName>
                                        </p:attrNameLst>
                                      </p:cBhvr>
                                      <p:to>
                                        <p:strVal val="visible"/>
                                      </p:to>
                                    </p:set>
                                    <p:anim calcmode="lin" valueType="num">
                                      <p:cBhvr>
                                        <p:cTn id="10" dur="250" fill="hold"/>
                                        <p:tgtEl>
                                          <p:spTgt spid="8"/>
                                        </p:tgtEl>
                                        <p:attrNameLst>
                                          <p:attrName>ppt_w</p:attrName>
                                        </p:attrNameLst>
                                      </p:cBhvr>
                                      <p:tavLst>
                                        <p:tav tm="0">
                                          <p:val>
                                            <p:strVal val="2/3*#ppt_w"/>
                                          </p:val>
                                        </p:tav>
                                        <p:tav tm="100000">
                                          <p:val>
                                            <p:strVal val="#ppt_w"/>
                                          </p:val>
                                        </p:tav>
                                      </p:tavLst>
                                    </p:anim>
                                    <p:anim calcmode="lin" valueType="num">
                                      <p:cBhvr>
                                        <p:cTn id="11" dur="250" fill="hold"/>
                                        <p:tgtEl>
                                          <p:spTgt spid="8"/>
                                        </p:tgtEl>
                                        <p:attrNameLst>
                                          <p:attrName>ppt_h</p:attrName>
                                        </p:attrNameLst>
                                      </p:cBhvr>
                                      <p:tavLst>
                                        <p:tav tm="0">
                                          <p:val>
                                            <p:strVal val="2/3*#ppt_h"/>
                                          </p:val>
                                        </p:tav>
                                        <p:tav tm="100000">
                                          <p:val>
                                            <p:strVal val="#ppt_h"/>
                                          </p:val>
                                        </p:tav>
                                      </p:tavLst>
                                    </p:anim>
                                  </p:childTnLst>
                                </p:cTn>
                              </p:par>
                              <p:par>
                                <p:cTn id="12" presetID="10" presetClass="entr" presetSubtype="0" fill="hold" grpId="1" nodeType="withEffect">
                                  <p:stCondLst>
                                    <p:cond delay="2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6" presetClass="emph" presetSubtype="0" fill="hold" grpId="2" nodeType="withEffect">
                                  <p:stCondLst>
                                    <p:cond delay="250"/>
                                  </p:stCondLst>
                                  <p:childTnLst>
                                    <p:animScale>
                                      <p:cBhvr>
                                        <p:cTn id="16" dur="10" fill="hold"/>
                                        <p:tgtEl>
                                          <p:spTgt spid="8"/>
                                        </p:tgtEl>
                                      </p:cBhvr>
                                      <p:by x="80000" y="80000"/>
                                    </p:animScale>
                                  </p:childTnLst>
                                </p:cTn>
                              </p:par>
                              <p:par>
                                <p:cTn id="17" presetID="6" presetClass="emph" presetSubtype="0" decel="100000" fill="hold" grpId="3" nodeType="withEffect">
                                  <p:stCondLst>
                                    <p:cond delay="250"/>
                                  </p:stCondLst>
                                  <p:childTnLst>
                                    <p:animScale>
                                      <p:cBhvr>
                                        <p:cTn id="18" dur="1000" fill="hold"/>
                                        <p:tgtEl>
                                          <p:spTgt spid="8"/>
                                        </p:tgtEl>
                                      </p:cBhvr>
                                      <p:by x="125000" y="125000"/>
                                    </p:animScale>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childTnLst>
                                </p:cTn>
                              </p:par>
                              <p:par>
                                <p:cTn id="22" presetID="23" presetClass="entr" presetSubtype="272" fill="hold" grpId="0" nodeType="withEffect">
                                  <p:stCondLst>
                                    <p:cond delay="250"/>
                                  </p:stCondLst>
                                  <p:childTnLst>
                                    <p:set>
                                      <p:cBhvr>
                                        <p:cTn id="23" dur="1" fill="hold">
                                          <p:stCondLst>
                                            <p:cond delay="0"/>
                                          </p:stCondLst>
                                        </p:cTn>
                                        <p:tgtEl>
                                          <p:spTgt spid="10"/>
                                        </p:tgtEl>
                                        <p:attrNameLst>
                                          <p:attrName>style.visibility</p:attrName>
                                        </p:attrNameLst>
                                      </p:cBhvr>
                                      <p:to>
                                        <p:strVal val="visible"/>
                                      </p:to>
                                    </p:set>
                                    <p:anim calcmode="lin" valueType="num">
                                      <p:cBhvr>
                                        <p:cTn id="24" dur="250" fill="hold"/>
                                        <p:tgtEl>
                                          <p:spTgt spid="10"/>
                                        </p:tgtEl>
                                        <p:attrNameLst>
                                          <p:attrName>ppt_w</p:attrName>
                                        </p:attrNameLst>
                                      </p:cBhvr>
                                      <p:tavLst>
                                        <p:tav tm="0">
                                          <p:val>
                                            <p:strVal val="2/3*#ppt_w"/>
                                          </p:val>
                                        </p:tav>
                                        <p:tav tm="100000">
                                          <p:val>
                                            <p:strVal val="#ppt_w"/>
                                          </p:val>
                                        </p:tav>
                                      </p:tavLst>
                                    </p:anim>
                                    <p:anim calcmode="lin" valueType="num">
                                      <p:cBhvr>
                                        <p:cTn id="25" dur="250" fill="hold"/>
                                        <p:tgtEl>
                                          <p:spTgt spid="10"/>
                                        </p:tgtEl>
                                        <p:attrNameLst>
                                          <p:attrName>ppt_h</p:attrName>
                                        </p:attrNameLst>
                                      </p:cBhvr>
                                      <p:tavLst>
                                        <p:tav tm="0">
                                          <p:val>
                                            <p:strVal val="2/3*#ppt_h"/>
                                          </p:val>
                                        </p:tav>
                                        <p:tav tm="100000">
                                          <p:val>
                                            <p:strVal val="#ppt_h"/>
                                          </p:val>
                                        </p:tav>
                                      </p:tavLst>
                                    </p:anim>
                                  </p:childTnLst>
                                </p:cTn>
                              </p:par>
                              <p:par>
                                <p:cTn id="26" presetID="10" presetClass="entr" presetSubtype="0" fill="hold" grpId="1" nodeType="withEffect">
                                  <p:stCondLst>
                                    <p:cond delay="2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6" presetClass="emph" presetSubtype="0" fill="hold" grpId="2" nodeType="withEffect">
                                  <p:stCondLst>
                                    <p:cond delay="250"/>
                                  </p:stCondLst>
                                  <p:childTnLst>
                                    <p:animScale>
                                      <p:cBhvr>
                                        <p:cTn id="30" dur="10" fill="hold"/>
                                        <p:tgtEl>
                                          <p:spTgt spid="10"/>
                                        </p:tgtEl>
                                      </p:cBhvr>
                                      <p:by x="80000" y="80000"/>
                                    </p:animScale>
                                  </p:childTnLst>
                                </p:cTn>
                              </p:par>
                              <p:par>
                                <p:cTn id="31" presetID="6" presetClass="emph" presetSubtype="0" decel="100000" fill="hold" grpId="3" nodeType="withEffect">
                                  <p:stCondLst>
                                    <p:cond delay="250"/>
                                  </p:stCondLst>
                                  <p:childTnLst>
                                    <p:animScale>
                                      <p:cBhvr>
                                        <p:cTn id="32" dur="1000" fill="hold"/>
                                        <p:tgtEl>
                                          <p:spTgt spid="10"/>
                                        </p:tgtEl>
                                      </p:cBhvr>
                                      <p:by x="125000" y="125000"/>
                                    </p:animScale>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childTnLst>
                                </p:cTn>
                              </p:par>
                              <p:par>
                                <p:cTn id="36" presetID="23" presetClass="entr" presetSubtype="272" fill="hold" grpId="0" nodeType="withEffect">
                                  <p:stCondLst>
                                    <p:cond delay="250"/>
                                  </p:stCondLst>
                                  <p:childTnLst>
                                    <p:set>
                                      <p:cBhvr>
                                        <p:cTn id="37" dur="1" fill="hold">
                                          <p:stCondLst>
                                            <p:cond delay="0"/>
                                          </p:stCondLst>
                                        </p:cTn>
                                        <p:tgtEl>
                                          <p:spTgt spid="12"/>
                                        </p:tgtEl>
                                        <p:attrNameLst>
                                          <p:attrName>style.visibility</p:attrName>
                                        </p:attrNameLst>
                                      </p:cBhvr>
                                      <p:to>
                                        <p:strVal val="visible"/>
                                      </p:to>
                                    </p:set>
                                    <p:anim calcmode="lin" valueType="num">
                                      <p:cBhvr>
                                        <p:cTn id="38" dur="250" fill="hold"/>
                                        <p:tgtEl>
                                          <p:spTgt spid="12"/>
                                        </p:tgtEl>
                                        <p:attrNameLst>
                                          <p:attrName>ppt_w</p:attrName>
                                        </p:attrNameLst>
                                      </p:cBhvr>
                                      <p:tavLst>
                                        <p:tav tm="0">
                                          <p:val>
                                            <p:strVal val="2/3*#ppt_w"/>
                                          </p:val>
                                        </p:tav>
                                        <p:tav tm="100000">
                                          <p:val>
                                            <p:strVal val="#ppt_w"/>
                                          </p:val>
                                        </p:tav>
                                      </p:tavLst>
                                    </p:anim>
                                    <p:anim calcmode="lin" valueType="num">
                                      <p:cBhvr>
                                        <p:cTn id="39" dur="250" fill="hold"/>
                                        <p:tgtEl>
                                          <p:spTgt spid="12"/>
                                        </p:tgtEl>
                                        <p:attrNameLst>
                                          <p:attrName>ppt_h</p:attrName>
                                        </p:attrNameLst>
                                      </p:cBhvr>
                                      <p:tavLst>
                                        <p:tav tm="0">
                                          <p:val>
                                            <p:strVal val="2/3*#ppt_h"/>
                                          </p:val>
                                        </p:tav>
                                        <p:tav tm="100000">
                                          <p:val>
                                            <p:strVal val="#ppt_h"/>
                                          </p:val>
                                        </p:tav>
                                      </p:tavLst>
                                    </p:anim>
                                  </p:childTnLst>
                                </p:cTn>
                              </p:par>
                              <p:par>
                                <p:cTn id="40" presetID="10" presetClass="entr" presetSubtype="0" fill="hold" grpId="1" nodeType="withEffect">
                                  <p:stCondLst>
                                    <p:cond delay="2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6" presetClass="emph" presetSubtype="0" fill="hold" grpId="2" nodeType="withEffect">
                                  <p:stCondLst>
                                    <p:cond delay="250"/>
                                  </p:stCondLst>
                                  <p:childTnLst>
                                    <p:animScale>
                                      <p:cBhvr>
                                        <p:cTn id="44" dur="10" fill="hold"/>
                                        <p:tgtEl>
                                          <p:spTgt spid="12"/>
                                        </p:tgtEl>
                                      </p:cBhvr>
                                      <p:by x="80000" y="80000"/>
                                    </p:animScale>
                                  </p:childTnLst>
                                </p:cTn>
                              </p:par>
                              <p:par>
                                <p:cTn id="45" presetID="6" presetClass="emph" presetSubtype="0" decel="100000" fill="hold" grpId="3" nodeType="withEffect">
                                  <p:stCondLst>
                                    <p:cond delay="250"/>
                                  </p:stCondLst>
                                  <p:childTnLst>
                                    <p:animScale>
                                      <p:cBhvr>
                                        <p:cTn id="46" dur="1000" fill="hold"/>
                                        <p:tgtEl>
                                          <p:spTgt spid="12"/>
                                        </p:tgtEl>
                                      </p:cBhvr>
                                      <p:by x="125000" y="125000"/>
                                    </p:animScale>
                                  </p:childTnLst>
                                </p:cTn>
                              </p:par>
                              <p:par>
                                <p:cTn id="47" presetID="10"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1000"/>
                                        <p:tgtEl>
                                          <p:spTgt spid="14"/>
                                        </p:tgtEl>
                                      </p:cBhvr>
                                    </p:animEffect>
                                  </p:childTnLst>
                                </p:cTn>
                              </p:par>
                              <p:par>
                                <p:cTn id="50" presetID="23" presetClass="entr" presetSubtype="272" fill="hold" grpId="0" nodeType="withEffect">
                                  <p:stCondLst>
                                    <p:cond delay="250"/>
                                  </p:stCondLst>
                                  <p:childTnLst>
                                    <p:set>
                                      <p:cBhvr>
                                        <p:cTn id="51" dur="1" fill="hold">
                                          <p:stCondLst>
                                            <p:cond delay="0"/>
                                          </p:stCondLst>
                                        </p:cTn>
                                        <p:tgtEl>
                                          <p:spTgt spid="15"/>
                                        </p:tgtEl>
                                        <p:attrNameLst>
                                          <p:attrName>style.visibility</p:attrName>
                                        </p:attrNameLst>
                                      </p:cBhvr>
                                      <p:to>
                                        <p:strVal val="visible"/>
                                      </p:to>
                                    </p:set>
                                    <p:anim calcmode="lin" valueType="num">
                                      <p:cBhvr>
                                        <p:cTn id="52" dur="250" fill="hold"/>
                                        <p:tgtEl>
                                          <p:spTgt spid="15"/>
                                        </p:tgtEl>
                                        <p:attrNameLst>
                                          <p:attrName>ppt_w</p:attrName>
                                        </p:attrNameLst>
                                      </p:cBhvr>
                                      <p:tavLst>
                                        <p:tav tm="0">
                                          <p:val>
                                            <p:strVal val="2/3*#ppt_w"/>
                                          </p:val>
                                        </p:tav>
                                        <p:tav tm="100000">
                                          <p:val>
                                            <p:strVal val="#ppt_w"/>
                                          </p:val>
                                        </p:tav>
                                      </p:tavLst>
                                    </p:anim>
                                    <p:anim calcmode="lin" valueType="num">
                                      <p:cBhvr>
                                        <p:cTn id="53" dur="250" fill="hold"/>
                                        <p:tgtEl>
                                          <p:spTgt spid="15"/>
                                        </p:tgtEl>
                                        <p:attrNameLst>
                                          <p:attrName>ppt_h</p:attrName>
                                        </p:attrNameLst>
                                      </p:cBhvr>
                                      <p:tavLst>
                                        <p:tav tm="0">
                                          <p:val>
                                            <p:strVal val="2/3*#ppt_h"/>
                                          </p:val>
                                        </p:tav>
                                        <p:tav tm="100000">
                                          <p:val>
                                            <p:strVal val="#ppt_h"/>
                                          </p:val>
                                        </p:tav>
                                      </p:tavLst>
                                    </p:anim>
                                  </p:childTnLst>
                                </p:cTn>
                              </p:par>
                              <p:par>
                                <p:cTn id="54" presetID="10" presetClass="entr" presetSubtype="0" fill="hold" grpId="1" nodeType="withEffect">
                                  <p:stCondLst>
                                    <p:cond delay="25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par>
                                <p:cTn id="57" presetID="6" presetClass="emph" presetSubtype="0" fill="hold" grpId="2" nodeType="withEffect">
                                  <p:stCondLst>
                                    <p:cond delay="250"/>
                                  </p:stCondLst>
                                  <p:childTnLst>
                                    <p:animScale>
                                      <p:cBhvr>
                                        <p:cTn id="58" dur="10" fill="hold"/>
                                        <p:tgtEl>
                                          <p:spTgt spid="15"/>
                                        </p:tgtEl>
                                      </p:cBhvr>
                                      <p:by x="80000" y="80000"/>
                                    </p:animScale>
                                  </p:childTnLst>
                                </p:cTn>
                              </p:par>
                              <p:par>
                                <p:cTn id="59" presetID="6" presetClass="emph" presetSubtype="0" decel="100000" fill="hold" grpId="3" nodeType="withEffect">
                                  <p:stCondLst>
                                    <p:cond delay="250"/>
                                  </p:stCondLst>
                                  <p:childTnLst>
                                    <p:animScale>
                                      <p:cBhvr>
                                        <p:cTn id="60" dur="1000" fill="hold"/>
                                        <p:tgtEl>
                                          <p:spTgt spid="15"/>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8" grpId="1"/>
      <p:bldP spid="8" grpId="2"/>
      <p:bldP spid="8" grpId="3"/>
      <p:bldP spid="9" grpId="0" animBg="1"/>
      <p:bldP spid="10" grpId="0"/>
      <p:bldP spid="10" grpId="1"/>
      <p:bldP spid="10" grpId="2"/>
      <p:bldP spid="10" grpId="3"/>
      <p:bldP spid="11" grpId="0" animBg="1"/>
      <p:bldP spid="12" grpId="0"/>
      <p:bldP spid="12" grpId="1"/>
      <p:bldP spid="12" grpId="2"/>
      <p:bldP spid="12" grpId="3"/>
      <p:bldP spid="14" grpId="0" animBg="1"/>
      <p:bldP spid="15" grpId="0"/>
      <p:bldP spid="15" grpId="1"/>
      <p:bldP spid="15" grpId="2"/>
      <p:bldP spid="15" grpId="3"/>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A54D3-478D-CF14-E437-CD78B4FA3D7F}"/>
            </a:ext>
          </a:extLst>
        </p:cNvPr>
        <p:cNvGrpSpPr/>
        <p:nvPr/>
      </p:nvGrpSpPr>
      <p:grpSpPr>
        <a:xfrm>
          <a:off x="0" y="0"/>
          <a:ext cx="0" cy="0"/>
          <a:chOff x="0" y="0"/>
          <a:chExt cx="0" cy="0"/>
        </a:xfrm>
      </p:grpSpPr>
      <p:sp>
        <p:nvSpPr>
          <p:cNvPr id="124" name="LLM - box" descr="Graphic conveying the relationship between natural language and reasoning engine. &#10;&#10;On the left, a text input box with the label &quot;Ask me anything&quot; represents Natural language.&#10;&#10;On the right, a series of interconnected icons represent the reasoning engine.">
            <a:extLst>
              <a:ext uri="{FF2B5EF4-FFF2-40B4-BE49-F238E27FC236}">
                <a16:creationId xmlns:a16="http://schemas.microsoft.com/office/drawing/2014/main" id="{1285D15D-5322-AF6D-A232-27B2378EAD82}"/>
              </a:ext>
            </a:extLst>
          </p:cNvPr>
          <p:cNvSpPr/>
          <p:nvPr/>
        </p:nvSpPr>
        <p:spPr bwMode="auto">
          <a:xfrm>
            <a:off x="4429990" y="1615561"/>
            <a:ext cx="5741559" cy="3638906"/>
          </a:xfrm>
          <a:prstGeom prst="roundRect">
            <a:avLst>
              <a:gd name="adj" fmla="val 5009"/>
            </a:avLst>
          </a:prstGeom>
          <a:solidFill>
            <a:srgbClr val="091F2C">
              <a:alpha val="72000"/>
            </a:srgbClr>
          </a:solidFill>
          <a:ln w="19050">
            <a:gradFill>
              <a:gsLst>
                <a:gs pos="0">
                  <a:schemeClr val="bg1"/>
                </a:gs>
                <a:gs pos="100000">
                  <a:schemeClr val="bg1">
                    <a:alpha val="0"/>
                  </a:schemeClr>
                </a:gs>
              </a:gsLst>
              <a:lin ang="5400000" scaled="1"/>
            </a:gradFill>
            <a:headEnd type="none" w="med" len="med"/>
            <a:tailEnd type="none" w="med" len="med"/>
          </a:ln>
          <a:effectLst>
            <a:outerShdw blurRad="127000" dist="127000" dir="600000" algn="tl" rotWithShape="0">
              <a:prstClr val="black">
                <a:alpha val="20000"/>
              </a:prstClr>
            </a:outerShdw>
          </a:effectLst>
          <a:scene3d>
            <a:camera prst="isometricLeftDown">
              <a:rot lat="600000" lon="36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91F2C"/>
              </a:solidFill>
              <a:effectLst/>
              <a:uLnTx/>
              <a:uFillTx/>
              <a:latin typeface="Segoe Sans Text" pitchFamily="2" charset="0"/>
              <a:ea typeface="+mn-ea"/>
              <a:cs typeface="Segoe Sans Text" pitchFamily="2" charset="0"/>
            </a:endParaRPr>
          </a:p>
        </p:txBody>
      </p:sp>
      <p:sp>
        <p:nvSpPr>
          <p:cNvPr id="2" name="Title 1" hidden="1">
            <a:extLst>
              <a:ext uri="{FF2B5EF4-FFF2-40B4-BE49-F238E27FC236}">
                <a16:creationId xmlns:a16="http://schemas.microsoft.com/office/drawing/2014/main" id="{A24E1657-0AFD-1872-D9BF-8C7F21EBD1D0}"/>
              </a:ext>
            </a:extLst>
          </p:cNvPr>
          <p:cNvSpPr>
            <a:spLocks noGrp="1"/>
          </p:cNvSpPr>
          <p:nvPr>
            <p:ph type="title"/>
          </p:nvPr>
        </p:nvSpPr>
        <p:spPr/>
        <p:txBody>
          <a:bodyPr/>
          <a:lstStyle/>
          <a:p>
            <a:r>
              <a:rPr lang="en-US"/>
              <a:t>Natural</a:t>
            </a:r>
            <a:r>
              <a:rPr lang="en-US" baseline="0"/>
              <a:t> language and Reasoning engine</a:t>
            </a:r>
            <a:endParaRPr lang="en-US"/>
          </a:p>
        </p:txBody>
      </p:sp>
      <p:sp>
        <p:nvSpPr>
          <p:cNvPr id="4" name="Natural language - text">
            <a:extLst>
              <a:ext uri="{FF2B5EF4-FFF2-40B4-BE49-F238E27FC236}">
                <a16:creationId xmlns:a16="http://schemas.microsoft.com/office/drawing/2014/main" id="{6EE3652A-F986-978A-D6F5-45FFA87C8B14}"/>
              </a:ext>
            </a:extLst>
          </p:cNvPr>
          <p:cNvSpPr/>
          <p:nvPr/>
        </p:nvSpPr>
        <p:spPr bwMode="auto">
          <a:xfrm>
            <a:off x="371961" y="3108523"/>
            <a:ext cx="2878008" cy="615553"/>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r" defTabSz="932472" rtl="0" eaLnBrk="1" fontAlgn="base" latinLnBrk="0" hangingPunct="1">
              <a:lnSpc>
                <a:spcPct val="100000"/>
              </a:lnSpc>
              <a:spcBef>
                <a:spcPct val="0"/>
              </a:spcBef>
              <a:spcAft>
                <a:spcPct val="0"/>
              </a:spcAft>
              <a:buClrTx/>
              <a:buSzTx/>
              <a:buFontTx/>
              <a:buNone/>
              <a:tabLst/>
              <a:defRPr/>
            </a:pPr>
            <a:r>
              <a:rPr lang="en-US" sz="4000">
                <a:gradFill>
                  <a:gsLst>
                    <a:gs pos="0">
                      <a:schemeClr val="tx2">
                        <a:lumMod val="20000"/>
                        <a:lumOff val="80000"/>
                      </a:schemeClr>
                    </a:gs>
                    <a:gs pos="100000">
                      <a:schemeClr val="accent4">
                        <a:lumMod val="60000"/>
                        <a:lumOff val="40000"/>
                      </a:schemeClr>
                    </a:gs>
                  </a:gsLst>
                  <a:lin ang="2700000" scaled="0"/>
                </a:gradFill>
                <a:latin typeface="Segoe Sans Text Semibold"/>
              </a:rPr>
              <a:t>Post-prod</a:t>
            </a:r>
          </a:p>
        </p:txBody>
      </p:sp>
      <p:sp>
        <p:nvSpPr>
          <p:cNvPr id="8" name="Reasoning engine - text">
            <a:extLst>
              <a:ext uri="{FF2B5EF4-FFF2-40B4-BE49-F238E27FC236}">
                <a16:creationId xmlns:a16="http://schemas.microsoft.com/office/drawing/2014/main" id="{59238567-F58F-7F50-C2D4-0E86748D12A4}"/>
              </a:ext>
            </a:extLst>
          </p:cNvPr>
          <p:cNvSpPr/>
          <p:nvPr/>
        </p:nvSpPr>
        <p:spPr bwMode="auto">
          <a:xfrm>
            <a:off x="9053564" y="2862303"/>
            <a:ext cx="2939239" cy="1107996"/>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2400">
                <a:gradFill>
                  <a:gsLst>
                    <a:gs pos="0">
                      <a:schemeClr val="tx2">
                        <a:lumMod val="20000"/>
                        <a:lumOff val="80000"/>
                      </a:schemeClr>
                    </a:gs>
                    <a:gs pos="100000">
                      <a:schemeClr val="accent4">
                        <a:lumMod val="60000"/>
                        <a:lumOff val="40000"/>
                      </a:schemeClr>
                    </a:gs>
                  </a:gsLst>
                  <a:lin ang="2700000" scaled="0"/>
                </a:gradFill>
                <a:latin typeface="Segoe Sans Text Semibold"/>
              </a:rPr>
              <a:t>Monitoring &amp; Continuous Improvement</a:t>
            </a:r>
          </a:p>
        </p:txBody>
      </p:sp>
      <p:sp>
        <p:nvSpPr>
          <p:cNvPr id="100" name="Arc 99">
            <a:extLst>
              <a:ext uri="{FF2B5EF4-FFF2-40B4-BE49-F238E27FC236}">
                <a16:creationId xmlns:a16="http://schemas.microsoft.com/office/drawing/2014/main" id="{7B880E9F-4931-D3CB-9B56-1F5485B5BCE9}"/>
              </a:ext>
              <a:ext uri="{C183D7F6-B498-43B3-948B-1728B52AA6E4}">
                <adec:decorative xmlns:adec="http://schemas.microsoft.com/office/drawing/2017/decorative" val="1"/>
              </a:ext>
            </a:extLst>
          </p:cNvPr>
          <p:cNvSpPr/>
          <p:nvPr/>
        </p:nvSpPr>
        <p:spPr>
          <a:xfrm flipH="1" flipV="1">
            <a:off x="6214806" y="4458703"/>
            <a:ext cx="1579499" cy="1579499"/>
          </a:xfrm>
          <a:prstGeom prst="arc">
            <a:avLst>
              <a:gd name="adj1" fmla="val 11905863"/>
              <a:gd name="adj2" fmla="val 19438566"/>
            </a:avLst>
          </a:prstGeom>
          <a:ln w="31750" cap="rnd">
            <a:gradFill flip="none" rotWithShape="1">
              <a:gsLst>
                <a:gs pos="100000">
                  <a:srgbClr val="BDF2BD"/>
                </a:gs>
                <a:gs pos="55000">
                  <a:srgbClr val="C3E9FC"/>
                </a:gs>
              </a:gsLst>
              <a:lin ang="0" scaled="1"/>
              <a:tileRect/>
            </a:gradFill>
            <a:headEnd type="none" w="lg" len="med"/>
            <a:tailEnd type="arrow" w="lg" len="sm"/>
          </a:ln>
          <a:effectLst>
            <a:outerShdw blurRad="63500" dist="127000" dir="2700000" algn="tl" rotWithShape="0">
              <a:prstClr val="black">
                <a:alpha val="5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pitchFamily="2" charset="0"/>
              <a:ea typeface="+mn-ea"/>
              <a:cs typeface="+mn-cs"/>
            </a:endParaRPr>
          </a:p>
        </p:txBody>
      </p:sp>
      <p:grpSp>
        <p:nvGrpSpPr>
          <p:cNvPr id="112" name="!!LLMs">
            <a:extLst>
              <a:ext uri="{FF2B5EF4-FFF2-40B4-BE49-F238E27FC236}">
                <a16:creationId xmlns:a16="http://schemas.microsoft.com/office/drawing/2014/main" id="{BE63B903-E93E-3436-F10E-784AB4517396}"/>
              </a:ext>
              <a:ext uri="{C183D7F6-B498-43B3-948B-1728B52AA6E4}">
                <adec:decorative xmlns:adec="http://schemas.microsoft.com/office/drawing/2017/decorative" val="1"/>
              </a:ext>
            </a:extLst>
          </p:cNvPr>
          <p:cNvGrpSpPr/>
          <p:nvPr/>
        </p:nvGrpSpPr>
        <p:grpSpPr>
          <a:xfrm>
            <a:off x="4809130" y="2565502"/>
            <a:ext cx="4982884" cy="1735704"/>
            <a:chOff x="3655324" y="2578830"/>
            <a:chExt cx="4881356" cy="1700339"/>
          </a:xfrm>
          <a:effectLst/>
          <a:scene3d>
            <a:camera prst="orthographicFront">
              <a:rot lat="600000" lon="3600000" rev="0"/>
            </a:camera>
            <a:lightRig rig="threePt" dir="t"/>
          </a:scene3d>
        </p:grpSpPr>
        <p:grpSp>
          <p:nvGrpSpPr>
            <p:cNvPr id="113" name="lines">
              <a:extLst>
                <a:ext uri="{FF2B5EF4-FFF2-40B4-BE49-F238E27FC236}">
                  <a16:creationId xmlns:a16="http://schemas.microsoft.com/office/drawing/2014/main" id="{49F0AE39-86BC-3A39-DE42-1F7FE5918B5B}"/>
                </a:ext>
              </a:extLst>
            </p:cNvPr>
            <p:cNvGrpSpPr/>
            <p:nvPr/>
          </p:nvGrpSpPr>
          <p:grpSpPr>
            <a:xfrm>
              <a:off x="4703248" y="2780351"/>
              <a:ext cx="2785619" cy="1297298"/>
              <a:chOff x="4703248" y="2780351"/>
              <a:chExt cx="2785619" cy="1297298"/>
            </a:xfrm>
          </p:grpSpPr>
          <p:cxnSp>
            <p:nvCxnSpPr>
              <p:cNvPr id="133" name="Straight Connector 132">
                <a:extLst>
                  <a:ext uri="{FF2B5EF4-FFF2-40B4-BE49-F238E27FC236}">
                    <a16:creationId xmlns:a16="http://schemas.microsoft.com/office/drawing/2014/main" id="{F8EDD39A-8FA5-8CE2-D6B1-0E9A67AD618C}"/>
                  </a:ext>
                  <a:ext uri="{C183D7F6-B498-43B3-948B-1728B52AA6E4}">
                    <adec:decorative xmlns:adec="http://schemas.microsoft.com/office/drawing/2017/decorative" val="1"/>
                  </a:ext>
                </a:extLst>
              </p:cNvPr>
              <p:cNvCxnSpPr>
                <a:cxnSpLocks/>
              </p:cNvCxnSpPr>
              <p:nvPr/>
            </p:nvCxnSpPr>
            <p:spPr>
              <a:xfrm>
                <a:off x="5570272" y="2851928"/>
                <a:ext cx="1051561" cy="502501"/>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34" name="Straight Connector 133">
                <a:extLst>
                  <a:ext uri="{FF2B5EF4-FFF2-40B4-BE49-F238E27FC236}">
                    <a16:creationId xmlns:a16="http://schemas.microsoft.com/office/drawing/2014/main" id="{95A46999-31AD-3256-49FD-EEF8208792DC}"/>
                  </a:ext>
                  <a:ext uri="{C183D7F6-B498-43B3-948B-1728B52AA6E4}">
                    <adec:decorative xmlns:adec="http://schemas.microsoft.com/office/drawing/2017/decorative" val="1"/>
                  </a:ext>
                </a:extLst>
              </p:cNvPr>
              <p:cNvCxnSpPr>
                <a:cxnSpLocks/>
                <a:stCxn id="127" idx="6"/>
                <a:endCxn id="128" idx="2"/>
              </p:cNvCxnSpPr>
              <p:nvPr/>
            </p:nvCxnSpPr>
            <p:spPr>
              <a:xfrm>
                <a:off x="5610518" y="2780351"/>
                <a:ext cx="970963" cy="0"/>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35" name="Straight Connector 134">
                <a:extLst>
                  <a:ext uri="{FF2B5EF4-FFF2-40B4-BE49-F238E27FC236}">
                    <a16:creationId xmlns:a16="http://schemas.microsoft.com/office/drawing/2014/main" id="{40060037-B51C-2144-A47A-181AE3677A15}"/>
                  </a:ext>
                  <a:ext uri="{C183D7F6-B498-43B3-948B-1728B52AA6E4}">
                    <adec:decorative xmlns:adec="http://schemas.microsoft.com/office/drawing/2017/decorative" val="1"/>
                  </a:ext>
                </a:extLst>
              </p:cNvPr>
              <p:cNvCxnSpPr>
                <a:cxnSpLocks/>
                <a:stCxn id="127" idx="5"/>
              </p:cNvCxnSpPr>
              <p:nvPr/>
            </p:nvCxnSpPr>
            <p:spPr>
              <a:xfrm>
                <a:off x="5551494" y="2922847"/>
                <a:ext cx="1093199" cy="1035506"/>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36" name="Straight Connector 135">
                <a:extLst>
                  <a:ext uri="{FF2B5EF4-FFF2-40B4-BE49-F238E27FC236}">
                    <a16:creationId xmlns:a16="http://schemas.microsoft.com/office/drawing/2014/main" id="{06A913F3-F70A-D6EF-E499-6C0841352BD0}"/>
                  </a:ext>
                  <a:ext uri="{C183D7F6-B498-43B3-948B-1728B52AA6E4}">
                    <adec:decorative xmlns:adec="http://schemas.microsoft.com/office/drawing/2017/decorative" val="1"/>
                  </a:ext>
                </a:extLst>
              </p:cNvPr>
              <p:cNvCxnSpPr>
                <a:cxnSpLocks/>
              </p:cNvCxnSpPr>
              <p:nvPr/>
            </p:nvCxnSpPr>
            <p:spPr>
              <a:xfrm flipV="1">
                <a:off x="5574082" y="2847318"/>
                <a:ext cx="1051561" cy="511721"/>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37" name="Straight Connector 136">
                <a:extLst>
                  <a:ext uri="{FF2B5EF4-FFF2-40B4-BE49-F238E27FC236}">
                    <a16:creationId xmlns:a16="http://schemas.microsoft.com/office/drawing/2014/main" id="{C87DEC01-F38B-2DE7-3F22-9E3F6D4689E4}"/>
                  </a:ext>
                  <a:ext uri="{C183D7F6-B498-43B3-948B-1728B52AA6E4}">
                    <adec:decorative xmlns:adec="http://schemas.microsoft.com/office/drawing/2017/decorative" val="1"/>
                  </a:ext>
                </a:extLst>
              </p:cNvPr>
              <p:cNvCxnSpPr>
                <a:cxnSpLocks/>
                <a:stCxn id="129" idx="6"/>
                <a:endCxn id="130" idx="2"/>
              </p:cNvCxnSpPr>
              <p:nvPr/>
            </p:nvCxnSpPr>
            <p:spPr>
              <a:xfrm>
                <a:off x="5610518" y="3428999"/>
                <a:ext cx="970963" cy="0"/>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38" name="Straight Connector 137">
                <a:extLst>
                  <a:ext uri="{FF2B5EF4-FFF2-40B4-BE49-F238E27FC236}">
                    <a16:creationId xmlns:a16="http://schemas.microsoft.com/office/drawing/2014/main" id="{6D906118-84F5-ADB6-1229-C1219B6A869D}"/>
                  </a:ext>
                  <a:ext uri="{C183D7F6-B498-43B3-948B-1728B52AA6E4}">
                    <adec:decorative xmlns:adec="http://schemas.microsoft.com/office/drawing/2017/decorative" val="1"/>
                  </a:ext>
                </a:extLst>
              </p:cNvPr>
              <p:cNvCxnSpPr>
                <a:cxnSpLocks/>
              </p:cNvCxnSpPr>
              <p:nvPr/>
            </p:nvCxnSpPr>
            <p:spPr>
              <a:xfrm>
                <a:off x="5574082" y="3488122"/>
                <a:ext cx="1051561" cy="530162"/>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39" name="Straight Connector 138">
                <a:extLst>
                  <a:ext uri="{FF2B5EF4-FFF2-40B4-BE49-F238E27FC236}">
                    <a16:creationId xmlns:a16="http://schemas.microsoft.com/office/drawing/2014/main" id="{0E3FCC7E-E884-16EB-C205-D77CA44339BB}"/>
                  </a:ext>
                  <a:ext uri="{C183D7F6-B498-43B3-948B-1728B52AA6E4}">
                    <adec:decorative xmlns:adec="http://schemas.microsoft.com/office/drawing/2017/decorative" val="1"/>
                  </a:ext>
                </a:extLst>
              </p:cNvPr>
              <p:cNvCxnSpPr>
                <a:cxnSpLocks/>
                <a:stCxn id="131" idx="7"/>
                <a:endCxn id="128" idx="3"/>
              </p:cNvCxnSpPr>
              <p:nvPr/>
            </p:nvCxnSpPr>
            <p:spPr>
              <a:xfrm flipV="1">
                <a:off x="5551494" y="2922847"/>
                <a:ext cx="1089011" cy="1012305"/>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0" name="Straight Connector 139">
                <a:extLst>
                  <a:ext uri="{FF2B5EF4-FFF2-40B4-BE49-F238E27FC236}">
                    <a16:creationId xmlns:a16="http://schemas.microsoft.com/office/drawing/2014/main" id="{4FA91FBE-9BDD-6ADA-8256-06B91C999791}"/>
                  </a:ext>
                  <a:ext uri="{C183D7F6-B498-43B3-948B-1728B52AA6E4}">
                    <adec:decorative xmlns:adec="http://schemas.microsoft.com/office/drawing/2017/decorative" val="1"/>
                  </a:ext>
                </a:extLst>
              </p:cNvPr>
              <p:cNvCxnSpPr>
                <a:cxnSpLocks/>
              </p:cNvCxnSpPr>
              <p:nvPr/>
            </p:nvCxnSpPr>
            <p:spPr>
              <a:xfrm flipV="1">
                <a:off x="5562652" y="3501953"/>
                <a:ext cx="1062991" cy="507111"/>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1" name="Straight Connector 140">
                <a:extLst>
                  <a:ext uri="{FF2B5EF4-FFF2-40B4-BE49-F238E27FC236}">
                    <a16:creationId xmlns:a16="http://schemas.microsoft.com/office/drawing/2014/main" id="{9ED0410B-BF2E-CBC7-B289-F0841EBC0127}"/>
                  </a:ext>
                  <a:ext uri="{C183D7F6-B498-43B3-948B-1728B52AA6E4}">
                    <adec:decorative xmlns:adec="http://schemas.microsoft.com/office/drawing/2017/decorative" val="1"/>
                  </a:ext>
                </a:extLst>
              </p:cNvPr>
              <p:cNvCxnSpPr>
                <a:cxnSpLocks/>
                <a:stCxn id="131" idx="6"/>
                <a:endCxn id="132" idx="2"/>
              </p:cNvCxnSpPr>
              <p:nvPr/>
            </p:nvCxnSpPr>
            <p:spPr>
              <a:xfrm>
                <a:off x="5610518" y="4077649"/>
                <a:ext cx="970963" cy="0"/>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2" name="Straight Connector 141">
                <a:extLst>
                  <a:ext uri="{FF2B5EF4-FFF2-40B4-BE49-F238E27FC236}">
                    <a16:creationId xmlns:a16="http://schemas.microsoft.com/office/drawing/2014/main" id="{E1BB6D53-E85A-1755-6FCF-4DA177D9FF4A}"/>
                  </a:ext>
                  <a:ext uri="{C183D7F6-B498-43B3-948B-1728B52AA6E4}">
                    <adec:decorative xmlns:adec="http://schemas.microsoft.com/office/drawing/2017/decorative" val="1"/>
                  </a:ext>
                </a:extLst>
              </p:cNvPr>
              <p:cNvCxnSpPr>
                <a:cxnSpLocks/>
                <a:endCxn id="127" idx="2"/>
              </p:cNvCxnSpPr>
              <p:nvPr/>
            </p:nvCxnSpPr>
            <p:spPr>
              <a:xfrm flipV="1">
                <a:off x="4703248" y="2780351"/>
                <a:ext cx="504229" cy="601812"/>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3" name="Straight Connector 142">
                <a:extLst>
                  <a:ext uri="{FF2B5EF4-FFF2-40B4-BE49-F238E27FC236}">
                    <a16:creationId xmlns:a16="http://schemas.microsoft.com/office/drawing/2014/main" id="{AAC8D9ED-7C04-0D06-4274-B91D173388F1}"/>
                  </a:ext>
                  <a:ext uri="{C183D7F6-B498-43B3-948B-1728B52AA6E4}">
                    <adec:decorative xmlns:adec="http://schemas.microsoft.com/office/drawing/2017/decorative" val="1"/>
                  </a:ext>
                </a:extLst>
              </p:cNvPr>
              <p:cNvCxnSpPr>
                <a:cxnSpLocks/>
                <a:stCxn id="115" idx="3"/>
                <a:endCxn id="129" idx="2"/>
              </p:cNvCxnSpPr>
              <p:nvPr/>
            </p:nvCxnSpPr>
            <p:spPr>
              <a:xfrm flipV="1">
                <a:off x="4761748" y="3428999"/>
                <a:ext cx="445729" cy="3"/>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4" name="Straight Connector 143">
                <a:extLst>
                  <a:ext uri="{FF2B5EF4-FFF2-40B4-BE49-F238E27FC236}">
                    <a16:creationId xmlns:a16="http://schemas.microsoft.com/office/drawing/2014/main" id="{84304313-8D6E-645B-8B33-BADDC21C3318}"/>
                  </a:ext>
                  <a:ext uri="{C183D7F6-B498-43B3-948B-1728B52AA6E4}">
                    <adec:decorative xmlns:adec="http://schemas.microsoft.com/office/drawing/2017/decorative" val="1"/>
                  </a:ext>
                </a:extLst>
              </p:cNvPr>
              <p:cNvCxnSpPr>
                <a:cxnSpLocks/>
                <a:endCxn id="131" idx="2"/>
              </p:cNvCxnSpPr>
              <p:nvPr/>
            </p:nvCxnSpPr>
            <p:spPr>
              <a:xfrm>
                <a:off x="4706042" y="3482748"/>
                <a:ext cx="501435" cy="594901"/>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5" name="Straight Connector 144">
                <a:extLst>
                  <a:ext uri="{FF2B5EF4-FFF2-40B4-BE49-F238E27FC236}">
                    <a16:creationId xmlns:a16="http://schemas.microsoft.com/office/drawing/2014/main" id="{03A2D4E8-EAC5-AE31-0438-2CFC7DB80E40}"/>
                  </a:ext>
                  <a:ext uri="{C183D7F6-B498-43B3-948B-1728B52AA6E4}">
                    <adec:decorative xmlns:adec="http://schemas.microsoft.com/office/drawing/2017/decorative" val="1"/>
                  </a:ext>
                </a:extLst>
              </p:cNvPr>
              <p:cNvCxnSpPr>
                <a:cxnSpLocks/>
                <a:stCxn id="128" idx="6"/>
              </p:cNvCxnSpPr>
              <p:nvPr/>
            </p:nvCxnSpPr>
            <p:spPr>
              <a:xfrm>
                <a:off x="6984522" y="2780351"/>
                <a:ext cx="501551" cy="601812"/>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6" name="Straight Connector 145">
                <a:extLst>
                  <a:ext uri="{FF2B5EF4-FFF2-40B4-BE49-F238E27FC236}">
                    <a16:creationId xmlns:a16="http://schemas.microsoft.com/office/drawing/2014/main" id="{4D1404AD-1BF4-CAA8-08DA-68983BE5C486}"/>
                  </a:ext>
                  <a:ext uri="{C183D7F6-B498-43B3-948B-1728B52AA6E4}">
                    <adec:decorative xmlns:adec="http://schemas.microsoft.com/office/drawing/2017/decorative" val="1"/>
                  </a:ext>
                </a:extLst>
              </p:cNvPr>
              <p:cNvCxnSpPr>
                <a:cxnSpLocks/>
                <a:stCxn id="130" idx="6"/>
                <a:endCxn id="116" idx="1"/>
              </p:cNvCxnSpPr>
              <p:nvPr/>
            </p:nvCxnSpPr>
            <p:spPr>
              <a:xfrm>
                <a:off x="6984522" y="3428999"/>
                <a:ext cx="445734" cy="3"/>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7" name="Straight Connector 146">
                <a:extLst>
                  <a:ext uri="{FF2B5EF4-FFF2-40B4-BE49-F238E27FC236}">
                    <a16:creationId xmlns:a16="http://schemas.microsoft.com/office/drawing/2014/main" id="{6C551A19-E06D-6CAF-8D49-B5C7CF117351}"/>
                  </a:ext>
                  <a:ext uri="{C183D7F6-B498-43B3-948B-1728B52AA6E4}">
                    <adec:decorative xmlns:adec="http://schemas.microsoft.com/office/drawing/2017/decorative" val="1"/>
                  </a:ext>
                </a:extLst>
              </p:cNvPr>
              <p:cNvCxnSpPr>
                <a:cxnSpLocks/>
                <a:stCxn id="132" idx="6"/>
              </p:cNvCxnSpPr>
              <p:nvPr/>
            </p:nvCxnSpPr>
            <p:spPr>
              <a:xfrm flipV="1">
                <a:off x="6984522" y="3477160"/>
                <a:ext cx="504345" cy="600489"/>
              </a:xfrm>
              <a:prstGeom prst="line">
                <a:avLst/>
              </a:prstGeom>
              <a:noFill/>
              <a:ln w="19050" cap="rnd">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grpSp>
          <p:nvGrpSpPr>
            <p:cNvPr id="114" name="circles">
              <a:extLst>
                <a:ext uri="{FF2B5EF4-FFF2-40B4-BE49-F238E27FC236}">
                  <a16:creationId xmlns:a16="http://schemas.microsoft.com/office/drawing/2014/main" id="{69A75D11-005C-65EF-8B68-85E94F0A8F21}"/>
                </a:ext>
              </a:extLst>
            </p:cNvPr>
            <p:cNvGrpSpPr/>
            <p:nvPr/>
          </p:nvGrpSpPr>
          <p:grpSpPr>
            <a:xfrm>
              <a:off x="5207477" y="2578830"/>
              <a:ext cx="1777045" cy="1700339"/>
              <a:chOff x="5207477" y="2578830"/>
              <a:chExt cx="1777045" cy="1700339"/>
            </a:xfrm>
            <a:gradFill>
              <a:gsLst>
                <a:gs pos="13000">
                  <a:srgbClr val="D59ED7"/>
                </a:gs>
                <a:gs pos="85000">
                  <a:srgbClr val="8DC8E8"/>
                </a:gs>
              </a:gsLst>
              <a:path path="circle">
                <a:fillToRect l="100000" t="100000"/>
              </a:path>
            </a:gradFill>
          </p:grpSpPr>
          <p:sp>
            <p:nvSpPr>
              <p:cNvPr id="127" name="Oval 126">
                <a:extLst>
                  <a:ext uri="{FF2B5EF4-FFF2-40B4-BE49-F238E27FC236}">
                    <a16:creationId xmlns:a16="http://schemas.microsoft.com/office/drawing/2014/main" id="{7A2A5A6B-6881-C372-0964-32DA97B3AA46}"/>
                  </a:ext>
                  <a:ext uri="{C183D7F6-B498-43B3-948B-1728B52AA6E4}">
                    <adec:decorative xmlns:adec="http://schemas.microsoft.com/office/drawing/2017/decorative" val="1"/>
                  </a:ext>
                </a:extLst>
              </p:cNvPr>
              <p:cNvSpPr/>
              <p:nvPr/>
            </p:nvSpPr>
            <p:spPr bwMode="auto">
              <a:xfrm>
                <a:off x="5207477" y="2578830"/>
                <a:ext cx="403041" cy="403041"/>
              </a:xfrm>
              <a:prstGeom prst="ellipse">
                <a:avLst/>
              </a:pr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23580" rtl="0" eaLnBrk="1" fontAlgn="base" latinLnBrk="0" hangingPunct="1">
                  <a:lnSpc>
                    <a:spcPct val="100000"/>
                  </a:lnSpc>
                  <a:spcBef>
                    <a:spcPct val="0"/>
                  </a:spcBef>
                  <a:spcAft>
                    <a:spcPct val="0"/>
                  </a:spcAft>
                  <a:buClrTx/>
                  <a:buSzTx/>
                  <a:buFontTx/>
                  <a:buNone/>
                  <a:tabLst/>
                  <a:defRPr/>
                </a:pPr>
                <a:endParaRPr kumimoji="0" lang="en-US" sz="2369" b="0" i="0" u="none" strike="noStrike" kern="1200" cap="none" spc="0" normalizeH="0" baseline="0" noProof="0">
                  <a:ln>
                    <a:noFill/>
                  </a:ln>
                  <a:noFill/>
                  <a:effectLst/>
                  <a:uLnTx/>
                  <a:uFillTx/>
                  <a:latin typeface="Segoe Sans Text" pitchFamily="2" charset="0"/>
                  <a:ea typeface="Open Sans" panose="020B0606030504020204" pitchFamily="34" charset="0"/>
                  <a:cs typeface="Segoe Sans Text" pitchFamily="2" charset="0"/>
                </a:endParaRPr>
              </a:p>
            </p:txBody>
          </p:sp>
          <p:sp>
            <p:nvSpPr>
              <p:cNvPr id="128" name="Oval 127">
                <a:extLst>
                  <a:ext uri="{FF2B5EF4-FFF2-40B4-BE49-F238E27FC236}">
                    <a16:creationId xmlns:a16="http://schemas.microsoft.com/office/drawing/2014/main" id="{EB5CDC16-8110-359A-040A-D7191B4AD6B6}"/>
                  </a:ext>
                  <a:ext uri="{C183D7F6-B498-43B3-948B-1728B52AA6E4}">
                    <adec:decorative xmlns:adec="http://schemas.microsoft.com/office/drawing/2017/decorative" val="1"/>
                  </a:ext>
                </a:extLst>
              </p:cNvPr>
              <p:cNvSpPr/>
              <p:nvPr/>
            </p:nvSpPr>
            <p:spPr bwMode="auto">
              <a:xfrm>
                <a:off x="6581481" y="2578830"/>
                <a:ext cx="403041" cy="403041"/>
              </a:xfrm>
              <a:prstGeom prst="ellipse">
                <a:avLst/>
              </a:pr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23580" rtl="0" eaLnBrk="1" fontAlgn="base" latinLnBrk="0" hangingPunct="1">
                  <a:lnSpc>
                    <a:spcPct val="100000"/>
                  </a:lnSpc>
                  <a:spcBef>
                    <a:spcPct val="0"/>
                  </a:spcBef>
                  <a:spcAft>
                    <a:spcPct val="0"/>
                  </a:spcAft>
                  <a:buClrTx/>
                  <a:buSzTx/>
                  <a:buFontTx/>
                  <a:buNone/>
                  <a:tabLst/>
                  <a:defRPr/>
                </a:pPr>
                <a:endParaRPr kumimoji="0" lang="en-US" sz="2369" b="0" i="0" u="none" strike="noStrike" kern="1200" cap="none" spc="0" normalizeH="0" baseline="0" noProof="0">
                  <a:ln>
                    <a:noFill/>
                  </a:ln>
                  <a:noFill/>
                  <a:effectLst/>
                  <a:uLnTx/>
                  <a:uFillTx/>
                  <a:latin typeface="Segoe Sans Text" pitchFamily="2" charset="0"/>
                  <a:ea typeface="Open Sans" panose="020B0606030504020204" pitchFamily="34" charset="0"/>
                  <a:cs typeface="Segoe Sans Text" pitchFamily="2" charset="0"/>
                </a:endParaRPr>
              </a:p>
            </p:txBody>
          </p:sp>
          <p:sp>
            <p:nvSpPr>
              <p:cNvPr id="129" name="Oval 128">
                <a:extLst>
                  <a:ext uri="{FF2B5EF4-FFF2-40B4-BE49-F238E27FC236}">
                    <a16:creationId xmlns:a16="http://schemas.microsoft.com/office/drawing/2014/main" id="{C3FBE5EC-2156-ECFF-1A3B-A05F45062036}"/>
                  </a:ext>
                  <a:ext uri="{C183D7F6-B498-43B3-948B-1728B52AA6E4}">
                    <adec:decorative xmlns:adec="http://schemas.microsoft.com/office/drawing/2017/decorative" val="1"/>
                  </a:ext>
                </a:extLst>
              </p:cNvPr>
              <p:cNvSpPr/>
              <p:nvPr/>
            </p:nvSpPr>
            <p:spPr bwMode="auto">
              <a:xfrm>
                <a:off x="5207477" y="3227478"/>
                <a:ext cx="403041" cy="403041"/>
              </a:xfrm>
              <a:prstGeom prst="ellipse">
                <a:avLst/>
              </a:pr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23580" rtl="0" eaLnBrk="1" fontAlgn="base" latinLnBrk="0" hangingPunct="1">
                  <a:lnSpc>
                    <a:spcPct val="100000"/>
                  </a:lnSpc>
                  <a:spcBef>
                    <a:spcPct val="0"/>
                  </a:spcBef>
                  <a:spcAft>
                    <a:spcPct val="0"/>
                  </a:spcAft>
                  <a:buClrTx/>
                  <a:buSzTx/>
                  <a:buFontTx/>
                  <a:buNone/>
                  <a:tabLst/>
                  <a:defRPr/>
                </a:pPr>
                <a:endParaRPr kumimoji="0" lang="en-US" sz="2369" b="0" i="0" u="none" strike="noStrike" kern="1200" cap="none" spc="0" normalizeH="0" baseline="0" noProof="0">
                  <a:ln>
                    <a:noFill/>
                  </a:ln>
                  <a:noFill/>
                  <a:effectLst/>
                  <a:uLnTx/>
                  <a:uFillTx/>
                  <a:latin typeface="Segoe Sans Text" pitchFamily="2" charset="0"/>
                  <a:ea typeface="Open Sans" panose="020B0606030504020204" pitchFamily="34" charset="0"/>
                  <a:cs typeface="Segoe Sans Text" pitchFamily="2" charset="0"/>
                </a:endParaRPr>
              </a:p>
            </p:txBody>
          </p:sp>
          <p:sp>
            <p:nvSpPr>
              <p:cNvPr id="130" name="Oval 129">
                <a:extLst>
                  <a:ext uri="{FF2B5EF4-FFF2-40B4-BE49-F238E27FC236}">
                    <a16:creationId xmlns:a16="http://schemas.microsoft.com/office/drawing/2014/main" id="{2D9E13F4-415A-E93F-4736-EC49CE28B339}"/>
                  </a:ext>
                  <a:ext uri="{C183D7F6-B498-43B3-948B-1728B52AA6E4}">
                    <adec:decorative xmlns:adec="http://schemas.microsoft.com/office/drawing/2017/decorative" val="1"/>
                  </a:ext>
                </a:extLst>
              </p:cNvPr>
              <p:cNvSpPr/>
              <p:nvPr/>
            </p:nvSpPr>
            <p:spPr bwMode="auto">
              <a:xfrm>
                <a:off x="6581481" y="3227478"/>
                <a:ext cx="403041" cy="403041"/>
              </a:xfrm>
              <a:prstGeom prst="ellipse">
                <a:avLst/>
              </a:pr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23580" rtl="0" eaLnBrk="1" fontAlgn="base" latinLnBrk="0" hangingPunct="1">
                  <a:lnSpc>
                    <a:spcPct val="100000"/>
                  </a:lnSpc>
                  <a:spcBef>
                    <a:spcPct val="0"/>
                  </a:spcBef>
                  <a:spcAft>
                    <a:spcPct val="0"/>
                  </a:spcAft>
                  <a:buClrTx/>
                  <a:buSzTx/>
                  <a:buFontTx/>
                  <a:buNone/>
                  <a:tabLst/>
                  <a:defRPr/>
                </a:pPr>
                <a:endParaRPr kumimoji="0" lang="en-US" sz="2369" b="0" i="0" u="none" strike="noStrike" kern="1200" cap="none" spc="0" normalizeH="0" baseline="0" noProof="0">
                  <a:ln>
                    <a:noFill/>
                  </a:ln>
                  <a:noFill/>
                  <a:effectLst/>
                  <a:uLnTx/>
                  <a:uFillTx/>
                  <a:latin typeface="Segoe Sans Text" pitchFamily="2" charset="0"/>
                  <a:ea typeface="Open Sans" panose="020B0606030504020204" pitchFamily="34" charset="0"/>
                  <a:cs typeface="Segoe Sans Text" pitchFamily="2" charset="0"/>
                </a:endParaRPr>
              </a:p>
            </p:txBody>
          </p:sp>
          <p:sp>
            <p:nvSpPr>
              <p:cNvPr id="131" name="Oval 130">
                <a:extLst>
                  <a:ext uri="{FF2B5EF4-FFF2-40B4-BE49-F238E27FC236}">
                    <a16:creationId xmlns:a16="http://schemas.microsoft.com/office/drawing/2014/main" id="{E2836D0B-C9FD-EF16-1495-1C871E4E0C1A}"/>
                  </a:ext>
                  <a:ext uri="{C183D7F6-B498-43B3-948B-1728B52AA6E4}">
                    <adec:decorative xmlns:adec="http://schemas.microsoft.com/office/drawing/2017/decorative" val="1"/>
                  </a:ext>
                </a:extLst>
              </p:cNvPr>
              <p:cNvSpPr/>
              <p:nvPr/>
            </p:nvSpPr>
            <p:spPr bwMode="auto">
              <a:xfrm>
                <a:off x="5207477" y="3876128"/>
                <a:ext cx="403041" cy="403041"/>
              </a:xfrm>
              <a:prstGeom prst="ellipse">
                <a:avLst/>
              </a:pr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23580" rtl="0" eaLnBrk="1" fontAlgn="base" latinLnBrk="0" hangingPunct="1">
                  <a:lnSpc>
                    <a:spcPct val="100000"/>
                  </a:lnSpc>
                  <a:spcBef>
                    <a:spcPct val="0"/>
                  </a:spcBef>
                  <a:spcAft>
                    <a:spcPct val="0"/>
                  </a:spcAft>
                  <a:buClrTx/>
                  <a:buSzTx/>
                  <a:buFontTx/>
                  <a:buNone/>
                  <a:tabLst/>
                  <a:defRPr/>
                </a:pPr>
                <a:endParaRPr kumimoji="0" lang="en-US" sz="2369" b="0" i="0" u="none" strike="noStrike" kern="1200" cap="none" spc="0" normalizeH="0" baseline="0" noProof="0">
                  <a:ln>
                    <a:noFill/>
                  </a:ln>
                  <a:noFill/>
                  <a:effectLst/>
                  <a:uLnTx/>
                  <a:uFillTx/>
                  <a:latin typeface="Segoe Sans Text" pitchFamily="2" charset="0"/>
                  <a:ea typeface="Open Sans" panose="020B0606030504020204" pitchFamily="34" charset="0"/>
                  <a:cs typeface="Segoe Sans Text" pitchFamily="2" charset="0"/>
                </a:endParaRPr>
              </a:p>
            </p:txBody>
          </p:sp>
          <p:sp>
            <p:nvSpPr>
              <p:cNvPr id="132" name="Oval 131">
                <a:extLst>
                  <a:ext uri="{FF2B5EF4-FFF2-40B4-BE49-F238E27FC236}">
                    <a16:creationId xmlns:a16="http://schemas.microsoft.com/office/drawing/2014/main" id="{BB943B00-5D05-321C-8D09-88BDBA856FEB}"/>
                  </a:ext>
                  <a:ext uri="{C183D7F6-B498-43B3-948B-1728B52AA6E4}">
                    <adec:decorative xmlns:adec="http://schemas.microsoft.com/office/drawing/2017/decorative" val="1"/>
                  </a:ext>
                </a:extLst>
              </p:cNvPr>
              <p:cNvSpPr/>
              <p:nvPr/>
            </p:nvSpPr>
            <p:spPr bwMode="auto">
              <a:xfrm>
                <a:off x="6581481" y="3876128"/>
                <a:ext cx="403041" cy="403041"/>
              </a:xfrm>
              <a:prstGeom prst="ellipse">
                <a:avLst/>
              </a:pr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23580" rtl="0" eaLnBrk="1" fontAlgn="base" latinLnBrk="0" hangingPunct="1">
                  <a:lnSpc>
                    <a:spcPct val="100000"/>
                  </a:lnSpc>
                  <a:spcBef>
                    <a:spcPct val="0"/>
                  </a:spcBef>
                  <a:spcAft>
                    <a:spcPct val="0"/>
                  </a:spcAft>
                  <a:buClrTx/>
                  <a:buSzTx/>
                  <a:buFontTx/>
                  <a:buNone/>
                  <a:tabLst/>
                  <a:defRPr/>
                </a:pPr>
                <a:endParaRPr kumimoji="0" lang="en-US" sz="2369" b="0" i="0" u="none" strike="noStrike" kern="1200" cap="none" spc="0" normalizeH="0" baseline="0" noProof="0">
                  <a:ln>
                    <a:noFill/>
                  </a:ln>
                  <a:noFill/>
                  <a:effectLst/>
                  <a:uLnTx/>
                  <a:uFillTx/>
                  <a:latin typeface="Segoe Sans Text" pitchFamily="2" charset="0"/>
                  <a:ea typeface="Open Sans" panose="020B0606030504020204" pitchFamily="34" charset="0"/>
                  <a:cs typeface="Segoe Sans Text" pitchFamily="2" charset="0"/>
                </a:endParaRPr>
              </a:p>
            </p:txBody>
          </p:sp>
        </p:grpSp>
        <p:sp>
          <p:nvSpPr>
            <p:cNvPr id="115" name="Rectangle: Rounded Corners 114">
              <a:extLst>
                <a:ext uri="{FF2B5EF4-FFF2-40B4-BE49-F238E27FC236}">
                  <a16:creationId xmlns:a16="http://schemas.microsoft.com/office/drawing/2014/main" id="{68E58190-388D-15EE-8498-FC5DC94DEF13}"/>
                </a:ext>
                <a:ext uri="{C183D7F6-B498-43B3-948B-1728B52AA6E4}">
                  <adec:decorative xmlns:adec="http://schemas.microsoft.com/office/drawing/2017/decorative" val="1"/>
                </a:ext>
              </a:extLst>
            </p:cNvPr>
            <p:cNvSpPr/>
            <p:nvPr/>
          </p:nvSpPr>
          <p:spPr bwMode="auto">
            <a:xfrm>
              <a:off x="3655324" y="3174640"/>
              <a:ext cx="1106424" cy="508724"/>
            </a:xfrm>
            <a:prstGeom prst="roundRect">
              <a:avLst>
                <a:gd name="adj" fmla="val 50000"/>
              </a:avLst>
            </a:prstGeom>
            <a:gradFill>
              <a:gsLst>
                <a:gs pos="100000">
                  <a:srgbClr val="BDF2BD"/>
                </a:gs>
                <a:gs pos="55000">
                  <a:srgbClr val="C3E9FC"/>
                </a:gs>
              </a:gsLst>
              <a:lin ang="0" scaled="1"/>
            </a:gra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02131" tIns="161705" rIns="202131" bIns="161705" numCol="1" spcCol="0" rtlCol="0" fromWordArt="0" anchor="t" anchorCtr="0" forceAA="0" compatLnSpc="1">
              <a:prstTxWarp prst="textNoShape">
                <a:avLst/>
              </a:prstTxWarp>
              <a:noAutofit/>
            </a:bodyPr>
            <a:lstStyle/>
            <a:p>
              <a:pPr marL="0" marR="0" lvl="0" indent="0" algn="l" defTabSz="1030821" rtl="0" eaLnBrk="1" fontAlgn="base" latinLnBrk="0" hangingPunct="1">
                <a:lnSpc>
                  <a:spcPct val="100000"/>
                </a:lnSpc>
                <a:spcBef>
                  <a:spcPct val="0"/>
                </a:spcBef>
                <a:spcAft>
                  <a:spcPct val="0"/>
                </a:spcAft>
                <a:buClrTx/>
                <a:buSzTx/>
                <a:buFontTx/>
                <a:buNone/>
                <a:tabLst/>
                <a:defRPr/>
              </a:pPr>
              <a:endParaRPr kumimoji="0" lang="en-US" sz="2369" b="0" i="0" u="none" strike="noStrike" kern="1200" cap="none" spc="0" normalizeH="0" baseline="0" noProof="0">
                <a:ln>
                  <a:noFill/>
                </a:ln>
                <a:solidFill>
                  <a:srgbClr val="091F2C"/>
                </a:solidFill>
                <a:effectLst/>
                <a:uLnTx/>
                <a:uFillTx/>
                <a:latin typeface="Segoe Sans Text" pitchFamily="2" charset="0"/>
                <a:ea typeface="+mn-ea"/>
                <a:cs typeface="Segoe Sans Text" pitchFamily="2" charset="0"/>
              </a:endParaRPr>
            </a:p>
          </p:txBody>
        </p:sp>
        <p:sp>
          <p:nvSpPr>
            <p:cNvPr id="116" name="Rectangle: Rounded Corners 115">
              <a:extLst>
                <a:ext uri="{FF2B5EF4-FFF2-40B4-BE49-F238E27FC236}">
                  <a16:creationId xmlns:a16="http://schemas.microsoft.com/office/drawing/2014/main" id="{68CA3BC9-4AF6-CAC4-E0C3-40D8C7A47497}"/>
                </a:ext>
                <a:ext uri="{C183D7F6-B498-43B3-948B-1728B52AA6E4}">
                  <adec:decorative xmlns:adec="http://schemas.microsoft.com/office/drawing/2017/decorative" val="1"/>
                </a:ext>
              </a:extLst>
            </p:cNvPr>
            <p:cNvSpPr/>
            <p:nvPr/>
          </p:nvSpPr>
          <p:spPr bwMode="auto">
            <a:xfrm>
              <a:off x="7430256" y="3174640"/>
              <a:ext cx="1106424" cy="508724"/>
            </a:xfrm>
            <a:prstGeom prst="roundRect">
              <a:avLst>
                <a:gd name="adj" fmla="val 50000"/>
              </a:avLst>
            </a:prstGeom>
            <a:gradFill>
              <a:gsLst>
                <a:gs pos="100000">
                  <a:srgbClr val="BDF2BD"/>
                </a:gs>
                <a:gs pos="55000">
                  <a:srgbClr val="C3E9FC"/>
                </a:gs>
              </a:gsLst>
              <a:lin ang="0" scaled="1"/>
            </a:gra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02131" tIns="161705" rIns="202131" bIns="161705" numCol="1" spcCol="0" rtlCol="0" fromWordArt="0" anchor="t" anchorCtr="0" forceAA="0" compatLnSpc="1">
              <a:prstTxWarp prst="textNoShape">
                <a:avLst/>
              </a:prstTxWarp>
              <a:noAutofit/>
            </a:bodyPr>
            <a:lstStyle/>
            <a:p>
              <a:pPr marL="0" marR="0" lvl="0" indent="0" algn="l" defTabSz="1030821" rtl="0" eaLnBrk="1" fontAlgn="base" latinLnBrk="0" hangingPunct="1">
                <a:lnSpc>
                  <a:spcPct val="100000"/>
                </a:lnSpc>
                <a:spcBef>
                  <a:spcPct val="0"/>
                </a:spcBef>
                <a:spcAft>
                  <a:spcPct val="0"/>
                </a:spcAft>
                <a:buClrTx/>
                <a:buSzTx/>
                <a:buFontTx/>
                <a:buNone/>
                <a:tabLst/>
                <a:defRPr/>
              </a:pPr>
              <a:endParaRPr kumimoji="0" lang="en-US" sz="2369" b="0" i="0" u="none" strike="noStrike" kern="1200" cap="none" spc="0" normalizeH="0" baseline="0" noProof="0">
                <a:ln>
                  <a:noFill/>
                </a:ln>
                <a:solidFill>
                  <a:srgbClr val="091F2C"/>
                </a:solidFill>
                <a:effectLst/>
                <a:uLnTx/>
                <a:uFillTx/>
                <a:latin typeface="Segoe Sans Text" pitchFamily="2" charset="0"/>
                <a:ea typeface="+mn-ea"/>
                <a:cs typeface="Segoe Sans Text" pitchFamily="2" charset="0"/>
              </a:endParaRPr>
            </a:p>
          </p:txBody>
        </p:sp>
        <p:grpSp>
          <p:nvGrpSpPr>
            <p:cNvPr id="117" name="icons">
              <a:extLst>
                <a:ext uri="{FF2B5EF4-FFF2-40B4-BE49-F238E27FC236}">
                  <a16:creationId xmlns:a16="http://schemas.microsoft.com/office/drawing/2014/main" id="{671B48F2-22E9-70D5-28DF-BD12C4B03D91}"/>
                </a:ext>
              </a:extLst>
            </p:cNvPr>
            <p:cNvGrpSpPr/>
            <p:nvPr/>
          </p:nvGrpSpPr>
          <p:grpSpPr>
            <a:xfrm>
              <a:off x="5332797" y="2691114"/>
              <a:ext cx="1536327" cy="1470075"/>
              <a:chOff x="5332797" y="2691114"/>
              <a:chExt cx="1536327" cy="1470075"/>
            </a:xfrm>
          </p:grpSpPr>
          <p:sp>
            <p:nvSpPr>
              <p:cNvPr id="118" name="Graphic 27">
                <a:extLst>
                  <a:ext uri="{FF2B5EF4-FFF2-40B4-BE49-F238E27FC236}">
                    <a16:creationId xmlns:a16="http://schemas.microsoft.com/office/drawing/2014/main" id="{EF498275-85AB-22D4-41EC-D5E0978AD822}"/>
                  </a:ext>
                  <a:ext uri="{C183D7F6-B498-43B3-948B-1728B52AA6E4}">
                    <adec:decorative xmlns:adec="http://schemas.microsoft.com/office/drawing/2017/decorative" val="1"/>
                  </a:ext>
                </a:extLst>
              </p:cNvPr>
              <p:cNvSpPr>
                <a:spLocks noChangeAspect="1"/>
              </p:cNvSpPr>
              <p:nvPr/>
            </p:nvSpPr>
            <p:spPr>
              <a:xfrm>
                <a:off x="6712940" y="3353857"/>
                <a:ext cx="150282" cy="150282"/>
              </a:xfrm>
              <a:custGeom>
                <a:avLst/>
                <a:gdLst>
                  <a:gd name="connsiteX0" fmla="*/ 161925 w 200025"/>
                  <a:gd name="connsiteY0" fmla="*/ 109538 h 200025"/>
                  <a:gd name="connsiteX1" fmla="*/ 168688 w 200025"/>
                  <a:gd name="connsiteY1" fmla="*/ 92869 h 200025"/>
                  <a:gd name="connsiteX2" fmla="*/ 104775 w 200025"/>
                  <a:gd name="connsiteY2" fmla="*/ 92869 h 200025"/>
                  <a:gd name="connsiteX3" fmla="*/ 88106 w 200025"/>
                  <a:gd name="connsiteY3" fmla="*/ 76200 h 200025"/>
                  <a:gd name="connsiteX4" fmla="*/ 88106 w 200025"/>
                  <a:gd name="connsiteY4" fmla="*/ 0 h 200025"/>
                  <a:gd name="connsiteX5" fmla="*/ 0 w 200025"/>
                  <a:gd name="connsiteY5" fmla="*/ 90488 h 200025"/>
                  <a:gd name="connsiteX6" fmla="*/ 85725 w 200025"/>
                  <a:gd name="connsiteY6" fmla="*/ 180880 h 200025"/>
                  <a:gd name="connsiteX7" fmla="*/ 85725 w 200025"/>
                  <a:gd name="connsiteY7" fmla="*/ 166688 h 200025"/>
                  <a:gd name="connsiteX8" fmla="*/ 109538 w 200025"/>
                  <a:gd name="connsiteY8" fmla="*/ 142875 h 200025"/>
                  <a:gd name="connsiteX9" fmla="*/ 123825 w 200025"/>
                  <a:gd name="connsiteY9" fmla="*/ 147638 h 200025"/>
                  <a:gd name="connsiteX10" fmla="*/ 123825 w 200025"/>
                  <a:gd name="connsiteY10" fmla="*/ 138113 h 200025"/>
                  <a:gd name="connsiteX11" fmla="*/ 147638 w 200025"/>
                  <a:gd name="connsiteY11" fmla="*/ 114300 h 200025"/>
                  <a:gd name="connsiteX12" fmla="*/ 161925 w 200025"/>
                  <a:gd name="connsiteY12" fmla="*/ 119063 h 200025"/>
                  <a:gd name="connsiteX13" fmla="*/ 161925 w 200025"/>
                  <a:gd name="connsiteY13" fmla="*/ 109538 h 200025"/>
                  <a:gd name="connsiteX14" fmla="*/ 102394 w 200025"/>
                  <a:gd name="connsiteY14" fmla="*/ 762 h 200025"/>
                  <a:gd name="connsiteX15" fmla="*/ 102394 w 200025"/>
                  <a:gd name="connsiteY15" fmla="*/ 76200 h 200025"/>
                  <a:gd name="connsiteX16" fmla="*/ 104775 w 200025"/>
                  <a:gd name="connsiteY16" fmla="*/ 78581 h 200025"/>
                  <a:gd name="connsiteX17" fmla="*/ 180213 w 200025"/>
                  <a:gd name="connsiteY17" fmla="*/ 78581 h 200025"/>
                  <a:gd name="connsiteX18" fmla="*/ 102394 w 200025"/>
                  <a:gd name="connsiteY18" fmla="*/ 762 h 200025"/>
                  <a:gd name="connsiteX19" fmla="*/ 185738 w 200025"/>
                  <a:gd name="connsiteY19" fmla="*/ 95250 h 200025"/>
                  <a:gd name="connsiteX20" fmla="*/ 171450 w 200025"/>
                  <a:gd name="connsiteY20" fmla="*/ 109538 h 200025"/>
                  <a:gd name="connsiteX21" fmla="*/ 171450 w 200025"/>
                  <a:gd name="connsiteY21" fmla="*/ 185738 h 200025"/>
                  <a:gd name="connsiteX22" fmla="*/ 185738 w 200025"/>
                  <a:gd name="connsiteY22" fmla="*/ 200025 h 200025"/>
                  <a:gd name="connsiteX23" fmla="*/ 200025 w 200025"/>
                  <a:gd name="connsiteY23" fmla="*/ 185738 h 200025"/>
                  <a:gd name="connsiteX24" fmla="*/ 200025 w 200025"/>
                  <a:gd name="connsiteY24" fmla="*/ 109538 h 200025"/>
                  <a:gd name="connsiteX25" fmla="*/ 185738 w 200025"/>
                  <a:gd name="connsiteY25" fmla="*/ 95250 h 200025"/>
                  <a:gd name="connsiteX26" fmla="*/ 109538 w 200025"/>
                  <a:gd name="connsiteY26" fmla="*/ 152400 h 200025"/>
                  <a:gd name="connsiteX27" fmla="*/ 95250 w 200025"/>
                  <a:gd name="connsiteY27" fmla="*/ 166688 h 200025"/>
                  <a:gd name="connsiteX28" fmla="*/ 95250 w 200025"/>
                  <a:gd name="connsiteY28" fmla="*/ 185738 h 200025"/>
                  <a:gd name="connsiteX29" fmla="*/ 109538 w 200025"/>
                  <a:gd name="connsiteY29" fmla="*/ 200025 h 200025"/>
                  <a:gd name="connsiteX30" fmla="*/ 123825 w 200025"/>
                  <a:gd name="connsiteY30" fmla="*/ 185738 h 200025"/>
                  <a:gd name="connsiteX31" fmla="*/ 123825 w 200025"/>
                  <a:gd name="connsiteY31" fmla="*/ 166688 h 200025"/>
                  <a:gd name="connsiteX32" fmla="*/ 109538 w 200025"/>
                  <a:gd name="connsiteY32" fmla="*/ 152400 h 200025"/>
                  <a:gd name="connsiteX33" fmla="*/ 133350 w 200025"/>
                  <a:gd name="connsiteY33" fmla="*/ 138113 h 200025"/>
                  <a:gd name="connsiteX34" fmla="*/ 147638 w 200025"/>
                  <a:gd name="connsiteY34" fmla="*/ 123825 h 200025"/>
                  <a:gd name="connsiteX35" fmla="*/ 161925 w 200025"/>
                  <a:gd name="connsiteY35" fmla="*/ 138113 h 200025"/>
                  <a:gd name="connsiteX36" fmla="*/ 161925 w 200025"/>
                  <a:gd name="connsiteY36" fmla="*/ 185738 h 200025"/>
                  <a:gd name="connsiteX37" fmla="*/ 147638 w 200025"/>
                  <a:gd name="connsiteY37" fmla="*/ 200025 h 200025"/>
                  <a:gd name="connsiteX38" fmla="*/ 133350 w 200025"/>
                  <a:gd name="connsiteY38" fmla="*/ 185738 h 200025"/>
                  <a:gd name="connsiteX39" fmla="*/ 133350 w 200025"/>
                  <a:gd name="connsiteY39" fmla="*/ 138113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00025" h="200025">
                    <a:moveTo>
                      <a:pt x="161925" y="109538"/>
                    </a:moveTo>
                    <a:cubicBezTo>
                      <a:pt x="161925" y="103061"/>
                      <a:pt x="164497" y="97155"/>
                      <a:pt x="168688" y="92869"/>
                    </a:cubicBezTo>
                    <a:lnTo>
                      <a:pt x="104775" y="92869"/>
                    </a:lnTo>
                    <a:cubicBezTo>
                      <a:pt x="95536" y="92869"/>
                      <a:pt x="88106" y="85439"/>
                      <a:pt x="88106" y="76200"/>
                    </a:cubicBezTo>
                    <a:lnTo>
                      <a:pt x="88106" y="0"/>
                    </a:lnTo>
                    <a:cubicBezTo>
                      <a:pt x="39243" y="1238"/>
                      <a:pt x="0" y="41243"/>
                      <a:pt x="0" y="90488"/>
                    </a:cubicBezTo>
                    <a:cubicBezTo>
                      <a:pt x="0" y="139732"/>
                      <a:pt x="38005" y="178403"/>
                      <a:pt x="85725" y="180880"/>
                    </a:cubicBezTo>
                    <a:lnTo>
                      <a:pt x="85725" y="166688"/>
                    </a:lnTo>
                    <a:cubicBezTo>
                      <a:pt x="85725" y="153543"/>
                      <a:pt x="96393" y="142875"/>
                      <a:pt x="109538" y="142875"/>
                    </a:cubicBezTo>
                    <a:cubicBezTo>
                      <a:pt x="114872" y="142875"/>
                      <a:pt x="119825" y="144685"/>
                      <a:pt x="123825" y="147638"/>
                    </a:cubicBezTo>
                    <a:lnTo>
                      <a:pt x="123825" y="138113"/>
                    </a:lnTo>
                    <a:cubicBezTo>
                      <a:pt x="123825" y="124968"/>
                      <a:pt x="134493" y="114300"/>
                      <a:pt x="147638" y="114300"/>
                    </a:cubicBezTo>
                    <a:cubicBezTo>
                      <a:pt x="152972" y="114300"/>
                      <a:pt x="157925" y="116110"/>
                      <a:pt x="161925" y="119063"/>
                    </a:cubicBezTo>
                    <a:lnTo>
                      <a:pt x="161925" y="109538"/>
                    </a:lnTo>
                    <a:close/>
                    <a:moveTo>
                      <a:pt x="102394" y="762"/>
                    </a:moveTo>
                    <a:lnTo>
                      <a:pt x="102394" y="76200"/>
                    </a:lnTo>
                    <a:cubicBezTo>
                      <a:pt x="102394" y="77534"/>
                      <a:pt x="103442" y="78581"/>
                      <a:pt x="104775" y="78581"/>
                    </a:cubicBezTo>
                    <a:lnTo>
                      <a:pt x="180213" y="78581"/>
                    </a:lnTo>
                    <a:cubicBezTo>
                      <a:pt x="174879" y="38100"/>
                      <a:pt x="142875" y="6096"/>
                      <a:pt x="102394" y="762"/>
                    </a:cubicBezTo>
                    <a:close/>
                    <a:moveTo>
                      <a:pt x="185738" y="95250"/>
                    </a:moveTo>
                    <a:cubicBezTo>
                      <a:pt x="177832" y="95250"/>
                      <a:pt x="171450" y="101632"/>
                      <a:pt x="171450" y="109538"/>
                    </a:cubicBezTo>
                    <a:lnTo>
                      <a:pt x="171450" y="185738"/>
                    </a:lnTo>
                    <a:cubicBezTo>
                      <a:pt x="171450" y="193643"/>
                      <a:pt x="177832" y="200025"/>
                      <a:pt x="185738" y="200025"/>
                    </a:cubicBezTo>
                    <a:cubicBezTo>
                      <a:pt x="193643" y="200025"/>
                      <a:pt x="200025" y="193643"/>
                      <a:pt x="200025" y="185738"/>
                    </a:cubicBezTo>
                    <a:lnTo>
                      <a:pt x="200025" y="109538"/>
                    </a:lnTo>
                    <a:cubicBezTo>
                      <a:pt x="200025" y="101632"/>
                      <a:pt x="193643" y="95250"/>
                      <a:pt x="185738" y="95250"/>
                    </a:cubicBezTo>
                    <a:close/>
                    <a:moveTo>
                      <a:pt x="109538" y="152400"/>
                    </a:moveTo>
                    <a:cubicBezTo>
                      <a:pt x="101632" y="152400"/>
                      <a:pt x="95250" y="158782"/>
                      <a:pt x="95250" y="166688"/>
                    </a:cubicBezTo>
                    <a:lnTo>
                      <a:pt x="95250" y="185738"/>
                    </a:lnTo>
                    <a:cubicBezTo>
                      <a:pt x="95250" y="193643"/>
                      <a:pt x="101632" y="200025"/>
                      <a:pt x="109538" y="200025"/>
                    </a:cubicBezTo>
                    <a:cubicBezTo>
                      <a:pt x="117443" y="200025"/>
                      <a:pt x="123825" y="193643"/>
                      <a:pt x="123825" y="185738"/>
                    </a:cubicBezTo>
                    <a:lnTo>
                      <a:pt x="123825" y="166688"/>
                    </a:lnTo>
                    <a:cubicBezTo>
                      <a:pt x="123825" y="158782"/>
                      <a:pt x="117443" y="152400"/>
                      <a:pt x="109538" y="152400"/>
                    </a:cubicBezTo>
                    <a:close/>
                    <a:moveTo>
                      <a:pt x="133350" y="138113"/>
                    </a:moveTo>
                    <a:cubicBezTo>
                      <a:pt x="133350" y="130207"/>
                      <a:pt x="139732" y="123825"/>
                      <a:pt x="147638" y="123825"/>
                    </a:cubicBezTo>
                    <a:cubicBezTo>
                      <a:pt x="155543" y="123825"/>
                      <a:pt x="161925" y="130207"/>
                      <a:pt x="161925" y="138113"/>
                    </a:cubicBezTo>
                    <a:lnTo>
                      <a:pt x="161925" y="185738"/>
                    </a:lnTo>
                    <a:cubicBezTo>
                      <a:pt x="161925" y="193643"/>
                      <a:pt x="155543" y="200025"/>
                      <a:pt x="147638" y="200025"/>
                    </a:cubicBezTo>
                    <a:cubicBezTo>
                      <a:pt x="139732" y="200025"/>
                      <a:pt x="133350" y="193643"/>
                      <a:pt x="133350" y="185738"/>
                    </a:cubicBezTo>
                    <a:lnTo>
                      <a:pt x="133350" y="138113"/>
                    </a:lnTo>
                    <a:close/>
                  </a:path>
                </a:pathLst>
              </a:custGeom>
              <a:gradFill>
                <a:gsLst>
                  <a:gs pos="100000">
                    <a:srgbClr val="BDF2BD"/>
                  </a:gs>
                  <a:gs pos="55000">
                    <a:srgbClr val="C3E9FC"/>
                  </a:gs>
                </a:gsLst>
                <a:lin ang="0" scaled="1"/>
              </a:gradFill>
              <a:ln w="9525" cap="flat">
                <a:noFill/>
                <a:prstDash val="solid"/>
                <a:miter/>
              </a:ln>
            </p:spPr>
            <p:txBody>
              <a:bodyPr rtlCol="0" anchor="ctr"/>
              <a:lstStyle/>
              <a:p>
                <a:pPr marL="0" marR="0" lvl="0" indent="0" algn="l" defTabSz="1524497" rtl="0" eaLnBrk="1" fontAlgn="auto" latinLnBrk="0" hangingPunct="1">
                  <a:lnSpc>
                    <a:spcPct val="100000"/>
                  </a:lnSpc>
                  <a:spcBef>
                    <a:spcPts val="0"/>
                  </a:spcBef>
                  <a:spcAft>
                    <a:spcPts val="0"/>
                  </a:spcAft>
                  <a:buClrTx/>
                  <a:buSzTx/>
                  <a:buFontTx/>
                  <a:buNone/>
                  <a:tabLst/>
                  <a:defRPr/>
                </a:pPr>
                <a:endParaRPr kumimoji="0" lang="en-US" sz="5211" b="0" i="0" u="none" strike="noStrike" kern="1200" cap="none" spc="0" normalizeH="0" baseline="0" noProof="0">
                  <a:ln>
                    <a:noFill/>
                  </a:ln>
                  <a:solidFill>
                    <a:srgbClr val="FFFFFF"/>
                  </a:solidFill>
                  <a:effectLst/>
                  <a:uLnTx/>
                  <a:uFillTx/>
                  <a:latin typeface="Segoe Sans Text" pitchFamily="2" charset="0"/>
                  <a:ea typeface="+mn-ea"/>
                  <a:cs typeface="+mn-cs"/>
                </a:endParaRPr>
              </a:p>
            </p:txBody>
          </p:sp>
          <p:sp>
            <p:nvSpPr>
              <p:cNvPr id="119" name="Graphic 43">
                <a:extLst>
                  <a:ext uri="{FF2B5EF4-FFF2-40B4-BE49-F238E27FC236}">
                    <a16:creationId xmlns:a16="http://schemas.microsoft.com/office/drawing/2014/main" id="{50CE8352-DAD8-B2A5-8F9F-AA3267B1760D}"/>
                  </a:ext>
                  <a:ext uri="{C183D7F6-B498-43B3-948B-1728B52AA6E4}">
                    <adec:decorative xmlns:adec="http://schemas.microsoft.com/office/drawing/2017/decorative" val="1"/>
                  </a:ext>
                </a:extLst>
              </p:cNvPr>
              <p:cNvSpPr>
                <a:spLocks noChangeAspect="1"/>
              </p:cNvSpPr>
              <p:nvPr/>
            </p:nvSpPr>
            <p:spPr>
              <a:xfrm>
                <a:off x="5332797" y="3352798"/>
                <a:ext cx="152400" cy="152400"/>
              </a:xfrm>
              <a:custGeom>
                <a:avLst/>
                <a:gdLst>
                  <a:gd name="connsiteX0" fmla="*/ 23813 w 152400"/>
                  <a:gd name="connsiteY0" fmla="*/ 0 h 152400"/>
                  <a:gd name="connsiteX1" fmla="*/ 0 w 152400"/>
                  <a:gd name="connsiteY1" fmla="*/ 23813 h 152400"/>
                  <a:gd name="connsiteX2" fmla="*/ 0 w 152400"/>
                  <a:gd name="connsiteY2" fmla="*/ 100013 h 152400"/>
                  <a:gd name="connsiteX3" fmla="*/ 23813 w 152400"/>
                  <a:gd name="connsiteY3" fmla="*/ 123825 h 152400"/>
                  <a:gd name="connsiteX4" fmla="*/ 100013 w 152400"/>
                  <a:gd name="connsiteY4" fmla="*/ 123825 h 152400"/>
                  <a:gd name="connsiteX5" fmla="*/ 123825 w 152400"/>
                  <a:gd name="connsiteY5" fmla="*/ 100013 h 152400"/>
                  <a:gd name="connsiteX6" fmla="*/ 123825 w 152400"/>
                  <a:gd name="connsiteY6" fmla="*/ 23813 h 152400"/>
                  <a:gd name="connsiteX7" fmla="*/ 100013 w 152400"/>
                  <a:gd name="connsiteY7" fmla="*/ 0 h 152400"/>
                  <a:gd name="connsiteX8" fmla="*/ 23813 w 152400"/>
                  <a:gd name="connsiteY8" fmla="*/ 0 h 152400"/>
                  <a:gd name="connsiteX9" fmla="*/ 9525 w 152400"/>
                  <a:gd name="connsiteY9" fmla="*/ 100013 h 152400"/>
                  <a:gd name="connsiteX10" fmla="*/ 9525 w 152400"/>
                  <a:gd name="connsiteY10" fmla="*/ 38100 h 152400"/>
                  <a:gd name="connsiteX11" fmla="*/ 114300 w 152400"/>
                  <a:gd name="connsiteY11" fmla="*/ 38100 h 152400"/>
                  <a:gd name="connsiteX12" fmla="*/ 114300 w 152400"/>
                  <a:gd name="connsiteY12" fmla="*/ 100013 h 152400"/>
                  <a:gd name="connsiteX13" fmla="*/ 100013 w 152400"/>
                  <a:gd name="connsiteY13" fmla="*/ 114300 h 152400"/>
                  <a:gd name="connsiteX14" fmla="*/ 23813 w 152400"/>
                  <a:gd name="connsiteY14" fmla="*/ 114300 h 152400"/>
                  <a:gd name="connsiteX15" fmla="*/ 9525 w 152400"/>
                  <a:gd name="connsiteY15" fmla="*/ 100013 h 152400"/>
                  <a:gd name="connsiteX16" fmla="*/ 52388 w 152400"/>
                  <a:gd name="connsiteY16" fmla="*/ 152400 h 152400"/>
                  <a:gd name="connsiteX17" fmla="*/ 29051 w 152400"/>
                  <a:gd name="connsiteY17" fmla="*/ 133350 h 152400"/>
                  <a:gd name="connsiteX18" fmla="*/ 38957 w 152400"/>
                  <a:gd name="connsiteY18" fmla="*/ 133350 h 152400"/>
                  <a:gd name="connsiteX19" fmla="*/ 52388 w 152400"/>
                  <a:gd name="connsiteY19" fmla="*/ 142875 h 152400"/>
                  <a:gd name="connsiteX20" fmla="*/ 114300 w 152400"/>
                  <a:gd name="connsiteY20" fmla="*/ 142875 h 152400"/>
                  <a:gd name="connsiteX21" fmla="*/ 142875 w 152400"/>
                  <a:gd name="connsiteY21" fmla="*/ 114300 h 152400"/>
                  <a:gd name="connsiteX22" fmla="*/ 142875 w 152400"/>
                  <a:gd name="connsiteY22" fmla="*/ 52388 h 152400"/>
                  <a:gd name="connsiteX23" fmla="*/ 133350 w 152400"/>
                  <a:gd name="connsiteY23" fmla="*/ 38957 h 152400"/>
                  <a:gd name="connsiteX24" fmla="*/ 133350 w 152400"/>
                  <a:gd name="connsiteY24" fmla="*/ 29051 h 152400"/>
                  <a:gd name="connsiteX25" fmla="*/ 152400 w 152400"/>
                  <a:gd name="connsiteY25" fmla="*/ 52388 h 152400"/>
                  <a:gd name="connsiteX26" fmla="*/ 152400 w 152400"/>
                  <a:gd name="connsiteY26" fmla="*/ 114300 h 152400"/>
                  <a:gd name="connsiteX27" fmla="*/ 114300 w 152400"/>
                  <a:gd name="connsiteY27" fmla="*/ 152400 h 152400"/>
                  <a:gd name="connsiteX28" fmla="*/ 52388 w 152400"/>
                  <a:gd name="connsiteY28" fmla="*/ 1524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2400" h="152400">
                    <a:moveTo>
                      <a:pt x="23813" y="0"/>
                    </a:moveTo>
                    <a:cubicBezTo>
                      <a:pt x="10668" y="0"/>
                      <a:pt x="0" y="10668"/>
                      <a:pt x="0" y="23813"/>
                    </a:cubicBezTo>
                    <a:lnTo>
                      <a:pt x="0" y="100013"/>
                    </a:lnTo>
                    <a:cubicBezTo>
                      <a:pt x="0" y="113157"/>
                      <a:pt x="10668" y="123825"/>
                      <a:pt x="23813" y="123825"/>
                    </a:cubicBezTo>
                    <a:lnTo>
                      <a:pt x="100013" y="123825"/>
                    </a:lnTo>
                    <a:cubicBezTo>
                      <a:pt x="113157" y="123825"/>
                      <a:pt x="123825" y="113157"/>
                      <a:pt x="123825" y="100013"/>
                    </a:cubicBezTo>
                    <a:lnTo>
                      <a:pt x="123825" y="23813"/>
                    </a:lnTo>
                    <a:cubicBezTo>
                      <a:pt x="123825" y="10668"/>
                      <a:pt x="113157" y="0"/>
                      <a:pt x="100013" y="0"/>
                    </a:cubicBezTo>
                    <a:lnTo>
                      <a:pt x="23813" y="0"/>
                    </a:lnTo>
                    <a:close/>
                    <a:moveTo>
                      <a:pt x="9525" y="100013"/>
                    </a:moveTo>
                    <a:lnTo>
                      <a:pt x="9525" y="38100"/>
                    </a:lnTo>
                    <a:lnTo>
                      <a:pt x="114300" y="38100"/>
                    </a:lnTo>
                    <a:lnTo>
                      <a:pt x="114300" y="100013"/>
                    </a:lnTo>
                    <a:cubicBezTo>
                      <a:pt x="114300" y="107918"/>
                      <a:pt x="107918" y="114300"/>
                      <a:pt x="100013" y="114300"/>
                    </a:cubicBezTo>
                    <a:lnTo>
                      <a:pt x="23813" y="114300"/>
                    </a:lnTo>
                    <a:cubicBezTo>
                      <a:pt x="15907" y="114300"/>
                      <a:pt x="9525" y="107918"/>
                      <a:pt x="9525" y="100013"/>
                    </a:cubicBezTo>
                    <a:close/>
                    <a:moveTo>
                      <a:pt x="52388" y="152400"/>
                    </a:moveTo>
                    <a:cubicBezTo>
                      <a:pt x="40862" y="152400"/>
                      <a:pt x="31242" y="144209"/>
                      <a:pt x="29051" y="133350"/>
                    </a:cubicBezTo>
                    <a:lnTo>
                      <a:pt x="38957" y="133350"/>
                    </a:lnTo>
                    <a:cubicBezTo>
                      <a:pt x="40958" y="138875"/>
                      <a:pt x="46196" y="142875"/>
                      <a:pt x="52388" y="142875"/>
                    </a:cubicBezTo>
                    <a:lnTo>
                      <a:pt x="114300" y="142875"/>
                    </a:lnTo>
                    <a:cubicBezTo>
                      <a:pt x="130112" y="142875"/>
                      <a:pt x="142875" y="130112"/>
                      <a:pt x="142875" y="114300"/>
                    </a:cubicBezTo>
                    <a:lnTo>
                      <a:pt x="142875" y="52388"/>
                    </a:lnTo>
                    <a:cubicBezTo>
                      <a:pt x="142875" y="46196"/>
                      <a:pt x="138875" y="40862"/>
                      <a:pt x="133350" y="38957"/>
                    </a:cubicBezTo>
                    <a:lnTo>
                      <a:pt x="133350" y="29051"/>
                    </a:lnTo>
                    <a:cubicBezTo>
                      <a:pt x="144209" y="31242"/>
                      <a:pt x="152400" y="40862"/>
                      <a:pt x="152400" y="52388"/>
                    </a:cubicBezTo>
                    <a:lnTo>
                      <a:pt x="152400" y="114300"/>
                    </a:lnTo>
                    <a:cubicBezTo>
                      <a:pt x="152400" y="135350"/>
                      <a:pt x="135350" y="152400"/>
                      <a:pt x="114300" y="152400"/>
                    </a:cubicBezTo>
                    <a:lnTo>
                      <a:pt x="52388" y="152400"/>
                    </a:lnTo>
                    <a:close/>
                  </a:path>
                </a:pathLst>
              </a:custGeom>
              <a:gradFill>
                <a:gsLst>
                  <a:gs pos="100000">
                    <a:srgbClr val="BDF2BD"/>
                  </a:gs>
                  <a:gs pos="55000">
                    <a:srgbClr val="C3E9FC"/>
                  </a:gs>
                </a:gsLst>
                <a:lin ang="0" scaled="1"/>
              </a:gradFill>
              <a:ln w="9525" cap="flat">
                <a:noFill/>
                <a:prstDash val="solid"/>
                <a:miter/>
              </a:ln>
            </p:spPr>
            <p:txBody>
              <a:bodyPr rot="0" spcFirstLastPara="0" vertOverflow="overflow" horzOverflow="overflow" vert="horz" wrap="square" lIns="101067" tIns="50532" rIns="101067" bIns="50532" numCol="1" spcCol="0" rtlCol="0" fromWordArt="0" anchor="ctr" anchorCtr="0" forceAA="0" compatLnSpc="1">
                <a:prstTxWarp prst="textNoShape">
                  <a:avLst/>
                </a:prstTxWarp>
                <a:noAutofit/>
              </a:bodyPr>
              <a:lstStyle/>
              <a:p>
                <a:pPr marL="0" marR="0" lvl="0" indent="0" algn="l" defTabSz="1524497" rtl="0" eaLnBrk="1" fontAlgn="auto" latinLnBrk="0" hangingPunct="1">
                  <a:lnSpc>
                    <a:spcPct val="100000"/>
                  </a:lnSpc>
                  <a:spcBef>
                    <a:spcPts val="0"/>
                  </a:spcBef>
                  <a:spcAft>
                    <a:spcPts val="0"/>
                  </a:spcAft>
                  <a:buClrTx/>
                  <a:buSzTx/>
                  <a:buFontTx/>
                  <a:buNone/>
                  <a:tabLst/>
                  <a:defRPr/>
                </a:pPr>
                <a:endParaRPr kumimoji="0" lang="en-US" sz="5211" b="0" i="0" u="none" strike="noStrike" kern="1200" cap="none" spc="0" normalizeH="0" baseline="0" noProof="0">
                  <a:ln>
                    <a:noFill/>
                  </a:ln>
                  <a:solidFill>
                    <a:srgbClr val="FFFFFF"/>
                  </a:solidFill>
                  <a:effectLst/>
                  <a:uLnTx/>
                  <a:uFillTx/>
                  <a:latin typeface="Segoe Sans Text" pitchFamily="2" charset="0"/>
                  <a:ea typeface="+mn-ea"/>
                  <a:cs typeface="+mn-cs"/>
                </a:endParaRPr>
              </a:p>
            </p:txBody>
          </p:sp>
          <p:sp>
            <p:nvSpPr>
              <p:cNvPr id="120" name="Graphic 46">
                <a:extLst>
                  <a:ext uri="{FF2B5EF4-FFF2-40B4-BE49-F238E27FC236}">
                    <a16:creationId xmlns:a16="http://schemas.microsoft.com/office/drawing/2014/main" id="{BC47A772-2B5F-6494-2310-BCC285C71A94}"/>
                  </a:ext>
                  <a:ext uri="{C183D7F6-B498-43B3-948B-1728B52AA6E4}">
                    <adec:decorative xmlns:adec="http://schemas.microsoft.com/office/drawing/2017/decorative" val="1"/>
                  </a:ext>
                </a:extLst>
              </p:cNvPr>
              <p:cNvSpPr>
                <a:spLocks noChangeAspect="1"/>
              </p:cNvSpPr>
              <p:nvPr/>
            </p:nvSpPr>
            <p:spPr>
              <a:xfrm>
                <a:off x="5346568" y="2691114"/>
                <a:ext cx="124858" cy="158153"/>
              </a:xfrm>
              <a:custGeom>
                <a:avLst/>
                <a:gdLst>
                  <a:gd name="connsiteX0" fmla="*/ 152400 w 285750"/>
                  <a:gd name="connsiteY0" fmla="*/ 92869 h 361950"/>
                  <a:gd name="connsiteX1" fmla="*/ 152400 w 285750"/>
                  <a:gd name="connsiteY1" fmla="*/ 0 h 361950"/>
                  <a:gd name="connsiteX2" fmla="*/ 88106 w 285750"/>
                  <a:gd name="connsiteY2" fmla="*/ 0 h 361950"/>
                  <a:gd name="connsiteX3" fmla="*/ 47625 w 285750"/>
                  <a:gd name="connsiteY3" fmla="*/ 40481 h 361950"/>
                  <a:gd name="connsiteX4" fmla="*/ 47625 w 285750"/>
                  <a:gd name="connsiteY4" fmla="*/ 273844 h 361950"/>
                  <a:gd name="connsiteX5" fmla="*/ 88106 w 285750"/>
                  <a:gd name="connsiteY5" fmla="*/ 314325 h 361950"/>
                  <a:gd name="connsiteX6" fmla="*/ 245269 w 285750"/>
                  <a:gd name="connsiteY6" fmla="*/ 314325 h 361950"/>
                  <a:gd name="connsiteX7" fmla="*/ 285750 w 285750"/>
                  <a:gd name="connsiteY7" fmla="*/ 273844 h 361950"/>
                  <a:gd name="connsiteX8" fmla="*/ 285750 w 285750"/>
                  <a:gd name="connsiteY8" fmla="*/ 133350 h 361950"/>
                  <a:gd name="connsiteX9" fmla="*/ 192881 w 285750"/>
                  <a:gd name="connsiteY9" fmla="*/ 133350 h 361950"/>
                  <a:gd name="connsiteX10" fmla="*/ 152400 w 285750"/>
                  <a:gd name="connsiteY10" fmla="*/ 92869 h 361950"/>
                  <a:gd name="connsiteX11" fmla="*/ 176213 w 285750"/>
                  <a:gd name="connsiteY11" fmla="*/ 92869 h 361950"/>
                  <a:gd name="connsiteX12" fmla="*/ 176213 w 285750"/>
                  <a:gd name="connsiteY12" fmla="*/ 4763 h 361950"/>
                  <a:gd name="connsiteX13" fmla="*/ 280988 w 285750"/>
                  <a:gd name="connsiteY13" fmla="*/ 109538 h 361950"/>
                  <a:gd name="connsiteX14" fmla="*/ 192881 w 285750"/>
                  <a:gd name="connsiteY14" fmla="*/ 109538 h 361950"/>
                  <a:gd name="connsiteX15" fmla="*/ 176213 w 285750"/>
                  <a:gd name="connsiteY15" fmla="*/ 92869 h 361950"/>
                  <a:gd name="connsiteX16" fmla="*/ 0 w 285750"/>
                  <a:gd name="connsiteY16" fmla="*/ 82868 h 361950"/>
                  <a:gd name="connsiteX17" fmla="*/ 23813 w 285750"/>
                  <a:gd name="connsiteY17" fmla="*/ 47530 h 361950"/>
                  <a:gd name="connsiteX18" fmla="*/ 23813 w 285750"/>
                  <a:gd name="connsiteY18" fmla="*/ 273844 h 361950"/>
                  <a:gd name="connsiteX19" fmla="*/ 88106 w 285750"/>
                  <a:gd name="connsiteY19" fmla="*/ 338138 h 361950"/>
                  <a:gd name="connsiteX20" fmla="*/ 238220 w 285750"/>
                  <a:gd name="connsiteY20" fmla="*/ 338138 h 361950"/>
                  <a:gd name="connsiteX21" fmla="*/ 202883 w 285750"/>
                  <a:gd name="connsiteY21" fmla="*/ 361950 h 361950"/>
                  <a:gd name="connsiteX22" fmla="*/ 88106 w 285750"/>
                  <a:gd name="connsiteY22" fmla="*/ 361950 h 361950"/>
                  <a:gd name="connsiteX23" fmla="*/ 0 w 285750"/>
                  <a:gd name="connsiteY23" fmla="*/ 273844 h 361950"/>
                  <a:gd name="connsiteX24" fmla="*/ 0 w 285750"/>
                  <a:gd name="connsiteY24" fmla="*/ 82868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5750" h="361950">
                    <a:moveTo>
                      <a:pt x="152400" y="92869"/>
                    </a:moveTo>
                    <a:lnTo>
                      <a:pt x="152400" y="0"/>
                    </a:lnTo>
                    <a:lnTo>
                      <a:pt x="88106" y="0"/>
                    </a:lnTo>
                    <a:cubicBezTo>
                      <a:pt x="65723" y="0"/>
                      <a:pt x="47625" y="18098"/>
                      <a:pt x="47625" y="40481"/>
                    </a:cubicBezTo>
                    <a:lnTo>
                      <a:pt x="47625" y="273844"/>
                    </a:lnTo>
                    <a:cubicBezTo>
                      <a:pt x="47625" y="296228"/>
                      <a:pt x="65723" y="314325"/>
                      <a:pt x="88106" y="314325"/>
                    </a:cubicBezTo>
                    <a:lnTo>
                      <a:pt x="245269" y="314325"/>
                    </a:lnTo>
                    <a:cubicBezTo>
                      <a:pt x="267653" y="314325"/>
                      <a:pt x="285750" y="296228"/>
                      <a:pt x="285750" y="273844"/>
                    </a:cubicBezTo>
                    <a:lnTo>
                      <a:pt x="285750" y="133350"/>
                    </a:lnTo>
                    <a:lnTo>
                      <a:pt x="192881" y="133350"/>
                    </a:lnTo>
                    <a:cubicBezTo>
                      <a:pt x="170498" y="133350"/>
                      <a:pt x="152400" y="115253"/>
                      <a:pt x="152400" y="92869"/>
                    </a:cubicBezTo>
                    <a:close/>
                    <a:moveTo>
                      <a:pt x="176213" y="92869"/>
                    </a:moveTo>
                    <a:lnTo>
                      <a:pt x="176213" y="4763"/>
                    </a:lnTo>
                    <a:lnTo>
                      <a:pt x="280988" y="109538"/>
                    </a:lnTo>
                    <a:lnTo>
                      <a:pt x="192881" y="109538"/>
                    </a:lnTo>
                    <a:cubicBezTo>
                      <a:pt x="183642" y="109538"/>
                      <a:pt x="176213" y="102108"/>
                      <a:pt x="176213" y="92869"/>
                    </a:cubicBezTo>
                    <a:close/>
                    <a:moveTo>
                      <a:pt x="0" y="82868"/>
                    </a:moveTo>
                    <a:cubicBezTo>
                      <a:pt x="0" y="66866"/>
                      <a:pt x="9811" y="53150"/>
                      <a:pt x="23813" y="47530"/>
                    </a:cubicBezTo>
                    <a:lnTo>
                      <a:pt x="23813" y="273844"/>
                    </a:lnTo>
                    <a:cubicBezTo>
                      <a:pt x="23813" y="309372"/>
                      <a:pt x="52578" y="338138"/>
                      <a:pt x="88106" y="338138"/>
                    </a:cubicBezTo>
                    <a:lnTo>
                      <a:pt x="238220" y="338138"/>
                    </a:lnTo>
                    <a:cubicBezTo>
                      <a:pt x="232601" y="352139"/>
                      <a:pt x="218885" y="361950"/>
                      <a:pt x="202883" y="361950"/>
                    </a:cubicBezTo>
                    <a:lnTo>
                      <a:pt x="88106" y="361950"/>
                    </a:lnTo>
                    <a:cubicBezTo>
                      <a:pt x="39434" y="361950"/>
                      <a:pt x="0" y="322517"/>
                      <a:pt x="0" y="273844"/>
                    </a:cubicBezTo>
                    <a:lnTo>
                      <a:pt x="0" y="82868"/>
                    </a:lnTo>
                    <a:close/>
                  </a:path>
                </a:pathLst>
              </a:custGeom>
              <a:gradFill>
                <a:gsLst>
                  <a:gs pos="100000">
                    <a:srgbClr val="BDF2BD"/>
                  </a:gs>
                  <a:gs pos="55000">
                    <a:srgbClr val="C3E9FC"/>
                  </a:gs>
                </a:gsLst>
                <a:lin ang="0" scaled="1"/>
              </a:gradFill>
              <a:ln w="9525" cap="flat">
                <a:noFill/>
                <a:prstDash val="solid"/>
                <a:miter/>
              </a:ln>
            </p:spPr>
            <p:txBody>
              <a:bodyPr rot="0" spcFirstLastPara="0" vertOverflow="overflow" horzOverflow="overflow" vert="horz" wrap="square" lIns="101067" tIns="50532" rIns="101067" bIns="50532" numCol="1" spcCol="0" rtlCol="0" fromWordArt="0" anchor="ctr" anchorCtr="0" forceAA="0" compatLnSpc="1">
                <a:prstTxWarp prst="textNoShape">
                  <a:avLst/>
                </a:prstTxWarp>
                <a:noAutofit/>
              </a:bodyPr>
              <a:lstStyle/>
              <a:p>
                <a:pPr marL="0" marR="0" lvl="0" indent="0" algn="l" defTabSz="1524497" rtl="0" eaLnBrk="1" fontAlgn="auto" latinLnBrk="0" hangingPunct="1">
                  <a:lnSpc>
                    <a:spcPct val="100000"/>
                  </a:lnSpc>
                  <a:spcBef>
                    <a:spcPts val="0"/>
                  </a:spcBef>
                  <a:spcAft>
                    <a:spcPts val="0"/>
                  </a:spcAft>
                  <a:buClrTx/>
                  <a:buSzTx/>
                  <a:buFontTx/>
                  <a:buNone/>
                  <a:tabLst/>
                  <a:defRPr/>
                </a:pPr>
                <a:endParaRPr kumimoji="0" lang="en-US" sz="5211" b="0" i="0" u="none" strike="noStrike" kern="1200" cap="none" spc="0" normalizeH="0" baseline="0" noProof="0">
                  <a:ln>
                    <a:noFill/>
                  </a:ln>
                  <a:solidFill>
                    <a:srgbClr val="FFFFFF"/>
                  </a:solidFill>
                  <a:effectLst/>
                  <a:uLnTx/>
                  <a:uFillTx/>
                  <a:latin typeface="Segoe Sans Text" pitchFamily="2" charset="0"/>
                  <a:ea typeface="+mn-ea"/>
                  <a:cs typeface="+mn-cs"/>
                </a:endParaRPr>
              </a:p>
            </p:txBody>
          </p:sp>
          <p:sp>
            <p:nvSpPr>
              <p:cNvPr id="122" name="Graphic 49">
                <a:extLst>
                  <a:ext uri="{FF2B5EF4-FFF2-40B4-BE49-F238E27FC236}">
                    <a16:creationId xmlns:a16="http://schemas.microsoft.com/office/drawing/2014/main" id="{E3D28FAC-0A51-8540-C7EC-0CC618EC5724}"/>
                  </a:ext>
                  <a:ext uri="{C183D7F6-B498-43B3-948B-1728B52AA6E4}">
                    <adec:decorative xmlns:adec="http://schemas.microsoft.com/office/drawing/2017/decorative" val="1"/>
                  </a:ext>
                </a:extLst>
              </p:cNvPr>
              <p:cNvSpPr>
                <a:spLocks noChangeAspect="1"/>
              </p:cNvSpPr>
              <p:nvPr/>
            </p:nvSpPr>
            <p:spPr>
              <a:xfrm>
                <a:off x="6696878" y="2707317"/>
                <a:ext cx="172246" cy="115586"/>
              </a:xfrm>
              <a:custGeom>
                <a:avLst/>
                <a:gdLst>
                  <a:gd name="connsiteX0" fmla="*/ 180975 w 361950"/>
                  <a:gd name="connsiteY0" fmla="*/ 0 h 242887"/>
                  <a:gd name="connsiteX1" fmla="*/ 76581 w 361950"/>
                  <a:gd name="connsiteY1" fmla="*/ 95250 h 242887"/>
                  <a:gd name="connsiteX2" fmla="*/ 73819 w 361950"/>
                  <a:gd name="connsiteY2" fmla="*/ 95250 h 242887"/>
                  <a:gd name="connsiteX3" fmla="*/ 0 w 361950"/>
                  <a:gd name="connsiteY3" fmla="*/ 169069 h 242887"/>
                  <a:gd name="connsiteX4" fmla="*/ 73819 w 361950"/>
                  <a:gd name="connsiteY4" fmla="*/ 242888 h 242887"/>
                  <a:gd name="connsiteX5" fmla="*/ 288131 w 361950"/>
                  <a:gd name="connsiteY5" fmla="*/ 242888 h 242887"/>
                  <a:gd name="connsiteX6" fmla="*/ 361950 w 361950"/>
                  <a:gd name="connsiteY6" fmla="*/ 169069 h 242887"/>
                  <a:gd name="connsiteX7" fmla="*/ 288131 w 361950"/>
                  <a:gd name="connsiteY7" fmla="*/ 95250 h 242887"/>
                  <a:gd name="connsiteX8" fmla="*/ 285369 w 361950"/>
                  <a:gd name="connsiteY8" fmla="*/ 95250 h 242887"/>
                  <a:gd name="connsiteX9" fmla="*/ 180975 w 361950"/>
                  <a:gd name="connsiteY9" fmla="*/ 0 h 24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950" h="242887">
                    <a:moveTo>
                      <a:pt x="180975" y="0"/>
                    </a:moveTo>
                    <a:cubicBezTo>
                      <a:pt x="126302" y="0"/>
                      <a:pt x="81439" y="41815"/>
                      <a:pt x="76581" y="95250"/>
                    </a:cubicBezTo>
                    <a:lnTo>
                      <a:pt x="73819" y="95250"/>
                    </a:lnTo>
                    <a:cubicBezTo>
                      <a:pt x="33052" y="95250"/>
                      <a:pt x="0" y="128302"/>
                      <a:pt x="0" y="169069"/>
                    </a:cubicBezTo>
                    <a:cubicBezTo>
                      <a:pt x="0" y="209836"/>
                      <a:pt x="33052" y="242888"/>
                      <a:pt x="73819" y="242888"/>
                    </a:cubicBezTo>
                    <a:lnTo>
                      <a:pt x="288131" y="242888"/>
                    </a:lnTo>
                    <a:cubicBezTo>
                      <a:pt x="328898" y="242888"/>
                      <a:pt x="361950" y="209836"/>
                      <a:pt x="361950" y="169069"/>
                    </a:cubicBezTo>
                    <a:cubicBezTo>
                      <a:pt x="361950" y="128302"/>
                      <a:pt x="328898" y="95250"/>
                      <a:pt x="288131" y="95250"/>
                    </a:cubicBezTo>
                    <a:lnTo>
                      <a:pt x="285369" y="95250"/>
                    </a:lnTo>
                    <a:cubicBezTo>
                      <a:pt x="280511" y="41815"/>
                      <a:pt x="235649" y="0"/>
                      <a:pt x="180975" y="0"/>
                    </a:cubicBezTo>
                    <a:close/>
                  </a:path>
                </a:pathLst>
              </a:custGeom>
              <a:gradFill>
                <a:gsLst>
                  <a:gs pos="100000">
                    <a:srgbClr val="BDF2BD"/>
                  </a:gs>
                  <a:gs pos="55000">
                    <a:srgbClr val="C3E9FC"/>
                  </a:gs>
                </a:gsLst>
                <a:lin ang="0" scaled="1"/>
              </a:gradFill>
              <a:ln w="9525" cap="flat">
                <a:noFill/>
                <a:prstDash val="solid"/>
                <a:miter/>
              </a:ln>
            </p:spPr>
            <p:txBody>
              <a:bodyPr rtlCol="0" anchor="ctr"/>
              <a:lstStyle/>
              <a:p>
                <a:pPr marL="0" marR="0" lvl="0" indent="0" algn="l" defTabSz="1524497" rtl="0" eaLnBrk="1" fontAlgn="auto" latinLnBrk="0" hangingPunct="1">
                  <a:lnSpc>
                    <a:spcPct val="100000"/>
                  </a:lnSpc>
                  <a:spcBef>
                    <a:spcPts val="0"/>
                  </a:spcBef>
                  <a:spcAft>
                    <a:spcPts val="0"/>
                  </a:spcAft>
                  <a:buClrTx/>
                  <a:buSzTx/>
                  <a:buFontTx/>
                  <a:buNone/>
                  <a:tabLst/>
                  <a:defRPr/>
                </a:pPr>
                <a:endParaRPr kumimoji="0" lang="en-US" sz="5211" b="0" i="0" u="none" strike="noStrike" kern="1200" cap="none" spc="0" normalizeH="0" baseline="0" noProof="0">
                  <a:ln>
                    <a:noFill/>
                  </a:ln>
                  <a:solidFill>
                    <a:srgbClr val="FFFFFF"/>
                  </a:solidFill>
                  <a:effectLst/>
                  <a:uLnTx/>
                  <a:uFillTx/>
                  <a:latin typeface="Segoe Sans Text" pitchFamily="2" charset="0"/>
                  <a:ea typeface="+mn-ea"/>
                  <a:cs typeface="+mn-cs"/>
                </a:endParaRPr>
              </a:p>
            </p:txBody>
          </p:sp>
          <p:sp>
            <p:nvSpPr>
              <p:cNvPr id="125" name="Graphic 52">
                <a:extLst>
                  <a:ext uri="{FF2B5EF4-FFF2-40B4-BE49-F238E27FC236}">
                    <a16:creationId xmlns:a16="http://schemas.microsoft.com/office/drawing/2014/main" id="{F231415D-0697-2E06-9A83-DBD453272BFA}"/>
                  </a:ext>
                  <a:ext uri="{C183D7F6-B498-43B3-948B-1728B52AA6E4}">
                    <adec:decorative xmlns:adec="http://schemas.microsoft.com/office/drawing/2017/decorative" val="1"/>
                  </a:ext>
                </a:extLst>
              </p:cNvPr>
              <p:cNvSpPr>
                <a:spLocks noChangeAspect="1"/>
              </p:cNvSpPr>
              <p:nvPr/>
            </p:nvSpPr>
            <p:spPr>
              <a:xfrm>
                <a:off x="5344365" y="3996857"/>
                <a:ext cx="129265" cy="161582"/>
              </a:xfrm>
              <a:custGeom>
                <a:avLst/>
                <a:gdLst>
                  <a:gd name="connsiteX0" fmla="*/ 48101 w 304800"/>
                  <a:gd name="connsiteY0" fmla="*/ 19907 h 381000"/>
                  <a:gd name="connsiteX1" fmla="*/ 152400 w 304800"/>
                  <a:gd name="connsiteY1" fmla="*/ 0 h 381000"/>
                  <a:gd name="connsiteX2" fmla="*/ 256699 w 304800"/>
                  <a:gd name="connsiteY2" fmla="*/ 19907 h 381000"/>
                  <a:gd name="connsiteX3" fmla="*/ 304800 w 304800"/>
                  <a:gd name="connsiteY3" fmla="*/ 76200 h 381000"/>
                  <a:gd name="connsiteX4" fmla="*/ 256699 w 304800"/>
                  <a:gd name="connsiteY4" fmla="*/ 132493 h 381000"/>
                  <a:gd name="connsiteX5" fmla="*/ 152400 w 304800"/>
                  <a:gd name="connsiteY5" fmla="*/ 152400 h 381000"/>
                  <a:gd name="connsiteX6" fmla="*/ 48101 w 304800"/>
                  <a:gd name="connsiteY6" fmla="*/ 132493 h 381000"/>
                  <a:gd name="connsiteX7" fmla="*/ 0 w 304800"/>
                  <a:gd name="connsiteY7" fmla="*/ 76200 h 381000"/>
                  <a:gd name="connsiteX8" fmla="*/ 48101 w 304800"/>
                  <a:gd name="connsiteY8" fmla="*/ 19907 h 381000"/>
                  <a:gd name="connsiteX9" fmla="*/ 0 w 304800"/>
                  <a:gd name="connsiteY9" fmla="*/ 128778 h 381000"/>
                  <a:gd name="connsiteX10" fmla="*/ 38195 w 304800"/>
                  <a:gd name="connsiteY10" fmla="*/ 154115 h 381000"/>
                  <a:gd name="connsiteX11" fmla="*/ 152400 w 304800"/>
                  <a:gd name="connsiteY11" fmla="*/ 176213 h 381000"/>
                  <a:gd name="connsiteX12" fmla="*/ 266605 w 304800"/>
                  <a:gd name="connsiteY12" fmla="*/ 154115 h 381000"/>
                  <a:gd name="connsiteX13" fmla="*/ 304800 w 304800"/>
                  <a:gd name="connsiteY13" fmla="*/ 128778 h 381000"/>
                  <a:gd name="connsiteX14" fmla="*/ 304800 w 304800"/>
                  <a:gd name="connsiteY14" fmla="*/ 307181 h 381000"/>
                  <a:gd name="connsiteX15" fmla="*/ 304800 w 304800"/>
                  <a:gd name="connsiteY15" fmla="*/ 307181 h 381000"/>
                  <a:gd name="connsiteX16" fmla="*/ 256794 w 304800"/>
                  <a:gd name="connsiteY16" fmla="*/ 361093 h 381000"/>
                  <a:gd name="connsiteX17" fmla="*/ 152495 w 304800"/>
                  <a:gd name="connsiteY17" fmla="*/ 381000 h 381000"/>
                  <a:gd name="connsiteX18" fmla="*/ 48197 w 304800"/>
                  <a:gd name="connsiteY18" fmla="*/ 361093 h 381000"/>
                  <a:gd name="connsiteX19" fmla="*/ 0 w 304800"/>
                  <a:gd name="connsiteY19" fmla="*/ 307181 h 381000"/>
                  <a:gd name="connsiteX20" fmla="*/ 0 w 304800"/>
                  <a:gd name="connsiteY20" fmla="*/ 307181 h 381000"/>
                  <a:gd name="connsiteX21" fmla="*/ 0 w 304800"/>
                  <a:gd name="connsiteY21" fmla="*/ 128778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4800" h="381000">
                    <a:moveTo>
                      <a:pt x="48101" y="19907"/>
                    </a:moveTo>
                    <a:cubicBezTo>
                      <a:pt x="75438" y="7429"/>
                      <a:pt x="112300" y="0"/>
                      <a:pt x="152400" y="0"/>
                    </a:cubicBezTo>
                    <a:cubicBezTo>
                      <a:pt x="192500" y="0"/>
                      <a:pt x="229362" y="7429"/>
                      <a:pt x="256699" y="19907"/>
                    </a:cubicBezTo>
                    <a:cubicBezTo>
                      <a:pt x="282988" y="31909"/>
                      <a:pt x="304800" y="50959"/>
                      <a:pt x="304800" y="76200"/>
                    </a:cubicBezTo>
                    <a:cubicBezTo>
                      <a:pt x="304800" y="101441"/>
                      <a:pt x="282988" y="120491"/>
                      <a:pt x="256699" y="132493"/>
                    </a:cubicBezTo>
                    <a:cubicBezTo>
                      <a:pt x="229362" y="144971"/>
                      <a:pt x="192500" y="152400"/>
                      <a:pt x="152400" y="152400"/>
                    </a:cubicBezTo>
                    <a:cubicBezTo>
                      <a:pt x="112300" y="152400"/>
                      <a:pt x="75438" y="144971"/>
                      <a:pt x="48101" y="132493"/>
                    </a:cubicBezTo>
                    <a:cubicBezTo>
                      <a:pt x="21812" y="120491"/>
                      <a:pt x="0" y="101441"/>
                      <a:pt x="0" y="76200"/>
                    </a:cubicBezTo>
                    <a:cubicBezTo>
                      <a:pt x="0" y="50959"/>
                      <a:pt x="21812" y="31909"/>
                      <a:pt x="48101" y="19907"/>
                    </a:cubicBezTo>
                    <a:close/>
                    <a:moveTo>
                      <a:pt x="0" y="128778"/>
                    </a:moveTo>
                    <a:cubicBezTo>
                      <a:pt x="11525" y="139922"/>
                      <a:pt x="25527" y="148304"/>
                      <a:pt x="38195" y="154115"/>
                    </a:cubicBezTo>
                    <a:cubicBezTo>
                      <a:pt x="69247" y="168307"/>
                      <a:pt x="109633" y="176213"/>
                      <a:pt x="152400" y="176213"/>
                    </a:cubicBezTo>
                    <a:cubicBezTo>
                      <a:pt x="195167" y="176213"/>
                      <a:pt x="235553" y="168402"/>
                      <a:pt x="266605" y="154115"/>
                    </a:cubicBezTo>
                    <a:cubicBezTo>
                      <a:pt x="279273" y="148304"/>
                      <a:pt x="293275" y="139922"/>
                      <a:pt x="304800" y="128778"/>
                    </a:cubicBezTo>
                    <a:lnTo>
                      <a:pt x="304800" y="307181"/>
                    </a:lnTo>
                    <a:lnTo>
                      <a:pt x="304800" y="307181"/>
                    </a:lnTo>
                    <a:cubicBezTo>
                      <a:pt x="303467" y="331280"/>
                      <a:pt x="282226" y="349472"/>
                      <a:pt x="256794" y="361093"/>
                    </a:cubicBezTo>
                    <a:cubicBezTo>
                      <a:pt x="229457" y="373571"/>
                      <a:pt x="192596" y="381000"/>
                      <a:pt x="152495" y="381000"/>
                    </a:cubicBezTo>
                    <a:cubicBezTo>
                      <a:pt x="112395" y="381000"/>
                      <a:pt x="75533" y="373571"/>
                      <a:pt x="48197" y="361093"/>
                    </a:cubicBezTo>
                    <a:cubicBezTo>
                      <a:pt x="22670" y="349472"/>
                      <a:pt x="1429" y="331280"/>
                      <a:pt x="0" y="307181"/>
                    </a:cubicBezTo>
                    <a:lnTo>
                      <a:pt x="0" y="307181"/>
                    </a:lnTo>
                    <a:lnTo>
                      <a:pt x="0" y="128778"/>
                    </a:lnTo>
                    <a:close/>
                  </a:path>
                </a:pathLst>
              </a:custGeom>
              <a:gradFill>
                <a:gsLst>
                  <a:gs pos="100000">
                    <a:srgbClr val="BDF2BD"/>
                  </a:gs>
                  <a:gs pos="55000">
                    <a:srgbClr val="C3E9FC"/>
                  </a:gs>
                </a:gsLst>
                <a:lin ang="0" scaled="1"/>
              </a:gradFill>
              <a:ln w="9525" cap="flat">
                <a:noFill/>
                <a:prstDash val="solid"/>
                <a:miter/>
              </a:ln>
            </p:spPr>
            <p:txBody>
              <a:bodyPr rot="0" spcFirstLastPara="0" vertOverflow="overflow" horzOverflow="overflow" vert="horz" wrap="square" lIns="101067" tIns="50532" rIns="101067" bIns="50532" numCol="1" spcCol="0" rtlCol="0" fromWordArt="0" anchor="ctr" anchorCtr="0" forceAA="0" compatLnSpc="1">
                <a:prstTxWarp prst="textNoShape">
                  <a:avLst/>
                </a:prstTxWarp>
                <a:noAutofit/>
              </a:bodyPr>
              <a:lstStyle/>
              <a:p>
                <a:pPr marL="0" marR="0" lvl="0" indent="0" algn="l" defTabSz="1524497" rtl="0" eaLnBrk="1" fontAlgn="auto" latinLnBrk="0" hangingPunct="1">
                  <a:lnSpc>
                    <a:spcPct val="100000"/>
                  </a:lnSpc>
                  <a:spcBef>
                    <a:spcPts val="0"/>
                  </a:spcBef>
                  <a:spcAft>
                    <a:spcPts val="0"/>
                  </a:spcAft>
                  <a:buClrTx/>
                  <a:buSzTx/>
                  <a:buFontTx/>
                  <a:buNone/>
                  <a:tabLst/>
                  <a:defRPr/>
                </a:pPr>
                <a:endParaRPr kumimoji="0" lang="en-US" sz="5211" b="0" i="0" u="none" strike="noStrike" kern="1200" cap="none" spc="0" normalizeH="0" baseline="0" noProof="0">
                  <a:ln>
                    <a:noFill/>
                  </a:ln>
                  <a:solidFill>
                    <a:srgbClr val="FFFFFF"/>
                  </a:solidFill>
                  <a:effectLst/>
                  <a:uLnTx/>
                  <a:uFillTx/>
                  <a:latin typeface="Segoe Sans Text" pitchFamily="2" charset="0"/>
                  <a:ea typeface="+mn-ea"/>
                  <a:cs typeface="+mn-cs"/>
                </a:endParaRPr>
              </a:p>
            </p:txBody>
          </p:sp>
          <p:sp>
            <p:nvSpPr>
              <p:cNvPr id="126" name="Graphic 55">
                <a:extLst>
                  <a:ext uri="{FF2B5EF4-FFF2-40B4-BE49-F238E27FC236}">
                    <a16:creationId xmlns:a16="http://schemas.microsoft.com/office/drawing/2014/main" id="{E8BBB68F-3B46-5415-91E2-314E59686664}"/>
                  </a:ext>
                  <a:ext uri="{C183D7F6-B498-43B3-948B-1728B52AA6E4}">
                    <adec:decorative xmlns:adec="http://schemas.microsoft.com/office/drawing/2017/decorative" val="1"/>
                  </a:ext>
                </a:extLst>
              </p:cNvPr>
              <p:cNvSpPr>
                <a:spLocks noChangeAspect="1"/>
              </p:cNvSpPr>
              <p:nvPr/>
            </p:nvSpPr>
            <p:spPr>
              <a:xfrm>
                <a:off x="6699460" y="3994107"/>
                <a:ext cx="167082" cy="167082"/>
              </a:xfrm>
              <a:custGeom>
                <a:avLst/>
                <a:gdLst>
                  <a:gd name="connsiteX0" fmla="*/ 166568 w 190452"/>
                  <a:gd name="connsiteY0" fmla="*/ 33980 h 190452"/>
                  <a:gd name="connsiteX1" fmla="*/ 178570 w 190452"/>
                  <a:gd name="connsiteY1" fmla="*/ 69032 h 190452"/>
                  <a:gd name="connsiteX2" fmla="*/ 148566 w 190452"/>
                  <a:gd name="connsiteY2" fmla="*/ 119324 h 190452"/>
                  <a:gd name="connsiteX3" fmla="*/ 129992 w 190452"/>
                  <a:gd name="connsiteY3" fmla="*/ 115610 h 190452"/>
                  <a:gd name="connsiteX4" fmla="*/ 74843 w 190452"/>
                  <a:gd name="connsiteY4" fmla="*/ 60460 h 190452"/>
                  <a:gd name="connsiteX5" fmla="*/ 71128 w 190452"/>
                  <a:gd name="connsiteY5" fmla="*/ 41886 h 190452"/>
                  <a:gd name="connsiteX6" fmla="*/ 121420 w 190452"/>
                  <a:gd name="connsiteY6" fmla="*/ 11882 h 190452"/>
                  <a:gd name="connsiteX7" fmla="*/ 156472 w 190452"/>
                  <a:gd name="connsiteY7" fmla="*/ 23884 h 190452"/>
                  <a:gd name="connsiteX8" fmla="*/ 178284 w 190452"/>
                  <a:gd name="connsiteY8" fmla="*/ 2072 h 190452"/>
                  <a:gd name="connsiteX9" fmla="*/ 188381 w 190452"/>
                  <a:gd name="connsiteY9" fmla="*/ 2072 h 190452"/>
                  <a:gd name="connsiteX10" fmla="*/ 188381 w 190452"/>
                  <a:gd name="connsiteY10" fmla="*/ 12168 h 190452"/>
                  <a:gd name="connsiteX11" fmla="*/ 166568 w 190452"/>
                  <a:gd name="connsiteY11" fmla="*/ 33980 h 190452"/>
                  <a:gd name="connsiteX12" fmla="*/ 12168 w 190452"/>
                  <a:gd name="connsiteY12" fmla="*/ 188381 h 190452"/>
                  <a:gd name="connsiteX13" fmla="*/ 33980 w 190452"/>
                  <a:gd name="connsiteY13" fmla="*/ 166568 h 190452"/>
                  <a:gd name="connsiteX14" fmla="*/ 69032 w 190452"/>
                  <a:gd name="connsiteY14" fmla="*/ 178570 h 190452"/>
                  <a:gd name="connsiteX15" fmla="*/ 119324 w 190452"/>
                  <a:gd name="connsiteY15" fmla="*/ 148566 h 190452"/>
                  <a:gd name="connsiteX16" fmla="*/ 115610 w 190452"/>
                  <a:gd name="connsiteY16" fmla="*/ 129992 h 190452"/>
                  <a:gd name="connsiteX17" fmla="*/ 60460 w 190452"/>
                  <a:gd name="connsiteY17" fmla="*/ 74843 h 190452"/>
                  <a:gd name="connsiteX18" fmla="*/ 41886 w 190452"/>
                  <a:gd name="connsiteY18" fmla="*/ 71128 h 190452"/>
                  <a:gd name="connsiteX19" fmla="*/ 11882 w 190452"/>
                  <a:gd name="connsiteY19" fmla="*/ 121420 h 190452"/>
                  <a:gd name="connsiteX20" fmla="*/ 23884 w 190452"/>
                  <a:gd name="connsiteY20" fmla="*/ 156472 h 190452"/>
                  <a:gd name="connsiteX21" fmla="*/ 2072 w 190452"/>
                  <a:gd name="connsiteY21" fmla="*/ 178284 h 190452"/>
                  <a:gd name="connsiteX22" fmla="*/ 2072 w 190452"/>
                  <a:gd name="connsiteY22" fmla="*/ 188381 h 190452"/>
                  <a:gd name="connsiteX23" fmla="*/ 12168 w 190452"/>
                  <a:gd name="connsiteY23" fmla="*/ 188381 h 19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452" h="190452">
                    <a:moveTo>
                      <a:pt x="166568" y="33980"/>
                    </a:moveTo>
                    <a:cubicBezTo>
                      <a:pt x="174093" y="43696"/>
                      <a:pt x="178570" y="55793"/>
                      <a:pt x="178570" y="69032"/>
                    </a:cubicBezTo>
                    <a:cubicBezTo>
                      <a:pt x="178570" y="90749"/>
                      <a:pt x="166378" y="109704"/>
                      <a:pt x="148566" y="119324"/>
                    </a:cubicBezTo>
                    <a:cubicBezTo>
                      <a:pt x="142375" y="122658"/>
                      <a:pt x="134945" y="120563"/>
                      <a:pt x="129992" y="115610"/>
                    </a:cubicBezTo>
                    <a:lnTo>
                      <a:pt x="74843" y="60460"/>
                    </a:lnTo>
                    <a:cubicBezTo>
                      <a:pt x="69890" y="55507"/>
                      <a:pt x="67794" y="48077"/>
                      <a:pt x="71128" y="41886"/>
                    </a:cubicBezTo>
                    <a:cubicBezTo>
                      <a:pt x="80748" y="23979"/>
                      <a:pt x="99703" y="11882"/>
                      <a:pt x="121420" y="11882"/>
                    </a:cubicBezTo>
                    <a:cubicBezTo>
                      <a:pt x="134660" y="11882"/>
                      <a:pt x="146756" y="16359"/>
                      <a:pt x="156472" y="23884"/>
                    </a:cubicBezTo>
                    <a:lnTo>
                      <a:pt x="178284" y="2072"/>
                    </a:lnTo>
                    <a:cubicBezTo>
                      <a:pt x="181046" y="-691"/>
                      <a:pt x="185618" y="-691"/>
                      <a:pt x="188381" y="2072"/>
                    </a:cubicBezTo>
                    <a:cubicBezTo>
                      <a:pt x="191143" y="4834"/>
                      <a:pt x="191143" y="9406"/>
                      <a:pt x="188381" y="12168"/>
                    </a:cubicBezTo>
                    <a:lnTo>
                      <a:pt x="166568" y="33980"/>
                    </a:lnTo>
                    <a:close/>
                    <a:moveTo>
                      <a:pt x="12168" y="188381"/>
                    </a:moveTo>
                    <a:lnTo>
                      <a:pt x="33980" y="166568"/>
                    </a:lnTo>
                    <a:cubicBezTo>
                      <a:pt x="43696" y="174093"/>
                      <a:pt x="55793" y="178570"/>
                      <a:pt x="69032" y="178570"/>
                    </a:cubicBezTo>
                    <a:cubicBezTo>
                      <a:pt x="90749" y="178570"/>
                      <a:pt x="109704" y="166378"/>
                      <a:pt x="119324" y="148566"/>
                    </a:cubicBezTo>
                    <a:cubicBezTo>
                      <a:pt x="122658" y="142375"/>
                      <a:pt x="120563" y="134945"/>
                      <a:pt x="115610" y="129992"/>
                    </a:cubicBezTo>
                    <a:lnTo>
                      <a:pt x="60460" y="74843"/>
                    </a:lnTo>
                    <a:cubicBezTo>
                      <a:pt x="55507" y="69890"/>
                      <a:pt x="48077" y="67794"/>
                      <a:pt x="41886" y="71128"/>
                    </a:cubicBezTo>
                    <a:cubicBezTo>
                      <a:pt x="23979" y="80748"/>
                      <a:pt x="11882" y="99703"/>
                      <a:pt x="11882" y="121420"/>
                    </a:cubicBezTo>
                    <a:cubicBezTo>
                      <a:pt x="11882" y="134660"/>
                      <a:pt x="16359" y="146756"/>
                      <a:pt x="23884" y="156472"/>
                    </a:cubicBezTo>
                    <a:lnTo>
                      <a:pt x="2072" y="178284"/>
                    </a:lnTo>
                    <a:cubicBezTo>
                      <a:pt x="-691" y="181046"/>
                      <a:pt x="-691" y="185618"/>
                      <a:pt x="2072" y="188381"/>
                    </a:cubicBezTo>
                    <a:cubicBezTo>
                      <a:pt x="4834" y="191143"/>
                      <a:pt x="9406" y="191143"/>
                      <a:pt x="12168" y="188381"/>
                    </a:cubicBezTo>
                    <a:close/>
                  </a:path>
                </a:pathLst>
              </a:custGeom>
              <a:gradFill>
                <a:gsLst>
                  <a:gs pos="100000">
                    <a:srgbClr val="BDF2BD"/>
                  </a:gs>
                  <a:gs pos="55000">
                    <a:srgbClr val="C3E9FC"/>
                  </a:gs>
                </a:gsLst>
                <a:lin ang="0" scaled="1"/>
              </a:gradFill>
              <a:ln w="9525" cap="flat">
                <a:noFill/>
                <a:prstDash val="solid"/>
                <a:miter/>
              </a:ln>
            </p:spPr>
            <p:txBody>
              <a:bodyPr rot="0" spcFirstLastPara="0" vertOverflow="overflow" horzOverflow="overflow" vert="horz" wrap="square" lIns="101067" tIns="50532" rIns="101067" bIns="50532" numCol="1" spcCol="0" rtlCol="0" fromWordArt="0" anchor="ctr" anchorCtr="0" forceAA="0" compatLnSpc="1">
                <a:prstTxWarp prst="textNoShape">
                  <a:avLst/>
                </a:prstTxWarp>
                <a:noAutofit/>
              </a:bodyPr>
              <a:lstStyle/>
              <a:p>
                <a:pPr marL="0" marR="0" lvl="0" indent="0" algn="l" defTabSz="1524497" rtl="0" eaLnBrk="1" fontAlgn="auto" latinLnBrk="0" hangingPunct="1">
                  <a:lnSpc>
                    <a:spcPct val="100000"/>
                  </a:lnSpc>
                  <a:spcBef>
                    <a:spcPts val="0"/>
                  </a:spcBef>
                  <a:spcAft>
                    <a:spcPts val="0"/>
                  </a:spcAft>
                  <a:buClrTx/>
                  <a:buSzTx/>
                  <a:buFontTx/>
                  <a:buNone/>
                  <a:tabLst/>
                  <a:defRPr/>
                </a:pPr>
                <a:endParaRPr kumimoji="0" lang="en-US" sz="5211" b="0" i="0" u="none" strike="noStrike" kern="1200" cap="none" spc="0" normalizeH="0" baseline="0" noProof="0">
                  <a:ln>
                    <a:noFill/>
                  </a:ln>
                  <a:solidFill>
                    <a:srgbClr val="FFFFFF"/>
                  </a:solidFill>
                  <a:effectLst/>
                  <a:uLnTx/>
                  <a:uFillTx/>
                  <a:latin typeface="Segoe Sans Text" pitchFamily="2" charset="0"/>
                  <a:ea typeface="+mn-ea"/>
                  <a:cs typeface="+mn-cs"/>
                </a:endParaRPr>
              </a:p>
            </p:txBody>
          </p:sp>
        </p:grpSp>
      </p:grpSp>
      <p:sp>
        <p:nvSpPr>
          <p:cNvPr id="123" name="!!NL - box">
            <a:extLst>
              <a:ext uri="{FF2B5EF4-FFF2-40B4-BE49-F238E27FC236}">
                <a16:creationId xmlns:a16="http://schemas.microsoft.com/office/drawing/2014/main" id="{EB8E6BF1-BB91-2CA2-8567-BABE98C9960E}"/>
              </a:ext>
              <a:ext uri="{C183D7F6-B498-43B3-948B-1728B52AA6E4}">
                <adec:decorative xmlns:adec="http://schemas.microsoft.com/office/drawing/2017/decorative" val="1"/>
              </a:ext>
            </a:extLst>
          </p:cNvPr>
          <p:cNvSpPr/>
          <p:nvPr/>
        </p:nvSpPr>
        <p:spPr bwMode="auto">
          <a:xfrm>
            <a:off x="2024311" y="1619707"/>
            <a:ext cx="5741559" cy="3638906"/>
          </a:xfrm>
          <a:prstGeom prst="roundRect">
            <a:avLst>
              <a:gd name="adj" fmla="val 5009"/>
            </a:avLst>
          </a:prstGeom>
          <a:solidFill>
            <a:srgbClr val="091F2C">
              <a:alpha val="72000"/>
            </a:srgbClr>
          </a:solidFill>
          <a:ln w="19050">
            <a:gradFill>
              <a:gsLst>
                <a:gs pos="0">
                  <a:schemeClr val="accent1">
                    <a:lumMod val="5000"/>
                    <a:lumOff val="95000"/>
                  </a:schemeClr>
                </a:gs>
                <a:gs pos="100000">
                  <a:schemeClr val="bg1">
                    <a:alpha val="0"/>
                  </a:schemeClr>
                </a:gs>
              </a:gsLst>
              <a:lin ang="5400000" scaled="1"/>
            </a:gradFill>
            <a:headEnd type="none" w="med" len="med"/>
            <a:tailEnd type="none" w="med" len="med"/>
          </a:ln>
          <a:effectLst>
            <a:outerShdw blurRad="127000" dist="127000" dir="600000" algn="tl" rotWithShape="0">
              <a:prstClr val="black">
                <a:alpha val="20000"/>
              </a:prstClr>
            </a:outerShdw>
          </a:effectLst>
          <a:scene3d>
            <a:camera prst="isometricLeftDown">
              <a:rot lat="600000" lon="36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91F2C"/>
              </a:solidFill>
              <a:effectLst/>
              <a:uLnTx/>
              <a:uFillTx/>
              <a:latin typeface="Segoe Sans Text" pitchFamily="2" charset="0"/>
              <a:ea typeface="Segoe UI" pitchFamily="34" charset="0"/>
              <a:cs typeface="Segoe Sans Text" pitchFamily="2" charset="0"/>
            </a:endParaRPr>
          </a:p>
        </p:txBody>
      </p:sp>
      <p:grpSp>
        <p:nvGrpSpPr>
          <p:cNvPr id="6" name="!!CopilotPrompt">
            <a:extLst>
              <a:ext uri="{FF2B5EF4-FFF2-40B4-BE49-F238E27FC236}">
                <a16:creationId xmlns:a16="http://schemas.microsoft.com/office/drawing/2014/main" id="{DB2A585E-0883-5956-74A8-977A28708862}"/>
              </a:ext>
              <a:ext uri="{C183D7F6-B498-43B3-948B-1728B52AA6E4}">
                <adec:decorative xmlns:adec="http://schemas.microsoft.com/office/drawing/2017/decorative" val="1"/>
              </a:ext>
            </a:extLst>
          </p:cNvPr>
          <p:cNvGrpSpPr/>
          <p:nvPr/>
        </p:nvGrpSpPr>
        <p:grpSpPr>
          <a:xfrm>
            <a:off x="2928107" y="3105224"/>
            <a:ext cx="3952439" cy="677108"/>
            <a:chOff x="1360940" y="3697205"/>
            <a:chExt cx="3593126" cy="615553"/>
          </a:xfrm>
          <a:scene3d>
            <a:camera prst="isometricLeftDown">
              <a:rot lat="600000" lon="3600000" rev="0"/>
            </a:camera>
            <a:lightRig rig="threePt" dir="t"/>
          </a:scene3d>
        </p:grpSpPr>
        <p:sp>
          <p:nvSpPr>
            <p:cNvPr id="14" name="Rectangle: Rounded Corners 13">
              <a:extLst>
                <a:ext uri="{FF2B5EF4-FFF2-40B4-BE49-F238E27FC236}">
                  <a16:creationId xmlns:a16="http://schemas.microsoft.com/office/drawing/2014/main" id="{DC2A9E37-7B23-1A88-D88E-7DA9FBAC0C2F}"/>
                </a:ext>
                <a:ext uri="{C183D7F6-B498-43B3-948B-1728B52AA6E4}">
                  <adec:decorative xmlns:adec="http://schemas.microsoft.com/office/drawing/2017/decorative" val="1"/>
                </a:ext>
              </a:extLst>
            </p:cNvPr>
            <p:cNvSpPr/>
            <p:nvPr/>
          </p:nvSpPr>
          <p:spPr bwMode="auto">
            <a:xfrm>
              <a:off x="1360940" y="3697205"/>
              <a:ext cx="3593126" cy="615553"/>
            </a:xfrm>
            <a:prstGeom prst="roundRect">
              <a:avLst>
                <a:gd name="adj" fmla="val 50000"/>
              </a:avLst>
            </a:prstGeom>
            <a:noFill/>
            <a:ln w="19050">
              <a:solidFill>
                <a:srgbClr val="F3F3F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bg1"/>
                </a:solidFill>
                <a:effectLst/>
                <a:uLnTx/>
                <a:uFillTx/>
                <a:ea typeface="Segoe UI" pitchFamily="34" charset="0"/>
                <a:cs typeface="Segoe Sans Text" pitchFamily="2" charset="0"/>
              </a:endParaRPr>
            </a:p>
          </p:txBody>
        </p:sp>
        <p:sp>
          <p:nvSpPr>
            <p:cNvPr id="17" name="Graphic 15">
              <a:extLst>
                <a:ext uri="{FF2B5EF4-FFF2-40B4-BE49-F238E27FC236}">
                  <a16:creationId xmlns:a16="http://schemas.microsoft.com/office/drawing/2014/main" id="{19512F3D-0F0F-A1F6-8274-DA71CC3E7A2D}"/>
                </a:ext>
                <a:ext uri="{C183D7F6-B498-43B3-948B-1728B52AA6E4}">
                  <adec:decorative xmlns:adec="http://schemas.microsoft.com/office/drawing/2017/decorative" val="1"/>
                </a:ext>
              </a:extLst>
            </p:cNvPr>
            <p:cNvSpPr/>
            <p:nvPr/>
          </p:nvSpPr>
          <p:spPr>
            <a:xfrm>
              <a:off x="1565518" y="3807553"/>
              <a:ext cx="381004" cy="381004"/>
            </a:xfrm>
            <a:custGeom>
              <a:avLst/>
              <a:gdLst>
                <a:gd name="connsiteX0" fmla="*/ 4 w 381004"/>
                <a:gd name="connsiteY0" fmla="*/ 190500 h 381004"/>
                <a:gd name="connsiteX1" fmla="*/ 190504 w 381004"/>
                <a:gd name="connsiteY1" fmla="*/ 0 h 381004"/>
                <a:gd name="connsiteX2" fmla="*/ 381004 w 381004"/>
                <a:gd name="connsiteY2" fmla="*/ 190500 h 381004"/>
                <a:gd name="connsiteX3" fmla="*/ 190504 w 381004"/>
                <a:gd name="connsiteY3" fmla="*/ 381000 h 381004"/>
                <a:gd name="connsiteX4" fmla="*/ 99731 w 381004"/>
                <a:gd name="connsiteY4" fmla="*/ 358045 h 381004"/>
                <a:gd name="connsiteX5" fmla="*/ 21245 w 381004"/>
                <a:gd name="connsiteY5" fmla="*/ 380333 h 381004"/>
                <a:gd name="connsiteX6" fmla="*/ 671 w 381004"/>
                <a:gd name="connsiteY6" fmla="*/ 359759 h 381004"/>
                <a:gd name="connsiteX7" fmla="*/ 22959 w 381004"/>
                <a:gd name="connsiteY7" fmla="*/ 281273 h 381004"/>
                <a:gd name="connsiteX8" fmla="*/ 4 w 381004"/>
                <a:gd name="connsiteY8" fmla="*/ 190500 h 381004"/>
                <a:gd name="connsiteX9" fmla="*/ 114304 w 381004"/>
                <a:gd name="connsiteY9" fmla="*/ 154781 h 381004"/>
                <a:gd name="connsiteX10" fmla="*/ 126210 w 381004"/>
                <a:gd name="connsiteY10" fmla="*/ 166688 h 381004"/>
                <a:gd name="connsiteX11" fmla="*/ 254798 w 381004"/>
                <a:gd name="connsiteY11" fmla="*/ 166688 h 381004"/>
                <a:gd name="connsiteX12" fmla="*/ 266704 w 381004"/>
                <a:gd name="connsiteY12" fmla="*/ 154781 h 381004"/>
                <a:gd name="connsiteX13" fmla="*/ 254798 w 381004"/>
                <a:gd name="connsiteY13" fmla="*/ 142875 h 381004"/>
                <a:gd name="connsiteX14" fmla="*/ 126210 w 381004"/>
                <a:gd name="connsiteY14" fmla="*/ 142875 h 381004"/>
                <a:gd name="connsiteX15" fmla="*/ 114304 w 381004"/>
                <a:gd name="connsiteY15" fmla="*/ 154781 h 381004"/>
                <a:gd name="connsiteX16" fmla="*/ 126210 w 381004"/>
                <a:gd name="connsiteY16" fmla="*/ 214313 h 381004"/>
                <a:gd name="connsiteX17" fmla="*/ 114304 w 381004"/>
                <a:gd name="connsiteY17" fmla="*/ 226219 h 381004"/>
                <a:gd name="connsiteX18" fmla="*/ 126210 w 381004"/>
                <a:gd name="connsiteY18" fmla="*/ 238125 h 381004"/>
                <a:gd name="connsiteX19" fmla="*/ 216698 w 381004"/>
                <a:gd name="connsiteY19" fmla="*/ 238125 h 381004"/>
                <a:gd name="connsiteX20" fmla="*/ 228604 w 381004"/>
                <a:gd name="connsiteY20" fmla="*/ 226219 h 381004"/>
                <a:gd name="connsiteX21" fmla="*/ 216698 w 381004"/>
                <a:gd name="connsiteY21" fmla="*/ 214313 h 381004"/>
                <a:gd name="connsiteX22" fmla="*/ 126210 w 381004"/>
                <a:gd name="connsiteY22" fmla="*/ 214313 h 381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1004" h="381004">
                  <a:moveTo>
                    <a:pt x="4" y="190500"/>
                  </a:moveTo>
                  <a:cubicBezTo>
                    <a:pt x="4" y="85249"/>
                    <a:pt x="85253" y="0"/>
                    <a:pt x="190504" y="0"/>
                  </a:cubicBezTo>
                  <a:cubicBezTo>
                    <a:pt x="295755" y="0"/>
                    <a:pt x="381004" y="85249"/>
                    <a:pt x="381004" y="190500"/>
                  </a:cubicBezTo>
                  <a:cubicBezTo>
                    <a:pt x="381004" y="295751"/>
                    <a:pt x="295755" y="381000"/>
                    <a:pt x="190504" y="381000"/>
                  </a:cubicBezTo>
                  <a:cubicBezTo>
                    <a:pt x="157643" y="381000"/>
                    <a:pt x="126687" y="372713"/>
                    <a:pt x="99731" y="358045"/>
                  </a:cubicBezTo>
                  <a:lnTo>
                    <a:pt x="21245" y="380333"/>
                  </a:lnTo>
                  <a:cubicBezTo>
                    <a:pt x="8672" y="383953"/>
                    <a:pt x="-2949" y="372332"/>
                    <a:pt x="671" y="359759"/>
                  </a:cubicBezTo>
                  <a:lnTo>
                    <a:pt x="22959" y="281273"/>
                  </a:lnTo>
                  <a:cubicBezTo>
                    <a:pt x="8291" y="254318"/>
                    <a:pt x="4" y="223361"/>
                    <a:pt x="4" y="190500"/>
                  </a:cubicBezTo>
                  <a:close/>
                  <a:moveTo>
                    <a:pt x="114304" y="154781"/>
                  </a:moveTo>
                  <a:cubicBezTo>
                    <a:pt x="114304" y="161354"/>
                    <a:pt x="119638" y="166688"/>
                    <a:pt x="126210" y="166688"/>
                  </a:cubicBezTo>
                  <a:lnTo>
                    <a:pt x="254798" y="166688"/>
                  </a:lnTo>
                  <a:cubicBezTo>
                    <a:pt x="261370" y="166688"/>
                    <a:pt x="266704" y="161354"/>
                    <a:pt x="266704" y="154781"/>
                  </a:cubicBezTo>
                  <a:cubicBezTo>
                    <a:pt x="266704" y="148209"/>
                    <a:pt x="261370" y="142875"/>
                    <a:pt x="254798" y="142875"/>
                  </a:cubicBezTo>
                  <a:lnTo>
                    <a:pt x="126210" y="142875"/>
                  </a:lnTo>
                  <a:cubicBezTo>
                    <a:pt x="119638" y="142875"/>
                    <a:pt x="114304" y="148209"/>
                    <a:pt x="114304" y="154781"/>
                  </a:cubicBezTo>
                  <a:close/>
                  <a:moveTo>
                    <a:pt x="126210" y="214313"/>
                  </a:moveTo>
                  <a:cubicBezTo>
                    <a:pt x="119638" y="214313"/>
                    <a:pt x="114304" y="219647"/>
                    <a:pt x="114304" y="226219"/>
                  </a:cubicBezTo>
                  <a:cubicBezTo>
                    <a:pt x="114304" y="232791"/>
                    <a:pt x="119638" y="238125"/>
                    <a:pt x="126210" y="238125"/>
                  </a:cubicBezTo>
                  <a:lnTo>
                    <a:pt x="216698" y="238125"/>
                  </a:lnTo>
                  <a:cubicBezTo>
                    <a:pt x="223270" y="238125"/>
                    <a:pt x="228604" y="232791"/>
                    <a:pt x="228604" y="226219"/>
                  </a:cubicBezTo>
                  <a:cubicBezTo>
                    <a:pt x="228604" y="219647"/>
                    <a:pt x="223270" y="214313"/>
                    <a:pt x="216698" y="214313"/>
                  </a:cubicBezTo>
                  <a:lnTo>
                    <a:pt x="126210" y="214313"/>
                  </a:lnTo>
                  <a:close/>
                </a:path>
              </a:pathLst>
            </a:custGeom>
            <a:solidFill>
              <a:schemeClr val="tx2"/>
            </a:solidFill>
            <a:ln w="44450" cap="rnd">
              <a:noFill/>
              <a:headEnd type="none" w="lg" len="med"/>
              <a:tailEnd type="none" w="lg" len="med"/>
            </a:ln>
            <a:effectLst>
              <a:outerShdw blurRad="63500" dist="63500" dir="2700000" algn="tl" rotWithShape="0">
                <a:prstClr val="black">
                  <a:alpha val="50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564085"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bg1"/>
                </a:solidFill>
                <a:effectLst/>
                <a:uLnTx/>
                <a:uFillTx/>
                <a:ea typeface="Open Sans" panose="020B0606030504020204" pitchFamily="34" charset="0"/>
                <a:cs typeface="Segoe Sans Text" pitchFamily="2" charset="0"/>
              </a:endParaRPr>
            </a:p>
          </p:txBody>
        </p:sp>
        <p:sp>
          <p:nvSpPr>
            <p:cNvPr id="121" name="TextBox 120">
              <a:extLst>
                <a:ext uri="{FF2B5EF4-FFF2-40B4-BE49-F238E27FC236}">
                  <a16:creationId xmlns:a16="http://schemas.microsoft.com/office/drawing/2014/main" id="{D3CF7B5D-D53C-BB1E-AB2E-24853982EF21}"/>
                </a:ext>
                <a:ext uri="{C183D7F6-B498-43B3-948B-1728B52AA6E4}">
                  <adec:decorative xmlns:adec="http://schemas.microsoft.com/office/drawing/2017/decorative" val="1"/>
                </a:ext>
              </a:extLst>
            </p:cNvPr>
            <p:cNvSpPr txBox="1"/>
            <p:nvPr/>
          </p:nvSpPr>
          <p:spPr>
            <a:xfrm>
              <a:off x="2056341" y="3851094"/>
              <a:ext cx="2599779" cy="307777"/>
            </a:xfrm>
            <a:prstGeom prst="rect">
              <a:avLst/>
            </a:prstGeom>
            <a:noFill/>
          </p:spPr>
          <p:txBody>
            <a:bodyPr wrap="none" lIns="0" tIns="0" rIns="0" bIns="0" rtlCol="0" anchor="ctr"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100" normalizeH="0" baseline="0" noProof="0">
                  <a:ln>
                    <a:noFill/>
                  </a:ln>
                  <a:solidFill>
                    <a:schemeClr val="bg1"/>
                  </a:solidFill>
                  <a:effectLst/>
                  <a:uLnTx/>
                  <a:uFillTx/>
                  <a:ea typeface="+mn-ea"/>
                  <a:cs typeface="+mn-cs"/>
                </a:rPr>
                <a:t> Incident response!!</a:t>
              </a:r>
            </a:p>
          </p:txBody>
        </p:sp>
      </p:grpSp>
      <p:sp>
        <p:nvSpPr>
          <p:cNvPr id="90" name="Arc 89">
            <a:extLst>
              <a:ext uri="{FF2B5EF4-FFF2-40B4-BE49-F238E27FC236}">
                <a16:creationId xmlns:a16="http://schemas.microsoft.com/office/drawing/2014/main" id="{A66EFC51-366C-E4FD-62DE-08A20D1BB30C}"/>
              </a:ext>
              <a:ext uri="{C183D7F6-B498-43B3-948B-1728B52AA6E4}">
                <adec:decorative xmlns:adec="http://schemas.microsoft.com/office/drawing/2017/decorative" val="1"/>
              </a:ext>
            </a:extLst>
          </p:cNvPr>
          <p:cNvSpPr/>
          <p:nvPr/>
        </p:nvSpPr>
        <p:spPr>
          <a:xfrm>
            <a:off x="4324657" y="788679"/>
            <a:ext cx="1579499" cy="1579499"/>
          </a:xfrm>
          <a:prstGeom prst="arc">
            <a:avLst>
              <a:gd name="adj1" fmla="val 11905863"/>
              <a:gd name="adj2" fmla="val 19438566"/>
            </a:avLst>
          </a:prstGeom>
          <a:ln w="31750" cap="rnd">
            <a:gradFill flip="none" rotWithShape="1">
              <a:gsLst>
                <a:gs pos="55000">
                  <a:srgbClr val="C3E9FC"/>
                </a:gs>
                <a:gs pos="100000">
                  <a:srgbClr val="BDF2BD"/>
                </a:gs>
              </a:gsLst>
              <a:lin ang="0" scaled="1"/>
              <a:tileRect/>
            </a:gradFill>
            <a:headEnd type="none" w="lg" len="med"/>
            <a:tailEnd type="arrow" w="lg" len="sm"/>
          </a:ln>
          <a:effectLst>
            <a:outerShdw blurRad="63500" dist="127000" dir="2700000" algn="tl" rotWithShape="0">
              <a:prstClr val="black">
                <a:alpha val="5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Sans Text" pitchFamily="2" charset="0"/>
              <a:ea typeface="+mn-ea"/>
              <a:cs typeface="+mn-cs"/>
            </a:endParaRPr>
          </a:p>
        </p:txBody>
      </p:sp>
      <p:pic>
        <p:nvPicPr>
          <p:cNvPr id="7" name="Picture 6" descr="A blue and green sphere&#10;&#10;Description automatically generated">
            <a:extLst>
              <a:ext uri="{FF2B5EF4-FFF2-40B4-BE49-F238E27FC236}">
                <a16:creationId xmlns:a16="http://schemas.microsoft.com/office/drawing/2014/main" id="{D87A7168-6934-7CC3-3366-28270EA13970}"/>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3249969" y="1649359"/>
            <a:ext cx="421000" cy="415955"/>
          </a:xfrm>
          <a:prstGeom prst="rect">
            <a:avLst/>
          </a:prstGeom>
          <a:effectLst>
            <a:outerShdw blurRad="228600" dist="165100" dir="2700000" algn="tl" rotWithShape="0">
              <a:prstClr val="black">
                <a:alpha val="40000"/>
              </a:prstClr>
            </a:outerShdw>
          </a:effectLst>
        </p:spPr>
      </p:pic>
      <p:pic>
        <p:nvPicPr>
          <p:cNvPr id="10" name="Picture 9" descr="A blue circle with black background&#10;&#10;Description automatically generated">
            <a:extLst>
              <a:ext uri="{FF2B5EF4-FFF2-40B4-BE49-F238E27FC236}">
                <a16:creationId xmlns:a16="http://schemas.microsoft.com/office/drawing/2014/main" id="{52212D3F-778F-A4EA-C88C-90074599CEC6}"/>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589404" y="4792902"/>
            <a:ext cx="301568" cy="301568"/>
          </a:xfrm>
          <a:prstGeom prst="rect">
            <a:avLst/>
          </a:prstGeom>
          <a:effectLst>
            <a:outerShdw blurRad="114300" dist="139700" dir="8100000" algn="tr" rotWithShape="0">
              <a:prstClr val="black">
                <a:alpha val="6000"/>
              </a:prstClr>
            </a:outerShdw>
          </a:effectLst>
        </p:spPr>
      </p:pic>
      <p:sp>
        <p:nvSpPr>
          <p:cNvPr id="13" name="TextBox 12">
            <a:extLst>
              <a:ext uri="{FF2B5EF4-FFF2-40B4-BE49-F238E27FC236}">
                <a16:creationId xmlns:a16="http://schemas.microsoft.com/office/drawing/2014/main" id="{44587730-F86A-4859-1304-3139744E646E}"/>
              </a:ext>
              <a:ext uri="{C183D7F6-B498-43B3-948B-1728B52AA6E4}">
                <adec:decorative xmlns:adec="http://schemas.microsoft.com/office/drawing/2017/decorative" val="1"/>
              </a:ext>
            </a:extLst>
          </p:cNvPr>
          <p:cNvSpPr txBox="1"/>
          <p:nvPr/>
        </p:nvSpPr>
        <p:spPr>
          <a:xfrm>
            <a:off x="4876293" y="1937410"/>
            <a:ext cx="4893968" cy="307777"/>
          </a:xfrm>
          <a:prstGeom prst="rect">
            <a:avLst/>
          </a:prstGeom>
          <a:noFill/>
          <a:scene3d>
            <a:camera prst="isometricLeftDown">
              <a:rot lat="600000" lon="3600000" rev="0"/>
            </a:camera>
            <a:lightRig rig="threePt" dir="t"/>
          </a:scene3d>
        </p:spPr>
        <p:txBody>
          <a:bodyPr wrap="none" lIns="0" tIns="0" rIns="0" bIns="0" rtlCol="0" anchor="ctr" anchorCtr="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a:ln>
                  <a:noFill/>
                </a:ln>
                <a:solidFill>
                  <a:schemeClr val="bg1"/>
                </a:solidFill>
                <a:effectLst/>
                <a:uLnTx/>
                <a:uFillTx/>
                <a:ea typeface="+mn-ea"/>
                <a:cs typeface="+mn-cs"/>
              </a:rPr>
              <a:t>ONGOING PERFORMANCE TRACKING</a:t>
            </a:r>
          </a:p>
        </p:txBody>
      </p:sp>
    </p:spTree>
    <p:extLst>
      <p:ext uri="{BB962C8B-B14F-4D97-AF65-F5344CB8AC3E}">
        <p14:creationId xmlns:p14="http://schemas.microsoft.com/office/powerpoint/2010/main" val="244183671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63" presetClass="path" presetSubtype="0" decel="100000" fill="hold" grpId="1" nodeType="withEffect">
                                  <p:stCondLst>
                                    <p:cond delay="0"/>
                                  </p:stCondLst>
                                  <p:childTnLst>
                                    <p:animMotion origin="layout" path="M 2.5E-6 1.85185E-6 L 0.0289 1.85185E-6 " pathEditMode="relative" rAng="0" ptsTypes="AA">
                                      <p:cBhvr>
                                        <p:cTn id="9" dur="700" spd="-100000" fill="hold"/>
                                        <p:tgtEl>
                                          <p:spTgt spid="4"/>
                                        </p:tgtEl>
                                        <p:attrNameLst>
                                          <p:attrName>ppt_x</p:attrName>
                                          <p:attrName>ppt_y</p:attrName>
                                        </p:attrNameLst>
                                      </p:cBhvr>
                                      <p:rCtr x="1445" y="0"/>
                                    </p:animMotion>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63" presetClass="path" presetSubtype="0" decel="100000" fill="hold" grpId="1" nodeType="withEffect">
                                  <p:stCondLst>
                                    <p:cond delay="0"/>
                                  </p:stCondLst>
                                  <p:childTnLst>
                                    <p:animMotion origin="layout" path="M -1.04167E-6 -4.81481E-6 L -0.02721 -4.81481E-6 " pathEditMode="relative" rAng="0" ptsTypes="AA">
                                      <p:cBhvr>
                                        <p:cTn id="14" dur="700" spd="-100000" fill="hold"/>
                                        <p:tgtEl>
                                          <p:spTgt spid="8"/>
                                        </p:tgtEl>
                                        <p:attrNameLst>
                                          <p:attrName>ppt_x</p:attrName>
                                          <p:attrName>ppt_y</p:attrName>
                                        </p:attrNameLst>
                                      </p:cBhvr>
                                      <p:rCtr x="-1367" y="0"/>
                                    </p:animMotion>
                                  </p:childTnLst>
                                </p:cTn>
                              </p:par>
                              <p:par>
                                <p:cTn id="15" presetID="22" presetClass="entr" presetSubtype="8" fill="hold" grpId="0" nodeType="withEffect">
                                  <p:stCondLst>
                                    <p:cond delay="500"/>
                                  </p:stCondLst>
                                  <p:childTnLst>
                                    <p:set>
                                      <p:cBhvr>
                                        <p:cTn id="16" dur="1" fill="hold">
                                          <p:stCondLst>
                                            <p:cond delay="0"/>
                                          </p:stCondLst>
                                        </p:cTn>
                                        <p:tgtEl>
                                          <p:spTgt spid="90"/>
                                        </p:tgtEl>
                                        <p:attrNameLst>
                                          <p:attrName>style.visibility</p:attrName>
                                        </p:attrNameLst>
                                      </p:cBhvr>
                                      <p:to>
                                        <p:strVal val="visible"/>
                                      </p:to>
                                    </p:set>
                                    <p:animEffect transition="in" filter="wipe(left)">
                                      <p:cBhvr>
                                        <p:cTn id="17" dur="500"/>
                                        <p:tgtEl>
                                          <p:spTgt spid="90"/>
                                        </p:tgtEl>
                                      </p:cBhvr>
                                    </p:animEffect>
                                  </p:childTnLst>
                                </p:cTn>
                              </p:par>
                              <p:par>
                                <p:cTn id="18" presetID="23" presetClass="entr" presetSubtype="272" fill="hold" nodeType="withEffect">
                                  <p:stCondLst>
                                    <p:cond delay="500"/>
                                  </p:stCondLst>
                                  <p:childTnLst>
                                    <p:set>
                                      <p:cBhvr>
                                        <p:cTn id="19" dur="1" fill="hold">
                                          <p:stCondLst>
                                            <p:cond delay="0"/>
                                          </p:stCondLst>
                                        </p:cTn>
                                        <p:tgtEl>
                                          <p:spTgt spid="10"/>
                                        </p:tgtEl>
                                        <p:attrNameLst>
                                          <p:attrName>style.visibility</p:attrName>
                                        </p:attrNameLst>
                                      </p:cBhvr>
                                      <p:to>
                                        <p:strVal val="visible"/>
                                      </p:to>
                                    </p:set>
                                    <p:anim calcmode="lin" valueType="num">
                                      <p:cBhvr>
                                        <p:cTn id="20" dur="250" fill="hold"/>
                                        <p:tgtEl>
                                          <p:spTgt spid="10"/>
                                        </p:tgtEl>
                                        <p:attrNameLst>
                                          <p:attrName>ppt_w</p:attrName>
                                        </p:attrNameLst>
                                      </p:cBhvr>
                                      <p:tavLst>
                                        <p:tav tm="0">
                                          <p:val>
                                            <p:strVal val="2/3*#ppt_w"/>
                                          </p:val>
                                        </p:tav>
                                        <p:tav tm="100000">
                                          <p:val>
                                            <p:strVal val="#ppt_w"/>
                                          </p:val>
                                        </p:tav>
                                      </p:tavLst>
                                    </p:anim>
                                    <p:anim calcmode="lin" valueType="num">
                                      <p:cBhvr>
                                        <p:cTn id="21" dur="250" fill="hold"/>
                                        <p:tgtEl>
                                          <p:spTgt spid="10"/>
                                        </p:tgtEl>
                                        <p:attrNameLst>
                                          <p:attrName>ppt_h</p:attrName>
                                        </p:attrNameLst>
                                      </p:cBhvr>
                                      <p:tavLst>
                                        <p:tav tm="0">
                                          <p:val>
                                            <p:strVal val="2/3*#ppt_h"/>
                                          </p:val>
                                        </p:tav>
                                        <p:tav tm="100000">
                                          <p:val>
                                            <p:strVal val="#ppt_h"/>
                                          </p:val>
                                        </p:tav>
                                      </p:tavLst>
                                    </p:anim>
                                  </p:childTnLst>
                                </p:cTn>
                              </p:par>
                              <p:par>
                                <p:cTn id="22" presetID="10" presetClass="entr" presetSubtype="0" fill="hold" nodeType="withEffect">
                                  <p:stCondLst>
                                    <p:cond delay="5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6" presetClass="emph" presetSubtype="0" fill="hold" nodeType="withEffect">
                                  <p:stCondLst>
                                    <p:cond delay="500"/>
                                  </p:stCondLst>
                                  <p:childTnLst>
                                    <p:animScale>
                                      <p:cBhvr>
                                        <p:cTn id="26" dur="10" fill="hold"/>
                                        <p:tgtEl>
                                          <p:spTgt spid="10"/>
                                        </p:tgtEl>
                                      </p:cBhvr>
                                      <p:by x="80000" y="80000"/>
                                    </p:animScale>
                                  </p:childTnLst>
                                </p:cTn>
                              </p:par>
                              <p:par>
                                <p:cTn id="27" presetID="6" presetClass="emph" presetSubtype="0" decel="100000" fill="hold" nodeType="withEffect">
                                  <p:stCondLst>
                                    <p:cond delay="500"/>
                                  </p:stCondLst>
                                  <p:childTnLst>
                                    <p:animScale>
                                      <p:cBhvr>
                                        <p:cTn id="28" dur="1000" fill="hold"/>
                                        <p:tgtEl>
                                          <p:spTgt spid="10"/>
                                        </p:tgtEl>
                                      </p:cBhvr>
                                      <p:by x="125000" y="125000"/>
                                    </p:animScale>
                                  </p:childTnLst>
                                </p:cTn>
                              </p:par>
                              <p:par>
                                <p:cTn id="29" presetID="22" presetClass="entr" presetSubtype="2" fill="hold" grpId="0" nodeType="withEffect">
                                  <p:stCondLst>
                                    <p:cond delay="600"/>
                                  </p:stCondLst>
                                  <p:childTnLst>
                                    <p:set>
                                      <p:cBhvr>
                                        <p:cTn id="30" dur="1" fill="hold">
                                          <p:stCondLst>
                                            <p:cond delay="0"/>
                                          </p:stCondLst>
                                        </p:cTn>
                                        <p:tgtEl>
                                          <p:spTgt spid="100"/>
                                        </p:tgtEl>
                                        <p:attrNameLst>
                                          <p:attrName>style.visibility</p:attrName>
                                        </p:attrNameLst>
                                      </p:cBhvr>
                                      <p:to>
                                        <p:strVal val="visible"/>
                                      </p:to>
                                    </p:set>
                                    <p:animEffect transition="in" filter="wipe(right)">
                                      <p:cBhvr>
                                        <p:cTn id="31" dur="500"/>
                                        <p:tgtEl>
                                          <p:spTgt spid="10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3"/>
                                        </p:tgtEl>
                                        <p:attrNameLst>
                                          <p:attrName>style.visibility</p:attrName>
                                        </p:attrNameLst>
                                      </p:cBhvr>
                                      <p:to>
                                        <p:strVal val="visible"/>
                                      </p:to>
                                    </p:set>
                                    <p:animEffect transition="in" filter="fade">
                                      <p:cBhvr>
                                        <p:cTn id="34" dur="750"/>
                                        <p:tgtEl>
                                          <p:spTgt spid="123"/>
                                        </p:tgtEl>
                                      </p:cBhvr>
                                    </p:animEffect>
                                  </p:childTnLst>
                                </p:cTn>
                              </p:par>
                              <p:par>
                                <p:cTn id="35" presetID="42" presetClass="path" presetSubtype="0" decel="100000" fill="hold" grpId="1" nodeType="withEffect">
                                  <p:stCondLst>
                                    <p:cond delay="0"/>
                                  </p:stCondLst>
                                  <p:childTnLst>
                                    <p:animMotion origin="layout" path="M 0.04219 1.11111E-6 L -2.29167E-6 1.11111E-6 " pathEditMode="relative" rAng="0" ptsTypes="AA">
                                      <p:cBhvr>
                                        <p:cTn id="36" dur="750" fill="hold"/>
                                        <p:tgtEl>
                                          <p:spTgt spid="123"/>
                                        </p:tgtEl>
                                        <p:attrNameLst>
                                          <p:attrName>ppt_x</p:attrName>
                                          <p:attrName>ppt_y</p:attrName>
                                        </p:attrNameLst>
                                      </p:cBhvr>
                                      <p:rCtr x="-2109" y="0"/>
                                    </p:animMotion>
                                  </p:childTnLst>
                                </p:cTn>
                              </p:par>
                              <p:par>
                                <p:cTn id="37" presetID="10" presetClass="entr" presetSubtype="0" fill="hold" grpId="0" nodeType="withEffect">
                                  <p:stCondLst>
                                    <p:cond delay="0"/>
                                  </p:stCondLst>
                                  <p:childTnLst>
                                    <p:set>
                                      <p:cBhvr>
                                        <p:cTn id="38" dur="1" fill="hold">
                                          <p:stCondLst>
                                            <p:cond delay="0"/>
                                          </p:stCondLst>
                                        </p:cTn>
                                        <p:tgtEl>
                                          <p:spTgt spid="124"/>
                                        </p:tgtEl>
                                        <p:attrNameLst>
                                          <p:attrName>style.visibility</p:attrName>
                                        </p:attrNameLst>
                                      </p:cBhvr>
                                      <p:to>
                                        <p:strVal val="visible"/>
                                      </p:to>
                                    </p:set>
                                    <p:animEffect transition="in" filter="fade">
                                      <p:cBhvr>
                                        <p:cTn id="39" dur="750"/>
                                        <p:tgtEl>
                                          <p:spTgt spid="124"/>
                                        </p:tgtEl>
                                      </p:cBhvr>
                                    </p:animEffect>
                                  </p:childTnLst>
                                </p:cTn>
                              </p:par>
                              <p:par>
                                <p:cTn id="40" presetID="42" presetClass="path" presetSubtype="0" decel="100000" fill="hold" grpId="1" nodeType="withEffect">
                                  <p:stCondLst>
                                    <p:cond delay="0"/>
                                  </p:stCondLst>
                                  <p:childTnLst>
                                    <p:animMotion origin="layout" path="M -0.05899 4.07407E-6 L 1.875E-6 4.07407E-6 " pathEditMode="relative" rAng="0" ptsTypes="AA">
                                      <p:cBhvr>
                                        <p:cTn id="41" dur="750" fill="hold"/>
                                        <p:tgtEl>
                                          <p:spTgt spid="124"/>
                                        </p:tgtEl>
                                        <p:attrNameLst>
                                          <p:attrName>ppt_x</p:attrName>
                                          <p:attrName>ppt_y</p:attrName>
                                        </p:attrNameLst>
                                      </p:cBhvr>
                                      <p:rCtr x="2943" y="0"/>
                                    </p:animMotion>
                                  </p:childTnLst>
                                </p:cTn>
                              </p:par>
                              <p:par>
                                <p:cTn id="42" presetID="10" presetClass="entr" presetSubtype="0" fill="hold"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750"/>
                                        <p:tgtEl>
                                          <p:spTgt spid="6"/>
                                        </p:tgtEl>
                                      </p:cBhvr>
                                    </p:animEffect>
                                  </p:childTnLst>
                                </p:cTn>
                              </p:par>
                              <p:par>
                                <p:cTn id="45" presetID="42" presetClass="path" presetSubtype="0" decel="100000" fill="hold" nodeType="withEffect">
                                  <p:stCondLst>
                                    <p:cond delay="0"/>
                                  </p:stCondLst>
                                  <p:childTnLst>
                                    <p:animMotion origin="layout" path="M 0.04219 -3.33333E-6 L -3.54167E-6 -3.33333E-6 " pathEditMode="relative" rAng="0" ptsTypes="AA">
                                      <p:cBhvr>
                                        <p:cTn id="46" dur="750" fill="hold"/>
                                        <p:tgtEl>
                                          <p:spTgt spid="6"/>
                                        </p:tgtEl>
                                        <p:attrNameLst>
                                          <p:attrName>ppt_x</p:attrName>
                                          <p:attrName>ppt_y</p:attrName>
                                        </p:attrNameLst>
                                      </p:cBhvr>
                                      <p:rCtr x="-2109" y="0"/>
                                    </p:animMotion>
                                  </p:childTnLst>
                                </p:cTn>
                              </p:par>
                              <p:par>
                                <p:cTn id="47" presetID="10" presetClass="entr" presetSubtype="0" fill="hold" grpId="2"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750"/>
                                        <p:tgtEl>
                                          <p:spTgt spid="13"/>
                                        </p:tgtEl>
                                      </p:cBhvr>
                                    </p:animEffect>
                                  </p:childTnLst>
                                </p:cTn>
                              </p:par>
                              <p:par>
                                <p:cTn id="50" presetID="42" presetClass="path" presetSubtype="0" accel="50000" decel="50000" fill="hold" grpId="0" nodeType="withEffect">
                                  <p:stCondLst>
                                    <p:cond delay="0"/>
                                  </p:stCondLst>
                                  <p:childTnLst>
                                    <p:animMotion origin="layout" path="M -0.06367 0.00741 L -1.04167E-6 -1.11111E-6 " pathEditMode="relative" rAng="0" ptsTypes="AA">
                                      <p:cBhvr>
                                        <p:cTn id="51" dur="750" fill="hold"/>
                                        <p:tgtEl>
                                          <p:spTgt spid="13"/>
                                        </p:tgtEl>
                                        <p:attrNameLst>
                                          <p:attrName>ppt_x</p:attrName>
                                          <p:attrName>ppt_y</p:attrName>
                                        </p:attrNameLst>
                                      </p:cBhvr>
                                      <p:rCtr x="3177" y="-370"/>
                                    </p:animMotion>
                                  </p:childTnLst>
                                </p:cTn>
                              </p:par>
                              <p:par>
                                <p:cTn id="52" presetID="10" presetClass="entr" presetSubtype="0" fill="hold" nodeType="withEffect">
                                  <p:stCondLst>
                                    <p:cond delay="0"/>
                                  </p:stCondLst>
                                  <p:childTnLst>
                                    <p:set>
                                      <p:cBhvr>
                                        <p:cTn id="53" dur="1" fill="hold">
                                          <p:stCondLst>
                                            <p:cond delay="0"/>
                                          </p:stCondLst>
                                        </p:cTn>
                                        <p:tgtEl>
                                          <p:spTgt spid="112"/>
                                        </p:tgtEl>
                                        <p:attrNameLst>
                                          <p:attrName>style.visibility</p:attrName>
                                        </p:attrNameLst>
                                      </p:cBhvr>
                                      <p:to>
                                        <p:strVal val="visible"/>
                                      </p:to>
                                    </p:set>
                                    <p:animEffect transition="in" filter="fade">
                                      <p:cBhvr>
                                        <p:cTn id="54" dur="750"/>
                                        <p:tgtEl>
                                          <p:spTgt spid="112"/>
                                        </p:tgtEl>
                                      </p:cBhvr>
                                    </p:animEffect>
                                  </p:childTnLst>
                                </p:cTn>
                              </p:par>
                              <p:par>
                                <p:cTn id="55" presetID="42" presetClass="path" presetSubtype="0" decel="100000" fill="hold" nodeType="withEffect">
                                  <p:stCondLst>
                                    <p:cond delay="0"/>
                                  </p:stCondLst>
                                  <p:childTnLst>
                                    <p:animMotion origin="layout" path="M -0.05903 4.93827E-7 L -2.08333E-6 4.93827E-7 " pathEditMode="relative" rAng="0" ptsTypes="AA">
                                      <p:cBhvr>
                                        <p:cTn id="56" dur="750" fill="hold"/>
                                        <p:tgtEl>
                                          <p:spTgt spid="112"/>
                                        </p:tgtEl>
                                        <p:attrNameLst>
                                          <p:attrName>ppt_x</p:attrName>
                                          <p:attrName>ppt_y</p:attrName>
                                        </p:attrNameLst>
                                      </p:cBhvr>
                                      <p:rCtr x="2951" y="0"/>
                                    </p:animMotion>
                                  </p:childTnLst>
                                </p:cTn>
                              </p:par>
                              <p:par>
                                <p:cTn id="57" presetID="23" presetClass="entr" presetSubtype="272" fill="hold" nodeType="withEffect">
                                  <p:stCondLst>
                                    <p:cond delay="0"/>
                                  </p:stCondLst>
                                  <p:childTnLst>
                                    <p:set>
                                      <p:cBhvr>
                                        <p:cTn id="58" dur="1" fill="hold">
                                          <p:stCondLst>
                                            <p:cond delay="0"/>
                                          </p:stCondLst>
                                        </p:cTn>
                                        <p:tgtEl>
                                          <p:spTgt spid="7"/>
                                        </p:tgtEl>
                                        <p:attrNameLst>
                                          <p:attrName>style.visibility</p:attrName>
                                        </p:attrNameLst>
                                      </p:cBhvr>
                                      <p:to>
                                        <p:strVal val="visible"/>
                                      </p:to>
                                    </p:set>
                                    <p:anim calcmode="lin" valueType="num">
                                      <p:cBhvr>
                                        <p:cTn id="59" dur="250" fill="hold"/>
                                        <p:tgtEl>
                                          <p:spTgt spid="7"/>
                                        </p:tgtEl>
                                        <p:attrNameLst>
                                          <p:attrName>ppt_w</p:attrName>
                                        </p:attrNameLst>
                                      </p:cBhvr>
                                      <p:tavLst>
                                        <p:tav tm="0">
                                          <p:val>
                                            <p:strVal val="2/3*#ppt_w"/>
                                          </p:val>
                                        </p:tav>
                                        <p:tav tm="100000">
                                          <p:val>
                                            <p:strVal val="#ppt_w"/>
                                          </p:val>
                                        </p:tav>
                                      </p:tavLst>
                                    </p:anim>
                                    <p:anim calcmode="lin" valueType="num">
                                      <p:cBhvr>
                                        <p:cTn id="60" dur="250" fill="hold"/>
                                        <p:tgtEl>
                                          <p:spTgt spid="7"/>
                                        </p:tgtEl>
                                        <p:attrNameLst>
                                          <p:attrName>ppt_h</p:attrName>
                                        </p:attrNameLst>
                                      </p:cBhvr>
                                      <p:tavLst>
                                        <p:tav tm="0">
                                          <p:val>
                                            <p:strVal val="2/3*#ppt_h"/>
                                          </p:val>
                                        </p:tav>
                                        <p:tav tm="100000">
                                          <p:val>
                                            <p:strVal val="#ppt_h"/>
                                          </p:val>
                                        </p:tav>
                                      </p:tavLst>
                                    </p:anim>
                                  </p:childTnLst>
                                </p:cTn>
                              </p:par>
                              <p:par>
                                <p:cTn id="61" presetID="10" presetClass="entr" presetSubtype="0" fill="hold" nodeType="with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fade">
                                      <p:cBhvr>
                                        <p:cTn id="63" dur="500"/>
                                        <p:tgtEl>
                                          <p:spTgt spid="7"/>
                                        </p:tgtEl>
                                      </p:cBhvr>
                                    </p:animEffect>
                                  </p:childTnLst>
                                </p:cTn>
                              </p:par>
                              <p:par>
                                <p:cTn id="64" presetID="6" presetClass="emph" presetSubtype="0" fill="hold" nodeType="withEffect">
                                  <p:stCondLst>
                                    <p:cond delay="0"/>
                                  </p:stCondLst>
                                  <p:childTnLst>
                                    <p:animScale>
                                      <p:cBhvr>
                                        <p:cTn id="65" dur="10" fill="hold"/>
                                        <p:tgtEl>
                                          <p:spTgt spid="7"/>
                                        </p:tgtEl>
                                      </p:cBhvr>
                                      <p:by x="80000" y="80000"/>
                                    </p:animScale>
                                  </p:childTnLst>
                                </p:cTn>
                              </p:par>
                              <p:par>
                                <p:cTn id="66" presetID="6" presetClass="emph" presetSubtype="0" decel="100000" fill="hold" nodeType="withEffect">
                                  <p:stCondLst>
                                    <p:cond delay="0"/>
                                  </p:stCondLst>
                                  <p:childTnLst>
                                    <p:animScale>
                                      <p:cBhvr>
                                        <p:cTn id="67" dur="1000" fill="hold"/>
                                        <p:tgtEl>
                                          <p:spTgt spid="7"/>
                                        </p:tgtEl>
                                      </p:cBhvr>
                                      <p:by x="125000" y="125000"/>
                                    </p:animScale>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1"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500"/>
                                        <p:tgtEl>
                                          <p:spTgt spid="13"/>
                                        </p:tgtEl>
                                      </p:cBhvr>
                                    </p:animEffect>
                                  </p:childTnLst>
                                </p:cTn>
                              </p:par>
                              <p:par>
                                <p:cTn id="73" presetID="10" presetClass="entr" presetSubtype="0" fill="hold" grpId="2" nodeType="withEffect">
                                  <p:stCondLst>
                                    <p:cond delay="0"/>
                                  </p:stCondLst>
                                  <p:childTnLst>
                                    <p:set>
                                      <p:cBhvr>
                                        <p:cTn id="74" dur="1" fill="hold">
                                          <p:stCondLst>
                                            <p:cond delay="0"/>
                                          </p:stCondLst>
                                        </p:cTn>
                                        <p:tgtEl>
                                          <p:spTgt spid="124"/>
                                        </p:tgtEl>
                                        <p:attrNameLst>
                                          <p:attrName>style.visibility</p:attrName>
                                        </p:attrNameLst>
                                      </p:cBhvr>
                                      <p:to>
                                        <p:strVal val="visible"/>
                                      </p:to>
                                    </p:set>
                                    <p:animEffect transition="in" filter="fade">
                                      <p:cBhvr>
                                        <p:cTn id="75"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P spid="124" grpId="1" animBg="1"/>
      <p:bldP spid="124" grpId="2" animBg="1"/>
      <p:bldP spid="4" grpId="0"/>
      <p:bldP spid="4" grpId="1"/>
      <p:bldP spid="8" grpId="0"/>
      <p:bldP spid="8" grpId="1"/>
      <p:bldP spid="100" grpId="0" animBg="1"/>
      <p:bldP spid="123" grpId="0" animBg="1"/>
      <p:bldP spid="123" grpId="1" animBg="1"/>
      <p:bldP spid="90" grpId="0" animBg="1"/>
      <p:bldP spid="13" grpId="0"/>
      <p:bldP spid="13" grpId="1"/>
      <p:bldP spid="13" grpId="2"/>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86058-0E11-830E-79FF-1D9D9D448EA7}"/>
            </a:ext>
          </a:extLst>
        </p:cNvPr>
        <p:cNvGrpSpPr/>
        <p:nvPr/>
      </p:nvGrpSpPr>
      <p:grpSpPr>
        <a:xfrm>
          <a:off x="0" y="0"/>
          <a:ext cx="0" cy="0"/>
          <a:chOff x="0" y="0"/>
          <a:chExt cx="0" cy="0"/>
        </a:xfrm>
      </p:grpSpPr>
      <p:sp>
        <p:nvSpPr>
          <p:cNvPr id="31" name="Rectangle: Rounded Corners 30">
            <a:extLst>
              <a:ext uri="{FF2B5EF4-FFF2-40B4-BE49-F238E27FC236}">
                <a16:creationId xmlns:a16="http://schemas.microsoft.com/office/drawing/2014/main" id="{BD43BCC4-7D44-7A95-0C01-CFEB61C34887}"/>
              </a:ext>
            </a:extLst>
          </p:cNvPr>
          <p:cNvSpPr>
            <a:spLocks/>
          </p:cNvSpPr>
          <p:nvPr/>
        </p:nvSpPr>
        <p:spPr bwMode="auto">
          <a:xfrm>
            <a:off x="603413" y="1427019"/>
            <a:ext cx="7402861" cy="4837258"/>
          </a:xfrm>
          <a:prstGeom prst="roundRect">
            <a:avLst>
              <a:gd name="adj" fmla="val 2523"/>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32" name="Rectangle: Rounded Corners 31">
            <a:extLst>
              <a:ext uri="{FF2B5EF4-FFF2-40B4-BE49-F238E27FC236}">
                <a16:creationId xmlns:a16="http://schemas.microsoft.com/office/drawing/2014/main" id="{18E073A4-FBD6-1742-CA60-B2D89F4D822B}"/>
              </a:ext>
            </a:extLst>
          </p:cNvPr>
          <p:cNvSpPr/>
          <p:nvPr/>
        </p:nvSpPr>
        <p:spPr bwMode="auto">
          <a:xfrm>
            <a:off x="712701" y="1528618"/>
            <a:ext cx="7184284" cy="4641946"/>
          </a:xfrm>
          <a:prstGeom prst="roundRect">
            <a:avLst>
              <a:gd name="adj" fmla="val 1661"/>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err="1">
              <a:solidFill>
                <a:srgbClr val="FFFFFF"/>
              </a:solidFill>
              <a:ea typeface="Segoe UI" pitchFamily="34" charset="0"/>
              <a:cs typeface="Segoe Sans Text" pitchFamily="2" charset="0"/>
            </a:endParaRPr>
          </a:p>
        </p:txBody>
      </p:sp>
      <p:sp>
        <p:nvSpPr>
          <p:cNvPr id="16" name="Rectangle: Rounded Corners 15">
            <a:extLst>
              <a:ext uri="{FF2B5EF4-FFF2-40B4-BE49-F238E27FC236}">
                <a16:creationId xmlns:a16="http://schemas.microsoft.com/office/drawing/2014/main" id="{6789ECD5-C2FB-6666-A04F-C196E37A3207}"/>
              </a:ext>
            </a:extLst>
          </p:cNvPr>
          <p:cNvSpPr>
            <a:spLocks/>
          </p:cNvSpPr>
          <p:nvPr/>
        </p:nvSpPr>
        <p:spPr bwMode="auto">
          <a:xfrm>
            <a:off x="8111282" y="3128242"/>
            <a:ext cx="3410762" cy="96169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7" name="Content Placeholder 2">
            <a:extLst>
              <a:ext uri="{FF2B5EF4-FFF2-40B4-BE49-F238E27FC236}">
                <a16:creationId xmlns:a16="http://schemas.microsoft.com/office/drawing/2014/main" id="{15536F18-7334-3CF1-C720-39ED79101403}"/>
              </a:ext>
            </a:extLst>
          </p:cNvPr>
          <p:cNvSpPr txBox="1">
            <a:spLocks/>
          </p:cNvSpPr>
          <p:nvPr/>
        </p:nvSpPr>
        <p:spPr>
          <a:xfrm>
            <a:off x="8326408" y="3338108"/>
            <a:ext cx="3300643"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Token Consumption</a:t>
            </a:r>
          </a:p>
        </p:txBody>
      </p:sp>
      <p:sp>
        <p:nvSpPr>
          <p:cNvPr id="18" name="Rectangle: Rounded Corners 17">
            <a:extLst>
              <a:ext uri="{FF2B5EF4-FFF2-40B4-BE49-F238E27FC236}">
                <a16:creationId xmlns:a16="http://schemas.microsoft.com/office/drawing/2014/main" id="{4B518271-2DE2-0DBF-3080-CBDFDC60B7C3}"/>
              </a:ext>
            </a:extLst>
          </p:cNvPr>
          <p:cNvSpPr>
            <a:spLocks/>
          </p:cNvSpPr>
          <p:nvPr/>
        </p:nvSpPr>
        <p:spPr bwMode="auto">
          <a:xfrm>
            <a:off x="8111282" y="4215703"/>
            <a:ext cx="3410762" cy="96169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9" name="Content Placeholder 2">
            <a:extLst>
              <a:ext uri="{FF2B5EF4-FFF2-40B4-BE49-F238E27FC236}">
                <a16:creationId xmlns:a16="http://schemas.microsoft.com/office/drawing/2014/main" id="{AC01C71F-53A0-337B-3EC4-5741D6E1572C}"/>
              </a:ext>
            </a:extLst>
          </p:cNvPr>
          <p:cNvSpPr txBox="1">
            <a:spLocks/>
          </p:cNvSpPr>
          <p:nvPr/>
        </p:nvSpPr>
        <p:spPr>
          <a:xfrm>
            <a:off x="8326409" y="4425569"/>
            <a:ext cx="2290792"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Evaluation Metrics</a:t>
            </a:r>
          </a:p>
        </p:txBody>
      </p:sp>
      <p:pic>
        <p:nvPicPr>
          <p:cNvPr id="39" name="Picture 4" descr="Animation of an Azure workbook showing graphs and end to end transaction details.">
            <a:extLst>
              <a:ext uri="{FF2B5EF4-FFF2-40B4-BE49-F238E27FC236}">
                <a16:creationId xmlns:a16="http://schemas.microsoft.com/office/drawing/2014/main" id="{6C80FB72-9FB3-2DF9-E34E-FCFE1221B4B3}"/>
              </a:ext>
            </a:extLst>
          </p:cNvPr>
          <p:cNvPicPr>
            <a:picLocks noChangeAspect="1" noChangeArrowheads="1"/>
          </p:cNvPicPr>
          <p:nvPr/>
        </p:nvPicPr>
        <p:blipFill>
          <a:blip r:embed="rId3" cstate="hqprint">
            <a:extLst>
              <a:ext uri="{28A0092B-C50C-407E-A947-70E740481C1C}">
                <a14:useLocalDpi xmlns:a14="http://schemas.microsoft.com/office/drawing/2010/main"/>
              </a:ext>
            </a:extLst>
          </a:blip>
          <a:srcRect/>
          <a:stretch>
            <a:fillRect/>
          </a:stretch>
        </p:blipFill>
        <p:spPr bwMode="auto">
          <a:xfrm>
            <a:off x="754479" y="1837629"/>
            <a:ext cx="7087194" cy="4151976"/>
          </a:xfrm>
          <a:prstGeom prst="rect">
            <a:avLst/>
          </a:prstGeom>
          <a:noFill/>
          <a:extLst>
            <a:ext uri="{909E8E84-426E-40DD-AFC4-6F175D3DCCD1}">
              <a14:hiddenFill xmlns:a14="http://schemas.microsoft.com/office/drawing/2010/main">
                <a:solidFill>
                  <a:srgbClr val="FFFFFF"/>
                </a:solidFill>
              </a14:hiddenFill>
            </a:ext>
          </a:extLst>
        </p:spPr>
      </p:pic>
      <p:sp>
        <p:nvSpPr>
          <p:cNvPr id="44" name="Rectangle: Rounded Corners 43">
            <a:extLst>
              <a:ext uri="{FF2B5EF4-FFF2-40B4-BE49-F238E27FC236}">
                <a16:creationId xmlns:a16="http://schemas.microsoft.com/office/drawing/2014/main" id="{6C62082D-4883-1402-2604-C6576CBFD168}"/>
              </a:ext>
            </a:extLst>
          </p:cNvPr>
          <p:cNvSpPr>
            <a:spLocks/>
          </p:cNvSpPr>
          <p:nvPr/>
        </p:nvSpPr>
        <p:spPr bwMode="auto">
          <a:xfrm>
            <a:off x="8111282" y="5302585"/>
            <a:ext cx="3410762" cy="96169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45" name="Content Placeholder 2">
            <a:extLst>
              <a:ext uri="{FF2B5EF4-FFF2-40B4-BE49-F238E27FC236}">
                <a16:creationId xmlns:a16="http://schemas.microsoft.com/office/drawing/2014/main" id="{4FED6173-FDFA-79E9-959E-0D959718893E}"/>
              </a:ext>
            </a:extLst>
          </p:cNvPr>
          <p:cNvSpPr txBox="1">
            <a:spLocks/>
          </p:cNvSpPr>
          <p:nvPr/>
        </p:nvSpPr>
        <p:spPr>
          <a:xfrm>
            <a:off x="8326409" y="5512451"/>
            <a:ext cx="2290792" cy="541959"/>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Support debugging</a:t>
            </a:r>
          </a:p>
        </p:txBody>
      </p:sp>
      <p:sp>
        <p:nvSpPr>
          <p:cNvPr id="56" name="Title 55">
            <a:extLst>
              <a:ext uri="{FF2B5EF4-FFF2-40B4-BE49-F238E27FC236}">
                <a16:creationId xmlns:a16="http://schemas.microsoft.com/office/drawing/2014/main" id="{38B15B8F-003D-D63E-7524-2747EF83CFA5}"/>
              </a:ext>
            </a:extLst>
          </p:cNvPr>
          <p:cNvSpPr>
            <a:spLocks noGrp="1"/>
          </p:cNvSpPr>
          <p:nvPr>
            <p:ph type="title"/>
          </p:nvPr>
        </p:nvSpPr>
        <p:spPr/>
        <p:txBody>
          <a:bodyPr/>
          <a:lstStyle/>
          <a:p>
            <a:r>
              <a:rPr lang="en-GB">
                <a:solidFill>
                  <a:schemeClr val="bg1"/>
                </a:solidFill>
              </a:rPr>
              <a:t>Online Evaluation: Generative AI App Dashboard </a:t>
            </a:r>
            <a:r>
              <a:rPr lang="en-GB" sz="2000">
                <a:solidFill>
                  <a:schemeClr val="bg1"/>
                </a:solidFill>
              </a:rPr>
              <a:t>(Preview)</a:t>
            </a:r>
            <a:endParaRPr lang="en-US">
              <a:solidFill>
                <a:schemeClr val="bg1"/>
              </a:solidFill>
            </a:endParaRPr>
          </a:p>
        </p:txBody>
      </p:sp>
    </p:spTree>
    <p:extLst>
      <p:ext uri="{BB962C8B-B14F-4D97-AF65-F5344CB8AC3E}">
        <p14:creationId xmlns:p14="http://schemas.microsoft.com/office/powerpoint/2010/main" val="24576550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1000"/>
                                        <p:tgtEl>
                                          <p:spTgt spid="18"/>
                                        </p:tgtEl>
                                      </p:cBhvr>
                                    </p:animEffect>
                                  </p:childTnLst>
                                </p:cTn>
                              </p:par>
                              <p:par>
                                <p:cTn id="11" presetID="23" presetClass="entr" presetSubtype="272"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 calcmode="lin" valueType="num">
                                      <p:cBhvr>
                                        <p:cTn id="13" dur="250" fill="hold"/>
                                        <p:tgtEl>
                                          <p:spTgt spid="17"/>
                                        </p:tgtEl>
                                        <p:attrNameLst>
                                          <p:attrName>ppt_w</p:attrName>
                                        </p:attrNameLst>
                                      </p:cBhvr>
                                      <p:tavLst>
                                        <p:tav tm="0">
                                          <p:val>
                                            <p:strVal val="2/3*#ppt_w"/>
                                          </p:val>
                                        </p:tav>
                                        <p:tav tm="100000">
                                          <p:val>
                                            <p:strVal val="#ppt_w"/>
                                          </p:val>
                                        </p:tav>
                                      </p:tavLst>
                                    </p:anim>
                                    <p:anim calcmode="lin" valueType="num">
                                      <p:cBhvr>
                                        <p:cTn id="14" dur="250" fill="hold"/>
                                        <p:tgtEl>
                                          <p:spTgt spid="17"/>
                                        </p:tgtEl>
                                        <p:attrNameLst>
                                          <p:attrName>ppt_h</p:attrName>
                                        </p:attrNameLst>
                                      </p:cBhvr>
                                      <p:tavLst>
                                        <p:tav tm="0">
                                          <p:val>
                                            <p:strVal val="2/3*#ppt_h"/>
                                          </p:val>
                                        </p:tav>
                                        <p:tav tm="100000">
                                          <p:val>
                                            <p:strVal val="#ppt_h"/>
                                          </p:val>
                                        </p:tav>
                                      </p:tavLst>
                                    </p:anim>
                                  </p:childTnLst>
                                </p:cTn>
                              </p:par>
                              <p:par>
                                <p:cTn id="15" presetID="10" presetClass="entr" presetSubtype="0" fill="hold" grpId="1" nodeType="withEffect">
                                  <p:stCondLst>
                                    <p:cond delay="25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6" presetClass="emph" presetSubtype="0" fill="hold" grpId="2" nodeType="withEffect">
                                  <p:stCondLst>
                                    <p:cond delay="250"/>
                                  </p:stCondLst>
                                  <p:childTnLst>
                                    <p:animScale>
                                      <p:cBhvr>
                                        <p:cTn id="19" dur="10" fill="hold"/>
                                        <p:tgtEl>
                                          <p:spTgt spid="17"/>
                                        </p:tgtEl>
                                      </p:cBhvr>
                                      <p:by x="80000" y="80000"/>
                                    </p:animScale>
                                  </p:childTnLst>
                                </p:cTn>
                              </p:par>
                              <p:par>
                                <p:cTn id="20" presetID="6" presetClass="emph" presetSubtype="0" decel="100000" fill="hold" grpId="3" nodeType="withEffect">
                                  <p:stCondLst>
                                    <p:cond delay="250"/>
                                  </p:stCondLst>
                                  <p:childTnLst>
                                    <p:animScale>
                                      <p:cBhvr>
                                        <p:cTn id="21" dur="1000" fill="hold"/>
                                        <p:tgtEl>
                                          <p:spTgt spid="17"/>
                                        </p:tgtEl>
                                      </p:cBhvr>
                                      <p:by x="125000" y="125000"/>
                                    </p:animScale>
                                  </p:childTnLst>
                                </p:cTn>
                              </p:par>
                              <p:par>
                                <p:cTn id="22" presetID="23" presetClass="entr" presetSubtype="272" fill="hold" grpId="0" nodeType="withEffect">
                                  <p:stCondLst>
                                    <p:cond delay="250"/>
                                  </p:stCondLst>
                                  <p:childTnLst>
                                    <p:set>
                                      <p:cBhvr>
                                        <p:cTn id="23" dur="1" fill="hold">
                                          <p:stCondLst>
                                            <p:cond delay="0"/>
                                          </p:stCondLst>
                                        </p:cTn>
                                        <p:tgtEl>
                                          <p:spTgt spid="19"/>
                                        </p:tgtEl>
                                        <p:attrNameLst>
                                          <p:attrName>style.visibility</p:attrName>
                                        </p:attrNameLst>
                                      </p:cBhvr>
                                      <p:to>
                                        <p:strVal val="visible"/>
                                      </p:to>
                                    </p:set>
                                    <p:anim calcmode="lin" valueType="num">
                                      <p:cBhvr>
                                        <p:cTn id="24" dur="250" fill="hold"/>
                                        <p:tgtEl>
                                          <p:spTgt spid="19"/>
                                        </p:tgtEl>
                                        <p:attrNameLst>
                                          <p:attrName>ppt_w</p:attrName>
                                        </p:attrNameLst>
                                      </p:cBhvr>
                                      <p:tavLst>
                                        <p:tav tm="0">
                                          <p:val>
                                            <p:strVal val="2/3*#ppt_w"/>
                                          </p:val>
                                        </p:tav>
                                        <p:tav tm="100000">
                                          <p:val>
                                            <p:strVal val="#ppt_w"/>
                                          </p:val>
                                        </p:tav>
                                      </p:tavLst>
                                    </p:anim>
                                    <p:anim calcmode="lin" valueType="num">
                                      <p:cBhvr>
                                        <p:cTn id="25" dur="250" fill="hold"/>
                                        <p:tgtEl>
                                          <p:spTgt spid="19"/>
                                        </p:tgtEl>
                                        <p:attrNameLst>
                                          <p:attrName>ppt_h</p:attrName>
                                        </p:attrNameLst>
                                      </p:cBhvr>
                                      <p:tavLst>
                                        <p:tav tm="0">
                                          <p:val>
                                            <p:strVal val="2/3*#ppt_h"/>
                                          </p:val>
                                        </p:tav>
                                        <p:tav tm="100000">
                                          <p:val>
                                            <p:strVal val="#ppt_h"/>
                                          </p:val>
                                        </p:tav>
                                      </p:tavLst>
                                    </p:anim>
                                  </p:childTnLst>
                                </p:cTn>
                              </p:par>
                              <p:par>
                                <p:cTn id="26" presetID="10" presetClass="entr" presetSubtype="0" fill="hold" grpId="1" nodeType="withEffect">
                                  <p:stCondLst>
                                    <p:cond delay="25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6" presetClass="emph" presetSubtype="0" fill="hold" grpId="2" nodeType="withEffect">
                                  <p:stCondLst>
                                    <p:cond delay="250"/>
                                  </p:stCondLst>
                                  <p:childTnLst>
                                    <p:animScale>
                                      <p:cBhvr>
                                        <p:cTn id="30" dur="10" fill="hold"/>
                                        <p:tgtEl>
                                          <p:spTgt spid="19"/>
                                        </p:tgtEl>
                                      </p:cBhvr>
                                      <p:by x="80000" y="80000"/>
                                    </p:animScale>
                                  </p:childTnLst>
                                </p:cTn>
                              </p:par>
                              <p:par>
                                <p:cTn id="31" presetID="6" presetClass="emph" presetSubtype="0" decel="100000" fill="hold" grpId="3" nodeType="withEffect">
                                  <p:stCondLst>
                                    <p:cond delay="250"/>
                                  </p:stCondLst>
                                  <p:childTnLst>
                                    <p:animScale>
                                      <p:cBhvr>
                                        <p:cTn id="32" dur="1000" fill="hold"/>
                                        <p:tgtEl>
                                          <p:spTgt spid="19"/>
                                        </p:tgtEl>
                                      </p:cBhvr>
                                      <p:by x="125000" y="125000"/>
                                    </p:animScale>
                                  </p:childTnLst>
                                </p:cTn>
                              </p:par>
                              <p:par>
                                <p:cTn id="33" presetID="23" presetClass="entr" presetSubtype="272"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p:cTn id="35" dur="250" fill="hold"/>
                                        <p:tgtEl>
                                          <p:spTgt spid="31"/>
                                        </p:tgtEl>
                                        <p:attrNameLst>
                                          <p:attrName>ppt_w</p:attrName>
                                        </p:attrNameLst>
                                      </p:cBhvr>
                                      <p:tavLst>
                                        <p:tav tm="0">
                                          <p:val>
                                            <p:strVal val="2/3*#ppt_w"/>
                                          </p:val>
                                        </p:tav>
                                        <p:tav tm="100000">
                                          <p:val>
                                            <p:strVal val="#ppt_w"/>
                                          </p:val>
                                        </p:tav>
                                      </p:tavLst>
                                    </p:anim>
                                    <p:anim calcmode="lin" valueType="num">
                                      <p:cBhvr>
                                        <p:cTn id="36" dur="250" fill="hold"/>
                                        <p:tgtEl>
                                          <p:spTgt spid="31"/>
                                        </p:tgtEl>
                                        <p:attrNameLst>
                                          <p:attrName>ppt_h</p:attrName>
                                        </p:attrNameLst>
                                      </p:cBhvr>
                                      <p:tavLst>
                                        <p:tav tm="0">
                                          <p:val>
                                            <p:strVal val="2/3*#ppt_h"/>
                                          </p:val>
                                        </p:tav>
                                        <p:tav tm="100000">
                                          <p:val>
                                            <p:strVal val="#ppt_h"/>
                                          </p:val>
                                        </p:tav>
                                      </p:tavLst>
                                    </p:anim>
                                  </p:childTnLst>
                                </p:cTn>
                              </p:par>
                              <p:par>
                                <p:cTn id="37" presetID="10" presetClass="entr" presetSubtype="0" fill="hold" grpId="1"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childTnLst>
                                </p:cTn>
                              </p:par>
                              <p:par>
                                <p:cTn id="40" presetID="6" presetClass="emph" presetSubtype="0" fill="hold" grpId="2" nodeType="withEffect">
                                  <p:stCondLst>
                                    <p:cond delay="0"/>
                                  </p:stCondLst>
                                  <p:childTnLst>
                                    <p:animScale>
                                      <p:cBhvr>
                                        <p:cTn id="41" dur="10" fill="hold"/>
                                        <p:tgtEl>
                                          <p:spTgt spid="31"/>
                                        </p:tgtEl>
                                      </p:cBhvr>
                                      <p:by x="80000" y="80000"/>
                                    </p:animScale>
                                  </p:childTnLst>
                                </p:cTn>
                              </p:par>
                              <p:par>
                                <p:cTn id="42" presetID="6" presetClass="emph" presetSubtype="0" decel="100000" fill="hold" grpId="3" nodeType="withEffect">
                                  <p:stCondLst>
                                    <p:cond delay="0"/>
                                  </p:stCondLst>
                                  <p:childTnLst>
                                    <p:animScale>
                                      <p:cBhvr>
                                        <p:cTn id="43" dur="1000" fill="hold"/>
                                        <p:tgtEl>
                                          <p:spTgt spid="31"/>
                                        </p:tgtEl>
                                      </p:cBhvr>
                                      <p:by x="125000" y="125000"/>
                                    </p:animScale>
                                  </p:childTnLst>
                                </p:cTn>
                              </p:par>
                              <p:par>
                                <p:cTn id="44" presetID="10" presetClass="entr" presetSubtype="0" fill="hold" grpId="0" nodeType="withEffect">
                                  <p:stCondLst>
                                    <p:cond delay="55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750"/>
                                        <p:tgtEl>
                                          <p:spTgt spid="32"/>
                                        </p:tgtEl>
                                      </p:cBhvr>
                                    </p:animEffect>
                                  </p:childTnLst>
                                </p:cTn>
                              </p:par>
                              <p:par>
                                <p:cTn id="47" presetID="10" presetClass="entr" presetSubtype="0" fill="hold" nodeType="withEffect">
                                  <p:stCondLst>
                                    <p:cond delay="110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75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1000"/>
                                        <p:tgtEl>
                                          <p:spTgt spid="44"/>
                                        </p:tgtEl>
                                      </p:cBhvr>
                                    </p:animEffect>
                                  </p:childTnLst>
                                </p:cTn>
                              </p:par>
                              <p:par>
                                <p:cTn id="53" presetID="23" presetClass="entr" presetSubtype="272" fill="hold" grpId="0" nodeType="withEffect">
                                  <p:stCondLst>
                                    <p:cond delay="250"/>
                                  </p:stCondLst>
                                  <p:childTnLst>
                                    <p:set>
                                      <p:cBhvr>
                                        <p:cTn id="54" dur="1" fill="hold">
                                          <p:stCondLst>
                                            <p:cond delay="0"/>
                                          </p:stCondLst>
                                        </p:cTn>
                                        <p:tgtEl>
                                          <p:spTgt spid="45"/>
                                        </p:tgtEl>
                                        <p:attrNameLst>
                                          <p:attrName>style.visibility</p:attrName>
                                        </p:attrNameLst>
                                      </p:cBhvr>
                                      <p:to>
                                        <p:strVal val="visible"/>
                                      </p:to>
                                    </p:set>
                                    <p:anim calcmode="lin" valueType="num">
                                      <p:cBhvr>
                                        <p:cTn id="55" dur="250" fill="hold"/>
                                        <p:tgtEl>
                                          <p:spTgt spid="45"/>
                                        </p:tgtEl>
                                        <p:attrNameLst>
                                          <p:attrName>ppt_w</p:attrName>
                                        </p:attrNameLst>
                                      </p:cBhvr>
                                      <p:tavLst>
                                        <p:tav tm="0">
                                          <p:val>
                                            <p:strVal val="2/3*#ppt_w"/>
                                          </p:val>
                                        </p:tav>
                                        <p:tav tm="100000">
                                          <p:val>
                                            <p:strVal val="#ppt_w"/>
                                          </p:val>
                                        </p:tav>
                                      </p:tavLst>
                                    </p:anim>
                                    <p:anim calcmode="lin" valueType="num">
                                      <p:cBhvr>
                                        <p:cTn id="56" dur="250" fill="hold"/>
                                        <p:tgtEl>
                                          <p:spTgt spid="45"/>
                                        </p:tgtEl>
                                        <p:attrNameLst>
                                          <p:attrName>ppt_h</p:attrName>
                                        </p:attrNameLst>
                                      </p:cBhvr>
                                      <p:tavLst>
                                        <p:tav tm="0">
                                          <p:val>
                                            <p:strVal val="2/3*#ppt_h"/>
                                          </p:val>
                                        </p:tav>
                                        <p:tav tm="100000">
                                          <p:val>
                                            <p:strVal val="#ppt_h"/>
                                          </p:val>
                                        </p:tav>
                                      </p:tavLst>
                                    </p:anim>
                                  </p:childTnLst>
                                </p:cTn>
                              </p:par>
                              <p:par>
                                <p:cTn id="57" presetID="10" presetClass="entr" presetSubtype="0" fill="hold" grpId="1" nodeType="withEffect">
                                  <p:stCondLst>
                                    <p:cond delay="250"/>
                                  </p:stCondLst>
                                  <p:childTnLst>
                                    <p:set>
                                      <p:cBhvr>
                                        <p:cTn id="58" dur="1" fill="hold">
                                          <p:stCondLst>
                                            <p:cond delay="0"/>
                                          </p:stCondLst>
                                        </p:cTn>
                                        <p:tgtEl>
                                          <p:spTgt spid="45"/>
                                        </p:tgtEl>
                                        <p:attrNameLst>
                                          <p:attrName>style.visibility</p:attrName>
                                        </p:attrNameLst>
                                      </p:cBhvr>
                                      <p:to>
                                        <p:strVal val="visible"/>
                                      </p:to>
                                    </p:set>
                                    <p:animEffect transition="in" filter="fade">
                                      <p:cBhvr>
                                        <p:cTn id="59" dur="500"/>
                                        <p:tgtEl>
                                          <p:spTgt spid="45"/>
                                        </p:tgtEl>
                                      </p:cBhvr>
                                    </p:animEffect>
                                  </p:childTnLst>
                                </p:cTn>
                              </p:par>
                              <p:par>
                                <p:cTn id="60" presetID="6" presetClass="emph" presetSubtype="0" fill="hold" grpId="2" nodeType="withEffect">
                                  <p:stCondLst>
                                    <p:cond delay="250"/>
                                  </p:stCondLst>
                                  <p:childTnLst>
                                    <p:animScale>
                                      <p:cBhvr>
                                        <p:cTn id="61" dur="10" fill="hold"/>
                                        <p:tgtEl>
                                          <p:spTgt spid="45"/>
                                        </p:tgtEl>
                                      </p:cBhvr>
                                      <p:by x="80000" y="80000"/>
                                    </p:animScale>
                                  </p:childTnLst>
                                </p:cTn>
                              </p:par>
                              <p:par>
                                <p:cTn id="62" presetID="6" presetClass="emph" presetSubtype="0" decel="100000" fill="hold" grpId="3" nodeType="withEffect">
                                  <p:stCondLst>
                                    <p:cond delay="250"/>
                                  </p:stCondLst>
                                  <p:childTnLst>
                                    <p:animScale>
                                      <p:cBhvr>
                                        <p:cTn id="63" dur="1000" fill="hold"/>
                                        <p:tgtEl>
                                          <p:spTgt spid="45"/>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1" grpId="1" animBg="1"/>
      <p:bldP spid="31" grpId="2" animBg="1"/>
      <p:bldP spid="31" grpId="3" animBg="1"/>
      <p:bldP spid="32" grpId="0" animBg="1"/>
      <p:bldP spid="16" grpId="0" animBg="1"/>
      <p:bldP spid="17" grpId="0"/>
      <p:bldP spid="17" grpId="1"/>
      <p:bldP spid="17" grpId="2"/>
      <p:bldP spid="17" grpId="3"/>
      <p:bldP spid="18" grpId="0" animBg="1"/>
      <p:bldP spid="19" grpId="0"/>
      <p:bldP spid="19" grpId="1"/>
      <p:bldP spid="19" grpId="2"/>
      <p:bldP spid="19" grpId="3"/>
      <p:bldP spid="44" grpId="0" animBg="1"/>
      <p:bldP spid="45" grpId="0"/>
      <p:bldP spid="45" grpId="1"/>
      <p:bldP spid="45" grpId="2"/>
      <p:bldP spid="45" grpId="3"/>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53487-8A1F-611C-FF56-A939D1201BD7}"/>
            </a:ext>
          </a:extLst>
        </p:cNvPr>
        <p:cNvGrpSpPr/>
        <p:nvPr/>
      </p:nvGrpSpPr>
      <p:grpSpPr>
        <a:xfrm>
          <a:off x="0" y="0"/>
          <a:ext cx="0" cy="0"/>
          <a:chOff x="0" y="0"/>
          <a:chExt cx="0" cy="0"/>
        </a:xfrm>
      </p:grpSpPr>
      <p:sp>
        <p:nvSpPr>
          <p:cNvPr id="83" name="Rectangle: Rounded Corners 82">
            <a:extLst>
              <a:ext uri="{FF2B5EF4-FFF2-40B4-BE49-F238E27FC236}">
                <a16:creationId xmlns:a16="http://schemas.microsoft.com/office/drawing/2014/main" id="{B83CEE89-9E02-FA1F-8E52-F8F364D5091D}"/>
              </a:ext>
            </a:extLst>
          </p:cNvPr>
          <p:cNvSpPr>
            <a:spLocks/>
          </p:cNvSpPr>
          <p:nvPr/>
        </p:nvSpPr>
        <p:spPr bwMode="auto">
          <a:xfrm>
            <a:off x="611353" y="1741055"/>
            <a:ext cx="6880861" cy="4523221"/>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6" name="Title 55">
            <a:extLst>
              <a:ext uri="{FF2B5EF4-FFF2-40B4-BE49-F238E27FC236}">
                <a16:creationId xmlns:a16="http://schemas.microsoft.com/office/drawing/2014/main" id="{B76DD8A0-8FB0-B79F-05F8-A4AA50F7B58A}"/>
              </a:ext>
            </a:extLst>
          </p:cNvPr>
          <p:cNvSpPr>
            <a:spLocks noGrp="1"/>
          </p:cNvSpPr>
          <p:nvPr>
            <p:ph type="title"/>
          </p:nvPr>
        </p:nvSpPr>
        <p:spPr/>
        <p:txBody>
          <a:bodyPr/>
          <a:lstStyle/>
          <a:p>
            <a:r>
              <a:rPr lang="en-GB">
                <a:solidFill>
                  <a:schemeClr val="bg1"/>
                </a:solidFill>
              </a:rPr>
              <a:t>Tracing on AI Foundry</a:t>
            </a:r>
            <a:r>
              <a:rPr lang="en-GB" sz="2400">
                <a:solidFill>
                  <a:schemeClr val="bg1"/>
                </a:solidFill>
              </a:rPr>
              <a:t>(Preview)</a:t>
            </a:r>
            <a:endParaRPr lang="en-US" sz="2400">
              <a:solidFill>
                <a:schemeClr val="bg1"/>
              </a:solidFill>
            </a:endParaRPr>
          </a:p>
        </p:txBody>
      </p:sp>
      <p:sp>
        <p:nvSpPr>
          <p:cNvPr id="85" name="Rectangle: Rounded Corners 84">
            <a:extLst>
              <a:ext uri="{FF2B5EF4-FFF2-40B4-BE49-F238E27FC236}">
                <a16:creationId xmlns:a16="http://schemas.microsoft.com/office/drawing/2014/main" id="{21D5608C-337B-502D-D223-FF4362D7B098}"/>
              </a:ext>
            </a:extLst>
          </p:cNvPr>
          <p:cNvSpPr>
            <a:spLocks/>
          </p:cNvSpPr>
          <p:nvPr/>
        </p:nvSpPr>
        <p:spPr bwMode="auto">
          <a:xfrm>
            <a:off x="7636574" y="1741055"/>
            <a:ext cx="3887456" cy="67836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925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6" name="Content Placeholder 2">
            <a:extLst>
              <a:ext uri="{FF2B5EF4-FFF2-40B4-BE49-F238E27FC236}">
                <a16:creationId xmlns:a16="http://schemas.microsoft.com/office/drawing/2014/main" id="{E58FC2D2-EB77-EEB1-A50F-B6B6F98CB7EA}"/>
              </a:ext>
            </a:extLst>
          </p:cNvPr>
          <p:cNvSpPr txBox="1">
            <a:spLocks/>
          </p:cNvSpPr>
          <p:nvPr/>
        </p:nvSpPr>
        <p:spPr>
          <a:xfrm>
            <a:off x="7851700" y="1889091"/>
            <a:ext cx="3438368" cy="382288"/>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Enhanced observability</a:t>
            </a:r>
          </a:p>
        </p:txBody>
      </p:sp>
      <p:sp>
        <p:nvSpPr>
          <p:cNvPr id="131" name="Rectangle: Rounded Corners 130">
            <a:extLst>
              <a:ext uri="{FF2B5EF4-FFF2-40B4-BE49-F238E27FC236}">
                <a16:creationId xmlns:a16="http://schemas.microsoft.com/office/drawing/2014/main" id="{45C1E129-EB79-F59A-C5F8-C617320541C8}"/>
              </a:ext>
            </a:extLst>
          </p:cNvPr>
          <p:cNvSpPr>
            <a:spLocks/>
          </p:cNvSpPr>
          <p:nvPr/>
        </p:nvSpPr>
        <p:spPr bwMode="auto">
          <a:xfrm>
            <a:off x="7636574" y="2510027"/>
            <a:ext cx="3887456" cy="67836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925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2" name="Content Placeholder 2">
            <a:extLst>
              <a:ext uri="{FF2B5EF4-FFF2-40B4-BE49-F238E27FC236}">
                <a16:creationId xmlns:a16="http://schemas.microsoft.com/office/drawing/2014/main" id="{A6D1AF3F-0BFA-EC35-E98F-508DB0CDC4A0}"/>
              </a:ext>
            </a:extLst>
          </p:cNvPr>
          <p:cNvSpPr txBox="1">
            <a:spLocks/>
          </p:cNvSpPr>
          <p:nvPr/>
        </p:nvSpPr>
        <p:spPr>
          <a:xfrm>
            <a:off x="7851700" y="2658063"/>
            <a:ext cx="3221461" cy="382288"/>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User-centric design</a:t>
            </a:r>
          </a:p>
        </p:txBody>
      </p:sp>
      <p:sp>
        <p:nvSpPr>
          <p:cNvPr id="133" name="Rectangle: Rounded Corners 132">
            <a:extLst>
              <a:ext uri="{FF2B5EF4-FFF2-40B4-BE49-F238E27FC236}">
                <a16:creationId xmlns:a16="http://schemas.microsoft.com/office/drawing/2014/main" id="{29408DDF-6ABD-6D59-0F54-97A362E0A5D2}"/>
              </a:ext>
            </a:extLst>
          </p:cNvPr>
          <p:cNvSpPr>
            <a:spLocks/>
          </p:cNvSpPr>
          <p:nvPr/>
        </p:nvSpPr>
        <p:spPr bwMode="auto">
          <a:xfrm>
            <a:off x="7636574" y="3278998"/>
            <a:ext cx="3887456" cy="67836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925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4" name="Content Placeholder 2">
            <a:extLst>
              <a:ext uri="{FF2B5EF4-FFF2-40B4-BE49-F238E27FC236}">
                <a16:creationId xmlns:a16="http://schemas.microsoft.com/office/drawing/2014/main" id="{6259C37D-8830-2326-B8FB-85EDFF97368D}"/>
              </a:ext>
            </a:extLst>
          </p:cNvPr>
          <p:cNvSpPr txBox="1">
            <a:spLocks/>
          </p:cNvSpPr>
          <p:nvPr/>
        </p:nvSpPr>
        <p:spPr>
          <a:xfrm>
            <a:off x="7851701" y="3427034"/>
            <a:ext cx="3070300" cy="382288"/>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Seamless instrumentation</a:t>
            </a:r>
          </a:p>
        </p:txBody>
      </p:sp>
      <p:sp>
        <p:nvSpPr>
          <p:cNvPr id="11" name="Rectangle: Rounded Corners 10">
            <a:extLst>
              <a:ext uri="{FF2B5EF4-FFF2-40B4-BE49-F238E27FC236}">
                <a16:creationId xmlns:a16="http://schemas.microsoft.com/office/drawing/2014/main" id="{DCBDBFDA-26A1-AED8-1ECD-2153A9751A50}"/>
              </a:ext>
            </a:extLst>
          </p:cNvPr>
          <p:cNvSpPr>
            <a:spLocks/>
          </p:cNvSpPr>
          <p:nvPr/>
        </p:nvSpPr>
        <p:spPr bwMode="auto">
          <a:xfrm>
            <a:off x="7636574" y="4047970"/>
            <a:ext cx="3887456" cy="67836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925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2" name="Content Placeholder 2">
            <a:extLst>
              <a:ext uri="{FF2B5EF4-FFF2-40B4-BE49-F238E27FC236}">
                <a16:creationId xmlns:a16="http://schemas.microsoft.com/office/drawing/2014/main" id="{817A8580-965D-5FBE-42F4-3F7FFA8DCE20}"/>
              </a:ext>
            </a:extLst>
          </p:cNvPr>
          <p:cNvSpPr txBox="1">
            <a:spLocks/>
          </p:cNvSpPr>
          <p:nvPr/>
        </p:nvSpPr>
        <p:spPr>
          <a:xfrm>
            <a:off x="7851701" y="4196006"/>
            <a:ext cx="3070300" cy="382288"/>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OTEL based tracing</a:t>
            </a:r>
          </a:p>
        </p:txBody>
      </p:sp>
      <p:sp>
        <p:nvSpPr>
          <p:cNvPr id="21" name="Rectangle: Rounded Corners 20">
            <a:extLst>
              <a:ext uri="{FF2B5EF4-FFF2-40B4-BE49-F238E27FC236}">
                <a16:creationId xmlns:a16="http://schemas.microsoft.com/office/drawing/2014/main" id="{84451DE9-265C-F009-C262-05938DF9DAC6}"/>
              </a:ext>
            </a:extLst>
          </p:cNvPr>
          <p:cNvSpPr>
            <a:spLocks/>
          </p:cNvSpPr>
          <p:nvPr/>
        </p:nvSpPr>
        <p:spPr bwMode="auto">
          <a:xfrm>
            <a:off x="7636574" y="4816941"/>
            <a:ext cx="3887456" cy="67836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925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2" name="Content Placeholder 2">
            <a:extLst>
              <a:ext uri="{FF2B5EF4-FFF2-40B4-BE49-F238E27FC236}">
                <a16:creationId xmlns:a16="http://schemas.microsoft.com/office/drawing/2014/main" id="{A121DABD-AC16-5E6A-F699-9F72A039EB11}"/>
              </a:ext>
            </a:extLst>
          </p:cNvPr>
          <p:cNvSpPr txBox="1">
            <a:spLocks/>
          </p:cNvSpPr>
          <p:nvPr/>
        </p:nvSpPr>
        <p:spPr>
          <a:xfrm>
            <a:off x="7851701" y="4964978"/>
            <a:ext cx="3070300" cy="382288"/>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Secure data handling</a:t>
            </a:r>
          </a:p>
        </p:txBody>
      </p:sp>
      <p:sp>
        <p:nvSpPr>
          <p:cNvPr id="24" name="Rectangle: Rounded Corners 23">
            <a:extLst>
              <a:ext uri="{FF2B5EF4-FFF2-40B4-BE49-F238E27FC236}">
                <a16:creationId xmlns:a16="http://schemas.microsoft.com/office/drawing/2014/main" id="{05AC59E8-0BCC-3CF4-96C2-3943B0BA630A}"/>
              </a:ext>
            </a:extLst>
          </p:cNvPr>
          <p:cNvSpPr>
            <a:spLocks/>
          </p:cNvSpPr>
          <p:nvPr/>
        </p:nvSpPr>
        <p:spPr bwMode="auto">
          <a:xfrm>
            <a:off x="7636574" y="5585915"/>
            <a:ext cx="3887456" cy="67836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fontScale="92500" lnSpcReduction="20000"/>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5" name="Content Placeholder 2">
            <a:extLst>
              <a:ext uri="{FF2B5EF4-FFF2-40B4-BE49-F238E27FC236}">
                <a16:creationId xmlns:a16="http://schemas.microsoft.com/office/drawing/2014/main" id="{3182D3D2-D0B8-008A-0BD8-40041C79AA8E}"/>
              </a:ext>
            </a:extLst>
          </p:cNvPr>
          <p:cNvSpPr txBox="1">
            <a:spLocks/>
          </p:cNvSpPr>
          <p:nvPr/>
        </p:nvSpPr>
        <p:spPr>
          <a:xfrm>
            <a:off x="7851701" y="5733951"/>
            <a:ext cx="3070300" cy="382288"/>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GB" sz="1600" b="1" spc="0">
                <a:ln>
                  <a:noFill/>
                </a:ln>
              </a:rPr>
              <a:t>Feedback logging</a:t>
            </a:r>
          </a:p>
        </p:txBody>
      </p:sp>
      <p:pic>
        <p:nvPicPr>
          <p:cNvPr id="2" name="Picture 1" descr="Animation of going to tracing and creating an Application Insight resource.">
            <a:extLst>
              <a:ext uri="{FF2B5EF4-FFF2-40B4-BE49-F238E27FC236}">
                <a16:creationId xmlns:a16="http://schemas.microsoft.com/office/drawing/2014/main" id="{484C5E00-707A-79C6-9764-C2EB47930460}"/>
              </a:ext>
            </a:extLst>
          </p:cNvPr>
          <p:cNvPicPr>
            <a:picLocks noChangeAspect="1" noChangeArrowheads="1"/>
          </p:cNvPicPr>
          <p:nvPr/>
        </p:nvPicPr>
        <p:blipFill>
          <a:blip r:embed="rId3" cstate="hqprint">
            <a:extLst>
              <a:ext uri="{28A0092B-C50C-407E-A947-70E740481C1C}">
                <a14:useLocalDpi xmlns:a14="http://schemas.microsoft.com/office/drawing/2010/main"/>
              </a:ext>
            </a:extLst>
          </a:blip>
          <a:srcRect/>
          <a:stretch>
            <a:fillRect/>
          </a:stretch>
        </p:blipFill>
        <p:spPr bwMode="auto">
          <a:xfrm>
            <a:off x="727726" y="1879601"/>
            <a:ext cx="6617055" cy="4246238"/>
          </a:xfrm>
          <a:prstGeom prst="roundRect">
            <a:avLst>
              <a:gd name="adj" fmla="val 1493"/>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35142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250" fill="hold"/>
                                        <p:tgtEl>
                                          <p:spTgt spid="83"/>
                                        </p:tgtEl>
                                        <p:attrNameLst>
                                          <p:attrName>ppt_w</p:attrName>
                                        </p:attrNameLst>
                                      </p:cBhvr>
                                      <p:tavLst>
                                        <p:tav tm="0">
                                          <p:val>
                                            <p:strVal val="2/3*#ppt_w"/>
                                          </p:val>
                                        </p:tav>
                                        <p:tav tm="100000">
                                          <p:val>
                                            <p:strVal val="#ppt_w"/>
                                          </p:val>
                                        </p:tav>
                                      </p:tavLst>
                                    </p:anim>
                                    <p:anim calcmode="lin" valueType="num">
                                      <p:cBhvr>
                                        <p:cTn id="8" dur="250" fill="hold"/>
                                        <p:tgtEl>
                                          <p:spTgt spid="83"/>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fade">
                                      <p:cBhvr>
                                        <p:cTn id="11" dur="500"/>
                                        <p:tgtEl>
                                          <p:spTgt spid="83"/>
                                        </p:tgtEl>
                                      </p:cBhvr>
                                    </p:animEffect>
                                  </p:childTnLst>
                                </p:cTn>
                              </p:par>
                              <p:par>
                                <p:cTn id="12" presetID="6" presetClass="emph" presetSubtype="0" fill="hold" grpId="2" nodeType="withEffect">
                                  <p:stCondLst>
                                    <p:cond delay="0"/>
                                  </p:stCondLst>
                                  <p:childTnLst>
                                    <p:animScale>
                                      <p:cBhvr>
                                        <p:cTn id="13" dur="10" fill="hold"/>
                                        <p:tgtEl>
                                          <p:spTgt spid="83"/>
                                        </p:tgtEl>
                                      </p:cBhvr>
                                      <p:by x="80000" y="80000"/>
                                    </p:animScale>
                                  </p:childTnLst>
                                </p:cTn>
                              </p:par>
                              <p:par>
                                <p:cTn id="14" presetID="6" presetClass="emph" presetSubtype="0" decel="100000" fill="hold" grpId="3" nodeType="withEffect">
                                  <p:stCondLst>
                                    <p:cond delay="0"/>
                                  </p:stCondLst>
                                  <p:childTnLst>
                                    <p:animScale>
                                      <p:cBhvr>
                                        <p:cTn id="15" dur="1000" fill="hold"/>
                                        <p:tgtEl>
                                          <p:spTgt spid="83"/>
                                        </p:tgtEl>
                                      </p:cBhvr>
                                      <p:by x="125000" y="125000"/>
                                    </p:animScale>
                                  </p:childTnLst>
                                </p:cTn>
                              </p:par>
                              <p:par>
                                <p:cTn id="16" presetID="10" presetClass="entr" presetSubtype="0" fill="hold" nodeType="withEffect">
                                  <p:stCondLst>
                                    <p:cond delay="55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750"/>
                                        <p:tgtEl>
                                          <p:spTgt spid="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5"/>
                                        </p:tgtEl>
                                        <p:attrNameLst>
                                          <p:attrName>style.visibility</p:attrName>
                                        </p:attrNameLst>
                                      </p:cBhvr>
                                      <p:to>
                                        <p:strVal val="visible"/>
                                      </p:to>
                                    </p:set>
                                    <p:animEffect transition="in" filter="fade">
                                      <p:cBhvr>
                                        <p:cTn id="21" dur="1000"/>
                                        <p:tgtEl>
                                          <p:spTgt spid="8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1"/>
                                        </p:tgtEl>
                                        <p:attrNameLst>
                                          <p:attrName>style.visibility</p:attrName>
                                        </p:attrNameLst>
                                      </p:cBhvr>
                                      <p:to>
                                        <p:strVal val="visible"/>
                                      </p:to>
                                    </p:set>
                                    <p:animEffect transition="in" filter="fade">
                                      <p:cBhvr>
                                        <p:cTn id="24" dur="1000"/>
                                        <p:tgtEl>
                                          <p:spTgt spid="1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3"/>
                                        </p:tgtEl>
                                        <p:attrNameLst>
                                          <p:attrName>style.visibility</p:attrName>
                                        </p:attrNameLst>
                                      </p:cBhvr>
                                      <p:to>
                                        <p:strVal val="visible"/>
                                      </p:to>
                                    </p:set>
                                    <p:animEffect transition="in" filter="fade">
                                      <p:cBhvr>
                                        <p:cTn id="27" dur="1000"/>
                                        <p:tgtEl>
                                          <p:spTgt spid="1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10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10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1000"/>
                                        <p:tgtEl>
                                          <p:spTgt spid="24"/>
                                        </p:tgtEl>
                                      </p:cBhvr>
                                    </p:animEffect>
                                  </p:childTnLst>
                                </p:cTn>
                              </p:par>
                              <p:par>
                                <p:cTn id="37" presetID="23" presetClass="entr" presetSubtype="272" fill="hold" grpId="0" nodeType="withEffect">
                                  <p:stCondLst>
                                    <p:cond delay="250"/>
                                  </p:stCondLst>
                                  <p:childTnLst>
                                    <p:set>
                                      <p:cBhvr>
                                        <p:cTn id="38" dur="1" fill="hold">
                                          <p:stCondLst>
                                            <p:cond delay="0"/>
                                          </p:stCondLst>
                                        </p:cTn>
                                        <p:tgtEl>
                                          <p:spTgt spid="86"/>
                                        </p:tgtEl>
                                        <p:attrNameLst>
                                          <p:attrName>style.visibility</p:attrName>
                                        </p:attrNameLst>
                                      </p:cBhvr>
                                      <p:to>
                                        <p:strVal val="visible"/>
                                      </p:to>
                                    </p:set>
                                    <p:anim calcmode="lin" valueType="num">
                                      <p:cBhvr>
                                        <p:cTn id="39" dur="250" fill="hold"/>
                                        <p:tgtEl>
                                          <p:spTgt spid="86"/>
                                        </p:tgtEl>
                                        <p:attrNameLst>
                                          <p:attrName>ppt_w</p:attrName>
                                        </p:attrNameLst>
                                      </p:cBhvr>
                                      <p:tavLst>
                                        <p:tav tm="0">
                                          <p:val>
                                            <p:strVal val="2/3*#ppt_w"/>
                                          </p:val>
                                        </p:tav>
                                        <p:tav tm="100000">
                                          <p:val>
                                            <p:strVal val="#ppt_w"/>
                                          </p:val>
                                        </p:tav>
                                      </p:tavLst>
                                    </p:anim>
                                    <p:anim calcmode="lin" valueType="num">
                                      <p:cBhvr>
                                        <p:cTn id="40" dur="250" fill="hold"/>
                                        <p:tgtEl>
                                          <p:spTgt spid="86"/>
                                        </p:tgtEl>
                                        <p:attrNameLst>
                                          <p:attrName>ppt_h</p:attrName>
                                        </p:attrNameLst>
                                      </p:cBhvr>
                                      <p:tavLst>
                                        <p:tav tm="0">
                                          <p:val>
                                            <p:strVal val="2/3*#ppt_h"/>
                                          </p:val>
                                        </p:tav>
                                        <p:tav tm="100000">
                                          <p:val>
                                            <p:strVal val="#ppt_h"/>
                                          </p:val>
                                        </p:tav>
                                      </p:tavLst>
                                    </p:anim>
                                  </p:childTnLst>
                                </p:cTn>
                              </p:par>
                              <p:par>
                                <p:cTn id="41" presetID="10" presetClass="entr" presetSubtype="0" fill="hold" grpId="1" nodeType="withEffect">
                                  <p:stCondLst>
                                    <p:cond delay="250"/>
                                  </p:stCondLst>
                                  <p:childTnLst>
                                    <p:set>
                                      <p:cBhvr>
                                        <p:cTn id="42" dur="1" fill="hold">
                                          <p:stCondLst>
                                            <p:cond delay="0"/>
                                          </p:stCondLst>
                                        </p:cTn>
                                        <p:tgtEl>
                                          <p:spTgt spid="86"/>
                                        </p:tgtEl>
                                        <p:attrNameLst>
                                          <p:attrName>style.visibility</p:attrName>
                                        </p:attrNameLst>
                                      </p:cBhvr>
                                      <p:to>
                                        <p:strVal val="visible"/>
                                      </p:to>
                                    </p:set>
                                    <p:animEffect transition="in" filter="fade">
                                      <p:cBhvr>
                                        <p:cTn id="43" dur="500"/>
                                        <p:tgtEl>
                                          <p:spTgt spid="86"/>
                                        </p:tgtEl>
                                      </p:cBhvr>
                                    </p:animEffect>
                                  </p:childTnLst>
                                </p:cTn>
                              </p:par>
                              <p:par>
                                <p:cTn id="44" presetID="6" presetClass="emph" presetSubtype="0" fill="hold" grpId="2" nodeType="withEffect">
                                  <p:stCondLst>
                                    <p:cond delay="250"/>
                                  </p:stCondLst>
                                  <p:childTnLst>
                                    <p:animScale>
                                      <p:cBhvr>
                                        <p:cTn id="45" dur="10" fill="hold"/>
                                        <p:tgtEl>
                                          <p:spTgt spid="86"/>
                                        </p:tgtEl>
                                      </p:cBhvr>
                                      <p:by x="80000" y="80000"/>
                                    </p:animScale>
                                  </p:childTnLst>
                                </p:cTn>
                              </p:par>
                              <p:par>
                                <p:cTn id="46" presetID="6" presetClass="emph" presetSubtype="0" decel="100000" fill="hold" grpId="3" nodeType="withEffect">
                                  <p:stCondLst>
                                    <p:cond delay="250"/>
                                  </p:stCondLst>
                                  <p:childTnLst>
                                    <p:animScale>
                                      <p:cBhvr>
                                        <p:cTn id="47" dur="1000" fill="hold"/>
                                        <p:tgtEl>
                                          <p:spTgt spid="86"/>
                                        </p:tgtEl>
                                      </p:cBhvr>
                                      <p:by x="125000" y="125000"/>
                                    </p:animScale>
                                  </p:childTnLst>
                                </p:cTn>
                              </p:par>
                              <p:par>
                                <p:cTn id="48" presetID="23" presetClass="entr" presetSubtype="272" fill="hold" grpId="0" nodeType="withEffect">
                                  <p:stCondLst>
                                    <p:cond delay="250"/>
                                  </p:stCondLst>
                                  <p:childTnLst>
                                    <p:set>
                                      <p:cBhvr>
                                        <p:cTn id="49" dur="1" fill="hold">
                                          <p:stCondLst>
                                            <p:cond delay="0"/>
                                          </p:stCondLst>
                                        </p:cTn>
                                        <p:tgtEl>
                                          <p:spTgt spid="132"/>
                                        </p:tgtEl>
                                        <p:attrNameLst>
                                          <p:attrName>style.visibility</p:attrName>
                                        </p:attrNameLst>
                                      </p:cBhvr>
                                      <p:to>
                                        <p:strVal val="visible"/>
                                      </p:to>
                                    </p:set>
                                    <p:anim calcmode="lin" valueType="num">
                                      <p:cBhvr>
                                        <p:cTn id="50" dur="250" fill="hold"/>
                                        <p:tgtEl>
                                          <p:spTgt spid="132"/>
                                        </p:tgtEl>
                                        <p:attrNameLst>
                                          <p:attrName>ppt_w</p:attrName>
                                        </p:attrNameLst>
                                      </p:cBhvr>
                                      <p:tavLst>
                                        <p:tav tm="0">
                                          <p:val>
                                            <p:strVal val="2/3*#ppt_w"/>
                                          </p:val>
                                        </p:tav>
                                        <p:tav tm="100000">
                                          <p:val>
                                            <p:strVal val="#ppt_w"/>
                                          </p:val>
                                        </p:tav>
                                      </p:tavLst>
                                    </p:anim>
                                    <p:anim calcmode="lin" valueType="num">
                                      <p:cBhvr>
                                        <p:cTn id="51" dur="250" fill="hold"/>
                                        <p:tgtEl>
                                          <p:spTgt spid="132"/>
                                        </p:tgtEl>
                                        <p:attrNameLst>
                                          <p:attrName>ppt_h</p:attrName>
                                        </p:attrNameLst>
                                      </p:cBhvr>
                                      <p:tavLst>
                                        <p:tav tm="0">
                                          <p:val>
                                            <p:strVal val="2/3*#ppt_h"/>
                                          </p:val>
                                        </p:tav>
                                        <p:tav tm="100000">
                                          <p:val>
                                            <p:strVal val="#ppt_h"/>
                                          </p:val>
                                        </p:tav>
                                      </p:tavLst>
                                    </p:anim>
                                  </p:childTnLst>
                                </p:cTn>
                              </p:par>
                              <p:par>
                                <p:cTn id="52" presetID="10" presetClass="entr" presetSubtype="0" fill="hold" grpId="1" nodeType="withEffect">
                                  <p:stCondLst>
                                    <p:cond delay="250"/>
                                  </p:stCondLst>
                                  <p:childTnLst>
                                    <p:set>
                                      <p:cBhvr>
                                        <p:cTn id="53" dur="1" fill="hold">
                                          <p:stCondLst>
                                            <p:cond delay="0"/>
                                          </p:stCondLst>
                                        </p:cTn>
                                        <p:tgtEl>
                                          <p:spTgt spid="132"/>
                                        </p:tgtEl>
                                        <p:attrNameLst>
                                          <p:attrName>style.visibility</p:attrName>
                                        </p:attrNameLst>
                                      </p:cBhvr>
                                      <p:to>
                                        <p:strVal val="visible"/>
                                      </p:to>
                                    </p:set>
                                    <p:animEffect transition="in" filter="fade">
                                      <p:cBhvr>
                                        <p:cTn id="54" dur="500"/>
                                        <p:tgtEl>
                                          <p:spTgt spid="132"/>
                                        </p:tgtEl>
                                      </p:cBhvr>
                                    </p:animEffect>
                                  </p:childTnLst>
                                </p:cTn>
                              </p:par>
                              <p:par>
                                <p:cTn id="55" presetID="6" presetClass="emph" presetSubtype="0" fill="hold" grpId="2" nodeType="withEffect">
                                  <p:stCondLst>
                                    <p:cond delay="250"/>
                                  </p:stCondLst>
                                  <p:childTnLst>
                                    <p:animScale>
                                      <p:cBhvr>
                                        <p:cTn id="56" dur="10" fill="hold"/>
                                        <p:tgtEl>
                                          <p:spTgt spid="132"/>
                                        </p:tgtEl>
                                      </p:cBhvr>
                                      <p:by x="80000" y="80000"/>
                                    </p:animScale>
                                  </p:childTnLst>
                                </p:cTn>
                              </p:par>
                              <p:par>
                                <p:cTn id="57" presetID="6" presetClass="emph" presetSubtype="0" decel="100000" fill="hold" grpId="3" nodeType="withEffect">
                                  <p:stCondLst>
                                    <p:cond delay="250"/>
                                  </p:stCondLst>
                                  <p:childTnLst>
                                    <p:animScale>
                                      <p:cBhvr>
                                        <p:cTn id="58" dur="1000" fill="hold"/>
                                        <p:tgtEl>
                                          <p:spTgt spid="132"/>
                                        </p:tgtEl>
                                      </p:cBhvr>
                                      <p:by x="125000" y="125000"/>
                                    </p:animScale>
                                  </p:childTnLst>
                                </p:cTn>
                              </p:par>
                              <p:par>
                                <p:cTn id="59" presetID="23" presetClass="entr" presetSubtype="272" fill="hold" grpId="0" nodeType="withEffect">
                                  <p:stCondLst>
                                    <p:cond delay="250"/>
                                  </p:stCondLst>
                                  <p:childTnLst>
                                    <p:set>
                                      <p:cBhvr>
                                        <p:cTn id="60" dur="1" fill="hold">
                                          <p:stCondLst>
                                            <p:cond delay="0"/>
                                          </p:stCondLst>
                                        </p:cTn>
                                        <p:tgtEl>
                                          <p:spTgt spid="134"/>
                                        </p:tgtEl>
                                        <p:attrNameLst>
                                          <p:attrName>style.visibility</p:attrName>
                                        </p:attrNameLst>
                                      </p:cBhvr>
                                      <p:to>
                                        <p:strVal val="visible"/>
                                      </p:to>
                                    </p:set>
                                    <p:anim calcmode="lin" valueType="num">
                                      <p:cBhvr>
                                        <p:cTn id="61" dur="250" fill="hold"/>
                                        <p:tgtEl>
                                          <p:spTgt spid="134"/>
                                        </p:tgtEl>
                                        <p:attrNameLst>
                                          <p:attrName>ppt_w</p:attrName>
                                        </p:attrNameLst>
                                      </p:cBhvr>
                                      <p:tavLst>
                                        <p:tav tm="0">
                                          <p:val>
                                            <p:strVal val="2/3*#ppt_w"/>
                                          </p:val>
                                        </p:tav>
                                        <p:tav tm="100000">
                                          <p:val>
                                            <p:strVal val="#ppt_w"/>
                                          </p:val>
                                        </p:tav>
                                      </p:tavLst>
                                    </p:anim>
                                    <p:anim calcmode="lin" valueType="num">
                                      <p:cBhvr>
                                        <p:cTn id="62" dur="250" fill="hold"/>
                                        <p:tgtEl>
                                          <p:spTgt spid="134"/>
                                        </p:tgtEl>
                                        <p:attrNameLst>
                                          <p:attrName>ppt_h</p:attrName>
                                        </p:attrNameLst>
                                      </p:cBhvr>
                                      <p:tavLst>
                                        <p:tav tm="0">
                                          <p:val>
                                            <p:strVal val="2/3*#ppt_h"/>
                                          </p:val>
                                        </p:tav>
                                        <p:tav tm="100000">
                                          <p:val>
                                            <p:strVal val="#ppt_h"/>
                                          </p:val>
                                        </p:tav>
                                      </p:tavLst>
                                    </p:anim>
                                  </p:childTnLst>
                                </p:cTn>
                              </p:par>
                              <p:par>
                                <p:cTn id="63" presetID="10" presetClass="entr" presetSubtype="0" fill="hold" grpId="1" nodeType="withEffect">
                                  <p:stCondLst>
                                    <p:cond delay="250"/>
                                  </p:stCondLst>
                                  <p:childTnLst>
                                    <p:set>
                                      <p:cBhvr>
                                        <p:cTn id="64" dur="1" fill="hold">
                                          <p:stCondLst>
                                            <p:cond delay="0"/>
                                          </p:stCondLst>
                                        </p:cTn>
                                        <p:tgtEl>
                                          <p:spTgt spid="134"/>
                                        </p:tgtEl>
                                        <p:attrNameLst>
                                          <p:attrName>style.visibility</p:attrName>
                                        </p:attrNameLst>
                                      </p:cBhvr>
                                      <p:to>
                                        <p:strVal val="visible"/>
                                      </p:to>
                                    </p:set>
                                    <p:animEffect transition="in" filter="fade">
                                      <p:cBhvr>
                                        <p:cTn id="65" dur="500"/>
                                        <p:tgtEl>
                                          <p:spTgt spid="134"/>
                                        </p:tgtEl>
                                      </p:cBhvr>
                                    </p:animEffect>
                                  </p:childTnLst>
                                </p:cTn>
                              </p:par>
                              <p:par>
                                <p:cTn id="66" presetID="6" presetClass="emph" presetSubtype="0" fill="hold" grpId="2" nodeType="withEffect">
                                  <p:stCondLst>
                                    <p:cond delay="250"/>
                                  </p:stCondLst>
                                  <p:childTnLst>
                                    <p:animScale>
                                      <p:cBhvr>
                                        <p:cTn id="67" dur="10" fill="hold"/>
                                        <p:tgtEl>
                                          <p:spTgt spid="134"/>
                                        </p:tgtEl>
                                      </p:cBhvr>
                                      <p:by x="80000" y="80000"/>
                                    </p:animScale>
                                  </p:childTnLst>
                                </p:cTn>
                              </p:par>
                              <p:par>
                                <p:cTn id="68" presetID="6" presetClass="emph" presetSubtype="0" decel="100000" fill="hold" grpId="3" nodeType="withEffect">
                                  <p:stCondLst>
                                    <p:cond delay="250"/>
                                  </p:stCondLst>
                                  <p:childTnLst>
                                    <p:animScale>
                                      <p:cBhvr>
                                        <p:cTn id="69" dur="1000" fill="hold"/>
                                        <p:tgtEl>
                                          <p:spTgt spid="134"/>
                                        </p:tgtEl>
                                      </p:cBhvr>
                                      <p:by x="125000" y="125000"/>
                                    </p:animScale>
                                  </p:childTnLst>
                                </p:cTn>
                              </p:par>
                              <p:par>
                                <p:cTn id="70" presetID="23" presetClass="entr" presetSubtype="272" fill="hold" grpId="0" nodeType="withEffect">
                                  <p:stCondLst>
                                    <p:cond delay="250"/>
                                  </p:stCondLst>
                                  <p:childTnLst>
                                    <p:set>
                                      <p:cBhvr>
                                        <p:cTn id="71" dur="1" fill="hold">
                                          <p:stCondLst>
                                            <p:cond delay="0"/>
                                          </p:stCondLst>
                                        </p:cTn>
                                        <p:tgtEl>
                                          <p:spTgt spid="12"/>
                                        </p:tgtEl>
                                        <p:attrNameLst>
                                          <p:attrName>style.visibility</p:attrName>
                                        </p:attrNameLst>
                                      </p:cBhvr>
                                      <p:to>
                                        <p:strVal val="visible"/>
                                      </p:to>
                                    </p:set>
                                    <p:anim calcmode="lin" valueType="num">
                                      <p:cBhvr>
                                        <p:cTn id="72" dur="250" fill="hold"/>
                                        <p:tgtEl>
                                          <p:spTgt spid="12"/>
                                        </p:tgtEl>
                                        <p:attrNameLst>
                                          <p:attrName>ppt_w</p:attrName>
                                        </p:attrNameLst>
                                      </p:cBhvr>
                                      <p:tavLst>
                                        <p:tav tm="0">
                                          <p:val>
                                            <p:strVal val="2/3*#ppt_w"/>
                                          </p:val>
                                        </p:tav>
                                        <p:tav tm="100000">
                                          <p:val>
                                            <p:strVal val="#ppt_w"/>
                                          </p:val>
                                        </p:tav>
                                      </p:tavLst>
                                    </p:anim>
                                    <p:anim calcmode="lin" valueType="num">
                                      <p:cBhvr>
                                        <p:cTn id="73" dur="250" fill="hold"/>
                                        <p:tgtEl>
                                          <p:spTgt spid="12"/>
                                        </p:tgtEl>
                                        <p:attrNameLst>
                                          <p:attrName>ppt_h</p:attrName>
                                        </p:attrNameLst>
                                      </p:cBhvr>
                                      <p:tavLst>
                                        <p:tav tm="0">
                                          <p:val>
                                            <p:strVal val="2/3*#ppt_h"/>
                                          </p:val>
                                        </p:tav>
                                        <p:tav tm="100000">
                                          <p:val>
                                            <p:strVal val="#ppt_h"/>
                                          </p:val>
                                        </p:tav>
                                      </p:tavLst>
                                    </p:anim>
                                  </p:childTnLst>
                                </p:cTn>
                              </p:par>
                              <p:par>
                                <p:cTn id="74" presetID="10" presetClass="entr" presetSubtype="0" fill="hold" grpId="1" nodeType="withEffect">
                                  <p:stCondLst>
                                    <p:cond delay="250"/>
                                  </p:stCondLst>
                                  <p:childTnLst>
                                    <p:set>
                                      <p:cBhvr>
                                        <p:cTn id="75" dur="1" fill="hold">
                                          <p:stCondLst>
                                            <p:cond delay="0"/>
                                          </p:stCondLst>
                                        </p:cTn>
                                        <p:tgtEl>
                                          <p:spTgt spid="12"/>
                                        </p:tgtEl>
                                        <p:attrNameLst>
                                          <p:attrName>style.visibility</p:attrName>
                                        </p:attrNameLst>
                                      </p:cBhvr>
                                      <p:to>
                                        <p:strVal val="visible"/>
                                      </p:to>
                                    </p:set>
                                    <p:animEffect transition="in" filter="fade">
                                      <p:cBhvr>
                                        <p:cTn id="76" dur="500"/>
                                        <p:tgtEl>
                                          <p:spTgt spid="12"/>
                                        </p:tgtEl>
                                      </p:cBhvr>
                                    </p:animEffect>
                                  </p:childTnLst>
                                </p:cTn>
                              </p:par>
                              <p:par>
                                <p:cTn id="77" presetID="6" presetClass="emph" presetSubtype="0" fill="hold" grpId="2" nodeType="withEffect">
                                  <p:stCondLst>
                                    <p:cond delay="250"/>
                                  </p:stCondLst>
                                  <p:childTnLst>
                                    <p:animScale>
                                      <p:cBhvr>
                                        <p:cTn id="78" dur="10" fill="hold"/>
                                        <p:tgtEl>
                                          <p:spTgt spid="12"/>
                                        </p:tgtEl>
                                      </p:cBhvr>
                                      <p:by x="80000" y="80000"/>
                                    </p:animScale>
                                  </p:childTnLst>
                                </p:cTn>
                              </p:par>
                              <p:par>
                                <p:cTn id="79" presetID="6" presetClass="emph" presetSubtype="0" decel="100000" fill="hold" grpId="3" nodeType="withEffect">
                                  <p:stCondLst>
                                    <p:cond delay="250"/>
                                  </p:stCondLst>
                                  <p:childTnLst>
                                    <p:animScale>
                                      <p:cBhvr>
                                        <p:cTn id="80" dur="1000" fill="hold"/>
                                        <p:tgtEl>
                                          <p:spTgt spid="12"/>
                                        </p:tgtEl>
                                      </p:cBhvr>
                                      <p:by x="125000" y="125000"/>
                                    </p:animScale>
                                  </p:childTnLst>
                                </p:cTn>
                              </p:par>
                              <p:par>
                                <p:cTn id="81" presetID="23" presetClass="entr" presetSubtype="272" fill="hold" grpId="0" nodeType="withEffect">
                                  <p:stCondLst>
                                    <p:cond delay="250"/>
                                  </p:stCondLst>
                                  <p:childTnLst>
                                    <p:set>
                                      <p:cBhvr>
                                        <p:cTn id="82" dur="1" fill="hold">
                                          <p:stCondLst>
                                            <p:cond delay="0"/>
                                          </p:stCondLst>
                                        </p:cTn>
                                        <p:tgtEl>
                                          <p:spTgt spid="22"/>
                                        </p:tgtEl>
                                        <p:attrNameLst>
                                          <p:attrName>style.visibility</p:attrName>
                                        </p:attrNameLst>
                                      </p:cBhvr>
                                      <p:to>
                                        <p:strVal val="visible"/>
                                      </p:to>
                                    </p:set>
                                    <p:anim calcmode="lin" valueType="num">
                                      <p:cBhvr>
                                        <p:cTn id="83" dur="250" fill="hold"/>
                                        <p:tgtEl>
                                          <p:spTgt spid="22"/>
                                        </p:tgtEl>
                                        <p:attrNameLst>
                                          <p:attrName>ppt_w</p:attrName>
                                        </p:attrNameLst>
                                      </p:cBhvr>
                                      <p:tavLst>
                                        <p:tav tm="0">
                                          <p:val>
                                            <p:strVal val="2/3*#ppt_w"/>
                                          </p:val>
                                        </p:tav>
                                        <p:tav tm="100000">
                                          <p:val>
                                            <p:strVal val="#ppt_w"/>
                                          </p:val>
                                        </p:tav>
                                      </p:tavLst>
                                    </p:anim>
                                    <p:anim calcmode="lin" valueType="num">
                                      <p:cBhvr>
                                        <p:cTn id="84" dur="250" fill="hold"/>
                                        <p:tgtEl>
                                          <p:spTgt spid="22"/>
                                        </p:tgtEl>
                                        <p:attrNameLst>
                                          <p:attrName>ppt_h</p:attrName>
                                        </p:attrNameLst>
                                      </p:cBhvr>
                                      <p:tavLst>
                                        <p:tav tm="0">
                                          <p:val>
                                            <p:strVal val="2/3*#ppt_h"/>
                                          </p:val>
                                        </p:tav>
                                        <p:tav tm="100000">
                                          <p:val>
                                            <p:strVal val="#ppt_h"/>
                                          </p:val>
                                        </p:tav>
                                      </p:tavLst>
                                    </p:anim>
                                  </p:childTnLst>
                                </p:cTn>
                              </p:par>
                              <p:par>
                                <p:cTn id="85" presetID="10" presetClass="entr" presetSubtype="0" fill="hold" grpId="1" nodeType="withEffect">
                                  <p:stCondLst>
                                    <p:cond delay="25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500"/>
                                        <p:tgtEl>
                                          <p:spTgt spid="22"/>
                                        </p:tgtEl>
                                      </p:cBhvr>
                                    </p:animEffect>
                                  </p:childTnLst>
                                </p:cTn>
                              </p:par>
                              <p:par>
                                <p:cTn id="88" presetID="6" presetClass="emph" presetSubtype="0" fill="hold" grpId="2" nodeType="withEffect">
                                  <p:stCondLst>
                                    <p:cond delay="250"/>
                                  </p:stCondLst>
                                  <p:childTnLst>
                                    <p:animScale>
                                      <p:cBhvr>
                                        <p:cTn id="89" dur="10" fill="hold"/>
                                        <p:tgtEl>
                                          <p:spTgt spid="22"/>
                                        </p:tgtEl>
                                      </p:cBhvr>
                                      <p:by x="80000" y="80000"/>
                                    </p:animScale>
                                  </p:childTnLst>
                                </p:cTn>
                              </p:par>
                              <p:par>
                                <p:cTn id="90" presetID="6" presetClass="emph" presetSubtype="0" decel="100000" fill="hold" grpId="3" nodeType="withEffect">
                                  <p:stCondLst>
                                    <p:cond delay="250"/>
                                  </p:stCondLst>
                                  <p:childTnLst>
                                    <p:animScale>
                                      <p:cBhvr>
                                        <p:cTn id="91" dur="1000" fill="hold"/>
                                        <p:tgtEl>
                                          <p:spTgt spid="22"/>
                                        </p:tgtEl>
                                      </p:cBhvr>
                                      <p:by x="125000" y="125000"/>
                                    </p:animScale>
                                  </p:childTnLst>
                                </p:cTn>
                              </p:par>
                              <p:par>
                                <p:cTn id="92" presetID="23" presetClass="entr" presetSubtype="272" fill="hold" grpId="0" nodeType="withEffect">
                                  <p:stCondLst>
                                    <p:cond delay="250"/>
                                  </p:stCondLst>
                                  <p:childTnLst>
                                    <p:set>
                                      <p:cBhvr>
                                        <p:cTn id="93" dur="1" fill="hold">
                                          <p:stCondLst>
                                            <p:cond delay="0"/>
                                          </p:stCondLst>
                                        </p:cTn>
                                        <p:tgtEl>
                                          <p:spTgt spid="25"/>
                                        </p:tgtEl>
                                        <p:attrNameLst>
                                          <p:attrName>style.visibility</p:attrName>
                                        </p:attrNameLst>
                                      </p:cBhvr>
                                      <p:to>
                                        <p:strVal val="visible"/>
                                      </p:to>
                                    </p:set>
                                    <p:anim calcmode="lin" valueType="num">
                                      <p:cBhvr>
                                        <p:cTn id="94" dur="250" fill="hold"/>
                                        <p:tgtEl>
                                          <p:spTgt spid="25"/>
                                        </p:tgtEl>
                                        <p:attrNameLst>
                                          <p:attrName>ppt_w</p:attrName>
                                        </p:attrNameLst>
                                      </p:cBhvr>
                                      <p:tavLst>
                                        <p:tav tm="0">
                                          <p:val>
                                            <p:strVal val="2/3*#ppt_w"/>
                                          </p:val>
                                        </p:tav>
                                        <p:tav tm="100000">
                                          <p:val>
                                            <p:strVal val="#ppt_w"/>
                                          </p:val>
                                        </p:tav>
                                      </p:tavLst>
                                    </p:anim>
                                    <p:anim calcmode="lin" valueType="num">
                                      <p:cBhvr>
                                        <p:cTn id="95" dur="250" fill="hold"/>
                                        <p:tgtEl>
                                          <p:spTgt spid="25"/>
                                        </p:tgtEl>
                                        <p:attrNameLst>
                                          <p:attrName>ppt_h</p:attrName>
                                        </p:attrNameLst>
                                      </p:cBhvr>
                                      <p:tavLst>
                                        <p:tav tm="0">
                                          <p:val>
                                            <p:strVal val="2/3*#ppt_h"/>
                                          </p:val>
                                        </p:tav>
                                        <p:tav tm="100000">
                                          <p:val>
                                            <p:strVal val="#ppt_h"/>
                                          </p:val>
                                        </p:tav>
                                      </p:tavLst>
                                    </p:anim>
                                  </p:childTnLst>
                                </p:cTn>
                              </p:par>
                              <p:par>
                                <p:cTn id="96" presetID="10" presetClass="entr" presetSubtype="0" fill="hold" grpId="1" nodeType="withEffect">
                                  <p:stCondLst>
                                    <p:cond delay="25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500"/>
                                        <p:tgtEl>
                                          <p:spTgt spid="25"/>
                                        </p:tgtEl>
                                      </p:cBhvr>
                                    </p:animEffect>
                                  </p:childTnLst>
                                </p:cTn>
                              </p:par>
                              <p:par>
                                <p:cTn id="99" presetID="6" presetClass="emph" presetSubtype="0" fill="hold" grpId="2" nodeType="withEffect">
                                  <p:stCondLst>
                                    <p:cond delay="250"/>
                                  </p:stCondLst>
                                  <p:childTnLst>
                                    <p:animScale>
                                      <p:cBhvr>
                                        <p:cTn id="100" dur="10" fill="hold"/>
                                        <p:tgtEl>
                                          <p:spTgt spid="25"/>
                                        </p:tgtEl>
                                      </p:cBhvr>
                                      <p:by x="80000" y="80000"/>
                                    </p:animScale>
                                  </p:childTnLst>
                                </p:cTn>
                              </p:par>
                              <p:par>
                                <p:cTn id="101" presetID="6" presetClass="emph" presetSubtype="0" decel="100000" fill="hold" grpId="3" nodeType="withEffect">
                                  <p:stCondLst>
                                    <p:cond delay="250"/>
                                  </p:stCondLst>
                                  <p:childTnLst>
                                    <p:animScale>
                                      <p:cBhvr>
                                        <p:cTn id="102" dur="1000" fill="hold"/>
                                        <p:tgtEl>
                                          <p:spTgt spid="25"/>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3" grpId="1" animBg="1"/>
      <p:bldP spid="83" grpId="2" animBg="1"/>
      <p:bldP spid="83" grpId="3" animBg="1"/>
      <p:bldP spid="85" grpId="0" animBg="1"/>
      <p:bldP spid="86" grpId="0"/>
      <p:bldP spid="86" grpId="1"/>
      <p:bldP spid="86" grpId="2"/>
      <p:bldP spid="86" grpId="3"/>
      <p:bldP spid="131" grpId="0" animBg="1"/>
      <p:bldP spid="132" grpId="0"/>
      <p:bldP spid="132" grpId="1"/>
      <p:bldP spid="132" grpId="2"/>
      <p:bldP spid="132" grpId="3"/>
      <p:bldP spid="133" grpId="0" animBg="1"/>
      <p:bldP spid="134" grpId="0"/>
      <p:bldP spid="134" grpId="1"/>
      <p:bldP spid="134" grpId="2"/>
      <p:bldP spid="134" grpId="3"/>
      <p:bldP spid="11" grpId="0" animBg="1"/>
      <p:bldP spid="12" grpId="0"/>
      <p:bldP spid="12" grpId="1"/>
      <p:bldP spid="12" grpId="2"/>
      <p:bldP spid="12" grpId="3"/>
      <p:bldP spid="21" grpId="0" animBg="1"/>
      <p:bldP spid="22" grpId="0"/>
      <p:bldP spid="22" grpId="1"/>
      <p:bldP spid="22" grpId="2"/>
      <p:bldP spid="22" grpId="3"/>
      <p:bldP spid="24" grpId="0" animBg="1"/>
      <p:bldP spid="25" grpId="0"/>
      <p:bldP spid="25" grpId="1"/>
      <p:bldP spid="25" grpId="2"/>
      <p:bldP spid="25" grpId="3"/>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F6F3E-9431-43F9-4F31-3B1DF90667E8}"/>
            </a:ext>
          </a:extLst>
        </p:cNvPr>
        <p:cNvGrpSpPr/>
        <p:nvPr/>
      </p:nvGrpSpPr>
      <p:grpSpPr>
        <a:xfrm>
          <a:off x="0" y="0"/>
          <a:ext cx="0" cy="0"/>
          <a:chOff x="0" y="0"/>
          <a:chExt cx="0" cy="0"/>
        </a:xfrm>
      </p:grpSpPr>
      <p:sp>
        <p:nvSpPr>
          <p:cNvPr id="10" name="Footer Placeholder 3">
            <a:extLst>
              <a:ext uri="{FF2B5EF4-FFF2-40B4-BE49-F238E27FC236}">
                <a16:creationId xmlns:a16="http://schemas.microsoft.com/office/drawing/2014/main" id="{57809430-9AA9-A287-2CF7-3D3D96217513}"/>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E490B687-E045-E1F3-3F55-471CE939727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68</a:t>
            </a:fld>
            <a:endParaRPr kumimoji="0" lang="en-US" sz="800" b="0" i="0" u="none" strike="noStrike" kern="1200" cap="none" spc="0" normalizeH="0" baseline="0" noProof="0">
              <a:ln>
                <a:noFill/>
              </a:ln>
              <a:effectLst/>
              <a:uLnTx/>
              <a:uFillTx/>
              <a:latin typeface="Segoe UI"/>
              <a:ea typeface="+mn-ea"/>
              <a:cs typeface="+mn-cs"/>
            </a:endParaRPr>
          </a:p>
        </p:txBody>
      </p:sp>
      <p:sp>
        <p:nvSpPr>
          <p:cNvPr id="3" name="Title 2">
            <a:extLst>
              <a:ext uri="{FF2B5EF4-FFF2-40B4-BE49-F238E27FC236}">
                <a16:creationId xmlns:a16="http://schemas.microsoft.com/office/drawing/2014/main" id="{ACBB5EB6-B2CC-6791-ACF4-6E2D92CBB70B}"/>
              </a:ext>
            </a:extLst>
          </p:cNvPr>
          <p:cNvSpPr>
            <a:spLocks noGrp="1"/>
          </p:cNvSpPr>
          <p:nvPr>
            <p:ph type="title"/>
          </p:nvPr>
        </p:nvSpPr>
        <p:spPr/>
        <p:txBody>
          <a:bodyPr/>
          <a:lstStyle/>
          <a:p>
            <a:r>
              <a:rPr lang="en-US"/>
              <a:t>Demonstration</a:t>
            </a:r>
          </a:p>
        </p:txBody>
      </p:sp>
      <p:sp>
        <p:nvSpPr>
          <p:cNvPr id="17" name="Rectangle 16">
            <a:extLst>
              <a:ext uri="{FF2B5EF4-FFF2-40B4-BE49-F238E27FC236}">
                <a16:creationId xmlns:a16="http://schemas.microsoft.com/office/drawing/2014/main" id="{2A3D3E49-189E-4B40-F415-AC10C5C1EB23}"/>
              </a:ext>
            </a:extLst>
          </p:cNvPr>
          <p:cNvSpPr>
            <a:spLocks/>
          </p:cNvSpPr>
          <p:nvPr/>
        </p:nvSpPr>
        <p:spPr bwMode="auto">
          <a:xfrm>
            <a:off x="571499" y="2298700"/>
            <a:ext cx="11048999" cy="397033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lgn="l" defTabSz="932472" fontAlgn="base">
              <a:spcBef>
                <a:spcPts val="100"/>
              </a:spcBef>
              <a:spcAft>
                <a:spcPts val="100"/>
              </a:spcAft>
            </a:pPr>
            <a:r>
              <a:rPr lang="en-US" sz="3500">
                <a:solidFill>
                  <a:schemeClr val="tx1"/>
                </a:solidFill>
                <a:latin typeface="+mj-lt"/>
                <a:ea typeface="Segoe UI" pitchFamily="34" charset="0"/>
                <a:cs typeface="Segoe UI" pitchFamily="34" charset="0"/>
              </a:rPr>
              <a:t>Monitoring</a:t>
            </a:r>
          </a:p>
        </p:txBody>
      </p:sp>
    </p:spTree>
    <p:custDataLst>
      <p:tags r:id="rId1"/>
    </p:custDataLst>
    <p:extLst>
      <p:ext uri="{BB962C8B-B14F-4D97-AF65-F5344CB8AC3E}">
        <p14:creationId xmlns:p14="http://schemas.microsoft.com/office/powerpoint/2010/main" val="712851925"/>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81E28-D2DB-FF7C-82A9-096AAD22D175}"/>
            </a:ext>
          </a:extLst>
        </p:cNvPr>
        <p:cNvGrpSpPr/>
        <p:nvPr/>
      </p:nvGrpSpPr>
      <p:grpSpPr>
        <a:xfrm>
          <a:off x="0" y="0"/>
          <a:ext cx="0" cy="0"/>
          <a:chOff x="0" y="0"/>
          <a:chExt cx="0" cy="0"/>
        </a:xfrm>
      </p:grpSpPr>
      <p:sp>
        <p:nvSpPr>
          <p:cNvPr id="28" name="PREPARE FOR APP DEPLOYMENT">
            <a:extLst>
              <a:ext uri="{FF2B5EF4-FFF2-40B4-BE49-F238E27FC236}">
                <a16:creationId xmlns:a16="http://schemas.microsoft.com/office/drawing/2014/main" id="{D963CB1D-EB14-F773-7C7E-4D6737D38D87}"/>
              </a:ext>
              <a:ext uri="{C183D7F6-B498-43B3-948B-1728B52AA6E4}">
                <adec:decorative xmlns:adec="http://schemas.microsoft.com/office/drawing/2017/decorative" val="1"/>
              </a:ext>
            </a:extLst>
          </p:cNvPr>
          <p:cNvSpPr txBox="1"/>
          <p:nvPr/>
        </p:nvSpPr>
        <p:spPr>
          <a:xfrm rot="21253932">
            <a:off x="5868077" y="1262647"/>
            <a:ext cx="3878850" cy="2699173"/>
          </a:xfrm>
          <a:prstGeom prst="ellipse">
            <a:avLst/>
          </a:prstGeom>
          <a:noFill/>
          <a:effectLst/>
        </p:spPr>
        <p:txBody>
          <a:bodyPr wrap="none" rtlCol="0">
            <a:prstTxWarp prst="textArchUp">
              <a:avLst>
                <a:gd name="adj" fmla="val 12686236"/>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lang="en-US" sz="1000" b="1" spc="32">
                <a:ln w="3175">
                  <a:noFill/>
                </a:ln>
                <a:solidFill>
                  <a:schemeClr val="bg1">
                    <a:alpha val="25000"/>
                  </a:schemeClr>
                </a:solidFill>
                <a:cs typeface="Segoe Sans Text" pitchFamily="2" charset="0"/>
              </a:rPr>
              <a:t>ADVANCE PROJECT</a:t>
            </a:r>
          </a:p>
        </p:txBody>
      </p:sp>
      <p:sp>
        <p:nvSpPr>
          <p:cNvPr id="17" name="ADVANCE PROJECT">
            <a:extLst>
              <a:ext uri="{FF2B5EF4-FFF2-40B4-BE49-F238E27FC236}">
                <a16:creationId xmlns:a16="http://schemas.microsoft.com/office/drawing/2014/main" id="{93CF043D-229D-DFC1-D857-31E927C4CD0D}"/>
              </a:ext>
              <a:ext uri="{C183D7F6-B498-43B3-948B-1728B52AA6E4}">
                <adec:decorative xmlns:adec="http://schemas.microsoft.com/office/drawing/2017/decorative" val="1"/>
              </a:ext>
            </a:extLst>
          </p:cNvPr>
          <p:cNvSpPr txBox="1"/>
          <p:nvPr/>
        </p:nvSpPr>
        <p:spPr>
          <a:xfrm>
            <a:off x="3121831" y="1640554"/>
            <a:ext cx="2444525" cy="1207961"/>
          </a:xfrm>
          <a:prstGeom prst="ellipse">
            <a:avLst/>
          </a:prstGeom>
          <a:noFill/>
        </p:spPr>
        <p:txBody>
          <a:bodyPr wrap="none" rtlCol="0">
            <a:prstTxWarp prst="textArchUp">
              <a:avLst>
                <a:gd name="adj" fmla="val 12451684"/>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alpha val="25000"/>
                  </a:schemeClr>
                </a:solidFill>
                <a:effectLst/>
                <a:uLnTx/>
                <a:uFillTx/>
                <a:ea typeface="+mn-ea"/>
                <a:cs typeface="Segoe Sans Text" pitchFamily="2" charset="0"/>
              </a:rPr>
              <a:t>ADVANCE PROJECT </a:t>
            </a:r>
          </a:p>
        </p:txBody>
      </p:sp>
      <p:sp>
        <p:nvSpPr>
          <p:cNvPr id="24" name="REVERT PROJECT">
            <a:extLst>
              <a:ext uri="{FF2B5EF4-FFF2-40B4-BE49-F238E27FC236}">
                <a16:creationId xmlns:a16="http://schemas.microsoft.com/office/drawing/2014/main" id="{D8E1BB45-9CCC-8E97-8642-1DA5D06EF8F0}"/>
              </a:ext>
              <a:ext uri="{C183D7F6-B498-43B3-948B-1728B52AA6E4}">
                <adec:decorative xmlns:adec="http://schemas.microsoft.com/office/drawing/2017/decorative" val="1"/>
              </a:ext>
            </a:extLst>
          </p:cNvPr>
          <p:cNvSpPr txBox="1"/>
          <p:nvPr/>
        </p:nvSpPr>
        <p:spPr>
          <a:xfrm>
            <a:off x="3505086" y="4416510"/>
            <a:ext cx="1550538" cy="726100"/>
          </a:xfrm>
          <a:prstGeom prst="rect">
            <a:avLst/>
          </a:prstGeom>
          <a:noFill/>
        </p:spPr>
        <p:txBody>
          <a:bodyPr wrap="none" rtlCol="0">
            <a:prstTxWarp prst="textArchDown">
              <a:avLst>
                <a:gd name="adj" fmla="val 1375053"/>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alpha val="25000"/>
                  </a:schemeClr>
                </a:solidFill>
                <a:effectLst/>
                <a:uLnTx/>
                <a:uFillTx/>
                <a:ea typeface="+mn-ea"/>
                <a:cs typeface="Segoe Sans Text" pitchFamily="2" charset="0"/>
              </a:rPr>
              <a:t>REVERT PROJECT</a:t>
            </a:r>
          </a:p>
        </p:txBody>
      </p:sp>
      <p:sp>
        <p:nvSpPr>
          <p:cNvPr id="29" name="SEND FEEDBACK">
            <a:extLst>
              <a:ext uri="{FF2B5EF4-FFF2-40B4-BE49-F238E27FC236}">
                <a16:creationId xmlns:a16="http://schemas.microsoft.com/office/drawing/2014/main" id="{AAFB01DE-DB4A-295B-610C-C1039F1A8BDB}"/>
              </a:ext>
              <a:ext uri="{C183D7F6-B498-43B3-948B-1728B52AA6E4}">
                <adec:decorative xmlns:adec="http://schemas.microsoft.com/office/drawing/2017/decorative" val="1"/>
              </a:ext>
            </a:extLst>
          </p:cNvPr>
          <p:cNvSpPr txBox="1"/>
          <p:nvPr/>
        </p:nvSpPr>
        <p:spPr>
          <a:xfrm>
            <a:off x="7217230" y="4645518"/>
            <a:ext cx="1692304" cy="770249"/>
          </a:xfrm>
          <a:prstGeom prst="rect">
            <a:avLst/>
          </a:prstGeom>
          <a:noFill/>
        </p:spPr>
        <p:txBody>
          <a:bodyPr wrap="none" rtlCol="0">
            <a:prstTxWarp prst="textArchDown">
              <a:avLst>
                <a:gd name="adj" fmla="val 1663301"/>
              </a:avLst>
            </a:prstTxWarp>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kumimoji="0" lang="en-US" sz="1000" b="1" i="0" u="none" strike="noStrike" kern="1200" cap="none" spc="32" normalizeH="0" baseline="0" noProof="0">
                <a:ln w="3175">
                  <a:noFill/>
                </a:ln>
                <a:solidFill>
                  <a:schemeClr val="bg1">
                    <a:alpha val="25000"/>
                  </a:schemeClr>
                </a:solidFill>
                <a:effectLst/>
                <a:uLnTx/>
                <a:uFillTx/>
                <a:ea typeface="+mn-ea"/>
                <a:cs typeface="Segoe Sans Text" pitchFamily="2" charset="0"/>
              </a:rPr>
              <a:t>REVERT PROJECT</a:t>
            </a:r>
          </a:p>
        </p:txBody>
      </p:sp>
      <p:sp>
        <p:nvSpPr>
          <p:cNvPr id="31" name="Inner &gt; Middle">
            <a:extLst>
              <a:ext uri="{FF2B5EF4-FFF2-40B4-BE49-F238E27FC236}">
                <a16:creationId xmlns:a16="http://schemas.microsoft.com/office/drawing/2014/main" id="{4B04AC28-BD9A-D5EE-2460-8E1D3C81A948}"/>
              </a:ext>
              <a:ext uri="{C183D7F6-B498-43B3-948B-1728B52AA6E4}">
                <adec:decorative xmlns:adec="http://schemas.microsoft.com/office/drawing/2017/decorative" val="1"/>
              </a:ext>
            </a:extLst>
          </p:cNvPr>
          <p:cNvSpPr>
            <a:spLocks noChangeAspect="1"/>
          </p:cNvSpPr>
          <p:nvPr/>
        </p:nvSpPr>
        <p:spPr>
          <a:xfrm flipV="1">
            <a:off x="6111799" y="1795961"/>
            <a:ext cx="3549106" cy="3549106"/>
          </a:xfrm>
          <a:prstGeom prst="arc">
            <a:avLst>
              <a:gd name="adj1" fmla="val 3543377"/>
              <a:gd name="adj2" fmla="val 7682629"/>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30" name="Inner &gt; Middle">
            <a:extLst>
              <a:ext uri="{FF2B5EF4-FFF2-40B4-BE49-F238E27FC236}">
                <a16:creationId xmlns:a16="http://schemas.microsoft.com/office/drawing/2014/main" id="{E1836721-398A-4EEF-D043-7AF31C9B33C1}"/>
              </a:ext>
              <a:ext uri="{C183D7F6-B498-43B3-948B-1728B52AA6E4}">
                <adec:decorative xmlns:adec="http://schemas.microsoft.com/office/drawing/2017/decorative" val="1"/>
              </a:ext>
            </a:extLst>
          </p:cNvPr>
          <p:cNvSpPr>
            <a:spLocks noChangeAspect="1"/>
          </p:cNvSpPr>
          <p:nvPr/>
        </p:nvSpPr>
        <p:spPr>
          <a:xfrm flipH="1">
            <a:off x="6129068" y="1672847"/>
            <a:ext cx="3878848" cy="3878848"/>
          </a:xfrm>
          <a:prstGeom prst="arc">
            <a:avLst>
              <a:gd name="adj1" fmla="val 2950208"/>
              <a:gd name="adj2" fmla="val 7140390"/>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18" name="Inner &gt; Middle">
            <a:extLst>
              <a:ext uri="{FF2B5EF4-FFF2-40B4-BE49-F238E27FC236}">
                <a16:creationId xmlns:a16="http://schemas.microsoft.com/office/drawing/2014/main" id="{BCB27171-A7B9-A2AE-1F56-43D5E4C772BE}"/>
              </a:ext>
              <a:ext uri="{C183D7F6-B498-43B3-948B-1728B52AA6E4}">
                <adec:decorative xmlns:adec="http://schemas.microsoft.com/office/drawing/2017/decorative" val="1"/>
              </a:ext>
            </a:extLst>
          </p:cNvPr>
          <p:cNvSpPr>
            <a:spLocks noChangeAspect="1"/>
          </p:cNvSpPr>
          <p:nvPr/>
        </p:nvSpPr>
        <p:spPr>
          <a:xfrm flipV="1">
            <a:off x="2565152" y="1965661"/>
            <a:ext cx="3563916" cy="3563915"/>
          </a:xfrm>
          <a:prstGeom prst="arc">
            <a:avLst>
              <a:gd name="adj1" fmla="val 3562138"/>
              <a:gd name="adj2" fmla="val 7636710"/>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15"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6E459388-DCA2-4BA5-96CB-9608C1FF887E}"/>
              </a:ext>
            </a:extLst>
          </p:cNvPr>
          <p:cNvSpPr>
            <a:spLocks noChangeAspect="1"/>
          </p:cNvSpPr>
          <p:nvPr/>
        </p:nvSpPr>
        <p:spPr>
          <a:xfrm flipH="1">
            <a:off x="2496712" y="1737790"/>
            <a:ext cx="3549107" cy="3549106"/>
          </a:xfrm>
          <a:prstGeom prst="arc">
            <a:avLst>
              <a:gd name="adj1" fmla="val 3234220"/>
              <a:gd name="adj2" fmla="val 7327573"/>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47" name="Rectangle: Rounded Corners 46">
            <a:extLst>
              <a:ext uri="{FF2B5EF4-FFF2-40B4-BE49-F238E27FC236}">
                <a16:creationId xmlns:a16="http://schemas.microsoft.com/office/drawing/2014/main" id="{3E9295C7-FDCB-79B5-785F-F1BBE12E8FBF}"/>
              </a:ext>
            </a:extLst>
          </p:cNvPr>
          <p:cNvSpPr>
            <a:spLocks/>
          </p:cNvSpPr>
          <p:nvPr/>
        </p:nvSpPr>
        <p:spPr bwMode="auto">
          <a:xfrm rot="10800000">
            <a:off x="383428" y="1223819"/>
            <a:ext cx="11392545" cy="5241175"/>
          </a:xfrm>
          <a:prstGeom prst="roundRect">
            <a:avLst>
              <a:gd name="adj" fmla="val 2665"/>
            </a:avLst>
          </a:prstGeom>
          <a:no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 name="Title 1">
            <a:extLst>
              <a:ext uri="{FF2B5EF4-FFF2-40B4-BE49-F238E27FC236}">
                <a16:creationId xmlns:a16="http://schemas.microsoft.com/office/drawing/2014/main" id="{4D04AB26-A544-4FC7-901B-C5E6D11232F8}"/>
              </a:ext>
            </a:extLst>
          </p:cNvPr>
          <p:cNvSpPr>
            <a:spLocks noGrp="1"/>
          </p:cNvSpPr>
          <p:nvPr>
            <p:ph type="title"/>
          </p:nvPr>
        </p:nvSpPr>
        <p:spPr/>
        <p:txBody>
          <a:bodyPr/>
          <a:lstStyle/>
          <a:p>
            <a:r>
              <a:rPr lang="en-US" err="1">
                <a:solidFill>
                  <a:schemeClr val="bg1"/>
                </a:solidFill>
              </a:rPr>
              <a:t>GenAI</a:t>
            </a:r>
            <a:r>
              <a:rPr lang="en-US">
                <a:solidFill>
                  <a:schemeClr val="bg1"/>
                </a:solidFill>
              </a:rPr>
              <a:t> Lifecycle and Best Practices</a:t>
            </a:r>
            <a:endParaRPr lang="en-GB">
              <a:solidFill>
                <a:schemeClr val="bg1"/>
              </a:solidFill>
            </a:endParaRPr>
          </a:p>
        </p:txBody>
      </p:sp>
      <p:sp>
        <p:nvSpPr>
          <p:cNvPr id="3" name="TextBox 2">
            <a:extLst>
              <a:ext uri="{FF2B5EF4-FFF2-40B4-BE49-F238E27FC236}">
                <a16:creationId xmlns:a16="http://schemas.microsoft.com/office/drawing/2014/main" id="{2BE9EF8E-8BCC-7319-6CEC-6C9ADDB82E90}"/>
              </a:ext>
            </a:extLst>
          </p:cNvPr>
          <p:cNvSpPr txBox="1"/>
          <p:nvPr/>
        </p:nvSpPr>
        <p:spPr>
          <a:xfrm>
            <a:off x="629050" y="3528672"/>
            <a:ext cx="296556" cy="16158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050" b="1">
                <a:ln w="3175">
                  <a:noFill/>
                </a:ln>
                <a:solidFill>
                  <a:schemeClr val="bg1">
                    <a:alpha val="25000"/>
                  </a:schemeClr>
                </a:solidFill>
              </a:rPr>
              <a:t>Data</a:t>
            </a:r>
          </a:p>
        </p:txBody>
      </p:sp>
      <p:cxnSp>
        <p:nvCxnSpPr>
          <p:cNvPr id="4" name="Straight Connector 3" descr="Leads to">
            <a:extLst>
              <a:ext uri="{FF2B5EF4-FFF2-40B4-BE49-F238E27FC236}">
                <a16:creationId xmlns:a16="http://schemas.microsoft.com/office/drawing/2014/main" id="{A7A29403-84AE-A1E9-8F4D-9A0948977E33}"/>
              </a:ext>
              <a:ext uri="{C183D7F6-B498-43B3-948B-1728B52AA6E4}">
                <adec:decorative xmlns:adec="http://schemas.microsoft.com/office/drawing/2017/decorative" val="0"/>
              </a:ext>
            </a:extLst>
          </p:cNvPr>
          <p:cNvCxnSpPr>
            <a:cxnSpLocks/>
          </p:cNvCxnSpPr>
          <p:nvPr/>
        </p:nvCxnSpPr>
        <p:spPr>
          <a:xfrm flipH="1">
            <a:off x="1015955" y="3627057"/>
            <a:ext cx="374011" cy="0"/>
          </a:xfrm>
          <a:prstGeom prst="line">
            <a:avLst/>
          </a:prstGeom>
          <a:ln w="9525">
            <a:solidFill>
              <a:schemeClr val="bg1"/>
            </a:solidFill>
            <a:headEnd type="arrow" w="lg" len="sm"/>
            <a:tailEnd type="none" w="lg"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67112C2-7725-4CB2-5413-80D114A831A8}"/>
              </a:ext>
              <a:ext uri="{C183D7F6-B498-43B3-948B-1728B52AA6E4}">
                <adec:decorative xmlns:adec="http://schemas.microsoft.com/office/drawing/2017/decorative" val="1"/>
              </a:ext>
            </a:extLst>
          </p:cNvPr>
          <p:cNvSpPr txBox="1"/>
          <p:nvPr/>
        </p:nvSpPr>
        <p:spPr>
          <a:xfrm>
            <a:off x="1485799" y="5677592"/>
            <a:ext cx="270995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0078D4"/>
                    </a:gs>
                    <a:gs pos="80000">
                      <a:srgbClr val="399A91"/>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solidFill>
                  <a:schemeClr val="bg1">
                    <a:alpha val="19000"/>
                  </a:schemeClr>
                </a:solidFill>
                <a:latin typeface="Segoe Sans Text Semibold"/>
                <a:cs typeface="Segoe Sans Text" pitchFamily="2" charset="0"/>
              </a:rPr>
              <a:t>Prototyping</a:t>
            </a:r>
          </a:p>
          <a:p>
            <a:pPr algn="ctr" defTabSz="914400">
              <a:defRPr/>
            </a:pPr>
            <a:r>
              <a:rPr lang="en-GB" sz="1050" b="1">
                <a:solidFill>
                  <a:schemeClr val="bg1">
                    <a:alpha val="19000"/>
                  </a:schemeClr>
                </a:solidFill>
                <a:latin typeface="+mn-lt"/>
                <a:cs typeface="Segoe Sans Text" pitchFamily="2" charset="0"/>
              </a:rPr>
              <a:t>Ideating &amp; Explore</a:t>
            </a:r>
          </a:p>
        </p:txBody>
      </p:sp>
      <p:grpSp>
        <p:nvGrpSpPr>
          <p:cNvPr id="62" name="Group 61">
            <a:extLst>
              <a:ext uri="{FF2B5EF4-FFF2-40B4-BE49-F238E27FC236}">
                <a16:creationId xmlns:a16="http://schemas.microsoft.com/office/drawing/2014/main" id="{29327BC8-203C-B8F0-341F-DEAE222F2E38}"/>
              </a:ext>
            </a:extLst>
          </p:cNvPr>
          <p:cNvGrpSpPr/>
          <p:nvPr/>
        </p:nvGrpSpPr>
        <p:grpSpPr>
          <a:xfrm>
            <a:off x="1493058" y="2275150"/>
            <a:ext cx="2688577" cy="2688578"/>
            <a:chOff x="1493058" y="2275150"/>
            <a:chExt cx="2688577" cy="2688578"/>
          </a:xfrm>
        </p:grpSpPr>
        <p:sp>
          <p:nvSpPr>
            <p:cNvPr id="6" name="Circle: Hollow 5">
              <a:extLst>
                <a:ext uri="{FF2B5EF4-FFF2-40B4-BE49-F238E27FC236}">
                  <a16:creationId xmlns:a16="http://schemas.microsoft.com/office/drawing/2014/main" id="{77CC8474-08CE-44EF-F601-198508CED4FC}"/>
                </a:ext>
                <a:ext uri="{C183D7F6-B498-43B3-948B-1728B52AA6E4}">
                  <adec:decorative xmlns:adec="http://schemas.microsoft.com/office/drawing/2017/decorative" val="1"/>
                </a:ext>
              </a:extLst>
            </p:cNvPr>
            <p:cNvSpPr>
              <a:spLocks noChangeAspect="1"/>
            </p:cNvSpPr>
            <p:nvPr/>
          </p:nvSpPr>
          <p:spPr bwMode="auto">
            <a:xfrm>
              <a:off x="1493058" y="2275150"/>
              <a:ext cx="2688577" cy="2688578"/>
            </a:xfrm>
            <a:prstGeom prst="donut">
              <a:avLst>
                <a:gd name="adj" fmla="val 12613"/>
              </a:avLst>
            </a:prstGeom>
            <a:gradFill flip="none" rotWithShape="1">
              <a:gsLst>
                <a:gs pos="0">
                  <a:srgbClr val="0078D4">
                    <a:alpha val="12000"/>
                  </a:srgbClr>
                </a:gs>
                <a:gs pos="80000">
                  <a:srgbClr val="399A91">
                    <a:alpha val="20000"/>
                  </a:srgbClr>
                </a:gs>
              </a:gsLst>
              <a:path path="circle">
                <a:fillToRect l="100000" t="100000"/>
              </a:path>
              <a:tileRect r="-100000" b="-100000"/>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alpha val="25000"/>
                  </a:srgbClr>
                </a:solidFill>
                <a:effectLst/>
                <a:uLnTx/>
                <a:uFillTx/>
                <a:ea typeface="+mn-ea"/>
                <a:cs typeface="+mn-cs"/>
              </a:endParaRPr>
            </a:p>
          </p:txBody>
        </p:sp>
        <p:sp>
          <p:nvSpPr>
            <p:cNvPr id="7" name="TextBox 6">
              <a:extLst>
                <a:ext uri="{FF2B5EF4-FFF2-40B4-BE49-F238E27FC236}">
                  <a16:creationId xmlns:a16="http://schemas.microsoft.com/office/drawing/2014/main" id="{6450367C-803F-F6BE-7D40-3FD45CFC1EA4}"/>
                </a:ext>
                <a:ext uri="{C183D7F6-B498-43B3-948B-1728B52AA6E4}">
                  <adec:decorative xmlns:adec="http://schemas.microsoft.com/office/drawing/2017/decorative" val="1"/>
                </a:ext>
              </a:extLst>
            </p:cNvPr>
            <p:cNvSpPr txBox="1">
              <a:spLocks noChangeAspect="1"/>
            </p:cNvSpPr>
            <p:nvPr/>
          </p:nvSpPr>
          <p:spPr>
            <a:xfrm rot="1643445">
              <a:off x="1632640" y="2464411"/>
              <a:ext cx="2439784" cy="2439784"/>
            </a:xfrm>
            <a:prstGeom prst="rect">
              <a:avLst/>
            </a:prstGeom>
            <a:noFill/>
          </p:spPr>
          <p:txBody>
            <a:bodyPr wrap="square" lIns="0" tIns="0" rIns="0" bIns="0" rtlCol="0">
              <a:prstTxWarp prst="textArchUp">
                <a:avLst>
                  <a:gd name="adj" fmla="val 1261381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Establish feasibility </a:t>
              </a:r>
            </a:p>
          </p:txBody>
        </p:sp>
        <p:sp>
          <p:nvSpPr>
            <p:cNvPr id="9" name="TextBox 8">
              <a:extLst>
                <a:ext uri="{FF2B5EF4-FFF2-40B4-BE49-F238E27FC236}">
                  <a16:creationId xmlns:a16="http://schemas.microsoft.com/office/drawing/2014/main" id="{DC749867-4EC1-7557-8747-DFD32D4888F0}"/>
                </a:ext>
                <a:ext uri="{C183D7F6-B498-43B3-948B-1728B52AA6E4}">
                  <adec:decorative xmlns:adec="http://schemas.microsoft.com/office/drawing/2017/decorative" val="1"/>
                </a:ext>
              </a:extLst>
            </p:cNvPr>
            <p:cNvSpPr txBox="1">
              <a:spLocks noChangeAspect="1"/>
            </p:cNvSpPr>
            <p:nvPr/>
          </p:nvSpPr>
          <p:spPr>
            <a:xfrm rot="11682144">
              <a:off x="1662441" y="2406264"/>
              <a:ext cx="2289378" cy="2384153"/>
            </a:xfrm>
            <a:prstGeom prst="rect">
              <a:avLst/>
            </a:prstGeom>
            <a:noFill/>
          </p:spPr>
          <p:txBody>
            <a:bodyPr wrap="square" lIns="0" tIns="0" rIns="0" bIns="0" rtlCol="0">
              <a:prstTxWarp prst="textArchUp">
                <a:avLst>
                  <a:gd name="adj" fmla="val 13727663"/>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Test   Prompts</a:t>
              </a:r>
            </a:p>
          </p:txBody>
        </p:sp>
        <p:sp>
          <p:nvSpPr>
            <p:cNvPr id="8" name="TextBox 7">
              <a:extLst>
                <a:ext uri="{FF2B5EF4-FFF2-40B4-BE49-F238E27FC236}">
                  <a16:creationId xmlns:a16="http://schemas.microsoft.com/office/drawing/2014/main" id="{469D9513-8363-2D29-1489-2DD23FFE683F}"/>
                </a:ext>
                <a:ext uri="{C183D7F6-B498-43B3-948B-1728B52AA6E4}">
                  <adec:decorative xmlns:adec="http://schemas.microsoft.com/office/drawing/2017/decorative" val="1"/>
                </a:ext>
              </a:extLst>
            </p:cNvPr>
            <p:cNvSpPr txBox="1">
              <a:spLocks noChangeAspect="1"/>
            </p:cNvSpPr>
            <p:nvPr/>
          </p:nvSpPr>
          <p:spPr>
            <a:xfrm rot="16200000">
              <a:off x="1676692" y="2461064"/>
              <a:ext cx="2293484" cy="2293484"/>
            </a:xfrm>
            <a:prstGeom prst="rect">
              <a:avLst/>
            </a:prstGeom>
            <a:noFill/>
          </p:spPr>
          <p:txBody>
            <a:bodyPr wrap="square" lIns="0" tIns="0" rIns="0" bIns="0" rtlCol="0">
              <a:prstTxWarp prst="textArchUp">
                <a:avLst>
                  <a:gd name="adj" fmla="val 1420148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Choose LLM or SLM</a:t>
              </a:r>
            </a:p>
          </p:txBody>
        </p:sp>
        <p:sp>
          <p:nvSpPr>
            <p:cNvPr id="10" name="TextBox 9">
              <a:extLst>
                <a:ext uri="{FF2B5EF4-FFF2-40B4-BE49-F238E27FC236}">
                  <a16:creationId xmlns:a16="http://schemas.microsoft.com/office/drawing/2014/main" id="{0420BC71-BD67-DAF3-F883-33A26983A714}"/>
                </a:ext>
                <a:ext uri="{C183D7F6-B498-43B3-948B-1728B52AA6E4}">
                  <adec:decorative xmlns:adec="http://schemas.microsoft.com/office/drawing/2017/decorative" val="1"/>
                </a:ext>
              </a:extLst>
            </p:cNvPr>
            <p:cNvSpPr txBox="1">
              <a:spLocks noChangeAspect="1"/>
            </p:cNvSpPr>
            <p:nvPr/>
          </p:nvSpPr>
          <p:spPr>
            <a:xfrm rot="5400000">
              <a:off x="1687616" y="2515859"/>
              <a:ext cx="2293484" cy="2293484"/>
            </a:xfrm>
            <a:prstGeom prst="rect">
              <a:avLst/>
            </a:prstGeom>
            <a:noFill/>
          </p:spPr>
          <p:txBody>
            <a:bodyPr wrap="square" lIns="0" tIns="0" rIns="0" bIns="0" rtlCol="0">
              <a:prstTxWarp prst="textArchUp">
                <a:avLst>
                  <a:gd name="adj" fmla="val 12970969"/>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rgbClr val="FFFFFF">
                      <a:alpha val="25000"/>
                    </a:srgbClr>
                  </a:solidFill>
                  <a:latin typeface="+mj-lt"/>
                </a:rPr>
                <a:t>                 Define Use Case </a:t>
              </a:r>
              <a:endParaRPr kumimoji="0" lang="en-GB" sz="1100" b="0" i="0" u="none" strike="noStrike" kern="1200" cap="none" spc="0" normalizeH="0" baseline="0" noProof="0">
                <a:ln>
                  <a:noFill/>
                </a:ln>
                <a:solidFill>
                  <a:srgbClr val="FFFFFF">
                    <a:alpha val="25000"/>
                  </a:srgbClr>
                </a:solidFill>
                <a:effectLst/>
                <a:uLnTx/>
                <a:uFillTx/>
                <a:latin typeface="+mj-lt"/>
              </a:endParaRPr>
            </a:p>
          </p:txBody>
        </p:sp>
        <p:sp>
          <p:nvSpPr>
            <p:cNvPr id="11" name="Inner &gt; Middle">
              <a:extLst>
                <a:ext uri="{FF2B5EF4-FFF2-40B4-BE49-F238E27FC236}">
                  <a16:creationId xmlns:a16="http://schemas.microsoft.com/office/drawing/2014/main" id="{47F3BDA7-F4AA-5E09-8949-992E7BF40A72}"/>
                </a:ext>
                <a:ext uri="{C183D7F6-B498-43B3-948B-1728B52AA6E4}">
                  <adec:decorative xmlns:adec="http://schemas.microsoft.com/office/drawing/2017/decorative" val="1"/>
                </a:ext>
              </a:extLst>
            </p:cNvPr>
            <p:cNvSpPr>
              <a:spLocks noChangeAspect="1"/>
            </p:cNvSpPr>
            <p:nvPr/>
          </p:nvSpPr>
          <p:spPr>
            <a:xfrm flipV="1">
              <a:off x="1937941" y="2707290"/>
              <a:ext cx="1798812" cy="1798811"/>
            </a:xfrm>
            <a:prstGeom prst="arc">
              <a:avLst>
                <a:gd name="adj1" fmla="val 8319039"/>
                <a:gd name="adj2" fmla="val 7957849"/>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740495" rtl="0" eaLnBrk="1" fontAlgn="auto" latinLnBrk="0" hangingPunct="1">
                <a:lnSpc>
                  <a:spcPct val="100000"/>
                </a:lnSpc>
                <a:spcBef>
                  <a:spcPts val="0"/>
                </a:spcBef>
                <a:spcAft>
                  <a:spcPts val="0"/>
                </a:spcAft>
                <a:buClrTx/>
                <a:buSzTx/>
                <a:buFontTx/>
                <a:buNone/>
                <a:tabLst/>
                <a:defRPr/>
              </a:pPr>
              <a:endParaRPr kumimoji="0" lang="en-GB" sz="1429" b="0" i="0" u="none" strike="noStrike" kern="1200" cap="none" spc="0" normalizeH="0" baseline="0" noProof="0">
                <a:ln>
                  <a:noFill/>
                </a:ln>
                <a:solidFill>
                  <a:prstClr val="black">
                    <a:alpha val="25000"/>
                  </a:prstClr>
                </a:solidFill>
                <a:effectLst/>
                <a:uLnTx/>
                <a:uFillTx/>
                <a:ea typeface="+mn-ea"/>
                <a:cs typeface="+mn-cs"/>
              </a:endParaRPr>
            </a:p>
          </p:txBody>
        </p:sp>
        <p:sp>
          <p:nvSpPr>
            <p:cNvPr id="13" name="Rectangle 12">
              <a:extLst>
                <a:ext uri="{FF2B5EF4-FFF2-40B4-BE49-F238E27FC236}">
                  <a16:creationId xmlns:a16="http://schemas.microsoft.com/office/drawing/2014/main" id="{9C2C0B9B-B05F-AA0A-65BA-61930504BDDF}"/>
                </a:ext>
                <a:ext uri="{C183D7F6-B498-43B3-948B-1728B52AA6E4}">
                  <adec:decorative xmlns:adec="http://schemas.microsoft.com/office/drawing/2017/decorative" val="1"/>
                </a:ext>
              </a:extLst>
            </p:cNvPr>
            <p:cNvSpPr/>
            <p:nvPr/>
          </p:nvSpPr>
          <p:spPr bwMode="auto">
            <a:xfrm>
              <a:off x="2063784" y="2950245"/>
              <a:ext cx="1528509" cy="133003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alpha val="25000"/>
                    </a:schemeClr>
                  </a:solidFill>
                  <a:latin typeface="+mj-lt"/>
                </a:rPr>
                <a:t>Prove that it works</a:t>
              </a:r>
            </a:p>
          </p:txBody>
        </p:sp>
      </p:grpSp>
      <p:sp>
        <p:nvSpPr>
          <p:cNvPr id="23" name="TextBox 22">
            <a:extLst>
              <a:ext uri="{FF2B5EF4-FFF2-40B4-BE49-F238E27FC236}">
                <a16:creationId xmlns:a16="http://schemas.microsoft.com/office/drawing/2014/main" id="{316DCC8C-18F2-C13E-C16E-0516199BDCBA}"/>
              </a:ext>
              <a:ext uri="{C183D7F6-B498-43B3-948B-1728B52AA6E4}">
                <adec:decorative xmlns:adec="http://schemas.microsoft.com/office/drawing/2017/decorative" val="1"/>
              </a:ext>
            </a:extLst>
          </p:cNvPr>
          <p:cNvSpPr txBox="1"/>
          <p:nvPr/>
        </p:nvSpPr>
        <p:spPr>
          <a:xfrm>
            <a:off x="4676618" y="5682066"/>
            <a:ext cx="2798819"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C03BC4"/>
                    </a:gs>
                    <a:gs pos="80000">
                      <a:srgbClr val="0078D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solidFill>
                  <a:schemeClr val="bg1">
                    <a:alpha val="19000"/>
                  </a:schemeClr>
                </a:solidFill>
                <a:latin typeface="Segoe Sans Text Semibold"/>
                <a:cs typeface="Segoe Sans Text" pitchFamily="2" charset="0"/>
              </a:rPr>
              <a:t>Optimizing</a:t>
            </a:r>
          </a:p>
          <a:p>
            <a:pPr algn="ctr" defTabSz="914400">
              <a:defRPr/>
            </a:pPr>
            <a:r>
              <a:rPr lang="en-GB" sz="1050" b="1">
                <a:solidFill>
                  <a:schemeClr val="bg1">
                    <a:alpha val="19000"/>
                  </a:schemeClr>
                </a:solidFill>
                <a:latin typeface="+mn-lt"/>
                <a:cs typeface="Segoe Sans Text" pitchFamily="2" charset="0"/>
              </a:rPr>
              <a:t>Design &amp; Customize</a:t>
            </a:r>
          </a:p>
        </p:txBody>
      </p:sp>
      <p:grpSp>
        <p:nvGrpSpPr>
          <p:cNvPr id="63" name="Group 62">
            <a:extLst>
              <a:ext uri="{FF2B5EF4-FFF2-40B4-BE49-F238E27FC236}">
                <a16:creationId xmlns:a16="http://schemas.microsoft.com/office/drawing/2014/main" id="{DC605075-D686-AA27-5C31-4F891B09D103}"/>
              </a:ext>
            </a:extLst>
          </p:cNvPr>
          <p:cNvGrpSpPr/>
          <p:nvPr/>
        </p:nvGrpSpPr>
        <p:grpSpPr>
          <a:xfrm>
            <a:off x="4278933" y="1544233"/>
            <a:ext cx="3378292" cy="3673783"/>
            <a:chOff x="4278933" y="1544233"/>
            <a:chExt cx="3378292" cy="3673783"/>
          </a:xfrm>
        </p:grpSpPr>
        <p:sp>
          <p:nvSpPr>
            <p:cNvPr id="19" name="Circle: Hollow 18">
              <a:extLst>
                <a:ext uri="{FF2B5EF4-FFF2-40B4-BE49-F238E27FC236}">
                  <a16:creationId xmlns:a16="http://schemas.microsoft.com/office/drawing/2014/main" id="{A544AFD2-7631-B8B8-AC80-C4C16266A854}"/>
                </a:ext>
                <a:ext uri="{C183D7F6-B498-43B3-948B-1728B52AA6E4}">
                  <adec:decorative xmlns:adec="http://schemas.microsoft.com/office/drawing/2017/decorative" val="1"/>
                </a:ext>
              </a:extLst>
            </p:cNvPr>
            <p:cNvSpPr>
              <a:spLocks noChangeAspect="1"/>
            </p:cNvSpPr>
            <p:nvPr/>
          </p:nvSpPr>
          <p:spPr bwMode="auto">
            <a:xfrm rot="1000141">
              <a:off x="4460071" y="2020862"/>
              <a:ext cx="3197154" cy="3197154"/>
            </a:xfrm>
            <a:prstGeom prst="donut">
              <a:avLst>
                <a:gd name="adj" fmla="val 11285"/>
              </a:avLst>
            </a:prstGeom>
            <a:gradFill>
              <a:gsLst>
                <a:gs pos="0">
                  <a:srgbClr val="0078D4">
                    <a:alpha val="12000"/>
                  </a:srgbClr>
                </a:gs>
                <a:gs pos="80000">
                  <a:srgbClr val="399A91">
                    <a:alpha val="20000"/>
                  </a:srgbClr>
                </a:gs>
              </a:gsLst>
              <a:path path="circle">
                <a:fillToRect l="100000" t="100000"/>
              </a:path>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alpha val="25000"/>
                  </a:srgbClr>
                </a:solidFill>
                <a:effectLst/>
                <a:uLnTx/>
                <a:uFillTx/>
                <a:ea typeface="+mn-ea"/>
                <a:cs typeface="+mn-cs"/>
              </a:endParaRPr>
            </a:p>
          </p:txBody>
        </p:sp>
        <p:sp>
          <p:nvSpPr>
            <p:cNvPr id="20" name="TextBox 19">
              <a:extLst>
                <a:ext uri="{FF2B5EF4-FFF2-40B4-BE49-F238E27FC236}">
                  <a16:creationId xmlns:a16="http://schemas.microsoft.com/office/drawing/2014/main" id="{FBB06E93-9F4A-DC50-4093-B9143472AB69}"/>
                </a:ext>
                <a:ext uri="{C183D7F6-B498-43B3-948B-1728B52AA6E4}">
                  <adec:decorative xmlns:adec="http://schemas.microsoft.com/office/drawing/2017/decorative" val="1"/>
                </a:ext>
              </a:extLst>
            </p:cNvPr>
            <p:cNvSpPr txBox="1">
              <a:spLocks noChangeAspect="1"/>
            </p:cNvSpPr>
            <p:nvPr/>
          </p:nvSpPr>
          <p:spPr>
            <a:xfrm rot="8693215">
              <a:off x="4278933" y="1544233"/>
              <a:ext cx="3111987" cy="3554728"/>
            </a:xfrm>
            <a:prstGeom prst="rect">
              <a:avLst/>
            </a:prstGeom>
            <a:noFill/>
          </p:spPr>
          <p:txBody>
            <a:bodyPr wrap="square" lIns="0" tIns="0" rIns="0" bIns="0" rtlCol="0">
              <a:prstTxWarp prst="textArchUp">
                <a:avLst>
                  <a:gd name="adj" fmla="val 12806076"/>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err="1">
                  <a:solidFill>
                    <a:srgbClr val="FFFFFF">
                      <a:alpha val="25000"/>
                    </a:srgbClr>
                  </a:solidFill>
                  <a:latin typeface="+mj-lt"/>
                </a:rPr>
                <a:t>Orchestraion</a:t>
              </a:r>
              <a:r>
                <a:rPr lang="en-GB" sz="1100">
                  <a:solidFill>
                    <a:srgbClr val="FFFFFF">
                      <a:alpha val="25000"/>
                    </a:srgbClr>
                  </a:solidFill>
                  <a:latin typeface="+mj-lt"/>
                </a:rPr>
                <a:t>   Integration    Debugging</a:t>
              </a:r>
              <a:endParaRPr kumimoji="0" lang="en-GB" sz="1100" b="0" i="0" u="none" strike="noStrike" kern="1200" cap="none" spc="0" normalizeH="0" baseline="0" noProof="0">
                <a:ln>
                  <a:noFill/>
                </a:ln>
                <a:solidFill>
                  <a:srgbClr val="FFFFFF">
                    <a:alpha val="25000"/>
                  </a:srgbClr>
                </a:solidFill>
                <a:effectLst/>
                <a:uLnTx/>
                <a:uFillTx/>
                <a:latin typeface="+mj-lt"/>
              </a:endParaRPr>
            </a:p>
          </p:txBody>
        </p:sp>
        <p:sp>
          <p:nvSpPr>
            <p:cNvPr id="21" name="TextBox 20">
              <a:extLst>
                <a:ext uri="{FF2B5EF4-FFF2-40B4-BE49-F238E27FC236}">
                  <a16:creationId xmlns:a16="http://schemas.microsoft.com/office/drawing/2014/main" id="{25C2D99C-B1A7-7891-D28A-1FB4F719DD96}"/>
                </a:ext>
                <a:ext uri="{C183D7F6-B498-43B3-948B-1728B52AA6E4}">
                  <adec:decorative xmlns:adec="http://schemas.microsoft.com/office/drawing/2017/decorative" val="1"/>
                </a:ext>
              </a:extLst>
            </p:cNvPr>
            <p:cNvSpPr txBox="1">
              <a:spLocks noChangeAspect="1"/>
            </p:cNvSpPr>
            <p:nvPr/>
          </p:nvSpPr>
          <p:spPr>
            <a:xfrm>
              <a:off x="4663552" y="2211303"/>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 Techniques - Prompt Engineering, RAG, Fine-tuning</a:t>
              </a:r>
            </a:p>
          </p:txBody>
        </p:sp>
        <p:sp>
          <p:nvSpPr>
            <p:cNvPr id="25" name="TextBox 24">
              <a:extLst>
                <a:ext uri="{FF2B5EF4-FFF2-40B4-BE49-F238E27FC236}">
                  <a16:creationId xmlns:a16="http://schemas.microsoft.com/office/drawing/2014/main" id="{6C364442-9303-FF61-3E87-52012C2ACB5B}"/>
                </a:ext>
                <a:ext uri="{C183D7F6-B498-43B3-948B-1728B52AA6E4}">
                  <adec:decorative xmlns:adec="http://schemas.microsoft.com/office/drawing/2017/decorative" val="1"/>
                </a:ext>
              </a:extLst>
            </p:cNvPr>
            <p:cNvSpPr txBox="1">
              <a:spLocks noChangeAspect="1"/>
            </p:cNvSpPr>
            <p:nvPr/>
          </p:nvSpPr>
          <p:spPr>
            <a:xfrm rot="14349291">
              <a:off x="4636304" y="2194099"/>
              <a:ext cx="2799792" cy="2799792"/>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 Define Metrics     Evaluation</a:t>
              </a:r>
            </a:p>
          </p:txBody>
        </p:sp>
        <p:sp>
          <p:nvSpPr>
            <p:cNvPr id="22" name="Inner &gt; Middle">
              <a:extLst>
                <a:ext uri="{FF2B5EF4-FFF2-40B4-BE49-F238E27FC236}">
                  <a16:creationId xmlns:a16="http://schemas.microsoft.com/office/drawing/2014/main" id="{7221658C-5916-D241-E331-2C38055BD907}"/>
                </a:ext>
                <a:ext uri="{C183D7F6-B498-43B3-948B-1728B52AA6E4}">
                  <adec:decorative xmlns:adec="http://schemas.microsoft.com/office/drawing/2017/decorative" val="1"/>
                </a:ext>
              </a:extLst>
            </p:cNvPr>
            <p:cNvSpPr>
              <a:spLocks noChangeAspect="1"/>
            </p:cNvSpPr>
            <p:nvPr/>
          </p:nvSpPr>
          <p:spPr>
            <a:xfrm flipV="1">
              <a:off x="4933374" y="2486913"/>
              <a:ext cx="2257898" cy="2257897"/>
            </a:xfrm>
            <a:prstGeom prst="arc">
              <a:avLst>
                <a:gd name="adj1" fmla="val 7569981"/>
                <a:gd name="adj2" fmla="val 7363122"/>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26" name="Rectangle 25">
              <a:extLst>
                <a:ext uri="{FF2B5EF4-FFF2-40B4-BE49-F238E27FC236}">
                  <a16:creationId xmlns:a16="http://schemas.microsoft.com/office/drawing/2014/main" id="{C4C3C50E-F83B-9C1F-A2B8-6D1D75A308B2}"/>
                </a:ext>
              </a:extLst>
            </p:cNvPr>
            <p:cNvSpPr/>
            <p:nvPr/>
          </p:nvSpPr>
          <p:spPr bwMode="auto">
            <a:xfrm>
              <a:off x="5102546" y="2950245"/>
              <a:ext cx="1926170" cy="142710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alpha val="25000"/>
                    </a:schemeClr>
                  </a:solidFill>
                  <a:latin typeface="+mj-lt"/>
                </a:rPr>
                <a:t>Building &amp; Augmenting</a:t>
              </a:r>
            </a:p>
          </p:txBody>
        </p:sp>
      </p:grpSp>
      <p:sp>
        <p:nvSpPr>
          <p:cNvPr id="37" name="TextBox 36">
            <a:extLst>
              <a:ext uri="{FF2B5EF4-FFF2-40B4-BE49-F238E27FC236}">
                <a16:creationId xmlns:a16="http://schemas.microsoft.com/office/drawing/2014/main" id="{28DF0C54-CF91-74E6-5DD4-9B75297B0A07}"/>
              </a:ext>
              <a:ext uri="{C183D7F6-B498-43B3-948B-1728B52AA6E4}">
                <adec:decorative xmlns:adec="http://schemas.microsoft.com/office/drawing/2017/decorative" val="1"/>
              </a:ext>
            </a:extLst>
          </p:cNvPr>
          <p:cNvSpPr txBox="1"/>
          <p:nvPr/>
        </p:nvSpPr>
        <p:spPr>
          <a:xfrm>
            <a:off x="8121823" y="5677592"/>
            <a:ext cx="3151767" cy="582211"/>
          </a:xfrm>
          <a:prstGeom prst="rect">
            <a:avLst/>
          </a:prstGeom>
          <a:noFill/>
          <a:effectLst/>
        </p:spPr>
        <p:txBody>
          <a:bodyPr wrap="square" lIns="0" tIns="0" rIns="0" bIns="0" rtlCol="0" anchor="t" anchorCtr="0">
            <a:spAutoFit/>
          </a:bodyPr>
          <a:lstStyle>
            <a:defPPr>
              <a:defRPr lang="en-US"/>
            </a:defPPr>
            <a:lvl1pPr marR="0" lvl="0" indent="0" defTabSz="1371600" fontAlgn="auto">
              <a:lnSpc>
                <a:spcPct val="100000"/>
              </a:lnSpc>
              <a:spcBef>
                <a:spcPts val="0"/>
              </a:spcBef>
              <a:spcAft>
                <a:spcPts val="0"/>
              </a:spcAft>
              <a:buClrTx/>
              <a:buSzTx/>
              <a:buFontTx/>
              <a:buNone/>
              <a:tabLst>
                <a:tab pos="1371600" algn="l"/>
              </a:tabLst>
              <a:defRPr kumimoji="0" sz="2400" b="0" i="0" u="none" strike="noStrike" cap="none" spc="0" normalizeH="0" baseline="0">
                <a:ln w="3175">
                  <a:noFill/>
                </a:ln>
                <a:gradFill>
                  <a:gsLst>
                    <a:gs pos="0">
                      <a:srgbClr val="FF5C39"/>
                    </a:gs>
                    <a:gs pos="80000">
                      <a:srgbClr val="C03BC4"/>
                    </a:gs>
                  </a:gsLst>
                  <a:path path="circle">
                    <a:fillToRect l="100000" t="100000"/>
                  </a:path>
                </a:gradFill>
                <a:effectLst/>
                <a:uLnTx/>
                <a:uFillTx/>
                <a:latin typeface="+mj-lt"/>
                <a:cs typeface="Segoe UI" panose="020B0502040204020203" pitchFamily="34" charset="0"/>
              </a:defRPr>
            </a:lvl1pPr>
          </a:lstStyle>
          <a:p>
            <a:pPr marL="0" marR="0" lvl="0" indent="0" algn="ctr" defTabSz="914437" rtl="0" eaLnBrk="1" fontAlgn="base" latinLnBrk="0" hangingPunct="1">
              <a:lnSpc>
                <a:spcPct val="100000"/>
              </a:lnSpc>
              <a:spcBef>
                <a:spcPct val="0"/>
              </a:spcBef>
              <a:spcAft>
                <a:spcPts val="400"/>
              </a:spcAft>
              <a:buClrTx/>
              <a:buSzTx/>
              <a:buFontTx/>
              <a:buNone/>
              <a:tabLst>
                <a:tab pos="1371655" algn="l"/>
              </a:tabLst>
              <a:defRPr/>
            </a:pPr>
            <a:r>
              <a:rPr lang="en-GB">
                <a:ln>
                  <a:noFill/>
                </a:ln>
                <a:solidFill>
                  <a:schemeClr val="bg1">
                    <a:alpha val="19000"/>
                  </a:schemeClr>
                </a:solidFill>
                <a:latin typeface="Segoe Sans Text Semibold"/>
                <a:cs typeface="Segoe Sans Text" pitchFamily="2" charset="0"/>
              </a:rPr>
              <a:t>Operationalizing</a:t>
            </a:r>
          </a:p>
          <a:p>
            <a:pPr algn="ctr" defTabSz="914400">
              <a:defRPr/>
            </a:pPr>
            <a:r>
              <a:rPr lang="en-GB" sz="1050" b="1">
                <a:solidFill>
                  <a:schemeClr val="bg1">
                    <a:alpha val="19000"/>
                  </a:schemeClr>
                </a:solidFill>
                <a:latin typeface="+mn-lt"/>
                <a:cs typeface="Segoe Sans Text" pitchFamily="2" charset="0"/>
              </a:rPr>
              <a:t>Manage &amp; Optimize</a:t>
            </a:r>
          </a:p>
        </p:txBody>
      </p:sp>
      <p:grpSp>
        <p:nvGrpSpPr>
          <p:cNvPr id="64" name="Group 63">
            <a:extLst>
              <a:ext uri="{FF2B5EF4-FFF2-40B4-BE49-F238E27FC236}">
                <a16:creationId xmlns:a16="http://schemas.microsoft.com/office/drawing/2014/main" id="{2A351FC1-9955-8FAD-37A9-3FB0A6DED7F3}"/>
              </a:ext>
            </a:extLst>
          </p:cNvPr>
          <p:cNvGrpSpPr/>
          <p:nvPr/>
        </p:nvGrpSpPr>
        <p:grpSpPr>
          <a:xfrm>
            <a:off x="7935661" y="1857394"/>
            <a:ext cx="3524090" cy="3524090"/>
            <a:chOff x="7935661" y="1857394"/>
            <a:chExt cx="3524090" cy="3524090"/>
          </a:xfrm>
        </p:grpSpPr>
        <p:sp>
          <p:nvSpPr>
            <p:cNvPr id="32" name="Circle: Hollow 31">
              <a:extLst>
                <a:ext uri="{FF2B5EF4-FFF2-40B4-BE49-F238E27FC236}">
                  <a16:creationId xmlns:a16="http://schemas.microsoft.com/office/drawing/2014/main" id="{2D9817CE-A725-A93A-493F-AA805AA969D2}"/>
                </a:ext>
                <a:ext uri="{C183D7F6-B498-43B3-948B-1728B52AA6E4}">
                  <adec:decorative xmlns:adec="http://schemas.microsoft.com/office/drawing/2017/decorative" val="1"/>
                </a:ext>
              </a:extLst>
            </p:cNvPr>
            <p:cNvSpPr>
              <a:spLocks noChangeAspect="1"/>
            </p:cNvSpPr>
            <p:nvPr/>
          </p:nvSpPr>
          <p:spPr bwMode="auto">
            <a:xfrm>
              <a:off x="7935661" y="1857394"/>
              <a:ext cx="3524090" cy="3524090"/>
            </a:xfrm>
            <a:prstGeom prst="donut">
              <a:avLst>
                <a:gd name="adj" fmla="val 11141"/>
              </a:avLst>
            </a:prstGeom>
            <a:gradFill>
              <a:gsLst>
                <a:gs pos="0">
                  <a:srgbClr val="0078D4">
                    <a:alpha val="12000"/>
                  </a:srgbClr>
                </a:gs>
                <a:gs pos="80000">
                  <a:srgbClr val="399A91">
                    <a:alpha val="20000"/>
                  </a:srgbClr>
                </a:gs>
              </a:gsLst>
              <a:path path="circle">
                <a:fillToRect l="100000" t="100000"/>
              </a:path>
            </a:gradFill>
            <a:ln w="63897"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FFFF">
                    <a:alpha val="25000"/>
                  </a:srgbClr>
                </a:solidFill>
                <a:effectLst/>
                <a:uLnTx/>
                <a:uFillTx/>
                <a:ea typeface="+mn-ea"/>
                <a:cs typeface="+mn-cs"/>
              </a:endParaRPr>
            </a:p>
          </p:txBody>
        </p:sp>
        <p:sp>
          <p:nvSpPr>
            <p:cNvPr id="34" name="TextBox 33">
              <a:extLst>
                <a:ext uri="{FF2B5EF4-FFF2-40B4-BE49-F238E27FC236}">
                  <a16:creationId xmlns:a16="http://schemas.microsoft.com/office/drawing/2014/main" id="{71E5E235-C2E8-DC52-EFD6-B45F64A57AE6}"/>
                </a:ext>
                <a:ext uri="{C183D7F6-B498-43B3-948B-1728B52AA6E4}">
                  <adec:decorative xmlns:adec="http://schemas.microsoft.com/office/drawing/2017/decorative" val="1"/>
                </a:ext>
              </a:extLst>
            </p:cNvPr>
            <p:cNvSpPr txBox="1">
              <a:spLocks noChangeAspect="1"/>
            </p:cNvSpPr>
            <p:nvPr/>
          </p:nvSpPr>
          <p:spPr>
            <a:xfrm rot="7894997">
              <a:off x="8140354" y="207332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Segoe Sans Text" pitchFamily="2" charset="0"/>
                </a:rPr>
                <a:t>Continuous Evaluation &amp; Monitoring    </a:t>
              </a:r>
              <a:r>
                <a:rPr lang="en-GB" sz="1100">
                  <a:solidFill>
                    <a:srgbClr val="FFFFFF">
                      <a:alpha val="25000"/>
                    </a:srgbClr>
                  </a:solidFill>
                  <a:latin typeface="Segoe Sans Text" pitchFamily="2" charset="0"/>
                </a:rPr>
                <a:t>Quota &amp; Cost Management</a:t>
              </a:r>
              <a:endParaRPr kumimoji="0" lang="en-GB" sz="1100" b="0" i="0" u="none" strike="noStrike" kern="1200" cap="none" spc="0" normalizeH="0" baseline="0" noProof="0">
                <a:ln>
                  <a:noFill/>
                </a:ln>
                <a:solidFill>
                  <a:srgbClr val="FFFFFF">
                    <a:alpha val="25000"/>
                  </a:srgbClr>
                </a:solidFill>
                <a:effectLst/>
                <a:uLnTx/>
                <a:uFillTx/>
                <a:latin typeface="Segoe Sans Text" pitchFamily="2" charset="0"/>
              </a:endParaRPr>
            </a:p>
          </p:txBody>
        </p:sp>
        <p:sp>
          <p:nvSpPr>
            <p:cNvPr id="36" name="TextBox 35">
              <a:extLst>
                <a:ext uri="{FF2B5EF4-FFF2-40B4-BE49-F238E27FC236}">
                  <a16:creationId xmlns:a16="http://schemas.microsoft.com/office/drawing/2014/main" id="{7A110A6B-6FCB-D2E3-77CD-541BFD49CF17}"/>
                </a:ext>
                <a:ext uri="{C183D7F6-B498-43B3-948B-1728B52AA6E4}">
                  <adec:decorative xmlns:adec="http://schemas.microsoft.com/office/drawing/2017/decorative" val="1"/>
                </a:ext>
              </a:extLst>
            </p:cNvPr>
            <p:cNvSpPr txBox="1">
              <a:spLocks noChangeAspect="1"/>
            </p:cNvSpPr>
            <p:nvPr/>
          </p:nvSpPr>
          <p:spPr>
            <a:xfrm rot="15183746">
              <a:off x="8157551" y="1975283"/>
              <a:ext cx="3224508" cy="3224508"/>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25000"/>
                    </a:srgbClr>
                  </a:solidFill>
                  <a:effectLst/>
                  <a:uLnTx/>
                  <a:uFillTx/>
                  <a:latin typeface="+mj-lt"/>
                  <a:ea typeface="+mn-ea"/>
                  <a:cs typeface="+mn-cs"/>
                </a:rPr>
                <a:t>Security and data privacy</a:t>
              </a:r>
            </a:p>
          </p:txBody>
        </p:sp>
        <p:sp>
          <p:nvSpPr>
            <p:cNvPr id="33" name="TextBox 32">
              <a:extLst>
                <a:ext uri="{FF2B5EF4-FFF2-40B4-BE49-F238E27FC236}">
                  <a16:creationId xmlns:a16="http://schemas.microsoft.com/office/drawing/2014/main" id="{A134A462-1A48-81BB-6619-4D74D0192B9D}"/>
                </a:ext>
                <a:ext uri="{C183D7F6-B498-43B3-948B-1728B52AA6E4}">
                  <adec:decorative xmlns:adec="http://schemas.microsoft.com/office/drawing/2017/decorative" val="1"/>
                </a:ext>
              </a:extLst>
            </p:cNvPr>
            <p:cNvSpPr txBox="1">
              <a:spLocks noChangeAspect="1"/>
            </p:cNvSpPr>
            <p:nvPr/>
          </p:nvSpPr>
          <p:spPr>
            <a:xfrm rot="21287264">
              <a:off x="8148814" y="2059838"/>
              <a:ext cx="3102950" cy="3102950"/>
            </a:xfrm>
            <a:prstGeom prst="rect">
              <a:avLst/>
            </a:prstGeom>
            <a:noFill/>
          </p:spPr>
          <p:txBody>
            <a:bodyPr wrap="square" lIns="0" tIns="0" rIns="0" bIns="0" rtlCol="0">
              <a:prstTxWarp prst="textArchUp">
                <a:avLst>
                  <a:gd name="adj" fmla="val 11454765"/>
                </a:avLst>
              </a:prstTxWarp>
              <a:spAutoFit/>
            </a:bodyPr>
            <a:lstStyle/>
            <a:p>
              <a:pPr marL="0" marR="0" lvl="0" indent="0" algn="ctr" defTabSz="740495" rtl="0" eaLnBrk="1" fontAlgn="auto" latinLnBrk="0" hangingPunct="1">
                <a:lnSpc>
                  <a:spcPct val="100000"/>
                </a:lnSpc>
                <a:spcBef>
                  <a:spcPts val="0"/>
                </a:spcBef>
                <a:spcAft>
                  <a:spcPts val="0"/>
                </a:spcAft>
                <a:buClrTx/>
                <a:buSzTx/>
                <a:buFontTx/>
                <a:buNone/>
                <a:tabLst/>
                <a:defRPr/>
              </a:pPr>
              <a:r>
                <a:rPr lang="en-GB" sz="1100">
                  <a:solidFill>
                    <a:srgbClr val="FFFFFF">
                      <a:alpha val="25000"/>
                    </a:srgbClr>
                  </a:solidFill>
                  <a:latin typeface="+mj-lt"/>
                </a:rPr>
                <a:t>Deploy LLM App, UI, Model, Workflow</a:t>
              </a:r>
              <a:endParaRPr kumimoji="0" lang="en-GB" sz="1100" i="0" u="none" strike="noStrike" kern="1200" cap="none" spc="0" normalizeH="0" baseline="0" noProof="0">
                <a:ln>
                  <a:noFill/>
                </a:ln>
                <a:solidFill>
                  <a:srgbClr val="FFFFFF">
                    <a:alpha val="25000"/>
                  </a:srgbClr>
                </a:solidFill>
                <a:effectLst/>
                <a:uLnTx/>
                <a:uFillTx/>
                <a:latin typeface="+mj-lt"/>
              </a:endParaRPr>
            </a:p>
          </p:txBody>
        </p:sp>
        <p:sp>
          <p:nvSpPr>
            <p:cNvPr id="35" name="Inner &gt; Middle">
              <a:extLst>
                <a:ext uri="{FF2B5EF4-FFF2-40B4-BE49-F238E27FC236}">
                  <a16:creationId xmlns:a16="http://schemas.microsoft.com/office/drawing/2014/main" id="{10910070-FAED-D1D7-D5BC-20826A7C742A}"/>
                </a:ext>
                <a:ext uri="{C183D7F6-B498-43B3-948B-1728B52AA6E4}">
                  <adec:decorative xmlns:adec="http://schemas.microsoft.com/office/drawing/2017/decorative" val="1"/>
                </a:ext>
              </a:extLst>
            </p:cNvPr>
            <p:cNvSpPr>
              <a:spLocks noChangeAspect="1"/>
            </p:cNvSpPr>
            <p:nvPr/>
          </p:nvSpPr>
          <p:spPr>
            <a:xfrm flipV="1">
              <a:off x="8440406" y="2349396"/>
              <a:ext cx="2514600" cy="2514600"/>
            </a:xfrm>
            <a:prstGeom prst="arc">
              <a:avLst>
                <a:gd name="adj1" fmla="val 8319039"/>
                <a:gd name="adj2" fmla="val 8134095"/>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39" name="Rectangle 38">
              <a:extLst>
                <a:ext uri="{FF2B5EF4-FFF2-40B4-BE49-F238E27FC236}">
                  <a16:creationId xmlns:a16="http://schemas.microsoft.com/office/drawing/2014/main" id="{FD9400BF-200E-4B9E-93C3-3F2611CC2709}"/>
                </a:ext>
              </a:extLst>
            </p:cNvPr>
            <p:cNvSpPr/>
            <p:nvPr/>
          </p:nvSpPr>
          <p:spPr bwMode="auto">
            <a:xfrm>
              <a:off x="8669330" y="2950245"/>
              <a:ext cx="2068977" cy="148366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lang="en-US">
                  <a:solidFill>
                    <a:schemeClr val="bg1">
                      <a:alpha val="25000"/>
                    </a:schemeClr>
                  </a:solidFill>
                  <a:latin typeface="+mj-lt"/>
                </a:rPr>
                <a:t>Deploying &amp; Monitoring</a:t>
              </a:r>
            </a:p>
          </p:txBody>
        </p:sp>
      </p:grpSp>
      <p:sp>
        <p:nvSpPr>
          <p:cNvPr id="40" name="BUSINESS NEED"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3BECDD45-26EF-D7D1-FA19-B75C5745429E}"/>
              </a:ext>
            </a:extLst>
          </p:cNvPr>
          <p:cNvSpPr txBox="1"/>
          <p:nvPr/>
        </p:nvSpPr>
        <p:spPr>
          <a:xfrm>
            <a:off x="585217" y="2456663"/>
            <a:ext cx="818622" cy="446469"/>
          </a:xfrm>
          <a:prstGeom prst="rect">
            <a:avLst/>
          </a:prstGeom>
          <a:noFill/>
        </p:spPr>
        <p:txBody>
          <a:bodyPr wrap="none" rtlCol="0">
            <a:spAutoFit/>
          </a:bodyPr>
          <a:lstStyle/>
          <a:p>
            <a:pPr marL="0" marR="0" lvl="0" indent="0" algn="ctr" defTabSz="725629" rtl="0" eaLnBrk="1" fontAlgn="auto" latinLnBrk="0" hangingPunct="1">
              <a:lnSpc>
                <a:spcPct val="120000"/>
              </a:lnSpc>
              <a:spcBef>
                <a:spcPts val="0"/>
              </a:spcBef>
              <a:spcAft>
                <a:spcPts val="0"/>
              </a:spcAft>
              <a:buClrTx/>
              <a:buSzTx/>
              <a:buFontTx/>
              <a:buNone/>
              <a:tabLst/>
              <a:defRPr/>
            </a:pPr>
            <a:r>
              <a:rPr lang="en-US" sz="1000" b="1" spc="32">
                <a:ln w="3175">
                  <a:noFill/>
                </a:ln>
                <a:solidFill>
                  <a:schemeClr val="bg1">
                    <a:alpha val="25000"/>
                  </a:schemeClr>
                </a:solidFill>
                <a:cs typeface="Segoe Sans Text" pitchFamily="2" charset="0"/>
              </a:rPr>
              <a:t>BUSINESS</a:t>
            </a:r>
            <a:br>
              <a:rPr lang="en-US" sz="1000" b="1" spc="32">
                <a:ln w="3175">
                  <a:noFill/>
                </a:ln>
                <a:solidFill>
                  <a:schemeClr val="bg1">
                    <a:alpha val="25000"/>
                  </a:schemeClr>
                </a:solidFill>
                <a:cs typeface="Segoe Sans Text" pitchFamily="2" charset="0"/>
              </a:rPr>
            </a:br>
            <a:r>
              <a:rPr lang="en-US" sz="1000" b="1" spc="32">
                <a:ln w="3175">
                  <a:noFill/>
                </a:ln>
                <a:solidFill>
                  <a:schemeClr val="bg1">
                    <a:alpha val="25000"/>
                  </a:schemeClr>
                </a:solidFill>
                <a:cs typeface="Segoe Sans Text" pitchFamily="2" charset="0"/>
              </a:rPr>
              <a:t>NEED</a:t>
            </a:r>
          </a:p>
        </p:txBody>
      </p:sp>
      <p:sp>
        <p:nvSpPr>
          <p:cNvPr id="41"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A4770CE1-A46A-7B79-6D33-83EF95C554AF}"/>
              </a:ext>
            </a:extLst>
          </p:cNvPr>
          <p:cNvSpPr>
            <a:spLocks noChangeAspect="1"/>
          </p:cNvSpPr>
          <p:nvPr/>
        </p:nvSpPr>
        <p:spPr>
          <a:xfrm flipH="1">
            <a:off x="1100697" y="2179207"/>
            <a:ext cx="1530771" cy="1531095"/>
          </a:xfrm>
          <a:prstGeom prst="arc">
            <a:avLst>
              <a:gd name="adj1" fmla="val 14631255"/>
              <a:gd name="adj2" fmla="val 19066496"/>
            </a:avLst>
          </a:prstGeom>
          <a:ln w="9525" cap="rnd">
            <a:solidFill>
              <a:schemeClr val="bg1">
                <a:alpha val="20000"/>
              </a:schemeClr>
            </a:solidFill>
            <a:prstDash val="dash"/>
            <a:headEnd type="arrow"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defTabSz="740495"/>
            <a:endParaRPr lang="en-GB" sz="1429">
              <a:solidFill>
                <a:prstClr val="black">
                  <a:alpha val="25000"/>
                </a:prstClr>
              </a:solidFill>
            </a:endParaRPr>
          </a:p>
        </p:txBody>
      </p:sp>
      <p:sp>
        <p:nvSpPr>
          <p:cNvPr id="48" name="Rectangle: Rounded Corners 47">
            <a:extLst>
              <a:ext uri="{FF2B5EF4-FFF2-40B4-BE49-F238E27FC236}">
                <a16:creationId xmlns:a16="http://schemas.microsoft.com/office/drawing/2014/main" id="{065A2B57-4A12-68C1-6224-90B982EA856F}"/>
              </a:ext>
            </a:extLst>
          </p:cNvPr>
          <p:cNvSpPr>
            <a:spLocks/>
          </p:cNvSpPr>
          <p:nvPr/>
        </p:nvSpPr>
        <p:spPr bwMode="auto">
          <a:xfrm rot="10800000" flipH="1" flipV="1">
            <a:off x="383428" y="1223818"/>
            <a:ext cx="11392545" cy="5241175"/>
          </a:xfrm>
          <a:prstGeom prst="roundRect">
            <a:avLst>
              <a:gd name="adj" fmla="val 2665"/>
            </a:avLst>
          </a:prstGeom>
          <a:no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1" name="Text Placeholder 2">
            <a:extLst>
              <a:ext uri="{FF2B5EF4-FFF2-40B4-BE49-F238E27FC236}">
                <a16:creationId xmlns:a16="http://schemas.microsoft.com/office/drawing/2014/main" id="{A65BBBCA-C47F-2A9D-EFE4-3AC0388CB971}"/>
              </a:ext>
            </a:extLst>
          </p:cNvPr>
          <p:cNvSpPr txBox="1">
            <a:spLocks/>
          </p:cNvSpPr>
          <p:nvPr/>
        </p:nvSpPr>
        <p:spPr>
          <a:xfrm flipH="1">
            <a:off x="378808" y="1216766"/>
            <a:ext cx="1530772" cy="475232"/>
          </a:xfrm>
          <a:prstGeom prst="round1Rect">
            <a:avLst>
              <a:gd name="adj" fmla="val 30272"/>
            </a:avLst>
          </a:prstGeom>
          <a:blipFill>
            <a:blip r:embed="rId3">
              <a:lum/>
            </a:blip>
            <a:stretch>
              <a:fillRect l="-288914" t="-614398" r="-146658" b="-90140"/>
            </a:stretch>
          </a:blipFill>
          <a:ln>
            <a:noFill/>
            <a:headEnd type="none" w="med" len="med"/>
            <a:tailEnd type="none" w="med" len="med"/>
          </a:ln>
          <a:effectLst>
            <a:outerShdw blurRad="127000" dist="38100" algn="l"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36000" rIns="0" bIns="36576" numCol="1" spcCol="0" rtlCol="0" fromWordArt="0" anchor="ctr" anchorCtr="0" forceAA="0" compatLnSpc="1">
            <a:prstTxWarp prst="textNoShape">
              <a:avLst/>
            </a:prstTxWarp>
            <a:noAutofit/>
          </a:bodyPr>
          <a:lstStyle>
            <a:defPPr>
              <a:defRPr lang="en-US"/>
            </a:defPPr>
            <a:lvl1pPr algn="ctr" defTabSz="914367">
              <a:buSzPct val="90000"/>
              <a:defRPr sz="1200">
                <a:solidFill>
                  <a:schemeClr val="bg1"/>
                </a:solidFill>
                <a:latin typeface="+mj-lt"/>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sz="1800"/>
          </a:p>
        </p:txBody>
      </p:sp>
      <p:sp>
        <p:nvSpPr>
          <p:cNvPr id="49" name="TextBox 48"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CABAE71B-F82B-5274-A7D1-616CC87A6629}"/>
              </a:ext>
            </a:extLst>
          </p:cNvPr>
          <p:cNvSpPr txBox="1"/>
          <p:nvPr/>
        </p:nvSpPr>
        <p:spPr>
          <a:xfrm>
            <a:off x="491701" y="1253357"/>
            <a:ext cx="1289061" cy="394762"/>
          </a:xfrm>
          <a:prstGeom prst="rect">
            <a:avLst/>
          </a:prstGeom>
          <a:noFill/>
        </p:spPr>
        <p:txBody>
          <a:bodyPr wrap="square" lIns="58312" tIns="58312" rIns="58312" bIns="58312" rtlCol="0" anchor="t">
            <a:spAutoFit/>
          </a:bodyPr>
          <a:lstStyle/>
          <a:p>
            <a:pPr defTabSz="932472" fontAlgn="base">
              <a:spcBef>
                <a:spcPct val="0"/>
              </a:spcBef>
              <a:spcAft>
                <a:spcPct val="0"/>
              </a:spcAft>
              <a:defRPr/>
            </a:pPr>
            <a:r>
              <a:rPr lang="en-US">
                <a:solidFill>
                  <a:schemeClr val="bg1"/>
                </a:solidFill>
                <a:latin typeface="+mj-lt"/>
              </a:rPr>
              <a:t>Managing</a:t>
            </a:r>
            <a:endParaRPr lang="ja-JP" altLang="en-US">
              <a:solidFill>
                <a:schemeClr val="bg1"/>
              </a:solidFill>
              <a:latin typeface="+mj-lt"/>
            </a:endParaRPr>
          </a:p>
        </p:txBody>
      </p:sp>
      <p:grpSp>
        <p:nvGrpSpPr>
          <p:cNvPr id="55" name="Group 54">
            <a:extLst>
              <a:ext uri="{FF2B5EF4-FFF2-40B4-BE49-F238E27FC236}">
                <a16:creationId xmlns:a16="http://schemas.microsoft.com/office/drawing/2014/main" id="{35BF1FC7-660C-0FE0-6F8D-FA2ABD492BB7}"/>
              </a:ext>
            </a:extLst>
          </p:cNvPr>
          <p:cNvGrpSpPr/>
          <p:nvPr/>
        </p:nvGrpSpPr>
        <p:grpSpPr>
          <a:xfrm>
            <a:off x="1768562" y="1325621"/>
            <a:ext cx="245286" cy="245286"/>
            <a:chOff x="1751823" y="1304264"/>
            <a:chExt cx="288000" cy="288000"/>
          </a:xfrm>
        </p:grpSpPr>
        <p:sp useBgFill="1">
          <p:nvSpPr>
            <p:cNvPr id="52" name="Rectangle: Rounded Corners 51">
              <a:extLst>
                <a:ext uri="{FF2B5EF4-FFF2-40B4-BE49-F238E27FC236}">
                  <a16:creationId xmlns:a16="http://schemas.microsoft.com/office/drawing/2014/main" id="{C667631B-A3C2-1675-0961-8F1933B6BE0E}"/>
                </a:ext>
                <a:ext uri="{C183D7F6-B498-43B3-948B-1728B52AA6E4}">
                  <adec:decorative xmlns:adec="http://schemas.microsoft.com/office/drawing/2017/decorative" val="1"/>
                </a:ext>
              </a:extLst>
            </p:cNvPr>
            <p:cNvSpPr/>
            <p:nvPr/>
          </p:nvSpPr>
          <p:spPr bwMode="auto">
            <a:xfrm>
              <a:off x="1751823" y="1304264"/>
              <a:ext cx="288000" cy="288000"/>
            </a:xfrm>
            <a:prstGeom prst="roundRect">
              <a:avLst/>
            </a:prstGeom>
            <a:ln w="38100">
              <a:gradFill>
                <a:gsLst>
                  <a:gs pos="0">
                    <a:srgbClr val="00CCAB"/>
                  </a:gs>
                  <a:gs pos="100000">
                    <a:srgbClr val="C3E9FC"/>
                  </a:gs>
                </a:gsLst>
                <a:lin ang="5400000" scaled="1"/>
              </a:gradFill>
            </a:ln>
            <a:effectLst>
              <a:outerShdw blurRad="63500" dist="127000" dir="2700000" algn="tl" rotWithShape="0">
                <a:prstClr val="black">
                  <a:alpha val="50000"/>
                </a:prstClr>
              </a:outerShdw>
            </a:effectLst>
          </p:spPr>
          <p:txBody>
            <a:bodyPr wrap="square" lIns="0" tIns="0" rIns="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chemeClr val="bg1"/>
                </a:solidFill>
                <a:effectLst/>
                <a:uLnTx/>
                <a:uFillTx/>
                <a:latin typeface="+mj-lt"/>
                <a:ea typeface="+mn-ea"/>
                <a:cs typeface="+mn-cs"/>
              </a:endParaRPr>
            </a:p>
          </p:txBody>
        </p:sp>
        <p:pic>
          <p:nvPicPr>
            <p:cNvPr id="54" name="Graphic 53">
              <a:extLst>
                <a:ext uri="{FF2B5EF4-FFF2-40B4-BE49-F238E27FC236}">
                  <a16:creationId xmlns:a16="http://schemas.microsoft.com/office/drawing/2014/main" id="{B23B6990-6ECE-090A-5C25-02822299A0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3094" y="1347601"/>
              <a:ext cx="203693" cy="203693"/>
            </a:xfrm>
            <a:prstGeom prst="rect">
              <a:avLst/>
            </a:prstGeom>
          </p:spPr>
        </p:pic>
      </p:grpSp>
    </p:spTree>
    <p:extLst>
      <p:ext uri="{BB962C8B-B14F-4D97-AF65-F5344CB8AC3E}">
        <p14:creationId xmlns:p14="http://schemas.microsoft.com/office/powerpoint/2010/main" val="371047482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250" fill="hold"/>
                                        <p:tgtEl>
                                          <p:spTgt spid="47"/>
                                        </p:tgtEl>
                                        <p:attrNameLst>
                                          <p:attrName>ppt_w</p:attrName>
                                        </p:attrNameLst>
                                      </p:cBhvr>
                                      <p:tavLst>
                                        <p:tav tm="0">
                                          <p:val>
                                            <p:strVal val="2/3*#ppt_w"/>
                                          </p:val>
                                        </p:tav>
                                        <p:tav tm="100000">
                                          <p:val>
                                            <p:strVal val="#ppt_w"/>
                                          </p:val>
                                        </p:tav>
                                      </p:tavLst>
                                    </p:anim>
                                    <p:anim calcmode="lin" valueType="num">
                                      <p:cBhvr>
                                        <p:cTn id="8" dur="250" fill="hold"/>
                                        <p:tgtEl>
                                          <p:spTgt spid="47"/>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childTnLst>
                                </p:cTn>
                              </p:par>
                              <p:par>
                                <p:cTn id="12" presetID="6" presetClass="emph" presetSubtype="0" fill="hold" grpId="2" nodeType="withEffect">
                                  <p:stCondLst>
                                    <p:cond delay="0"/>
                                  </p:stCondLst>
                                  <p:childTnLst>
                                    <p:animScale>
                                      <p:cBhvr>
                                        <p:cTn id="13" dur="10" fill="hold"/>
                                        <p:tgtEl>
                                          <p:spTgt spid="47"/>
                                        </p:tgtEl>
                                      </p:cBhvr>
                                      <p:by x="80000" y="80000"/>
                                    </p:animScale>
                                  </p:childTnLst>
                                </p:cTn>
                              </p:par>
                              <p:par>
                                <p:cTn id="14" presetID="6" presetClass="emph" presetSubtype="0" decel="100000" fill="hold" grpId="3" nodeType="withEffect">
                                  <p:stCondLst>
                                    <p:cond delay="0"/>
                                  </p:stCondLst>
                                  <p:childTnLst>
                                    <p:animScale>
                                      <p:cBhvr>
                                        <p:cTn id="15" dur="1000" fill="hold"/>
                                        <p:tgtEl>
                                          <p:spTgt spid="47"/>
                                        </p:tgtEl>
                                      </p:cBhvr>
                                      <p:by x="125000" y="125000"/>
                                    </p:animScale>
                                  </p:childTnLst>
                                </p:cTn>
                              </p:par>
                              <p:par>
                                <p:cTn id="16" presetID="23" presetClass="entr" presetSubtype="272" fill="hold" grpId="0" nodeType="withEffect">
                                  <p:stCondLst>
                                    <p:cond delay="0"/>
                                  </p:stCondLst>
                                  <p:childTnLst>
                                    <p:set>
                                      <p:cBhvr>
                                        <p:cTn id="17" dur="1" fill="hold">
                                          <p:stCondLst>
                                            <p:cond delay="0"/>
                                          </p:stCondLst>
                                        </p:cTn>
                                        <p:tgtEl>
                                          <p:spTgt spid="48"/>
                                        </p:tgtEl>
                                        <p:attrNameLst>
                                          <p:attrName>style.visibility</p:attrName>
                                        </p:attrNameLst>
                                      </p:cBhvr>
                                      <p:to>
                                        <p:strVal val="visible"/>
                                      </p:to>
                                    </p:set>
                                    <p:anim calcmode="lin" valueType="num">
                                      <p:cBhvr>
                                        <p:cTn id="18" dur="250" fill="hold"/>
                                        <p:tgtEl>
                                          <p:spTgt spid="48"/>
                                        </p:tgtEl>
                                        <p:attrNameLst>
                                          <p:attrName>ppt_w</p:attrName>
                                        </p:attrNameLst>
                                      </p:cBhvr>
                                      <p:tavLst>
                                        <p:tav tm="0">
                                          <p:val>
                                            <p:strVal val="2/3*#ppt_w"/>
                                          </p:val>
                                        </p:tav>
                                        <p:tav tm="100000">
                                          <p:val>
                                            <p:strVal val="#ppt_w"/>
                                          </p:val>
                                        </p:tav>
                                      </p:tavLst>
                                    </p:anim>
                                    <p:anim calcmode="lin" valueType="num">
                                      <p:cBhvr>
                                        <p:cTn id="19" dur="250" fill="hold"/>
                                        <p:tgtEl>
                                          <p:spTgt spid="48"/>
                                        </p:tgtEl>
                                        <p:attrNameLst>
                                          <p:attrName>ppt_h</p:attrName>
                                        </p:attrNameLst>
                                      </p:cBhvr>
                                      <p:tavLst>
                                        <p:tav tm="0">
                                          <p:val>
                                            <p:strVal val="2/3*#ppt_h"/>
                                          </p:val>
                                        </p:tav>
                                        <p:tav tm="100000">
                                          <p:val>
                                            <p:strVal val="#ppt_h"/>
                                          </p:val>
                                        </p:tav>
                                      </p:tavLst>
                                    </p:anim>
                                  </p:childTnLst>
                                </p:cTn>
                              </p:par>
                              <p:par>
                                <p:cTn id="20" presetID="10" presetClass="entr" presetSubtype="0" fill="hold" grpId="1"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6" presetClass="emph" presetSubtype="0" fill="hold" grpId="2" nodeType="withEffect">
                                  <p:stCondLst>
                                    <p:cond delay="0"/>
                                  </p:stCondLst>
                                  <p:childTnLst>
                                    <p:animScale>
                                      <p:cBhvr>
                                        <p:cTn id="24" dur="10" fill="hold"/>
                                        <p:tgtEl>
                                          <p:spTgt spid="48"/>
                                        </p:tgtEl>
                                      </p:cBhvr>
                                      <p:by x="80000" y="80000"/>
                                    </p:animScale>
                                  </p:childTnLst>
                                </p:cTn>
                              </p:par>
                              <p:par>
                                <p:cTn id="25" presetID="6" presetClass="emph" presetSubtype="0" decel="100000" fill="hold" grpId="3" nodeType="withEffect">
                                  <p:stCondLst>
                                    <p:cond delay="0"/>
                                  </p:stCondLst>
                                  <p:childTnLst>
                                    <p:animScale>
                                      <p:cBhvr>
                                        <p:cTn id="26" dur="1000" fill="hold"/>
                                        <p:tgtEl>
                                          <p:spTgt spid="48"/>
                                        </p:tgtEl>
                                      </p:cBhvr>
                                      <p:by x="125000" y="125000"/>
                                    </p:animScale>
                                  </p:childTnLst>
                                </p:cTn>
                              </p:par>
                              <p:par>
                                <p:cTn id="27" presetID="22" presetClass="entr" presetSubtype="8" fill="hold" grpId="0" nodeType="withEffect">
                                  <p:stCondLst>
                                    <p:cond delay="700"/>
                                  </p:stCondLst>
                                  <p:childTnLst>
                                    <p:set>
                                      <p:cBhvr>
                                        <p:cTn id="28" dur="1" fill="hold">
                                          <p:stCondLst>
                                            <p:cond delay="0"/>
                                          </p:stCondLst>
                                        </p:cTn>
                                        <p:tgtEl>
                                          <p:spTgt spid="51"/>
                                        </p:tgtEl>
                                        <p:attrNameLst>
                                          <p:attrName>style.visibility</p:attrName>
                                        </p:attrNameLst>
                                      </p:cBhvr>
                                      <p:to>
                                        <p:strVal val="visible"/>
                                      </p:to>
                                    </p:set>
                                    <p:animEffect transition="in" filter="wipe(left)">
                                      <p:cBhvr>
                                        <p:cTn id="29" dur="500"/>
                                        <p:tgtEl>
                                          <p:spTgt spid="51"/>
                                        </p:tgtEl>
                                      </p:cBhvr>
                                    </p:animEffect>
                                  </p:childTnLst>
                                </p:cTn>
                              </p:par>
                              <p:par>
                                <p:cTn id="30" presetID="23" presetClass="entr" presetSubtype="272" fill="hold" nodeType="withEffect">
                                  <p:stCondLst>
                                    <p:cond delay="700"/>
                                  </p:stCondLst>
                                  <p:childTnLst>
                                    <p:set>
                                      <p:cBhvr>
                                        <p:cTn id="31" dur="1" fill="hold">
                                          <p:stCondLst>
                                            <p:cond delay="0"/>
                                          </p:stCondLst>
                                        </p:cTn>
                                        <p:tgtEl>
                                          <p:spTgt spid="55"/>
                                        </p:tgtEl>
                                        <p:attrNameLst>
                                          <p:attrName>style.visibility</p:attrName>
                                        </p:attrNameLst>
                                      </p:cBhvr>
                                      <p:to>
                                        <p:strVal val="visible"/>
                                      </p:to>
                                    </p:set>
                                    <p:anim calcmode="lin" valueType="num">
                                      <p:cBhvr>
                                        <p:cTn id="32" dur="250" fill="hold"/>
                                        <p:tgtEl>
                                          <p:spTgt spid="55"/>
                                        </p:tgtEl>
                                        <p:attrNameLst>
                                          <p:attrName>ppt_w</p:attrName>
                                        </p:attrNameLst>
                                      </p:cBhvr>
                                      <p:tavLst>
                                        <p:tav tm="0">
                                          <p:val>
                                            <p:strVal val="2/3*#ppt_w"/>
                                          </p:val>
                                        </p:tav>
                                        <p:tav tm="100000">
                                          <p:val>
                                            <p:strVal val="#ppt_w"/>
                                          </p:val>
                                        </p:tav>
                                      </p:tavLst>
                                    </p:anim>
                                    <p:anim calcmode="lin" valueType="num">
                                      <p:cBhvr>
                                        <p:cTn id="33" dur="250" fill="hold"/>
                                        <p:tgtEl>
                                          <p:spTgt spid="55"/>
                                        </p:tgtEl>
                                        <p:attrNameLst>
                                          <p:attrName>ppt_h</p:attrName>
                                        </p:attrNameLst>
                                      </p:cBhvr>
                                      <p:tavLst>
                                        <p:tav tm="0">
                                          <p:val>
                                            <p:strVal val="2/3*#ppt_h"/>
                                          </p:val>
                                        </p:tav>
                                        <p:tav tm="100000">
                                          <p:val>
                                            <p:strVal val="#ppt_h"/>
                                          </p:val>
                                        </p:tav>
                                      </p:tavLst>
                                    </p:anim>
                                  </p:childTnLst>
                                </p:cTn>
                              </p:par>
                              <p:par>
                                <p:cTn id="34" presetID="10" presetClass="entr" presetSubtype="0" fill="hold" nodeType="withEffect">
                                  <p:stCondLst>
                                    <p:cond delay="700"/>
                                  </p:stCondLst>
                                  <p:childTnLst>
                                    <p:set>
                                      <p:cBhvr>
                                        <p:cTn id="35" dur="1" fill="hold">
                                          <p:stCondLst>
                                            <p:cond delay="0"/>
                                          </p:stCondLst>
                                        </p:cTn>
                                        <p:tgtEl>
                                          <p:spTgt spid="55"/>
                                        </p:tgtEl>
                                        <p:attrNameLst>
                                          <p:attrName>style.visibility</p:attrName>
                                        </p:attrNameLst>
                                      </p:cBhvr>
                                      <p:to>
                                        <p:strVal val="visible"/>
                                      </p:to>
                                    </p:set>
                                    <p:animEffect transition="in" filter="fade">
                                      <p:cBhvr>
                                        <p:cTn id="36" dur="500"/>
                                        <p:tgtEl>
                                          <p:spTgt spid="55"/>
                                        </p:tgtEl>
                                      </p:cBhvr>
                                    </p:animEffect>
                                  </p:childTnLst>
                                </p:cTn>
                              </p:par>
                              <p:par>
                                <p:cTn id="37" presetID="6" presetClass="emph" presetSubtype="0" fill="hold" nodeType="withEffect">
                                  <p:stCondLst>
                                    <p:cond delay="700"/>
                                  </p:stCondLst>
                                  <p:childTnLst>
                                    <p:animScale>
                                      <p:cBhvr>
                                        <p:cTn id="38" dur="10" fill="hold"/>
                                        <p:tgtEl>
                                          <p:spTgt spid="55"/>
                                        </p:tgtEl>
                                      </p:cBhvr>
                                      <p:by x="80000" y="80000"/>
                                    </p:animScale>
                                  </p:childTnLst>
                                </p:cTn>
                              </p:par>
                              <p:par>
                                <p:cTn id="39" presetID="6" presetClass="emph" presetSubtype="0" decel="100000" fill="hold" nodeType="withEffect">
                                  <p:stCondLst>
                                    <p:cond delay="700"/>
                                  </p:stCondLst>
                                  <p:childTnLst>
                                    <p:animScale>
                                      <p:cBhvr>
                                        <p:cTn id="40" dur="1000" fill="hold"/>
                                        <p:tgtEl>
                                          <p:spTgt spid="55"/>
                                        </p:tgtEl>
                                      </p:cBhvr>
                                      <p:by x="125000" y="125000"/>
                                    </p:animScale>
                                  </p:childTnLst>
                                </p:cTn>
                              </p:par>
                              <p:par>
                                <p:cTn id="41" presetID="10" presetClass="entr" presetSubtype="0" fill="hold" grpId="0" nodeType="withEffect">
                                  <p:stCondLst>
                                    <p:cond delay="700"/>
                                  </p:stCondLst>
                                  <p:childTnLst>
                                    <p:set>
                                      <p:cBhvr>
                                        <p:cTn id="42" dur="1" fill="hold">
                                          <p:stCondLst>
                                            <p:cond delay="0"/>
                                          </p:stCondLst>
                                        </p:cTn>
                                        <p:tgtEl>
                                          <p:spTgt spid="49"/>
                                        </p:tgtEl>
                                        <p:attrNameLst>
                                          <p:attrName>style.visibility</p:attrName>
                                        </p:attrNameLst>
                                      </p:cBhvr>
                                      <p:to>
                                        <p:strVal val="visible"/>
                                      </p:to>
                                    </p:set>
                                    <p:animEffect transition="in" filter="fade">
                                      <p:cBhvr>
                                        <p:cTn id="43" dur="500"/>
                                        <p:tgtEl>
                                          <p:spTgt spid="49"/>
                                        </p:tgtEl>
                                      </p:cBhvr>
                                    </p:animEffect>
                                  </p:childTnLst>
                                </p:cTn>
                              </p:par>
                              <p:par>
                                <p:cTn id="44" presetID="22" presetClass="entr" presetSubtype="2" fill="hold" grpId="0" nodeType="withEffect">
                                  <p:stCondLst>
                                    <p:cond delay="700"/>
                                  </p:stCondLst>
                                  <p:childTnLst>
                                    <p:set>
                                      <p:cBhvr>
                                        <p:cTn id="45" dur="1" fill="hold">
                                          <p:stCondLst>
                                            <p:cond delay="0"/>
                                          </p:stCondLst>
                                        </p:cTn>
                                        <p:tgtEl>
                                          <p:spTgt spid="15"/>
                                        </p:tgtEl>
                                        <p:attrNameLst>
                                          <p:attrName>style.visibility</p:attrName>
                                        </p:attrNameLst>
                                      </p:cBhvr>
                                      <p:to>
                                        <p:strVal val="visible"/>
                                      </p:to>
                                    </p:set>
                                    <p:animEffect transition="in" filter="wipe(right)">
                                      <p:cBhvr>
                                        <p:cTn id="46" dur="500"/>
                                        <p:tgtEl>
                                          <p:spTgt spid="15"/>
                                        </p:tgtEl>
                                      </p:cBhvr>
                                    </p:animEffect>
                                  </p:childTnLst>
                                </p:cTn>
                              </p:par>
                              <p:par>
                                <p:cTn id="47" presetID="22" presetClass="entr" presetSubtype="2" fill="hold" grpId="0" nodeType="withEffect">
                                  <p:stCondLst>
                                    <p:cond delay="800"/>
                                  </p:stCondLst>
                                  <p:childTnLst>
                                    <p:set>
                                      <p:cBhvr>
                                        <p:cTn id="48" dur="1" fill="hold">
                                          <p:stCondLst>
                                            <p:cond delay="0"/>
                                          </p:stCondLst>
                                        </p:cTn>
                                        <p:tgtEl>
                                          <p:spTgt spid="30"/>
                                        </p:tgtEl>
                                        <p:attrNameLst>
                                          <p:attrName>style.visibility</p:attrName>
                                        </p:attrNameLst>
                                      </p:cBhvr>
                                      <p:to>
                                        <p:strVal val="visible"/>
                                      </p:to>
                                    </p:set>
                                    <p:animEffect transition="in" filter="wipe(right)">
                                      <p:cBhvr>
                                        <p:cTn id="49" dur="500"/>
                                        <p:tgtEl>
                                          <p:spTgt spid="30"/>
                                        </p:tgtEl>
                                      </p:cBhvr>
                                    </p:animEffect>
                                  </p:childTnLst>
                                </p:cTn>
                              </p:par>
                              <p:par>
                                <p:cTn id="50" presetID="23" presetClass="entr" presetSubtype="272" fill="hold" nodeType="withEffect">
                                  <p:stCondLst>
                                    <p:cond delay="0"/>
                                  </p:stCondLst>
                                  <p:childTnLst>
                                    <p:set>
                                      <p:cBhvr>
                                        <p:cTn id="51" dur="1" fill="hold">
                                          <p:stCondLst>
                                            <p:cond delay="0"/>
                                          </p:stCondLst>
                                        </p:cTn>
                                        <p:tgtEl>
                                          <p:spTgt spid="62"/>
                                        </p:tgtEl>
                                        <p:attrNameLst>
                                          <p:attrName>style.visibility</p:attrName>
                                        </p:attrNameLst>
                                      </p:cBhvr>
                                      <p:to>
                                        <p:strVal val="visible"/>
                                      </p:to>
                                    </p:set>
                                    <p:anim calcmode="lin" valueType="num">
                                      <p:cBhvr>
                                        <p:cTn id="52" dur="250" fill="hold"/>
                                        <p:tgtEl>
                                          <p:spTgt spid="62"/>
                                        </p:tgtEl>
                                        <p:attrNameLst>
                                          <p:attrName>ppt_w</p:attrName>
                                        </p:attrNameLst>
                                      </p:cBhvr>
                                      <p:tavLst>
                                        <p:tav tm="0">
                                          <p:val>
                                            <p:strVal val="2/3*#ppt_w"/>
                                          </p:val>
                                        </p:tav>
                                        <p:tav tm="100000">
                                          <p:val>
                                            <p:strVal val="#ppt_w"/>
                                          </p:val>
                                        </p:tav>
                                      </p:tavLst>
                                    </p:anim>
                                    <p:anim calcmode="lin" valueType="num">
                                      <p:cBhvr>
                                        <p:cTn id="53" dur="250" fill="hold"/>
                                        <p:tgtEl>
                                          <p:spTgt spid="62"/>
                                        </p:tgtEl>
                                        <p:attrNameLst>
                                          <p:attrName>ppt_h</p:attrName>
                                        </p:attrNameLst>
                                      </p:cBhvr>
                                      <p:tavLst>
                                        <p:tav tm="0">
                                          <p:val>
                                            <p:strVal val="2/3*#ppt_h"/>
                                          </p:val>
                                        </p:tav>
                                        <p:tav tm="100000">
                                          <p:val>
                                            <p:strVal val="#ppt_h"/>
                                          </p:val>
                                        </p:tav>
                                      </p:tavLst>
                                    </p:anim>
                                  </p:childTnLst>
                                </p:cTn>
                              </p:par>
                              <p:par>
                                <p:cTn id="54" presetID="10" presetClass="entr" presetSubtype="0" fill="hold" nodeType="with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fade">
                                      <p:cBhvr>
                                        <p:cTn id="56" dur="500"/>
                                        <p:tgtEl>
                                          <p:spTgt spid="62"/>
                                        </p:tgtEl>
                                      </p:cBhvr>
                                    </p:animEffect>
                                  </p:childTnLst>
                                </p:cTn>
                              </p:par>
                              <p:par>
                                <p:cTn id="57" presetID="6" presetClass="emph" presetSubtype="0" fill="hold" nodeType="withEffect">
                                  <p:stCondLst>
                                    <p:cond delay="0"/>
                                  </p:stCondLst>
                                  <p:childTnLst>
                                    <p:animScale>
                                      <p:cBhvr>
                                        <p:cTn id="58" dur="10" fill="hold"/>
                                        <p:tgtEl>
                                          <p:spTgt spid="62"/>
                                        </p:tgtEl>
                                      </p:cBhvr>
                                      <p:by x="80000" y="80000"/>
                                    </p:animScale>
                                  </p:childTnLst>
                                </p:cTn>
                              </p:par>
                              <p:par>
                                <p:cTn id="59" presetID="6" presetClass="emph" presetSubtype="0" decel="100000" fill="hold" nodeType="withEffect">
                                  <p:stCondLst>
                                    <p:cond delay="0"/>
                                  </p:stCondLst>
                                  <p:childTnLst>
                                    <p:animScale>
                                      <p:cBhvr>
                                        <p:cTn id="60" dur="1000" fill="hold"/>
                                        <p:tgtEl>
                                          <p:spTgt spid="62"/>
                                        </p:tgtEl>
                                      </p:cBhvr>
                                      <p:by x="125000" y="125000"/>
                                    </p:animScale>
                                  </p:childTnLst>
                                </p:cTn>
                              </p:par>
                              <p:par>
                                <p:cTn id="61" presetID="10"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4" presetID="23" presetClass="entr" presetSubtype="272" fill="hold" nodeType="withEffect">
                                  <p:stCondLst>
                                    <p:cond delay="200"/>
                                  </p:stCondLst>
                                  <p:childTnLst>
                                    <p:set>
                                      <p:cBhvr>
                                        <p:cTn id="65" dur="1" fill="hold">
                                          <p:stCondLst>
                                            <p:cond delay="0"/>
                                          </p:stCondLst>
                                        </p:cTn>
                                        <p:tgtEl>
                                          <p:spTgt spid="63"/>
                                        </p:tgtEl>
                                        <p:attrNameLst>
                                          <p:attrName>style.visibility</p:attrName>
                                        </p:attrNameLst>
                                      </p:cBhvr>
                                      <p:to>
                                        <p:strVal val="visible"/>
                                      </p:to>
                                    </p:set>
                                    <p:anim calcmode="lin" valueType="num">
                                      <p:cBhvr>
                                        <p:cTn id="66" dur="250" fill="hold"/>
                                        <p:tgtEl>
                                          <p:spTgt spid="63"/>
                                        </p:tgtEl>
                                        <p:attrNameLst>
                                          <p:attrName>ppt_w</p:attrName>
                                        </p:attrNameLst>
                                      </p:cBhvr>
                                      <p:tavLst>
                                        <p:tav tm="0">
                                          <p:val>
                                            <p:strVal val="2/3*#ppt_w"/>
                                          </p:val>
                                        </p:tav>
                                        <p:tav tm="100000">
                                          <p:val>
                                            <p:strVal val="#ppt_w"/>
                                          </p:val>
                                        </p:tav>
                                      </p:tavLst>
                                    </p:anim>
                                    <p:anim calcmode="lin" valueType="num">
                                      <p:cBhvr>
                                        <p:cTn id="67" dur="250" fill="hold"/>
                                        <p:tgtEl>
                                          <p:spTgt spid="63"/>
                                        </p:tgtEl>
                                        <p:attrNameLst>
                                          <p:attrName>ppt_h</p:attrName>
                                        </p:attrNameLst>
                                      </p:cBhvr>
                                      <p:tavLst>
                                        <p:tav tm="0">
                                          <p:val>
                                            <p:strVal val="2/3*#ppt_h"/>
                                          </p:val>
                                        </p:tav>
                                        <p:tav tm="100000">
                                          <p:val>
                                            <p:strVal val="#ppt_h"/>
                                          </p:val>
                                        </p:tav>
                                      </p:tavLst>
                                    </p:anim>
                                  </p:childTnLst>
                                </p:cTn>
                              </p:par>
                              <p:par>
                                <p:cTn id="68" presetID="10" presetClass="entr" presetSubtype="0" fill="hold" nodeType="withEffect">
                                  <p:stCondLst>
                                    <p:cond delay="20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500"/>
                                        <p:tgtEl>
                                          <p:spTgt spid="63"/>
                                        </p:tgtEl>
                                      </p:cBhvr>
                                    </p:animEffect>
                                  </p:childTnLst>
                                </p:cTn>
                              </p:par>
                              <p:par>
                                <p:cTn id="71" presetID="6" presetClass="emph" presetSubtype="0" fill="hold" nodeType="withEffect">
                                  <p:stCondLst>
                                    <p:cond delay="200"/>
                                  </p:stCondLst>
                                  <p:childTnLst>
                                    <p:animScale>
                                      <p:cBhvr>
                                        <p:cTn id="72" dur="10" fill="hold"/>
                                        <p:tgtEl>
                                          <p:spTgt spid="63"/>
                                        </p:tgtEl>
                                      </p:cBhvr>
                                      <p:by x="80000" y="80000"/>
                                    </p:animScale>
                                  </p:childTnLst>
                                </p:cTn>
                              </p:par>
                              <p:par>
                                <p:cTn id="73" presetID="6" presetClass="emph" presetSubtype="0" decel="100000" fill="hold" nodeType="withEffect">
                                  <p:stCondLst>
                                    <p:cond delay="200"/>
                                  </p:stCondLst>
                                  <p:childTnLst>
                                    <p:animScale>
                                      <p:cBhvr>
                                        <p:cTn id="74" dur="1000" fill="hold"/>
                                        <p:tgtEl>
                                          <p:spTgt spid="63"/>
                                        </p:tgtEl>
                                      </p:cBhvr>
                                      <p:by x="125000" y="125000"/>
                                    </p:animScale>
                                  </p:childTnLst>
                                </p:cTn>
                              </p:par>
                              <p:par>
                                <p:cTn id="75" presetID="10" presetClass="entr" presetSubtype="0" fill="hold" grpId="0" nodeType="withEffect">
                                  <p:stCondLst>
                                    <p:cond delay="20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23" presetClass="entr" presetSubtype="272" fill="hold" nodeType="withEffect">
                                  <p:stCondLst>
                                    <p:cond delay="400"/>
                                  </p:stCondLst>
                                  <p:childTnLst>
                                    <p:set>
                                      <p:cBhvr>
                                        <p:cTn id="79" dur="1" fill="hold">
                                          <p:stCondLst>
                                            <p:cond delay="0"/>
                                          </p:stCondLst>
                                        </p:cTn>
                                        <p:tgtEl>
                                          <p:spTgt spid="64"/>
                                        </p:tgtEl>
                                        <p:attrNameLst>
                                          <p:attrName>style.visibility</p:attrName>
                                        </p:attrNameLst>
                                      </p:cBhvr>
                                      <p:to>
                                        <p:strVal val="visible"/>
                                      </p:to>
                                    </p:set>
                                    <p:anim calcmode="lin" valueType="num">
                                      <p:cBhvr>
                                        <p:cTn id="80" dur="250" fill="hold"/>
                                        <p:tgtEl>
                                          <p:spTgt spid="64"/>
                                        </p:tgtEl>
                                        <p:attrNameLst>
                                          <p:attrName>ppt_w</p:attrName>
                                        </p:attrNameLst>
                                      </p:cBhvr>
                                      <p:tavLst>
                                        <p:tav tm="0">
                                          <p:val>
                                            <p:strVal val="2/3*#ppt_w"/>
                                          </p:val>
                                        </p:tav>
                                        <p:tav tm="100000">
                                          <p:val>
                                            <p:strVal val="#ppt_w"/>
                                          </p:val>
                                        </p:tav>
                                      </p:tavLst>
                                    </p:anim>
                                    <p:anim calcmode="lin" valueType="num">
                                      <p:cBhvr>
                                        <p:cTn id="81" dur="250" fill="hold"/>
                                        <p:tgtEl>
                                          <p:spTgt spid="64"/>
                                        </p:tgtEl>
                                        <p:attrNameLst>
                                          <p:attrName>ppt_h</p:attrName>
                                        </p:attrNameLst>
                                      </p:cBhvr>
                                      <p:tavLst>
                                        <p:tav tm="0">
                                          <p:val>
                                            <p:strVal val="2/3*#ppt_h"/>
                                          </p:val>
                                        </p:tav>
                                        <p:tav tm="100000">
                                          <p:val>
                                            <p:strVal val="#ppt_h"/>
                                          </p:val>
                                        </p:tav>
                                      </p:tavLst>
                                    </p:anim>
                                  </p:childTnLst>
                                </p:cTn>
                              </p:par>
                              <p:par>
                                <p:cTn id="82" presetID="10" presetClass="entr" presetSubtype="0" fill="hold" nodeType="withEffect">
                                  <p:stCondLst>
                                    <p:cond delay="400"/>
                                  </p:stCondLst>
                                  <p:childTnLst>
                                    <p:set>
                                      <p:cBhvr>
                                        <p:cTn id="83" dur="1" fill="hold">
                                          <p:stCondLst>
                                            <p:cond delay="0"/>
                                          </p:stCondLst>
                                        </p:cTn>
                                        <p:tgtEl>
                                          <p:spTgt spid="64"/>
                                        </p:tgtEl>
                                        <p:attrNameLst>
                                          <p:attrName>style.visibility</p:attrName>
                                        </p:attrNameLst>
                                      </p:cBhvr>
                                      <p:to>
                                        <p:strVal val="visible"/>
                                      </p:to>
                                    </p:set>
                                    <p:animEffect transition="in" filter="fade">
                                      <p:cBhvr>
                                        <p:cTn id="84" dur="500"/>
                                        <p:tgtEl>
                                          <p:spTgt spid="64"/>
                                        </p:tgtEl>
                                      </p:cBhvr>
                                    </p:animEffect>
                                  </p:childTnLst>
                                </p:cTn>
                              </p:par>
                              <p:par>
                                <p:cTn id="85" presetID="6" presetClass="emph" presetSubtype="0" fill="hold" nodeType="withEffect">
                                  <p:stCondLst>
                                    <p:cond delay="400"/>
                                  </p:stCondLst>
                                  <p:childTnLst>
                                    <p:animScale>
                                      <p:cBhvr>
                                        <p:cTn id="86" dur="10" fill="hold"/>
                                        <p:tgtEl>
                                          <p:spTgt spid="64"/>
                                        </p:tgtEl>
                                      </p:cBhvr>
                                      <p:by x="80000" y="80000"/>
                                    </p:animScale>
                                  </p:childTnLst>
                                </p:cTn>
                              </p:par>
                              <p:par>
                                <p:cTn id="87" presetID="6" presetClass="emph" presetSubtype="0" decel="100000" fill="hold" nodeType="withEffect">
                                  <p:stCondLst>
                                    <p:cond delay="400"/>
                                  </p:stCondLst>
                                  <p:childTnLst>
                                    <p:animScale>
                                      <p:cBhvr>
                                        <p:cTn id="88" dur="1000" fill="hold"/>
                                        <p:tgtEl>
                                          <p:spTgt spid="64"/>
                                        </p:tgtEl>
                                      </p:cBhvr>
                                      <p:by x="125000" y="125000"/>
                                    </p:animScale>
                                  </p:childTnLst>
                                </p:cTn>
                              </p:par>
                              <p:par>
                                <p:cTn id="89" presetID="10" presetClass="entr" presetSubtype="0" fill="hold" grpId="0" nodeType="withEffect">
                                  <p:stCondLst>
                                    <p:cond delay="40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500"/>
                                        <p:tgtEl>
                                          <p:spTgt spid="37"/>
                                        </p:tgtEl>
                                      </p:cBhvr>
                                    </p:animEffect>
                                  </p:childTnLst>
                                </p:cTn>
                              </p:par>
                              <p:par>
                                <p:cTn id="92" presetID="10" presetClass="entr" presetSubtype="0" fill="hold" grpId="0" nodeType="withEffect">
                                  <p:stCondLst>
                                    <p:cond delay="40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500"/>
                                        <p:tgtEl>
                                          <p:spTgt spid="40"/>
                                        </p:tgtEl>
                                      </p:cBhvr>
                                    </p:animEffect>
                                  </p:childTnLst>
                                </p:cTn>
                              </p:par>
                              <p:par>
                                <p:cTn id="95" presetID="10" presetClass="entr" presetSubtype="0" fill="hold" grpId="0" nodeType="withEffect">
                                  <p:stCondLst>
                                    <p:cond delay="40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500"/>
                                        <p:tgtEl>
                                          <p:spTgt spid="41"/>
                                        </p:tgtEl>
                                      </p:cBhvr>
                                    </p:animEffect>
                                  </p:childTnLst>
                                </p:cTn>
                              </p:par>
                              <p:par>
                                <p:cTn id="98" presetID="10" presetClass="entr" presetSubtype="0" fill="hold" grpId="0" nodeType="withEffect">
                                  <p:stCondLst>
                                    <p:cond delay="40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childTnLst>
                                </p:cTn>
                              </p:par>
                              <p:par>
                                <p:cTn id="101" presetID="10" presetClass="entr" presetSubtype="0" fill="hold" grpId="0" nodeType="withEffect">
                                  <p:stCondLst>
                                    <p:cond delay="4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4" presetID="10" presetClass="entr" presetSubtype="0" fill="hold" grpId="0" nodeType="withEffect">
                                  <p:stCondLst>
                                    <p:cond delay="400"/>
                                  </p:stCondLst>
                                  <p:childTnLst>
                                    <p:set>
                                      <p:cBhvr>
                                        <p:cTn id="105" dur="1" fill="hold">
                                          <p:stCondLst>
                                            <p:cond delay="0"/>
                                          </p:stCondLst>
                                        </p:cTn>
                                        <p:tgtEl>
                                          <p:spTgt spid="17"/>
                                        </p:tgtEl>
                                        <p:attrNameLst>
                                          <p:attrName>style.visibility</p:attrName>
                                        </p:attrNameLst>
                                      </p:cBhvr>
                                      <p:to>
                                        <p:strVal val="visible"/>
                                      </p:to>
                                    </p:set>
                                    <p:animEffect transition="in" filter="fade">
                                      <p:cBhvr>
                                        <p:cTn id="106" dur="500"/>
                                        <p:tgtEl>
                                          <p:spTgt spid="17"/>
                                        </p:tgtEl>
                                      </p:cBhvr>
                                    </p:animEffect>
                                  </p:childTnLst>
                                </p:cTn>
                              </p:par>
                              <p:par>
                                <p:cTn id="107" presetID="10" presetClass="entr" presetSubtype="0" fill="hold" grpId="0" nodeType="withEffect">
                                  <p:stCondLst>
                                    <p:cond delay="40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09" dur="500"/>
                                        <p:tgtEl>
                                          <p:spTgt spid="28"/>
                                        </p:tgtEl>
                                      </p:cBhvr>
                                    </p:animEffect>
                                  </p:childTnLst>
                                </p:cTn>
                              </p:par>
                              <p:par>
                                <p:cTn id="110" presetID="10" presetClass="entr" presetSubtype="0" fill="hold" grpId="0" nodeType="withEffect">
                                  <p:stCondLst>
                                    <p:cond delay="400"/>
                                  </p:stCondLst>
                                  <p:childTnLst>
                                    <p:set>
                                      <p:cBhvr>
                                        <p:cTn id="111" dur="1" fill="hold">
                                          <p:stCondLst>
                                            <p:cond delay="0"/>
                                          </p:stCondLst>
                                        </p:cTn>
                                        <p:tgtEl>
                                          <p:spTgt spid="3"/>
                                        </p:tgtEl>
                                        <p:attrNameLst>
                                          <p:attrName>style.visibility</p:attrName>
                                        </p:attrNameLst>
                                      </p:cBhvr>
                                      <p:to>
                                        <p:strVal val="visible"/>
                                      </p:to>
                                    </p:set>
                                    <p:animEffect transition="in" filter="fade">
                                      <p:cBhvr>
                                        <p:cTn id="112" dur="500"/>
                                        <p:tgtEl>
                                          <p:spTgt spid="3"/>
                                        </p:tgtEl>
                                      </p:cBhvr>
                                    </p:animEffect>
                                  </p:childTnLst>
                                </p:cTn>
                              </p:par>
                              <p:par>
                                <p:cTn id="113" presetID="10" presetClass="entr" presetSubtype="0" fill="hold" nodeType="withEffect">
                                  <p:stCondLst>
                                    <p:cond delay="400"/>
                                  </p:stCondLst>
                                  <p:childTnLst>
                                    <p:set>
                                      <p:cBhvr>
                                        <p:cTn id="114" dur="1" fill="hold">
                                          <p:stCondLst>
                                            <p:cond delay="0"/>
                                          </p:stCondLst>
                                        </p:cTn>
                                        <p:tgtEl>
                                          <p:spTgt spid="4"/>
                                        </p:tgtEl>
                                        <p:attrNameLst>
                                          <p:attrName>style.visibility</p:attrName>
                                        </p:attrNameLst>
                                      </p:cBhvr>
                                      <p:to>
                                        <p:strVal val="visible"/>
                                      </p:to>
                                    </p:set>
                                    <p:animEffect transition="in" filter="fade">
                                      <p:cBhvr>
                                        <p:cTn id="115" dur="500"/>
                                        <p:tgtEl>
                                          <p:spTgt spid="4"/>
                                        </p:tgtEl>
                                      </p:cBhvr>
                                    </p:animEffect>
                                  </p:childTnLst>
                                </p:cTn>
                              </p:par>
                              <p:par>
                                <p:cTn id="116" presetID="22" presetClass="entr" presetSubtype="8" fill="hold" grpId="0" nodeType="withEffect">
                                  <p:stCondLst>
                                    <p:cond delay="400"/>
                                  </p:stCondLst>
                                  <p:childTnLst>
                                    <p:set>
                                      <p:cBhvr>
                                        <p:cTn id="117" dur="1" fill="hold">
                                          <p:stCondLst>
                                            <p:cond delay="0"/>
                                          </p:stCondLst>
                                        </p:cTn>
                                        <p:tgtEl>
                                          <p:spTgt spid="18"/>
                                        </p:tgtEl>
                                        <p:attrNameLst>
                                          <p:attrName>style.visibility</p:attrName>
                                        </p:attrNameLst>
                                      </p:cBhvr>
                                      <p:to>
                                        <p:strVal val="visible"/>
                                      </p:to>
                                    </p:set>
                                    <p:animEffect transition="in" filter="wipe(left)">
                                      <p:cBhvr>
                                        <p:cTn id="118" dur="500"/>
                                        <p:tgtEl>
                                          <p:spTgt spid="18"/>
                                        </p:tgtEl>
                                      </p:cBhvr>
                                    </p:animEffect>
                                  </p:childTnLst>
                                </p:cTn>
                              </p:par>
                              <p:par>
                                <p:cTn id="119" presetID="22" presetClass="entr" presetSubtype="8" fill="hold" grpId="0" nodeType="withEffect">
                                  <p:stCondLst>
                                    <p:cond delay="500"/>
                                  </p:stCondLst>
                                  <p:childTnLst>
                                    <p:set>
                                      <p:cBhvr>
                                        <p:cTn id="120" dur="1" fill="hold">
                                          <p:stCondLst>
                                            <p:cond delay="0"/>
                                          </p:stCondLst>
                                        </p:cTn>
                                        <p:tgtEl>
                                          <p:spTgt spid="31"/>
                                        </p:tgtEl>
                                        <p:attrNameLst>
                                          <p:attrName>style.visibility</p:attrName>
                                        </p:attrNameLst>
                                      </p:cBhvr>
                                      <p:to>
                                        <p:strVal val="visible"/>
                                      </p:to>
                                    </p:set>
                                    <p:animEffect transition="in" filter="wipe(left)">
                                      <p:cBhvr>
                                        <p:cTn id="1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17" grpId="0"/>
      <p:bldP spid="24" grpId="0"/>
      <p:bldP spid="29" grpId="0"/>
      <p:bldP spid="31" grpId="0" animBg="1"/>
      <p:bldP spid="30" grpId="0" animBg="1"/>
      <p:bldP spid="18" grpId="0" animBg="1"/>
      <p:bldP spid="15" grpId="0" animBg="1"/>
      <p:bldP spid="47" grpId="0" animBg="1"/>
      <p:bldP spid="47" grpId="1" animBg="1"/>
      <p:bldP spid="47" grpId="2" animBg="1"/>
      <p:bldP spid="47" grpId="3" animBg="1"/>
      <p:bldP spid="3" grpId="0"/>
      <p:bldP spid="12" grpId="0"/>
      <p:bldP spid="23" grpId="0"/>
      <p:bldP spid="37" grpId="0"/>
      <p:bldP spid="40" grpId="0"/>
      <p:bldP spid="41" grpId="0" animBg="1"/>
      <p:bldP spid="48" grpId="0" animBg="1"/>
      <p:bldP spid="48" grpId="1" animBg="1"/>
      <p:bldP spid="48" grpId="2" animBg="1"/>
      <p:bldP spid="48" grpId="3" animBg="1"/>
      <p:bldP spid="51" grpId="0" animBg="1"/>
      <p:bldP spid="4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2D6D1F4E-DDFA-4E70-2EC1-A053A224FCF9}"/>
              </a:ext>
            </a:extLst>
          </p:cNvPr>
          <p:cNvSpPr>
            <a:spLocks noGrp="1"/>
          </p:cNvSpPr>
          <p:nvPr>
            <p:ph type="title"/>
          </p:nvPr>
        </p:nvSpPr>
        <p:spPr>
          <a:xfrm>
            <a:off x="588263" y="740866"/>
            <a:ext cx="11018520" cy="501831"/>
          </a:xfrm>
        </p:spPr>
        <p:txBody>
          <a:bodyPr wrap="square">
            <a:spAutoFit/>
          </a:bodyPr>
          <a:lstStyle/>
          <a:p>
            <a:pPr algn="ctr"/>
            <a:r>
              <a:rPr lang="en-GB">
                <a:solidFill>
                  <a:schemeClr val="bg1"/>
                </a:solidFill>
              </a:rPr>
              <a:t>Azure Capabilities for Management</a:t>
            </a:r>
          </a:p>
        </p:txBody>
      </p:sp>
      <p:sp>
        <p:nvSpPr>
          <p:cNvPr id="45" name="Rectangle: Rounded Corners 44">
            <a:extLst>
              <a:ext uri="{FF2B5EF4-FFF2-40B4-BE49-F238E27FC236}">
                <a16:creationId xmlns:a16="http://schemas.microsoft.com/office/drawing/2014/main" id="{F8F819D6-A061-359E-60CE-1BB31E0E9A3C}"/>
              </a:ext>
            </a:extLst>
          </p:cNvPr>
          <p:cNvSpPr/>
          <p:nvPr/>
        </p:nvSpPr>
        <p:spPr bwMode="auto">
          <a:xfrm>
            <a:off x="6290853" y="4890175"/>
            <a:ext cx="2292524" cy="400649"/>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a:solidFill>
                  <a:srgbClr val="FFFFFF"/>
                </a:solidFill>
                <a:latin typeface="Segoe Sans Text ExtraBold" pitchFamily="2" charset="0"/>
                <a:cs typeface="Segoe Sans Text ExtraBold" pitchFamily="2" charset="0"/>
              </a:rPr>
              <a:t>APIM</a:t>
            </a:r>
          </a:p>
        </p:txBody>
      </p:sp>
      <p:sp>
        <p:nvSpPr>
          <p:cNvPr id="46" name="Rectangle: Rounded Corners 45">
            <a:extLst>
              <a:ext uri="{FF2B5EF4-FFF2-40B4-BE49-F238E27FC236}">
                <a16:creationId xmlns:a16="http://schemas.microsoft.com/office/drawing/2014/main" id="{E77C5FC4-0DB5-A595-BA89-5DEFA3859849}"/>
              </a:ext>
            </a:extLst>
          </p:cNvPr>
          <p:cNvSpPr/>
          <p:nvPr/>
        </p:nvSpPr>
        <p:spPr bwMode="auto">
          <a:xfrm>
            <a:off x="7755591" y="3355920"/>
            <a:ext cx="2292524" cy="400649"/>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a:solidFill>
                  <a:srgbClr val="FFFFFF"/>
                </a:solidFill>
                <a:latin typeface="Segoe Sans Text ExtraBold" pitchFamily="2" charset="0"/>
                <a:cs typeface="Segoe Sans Text ExtraBold" pitchFamily="2" charset="0"/>
              </a:rPr>
              <a:t>Azure AI Foundry</a:t>
            </a:r>
          </a:p>
        </p:txBody>
      </p:sp>
      <p:sp>
        <p:nvSpPr>
          <p:cNvPr id="47" name="Rectangle: Rounded Corners 46">
            <a:extLst>
              <a:ext uri="{FF2B5EF4-FFF2-40B4-BE49-F238E27FC236}">
                <a16:creationId xmlns:a16="http://schemas.microsoft.com/office/drawing/2014/main" id="{6E94388F-29DD-ED52-C203-E5F4CDC9ACB9}"/>
              </a:ext>
            </a:extLst>
          </p:cNvPr>
          <p:cNvSpPr/>
          <p:nvPr/>
        </p:nvSpPr>
        <p:spPr bwMode="auto">
          <a:xfrm>
            <a:off x="3758228" y="4920552"/>
            <a:ext cx="2292524" cy="400649"/>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a:solidFill>
                  <a:srgbClr val="FFFFFF"/>
                </a:solidFill>
                <a:latin typeface="Segoe Sans Text ExtraBold" pitchFamily="2" charset="0"/>
                <a:cs typeface="Segoe Sans Text ExtraBold" pitchFamily="2" charset="0"/>
              </a:rPr>
              <a:t>Policies</a:t>
            </a:r>
          </a:p>
        </p:txBody>
      </p:sp>
      <p:sp>
        <p:nvSpPr>
          <p:cNvPr id="51" name="Title 3">
            <a:extLst>
              <a:ext uri="{FF2B5EF4-FFF2-40B4-BE49-F238E27FC236}">
                <a16:creationId xmlns:a16="http://schemas.microsoft.com/office/drawing/2014/main" id="{B4C91998-A52F-EABC-30EF-3C3EF328B314}"/>
              </a:ext>
            </a:extLst>
          </p:cNvPr>
          <p:cNvSpPr txBox="1">
            <a:spLocks/>
          </p:cNvSpPr>
          <p:nvPr/>
        </p:nvSpPr>
        <p:spPr>
          <a:xfrm>
            <a:off x="3758228" y="5481328"/>
            <a:ext cx="2292524" cy="215444"/>
          </a:xfrm>
          <a:prstGeom prst="rect">
            <a:avLst/>
          </a:prstGeom>
          <a:noFill/>
        </p:spPr>
        <p:txBody>
          <a:bodyPr vert="horz" wrap="square" lIns="0" tIns="0" rIns="0" bIns="0" rtlCol="0" anchor="t"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pPr algn="ctr" fontAlgn="base">
              <a:spcAft>
                <a:spcPct val="0"/>
              </a:spcAft>
            </a:pPr>
            <a:r>
              <a:rPr lang="en-GB" sz="1400">
                <a:solidFill>
                  <a:schemeClr val="bg1"/>
                </a:solidFill>
                <a:latin typeface="+mn-lt"/>
              </a:rPr>
              <a:t>For all Azure AI Services</a:t>
            </a:r>
          </a:p>
        </p:txBody>
      </p:sp>
      <p:sp>
        <p:nvSpPr>
          <p:cNvPr id="53" name="Title 3">
            <a:extLst>
              <a:ext uri="{FF2B5EF4-FFF2-40B4-BE49-F238E27FC236}">
                <a16:creationId xmlns:a16="http://schemas.microsoft.com/office/drawing/2014/main" id="{56811CF7-96ED-E084-F2F9-3DFB75BC85D7}"/>
              </a:ext>
            </a:extLst>
          </p:cNvPr>
          <p:cNvSpPr txBox="1">
            <a:spLocks/>
          </p:cNvSpPr>
          <p:nvPr/>
        </p:nvSpPr>
        <p:spPr>
          <a:xfrm>
            <a:off x="7755591" y="3904989"/>
            <a:ext cx="2292524" cy="184666"/>
          </a:xfrm>
          <a:prstGeom prst="rect">
            <a:avLst/>
          </a:prstGeom>
          <a:noFill/>
        </p:spPr>
        <p:txBody>
          <a:bodyPr vert="horz" wrap="square" lIns="0" tIns="0" rIns="0" bIns="0" rtlCol="0" anchor="t"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pPr algn="ctr" fontAlgn="base">
              <a:spcAft>
                <a:spcPct val="0"/>
              </a:spcAft>
            </a:pPr>
            <a:r>
              <a:rPr lang="en-GB" sz="1200">
                <a:solidFill>
                  <a:schemeClr val="bg1"/>
                </a:solidFill>
                <a:latin typeface="+mn-lt"/>
              </a:rPr>
              <a:t>Management </a:t>
            </a:r>
            <a:r>
              <a:rPr lang="en-GB" sz="1200" err="1">
                <a:solidFill>
                  <a:schemeClr val="bg1"/>
                </a:solidFill>
                <a:latin typeface="+mn-lt"/>
              </a:rPr>
              <a:t>Center</a:t>
            </a:r>
            <a:endParaRPr lang="en-GB" sz="1200">
              <a:solidFill>
                <a:schemeClr val="bg1"/>
              </a:solidFill>
              <a:latin typeface="+mn-lt"/>
            </a:endParaRPr>
          </a:p>
        </p:txBody>
      </p:sp>
      <p:sp>
        <p:nvSpPr>
          <p:cNvPr id="54" name="Title 3">
            <a:extLst>
              <a:ext uri="{FF2B5EF4-FFF2-40B4-BE49-F238E27FC236}">
                <a16:creationId xmlns:a16="http://schemas.microsoft.com/office/drawing/2014/main" id="{80CE4D4C-E7BE-B7D6-59D6-97AFD9573CF4}"/>
              </a:ext>
            </a:extLst>
          </p:cNvPr>
          <p:cNvSpPr txBox="1">
            <a:spLocks/>
          </p:cNvSpPr>
          <p:nvPr/>
        </p:nvSpPr>
        <p:spPr>
          <a:xfrm>
            <a:off x="6290853" y="5478041"/>
            <a:ext cx="2292524" cy="969496"/>
          </a:xfrm>
          <a:prstGeom prst="rect">
            <a:avLst/>
          </a:prstGeom>
          <a:noFill/>
        </p:spPr>
        <p:txBody>
          <a:bodyPr vert="horz" wrap="square" lIns="0" tIns="0" rIns="0" bIns="0" rtlCol="0" anchor="t"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pPr algn="ctr" fontAlgn="base">
              <a:spcAft>
                <a:spcPts val="600"/>
              </a:spcAft>
            </a:pPr>
            <a:r>
              <a:rPr lang="en-GB" sz="1200">
                <a:solidFill>
                  <a:schemeClr val="bg1"/>
                </a:solidFill>
                <a:latin typeface="+mn-lt"/>
              </a:rPr>
              <a:t>Authentication Control</a:t>
            </a:r>
          </a:p>
          <a:p>
            <a:pPr algn="ctr" fontAlgn="base">
              <a:spcAft>
                <a:spcPts val="600"/>
              </a:spcAft>
            </a:pPr>
            <a:r>
              <a:rPr lang="en-GB" sz="1200">
                <a:solidFill>
                  <a:schemeClr val="bg1"/>
                </a:solidFill>
                <a:latin typeface="+mn-lt"/>
              </a:rPr>
              <a:t>Quota Control</a:t>
            </a:r>
          </a:p>
          <a:p>
            <a:pPr algn="ctr" fontAlgn="base">
              <a:spcAft>
                <a:spcPts val="600"/>
              </a:spcAft>
            </a:pPr>
            <a:r>
              <a:rPr lang="en-GB" sz="1200">
                <a:solidFill>
                  <a:schemeClr val="bg1"/>
                </a:solidFill>
                <a:latin typeface="+mn-lt"/>
              </a:rPr>
              <a:t>AI Services Consumption Control</a:t>
            </a:r>
          </a:p>
          <a:p>
            <a:pPr algn="ctr" fontAlgn="base">
              <a:spcAft>
                <a:spcPts val="600"/>
              </a:spcAft>
            </a:pPr>
            <a:r>
              <a:rPr lang="en-GB" sz="1200">
                <a:solidFill>
                  <a:schemeClr val="bg1"/>
                </a:solidFill>
                <a:latin typeface="+mn-lt"/>
              </a:rPr>
              <a:t>Etc.</a:t>
            </a:r>
          </a:p>
        </p:txBody>
      </p:sp>
      <p:grpSp>
        <p:nvGrpSpPr>
          <p:cNvPr id="103" name="Group 102">
            <a:extLst>
              <a:ext uri="{FF2B5EF4-FFF2-40B4-BE49-F238E27FC236}">
                <a16:creationId xmlns:a16="http://schemas.microsoft.com/office/drawing/2014/main" id="{73E1CB21-AD3B-FA2B-E410-63E36E5A37A6}"/>
              </a:ext>
            </a:extLst>
          </p:cNvPr>
          <p:cNvGrpSpPr/>
          <p:nvPr/>
        </p:nvGrpSpPr>
        <p:grpSpPr>
          <a:xfrm>
            <a:off x="4493650" y="3762825"/>
            <a:ext cx="1052808" cy="1052890"/>
            <a:chOff x="3010291" y="1639035"/>
            <a:chExt cx="1052808" cy="1052890"/>
          </a:xfrm>
        </p:grpSpPr>
        <p:grpSp>
          <p:nvGrpSpPr>
            <p:cNvPr id="14" name="Group 13">
              <a:extLst>
                <a:ext uri="{FF2B5EF4-FFF2-40B4-BE49-F238E27FC236}">
                  <a16:creationId xmlns:a16="http://schemas.microsoft.com/office/drawing/2014/main" id="{89DE0A61-924D-5947-E809-7D6C4E6B9DE2}"/>
                </a:ext>
              </a:extLst>
            </p:cNvPr>
            <p:cNvGrpSpPr/>
            <p:nvPr/>
          </p:nvGrpSpPr>
          <p:grpSpPr>
            <a:xfrm>
              <a:off x="3010291" y="1639035"/>
              <a:ext cx="1052808" cy="1052890"/>
              <a:chOff x="3471960" y="3801459"/>
              <a:chExt cx="812800" cy="812864"/>
            </a:xfrm>
          </p:grpSpPr>
          <p:grpSp>
            <p:nvGrpSpPr>
              <p:cNvPr id="15" name="Group 14">
                <a:extLst>
                  <a:ext uri="{FF2B5EF4-FFF2-40B4-BE49-F238E27FC236}">
                    <a16:creationId xmlns:a16="http://schemas.microsoft.com/office/drawing/2014/main" id="{04E8A0E6-71EC-0B33-9500-425AA578A3BA}"/>
                  </a:ext>
                </a:extLst>
              </p:cNvPr>
              <p:cNvGrpSpPr>
                <a:grpSpLocks/>
              </p:cNvGrpSpPr>
              <p:nvPr/>
            </p:nvGrpSpPr>
            <p:grpSpPr>
              <a:xfrm>
                <a:off x="3471960" y="3801459"/>
                <a:ext cx="812800" cy="812864"/>
                <a:chOff x="556578" y="1051172"/>
                <a:chExt cx="2591837" cy="6187827"/>
              </a:xfrm>
            </p:grpSpPr>
            <p:sp useBgFill="1">
              <p:nvSpPr>
                <p:cNvPr id="17" name="Rectangle: Rounded Corners 6">
                  <a:extLst>
                    <a:ext uri="{FF2B5EF4-FFF2-40B4-BE49-F238E27FC236}">
                      <a16:creationId xmlns:a16="http://schemas.microsoft.com/office/drawing/2014/main" id="{012334E8-E1F5-83DD-7436-6728FA842FB0}"/>
                    </a:ext>
                  </a:extLst>
                </p:cNvPr>
                <p:cNvSpPr/>
                <p:nvPr/>
              </p:nvSpPr>
              <p:spPr bwMode="auto">
                <a:xfrm>
                  <a:off x="556578" y="1051172"/>
                  <a:ext cx="2591837" cy="6187827"/>
                </a:xfrm>
                <a:prstGeom prst="ellipse">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8" name="Rectangle: Rounded Corners 7">
                  <a:extLst>
                    <a:ext uri="{FF2B5EF4-FFF2-40B4-BE49-F238E27FC236}">
                      <a16:creationId xmlns:a16="http://schemas.microsoft.com/office/drawing/2014/main" id="{E3888A3D-BCA9-5BDD-150F-BC300FB0746C}"/>
                    </a:ext>
                  </a:extLst>
                </p:cNvPr>
                <p:cNvSpPr/>
                <p:nvPr/>
              </p:nvSpPr>
              <p:spPr bwMode="auto">
                <a:xfrm>
                  <a:off x="556578" y="1051172"/>
                  <a:ext cx="2591837" cy="6187827"/>
                </a:xfrm>
                <a:prstGeom prst="ellipse">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16" name="Rectangle: Rounded Corners 15">
                <a:extLst>
                  <a:ext uri="{FF2B5EF4-FFF2-40B4-BE49-F238E27FC236}">
                    <a16:creationId xmlns:a16="http://schemas.microsoft.com/office/drawing/2014/main" id="{7684786E-FACC-CB36-4AF3-A1B002C25666}"/>
                  </a:ext>
                </a:extLst>
              </p:cNvPr>
              <p:cNvSpPr/>
              <p:nvPr/>
            </p:nvSpPr>
            <p:spPr bwMode="auto">
              <a:xfrm>
                <a:off x="3584101" y="3913634"/>
                <a:ext cx="588518" cy="588518"/>
              </a:xfrm>
              <a:prstGeom prst="roundRect">
                <a:avLst>
                  <a:gd name="adj" fmla="val 50000"/>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defTabSz="932472" fontAlgn="base">
                  <a:spcBef>
                    <a:spcPct val="0"/>
                  </a:spcBef>
                  <a:spcAft>
                    <a:spcPct val="0"/>
                  </a:spcAft>
                </a:pPr>
                <a:endParaRPr kumimoji="0" lang="en-US" sz="2800" b="0" i="0" u="none" strike="noStrike" kern="1200" cap="none" spc="0" normalizeH="0" baseline="0" noProof="0">
                  <a:ln>
                    <a:noFill/>
                  </a:ln>
                  <a:solidFill>
                    <a:srgbClr val="FFFFFF"/>
                  </a:solidFill>
                  <a:effectLst/>
                  <a:uLnTx/>
                  <a:uFillTx/>
                  <a:latin typeface="Segoe Sans Text ExtraBold" pitchFamily="2" charset="0"/>
                  <a:ea typeface="+mn-ea"/>
                  <a:cs typeface="Segoe Sans Text ExtraBold" pitchFamily="2" charset="0"/>
                </a:endParaRPr>
              </a:p>
            </p:txBody>
          </p:sp>
        </p:grpSp>
        <p:pic>
          <p:nvPicPr>
            <p:cNvPr id="63" name="Graphic 62">
              <a:extLst>
                <a:ext uri="{FF2B5EF4-FFF2-40B4-BE49-F238E27FC236}">
                  <a16:creationId xmlns:a16="http://schemas.microsoft.com/office/drawing/2014/main" id="{FDB27CF7-E55A-F753-26CB-04A460A1DF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8935" y="1955309"/>
              <a:ext cx="434119" cy="434119"/>
            </a:xfrm>
            <a:prstGeom prst="rect">
              <a:avLst/>
            </a:prstGeom>
          </p:spPr>
        </p:pic>
      </p:grpSp>
      <p:grpSp>
        <p:nvGrpSpPr>
          <p:cNvPr id="104" name="Group 103">
            <a:extLst>
              <a:ext uri="{FF2B5EF4-FFF2-40B4-BE49-F238E27FC236}">
                <a16:creationId xmlns:a16="http://schemas.microsoft.com/office/drawing/2014/main" id="{DEF4E1C5-7F34-A1F4-C30C-540861F75BA3}"/>
              </a:ext>
            </a:extLst>
          </p:cNvPr>
          <p:cNvGrpSpPr/>
          <p:nvPr/>
        </p:nvGrpSpPr>
        <p:grpSpPr>
          <a:xfrm>
            <a:off x="6639776" y="3744425"/>
            <a:ext cx="1052808" cy="1052890"/>
            <a:chOff x="5569596" y="2717913"/>
            <a:chExt cx="1052808" cy="1052890"/>
          </a:xfrm>
        </p:grpSpPr>
        <p:grpSp>
          <p:nvGrpSpPr>
            <p:cNvPr id="13" name="Group 12">
              <a:extLst>
                <a:ext uri="{FF2B5EF4-FFF2-40B4-BE49-F238E27FC236}">
                  <a16:creationId xmlns:a16="http://schemas.microsoft.com/office/drawing/2014/main" id="{CD8C63C7-A0F1-9C30-4A86-951195D6593C}"/>
                </a:ext>
              </a:extLst>
            </p:cNvPr>
            <p:cNvGrpSpPr/>
            <p:nvPr/>
          </p:nvGrpSpPr>
          <p:grpSpPr>
            <a:xfrm>
              <a:off x="5569596" y="2717913"/>
              <a:ext cx="1052808" cy="1052890"/>
              <a:chOff x="3471960" y="3801459"/>
              <a:chExt cx="812800" cy="812864"/>
            </a:xfrm>
          </p:grpSpPr>
          <p:grpSp>
            <p:nvGrpSpPr>
              <p:cNvPr id="9" name="Group 8">
                <a:extLst>
                  <a:ext uri="{FF2B5EF4-FFF2-40B4-BE49-F238E27FC236}">
                    <a16:creationId xmlns:a16="http://schemas.microsoft.com/office/drawing/2014/main" id="{2A037694-FBEC-4FFB-0084-2D5339F5F3B6}"/>
                  </a:ext>
                </a:extLst>
              </p:cNvPr>
              <p:cNvGrpSpPr>
                <a:grpSpLocks/>
              </p:cNvGrpSpPr>
              <p:nvPr/>
            </p:nvGrpSpPr>
            <p:grpSpPr>
              <a:xfrm>
                <a:off x="3471960" y="3801459"/>
                <a:ext cx="812800" cy="812864"/>
                <a:chOff x="556578" y="1051172"/>
                <a:chExt cx="2591837" cy="6187827"/>
              </a:xfrm>
            </p:grpSpPr>
            <p:sp useBgFill="1">
              <p:nvSpPr>
                <p:cNvPr id="10" name="Rectangle: Rounded Corners 6">
                  <a:extLst>
                    <a:ext uri="{FF2B5EF4-FFF2-40B4-BE49-F238E27FC236}">
                      <a16:creationId xmlns:a16="http://schemas.microsoft.com/office/drawing/2014/main" id="{524A54C9-C104-DA26-3B3A-A2FD7C1CFB21}"/>
                    </a:ext>
                  </a:extLst>
                </p:cNvPr>
                <p:cNvSpPr/>
                <p:nvPr/>
              </p:nvSpPr>
              <p:spPr bwMode="auto">
                <a:xfrm>
                  <a:off x="556578" y="1051172"/>
                  <a:ext cx="2591837" cy="6187827"/>
                </a:xfrm>
                <a:prstGeom prst="ellipse">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11" name="Rectangle: Rounded Corners 7">
                  <a:extLst>
                    <a:ext uri="{FF2B5EF4-FFF2-40B4-BE49-F238E27FC236}">
                      <a16:creationId xmlns:a16="http://schemas.microsoft.com/office/drawing/2014/main" id="{0102B6C0-A6A1-12CD-1EE4-EE746CDEF7A0}"/>
                    </a:ext>
                  </a:extLst>
                </p:cNvPr>
                <p:cNvSpPr/>
                <p:nvPr/>
              </p:nvSpPr>
              <p:spPr bwMode="auto">
                <a:xfrm>
                  <a:off x="556578" y="1051172"/>
                  <a:ext cx="2591837" cy="6187827"/>
                </a:xfrm>
                <a:prstGeom prst="ellipse">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12" name="Rectangle: Rounded Corners 11">
                <a:extLst>
                  <a:ext uri="{FF2B5EF4-FFF2-40B4-BE49-F238E27FC236}">
                    <a16:creationId xmlns:a16="http://schemas.microsoft.com/office/drawing/2014/main" id="{BB4BB665-A908-EF66-2325-E9E93664FB9C}"/>
                  </a:ext>
                </a:extLst>
              </p:cNvPr>
              <p:cNvSpPr/>
              <p:nvPr/>
            </p:nvSpPr>
            <p:spPr bwMode="auto">
              <a:xfrm>
                <a:off x="3584101" y="3913632"/>
                <a:ext cx="588518" cy="588518"/>
              </a:xfrm>
              <a:prstGeom prst="roundRect">
                <a:avLst>
                  <a:gd name="adj" fmla="val 50000"/>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defTabSz="932472" fontAlgn="base">
                  <a:spcBef>
                    <a:spcPct val="0"/>
                  </a:spcBef>
                  <a:spcAft>
                    <a:spcPct val="0"/>
                  </a:spcAft>
                </a:pPr>
                <a:endParaRPr kumimoji="0" lang="en-US" sz="2800" b="0" i="0" u="none" strike="noStrike" kern="1200" cap="none" spc="0" normalizeH="0" baseline="0" noProof="0">
                  <a:ln>
                    <a:noFill/>
                  </a:ln>
                  <a:solidFill>
                    <a:srgbClr val="FFFFFF"/>
                  </a:solidFill>
                  <a:effectLst/>
                  <a:uLnTx/>
                  <a:uFillTx/>
                  <a:latin typeface="Segoe Sans Text ExtraBold" pitchFamily="2" charset="0"/>
                  <a:ea typeface="+mn-ea"/>
                  <a:cs typeface="Segoe Sans Text ExtraBold" pitchFamily="2" charset="0"/>
                </a:endParaRPr>
              </a:p>
            </p:txBody>
          </p:sp>
        </p:grpSp>
        <p:pic>
          <p:nvPicPr>
            <p:cNvPr id="65" name="Graphic 64">
              <a:extLst>
                <a:ext uri="{FF2B5EF4-FFF2-40B4-BE49-F238E27FC236}">
                  <a16:creationId xmlns:a16="http://schemas.microsoft.com/office/drawing/2014/main" id="{4E1A81FA-1540-4B54-7EBD-59860DA90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33101" y="2974108"/>
              <a:ext cx="529003" cy="529003"/>
            </a:xfrm>
            <a:prstGeom prst="rect">
              <a:avLst/>
            </a:prstGeom>
          </p:spPr>
        </p:pic>
      </p:grpSp>
      <p:grpSp>
        <p:nvGrpSpPr>
          <p:cNvPr id="105" name="Group 104">
            <a:extLst>
              <a:ext uri="{FF2B5EF4-FFF2-40B4-BE49-F238E27FC236}">
                <a16:creationId xmlns:a16="http://schemas.microsoft.com/office/drawing/2014/main" id="{7F644E25-FBB3-0E66-3429-884A9364837F}"/>
              </a:ext>
            </a:extLst>
          </p:cNvPr>
          <p:cNvGrpSpPr/>
          <p:nvPr/>
        </p:nvGrpSpPr>
        <p:grpSpPr>
          <a:xfrm>
            <a:off x="8373107" y="2218513"/>
            <a:ext cx="1052808" cy="1052890"/>
            <a:chOff x="7973481" y="1639035"/>
            <a:chExt cx="1052808" cy="1052890"/>
          </a:xfrm>
        </p:grpSpPr>
        <p:grpSp>
          <p:nvGrpSpPr>
            <p:cNvPr id="19" name="Group 18">
              <a:extLst>
                <a:ext uri="{FF2B5EF4-FFF2-40B4-BE49-F238E27FC236}">
                  <a16:creationId xmlns:a16="http://schemas.microsoft.com/office/drawing/2014/main" id="{83C2B10D-E4B7-BFE4-40E9-6C66469BD8CB}"/>
                </a:ext>
              </a:extLst>
            </p:cNvPr>
            <p:cNvGrpSpPr/>
            <p:nvPr/>
          </p:nvGrpSpPr>
          <p:grpSpPr>
            <a:xfrm>
              <a:off x="7973481" y="1639035"/>
              <a:ext cx="1052808" cy="1052890"/>
              <a:chOff x="3471960" y="3801459"/>
              <a:chExt cx="812800" cy="812864"/>
            </a:xfrm>
          </p:grpSpPr>
          <p:grpSp>
            <p:nvGrpSpPr>
              <p:cNvPr id="20" name="Group 19">
                <a:extLst>
                  <a:ext uri="{FF2B5EF4-FFF2-40B4-BE49-F238E27FC236}">
                    <a16:creationId xmlns:a16="http://schemas.microsoft.com/office/drawing/2014/main" id="{BED24DA5-EBF3-E4EA-75E4-996A8DAF58C3}"/>
                  </a:ext>
                </a:extLst>
              </p:cNvPr>
              <p:cNvGrpSpPr>
                <a:grpSpLocks/>
              </p:cNvGrpSpPr>
              <p:nvPr/>
            </p:nvGrpSpPr>
            <p:grpSpPr>
              <a:xfrm>
                <a:off x="3471960" y="3801459"/>
                <a:ext cx="812800" cy="812864"/>
                <a:chOff x="556578" y="1051172"/>
                <a:chExt cx="2591837" cy="6187827"/>
              </a:xfrm>
            </p:grpSpPr>
            <p:sp useBgFill="1">
              <p:nvSpPr>
                <p:cNvPr id="22" name="Rectangle: Rounded Corners 6">
                  <a:extLst>
                    <a:ext uri="{FF2B5EF4-FFF2-40B4-BE49-F238E27FC236}">
                      <a16:creationId xmlns:a16="http://schemas.microsoft.com/office/drawing/2014/main" id="{FD347A2E-FC3B-80B6-9419-C02D736611F6}"/>
                    </a:ext>
                  </a:extLst>
                </p:cNvPr>
                <p:cNvSpPr/>
                <p:nvPr/>
              </p:nvSpPr>
              <p:spPr bwMode="auto">
                <a:xfrm>
                  <a:off x="556578" y="1051172"/>
                  <a:ext cx="2591837" cy="6187827"/>
                </a:xfrm>
                <a:prstGeom prst="ellipse">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3" name="Rectangle: Rounded Corners 7">
                  <a:extLst>
                    <a:ext uri="{FF2B5EF4-FFF2-40B4-BE49-F238E27FC236}">
                      <a16:creationId xmlns:a16="http://schemas.microsoft.com/office/drawing/2014/main" id="{6EDF53BE-AA6A-7844-2647-4AEE6DA884E1}"/>
                    </a:ext>
                  </a:extLst>
                </p:cNvPr>
                <p:cNvSpPr/>
                <p:nvPr/>
              </p:nvSpPr>
              <p:spPr bwMode="auto">
                <a:xfrm>
                  <a:off x="556578" y="1051172"/>
                  <a:ext cx="2591837" cy="6187827"/>
                </a:xfrm>
                <a:prstGeom prst="ellipse">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1" name="Rectangle: Rounded Corners 20">
                <a:extLst>
                  <a:ext uri="{FF2B5EF4-FFF2-40B4-BE49-F238E27FC236}">
                    <a16:creationId xmlns:a16="http://schemas.microsoft.com/office/drawing/2014/main" id="{72F08152-15B8-CEC4-B9B2-73D81E8C4808}"/>
                  </a:ext>
                </a:extLst>
              </p:cNvPr>
              <p:cNvSpPr/>
              <p:nvPr/>
            </p:nvSpPr>
            <p:spPr bwMode="auto">
              <a:xfrm>
                <a:off x="3584101" y="3913632"/>
                <a:ext cx="588518" cy="588518"/>
              </a:xfrm>
              <a:prstGeom prst="roundRect">
                <a:avLst>
                  <a:gd name="adj" fmla="val 50000"/>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defTabSz="932472" fontAlgn="base">
                  <a:spcBef>
                    <a:spcPct val="0"/>
                  </a:spcBef>
                  <a:spcAft>
                    <a:spcPct val="0"/>
                  </a:spcAft>
                </a:pPr>
                <a:endParaRPr kumimoji="0" lang="en-US" sz="2800" b="0" i="0" u="none" strike="noStrike" kern="1200" cap="none" spc="0" normalizeH="0" baseline="0" noProof="0">
                  <a:ln>
                    <a:noFill/>
                  </a:ln>
                  <a:solidFill>
                    <a:srgbClr val="FFFFFF"/>
                  </a:solidFill>
                  <a:effectLst/>
                  <a:uLnTx/>
                  <a:uFillTx/>
                  <a:latin typeface="Segoe Sans Text ExtraBold" pitchFamily="2" charset="0"/>
                  <a:ea typeface="+mn-ea"/>
                  <a:cs typeface="Segoe Sans Text ExtraBold" pitchFamily="2" charset="0"/>
                </a:endParaRPr>
              </a:p>
            </p:txBody>
          </p:sp>
        </p:grpSp>
        <p:pic>
          <p:nvPicPr>
            <p:cNvPr id="67" name="Graphic 66">
              <a:extLst>
                <a:ext uri="{FF2B5EF4-FFF2-40B4-BE49-F238E27FC236}">
                  <a16:creationId xmlns:a16="http://schemas.microsoft.com/office/drawing/2014/main" id="{789D6439-541B-D646-6B2E-3CAE3F11136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71514" y="1951456"/>
              <a:ext cx="469264" cy="469264"/>
            </a:xfrm>
            <a:prstGeom prst="rect">
              <a:avLst/>
            </a:prstGeom>
          </p:spPr>
        </p:pic>
      </p:grpSp>
      <p:grpSp>
        <p:nvGrpSpPr>
          <p:cNvPr id="3" name="Group 2">
            <a:extLst>
              <a:ext uri="{FF2B5EF4-FFF2-40B4-BE49-F238E27FC236}">
                <a16:creationId xmlns:a16="http://schemas.microsoft.com/office/drawing/2014/main" id="{FFFF86B3-00FD-454F-9318-9D944BDC6991}"/>
              </a:ext>
            </a:extLst>
          </p:cNvPr>
          <p:cNvGrpSpPr/>
          <p:nvPr/>
        </p:nvGrpSpPr>
        <p:grpSpPr>
          <a:xfrm>
            <a:off x="2641140" y="2201571"/>
            <a:ext cx="1052808" cy="1052890"/>
            <a:chOff x="3010291" y="1639035"/>
            <a:chExt cx="1052808" cy="1052890"/>
          </a:xfrm>
        </p:grpSpPr>
        <p:grpSp>
          <p:nvGrpSpPr>
            <p:cNvPr id="4" name="Group 3">
              <a:extLst>
                <a:ext uri="{FF2B5EF4-FFF2-40B4-BE49-F238E27FC236}">
                  <a16:creationId xmlns:a16="http://schemas.microsoft.com/office/drawing/2014/main" id="{A1AD6609-8F1A-DDE1-A7B0-7A9117707DFD}"/>
                </a:ext>
              </a:extLst>
            </p:cNvPr>
            <p:cNvGrpSpPr/>
            <p:nvPr/>
          </p:nvGrpSpPr>
          <p:grpSpPr>
            <a:xfrm>
              <a:off x="3010291" y="1639035"/>
              <a:ext cx="1052808" cy="1052890"/>
              <a:chOff x="3471960" y="3801459"/>
              <a:chExt cx="812800" cy="812864"/>
            </a:xfrm>
          </p:grpSpPr>
          <p:grpSp>
            <p:nvGrpSpPr>
              <p:cNvPr id="24" name="Group 23">
                <a:extLst>
                  <a:ext uri="{FF2B5EF4-FFF2-40B4-BE49-F238E27FC236}">
                    <a16:creationId xmlns:a16="http://schemas.microsoft.com/office/drawing/2014/main" id="{6FDB4BD2-6D8A-2E13-73FB-433A2D876B7E}"/>
                  </a:ext>
                </a:extLst>
              </p:cNvPr>
              <p:cNvGrpSpPr>
                <a:grpSpLocks/>
              </p:cNvGrpSpPr>
              <p:nvPr/>
            </p:nvGrpSpPr>
            <p:grpSpPr>
              <a:xfrm>
                <a:off x="3471960" y="3801459"/>
                <a:ext cx="812800" cy="812864"/>
                <a:chOff x="556578" y="1051172"/>
                <a:chExt cx="2591837" cy="6187827"/>
              </a:xfrm>
            </p:grpSpPr>
            <p:sp useBgFill="1">
              <p:nvSpPr>
                <p:cNvPr id="27" name="Rectangle: Rounded Corners 6">
                  <a:extLst>
                    <a:ext uri="{FF2B5EF4-FFF2-40B4-BE49-F238E27FC236}">
                      <a16:creationId xmlns:a16="http://schemas.microsoft.com/office/drawing/2014/main" id="{F20ACF98-EBCA-E95C-D3E0-370E76D639A2}"/>
                    </a:ext>
                  </a:extLst>
                </p:cNvPr>
                <p:cNvSpPr/>
                <p:nvPr/>
              </p:nvSpPr>
              <p:spPr bwMode="auto">
                <a:xfrm>
                  <a:off x="556578" y="1051172"/>
                  <a:ext cx="2591837" cy="6187827"/>
                </a:xfrm>
                <a:prstGeom prst="ellipse">
                  <a:avLst/>
                </a:prstGeom>
                <a:ln w="6350">
                  <a:no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sp>
              <p:nvSpPr>
                <p:cNvPr id="28" name="Rectangle: Rounded Corners 7">
                  <a:extLst>
                    <a:ext uri="{FF2B5EF4-FFF2-40B4-BE49-F238E27FC236}">
                      <a16:creationId xmlns:a16="http://schemas.microsoft.com/office/drawing/2014/main" id="{37346835-8C42-85D9-59BD-47AC112CFC44}"/>
                    </a:ext>
                  </a:extLst>
                </p:cNvPr>
                <p:cNvSpPr/>
                <p:nvPr/>
              </p:nvSpPr>
              <p:spPr bwMode="auto">
                <a:xfrm>
                  <a:off x="556578" y="1051172"/>
                  <a:ext cx="2591837" cy="6187827"/>
                </a:xfrm>
                <a:prstGeom prst="ellipse">
                  <a:avLst/>
                </a:prstGeom>
                <a:gradFill flip="none" rotWithShape="1">
                  <a:gsLst>
                    <a:gs pos="0">
                      <a:srgbClr val="091F2C">
                        <a:alpha val="40000"/>
                      </a:srgbClr>
                    </a:gs>
                    <a:gs pos="100000">
                      <a:schemeClr val="accent2"/>
                    </a:gs>
                  </a:gsLst>
                  <a:path path="circle">
                    <a:fillToRect r="100000" b="100000"/>
                  </a:path>
                  <a:tileRect l="-100000" t="-100000"/>
                </a:gradFill>
                <a:ln w="6350">
                  <a:gradFill flip="none" rotWithShape="1">
                    <a:gsLst>
                      <a:gs pos="0">
                        <a:schemeClr val="accent1">
                          <a:lumMod val="5000"/>
                          <a:lumOff val="95000"/>
                        </a:schemeClr>
                      </a:gs>
                      <a:gs pos="71000">
                        <a:schemeClr val="bg1">
                          <a:alpha val="0"/>
                        </a:schemeClr>
                      </a:gs>
                    </a:gsLst>
                    <a:lin ang="2700000" scaled="1"/>
                    <a:tileRect/>
                  </a:gradFill>
                  <a:headEnd type="none" w="med" len="med"/>
                  <a:tailEnd type="none" w="med" len="med"/>
                </a:ln>
                <a:effectLst>
                  <a:outerShdw blurRad="165100" sx="101000" sy="1010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Text"/>
                    <a:ea typeface="Segoe Sans Text" pitchFamily="2" charset="0"/>
                    <a:cs typeface="Segoe Sans Text" pitchFamily="2" charset="0"/>
                  </a:endParaRPr>
                </a:p>
              </p:txBody>
            </p:sp>
          </p:grpSp>
          <p:sp>
            <p:nvSpPr>
              <p:cNvPr id="25" name="Rectangle: Rounded Corners 24">
                <a:extLst>
                  <a:ext uri="{FF2B5EF4-FFF2-40B4-BE49-F238E27FC236}">
                    <a16:creationId xmlns:a16="http://schemas.microsoft.com/office/drawing/2014/main" id="{0D51EC2E-A6EE-6629-3F84-D9AB3B34A004}"/>
                  </a:ext>
                </a:extLst>
              </p:cNvPr>
              <p:cNvSpPr/>
              <p:nvPr/>
            </p:nvSpPr>
            <p:spPr bwMode="auto">
              <a:xfrm>
                <a:off x="3584101" y="3913634"/>
                <a:ext cx="588518" cy="588518"/>
              </a:xfrm>
              <a:prstGeom prst="roundRect">
                <a:avLst>
                  <a:gd name="adj" fmla="val 50000"/>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defTabSz="932472" fontAlgn="base">
                  <a:spcBef>
                    <a:spcPct val="0"/>
                  </a:spcBef>
                  <a:spcAft>
                    <a:spcPct val="0"/>
                  </a:spcAft>
                </a:pPr>
                <a:endParaRPr kumimoji="0" lang="en-US" sz="2800" b="0" i="0" u="none" strike="noStrike" kern="1200" cap="none" spc="0" normalizeH="0" baseline="0" noProof="0">
                  <a:ln>
                    <a:noFill/>
                  </a:ln>
                  <a:solidFill>
                    <a:srgbClr val="FFFFFF"/>
                  </a:solidFill>
                  <a:effectLst/>
                  <a:uLnTx/>
                  <a:uFillTx/>
                  <a:latin typeface="Segoe Sans Text ExtraBold" pitchFamily="2" charset="0"/>
                  <a:ea typeface="+mn-ea"/>
                  <a:cs typeface="Segoe Sans Text ExtraBold" pitchFamily="2" charset="0"/>
                </a:endParaRPr>
              </a:p>
            </p:txBody>
          </p:sp>
        </p:grpSp>
        <p:pic>
          <p:nvPicPr>
            <p:cNvPr id="5" name="Graphic 4">
              <a:extLst>
                <a:ext uri="{FF2B5EF4-FFF2-40B4-BE49-F238E27FC236}">
                  <a16:creationId xmlns:a16="http://schemas.microsoft.com/office/drawing/2014/main" id="{E128B35B-5109-AA65-6E2C-913681A0D9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8935" y="1955309"/>
              <a:ext cx="434119" cy="434119"/>
            </a:xfrm>
            <a:prstGeom prst="rect">
              <a:avLst/>
            </a:prstGeom>
          </p:spPr>
        </p:pic>
      </p:grpSp>
      <p:sp>
        <p:nvSpPr>
          <p:cNvPr id="29" name="Rectangle: Rounded Corners 28">
            <a:extLst>
              <a:ext uri="{FF2B5EF4-FFF2-40B4-BE49-F238E27FC236}">
                <a16:creationId xmlns:a16="http://schemas.microsoft.com/office/drawing/2014/main" id="{F18FFC61-2200-0169-A49D-9CC815D7CE0D}"/>
              </a:ext>
            </a:extLst>
          </p:cNvPr>
          <p:cNvSpPr/>
          <p:nvPr/>
        </p:nvSpPr>
        <p:spPr bwMode="auto">
          <a:xfrm>
            <a:off x="1953137" y="3352527"/>
            <a:ext cx="2292524" cy="400649"/>
          </a:xfrm>
          <a:prstGeom prst="roundRect">
            <a:avLst>
              <a:gd name="adj" fmla="val 7046"/>
            </a:avLst>
          </a:prstGeom>
          <a:gradFill flip="none" rotWithShape="1">
            <a:gsLst>
              <a:gs pos="99000">
                <a:srgbClr val="97E09B"/>
              </a:gs>
              <a:gs pos="75000">
                <a:srgbClr val="12DB8F"/>
              </a:gs>
              <a:gs pos="40000">
                <a:srgbClr val="4AC2E4"/>
              </a:gs>
              <a:gs pos="1000">
                <a:srgbClr val="0179D8"/>
              </a:gs>
            </a:gsLst>
            <a:lin ang="0" scaled="1"/>
            <a:tileRect/>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a:solidFill>
                  <a:srgbClr val="FFFFFF"/>
                </a:solidFill>
                <a:latin typeface="Segoe Sans Text ExtraBold" pitchFamily="2" charset="0"/>
                <a:cs typeface="Segoe Sans Text ExtraBold" pitchFamily="2" charset="0"/>
              </a:rPr>
              <a:t>RBAC</a:t>
            </a:r>
          </a:p>
        </p:txBody>
      </p:sp>
      <p:sp>
        <p:nvSpPr>
          <p:cNvPr id="30" name="Title 3">
            <a:extLst>
              <a:ext uri="{FF2B5EF4-FFF2-40B4-BE49-F238E27FC236}">
                <a16:creationId xmlns:a16="http://schemas.microsoft.com/office/drawing/2014/main" id="{C0402D27-960E-CD87-DBA5-5526B4A980B5}"/>
              </a:ext>
            </a:extLst>
          </p:cNvPr>
          <p:cNvSpPr txBox="1">
            <a:spLocks/>
          </p:cNvSpPr>
          <p:nvPr/>
        </p:nvSpPr>
        <p:spPr>
          <a:xfrm>
            <a:off x="1966688" y="3892986"/>
            <a:ext cx="2292524" cy="215444"/>
          </a:xfrm>
          <a:prstGeom prst="rect">
            <a:avLst/>
          </a:prstGeom>
          <a:noFill/>
        </p:spPr>
        <p:txBody>
          <a:bodyPr vert="horz" wrap="square" lIns="0" tIns="0" rIns="0" bIns="0" rtlCol="0" anchor="t" anchorCtr="0">
            <a:spAutoFit/>
          </a:bodyPr>
          <a:lstStyle>
            <a:lvl1pPr algn="l" defTabSz="932742" rtl="0" eaLnBrk="1" latinLnBrk="0" hangingPunct="1">
              <a:lnSpc>
                <a:spcPct val="100000"/>
              </a:lnSpc>
              <a:spcBef>
                <a:spcPct val="0"/>
              </a:spcBef>
              <a:buNone/>
              <a:defRPr kumimoji="0" lang="en-GB" sz="2800" b="0" i="0" u="none" strike="noStrike" kern="1200" cap="none" spc="0" normalizeH="0" baseline="0" dirty="0">
                <a:ln>
                  <a:noFill/>
                </a:ln>
                <a:solidFill>
                  <a:srgbClr val="FFFFFF"/>
                </a:solidFill>
                <a:effectLst/>
                <a:uLnTx/>
                <a:uFillTx/>
                <a:latin typeface="Segoe Sans Text Semibold"/>
                <a:ea typeface="+mn-ea"/>
                <a:cs typeface="+mn-cs"/>
              </a:defRPr>
            </a:lvl1pPr>
          </a:lstStyle>
          <a:p>
            <a:pPr algn="ctr" fontAlgn="base">
              <a:spcAft>
                <a:spcPct val="0"/>
              </a:spcAft>
            </a:pPr>
            <a:r>
              <a:rPr lang="en-GB" sz="1400">
                <a:solidFill>
                  <a:schemeClr val="bg1"/>
                </a:solidFill>
                <a:latin typeface="+mn-lt"/>
              </a:rPr>
              <a:t>For all Azure AI Services</a:t>
            </a:r>
          </a:p>
        </p:txBody>
      </p:sp>
    </p:spTree>
    <p:extLst>
      <p:ext uri="{BB962C8B-B14F-4D97-AF65-F5344CB8AC3E}">
        <p14:creationId xmlns:p14="http://schemas.microsoft.com/office/powerpoint/2010/main" val="121323626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42" presetClass="path" presetSubtype="0" decel="100000" fill="hold" grpId="1" nodeType="withEffect">
                                  <p:stCondLst>
                                    <p:cond delay="0"/>
                                  </p:stCondLst>
                                  <p:childTnLst>
                                    <p:animMotion origin="layout" path="M -2.08333E-7 0.03889 L -2.08333E-7 -3.33333E-6 " pathEditMode="relative" rAng="0" ptsTypes="AA">
                                      <p:cBhvr>
                                        <p:cTn id="9" dur="750" fill="hold"/>
                                        <p:tgtEl>
                                          <p:spTgt spid="2"/>
                                        </p:tgtEl>
                                        <p:attrNameLst>
                                          <p:attrName>ppt_x</p:attrName>
                                          <p:attrName>ppt_y</p:attrName>
                                        </p:attrNameLst>
                                      </p:cBhvr>
                                      <p:rCtr x="0" y="-1944"/>
                                    </p:animMotion>
                                  </p:childTnLst>
                                </p:cTn>
                              </p:par>
                              <p:par>
                                <p:cTn id="10" presetID="10" presetClass="entr" presetSubtype="0" fill="hold" grpId="0" nodeType="withEffect">
                                  <p:stCondLst>
                                    <p:cond delay="35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250"/>
                                        <p:tgtEl>
                                          <p:spTgt spid="46"/>
                                        </p:tgtEl>
                                      </p:cBhvr>
                                    </p:animEffect>
                                  </p:childTnLst>
                                </p:cTn>
                              </p:par>
                              <p:par>
                                <p:cTn id="13" presetID="42" presetClass="path" presetSubtype="0" decel="100000" fill="hold" grpId="1" nodeType="withEffect">
                                  <p:stCondLst>
                                    <p:cond delay="350"/>
                                  </p:stCondLst>
                                  <p:childTnLst>
                                    <p:animMotion origin="layout" path="M 1.25E-6 0.03889 L 1.25E-6 1.85185E-6 " pathEditMode="relative" rAng="0" ptsTypes="AA">
                                      <p:cBhvr>
                                        <p:cTn id="14" dur="500" fill="hold"/>
                                        <p:tgtEl>
                                          <p:spTgt spid="46"/>
                                        </p:tgtEl>
                                        <p:attrNameLst>
                                          <p:attrName>ppt_x</p:attrName>
                                          <p:attrName>ppt_y</p:attrName>
                                        </p:attrNameLst>
                                      </p:cBhvr>
                                      <p:rCtr x="0" y="-1944"/>
                                    </p:animMotion>
                                  </p:childTnLst>
                                </p:cTn>
                              </p:par>
                              <p:par>
                                <p:cTn id="15" presetID="10" presetClass="entr" presetSubtype="0" fill="hold" grpId="0" nodeType="withEffect">
                                  <p:stCondLst>
                                    <p:cond delay="35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250"/>
                                        <p:tgtEl>
                                          <p:spTgt spid="45"/>
                                        </p:tgtEl>
                                      </p:cBhvr>
                                    </p:animEffect>
                                  </p:childTnLst>
                                </p:cTn>
                              </p:par>
                              <p:par>
                                <p:cTn id="18" presetID="42" presetClass="path" presetSubtype="0" decel="100000" fill="hold" grpId="1" nodeType="withEffect">
                                  <p:stCondLst>
                                    <p:cond delay="350"/>
                                  </p:stCondLst>
                                  <p:childTnLst>
                                    <p:animMotion origin="layout" path="M 1.25E-6 0.03889 L 1.25E-6 1.85185E-6 " pathEditMode="relative" rAng="0" ptsTypes="AA">
                                      <p:cBhvr>
                                        <p:cTn id="19" dur="500" fill="hold"/>
                                        <p:tgtEl>
                                          <p:spTgt spid="45"/>
                                        </p:tgtEl>
                                        <p:attrNameLst>
                                          <p:attrName>ppt_x</p:attrName>
                                          <p:attrName>ppt_y</p:attrName>
                                        </p:attrNameLst>
                                      </p:cBhvr>
                                      <p:rCtr x="0" y="-1944"/>
                                    </p:animMotion>
                                  </p:childTnLst>
                                </p:cTn>
                              </p:par>
                              <p:par>
                                <p:cTn id="20" presetID="10" presetClass="entr" presetSubtype="0" fill="hold" grpId="0" nodeType="withEffect">
                                  <p:stCondLst>
                                    <p:cond delay="35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250"/>
                                        <p:tgtEl>
                                          <p:spTgt spid="47"/>
                                        </p:tgtEl>
                                      </p:cBhvr>
                                    </p:animEffect>
                                  </p:childTnLst>
                                </p:cTn>
                              </p:par>
                              <p:par>
                                <p:cTn id="23" presetID="42" presetClass="path" presetSubtype="0" decel="100000" fill="hold" grpId="1" nodeType="withEffect">
                                  <p:stCondLst>
                                    <p:cond delay="350"/>
                                  </p:stCondLst>
                                  <p:childTnLst>
                                    <p:animMotion origin="layout" path="M 1.25E-6 0.03889 L 1.25E-6 1.85185E-6 " pathEditMode="relative" rAng="0" ptsTypes="AA">
                                      <p:cBhvr>
                                        <p:cTn id="24" dur="500" fill="hold"/>
                                        <p:tgtEl>
                                          <p:spTgt spid="47"/>
                                        </p:tgtEl>
                                        <p:attrNameLst>
                                          <p:attrName>ppt_x</p:attrName>
                                          <p:attrName>ppt_y</p:attrName>
                                        </p:attrNameLst>
                                      </p:cBhvr>
                                      <p:rCtr x="0" y="-1944"/>
                                    </p:animMotion>
                                  </p:childTnLst>
                                </p:cTn>
                              </p:par>
                              <p:par>
                                <p:cTn id="25" presetID="10" presetClass="entr" presetSubtype="0" fill="hold" grpId="0" nodeType="withEffect">
                                  <p:stCondLst>
                                    <p:cond delay="50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750"/>
                                        <p:tgtEl>
                                          <p:spTgt spid="53"/>
                                        </p:tgtEl>
                                      </p:cBhvr>
                                    </p:animEffect>
                                  </p:childTnLst>
                                </p:cTn>
                              </p:par>
                              <p:par>
                                <p:cTn id="28" presetID="42" presetClass="path" presetSubtype="0" decel="100000" fill="hold" grpId="1" nodeType="withEffect">
                                  <p:stCondLst>
                                    <p:cond delay="500"/>
                                  </p:stCondLst>
                                  <p:childTnLst>
                                    <p:animMotion origin="layout" path="M 3.33333E-6 -0.03472 L 3.33333E-6 7.40741E-7 " pathEditMode="relative" rAng="0" ptsTypes="AA">
                                      <p:cBhvr>
                                        <p:cTn id="29" dur="750" fill="hold"/>
                                        <p:tgtEl>
                                          <p:spTgt spid="53"/>
                                        </p:tgtEl>
                                        <p:attrNameLst>
                                          <p:attrName>ppt_x</p:attrName>
                                          <p:attrName>ppt_y</p:attrName>
                                        </p:attrNameLst>
                                      </p:cBhvr>
                                      <p:rCtr x="0" y="1736"/>
                                    </p:animMotion>
                                  </p:childTnLst>
                                </p:cTn>
                              </p:par>
                              <p:par>
                                <p:cTn id="30" presetID="10" presetClass="entr" presetSubtype="0" fill="hold" grpId="0" nodeType="withEffect">
                                  <p:stCondLst>
                                    <p:cond delay="500"/>
                                  </p:stCondLst>
                                  <p:childTnLst>
                                    <p:set>
                                      <p:cBhvr>
                                        <p:cTn id="31" dur="1" fill="hold">
                                          <p:stCondLst>
                                            <p:cond delay="0"/>
                                          </p:stCondLst>
                                        </p:cTn>
                                        <p:tgtEl>
                                          <p:spTgt spid="54"/>
                                        </p:tgtEl>
                                        <p:attrNameLst>
                                          <p:attrName>style.visibility</p:attrName>
                                        </p:attrNameLst>
                                      </p:cBhvr>
                                      <p:to>
                                        <p:strVal val="visible"/>
                                      </p:to>
                                    </p:set>
                                    <p:animEffect transition="in" filter="fade">
                                      <p:cBhvr>
                                        <p:cTn id="32" dur="750"/>
                                        <p:tgtEl>
                                          <p:spTgt spid="54"/>
                                        </p:tgtEl>
                                      </p:cBhvr>
                                    </p:animEffect>
                                  </p:childTnLst>
                                </p:cTn>
                              </p:par>
                              <p:par>
                                <p:cTn id="33" presetID="42" presetClass="path" presetSubtype="0" decel="100000" fill="hold" grpId="1" nodeType="withEffect">
                                  <p:stCondLst>
                                    <p:cond delay="500"/>
                                  </p:stCondLst>
                                  <p:childTnLst>
                                    <p:animMotion origin="layout" path="M 0 -0.03472 L 0 -3.7037E-7 " pathEditMode="relative" rAng="0" ptsTypes="AA">
                                      <p:cBhvr>
                                        <p:cTn id="34" dur="750" fill="hold"/>
                                        <p:tgtEl>
                                          <p:spTgt spid="54"/>
                                        </p:tgtEl>
                                        <p:attrNameLst>
                                          <p:attrName>ppt_x</p:attrName>
                                          <p:attrName>ppt_y</p:attrName>
                                        </p:attrNameLst>
                                      </p:cBhvr>
                                      <p:rCtr x="0" y="1736"/>
                                    </p:animMotion>
                                  </p:childTnLst>
                                </p:cTn>
                              </p:par>
                              <p:par>
                                <p:cTn id="35" presetID="10" presetClass="entr" presetSubtype="0" fill="hold" grpId="0" nodeType="withEffect">
                                  <p:stCondLst>
                                    <p:cond delay="50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750"/>
                                        <p:tgtEl>
                                          <p:spTgt spid="51"/>
                                        </p:tgtEl>
                                      </p:cBhvr>
                                    </p:animEffect>
                                  </p:childTnLst>
                                </p:cTn>
                              </p:par>
                              <p:par>
                                <p:cTn id="38" presetID="42" presetClass="path" presetSubtype="0" decel="100000" fill="hold" grpId="1" nodeType="withEffect">
                                  <p:stCondLst>
                                    <p:cond delay="500"/>
                                  </p:stCondLst>
                                  <p:childTnLst>
                                    <p:animMotion origin="layout" path="M -4.16667E-6 -0.03472 L -4.16667E-6 7.40741E-7 " pathEditMode="relative" rAng="0" ptsTypes="AA">
                                      <p:cBhvr>
                                        <p:cTn id="39" dur="750" fill="hold"/>
                                        <p:tgtEl>
                                          <p:spTgt spid="51"/>
                                        </p:tgtEl>
                                        <p:attrNameLst>
                                          <p:attrName>ppt_x</p:attrName>
                                          <p:attrName>ppt_y</p:attrName>
                                        </p:attrNameLst>
                                      </p:cBhvr>
                                      <p:rCtr x="0" y="1736"/>
                                    </p:animMotion>
                                  </p:childTnLst>
                                </p:cTn>
                              </p:par>
                              <p:par>
                                <p:cTn id="40" presetID="23" presetClass="entr" presetSubtype="16" fill="hold" nodeType="withEffect">
                                  <p:stCondLst>
                                    <p:cond delay="250"/>
                                  </p:stCondLst>
                                  <p:childTnLst>
                                    <p:set>
                                      <p:cBhvr>
                                        <p:cTn id="41" dur="1" fill="hold">
                                          <p:stCondLst>
                                            <p:cond delay="0"/>
                                          </p:stCondLst>
                                        </p:cTn>
                                        <p:tgtEl>
                                          <p:spTgt spid="103"/>
                                        </p:tgtEl>
                                        <p:attrNameLst>
                                          <p:attrName>style.visibility</p:attrName>
                                        </p:attrNameLst>
                                      </p:cBhvr>
                                      <p:to>
                                        <p:strVal val="visible"/>
                                      </p:to>
                                    </p:set>
                                    <p:anim calcmode="lin" valueType="num">
                                      <p:cBhvr>
                                        <p:cTn id="42" dur="250" fill="hold"/>
                                        <p:tgtEl>
                                          <p:spTgt spid="103"/>
                                        </p:tgtEl>
                                        <p:attrNameLst>
                                          <p:attrName>ppt_w</p:attrName>
                                        </p:attrNameLst>
                                      </p:cBhvr>
                                      <p:tavLst>
                                        <p:tav tm="0">
                                          <p:val>
                                            <p:fltVal val="0"/>
                                          </p:val>
                                        </p:tav>
                                        <p:tav tm="100000">
                                          <p:val>
                                            <p:strVal val="#ppt_w"/>
                                          </p:val>
                                        </p:tav>
                                      </p:tavLst>
                                    </p:anim>
                                    <p:anim calcmode="lin" valueType="num">
                                      <p:cBhvr>
                                        <p:cTn id="43" dur="250" fill="hold"/>
                                        <p:tgtEl>
                                          <p:spTgt spid="103"/>
                                        </p:tgtEl>
                                        <p:attrNameLst>
                                          <p:attrName>ppt_h</p:attrName>
                                        </p:attrNameLst>
                                      </p:cBhvr>
                                      <p:tavLst>
                                        <p:tav tm="0">
                                          <p:val>
                                            <p:fltVal val="0"/>
                                          </p:val>
                                        </p:tav>
                                        <p:tav tm="100000">
                                          <p:val>
                                            <p:strVal val="#ppt_h"/>
                                          </p:val>
                                        </p:tav>
                                      </p:tavLst>
                                    </p:anim>
                                  </p:childTnLst>
                                </p:cTn>
                              </p:par>
                              <p:par>
                                <p:cTn id="44" presetID="10" presetClass="entr" presetSubtype="0" fill="hold" nodeType="withEffect">
                                  <p:stCondLst>
                                    <p:cond delay="250"/>
                                  </p:stCondLst>
                                  <p:childTnLst>
                                    <p:set>
                                      <p:cBhvr>
                                        <p:cTn id="45" dur="1" fill="hold">
                                          <p:stCondLst>
                                            <p:cond delay="0"/>
                                          </p:stCondLst>
                                        </p:cTn>
                                        <p:tgtEl>
                                          <p:spTgt spid="103"/>
                                        </p:tgtEl>
                                        <p:attrNameLst>
                                          <p:attrName>style.visibility</p:attrName>
                                        </p:attrNameLst>
                                      </p:cBhvr>
                                      <p:to>
                                        <p:strVal val="visible"/>
                                      </p:to>
                                    </p:set>
                                    <p:animEffect transition="in" filter="fade">
                                      <p:cBhvr>
                                        <p:cTn id="46" dur="500"/>
                                        <p:tgtEl>
                                          <p:spTgt spid="103"/>
                                        </p:tgtEl>
                                      </p:cBhvr>
                                    </p:animEffect>
                                  </p:childTnLst>
                                </p:cTn>
                              </p:par>
                              <p:par>
                                <p:cTn id="47" presetID="6" presetClass="emph" presetSubtype="0" fill="hold" nodeType="withEffect">
                                  <p:stCondLst>
                                    <p:cond delay="250"/>
                                  </p:stCondLst>
                                  <p:childTnLst>
                                    <p:animScale>
                                      <p:cBhvr>
                                        <p:cTn id="48" dur="10" fill="hold"/>
                                        <p:tgtEl>
                                          <p:spTgt spid="103"/>
                                        </p:tgtEl>
                                      </p:cBhvr>
                                      <p:by x="80000" y="80000"/>
                                    </p:animScale>
                                  </p:childTnLst>
                                </p:cTn>
                              </p:par>
                              <p:par>
                                <p:cTn id="49" presetID="6" presetClass="emph" presetSubtype="0" decel="100000" fill="hold" nodeType="withEffect">
                                  <p:stCondLst>
                                    <p:cond delay="250"/>
                                  </p:stCondLst>
                                  <p:childTnLst>
                                    <p:animScale>
                                      <p:cBhvr>
                                        <p:cTn id="50" dur="1000" fill="hold"/>
                                        <p:tgtEl>
                                          <p:spTgt spid="103"/>
                                        </p:tgtEl>
                                      </p:cBhvr>
                                      <p:by x="125000" y="125000"/>
                                    </p:animScale>
                                  </p:childTnLst>
                                </p:cTn>
                              </p:par>
                              <p:par>
                                <p:cTn id="51" presetID="23" presetClass="entr" presetSubtype="16" fill="hold" nodeType="withEffect">
                                  <p:stCondLst>
                                    <p:cond delay="250"/>
                                  </p:stCondLst>
                                  <p:childTnLst>
                                    <p:set>
                                      <p:cBhvr>
                                        <p:cTn id="52" dur="1" fill="hold">
                                          <p:stCondLst>
                                            <p:cond delay="0"/>
                                          </p:stCondLst>
                                        </p:cTn>
                                        <p:tgtEl>
                                          <p:spTgt spid="104"/>
                                        </p:tgtEl>
                                        <p:attrNameLst>
                                          <p:attrName>style.visibility</p:attrName>
                                        </p:attrNameLst>
                                      </p:cBhvr>
                                      <p:to>
                                        <p:strVal val="visible"/>
                                      </p:to>
                                    </p:set>
                                    <p:anim calcmode="lin" valueType="num">
                                      <p:cBhvr>
                                        <p:cTn id="53" dur="250" fill="hold"/>
                                        <p:tgtEl>
                                          <p:spTgt spid="104"/>
                                        </p:tgtEl>
                                        <p:attrNameLst>
                                          <p:attrName>ppt_w</p:attrName>
                                        </p:attrNameLst>
                                      </p:cBhvr>
                                      <p:tavLst>
                                        <p:tav tm="0">
                                          <p:val>
                                            <p:fltVal val="0"/>
                                          </p:val>
                                        </p:tav>
                                        <p:tav tm="100000">
                                          <p:val>
                                            <p:strVal val="#ppt_w"/>
                                          </p:val>
                                        </p:tav>
                                      </p:tavLst>
                                    </p:anim>
                                    <p:anim calcmode="lin" valueType="num">
                                      <p:cBhvr>
                                        <p:cTn id="54" dur="250" fill="hold"/>
                                        <p:tgtEl>
                                          <p:spTgt spid="104"/>
                                        </p:tgtEl>
                                        <p:attrNameLst>
                                          <p:attrName>ppt_h</p:attrName>
                                        </p:attrNameLst>
                                      </p:cBhvr>
                                      <p:tavLst>
                                        <p:tav tm="0">
                                          <p:val>
                                            <p:fltVal val="0"/>
                                          </p:val>
                                        </p:tav>
                                        <p:tav tm="100000">
                                          <p:val>
                                            <p:strVal val="#ppt_h"/>
                                          </p:val>
                                        </p:tav>
                                      </p:tavLst>
                                    </p:anim>
                                  </p:childTnLst>
                                </p:cTn>
                              </p:par>
                              <p:par>
                                <p:cTn id="55" presetID="10" presetClass="entr" presetSubtype="0" fill="hold" nodeType="withEffect">
                                  <p:stCondLst>
                                    <p:cond delay="250"/>
                                  </p:stCondLst>
                                  <p:childTnLst>
                                    <p:set>
                                      <p:cBhvr>
                                        <p:cTn id="56" dur="1" fill="hold">
                                          <p:stCondLst>
                                            <p:cond delay="0"/>
                                          </p:stCondLst>
                                        </p:cTn>
                                        <p:tgtEl>
                                          <p:spTgt spid="104"/>
                                        </p:tgtEl>
                                        <p:attrNameLst>
                                          <p:attrName>style.visibility</p:attrName>
                                        </p:attrNameLst>
                                      </p:cBhvr>
                                      <p:to>
                                        <p:strVal val="visible"/>
                                      </p:to>
                                    </p:set>
                                    <p:animEffect transition="in" filter="fade">
                                      <p:cBhvr>
                                        <p:cTn id="57" dur="500"/>
                                        <p:tgtEl>
                                          <p:spTgt spid="104"/>
                                        </p:tgtEl>
                                      </p:cBhvr>
                                    </p:animEffect>
                                  </p:childTnLst>
                                </p:cTn>
                              </p:par>
                              <p:par>
                                <p:cTn id="58" presetID="6" presetClass="emph" presetSubtype="0" fill="hold" nodeType="withEffect">
                                  <p:stCondLst>
                                    <p:cond delay="250"/>
                                  </p:stCondLst>
                                  <p:childTnLst>
                                    <p:animScale>
                                      <p:cBhvr>
                                        <p:cTn id="59" dur="10" fill="hold"/>
                                        <p:tgtEl>
                                          <p:spTgt spid="104"/>
                                        </p:tgtEl>
                                      </p:cBhvr>
                                      <p:by x="80000" y="80000"/>
                                    </p:animScale>
                                  </p:childTnLst>
                                </p:cTn>
                              </p:par>
                              <p:par>
                                <p:cTn id="60" presetID="6" presetClass="emph" presetSubtype="0" decel="100000" fill="hold" nodeType="withEffect">
                                  <p:stCondLst>
                                    <p:cond delay="250"/>
                                  </p:stCondLst>
                                  <p:childTnLst>
                                    <p:animScale>
                                      <p:cBhvr>
                                        <p:cTn id="61" dur="1000" fill="hold"/>
                                        <p:tgtEl>
                                          <p:spTgt spid="104"/>
                                        </p:tgtEl>
                                      </p:cBhvr>
                                      <p:by x="125000" y="125000"/>
                                    </p:animScale>
                                  </p:childTnLst>
                                </p:cTn>
                              </p:par>
                              <p:par>
                                <p:cTn id="62" presetID="23" presetClass="entr" presetSubtype="16" fill="hold" nodeType="withEffect">
                                  <p:stCondLst>
                                    <p:cond delay="250"/>
                                  </p:stCondLst>
                                  <p:childTnLst>
                                    <p:set>
                                      <p:cBhvr>
                                        <p:cTn id="63" dur="1" fill="hold">
                                          <p:stCondLst>
                                            <p:cond delay="0"/>
                                          </p:stCondLst>
                                        </p:cTn>
                                        <p:tgtEl>
                                          <p:spTgt spid="105"/>
                                        </p:tgtEl>
                                        <p:attrNameLst>
                                          <p:attrName>style.visibility</p:attrName>
                                        </p:attrNameLst>
                                      </p:cBhvr>
                                      <p:to>
                                        <p:strVal val="visible"/>
                                      </p:to>
                                    </p:set>
                                    <p:anim calcmode="lin" valueType="num">
                                      <p:cBhvr>
                                        <p:cTn id="64" dur="250" fill="hold"/>
                                        <p:tgtEl>
                                          <p:spTgt spid="105"/>
                                        </p:tgtEl>
                                        <p:attrNameLst>
                                          <p:attrName>ppt_w</p:attrName>
                                        </p:attrNameLst>
                                      </p:cBhvr>
                                      <p:tavLst>
                                        <p:tav tm="0">
                                          <p:val>
                                            <p:fltVal val="0"/>
                                          </p:val>
                                        </p:tav>
                                        <p:tav tm="100000">
                                          <p:val>
                                            <p:strVal val="#ppt_w"/>
                                          </p:val>
                                        </p:tav>
                                      </p:tavLst>
                                    </p:anim>
                                    <p:anim calcmode="lin" valueType="num">
                                      <p:cBhvr>
                                        <p:cTn id="65" dur="250" fill="hold"/>
                                        <p:tgtEl>
                                          <p:spTgt spid="105"/>
                                        </p:tgtEl>
                                        <p:attrNameLst>
                                          <p:attrName>ppt_h</p:attrName>
                                        </p:attrNameLst>
                                      </p:cBhvr>
                                      <p:tavLst>
                                        <p:tav tm="0">
                                          <p:val>
                                            <p:fltVal val="0"/>
                                          </p:val>
                                        </p:tav>
                                        <p:tav tm="100000">
                                          <p:val>
                                            <p:strVal val="#ppt_h"/>
                                          </p:val>
                                        </p:tav>
                                      </p:tavLst>
                                    </p:anim>
                                  </p:childTnLst>
                                </p:cTn>
                              </p:par>
                              <p:par>
                                <p:cTn id="66" presetID="10" presetClass="entr" presetSubtype="0" fill="hold" nodeType="withEffect">
                                  <p:stCondLst>
                                    <p:cond delay="250"/>
                                  </p:stCondLst>
                                  <p:childTnLst>
                                    <p:set>
                                      <p:cBhvr>
                                        <p:cTn id="67" dur="1" fill="hold">
                                          <p:stCondLst>
                                            <p:cond delay="0"/>
                                          </p:stCondLst>
                                        </p:cTn>
                                        <p:tgtEl>
                                          <p:spTgt spid="105"/>
                                        </p:tgtEl>
                                        <p:attrNameLst>
                                          <p:attrName>style.visibility</p:attrName>
                                        </p:attrNameLst>
                                      </p:cBhvr>
                                      <p:to>
                                        <p:strVal val="visible"/>
                                      </p:to>
                                    </p:set>
                                    <p:animEffect transition="in" filter="fade">
                                      <p:cBhvr>
                                        <p:cTn id="68" dur="500"/>
                                        <p:tgtEl>
                                          <p:spTgt spid="105"/>
                                        </p:tgtEl>
                                      </p:cBhvr>
                                    </p:animEffect>
                                  </p:childTnLst>
                                </p:cTn>
                              </p:par>
                              <p:par>
                                <p:cTn id="69" presetID="6" presetClass="emph" presetSubtype="0" fill="hold" nodeType="withEffect">
                                  <p:stCondLst>
                                    <p:cond delay="250"/>
                                  </p:stCondLst>
                                  <p:childTnLst>
                                    <p:animScale>
                                      <p:cBhvr>
                                        <p:cTn id="70" dur="10" fill="hold"/>
                                        <p:tgtEl>
                                          <p:spTgt spid="105"/>
                                        </p:tgtEl>
                                      </p:cBhvr>
                                      <p:by x="80000" y="80000"/>
                                    </p:animScale>
                                  </p:childTnLst>
                                </p:cTn>
                              </p:par>
                              <p:par>
                                <p:cTn id="71" presetID="6" presetClass="emph" presetSubtype="0" decel="100000" fill="hold" nodeType="withEffect">
                                  <p:stCondLst>
                                    <p:cond delay="250"/>
                                  </p:stCondLst>
                                  <p:childTnLst>
                                    <p:animScale>
                                      <p:cBhvr>
                                        <p:cTn id="72" dur="1000" fill="hold"/>
                                        <p:tgtEl>
                                          <p:spTgt spid="105"/>
                                        </p:tgtEl>
                                      </p:cBhvr>
                                      <p:by x="125000" y="125000"/>
                                    </p:animScale>
                                  </p:childTnLst>
                                </p:cTn>
                              </p:par>
                              <p:par>
                                <p:cTn id="73" presetID="23" presetClass="entr" presetSubtype="16" fill="hold" nodeType="withEffect">
                                  <p:stCondLst>
                                    <p:cond delay="250"/>
                                  </p:stCondLst>
                                  <p:childTnLst>
                                    <p:set>
                                      <p:cBhvr>
                                        <p:cTn id="74" dur="1" fill="hold">
                                          <p:stCondLst>
                                            <p:cond delay="0"/>
                                          </p:stCondLst>
                                        </p:cTn>
                                        <p:tgtEl>
                                          <p:spTgt spid="3"/>
                                        </p:tgtEl>
                                        <p:attrNameLst>
                                          <p:attrName>style.visibility</p:attrName>
                                        </p:attrNameLst>
                                      </p:cBhvr>
                                      <p:to>
                                        <p:strVal val="visible"/>
                                      </p:to>
                                    </p:set>
                                    <p:anim calcmode="lin" valueType="num">
                                      <p:cBhvr>
                                        <p:cTn id="75" dur="250" fill="hold"/>
                                        <p:tgtEl>
                                          <p:spTgt spid="3"/>
                                        </p:tgtEl>
                                        <p:attrNameLst>
                                          <p:attrName>ppt_w</p:attrName>
                                        </p:attrNameLst>
                                      </p:cBhvr>
                                      <p:tavLst>
                                        <p:tav tm="0">
                                          <p:val>
                                            <p:fltVal val="0"/>
                                          </p:val>
                                        </p:tav>
                                        <p:tav tm="100000">
                                          <p:val>
                                            <p:strVal val="#ppt_w"/>
                                          </p:val>
                                        </p:tav>
                                      </p:tavLst>
                                    </p:anim>
                                    <p:anim calcmode="lin" valueType="num">
                                      <p:cBhvr>
                                        <p:cTn id="76" dur="250" fill="hold"/>
                                        <p:tgtEl>
                                          <p:spTgt spid="3"/>
                                        </p:tgtEl>
                                        <p:attrNameLst>
                                          <p:attrName>ppt_h</p:attrName>
                                        </p:attrNameLst>
                                      </p:cBhvr>
                                      <p:tavLst>
                                        <p:tav tm="0">
                                          <p:val>
                                            <p:fltVal val="0"/>
                                          </p:val>
                                        </p:tav>
                                        <p:tav tm="100000">
                                          <p:val>
                                            <p:strVal val="#ppt_h"/>
                                          </p:val>
                                        </p:tav>
                                      </p:tavLst>
                                    </p:anim>
                                  </p:childTnLst>
                                </p:cTn>
                              </p:par>
                              <p:par>
                                <p:cTn id="77" presetID="10" presetClass="entr" presetSubtype="0" fill="hold" nodeType="withEffect">
                                  <p:stCondLst>
                                    <p:cond delay="250"/>
                                  </p:stCondLst>
                                  <p:childTnLst>
                                    <p:set>
                                      <p:cBhvr>
                                        <p:cTn id="78" dur="1" fill="hold">
                                          <p:stCondLst>
                                            <p:cond delay="0"/>
                                          </p:stCondLst>
                                        </p:cTn>
                                        <p:tgtEl>
                                          <p:spTgt spid="3"/>
                                        </p:tgtEl>
                                        <p:attrNameLst>
                                          <p:attrName>style.visibility</p:attrName>
                                        </p:attrNameLst>
                                      </p:cBhvr>
                                      <p:to>
                                        <p:strVal val="visible"/>
                                      </p:to>
                                    </p:set>
                                    <p:animEffect transition="in" filter="fade">
                                      <p:cBhvr>
                                        <p:cTn id="79" dur="500"/>
                                        <p:tgtEl>
                                          <p:spTgt spid="3"/>
                                        </p:tgtEl>
                                      </p:cBhvr>
                                    </p:animEffect>
                                  </p:childTnLst>
                                </p:cTn>
                              </p:par>
                              <p:par>
                                <p:cTn id="80" presetID="6" presetClass="emph" presetSubtype="0" fill="hold" nodeType="withEffect">
                                  <p:stCondLst>
                                    <p:cond delay="250"/>
                                  </p:stCondLst>
                                  <p:childTnLst>
                                    <p:animScale>
                                      <p:cBhvr>
                                        <p:cTn id="81" dur="10" fill="hold"/>
                                        <p:tgtEl>
                                          <p:spTgt spid="3"/>
                                        </p:tgtEl>
                                      </p:cBhvr>
                                      <p:by x="80000" y="80000"/>
                                    </p:animScale>
                                  </p:childTnLst>
                                </p:cTn>
                              </p:par>
                              <p:par>
                                <p:cTn id="82" presetID="6" presetClass="emph" presetSubtype="0" decel="100000" fill="hold" nodeType="withEffect">
                                  <p:stCondLst>
                                    <p:cond delay="250"/>
                                  </p:stCondLst>
                                  <p:childTnLst>
                                    <p:animScale>
                                      <p:cBhvr>
                                        <p:cTn id="83" dur="1000" fill="hold"/>
                                        <p:tgtEl>
                                          <p:spTgt spid="3"/>
                                        </p:tgtEl>
                                      </p:cBhvr>
                                      <p:by x="125000" y="125000"/>
                                    </p:animScale>
                                  </p:childTnLst>
                                </p:cTn>
                              </p:par>
                              <p:par>
                                <p:cTn id="84" presetID="10" presetClass="entr" presetSubtype="0" fill="hold" grpId="0" nodeType="withEffect">
                                  <p:stCondLst>
                                    <p:cond delay="35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250"/>
                                        <p:tgtEl>
                                          <p:spTgt spid="29"/>
                                        </p:tgtEl>
                                      </p:cBhvr>
                                    </p:animEffect>
                                  </p:childTnLst>
                                </p:cTn>
                              </p:par>
                              <p:par>
                                <p:cTn id="87" presetID="42" presetClass="path" presetSubtype="0" decel="100000" fill="hold" grpId="1" nodeType="withEffect">
                                  <p:stCondLst>
                                    <p:cond delay="350"/>
                                  </p:stCondLst>
                                  <p:childTnLst>
                                    <p:animMotion origin="layout" path="M 1.25E-6 0.03889 L 1.25E-6 1.85185E-6 " pathEditMode="relative" rAng="0" ptsTypes="AA">
                                      <p:cBhvr>
                                        <p:cTn id="88" dur="500" fill="hold"/>
                                        <p:tgtEl>
                                          <p:spTgt spid="29"/>
                                        </p:tgtEl>
                                        <p:attrNameLst>
                                          <p:attrName>ppt_x</p:attrName>
                                          <p:attrName>ppt_y</p:attrName>
                                        </p:attrNameLst>
                                      </p:cBhvr>
                                      <p:rCtr x="0" y="-1944"/>
                                    </p:animMotion>
                                  </p:childTnLst>
                                </p:cTn>
                              </p:par>
                              <p:par>
                                <p:cTn id="89" presetID="10" presetClass="entr" presetSubtype="0" fill="hold" grpId="0" nodeType="withEffect">
                                  <p:stCondLst>
                                    <p:cond delay="50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750"/>
                                        <p:tgtEl>
                                          <p:spTgt spid="30"/>
                                        </p:tgtEl>
                                      </p:cBhvr>
                                    </p:animEffect>
                                  </p:childTnLst>
                                </p:cTn>
                              </p:par>
                              <p:par>
                                <p:cTn id="92" presetID="42" presetClass="path" presetSubtype="0" decel="100000" fill="hold" grpId="1" nodeType="withEffect">
                                  <p:stCondLst>
                                    <p:cond delay="500"/>
                                  </p:stCondLst>
                                  <p:childTnLst>
                                    <p:animMotion origin="layout" path="M -4.16667E-6 -0.03472 L -4.16667E-6 7.40741E-7 " pathEditMode="relative" rAng="0" ptsTypes="AA">
                                      <p:cBhvr>
                                        <p:cTn id="93" dur="750" fill="hold"/>
                                        <p:tgtEl>
                                          <p:spTgt spid="30"/>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5" grpId="0" animBg="1"/>
      <p:bldP spid="45" grpId="1" animBg="1"/>
      <p:bldP spid="46" grpId="0" animBg="1"/>
      <p:bldP spid="46" grpId="1" animBg="1"/>
      <p:bldP spid="47" grpId="0" animBg="1"/>
      <p:bldP spid="47" grpId="1" animBg="1"/>
      <p:bldP spid="51" grpId="0"/>
      <p:bldP spid="51" grpId="1"/>
      <p:bldP spid="53" grpId="0"/>
      <p:bldP spid="53" grpId="1"/>
      <p:bldP spid="54" grpId="0"/>
      <p:bldP spid="54" grpId="1"/>
      <p:bldP spid="29" grpId="0" animBg="1"/>
      <p:bldP spid="29" grpId="1" animBg="1"/>
      <p:bldP spid="30" grpId="0"/>
      <p:bldP spid="30" grpId="1"/>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A0CCEBC-6AE6-9EBF-D7AD-245D00D81466}"/>
            </a:ext>
          </a:extLst>
        </p:cNvPr>
        <p:cNvGrpSpPr/>
        <p:nvPr/>
      </p:nvGrpSpPr>
      <p:grpSpPr>
        <a:xfrm>
          <a:off x="0" y="0"/>
          <a:ext cx="0" cy="0"/>
          <a:chOff x="0" y="0"/>
          <a:chExt cx="0" cy="0"/>
        </a:xfrm>
      </p:grpSpPr>
      <p:sp>
        <p:nvSpPr>
          <p:cNvPr id="83" name="Rectangle: Rounded Corners 82">
            <a:extLst>
              <a:ext uri="{FF2B5EF4-FFF2-40B4-BE49-F238E27FC236}">
                <a16:creationId xmlns:a16="http://schemas.microsoft.com/office/drawing/2014/main" id="{D904A075-4E4B-CB60-2E15-E2FB0EA3E2F1}"/>
              </a:ext>
            </a:extLst>
          </p:cNvPr>
          <p:cNvSpPr>
            <a:spLocks/>
          </p:cNvSpPr>
          <p:nvPr/>
        </p:nvSpPr>
        <p:spPr bwMode="auto">
          <a:xfrm>
            <a:off x="5668469" y="1726156"/>
            <a:ext cx="5933285" cy="4400739"/>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5" name="Rectangle: Rounded Corners 84">
            <a:extLst>
              <a:ext uri="{FF2B5EF4-FFF2-40B4-BE49-F238E27FC236}">
                <a16:creationId xmlns:a16="http://schemas.microsoft.com/office/drawing/2014/main" id="{E15F71D7-1BC6-09B4-4400-33620EC8BF7C}"/>
              </a:ext>
            </a:extLst>
          </p:cNvPr>
          <p:cNvSpPr>
            <a:spLocks/>
          </p:cNvSpPr>
          <p:nvPr/>
        </p:nvSpPr>
        <p:spPr bwMode="auto">
          <a:xfrm>
            <a:off x="552487" y="3161212"/>
            <a:ext cx="4985166" cy="909583"/>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86" name="Content Placeholder 2">
            <a:extLst>
              <a:ext uri="{FF2B5EF4-FFF2-40B4-BE49-F238E27FC236}">
                <a16:creationId xmlns:a16="http://schemas.microsoft.com/office/drawing/2014/main" id="{1B359180-4CEC-C4C7-0045-35A252A66C91}"/>
              </a:ext>
            </a:extLst>
          </p:cNvPr>
          <p:cNvSpPr txBox="1">
            <a:spLocks/>
          </p:cNvSpPr>
          <p:nvPr/>
        </p:nvSpPr>
        <p:spPr>
          <a:xfrm>
            <a:off x="748678" y="3393192"/>
            <a:ext cx="3165371"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609630" fontAlgn="base">
              <a:spcBef>
                <a:spcPts val="1200"/>
              </a:spcBef>
              <a:spcAft>
                <a:spcPct val="0"/>
              </a:spcAft>
              <a:buNone/>
              <a:defRPr/>
            </a:pPr>
            <a:r>
              <a:rPr lang="en-US" sz="1600">
                <a:latin typeface="+mn-lt"/>
              </a:rPr>
              <a:t>Manage key subscription details from a centralized management center</a:t>
            </a:r>
          </a:p>
        </p:txBody>
      </p:sp>
      <p:sp>
        <p:nvSpPr>
          <p:cNvPr id="131" name="Rectangle: Rounded Corners 130">
            <a:extLst>
              <a:ext uri="{FF2B5EF4-FFF2-40B4-BE49-F238E27FC236}">
                <a16:creationId xmlns:a16="http://schemas.microsoft.com/office/drawing/2014/main" id="{3593C298-F986-4DDD-60C0-A77E93EC7DBE}"/>
              </a:ext>
            </a:extLst>
          </p:cNvPr>
          <p:cNvSpPr>
            <a:spLocks/>
          </p:cNvSpPr>
          <p:nvPr/>
        </p:nvSpPr>
        <p:spPr bwMode="auto">
          <a:xfrm>
            <a:off x="552487" y="4190354"/>
            <a:ext cx="4985166" cy="909583"/>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2" name="Content Placeholder 2">
            <a:extLst>
              <a:ext uri="{FF2B5EF4-FFF2-40B4-BE49-F238E27FC236}">
                <a16:creationId xmlns:a16="http://schemas.microsoft.com/office/drawing/2014/main" id="{1B944246-B41E-89A1-360A-2670133EFFE5}"/>
              </a:ext>
            </a:extLst>
          </p:cNvPr>
          <p:cNvSpPr txBox="1">
            <a:spLocks/>
          </p:cNvSpPr>
          <p:nvPr/>
        </p:nvSpPr>
        <p:spPr>
          <a:xfrm>
            <a:off x="748678" y="4422334"/>
            <a:ext cx="4654595"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609630" fontAlgn="base">
              <a:spcBef>
                <a:spcPts val="1200"/>
              </a:spcBef>
              <a:spcAft>
                <a:spcPct val="0"/>
              </a:spcAft>
              <a:buNone/>
              <a:defRPr/>
            </a:pPr>
            <a:r>
              <a:rPr lang="en-US" sz="1600">
                <a:latin typeface="+mn-lt"/>
              </a:rPr>
              <a:t>Simplify the setup of hubs, projects, and resources</a:t>
            </a:r>
          </a:p>
        </p:txBody>
      </p:sp>
      <p:sp>
        <p:nvSpPr>
          <p:cNvPr id="133" name="Rectangle: Rounded Corners 132">
            <a:extLst>
              <a:ext uri="{FF2B5EF4-FFF2-40B4-BE49-F238E27FC236}">
                <a16:creationId xmlns:a16="http://schemas.microsoft.com/office/drawing/2014/main" id="{CF367F36-9A81-C82D-93ED-1C15BCDA8B60}"/>
              </a:ext>
            </a:extLst>
          </p:cNvPr>
          <p:cNvSpPr>
            <a:spLocks/>
          </p:cNvSpPr>
          <p:nvPr/>
        </p:nvSpPr>
        <p:spPr bwMode="auto">
          <a:xfrm>
            <a:off x="552487" y="5217312"/>
            <a:ext cx="4985166" cy="909583"/>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4" name="Content Placeholder 2">
            <a:extLst>
              <a:ext uri="{FF2B5EF4-FFF2-40B4-BE49-F238E27FC236}">
                <a16:creationId xmlns:a16="http://schemas.microsoft.com/office/drawing/2014/main" id="{14554C15-5D29-5AB4-E255-E2769131D387}"/>
              </a:ext>
            </a:extLst>
          </p:cNvPr>
          <p:cNvSpPr txBox="1">
            <a:spLocks/>
          </p:cNvSpPr>
          <p:nvPr/>
        </p:nvSpPr>
        <p:spPr>
          <a:xfrm>
            <a:off x="748678" y="5449292"/>
            <a:ext cx="2913540" cy="445622"/>
          </a:xfrm>
          <a:prstGeom prst="rect">
            <a:avLst/>
          </a:prstGeom>
        </p:spPr>
        <p:txBody>
          <a:bodyPr wrap="square" lIns="0" tIns="0" rIns="0" bIns="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0" lang="en-US" sz="1400" b="0" i="0" u="none" strike="noStrike" kern="1200" cap="none" spc="-49" normalizeH="0" baseline="0" dirty="0">
                <a:ln w="3175">
                  <a:noFill/>
                </a:ln>
                <a:solidFill>
                  <a:srgbClr val="FFFFFF"/>
                </a:solidFill>
                <a:effectLst/>
                <a:uLnTx/>
                <a:uFillTx/>
                <a:latin typeface="Segoe Sans Tex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609630" fontAlgn="base">
              <a:spcBef>
                <a:spcPts val="1200"/>
              </a:spcBef>
              <a:spcAft>
                <a:spcPct val="0"/>
              </a:spcAft>
              <a:buNone/>
              <a:defRPr/>
            </a:pPr>
            <a:r>
              <a:rPr lang="en-US" sz="1600">
                <a:latin typeface="+mn-lt"/>
              </a:rPr>
              <a:t>Create and export AI reports to help govern AI apps and models </a:t>
            </a:r>
          </a:p>
        </p:txBody>
      </p:sp>
      <p:sp>
        <p:nvSpPr>
          <p:cNvPr id="56" name="Title 55">
            <a:extLst>
              <a:ext uri="{FF2B5EF4-FFF2-40B4-BE49-F238E27FC236}">
                <a16:creationId xmlns:a16="http://schemas.microsoft.com/office/drawing/2014/main" id="{FC7B4B76-B104-E705-FFC5-D68C58ABAA2D}"/>
              </a:ext>
            </a:extLst>
          </p:cNvPr>
          <p:cNvSpPr>
            <a:spLocks noGrp="1"/>
          </p:cNvSpPr>
          <p:nvPr>
            <p:ph type="title"/>
          </p:nvPr>
        </p:nvSpPr>
        <p:spPr/>
        <p:txBody>
          <a:bodyPr/>
          <a:lstStyle/>
          <a:p>
            <a:pPr marL="0" marR="0" lvl="0" indent="0" fontAlgn="base">
              <a:spcAft>
                <a:spcPts val="0"/>
              </a:spcAft>
              <a:buClrTx/>
              <a:buSzTx/>
              <a:tabLst/>
              <a:defRPr/>
            </a:pPr>
            <a:r>
              <a:rPr lang="en-US">
                <a:solidFill>
                  <a:schemeClr val="bg1"/>
                </a:solidFill>
              </a:rPr>
              <a:t>New management and governance controls in Azure AI Foundry : AI Report </a:t>
            </a:r>
            <a:r>
              <a:rPr lang="en-US" sz="2400">
                <a:solidFill>
                  <a:schemeClr val="bg1"/>
                </a:solidFill>
              </a:rPr>
              <a:t>(Preview)</a:t>
            </a:r>
          </a:p>
        </p:txBody>
      </p:sp>
      <p:sp>
        <p:nvSpPr>
          <p:cNvPr id="18" name="TextBox 17">
            <a:extLst>
              <a:ext uri="{FF2B5EF4-FFF2-40B4-BE49-F238E27FC236}">
                <a16:creationId xmlns:a16="http://schemas.microsoft.com/office/drawing/2014/main" id="{8464FB0F-5990-4F94-F633-7A846CF53ACD}"/>
              </a:ext>
            </a:extLst>
          </p:cNvPr>
          <p:cNvSpPr txBox="1"/>
          <p:nvPr/>
        </p:nvSpPr>
        <p:spPr>
          <a:xfrm>
            <a:off x="2525356" y="6172544"/>
            <a:ext cx="9036677" cy="246221"/>
          </a:xfrm>
          <a:prstGeom prst="rect">
            <a:avLst/>
          </a:prstGeom>
          <a:noFill/>
        </p:spPr>
        <p:txBody>
          <a:bodyPr wrap="square">
            <a:spAutoFit/>
          </a:bodyPr>
          <a:lstStyle/>
          <a:p>
            <a:pPr algn="r">
              <a:defRPr/>
            </a:pPr>
            <a:r>
              <a:rPr lang="en-US" sz="1000">
                <a:solidFill>
                  <a:srgbClr val="FFFFFF"/>
                </a:solidFill>
                <a:latin typeface="Calibri" panose="020F0502020204030204" pitchFamily="34" charset="0"/>
              </a:rPr>
              <a:t>AI.Azure.com</a:t>
            </a:r>
          </a:p>
        </p:txBody>
      </p:sp>
      <p:pic>
        <p:nvPicPr>
          <p:cNvPr id="4" name="Picture 3" descr="A blue and pink ribbon&#10;&#10;Description automatically generated">
            <a:extLst>
              <a:ext uri="{FF2B5EF4-FFF2-40B4-BE49-F238E27FC236}">
                <a16:creationId xmlns:a16="http://schemas.microsoft.com/office/drawing/2014/main" id="{37B6D8A9-9FD2-65AB-3E85-4724AC8F55E0}"/>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371413" y="1726156"/>
            <a:ext cx="947196" cy="947437"/>
          </a:xfrm>
          <a:prstGeom prst="rect">
            <a:avLst/>
          </a:prstGeom>
        </p:spPr>
      </p:pic>
      <p:pic>
        <p:nvPicPr>
          <p:cNvPr id="14" name="Picture 13" descr="A screenshot of AI reports in Azure AI Foundry">
            <a:extLst>
              <a:ext uri="{FF2B5EF4-FFF2-40B4-BE49-F238E27FC236}">
                <a16:creationId xmlns:a16="http://schemas.microsoft.com/office/drawing/2014/main" id="{0B9660E6-BE37-12F3-4B5C-70575E99A525}"/>
              </a:ext>
            </a:extLst>
          </p:cNvPr>
          <p:cNvPicPr>
            <a:picLocks noChangeAspect="1"/>
          </p:cNvPicPr>
          <p:nvPr/>
        </p:nvPicPr>
        <p:blipFill>
          <a:blip r:embed="rId4"/>
          <a:stretch>
            <a:fillRect/>
          </a:stretch>
        </p:blipFill>
        <p:spPr>
          <a:xfrm>
            <a:off x="5790500" y="1822828"/>
            <a:ext cx="5680438" cy="4207394"/>
          </a:xfrm>
          <a:prstGeom prst="roundRect">
            <a:avLst>
              <a:gd name="adj" fmla="val 1493"/>
            </a:avLst>
          </a:prstGeom>
        </p:spPr>
      </p:pic>
    </p:spTree>
    <p:extLst>
      <p:ext uri="{BB962C8B-B14F-4D97-AF65-F5344CB8AC3E}">
        <p14:creationId xmlns:p14="http://schemas.microsoft.com/office/powerpoint/2010/main" val="126548773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p:cTn id="7" dur="250" fill="hold"/>
                                        <p:tgtEl>
                                          <p:spTgt spid="83"/>
                                        </p:tgtEl>
                                        <p:attrNameLst>
                                          <p:attrName>ppt_w</p:attrName>
                                        </p:attrNameLst>
                                      </p:cBhvr>
                                      <p:tavLst>
                                        <p:tav tm="0">
                                          <p:val>
                                            <p:strVal val="2/3*#ppt_w"/>
                                          </p:val>
                                        </p:tav>
                                        <p:tav tm="100000">
                                          <p:val>
                                            <p:strVal val="#ppt_w"/>
                                          </p:val>
                                        </p:tav>
                                      </p:tavLst>
                                    </p:anim>
                                    <p:anim calcmode="lin" valueType="num">
                                      <p:cBhvr>
                                        <p:cTn id="8" dur="250" fill="hold"/>
                                        <p:tgtEl>
                                          <p:spTgt spid="83"/>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fade">
                                      <p:cBhvr>
                                        <p:cTn id="11" dur="500"/>
                                        <p:tgtEl>
                                          <p:spTgt spid="83"/>
                                        </p:tgtEl>
                                      </p:cBhvr>
                                    </p:animEffect>
                                  </p:childTnLst>
                                </p:cTn>
                              </p:par>
                              <p:par>
                                <p:cTn id="12" presetID="6" presetClass="emph" presetSubtype="0" fill="hold" grpId="2" nodeType="withEffect">
                                  <p:stCondLst>
                                    <p:cond delay="0"/>
                                  </p:stCondLst>
                                  <p:childTnLst>
                                    <p:animScale>
                                      <p:cBhvr>
                                        <p:cTn id="13" dur="10" fill="hold"/>
                                        <p:tgtEl>
                                          <p:spTgt spid="83"/>
                                        </p:tgtEl>
                                      </p:cBhvr>
                                      <p:by x="80000" y="80000"/>
                                    </p:animScale>
                                  </p:childTnLst>
                                </p:cTn>
                              </p:par>
                              <p:par>
                                <p:cTn id="14" presetID="6" presetClass="emph" presetSubtype="0" decel="100000" fill="hold" grpId="3" nodeType="withEffect">
                                  <p:stCondLst>
                                    <p:cond delay="0"/>
                                  </p:stCondLst>
                                  <p:childTnLst>
                                    <p:animScale>
                                      <p:cBhvr>
                                        <p:cTn id="15" dur="1000" fill="hold"/>
                                        <p:tgtEl>
                                          <p:spTgt spid="83"/>
                                        </p:tgtEl>
                                      </p:cBhvr>
                                      <p:by x="125000" y="125000"/>
                                    </p:animScale>
                                  </p:childTnLst>
                                </p:cTn>
                              </p:par>
                              <p:par>
                                <p:cTn id="16" presetID="10" presetClass="entr" presetSubtype="0" fill="hold" grpId="0" nodeType="withEffect">
                                  <p:stCondLst>
                                    <p:cond delay="0"/>
                                  </p:stCondLst>
                                  <p:childTnLst>
                                    <p:set>
                                      <p:cBhvr>
                                        <p:cTn id="17" dur="1" fill="hold">
                                          <p:stCondLst>
                                            <p:cond delay="0"/>
                                          </p:stCondLst>
                                        </p:cTn>
                                        <p:tgtEl>
                                          <p:spTgt spid="85"/>
                                        </p:tgtEl>
                                        <p:attrNameLst>
                                          <p:attrName>style.visibility</p:attrName>
                                        </p:attrNameLst>
                                      </p:cBhvr>
                                      <p:to>
                                        <p:strVal val="visible"/>
                                      </p:to>
                                    </p:set>
                                    <p:animEffect transition="in" filter="fade">
                                      <p:cBhvr>
                                        <p:cTn id="18" dur="1000"/>
                                        <p:tgtEl>
                                          <p:spTgt spid="85"/>
                                        </p:tgtEl>
                                      </p:cBhvr>
                                    </p:animEffect>
                                  </p:childTnLst>
                                </p:cTn>
                              </p:par>
                              <p:par>
                                <p:cTn id="19" presetID="23" presetClass="entr" presetSubtype="272" fill="hold" grpId="0" nodeType="withEffect">
                                  <p:stCondLst>
                                    <p:cond delay="250"/>
                                  </p:stCondLst>
                                  <p:childTnLst>
                                    <p:set>
                                      <p:cBhvr>
                                        <p:cTn id="20" dur="1" fill="hold">
                                          <p:stCondLst>
                                            <p:cond delay="0"/>
                                          </p:stCondLst>
                                        </p:cTn>
                                        <p:tgtEl>
                                          <p:spTgt spid="86"/>
                                        </p:tgtEl>
                                        <p:attrNameLst>
                                          <p:attrName>style.visibility</p:attrName>
                                        </p:attrNameLst>
                                      </p:cBhvr>
                                      <p:to>
                                        <p:strVal val="visible"/>
                                      </p:to>
                                    </p:set>
                                    <p:anim calcmode="lin" valueType="num">
                                      <p:cBhvr>
                                        <p:cTn id="21" dur="250" fill="hold"/>
                                        <p:tgtEl>
                                          <p:spTgt spid="86"/>
                                        </p:tgtEl>
                                        <p:attrNameLst>
                                          <p:attrName>ppt_w</p:attrName>
                                        </p:attrNameLst>
                                      </p:cBhvr>
                                      <p:tavLst>
                                        <p:tav tm="0">
                                          <p:val>
                                            <p:strVal val="2/3*#ppt_w"/>
                                          </p:val>
                                        </p:tav>
                                        <p:tav tm="100000">
                                          <p:val>
                                            <p:strVal val="#ppt_w"/>
                                          </p:val>
                                        </p:tav>
                                      </p:tavLst>
                                    </p:anim>
                                    <p:anim calcmode="lin" valueType="num">
                                      <p:cBhvr>
                                        <p:cTn id="22" dur="250" fill="hold"/>
                                        <p:tgtEl>
                                          <p:spTgt spid="86"/>
                                        </p:tgtEl>
                                        <p:attrNameLst>
                                          <p:attrName>ppt_h</p:attrName>
                                        </p:attrNameLst>
                                      </p:cBhvr>
                                      <p:tavLst>
                                        <p:tav tm="0">
                                          <p:val>
                                            <p:strVal val="2/3*#ppt_h"/>
                                          </p:val>
                                        </p:tav>
                                        <p:tav tm="100000">
                                          <p:val>
                                            <p:strVal val="#ppt_h"/>
                                          </p:val>
                                        </p:tav>
                                      </p:tavLst>
                                    </p:anim>
                                  </p:childTnLst>
                                </p:cTn>
                              </p:par>
                              <p:par>
                                <p:cTn id="23" presetID="10" presetClass="entr" presetSubtype="0" fill="hold" grpId="1" nodeType="withEffect">
                                  <p:stCondLst>
                                    <p:cond delay="25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500"/>
                                        <p:tgtEl>
                                          <p:spTgt spid="86"/>
                                        </p:tgtEl>
                                      </p:cBhvr>
                                    </p:animEffect>
                                  </p:childTnLst>
                                </p:cTn>
                              </p:par>
                              <p:par>
                                <p:cTn id="26" presetID="6" presetClass="emph" presetSubtype="0" fill="hold" grpId="2" nodeType="withEffect">
                                  <p:stCondLst>
                                    <p:cond delay="250"/>
                                  </p:stCondLst>
                                  <p:childTnLst>
                                    <p:animScale>
                                      <p:cBhvr>
                                        <p:cTn id="27" dur="10" fill="hold"/>
                                        <p:tgtEl>
                                          <p:spTgt spid="86"/>
                                        </p:tgtEl>
                                      </p:cBhvr>
                                      <p:by x="80000" y="80000"/>
                                    </p:animScale>
                                  </p:childTnLst>
                                </p:cTn>
                              </p:par>
                              <p:par>
                                <p:cTn id="28" presetID="6" presetClass="emph" presetSubtype="0" decel="100000" fill="hold" grpId="3" nodeType="withEffect">
                                  <p:stCondLst>
                                    <p:cond delay="250"/>
                                  </p:stCondLst>
                                  <p:childTnLst>
                                    <p:animScale>
                                      <p:cBhvr>
                                        <p:cTn id="29" dur="1000" fill="hold"/>
                                        <p:tgtEl>
                                          <p:spTgt spid="86"/>
                                        </p:tgtEl>
                                      </p:cBhvr>
                                      <p:by x="125000" y="125000"/>
                                    </p:animScale>
                                  </p:childTnLst>
                                </p:cTn>
                              </p:par>
                              <p:par>
                                <p:cTn id="30" presetID="10" presetClass="entr" presetSubtype="0" fill="hold" grpId="0" nodeType="withEffect">
                                  <p:stCondLst>
                                    <p:cond delay="0"/>
                                  </p:stCondLst>
                                  <p:childTnLst>
                                    <p:set>
                                      <p:cBhvr>
                                        <p:cTn id="31" dur="1" fill="hold">
                                          <p:stCondLst>
                                            <p:cond delay="0"/>
                                          </p:stCondLst>
                                        </p:cTn>
                                        <p:tgtEl>
                                          <p:spTgt spid="131"/>
                                        </p:tgtEl>
                                        <p:attrNameLst>
                                          <p:attrName>style.visibility</p:attrName>
                                        </p:attrNameLst>
                                      </p:cBhvr>
                                      <p:to>
                                        <p:strVal val="visible"/>
                                      </p:to>
                                    </p:set>
                                    <p:animEffect transition="in" filter="fade">
                                      <p:cBhvr>
                                        <p:cTn id="32" dur="1000"/>
                                        <p:tgtEl>
                                          <p:spTgt spid="131"/>
                                        </p:tgtEl>
                                      </p:cBhvr>
                                    </p:animEffect>
                                  </p:childTnLst>
                                </p:cTn>
                              </p:par>
                              <p:par>
                                <p:cTn id="33" presetID="23" presetClass="entr" presetSubtype="272" fill="hold" grpId="0" nodeType="withEffect">
                                  <p:stCondLst>
                                    <p:cond delay="250"/>
                                  </p:stCondLst>
                                  <p:childTnLst>
                                    <p:set>
                                      <p:cBhvr>
                                        <p:cTn id="34" dur="1" fill="hold">
                                          <p:stCondLst>
                                            <p:cond delay="0"/>
                                          </p:stCondLst>
                                        </p:cTn>
                                        <p:tgtEl>
                                          <p:spTgt spid="132"/>
                                        </p:tgtEl>
                                        <p:attrNameLst>
                                          <p:attrName>style.visibility</p:attrName>
                                        </p:attrNameLst>
                                      </p:cBhvr>
                                      <p:to>
                                        <p:strVal val="visible"/>
                                      </p:to>
                                    </p:set>
                                    <p:anim calcmode="lin" valueType="num">
                                      <p:cBhvr>
                                        <p:cTn id="35" dur="250" fill="hold"/>
                                        <p:tgtEl>
                                          <p:spTgt spid="132"/>
                                        </p:tgtEl>
                                        <p:attrNameLst>
                                          <p:attrName>ppt_w</p:attrName>
                                        </p:attrNameLst>
                                      </p:cBhvr>
                                      <p:tavLst>
                                        <p:tav tm="0">
                                          <p:val>
                                            <p:strVal val="2/3*#ppt_w"/>
                                          </p:val>
                                        </p:tav>
                                        <p:tav tm="100000">
                                          <p:val>
                                            <p:strVal val="#ppt_w"/>
                                          </p:val>
                                        </p:tav>
                                      </p:tavLst>
                                    </p:anim>
                                    <p:anim calcmode="lin" valueType="num">
                                      <p:cBhvr>
                                        <p:cTn id="36" dur="250" fill="hold"/>
                                        <p:tgtEl>
                                          <p:spTgt spid="132"/>
                                        </p:tgtEl>
                                        <p:attrNameLst>
                                          <p:attrName>ppt_h</p:attrName>
                                        </p:attrNameLst>
                                      </p:cBhvr>
                                      <p:tavLst>
                                        <p:tav tm="0">
                                          <p:val>
                                            <p:strVal val="2/3*#ppt_h"/>
                                          </p:val>
                                        </p:tav>
                                        <p:tav tm="100000">
                                          <p:val>
                                            <p:strVal val="#ppt_h"/>
                                          </p:val>
                                        </p:tav>
                                      </p:tavLst>
                                    </p:anim>
                                  </p:childTnLst>
                                </p:cTn>
                              </p:par>
                              <p:par>
                                <p:cTn id="37" presetID="10" presetClass="entr" presetSubtype="0" fill="hold" grpId="1" nodeType="withEffect">
                                  <p:stCondLst>
                                    <p:cond delay="250"/>
                                  </p:stCondLst>
                                  <p:childTnLst>
                                    <p:set>
                                      <p:cBhvr>
                                        <p:cTn id="38" dur="1" fill="hold">
                                          <p:stCondLst>
                                            <p:cond delay="0"/>
                                          </p:stCondLst>
                                        </p:cTn>
                                        <p:tgtEl>
                                          <p:spTgt spid="132"/>
                                        </p:tgtEl>
                                        <p:attrNameLst>
                                          <p:attrName>style.visibility</p:attrName>
                                        </p:attrNameLst>
                                      </p:cBhvr>
                                      <p:to>
                                        <p:strVal val="visible"/>
                                      </p:to>
                                    </p:set>
                                    <p:animEffect transition="in" filter="fade">
                                      <p:cBhvr>
                                        <p:cTn id="39" dur="500"/>
                                        <p:tgtEl>
                                          <p:spTgt spid="132"/>
                                        </p:tgtEl>
                                      </p:cBhvr>
                                    </p:animEffect>
                                  </p:childTnLst>
                                </p:cTn>
                              </p:par>
                              <p:par>
                                <p:cTn id="40" presetID="6" presetClass="emph" presetSubtype="0" fill="hold" grpId="2" nodeType="withEffect">
                                  <p:stCondLst>
                                    <p:cond delay="250"/>
                                  </p:stCondLst>
                                  <p:childTnLst>
                                    <p:animScale>
                                      <p:cBhvr>
                                        <p:cTn id="41" dur="10" fill="hold"/>
                                        <p:tgtEl>
                                          <p:spTgt spid="132"/>
                                        </p:tgtEl>
                                      </p:cBhvr>
                                      <p:by x="80000" y="80000"/>
                                    </p:animScale>
                                  </p:childTnLst>
                                </p:cTn>
                              </p:par>
                              <p:par>
                                <p:cTn id="42" presetID="6" presetClass="emph" presetSubtype="0" decel="100000" fill="hold" grpId="3" nodeType="withEffect">
                                  <p:stCondLst>
                                    <p:cond delay="250"/>
                                  </p:stCondLst>
                                  <p:childTnLst>
                                    <p:animScale>
                                      <p:cBhvr>
                                        <p:cTn id="43" dur="1000" fill="hold"/>
                                        <p:tgtEl>
                                          <p:spTgt spid="132"/>
                                        </p:tgtEl>
                                      </p:cBhvr>
                                      <p:by x="125000" y="125000"/>
                                    </p:animScale>
                                  </p:childTnLst>
                                </p:cTn>
                              </p:par>
                              <p:par>
                                <p:cTn id="44" presetID="10" presetClass="entr" presetSubtype="0" fill="hold" grpId="0" nodeType="withEffect">
                                  <p:stCondLst>
                                    <p:cond delay="0"/>
                                  </p:stCondLst>
                                  <p:childTnLst>
                                    <p:set>
                                      <p:cBhvr>
                                        <p:cTn id="45" dur="1" fill="hold">
                                          <p:stCondLst>
                                            <p:cond delay="0"/>
                                          </p:stCondLst>
                                        </p:cTn>
                                        <p:tgtEl>
                                          <p:spTgt spid="133"/>
                                        </p:tgtEl>
                                        <p:attrNameLst>
                                          <p:attrName>style.visibility</p:attrName>
                                        </p:attrNameLst>
                                      </p:cBhvr>
                                      <p:to>
                                        <p:strVal val="visible"/>
                                      </p:to>
                                    </p:set>
                                    <p:animEffect transition="in" filter="fade">
                                      <p:cBhvr>
                                        <p:cTn id="46" dur="1000"/>
                                        <p:tgtEl>
                                          <p:spTgt spid="133"/>
                                        </p:tgtEl>
                                      </p:cBhvr>
                                    </p:animEffect>
                                  </p:childTnLst>
                                </p:cTn>
                              </p:par>
                              <p:par>
                                <p:cTn id="47" presetID="23" presetClass="entr" presetSubtype="272" fill="hold" grpId="0" nodeType="withEffect">
                                  <p:stCondLst>
                                    <p:cond delay="250"/>
                                  </p:stCondLst>
                                  <p:childTnLst>
                                    <p:set>
                                      <p:cBhvr>
                                        <p:cTn id="48" dur="1" fill="hold">
                                          <p:stCondLst>
                                            <p:cond delay="0"/>
                                          </p:stCondLst>
                                        </p:cTn>
                                        <p:tgtEl>
                                          <p:spTgt spid="134"/>
                                        </p:tgtEl>
                                        <p:attrNameLst>
                                          <p:attrName>style.visibility</p:attrName>
                                        </p:attrNameLst>
                                      </p:cBhvr>
                                      <p:to>
                                        <p:strVal val="visible"/>
                                      </p:to>
                                    </p:set>
                                    <p:anim calcmode="lin" valueType="num">
                                      <p:cBhvr>
                                        <p:cTn id="49" dur="250" fill="hold"/>
                                        <p:tgtEl>
                                          <p:spTgt spid="134"/>
                                        </p:tgtEl>
                                        <p:attrNameLst>
                                          <p:attrName>ppt_w</p:attrName>
                                        </p:attrNameLst>
                                      </p:cBhvr>
                                      <p:tavLst>
                                        <p:tav tm="0">
                                          <p:val>
                                            <p:strVal val="2/3*#ppt_w"/>
                                          </p:val>
                                        </p:tav>
                                        <p:tav tm="100000">
                                          <p:val>
                                            <p:strVal val="#ppt_w"/>
                                          </p:val>
                                        </p:tav>
                                      </p:tavLst>
                                    </p:anim>
                                    <p:anim calcmode="lin" valueType="num">
                                      <p:cBhvr>
                                        <p:cTn id="50" dur="250" fill="hold"/>
                                        <p:tgtEl>
                                          <p:spTgt spid="134"/>
                                        </p:tgtEl>
                                        <p:attrNameLst>
                                          <p:attrName>ppt_h</p:attrName>
                                        </p:attrNameLst>
                                      </p:cBhvr>
                                      <p:tavLst>
                                        <p:tav tm="0">
                                          <p:val>
                                            <p:strVal val="2/3*#ppt_h"/>
                                          </p:val>
                                        </p:tav>
                                        <p:tav tm="100000">
                                          <p:val>
                                            <p:strVal val="#ppt_h"/>
                                          </p:val>
                                        </p:tav>
                                      </p:tavLst>
                                    </p:anim>
                                  </p:childTnLst>
                                </p:cTn>
                              </p:par>
                              <p:par>
                                <p:cTn id="51" presetID="10" presetClass="entr" presetSubtype="0" fill="hold" grpId="1" nodeType="withEffect">
                                  <p:stCondLst>
                                    <p:cond delay="250"/>
                                  </p:stCondLst>
                                  <p:childTnLst>
                                    <p:set>
                                      <p:cBhvr>
                                        <p:cTn id="52" dur="1" fill="hold">
                                          <p:stCondLst>
                                            <p:cond delay="0"/>
                                          </p:stCondLst>
                                        </p:cTn>
                                        <p:tgtEl>
                                          <p:spTgt spid="134"/>
                                        </p:tgtEl>
                                        <p:attrNameLst>
                                          <p:attrName>style.visibility</p:attrName>
                                        </p:attrNameLst>
                                      </p:cBhvr>
                                      <p:to>
                                        <p:strVal val="visible"/>
                                      </p:to>
                                    </p:set>
                                    <p:animEffect transition="in" filter="fade">
                                      <p:cBhvr>
                                        <p:cTn id="53" dur="500"/>
                                        <p:tgtEl>
                                          <p:spTgt spid="134"/>
                                        </p:tgtEl>
                                      </p:cBhvr>
                                    </p:animEffect>
                                  </p:childTnLst>
                                </p:cTn>
                              </p:par>
                              <p:par>
                                <p:cTn id="54" presetID="6" presetClass="emph" presetSubtype="0" fill="hold" grpId="2" nodeType="withEffect">
                                  <p:stCondLst>
                                    <p:cond delay="250"/>
                                  </p:stCondLst>
                                  <p:childTnLst>
                                    <p:animScale>
                                      <p:cBhvr>
                                        <p:cTn id="55" dur="10" fill="hold"/>
                                        <p:tgtEl>
                                          <p:spTgt spid="134"/>
                                        </p:tgtEl>
                                      </p:cBhvr>
                                      <p:by x="80000" y="80000"/>
                                    </p:animScale>
                                  </p:childTnLst>
                                </p:cTn>
                              </p:par>
                              <p:par>
                                <p:cTn id="56" presetID="6" presetClass="emph" presetSubtype="0" decel="100000" fill="hold" grpId="3" nodeType="withEffect">
                                  <p:stCondLst>
                                    <p:cond delay="250"/>
                                  </p:stCondLst>
                                  <p:childTnLst>
                                    <p:animScale>
                                      <p:cBhvr>
                                        <p:cTn id="57" dur="1000" fill="hold"/>
                                        <p:tgtEl>
                                          <p:spTgt spid="134"/>
                                        </p:tgtEl>
                                      </p:cBhvr>
                                      <p:by x="125000" y="125000"/>
                                    </p:animScale>
                                  </p:childTnLst>
                                </p:cTn>
                              </p:par>
                              <p:par>
                                <p:cTn id="58" presetID="10"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1000"/>
                                        <p:tgtEl>
                                          <p:spTgt spid="18"/>
                                        </p:tgtEl>
                                      </p:cBhvr>
                                    </p:animEffect>
                                  </p:childTnLst>
                                </p:cTn>
                              </p:par>
                              <p:par>
                                <p:cTn id="61" presetID="10" presetClass="entr" presetSubtype="0" fill="hold" nodeType="withEffect">
                                  <p:stCondLst>
                                    <p:cond delay="55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7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3" grpId="1" animBg="1"/>
      <p:bldP spid="83" grpId="2" animBg="1"/>
      <p:bldP spid="83" grpId="3" animBg="1"/>
      <p:bldP spid="85" grpId="0" animBg="1"/>
      <p:bldP spid="86" grpId="0"/>
      <p:bldP spid="86" grpId="1"/>
      <p:bldP spid="86" grpId="2"/>
      <p:bldP spid="86" grpId="3"/>
      <p:bldP spid="131" grpId="0" animBg="1"/>
      <p:bldP spid="132" grpId="0"/>
      <p:bldP spid="132" grpId="1"/>
      <p:bldP spid="132" grpId="2"/>
      <p:bldP spid="132" grpId="3"/>
      <p:bldP spid="133" grpId="0" animBg="1"/>
      <p:bldP spid="134" grpId="0"/>
      <p:bldP spid="134" grpId="1"/>
      <p:bldP spid="134" grpId="2"/>
      <p:bldP spid="134" grpId="3"/>
      <p:bldP spid="1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C4DD8882-A2DE-0A77-C05C-CF1013F54ABC}"/>
              </a:ext>
            </a:extLst>
          </p:cNvPr>
          <p:cNvSpPr>
            <a:spLocks/>
          </p:cNvSpPr>
          <p:nvPr/>
        </p:nvSpPr>
        <p:spPr bwMode="auto">
          <a:xfrm>
            <a:off x="383428" y="1264937"/>
            <a:ext cx="11392545" cy="3542811"/>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6" name="Rectangle: Rounded Corners 55">
            <a:extLst>
              <a:ext uri="{FF2B5EF4-FFF2-40B4-BE49-F238E27FC236}">
                <a16:creationId xmlns:a16="http://schemas.microsoft.com/office/drawing/2014/main" id="{080C0B7C-C4FA-CF24-83EC-AEF85F8A8CE1}"/>
              </a:ext>
            </a:extLst>
          </p:cNvPr>
          <p:cNvSpPr/>
          <p:nvPr/>
        </p:nvSpPr>
        <p:spPr bwMode="auto">
          <a:xfrm>
            <a:off x="459644" y="1353941"/>
            <a:ext cx="11241741" cy="3375328"/>
          </a:xfrm>
          <a:prstGeom prst="roundRect">
            <a:avLst>
              <a:gd name="adj" fmla="val 2476"/>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err="1">
              <a:solidFill>
                <a:srgbClr val="FFFFFF"/>
              </a:solidFill>
              <a:ea typeface="Segoe UI" pitchFamily="34" charset="0"/>
              <a:cs typeface="Segoe Sans Text" pitchFamily="2" charset="0"/>
            </a:endParaRPr>
          </a:p>
        </p:txBody>
      </p:sp>
      <p:sp>
        <p:nvSpPr>
          <p:cNvPr id="43" name="Title 42">
            <a:extLst>
              <a:ext uri="{FF2B5EF4-FFF2-40B4-BE49-F238E27FC236}">
                <a16:creationId xmlns:a16="http://schemas.microsoft.com/office/drawing/2014/main" id="{E332C0E6-E82F-145B-7361-62807A89AD5F}"/>
              </a:ext>
            </a:extLst>
          </p:cNvPr>
          <p:cNvSpPr>
            <a:spLocks noGrp="1"/>
          </p:cNvSpPr>
          <p:nvPr>
            <p:ph type="title"/>
          </p:nvPr>
        </p:nvSpPr>
        <p:spPr/>
        <p:txBody>
          <a:bodyPr>
            <a:normAutofit/>
          </a:bodyPr>
          <a:lstStyle/>
          <a:p>
            <a:r>
              <a:rPr lang="en-GB">
                <a:latin typeface="Segoe Sans Text Semibold" pitchFamily="2" charset="0"/>
                <a:cs typeface="Segoe Sans Text Semibold" pitchFamily="2" charset="0"/>
              </a:rPr>
              <a:t>Cost Management</a:t>
            </a:r>
            <a:endParaRPr lang="en-IN">
              <a:latin typeface="Segoe Sans Text Semibold" pitchFamily="2" charset="0"/>
              <a:cs typeface="Segoe Sans Text Semibold" pitchFamily="2" charset="0"/>
            </a:endParaRPr>
          </a:p>
        </p:txBody>
      </p:sp>
      <p:grpSp>
        <p:nvGrpSpPr>
          <p:cNvPr id="73" name="Group 72">
            <a:extLst>
              <a:ext uri="{FF2B5EF4-FFF2-40B4-BE49-F238E27FC236}">
                <a16:creationId xmlns:a16="http://schemas.microsoft.com/office/drawing/2014/main" id="{25248596-702C-8B14-F182-CCF8CAAA3766}"/>
              </a:ext>
            </a:extLst>
          </p:cNvPr>
          <p:cNvGrpSpPr/>
          <p:nvPr/>
        </p:nvGrpSpPr>
        <p:grpSpPr>
          <a:xfrm>
            <a:off x="371629" y="4942572"/>
            <a:ext cx="11404344" cy="1536464"/>
            <a:chOff x="371629" y="4942572"/>
            <a:chExt cx="11404344" cy="1536464"/>
          </a:xfrm>
        </p:grpSpPr>
        <p:sp>
          <p:nvSpPr>
            <p:cNvPr id="27" name="Rectangle: Rounded Corners 26">
              <a:extLst>
                <a:ext uri="{FF2B5EF4-FFF2-40B4-BE49-F238E27FC236}">
                  <a16:creationId xmlns:a16="http://schemas.microsoft.com/office/drawing/2014/main" id="{34178A80-3C3B-DB53-FF14-C86F7319D82D}"/>
                </a:ext>
              </a:extLst>
            </p:cNvPr>
            <p:cNvSpPr>
              <a:spLocks/>
            </p:cNvSpPr>
            <p:nvPr/>
          </p:nvSpPr>
          <p:spPr bwMode="auto">
            <a:xfrm>
              <a:off x="371629" y="4942573"/>
              <a:ext cx="11404344" cy="1536463"/>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31" name="!!Subtitle 2">
              <a:extLst>
                <a:ext uri="{FF2B5EF4-FFF2-40B4-BE49-F238E27FC236}">
                  <a16:creationId xmlns:a16="http://schemas.microsoft.com/office/drawing/2014/main" id="{319FEF83-B9CF-0298-04E1-35BA3039E839}"/>
                </a:ext>
              </a:extLst>
            </p:cNvPr>
            <p:cNvSpPr txBox="1">
              <a:spLocks/>
            </p:cNvSpPr>
            <p:nvPr/>
          </p:nvSpPr>
          <p:spPr>
            <a:xfrm>
              <a:off x="485574" y="5458726"/>
              <a:ext cx="1329372" cy="553998"/>
            </a:xfrm>
            <a:prstGeom prst="rect">
              <a:avLst/>
            </a:prstGeom>
          </p:spPr>
          <p:txBody>
            <a:bodyPr wrap="square" lIns="0" tIns="0" rIns="0" bIns="0">
              <a:spAutoFit/>
            </a:bodyPr>
            <a:lstStyle>
              <a:defPPr>
                <a:defRPr lang="en-US"/>
              </a:defPPr>
              <a:lvl1pPr marR="0" lvl="0" indent="0" algn="ctr" defTabSz="914400" fontAlgn="auto">
                <a:lnSpc>
                  <a:spcPct val="90000"/>
                </a:lnSpc>
                <a:spcBef>
                  <a:spcPts val="1000"/>
                </a:spcBef>
                <a:spcAft>
                  <a:spcPts val="0"/>
                </a:spcAft>
                <a:buClrTx/>
                <a:buSzTx/>
                <a:buFont typeface="Arial" panose="020B0604020202020204" pitchFamily="34" charset="0"/>
                <a:buNone/>
                <a:tabLst/>
                <a:defRPr sz="1800" b="0" i="0">
                  <a:latin typeface="Segoe Sans Display Semibold" pitchFamily="2" charset="0"/>
                  <a:cs typeface="Segoe Sans Display Semibold" pitchFamily="2" charset="0"/>
                </a:defRPr>
              </a:lvl1pPr>
              <a:lvl2pPr marL="457200" indent="0" algn="ctr" defTabSz="914400">
                <a:lnSpc>
                  <a:spcPct val="90000"/>
                </a:lnSpc>
                <a:spcBef>
                  <a:spcPts val="500"/>
                </a:spcBef>
                <a:buFont typeface="Arial" panose="020B0604020202020204" pitchFamily="34" charset="0"/>
                <a:buNone/>
                <a:defRPr sz="2000" b="0" i="0">
                  <a:solidFill>
                    <a:schemeClr val="accent1"/>
                  </a:solidFill>
                  <a:latin typeface="Segoe UI" panose="020B0502040204020203" pitchFamily="34" charset="0"/>
                  <a:cs typeface="Segoe UI" panose="020B0502040204020203" pitchFamily="34" charset="0"/>
                </a:defRPr>
              </a:lvl2pPr>
              <a:lvl3pPr marL="914400" indent="0" algn="ctr" defTabSz="914400">
                <a:lnSpc>
                  <a:spcPct val="90000"/>
                </a:lnSpc>
                <a:spcBef>
                  <a:spcPts val="500"/>
                </a:spcBef>
                <a:buFont typeface="Arial" panose="020B0604020202020204" pitchFamily="34" charset="0"/>
                <a:buNone/>
                <a:defRPr sz="1800" b="0" i="0">
                  <a:solidFill>
                    <a:schemeClr val="accent1"/>
                  </a:solidFill>
                  <a:latin typeface="Segoe UI" panose="020B0502040204020203" pitchFamily="34" charset="0"/>
                  <a:cs typeface="Segoe UI" panose="020B0502040204020203" pitchFamily="34" charset="0"/>
                </a:defRPr>
              </a:lvl3pPr>
              <a:lvl4pPr marL="13716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4pPr>
              <a:lvl5pPr marL="18288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5pPr>
              <a:lvl6pPr marL="2286000" indent="0" algn="ctr" defTabSz="914400">
                <a:lnSpc>
                  <a:spcPct val="90000"/>
                </a:lnSpc>
                <a:spcBef>
                  <a:spcPts val="500"/>
                </a:spcBef>
                <a:buFont typeface="Arial" panose="020B0604020202020204" pitchFamily="34" charset="0"/>
                <a:buNone/>
                <a:defRPr sz="1600"/>
              </a:lvl6pPr>
              <a:lvl7pPr marL="2743200" indent="0" algn="ctr" defTabSz="914400">
                <a:lnSpc>
                  <a:spcPct val="90000"/>
                </a:lnSpc>
                <a:spcBef>
                  <a:spcPts val="500"/>
                </a:spcBef>
                <a:buFont typeface="Arial" panose="020B0604020202020204" pitchFamily="34" charset="0"/>
                <a:buNone/>
                <a:defRPr sz="1600"/>
              </a:lvl7pPr>
              <a:lvl8pPr marL="3200400" indent="0" algn="ctr" defTabSz="914400">
                <a:lnSpc>
                  <a:spcPct val="90000"/>
                </a:lnSpc>
                <a:spcBef>
                  <a:spcPts val="500"/>
                </a:spcBef>
                <a:buFont typeface="Arial" panose="020B0604020202020204" pitchFamily="34" charset="0"/>
                <a:buNone/>
                <a:defRPr sz="1600"/>
              </a:lvl8pPr>
              <a:lvl9pPr marL="3657600" indent="0" algn="ctr" defTabSz="914400">
                <a:lnSpc>
                  <a:spcPct val="90000"/>
                </a:lnSpc>
                <a:spcBef>
                  <a:spcPts val="500"/>
                </a:spcBef>
                <a:buFont typeface="Arial" panose="020B0604020202020204" pitchFamily="34" charset="0"/>
                <a:buNone/>
                <a:defRPr sz="1600"/>
              </a:lvl9pPr>
            </a:lstStyle>
            <a:p>
              <a:pPr algn="l">
                <a:lnSpc>
                  <a:spcPct val="100000"/>
                </a:lnSpc>
                <a:spcBef>
                  <a:spcPts val="0"/>
                </a:spcBef>
                <a:defRPr/>
              </a:pPr>
              <a:r>
                <a:rPr lang="en-US" sz="1200">
                  <a:solidFill>
                    <a:schemeClr val="bg1"/>
                  </a:solidFill>
                  <a:latin typeface="+mn-lt"/>
                </a:rPr>
                <a:t>Azure pricing calculator to estimate costs</a:t>
              </a:r>
            </a:p>
          </p:txBody>
        </p:sp>
        <p:grpSp>
          <p:nvGrpSpPr>
            <p:cNvPr id="61" name="Group 60">
              <a:extLst>
                <a:ext uri="{FF2B5EF4-FFF2-40B4-BE49-F238E27FC236}">
                  <a16:creationId xmlns:a16="http://schemas.microsoft.com/office/drawing/2014/main" id="{206DAE54-06D8-63D0-E87A-4822EE9A2231}"/>
                </a:ext>
              </a:extLst>
            </p:cNvPr>
            <p:cNvGrpSpPr/>
            <p:nvPr/>
          </p:nvGrpSpPr>
          <p:grpSpPr>
            <a:xfrm>
              <a:off x="2014240" y="4942572"/>
              <a:ext cx="8129453" cy="1536464"/>
              <a:chOff x="1526688" y="4571604"/>
              <a:chExt cx="5726052" cy="1907430"/>
            </a:xfrm>
          </p:grpSpPr>
          <p:sp>
            <p:nvSpPr>
              <p:cNvPr id="29" name="Rectangle 28">
                <a:extLst>
                  <a:ext uri="{FF2B5EF4-FFF2-40B4-BE49-F238E27FC236}">
                    <a16:creationId xmlns:a16="http://schemas.microsoft.com/office/drawing/2014/main" id="{343DB445-4C84-10D1-EDE2-FDE7E64CBC19}"/>
                  </a:ext>
                </a:extLst>
              </p:cNvPr>
              <p:cNvSpPr>
                <a:spLocks/>
              </p:cNvSpPr>
              <p:nvPr/>
            </p:nvSpPr>
            <p:spPr bwMode="auto">
              <a:xfrm flipV="1">
                <a:off x="1526688" y="4571604"/>
                <a:ext cx="1147133" cy="1907429"/>
              </a:xfrm>
              <a:prstGeom prst="rect">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58" name="Rectangle 57">
                <a:extLst>
                  <a:ext uri="{FF2B5EF4-FFF2-40B4-BE49-F238E27FC236}">
                    <a16:creationId xmlns:a16="http://schemas.microsoft.com/office/drawing/2014/main" id="{93B7CF36-429F-E6F8-DC8B-6DC5631C668A}"/>
                  </a:ext>
                </a:extLst>
              </p:cNvPr>
              <p:cNvSpPr>
                <a:spLocks/>
              </p:cNvSpPr>
              <p:nvPr/>
            </p:nvSpPr>
            <p:spPr bwMode="auto">
              <a:xfrm flipV="1">
                <a:off x="3818250" y="4571605"/>
                <a:ext cx="1144558" cy="1907429"/>
              </a:xfrm>
              <a:prstGeom prst="rect">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4" name="Rectangle 13">
                <a:extLst>
                  <a:ext uri="{FF2B5EF4-FFF2-40B4-BE49-F238E27FC236}">
                    <a16:creationId xmlns:a16="http://schemas.microsoft.com/office/drawing/2014/main" id="{BB27A64F-DCDD-47B7-EB76-E25C7E7B47BB}"/>
                  </a:ext>
                </a:extLst>
              </p:cNvPr>
              <p:cNvSpPr>
                <a:spLocks/>
              </p:cNvSpPr>
              <p:nvPr/>
            </p:nvSpPr>
            <p:spPr bwMode="auto">
              <a:xfrm flipV="1">
                <a:off x="6108182" y="4571605"/>
                <a:ext cx="1144558" cy="1907429"/>
              </a:xfrm>
              <a:prstGeom prst="rect">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grpSp>
        <p:sp>
          <p:nvSpPr>
            <p:cNvPr id="62" name="!!Subtitle 2">
              <a:extLst>
                <a:ext uri="{FF2B5EF4-FFF2-40B4-BE49-F238E27FC236}">
                  <a16:creationId xmlns:a16="http://schemas.microsoft.com/office/drawing/2014/main" id="{2C1906C3-EA39-C9D9-EC84-EF20FF5ED38B}"/>
                </a:ext>
              </a:extLst>
            </p:cNvPr>
            <p:cNvSpPr txBox="1">
              <a:spLocks/>
            </p:cNvSpPr>
            <p:nvPr/>
          </p:nvSpPr>
          <p:spPr>
            <a:xfrm>
              <a:off x="2143101" y="5181727"/>
              <a:ext cx="1398400" cy="1107996"/>
            </a:xfrm>
            <a:prstGeom prst="rect">
              <a:avLst/>
            </a:prstGeom>
          </p:spPr>
          <p:txBody>
            <a:bodyPr wrap="square" lIns="0" tIns="0" rIns="0" bIns="0">
              <a:spAutoFit/>
            </a:bodyPr>
            <a:lstStyle>
              <a:defPPr>
                <a:defRPr lang="en-US"/>
              </a:defPPr>
              <a:lvl1pPr marR="0" lvl="0" indent="0" algn="ctr" defTabSz="914400" fontAlgn="auto">
                <a:lnSpc>
                  <a:spcPct val="90000"/>
                </a:lnSpc>
                <a:spcBef>
                  <a:spcPts val="1000"/>
                </a:spcBef>
                <a:spcAft>
                  <a:spcPts val="0"/>
                </a:spcAft>
                <a:buClrTx/>
                <a:buSzTx/>
                <a:buFont typeface="Arial" panose="020B0604020202020204" pitchFamily="34" charset="0"/>
                <a:buNone/>
                <a:tabLst/>
                <a:defRPr sz="1800" b="0" i="0">
                  <a:latin typeface="Segoe Sans Display Semibold" pitchFamily="2" charset="0"/>
                  <a:cs typeface="Segoe Sans Display Semibold" pitchFamily="2" charset="0"/>
                </a:defRPr>
              </a:lvl1pPr>
              <a:lvl2pPr marL="457200" indent="0" algn="ctr" defTabSz="914400">
                <a:lnSpc>
                  <a:spcPct val="90000"/>
                </a:lnSpc>
                <a:spcBef>
                  <a:spcPts val="500"/>
                </a:spcBef>
                <a:buFont typeface="Arial" panose="020B0604020202020204" pitchFamily="34" charset="0"/>
                <a:buNone/>
                <a:defRPr sz="2000" b="0" i="0">
                  <a:solidFill>
                    <a:schemeClr val="accent1"/>
                  </a:solidFill>
                  <a:latin typeface="Segoe UI" panose="020B0502040204020203" pitchFamily="34" charset="0"/>
                  <a:cs typeface="Segoe UI" panose="020B0502040204020203" pitchFamily="34" charset="0"/>
                </a:defRPr>
              </a:lvl2pPr>
              <a:lvl3pPr marL="914400" indent="0" algn="ctr" defTabSz="914400">
                <a:lnSpc>
                  <a:spcPct val="90000"/>
                </a:lnSpc>
                <a:spcBef>
                  <a:spcPts val="500"/>
                </a:spcBef>
                <a:buFont typeface="Arial" panose="020B0604020202020204" pitchFamily="34" charset="0"/>
                <a:buNone/>
                <a:defRPr sz="1800" b="0" i="0">
                  <a:solidFill>
                    <a:schemeClr val="accent1"/>
                  </a:solidFill>
                  <a:latin typeface="Segoe UI" panose="020B0502040204020203" pitchFamily="34" charset="0"/>
                  <a:cs typeface="Segoe UI" panose="020B0502040204020203" pitchFamily="34" charset="0"/>
                </a:defRPr>
              </a:lvl3pPr>
              <a:lvl4pPr marL="13716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4pPr>
              <a:lvl5pPr marL="18288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5pPr>
              <a:lvl6pPr marL="2286000" indent="0" algn="ctr" defTabSz="914400">
                <a:lnSpc>
                  <a:spcPct val="90000"/>
                </a:lnSpc>
                <a:spcBef>
                  <a:spcPts val="500"/>
                </a:spcBef>
                <a:buFont typeface="Arial" panose="020B0604020202020204" pitchFamily="34" charset="0"/>
                <a:buNone/>
                <a:defRPr sz="1600"/>
              </a:lvl6pPr>
              <a:lvl7pPr marL="2743200" indent="0" algn="ctr" defTabSz="914400">
                <a:lnSpc>
                  <a:spcPct val="90000"/>
                </a:lnSpc>
                <a:spcBef>
                  <a:spcPts val="500"/>
                </a:spcBef>
                <a:buFont typeface="Arial" panose="020B0604020202020204" pitchFamily="34" charset="0"/>
                <a:buNone/>
                <a:defRPr sz="1600"/>
              </a:lvl7pPr>
              <a:lvl8pPr marL="3200400" indent="0" algn="ctr" defTabSz="914400">
                <a:lnSpc>
                  <a:spcPct val="90000"/>
                </a:lnSpc>
                <a:spcBef>
                  <a:spcPts val="500"/>
                </a:spcBef>
                <a:buFont typeface="Arial" panose="020B0604020202020204" pitchFamily="34" charset="0"/>
                <a:buNone/>
                <a:defRPr sz="1600"/>
              </a:lvl8pPr>
              <a:lvl9pPr marL="3657600" indent="0" algn="ctr" defTabSz="914400">
                <a:lnSpc>
                  <a:spcPct val="90000"/>
                </a:lnSpc>
                <a:spcBef>
                  <a:spcPts val="500"/>
                </a:spcBef>
                <a:buFont typeface="Arial" panose="020B0604020202020204" pitchFamily="34" charset="0"/>
                <a:buNone/>
                <a:defRPr sz="1600"/>
              </a:lvl9pPr>
            </a:lstStyle>
            <a:p>
              <a:pPr algn="l">
                <a:lnSpc>
                  <a:spcPct val="100000"/>
                </a:lnSpc>
                <a:spcBef>
                  <a:spcPts val="0"/>
                </a:spcBef>
                <a:defRPr/>
              </a:pPr>
              <a:r>
                <a:rPr lang="en-US" sz="1200">
                  <a:solidFill>
                    <a:schemeClr val="bg1"/>
                  </a:solidFill>
                  <a:latin typeface="+mn-lt"/>
                </a:rPr>
                <a:t>Understand the Billing model for the Azure OpenAI, Open Source Models, Fine-tuned models and AI Services</a:t>
              </a:r>
            </a:p>
          </p:txBody>
        </p:sp>
        <p:sp>
          <p:nvSpPr>
            <p:cNvPr id="63" name="!!Subtitle 2">
              <a:extLst>
                <a:ext uri="{FF2B5EF4-FFF2-40B4-BE49-F238E27FC236}">
                  <a16:creationId xmlns:a16="http://schemas.microsoft.com/office/drawing/2014/main" id="{BB04136F-8BCF-53BA-ACF4-C821BC4535CC}"/>
                </a:ext>
              </a:extLst>
            </p:cNvPr>
            <p:cNvSpPr txBox="1">
              <a:spLocks/>
            </p:cNvSpPr>
            <p:nvPr/>
          </p:nvSpPr>
          <p:spPr>
            <a:xfrm>
              <a:off x="3777180" y="5643392"/>
              <a:ext cx="1410456" cy="184666"/>
            </a:xfrm>
            <a:prstGeom prst="rect">
              <a:avLst/>
            </a:prstGeom>
          </p:spPr>
          <p:txBody>
            <a:bodyPr wrap="square" lIns="0" tIns="0" rIns="0" bIns="0">
              <a:spAutoFit/>
            </a:bodyPr>
            <a:lstStyle>
              <a:defPPr>
                <a:defRPr lang="en-US"/>
              </a:defPPr>
              <a:lvl1pPr marR="0" lvl="0" indent="0" algn="ctr" defTabSz="914400" fontAlgn="auto">
                <a:lnSpc>
                  <a:spcPct val="90000"/>
                </a:lnSpc>
                <a:spcBef>
                  <a:spcPts val="1000"/>
                </a:spcBef>
                <a:spcAft>
                  <a:spcPts val="0"/>
                </a:spcAft>
                <a:buClrTx/>
                <a:buSzTx/>
                <a:buFont typeface="Arial" panose="020B0604020202020204" pitchFamily="34" charset="0"/>
                <a:buNone/>
                <a:tabLst/>
                <a:defRPr sz="1800" b="0" i="0">
                  <a:latin typeface="Segoe Sans Display Semibold" pitchFamily="2" charset="0"/>
                  <a:cs typeface="Segoe Sans Display Semibold" pitchFamily="2" charset="0"/>
                </a:defRPr>
              </a:lvl1pPr>
              <a:lvl2pPr marL="457200" indent="0" algn="ctr" defTabSz="914400">
                <a:lnSpc>
                  <a:spcPct val="90000"/>
                </a:lnSpc>
                <a:spcBef>
                  <a:spcPts val="500"/>
                </a:spcBef>
                <a:buFont typeface="Arial" panose="020B0604020202020204" pitchFamily="34" charset="0"/>
                <a:buNone/>
                <a:defRPr sz="2000" b="0" i="0">
                  <a:solidFill>
                    <a:schemeClr val="accent1"/>
                  </a:solidFill>
                  <a:latin typeface="Segoe UI" panose="020B0502040204020203" pitchFamily="34" charset="0"/>
                  <a:cs typeface="Segoe UI" panose="020B0502040204020203" pitchFamily="34" charset="0"/>
                </a:defRPr>
              </a:lvl2pPr>
              <a:lvl3pPr marL="914400" indent="0" algn="ctr" defTabSz="914400">
                <a:lnSpc>
                  <a:spcPct val="90000"/>
                </a:lnSpc>
                <a:spcBef>
                  <a:spcPts val="500"/>
                </a:spcBef>
                <a:buFont typeface="Arial" panose="020B0604020202020204" pitchFamily="34" charset="0"/>
                <a:buNone/>
                <a:defRPr sz="1800" b="0" i="0">
                  <a:solidFill>
                    <a:schemeClr val="accent1"/>
                  </a:solidFill>
                  <a:latin typeface="Segoe UI" panose="020B0502040204020203" pitchFamily="34" charset="0"/>
                  <a:cs typeface="Segoe UI" panose="020B0502040204020203" pitchFamily="34" charset="0"/>
                </a:defRPr>
              </a:lvl3pPr>
              <a:lvl4pPr marL="13716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4pPr>
              <a:lvl5pPr marL="18288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5pPr>
              <a:lvl6pPr marL="2286000" indent="0" algn="ctr" defTabSz="914400">
                <a:lnSpc>
                  <a:spcPct val="90000"/>
                </a:lnSpc>
                <a:spcBef>
                  <a:spcPts val="500"/>
                </a:spcBef>
                <a:buFont typeface="Arial" panose="020B0604020202020204" pitchFamily="34" charset="0"/>
                <a:buNone/>
                <a:defRPr sz="1600"/>
              </a:lvl6pPr>
              <a:lvl7pPr marL="2743200" indent="0" algn="ctr" defTabSz="914400">
                <a:lnSpc>
                  <a:spcPct val="90000"/>
                </a:lnSpc>
                <a:spcBef>
                  <a:spcPts val="500"/>
                </a:spcBef>
                <a:buFont typeface="Arial" panose="020B0604020202020204" pitchFamily="34" charset="0"/>
                <a:buNone/>
                <a:defRPr sz="1600"/>
              </a:lvl7pPr>
              <a:lvl8pPr marL="3200400" indent="0" algn="ctr" defTabSz="914400">
                <a:lnSpc>
                  <a:spcPct val="90000"/>
                </a:lnSpc>
                <a:spcBef>
                  <a:spcPts val="500"/>
                </a:spcBef>
                <a:buFont typeface="Arial" panose="020B0604020202020204" pitchFamily="34" charset="0"/>
                <a:buNone/>
                <a:defRPr sz="1600"/>
              </a:lvl8pPr>
              <a:lvl9pPr marL="3657600" indent="0" algn="ctr" defTabSz="914400">
                <a:lnSpc>
                  <a:spcPct val="90000"/>
                </a:lnSpc>
                <a:spcBef>
                  <a:spcPts val="500"/>
                </a:spcBef>
                <a:buFont typeface="Arial" panose="020B0604020202020204" pitchFamily="34" charset="0"/>
                <a:buNone/>
                <a:defRPr sz="1600"/>
              </a:lvl9pPr>
            </a:lstStyle>
            <a:p>
              <a:pPr algn="l">
                <a:lnSpc>
                  <a:spcPct val="100000"/>
                </a:lnSpc>
                <a:spcBef>
                  <a:spcPts val="0"/>
                </a:spcBef>
                <a:defRPr/>
              </a:pPr>
              <a:r>
                <a:rPr lang="en-US" sz="1200">
                  <a:solidFill>
                    <a:schemeClr val="bg1"/>
                  </a:solidFill>
                  <a:latin typeface="+mn-lt"/>
                </a:rPr>
                <a:t>Create budgets</a:t>
              </a:r>
            </a:p>
          </p:txBody>
        </p:sp>
        <p:sp>
          <p:nvSpPr>
            <p:cNvPr id="64" name="!!Subtitle 2">
              <a:extLst>
                <a:ext uri="{FF2B5EF4-FFF2-40B4-BE49-F238E27FC236}">
                  <a16:creationId xmlns:a16="http://schemas.microsoft.com/office/drawing/2014/main" id="{0B8B963A-6F81-23B2-BD87-894F7B1923CA}"/>
                </a:ext>
              </a:extLst>
            </p:cNvPr>
            <p:cNvSpPr txBox="1">
              <a:spLocks/>
            </p:cNvSpPr>
            <p:nvPr/>
          </p:nvSpPr>
          <p:spPr>
            <a:xfrm>
              <a:off x="5398700" y="5643392"/>
              <a:ext cx="1468825" cy="184666"/>
            </a:xfrm>
            <a:prstGeom prst="rect">
              <a:avLst/>
            </a:prstGeom>
          </p:spPr>
          <p:txBody>
            <a:bodyPr wrap="square" lIns="0" tIns="0" rIns="0" bIns="0">
              <a:spAutoFit/>
            </a:bodyPr>
            <a:lstStyle>
              <a:defPPr>
                <a:defRPr lang="en-US"/>
              </a:defPPr>
              <a:lvl1pPr marR="0" lvl="0" indent="0" algn="ctr" defTabSz="914400" fontAlgn="auto">
                <a:lnSpc>
                  <a:spcPct val="90000"/>
                </a:lnSpc>
                <a:spcBef>
                  <a:spcPts val="1000"/>
                </a:spcBef>
                <a:spcAft>
                  <a:spcPts val="0"/>
                </a:spcAft>
                <a:buClrTx/>
                <a:buSzTx/>
                <a:buFont typeface="Arial" panose="020B0604020202020204" pitchFamily="34" charset="0"/>
                <a:buNone/>
                <a:tabLst/>
                <a:defRPr sz="1800" b="0" i="0">
                  <a:latin typeface="Segoe Sans Display Semibold" pitchFamily="2" charset="0"/>
                  <a:cs typeface="Segoe Sans Display Semibold" pitchFamily="2" charset="0"/>
                </a:defRPr>
              </a:lvl1pPr>
              <a:lvl2pPr marL="457200" indent="0" algn="ctr" defTabSz="914400">
                <a:lnSpc>
                  <a:spcPct val="90000"/>
                </a:lnSpc>
                <a:spcBef>
                  <a:spcPts val="500"/>
                </a:spcBef>
                <a:buFont typeface="Arial" panose="020B0604020202020204" pitchFamily="34" charset="0"/>
                <a:buNone/>
                <a:defRPr sz="2000" b="0" i="0">
                  <a:solidFill>
                    <a:schemeClr val="accent1"/>
                  </a:solidFill>
                  <a:latin typeface="Segoe UI" panose="020B0502040204020203" pitchFamily="34" charset="0"/>
                  <a:cs typeface="Segoe UI" panose="020B0502040204020203" pitchFamily="34" charset="0"/>
                </a:defRPr>
              </a:lvl2pPr>
              <a:lvl3pPr marL="914400" indent="0" algn="ctr" defTabSz="914400">
                <a:lnSpc>
                  <a:spcPct val="90000"/>
                </a:lnSpc>
                <a:spcBef>
                  <a:spcPts val="500"/>
                </a:spcBef>
                <a:buFont typeface="Arial" panose="020B0604020202020204" pitchFamily="34" charset="0"/>
                <a:buNone/>
                <a:defRPr sz="1800" b="0" i="0">
                  <a:solidFill>
                    <a:schemeClr val="accent1"/>
                  </a:solidFill>
                  <a:latin typeface="Segoe UI" panose="020B0502040204020203" pitchFamily="34" charset="0"/>
                  <a:cs typeface="Segoe UI" panose="020B0502040204020203" pitchFamily="34" charset="0"/>
                </a:defRPr>
              </a:lvl3pPr>
              <a:lvl4pPr marL="13716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4pPr>
              <a:lvl5pPr marL="18288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5pPr>
              <a:lvl6pPr marL="2286000" indent="0" algn="ctr" defTabSz="914400">
                <a:lnSpc>
                  <a:spcPct val="90000"/>
                </a:lnSpc>
                <a:spcBef>
                  <a:spcPts val="500"/>
                </a:spcBef>
                <a:buFont typeface="Arial" panose="020B0604020202020204" pitchFamily="34" charset="0"/>
                <a:buNone/>
                <a:defRPr sz="1600"/>
              </a:lvl6pPr>
              <a:lvl7pPr marL="2743200" indent="0" algn="ctr" defTabSz="914400">
                <a:lnSpc>
                  <a:spcPct val="90000"/>
                </a:lnSpc>
                <a:spcBef>
                  <a:spcPts val="500"/>
                </a:spcBef>
                <a:buFont typeface="Arial" panose="020B0604020202020204" pitchFamily="34" charset="0"/>
                <a:buNone/>
                <a:defRPr sz="1600"/>
              </a:lvl7pPr>
              <a:lvl8pPr marL="3200400" indent="0" algn="ctr" defTabSz="914400">
                <a:lnSpc>
                  <a:spcPct val="90000"/>
                </a:lnSpc>
                <a:spcBef>
                  <a:spcPts val="500"/>
                </a:spcBef>
                <a:buFont typeface="Arial" panose="020B0604020202020204" pitchFamily="34" charset="0"/>
                <a:buNone/>
                <a:defRPr sz="1600"/>
              </a:lvl8pPr>
              <a:lvl9pPr marL="3657600" indent="0" algn="ctr" defTabSz="914400">
                <a:lnSpc>
                  <a:spcPct val="90000"/>
                </a:lnSpc>
                <a:spcBef>
                  <a:spcPts val="500"/>
                </a:spcBef>
                <a:buFont typeface="Arial" panose="020B0604020202020204" pitchFamily="34" charset="0"/>
                <a:buNone/>
                <a:defRPr sz="1600"/>
              </a:lvl9pPr>
            </a:lstStyle>
            <a:p>
              <a:pPr algn="l">
                <a:lnSpc>
                  <a:spcPct val="100000"/>
                </a:lnSpc>
                <a:spcBef>
                  <a:spcPts val="0"/>
                </a:spcBef>
                <a:defRPr/>
              </a:pPr>
              <a:r>
                <a:rPr lang="en-US" sz="1200">
                  <a:solidFill>
                    <a:schemeClr val="bg1"/>
                  </a:solidFill>
                  <a:latin typeface="+mn-lt"/>
                </a:rPr>
                <a:t>Create Alerts </a:t>
              </a:r>
            </a:p>
          </p:txBody>
        </p:sp>
        <p:sp>
          <p:nvSpPr>
            <p:cNvPr id="68" name="!!Subtitle 2">
              <a:extLst>
                <a:ext uri="{FF2B5EF4-FFF2-40B4-BE49-F238E27FC236}">
                  <a16:creationId xmlns:a16="http://schemas.microsoft.com/office/drawing/2014/main" id="{66A6878F-3295-0F0B-9BDE-F35D1FD1E431}"/>
                </a:ext>
              </a:extLst>
            </p:cNvPr>
            <p:cNvSpPr txBox="1">
              <a:spLocks/>
            </p:cNvSpPr>
            <p:nvPr/>
          </p:nvSpPr>
          <p:spPr>
            <a:xfrm>
              <a:off x="7022323" y="5551059"/>
              <a:ext cx="1110295" cy="369332"/>
            </a:xfrm>
            <a:prstGeom prst="rect">
              <a:avLst/>
            </a:prstGeom>
          </p:spPr>
          <p:txBody>
            <a:bodyPr wrap="square" lIns="0" tIns="0" rIns="0" bIns="0">
              <a:spAutoFit/>
            </a:bodyPr>
            <a:lstStyle>
              <a:defPPr>
                <a:defRPr lang="en-US"/>
              </a:defPPr>
              <a:lvl1pPr marR="0" lvl="0" indent="0" algn="ctr" defTabSz="914400" fontAlgn="auto">
                <a:lnSpc>
                  <a:spcPct val="90000"/>
                </a:lnSpc>
                <a:spcBef>
                  <a:spcPts val="1000"/>
                </a:spcBef>
                <a:spcAft>
                  <a:spcPts val="0"/>
                </a:spcAft>
                <a:buClrTx/>
                <a:buSzTx/>
                <a:buFont typeface="Arial" panose="020B0604020202020204" pitchFamily="34" charset="0"/>
                <a:buNone/>
                <a:tabLst/>
                <a:defRPr sz="1800" b="0" i="0">
                  <a:latin typeface="Segoe Sans Display Semibold" pitchFamily="2" charset="0"/>
                  <a:cs typeface="Segoe Sans Display Semibold" pitchFamily="2" charset="0"/>
                </a:defRPr>
              </a:lvl1pPr>
              <a:lvl2pPr marL="457200" indent="0" algn="ctr" defTabSz="914400">
                <a:lnSpc>
                  <a:spcPct val="90000"/>
                </a:lnSpc>
                <a:spcBef>
                  <a:spcPts val="500"/>
                </a:spcBef>
                <a:buFont typeface="Arial" panose="020B0604020202020204" pitchFamily="34" charset="0"/>
                <a:buNone/>
                <a:defRPr sz="2000" b="0" i="0">
                  <a:solidFill>
                    <a:schemeClr val="accent1"/>
                  </a:solidFill>
                  <a:latin typeface="Segoe UI" panose="020B0502040204020203" pitchFamily="34" charset="0"/>
                  <a:cs typeface="Segoe UI" panose="020B0502040204020203" pitchFamily="34" charset="0"/>
                </a:defRPr>
              </a:lvl2pPr>
              <a:lvl3pPr marL="914400" indent="0" algn="ctr" defTabSz="914400">
                <a:lnSpc>
                  <a:spcPct val="90000"/>
                </a:lnSpc>
                <a:spcBef>
                  <a:spcPts val="500"/>
                </a:spcBef>
                <a:buFont typeface="Arial" panose="020B0604020202020204" pitchFamily="34" charset="0"/>
                <a:buNone/>
                <a:defRPr sz="1800" b="0" i="0">
                  <a:solidFill>
                    <a:schemeClr val="accent1"/>
                  </a:solidFill>
                  <a:latin typeface="Segoe UI" panose="020B0502040204020203" pitchFamily="34" charset="0"/>
                  <a:cs typeface="Segoe UI" panose="020B0502040204020203" pitchFamily="34" charset="0"/>
                </a:defRPr>
              </a:lvl3pPr>
              <a:lvl4pPr marL="13716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4pPr>
              <a:lvl5pPr marL="18288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5pPr>
              <a:lvl6pPr marL="2286000" indent="0" algn="ctr" defTabSz="914400">
                <a:lnSpc>
                  <a:spcPct val="90000"/>
                </a:lnSpc>
                <a:spcBef>
                  <a:spcPts val="500"/>
                </a:spcBef>
                <a:buFont typeface="Arial" panose="020B0604020202020204" pitchFamily="34" charset="0"/>
                <a:buNone/>
                <a:defRPr sz="1600"/>
              </a:lvl6pPr>
              <a:lvl7pPr marL="2743200" indent="0" algn="ctr" defTabSz="914400">
                <a:lnSpc>
                  <a:spcPct val="90000"/>
                </a:lnSpc>
                <a:spcBef>
                  <a:spcPts val="500"/>
                </a:spcBef>
                <a:buFont typeface="Arial" panose="020B0604020202020204" pitchFamily="34" charset="0"/>
                <a:buNone/>
                <a:defRPr sz="1600"/>
              </a:lvl7pPr>
              <a:lvl8pPr marL="3200400" indent="0" algn="ctr" defTabSz="914400">
                <a:lnSpc>
                  <a:spcPct val="90000"/>
                </a:lnSpc>
                <a:spcBef>
                  <a:spcPts val="500"/>
                </a:spcBef>
                <a:buFont typeface="Arial" panose="020B0604020202020204" pitchFamily="34" charset="0"/>
                <a:buNone/>
                <a:defRPr sz="1600"/>
              </a:lvl8pPr>
              <a:lvl9pPr marL="3657600" indent="0" algn="ctr" defTabSz="914400">
                <a:lnSpc>
                  <a:spcPct val="90000"/>
                </a:lnSpc>
                <a:spcBef>
                  <a:spcPts val="500"/>
                </a:spcBef>
                <a:buFont typeface="Arial" panose="020B0604020202020204" pitchFamily="34" charset="0"/>
                <a:buNone/>
                <a:defRPr sz="1600"/>
              </a:lvl9pPr>
            </a:lstStyle>
            <a:p>
              <a:pPr algn="l">
                <a:lnSpc>
                  <a:spcPct val="100000"/>
                </a:lnSpc>
                <a:spcBef>
                  <a:spcPts val="0"/>
                </a:spcBef>
                <a:defRPr/>
              </a:pPr>
              <a:r>
                <a:rPr lang="en-US" sz="1200">
                  <a:solidFill>
                    <a:schemeClr val="bg1"/>
                  </a:solidFill>
                  <a:latin typeface="+mn-lt"/>
                </a:rPr>
                <a:t>Monitor costs. (Cost Analysis)</a:t>
              </a:r>
            </a:p>
          </p:txBody>
        </p:sp>
        <p:sp>
          <p:nvSpPr>
            <p:cNvPr id="15" name="!!Subtitle 2">
              <a:extLst>
                <a:ext uri="{FF2B5EF4-FFF2-40B4-BE49-F238E27FC236}">
                  <a16:creationId xmlns:a16="http://schemas.microsoft.com/office/drawing/2014/main" id="{94546A57-F804-48BE-0CD6-66B48E627403}"/>
                </a:ext>
              </a:extLst>
            </p:cNvPr>
            <p:cNvSpPr txBox="1">
              <a:spLocks/>
            </p:cNvSpPr>
            <p:nvPr/>
          </p:nvSpPr>
          <p:spPr>
            <a:xfrm>
              <a:off x="8647923" y="5181727"/>
              <a:ext cx="1263158" cy="1107996"/>
            </a:xfrm>
            <a:prstGeom prst="rect">
              <a:avLst/>
            </a:prstGeom>
          </p:spPr>
          <p:txBody>
            <a:bodyPr wrap="square" lIns="0" tIns="0" rIns="0" bIns="0">
              <a:spAutoFit/>
            </a:bodyPr>
            <a:lstStyle>
              <a:defPPr>
                <a:defRPr lang="en-US"/>
              </a:defPPr>
              <a:lvl1pPr marR="0" lvl="0" indent="0" algn="ctr" defTabSz="914400" fontAlgn="auto">
                <a:lnSpc>
                  <a:spcPct val="90000"/>
                </a:lnSpc>
                <a:spcBef>
                  <a:spcPts val="1000"/>
                </a:spcBef>
                <a:spcAft>
                  <a:spcPts val="0"/>
                </a:spcAft>
                <a:buClrTx/>
                <a:buSzTx/>
                <a:buFont typeface="Arial" panose="020B0604020202020204" pitchFamily="34" charset="0"/>
                <a:buNone/>
                <a:tabLst/>
                <a:defRPr sz="1800" b="0" i="0">
                  <a:latin typeface="Segoe Sans Display Semibold" pitchFamily="2" charset="0"/>
                  <a:cs typeface="Segoe Sans Display Semibold" pitchFamily="2" charset="0"/>
                </a:defRPr>
              </a:lvl1pPr>
              <a:lvl2pPr marL="457200" indent="0" algn="ctr" defTabSz="914400">
                <a:lnSpc>
                  <a:spcPct val="90000"/>
                </a:lnSpc>
                <a:spcBef>
                  <a:spcPts val="500"/>
                </a:spcBef>
                <a:buFont typeface="Arial" panose="020B0604020202020204" pitchFamily="34" charset="0"/>
                <a:buNone/>
                <a:defRPr sz="2000" b="0" i="0">
                  <a:solidFill>
                    <a:schemeClr val="accent1"/>
                  </a:solidFill>
                  <a:latin typeface="Segoe UI" panose="020B0502040204020203" pitchFamily="34" charset="0"/>
                  <a:cs typeface="Segoe UI" panose="020B0502040204020203" pitchFamily="34" charset="0"/>
                </a:defRPr>
              </a:lvl2pPr>
              <a:lvl3pPr marL="914400" indent="0" algn="ctr" defTabSz="914400">
                <a:lnSpc>
                  <a:spcPct val="90000"/>
                </a:lnSpc>
                <a:spcBef>
                  <a:spcPts val="500"/>
                </a:spcBef>
                <a:buFont typeface="Arial" panose="020B0604020202020204" pitchFamily="34" charset="0"/>
                <a:buNone/>
                <a:defRPr sz="1800" b="0" i="0">
                  <a:solidFill>
                    <a:schemeClr val="accent1"/>
                  </a:solidFill>
                  <a:latin typeface="Segoe UI" panose="020B0502040204020203" pitchFamily="34" charset="0"/>
                  <a:cs typeface="Segoe UI" panose="020B0502040204020203" pitchFamily="34" charset="0"/>
                </a:defRPr>
              </a:lvl3pPr>
              <a:lvl4pPr marL="13716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4pPr>
              <a:lvl5pPr marL="18288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5pPr>
              <a:lvl6pPr marL="2286000" indent="0" algn="ctr" defTabSz="914400">
                <a:lnSpc>
                  <a:spcPct val="90000"/>
                </a:lnSpc>
                <a:spcBef>
                  <a:spcPts val="500"/>
                </a:spcBef>
                <a:buFont typeface="Arial" panose="020B0604020202020204" pitchFamily="34" charset="0"/>
                <a:buNone/>
                <a:defRPr sz="1600"/>
              </a:lvl6pPr>
              <a:lvl7pPr marL="2743200" indent="0" algn="ctr" defTabSz="914400">
                <a:lnSpc>
                  <a:spcPct val="90000"/>
                </a:lnSpc>
                <a:spcBef>
                  <a:spcPts val="500"/>
                </a:spcBef>
                <a:buFont typeface="Arial" panose="020B0604020202020204" pitchFamily="34" charset="0"/>
                <a:buNone/>
                <a:defRPr sz="1600"/>
              </a:lvl7pPr>
              <a:lvl8pPr marL="3200400" indent="0" algn="ctr" defTabSz="914400">
                <a:lnSpc>
                  <a:spcPct val="90000"/>
                </a:lnSpc>
                <a:spcBef>
                  <a:spcPts val="500"/>
                </a:spcBef>
                <a:buFont typeface="Arial" panose="020B0604020202020204" pitchFamily="34" charset="0"/>
                <a:buNone/>
                <a:defRPr sz="1600"/>
              </a:lvl8pPr>
              <a:lvl9pPr marL="3657600" indent="0" algn="ctr" defTabSz="914400">
                <a:lnSpc>
                  <a:spcPct val="90000"/>
                </a:lnSpc>
                <a:spcBef>
                  <a:spcPts val="500"/>
                </a:spcBef>
                <a:buFont typeface="Arial" panose="020B0604020202020204" pitchFamily="34" charset="0"/>
                <a:buNone/>
                <a:defRPr sz="1600"/>
              </a:lvl9pPr>
            </a:lstStyle>
            <a:p>
              <a:pPr algn="l">
                <a:lnSpc>
                  <a:spcPct val="100000"/>
                </a:lnSpc>
                <a:spcBef>
                  <a:spcPts val="0"/>
                </a:spcBef>
                <a:defRPr/>
              </a:pPr>
              <a:r>
                <a:rPr lang="en-US" sz="1200">
                  <a:solidFill>
                    <a:schemeClr val="bg1"/>
                  </a:solidFill>
                  <a:latin typeface="+mn-lt"/>
                </a:rPr>
                <a:t>Review forecasted costs and identify spending trends to identify areas where you might want to act</a:t>
              </a:r>
            </a:p>
          </p:txBody>
        </p:sp>
        <p:sp>
          <p:nvSpPr>
            <p:cNvPr id="16" name="!!Subtitle 2">
              <a:extLst>
                <a:ext uri="{FF2B5EF4-FFF2-40B4-BE49-F238E27FC236}">
                  <a16:creationId xmlns:a16="http://schemas.microsoft.com/office/drawing/2014/main" id="{DE26ED32-7050-64DA-561D-7DA3C90B69C4}"/>
                </a:ext>
              </a:extLst>
            </p:cNvPr>
            <p:cNvSpPr txBox="1">
              <a:spLocks/>
            </p:cNvSpPr>
            <p:nvPr/>
          </p:nvSpPr>
          <p:spPr>
            <a:xfrm>
              <a:off x="10266314" y="5551059"/>
              <a:ext cx="1306850" cy="369332"/>
            </a:xfrm>
            <a:prstGeom prst="rect">
              <a:avLst/>
            </a:prstGeom>
          </p:spPr>
          <p:txBody>
            <a:bodyPr wrap="square" lIns="0" tIns="0" rIns="0" bIns="0">
              <a:spAutoFit/>
            </a:bodyPr>
            <a:lstStyle>
              <a:defPPr>
                <a:defRPr lang="en-US"/>
              </a:defPPr>
              <a:lvl1pPr marR="0" lvl="0" indent="0" algn="ctr" defTabSz="914400" fontAlgn="auto">
                <a:lnSpc>
                  <a:spcPct val="90000"/>
                </a:lnSpc>
                <a:spcBef>
                  <a:spcPts val="1000"/>
                </a:spcBef>
                <a:spcAft>
                  <a:spcPts val="0"/>
                </a:spcAft>
                <a:buClrTx/>
                <a:buSzTx/>
                <a:buFont typeface="Arial" panose="020B0604020202020204" pitchFamily="34" charset="0"/>
                <a:buNone/>
                <a:tabLst/>
                <a:defRPr sz="1800" b="0" i="0">
                  <a:latin typeface="Segoe Sans Display Semibold" pitchFamily="2" charset="0"/>
                  <a:cs typeface="Segoe Sans Display Semibold" pitchFamily="2" charset="0"/>
                </a:defRPr>
              </a:lvl1pPr>
              <a:lvl2pPr marL="457200" indent="0" algn="ctr" defTabSz="914400">
                <a:lnSpc>
                  <a:spcPct val="90000"/>
                </a:lnSpc>
                <a:spcBef>
                  <a:spcPts val="500"/>
                </a:spcBef>
                <a:buFont typeface="Arial" panose="020B0604020202020204" pitchFamily="34" charset="0"/>
                <a:buNone/>
                <a:defRPr sz="2000" b="0" i="0">
                  <a:solidFill>
                    <a:schemeClr val="accent1"/>
                  </a:solidFill>
                  <a:latin typeface="Segoe UI" panose="020B0502040204020203" pitchFamily="34" charset="0"/>
                  <a:cs typeface="Segoe UI" panose="020B0502040204020203" pitchFamily="34" charset="0"/>
                </a:defRPr>
              </a:lvl2pPr>
              <a:lvl3pPr marL="914400" indent="0" algn="ctr" defTabSz="914400">
                <a:lnSpc>
                  <a:spcPct val="90000"/>
                </a:lnSpc>
                <a:spcBef>
                  <a:spcPts val="500"/>
                </a:spcBef>
                <a:buFont typeface="Arial" panose="020B0604020202020204" pitchFamily="34" charset="0"/>
                <a:buNone/>
                <a:defRPr sz="1800" b="0" i="0">
                  <a:solidFill>
                    <a:schemeClr val="accent1"/>
                  </a:solidFill>
                  <a:latin typeface="Segoe UI" panose="020B0502040204020203" pitchFamily="34" charset="0"/>
                  <a:cs typeface="Segoe UI" panose="020B0502040204020203" pitchFamily="34" charset="0"/>
                </a:defRPr>
              </a:lvl3pPr>
              <a:lvl4pPr marL="13716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4pPr>
              <a:lvl5pPr marL="18288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5pPr>
              <a:lvl6pPr marL="2286000" indent="0" algn="ctr" defTabSz="914400">
                <a:lnSpc>
                  <a:spcPct val="90000"/>
                </a:lnSpc>
                <a:spcBef>
                  <a:spcPts val="500"/>
                </a:spcBef>
                <a:buFont typeface="Arial" panose="020B0604020202020204" pitchFamily="34" charset="0"/>
                <a:buNone/>
                <a:defRPr sz="1600"/>
              </a:lvl6pPr>
              <a:lvl7pPr marL="2743200" indent="0" algn="ctr" defTabSz="914400">
                <a:lnSpc>
                  <a:spcPct val="90000"/>
                </a:lnSpc>
                <a:spcBef>
                  <a:spcPts val="500"/>
                </a:spcBef>
                <a:buFont typeface="Arial" panose="020B0604020202020204" pitchFamily="34" charset="0"/>
                <a:buNone/>
                <a:defRPr sz="1600"/>
              </a:lvl7pPr>
              <a:lvl8pPr marL="3200400" indent="0" algn="ctr" defTabSz="914400">
                <a:lnSpc>
                  <a:spcPct val="90000"/>
                </a:lnSpc>
                <a:spcBef>
                  <a:spcPts val="500"/>
                </a:spcBef>
                <a:buFont typeface="Arial" panose="020B0604020202020204" pitchFamily="34" charset="0"/>
                <a:buNone/>
                <a:defRPr sz="1600"/>
              </a:lvl8pPr>
              <a:lvl9pPr marL="3657600" indent="0" algn="ctr" defTabSz="914400">
                <a:lnSpc>
                  <a:spcPct val="90000"/>
                </a:lnSpc>
                <a:spcBef>
                  <a:spcPts val="500"/>
                </a:spcBef>
                <a:buFont typeface="Arial" panose="020B0604020202020204" pitchFamily="34" charset="0"/>
                <a:buNone/>
                <a:defRPr sz="1600"/>
              </a:lvl9pPr>
            </a:lstStyle>
            <a:p>
              <a:pPr algn="l">
                <a:lnSpc>
                  <a:spcPct val="100000"/>
                </a:lnSpc>
                <a:spcBef>
                  <a:spcPts val="0"/>
                </a:spcBef>
                <a:defRPr/>
              </a:pPr>
              <a:r>
                <a:rPr lang="en-US" sz="1200">
                  <a:solidFill>
                    <a:schemeClr val="bg1"/>
                  </a:solidFill>
                  <a:latin typeface="+mn-lt"/>
                </a:rPr>
                <a:t>Export Cost data for further analysis</a:t>
              </a:r>
              <a:endParaRPr lang="en-GB" sz="1200">
                <a:solidFill>
                  <a:schemeClr val="bg1"/>
                </a:solidFill>
                <a:latin typeface="+mn-lt"/>
              </a:endParaRPr>
            </a:p>
          </p:txBody>
        </p:sp>
      </p:grpSp>
      <p:pic>
        <p:nvPicPr>
          <p:cNvPr id="2" name="Picture 2" descr="Screenshot of cost analysis dashboard with scope set to subscription.">
            <a:extLst>
              <a:ext uri="{FF2B5EF4-FFF2-40B4-BE49-F238E27FC236}">
                <a16:creationId xmlns:a16="http://schemas.microsoft.com/office/drawing/2014/main" id="{7EE1D63C-E5DE-78F5-E724-0A0825A636A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706548" y="1351238"/>
            <a:ext cx="6778903" cy="3375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09918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250"/>
                                  </p:stCondLst>
                                  <p:childTnLst>
                                    <p:set>
                                      <p:cBhvr>
                                        <p:cTn id="6" dur="1" fill="hold">
                                          <p:stCondLst>
                                            <p:cond delay="0"/>
                                          </p:stCondLst>
                                        </p:cTn>
                                        <p:tgtEl>
                                          <p:spTgt spid="9"/>
                                        </p:tgtEl>
                                        <p:attrNameLst>
                                          <p:attrName>style.visibility</p:attrName>
                                        </p:attrNameLst>
                                      </p:cBhvr>
                                      <p:to>
                                        <p:strVal val="visible"/>
                                      </p:to>
                                    </p:set>
                                    <p:anim calcmode="lin" valueType="num">
                                      <p:cBhvr>
                                        <p:cTn id="7" dur="250" fill="hold"/>
                                        <p:tgtEl>
                                          <p:spTgt spid="9"/>
                                        </p:tgtEl>
                                        <p:attrNameLst>
                                          <p:attrName>ppt_w</p:attrName>
                                        </p:attrNameLst>
                                      </p:cBhvr>
                                      <p:tavLst>
                                        <p:tav tm="0">
                                          <p:val>
                                            <p:strVal val="2/3*#ppt_w"/>
                                          </p:val>
                                        </p:tav>
                                        <p:tav tm="100000">
                                          <p:val>
                                            <p:strVal val="#ppt_w"/>
                                          </p:val>
                                        </p:tav>
                                      </p:tavLst>
                                    </p:anim>
                                    <p:anim calcmode="lin" valueType="num">
                                      <p:cBhvr>
                                        <p:cTn id="8" dur="250" fill="hold"/>
                                        <p:tgtEl>
                                          <p:spTgt spid="9"/>
                                        </p:tgtEl>
                                        <p:attrNameLst>
                                          <p:attrName>ppt_h</p:attrName>
                                        </p:attrNameLst>
                                      </p:cBhvr>
                                      <p:tavLst>
                                        <p:tav tm="0">
                                          <p:val>
                                            <p:strVal val="2/3*#ppt_h"/>
                                          </p:val>
                                        </p:tav>
                                        <p:tav tm="100000">
                                          <p:val>
                                            <p:strVal val="#ppt_h"/>
                                          </p:val>
                                        </p:tav>
                                      </p:tavLst>
                                    </p:anim>
                                  </p:childTnLst>
                                </p:cTn>
                              </p:par>
                              <p:par>
                                <p:cTn id="9" presetID="10" presetClass="entr" presetSubtype="0" fill="hold" grpId="1" nodeType="withEffect">
                                  <p:stCondLst>
                                    <p:cond delay="25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6" presetClass="emph" presetSubtype="0" fill="hold" grpId="2" nodeType="withEffect">
                                  <p:stCondLst>
                                    <p:cond delay="250"/>
                                  </p:stCondLst>
                                  <p:childTnLst>
                                    <p:animScale>
                                      <p:cBhvr>
                                        <p:cTn id="13" dur="10" fill="hold"/>
                                        <p:tgtEl>
                                          <p:spTgt spid="9"/>
                                        </p:tgtEl>
                                      </p:cBhvr>
                                      <p:by x="80000" y="80000"/>
                                    </p:animScale>
                                  </p:childTnLst>
                                </p:cTn>
                              </p:par>
                              <p:par>
                                <p:cTn id="14" presetID="6" presetClass="emph" presetSubtype="0" decel="100000" fill="hold" grpId="3" nodeType="withEffect">
                                  <p:stCondLst>
                                    <p:cond delay="250"/>
                                  </p:stCondLst>
                                  <p:childTnLst>
                                    <p:animScale>
                                      <p:cBhvr>
                                        <p:cTn id="15" dur="1000" fill="hold"/>
                                        <p:tgtEl>
                                          <p:spTgt spid="9"/>
                                        </p:tgtEl>
                                      </p:cBhvr>
                                      <p:by x="125000" y="125000"/>
                                    </p:animScale>
                                  </p:childTnLst>
                                </p:cTn>
                              </p:par>
                              <p:par>
                                <p:cTn id="16" presetID="10" presetClass="entr" presetSubtype="0" fill="hold" nodeType="withEffect">
                                  <p:stCondLst>
                                    <p:cond delay="250"/>
                                  </p:stCondLst>
                                  <p:childTnLst>
                                    <p:set>
                                      <p:cBhvr>
                                        <p:cTn id="17" dur="1" fill="hold">
                                          <p:stCondLst>
                                            <p:cond delay="0"/>
                                          </p:stCondLst>
                                        </p:cTn>
                                        <p:tgtEl>
                                          <p:spTgt spid="73"/>
                                        </p:tgtEl>
                                        <p:attrNameLst>
                                          <p:attrName>style.visibility</p:attrName>
                                        </p:attrNameLst>
                                      </p:cBhvr>
                                      <p:to>
                                        <p:strVal val="visible"/>
                                      </p:to>
                                    </p:set>
                                    <p:animEffect transition="in" filter="fade">
                                      <p:cBhvr>
                                        <p:cTn id="18" dur="1000"/>
                                        <p:tgtEl>
                                          <p:spTgt spid="73"/>
                                        </p:tgtEl>
                                      </p:cBhvr>
                                    </p:animEffect>
                                  </p:childTnLst>
                                </p:cTn>
                              </p:par>
                              <p:par>
                                <p:cTn id="19" presetID="10" presetClass="entr" presetSubtype="0" fill="hold" nodeType="withEffect">
                                  <p:stCondLst>
                                    <p:cond delay="75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9" grpId="3" animBg="1"/>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2044C0-E9F4-58D7-9A1B-ED0C60BB40FA}"/>
            </a:ext>
          </a:extLst>
        </p:cNvPr>
        <p:cNvGrpSpPr/>
        <p:nvPr/>
      </p:nvGrpSpPr>
      <p:grpSpPr>
        <a:xfrm>
          <a:off x="0" y="0"/>
          <a:ext cx="0" cy="0"/>
          <a:chOff x="0" y="0"/>
          <a:chExt cx="0" cy="0"/>
        </a:xfrm>
      </p:grpSpPr>
      <p:sp>
        <p:nvSpPr>
          <p:cNvPr id="4" name="Title 14">
            <a:extLst>
              <a:ext uri="{FF2B5EF4-FFF2-40B4-BE49-F238E27FC236}">
                <a16:creationId xmlns:a16="http://schemas.microsoft.com/office/drawing/2014/main" id="{D384D2AE-3263-3832-E98C-38489462AF8E}"/>
              </a:ext>
            </a:extLst>
          </p:cNvPr>
          <p:cNvSpPr>
            <a:spLocks noGrp="1"/>
          </p:cNvSpPr>
          <p:nvPr>
            <p:ph type="title"/>
          </p:nvPr>
        </p:nvSpPr>
        <p:spPr/>
        <p:txBody>
          <a:bodyPr/>
          <a:lstStyle/>
          <a:p>
            <a:r>
              <a:rPr lang="en-US" err="1">
                <a:solidFill>
                  <a:schemeClr val="bg1"/>
                </a:solidFill>
              </a:rPr>
              <a:t>GenAIOps</a:t>
            </a:r>
            <a:r>
              <a:rPr lang="en-US">
                <a:solidFill>
                  <a:schemeClr val="bg1"/>
                </a:solidFill>
              </a:rPr>
              <a:t> Landscape</a:t>
            </a:r>
          </a:p>
        </p:txBody>
      </p:sp>
      <p:grpSp>
        <p:nvGrpSpPr>
          <p:cNvPr id="137" name="Group 136">
            <a:extLst>
              <a:ext uri="{FF2B5EF4-FFF2-40B4-BE49-F238E27FC236}">
                <a16:creationId xmlns:a16="http://schemas.microsoft.com/office/drawing/2014/main" id="{49AD06AB-4A0C-8410-B945-B8B8CF596F9B}"/>
              </a:ext>
            </a:extLst>
          </p:cNvPr>
          <p:cNvGrpSpPr/>
          <p:nvPr/>
        </p:nvGrpSpPr>
        <p:grpSpPr>
          <a:xfrm>
            <a:off x="5348368" y="1290320"/>
            <a:ext cx="1489673" cy="5024438"/>
            <a:chOff x="5348368" y="1290320"/>
            <a:chExt cx="1489673" cy="5024438"/>
          </a:xfrm>
        </p:grpSpPr>
        <p:sp>
          <p:nvSpPr>
            <p:cNvPr id="40" name="Rectangle: Rounded Corners 39">
              <a:extLst>
                <a:ext uri="{FF2B5EF4-FFF2-40B4-BE49-F238E27FC236}">
                  <a16:creationId xmlns:a16="http://schemas.microsoft.com/office/drawing/2014/main" id="{DF1CAF9E-0D37-8001-CDC9-22C6923A23C5}"/>
                </a:ext>
              </a:extLst>
            </p:cNvPr>
            <p:cNvSpPr>
              <a:spLocks/>
            </p:cNvSpPr>
            <p:nvPr/>
          </p:nvSpPr>
          <p:spPr bwMode="auto">
            <a:xfrm>
              <a:off x="5348368" y="1429468"/>
              <a:ext cx="1489673" cy="488529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lnSpc>
                  <a:spcPct val="80000"/>
                </a:lnSpc>
                <a:spcBef>
                  <a:spcPct val="0"/>
                </a:spcBef>
                <a:spcAft>
                  <a:spcPct val="0"/>
                </a:spcAft>
              </a:pPr>
              <a:endParaRPr lang="en-US" sz="1200">
                <a:solidFill>
                  <a:srgbClr val="FFFFFF"/>
                </a:solidFill>
                <a:latin typeface="Segoe Sans Text"/>
                <a:cs typeface="Segoe Sans Text" pitchFamily="2" charset="0"/>
              </a:endParaRPr>
            </a:p>
          </p:txBody>
        </p:sp>
        <p:sp>
          <p:nvSpPr>
            <p:cNvPr id="42" name="Arrow: Pentagon 5">
              <a:extLst>
                <a:ext uri="{FF2B5EF4-FFF2-40B4-BE49-F238E27FC236}">
                  <a16:creationId xmlns:a16="http://schemas.microsoft.com/office/drawing/2014/main" id="{11188020-4591-82F5-AB1B-BA47194A649B}"/>
                </a:ext>
              </a:extLst>
            </p:cNvPr>
            <p:cNvSpPr/>
            <p:nvPr/>
          </p:nvSpPr>
          <p:spPr bwMode="auto">
            <a:xfrm>
              <a:off x="5479027" y="1290320"/>
              <a:ext cx="1228356" cy="278295"/>
            </a:xfrm>
            <a:prstGeom prst="roundRect">
              <a:avLst>
                <a:gd name="adj" fmla="val 50000"/>
              </a:avLst>
            </a:prstGeom>
            <a:blipFill dpi="0" rotWithShape="1">
              <a:blip r:embed="rId3" cstate="hqprint">
                <a:extLst>
                  <a:ext uri="{28A0092B-C50C-407E-A947-70E740481C1C}">
                    <a14:useLocalDpi xmlns:a14="http://schemas.microsoft.com/office/drawing/2010/main"/>
                  </a:ext>
                </a:extLst>
              </a:blip>
              <a:srcRect/>
              <a:stretch>
                <a:fillRect l="-4551" t="-167599" r="-201485" b="-167599"/>
              </a:stretch>
            </a:bli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80000"/>
                </a:lnSpc>
                <a:spcBef>
                  <a:spcPct val="0"/>
                </a:spcBef>
                <a:spcAft>
                  <a:spcPct val="0"/>
                </a:spcAft>
                <a:defRPr/>
              </a:pPr>
              <a:r>
                <a:rPr lang="en-GB" sz="1050">
                  <a:solidFill>
                    <a:schemeClr val="bg1"/>
                  </a:solidFill>
                  <a:latin typeface="Segoe Sans Text" pitchFamily="2" charset="0"/>
                  <a:cs typeface="Segoe Sans Text" pitchFamily="2" charset="0"/>
                </a:rPr>
                <a:t>CICD</a:t>
              </a:r>
            </a:p>
          </p:txBody>
        </p:sp>
        <p:sp>
          <p:nvSpPr>
            <p:cNvPr id="107" name="Rectangle: Rounded Corners 106">
              <a:extLst>
                <a:ext uri="{FF2B5EF4-FFF2-40B4-BE49-F238E27FC236}">
                  <a16:creationId xmlns:a16="http://schemas.microsoft.com/office/drawing/2014/main" id="{17CC163C-B7FC-0F2D-183C-3D449AF06FFF}"/>
                </a:ext>
              </a:extLst>
            </p:cNvPr>
            <p:cNvSpPr/>
            <p:nvPr/>
          </p:nvSpPr>
          <p:spPr bwMode="auto">
            <a:xfrm>
              <a:off x="5445359" y="2891070"/>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GitHub Actions</a:t>
              </a:r>
            </a:p>
          </p:txBody>
        </p:sp>
        <p:sp>
          <p:nvSpPr>
            <p:cNvPr id="108" name="Rectangle: Rounded Corners 107">
              <a:extLst>
                <a:ext uri="{FF2B5EF4-FFF2-40B4-BE49-F238E27FC236}">
                  <a16:creationId xmlns:a16="http://schemas.microsoft.com/office/drawing/2014/main" id="{912F55FB-8A48-69B8-D226-01C546AAE689}"/>
                </a:ext>
              </a:extLst>
            </p:cNvPr>
            <p:cNvSpPr/>
            <p:nvPr/>
          </p:nvSpPr>
          <p:spPr bwMode="auto">
            <a:xfrm>
              <a:off x="5445359" y="3345058"/>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ADO Pipelines</a:t>
              </a:r>
            </a:p>
          </p:txBody>
        </p:sp>
      </p:grpSp>
      <p:grpSp>
        <p:nvGrpSpPr>
          <p:cNvPr id="134" name="Group 133">
            <a:extLst>
              <a:ext uri="{FF2B5EF4-FFF2-40B4-BE49-F238E27FC236}">
                <a16:creationId xmlns:a16="http://schemas.microsoft.com/office/drawing/2014/main" id="{1799C656-D73C-3869-76E7-D1B5BE6A9836}"/>
              </a:ext>
            </a:extLst>
          </p:cNvPr>
          <p:cNvGrpSpPr/>
          <p:nvPr/>
        </p:nvGrpSpPr>
        <p:grpSpPr>
          <a:xfrm>
            <a:off x="548641" y="1290320"/>
            <a:ext cx="1495265" cy="5024438"/>
            <a:chOff x="548641" y="1290320"/>
            <a:chExt cx="1495265" cy="5024438"/>
          </a:xfrm>
        </p:grpSpPr>
        <p:sp>
          <p:nvSpPr>
            <p:cNvPr id="45" name="Rectangle: Rounded Corners 44">
              <a:extLst>
                <a:ext uri="{FF2B5EF4-FFF2-40B4-BE49-F238E27FC236}">
                  <a16:creationId xmlns:a16="http://schemas.microsoft.com/office/drawing/2014/main" id="{97D3EECC-8E8E-92E2-8CED-A0D32007636E}"/>
                </a:ext>
              </a:extLst>
            </p:cNvPr>
            <p:cNvSpPr>
              <a:spLocks/>
            </p:cNvSpPr>
            <p:nvPr/>
          </p:nvSpPr>
          <p:spPr bwMode="auto">
            <a:xfrm>
              <a:off x="548641" y="1429468"/>
              <a:ext cx="1489673" cy="488529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lnSpc>
                  <a:spcPct val="80000"/>
                </a:lnSpc>
                <a:spcBef>
                  <a:spcPct val="0"/>
                </a:spcBef>
                <a:spcAft>
                  <a:spcPct val="0"/>
                </a:spcAft>
              </a:pPr>
              <a:endParaRPr lang="en-US" sz="1200">
                <a:solidFill>
                  <a:srgbClr val="FFFFFF"/>
                </a:solidFill>
                <a:latin typeface="Segoe Sans Text"/>
                <a:cs typeface="Segoe Sans Text" pitchFamily="2" charset="0"/>
              </a:endParaRPr>
            </a:p>
          </p:txBody>
        </p:sp>
        <p:sp>
          <p:nvSpPr>
            <p:cNvPr id="46" name="Rectangle: Top Corners Rounded 45">
              <a:extLst>
                <a:ext uri="{FF2B5EF4-FFF2-40B4-BE49-F238E27FC236}">
                  <a16:creationId xmlns:a16="http://schemas.microsoft.com/office/drawing/2014/main" id="{2864DEBE-D1CE-DD95-CE5B-5E5861236C19}"/>
                </a:ext>
              </a:extLst>
            </p:cNvPr>
            <p:cNvSpPr>
              <a:spLocks/>
            </p:cNvSpPr>
            <p:nvPr/>
          </p:nvSpPr>
          <p:spPr bwMode="auto">
            <a:xfrm flipV="1">
              <a:off x="548641" y="5193133"/>
              <a:ext cx="1489673" cy="526947"/>
            </a:xfrm>
            <a:prstGeom prst="round2SameRect">
              <a:avLst>
                <a:gd name="adj1" fmla="val 4689"/>
                <a:gd name="adj2" fmla="val 0"/>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8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65" name="Arrow: Pentagon 5">
              <a:extLst>
                <a:ext uri="{FF2B5EF4-FFF2-40B4-BE49-F238E27FC236}">
                  <a16:creationId xmlns:a16="http://schemas.microsoft.com/office/drawing/2014/main" id="{977F4C56-B27C-B989-02C1-0195ED53A829}"/>
                </a:ext>
              </a:extLst>
            </p:cNvPr>
            <p:cNvSpPr/>
            <p:nvPr/>
          </p:nvSpPr>
          <p:spPr bwMode="auto">
            <a:xfrm>
              <a:off x="679300" y="1290320"/>
              <a:ext cx="1228356" cy="278295"/>
            </a:xfrm>
            <a:prstGeom prst="roundRect">
              <a:avLst>
                <a:gd name="adj" fmla="val 50000"/>
              </a:avLst>
            </a:prstGeom>
            <a:blipFill dpi="0" rotWithShape="1">
              <a:blip r:embed="rId3" cstate="hqprint">
                <a:extLst>
                  <a:ext uri="{28A0092B-C50C-407E-A947-70E740481C1C}">
                    <a14:useLocalDpi xmlns:a14="http://schemas.microsoft.com/office/drawing/2010/main"/>
                  </a:ext>
                </a:extLst>
              </a:blip>
              <a:srcRect/>
              <a:stretch>
                <a:fillRect l="-4551" t="-167599" r="-201485" b="-167599"/>
              </a:stretch>
            </a:bli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80000"/>
                </a:lnSpc>
                <a:spcBef>
                  <a:spcPct val="0"/>
                </a:spcBef>
                <a:spcAft>
                  <a:spcPct val="0"/>
                </a:spcAft>
                <a:defRPr/>
              </a:pPr>
              <a:r>
                <a:rPr lang="en-GB" sz="1050">
                  <a:solidFill>
                    <a:schemeClr val="bg1"/>
                  </a:solidFill>
                  <a:latin typeface="Segoe Sans Text" pitchFamily="2" charset="0"/>
                  <a:cs typeface="Segoe Sans Text" pitchFamily="2" charset="0"/>
                </a:rPr>
                <a:t>Platform</a:t>
              </a:r>
            </a:p>
          </p:txBody>
        </p:sp>
        <p:sp>
          <p:nvSpPr>
            <p:cNvPr id="5" name="Rectangle 4">
              <a:extLst>
                <a:ext uri="{FF2B5EF4-FFF2-40B4-BE49-F238E27FC236}">
                  <a16:creationId xmlns:a16="http://schemas.microsoft.com/office/drawing/2014/main" id="{B483B1D6-98D6-4FC8-FF85-5DB7FACF2D72}"/>
                </a:ext>
              </a:extLst>
            </p:cNvPr>
            <p:cNvSpPr>
              <a:spLocks/>
            </p:cNvSpPr>
            <p:nvPr/>
          </p:nvSpPr>
          <p:spPr bwMode="auto">
            <a:xfrm flipV="1">
              <a:off x="554233" y="2262678"/>
              <a:ext cx="1489673" cy="998539"/>
            </a:xfrm>
            <a:prstGeom prst="rect">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8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96" name="Rectangle: Rounded Corners 95">
              <a:extLst>
                <a:ext uri="{FF2B5EF4-FFF2-40B4-BE49-F238E27FC236}">
                  <a16:creationId xmlns:a16="http://schemas.microsoft.com/office/drawing/2014/main" id="{FA8042BE-9CA9-F0A9-F941-161BAFF59BD1}"/>
                </a:ext>
              </a:extLst>
            </p:cNvPr>
            <p:cNvSpPr/>
            <p:nvPr/>
          </p:nvSpPr>
          <p:spPr bwMode="auto">
            <a:xfrm>
              <a:off x="669730" y="2557049"/>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AI Foundry</a:t>
              </a:r>
            </a:p>
          </p:txBody>
        </p:sp>
        <p:sp>
          <p:nvSpPr>
            <p:cNvPr id="97" name="Rectangle: Rounded Corners 96">
              <a:extLst>
                <a:ext uri="{FF2B5EF4-FFF2-40B4-BE49-F238E27FC236}">
                  <a16:creationId xmlns:a16="http://schemas.microsoft.com/office/drawing/2014/main" id="{6F84252A-5909-3022-2443-B77041D2791E}"/>
                </a:ext>
              </a:extLst>
            </p:cNvPr>
            <p:cNvSpPr/>
            <p:nvPr/>
          </p:nvSpPr>
          <p:spPr bwMode="auto">
            <a:xfrm>
              <a:off x="658685" y="4008845"/>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err="1">
                  <a:solidFill>
                    <a:schemeClr val="accent1"/>
                  </a:solidFill>
                  <a:latin typeface="+mj-lt"/>
                  <a:cs typeface="Segoe Sans Text" pitchFamily="2" charset="0"/>
                </a:rPr>
                <a:t>Codespaces</a:t>
              </a:r>
              <a:endParaRPr lang="en-GB" sz="1000" kern="0">
                <a:solidFill>
                  <a:schemeClr val="accent1"/>
                </a:solidFill>
                <a:latin typeface="+mj-lt"/>
                <a:cs typeface="Segoe Sans Text" pitchFamily="2" charset="0"/>
              </a:endParaRPr>
            </a:p>
          </p:txBody>
        </p:sp>
        <p:sp>
          <p:nvSpPr>
            <p:cNvPr id="98" name="Rectangle: Rounded Corners 97">
              <a:extLst>
                <a:ext uri="{FF2B5EF4-FFF2-40B4-BE49-F238E27FC236}">
                  <a16:creationId xmlns:a16="http://schemas.microsoft.com/office/drawing/2014/main" id="{D2BD532D-0FA4-0D6F-5082-37EF24E4B986}"/>
                </a:ext>
              </a:extLst>
            </p:cNvPr>
            <p:cNvSpPr/>
            <p:nvPr/>
          </p:nvSpPr>
          <p:spPr bwMode="auto">
            <a:xfrm>
              <a:off x="665459" y="4504314"/>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Dev Box</a:t>
              </a:r>
            </a:p>
          </p:txBody>
        </p:sp>
        <p:sp>
          <p:nvSpPr>
            <p:cNvPr id="99" name="Rectangle: Rounded Corners 98">
              <a:extLst>
                <a:ext uri="{FF2B5EF4-FFF2-40B4-BE49-F238E27FC236}">
                  <a16:creationId xmlns:a16="http://schemas.microsoft.com/office/drawing/2014/main" id="{6011BC56-8CD1-F201-4D50-227106440391}"/>
                </a:ext>
              </a:extLst>
            </p:cNvPr>
            <p:cNvSpPr/>
            <p:nvPr/>
          </p:nvSpPr>
          <p:spPr bwMode="auto">
            <a:xfrm>
              <a:off x="647932" y="5053969"/>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Local container</a:t>
              </a:r>
            </a:p>
          </p:txBody>
        </p:sp>
        <p:sp>
          <p:nvSpPr>
            <p:cNvPr id="100" name="Rectangle: Rounded Corners 99">
              <a:extLst>
                <a:ext uri="{FF2B5EF4-FFF2-40B4-BE49-F238E27FC236}">
                  <a16:creationId xmlns:a16="http://schemas.microsoft.com/office/drawing/2014/main" id="{A8941946-E362-7D08-9A41-351274044178}"/>
                </a:ext>
              </a:extLst>
            </p:cNvPr>
            <p:cNvSpPr/>
            <p:nvPr/>
          </p:nvSpPr>
          <p:spPr bwMode="auto">
            <a:xfrm>
              <a:off x="647934" y="5590080"/>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Local install</a:t>
              </a:r>
            </a:p>
          </p:txBody>
        </p:sp>
        <p:sp>
          <p:nvSpPr>
            <p:cNvPr id="101" name="Rectangle: Rounded Corners 100">
              <a:extLst>
                <a:ext uri="{FF2B5EF4-FFF2-40B4-BE49-F238E27FC236}">
                  <a16:creationId xmlns:a16="http://schemas.microsoft.com/office/drawing/2014/main" id="{BF6AA237-E842-4363-B5C9-5736EEFD8CBC}"/>
                </a:ext>
              </a:extLst>
            </p:cNvPr>
            <p:cNvSpPr/>
            <p:nvPr/>
          </p:nvSpPr>
          <p:spPr bwMode="auto">
            <a:xfrm>
              <a:off x="661480" y="3040285"/>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Azure ML Studio</a:t>
              </a:r>
            </a:p>
          </p:txBody>
        </p:sp>
        <p:sp>
          <p:nvSpPr>
            <p:cNvPr id="112" name="Rectangle: Rounded Corners 111">
              <a:extLst>
                <a:ext uri="{FF2B5EF4-FFF2-40B4-BE49-F238E27FC236}">
                  <a16:creationId xmlns:a16="http://schemas.microsoft.com/office/drawing/2014/main" id="{3478F3F6-FC32-D16E-3C0F-2EE990427B9F}"/>
                </a:ext>
              </a:extLst>
            </p:cNvPr>
            <p:cNvSpPr/>
            <p:nvPr/>
          </p:nvSpPr>
          <p:spPr bwMode="auto">
            <a:xfrm>
              <a:off x="643740" y="1752871"/>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Copilot Studio</a:t>
              </a:r>
            </a:p>
          </p:txBody>
        </p:sp>
      </p:grpSp>
      <p:grpSp>
        <p:nvGrpSpPr>
          <p:cNvPr id="136" name="Group 135">
            <a:extLst>
              <a:ext uri="{FF2B5EF4-FFF2-40B4-BE49-F238E27FC236}">
                <a16:creationId xmlns:a16="http://schemas.microsoft.com/office/drawing/2014/main" id="{685D2A4F-7863-6039-4A92-913FDEFC4147}"/>
              </a:ext>
            </a:extLst>
          </p:cNvPr>
          <p:cNvGrpSpPr/>
          <p:nvPr/>
        </p:nvGrpSpPr>
        <p:grpSpPr>
          <a:xfrm>
            <a:off x="3748459" y="1290320"/>
            <a:ext cx="1495265" cy="5024438"/>
            <a:chOff x="3748459" y="1290320"/>
            <a:chExt cx="1495265" cy="5024438"/>
          </a:xfrm>
        </p:grpSpPr>
        <p:sp>
          <p:nvSpPr>
            <p:cNvPr id="35" name="Rectangle: Rounded Corners 34">
              <a:extLst>
                <a:ext uri="{FF2B5EF4-FFF2-40B4-BE49-F238E27FC236}">
                  <a16:creationId xmlns:a16="http://schemas.microsoft.com/office/drawing/2014/main" id="{C86E6949-FDC1-CC07-9D8D-803D7BD48881}"/>
                </a:ext>
              </a:extLst>
            </p:cNvPr>
            <p:cNvSpPr>
              <a:spLocks/>
            </p:cNvSpPr>
            <p:nvPr/>
          </p:nvSpPr>
          <p:spPr bwMode="auto">
            <a:xfrm>
              <a:off x="3748459" y="1429468"/>
              <a:ext cx="1489673" cy="488529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lnSpc>
                  <a:spcPct val="80000"/>
                </a:lnSpc>
                <a:spcBef>
                  <a:spcPct val="0"/>
                </a:spcBef>
                <a:spcAft>
                  <a:spcPct val="0"/>
                </a:spcAft>
              </a:pPr>
              <a:endParaRPr lang="en-US" sz="1200">
                <a:solidFill>
                  <a:srgbClr val="FFFFFF"/>
                </a:solidFill>
                <a:latin typeface="Segoe Sans Text"/>
                <a:cs typeface="Segoe Sans Text" pitchFamily="2" charset="0"/>
              </a:endParaRPr>
            </a:p>
          </p:txBody>
        </p:sp>
        <p:sp>
          <p:nvSpPr>
            <p:cNvPr id="37" name="Arrow: Pentagon 5">
              <a:extLst>
                <a:ext uri="{FF2B5EF4-FFF2-40B4-BE49-F238E27FC236}">
                  <a16:creationId xmlns:a16="http://schemas.microsoft.com/office/drawing/2014/main" id="{570E4125-0768-B5B7-0D55-BEFFB12284CC}"/>
                </a:ext>
              </a:extLst>
            </p:cNvPr>
            <p:cNvSpPr/>
            <p:nvPr/>
          </p:nvSpPr>
          <p:spPr bwMode="auto">
            <a:xfrm>
              <a:off x="3879118" y="1290320"/>
              <a:ext cx="1228356" cy="278295"/>
            </a:xfrm>
            <a:prstGeom prst="roundRect">
              <a:avLst>
                <a:gd name="adj" fmla="val 50000"/>
              </a:avLst>
            </a:prstGeom>
            <a:blipFill dpi="0" rotWithShape="1">
              <a:blip r:embed="rId3" cstate="hqprint">
                <a:extLst>
                  <a:ext uri="{28A0092B-C50C-407E-A947-70E740481C1C}">
                    <a14:useLocalDpi xmlns:a14="http://schemas.microsoft.com/office/drawing/2010/main"/>
                  </a:ext>
                </a:extLst>
              </a:blip>
              <a:srcRect/>
              <a:stretch>
                <a:fillRect l="-4551" t="-167599" r="-201485" b="-167599"/>
              </a:stretch>
            </a:bli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80000"/>
                </a:lnSpc>
                <a:spcBef>
                  <a:spcPct val="0"/>
                </a:spcBef>
                <a:spcAft>
                  <a:spcPct val="0"/>
                </a:spcAft>
                <a:defRPr/>
              </a:pPr>
              <a:r>
                <a:rPr lang="en-GB" sz="1050">
                  <a:solidFill>
                    <a:schemeClr val="bg1"/>
                  </a:solidFill>
                  <a:latin typeface="Segoe Sans Text" pitchFamily="2" charset="0"/>
                  <a:cs typeface="Segoe Sans Text" pitchFamily="2" charset="0"/>
                </a:rPr>
                <a:t>SDK / Plugin</a:t>
              </a:r>
            </a:p>
          </p:txBody>
        </p:sp>
        <p:sp>
          <p:nvSpPr>
            <p:cNvPr id="38" name="Rectangle 37">
              <a:extLst>
                <a:ext uri="{FF2B5EF4-FFF2-40B4-BE49-F238E27FC236}">
                  <a16:creationId xmlns:a16="http://schemas.microsoft.com/office/drawing/2014/main" id="{2ECE14EB-5CCF-144B-31E0-08893F182BEA}"/>
                </a:ext>
              </a:extLst>
            </p:cNvPr>
            <p:cNvSpPr>
              <a:spLocks/>
            </p:cNvSpPr>
            <p:nvPr/>
          </p:nvSpPr>
          <p:spPr bwMode="auto">
            <a:xfrm flipV="1">
              <a:off x="3754051" y="2262678"/>
              <a:ext cx="1489673" cy="998539"/>
            </a:xfrm>
            <a:prstGeom prst="rect">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8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05" name="Rectangle: Rounded Corners 104">
              <a:extLst>
                <a:ext uri="{FF2B5EF4-FFF2-40B4-BE49-F238E27FC236}">
                  <a16:creationId xmlns:a16="http://schemas.microsoft.com/office/drawing/2014/main" id="{ABEED48D-3236-A0D5-3B97-8E9896B359C6}"/>
                </a:ext>
              </a:extLst>
            </p:cNvPr>
            <p:cNvSpPr/>
            <p:nvPr/>
          </p:nvSpPr>
          <p:spPr bwMode="auto">
            <a:xfrm>
              <a:off x="3841049" y="2343709"/>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Semantic Kernel</a:t>
              </a:r>
            </a:p>
          </p:txBody>
        </p:sp>
        <p:sp>
          <p:nvSpPr>
            <p:cNvPr id="106" name="Rectangle: Rounded Corners 105">
              <a:extLst>
                <a:ext uri="{FF2B5EF4-FFF2-40B4-BE49-F238E27FC236}">
                  <a16:creationId xmlns:a16="http://schemas.microsoft.com/office/drawing/2014/main" id="{AACA8661-19CB-A046-1C76-40172962D65D}"/>
                </a:ext>
              </a:extLst>
            </p:cNvPr>
            <p:cNvSpPr/>
            <p:nvPr/>
          </p:nvSpPr>
          <p:spPr bwMode="auto">
            <a:xfrm>
              <a:off x="3841049" y="2782286"/>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err="1">
                  <a:solidFill>
                    <a:schemeClr val="accent1"/>
                  </a:solidFill>
                  <a:latin typeface="+mj-lt"/>
                  <a:cs typeface="Segoe Sans Text" pitchFamily="2" charset="0"/>
                </a:rPr>
                <a:t>LangChain</a:t>
              </a:r>
              <a:endParaRPr lang="en-GB" sz="1000" kern="0">
                <a:solidFill>
                  <a:schemeClr val="accent1"/>
                </a:solidFill>
                <a:latin typeface="+mj-lt"/>
                <a:cs typeface="Segoe Sans Text" pitchFamily="2" charset="0"/>
              </a:endParaRPr>
            </a:p>
          </p:txBody>
        </p:sp>
        <p:sp>
          <p:nvSpPr>
            <p:cNvPr id="115" name="Rectangle: Rounded Corners 114">
              <a:extLst>
                <a:ext uri="{FF2B5EF4-FFF2-40B4-BE49-F238E27FC236}">
                  <a16:creationId xmlns:a16="http://schemas.microsoft.com/office/drawing/2014/main" id="{B44BB988-5525-E8D2-5345-4D7C8CD06842}"/>
                </a:ext>
              </a:extLst>
            </p:cNvPr>
            <p:cNvSpPr/>
            <p:nvPr/>
          </p:nvSpPr>
          <p:spPr bwMode="auto">
            <a:xfrm>
              <a:off x="3841049" y="3345058"/>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AI Foundry SDK</a:t>
              </a:r>
            </a:p>
          </p:txBody>
        </p:sp>
        <p:sp>
          <p:nvSpPr>
            <p:cNvPr id="116" name="Rectangle: Rounded Corners 115">
              <a:extLst>
                <a:ext uri="{FF2B5EF4-FFF2-40B4-BE49-F238E27FC236}">
                  <a16:creationId xmlns:a16="http://schemas.microsoft.com/office/drawing/2014/main" id="{DB653117-90FF-B36B-FF45-0E223E793BA1}"/>
                </a:ext>
              </a:extLst>
            </p:cNvPr>
            <p:cNvSpPr/>
            <p:nvPr/>
          </p:nvSpPr>
          <p:spPr bwMode="auto">
            <a:xfrm>
              <a:off x="3841049" y="3799887"/>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Prompt flow SDK</a:t>
              </a:r>
            </a:p>
          </p:txBody>
        </p:sp>
        <p:sp>
          <p:nvSpPr>
            <p:cNvPr id="117" name="Rectangle: Rounded Corners 116">
              <a:extLst>
                <a:ext uri="{FF2B5EF4-FFF2-40B4-BE49-F238E27FC236}">
                  <a16:creationId xmlns:a16="http://schemas.microsoft.com/office/drawing/2014/main" id="{4B614CBE-6065-2378-259E-CE76FA08258E}"/>
                </a:ext>
              </a:extLst>
            </p:cNvPr>
            <p:cNvSpPr/>
            <p:nvPr/>
          </p:nvSpPr>
          <p:spPr bwMode="auto">
            <a:xfrm>
              <a:off x="3841049" y="4254716"/>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36000" tIns="146304" rIns="3600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Semantic Kernel / </a:t>
              </a:r>
              <a:r>
                <a:rPr lang="en-GB" sz="1000" kern="0" err="1">
                  <a:solidFill>
                    <a:schemeClr val="accent1"/>
                  </a:solidFill>
                  <a:latin typeface="+mj-lt"/>
                  <a:cs typeface="Segoe Sans Text" pitchFamily="2" charset="0"/>
                </a:rPr>
                <a:t>LangChain</a:t>
              </a:r>
              <a:endParaRPr lang="en-GB" sz="1000" kern="0">
                <a:solidFill>
                  <a:schemeClr val="accent1"/>
                </a:solidFill>
                <a:latin typeface="+mj-lt"/>
                <a:cs typeface="Segoe Sans Text" pitchFamily="2" charset="0"/>
              </a:endParaRPr>
            </a:p>
          </p:txBody>
        </p:sp>
        <p:sp>
          <p:nvSpPr>
            <p:cNvPr id="118" name="Rectangle: Rounded Corners 117">
              <a:extLst>
                <a:ext uri="{FF2B5EF4-FFF2-40B4-BE49-F238E27FC236}">
                  <a16:creationId xmlns:a16="http://schemas.microsoft.com/office/drawing/2014/main" id="{A8104CFE-9B6A-870F-8077-DA91B970E77D}"/>
                </a:ext>
              </a:extLst>
            </p:cNvPr>
            <p:cNvSpPr/>
            <p:nvPr/>
          </p:nvSpPr>
          <p:spPr bwMode="auto">
            <a:xfrm>
              <a:off x="3841049" y="4709546"/>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err="1">
                  <a:solidFill>
                    <a:schemeClr val="accent1"/>
                  </a:solidFill>
                  <a:latin typeface="+mj-lt"/>
                  <a:cs typeface="Segoe Sans Text" pitchFamily="2" charset="0"/>
                </a:rPr>
                <a:t>Github</a:t>
              </a:r>
              <a:r>
                <a:rPr lang="en-GB" sz="1000" kern="0">
                  <a:solidFill>
                    <a:schemeClr val="accent1"/>
                  </a:solidFill>
                  <a:latin typeface="+mj-lt"/>
                  <a:cs typeface="Segoe Sans Text" pitchFamily="2" charset="0"/>
                </a:rPr>
                <a:t> Copilot</a:t>
              </a:r>
            </a:p>
          </p:txBody>
        </p:sp>
      </p:grpSp>
      <p:grpSp>
        <p:nvGrpSpPr>
          <p:cNvPr id="138" name="Group 137">
            <a:extLst>
              <a:ext uri="{FF2B5EF4-FFF2-40B4-BE49-F238E27FC236}">
                <a16:creationId xmlns:a16="http://schemas.microsoft.com/office/drawing/2014/main" id="{51B0653B-FBEB-8E7C-D1E0-482694241F1C}"/>
              </a:ext>
            </a:extLst>
          </p:cNvPr>
          <p:cNvGrpSpPr/>
          <p:nvPr/>
        </p:nvGrpSpPr>
        <p:grpSpPr>
          <a:xfrm>
            <a:off x="6948278" y="1290320"/>
            <a:ext cx="1489673" cy="5024438"/>
            <a:chOff x="6948278" y="1290320"/>
            <a:chExt cx="1489673" cy="5024438"/>
          </a:xfrm>
        </p:grpSpPr>
        <p:sp>
          <p:nvSpPr>
            <p:cNvPr id="55" name="Rectangle: Rounded Corners 54">
              <a:extLst>
                <a:ext uri="{FF2B5EF4-FFF2-40B4-BE49-F238E27FC236}">
                  <a16:creationId xmlns:a16="http://schemas.microsoft.com/office/drawing/2014/main" id="{E9E07FAC-DAE1-E549-B362-A1120F5B355A}"/>
                </a:ext>
              </a:extLst>
            </p:cNvPr>
            <p:cNvSpPr>
              <a:spLocks/>
            </p:cNvSpPr>
            <p:nvPr/>
          </p:nvSpPr>
          <p:spPr bwMode="auto">
            <a:xfrm>
              <a:off x="6948278" y="1429468"/>
              <a:ext cx="1489673" cy="488529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lnSpc>
                  <a:spcPct val="80000"/>
                </a:lnSpc>
                <a:spcBef>
                  <a:spcPct val="0"/>
                </a:spcBef>
                <a:spcAft>
                  <a:spcPct val="0"/>
                </a:spcAft>
              </a:pPr>
              <a:endParaRPr lang="en-US" sz="1200">
                <a:solidFill>
                  <a:srgbClr val="FFFFFF"/>
                </a:solidFill>
                <a:latin typeface="Segoe Sans Text"/>
                <a:cs typeface="Segoe Sans Text" pitchFamily="2" charset="0"/>
              </a:endParaRPr>
            </a:p>
          </p:txBody>
        </p:sp>
        <p:sp>
          <p:nvSpPr>
            <p:cNvPr id="60" name="Arrow: Pentagon 5">
              <a:extLst>
                <a:ext uri="{FF2B5EF4-FFF2-40B4-BE49-F238E27FC236}">
                  <a16:creationId xmlns:a16="http://schemas.microsoft.com/office/drawing/2014/main" id="{A20EA561-D1B5-B6D8-1109-897112DFDFD2}"/>
                </a:ext>
              </a:extLst>
            </p:cNvPr>
            <p:cNvSpPr/>
            <p:nvPr/>
          </p:nvSpPr>
          <p:spPr bwMode="auto">
            <a:xfrm>
              <a:off x="7078937" y="1290320"/>
              <a:ext cx="1228356" cy="278295"/>
            </a:xfrm>
            <a:prstGeom prst="roundRect">
              <a:avLst>
                <a:gd name="adj" fmla="val 50000"/>
              </a:avLst>
            </a:prstGeom>
            <a:blipFill dpi="0" rotWithShape="1">
              <a:blip r:embed="rId3" cstate="hqprint">
                <a:extLst>
                  <a:ext uri="{28A0092B-C50C-407E-A947-70E740481C1C}">
                    <a14:useLocalDpi xmlns:a14="http://schemas.microsoft.com/office/drawing/2010/main"/>
                  </a:ext>
                </a:extLst>
              </a:blip>
              <a:srcRect/>
              <a:stretch>
                <a:fillRect l="-4551" t="-167599" r="-201485" b="-167599"/>
              </a:stretch>
            </a:bli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80000"/>
                </a:lnSpc>
                <a:spcBef>
                  <a:spcPct val="0"/>
                </a:spcBef>
                <a:spcAft>
                  <a:spcPct val="0"/>
                </a:spcAft>
                <a:defRPr/>
              </a:pPr>
              <a:r>
                <a:rPr lang="en-GB" sz="1050">
                  <a:solidFill>
                    <a:schemeClr val="bg1"/>
                  </a:solidFill>
                  <a:latin typeface="Segoe Sans Text" pitchFamily="2" charset="0"/>
                  <a:cs typeface="Segoe Sans Text" pitchFamily="2" charset="0"/>
                </a:rPr>
                <a:t>Evaluation / Test / RAI</a:t>
              </a:r>
            </a:p>
          </p:txBody>
        </p:sp>
        <p:sp>
          <p:nvSpPr>
            <p:cNvPr id="109" name="Rectangle: Rounded Corners 108">
              <a:extLst>
                <a:ext uri="{FF2B5EF4-FFF2-40B4-BE49-F238E27FC236}">
                  <a16:creationId xmlns:a16="http://schemas.microsoft.com/office/drawing/2014/main" id="{59B9E75E-C067-F84B-DD02-989C23272770}"/>
                </a:ext>
              </a:extLst>
            </p:cNvPr>
            <p:cNvSpPr/>
            <p:nvPr/>
          </p:nvSpPr>
          <p:spPr bwMode="auto">
            <a:xfrm>
              <a:off x="7042144" y="2891070"/>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Evaluation SDK</a:t>
              </a:r>
            </a:p>
          </p:txBody>
        </p:sp>
        <p:sp>
          <p:nvSpPr>
            <p:cNvPr id="119" name="Rectangle: Rounded Corners 118">
              <a:extLst>
                <a:ext uri="{FF2B5EF4-FFF2-40B4-BE49-F238E27FC236}">
                  <a16:creationId xmlns:a16="http://schemas.microsoft.com/office/drawing/2014/main" id="{67185E09-8DBA-8E19-3BA2-00B25108761F}"/>
                </a:ext>
              </a:extLst>
            </p:cNvPr>
            <p:cNvSpPr/>
            <p:nvPr/>
          </p:nvSpPr>
          <p:spPr bwMode="auto">
            <a:xfrm>
              <a:off x="7042144" y="3345058"/>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err="1">
                  <a:solidFill>
                    <a:schemeClr val="accent1"/>
                  </a:solidFill>
                  <a:latin typeface="+mj-lt"/>
                  <a:cs typeface="Segoe Sans Text" pitchFamily="2" charset="0"/>
                </a:rPr>
                <a:t>PyRIT</a:t>
              </a:r>
              <a:endParaRPr lang="en-GB" sz="1000" kern="0">
                <a:solidFill>
                  <a:schemeClr val="accent1"/>
                </a:solidFill>
                <a:latin typeface="+mj-lt"/>
                <a:cs typeface="Segoe Sans Text" pitchFamily="2" charset="0"/>
              </a:endParaRPr>
            </a:p>
          </p:txBody>
        </p:sp>
      </p:grpSp>
      <p:grpSp>
        <p:nvGrpSpPr>
          <p:cNvPr id="140" name="Group 139">
            <a:extLst>
              <a:ext uri="{FF2B5EF4-FFF2-40B4-BE49-F238E27FC236}">
                <a16:creationId xmlns:a16="http://schemas.microsoft.com/office/drawing/2014/main" id="{99A0FE75-FD2B-AE49-9CCF-F8B054E02A8A}"/>
              </a:ext>
            </a:extLst>
          </p:cNvPr>
          <p:cNvGrpSpPr/>
          <p:nvPr/>
        </p:nvGrpSpPr>
        <p:grpSpPr>
          <a:xfrm>
            <a:off x="10148096" y="1290320"/>
            <a:ext cx="1489673" cy="5024438"/>
            <a:chOff x="10148096" y="1290320"/>
            <a:chExt cx="1489673" cy="5024438"/>
          </a:xfrm>
        </p:grpSpPr>
        <p:sp>
          <p:nvSpPr>
            <p:cNvPr id="91" name="Rectangle: Rounded Corners 90">
              <a:extLst>
                <a:ext uri="{FF2B5EF4-FFF2-40B4-BE49-F238E27FC236}">
                  <a16:creationId xmlns:a16="http://schemas.microsoft.com/office/drawing/2014/main" id="{C263732B-00FF-43A3-AB8C-58FABB5EB27C}"/>
                </a:ext>
              </a:extLst>
            </p:cNvPr>
            <p:cNvSpPr>
              <a:spLocks/>
            </p:cNvSpPr>
            <p:nvPr/>
          </p:nvSpPr>
          <p:spPr bwMode="auto">
            <a:xfrm>
              <a:off x="10148096" y="1429468"/>
              <a:ext cx="1489673" cy="488529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lnSpc>
                  <a:spcPct val="80000"/>
                </a:lnSpc>
                <a:spcBef>
                  <a:spcPct val="0"/>
                </a:spcBef>
                <a:spcAft>
                  <a:spcPct val="0"/>
                </a:spcAft>
              </a:pPr>
              <a:endParaRPr lang="en-US" sz="1200">
                <a:solidFill>
                  <a:srgbClr val="FFFFFF"/>
                </a:solidFill>
                <a:latin typeface="Segoe Sans Text"/>
                <a:cs typeface="Segoe Sans Text" pitchFamily="2" charset="0"/>
              </a:endParaRPr>
            </a:p>
          </p:txBody>
        </p:sp>
        <p:sp>
          <p:nvSpPr>
            <p:cNvPr id="93" name="Arrow: Pentagon 5">
              <a:extLst>
                <a:ext uri="{FF2B5EF4-FFF2-40B4-BE49-F238E27FC236}">
                  <a16:creationId xmlns:a16="http://schemas.microsoft.com/office/drawing/2014/main" id="{FC2602D6-8E4C-EF75-F558-86E028D91B3E}"/>
                </a:ext>
              </a:extLst>
            </p:cNvPr>
            <p:cNvSpPr/>
            <p:nvPr/>
          </p:nvSpPr>
          <p:spPr bwMode="auto">
            <a:xfrm>
              <a:off x="10278755" y="1290320"/>
              <a:ext cx="1228356" cy="278295"/>
            </a:xfrm>
            <a:prstGeom prst="roundRect">
              <a:avLst>
                <a:gd name="adj" fmla="val 50000"/>
              </a:avLst>
            </a:prstGeom>
            <a:blipFill dpi="0" rotWithShape="1">
              <a:blip r:embed="rId3" cstate="hqprint">
                <a:extLst>
                  <a:ext uri="{28A0092B-C50C-407E-A947-70E740481C1C}">
                    <a14:useLocalDpi xmlns:a14="http://schemas.microsoft.com/office/drawing/2010/main"/>
                  </a:ext>
                </a:extLst>
              </a:blip>
              <a:srcRect/>
              <a:stretch>
                <a:fillRect l="-4551" t="-167599" r="-201485" b="-167599"/>
              </a:stretch>
            </a:bli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80000"/>
                </a:lnSpc>
                <a:spcBef>
                  <a:spcPct val="0"/>
                </a:spcBef>
                <a:spcAft>
                  <a:spcPct val="0"/>
                </a:spcAft>
                <a:defRPr/>
              </a:pPr>
              <a:r>
                <a:rPr lang="en-GB" sz="1050">
                  <a:solidFill>
                    <a:schemeClr val="bg1"/>
                  </a:solidFill>
                  <a:latin typeface="Segoe Sans Text" pitchFamily="2" charset="0"/>
                  <a:cs typeface="Segoe Sans Text" pitchFamily="2" charset="0"/>
                </a:rPr>
                <a:t>Monitor</a:t>
              </a:r>
            </a:p>
          </p:txBody>
        </p:sp>
        <p:sp>
          <p:nvSpPr>
            <p:cNvPr id="111" name="Rectangle: Rounded Corners 110">
              <a:extLst>
                <a:ext uri="{FF2B5EF4-FFF2-40B4-BE49-F238E27FC236}">
                  <a16:creationId xmlns:a16="http://schemas.microsoft.com/office/drawing/2014/main" id="{F0724B34-F775-94F0-7D03-5479DB6173E6}"/>
                </a:ext>
              </a:extLst>
            </p:cNvPr>
            <p:cNvSpPr/>
            <p:nvPr/>
          </p:nvSpPr>
          <p:spPr bwMode="auto">
            <a:xfrm>
              <a:off x="10242192" y="2891070"/>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App Insights</a:t>
              </a:r>
            </a:p>
          </p:txBody>
        </p:sp>
        <p:sp>
          <p:nvSpPr>
            <p:cNvPr id="123" name="Rectangle: Rounded Corners 122">
              <a:extLst>
                <a:ext uri="{FF2B5EF4-FFF2-40B4-BE49-F238E27FC236}">
                  <a16:creationId xmlns:a16="http://schemas.microsoft.com/office/drawing/2014/main" id="{A23629D5-84CB-DFBA-61BF-DC4E07510395}"/>
                </a:ext>
              </a:extLst>
            </p:cNvPr>
            <p:cNvSpPr/>
            <p:nvPr/>
          </p:nvSpPr>
          <p:spPr bwMode="auto">
            <a:xfrm>
              <a:off x="10253574" y="3345058"/>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Azure Monitor</a:t>
              </a:r>
            </a:p>
          </p:txBody>
        </p:sp>
        <p:sp>
          <p:nvSpPr>
            <p:cNvPr id="124" name="Rectangle: Rounded Corners 123">
              <a:extLst>
                <a:ext uri="{FF2B5EF4-FFF2-40B4-BE49-F238E27FC236}">
                  <a16:creationId xmlns:a16="http://schemas.microsoft.com/office/drawing/2014/main" id="{E50EE2FE-0888-BA68-0B5A-24EDA0DC9D46}"/>
                </a:ext>
              </a:extLst>
            </p:cNvPr>
            <p:cNvSpPr/>
            <p:nvPr/>
          </p:nvSpPr>
          <p:spPr bwMode="auto">
            <a:xfrm>
              <a:off x="10242192" y="3799887"/>
              <a:ext cx="1311442" cy="566277"/>
            </a:xfrm>
            <a:prstGeom prst="roundRect">
              <a:avLst>
                <a:gd name="adj" fmla="val 9490"/>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AI Foundry Deployment Monitoring</a:t>
              </a:r>
            </a:p>
          </p:txBody>
        </p:sp>
      </p:grpSp>
      <p:grpSp>
        <p:nvGrpSpPr>
          <p:cNvPr id="135" name="Group 134">
            <a:extLst>
              <a:ext uri="{FF2B5EF4-FFF2-40B4-BE49-F238E27FC236}">
                <a16:creationId xmlns:a16="http://schemas.microsoft.com/office/drawing/2014/main" id="{54C59AE7-D8DA-4B0A-AC05-D590FFB094F4}"/>
              </a:ext>
            </a:extLst>
          </p:cNvPr>
          <p:cNvGrpSpPr/>
          <p:nvPr/>
        </p:nvGrpSpPr>
        <p:grpSpPr>
          <a:xfrm>
            <a:off x="2148550" y="1290320"/>
            <a:ext cx="1495265" cy="5024438"/>
            <a:chOff x="2148550" y="1290320"/>
            <a:chExt cx="1495265" cy="5024438"/>
          </a:xfrm>
        </p:grpSpPr>
        <p:sp>
          <p:nvSpPr>
            <p:cNvPr id="30" name="Rectangle: Rounded Corners 29">
              <a:extLst>
                <a:ext uri="{FF2B5EF4-FFF2-40B4-BE49-F238E27FC236}">
                  <a16:creationId xmlns:a16="http://schemas.microsoft.com/office/drawing/2014/main" id="{D641916F-120A-E47B-D0BD-98D8D9CBB282}"/>
                </a:ext>
              </a:extLst>
            </p:cNvPr>
            <p:cNvSpPr>
              <a:spLocks/>
            </p:cNvSpPr>
            <p:nvPr/>
          </p:nvSpPr>
          <p:spPr bwMode="auto">
            <a:xfrm>
              <a:off x="2148550" y="1429468"/>
              <a:ext cx="1489673" cy="488529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lnSpc>
                  <a:spcPct val="80000"/>
                </a:lnSpc>
                <a:spcBef>
                  <a:spcPct val="0"/>
                </a:spcBef>
                <a:spcAft>
                  <a:spcPct val="0"/>
                </a:spcAft>
              </a:pPr>
              <a:endParaRPr lang="en-US" sz="1200">
                <a:solidFill>
                  <a:srgbClr val="FFFFFF"/>
                </a:solidFill>
                <a:latin typeface="Segoe Sans Text"/>
                <a:cs typeface="Segoe Sans Text" pitchFamily="2" charset="0"/>
              </a:endParaRPr>
            </a:p>
          </p:txBody>
        </p:sp>
        <p:sp>
          <p:nvSpPr>
            <p:cNvPr id="31" name="Rectangle: Top Corners Rounded 30">
              <a:extLst>
                <a:ext uri="{FF2B5EF4-FFF2-40B4-BE49-F238E27FC236}">
                  <a16:creationId xmlns:a16="http://schemas.microsoft.com/office/drawing/2014/main" id="{9ACB3DEF-23C2-840C-FDD3-267200AB41AD}"/>
                </a:ext>
              </a:extLst>
            </p:cNvPr>
            <p:cNvSpPr>
              <a:spLocks/>
            </p:cNvSpPr>
            <p:nvPr/>
          </p:nvSpPr>
          <p:spPr bwMode="auto">
            <a:xfrm flipV="1">
              <a:off x="2148550" y="5193133"/>
              <a:ext cx="1489673" cy="526947"/>
            </a:xfrm>
            <a:prstGeom prst="round2SameRect">
              <a:avLst>
                <a:gd name="adj1" fmla="val 4689"/>
                <a:gd name="adj2" fmla="val 0"/>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8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32" name="Arrow: Pentagon 5">
              <a:extLst>
                <a:ext uri="{FF2B5EF4-FFF2-40B4-BE49-F238E27FC236}">
                  <a16:creationId xmlns:a16="http://schemas.microsoft.com/office/drawing/2014/main" id="{794FBEF3-D145-E6C1-E537-58F64D710DE2}"/>
                </a:ext>
              </a:extLst>
            </p:cNvPr>
            <p:cNvSpPr/>
            <p:nvPr/>
          </p:nvSpPr>
          <p:spPr bwMode="auto">
            <a:xfrm>
              <a:off x="2279209" y="1290320"/>
              <a:ext cx="1228356" cy="278295"/>
            </a:xfrm>
            <a:prstGeom prst="roundRect">
              <a:avLst>
                <a:gd name="adj" fmla="val 50000"/>
              </a:avLst>
            </a:prstGeom>
            <a:blipFill dpi="0" rotWithShape="1">
              <a:blip r:embed="rId3" cstate="hqprint">
                <a:extLst>
                  <a:ext uri="{28A0092B-C50C-407E-A947-70E740481C1C}">
                    <a14:useLocalDpi xmlns:a14="http://schemas.microsoft.com/office/drawing/2010/main"/>
                  </a:ext>
                </a:extLst>
              </a:blip>
              <a:srcRect/>
              <a:stretch>
                <a:fillRect l="-4551" t="-167599" r="-201485" b="-167599"/>
              </a:stretch>
            </a:bli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80000"/>
                </a:lnSpc>
                <a:spcBef>
                  <a:spcPct val="0"/>
                </a:spcBef>
                <a:spcAft>
                  <a:spcPct val="0"/>
                </a:spcAft>
                <a:defRPr/>
              </a:pPr>
              <a:r>
                <a:rPr lang="en-GB" sz="1050">
                  <a:solidFill>
                    <a:schemeClr val="bg1"/>
                  </a:solidFill>
                  <a:latin typeface="Segoe Sans Text" pitchFamily="2" charset="0"/>
                  <a:cs typeface="Segoe Sans Text" pitchFamily="2" charset="0"/>
                </a:rPr>
                <a:t>Toolset</a:t>
              </a:r>
            </a:p>
          </p:txBody>
        </p:sp>
        <p:sp>
          <p:nvSpPr>
            <p:cNvPr id="33" name="Rectangle 32">
              <a:extLst>
                <a:ext uri="{FF2B5EF4-FFF2-40B4-BE49-F238E27FC236}">
                  <a16:creationId xmlns:a16="http://schemas.microsoft.com/office/drawing/2014/main" id="{838A94A9-B9C2-8F74-37D4-00ADEF0F6751}"/>
                </a:ext>
              </a:extLst>
            </p:cNvPr>
            <p:cNvSpPr>
              <a:spLocks/>
            </p:cNvSpPr>
            <p:nvPr/>
          </p:nvSpPr>
          <p:spPr bwMode="auto">
            <a:xfrm flipV="1">
              <a:off x="2154142" y="2262678"/>
              <a:ext cx="1489673" cy="998539"/>
            </a:xfrm>
            <a:prstGeom prst="rect">
              <a:avLst/>
            </a:prstGeom>
            <a:gradFill>
              <a:gsLst>
                <a:gs pos="0">
                  <a:schemeClr val="bg1">
                    <a:alpha val="10000"/>
                  </a:schemeClr>
                </a:gs>
                <a:gs pos="85000">
                  <a:schemeClr val="bg1">
                    <a:alpha val="11000"/>
                  </a:schemeClr>
                </a:gs>
              </a:gsLst>
              <a:path path="circle">
                <a:fillToRect r="100000" b="100000"/>
              </a:path>
            </a:gradFill>
            <a:ln w="9525">
              <a:no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marL="0" marR="0" lvl="0" indent="0" algn="l" defTabSz="932472" rtl="0" eaLnBrk="1" fontAlgn="base" latinLnBrk="0" hangingPunct="1">
                <a:lnSpc>
                  <a:spcPct val="8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03" name="Rectangle: Rounded Corners 102">
              <a:extLst>
                <a:ext uri="{FF2B5EF4-FFF2-40B4-BE49-F238E27FC236}">
                  <a16:creationId xmlns:a16="http://schemas.microsoft.com/office/drawing/2014/main" id="{DB09A1CA-F964-7091-EFD1-A5FEA491A788}"/>
                </a:ext>
              </a:extLst>
            </p:cNvPr>
            <p:cNvSpPr/>
            <p:nvPr/>
          </p:nvSpPr>
          <p:spPr bwMode="auto">
            <a:xfrm>
              <a:off x="2228056" y="2345079"/>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Prompt flow</a:t>
              </a:r>
            </a:p>
          </p:txBody>
        </p:sp>
        <p:sp>
          <p:nvSpPr>
            <p:cNvPr id="104" name="Rectangle: Rounded Corners 103">
              <a:extLst>
                <a:ext uri="{FF2B5EF4-FFF2-40B4-BE49-F238E27FC236}">
                  <a16:creationId xmlns:a16="http://schemas.microsoft.com/office/drawing/2014/main" id="{BB7FEEE1-28EE-FE95-42DF-40B3181A80CE}"/>
                </a:ext>
              </a:extLst>
            </p:cNvPr>
            <p:cNvSpPr/>
            <p:nvPr/>
          </p:nvSpPr>
          <p:spPr bwMode="auto">
            <a:xfrm>
              <a:off x="2228056" y="2782286"/>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Playground</a:t>
              </a:r>
            </a:p>
          </p:txBody>
        </p:sp>
        <p:sp>
          <p:nvSpPr>
            <p:cNvPr id="113" name="Rectangle: Rounded Corners 112">
              <a:extLst>
                <a:ext uri="{FF2B5EF4-FFF2-40B4-BE49-F238E27FC236}">
                  <a16:creationId xmlns:a16="http://schemas.microsoft.com/office/drawing/2014/main" id="{DDB17E0F-8068-CD60-D0FB-CE49C898FFC4}"/>
                </a:ext>
              </a:extLst>
            </p:cNvPr>
            <p:cNvSpPr/>
            <p:nvPr/>
          </p:nvSpPr>
          <p:spPr bwMode="auto">
            <a:xfrm>
              <a:off x="2228056" y="3799887"/>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VS Code</a:t>
              </a:r>
            </a:p>
          </p:txBody>
        </p:sp>
        <p:sp>
          <p:nvSpPr>
            <p:cNvPr id="114" name="Rectangle: Rounded Corners 113">
              <a:extLst>
                <a:ext uri="{FF2B5EF4-FFF2-40B4-BE49-F238E27FC236}">
                  <a16:creationId xmlns:a16="http://schemas.microsoft.com/office/drawing/2014/main" id="{EF2B61B5-E369-504D-D66B-3A2C9CEFBAB6}"/>
                </a:ext>
              </a:extLst>
            </p:cNvPr>
            <p:cNvSpPr/>
            <p:nvPr/>
          </p:nvSpPr>
          <p:spPr bwMode="auto">
            <a:xfrm>
              <a:off x="2228056" y="4254716"/>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IDE (other)</a:t>
              </a:r>
            </a:p>
          </p:txBody>
        </p:sp>
        <p:sp>
          <p:nvSpPr>
            <p:cNvPr id="126" name="Rectangle: Rounded Corners 125">
              <a:extLst>
                <a:ext uri="{FF2B5EF4-FFF2-40B4-BE49-F238E27FC236}">
                  <a16:creationId xmlns:a16="http://schemas.microsoft.com/office/drawing/2014/main" id="{89AE38E5-DB1E-9AA6-EF30-7C967FADBA10}"/>
                </a:ext>
              </a:extLst>
            </p:cNvPr>
            <p:cNvSpPr/>
            <p:nvPr/>
          </p:nvSpPr>
          <p:spPr bwMode="auto">
            <a:xfrm>
              <a:off x="2228056" y="5250186"/>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AML</a:t>
              </a:r>
            </a:p>
          </p:txBody>
        </p:sp>
        <p:sp>
          <p:nvSpPr>
            <p:cNvPr id="127" name="Rectangle: Rounded Corners 126">
              <a:extLst>
                <a:ext uri="{FF2B5EF4-FFF2-40B4-BE49-F238E27FC236}">
                  <a16:creationId xmlns:a16="http://schemas.microsoft.com/office/drawing/2014/main" id="{0443DED6-FA82-53CA-6909-C46A160AB32C}"/>
                </a:ext>
              </a:extLst>
            </p:cNvPr>
            <p:cNvSpPr/>
            <p:nvPr/>
          </p:nvSpPr>
          <p:spPr bwMode="auto">
            <a:xfrm>
              <a:off x="2228056" y="5784443"/>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Playground</a:t>
              </a:r>
            </a:p>
          </p:txBody>
        </p:sp>
      </p:grpSp>
      <p:grpSp>
        <p:nvGrpSpPr>
          <p:cNvPr id="139" name="Group 138">
            <a:extLst>
              <a:ext uri="{FF2B5EF4-FFF2-40B4-BE49-F238E27FC236}">
                <a16:creationId xmlns:a16="http://schemas.microsoft.com/office/drawing/2014/main" id="{A5216FB0-275C-2246-0B45-BB8AA0800006}"/>
              </a:ext>
            </a:extLst>
          </p:cNvPr>
          <p:cNvGrpSpPr/>
          <p:nvPr/>
        </p:nvGrpSpPr>
        <p:grpSpPr>
          <a:xfrm>
            <a:off x="8548187" y="1290320"/>
            <a:ext cx="1489673" cy="5024438"/>
            <a:chOff x="8548187" y="1290320"/>
            <a:chExt cx="1489673" cy="5024438"/>
          </a:xfrm>
        </p:grpSpPr>
        <p:sp>
          <p:nvSpPr>
            <p:cNvPr id="63" name="Rectangle: Rounded Corners 62">
              <a:extLst>
                <a:ext uri="{FF2B5EF4-FFF2-40B4-BE49-F238E27FC236}">
                  <a16:creationId xmlns:a16="http://schemas.microsoft.com/office/drawing/2014/main" id="{8BA7D1D6-E46B-FE69-B037-148A0E211D3E}"/>
                </a:ext>
              </a:extLst>
            </p:cNvPr>
            <p:cNvSpPr>
              <a:spLocks/>
            </p:cNvSpPr>
            <p:nvPr/>
          </p:nvSpPr>
          <p:spPr bwMode="auto">
            <a:xfrm>
              <a:off x="8548187" y="1429468"/>
              <a:ext cx="1489673" cy="4885290"/>
            </a:xfrm>
            <a:prstGeom prst="roundRect">
              <a:avLst>
                <a:gd name="adj" fmla="val 3281"/>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defTabSz="932472" fontAlgn="base">
                <a:lnSpc>
                  <a:spcPct val="80000"/>
                </a:lnSpc>
                <a:spcBef>
                  <a:spcPct val="0"/>
                </a:spcBef>
                <a:spcAft>
                  <a:spcPct val="0"/>
                </a:spcAft>
              </a:pPr>
              <a:endParaRPr lang="en-US" sz="1200">
                <a:solidFill>
                  <a:srgbClr val="FFFFFF"/>
                </a:solidFill>
                <a:latin typeface="Segoe Sans Text"/>
                <a:cs typeface="Segoe Sans Text" pitchFamily="2" charset="0"/>
              </a:endParaRPr>
            </a:p>
          </p:txBody>
        </p:sp>
        <p:sp>
          <p:nvSpPr>
            <p:cNvPr id="88" name="Arrow: Pentagon 5">
              <a:extLst>
                <a:ext uri="{FF2B5EF4-FFF2-40B4-BE49-F238E27FC236}">
                  <a16:creationId xmlns:a16="http://schemas.microsoft.com/office/drawing/2014/main" id="{95CB3941-D4FD-111B-2A74-6178FEEFC4E7}"/>
                </a:ext>
              </a:extLst>
            </p:cNvPr>
            <p:cNvSpPr/>
            <p:nvPr/>
          </p:nvSpPr>
          <p:spPr bwMode="auto">
            <a:xfrm>
              <a:off x="8678846" y="1290320"/>
              <a:ext cx="1228356" cy="278295"/>
            </a:xfrm>
            <a:prstGeom prst="roundRect">
              <a:avLst>
                <a:gd name="adj" fmla="val 50000"/>
              </a:avLst>
            </a:prstGeom>
            <a:blipFill dpi="0" rotWithShape="1">
              <a:blip r:embed="rId3" cstate="hqprint">
                <a:extLst>
                  <a:ext uri="{28A0092B-C50C-407E-A947-70E740481C1C}">
                    <a14:useLocalDpi xmlns:a14="http://schemas.microsoft.com/office/drawing/2010/main"/>
                  </a:ext>
                </a:extLst>
              </a:blip>
              <a:srcRect/>
              <a:stretch>
                <a:fillRect l="-4551" t="-167599" r="-201485" b="-167599"/>
              </a:stretch>
            </a:bli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143428" rIns="89642" bIns="143428" numCol="1" spcCol="0" rtlCol="0" fromWordArt="0" anchor="ctr" anchorCtr="0" forceAA="0" compatLnSpc="1">
              <a:prstTxWarp prst="textNoShape">
                <a:avLst/>
              </a:prstTxWarp>
              <a:noAutofit/>
            </a:bodyPr>
            <a:lstStyle/>
            <a:p>
              <a:pPr algn="ctr" defTabSz="914102" fontAlgn="base">
                <a:lnSpc>
                  <a:spcPct val="80000"/>
                </a:lnSpc>
                <a:spcBef>
                  <a:spcPct val="0"/>
                </a:spcBef>
                <a:spcAft>
                  <a:spcPct val="0"/>
                </a:spcAft>
                <a:defRPr/>
              </a:pPr>
              <a:r>
                <a:rPr lang="en-GB" sz="1050">
                  <a:solidFill>
                    <a:schemeClr val="bg1"/>
                  </a:solidFill>
                  <a:latin typeface="Segoe Sans Text" pitchFamily="2" charset="0"/>
                  <a:cs typeface="Segoe Sans Text" pitchFamily="2" charset="0"/>
                </a:rPr>
                <a:t>Deployment</a:t>
              </a:r>
            </a:p>
          </p:txBody>
        </p:sp>
        <p:sp>
          <p:nvSpPr>
            <p:cNvPr id="110" name="Rectangle: Rounded Corners 109">
              <a:extLst>
                <a:ext uri="{FF2B5EF4-FFF2-40B4-BE49-F238E27FC236}">
                  <a16:creationId xmlns:a16="http://schemas.microsoft.com/office/drawing/2014/main" id="{8C7F26BF-196F-3AD8-E45D-FA718BE51986}"/>
                </a:ext>
              </a:extLst>
            </p:cNvPr>
            <p:cNvSpPr/>
            <p:nvPr/>
          </p:nvSpPr>
          <p:spPr bwMode="auto">
            <a:xfrm>
              <a:off x="8640603" y="2891070"/>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APIM</a:t>
              </a:r>
            </a:p>
          </p:txBody>
        </p:sp>
        <p:sp>
          <p:nvSpPr>
            <p:cNvPr id="120" name="Rectangle: Rounded Corners 119">
              <a:extLst>
                <a:ext uri="{FF2B5EF4-FFF2-40B4-BE49-F238E27FC236}">
                  <a16:creationId xmlns:a16="http://schemas.microsoft.com/office/drawing/2014/main" id="{77632CED-AD11-14A6-BABA-6B9E29D4AAD7}"/>
                </a:ext>
              </a:extLst>
            </p:cNvPr>
            <p:cNvSpPr/>
            <p:nvPr/>
          </p:nvSpPr>
          <p:spPr bwMode="auto">
            <a:xfrm>
              <a:off x="8640603" y="3345058"/>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Managed endpoint</a:t>
              </a:r>
            </a:p>
          </p:txBody>
        </p:sp>
        <p:sp>
          <p:nvSpPr>
            <p:cNvPr id="121" name="Rectangle: Rounded Corners 120">
              <a:extLst>
                <a:ext uri="{FF2B5EF4-FFF2-40B4-BE49-F238E27FC236}">
                  <a16:creationId xmlns:a16="http://schemas.microsoft.com/office/drawing/2014/main" id="{C5E13A62-955F-0915-73FB-C3685BD97ED0}"/>
                </a:ext>
              </a:extLst>
            </p:cNvPr>
            <p:cNvSpPr/>
            <p:nvPr/>
          </p:nvSpPr>
          <p:spPr bwMode="auto">
            <a:xfrm>
              <a:off x="8640603" y="3799887"/>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36000" tIns="146304" rIns="3600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Container service: AKS, ACI, etc</a:t>
              </a:r>
            </a:p>
          </p:txBody>
        </p:sp>
        <p:sp>
          <p:nvSpPr>
            <p:cNvPr id="122" name="Rectangle: Rounded Corners 121">
              <a:extLst>
                <a:ext uri="{FF2B5EF4-FFF2-40B4-BE49-F238E27FC236}">
                  <a16:creationId xmlns:a16="http://schemas.microsoft.com/office/drawing/2014/main" id="{9A7B4234-C44F-B650-7964-14A093F4D555}"/>
                </a:ext>
              </a:extLst>
            </p:cNvPr>
            <p:cNvSpPr/>
            <p:nvPr/>
          </p:nvSpPr>
          <p:spPr bwMode="auto">
            <a:xfrm>
              <a:off x="8640603" y="4254716"/>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App Service</a:t>
              </a:r>
            </a:p>
          </p:txBody>
        </p:sp>
        <p:sp>
          <p:nvSpPr>
            <p:cNvPr id="125" name="Rectangle: Rounded Corners 124">
              <a:extLst>
                <a:ext uri="{FF2B5EF4-FFF2-40B4-BE49-F238E27FC236}">
                  <a16:creationId xmlns:a16="http://schemas.microsoft.com/office/drawing/2014/main" id="{D0432E9C-5E78-CF35-05B9-2555D0232604}"/>
                </a:ext>
              </a:extLst>
            </p:cNvPr>
            <p:cNvSpPr/>
            <p:nvPr/>
          </p:nvSpPr>
          <p:spPr bwMode="auto">
            <a:xfrm>
              <a:off x="8640603" y="1759329"/>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M365 Copilot</a:t>
              </a:r>
            </a:p>
          </p:txBody>
        </p:sp>
        <p:sp>
          <p:nvSpPr>
            <p:cNvPr id="128" name="Rectangle: Rounded Corners 127">
              <a:extLst>
                <a:ext uri="{FF2B5EF4-FFF2-40B4-BE49-F238E27FC236}">
                  <a16:creationId xmlns:a16="http://schemas.microsoft.com/office/drawing/2014/main" id="{2116AC5B-5230-A999-60EF-C0A96348092E}"/>
                </a:ext>
              </a:extLst>
            </p:cNvPr>
            <p:cNvSpPr/>
            <p:nvPr/>
          </p:nvSpPr>
          <p:spPr bwMode="auto">
            <a:xfrm>
              <a:off x="8640603" y="5797946"/>
              <a:ext cx="1311442" cy="399654"/>
            </a:xfrm>
            <a:prstGeom prst="roundRect">
              <a:avLst/>
            </a:prstGeom>
            <a:solidFill>
              <a:schemeClr val="bg1"/>
            </a:solidFill>
            <a:ln w="28575"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GB" sz="1000" kern="0">
                  <a:solidFill>
                    <a:schemeClr val="accent1"/>
                  </a:solidFill>
                  <a:latin typeface="+mj-lt"/>
                  <a:cs typeface="Segoe Sans Text" pitchFamily="2" charset="0"/>
                </a:rPr>
                <a:t>App Service</a:t>
              </a:r>
            </a:p>
          </p:txBody>
        </p:sp>
      </p:grpSp>
      <p:pic>
        <p:nvPicPr>
          <p:cNvPr id="131" name="Picture 130" descr="A blue and green curved shapes&#10;&#10;Description automatically generated">
            <a:extLst>
              <a:ext uri="{FF2B5EF4-FFF2-40B4-BE49-F238E27FC236}">
                <a16:creationId xmlns:a16="http://schemas.microsoft.com/office/drawing/2014/main" id="{F6BEB8A6-C3C6-8A52-6C6E-B8DC28777844}"/>
              </a:ext>
            </a:extLst>
          </p:cNvPr>
          <p:cNvPicPr>
            <a:picLocks noChangeAspect="1"/>
          </p:cNvPicPr>
          <p:nvPr/>
        </p:nvPicPr>
        <p:blipFill>
          <a:blip r:embed="rId4" cstate="hqprint">
            <a:extLst>
              <a:ext uri="{28A0092B-C50C-407E-A947-70E740481C1C}">
                <a14:useLocalDpi xmlns:a14="http://schemas.microsoft.com/office/drawing/2010/main"/>
              </a:ext>
            </a:extLst>
          </a:blip>
          <a:srcRect r="7275" b="72521"/>
          <a:stretch/>
        </p:blipFill>
        <p:spPr>
          <a:xfrm flipV="1">
            <a:off x="6111240" y="230230"/>
            <a:ext cx="5817394" cy="771206"/>
          </a:xfrm>
          <a:prstGeom prst="roundRect">
            <a:avLst>
              <a:gd name="adj" fmla="val 11721"/>
            </a:avLst>
          </a:prstGeom>
        </p:spPr>
      </p:pic>
      <p:pic>
        <p:nvPicPr>
          <p:cNvPr id="132" name="Picture 131" descr="A blue circle with black background&#10;&#10;Description automatically generated">
            <a:extLst>
              <a:ext uri="{FF2B5EF4-FFF2-40B4-BE49-F238E27FC236}">
                <a16:creationId xmlns:a16="http://schemas.microsoft.com/office/drawing/2014/main" id="{0FD77B06-48C6-72BA-18AC-D13A5E660195}"/>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1446437" y="5184691"/>
            <a:ext cx="301568" cy="301568"/>
          </a:xfrm>
          <a:prstGeom prst="rect">
            <a:avLst/>
          </a:prstGeom>
          <a:effectLst>
            <a:outerShdw blurRad="114300" dist="139700" dir="8100000" algn="tr" rotWithShape="0">
              <a:prstClr val="black">
                <a:alpha val="6000"/>
              </a:prstClr>
            </a:outerShdw>
          </a:effectLst>
        </p:spPr>
      </p:pic>
      <p:pic>
        <p:nvPicPr>
          <p:cNvPr id="133" name="Picture 132" descr="A blue and green sphere&#10;&#10;Description automatically generated">
            <a:extLst>
              <a:ext uri="{FF2B5EF4-FFF2-40B4-BE49-F238E27FC236}">
                <a16:creationId xmlns:a16="http://schemas.microsoft.com/office/drawing/2014/main" id="{B36C8A09-9388-B964-4CF1-BEEC07DEB71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8953897" y="538549"/>
            <a:ext cx="220583" cy="217940"/>
          </a:xfrm>
          <a:prstGeom prst="rect">
            <a:avLst/>
          </a:prstGeom>
          <a:effectLst>
            <a:outerShdw blurRad="228600" dist="165100" dir="2700000" algn="tl" rotWithShape="0">
              <a:prstClr val="black">
                <a:alpha val="40000"/>
              </a:prstClr>
            </a:outerShdw>
          </a:effectLst>
        </p:spPr>
      </p:pic>
    </p:spTree>
    <p:extLst>
      <p:ext uri="{BB962C8B-B14F-4D97-AF65-F5344CB8AC3E}">
        <p14:creationId xmlns:p14="http://schemas.microsoft.com/office/powerpoint/2010/main" val="139953599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500"/>
                                  </p:stCondLst>
                                  <p:childTnLst>
                                    <p:set>
                                      <p:cBhvr>
                                        <p:cTn id="6" dur="1" fill="hold">
                                          <p:stCondLst>
                                            <p:cond delay="0"/>
                                          </p:stCondLst>
                                        </p:cTn>
                                        <p:tgtEl>
                                          <p:spTgt spid="132"/>
                                        </p:tgtEl>
                                        <p:attrNameLst>
                                          <p:attrName>style.visibility</p:attrName>
                                        </p:attrNameLst>
                                      </p:cBhvr>
                                      <p:to>
                                        <p:strVal val="visible"/>
                                      </p:to>
                                    </p:set>
                                    <p:anim calcmode="lin" valueType="num">
                                      <p:cBhvr>
                                        <p:cTn id="7" dur="250" fill="hold"/>
                                        <p:tgtEl>
                                          <p:spTgt spid="132"/>
                                        </p:tgtEl>
                                        <p:attrNameLst>
                                          <p:attrName>ppt_w</p:attrName>
                                        </p:attrNameLst>
                                      </p:cBhvr>
                                      <p:tavLst>
                                        <p:tav tm="0">
                                          <p:val>
                                            <p:strVal val="2/3*#ppt_w"/>
                                          </p:val>
                                        </p:tav>
                                        <p:tav tm="100000">
                                          <p:val>
                                            <p:strVal val="#ppt_w"/>
                                          </p:val>
                                        </p:tav>
                                      </p:tavLst>
                                    </p:anim>
                                    <p:anim calcmode="lin" valueType="num">
                                      <p:cBhvr>
                                        <p:cTn id="8" dur="250" fill="hold"/>
                                        <p:tgtEl>
                                          <p:spTgt spid="132"/>
                                        </p:tgtEl>
                                        <p:attrNameLst>
                                          <p:attrName>ppt_h</p:attrName>
                                        </p:attrNameLst>
                                      </p:cBhvr>
                                      <p:tavLst>
                                        <p:tav tm="0">
                                          <p:val>
                                            <p:strVal val="2/3*#ppt_h"/>
                                          </p:val>
                                        </p:tav>
                                        <p:tav tm="100000">
                                          <p:val>
                                            <p:strVal val="#ppt_h"/>
                                          </p:val>
                                        </p:tav>
                                      </p:tavLst>
                                    </p:anim>
                                  </p:childTnLst>
                                </p:cTn>
                              </p:par>
                              <p:par>
                                <p:cTn id="9" presetID="10" presetClass="entr" presetSubtype="0" fill="hold" nodeType="withEffect">
                                  <p:stCondLst>
                                    <p:cond delay="500"/>
                                  </p:stCondLst>
                                  <p:childTnLst>
                                    <p:set>
                                      <p:cBhvr>
                                        <p:cTn id="10" dur="1" fill="hold">
                                          <p:stCondLst>
                                            <p:cond delay="0"/>
                                          </p:stCondLst>
                                        </p:cTn>
                                        <p:tgtEl>
                                          <p:spTgt spid="132"/>
                                        </p:tgtEl>
                                        <p:attrNameLst>
                                          <p:attrName>style.visibility</p:attrName>
                                        </p:attrNameLst>
                                      </p:cBhvr>
                                      <p:to>
                                        <p:strVal val="visible"/>
                                      </p:to>
                                    </p:set>
                                    <p:animEffect transition="in" filter="fade">
                                      <p:cBhvr>
                                        <p:cTn id="11" dur="500"/>
                                        <p:tgtEl>
                                          <p:spTgt spid="132"/>
                                        </p:tgtEl>
                                      </p:cBhvr>
                                    </p:animEffect>
                                  </p:childTnLst>
                                </p:cTn>
                              </p:par>
                              <p:par>
                                <p:cTn id="12" presetID="6" presetClass="emph" presetSubtype="0" fill="hold" nodeType="withEffect">
                                  <p:stCondLst>
                                    <p:cond delay="500"/>
                                  </p:stCondLst>
                                  <p:childTnLst>
                                    <p:animScale>
                                      <p:cBhvr>
                                        <p:cTn id="13" dur="10" fill="hold"/>
                                        <p:tgtEl>
                                          <p:spTgt spid="132"/>
                                        </p:tgtEl>
                                      </p:cBhvr>
                                      <p:by x="80000" y="80000"/>
                                    </p:animScale>
                                  </p:childTnLst>
                                </p:cTn>
                              </p:par>
                              <p:par>
                                <p:cTn id="14" presetID="6" presetClass="emph" presetSubtype="0" decel="100000" fill="hold" nodeType="withEffect">
                                  <p:stCondLst>
                                    <p:cond delay="500"/>
                                  </p:stCondLst>
                                  <p:childTnLst>
                                    <p:animScale>
                                      <p:cBhvr>
                                        <p:cTn id="15" dur="1000" fill="hold"/>
                                        <p:tgtEl>
                                          <p:spTgt spid="132"/>
                                        </p:tgtEl>
                                      </p:cBhvr>
                                      <p:by x="125000" y="125000"/>
                                    </p:animScale>
                                  </p:childTnLst>
                                </p:cTn>
                              </p:par>
                              <p:par>
                                <p:cTn id="16" presetID="23" presetClass="entr" presetSubtype="272" fill="hold" nodeType="withEffect">
                                  <p:stCondLst>
                                    <p:cond delay="750"/>
                                  </p:stCondLst>
                                  <p:childTnLst>
                                    <p:set>
                                      <p:cBhvr>
                                        <p:cTn id="17" dur="1" fill="hold">
                                          <p:stCondLst>
                                            <p:cond delay="0"/>
                                          </p:stCondLst>
                                        </p:cTn>
                                        <p:tgtEl>
                                          <p:spTgt spid="133"/>
                                        </p:tgtEl>
                                        <p:attrNameLst>
                                          <p:attrName>style.visibility</p:attrName>
                                        </p:attrNameLst>
                                      </p:cBhvr>
                                      <p:to>
                                        <p:strVal val="visible"/>
                                      </p:to>
                                    </p:set>
                                    <p:anim calcmode="lin" valueType="num">
                                      <p:cBhvr>
                                        <p:cTn id="18" dur="250" fill="hold"/>
                                        <p:tgtEl>
                                          <p:spTgt spid="133"/>
                                        </p:tgtEl>
                                        <p:attrNameLst>
                                          <p:attrName>ppt_w</p:attrName>
                                        </p:attrNameLst>
                                      </p:cBhvr>
                                      <p:tavLst>
                                        <p:tav tm="0">
                                          <p:val>
                                            <p:strVal val="2/3*#ppt_w"/>
                                          </p:val>
                                        </p:tav>
                                        <p:tav tm="100000">
                                          <p:val>
                                            <p:strVal val="#ppt_w"/>
                                          </p:val>
                                        </p:tav>
                                      </p:tavLst>
                                    </p:anim>
                                    <p:anim calcmode="lin" valueType="num">
                                      <p:cBhvr>
                                        <p:cTn id="19" dur="250" fill="hold"/>
                                        <p:tgtEl>
                                          <p:spTgt spid="133"/>
                                        </p:tgtEl>
                                        <p:attrNameLst>
                                          <p:attrName>ppt_h</p:attrName>
                                        </p:attrNameLst>
                                      </p:cBhvr>
                                      <p:tavLst>
                                        <p:tav tm="0">
                                          <p:val>
                                            <p:strVal val="2/3*#ppt_h"/>
                                          </p:val>
                                        </p:tav>
                                        <p:tav tm="100000">
                                          <p:val>
                                            <p:strVal val="#ppt_h"/>
                                          </p:val>
                                        </p:tav>
                                      </p:tavLst>
                                    </p:anim>
                                  </p:childTnLst>
                                </p:cTn>
                              </p:par>
                              <p:par>
                                <p:cTn id="20" presetID="10" presetClass="entr" presetSubtype="0" fill="hold" nodeType="withEffect">
                                  <p:stCondLst>
                                    <p:cond delay="750"/>
                                  </p:stCondLst>
                                  <p:childTnLst>
                                    <p:set>
                                      <p:cBhvr>
                                        <p:cTn id="21" dur="1" fill="hold">
                                          <p:stCondLst>
                                            <p:cond delay="0"/>
                                          </p:stCondLst>
                                        </p:cTn>
                                        <p:tgtEl>
                                          <p:spTgt spid="133"/>
                                        </p:tgtEl>
                                        <p:attrNameLst>
                                          <p:attrName>style.visibility</p:attrName>
                                        </p:attrNameLst>
                                      </p:cBhvr>
                                      <p:to>
                                        <p:strVal val="visible"/>
                                      </p:to>
                                    </p:set>
                                    <p:animEffect transition="in" filter="fade">
                                      <p:cBhvr>
                                        <p:cTn id="22" dur="500"/>
                                        <p:tgtEl>
                                          <p:spTgt spid="133"/>
                                        </p:tgtEl>
                                      </p:cBhvr>
                                    </p:animEffect>
                                  </p:childTnLst>
                                </p:cTn>
                              </p:par>
                              <p:par>
                                <p:cTn id="23" presetID="6" presetClass="emph" presetSubtype="0" fill="hold" nodeType="withEffect">
                                  <p:stCondLst>
                                    <p:cond delay="750"/>
                                  </p:stCondLst>
                                  <p:childTnLst>
                                    <p:animScale>
                                      <p:cBhvr>
                                        <p:cTn id="24" dur="10" fill="hold"/>
                                        <p:tgtEl>
                                          <p:spTgt spid="133"/>
                                        </p:tgtEl>
                                      </p:cBhvr>
                                      <p:by x="80000" y="80000"/>
                                    </p:animScale>
                                  </p:childTnLst>
                                </p:cTn>
                              </p:par>
                              <p:par>
                                <p:cTn id="25" presetID="6" presetClass="emph" presetSubtype="0" decel="100000" fill="hold" nodeType="withEffect">
                                  <p:stCondLst>
                                    <p:cond delay="750"/>
                                  </p:stCondLst>
                                  <p:childTnLst>
                                    <p:animScale>
                                      <p:cBhvr>
                                        <p:cTn id="26" dur="1000" fill="hold"/>
                                        <p:tgtEl>
                                          <p:spTgt spid="133"/>
                                        </p:tgtEl>
                                      </p:cBhvr>
                                      <p:by x="125000" y="125000"/>
                                    </p:animScale>
                                  </p:childTnLst>
                                </p:cTn>
                              </p:par>
                              <p:par>
                                <p:cTn id="27" presetID="23" presetClass="entr" presetSubtype="272" fill="hold" nodeType="withEffect">
                                  <p:stCondLst>
                                    <p:cond delay="0"/>
                                  </p:stCondLst>
                                  <p:childTnLst>
                                    <p:set>
                                      <p:cBhvr>
                                        <p:cTn id="28" dur="1" fill="hold">
                                          <p:stCondLst>
                                            <p:cond delay="0"/>
                                          </p:stCondLst>
                                        </p:cTn>
                                        <p:tgtEl>
                                          <p:spTgt spid="134"/>
                                        </p:tgtEl>
                                        <p:attrNameLst>
                                          <p:attrName>style.visibility</p:attrName>
                                        </p:attrNameLst>
                                      </p:cBhvr>
                                      <p:to>
                                        <p:strVal val="visible"/>
                                      </p:to>
                                    </p:set>
                                    <p:anim calcmode="lin" valueType="num">
                                      <p:cBhvr>
                                        <p:cTn id="29" dur="250" fill="hold"/>
                                        <p:tgtEl>
                                          <p:spTgt spid="134"/>
                                        </p:tgtEl>
                                        <p:attrNameLst>
                                          <p:attrName>ppt_w</p:attrName>
                                        </p:attrNameLst>
                                      </p:cBhvr>
                                      <p:tavLst>
                                        <p:tav tm="0">
                                          <p:val>
                                            <p:strVal val="2/3*#ppt_w"/>
                                          </p:val>
                                        </p:tav>
                                        <p:tav tm="100000">
                                          <p:val>
                                            <p:strVal val="#ppt_w"/>
                                          </p:val>
                                        </p:tav>
                                      </p:tavLst>
                                    </p:anim>
                                    <p:anim calcmode="lin" valueType="num">
                                      <p:cBhvr>
                                        <p:cTn id="30" dur="250" fill="hold"/>
                                        <p:tgtEl>
                                          <p:spTgt spid="134"/>
                                        </p:tgtEl>
                                        <p:attrNameLst>
                                          <p:attrName>ppt_h</p:attrName>
                                        </p:attrNameLst>
                                      </p:cBhvr>
                                      <p:tavLst>
                                        <p:tav tm="0">
                                          <p:val>
                                            <p:strVal val="2/3*#ppt_h"/>
                                          </p:val>
                                        </p:tav>
                                        <p:tav tm="100000">
                                          <p:val>
                                            <p:strVal val="#ppt_h"/>
                                          </p:val>
                                        </p:tav>
                                      </p:tavLst>
                                    </p:anim>
                                  </p:childTnLst>
                                </p:cTn>
                              </p:par>
                              <p:par>
                                <p:cTn id="31" presetID="10" presetClass="entr" presetSubtype="0" fill="hold" nodeType="withEffect">
                                  <p:stCondLst>
                                    <p:cond delay="0"/>
                                  </p:stCondLst>
                                  <p:childTnLst>
                                    <p:set>
                                      <p:cBhvr>
                                        <p:cTn id="32" dur="1" fill="hold">
                                          <p:stCondLst>
                                            <p:cond delay="0"/>
                                          </p:stCondLst>
                                        </p:cTn>
                                        <p:tgtEl>
                                          <p:spTgt spid="134"/>
                                        </p:tgtEl>
                                        <p:attrNameLst>
                                          <p:attrName>style.visibility</p:attrName>
                                        </p:attrNameLst>
                                      </p:cBhvr>
                                      <p:to>
                                        <p:strVal val="visible"/>
                                      </p:to>
                                    </p:set>
                                    <p:animEffect transition="in" filter="fade">
                                      <p:cBhvr>
                                        <p:cTn id="33" dur="500"/>
                                        <p:tgtEl>
                                          <p:spTgt spid="134"/>
                                        </p:tgtEl>
                                      </p:cBhvr>
                                    </p:animEffect>
                                  </p:childTnLst>
                                </p:cTn>
                              </p:par>
                              <p:par>
                                <p:cTn id="34" presetID="6" presetClass="emph" presetSubtype="0" fill="hold" nodeType="withEffect">
                                  <p:stCondLst>
                                    <p:cond delay="0"/>
                                  </p:stCondLst>
                                  <p:childTnLst>
                                    <p:animScale>
                                      <p:cBhvr>
                                        <p:cTn id="35" dur="10" fill="hold"/>
                                        <p:tgtEl>
                                          <p:spTgt spid="134"/>
                                        </p:tgtEl>
                                      </p:cBhvr>
                                      <p:by x="80000" y="80000"/>
                                    </p:animScale>
                                  </p:childTnLst>
                                </p:cTn>
                              </p:par>
                              <p:par>
                                <p:cTn id="36" presetID="6" presetClass="emph" presetSubtype="0" decel="100000" fill="hold" nodeType="withEffect">
                                  <p:stCondLst>
                                    <p:cond delay="0"/>
                                  </p:stCondLst>
                                  <p:childTnLst>
                                    <p:animScale>
                                      <p:cBhvr>
                                        <p:cTn id="37" dur="1000" fill="hold"/>
                                        <p:tgtEl>
                                          <p:spTgt spid="134"/>
                                        </p:tgtEl>
                                      </p:cBhvr>
                                      <p:by x="125000" y="125000"/>
                                    </p:animScale>
                                  </p:childTnLst>
                                </p:cTn>
                              </p:par>
                              <p:par>
                                <p:cTn id="38" presetID="23" presetClass="entr" presetSubtype="272" fill="hold" nodeType="withEffect">
                                  <p:stCondLst>
                                    <p:cond delay="100"/>
                                  </p:stCondLst>
                                  <p:childTnLst>
                                    <p:set>
                                      <p:cBhvr>
                                        <p:cTn id="39" dur="1" fill="hold">
                                          <p:stCondLst>
                                            <p:cond delay="0"/>
                                          </p:stCondLst>
                                        </p:cTn>
                                        <p:tgtEl>
                                          <p:spTgt spid="135"/>
                                        </p:tgtEl>
                                        <p:attrNameLst>
                                          <p:attrName>style.visibility</p:attrName>
                                        </p:attrNameLst>
                                      </p:cBhvr>
                                      <p:to>
                                        <p:strVal val="visible"/>
                                      </p:to>
                                    </p:set>
                                    <p:anim calcmode="lin" valueType="num">
                                      <p:cBhvr>
                                        <p:cTn id="40" dur="200" fill="hold"/>
                                        <p:tgtEl>
                                          <p:spTgt spid="135"/>
                                        </p:tgtEl>
                                        <p:attrNameLst>
                                          <p:attrName>ppt_w</p:attrName>
                                        </p:attrNameLst>
                                      </p:cBhvr>
                                      <p:tavLst>
                                        <p:tav tm="0">
                                          <p:val>
                                            <p:strVal val="2/3*#ppt_w"/>
                                          </p:val>
                                        </p:tav>
                                        <p:tav tm="100000">
                                          <p:val>
                                            <p:strVal val="#ppt_w"/>
                                          </p:val>
                                        </p:tav>
                                      </p:tavLst>
                                    </p:anim>
                                    <p:anim calcmode="lin" valueType="num">
                                      <p:cBhvr>
                                        <p:cTn id="41" dur="200" fill="hold"/>
                                        <p:tgtEl>
                                          <p:spTgt spid="135"/>
                                        </p:tgtEl>
                                        <p:attrNameLst>
                                          <p:attrName>ppt_h</p:attrName>
                                        </p:attrNameLst>
                                      </p:cBhvr>
                                      <p:tavLst>
                                        <p:tav tm="0">
                                          <p:val>
                                            <p:strVal val="2/3*#ppt_h"/>
                                          </p:val>
                                        </p:tav>
                                        <p:tav tm="100000">
                                          <p:val>
                                            <p:strVal val="#ppt_h"/>
                                          </p:val>
                                        </p:tav>
                                      </p:tavLst>
                                    </p:anim>
                                  </p:childTnLst>
                                </p:cTn>
                              </p:par>
                              <p:par>
                                <p:cTn id="42" presetID="10" presetClass="entr" presetSubtype="0" fill="hold" nodeType="withEffect">
                                  <p:stCondLst>
                                    <p:cond delay="100"/>
                                  </p:stCondLst>
                                  <p:childTnLst>
                                    <p:set>
                                      <p:cBhvr>
                                        <p:cTn id="43" dur="1" fill="hold">
                                          <p:stCondLst>
                                            <p:cond delay="0"/>
                                          </p:stCondLst>
                                        </p:cTn>
                                        <p:tgtEl>
                                          <p:spTgt spid="135"/>
                                        </p:tgtEl>
                                        <p:attrNameLst>
                                          <p:attrName>style.visibility</p:attrName>
                                        </p:attrNameLst>
                                      </p:cBhvr>
                                      <p:to>
                                        <p:strVal val="visible"/>
                                      </p:to>
                                    </p:set>
                                    <p:animEffect transition="in" filter="fade">
                                      <p:cBhvr>
                                        <p:cTn id="44" dur="500"/>
                                        <p:tgtEl>
                                          <p:spTgt spid="135"/>
                                        </p:tgtEl>
                                      </p:cBhvr>
                                    </p:animEffect>
                                  </p:childTnLst>
                                </p:cTn>
                              </p:par>
                              <p:par>
                                <p:cTn id="45" presetID="6" presetClass="emph" presetSubtype="0" fill="hold" nodeType="withEffect">
                                  <p:stCondLst>
                                    <p:cond delay="100"/>
                                  </p:stCondLst>
                                  <p:childTnLst>
                                    <p:animScale>
                                      <p:cBhvr>
                                        <p:cTn id="46" dur="10" fill="hold"/>
                                        <p:tgtEl>
                                          <p:spTgt spid="135"/>
                                        </p:tgtEl>
                                      </p:cBhvr>
                                      <p:by x="80000" y="80000"/>
                                    </p:animScale>
                                  </p:childTnLst>
                                </p:cTn>
                              </p:par>
                              <p:par>
                                <p:cTn id="47" presetID="6" presetClass="emph" presetSubtype="0" decel="100000" fill="hold" nodeType="withEffect">
                                  <p:stCondLst>
                                    <p:cond delay="100"/>
                                  </p:stCondLst>
                                  <p:childTnLst>
                                    <p:animScale>
                                      <p:cBhvr>
                                        <p:cTn id="48" dur="1000" fill="hold"/>
                                        <p:tgtEl>
                                          <p:spTgt spid="135"/>
                                        </p:tgtEl>
                                      </p:cBhvr>
                                      <p:by x="125000" y="125000"/>
                                    </p:animScale>
                                  </p:childTnLst>
                                </p:cTn>
                              </p:par>
                              <p:par>
                                <p:cTn id="49" presetID="23" presetClass="entr" presetSubtype="272" fill="hold" nodeType="withEffect">
                                  <p:stCondLst>
                                    <p:cond delay="200"/>
                                  </p:stCondLst>
                                  <p:childTnLst>
                                    <p:set>
                                      <p:cBhvr>
                                        <p:cTn id="50" dur="1" fill="hold">
                                          <p:stCondLst>
                                            <p:cond delay="0"/>
                                          </p:stCondLst>
                                        </p:cTn>
                                        <p:tgtEl>
                                          <p:spTgt spid="136"/>
                                        </p:tgtEl>
                                        <p:attrNameLst>
                                          <p:attrName>style.visibility</p:attrName>
                                        </p:attrNameLst>
                                      </p:cBhvr>
                                      <p:to>
                                        <p:strVal val="visible"/>
                                      </p:to>
                                    </p:set>
                                    <p:anim calcmode="lin" valueType="num">
                                      <p:cBhvr>
                                        <p:cTn id="51" dur="250" fill="hold"/>
                                        <p:tgtEl>
                                          <p:spTgt spid="136"/>
                                        </p:tgtEl>
                                        <p:attrNameLst>
                                          <p:attrName>ppt_w</p:attrName>
                                        </p:attrNameLst>
                                      </p:cBhvr>
                                      <p:tavLst>
                                        <p:tav tm="0">
                                          <p:val>
                                            <p:strVal val="2/3*#ppt_w"/>
                                          </p:val>
                                        </p:tav>
                                        <p:tav tm="100000">
                                          <p:val>
                                            <p:strVal val="#ppt_w"/>
                                          </p:val>
                                        </p:tav>
                                      </p:tavLst>
                                    </p:anim>
                                    <p:anim calcmode="lin" valueType="num">
                                      <p:cBhvr>
                                        <p:cTn id="52" dur="250" fill="hold"/>
                                        <p:tgtEl>
                                          <p:spTgt spid="136"/>
                                        </p:tgtEl>
                                        <p:attrNameLst>
                                          <p:attrName>ppt_h</p:attrName>
                                        </p:attrNameLst>
                                      </p:cBhvr>
                                      <p:tavLst>
                                        <p:tav tm="0">
                                          <p:val>
                                            <p:strVal val="2/3*#ppt_h"/>
                                          </p:val>
                                        </p:tav>
                                        <p:tav tm="100000">
                                          <p:val>
                                            <p:strVal val="#ppt_h"/>
                                          </p:val>
                                        </p:tav>
                                      </p:tavLst>
                                    </p:anim>
                                  </p:childTnLst>
                                </p:cTn>
                              </p:par>
                              <p:par>
                                <p:cTn id="53" presetID="10" presetClass="entr" presetSubtype="0" fill="hold" nodeType="withEffect">
                                  <p:stCondLst>
                                    <p:cond delay="200"/>
                                  </p:stCondLst>
                                  <p:childTnLst>
                                    <p:set>
                                      <p:cBhvr>
                                        <p:cTn id="54" dur="1" fill="hold">
                                          <p:stCondLst>
                                            <p:cond delay="0"/>
                                          </p:stCondLst>
                                        </p:cTn>
                                        <p:tgtEl>
                                          <p:spTgt spid="136"/>
                                        </p:tgtEl>
                                        <p:attrNameLst>
                                          <p:attrName>style.visibility</p:attrName>
                                        </p:attrNameLst>
                                      </p:cBhvr>
                                      <p:to>
                                        <p:strVal val="visible"/>
                                      </p:to>
                                    </p:set>
                                    <p:animEffect transition="in" filter="fade">
                                      <p:cBhvr>
                                        <p:cTn id="55" dur="500"/>
                                        <p:tgtEl>
                                          <p:spTgt spid="136"/>
                                        </p:tgtEl>
                                      </p:cBhvr>
                                    </p:animEffect>
                                  </p:childTnLst>
                                </p:cTn>
                              </p:par>
                              <p:par>
                                <p:cTn id="56" presetID="6" presetClass="emph" presetSubtype="0" fill="hold" nodeType="withEffect">
                                  <p:stCondLst>
                                    <p:cond delay="200"/>
                                  </p:stCondLst>
                                  <p:childTnLst>
                                    <p:animScale>
                                      <p:cBhvr>
                                        <p:cTn id="57" dur="10" fill="hold"/>
                                        <p:tgtEl>
                                          <p:spTgt spid="136"/>
                                        </p:tgtEl>
                                      </p:cBhvr>
                                      <p:by x="80000" y="80000"/>
                                    </p:animScale>
                                  </p:childTnLst>
                                </p:cTn>
                              </p:par>
                              <p:par>
                                <p:cTn id="58" presetID="6" presetClass="emph" presetSubtype="0" decel="100000" fill="hold" nodeType="withEffect">
                                  <p:stCondLst>
                                    <p:cond delay="200"/>
                                  </p:stCondLst>
                                  <p:childTnLst>
                                    <p:animScale>
                                      <p:cBhvr>
                                        <p:cTn id="59" dur="1000" fill="hold"/>
                                        <p:tgtEl>
                                          <p:spTgt spid="136"/>
                                        </p:tgtEl>
                                      </p:cBhvr>
                                      <p:by x="125000" y="125000"/>
                                    </p:animScale>
                                  </p:childTnLst>
                                </p:cTn>
                              </p:par>
                              <p:par>
                                <p:cTn id="60" presetID="23" presetClass="entr" presetSubtype="272" fill="hold" nodeType="withEffect">
                                  <p:stCondLst>
                                    <p:cond delay="300"/>
                                  </p:stCondLst>
                                  <p:childTnLst>
                                    <p:set>
                                      <p:cBhvr>
                                        <p:cTn id="61" dur="1" fill="hold">
                                          <p:stCondLst>
                                            <p:cond delay="0"/>
                                          </p:stCondLst>
                                        </p:cTn>
                                        <p:tgtEl>
                                          <p:spTgt spid="137"/>
                                        </p:tgtEl>
                                        <p:attrNameLst>
                                          <p:attrName>style.visibility</p:attrName>
                                        </p:attrNameLst>
                                      </p:cBhvr>
                                      <p:to>
                                        <p:strVal val="visible"/>
                                      </p:to>
                                    </p:set>
                                    <p:anim calcmode="lin" valueType="num">
                                      <p:cBhvr>
                                        <p:cTn id="62" dur="250" fill="hold"/>
                                        <p:tgtEl>
                                          <p:spTgt spid="137"/>
                                        </p:tgtEl>
                                        <p:attrNameLst>
                                          <p:attrName>ppt_w</p:attrName>
                                        </p:attrNameLst>
                                      </p:cBhvr>
                                      <p:tavLst>
                                        <p:tav tm="0">
                                          <p:val>
                                            <p:strVal val="2/3*#ppt_w"/>
                                          </p:val>
                                        </p:tav>
                                        <p:tav tm="100000">
                                          <p:val>
                                            <p:strVal val="#ppt_w"/>
                                          </p:val>
                                        </p:tav>
                                      </p:tavLst>
                                    </p:anim>
                                    <p:anim calcmode="lin" valueType="num">
                                      <p:cBhvr>
                                        <p:cTn id="63" dur="250" fill="hold"/>
                                        <p:tgtEl>
                                          <p:spTgt spid="137"/>
                                        </p:tgtEl>
                                        <p:attrNameLst>
                                          <p:attrName>ppt_h</p:attrName>
                                        </p:attrNameLst>
                                      </p:cBhvr>
                                      <p:tavLst>
                                        <p:tav tm="0">
                                          <p:val>
                                            <p:strVal val="2/3*#ppt_h"/>
                                          </p:val>
                                        </p:tav>
                                        <p:tav tm="100000">
                                          <p:val>
                                            <p:strVal val="#ppt_h"/>
                                          </p:val>
                                        </p:tav>
                                      </p:tavLst>
                                    </p:anim>
                                  </p:childTnLst>
                                </p:cTn>
                              </p:par>
                              <p:par>
                                <p:cTn id="64" presetID="10" presetClass="entr" presetSubtype="0" fill="hold" nodeType="withEffect">
                                  <p:stCondLst>
                                    <p:cond delay="300"/>
                                  </p:stCondLst>
                                  <p:childTnLst>
                                    <p:set>
                                      <p:cBhvr>
                                        <p:cTn id="65" dur="1" fill="hold">
                                          <p:stCondLst>
                                            <p:cond delay="0"/>
                                          </p:stCondLst>
                                        </p:cTn>
                                        <p:tgtEl>
                                          <p:spTgt spid="137"/>
                                        </p:tgtEl>
                                        <p:attrNameLst>
                                          <p:attrName>style.visibility</p:attrName>
                                        </p:attrNameLst>
                                      </p:cBhvr>
                                      <p:to>
                                        <p:strVal val="visible"/>
                                      </p:to>
                                    </p:set>
                                    <p:animEffect transition="in" filter="fade">
                                      <p:cBhvr>
                                        <p:cTn id="66" dur="500"/>
                                        <p:tgtEl>
                                          <p:spTgt spid="137"/>
                                        </p:tgtEl>
                                      </p:cBhvr>
                                    </p:animEffect>
                                  </p:childTnLst>
                                </p:cTn>
                              </p:par>
                              <p:par>
                                <p:cTn id="67" presetID="6" presetClass="emph" presetSubtype="0" fill="hold" nodeType="withEffect">
                                  <p:stCondLst>
                                    <p:cond delay="300"/>
                                  </p:stCondLst>
                                  <p:childTnLst>
                                    <p:animScale>
                                      <p:cBhvr>
                                        <p:cTn id="68" dur="10" fill="hold"/>
                                        <p:tgtEl>
                                          <p:spTgt spid="137"/>
                                        </p:tgtEl>
                                      </p:cBhvr>
                                      <p:by x="80000" y="80000"/>
                                    </p:animScale>
                                  </p:childTnLst>
                                </p:cTn>
                              </p:par>
                              <p:par>
                                <p:cTn id="69" presetID="6" presetClass="emph" presetSubtype="0" decel="100000" fill="hold" nodeType="withEffect">
                                  <p:stCondLst>
                                    <p:cond delay="300"/>
                                  </p:stCondLst>
                                  <p:childTnLst>
                                    <p:animScale>
                                      <p:cBhvr>
                                        <p:cTn id="70" dur="1000" fill="hold"/>
                                        <p:tgtEl>
                                          <p:spTgt spid="137"/>
                                        </p:tgtEl>
                                      </p:cBhvr>
                                      <p:by x="125000" y="125000"/>
                                    </p:animScale>
                                  </p:childTnLst>
                                </p:cTn>
                              </p:par>
                              <p:par>
                                <p:cTn id="71" presetID="23" presetClass="entr" presetSubtype="272" fill="hold" nodeType="withEffect">
                                  <p:stCondLst>
                                    <p:cond delay="400"/>
                                  </p:stCondLst>
                                  <p:childTnLst>
                                    <p:set>
                                      <p:cBhvr>
                                        <p:cTn id="72" dur="1" fill="hold">
                                          <p:stCondLst>
                                            <p:cond delay="0"/>
                                          </p:stCondLst>
                                        </p:cTn>
                                        <p:tgtEl>
                                          <p:spTgt spid="138"/>
                                        </p:tgtEl>
                                        <p:attrNameLst>
                                          <p:attrName>style.visibility</p:attrName>
                                        </p:attrNameLst>
                                      </p:cBhvr>
                                      <p:to>
                                        <p:strVal val="visible"/>
                                      </p:to>
                                    </p:set>
                                    <p:anim calcmode="lin" valueType="num">
                                      <p:cBhvr>
                                        <p:cTn id="73" dur="250" fill="hold"/>
                                        <p:tgtEl>
                                          <p:spTgt spid="138"/>
                                        </p:tgtEl>
                                        <p:attrNameLst>
                                          <p:attrName>ppt_w</p:attrName>
                                        </p:attrNameLst>
                                      </p:cBhvr>
                                      <p:tavLst>
                                        <p:tav tm="0">
                                          <p:val>
                                            <p:strVal val="2/3*#ppt_w"/>
                                          </p:val>
                                        </p:tav>
                                        <p:tav tm="100000">
                                          <p:val>
                                            <p:strVal val="#ppt_w"/>
                                          </p:val>
                                        </p:tav>
                                      </p:tavLst>
                                    </p:anim>
                                    <p:anim calcmode="lin" valueType="num">
                                      <p:cBhvr>
                                        <p:cTn id="74" dur="250" fill="hold"/>
                                        <p:tgtEl>
                                          <p:spTgt spid="138"/>
                                        </p:tgtEl>
                                        <p:attrNameLst>
                                          <p:attrName>ppt_h</p:attrName>
                                        </p:attrNameLst>
                                      </p:cBhvr>
                                      <p:tavLst>
                                        <p:tav tm="0">
                                          <p:val>
                                            <p:strVal val="2/3*#ppt_h"/>
                                          </p:val>
                                        </p:tav>
                                        <p:tav tm="100000">
                                          <p:val>
                                            <p:strVal val="#ppt_h"/>
                                          </p:val>
                                        </p:tav>
                                      </p:tavLst>
                                    </p:anim>
                                  </p:childTnLst>
                                </p:cTn>
                              </p:par>
                              <p:par>
                                <p:cTn id="75" presetID="10" presetClass="entr" presetSubtype="0" fill="hold" nodeType="withEffect">
                                  <p:stCondLst>
                                    <p:cond delay="400"/>
                                  </p:stCondLst>
                                  <p:childTnLst>
                                    <p:set>
                                      <p:cBhvr>
                                        <p:cTn id="76" dur="1" fill="hold">
                                          <p:stCondLst>
                                            <p:cond delay="0"/>
                                          </p:stCondLst>
                                        </p:cTn>
                                        <p:tgtEl>
                                          <p:spTgt spid="138"/>
                                        </p:tgtEl>
                                        <p:attrNameLst>
                                          <p:attrName>style.visibility</p:attrName>
                                        </p:attrNameLst>
                                      </p:cBhvr>
                                      <p:to>
                                        <p:strVal val="visible"/>
                                      </p:to>
                                    </p:set>
                                    <p:animEffect transition="in" filter="fade">
                                      <p:cBhvr>
                                        <p:cTn id="77" dur="500"/>
                                        <p:tgtEl>
                                          <p:spTgt spid="138"/>
                                        </p:tgtEl>
                                      </p:cBhvr>
                                    </p:animEffect>
                                  </p:childTnLst>
                                </p:cTn>
                              </p:par>
                              <p:par>
                                <p:cTn id="78" presetID="6" presetClass="emph" presetSubtype="0" fill="hold" nodeType="withEffect">
                                  <p:stCondLst>
                                    <p:cond delay="400"/>
                                  </p:stCondLst>
                                  <p:childTnLst>
                                    <p:animScale>
                                      <p:cBhvr>
                                        <p:cTn id="79" dur="10" fill="hold"/>
                                        <p:tgtEl>
                                          <p:spTgt spid="138"/>
                                        </p:tgtEl>
                                      </p:cBhvr>
                                      <p:by x="80000" y="80000"/>
                                    </p:animScale>
                                  </p:childTnLst>
                                </p:cTn>
                              </p:par>
                              <p:par>
                                <p:cTn id="80" presetID="6" presetClass="emph" presetSubtype="0" decel="100000" fill="hold" nodeType="withEffect">
                                  <p:stCondLst>
                                    <p:cond delay="400"/>
                                  </p:stCondLst>
                                  <p:childTnLst>
                                    <p:animScale>
                                      <p:cBhvr>
                                        <p:cTn id="81" dur="1000" fill="hold"/>
                                        <p:tgtEl>
                                          <p:spTgt spid="138"/>
                                        </p:tgtEl>
                                      </p:cBhvr>
                                      <p:by x="125000" y="125000"/>
                                    </p:animScale>
                                  </p:childTnLst>
                                </p:cTn>
                              </p:par>
                              <p:par>
                                <p:cTn id="82" presetID="23" presetClass="entr" presetSubtype="272" fill="hold" nodeType="withEffect">
                                  <p:stCondLst>
                                    <p:cond delay="500"/>
                                  </p:stCondLst>
                                  <p:childTnLst>
                                    <p:set>
                                      <p:cBhvr>
                                        <p:cTn id="83" dur="1" fill="hold">
                                          <p:stCondLst>
                                            <p:cond delay="0"/>
                                          </p:stCondLst>
                                        </p:cTn>
                                        <p:tgtEl>
                                          <p:spTgt spid="139"/>
                                        </p:tgtEl>
                                        <p:attrNameLst>
                                          <p:attrName>style.visibility</p:attrName>
                                        </p:attrNameLst>
                                      </p:cBhvr>
                                      <p:to>
                                        <p:strVal val="visible"/>
                                      </p:to>
                                    </p:set>
                                    <p:anim calcmode="lin" valueType="num">
                                      <p:cBhvr>
                                        <p:cTn id="84" dur="250" fill="hold"/>
                                        <p:tgtEl>
                                          <p:spTgt spid="139"/>
                                        </p:tgtEl>
                                        <p:attrNameLst>
                                          <p:attrName>ppt_w</p:attrName>
                                        </p:attrNameLst>
                                      </p:cBhvr>
                                      <p:tavLst>
                                        <p:tav tm="0">
                                          <p:val>
                                            <p:strVal val="2/3*#ppt_w"/>
                                          </p:val>
                                        </p:tav>
                                        <p:tav tm="100000">
                                          <p:val>
                                            <p:strVal val="#ppt_w"/>
                                          </p:val>
                                        </p:tav>
                                      </p:tavLst>
                                    </p:anim>
                                    <p:anim calcmode="lin" valueType="num">
                                      <p:cBhvr>
                                        <p:cTn id="85" dur="250" fill="hold"/>
                                        <p:tgtEl>
                                          <p:spTgt spid="139"/>
                                        </p:tgtEl>
                                        <p:attrNameLst>
                                          <p:attrName>ppt_h</p:attrName>
                                        </p:attrNameLst>
                                      </p:cBhvr>
                                      <p:tavLst>
                                        <p:tav tm="0">
                                          <p:val>
                                            <p:strVal val="2/3*#ppt_h"/>
                                          </p:val>
                                        </p:tav>
                                        <p:tav tm="100000">
                                          <p:val>
                                            <p:strVal val="#ppt_h"/>
                                          </p:val>
                                        </p:tav>
                                      </p:tavLst>
                                    </p:anim>
                                  </p:childTnLst>
                                </p:cTn>
                              </p:par>
                              <p:par>
                                <p:cTn id="86" presetID="10" presetClass="entr" presetSubtype="0" fill="hold" nodeType="withEffect">
                                  <p:stCondLst>
                                    <p:cond delay="500"/>
                                  </p:stCondLst>
                                  <p:childTnLst>
                                    <p:set>
                                      <p:cBhvr>
                                        <p:cTn id="87" dur="1" fill="hold">
                                          <p:stCondLst>
                                            <p:cond delay="0"/>
                                          </p:stCondLst>
                                        </p:cTn>
                                        <p:tgtEl>
                                          <p:spTgt spid="139"/>
                                        </p:tgtEl>
                                        <p:attrNameLst>
                                          <p:attrName>style.visibility</p:attrName>
                                        </p:attrNameLst>
                                      </p:cBhvr>
                                      <p:to>
                                        <p:strVal val="visible"/>
                                      </p:to>
                                    </p:set>
                                    <p:animEffect transition="in" filter="fade">
                                      <p:cBhvr>
                                        <p:cTn id="88" dur="500"/>
                                        <p:tgtEl>
                                          <p:spTgt spid="139"/>
                                        </p:tgtEl>
                                      </p:cBhvr>
                                    </p:animEffect>
                                  </p:childTnLst>
                                </p:cTn>
                              </p:par>
                              <p:par>
                                <p:cTn id="89" presetID="6" presetClass="emph" presetSubtype="0" fill="hold" nodeType="withEffect">
                                  <p:stCondLst>
                                    <p:cond delay="500"/>
                                  </p:stCondLst>
                                  <p:childTnLst>
                                    <p:animScale>
                                      <p:cBhvr>
                                        <p:cTn id="90" dur="10" fill="hold"/>
                                        <p:tgtEl>
                                          <p:spTgt spid="139"/>
                                        </p:tgtEl>
                                      </p:cBhvr>
                                      <p:by x="80000" y="80000"/>
                                    </p:animScale>
                                  </p:childTnLst>
                                </p:cTn>
                              </p:par>
                              <p:par>
                                <p:cTn id="91" presetID="6" presetClass="emph" presetSubtype="0" decel="100000" fill="hold" nodeType="withEffect">
                                  <p:stCondLst>
                                    <p:cond delay="500"/>
                                  </p:stCondLst>
                                  <p:childTnLst>
                                    <p:animScale>
                                      <p:cBhvr>
                                        <p:cTn id="92" dur="1000" fill="hold"/>
                                        <p:tgtEl>
                                          <p:spTgt spid="139"/>
                                        </p:tgtEl>
                                      </p:cBhvr>
                                      <p:by x="125000" y="125000"/>
                                    </p:animScale>
                                  </p:childTnLst>
                                </p:cTn>
                              </p:par>
                              <p:par>
                                <p:cTn id="93" presetID="23" presetClass="entr" presetSubtype="272" fill="hold" nodeType="withEffect">
                                  <p:stCondLst>
                                    <p:cond delay="600"/>
                                  </p:stCondLst>
                                  <p:childTnLst>
                                    <p:set>
                                      <p:cBhvr>
                                        <p:cTn id="94" dur="1" fill="hold">
                                          <p:stCondLst>
                                            <p:cond delay="0"/>
                                          </p:stCondLst>
                                        </p:cTn>
                                        <p:tgtEl>
                                          <p:spTgt spid="140"/>
                                        </p:tgtEl>
                                        <p:attrNameLst>
                                          <p:attrName>style.visibility</p:attrName>
                                        </p:attrNameLst>
                                      </p:cBhvr>
                                      <p:to>
                                        <p:strVal val="visible"/>
                                      </p:to>
                                    </p:set>
                                    <p:anim calcmode="lin" valueType="num">
                                      <p:cBhvr>
                                        <p:cTn id="95" dur="250" fill="hold"/>
                                        <p:tgtEl>
                                          <p:spTgt spid="140"/>
                                        </p:tgtEl>
                                        <p:attrNameLst>
                                          <p:attrName>ppt_w</p:attrName>
                                        </p:attrNameLst>
                                      </p:cBhvr>
                                      <p:tavLst>
                                        <p:tav tm="0">
                                          <p:val>
                                            <p:strVal val="2/3*#ppt_w"/>
                                          </p:val>
                                        </p:tav>
                                        <p:tav tm="100000">
                                          <p:val>
                                            <p:strVal val="#ppt_w"/>
                                          </p:val>
                                        </p:tav>
                                      </p:tavLst>
                                    </p:anim>
                                    <p:anim calcmode="lin" valueType="num">
                                      <p:cBhvr>
                                        <p:cTn id="96" dur="250" fill="hold"/>
                                        <p:tgtEl>
                                          <p:spTgt spid="140"/>
                                        </p:tgtEl>
                                        <p:attrNameLst>
                                          <p:attrName>ppt_h</p:attrName>
                                        </p:attrNameLst>
                                      </p:cBhvr>
                                      <p:tavLst>
                                        <p:tav tm="0">
                                          <p:val>
                                            <p:strVal val="2/3*#ppt_h"/>
                                          </p:val>
                                        </p:tav>
                                        <p:tav tm="100000">
                                          <p:val>
                                            <p:strVal val="#ppt_h"/>
                                          </p:val>
                                        </p:tav>
                                      </p:tavLst>
                                    </p:anim>
                                  </p:childTnLst>
                                </p:cTn>
                              </p:par>
                              <p:par>
                                <p:cTn id="97" presetID="10" presetClass="entr" presetSubtype="0" fill="hold" nodeType="withEffect">
                                  <p:stCondLst>
                                    <p:cond delay="600"/>
                                  </p:stCondLst>
                                  <p:childTnLst>
                                    <p:set>
                                      <p:cBhvr>
                                        <p:cTn id="98" dur="1" fill="hold">
                                          <p:stCondLst>
                                            <p:cond delay="0"/>
                                          </p:stCondLst>
                                        </p:cTn>
                                        <p:tgtEl>
                                          <p:spTgt spid="140"/>
                                        </p:tgtEl>
                                        <p:attrNameLst>
                                          <p:attrName>style.visibility</p:attrName>
                                        </p:attrNameLst>
                                      </p:cBhvr>
                                      <p:to>
                                        <p:strVal val="visible"/>
                                      </p:to>
                                    </p:set>
                                    <p:animEffect transition="in" filter="fade">
                                      <p:cBhvr>
                                        <p:cTn id="99" dur="500"/>
                                        <p:tgtEl>
                                          <p:spTgt spid="140"/>
                                        </p:tgtEl>
                                      </p:cBhvr>
                                    </p:animEffect>
                                  </p:childTnLst>
                                </p:cTn>
                              </p:par>
                              <p:par>
                                <p:cTn id="100" presetID="6" presetClass="emph" presetSubtype="0" fill="hold" nodeType="withEffect">
                                  <p:stCondLst>
                                    <p:cond delay="600"/>
                                  </p:stCondLst>
                                  <p:childTnLst>
                                    <p:animScale>
                                      <p:cBhvr>
                                        <p:cTn id="101" dur="10" fill="hold"/>
                                        <p:tgtEl>
                                          <p:spTgt spid="140"/>
                                        </p:tgtEl>
                                      </p:cBhvr>
                                      <p:by x="80000" y="80000"/>
                                    </p:animScale>
                                  </p:childTnLst>
                                </p:cTn>
                              </p:par>
                              <p:par>
                                <p:cTn id="102" presetID="6" presetClass="emph" presetSubtype="0" decel="100000" fill="hold" nodeType="withEffect">
                                  <p:stCondLst>
                                    <p:cond delay="600"/>
                                  </p:stCondLst>
                                  <p:childTnLst>
                                    <p:animScale>
                                      <p:cBhvr>
                                        <p:cTn id="103" dur="1000" fill="hold"/>
                                        <p:tgtEl>
                                          <p:spTgt spid="140"/>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8480-157F-3DAE-C65C-9D4B280B471C}"/>
            </a:ext>
          </a:extLst>
        </p:cNvPr>
        <p:cNvGrpSpPr/>
        <p:nvPr/>
      </p:nvGrpSpPr>
      <p:grpSpPr>
        <a:xfrm>
          <a:off x="0" y="0"/>
          <a:ext cx="0" cy="0"/>
          <a:chOff x="0" y="0"/>
          <a:chExt cx="0" cy="0"/>
        </a:xfrm>
      </p:grpSpPr>
      <p:sp>
        <p:nvSpPr>
          <p:cNvPr id="56" name="Title 55">
            <a:extLst>
              <a:ext uri="{FF2B5EF4-FFF2-40B4-BE49-F238E27FC236}">
                <a16:creationId xmlns:a16="http://schemas.microsoft.com/office/drawing/2014/main" id="{A9F6EC3B-CF51-3B24-B28A-E9CD328895D6}"/>
              </a:ext>
            </a:extLst>
          </p:cNvPr>
          <p:cNvSpPr>
            <a:spLocks noGrp="1"/>
          </p:cNvSpPr>
          <p:nvPr>
            <p:ph type="title"/>
          </p:nvPr>
        </p:nvSpPr>
        <p:spPr/>
        <p:txBody>
          <a:bodyPr/>
          <a:lstStyle/>
          <a:p>
            <a:r>
              <a:rPr lang="en-GB">
                <a:solidFill>
                  <a:schemeClr val="bg1"/>
                </a:solidFill>
              </a:rPr>
              <a:t>Key Takeaways </a:t>
            </a:r>
            <a:endParaRPr lang="en-US" sz="2400">
              <a:solidFill>
                <a:schemeClr val="bg1"/>
              </a:solidFill>
            </a:endParaRPr>
          </a:p>
        </p:txBody>
      </p:sp>
      <p:sp>
        <p:nvSpPr>
          <p:cNvPr id="85" name="Rectangle: Rounded Corners 84">
            <a:extLst>
              <a:ext uri="{FF2B5EF4-FFF2-40B4-BE49-F238E27FC236}">
                <a16:creationId xmlns:a16="http://schemas.microsoft.com/office/drawing/2014/main" id="{9E059205-20C1-C05E-9F2A-C0FD00DF2BEF}"/>
              </a:ext>
            </a:extLst>
          </p:cNvPr>
          <p:cNvSpPr>
            <a:spLocks/>
          </p:cNvSpPr>
          <p:nvPr/>
        </p:nvSpPr>
        <p:spPr bwMode="auto">
          <a:xfrm>
            <a:off x="667657" y="1290205"/>
            <a:ext cx="10856373" cy="67836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rmAutofit/>
          </a:bodyPr>
          <a:lstStyle/>
          <a:p>
            <a:pPr lvl="0" defTabSz="932472" fontAlgn="base">
              <a:spcBef>
                <a:spcPct val="0"/>
              </a:spcBef>
              <a:spcAft>
                <a:spcPct val="0"/>
              </a:spcAft>
              <a:defRPr/>
            </a:pPr>
            <a:r>
              <a:rPr lang="en-GB"/>
              <a:t>Understanding the distinct activities on each </a:t>
            </a:r>
            <a:r>
              <a:rPr lang="en-GB" err="1"/>
              <a:t>GenAI</a:t>
            </a:r>
            <a:r>
              <a:rPr lang="en-GB"/>
              <a:t> Lifecycle.</a:t>
            </a:r>
            <a:endParaRPr kumimoji="0" lang="en-US" sz="280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1" name="Rectangle: Rounded Corners 130">
            <a:extLst>
              <a:ext uri="{FF2B5EF4-FFF2-40B4-BE49-F238E27FC236}">
                <a16:creationId xmlns:a16="http://schemas.microsoft.com/office/drawing/2014/main" id="{3728BE02-C1F2-54F6-DBD7-6177FFC4C5D8}"/>
              </a:ext>
            </a:extLst>
          </p:cNvPr>
          <p:cNvSpPr>
            <a:spLocks/>
          </p:cNvSpPr>
          <p:nvPr/>
        </p:nvSpPr>
        <p:spPr bwMode="auto">
          <a:xfrm>
            <a:off x="682171" y="2141727"/>
            <a:ext cx="10841859" cy="861823"/>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defRPr/>
            </a:pPr>
            <a:r>
              <a:rPr lang="en-GB"/>
              <a:t>Azure offers a robust set of tools for every stage of the GenAI lifecycle, including Azure Machine Learning, AI Foundry, Azure DevOps, GitHub Actions, APIM, and Azure Monitor etc.</a:t>
            </a:r>
            <a:endParaRPr kumimoji="0" lang="en-US"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33" name="Rectangle: Rounded Corners 132">
            <a:extLst>
              <a:ext uri="{FF2B5EF4-FFF2-40B4-BE49-F238E27FC236}">
                <a16:creationId xmlns:a16="http://schemas.microsoft.com/office/drawing/2014/main" id="{704CA227-B608-441D-286F-D9ACB9A0C10E}"/>
              </a:ext>
            </a:extLst>
          </p:cNvPr>
          <p:cNvSpPr>
            <a:spLocks/>
          </p:cNvSpPr>
          <p:nvPr/>
        </p:nvSpPr>
        <p:spPr bwMode="auto">
          <a:xfrm>
            <a:off x="696686" y="3183748"/>
            <a:ext cx="10827344" cy="678361"/>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defRPr/>
            </a:pPr>
            <a:r>
              <a:rPr lang="en-GB"/>
              <a:t>Deploying GenAI solutions involves not only technical considerations but also governance, security, and compliance.  (Management Loop)</a:t>
            </a:r>
            <a:endParaRPr kumimoji="0" lang="en-US"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11" name="Rectangle: Rounded Corners 10">
            <a:extLst>
              <a:ext uri="{FF2B5EF4-FFF2-40B4-BE49-F238E27FC236}">
                <a16:creationId xmlns:a16="http://schemas.microsoft.com/office/drawing/2014/main" id="{93FBC086-2B46-80D5-FF2E-2DBAF905F2BC}"/>
              </a:ext>
            </a:extLst>
          </p:cNvPr>
          <p:cNvSpPr>
            <a:spLocks/>
          </p:cNvSpPr>
          <p:nvPr/>
        </p:nvSpPr>
        <p:spPr bwMode="auto">
          <a:xfrm>
            <a:off x="696686" y="4079720"/>
            <a:ext cx="10827344" cy="885980"/>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defRPr/>
            </a:pPr>
            <a:r>
              <a:rPr lang="en-GB"/>
              <a:t>Effective cost management is crucial for sustaining GenAI projects. Azure provides tools like the pricing calculator, budgeting, cost alerts, and detailed cost analysis </a:t>
            </a:r>
            <a:endParaRPr kumimoji="0" lang="en-US"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
        <p:nvSpPr>
          <p:cNvPr id="21" name="Rectangle: Rounded Corners 20">
            <a:extLst>
              <a:ext uri="{FF2B5EF4-FFF2-40B4-BE49-F238E27FC236}">
                <a16:creationId xmlns:a16="http://schemas.microsoft.com/office/drawing/2014/main" id="{36F39A10-ED47-7EE3-A677-B35B9D993801}"/>
              </a:ext>
            </a:extLst>
          </p:cNvPr>
          <p:cNvSpPr>
            <a:spLocks/>
          </p:cNvSpPr>
          <p:nvPr/>
        </p:nvSpPr>
        <p:spPr bwMode="auto">
          <a:xfrm>
            <a:off x="696686" y="5077291"/>
            <a:ext cx="10827344" cy="847259"/>
          </a:xfrm>
          <a:prstGeom prst="roundRect">
            <a:avLst>
              <a:gd name="adj" fmla="val 9264"/>
            </a:avLst>
          </a:prstGeom>
          <a:gradFill>
            <a:gsLst>
              <a:gs pos="0">
                <a:schemeClr val="bg1">
                  <a:alpha val="10000"/>
                </a:schemeClr>
              </a:gs>
              <a:gs pos="85000">
                <a:schemeClr val="bg1">
                  <a:alpha val="11000"/>
                </a:schemeClr>
              </a:gs>
            </a:gsLst>
            <a:path path="circle">
              <a:fillToRect r="100000" b="100000"/>
            </a:path>
          </a:gradFill>
          <a:ln w="9525">
            <a:gradFill flip="none" rotWithShape="1">
              <a:gsLst>
                <a:gs pos="0">
                  <a:schemeClr val="accent1">
                    <a:lumMod val="5000"/>
                    <a:lumOff val="95000"/>
                    <a:alpha val="80000"/>
                  </a:schemeClr>
                </a:gs>
                <a:gs pos="55000">
                  <a:schemeClr val="bg1">
                    <a:alpha val="0"/>
                  </a:schemeClr>
                </a:gs>
              </a:gsLst>
              <a:lin ang="2700000" scaled="1"/>
              <a:tileRect/>
            </a:gradFill>
            <a:headEnd type="none" w="med" len="med"/>
            <a:tailEnd type="none" w="med" len="med"/>
          </a:ln>
          <a:effectLst>
            <a:outerShdw blurRad="152400" algn="ctr" rotWithShape="0">
              <a:prstClr val="black">
                <a:alpha val="71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defRPr/>
            </a:pPr>
            <a:r>
              <a:rPr lang="en-GB"/>
              <a:t>Robust monitoring, evaluations and tracing capabilities are essential for maintaining the health and performance of GenAI applications.</a:t>
            </a:r>
            <a:endParaRPr kumimoji="0" lang="en-US" b="0" i="0" u="none" strike="noStrike" kern="1200" cap="none" spc="0" normalizeH="0" baseline="0" noProof="0">
              <a:ln>
                <a:noFill/>
              </a:ln>
              <a:solidFill>
                <a:srgbClr val="FFFFFF"/>
              </a:solidFill>
              <a:effectLst/>
              <a:uLnTx/>
              <a:uFillTx/>
              <a:latin typeface="Segoe Sans Text"/>
              <a:ea typeface="Segoe UI" pitchFamily="34" charset="0"/>
              <a:cs typeface="Segoe Sans Text" pitchFamily="2" charset="0"/>
            </a:endParaRPr>
          </a:p>
        </p:txBody>
      </p:sp>
    </p:spTree>
    <p:extLst>
      <p:ext uri="{BB962C8B-B14F-4D97-AF65-F5344CB8AC3E}">
        <p14:creationId xmlns:p14="http://schemas.microsoft.com/office/powerpoint/2010/main" val="26808349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1000"/>
                                        <p:tgtEl>
                                          <p:spTgt spid="8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1"/>
                                        </p:tgtEl>
                                        <p:attrNameLst>
                                          <p:attrName>style.visibility</p:attrName>
                                        </p:attrNameLst>
                                      </p:cBhvr>
                                      <p:to>
                                        <p:strVal val="visible"/>
                                      </p:to>
                                    </p:set>
                                    <p:animEffect transition="in" filter="fade">
                                      <p:cBhvr>
                                        <p:cTn id="10" dur="1000"/>
                                        <p:tgtEl>
                                          <p:spTgt spid="1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3"/>
                                        </p:tgtEl>
                                        <p:attrNameLst>
                                          <p:attrName>style.visibility</p:attrName>
                                        </p:attrNameLst>
                                      </p:cBhvr>
                                      <p:to>
                                        <p:strVal val="visible"/>
                                      </p:to>
                                    </p:set>
                                    <p:animEffect transition="in" filter="fade">
                                      <p:cBhvr>
                                        <p:cTn id="13" dur="1000"/>
                                        <p:tgtEl>
                                          <p:spTgt spid="13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0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131" grpId="0" animBg="1"/>
      <p:bldP spid="133" grpId="0" animBg="1"/>
      <p:bldP spid="11" grpId="0" animBg="1"/>
      <p:bldP spid="2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41CC-1CE0-4E1D-DA9A-EB88B57DF71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8A575E9-82E2-5AC3-E63D-2658DE59FB20}"/>
              </a:ext>
              <a:ext uri="{C183D7F6-B498-43B3-948B-1728B52AA6E4}">
                <adec:decorative xmlns:adec="http://schemas.microsoft.com/office/drawing/2017/decorative" val="1"/>
              </a:ext>
            </a:extLst>
          </p:cNvPr>
          <p:cNvSpPr>
            <a:spLocks/>
          </p:cNvSpPr>
          <p:nvPr/>
        </p:nvSpPr>
        <p:spPr>
          <a:xfrm>
            <a:off x="571500" y="1508338"/>
            <a:ext cx="11049000" cy="4760700"/>
          </a:xfrm>
          <a:prstGeom prst="rect">
            <a:avLst/>
          </a:prstGeom>
          <a:noFill/>
          <a:ln w="3175">
            <a:solidFill>
              <a:schemeClr val="bg1">
                <a:lumMod val="85000"/>
              </a:schemeClr>
            </a:solidFill>
          </a:ln>
        </p:spPr>
        <p:txBody>
          <a:bodyPr wrap="square" lIns="137160" tIns="768096" rIns="137160" bIns="91440" anchor="t">
            <a:noAutofit/>
          </a:bodyPr>
          <a:lstStyle/>
          <a:p>
            <a:pPr marL="230188" indent="-230188" defTabSz="914192">
              <a:spcBef>
                <a:spcPts val="300"/>
              </a:spcBef>
              <a:spcAft>
                <a:spcPts val="300"/>
              </a:spcAft>
              <a:buFont typeface="Arial" panose="020B0604020202020204" pitchFamily="34" charset="0"/>
              <a:buChar char="•"/>
              <a:defRPr/>
            </a:pPr>
            <a:endParaRPr lang="en-US" sz="1600">
              <a:cs typeface="Segoe UI Semibold" panose="020B0702040204020203" pitchFamily="34" charset="0"/>
            </a:endParaRPr>
          </a:p>
        </p:txBody>
      </p:sp>
      <p:sp>
        <p:nvSpPr>
          <p:cNvPr id="2" name="Title 1">
            <a:extLst>
              <a:ext uri="{FF2B5EF4-FFF2-40B4-BE49-F238E27FC236}">
                <a16:creationId xmlns:a16="http://schemas.microsoft.com/office/drawing/2014/main" id="{C55FC39E-CA72-7800-E23A-A25596AA6ACD}"/>
              </a:ext>
            </a:extLst>
          </p:cNvPr>
          <p:cNvSpPr>
            <a:spLocks noGrp="1"/>
          </p:cNvSpPr>
          <p:nvPr>
            <p:ph type="title"/>
          </p:nvPr>
        </p:nvSpPr>
        <p:spPr>
          <a:xfrm>
            <a:off x="575481" y="599436"/>
            <a:ext cx="11018520" cy="553998"/>
          </a:xfrm>
        </p:spPr>
        <p:txBody>
          <a:bodyPr/>
          <a:lstStyle/>
          <a:p>
            <a:r>
              <a:rPr lang="en-US"/>
              <a:t>Lab Name</a:t>
            </a:r>
          </a:p>
        </p:txBody>
      </p:sp>
      <p:sp>
        <p:nvSpPr>
          <p:cNvPr id="8" name="Rectangle 7">
            <a:extLst>
              <a:ext uri="{FF2B5EF4-FFF2-40B4-BE49-F238E27FC236}">
                <a16:creationId xmlns:a16="http://schemas.microsoft.com/office/drawing/2014/main" id="{E4325991-7DE9-7DBA-EF93-482DEEFF8783}"/>
              </a:ext>
            </a:extLst>
          </p:cNvPr>
          <p:cNvSpPr>
            <a:spLocks/>
          </p:cNvSpPr>
          <p:nvPr/>
        </p:nvSpPr>
        <p:spPr>
          <a:xfrm>
            <a:off x="571499" y="1751640"/>
            <a:ext cx="11049000" cy="465121"/>
          </a:xfrm>
          <a:prstGeom prst="rect">
            <a:avLst/>
          </a:prstGeom>
          <a:solidFill>
            <a:schemeClr val="accent2"/>
          </a:solidFill>
        </p:spPr>
        <p:txBody>
          <a:bodyPr wrap="square" lIns="91440" tIns="45720" rIns="91440" bIns="45720" anchor="ctr">
            <a:noAutofit/>
          </a:bodyPr>
          <a:lstStyle/>
          <a:p>
            <a:pPr algn="ctr" defTabSz="914192">
              <a:spcAft>
                <a:spcPts val="300"/>
              </a:spcAft>
            </a:pPr>
            <a:r>
              <a:rPr lang="en-US">
                <a:solidFill>
                  <a:srgbClr val="FFFFFF"/>
                </a:solidFill>
                <a:latin typeface="Segoe Semibold"/>
                <a:cs typeface="Segoe UI Semibold"/>
              </a:rPr>
              <a:t>Lab Description</a:t>
            </a:r>
          </a:p>
        </p:txBody>
      </p:sp>
      <p:grpSp>
        <p:nvGrpSpPr>
          <p:cNvPr id="9" name="Group 8">
            <a:extLst>
              <a:ext uri="{FF2B5EF4-FFF2-40B4-BE49-F238E27FC236}">
                <a16:creationId xmlns:a16="http://schemas.microsoft.com/office/drawing/2014/main" id="{8C2C8A8A-5210-5D7B-0A8B-94D2F199DA10}"/>
              </a:ext>
              <a:ext uri="{C183D7F6-B498-43B3-948B-1728B52AA6E4}">
                <adec:decorative xmlns:adec="http://schemas.microsoft.com/office/drawing/2017/decorative" val="1"/>
              </a:ext>
            </a:extLst>
          </p:cNvPr>
          <p:cNvGrpSpPr>
            <a:grpSpLocks/>
          </p:cNvGrpSpPr>
          <p:nvPr/>
        </p:nvGrpSpPr>
        <p:grpSpPr>
          <a:xfrm>
            <a:off x="574674" y="1751640"/>
            <a:ext cx="11045826" cy="465121"/>
            <a:chOff x="574675" y="1519848"/>
            <a:chExt cx="7312025" cy="465121"/>
          </a:xfrm>
        </p:grpSpPr>
        <p:cxnSp>
          <p:nvCxnSpPr>
            <p:cNvPr id="12" name="Straight Connector 11">
              <a:extLst>
                <a:ext uri="{FF2B5EF4-FFF2-40B4-BE49-F238E27FC236}">
                  <a16:creationId xmlns:a16="http://schemas.microsoft.com/office/drawing/2014/main" id="{99923617-CB08-49AA-E5BD-A4371B07C0EB}"/>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D4C523-9366-B40B-DD83-80BDCE7EC085}"/>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FF99C9CF-DA82-F160-FF2D-A3C89F01E086}"/>
              </a:ext>
            </a:extLst>
          </p:cNvPr>
          <p:cNvSpPr txBox="1">
            <a:spLocks/>
          </p:cNvSpPr>
          <p:nvPr/>
        </p:nvSpPr>
        <p:spPr>
          <a:xfrm>
            <a:off x="571500" y="2339873"/>
            <a:ext cx="11048999" cy="3669041"/>
          </a:xfrm>
          <a:prstGeom prst="rect">
            <a:avLst/>
          </a:prstGeom>
        </p:spPr>
        <p:txBody>
          <a:bodyPr wrap="square" lIns="91440" tIns="45720" rIns="91440" bIns="45720">
            <a:noAutofit/>
          </a:bodyPr>
          <a:lstStyle/>
          <a:p>
            <a:pPr marL="230188" indent="-230188" defTabSz="914192">
              <a:spcBef>
                <a:spcPts val="600"/>
              </a:spcBef>
              <a:spcAft>
                <a:spcPts val="600"/>
              </a:spcAft>
              <a:buFont typeface="Arial" panose="020B0604020202020204" pitchFamily="34" charset="0"/>
              <a:buChar char="•"/>
              <a:defRPr/>
            </a:pPr>
            <a:r>
              <a:rPr lang="en-US" sz="1600">
                <a:cs typeface="Segoe UI Semibold" panose="020B0702040204020203" pitchFamily="34" charset="0"/>
              </a:rPr>
              <a:t>Paulo to update</a:t>
            </a:r>
          </a:p>
        </p:txBody>
      </p:sp>
      <p:sp>
        <p:nvSpPr>
          <p:cNvPr id="17" name="Footer Placeholder 4">
            <a:extLst>
              <a:ext uri="{FF2B5EF4-FFF2-40B4-BE49-F238E27FC236}">
                <a16:creationId xmlns:a16="http://schemas.microsoft.com/office/drawing/2014/main" id="{4590F71E-0759-3599-6E2B-7014D85993C7}"/>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3">
            <a:extLst>
              <a:ext uri="{FF2B5EF4-FFF2-40B4-BE49-F238E27FC236}">
                <a16:creationId xmlns:a16="http://schemas.microsoft.com/office/drawing/2014/main" id="{D7584C95-241F-C5A7-86EC-54F64E81562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4011053871"/>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A709C-7988-299F-8AEF-DBF84ABA11A2}"/>
              </a:ext>
            </a:extLst>
          </p:cNvPr>
          <p:cNvSpPr>
            <a:spLocks noGrp="1"/>
          </p:cNvSpPr>
          <p:nvPr>
            <p:ph type="title"/>
          </p:nvPr>
        </p:nvSpPr>
        <p:spPr>
          <a:xfrm>
            <a:off x="584200" y="3318975"/>
            <a:ext cx="9169400" cy="2031325"/>
          </a:xfrm>
        </p:spPr>
        <p:txBody>
          <a:bodyPr/>
          <a:lstStyle/>
          <a:p>
            <a:r>
              <a:rPr lang="en-GB"/>
              <a:t>Thank you!</a:t>
            </a:r>
            <a:br>
              <a:rPr lang="en-GB"/>
            </a:br>
            <a:endParaRPr lang="en-US"/>
          </a:p>
        </p:txBody>
      </p:sp>
      <p:sp>
        <p:nvSpPr>
          <p:cNvPr id="4" name="Text Placeholder 3">
            <a:extLst>
              <a:ext uri="{FF2B5EF4-FFF2-40B4-BE49-F238E27FC236}">
                <a16:creationId xmlns:a16="http://schemas.microsoft.com/office/drawing/2014/main" id="{50BC96B8-B671-56CF-4679-205A69E70B42}"/>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59715585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a97e8222-500f-45cb-8331-4583a822eeb0"/>
  <p:tag name="MIO_UPDATE" val="True"/>
  <p:tag name="MIO_VERSION" val="30.03.2020 15:44:05"/>
  <p:tag name="MIO_DBID" val="12b0c59e-2253-4124-a5e9-470adf4cb168"/>
  <p:tag name="MIO_LASTDOWNLOADED" val="30.03.2020 15:44:51"/>
  <p:tag name="MIO_OBJECTNAME" val="Objectives"/>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3358efb2-d4c0-4d61-994f-75e3275fac2b"/>
  <p:tag name="MIO_EKGUID" val="a56ec7a2-ebc6-4a2a-9495-6dad13f4de77"/>
  <p:tag name="MIO_UPDATE" val="True"/>
  <p:tag name="MIO_VERSION" val="30.03.2020 15:44:05"/>
  <p:tag name="MIO_DBID" val="12b0c59e-2253-4124-a5e9-470adf4cb168"/>
  <p:tag name="MIO_LASTDOWNLOADED" val="30.03.2020 15:44:52"/>
  <p:tag name="MIO_OBJECTNAME" val="Lesson 1"/>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37064166-1785-404d-8156-350ee872403d"/>
  <p:tag name="MIO_UPDATE" val="True"/>
  <p:tag name="MIO_VERSION" val="30.03.2020 15:44:05"/>
  <p:tag name="MIO_DBID" val="12b0c59e-2253-4124-a5e9-470adf4cb168"/>
  <p:tag name="MIO_LASTDOWNLOADED" val="30.03.2020 15:44:52"/>
  <p:tag name="MIO_OBJECTNAME" val="Demonstration"/>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37064166-1785-404d-8156-350ee872403d"/>
  <p:tag name="MIO_UPDATE" val="True"/>
  <p:tag name="MIO_VERSION" val="30.03.2020 15:44:05"/>
  <p:tag name="MIO_DBID" val="12b0c59e-2253-4124-a5e9-470adf4cb168"/>
  <p:tag name="MIO_LASTDOWNLOADED" val="30.03.2020 15:44:52"/>
  <p:tag name="MIO_OBJECTNAME" val="Demonstration"/>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37064166-1785-404d-8156-350ee872403d"/>
  <p:tag name="MIO_UPDATE" val="True"/>
  <p:tag name="MIO_VERSION" val="30.03.2020 15:44:05"/>
  <p:tag name="MIO_DBID" val="12b0c59e-2253-4124-a5e9-470adf4cb168"/>
  <p:tag name="MIO_LASTDOWNLOADED" val="30.03.2020 15:44:52"/>
  <p:tag name="MIO_OBJECTNAME" val="Demonstration"/>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37064166-1785-404d-8156-350ee872403d"/>
  <p:tag name="MIO_UPDATE" val="True"/>
  <p:tag name="MIO_VERSION" val="30.03.2020 15:44:05"/>
  <p:tag name="MIO_DBID" val="12b0c59e-2253-4124-a5e9-470adf4cb168"/>
  <p:tag name="MIO_LASTDOWNLOADED" val="30.03.2020 15:44:52"/>
  <p:tag name="MIO_OBJECTNAME" val="Demonstration"/>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37064166-1785-404d-8156-350ee872403d"/>
  <p:tag name="MIO_UPDATE" val="True"/>
  <p:tag name="MIO_VERSION" val="30.03.2020 15:44:05"/>
  <p:tag name="MIO_DBID" val="12b0c59e-2253-4124-a5e9-470adf4cb168"/>
  <p:tag name="MIO_LASTDOWNLOADED" val="30.03.2020 15:44:52"/>
  <p:tag name="MIO_OBJECTNAME" val="Demonstration"/>
  <p:tag name="MIO_LASTEDITORNAME" val="Devid Treuling"/>
</p:tagLst>
</file>

<file path=ppt/tags/tag13.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49620678-51bf-43f9-9090-c87048a425b9"/>
  <p:tag name="MIO_UPDATE" val="True"/>
  <p:tag name="MIO_VERSION" val="30.03.2020 15:44:06"/>
  <p:tag name="MIO_DBID" val="12b0c59e-2253-4124-a5e9-470adf4cb168"/>
  <p:tag name="MIO_LASTDOWNLOADED" val="30.03.2020 15:44:52"/>
  <p:tag name="MIO_OBJECTNAME" val="Lab Name"/>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Azure Template - Dark">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662DC8C9-CFC0-405F-82A1-B248626FCAE6}" vid="{49C91371-712F-49B7-AFEB-59DA86371D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item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3.xml><?xml version="1.0" encoding="utf-8"?>
<?mso-contentType ?>
<FormTemplates xmlns="http://schemas.microsoft.com/sharepoint/v3/contenttype/forms">
  <Display>DocumentLibraryForm</Display>
  <Edit>DocumentLibraryForm</Edit>
  <New>DocumentLibraryForm</New>
</FormTemplates>
</file>

<file path=customXml/item1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6.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4.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0" ma:contentTypeDescription="Create a new document." ma:contentTypeScope="" ma:versionID="ef5c9d114e09167da948ee0cb1e3e6b5">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1e1a83c1047241ab2722ae21c3805992"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32920470-F086-4197-B6FE-12027DE25DCC}">
  <ds:schemaRefs>
    <ds:schemaRef ds:uri="Strauss.PersonalizationDefinition"/>
  </ds:schemaRefs>
</ds:datastoreItem>
</file>

<file path=customXml/itemProps2.xml><?xml version="1.0" encoding="utf-8"?>
<ds:datastoreItem xmlns:ds="http://schemas.openxmlformats.org/officeDocument/2006/customXml" ds:itemID="{13A5538B-5199-4900-941A-B01E377F2065}">
  <ds:schemaRefs>
    <ds:schemaRef ds:uri="Strauss.PersonalizationDefinition"/>
  </ds:schemaRefs>
</ds:datastoreItem>
</file>

<file path=customXml/itemProps3.xml><?xml version="1.0" encoding="utf-8"?>
<ds:datastoreItem xmlns:ds="http://schemas.openxmlformats.org/officeDocument/2006/customXml" ds:itemID="{406127A5-B8F7-4F8A-95A9-8E20F72EA129}">
  <ds:schemaRefs>
    <ds:schemaRef ds:uri="Strauss.PersonalizationDefinition"/>
  </ds:schemaRefs>
</ds:datastoreItem>
</file>

<file path=customXml/itemProps4.xml><?xml version="1.0" encoding="utf-8"?>
<ds:datastoreItem xmlns:ds="http://schemas.openxmlformats.org/officeDocument/2006/customXml" ds:itemID="{B09E3EAE-66CA-4A91-A5FE-A34A70B099ED}">
  <ds:schemaRefs>
    <ds:schemaRef ds:uri="Strauss.PersonalizationDefinition"/>
  </ds:schemaRefs>
</ds:datastoreItem>
</file>

<file path=customXml/itemProps5.xml><?xml version="1.0" encoding="utf-8"?>
<ds:datastoreItem xmlns:ds="http://schemas.openxmlformats.org/officeDocument/2006/customXml" ds:itemID="{2BCFCE7B-4A43-491B-887D-365E2A1C50B2}">
  <ds:schemaRefs>
    <ds:schemaRef ds:uri="Strauss.PersonalizationDefinition"/>
  </ds:schemaRefs>
</ds:datastoreItem>
</file>

<file path=customXml/itemProps6.xml><?xml version="1.0" encoding="utf-8"?>
<ds:datastoreItem xmlns:ds="http://schemas.openxmlformats.org/officeDocument/2006/customXml" ds:itemID="{4A3F169F-E27D-4A25-888C-4C5D83BAC082}">
  <ds:schemaRefs>
    <ds:schemaRef ds:uri="Strauss.PersonalizationDefinition"/>
  </ds:schemaRefs>
</ds:datastoreItem>
</file>

<file path=customXml/itemProps7.xml><?xml version="1.0" encoding="utf-8"?>
<ds:datastoreItem xmlns:ds="http://schemas.openxmlformats.org/officeDocument/2006/customXml" ds:itemID="{11767EAE-0FC6-472D-9D35-EB3533243F22}">
  <ds:schemaRefs>
    <ds:schemaRef ds:uri="Strauss.PersonalizationDefinition"/>
  </ds:schemaRefs>
</ds:datastoreItem>
</file>

<file path=customXml/itemProps8.xml><?xml version="1.0" encoding="utf-8"?>
<ds:datastoreItem xmlns:ds="http://schemas.openxmlformats.org/officeDocument/2006/customXml" ds:itemID="{6F485757-9F3C-4A1E-9E86-E1C1551910BA}">
  <ds:schemaRefs>
    <ds:schemaRef ds:uri="Strauss.PersonalizationDefinition"/>
  </ds:schemaRefs>
</ds:datastoreItem>
</file>

<file path=customXml/itemProps9.xml><?xml version="1.0" encoding="utf-8"?>
<ds:datastoreItem xmlns:ds="http://schemas.openxmlformats.org/officeDocument/2006/customXml" ds:itemID="{EF4AA5EB-A638-4D3A-B852-E71E18ED4953}">
  <ds:schemaRefs>
    <ds:schemaRef ds:uri="Strauss.PersonalizationDefinition"/>
  </ds:schemaRefs>
</ds:datastoreItem>
</file>

<file path=customXml/itemProps10.xml><?xml version="1.0" encoding="utf-8"?>
<ds:datastoreItem xmlns:ds="http://schemas.openxmlformats.org/officeDocument/2006/customXml" ds:itemID="{82C716E8-B770-4139-99B0-F35B9C64B90F}">
  <ds:schemaRefs>
    <ds:schemaRef ds:uri="Strauss.PersonalizationDefinition"/>
  </ds:schemaRefs>
</ds:datastoreItem>
</file>

<file path=customXml/itemProps11.xml><?xml version="1.0" encoding="utf-8"?>
<ds:datastoreItem xmlns:ds="http://schemas.openxmlformats.org/officeDocument/2006/customXml" ds:itemID="{ECCE7DC3-F525-4E76-8812-56FCA2D21E50}">
  <ds:schemaRefs>
    <ds:schemaRef ds:uri="Strauss.PersonalizationDefinition"/>
  </ds:schemaRefs>
</ds:datastoreItem>
</file>

<file path=customXml/itemProps12.xml><?xml version="1.0" encoding="utf-8"?>
<ds:datastoreItem xmlns:ds="http://schemas.openxmlformats.org/officeDocument/2006/customXml" ds:itemID="{628127A0-F2C3-45C3-BB9F-5B29A6B848BE}">
  <ds:schemaRefs>
    <ds:schemaRef ds:uri="Strauss.PersonalizationDefinition"/>
  </ds:schemaRefs>
</ds:datastoreItem>
</file>

<file path=customXml/itemProps13.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14.xml><?xml version="1.0" encoding="utf-8"?>
<ds:datastoreItem xmlns:ds="http://schemas.openxmlformats.org/officeDocument/2006/customXml" ds:itemID="{F56EB5D8-3CD5-48EE-9536-13CF2B9AC25D}">
  <ds:schemaRefs>
    <ds:schemaRef ds:uri="Strauss.PersonalizationDefinition"/>
  </ds:schemaRefs>
</ds:datastoreItem>
</file>

<file path=customXml/itemProps15.xml><?xml version="1.0" encoding="utf-8"?>
<ds:datastoreItem xmlns:ds="http://schemas.openxmlformats.org/officeDocument/2006/customXml" ds:itemID="{E7EBEF02-C69B-46E0-B38A-E51611CE5254}">
  <ds:schemaRefs>
    <ds:schemaRef ds:uri="Strauss.PersonalizationDefinition"/>
  </ds:schemaRefs>
</ds:datastoreItem>
</file>

<file path=customXml/itemProps16.xml><?xml version="1.0" encoding="utf-8"?>
<ds:datastoreItem xmlns:ds="http://schemas.openxmlformats.org/officeDocument/2006/customXml" ds:itemID="{A09B3D8F-A36C-4B6D-871D-C53F61DFD219}">
  <ds:schemaRefs>
    <ds:schemaRef ds:uri="Strauss.PersonalizationDefinition"/>
  </ds:schemaRefs>
</ds:datastoreItem>
</file>

<file path=customXml/itemProps17.xml><?xml version="1.0" encoding="utf-8"?>
<ds:datastoreItem xmlns:ds="http://schemas.openxmlformats.org/officeDocument/2006/customXml" ds:itemID="{4C485A9E-99A8-4277-BE90-E837A967DB2E}">
  <ds:schemaRefs>
    <ds:schemaRef ds:uri="Strauss.PersonalizationDefinition"/>
  </ds:schemaRefs>
</ds:datastoreItem>
</file>

<file path=customXml/itemProps18.xml><?xml version="1.0" encoding="utf-8"?>
<ds:datastoreItem xmlns:ds="http://schemas.openxmlformats.org/officeDocument/2006/customXml" ds:itemID="{712108F3-86F2-4B95-AF2D-FE4E45965FCC}">
  <ds:schemaRefs>
    <ds:schemaRef ds:uri="Strauss.PersonalizationDefinition"/>
  </ds:schemaRefs>
</ds:datastoreItem>
</file>

<file path=customXml/itemProps19.xml><?xml version="1.0" encoding="utf-8"?>
<ds:datastoreItem xmlns:ds="http://schemas.openxmlformats.org/officeDocument/2006/customXml" ds:itemID="{C1060A51-5976-4775-97EE-ABE1B1E4972A}">
  <ds:schemaRefs>
    <ds:schemaRef ds:uri="Strauss.PersonalizationDefinition"/>
  </ds:schemaRefs>
</ds:datastoreItem>
</file>

<file path=customXml/itemProps20.xml><?xml version="1.0" encoding="utf-8"?>
<ds:datastoreItem xmlns:ds="http://schemas.openxmlformats.org/officeDocument/2006/customXml" ds:itemID="{D55AC15F-0A03-4D96-AA43-65FC3DCE2717}">
  <ds:schemaRefs>
    <ds:schemaRef ds:uri="Strauss.PersonalizationDefinition"/>
  </ds:schemaRefs>
</ds:datastoreItem>
</file>

<file path=customXml/itemProps21.xml><?xml version="1.0" encoding="utf-8"?>
<ds:datastoreItem xmlns:ds="http://schemas.openxmlformats.org/officeDocument/2006/customXml" ds:itemID="{EDFBA6C8-3A38-44F0-B645-B6B0034983DA}">
  <ds:schemaRefs>
    <ds:schemaRef ds:uri="Strauss.PersonalizationDefinition"/>
  </ds:schemaRefs>
</ds:datastoreItem>
</file>

<file path=customXml/itemProps22.xml><?xml version="1.0" encoding="utf-8"?>
<ds:datastoreItem xmlns:ds="http://schemas.openxmlformats.org/officeDocument/2006/customXml" ds:itemID="{5C919DC8-E31E-42F0-9621-B916C2E029BA}">
  <ds:schemaRefs>
    <ds:schemaRef ds:uri="Strauss.PersonalizationDefinition"/>
  </ds:schemaRefs>
</ds:datastoreItem>
</file>

<file path=customXml/itemProps23.xml><?xml version="1.0" encoding="utf-8"?>
<ds:datastoreItem xmlns:ds="http://schemas.openxmlformats.org/officeDocument/2006/customXml" ds:itemID="{B228D3F7-8445-4CE7-92DC-AC7FE2D5A2AF}">
  <ds:schemaRefs>
    <ds:schemaRef ds:uri="Strauss.PersonalizationDefinition"/>
  </ds:schemaRefs>
</ds:datastoreItem>
</file>

<file path=customXml/itemProps24.xml><?xml version="1.0" encoding="utf-8"?>
<ds:datastoreItem xmlns:ds="http://schemas.openxmlformats.org/officeDocument/2006/customXml" ds:itemID="{6552B3D2-5F72-49FB-8B35-AFE12BF36804}">
  <ds:schemaRefs>
    <ds:schemaRef ds:uri="Strauss.PersonalizationDefinition"/>
  </ds:schemaRefs>
</ds:datastoreItem>
</file>

<file path=customXml/itemProps25.xml><?xml version="1.0" encoding="utf-8"?>
<ds:datastoreItem xmlns:ds="http://schemas.openxmlformats.org/officeDocument/2006/customXml" ds:itemID="{68BE9F8F-073F-46B7-B2D0-86DC8E2E9DCE}">
  <ds:schemaRefs>
    <ds:schemaRef ds:uri="Strauss.PersonalizationDefinition"/>
  </ds:schemaRefs>
</ds:datastoreItem>
</file>

<file path=customXml/itemProps26.xml><?xml version="1.0" encoding="utf-8"?>
<ds:datastoreItem xmlns:ds="http://schemas.openxmlformats.org/officeDocument/2006/customXml" ds:itemID="{AC7687D8-5695-4F99-A8BA-1D247B418C22}">
  <ds:schemaRefs>
    <ds:schemaRef ds:uri="230e9df3-be65-4c73-a93b-d1236ebd677e"/>
    <ds:schemaRef ds:uri="cea7764e-6bf9-427d-be15-e74097e0a61c"/>
    <ds:schemaRef ds:uri="fb9ea31f-0ab8-44ff-80d1-5777f6d9d94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7.xml><?xml version="1.0" encoding="utf-8"?>
<ds:datastoreItem xmlns:ds="http://schemas.openxmlformats.org/officeDocument/2006/customXml" ds:itemID="{D7FDC28F-4CBD-40ED-9D33-0A1360D5DEC4}">
  <ds:schemaRefs>
    <ds:schemaRef ds:uri="Strauss.PersonalizationDefinition"/>
  </ds:schemaRefs>
</ds:datastoreItem>
</file>

<file path=customXml/itemProps28.xml><?xml version="1.0" encoding="utf-8"?>
<ds:datastoreItem xmlns:ds="http://schemas.openxmlformats.org/officeDocument/2006/customXml" ds:itemID="{4EA01338-72BB-48B6-B6A4-05B31FE21105}">
  <ds:schemaRefs>
    <ds:schemaRef ds:uri="Strauss.PersonalizationDefinition"/>
  </ds:schemaRefs>
</ds:datastoreItem>
</file>

<file path=customXml/itemProps29.xml><?xml version="1.0" encoding="utf-8"?>
<ds:datastoreItem xmlns:ds="http://schemas.openxmlformats.org/officeDocument/2006/customXml" ds:itemID="{08068EAD-DA6C-4DC8-843E-9CB0982D15F3}">
  <ds:schemaRefs>
    <ds:schemaRef ds:uri="Strauss.PersonalizationDefinition"/>
  </ds:schemaRefs>
</ds:datastoreItem>
</file>

<file path=customXml/itemProps30.xml><?xml version="1.0" encoding="utf-8"?>
<ds:datastoreItem xmlns:ds="http://schemas.openxmlformats.org/officeDocument/2006/customXml" ds:itemID="{7BE5F28F-50CA-40F1-A02E-E794FE33362D}">
  <ds:schemaRefs>
    <ds:schemaRef ds:uri="Strauss.PersonalizationDefinition"/>
  </ds:schemaRefs>
</ds:datastoreItem>
</file>

<file path=customXml/itemProps31.xml><?xml version="1.0" encoding="utf-8"?>
<ds:datastoreItem xmlns:ds="http://schemas.openxmlformats.org/officeDocument/2006/customXml" ds:itemID="{DF333A1B-0A9C-4DA8-ADAB-4378B69FDC48}">
  <ds:schemaRefs>
    <ds:schemaRef ds:uri="Strauss.PersonalizationDefinition"/>
  </ds:schemaRefs>
</ds:datastoreItem>
</file>

<file path=customXml/itemProps32.xml><?xml version="1.0" encoding="utf-8"?>
<ds:datastoreItem xmlns:ds="http://schemas.openxmlformats.org/officeDocument/2006/customXml" ds:itemID="{BC268A45-186B-46A3-937F-0E016CEA70C1}">
  <ds:schemaRefs>
    <ds:schemaRef ds:uri="Strauss.PersonalizationDefinition"/>
  </ds:schemaRefs>
</ds:datastoreItem>
</file>

<file path=customXml/itemProps33.xml><?xml version="1.0" encoding="utf-8"?>
<ds:datastoreItem xmlns:ds="http://schemas.openxmlformats.org/officeDocument/2006/customXml" ds:itemID="{103AB8E4-C30A-4895-9606-8D77F2E70F19}">
  <ds:schemaRefs>
    <ds:schemaRef ds:uri="Strauss.PersonalizationDefinition"/>
  </ds:schemaRefs>
</ds:datastoreItem>
</file>

<file path=customXml/itemProps34.xml><?xml version="1.0" encoding="utf-8"?>
<ds:datastoreItem xmlns:ds="http://schemas.openxmlformats.org/officeDocument/2006/customXml" ds:itemID="{1CF7AD8E-DEA2-405E-B2A7-3F4146D4C4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e7a4c3d-94ce-45db-961b-252eaa2a09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5.xml><?xml version="1.0" encoding="utf-8"?>
<ds:datastoreItem xmlns:ds="http://schemas.openxmlformats.org/officeDocument/2006/customXml" ds:itemID="{DE0DC7DC-A960-4E6E-BF1B-D3D906B081A2}">
  <ds:schemaRefs>
    <ds:schemaRef ds:uri="Strauss.PersonalizationDefinition"/>
  </ds:schemaRefs>
</ds:datastoreItem>
</file>

<file path=customXml/itemProps36.xml><?xml version="1.0" encoding="utf-8"?>
<ds:datastoreItem xmlns:ds="http://schemas.openxmlformats.org/officeDocument/2006/customXml" ds:itemID="{FBC13881-F2DC-4AA3-88C8-97C40CA1EBC7}">
  <ds:schemaRefs>
    <ds:schemaRef ds:uri="Strauss.PersonalizationDefinition"/>
  </ds:schemaRefs>
</ds:datastoreItem>
</file>

<file path=customXml/itemProps37.xml><?xml version="1.0" encoding="utf-8"?>
<ds:datastoreItem xmlns:ds="http://schemas.openxmlformats.org/officeDocument/2006/customXml" ds:itemID="{7469151F-B4F3-4C21-84F8-69D9E2B09815}">
  <ds:schemaRefs>
    <ds:schemaRef ds:uri="Strauss.PersonalizationDefinition"/>
  </ds:schemaRefs>
</ds:datastoreItem>
</file>

<file path=customXml/itemProps38.xml><?xml version="1.0" encoding="utf-8"?>
<ds:datastoreItem xmlns:ds="http://schemas.openxmlformats.org/officeDocument/2006/customXml" ds:itemID="{D76C1D54-C31A-41C7-8796-37E3A885C9B9}">
  <ds:schemaRefs>
    <ds:schemaRef ds:uri="Strauss.PersonalizationDefinition"/>
  </ds:schemaRefs>
</ds:datastoreItem>
</file>

<file path=customXml/itemProps39.xml><?xml version="1.0" encoding="utf-8"?>
<ds:datastoreItem xmlns:ds="http://schemas.openxmlformats.org/officeDocument/2006/customXml" ds:itemID="{734F6CED-B619-41E0-BEDE-58B64D5F5EB2}">
  <ds:schemaRefs>
    <ds:schemaRef ds:uri="Strauss.PersonalizationDefinition"/>
  </ds:schemaRefs>
</ds:datastoreItem>
</file>

<file path=customXml/itemProps40.xml><?xml version="1.0" encoding="utf-8"?>
<ds:datastoreItem xmlns:ds="http://schemas.openxmlformats.org/officeDocument/2006/customXml" ds:itemID="{A0EED17B-F609-411E-840C-8A361DF5E053}">
  <ds:schemaRefs>
    <ds:schemaRef ds:uri="Strauss.PersonalizationDefinition"/>
  </ds:schemaRefs>
</ds:datastoreItem>
</file>

<file path=customXml/itemProps41.xml><?xml version="1.0" encoding="utf-8"?>
<ds:datastoreItem xmlns:ds="http://schemas.openxmlformats.org/officeDocument/2006/customXml" ds:itemID="{541D4602-AC17-4CBD-B95E-D5B3D757BC54}">
  <ds:schemaRefs>
    <ds:schemaRef ds:uri="Strauss.PersonalizationDefinition"/>
  </ds:schemaRefs>
</ds:datastoreItem>
</file>

<file path=customXml/itemProps42.xml><?xml version="1.0" encoding="utf-8"?>
<ds:datastoreItem xmlns:ds="http://schemas.openxmlformats.org/officeDocument/2006/customXml" ds:itemID="{FC25CD5D-A9DA-407F-9106-47BDA14BCED9}">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16650</Words>
  <Application>Microsoft Office PowerPoint</Application>
  <PresentationFormat>Widescreen</PresentationFormat>
  <Paragraphs>1423</Paragraphs>
  <Slides>76</Slides>
  <Notes>72</Notes>
  <HiddenSlides>7</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76</vt:i4>
      </vt:variant>
    </vt:vector>
  </HeadingPairs>
  <TitlesOfParts>
    <vt:vector size="90" baseType="lpstr">
      <vt:lpstr>Meiryo UI</vt:lpstr>
      <vt:lpstr>Arial</vt:lpstr>
      <vt:lpstr>Calibri</vt:lpstr>
      <vt:lpstr>Open Sans</vt:lpstr>
      <vt:lpstr>Segoe Sans Text</vt:lpstr>
      <vt:lpstr>Segoe Sans Text ExtraBold</vt:lpstr>
      <vt:lpstr>Segoe Sans Text Semibold</vt:lpstr>
      <vt:lpstr>Segoe Semibold</vt:lpstr>
      <vt:lpstr>Segoe UI</vt:lpstr>
      <vt:lpstr>Segoe UI Semibold</vt:lpstr>
      <vt:lpstr>Times New Roman</vt:lpstr>
      <vt:lpstr>Wingdings</vt:lpstr>
      <vt:lpstr>White Template</vt:lpstr>
      <vt:lpstr>Azure Template - Dark</vt:lpstr>
      <vt:lpstr>Workshop GenAIOps</vt:lpstr>
      <vt:lpstr>Conditions and terms of use</vt:lpstr>
      <vt:lpstr>Learning Units covered  in this Module</vt:lpstr>
      <vt:lpstr>GenAIOps Overview </vt:lpstr>
      <vt:lpstr>PowerPoint Presentation</vt:lpstr>
      <vt:lpstr>Objectives </vt:lpstr>
      <vt:lpstr>Lesson 1 – GenAIOps Overview</vt:lpstr>
      <vt:lpstr>Why GenAIOps </vt:lpstr>
      <vt:lpstr>AI Workload Operations</vt:lpstr>
      <vt:lpstr>Complexity Levels of GenAI</vt:lpstr>
      <vt:lpstr>GenAI Assets &amp; Artifacts</vt:lpstr>
      <vt:lpstr>GenAIOps =To bring LLM-infused Apps to Production</vt:lpstr>
      <vt:lpstr>“Operating Model” Importance</vt:lpstr>
      <vt:lpstr>“Operations” Common Best Practices </vt:lpstr>
      <vt:lpstr>Why does GenAIOps matter?  </vt:lpstr>
      <vt:lpstr>Benefits of GenAI Ops</vt:lpstr>
      <vt:lpstr>GenAIOps Challenges </vt:lpstr>
      <vt:lpstr>Lesson 2 - GenAIOps Maturity Levels </vt:lpstr>
      <vt:lpstr>GenAIOps</vt:lpstr>
      <vt:lpstr>Lesson 3 - Enterprise GenAI Lifecycle</vt:lpstr>
      <vt:lpstr>PowerPoint Presentation</vt:lpstr>
      <vt:lpstr>Enterprise GenAIOps</vt:lpstr>
      <vt:lpstr>How to implement GenAIOps? </vt:lpstr>
      <vt:lpstr>GenAI Lifecycle in the real world: Start small and iterate</vt:lpstr>
      <vt:lpstr>GenAI Lifecycle and Best Practices</vt:lpstr>
      <vt:lpstr>Azure AI Foundry Capabilities for “Prototyping” </vt:lpstr>
      <vt:lpstr>Base Model Selection</vt:lpstr>
      <vt:lpstr>Discover, assess, customize, and deploy foundation models</vt:lpstr>
      <vt:lpstr>Model Comparison</vt:lpstr>
      <vt:lpstr>Use Case: Chat with Your Data</vt:lpstr>
      <vt:lpstr>Building Use Case Architecture Diagram Step by Step</vt:lpstr>
      <vt:lpstr>High Level Use Case POC architecture </vt:lpstr>
      <vt:lpstr>High Level Use Case POC architecture </vt:lpstr>
      <vt:lpstr>Demonstration</vt:lpstr>
      <vt:lpstr>GenAI Lifecycle and Best Practices </vt:lpstr>
      <vt:lpstr>Azure AI Foundry Capabilities for “Building &amp; Augmenting” </vt:lpstr>
      <vt:lpstr>Building &amp; Augmenting: Evaluations</vt:lpstr>
      <vt:lpstr>Evaluation Metrics in Azure AI Foundry</vt:lpstr>
      <vt:lpstr>Pre-Production Evaluation Logical Flow</vt:lpstr>
      <vt:lpstr>Model Evaluation in AI Foundry</vt:lpstr>
      <vt:lpstr>Automated Model Evaluation Options in AI Foundry</vt:lpstr>
      <vt:lpstr>Application Evaluation</vt:lpstr>
      <vt:lpstr>Azure AI Inference SDK (Preview)</vt:lpstr>
      <vt:lpstr>Azure AI Inference SDK (Preview)</vt:lpstr>
      <vt:lpstr>VS Code Integration on AI Foundry (Preview)</vt:lpstr>
      <vt:lpstr>Azure OpenAI Stored Completions  &amp; Distillation (Preview)</vt:lpstr>
      <vt:lpstr>Azure AI Content Safety Incorporating Responsible AI into GenAI applications</vt:lpstr>
      <vt:lpstr>APIM as AI Gateway for Production </vt:lpstr>
      <vt:lpstr>Conceptual understanding of the use case</vt:lpstr>
      <vt:lpstr>Building Use Case architecture diagram Step by Step</vt:lpstr>
      <vt:lpstr>Demonstration</vt:lpstr>
      <vt:lpstr>Demonstration</vt:lpstr>
      <vt:lpstr>GenAI Lifecycle and Best Practices</vt:lpstr>
      <vt:lpstr>Azure Capabilities for GenAI Operationalization</vt:lpstr>
      <vt:lpstr> </vt:lpstr>
      <vt:lpstr>AI Workflow Deployment Options</vt:lpstr>
      <vt:lpstr>Deploy LLM flows to Managed Online Endpoint</vt:lpstr>
      <vt:lpstr>Tracing With Prompt Flow</vt:lpstr>
      <vt:lpstr>Final Use Case Architecture</vt:lpstr>
      <vt:lpstr>Demonstration</vt:lpstr>
      <vt:lpstr>How to monitor GenAI Apps in production? </vt:lpstr>
      <vt:lpstr>Monitoring Options </vt:lpstr>
      <vt:lpstr>Azure OpenAI Resource Level: Operational Monitoring </vt:lpstr>
      <vt:lpstr>API Management  Logging Options</vt:lpstr>
      <vt:lpstr>Natural language and Reasoning engine</vt:lpstr>
      <vt:lpstr>Online Evaluation: Generative AI App Dashboard (Preview)</vt:lpstr>
      <vt:lpstr>Tracing on AI Foundry(Preview)</vt:lpstr>
      <vt:lpstr>Demonstration</vt:lpstr>
      <vt:lpstr>GenAI Lifecycle and Best Practices</vt:lpstr>
      <vt:lpstr>Azure Capabilities for Management</vt:lpstr>
      <vt:lpstr>New management and governance controls in Azure AI Foundry : AI Report (Preview)</vt:lpstr>
      <vt:lpstr>Cost Management</vt:lpstr>
      <vt:lpstr>GenAIOps Landscape</vt:lpstr>
      <vt:lpstr>Key Takeaways </vt:lpstr>
      <vt:lpstr>Lab Name</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Pablo Braconi</cp:lastModifiedBy>
  <cp:revision>1</cp:revision>
  <dcterms:modified xsi:type="dcterms:W3CDTF">2026-10-19T15:55:47Z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10536200.0000000</vt:lpwstr>
  </property>
  <property fmtid="{D5CDD505-2E9C-101B-9397-08002B2CF9AE}" pid="3" name="MSIP_Label_8aa191f1-c555-4a9e-8b3e-85ef51701160_Enabled">
    <vt:lpwstr>true</vt:lpwstr>
  </property>
  <property fmtid="{D5CDD505-2E9C-101B-9397-08002B2CF9AE}" pid="4" name="MSIP_Label_f42aa342-8706-4288-bd11-ebb85995028c_Application">
    <vt:lpwstr>Microsoft Azure Information Protection</vt:lpwstr>
  </property>
  <property fmtid="{D5CDD505-2E9C-101B-9397-08002B2CF9AE}" pid="5" name="Lead Signoff">
    <vt:lpwstr>false</vt:lpwstr>
  </property>
  <property fmtid="{D5CDD505-2E9C-101B-9397-08002B2CF9AE}" pid="6" name="Title URL">
    <vt:lpwstr>, </vt:lpwstr>
  </property>
  <property fmtid="{D5CDD505-2E9C-101B-9397-08002B2CF9AE}" pid="7" name="xd_ProgID">
    <vt:lpwstr/>
  </property>
  <property fmtid="{D5CDD505-2E9C-101B-9397-08002B2CF9AE}" pid="8" name="MSIP_Label_f42aa342-8706-4288-bd11-ebb85995028c_Enabled">
    <vt:lpwstr>True</vt:lpwstr>
  </property>
  <property fmtid="{D5CDD505-2E9C-101B-9397-08002B2CF9AE}" pid="9" name="ContentTypeId">
    <vt:lpwstr>0x0101001BD4B4487B57D443AED9979943B92646</vt:lpwstr>
  </property>
  <property fmtid="{D5CDD505-2E9C-101B-9397-08002B2CF9AE}" pid="10" name="MSIP_Label_8aa191f1-c555-4a9e-8b3e-85ef51701160_SiteId">
    <vt:lpwstr>a57507b2-d296-4dca-a9ae-67b1484e02a9</vt:lpwstr>
  </property>
  <property fmtid="{D5CDD505-2E9C-101B-9397-08002B2CF9AE}" pid="11" name="MSIP_Label_8aa191f1-c555-4a9e-8b3e-85ef51701160_SetDate">
    <vt:lpwstr>2021-11-23T16:30:11Z</vt:lpwstr>
  </property>
  <property fmtid="{D5CDD505-2E9C-101B-9397-08002B2CF9AE}" pid="12" name="MSIP_Label_8aa191f1-c555-4a9e-8b3e-85ef51701160_Name">
    <vt:lpwstr>Confidential</vt:lpwstr>
  </property>
  <property fmtid="{D5CDD505-2E9C-101B-9397-08002B2CF9AE}" pid="13" name="_SourceUrl">
    <vt:lpwstr/>
  </property>
  <property fmtid="{D5CDD505-2E9C-101B-9397-08002B2CF9AE}" pid="14" name="_SharedFileIndex">
    <vt:lpwstr/>
  </property>
  <property fmtid="{D5CDD505-2E9C-101B-9397-08002B2CF9AE}" pid="15" name="MSIP_Label_8aa191f1-c555-4a9e-8b3e-85ef51701160_Method">
    <vt:lpwstr>Standard</vt:lpwstr>
  </property>
  <property fmtid="{D5CDD505-2E9C-101B-9397-08002B2CF9AE}" pid="16" name="ComplianceAssetId">
    <vt:lpwstr/>
  </property>
  <property fmtid="{D5CDD505-2E9C-101B-9397-08002B2CF9AE}" pid="17" name="TemplateUrl">
    <vt:lpwstr/>
  </property>
  <property fmtid="{D5CDD505-2E9C-101B-9397-08002B2CF9AE}" pid="18" name="MSIP_Label_f42aa342-8706-4288-bd11-ebb85995028c_SetDate">
    <vt:lpwstr>2019-02-08T20:18:02.6502176Z</vt:lpwstr>
  </property>
  <property fmtid="{D5CDD505-2E9C-101B-9397-08002B2CF9AE}" pid="19" name="MSIP_Label_8aa191f1-c555-4a9e-8b3e-85ef51701160_ContentBits">
    <vt:lpwstr>0</vt:lpwstr>
  </property>
  <property fmtid="{D5CDD505-2E9C-101B-9397-08002B2CF9AE}" pid="20" name="MSIP_Label_f42aa342-8706-4288-bd11-ebb85995028c_Name">
    <vt:lpwstr>General</vt:lpwstr>
  </property>
  <property fmtid="{D5CDD505-2E9C-101B-9397-08002B2CF9AE}" pid="21" name="MSIP_Label_f42aa342-8706-4288-bd11-ebb85995028c_SiteId">
    <vt:lpwstr>72f988bf-86f1-41af-91ab-2d7cd011db47</vt:lpwstr>
  </property>
  <property fmtid="{D5CDD505-2E9C-101B-9397-08002B2CF9AE}" pid="22" name="MSIP_Label_f42aa342-8706-4288-bd11-ebb85995028c_Extended_MSFT_Method">
    <vt:lpwstr>Automatic</vt:lpwstr>
  </property>
  <property fmtid="{D5CDD505-2E9C-101B-9397-08002B2CF9AE}" pid="23" name="_ExtendedDescription">
    <vt:lpwstr/>
  </property>
  <property fmtid="{D5CDD505-2E9C-101B-9397-08002B2CF9AE}" pid="24" name="MSIP_Label_f42aa342-8706-4288-bd11-ebb85995028c_Owner">
    <vt:lpwstr>mconeill@microsoft.com</vt:lpwstr>
  </property>
  <property fmtid="{D5CDD505-2E9C-101B-9397-08002B2CF9AE}" pid="25" name="Mail Sent">
    <vt:lpwstr>false</vt:lpwstr>
  </property>
  <property fmtid="{D5CDD505-2E9C-101B-9397-08002B2CF9AE}" pid="26" name="xd_Signature">
    <vt:lpwstr/>
  </property>
  <property fmtid="{D5CDD505-2E9C-101B-9397-08002B2CF9AE}" pid="27" name="MSIP_Label_8aa191f1-c555-4a9e-8b3e-85ef51701160_ActionId">
    <vt:lpwstr>75c8a85a-1c6e-478a-ae68-029fd0558de5</vt:lpwstr>
  </property>
  <property fmtid="{D5CDD505-2E9C-101B-9397-08002B2CF9AE}" pid="28" name="State">
    <vt:lpwstr>Open</vt:lpwstr>
  </property>
  <property fmtid="{D5CDD505-2E9C-101B-9397-08002B2CF9AE}" pid="29" name="MSIP_Label_f42aa342-8706-4288-bd11-ebb85995028c_ActionId">
    <vt:lpwstr>c97fa254-6a58-4427-a7a7-d6af83db1ac5</vt:lpwstr>
  </property>
  <property fmtid="{D5CDD505-2E9C-101B-9397-08002B2CF9AE}" pid="30" name="TriggerFlowInfo">
    <vt:lpwstr/>
  </property>
</Properties>
</file>