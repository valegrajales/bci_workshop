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100" r:id="rId45"/>
    <p:sldMasterId id="2147484132" r:id="rId46"/>
  </p:sldMasterIdLst>
  <p:notesMasterIdLst>
    <p:notesMasterId r:id="rId87"/>
  </p:notesMasterIdLst>
  <p:sldIdLst>
    <p:sldId id="256" r:id="rId47"/>
    <p:sldId id="257" r:id="rId48"/>
    <p:sldId id="2147469891" r:id="rId49"/>
    <p:sldId id="259" r:id="rId50"/>
    <p:sldId id="264" r:id="rId51"/>
    <p:sldId id="2147483637" r:id="rId52"/>
    <p:sldId id="2147483638" r:id="rId53"/>
    <p:sldId id="2147483639" r:id="rId54"/>
    <p:sldId id="2147483641" r:id="rId55"/>
    <p:sldId id="2147483640" r:id="rId56"/>
    <p:sldId id="2147483642" r:id="rId57"/>
    <p:sldId id="2147483644" r:id="rId58"/>
    <p:sldId id="2147483645" r:id="rId59"/>
    <p:sldId id="2147483646" r:id="rId60"/>
    <p:sldId id="2147483647" r:id="rId61"/>
    <p:sldId id="261" r:id="rId62"/>
    <p:sldId id="2147483636" r:id="rId63"/>
    <p:sldId id="258" r:id="rId64"/>
    <p:sldId id="260" r:id="rId65"/>
    <p:sldId id="262" r:id="rId66"/>
    <p:sldId id="263" r:id="rId67"/>
    <p:sldId id="335" r:id="rId68"/>
    <p:sldId id="334" r:id="rId69"/>
    <p:sldId id="280" r:id="rId70"/>
    <p:sldId id="266" r:id="rId71"/>
    <p:sldId id="267" r:id="rId72"/>
    <p:sldId id="268" r:id="rId73"/>
    <p:sldId id="269" r:id="rId74"/>
    <p:sldId id="270" r:id="rId75"/>
    <p:sldId id="271" r:id="rId76"/>
    <p:sldId id="272" r:id="rId77"/>
    <p:sldId id="273" r:id="rId78"/>
    <p:sldId id="274" r:id="rId79"/>
    <p:sldId id="275" r:id="rId80"/>
    <p:sldId id="276" r:id="rId81"/>
    <p:sldId id="277" r:id="rId82"/>
    <p:sldId id="278" r:id="rId83"/>
    <p:sldId id="279" r:id="rId84"/>
    <p:sldId id="336" r:id="rId85"/>
    <p:sldId id="2147483631" r:id="rId86"/>
  </p:sldIdLst>
  <p:sldSz cx="12192000" cy="6858000"/>
  <p:notesSz cx="6858000" cy="9144000"/>
  <p:custDataLst>
    <p:tags r:id="rId8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DA2A6E70-A1C8-B815-B98D-0253A4F2A9D8}" name="Ethan Jones" initials="EJ" userId="S::jonesethan@microsoft.com::e6ff1493-1813-43d3-b3de-17ffaf0b96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D3D3D3"/>
    <a:srgbClr val="608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551AB0-1648-4ED1-955D-C27DC14D4A14}" v="60" dt="2026-05-28T11:35:09.117"/>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59" autoAdjust="0"/>
  </p:normalViewPr>
  <p:slideViewPr>
    <p:cSldViewPr snapToGrid="0">
      <p:cViewPr varScale="1">
        <p:scale>
          <a:sx n="71" d="100"/>
          <a:sy n="71" d="100"/>
        </p:scale>
        <p:origin x="64" y="3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1.xml"/><Relationship Id="rId63" Type="http://schemas.openxmlformats.org/officeDocument/2006/relationships/slide" Target="slides/slide17.xml"/><Relationship Id="rId68" Type="http://schemas.openxmlformats.org/officeDocument/2006/relationships/slide" Target="slides/slide22.xml"/><Relationship Id="rId84" Type="http://schemas.openxmlformats.org/officeDocument/2006/relationships/slide" Target="slides/slide38.xml"/><Relationship Id="rId89" Type="http://schemas.openxmlformats.org/officeDocument/2006/relationships/commentAuthors" Target="commentAuthor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7.xml"/><Relationship Id="rId58" Type="http://schemas.openxmlformats.org/officeDocument/2006/relationships/slide" Target="slides/slide12.xml"/><Relationship Id="rId74" Type="http://schemas.openxmlformats.org/officeDocument/2006/relationships/slide" Target="slides/slide28.xml"/><Relationship Id="rId79" Type="http://schemas.openxmlformats.org/officeDocument/2006/relationships/slide" Target="slides/slide33.xml"/><Relationship Id="rId5" Type="http://schemas.openxmlformats.org/officeDocument/2006/relationships/customXml" Target="../customXml/item5.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slide" Target="slides/slide2.xml"/><Relationship Id="rId64" Type="http://schemas.openxmlformats.org/officeDocument/2006/relationships/slide" Target="slides/slide18.xml"/><Relationship Id="rId69" Type="http://schemas.openxmlformats.org/officeDocument/2006/relationships/slide" Target="slides/slide23.xml"/><Relationship Id="rId8" Type="http://schemas.openxmlformats.org/officeDocument/2006/relationships/customXml" Target="../customXml/item8.xml"/><Relationship Id="rId51" Type="http://schemas.openxmlformats.org/officeDocument/2006/relationships/slide" Target="slides/slide5.xml"/><Relationship Id="rId72" Type="http://schemas.openxmlformats.org/officeDocument/2006/relationships/slide" Target="slides/slide26.xml"/><Relationship Id="rId80" Type="http://schemas.openxmlformats.org/officeDocument/2006/relationships/slide" Target="slides/slide34.xml"/><Relationship Id="rId85" Type="http://schemas.openxmlformats.org/officeDocument/2006/relationships/slide" Target="slides/slide39.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3.xml"/><Relationship Id="rId59" Type="http://schemas.openxmlformats.org/officeDocument/2006/relationships/slide" Target="slides/slide13.xml"/><Relationship Id="rId67" Type="http://schemas.openxmlformats.org/officeDocument/2006/relationships/slide" Target="slides/slide2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slide" Target="slides/slide16.xml"/><Relationship Id="rId70" Type="http://schemas.openxmlformats.org/officeDocument/2006/relationships/slide" Target="slides/slide24.xml"/><Relationship Id="rId75" Type="http://schemas.openxmlformats.org/officeDocument/2006/relationships/slide" Target="slides/slide29.xml"/><Relationship Id="rId83" Type="http://schemas.openxmlformats.org/officeDocument/2006/relationships/slide" Target="slides/slide37.xml"/><Relationship Id="rId88" Type="http://schemas.openxmlformats.org/officeDocument/2006/relationships/tags" Target="tags/tag1.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6.xml"/><Relationship Id="rId60" Type="http://schemas.openxmlformats.org/officeDocument/2006/relationships/slide" Target="slides/slide14.xml"/><Relationship Id="rId65" Type="http://schemas.openxmlformats.org/officeDocument/2006/relationships/slide" Target="slides/slide19.xml"/><Relationship Id="rId73" Type="http://schemas.openxmlformats.org/officeDocument/2006/relationships/slide" Target="slides/slide27.xml"/><Relationship Id="rId78" Type="http://schemas.openxmlformats.org/officeDocument/2006/relationships/slide" Target="slides/slide32.xml"/><Relationship Id="rId81" Type="http://schemas.openxmlformats.org/officeDocument/2006/relationships/slide" Target="slides/slide35.xml"/><Relationship Id="rId86" Type="http://schemas.openxmlformats.org/officeDocument/2006/relationships/slide" Target="slides/slide40.xml"/><Relationship Id="rId9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4.xml"/><Relationship Id="rId55" Type="http://schemas.openxmlformats.org/officeDocument/2006/relationships/slide" Target="slides/slide9.xml"/><Relationship Id="rId76" Type="http://schemas.openxmlformats.org/officeDocument/2006/relationships/slide" Target="slides/slide30.xml"/><Relationship Id="rId7" Type="http://schemas.openxmlformats.org/officeDocument/2006/relationships/customXml" Target="../customXml/item7.xml"/><Relationship Id="rId71" Type="http://schemas.openxmlformats.org/officeDocument/2006/relationships/slide" Target="slides/slide25.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Master" Target="slideMasters/slideMaster2.xml"/><Relationship Id="rId66" Type="http://schemas.openxmlformats.org/officeDocument/2006/relationships/slide" Target="slides/slide20.xml"/><Relationship Id="rId87" Type="http://schemas.openxmlformats.org/officeDocument/2006/relationships/notesMaster" Target="notesMasters/notesMaster1.xml"/><Relationship Id="rId61" Type="http://schemas.openxmlformats.org/officeDocument/2006/relationships/slide" Target="slides/slide15.xml"/><Relationship Id="rId82" Type="http://schemas.openxmlformats.org/officeDocument/2006/relationships/slide" Target="slides/slide36.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10.xml"/><Relationship Id="rId77"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iti Mehta" userId="0c901562-3821-4879-abc2-7521cf2ab412" providerId="ADAL" clId="{144A11F9-5BB9-40A3-A970-33EF68ACAA95}"/>
    <pc:docChg chg="addSld delSld modSld sldOrd">
      <pc:chgData name="Akriti Mehta" userId="0c901562-3821-4879-abc2-7521cf2ab412" providerId="ADAL" clId="{144A11F9-5BB9-40A3-A970-33EF68ACAA95}" dt="2026-05-28T11:35:47.362" v="60"/>
      <pc:docMkLst>
        <pc:docMk/>
      </pc:docMkLst>
      <pc:sldChg chg="modSp">
        <pc:chgData name="Akriti Mehta" userId="0c901562-3821-4879-abc2-7521cf2ab412" providerId="ADAL" clId="{144A11F9-5BB9-40A3-A970-33EF68ACAA95}" dt="2026-05-28T10:06:42.010" v="2"/>
        <pc:sldMkLst>
          <pc:docMk/>
          <pc:sldMk cId="0" sldId="256"/>
        </pc:sldMkLst>
        <pc:spChg chg="mod">
          <ac:chgData name="Akriti Mehta" userId="0c901562-3821-4879-abc2-7521cf2ab412" providerId="ADAL" clId="{144A11F9-5BB9-40A3-A970-33EF68ACAA95}" dt="2026-05-28T10:06:42.010" v="2"/>
          <ac:spMkLst>
            <pc:docMk/>
            <pc:sldMk cId="0" sldId="256"/>
            <ac:spMk id="2" creationId="{00000000-0000-0000-0000-000000000000}"/>
          </ac:spMkLst>
        </pc:spChg>
      </pc:sldChg>
      <pc:sldChg chg="modSp ord">
        <pc:chgData name="Akriti Mehta" userId="0c901562-3821-4879-abc2-7521cf2ab412" providerId="ADAL" clId="{144A11F9-5BB9-40A3-A970-33EF68ACAA95}" dt="2026-05-28T11:08:50.168" v="46"/>
        <pc:sldMkLst>
          <pc:docMk/>
          <pc:sldMk cId="4104262183" sldId="258"/>
        </pc:sldMkLst>
        <pc:spChg chg="mod">
          <ac:chgData name="Akriti Mehta" userId="0c901562-3821-4879-abc2-7521cf2ab412" providerId="ADAL" clId="{144A11F9-5BB9-40A3-A970-33EF68ACAA95}" dt="2026-05-28T10:11:44.675" v="6"/>
          <ac:spMkLst>
            <pc:docMk/>
            <pc:sldMk cId="4104262183" sldId="258"/>
            <ac:spMk id="3" creationId="{7F3F4468-0455-F2E3-181D-8A9F60A5CDE0}"/>
          </ac:spMkLst>
        </pc:spChg>
      </pc:sldChg>
      <pc:sldChg chg="modSp">
        <pc:chgData name="Akriti Mehta" userId="0c901562-3821-4879-abc2-7521cf2ab412" providerId="ADAL" clId="{144A11F9-5BB9-40A3-A970-33EF68ACAA95}" dt="2026-05-28T10:16:43.094" v="16"/>
        <pc:sldMkLst>
          <pc:docMk/>
          <pc:sldMk cId="0" sldId="259"/>
        </pc:sldMkLst>
        <pc:spChg chg="mod">
          <ac:chgData name="Akriti Mehta" userId="0c901562-3821-4879-abc2-7521cf2ab412" providerId="ADAL" clId="{144A11F9-5BB9-40A3-A970-33EF68ACAA95}" dt="2026-05-28T10:16:43.094" v="16"/>
          <ac:spMkLst>
            <pc:docMk/>
            <pc:sldMk cId="0" sldId="259"/>
            <ac:spMk id="3" creationId="{00000000-0000-0000-0000-000000000000}"/>
          </ac:spMkLst>
        </pc:spChg>
      </pc:sldChg>
      <pc:sldChg chg="addSp modSp ord">
        <pc:chgData name="Akriti Mehta" userId="0c901562-3821-4879-abc2-7521cf2ab412" providerId="ADAL" clId="{144A11F9-5BB9-40A3-A970-33EF68ACAA95}" dt="2026-05-28T10:16:59.413" v="17"/>
        <pc:sldMkLst>
          <pc:docMk/>
          <pc:sldMk cId="4284107938" sldId="264"/>
        </pc:sldMkLst>
        <pc:spChg chg="mod">
          <ac:chgData name="Akriti Mehta" userId="0c901562-3821-4879-abc2-7521cf2ab412" providerId="ADAL" clId="{144A11F9-5BB9-40A3-A970-33EF68ACAA95}" dt="2026-05-28T10:12:14.221" v="7"/>
          <ac:spMkLst>
            <pc:docMk/>
            <pc:sldMk cId="4284107938" sldId="264"/>
            <ac:spMk id="3" creationId="{C28AE01E-01A1-386A-048F-DB8B4CDA7F83}"/>
          </ac:spMkLst>
        </pc:spChg>
        <pc:graphicFrameChg chg="add mod">
          <ac:chgData name="Akriti Mehta" userId="0c901562-3821-4879-abc2-7521cf2ab412" providerId="ADAL" clId="{144A11F9-5BB9-40A3-A970-33EF68ACAA95}" dt="2026-05-28T10:12:39.074" v="8"/>
          <ac:graphicFrameMkLst>
            <pc:docMk/>
            <pc:sldMk cId="4284107938" sldId="264"/>
            <ac:graphicFrameMk id="8" creationId="{4335AAF2-AE52-9F36-91FB-4C24E10F1E3D}"/>
          </ac:graphicFrameMkLst>
        </pc:graphicFrameChg>
      </pc:sldChg>
      <pc:sldChg chg="addSp modSp">
        <pc:chgData name="Akriti Mehta" userId="0c901562-3821-4879-abc2-7521cf2ab412" providerId="ADAL" clId="{144A11F9-5BB9-40A3-A970-33EF68ACAA95}" dt="2026-05-28T11:13:05.596" v="49"/>
        <pc:sldMkLst>
          <pc:docMk/>
          <pc:sldMk cId="1311960101" sldId="265"/>
        </pc:sldMkLst>
        <pc:spChg chg="add">
          <ac:chgData name="Akriti Mehta" userId="0c901562-3821-4879-abc2-7521cf2ab412" providerId="ADAL" clId="{144A11F9-5BB9-40A3-A970-33EF68ACAA95}" dt="2026-05-28T11:13:05.596" v="49"/>
          <ac:spMkLst>
            <pc:docMk/>
            <pc:sldMk cId="1311960101" sldId="265"/>
            <ac:spMk id="6" creationId="{BB3A7B43-7064-0511-6DD9-C3E7F6B71C9E}"/>
          </ac:spMkLst>
        </pc:spChg>
        <pc:graphicFrameChg chg="add mod">
          <ac:chgData name="Akriti Mehta" userId="0c901562-3821-4879-abc2-7521cf2ab412" providerId="ADAL" clId="{144A11F9-5BB9-40A3-A970-33EF68ACAA95}" dt="2026-05-28T11:13:05.596" v="49"/>
          <ac:graphicFrameMkLst>
            <pc:docMk/>
            <pc:sldMk cId="1311960101" sldId="265"/>
            <ac:graphicFrameMk id="4" creationId="{E9102709-5DF3-AA39-4162-A770D00029C6}"/>
          </ac:graphicFrameMkLst>
        </pc:graphicFrameChg>
      </pc:sldChg>
      <pc:sldChg chg="addSp modSp">
        <pc:chgData name="Akriti Mehta" userId="0c901562-3821-4879-abc2-7521cf2ab412" providerId="ADAL" clId="{144A11F9-5BB9-40A3-A970-33EF68ACAA95}" dt="2026-05-28T11:07:25.237" v="42"/>
        <pc:sldMkLst>
          <pc:docMk/>
          <pc:sldMk cId="3124396354" sldId="265"/>
        </pc:sldMkLst>
        <pc:spChg chg="add">
          <ac:chgData name="Akriti Mehta" userId="0c901562-3821-4879-abc2-7521cf2ab412" providerId="ADAL" clId="{144A11F9-5BB9-40A3-A970-33EF68ACAA95}" dt="2026-05-28T11:07:25.237" v="42"/>
          <ac:spMkLst>
            <pc:docMk/>
            <pc:sldMk cId="3124396354" sldId="265"/>
            <ac:spMk id="6" creationId="{487E4242-4D7B-E7B9-7D51-B4ABC571BABB}"/>
          </ac:spMkLst>
        </pc:spChg>
        <pc:graphicFrameChg chg="add mod">
          <ac:chgData name="Akriti Mehta" userId="0c901562-3821-4879-abc2-7521cf2ab412" providerId="ADAL" clId="{144A11F9-5BB9-40A3-A970-33EF68ACAA95}" dt="2026-05-28T11:07:25.237" v="42"/>
          <ac:graphicFrameMkLst>
            <pc:docMk/>
            <pc:sldMk cId="3124396354" sldId="265"/>
            <ac:graphicFrameMk id="4" creationId="{A8A726FD-8751-24DC-E572-8D13BA19D2D9}"/>
          </ac:graphicFrameMkLst>
        </pc:graphicFrameChg>
      </pc:sldChg>
      <pc:sldChg chg="add del">
        <pc:chgData name="Akriti Mehta" userId="0c901562-3821-4879-abc2-7521cf2ab412" providerId="ADAL" clId="{144A11F9-5BB9-40A3-A970-33EF68ACAA95}" dt="2026-05-28T11:32:27.714" v="57"/>
        <pc:sldMkLst>
          <pc:docMk/>
          <pc:sldMk cId="4182681290" sldId="265"/>
        </pc:sldMkLst>
      </pc:sldChg>
      <pc:sldChg chg="addSp modSp">
        <pc:chgData name="Akriti Mehta" userId="0c901562-3821-4879-abc2-7521cf2ab412" providerId="ADAL" clId="{144A11F9-5BB9-40A3-A970-33EF68ACAA95}" dt="2026-05-28T11:07:40.758" v="43"/>
        <pc:sldMkLst>
          <pc:docMk/>
          <pc:sldMk cId="4706918" sldId="266"/>
        </pc:sldMkLst>
        <pc:spChg chg="add">
          <ac:chgData name="Akriti Mehta" userId="0c901562-3821-4879-abc2-7521cf2ab412" providerId="ADAL" clId="{144A11F9-5BB9-40A3-A970-33EF68ACAA95}" dt="2026-05-28T11:07:40.758" v="43"/>
          <ac:spMkLst>
            <pc:docMk/>
            <pc:sldMk cId="4706918" sldId="266"/>
            <ac:spMk id="6" creationId="{EDDA5D0E-E33C-483C-CCBA-2A35582FC620}"/>
          </ac:spMkLst>
        </pc:spChg>
        <pc:graphicFrameChg chg="add mod">
          <ac:chgData name="Akriti Mehta" userId="0c901562-3821-4879-abc2-7521cf2ab412" providerId="ADAL" clId="{144A11F9-5BB9-40A3-A970-33EF68ACAA95}" dt="2026-05-28T11:07:40.758" v="43"/>
          <ac:graphicFrameMkLst>
            <pc:docMk/>
            <pc:sldMk cId="4706918" sldId="266"/>
            <ac:graphicFrameMk id="4" creationId="{70FFADE4-08E4-A408-C8DC-0143D1F56C35}"/>
          </ac:graphicFrameMkLst>
        </pc:graphicFrameChg>
      </pc:sldChg>
      <pc:sldChg chg="addSp modSp">
        <pc:chgData name="Akriti Mehta" userId="0c901562-3821-4879-abc2-7521cf2ab412" providerId="ADAL" clId="{144A11F9-5BB9-40A3-A970-33EF68ACAA95}" dt="2026-05-28T11:14:27.256" v="50"/>
        <pc:sldMkLst>
          <pc:docMk/>
          <pc:sldMk cId="3260119901" sldId="266"/>
        </pc:sldMkLst>
        <pc:spChg chg="add">
          <ac:chgData name="Akriti Mehta" userId="0c901562-3821-4879-abc2-7521cf2ab412" providerId="ADAL" clId="{144A11F9-5BB9-40A3-A970-33EF68ACAA95}" dt="2026-05-28T11:14:27.256" v="50"/>
          <ac:spMkLst>
            <pc:docMk/>
            <pc:sldMk cId="3260119901" sldId="266"/>
            <ac:spMk id="6" creationId="{162FF1F4-C317-E201-181F-3045FC95054D}"/>
          </ac:spMkLst>
        </pc:spChg>
        <pc:graphicFrameChg chg="add mod">
          <ac:chgData name="Akriti Mehta" userId="0c901562-3821-4879-abc2-7521cf2ab412" providerId="ADAL" clId="{144A11F9-5BB9-40A3-A970-33EF68ACAA95}" dt="2026-05-28T11:14:27.256" v="50"/>
          <ac:graphicFrameMkLst>
            <pc:docMk/>
            <pc:sldMk cId="3260119901" sldId="266"/>
            <ac:graphicFrameMk id="4" creationId="{6FF911B6-38A0-B0C9-BB18-42DA8AD55EF0}"/>
          </ac:graphicFrameMkLst>
        </pc:graphicFrameChg>
      </pc:sldChg>
      <pc:sldChg chg="addSp modSp">
        <pc:chgData name="Akriti Mehta" userId="0c901562-3821-4879-abc2-7521cf2ab412" providerId="ADAL" clId="{144A11F9-5BB9-40A3-A970-33EF68ACAA95}" dt="2026-05-28T11:14:54.818" v="51"/>
        <pc:sldMkLst>
          <pc:docMk/>
          <pc:sldMk cId="3227323544" sldId="267"/>
        </pc:sldMkLst>
        <pc:spChg chg="add">
          <ac:chgData name="Akriti Mehta" userId="0c901562-3821-4879-abc2-7521cf2ab412" providerId="ADAL" clId="{144A11F9-5BB9-40A3-A970-33EF68ACAA95}" dt="2026-05-28T11:14:54.818" v="51"/>
          <ac:spMkLst>
            <pc:docMk/>
            <pc:sldMk cId="3227323544" sldId="267"/>
            <ac:spMk id="6" creationId="{399AC51A-4495-1204-B1F8-1622503AFBC5}"/>
          </ac:spMkLst>
        </pc:spChg>
        <pc:graphicFrameChg chg="add mod">
          <ac:chgData name="Akriti Mehta" userId="0c901562-3821-4879-abc2-7521cf2ab412" providerId="ADAL" clId="{144A11F9-5BB9-40A3-A970-33EF68ACAA95}" dt="2026-05-28T11:14:54.818" v="51"/>
          <ac:graphicFrameMkLst>
            <pc:docMk/>
            <pc:sldMk cId="3227323544" sldId="267"/>
            <ac:graphicFrameMk id="4" creationId="{36DD0982-B239-75C8-A350-91CF94039F7A}"/>
          </ac:graphicFrameMkLst>
        </pc:graphicFrameChg>
      </pc:sldChg>
      <pc:sldChg chg="addSp modSp">
        <pc:chgData name="Akriti Mehta" userId="0c901562-3821-4879-abc2-7521cf2ab412" providerId="ADAL" clId="{144A11F9-5BB9-40A3-A970-33EF68ACAA95}" dt="2026-05-28T11:07:54.928" v="44"/>
        <pc:sldMkLst>
          <pc:docMk/>
          <pc:sldMk cId="3581040406" sldId="267"/>
        </pc:sldMkLst>
        <pc:spChg chg="add">
          <ac:chgData name="Akriti Mehta" userId="0c901562-3821-4879-abc2-7521cf2ab412" providerId="ADAL" clId="{144A11F9-5BB9-40A3-A970-33EF68ACAA95}" dt="2026-05-28T11:07:54.928" v="44"/>
          <ac:spMkLst>
            <pc:docMk/>
            <pc:sldMk cId="3581040406" sldId="267"/>
            <ac:spMk id="6" creationId="{6A775182-452E-3FCD-A221-32DDAD139DE5}"/>
          </ac:spMkLst>
        </pc:spChg>
        <pc:graphicFrameChg chg="add mod">
          <ac:chgData name="Akriti Mehta" userId="0c901562-3821-4879-abc2-7521cf2ab412" providerId="ADAL" clId="{144A11F9-5BB9-40A3-A970-33EF68ACAA95}" dt="2026-05-28T11:07:54.928" v="44"/>
          <ac:graphicFrameMkLst>
            <pc:docMk/>
            <pc:sldMk cId="3581040406" sldId="267"/>
            <ac:graphicFrameMk id="4" creationId="{D9BFD01C-AA05-7E51-68BD-6020C96DA516}"/>
          </ac:graphicFrameMkLst>
        </pc:graphicFrameChg>
      </pc:sldChg>
      <pc:sldChg chg="addSp modSp">
        <pc:chgData name="Akriti Mehta" userId="0c901562-3821-4879-abc2-7521cf2ab412" providerId="ADAL" clId="{144A11F9-5BB9-40A3-A970-33EF68ACAA95}" dt="2026-05-28T11:15:12.283" v="52"/>
        <pc:sldMkLst>
          <pc:docMk/>
          <pc:sldMk cId="759096969" sldId="268"/>
        </pc:sldMkLst>
        <pc:spChg chg="add">
          <ac:chgData name="Akriti Mehta" userId="0c901562-3821-4879-abc2-7521cf2ab412" providerId="ADAL" clId="{144A11F9-5BB9-40A3-A970-33EF68ACAA95}" dt="2026-05-28T11:15:12.283" v="52"/>
          <ac:spMkLst>
            <pc:docMk/>
            <pc:sldMk cId="759096969" sldId="268"/>
            <ac:spMk id="7" creationId="{C3024407-03A1-3487-CE42-AB1AC709901F}"/>
          </ac:spMkLst>
        </pc:spChg>
        <pc:graphicFrameChg chg="add mod">
          <ac:chgData name="Akriti Mehta" userId="0c901562-3821-4879-abc2-7521cf2ab412" providerId="ADAL" clId="{144A11F9-5BB9-40A3-A970-33EF68ACAA95}" dt="2026-05-28T11:15:12.283" v="52"/>
          <ac:graphicFrameMkLst>
            <pc:docMk/>
            <pc:sldMk cId="759096969" sldId="268"/>
            <ac:graphicFrameMk id="4" creationId="{A0163F02-61E4-6A32-DADE-8739286F0B64}"/>
          </ac:graphicFrameMkLst>
        </pc:graphicFrameChg>
        <pc:graphicFrameChg chg="add mod">
          <ac:chgData name="Akriti Mehta" userId="0c901562-3821-4879-abc2-7521cf2ab412" providerId="ADAL" clId="{144A11F9-5BB9-40A3-A970-33EF68ACAA95}" dt="2026-05-28T11:15:12.283" v="52"/>
          <ac:graphicFrameMkLst>
            <pc:docMk/>
            <pc:sldMk cId="759096969" sldId="268"/>
            <ac:graphicFrameMk id="5" creationId="{28D4C89F-1C63-DE03-15E3-0CCFC6A189B8}"/>
          </ac:graphicFrameMkLst>
        </pc:graphicFrameChg>
      </pc:sldChg>
      <pc:sldChg chg="addSp modSp">
        <pc:chgData name="Akriti Mehta" userId="0c901562-3821-4879-abc2-7521cf2ab412" providerId="ADAL" clId="{144A11F9-5BB9-40A3-A970-33EF68ACAA95}" dt="2026-05-28T11:08:28.833" v="45"/>
        <pc:sldMkLst>
          <pc:docMk/>
          <pc:sldMk cId="1649963609" sldId="268"/>
        </pc:sldMkLst>
        <pc:spChg chg="add">
          <ac:chgData name="Akriti Mehta" userId="0c901562-3821-4879-abc2-7521cf2ab412" providerId="ADAL" clId="{144A11F9-5BB9-40A3-A970-33EF68ACAA95}" dt="2026-05-28T11:08:28.833" v="45"/>
          <ac:spMkLst>
            <pc:docMk/>
            <pc:sldMk cId="1649963609" sldId="268"/>
            <ac:spMk id="8" creationId="{D828A74C-5B87-EDF4-7F7D-52EBD72F7183}"/>
          </ac:spMkLst>
        </pc:spChg>
        <pc:graphicFrameChg chg="add mod">
          <ac:chgData name="Akriti Mehta" userId="0c901562-3821-4879-abc2-7521cf2ab412" providerId="ADAL" clId="{144A11F9-5BB9-40A3-A970-33EF68ACAA95}" dt="2026-05-28T11:08:28.833" v="45"/>
          <ac:graphicFrameMkLst>
            <pc:docMk/>
            <pc:sldMk cId="1649963609" sldId="268"/>
            <ac:graphicFrameMk id="4" creationId="{976D6B77-8AF4-AC9F-B0F8-22021AA5B6F0}"/>
          </ac:graphicFrameMkLst>
        </pc:graphicFrameChg>
        <pc:graphicFrameChg chg="add mod">
          <ac:chgData name="Akriti Mehta" userId="0c901562-3821-4879-abc2-7521cf2ab412" providerId="ADAL" clId="{144A11F9-5BB9-40A3-A970-33EF68ACAA95}" dt="2026-05-28T11:08:28.833" v="45"/>
          <ac:graphicFrameMkLst>
            <pc:docMk/>
            <pc:sldMk cId="1649963609" sldId="268"/>
            <ac:graphicFrameMk id="5" creationId="{47C619DE-A788-4734-2641-A7960BEF0E4A}"/>
          </ac:graphicFrameMkLst>
        </pc:graphicFrameChg>
        <pc:graphicFrameChg chg="add mod">
          <ac:chgData name="Akriti Mehta" userId="0c901562-3821-4879-abc2-7521cf2ab412" providerId="ADAL" clId="{144A11F9-5BB9-40A3-A970-33EF68ACAA95}" dt="2026-05-28T11:08:28.833" v="45"/>
          <ac:graphicFrameMkLst>
            <pc:docMk/>
            <pc:sldMk cId="1649963609" sldId="268"/>
            <ac:graphicFrameMk id="6" creationId="{71D184C1-D705-3314-1C6C-C40A0781694E}"/>
          </ac:graphicFrameMkLst>
        </pc:graphicFrameChg>
      </pc:sldChg>
      <pc:sldChg chg="add">
        <pc:chgData name="Akriti Mehta" userId="0c901562-3821-4879-abc2-7521cf2ab412" providerId="ADAL" clId="{144A11F9-5BB9-40A3-A970-33EF68ACAA95}" dt="2026-05-28T11:31:32.619" v="53"/>
        <pc:sldMkLst>
          <pc:docMk/>
          <pc:sldMk cId="447410189" sldId="269"/>
        </pc:sldMkLst>
      </pc:sldChg>
      <pc:sldChg chg="modSp add del ord modTransition">
        <pc:chgData name="Akriti Mehta" userId="0c901562-3821-4879-abc2-7521cf2ab412" providerId="ADAL" clId="{144A11F9-5BB9-40A3-A970-33EF68ACAA95}" dt="2026-05-28T11:08:54.389" v="47"/>
        <pc:sldMkLst>
          <pc:docMk/>
          <pc:sldMk cId="3839206378" sldId="270"/>
        </pc:sldMkLst>
        <pc:spChg chg="mod">
          <ac:chgData name="Akriti Mehta" userId="0c901562-3821-4879-abc2-7521cf2ab412" providerId="ADAL" clId="{144A11F9-5BB9-40A3-A970-33EF68ACAA95}" dt="2026-05-28T10:10:20.672" v="4"/>
          <ac:spMkLst>
            <pc:docMk/>
            <pc:sldMk cId="3839206378" sldId="270"/>
            <ac:spMk id="2" creationId="{D0824D58-FFDD-0020-506D-9F95FEA85C08}"/>
          </ac:spMkLst>
        </pc:spChg>
      </pc:sldChg>
      <pc:sldChg chg="add del">
        <pc:chgData name="Akriti Mehta" userId="0c901562-3821-4879-abc2-7521cf2ab412" providerId="ADAL" clId="{144A11F9-5BB9-40A3-A970-33EF68ACAA95}" dt="2026-05-28T10:10:20.750" v="5"/>
        <pc:sldMkLst>
          <pc:docMk/>
          <pc:sldMk cId="2727770330" sldId="335"/>
        </pc:sldMkLst>
      </pc:sldChg>
      <pc:sldChg chg="addSp delSp modSp">
        <pc:chgData name="Akriti Mehta" userId="0c901562-3821-4879-abc2-7521cf2ab412" providerId="ADAL" clId="{144A11F9-5BB9-40A3-A970-33EF68ACAA95}" dt="2026-05-28T10:16:29.019" v="15"/>
        <pc:sldMkLst>
          <pc:docMk/>
          <pc:sldMk cId="3382956385" sldId="2147469891"/>
        </pc:sldMkLst>
        <pc:spChg chg="mod">
          <ac:chgData name="Akriti Mehta" userId="0c901562-3821-4879-abc2-7521cf2ab412" providerId="ADAL" clId="{144A11F9-5BB9-40A3-A970-33EF68ACAA95}" dt="2026-05-28T10:15:11.644" v="10"/>
          <ac:spMkLst>
            <pc:docMk/>
            <pc:sldMk cId="3382956385" sldId="2147469891"/>
            <ac:spMk id="7" creationId="{6BB1BF37-FA21-FFB9-6FE8-31D1E8745F9B}"/>
          </ac:spMkLst>
        </pc:spChg>
        <pc:spChg chg="mod">
          <ac:chgData name="Akriti Mehta" userId="0c901562-3821-4879-abc2-7521cf2ab412" providerId="ADAL" clId="{144A11F9-5BB9-40A3-A970-33EF68ACAA95}" dt="2026-05-28T10:15:11.644" v="10"/>
          <ac:spMkLst>
            <pc:docMk/>
            <pc:sldMk cId="3382956385" sldId="2147469891"/>
            <ac:spMk id="10" creationId="{1D7D56A8-D007-EC4A-4559-2F8ADC03C507}"/>
          </ac:spMkLst>
        </pc:spChg>
        <pc:spChg chg="mod">
          <ac:chgData name="Akriti Mehta" userId="0c901562-3821-4879-abc2-7521cf2ab412" providerId="ADAL" clId="{144A11F9-5BB9-40A3-A970-33EF68ACAA95}" dt="2026-05-28T10:15:11.644" v="10"/>
          <ac:spMkLst>
            <pc:docMk/>
            <pc:sldMk cId="3382956385" sldId="2147469891"/>
            <ac:spMk id="11" creationId="{DA17F298-D223-F186-B9BE-A5EBAC617463}"/>
          </ac:spMkLst>
        </pc:spChg>
        <pc:spChg chg="mod">
          <ac:chgData name="Akriti Mehta" userId="0c901562-3821-4879-abc2-7521cf2ab412" providerId="ADAL" clId="{144A11F9-5BB9-40A3-A970-33EF68ACAA95}" dt="2026-05-28T10:15:11.644" v="10"/>
          <ac:spMkLst>
            <pc:docMk/>
            <pc:sldMk cId="3382956385" sldId="2147469891"/>
            <ac:spMk id="13" creationId="{0FBC22B4-6661-1F4B-1828-9FD1E1F47603}"/>
          </ac:spMkLst>
        </pc:spChg>
        <pc:spChg chg="mod">
          <ac:chgData name="Akriti Mehta" userId="0c901562-3821-4879-abc2-7521cf2ab412" providerId="ADAL" clId="{144A11F9-5BB9-40A3-A970-33EF68ACAA95}" dt="2026-05-28T10:15:11.644" v="10"/>
          <ac:spMkLst>
            <pc:docMk/>
            <pc:sldMk cId="3382956385" sldId="2147469891"/>
            <ac:spMk id="15" creationId="{BD1B09BD-34F9-7077-970F-ECF7266FD66B}"/>
          </ac:spMkLst>
        </pc:spChg>
        <pc:spChg chg="mod">
          <ac:chgData name="Akriti Mehta" userId="0c901562-3821-4879-abc2-7521cf2ab412" providerId="ADAL" clId="{144A11F9-5BB9-40A3-A970-33EF68ACAA95}" dt="2026-05-28T10:15:11.644" v="10"/>
          <ac:spMkLst>
            <pc:docMk/>
            <pc:sldMk cId="3382956385" sldId="2147469891"/>
            <ac:spMk id="17" creationId="{4A977F5C-8CB5-9148-FC47-C911C9849E30}"/>
          </ac:spMkLst>
        </pc:spChg>
        <pc:spChg chg="mod">
          <ac:chgData name="Akriti Mehta" userId="0c901562-3821-4879-abc2-7521cf2ab412" providerId="ADAL" clId="{144A11F9-5BB9-40A3-A970-33EF68ACAA95}" dt="2026-05-28T10:15:11.644" v="10"/>
          <ac:spMkLst>
            <pc:docMk/>
            <pc:sldMk cId="3382956385" sldId="2147469891"/>
            <ac:spMk id="20" creationId="{7D8B2C83-BBE5-3140-C49F-E0B0A9612569}"/>
          </ac:spMkLst>
        </pc:spChg>
        <pc:spChg chg="mod">
          <ac:chgData name="Akriti Mehta" userId="0c901562-3821-4879-abc2-7521cf2ab412" providerId="ADAL" clId="{144A11F9-5BB9-40A3-A970-33EF68ACAA95}" dt="2026-05-28T10:15:11.644" v="10"/>
          <ac:spMkLst>
            <pc:docMk/>
            <pc:sldMk cId="3382956385" sldId="2147469891"/>
            <ac:spMk id="25" creationId="{78320802-5865-1BC3-3FB2-96110FC0035F}"/>
          </ac:spMkLst>
        </pc:spChg>
        <pc:spChg chg="mod">
          <ac:chgData name="Akriti Mehta" userId="0c901562-3821-4879-abc2-7521cf2ab412" providerId="ADAL" clId="{144A11F9-5BB9-40A3-A970-33EF68ACAA95}" dt="2026-05-28T10:15:11.644" v="10"/>
          <ac:spMkLst>
            <pc:docMk/>
            <pc:sldMk cId="3382956385" sldId="2147469891"/>
            <ac:spMk id="28" creationId="{9DE6866A-2966-057E-AD7B-F5487B961FD9}"/>
          </ac:spMkLst>
        </pc:spChg>
        <pc:spChg chg="mod">
          <ac:chgData name="Akriti Mehta" userId="0c901562-3821-4879-abc2-7521cf2ab412" providerId="ADAL" clId="{144A11F9-5BB9-40A3-A970-33EF68ACAA95}" dt="2026-05-28T10:15:11.644" v="10"/>
          <ac:spMkLst>
            <pc:docMk/>
            <pc:sldMk cId="3382956385" sldId="2147469891"/>
            <ac:spMk id="29" creationId="{45CE27DF-D8AE-F2F1-03F3-23F82B39FC46}"/>
          </ac:spMkLst>
        </pc:spChg>
        <pc:grpChg chg="del">
          <ac:chgData name="Akriti Mehta" userId="0c901562-3821-4879-abc2-7521cf2ab412" providerId="ADAL" clId="{144A11F9-5BB9-40A3-A970-33EF68ACAA95}" dt="2026-05-28T10:14:45.076" v="9" actId="478"/>
          <ac:grpSpMkLst>
            <pc:docMk/>
            <pc:sldMk cId="3382956385" sldId="2147469891"/>
            <ac:grpSpMk id="93" creationId="{9B5E2C7F-E62D-4325-8450-D4AC5A496574}"/>
          </ac:grpSpMkLst>
        </pc:grpChg>
        <pc:grpChg chg="del">
          <ac:chgData name="Akriti Mehta" userId="0c901562-3821-4879-abc2-7521cf2ab412" providerId="ADAL" clId="{144A11F9-5BB9-40A3-A970-33EF68ACAA95}" dt="2026-05-28T10:14:45.076" v="9" actId="478"/>
          <ac:grpSpMkLst>
            <pc:docMk/>
            <pc:sldMk cId="3382956385" sldId="2147469891"/>
            <ac:grpSpMk id="137" creationId="{FD451CEF-F41A-4F9B-8917-F09131BC2D25}"/>
          </ac:grpSpMkLst>
        </pc:grpChg>
        <pc:grpChg chg="del">
          <ac:chgData name="Akriti Mehta" userId="0c901562-3821-4879-abc2-7521cf2ab412" providerId="ADAL" clId="{144A11F9-5BB9-40A3-A970-33EF68ACAA95}" dt="2026-05-28T10:14:45.076" v="9" actId="478"/>
          <ac:grpSpMkLst>
            <pc:docMk/>
            <pc:sldMk cId="3382956385" sldId="2147469891"/>
            <ac:grpSpMk id="162" creationId="{694C3DC3-1C65-49D0-9C84-E2A0951EDFD9}"/>
          </ac:grpSpMkLst>
        </pc:grpChg>
        <pc:grpChg chg="del">
          <ac:chgData name="Akriti Mehta" userId="0c901562-3821-4879-abc2-7521cf2ab412" providerId="ADAL" clId="{144A11F9-5BB9-40A3-A970-33EF68ACAA95}" dt="2026-05-28T10:14:45.076" v="9" actId="478"/>
          <ac:grpSpMkLst>
            <pc:docMk/>
            <pc:sldMk cId="3382956385" sldId="2147469891"/>
            <ac:grpSpMk id="179" creationId="{5DD77671-6B58-4A7A-B1A8-50608DBE5A97}"/>
          </ac:grpSpMkLst>
        </pc:grpChg>
        <pc:graphicFrameChg chg="mod">
          <ac:chgData name="Akriti Mehta" userId="0c901562-3821-4879-abc2-7521cf2ab412" providerId="ADAL" clId="{144A11F9-5BB9-40A3-A970-33EF68ACAA95}" dt="2026-05-28T10:16:29.019" v="15"/>
          <ac:graphicFrameMkLst>
            <pc:docMk/>
            <pc:sldMk cId="3382956385" sldId="2147469891"/>
            <ac:graphicFrameMk id="3" creationId="{E36B2D91-29F6-7DF3-8533-A13344765C33}"/>
          </ac:graphicFrameMkLst>
        </pc:graphicFrameChg>
        <pc:graphicFrameChg chg="del mod">
          <ac:chgData name="Akriti Mehta" userId="0c901562-3821-4879-abc2-7521cf2ab412" providerId="ADAL" clId="{144A11F9-5BB9-40A3-A970-33EF68ACAA95}" dt="2026-05-28T10:14:45.076" v="9" actId="478"/>
          <ac:graphicFrameMkLst>
            <pc:docMk/>
            <pc:sldMk cId="3382956385" sldId="2147469891"/>
            <ac:graphicFrameMk id="36" creationId="{A876FFF7-C14C-4854-8E53-73DE49A05632}"/>
          </ac:graphicFrameMkLst>
        </pc:graphicFrameChg>
        <pc:cxnChg chg="del">
          <ac:chgData name="Akriti Mehta" userId="0c901562-3821-4879-abc2-7521cf2ab412" providerId="ADAL" clId="{144A11F9-5BB9-40A3-A970-33EF68ACAA95}" dt="2026-05-28T10:14:45.076" v="9" actId="478"/>
          <ac:cxnSpMkLst>
            <pc:docMk/>
            <pc:sldMk cId="3382956385" sldId="2147469891"/>
            <ac:cxnSpMk id="122" creationId="{9E81B769-866F-46F2-A155-83EED7C480D9}"/>
          </ac:cxnSpMkLst>
        </pc:cxnChg>
        <pc:cxnChg chg="del">
          <ac:chgData name="Akriti Mehta" userId="0c901562-3821-4879-abc2-7521cf2ab412" providerId="ADAL" clId="{144A11F9-5BB9-40A3-A970-33EF68ACAA95}" dt="2026-05-28T10:14:45.076" v="9" actId="478"/>
          <ac:cxnSpMkLst>
            <pc:docMk/>
            <pc:sldMk cId="3382956385" sldId="2147469891"/>
            <ac:cxnSpMk id="151" creationId="{CAEE90B4-8034-4523-9126-9FBA4E3DD8CE}"/>
          </ac:cxnSpMkLst>
        </pc:cxnChg>
        <pc:cxnChg chg="del">
          <ac:chgData name="Akriti Mehta" userId="0c901562-3821-4879-abc2-7521cf2ab412" providerId="ADAL" clId="{144A11F9-5BB9-40A3-A970-33EF68ACAA95}" dt="2026-05-28T10:14:45.076" v="9" actId="478"/>
          <ac:cxnSpMkLst>
            <pc:docMk/>
            <pc:sldMk cId="3382956385" sldId="2147469891"/>
            <ac:cxnSpMk id="172" creationId="{1486705D-0AB2-4E11-B0C4-43077B6D6E6C}"/>
          </ac:cxnSpMkLst>
        </pc:cxnChg>
      </pc:sldChg>
      <pc:sldChg chg="modSp">
        <pc:chgData name="Akriti Mehta" userId="0c901562-3821-4879-abc2-7521cf2ab412" providerId="ADAL" clId="{144A11F9-5BB9-40A3-A970-33EF68ACAA95}" dt="2026-05-28T11:04:41.688" v="41"/>
        <pc:sldMkLst>
          <pc:docMk/>
          <pc:sldMk cId="778896603" sldId="2147483636"/>
        </pc:sldMkLst>
        <pc:spChg chg="mod">
          <ac:chgData name="Akriti Mehta" userId="0c901562-3821-4879-abc2-7521cf2ab412" providerId="ADAL" clId="{144A11F9-5BB9-40A3-A970-33EF68ACAA95}" dt="2026-05-28T11:04:41.688" v="41"/>
          <ac:spMkLst>
            <pc:docMk/>
            <pc:sldMk cId="778896603" sldId="2147483636"/>
            <ac:spMk id="3" creationId="{C6D95FDF-6AB8-D50F-57B5-016BD040E8F5}"/>
          </ac:spMkLst>
        </pc:spChg>
      </pc:sldChg>
      <pc:sldChg chg="addSp delSp modSp">
        <pc:chgData name="Akriti Mehta" userId="0c901562-3821-4879-abc2-7521cf2ab412" providerId="ADAL" clId="{144A11F9-5BB9-40A3-A970-33EF68ACAA95}" dt="2026-05-28T10:45:49.149" v="22"/>
        <pc:sldMkLst>
          <pc:docMk/>
          <pc:sldMk cId="556128037" sldId="2147483637"/>
        </pc:sldMkLst>
        <pc:spChg chg="add">
          <ac:chgData name="Akriti Mehta" userId="0c901562-3821-4879-abc2-7521cf2ab412" providerId="ADAL" clId="{144A11F9-5BB9-40A3-A970-33EF68ACAA95}" dt="2026-05-28T10:44:42.681" v="20"/>
          <ac:spMkLst>
            <pc:docMk/>
            <pc:sldMk cId="556128037" sldId="2147483637"/>
            <ac:spMk id="8" creationId="{A507131A-72AA-4240-5F99-56C4AEAB922A}"/>
          </ac:spMkLst>
        </pc:spChg>
        <pc:spChg chg="add">
          <ac:chgData name="Akriti Mehta" userId="0c901562-3821-4879-abc2-7521cf2ab412" providerId="ADAL" clId="{144A11F9-5BB9-40A3-A970-33EF68ACAA95}" dt="2026-05-28T10:45:06.904" v="21"/>
          <ac:spMkLst>
            <pc:docMk/>
            <pc:sldMk cId="556128037" sldId="2147483637"/>
            <ac:spMk id="11" creationId="{D391B05A-04E9-9FF6-6BA1-2FEBFE5D32C8}"/>
          </ac:spMkLst>
        </pc:spChg>
        <pc:spChg chg="del">
          <ac:chgData name="Akriti Mehta" userId="0c901562-3821-4879-abc2-7521cf2ab412" providerId="ADAL" clId="{144A11F9-5BB9-40A3-A970-33EF68ACAA95}" dt="2026-05-28T10:45:49.149" v="22"/>
          <ac:spMkLst>
            <pc:docMk/>
            <pc:sldMk cId="556128037" sldId="2147483637"/>
            <ac:spMk id="13" creationId="{B78415E2-5EC3-DFFD-12F4-781D91DB7507}"/>
          </ac:spMkLst>
        </pc:spChg>
        <pc:spChg chg="add">
          <ac:chgData name="Akriti Mehta" userId="0c901562-3821-4879-abc2-7521cf2ab412" providerId="ADAL" clId="{144A11F9-5BB9-40A3-A970-33EF68ACAA95}" dt="2026-05-28T10:45:49.149" v="22"/>
          <ac:spMkLst>
            <pc:docMk/>
            <pc:sldMk cId="556128037" sldId="2147483637"/>
            <ac:spMk id="16" creationId="{02018EA3-284D-1ABA-4AD3-5B233B95B567}"/>
          </ac:spMkLst>
        </pc:spChg>
        <pc:graphicFrameChg chg="add mod">
          <ac:chgData name="Akriti Mehta" userId="0c901562-3821-4879-abc2-7521cf2ab412" providerId="ADAL" clId="{144A11F9-5BB9-40A3-A970-33EF68ACAA95}" dt="2026-05-28T10:44:42.681" v="20"/>
          <ac:graphicFrameMkLst>
            <pc:docMk/>
            <pc:sldMk cId="556128037" sldId="2147483637"/>
            <ac:graphicFrameMk id="6" creationId="{1C4A37B7-F3D1-B4A5-56B5-736CA7C8296C}"/>
          </ac:graphicFrameMkLst>
        </pc:graphicFrameChg>
        <pc:graphicFrameChg chg="add mod">
          <ac:chgData name="Akriti Mehta" userId="0c901562-3821-4879-abc2-7521cf2ab412" providerId="ADAL" clId="{144A11F9-5BB9-40A3-A970-33EF68ACAA95}" dt="2026-05-28T10:45:06.904" v="21"/>
          <ac:graphicFrameMkLst>
            <pc:docMk/>
            <pc:sldMk cId="556128037" sldId="2147483637"/>
            <ac:graphicFrameMk id="9" creationId="{00A79EA6-7FE7-EA24-9C40-17A5BF0E2562}"/>
          </ac:graphicFrameMkLst>
        </pc:graphicFrameChg>
        <pc:graphicFrameChg chg="add mod">
          <ac:chgData name="Akriti Mehta" userId="0c901562-3821-4879-abc2-7521cf2ab412" providerId="ADAL" clId="{144A11F9-5BB9-40A3-A970-33EF68ACAA95}" dt="2026-05-28T10:45:49.149" v="22"/>
          <ac:graphicFrameMkLst>
            <pc:docMk/>
            <pc:sldMk cId="556128037" sldId="2147483637"/>
            <ac:graphicFrameMk id="14" creationId="{9C5A6611-9970-7DD4-3CEF-0145E5E6ECC1}"/>
          </ac:graphicFrameMkLst>
        </pc:graphicFrameChg>
      </pc:sldChg>
      <pc:sldChg chg="addSp modSp">
        <pc:chgData name="Akriti Mehta" userId="0c901562-3821-4879-abc2-7521cf2ab412" providerId="ADAL" clId="{144A11F9-5BB9-40A3-A970-33EF68ACAA95}" dt="2026-05-28T10:43:05.907" v="19"/>
        <pc:sldMkLst>
          <pc:docMk/>
          <pc:sldMk cId="2409190834" sldId="2147483637"/>
        </pc:sldMkLst>
        <pc:spChg chg="add">
          <ac:chgData name="Akriti Mehta" userId="0c901562-3821-4879-abc2-7521cf2ab412" providerId="ADAL" clId="{144A11F9-5BB9-40A3-A970-33EF68ACAA95}" dt="2026-05-28T10:42:57.273" v="18"/>
          <ac:spMkLst>
            <pc:docMk/>
            <pc:sldMk cId="2409190834" sldId="2147483637"/>
            <ac:spMk id="6" creationId="{38F12142-E75F-F207-A74D-32439691AEEF}"/>
          </ac:spMkLst>
        </pc:spChg>
        <pc:spChg chg="add">
          <ac:chgData name="Akriti Mehta" userId="0c901562-3821-4879-abc2-7521cf2ab412" providerId="ADAL" clId="{144A11F9-5BB9-40A3-A970-33EF68ACAA95}" dt="2026-05-28T10:43:05.907" v="19"/>
          <ac:spMkLst>
            <pc:docMk/>
            <pc:sldMk cId="2409190834" sldId="2147483637"/>
            <ac:spMk id="9" creationId="{2B42B5F3-5840-A289-9E45-21D7F3B9248D}"/>
          </ac:spMkLst>
        </pc:spChg>
        <pc:graphicFrameChg chg="add mod">
          <ac:chgData name="Akriti Mehta" userId="0c901562-3821-4879-abc2-7521cf2ab412" providerId="ADAL" clId="{144A11F9-5BB9-40A3-A970-33EF68ACAA95}" dt="2026-05-28T10:42:57.273" v="18"/>
          <ac:graphicFrameMkLst>
            <pc:docMk/>
            <pc:sldMk cId="2409190834" sldId="2147483637"/>
            <ac:graphicFrameMk id="4" creationId="{4222B03F-A7DF-9348-53C8-9DA8E92E0F84}"/>
          </ac:graphicFrameMkLst>
        </pc:graphicFrameChg>
        <pc:graphicFrameChg chg="add mod">
          <ac:chgData name="Akriti Mehta" userId="0c901562-3821-4879-abc2-7521cf2ab412" providerId="ADAL" clId="{144A11F9-5BB9-40A3-A970-33EF68ACAA95}" dt="2026-05-28T10:43:05.907" v="19"/>
          <ac:graphicFrameMkLst>
            <pc:docMk/>
            <pc:sldMk cId="2409190834" sldId="2147483637"/>
            <ac:graphicFrameMk id="7" creationId="{8DCD4875-E9D5-2F42-8D83-03FDEB4D9715}"/>
          </ac:graphicFrameMkLst>
        </pc:graphicFrameChg>
      </pc:sldChg>
      <pc:sldChg chg="add del setBg">
        <pc:chgData name="Akriti Mehta" userId="0c901562-3821-4879-abc2-7521cf2ab412" providerId="ADAL" clId="{144A11F9-5BB9-40A3-A970-33EF68ACAA95}" dt="2026-05-28T10:47:28.190" v="24"/>
        <pc:sldMkLst>
          <pc:docMk/>
          <pc:sldMk cId="3000754747" sldId="2147483638"/>
        </pc:sldMkLst>
      </pc:sldChg>
      <pc:sldChg chg="modSp add">
        <pc:chgData name="Akriti Mehta" userId="0c901562-3821-4879-abc2-7521cf2ab412" providerId="ADAL" clId="{144A11F9-5BB9-40A3-A970-33EF68ACAA95}" dt="2026-05-28T10:47:48.968" v="28"/>
        <pc:sldMkLst>
          <pc:docMk/>
          <pc:sldMk cId="3599163384" sldId="2147483638"/>
        </pc:sldMkLst>
        <pc:spChg chg="mod">
          <ac:chgData name="Akriti Mehta" userId="0c901562-3821-4879-abc2-7521cf2ab412" providerId="ADAL" clId="{144A11F9-5BB9-40A3-A970-33EF68ACAA95}" dt="2026-05-28T10:47:48.968" v="28"/>
          <ac:spMkLst>
            <pc:docMk/>
            <pc:sldMk cId="3599163384" sldId="2147483638"/>
            <ac:spMk id="3" creationId="{6183F436-7403-D93F-69DB-FE87B12ABD67}"/>
          </ac:spMkLst>
        </pc:spChg>
      </pc:sldChg>
      <pc:sldChg chg="addSp modSp add">
        <pc:chgData name="Akriti Mehta" userId="0c901562-3821-4879-abc2-7521cf2ab412" providerId="ADAL" clId="{144A11F9-5BB9-40A3-A970-33EF68ACAA95}" dt="2026-05-28T11:32:37.796" v="58"/>
        <pc:sldMkLst>
          <pc:docMk/>
          <pc:sldMk cId="527065370" sldId="2147483639"/>
        </pc:sldMkLst>
        <pc:spChg chg="mod">
          <ac:chgData name="Akriti Mehta" userId="0c901562-3821-4879-abc2-7521cf2ab412" providerId="ADAL" clId="{144A11F9-5BB9-40A3-A970-33EF68ACAA95}" dt="2026-05-28T10:59:27.377" v="31"/>
          <ac:spMkLst>
            <pc:docMk/>
            <pc:sldMk cId="527065370" sldId="2147483639"/>
            <ac:spMk id="3" creationId="{C45CD919-AE6E-1D26-E288-29265886A7B0}"/>
          </ac:spMkLst>
        </pc:spChg>
        <pc:spChg chg="add">
          <ac:chgData name="Akriti Mehta" userId="0c901562-3821-4879-abc2-7521cf2ab412" providerId="ADAL" clId="{144A11F9-5BB9-40A3-A970-33EF68ACAA95}" dt="2026-05-28T11:00:20.839" v="32"/>
          <ac:spMkLst>
            <pc:docMk/>
            <pc:sldMk cId="527065370" sldId="2147483639"/>
            <ac:spMk id="7" creationId="{D0F9873F-28FB-C997-B325-3D2143A4162D}"/>
          </ac:spMkLst>
        </pc:spChg>
        <pc:spChg chg="add">
          <ac:chgData name="Akriti Mehta" userId="0c901562-3821-4879-abc2-7521cf2ab412" providerId="ADAL" clId="{144A11F9-5BB9-40A3-A970-33EF68ACAA95}" dt="2026-05-28T11:00:45.288" v="33"/>
          <ac:spMkLst>
            <pc:docMk/>
            <pc:sldMk cId="527065370" sldId="2147483639"/>
            <ac:spMk id="11" creationId="{B6FD5273-3479-6A48-69AF-844EA84CBE37}"/>
          </ac:spMkLst>
        </pc:spChg>
        <pc:spChg chg="add mod">
          <ac:chgData name="Akriti Mehta" userId="0c901562-3821-4879-abc2-7521cf2ab412" providerId="ADAL" clId="{144A11F9-5BB9-40A3-A970-33EF68ACAA95}" dt="2026-05-28T11:32:37.796" v="58"/>
          <ac:spMkLst>
            <pc:docMk/>
            <pc:sldMk cId="527065370" sldId="2147483639"/>
            <ac:spMk id="12" creationId="{67AA2FE8-A0F5-523A-D13E-C6C2D2630B83}"/>
          </ac:spMkLst>
        </pc:spChg>
        <pc:spChg chg="add mod">
          <ac:chgData name="Akriti Mehta" userId="0c901562-3821-4879-abc2-7521cf2ab412" providerId="ADAL" clId="{144A11F9-5BB9-40A3-A970-33EF68ACAA95}" dt="2026-05-28T11:32:37.796" v="58"/>
          <ac:spMkLst>
            <pc:docMk/>
            <pc:sldMk cId="527065370" sldId="2147483639"/>
            <ac:spMk id="13" creationId="{9EF82A54-97D8-0A1F-D3A1-F6A4B4FB2DB8}"/>
          </ac:spMkLst>
        </pc:spChg>
        <pc:graphicFrameChg chg="add mod">
          <ac:chgData name="Akriti Mehta" userId="0c901562-3821-4879-abc2-7521cf2ab412" providerId="ADAL" clId="{144A11F9-5BB9-40A3-A970-33EF68ACAA95}" dt="2026-05-28T11:00:20.839" v="32"/>
          <ac:graphicFrameMkLst>
            <pc:docMk/>
            <pc:sldMk cId="527065370" sldId="2147483639"/>
            <ac:graphicFrameMk id="5" creationId="{0F042FA3-E4FA-D0D8-78DA-397211F1CA9E}"/>
          </ac:graphicFrameMkLst>
        </pc:graphicFrameChg>
        <pc:graphicFrameChg chg="add mod">
          <ac:chgData name="Akriti Mehta" userId="0c901562-3821-4879-abc2-7521cf2ab412" providerId="ADAL" clId="{144A11F9-5BB9-40A3-A970-33EF68ACAA95}" dt="2026-05-28T11:00:45.288" v="33"/>
          <ac:graphicFrameMkLst>
            <pc:docMk/>
            <pc:sldMk cId="527065370" sldId="2147483639"/>
            <ac:graphicFrameMk id="9" creationId="{B06DCADB-3B4E-ED52-2586-E0E598CA787D}"/>
          </ac:graphicFrameMkLst>
        </pc:graphicFrameChg>
        <pc:graphicFrameChg chg="add mod">
          <ac:chgData name="Akriti Mehta" userId="0c901562-3821-4879-abc2-7521cf2ab412" providerId="ADAL" clId="{144A11F9-5BB9-40A3-A970-33EF68ACAA95}" dt="2026-05-28T11:32:37.796" v="58"/>
          <ac:graphicFrameMkLst>
            <pc:docMk/>
            <pc:sldMk cId="527065370" sldId="2147483639"/>
            <ac:graphicFrameMk id="14" creationId="{04F96EF4-B590-212D-C6C8-7BAA98EBE9E9}"/>
          </ac:graphicFrameMkLst>
        </pc:graphicFrameChg>
      </pc:sldChg>
      <pc:sldChg chg="add del setBg">
        <pc:chgData name="Akriti Mehta" userId="0c901562-3821-4879-abc2-7521cf2ab412" providerId="ADAL" clId="{144A11F9-5BB9-40A3-A970-33EF68ACAA95}" dt="2026-05-28T10:47:38.724" v="27"/>
        <pc:sldMkLst>
          <pc:docMk/>
          <pc:sldMk cId="1973092031" sldId="2147483639"/>
        </pc:sldMkLst>
      </pc:sldChg>
      <pc:sldChg chg="addSp modSp ord">
        <pc:chgData name="Akriti Mehta" userId="0c901562-3821-4879-abc2-7521cf2ab412" providerId="ADAL" clId="{144A11F9-5BB9-40A3-A970-33EF68ACAA95}" dt="2026-05-28T11:35:47.362" v="60"/>
        <pc:sldMkLst>
          <pc:docMk/>
          <pc:sldMk cId="1000902225" sldId="2147483640"/>
        </pc:sldMkLst>
        <pc:spChg chg="add">
          <ac:chgData name="Akriti Mehta" userId="0c901562-3821-4879-abc2-7521cf2ab412" providerId="ADAL" clId="{144A11F9-5BB9-40A3-A970-33EF68ACAA95}" dt="2026-05-28T11:01:40.352" v="34"/>
          <ac:spMkLst>
            <pc:docMk/>
            <pc:sldMk cId="1000902225" sldId="2147483640"/>
            <ac:spMk id="6" creationId="{A22A5083-E839-B3FF-D222-4CB98A851DF5}"/>
          </ac:spMkLst>
        </pc:spChg>
        <pc:graphicFrameChg chg="add mod">
          <ac:chgData name="Akriti Mehta" userId="0c901562-3821-4879-abc2-7521cf2ab412" providerId="ADAL" clId="{144A11F9-5BB9-40A3-A970-33EF68ACAA95}" dt="2026-05-28T11:01:40.352" v="34"/>
          <ac:graphicFrameMkLst>
            <pc:docMk/>
            <pc:sldMk cId="1000902225" sldId="2147483640"/>
            <ac:graphicFrameMk id="4" creationId="{78FADAFA-2E2E-74DD-4303-6F37365FD5BA}"/>
          </ac:graphicFrameMkLst>
        </pc:graphicFrameChg>
      </pc:sldChg>
      <pc:sldChg chg="addSp modSp ord">
        <pc:chgData name="Akriti Mehta" userId="0c901562-3821-4879-abc2-7521cf2ab412" providerId="ADAL" clId="{144A11F9-5BB9-40A3-A970-33EF68ACAA95}" dt="2026-05-28T11:32:00.811" v="54"/>
        <pc:sldMkLst>
          <pc:docMk/>
          <pc:sldMk cId="133392592" sldId="2147483641"/>
        </pc:sldMkLst>
        <pc:spChg chg="add">
          <ac:chgData name="Akriti Mehta" userId="0c901562-3821-4879-abc2-7521cf2ab412" providerId="ADAL" clId="{144A11F9-5BB9-40A3-A970-33EF68ACAA95}" dt="2026-05-28T11:02:01.097" v="35"/>
          <ac:spMkLst>
            <pc:docMk/>
            <pc:sldMk cId="133392592" sldId="2147483641"/>
            <ac:spMk id="6" creationId="{CD55F719-9ACD-67F3-F43F-5944F78012BD}"/>
          </ac:spMkLst>
        </pc:spChg>
        <pc:graphicFrameChg chg="add mod">
          <ac:chgData name="Akriti Mehta" userId="0c901562-3821-4879-abc2-7521cf2ab412" providerId="ADAL" clId="{144A11F9-5BB9-40A3-A970-33EF68ACAA95}" dt="2026-05-28T11:02:01.097" v="35"/>
          <ac:graphicFrameMkLst>
            <pc:docMk/>
            <pc:sldMk cId="133392592" sldId="2147483641"/>
            <ac:graphicFrameMk id="4" creationId="{622C0B0F-10A3-6A09-5924-A99EA980FEF3}"/>
          </ac:graphicFrameMkLst>
        </pc:graphicFrameChg>
      </pc:sldChg>
      <pc:sldChg chg="modSp ord">
        <pc:chgData name="Akriti Mehta" userId="0c901562-3821-4879-abc2-7521cf2ab412" providerId="ADAL" clId="{144A11F9-5BB9-40A3-A970-33EF68ACAA95}" dt="2026-05-28T11:35:09.117" v="59"/>
        <pc:sldMkLst>
          <pc:docMk/>
          <pc:sldMk cId="1897889794" sldId="2147483642"/>
        </pc:sldMkLst>
        <pc:spChg chg="mod">
          <ac:chgData name="Akriti Mehta" userId="0c901562-3821-4879-abc2-7521cf2ab412" providerId="ADAL" clId="{144A11F9-5BB9-40A3-A970-33EF68ACAA95}" dt="2026-05-28T11:02:27.234" v="36"/>
          <ac:spMkLst>
            <pc:docMk/>
            <pc:sldMk cId="1897889794" sldId="2147483642"/>
            <ac:spMk id="3" creationId="{FF34270C-B95E-1865-A674-35D13E48C3CD}"/>
          </ac:spMkLst>
        </pc:spChg>
        <pc:spChg chg="mod">
          <ac:chgData name="Akriti Mehta" userId="0c901562-3821-4879-abc2-7521cf2ab412" providerId="ADAL" clId="{144A11F9-5BB9-40A3-A970-33EF68ACAA95}" dt="2026-05-28T11:35:09.117" v="59"/>
          <ac:spMkLst>
            <pc:docMk/>
            <pc:sldMk cId="1897889794" sldId="2147483642"/>
            <ac:spMk id="11" creationId="{C37A07C7-7A74-875D-5B2B-B3069CCAA347}"/>
          </ac:spMkLst>
        </pc:spChg>
      </pc:sldChg>
      <pc:sldChg chg="addSp delSp modSp">
        <pc:chgData name="Akriti Mehta" userId="0c901562-3821-4879-abc2-7521cf2ab412" providerId="ADAL" clId="{144A11F9-5BB9-40A3-A970-33EF68ACAA95}" dt="2026-05-28T11:02:44.072" v="37"/>
        <pc:sldMkLst>
          <pc:docMk/>
          <pc:sldMk cId="225433688" sldId="2147483643"/>
        </pc:sldMkLst>
        <pc:spChg chg="del">
          <ac:chgData name="Akriti Mehta" userId="0c901562-3821-4879-abc2-7521cf2ab412" providerId="ADAL" clId="{144A11F9-5BB9-40A3-A970-33EF68ACAA95}" dt="2026-05-28T11:02:44.072" v="37"/>
          <ac:spMkLst>
            <pc:docMk/>
            <pc:sldMk cId="225433688" sldId="2147483643"/>
            <ac:spMk id="3" creationId="{3508BD82-7044-5D11-25F5-2CCD9756D485}"/>
          </ac:spMkLst>
        </pc:spChg>
        <pc:spChg chg="add">
          <ac:chgData name="Akriti Mehta" userId="0c901562-3821-4879-abc2-7521cf2ab412" providerId="ADAL" clId="{144A11F9-5BB9-40A3-A970-33EF68ACAA95}" dt="2026-05-28T11:02:44.072" v="37"/>
          <ac:spMkLst>
            <pc:docMk/>
            <pc:sldMk cId="225433688" sldId="2147483643"/>
            <ac:spMk id="8" creationId="{32045E99-E895-CBFF-470F-359243C1DB58}"/>
          </ac:spMkLst>
        </pc:spChg>
        <pc:graphicFrameChg chg="add mod">
          <ac:chgData name="Akriti Mehta" userId="0c901562-3821-4879-abc2-7521cf2ab412" providerId="ADAL" clId="{144A11F9-5BB9-40A3-A970-33EF68ACAA95}" dt="2026-05-28T11:02:44.072" v="37"/>
          <ac:graphicFrameMkLst>
            <pc:docMk/>
            <pc:sldMk cId="225433688" sldId="2147483643"/>
            <ac:graphicFrameMk id="6" creationId="{547CDEF3-9B87-A911-841F-30C5F58D336E}"/>
          </ac:graphicFrameMkLst>
        </pc:graphicFrameChg>
      </pc:sldChg>
      <pc:sldChg chg="modSp add">
        <pc:chgData name="Akriti Mehta" userId="0c901562-3821-4879-abc2-7521cf2ab412" providerId="ADAL" clId="{144A11F9-5BB9-40A3-A970-33EF68ACAA95}" dt="2026-05-28T11:11:36.602" v="48"/>
        <pc:sldMkLst>
          <pc:docMk/>
          <pc:sldMk cId="868123358" sldId="2147483644"/>
        </pc:sldMkLst>
        <pc:spChg chg="mod">
          <ac:chgData name="Akriti Mehta" userId="0c901562-3821-4879-abc2-7521cf2ab412" providerId="ADAL" clId="{144A11F9-5BB9-40A3-A970-33EF68ACAA95}" dt="2026-05-28T11:11:36.602" v="48"/>
          <ac:spMkLst>
            <pc:docMk/>
            <pc:sldMk cId="868123358" sldId="2147483644"/>
            <ac:spMk id="3" creationId="{983C2F71-5555-8C29-446C-F869FB709098}"/>
          </ac:spMkLst>
        </pc:spChg>
      </pc:sldChg>
      <pc:sldChg chg="add del setBg">
        <pc:chgData name="Akriti Mehta" userId="0c901562-3821-4879-abc2-7521cf2ab412" providerId="ADAL" clId="{144A11F9-5BB9-40A3-A970-33EF68ACAA95}" dt="2026-05-28T11:03:01.941" v="39"/>
        <pc:sldMkLst>
          <pc:docMk/>
          <pc:sldMk cId="1421388606" sldId="21474836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3, which focuses on the core governance pillars for AI model lifecycle management. This module covers both MLOps and AgentOps from a technical governance perspective, exploring how organizations can build responsible, scalable AI systems.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terms and conditions for using these training materials. Please review the confidentiality requirements before proceeding.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49426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introduces the distinction between model registries and agent registries. While both serve as tracking systems, they address fundamentally different governance needs — models as static assets versus agents as active, decision-making identities.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74E3-8E0D-4DBA-9842-2CB805F22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4D3E9-C20D-2CD9-554F-82A2560E04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7169F8-6C7A-E242-3640-BA7C9CEEF00F}"/>
              </a:ext>
            </a:extLst>
          </p:cNvPr>
          <p:cNvSpPr>
            <a:spLocks noGrp="1"/>
          </p:cNvSpPr>
          <p:nvPr>
            <p:ph type="body" sz="quarter" idx="3"/>
          </p:nvPr>
        </p:nvSpPr>
        <p:spPr/>
        <p:txBody>
          <a:bodyPr/>
          <a:lstStyle/>
          <a:p>
            <a:r>
              <a:t>Given the number of AI technologies available today, the sheer number of possible use cases, and the wide range of organizational starting points, it’s become increasingly difficult for leaders to know what to prioritize. What we’ve learned is that AI success isn’t about chasing individual tools or isolated pilots. It’s about building the right foundation to consistently deliver business value with AI. We identified five drivers of organizational readiness that distinguish companies that are able to scale AI from those that remain stuck in experimentation. Today we'll take a closer look at how Governance and Security drive AI transformation.</a:t>
            </a:r>
          </a:p>
        </p:txBody>
      </p:sp>
      <p:sp>
        <p:nvSpPr>
          <p:cNvPr id="4" name="Slide Number Placeholder 3">
            <a:extLst>
              <a:ext uri="{FF2B5EF4-FFF2-40B4-BE49-F238E27FC236}">
                <a16:creationId xmlns:a16="http://schemas.microsoft.com/office/drawing/2014/main" id="{96EF3F45-E85E-252D-572F-B971520312FB}"/>
              </a:ext>
            </a:extLst>
          </p:cNvPr>
          <p:cNvSpPr>
            <a:spLocks noGrp="1"/>
          </p:cNvSpPr>
          <p:nvPr>
            <p:ph type="sldNum" sz="quarter" idx="5"/>
          </p:nvPr>
        </p:nvSpPr>
        <p:spPr/>
      </p:sp>
    </p:spTree>
    <p:extLst>
      <p:ext uri="{BB962C8B-B14F-4D97-AF65-F5344CB8AC3E}">
        <p14:creationId xmlns:p14="http://schemas.microsoft.com/office/powerpoint/2010/main" val="306832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comparison table highlights the key structural differences between model registries and agent registries. Note how model registries focus on versioning and traceability of weights and configs, while agent registries emphasize identity management, ownership tracking, and behavioural visibility. Shadow agents are a key risk that the agent registry helps address.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now move to Learning 2, covering deployment gates — the mandatory checkpoints that ensure governance, risk validation, and policy compliance throughout the AI lifecycle.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0A72-4A77-7043-4C39-D6C96B4C9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36A29-8E38-50D1-291F-C13D429799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5B7199C-F4DE-B77B-368A-98B447D17E78}"/>
              </a:ext>
            </a:extLst>
          </p:cNvPr>
          <p:cNvSpPr>
            <a:spLocks noGrp="1"/>
          </p:cNvSpPr>
          <p:nvPr>
            <p:ph type="body" sz="quarter" idx="3"/>
          </p:nvPr>
        </p:nvSpPr>
        <p:spPr/>
        <p:txBody>
          <a:bodyPr/>
          <a:lstStyle/>
          <a:p>
            <a:r>
              <a:t>Given the number of AI technologies available today, the sheer number of possible use cases, and the wide range of organizational starting points, it’s become increasingly difficult for leaders to know what to prioritize. What we’ve learned is that AI success isn’t about chasing individual tools or isolated pilots. It’s about building the right foundation to consistently deliver business value with AI. We identified five drivers of organizational readiness that distinguish companies that are able to scale AI from those that remain stuck in experimentation. Today we'll take a closer look at how Governance and Security drive AI transformation.</a:t>
            </a:r>
          </a:p>
        </p:txBody>
      </p:sp>
      <p:sp>
        <p:nvSpPr>
          <p:cNvPr id="4" name="Slide Number Placeholder 3">
            <a:extLst>
              <a:ext uri="{FF2B5EF4-FFF2-40B4-BE49-F238E27FC236}">
                <a16:creationId xmlns:a16="http://schemas.microsoft.com/office/drawing/2014/main" id="{147058FC-7A40-FDF2-EFD1-B794F67B46BF}"/>
              </a:ext>
            </a:extLst>
          </p:cNvPr>
          <p:cNvSpPr>
            <a:spLocks noGrp="1"/>
          </p:cNvSpPr>
          <p:nvPr>
            <p:ph type="sldNum" sz="quarter" idx="5"/>
          </p:nvPr>
        </p:nvSpPr>
        <p:spPr/>
      </p:sp>
    </p:spTree>
    <p:extLst>
      <p:ext uri="{BB962C8B-B14F-4D97-AF65-F5344CB8AC3E}">
        <p14:creationId xmlns:p14="http://schemas.microsoft.com/office/powerpoint/2010/main" val="1831007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highlights how gates differ between MLOps and AgentOps. MLOps gates are primarily pre-deployment focused on model metrics, while AgentOps gates are continuous and runtime-heavy, monitoring actions and decisions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seven standard deployment gates provide a comprehensive framework from use case approval through retirement. Each gate has specific checks that must pass before promotion. Emphasize that Gate 5 (Runtime Governance) is continuous, not a one-time checkpoint.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enforcement models for gates: automated for scalability, manual for high-risk scenarios requiring human judgment, and hybrid which combines both. The hybrid model is considered best practice for enterprise AI governance.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now transition to Learning 3, which covers evaluation-driven promotion — the principle that advancement through lifecycle stages must be earned through evidence, not assumed from completion.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core principle: promotion should be evidence-based, not timeline-based. The traditional approach of promoting when code is complete leads to hidden risks. The modern approach ties promotion to measurable trust signals across safety, behaviour, and compliance dimensions.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Evaluation is positioned as a dedicated stage before promotion in the lifecycle. Note the four evaluation layers: model, agent, data, and system. All layers must be evaluated — focusing only on the model layer misses critical agent and system risks.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evaluation criteria examples are organized by layer. Model-level checks focus on accuracy and bias, agent-level on correct tool usage and controlled autonomy, data-level on exposure and compliance, and system-level on end-to-end workflow correctness and failure handling.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promotion gate logic uses a decision framework with three outcomes: full promotion, restricted promotion for partial passes, and rejection for failures. The human-in-the-loop model maps risk levels to autonomy: high risk gets human-led decisions, low risk allows AI to run with human review. Key principle: promote validated behaviour, not just artifacts.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now begin Learning 4 on FAOS — Feedback-Aware Optimisation Systems — which extends governance into production through continuous feedback loops.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FAOS is a closed-loop system that captures feedback from AI usage, evaluates it against safety and performance criteria, and uses those insights to continuously optimize models, agents, and system behaviour. Without FAOS, drift goes undetected and compliance becomes reactive.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FAOS has four core components working together: Feedback Capture (explicit and implicit signals), Evaluation Engine (safety and performance thresholds), Optimisation Layer (prompts, workflows, configurations), and Governance Control (approval gates, risk enforcement, and auditability).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FAOS extends evaluation-driven promotion into production by creating a continuous cycle: deploy, monitor, feedback, evaluate, optimise, re-promote. The feedback types — explicit (user ratings, corrections) and implicit (failures, escalations, abandoned tasks) — both feed into the optimisation loop.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impact comparison shows what changes with FAOS across five areas: model quality, agent behaviour, data governance, compliance, and trust. The three key governance principles are: governance is continuous, runtime enforcement integrates with deployment gates, and accountability is shared across platform, product, and governance teams.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an important nuance: not everything needs an LLM. For structured data problems like time-series forecasting, purpose-built models are more practical, interpretable, lightweight, and auditable. The key insight is that with MCP (Model Context Protocol), agents can discover and call specialized ML models like any other tool.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lab accelerator demonstrates how to deploy a pre-trained sklearn forecasting model to Azure ML, expose it through Azure API Management, and wrap it as an MCP server for cloud-based agents in Azure AI Foundry. It includes built-in LLM logging, retry policies, and managed identity authentication.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215C-4C27-C9C8-A5AA-FD0F10ADA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893E4-9163-E573-B32F-99948A92A2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406A3E2-5200-D41A-F19F-45C06070B132}"/>
              </a:ext>
            </a:extLst>
          </p:cNvPr>
          <p:cNvSpPr>
            <a:spLocks noGrp="1"/>
          </p:cNvSpPr>
          <p:nvPr>
            <p:ph type="body" sz="quarter" idx="3"/>
          </p:nvPr>
        </p:nvSpPr>
        <p:spPr/>
        <p:txBody>
          <a:bodyPr/>
          <a:lstStyle/>
          <a:p>
            <a:r>
              <a:t>We now begin Learning 4 on FAOS — Feedback-Aware Optimisation Systems — which extends governance into production through continuous feedback loops.</a:t>
            </a:r>
          </a:p>
        </p:txBody>
      </p:sp>
      <p:sp>
        <p:nvSpPr>
          <p:cNvPr id="4" name="Slide Number Placeholder 3">
            <a:extLst>
              <a:ext uri="{FF2B5EF4-FFF2-40B4-BE49-F238E27FC236}">
                <a16:creationId xmlns:a16="http://schemas.microsoft.com/office/drawing/2014/main" id="{BCAD6A5D-5273-2A47-E8D0-B5B982FD1FF9}"/>
              </a:ext>
            </a:extLst>
          </p:cNvPr>
          <p:cNvSpPr>
            <a:spLocks noGrp="1"/>
          </p:cNvSpPr>
          <p:nvPr>
            <p:ph type="sldNum" sz="quarter" idx="5"/>
          </p:nvPr>
        </p:nvSpPr>
        <p:spPr/>
      </p:sp>
    </p:spTree>
    <p:extLst>
      <p:ext uri="{BB962C8B-B14F-4D97-AF65-F5344CB8AC3E}">
        <p14:creationId xmlns:p14="http://schemas.microsoft.com/office/powerpoint/2010/main" val="249992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Spend ~90 seconds. Resist the urge to dive into tools. Plant the three failure modes — every later slide ties back to one of them.</a:t>
            </a:r>
          </a:p>
          <a:p>
            <a:r>
              <a:rPr sz="1100" b="1"/>
              <a:t>TALK-TRACK: </a:t>
            </a:r>
            <a:r>
              <a:rPr sz="1100"/>
              <a:t>Every governance concern — Responsible AI, security, compliance, cost, MLOps, data — defines a set of controls. Those controls only matter if you can SEE them working in production and REACT when they don't. Without AgenticOps you get one of three failure modes. Silent drift — your groundedness score quietly slides from 0.9 to 0.7 over a month. Blind blast radius — an incident happens and you have no way to reconstruct what your multi-agent system actually did. And the open loop — you fix issues in a hotfix, but the underlying eval set never learns, so the same class of bug ships in the next version. AgenticOps exists to close those three gaps.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Anchor slide. Spend ~2 min. Walk left → middle → right with your hand. Stress: AgenticOps owns the pipe in the middle; the consumers on the right just read from it.</a:t>
            </a:r>
          </a:p>
          <a:p>
            <a:r>
              <a:rPr sz="1100" b="1"/>
              <a:t>TALK-TRACK: </a:t>
            </a:r>
            <a:r>
              <a:rPr sz="1100"/>
              <a:t>Here's the mental model for the entire session. On the left: every agent your organization runs, regardless of framework or where it's hosted. In the middle: one OpenTelemetry pipe — the GenAI semantic conventions — flowing into Application Insights and Log Analytics. On the right: every consumer that needs that signal. Foundry Control Plane reads it for fleet management. Azure Monitor reads it for alerts. Cost Management reads token usage. Defender reads security signals. And — most importantly — your CI/CD pipeline reads it to build the next version's evaluation dataset. AgenticOps owns the pipe in the middle. Get the pipe right and every consumer just works.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the Foundry tracing screenshot of a single agent run. Point at the attribute panel (model, tokens, agent id). Make sure audience can see the field names match the contract on the left.</a:t>
            </a:r>
          </a:p>
          <a:p>
            <a:r>
              <a:rPr sz="1100" b="1"/>
              <a:t>TALK-TRACK: </a:t>
            </a:r>
            <a:r>
              <a:rPr sz="1100"/>
              <a:t>Observability isn't a tool you buy — it's a contract you enforce. The contract is the OpenTelemetry GenAI semantic conventions. Every agent emits these standard attributes: which model, how many tokens, which agent identity, what tool was called, what the guardrail decided. The reason this matters: if even one field — say, gen_ai.agent.id — is missing or inconsistent, you cannot filter your dashboards by agent, you cannot route alerts by owner, and you cannot do per-agent chargeback. Foundry agents emit this contract out of the box. Custom agents pick it up via the Azure Monitor OpenTelemetry distro plus auto-instrumentation in Agent Framework. On the right is what one agent run looks like in Foundry's tracing view — notice the standard attributes are right there in the span detail.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Foundry end-to-end trace screenshot of a multi-agent handoff. Trace the spans with your finger: orchestrator → specialist → tool. Stress the SHARED trace ID at the top.</a:t>
            </a:r>
          </a:p>
          <a:p>
            <a:r>
              <a:rPr sz="1100" b="1"/>
              <a:t>TALK-TRACK: </a:t>
            </a:r>
            <a:r>
              <a:rPr sz="1100"/>
              <a:t>Multi-agent systems are where observability either earns its keep or completely fails you. Picture an orchestrator handing off to a specialist agent, which calls an MCP server, which calls a tool. That's one user request, four spans, three process boundaries. If those spans don't share a trace ID, you have no story. The mechanism is simple — W3C traceparent propagated across every hop. The screenshot on the right shows the same user prompt rolling up through every agent and every tool call as one connected trace in Foundry. The bonus you get for free: agent topology. Once you can see which agent calls which agent and which tool, you can alert when a NEW edge appears — that's often your first signal of a misconfiguration or an attack.</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Foundry Control Plane inventory grid. Highlight columns: status, error rate, cost, owner, version. Mention custom agents register via an APIM proxy in front of them.</a:t>
            </a:r>
          </a:p>
          <a:p>
            <a:r>
              <a:rPr sz="1100" b="1"/>
              <a:t>TALK-TRACK: </a:t>
            </a:r>
            <a:r>
              <a:rPr sz="1100"/>
              <a:t>Once you cross about ten agents in production, you stop being able to hold the fleet in your head. You need a single pane of glass — the AgentOps equivalent of an APM service map. The Foundry Control Plane is that surface on Azure. One screen tells you what agents exist, what platform they came from, what version is live, who owns them, how many runs they've done in the last day, what their error rate looks like, and roughly what they're costing you. That same screen is where you do lifecycle operations — start, stop, or block an agent without going near a deployment pipeline. Foundry-hosted agents show up natively. Custom agents — say, an Agent Framework app on Container Apps — get registered through an APIM proxy that fronts them.</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an Azure Monitor alert rule screenshot OR a Foundry guardrail threshold screenshot. Stress that every category needs a named owner and a written playbook — that's the Accelerator on slide 11.</a:t>
            </a:r>
          </a:p>
          <a:p>
            <a:r>
              <a:rPr sz="1100" b="1"/>
              <a:t>TALK-TRACK: </a:t>
            </a:r>
            <a:r>
              <a:rPr sz="1100"/>
              <a:t>Telemetry without alerts is just expensive storage. Every signal you collect needs a threshold, an owner, and a playbook. There are five alert categories that matter for agents. Quality regressions — your evaluators tell you when the agent is getting dumber. Safety spikes — Content Safety or Prompt Shield blocking more than usual is either an attack or a regression. Cost anomalies — token spend or per-request cost suddenly doubling against your cost budgets. Reliability — the classic SLO stuff: error rate, latency, tool timeouts. And security — Defender signals about new outbound destinations or tool invocations the agent has never made before. The mechanic on Azure is the same for all five — Azure Monitor alert on App Insights data, routed through an Action Group to wherever your on-call lives, with a written playbook waiting at the other end. We'll ship those playbooks as an accelerator.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Foundry online/continuous evaluation screenshot on a deployed agent. Stress: same telemetry CONTRACT in both environments — only the POLICY changes.</a:t>
            </a:r>
          </a:p>
          <a:p>
            <a:r>
              <a:rPr sz="1100" b="1"/>
              <a:t>TALK-TRACK: </a:t>
            </a:r>
            <a:r>
              <a:rPr sz="1100"/>
              <a:t>UAT and PROD share the contract; what changes is the policy. In UAT you turn the dials all the way up — verbose traces, full payload capture, the whole eval suite running on every deploy, even a red-team agent probing for weaknesses. In PROD you sample traces, you redact payloads for privacy, but critically — you run ONLINE evaluators on a percentage of live traffic. That's how you catch drift the second it happens, not the next time someone runs the eval suite manually. The promotion gate that connects UAT to PROD — eval pass plus a shadow run on mirrored production traffic before flipping the published version — sits in your release pipeline. AgenticOps' job is to make sure both environments produce the SIGNALS that gate can read.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Show Foundry batch evaluation screenshot — scores per evaluator against a versioned dataset. Stress 'cadence-driven, not incident-driven' — this is the line that separates Ops from monitoring.</a:t>
            </a:r>
          </a:p>
          <a:p>
            <a:r>
              <a:rPr sz="1100" b="1"/>
              <a:t>TALK-TRACK: </a:t>
            </a:r>
            <a:r>
              <a:rPr sz="1100"/>
              <a:t>Here's the line that separates monitoring from operations. Monitoring tells you something broke. AgenticOps fixes it on the next version. The loop has five steps. Production traces land in App Insights. A sampler — could be a scheduled job, could be online — picks out the failed runs and representative successes. Those go into a versioned evaluation dataset. You re-run the batch evaluators to confirm the regression. The fix — a prompt change, a different model, a tool fix — flows into your CI pipeline and out through your release gates. The critical word here is CADENCE. This loop runs daily or weekly whether anything is on fire or not. That's what makes the system get BETTER over time, not just survive. The screenshot below shows the Foundry batch eval surface — scores per evaluator against a specific dataset version, so you can see the regression and confirm the fix.</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Hold the picture for ~60 seconds. Walk top to bottom: where the agents run, the telemetry plane AgenticOps owns, the control plane on top of it, and the downstream consumers. End on the loop arrow.</a:t>
            </a:r>
          </a:p>
          <a:p>
            <a:r>
              <a:rPr sz="1100" b="1"/>
              <a:t>TALK-TRACK: </a:t>
            </a:r>
            <a:r>
              <a:rPr sz="1100"/>
              <a:t>This is the whole picture on one slide. At the top, the runtime — wherever your agents live on Azure. The telemetry plane in the middle is what AgenticOps makes you responsible for: getting OpenTelemetry into App Insights and Log Analytics, then surfaced via Workbooks and alerts. The control plane on top is the Foundry Control Plane — your single pane of glass. And the consumers at the bottom are the security, compliance, cost, and CI/CD tools reading from the same pipe. The one detail to remember from this slide: the arrow back from Log Analytics to your CI/CD pipeline. THAT arrow — the curated eval dataset feeding the next version — is what makes this AgentOps and not just monitoring.</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Keep this slide short — it's a hand-out menu, not a lecture. Mention each card in one sentence and move on.</a:t>
            </a:r>
          </a:p>
          <a:p>
            <a:r>
              <a:rPr sz="1100" b="1"/>
              <a:t>TALK-TRACK: </a:t>
            </a:r>
            <a:r>
              <a:rPr sz="1100"/>
              <a:t>Four artifacts you can take home and run on Monday morning. Number one — a Bicep reference architecture for the telemetry plane: App Insights, Log Analytics, Action Groups, and the wiring into a Foundry project. Number two — OpenTelemetry drop-in configs for Python and .NET, with the GenAI semconv attribute checklist baked in. Number three — an Azure Monitor Workbook with the seven views every agent fleet needs. Number four — and this is the one most teams skip — the incident response playbooks per alert category, including the post-incident step that closes the loop by adding the failing trace to the next eval dataset.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Ask the room: 'Where do you think you are today?' Get a few hands up per level. Be honest — most are L1.</a:t>
            </a:r>
          </a:p>
          <a:p>
            <a:r>
              <a:rPr sz="1100" b="1"/>
              <a:t>TALK-TRACK: </a:t>
            </a:r>
            <a:r>
              <a:rPr sz="1100"/>
              <a:t>Quick gut-check. Level one: you've instrumented your agents and you have basic dashboards. Most production agent deployments are here. Level two: you've added SLOs, alerts route to a real on-call rotation, and someone is actually paged when things break — but rollback is still manual. Level three: online evaluators run in production, auto-rollback is armed, and your multi-agent traces tell one story end to end. That's the target. Level four — production traces auto-curated into eval datasets on a cadence, with a red-team agent in the loop — that's where the leading-edge teams are heading. You don't need L4 to be successful. You DO need L3 if you're running agents that touch customers or money.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Rapid-fire — about 5 seconds per anti-pattern. Look for nods of recognition. End by saying 'every one of these is a real story from a real team'.</a:t>
            </a:r>
          </a:p>
          <a:p>
            <a:r>
              <a:rPr sz="1100" b="1"/>
              <a:t>TALK-TRACK: </a:t>
            </a:r>
            <a:r>
              <a:rPr sz="1100"/>
              <a:t>Six anti-patterns that no tooling will save you from. One — sharing one App Insights resource across fifty agents without populating gen_ai.agent.id, which makes the data unfilterable. Two — the classic 'we'll add tracing later'. You won't. Three — only running evaluations at PR time, so you have no idea how production behaves. Four — alerts with no playbook, which trains your team to ignore alerts. Five — A2A handoffs that lose the trace ID, which makes multi-agent debugging impossible. Six — installing the Foundry Control Plane and giving it to nobody, so it becomes a dashboard graveyard. Every one of these is a real pattern from a real team. Don't be that team.</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Run as audience Q&amp;A — give each question 60–90 seconds. Don't give the answer until at least one person tries.</a:t>
            </a:r>
          </a:p>
          <a:p>
            <a:r>
              <a:rPr sz="1100" b="1"/>
              <a:t>TALK-TRACK: </a:t>
            </a:r>
            <a:r>
              <a:rPr sz="1100"/>
              <a:t>Three questions to make sure this stuck. Question one — what mechanism lets you correlate every span in a multi-agent A2A request to one user prompt? Answer: the W3C traceparent propagated across hops, surfacing as a shared trace ID. Question two — name the four layers of the AgenticOps reference architecture top to bottom. Answer: Runtime, Telemetry Plane, Control Plane, Consumers. Question three — production groundedness drops 15% overnight, what should happen automatically? Answer: an Azure Monitor alert on the eval metric fires the playbook, AND the failing traces are auto-sampled into the next eval-dataset version. If you got two of three you've internalized AgenticOps.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b="1"/>
              <a:t>TO-DO: </a:t>
            </a:r>
            <a:r>
              <a:rPr sz="1100"/>
              <a:t>Close strong. Read the four lines aloud, pause on the third one.</a:t>
            </a:r>
          </a:p>
          <a:p>
            <a:r>
              <a:rPr sz="1100" b="1"/>
              <a:t>TALK-TRACK: </a:t>
            </a:r>
            <a:r>
              <a:rPr sz="1100"/>
              <a:t>Four things to take with you. One — AgenticOps on Azure is concrete: OpenTelemetry into App Insights and Log Analytics, surfaced through the Foundry Control Plane and Azure Monitor, feeding back into your CI/CD pipeline. Two — this layer does NOT replace any of your governance controls; it makes every one of them measurable. Three — and this is the one I want you to remember six months from now — the discipline is the LOOP, not the tooling. Tools will keep evolving. The loop won't. Four — your target is Level 3. Get there before you scale to dozens of agents.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recap the </a:t>
            </a:r>
            <a:r>
              <a:rPr lang="en-US"/>
              <a:t>five </a:t>
            </a:r>
            <a:r>
              <a:t>core governance pillars: (1) Registries provide visibility into models and agents, (2) Deployment gates enforce control at every lifecycle stage, (3) Evaluation-driven promotion builds trust through evidence, (4) FAOS enables continuous improvement through feedback loops</a:t>
            </a:r>
            <a:r>
              <a:rPr lang="en-US"/>
              <a:t>, and (5) AgenticOps makes every governance control observable, alertable, and self-improving in production</a:t>
            </a:r>
            <a:r>
              <a:t>. Together, these pillars form a comprehensive governance framework for responsible AI at scale.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floor for questions. Encourage participants to think about how these governance pillars apply to their own organization’s AI initiatives and where they might have gaps in their current governance approach.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0192407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57D239CF-0FC0-DA57-7309-C78F609ADBD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FD01B033-769C-68DE-8D3E-27FE3C6914A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775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
        <p:nvSpPr>
          <p:cNvPr id="3" name="Footer Placeholder 4">
            <a:extLst>
              <a:ext uri="{FF2B5EF4-FFF2-40B4-BE49-F238E27FC236}">
                <a16:creationId xmlns:a16="http://schemas.microsoft.com/office/drawing/2014/main" id="{334FD8BF-B494-032B-F6CD-0593844EB58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736C660E-B10D-E01E-32C6-2044D500553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E394715-986D-D668-EA4F-3A9A49EB4898}"/>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Text Placeholder 5">
            <a:extLst>
              <a:ext uri="{FF2B5EF4-FFF2-40B4-BE49-F238E27FC236}">
                <a16:creationId xmlns:a16="http://schemas.microsoft.com/office/drawing/2014/main" id="{A0A36A45-878E-A130-32D8-50467E4BF46E}"/>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12707019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044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54F6763-6AC0-1DA6-1360-1C00202183D0}"/>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642E3F12-56AE-7F42-FB6B-08C8BCE1125C}"/>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254831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F7A67744-3A81-A196-C793-7AE47DC61CB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28315729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32457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3C4A7113-1C85-4A35-B434-022FA5B6BA39}"/>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5FB01DBE-96D0-E685-11FC-257412DD4794}"/>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00527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C130585-D54D-146D-BF08-6BFDED17823D}"/>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3E8F1F66-3401-42D8-4EA7-93016BF04FDB}"/>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847084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AFDE0EE-2116-208F-62CB-54A9034B8825}"/>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22BF405-1FBE-1A50-B071-649A2F53198E}"/>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51562222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036383BE-CEF0-AE60-39EF-893B2F5AD4E9}"/>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F1D9F03C-20F5-D5CD-6BC9-893C4CAA81F2}"/>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699725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18818718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762935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93103B53-A33A-4C22-EB04-8A59B43A6F57}"/>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BD94F24E-850F-4606-EBE4-1C792FDC7296}"/>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8A720D4C-C93E-2243-CD86-4749B26754BF}"/>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EC6BA77D-DE5B-5A8F-08AC-C36720B853F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196498359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2" name="Rectangle 1">
            <a:extLst>
              <a:ext uri="{FF2B5EF4-FFF2-40B4-BE49-F238E27FC236}">
                <a16:creationId xmlns:a16="http://schemas.microsoft.com/office/drawing/2014/main" id="{9BFE431A-6F63-61D1-5528-CC8B3D1C1287}"/>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1F0BB7E2-D63A-6124-F98E-11354981C92A}"/>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F4831CE-A045-C1F7-3391-315EA9878B29}"/>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 name="Text Placeholder 4">
            <a:extLst>
              <a:ext uri="{FF2B5EF4-FFF2-40B4-BE49-F238E27FC236}">
                <a16:creationId xmlns:a16="http://schemas.microsoft.com/office/drawing/2014/main" id="{D2E456AC-17EB-0AF8-20F4-AB9CC430F695}"/>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7" name="Text Placeholder 4">
            <a:extLst>
              <a:ext uri="{FF2B5EF4-FFF2-40B4-BE49-F238E27FC236}">
                <a16:creationId xmlns:a16="http://schemas.microsoft.com/office/drawing/2014/main" id="{2E4377E8-5BFD-B0E9-B4ED-4FD6B58CE21A}"/>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8" name="Text Placeholder 4">
            <a:extLst>
              <a:ext uri="{FF2B5EF4-FFF2-40B4-BE49-F238E27FC236}">
                <a16:creationId xmlns:a16="http://schemas.microsoft.com/office/drawing/2014/main" id="{9B017822-0BF5-6D15-F0C4-DF7158A69AB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9" name="Footer Placeholder 4">
            <a:extLst>
              <a:ext uri="{FF2B5EF4-FFF2-40B4-BE49-F238E27FC236}">
                <a16:creationId xmlns:a16="http://schemas.microsoft.com/office/drawing/2014/main" id="{369BB4E9-953D-13C9-5C4F-A7CBF551E29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7FD7A82D-6421-49CF-F825-7CE531C634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64E8B8E6-D90D-1BF2-48AA-91286BE2B4E0}"/>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4633918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2D48B2AA-6947-C03E-ADC6-C678C17A578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312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9FC74D6-AD99-AABF-12F6-7642D40770D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A3D4C85A-3A2E-8E91-967B-CE12E2C7DD90}"/>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D75A541-BC17-6A99-361D-DA6B775B8C6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5401032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EC8E6EE-2B6E-6C6F-D2A7-4AFE1960FD0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1B344902-03DA-C26A-4C75-FC87375732BB}"/>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E627296-68AC-1F15-B54F-8B15B646CBC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2790641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4404E176-9D63-2251-DB1F-98BAD1464F54}"/>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BD4FD3D3-B8EA-F298-F342-54EF0CB4FCD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28C46C-E045-CD92-B361-46CB62E1A6AB}"/>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303793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83F9385D-20D7-65E5-C1AD-69DD5459348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C77E3538-D23A-519D-8669-DD15F202912C}"/>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5165596-F21C-DE10-0A8C-34E4275ED734}"/>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99045159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C4FBADD-F067-B3AF-C12C-91F41517AA8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8A09DC6A-3ABD-FA76-F91A-542191F8119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2A1CAF-487A-64E9-5E94-09FE71944536}"/>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9636951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8F2084-DA25-8C9A-182C-8DE4B84EFDA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090D05A-BF94-633F-516E-FE9B230DE505}"/>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728C721-2C10-2D48-704A-93E4498C9F8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703143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398095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356319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8732456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5066412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F5A77CDA-1A1F-95F2-63BD-FE156E5B2C5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E4AEBDCD-9C2D-EEFB-B8AA-57C8FA5AA39D}"/>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8E680C46-DD6E-2772-6C7F-9ABBF1084DAA}"/>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87E4FFEA-0F83-8586-B517-90DD00832CF5}"/>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D6B50B51-CE3D-38FF-5636-E5C9FAE6FE4B}"/>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59C8C57C-AFC7-D01F-613B-F5B14F66475E}"/>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51F73151-2D25-CF71-828F-A7F78A77D489}"/>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B057F83D-1835-ACBE-2D5E-AAC0F15D0324}"/>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785AE538-2609-09D4-98DB-1BAD837D08EA}"/>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72E46CC4-F931-28FB-2628-6BEAF5FB14B7}"/>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4BC71DE5-819B-C005-63EE-60F2C8976600}"/>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6769B0D6-C235-3FFB-68F0-6C71DA3D27CC}"/>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0839622-0C49-0673-D387-176594B9294D}"/>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703FB1-8CFD-22C4-3581-510F481C59F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AA6C92-B973-A246-543A-DA7024338990}"/>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97EF50-98A4-7394-1AC3-7948542D2EBB}"/>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71CDBF7-B0E8-41F0-507D-D72662E19767}"/>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E30668-CFEF-9BBA-BC0A-FED30EDA9F0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A8C712-24B5-D582-C6C6-66364E9C5B32}"/>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FE365B-681D-FE30-2F1F-2D64E860BE65}"/>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2C09DC0-2C01-2506-33E7-D6EB4BA639AA}"/>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A60E9F-F527-1461-EC01-88A6BE8FE8ED}"/>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46AAA8-9E2C-3124-9D83-CD6EA8DDDE7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45619A-43F0-3C64-9695-D41987557628}"/>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69878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42277A82-6FEA-C4D0-9E28-E117F876AC8F}"/>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D99FD728-6CFC-EE92-32C5-2D9201701C8C}"/>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FE6FFCF3-633F-F32F-0BF7-C3C64915C318}"/>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766B6CE9-2C91-181B-38A8-1C94653313F0}"/>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8E7DAB6E-62FB-0C9A-E741-A25349B1BEB7}"/>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22AE26C2-E654-E876-95A7-663B3B09DA26}"/>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2EEC6608-B71C-2E42-E89F-164F6C023AC3}"/>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7A5D5811-4EFB-D4C8-CE6E-157CD675DACF}"/>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EC19532D-5FE2-50E3-31D0-8A57E75DEF39}"/>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9A5101B0-44D5-D6DD-F397-8F26B636C93D}"/>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F2555AB8-660D-AE17-8A2B-13A2FD81029B}"/>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C42AF09C-3D4B-E1FD-67F4-9B3D8E347B5F}"/>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6518AC3-FDF8-7193-71F4-4CEA2D1FF8E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D1E547-A1FD-0CE9-946A-DA586A41FF23}"/>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AF7CAD-00EF-C6D2-2C76-D401FECAE2B3}"/>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DFEA73-5C98-E619-D86F-DB87FD9681A5}"/>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7D2B67F-A598-E9EC-357A-305B647D1A4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FD18EAC-59B1-4201-E61F-EBD6E293ED68}"/>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653100-8859-6236-D5E2-2790E2DFED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213B19-9E32-AAEC-62F0-698C8CCC8732}"/>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0AEF15B-8B21-9388-6B3F-24C67DAFED3B}"/>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9E7A05-57AC-B24F-F842-ADF7B020BCAF}"/>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9FB6FD-7F69-6C1E-3256-9B35EE805B2A}"/>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5D14B98-A28C-3966-4B22-65EFE888C04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14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A3A020A6-9A60-94E8-6B70-3C502ECAD284}"/>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3733710C-677D-D1C1-B77D-657B4AF266C9}"/>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E69F4CA9-D0F4-5886-9D88-DF8DCBFC4CD0}"/>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D5CC0856-4400-3A44-F7D8-9E23ED5B660E}"/>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BF703BD7-0931-54E3-335D-29A8CB10AD8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C92BD23E-F50A-5B5C-BD4C-66E574BD5ACC}"/>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7F8313C6-D1ED-0623-C13D-04764C405EAC}"/>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4880B96F-148F-E451-F0D5-2828ACDE3559}"/>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9321ED2F-0280-5E22-D33D-F6D95B66D796}"/>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A45573A2-63AB-2289-2308-C12FB78CC434}"/>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991CC61F-FDA6-AADF-A920-17605163EC82}"/>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11FE0D84-9F9D-0282-46B1-4A2033E1F7A1}"/>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FA30DF63-9B0D-2594-E696-0F5C23B981FE}"/>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A45DE55-CB97-0CDE-175E-A1583439764C}"/>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7FB3EB0-CC7C-E6CE-1810-82B69695C918}"/>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410162-624B-1877-1CC8-79829002D0A7}"/>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A485B8-B735-FF81-2039-4646DA9EC22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03A4ED-EF6D-A767-5678-BAC0E9B5313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370C370-17A3-8143-8D98-A0BD971228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35533C-A56E-15BC-13BA-D548AB87BB2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F20445-6AD2-C26B-3D01-92A2C20EE412}"/>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1483D1A-AE55-396E-4DA1-73EBD3FB92B8}"/>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057AA8-DDAD-0138-2F24-3A2FBF2472CD}"/>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2FDA8-DCE2-EACE-BEEC-8C93F9B60C55}"/>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9871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0247776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AD47F79A-06C6-8146-2726-E337C57DFA6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0A0A8ADA-90CC-2EF5-AE44-69BC64BA09FF}"/>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4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FABF-D25F-2CD0-F0BA-64896CCFC1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23ABFC-212A-9DF4-AFAC-47AC94EB07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BA7E48-6158-CFA2-19C6-0E8C0063CAB1}"/>
              </a:ext>
            </a:extLst>
          </p:cNvPr>
          <p:cNvSpPr>
            <a:spLocks noGrp="1"/>
          </p:cNvSpPr>
          <p:nvPr>
            <p:ph type="dt" sz="half" idx="10"/>
          </p:nvPr>
        </p:nvSpPr>
        <p:spPr/>
        <p:txBody>
          <a:bodyPr/>
          <a:lstStyle/>
          <a:p>
            <a:fld id="{C19E1C8A-4B80-440E-954D-1BBED5A9AAF1}" type="datetimeFigureOut">
              <a:rPr lang="en-GB" smtClean="0"/>
              <a:t>18/06/2026</a:t>
            </a:fld>
            <a:endParaRPr lang="en-GB"/>
          </a:p>
        </p:txBody>
      </p:sp>
      <p:sp>
        <p:nvSpPr>
          <p:cNvPr id="5" name="Footer Placeholder 4">
            <a:extLst>
              <a:ext uri="{FF2B5EF4-FFF2-40B4-BE49-F238E27FC236}">
                <a16:creationId xmlns:a16="http://schemas.microsoft.com/office/drawing/2014/main" id="{F8BB93D5-C458-9CC6-72DF-20F68DFE69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E64298-FB12-B847-B21C-A78D58C79D5A}"/>
              </a:ext>
            </a:extLst>
          </p:cNvPr>
          <p:cNvSpPr>
            <a:spLocks noGrp="1"/>
          </p:cNvSpPr>
          <p:nvPr>
            <p:ph type="sldNum" sz="quarter" idx="12"/>
          </p:nvPr>
        </p:nvSpPr>
        <p:spPr/>
        <p:txBody>
          <a:bodyPr/>
          <a:lstStyle/>
          <a:p>
            <a:fld id="{2A4877AF-57D8-4250-BD76-21C376E7EA1A}" type="slidenum">
              <a:rPr lang="en-GB" smtClean="0"/>
              <a:t>‹#›</a:t>
            </a:fld>
            <a:endParaRPr lang="en-GB"/>
          </a:p>
        </p:txBody>
      </p:sp>
    </p:spTree>
    <p:extLst>
      <p:ext uri="{BB962C8B-B14F-4D97-AF65-F5344CB8AC3E}">
        <p14:creationId xmlns:p14="http://schemas.microsoft.com/office/powerpoint/2010/main" val="5221751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756F3268-D9C2-26AA-E372-6D3615ACF2F1}"/>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2B9F499C-C8C9-89B3-E576-C790AC68B913}"/>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796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963357217"/>
      </p:ext>
    </p:extLst>
  </p:cSld>
  <p:clrMapOvr>
    <a:masterClrMapping/>
  </p:clrMapOvr>
  <p:transition>
    <p:fade/>
  </p:transition>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1903851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6DB6C57-3951-6006-519D-4615F6898754}"/>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891B525B-89EA-B373-ECC8-6581C820A14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38380249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505C1F9C-EA6B-0516-A59C-EEAD91DB727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6137223"/>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8268578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BB45644B-7519-025A-EA25-1E735AD16218}"/>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DBD08C04-D9E4-3431-3EE6-88E1E7DC1432}"/>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83880797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D3AF0C5-128A-D8D2-10FE-D34EF3815AE9}"/>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694A7857-C08F-E8FE-F2F9-253ACC13995A}"/>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56344719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7AA14FFF-7DEA-4B50-5F1C-156F46296DD9}"/>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54D39290-8489-ACD7-6388-6779B6CE0A22}"/>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83491760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0C312EF-C4DB-3DDF-D2EA-D34BFAA122C7}"/>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02399519-6CF5-542D-EC43-39FB96B0E3E7}"/>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68718659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2225274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9713691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1D9C04A6-E993-5211-2533-601A281EE02E}"/>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336CD3A4-FED2-D403-B65F-B2D92E676324}"/>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12B32456-DB82-55AB-700F-6A2C84C4A5EE}"/>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CF5FC2D3-1A8D-3942-5723-A6D7439E1B3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240603292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93459470"/>
      </p:ext>
    </p:extLst>
  </p:cSld>
  <p:clrMapOvr>
    <a:masterClrMapping/>
  </p:clrMapOvr>
  <p:transition>
    <p:fade/>
  </p:transition>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6BA0E33D-37F8-4AE3-99A1-FD4770D69CED}"/>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0582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B352466-73AE-2F17-6811-285EC097EE5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4303211B-F044-6B41-91DD-973CBAB6612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21EA47-7383-A5AE-F7E2-144D92B236D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1505176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9FB0A9EA-399B-A60A-EF32-091C33971B8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FC4F2E8A-9667-9DDE-288A-4AC733332D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0021B30-2A90-F856-B1BD-6A692DE44C5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45640392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3E0E838-ED95-446E-6CCB-9AE765F47A3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6AFDC62D-4B4D-701E-E3BD-854924BE099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781C1D1-D00A-C074-F63A-2F5829F45870}"/>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1038917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E23A4AA-F28B-26BD-57B0-D8FE06D7F7C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7AA8CF0A-431A-4CDA-954F-5FD34FCA30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BF29891-85E9-044C-249E-1DC506F25E0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415230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3F6F8EF-12A1-147F-C671-621F5F962D15}"/>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41D2742D-678D-A24A-F321-B95FF34DE0A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69EAD12-DD32-29FF-3973-2E7CEB5BC09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783273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DF686E0C-AF28-1E28-195D-FC9EB761737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8CED571-7426-C0C1-4C2E-A6F51C76897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62312A6-BFFD-00AE-2397-A723AE1FFE18}"/>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64712685"/>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51300289"/>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6318034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66609744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3528761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87A5FA9C-CA11-551D-8C9C-DD42DEAD3B86}"/>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C0E1BA35-48A2-0F7C-054E-5452105B0EB9}"/>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2AB55633-061B-6ED4-E4C8-92DF8B75F0C5}"/>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B8F4E9EB-CF14-1FDF-2D81-E931ED26059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081F9009-6FAF-3DAB-98EF-B57786592C4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B2FBEE97-E16D-914E-6F43-9E74D0DDBC1D}"/>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3747CC41-4584-0D75-5370-46328CEF879E}"/>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01220BB4-34E9-83D8-9F57-72691342526E}"/>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2BBDB343-5265-A98E-6C91-799B40B1095E}"/>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670518D9-F896-A739-4FD1-DACC805C1E9A}"/>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9DF72811-596D-0595-BFA2-D34E7BA21F13}"/>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F334222D-93E3-7D4A-74F3-05E336AF3245}"/>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85486A9-A12E-4801-010F-689CFBED9FA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F102C0-99F7-2579-DF13-7A4299A93F6E}"/>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62B166E-CCC5-6C4F-6E0C-4786141DA215}"/>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E27825-5F41-6D72-151A-E11AF0855FB8}"/>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999A4B8-B5CE-8165-9230-5F3DE29E78B4}"/>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FDAD5B-2E16-F667-1C37-59847BE0B945}"/>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651BFE-3DF6-5B9D-A894-11822AE7580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CAAA12-0E59-6462-3F70-AF5A2AF954B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D414F4-69A1-D15D-0CC6-FDCB808E6095}"/>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C055B6-5EE1-E356-AA4A-ADD025B8FF65}"/>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010138-D5AA-8E7C-0815-0FDB5CC45160}"/>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3BCE7-7FC5-B6F7-DFE4-AD7A6E5FBC8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9088"/>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B87BC26A-7C34-479F-4114-F89986902D1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BA01427F-2F61-5826-91B0-44BABCAE5955}"/>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5604DF28-D28C-65C0-0D6B-6BD9504F140F}"/>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4AD149BF-D2BB-2FE9-6DBF-10274DBE9A8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1E67488E-FF77-7347-1144-18A60A70E0C9}"/>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E15DD351-C693-656E-9C55-38963131B77B}"/>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6AE9FCD4-68EF-2B5C-9993-662174E9B3AF}"/>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AEDD0D06-0822-D6CF-F7F2-ECA1DD42F5C5}"/>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50B3CA65-D609-AB6A-CE08-FCAE009CFCE8}"/>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EB7E8541-E2FD-C3EE-A627-86DB1BF9869B}"/>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97FBB600-B90E-6173-DA8D-0C4B5493FC54}"/>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764C5A39-08BF-32ED-B393-B3E32D187B7D}"/>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12653D6-9611-CF69-EC1F-2CEF44520628}"/>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E32C65-63F6-AC0C-F5B4-2CD6C3FD75F1}"/>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333DEDF-AD3C-645B-6D8A-C9FE79A2CDB9}"/>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9D5B02-8BF0-9F54-1DD2-843947A045E0}"/>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24141D-1EC2-F6A2-4F49-507B9FCB364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8BEA3A-4F0C-8D90-FDAB-EC1C1B5CC584}"/>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8EA5E3-7BAD-462B-AB87-36C08BA1E31C}"/>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11E5A75-82F4-A2A3-D83A-48C0D1716CBF}"/>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436ABB-81F1-8EC2-6BC6-BFB945FD337C}"/>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FF5157-84C5-A522-CD55-4FD17E2875B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F39BD8-2655-4968-D193-B00BEA99501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252866B-3666-8656-D203-E6AA0E0D93E7}"/>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05275"/>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0A3F8966-57C4-8D69-C2EE-33B49713DBB9}"/>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AEAD8DFB-08AB-1CA1-08FC-39EC59F5EBFE}"/>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671E9712-E3C1-A63F-8C08-29D6ED708785}"/>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6F6F8AB6-38BF-D978-847B-D749F8DB2D79}"/>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7B3FCA31-9DBC-535A-F646-502AD3C4D1D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30AEFC43-70D4-4B2E-D1FE-2EAA1FFDC2B0}"/>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657D4A5C-0906-5390-F0F2-FBDAEF89021E}"/>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E025B546-6089-6239-8F8C-2460DC28233A}"/>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EA0FEA50-3041-99F7-8E63-BEF554768F0F}"/>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D4B7E630-810D-96ED-55A6-FE05046C1F8E}"/>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649E71A2-2E20-8403-B55C-AB232C8E2DB6}"/>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20A9CECE-ADB9-A3E2-3752-8BEEE480CCCB}"/>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B5095EB6-A636-9B82-2D9B-92E94DCFB107}"/>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BD8B419-8700-09BC-6C95-2084A6309A8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A89DC29-66A1-1813-CAF6-46E5228296C4}"/>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C8A285-4F95-F90F-4937-830BB68E94ED}"/>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542510-3C26-9C80-F5F6-92EA7A954851}"/>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E779AC0-FBDA-CE35-A626-3927B3A1EDF0}"/>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71C710-41E0-6882-FDB3-69102CE05C6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A81D277-20A5-A253-4DCA-54209067BD36}"/>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0185C3-29D3-2059-2E6D-0B07CE0B2014}"/>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989C6A-A88E-2EA6-98F8-304FF070BB0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ADFD3E-B19C-9A2C-EFF6-34CAA61FD4DB}"/>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0CCE77A-6046-630C-03DF-2CA4427EDCEA}"/>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0172"/>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278225201"/>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72028822-A305-2632-7308-349518C64BF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1B0072A0-F3A5-3ACF-F6E3-98DC215F173A}"/>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3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heme" Target="../theme/theme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theme" Target="../theme/theme3.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Title Placeholder 1">
            <a:extLst>
              <a:ext uri="{FF2B5EF4-FFF2-40B4-BE49-F238E27FC236}">
                <a16:creationId xmlns:a16="http://schemas.microsoft.com/office/drawing/2014/main" id="{DA58ED04-A41D-F6D6-EF43-9324CB14A94A}"/>
              </a:ext>
            </a:extLst>
          </p:cNvPr>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34" name="Text Placeholder 3">
            <a:extLst>
              <a:ext uri="{FF2B5EF4-FFF2-40B4-BE49-F238E27FC236}">
                <a16:creationId xmlns:a16="http://schemas.microsoft.com/office/drawing/2014/main" id="{B9F0F4AE-E8FD-934C-8C14-9D675AD712A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6" name="GRID" hidden="1">
            <a:extLst>
              <a:ext uri="{FF2B5EF4-FFF2-40B4-BE49-F238E27FC236}">
                <a16:creationId xmlns:a16="http://schemas.microsoft.com/office/drawing/2014/main" id="{D5D73230-EDAD-D53F-59F8-FD0D14164C09}"/>
              </a:ext>
            </a:extLst>
          </p:cNvPr>
          <p:cNvGrpSpPr/>
          <p:nvPr userDrawn="1"/>
        </p:nvGrpSpPr>
        <p:grpSpPr>
          <a:xfrm>
            <a:off x="0" y="0"/>
            <a:ext cx="12192000" cy="6858000"/>
            <a:chOff x="0" y="0"/>
            <a:chExt cx="12192000" cy="6858000"/>
          </a:xfrm>
        </p:grpSpPr>
        <p:cxnSp>
          <p:nvCxnSpPr>
            <p:cNvPr id="37" name="Straight Connector 36">
              <a:extLst>
                <a:ext uri="{FF2B5EF4-FFF2-40B4-BE49-F238E27FC236}">
                  <a16:creationId xmlns:a16="http://schemas.microsoft.com/office/drawing/2014/main" id="{96B0BD6C-F32A-52BD-3FEB-3D9A6DC243F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7ACE2E7-E61E-40FD-BB53-1851CB0652B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E18E8B-CE9D-8949-70F4-3028D1AD94C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CA01B6A-4AC0-6A5D-B5C8-71BE559BA86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CD63A13-4951-FE84-6E44-EF6FA658203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270D57-D41C-0DBB-594A-ECB1884B21B4}"/>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E9844D-4E86-846C-BE01-4AD94A28C74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841936-9B7E-8170-72DB-89EFAE19D3A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8B5CC-8DF8-7489-A2EA-72656395B4CD}"/>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96F75B-DA59-7463-0E62-201407450C49}"/>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A34CF89-46BA-99A0-38D1-2B52748F9C7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CFB786B-A62E-2AC8-8353-F38BDF9BB013}"/>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CFFADD-4B16-36EE-B634-DA4F349BF50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C125E2-ECF6-B730-B2AA-28C8B8DA1B7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38841B-EA6F-21C8-569C-BB809B5A4006}"/>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DD06D3F-1B28-31B4-0387-B2B473497750}"/>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CFF8194-2DA3-CC7B-E9C3-9FFDFDA8B0D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FA55516-A0C6-1889-6A8B-73858BEBDE9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8F3940E-516F-A553-DB1C-5710578772DF}"/>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F7F2FA-6044-B440-78F1-3220A0EC4FC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F80011-5C92-7CD9-952E-AE8DE09E1C3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7A75AB4-C3DC-E3AC-AE35-B6B21E7BDF76}"/>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EDF65A-E73F-B9F4-450E-CE4734F6FB02}"/>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C3C96E-F77B-3315-D7FF-DA9B09EAF9E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575FA65-25DE-8B58-C85B-F6180B657E7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76B1C9-F817-88AA-131D-226CDE75396B}"/>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5C5B56-09DE-80F4-9063-361FE984969D}"/>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8D092-A68E-966D-05AB-5C5F711644B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7B50F7C-54D2-8CF5-C2CC-2C0CFF958754}"/>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3FCD2F-60E6-A3A7-B15B-137B18185BA6}"/>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C449D22-C2C2-04AF-D96C-01D22008D30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A0F9A2E-6243-A242-A849-63A73FA2CC7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E0FABE-742C-D8C3-6991-6E9B0E1D7F53}"/>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2C2A98-6AE3-1156-1450-8988EB9EE61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6382D235-4B2E-67AE-3912-5E0EB4DFE99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1991EC17-57D3-7338-9697-9B8D4DAAC16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61732303"/>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 id="2147484121" r:id="rId21"/>
    <p:sldLayoutId id="2147484122" r:id="rId22"/>
    <p:sldLayoutId id="2147484123" r:id="rId23"/>
    <p:sldLayoutId id="2147484124" r:id="rId24"/>
    <p:sldLayoutId id="2147484125" r:id="rId25"/>
    <p:sldLayoutId id="2147484126" r:id="rId26"/>
    <p:sldLayoutId id="2147484127" r:id="rId27"/>
    <p:sldLayoutId id="2147484128" r:id="rId28"/>
    <p:sldLayoutId id="2147484129" r:id="rId29"/>
    <p:sldLayoutId id="2147484130" r:id="rId30"/>
    <p:sldLayoutId id="2147484163"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8" name="GRID" hidden="1">
            <a:extLst>
              <a:ext uri="{FF2B5EF4-FFF2-40B4-BE49-F238E27FC236}">
                <a16:creationId xmlns:a16="http://schemas.microsoft.com/office/drawing/2014/main" id="{DC680CE1-0152-A9B3-81CD-D7469FA1F45A}"/>
              </a:ext>
            </a:extLst>
          </p:cNvPr>
          <p:cNvGrpSpPr/>
          <p:nvPr userDrawn="1"/>
        </p:nvGrpSpPr>
        <p:grpSpPr>
          <a:xfrm>
            <a:off x="0" y="0"/>
            <a:ext cx="12192000" cy="6858000"/>
            <a:chOff x="0" y="0"/>
            <a:chExt cx="12192000" cy="6858000"/>
          </a:xfrm>
        </p:grpSpPr>
        <p:cxnSp>
          <p:nvCxnSpPr>
            <p:cNvPr id="34" name="Straight Connector 33">
              <a:extLst>
                <a:ext uri="{FF2B5EF4-FFF2-40B4-BE49-F238E27FC236}">
                  <a16:creationId xmlns:a16="http://schemas.microsoft.com/office/drawing/2014/main" id="{EC200297-0A98-8AE6-0A6D-1E94168949A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B67385F-35A7-D130-3418-F10389C4DA2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7D3EBB-08E2-F629-C15C-01FFE854237A}"/>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B0575A-A62C-DD17-309D-939A56D19DE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3683606-CB61-C6BA-6231-0DDAC12DAA3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6D7F8F7-78EA-CF8E-936E-24D3BE64C25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92743C-307F-4DF1-E323-373054232889}"/>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EB12845-B0B6-7190-8BB0-C44E534A0A2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CAD91D-3198-B853-C80C-06A279FD8380}"/>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1F7E7-7233-E9C2-DCAE-8BDAFD1EF1E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4A88CB-CBE2-BB9D-F215-64570BA1A65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19CBE1-1EA4-F3E9-D97C-4AEF7FB670CF}"/>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A85532-B597-C610-F029-1F7358412171}"/>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B174D4-016F-F483-58FA-EF7C0C19EA1E}"/>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2B9D32E-5FAA-1D00-01D3-48532F725B73}"/>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5C16BC-B2B8-8FDB-F751-289A977C6DD3}"/>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9E8EC1A-46FD-FA1D-BD66-CAF96087431B}"/>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D50D9E-9095-1E3C-A327-8DB08232695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32E05B0-B89C-7A35-7B9F-87436CAAECDD}"/>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68F935-7ACB-51CC-B910-483594E554A0}"/>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D414F4F-471B-FF12-D8F0-2FCDF7D92C6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F9E40C-6C1C-4347-7221-7FADE472373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989C83A-C592-83A4-9EEC-A45519E2DD1C}"/>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010B14-7365-C624-AD5D-7716A529DD5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D09495-38C3-CD54-01F7-8CA84A2BADCC}"/>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DC5C14-1638-B786-B582-AA49DF1E2EF7}"/>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BB542A2-9D2C-B85F-9EE0-D025871A1A7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151646-8A9D-A7F8-0D55-BAD73A5CEA67}"/>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5D6A62-F74D-1AB4-0563-28AB9E4C41C0}"/>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D2D649-FE0F-B760-4ABC-1267AF89D67E}"/>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E7004DF-B401-F6C7-29C3-72E415127EF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5DE4F3B-28F2-9012-C048-527C3DDA0C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71DC2F5-239C-94AE-5EA4-42459ABDE2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23C781-4CFD-7715-1126-27F71BFFC7F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8" name=".64 square" hidden="1">
            <a:extLst>
              <a:ext uri="{FF2B5EF4-FFF2-40B4-BE49-F238E27FC236}">
                <a16:creationId xmlns:a16="http://schemas.microsoft.com/office/drawing/2014/main" id="{403C4AD3-10A9-A760-C8F5-BC5E03CF043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32 square" hidden="1">
            <a:extLst>
              <a:ext uri="{FF2B5EF4-FFF2-40B4-BE49-F238E27FC236}">
                <a16:creationId xmlns:a16="http://schemas.microsoft.com/office/drawing/2014/main" id="{7FD4C3F5-136F-FDBD-9FA6-2F1C679D8021}"/>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94084769"/>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4" r:id="rId12"/>
    <p:sldLayoutId id="2147484145" r:id="rId13"/>
    <p:sldLayoutId id="2147484146" r:id="rId14"/>
    <p:sldLayoutId id="2147484147" r:id="rId15"/>
    <p:sldLayoutId id="2147484148" r:id="rId16"/>
    <p:sldLayoutId id="2147484149" r:id="rId17"/>
    <p:sldLayoutId id="2147484150" r:id="rId18"/>
    <p:sldLayoutId id="2147484151" r:id="rId19"/>
    <p:sldLayoutId id="2147484152" r:id="rId20"/>
    <p:sldLayoutId id="2147484153" r:id="rId21"/>
    <p:sldLayoutId id="2147484154" r:id="rId22"/>
    <p:sldLayoutId id="2147484155" r:id="rId23"/>
    <p:sldLayoutId id="2147484156" r:id="rId24"/>
    <p:sldLayoutId id="2147484157" r:id="rId25"/>
    <p:sldLayoutId id="2147484158" r:id="rId26"/>
    <p:sldLayoutId id="2147484159" r:id="rId27"/>
    <p:sldLayoutId id="2147484160" r:id="rId28"/>
    <p:sldLayoutId id="2147484161" r:id="rId29"/>
    <p:sldLayoutId id="2147484162"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5.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3.xml"/><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3318975"/>
            <a:ext cx="9050130" cy="2031325"/>
          </a:xfrm>
        </p:spPr>
        <p:txBody>
          <a:bodyPr/>
          <a:lstStyle/>
          <a:p>
            <a:r>
              <a:rPr lang="en-US" dirty="0"/>
              <a:t>Module 3 – Core Governance Pillars</a:t>
            </a:r>
            <a:endParaRPr dirty="0"/>
          </a:p>
        </p:txBody>
      </p:sp>
      <p:sp>
        <p:nvSpPr>
          <p:cNvPr id="3" name="Text Placeholder 2"/>
          <p:cNvSpPr>
            <a:spLocks noGrp="1"/>
          </p:cNvSpPr>
          <p:nvPr>
            <p:ph type="body" sz="quarter" idx="12"/>
          </p:nvPr>
        </p:nvSpPr>
        <p:spPr>
          <a:xfrm>
            <a:off x="582042" y="5634620"/>
            <a:ext cx="10398192" cy="1015663"/>
          </a:xfrm>
        </p:spPr>
        <p:txBody>
          <a:bodyPr/>
          <a:lstStyle/>
          <a:p>
            <a:r>
              <a:rPr lang="en-GB" dirty="0"/>
              <a:t>Model Lifecycle Governance (</a:t>
            </a:r>
            <a:r>
              <a:rPr lang="en-GB" dirty="0" err="1"/>
              <a:t>MLOps</a:t>
            </a:r>
            <a:r>
              <a:rPr lang="en-GB" dirty="0"/>
              <a:t> + </a:t>
            </a:r>
            <a:r>
              <a:rPr lang="en-GB" dirty="0" err="1"/>
              <a:t>AgentOps</a:t>
            </a:r>
            <a:r>
              <a:rPr lang="en-GB" dirty="0"/>
              <a:t>) </a:t>
            </a:r>
            <a:r>
              <a:rPr lang="en-GB"/>
              <a:t>+ </a:t>
            </a:r>
            <a:r>
              <a:rPr lang="en-GB" err="1"/>
              <a:t>AgenticOps</a:t>
            </a:r>
            <a:r>
              <a:rPr lang="en-GB"/>
              <a:t> on Azure </a:t>
            </a:r>
            <a:r>
              <a:rPr lang="en-GB" dirty="0"/>
              <a:t>– Technical Perspective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7315200" cy="731520"/>
          </a:xfrm>
          <a:prstGeom prst="rect">
            <a:avLst/>
          </a:prstGeom>
          <a:noFill/>
        </p:spPr>
        <p:txBody>
          <a:bodyPr wrap="square" anchor="t"/>
          <a:lstStyle/>
          <a:p>
            <a:pPr algn="l">
              <a:defRPr sz="2800" b="1">
                <a:solidFill>
                  <a:srgbClr val="243A5E"/>
                </a:solidFill>
                <a:latin typeface="Segoe UI Semibold"/>
              </a:defRPr>
            </a:pPr>
            <a:r>
              <a:t>Conditions and terms of use</a:t>
            </a:r>
          </a:p>
        </p:txBody>
      </p:sp>
      <p:sp>
        <p:nvSpPr>
          <p:cNvPr id="3" name="Rectangle 2"/>
          <p:cNvSpPr/>
          <p:nvPr/>
        </p:nvSpPr>
        <p:spPr>
          <a:xfrm>
            <a:off x="640080" y="1645920"/>
            <a:ext cx="10881360" cy="4114800"/>
          </a:xfrm>
          <a:prstGeom prst="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9966960" cy="3474720"/>
          </a:xfrm>
          <a:prstGeom prst="rect">
            <a:avLst/>
          </a:prstGeom>
          <a:noFill/>
        </p:spPr>
        <p:txBody>
          <a:bodyPr wrap="square" anchor="t"/>
          <a:lstStyle/>
          <a:p>
            <a:pPr algn="l">
              <a:defRPr sz="1000" b="0">
                <a:solidFill>
                  <a:srgbClr val="000000"/>
                </a:solidFill>
                <a:latin typeface="Segoe UI"/>
              </a:defRPr>
            </a:pPr>
            <a:r>
              <a:t>© Microsoft Corporation. All rights reserved.</a:t>
            </a:r>
            <a:br/>
            <a:br/>
            <a: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p>
        </p:txBody>
      </p:sp>
      <p:sp>
        <p:nvSpPr>
          <p:cNvPr id="5" name="Rectangle 4"/>
          <p:cNvSpPr/>
          <p:nvPr/>
        </p:nvSpPr>
        <p:spPr>
          <a:xfrm>
            <a:off x="0" y="6537960"/>
            <a:ext cx="12191695" cy="32004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0" y="6172200"/>
            <a:ext cx="3931920" cy="320040"/>
          </a:xfrm>
          <a:prstGeom prst="rect">
            <a:avLst/>
          </a:prstGeom>
          <a:noFill/>
        </p:spPr>
        <p:txBody>
          <a:bodyPr wrap="square" anchor="t"/>
          <a:lstStyle/>
          <a:p>
            <a:pPr algn="ctr">
              <a:defRPr sz="800" b="0">
                <a:solidFill>
                  <a:srgbClr val="737373"/>
                </a:solidFill>
                <a:latin typeface="Segoe UI"/>
              </a:defRPr>
            </a:pPr>
            <a:r>
              <a:t>Microsoft Confidential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sp>
        <p:nvSpPr>
          <p:cNvPr id="190" name="Footer Placeholder 2">
            <a:extLst>
              <a:ext uri="{FF2B5EF4-FFF2-40B4-BE49-F238E27FC236}">
                <a16:creationId xmlns:a16="http://schemas.microsoft.com/office/drawing/2014/main" id="{FA16A841-10E2-4DD9-93A5-F4C2212409C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93" name="Slide Number Placeholder 5">
            <a:extLst>
              <a:ext uri="{FF2B5EF4-FFF2-40B4-BE49-F238E27FC236}">
                <a16:creationId xmlns:a16="http://schemas.microsoft.com/office/drawing/2014/main" id="{14DC8E91-F999-4A75-9988-4FCDE4D6B72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pic>
        <p:nvPicPr>
          <p:cNvPr id="191" name="Picture 190" descr="Two young employees sitting in a coffee table working on a laptop">
            <a:extLst>
              <a:ext uri="{FF2B5EF4-FFF2-40B4-BE49-F238E27FC236}">
                <a16:creationId xmlns:a16="http://schemas.microsoft.com/office/drawing/2014/main" id="{18EAC8C2-BE84-4584-AF9B-4C62BD7EF1DD}"/>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graphicFrame>
        <p:nvGraphicFramePr>
          <p:cNvPr id="3" name="Table 3">
            <a:extLst>
              <a:ext uri="{FF2B5EF4-FFF2-40B4-BE49-F238E27FC236}">
                <a16:creationId xmlns:a16="http://schemas.microsoft.com/office/drawing/2014/main" id="{E36B2D91-29F6-7DF3-8533-A13344765C33}"/>
              </a:ext>
            </a:extLst>
          </p:cNvPr>
          <p:cNvGraphicFramePr>
            <a:graphicFrameLocks noGrp="1"/>
          </p:cNvGraphicFramePr>
          <p:nvPr>
            <p:extLst>
              <p:ext uri="{D42A27DB-BD31-4B8C-83A1-F6EECF244321}">
                <p14:modId xmlns:p14="http://schemas.microsoft.com/office/powerpoint/2010/main" val="1741645230"/>
              </p:ext>
            </p:extLst>
          </p:nvPr>
        </p:nvGraphicFramePr>
        <p:xfrm>
          <a:off x="575481" y="1815577"/>
          <a:ext cx="5669280" cy="445346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89069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dirty="0">
                          <a:ln>
                            <a:noFill/>
                          </a:ln>
                          <a:solidFill>
                            <a:schemeClr val="tx1"/>
                          </a:solidFill>
                          <a:effectLst/>
                          <a:uLnTx/>
                          <a:uFillTx/>
                          <a:latin typeface="+mn-lt"/>
                          <a:ea typeface="+mn-ea"/>
                          <a:cs typeface="Segoe UI" panose="020B0502040204020203" pitchFamily="34" charset="0"/>
                        </a:rPr>
                        <a:t>Model registry vs agent registry</a:t>
                      </a: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89069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Deployment gates</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89069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Evaluation-driven promotion</a:t>
                      </a:r>
                      <a:endPar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89069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FAOS (feedback-aware optimization systems)</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001743516"/>
                  </a:ext>
                </a:extLst>
              </a:tr>
              <a:tr h="89069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err="1">
                          <a:solidFill>
                            <a:schemeClr val="dk1"/>
                          </a:solidFill>
                          <a:effectLst/>
                          <a:latin typeface="+mn-lt"/>
                          <a:ea typeface="+mn-ea"/>
                          <a:cs typeface="+mn-cs"/>
                        </a:rPr>
                        <a:t>AgenticOps</a:t>
                      </a:r>
                      <a:r>
                        <a:rPr lang="en-GB" sz="1800" b="0" i="0" kern="1200" dirty="0">
                          <a:solidFill>
                            <a:schemeClr val="dk1"/>
                          </a:solidFill>
                          <a:effectLst/>
                          <a:latin typeface="+mn-lt"/>
                          <a:ea typeface="+mn-ea"/>
                          <a:cs typeface="+mn-cs"/>
                        </a:rPr>
                        <a:t> on Azure</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34567890"/>
                  </a:ext>
                </a:extLst>
              </a:tr>
            </a:tbl>
          </a:graphicData>
        </a:graphic>
      </p:graphicFrame>
      <p:grpSp>
        <p:nvGrpSpPr>
          <p:cNvPr id="4" name="Group 3">
            <a:extLst>
              <a:ext uri="{FF2B5EF4-FFF2-40B4-BE49-F238E27FC236}">
                <a16:creationId xmlns:a16="http://schemas.microsoft.com/office/drawing/2014/main" id="{EB9855B5-5113-DC33-278B-42650C354733}"/>
              </a:ext>
              <a:ext uri="{C183D7F6-B498-43B3-948B-1728B52AA6E4}">
                <adec:decorative xmlns:adec="http://schemas.microsoft.com/office/drawing/2017/decorative" val="1"/>
              </a:ext>
            </a:extLst>
          </p:cNvPr>
          <p:cNvGrpSpPr>
            <a:grpSpLocks noChangeAspect="1"/>
          </p:cNvGrpSpPr>
          <p:nvPr/>
        </p:nvGrpSpPr>
        <p:grpSpPr>
          <a:xfrm>
            <a:off x="722184" y="2156528"/>
            <a:ext cx="522238" cy="522238"/>
            <a:chOff x="10323474" y="1468393"/>
            <a:chExt cx="751672" cy="751672"/>
          </a:xfrm>
        </p:grpSpPr>
        <p:sp>
          <p:nvSpPr>
            <p:cNvPr id="5" name="Oval 4">
              <a:extLst>
                <a:ext uri="{FF2B5EF4-FFF2-40B4-BE49-F238E27FC236}">
                  <a16:creationId xmlns:a16="http://schemas.microsoft.com/office/drawing/2014/main" id="{C3806B5C-8DF8-5B7D-2BB7-2250A0772B0E}"/>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68D20059-B111-FEF0-BAE1-85BD7C39E6F3}"/>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7" name="Freeform: Shape 6">
                <a:extLst>
                  <a:ext uri="{FF2B5EF4-FFF2-40B4-BE49-F238E27FC236}">
                    <a16:creationId xmlns:a16="http://schemas.microsoft.com/office/drawing/2014/main" id="{6BB1BF37-FA21-FFB9-6FE8-31D1E8745F9B}"/>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9A98A947-1230-ECC2-2BCA-17DC1FCAB6A5}"/>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7B996FCA-8772-2F13-849D-DD3F51AEC78F}"/>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1D7D56A8-D007-EC4A-4559-2F8ADC03C50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DA17F298-D223-F186-B9BE-A5EBAC617463}"/>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6FEBD337-383A-249E-2BAF-4DF85D7A19E3}"/>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0FBC22B4-6661-1F4B-1828-9FD1E1F47603}"/>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F1D98643-D025-40DE-D653-0CE2B673F25D}"/>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BD1B09BD-34F9-7077-970F-ECF7266FD66B}"/>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9FF14E49-9BF7-1778-84DD-AB7E5F6F3B51}"/>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4A977F5C-8CB5-9148-FC47-C911C9849E30}"/>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8" name="Straight Connector 17">
            <a:extLst>
              <a:ext uri="{FF2B5EF4-FFF2-40B4-BE49-F238E27FC236}">
                <a16:creationId xmlns:a16="http://schemas.microsoft.com/office/drawing/2014/main" id="{46BE2F6B-2C1C-3D66-3B93-404855A608A3}"/>
              </a:ext>
              <a:ext uri="{C183D7F6-B498-43B3-948B-1728B52AA6E4}">
                <adec:decorative xmlns:adec="http://schemas.microsoft.com/office/drawing/2017/decorative" val="1"/>
              </a:ext>
            </a:extLst>
          </p:cNvPr>
          <p:cNvCxnSpPr>
            <a:cxnSpLocks/>
          </p:cNvCxnSpPr>
          <p:nvPr/>
        </p:nvCxnSpPr>
        <p:spPr>
          <a:xfrm>
            <a:off x="5771254" y="2924197"/>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1B98DE20-A8ED-9128-3FDD-51514894270C}"/>
              </a:ext>
              <a:ext uri="{C183D7F6-B498-43B3-948B-1728B52AA6E4}">
                <adec:decorative xmlns:adec="http://schemas.microsoft.com/office/drawing/2017/decorative" val="1"/>
              </a:ext>
            </a:extLst>
          </p:cNvPr>
          <p:cNvGrpSpPr/>
          <p:nvPr/>
        </p:nvGrpSpPr>
        <p:grpSpPr>
          <a:xfrm>
            <a:off x="722184" y="3269085"/>
            <a:ext cx="522238" cy="522238"/>
            <a:chOff x="724354" y="2781602"/>
            <a:chExt cx="438218" cy="438964"/>
          </a:xfrm>
        </p:grpSpPr>
        <p:sp>
          <p:nvSpPr>
            <p:cNvPr id="20" name="Oval 19">
              <a:extLst>
                <a:ext uri="{FF2B5EF4-FFF2-40B4-BE49-F238E27FC236}">
                  <a16:creationId xmlns:a16="http://schemas.microsoft.com/office/drawing/2014/main" id="{7D8B2C83-BBE5-3140-C49F-E0B0A9612569}"/>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21" name="Trackers_EADF">
              <a:extLst>
                <a:ext uri="{FF2B5EF4-FFF2-40B4-BE49-F238E27FC236}">
                  <a16:creationId xmlns:a16="http://schemas.microsoft.com/office/drawing/2014/main" id="{F9BF3F74-CEA4-2DDB-6AF0-03BCA902A41D}"/>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22" name="Straight Connector 21">
            <a:extLst>
              <a:ext uri="{FF2B5EF4-FFF2-40B4-BE49-F238E27FC236}">
                <a16:creationId xmlns:a16="http://schemas.microsoft.com/office/drawing/2014/main" id="{D0DDC1BE-6B4D-7C17-61CE-C00429EB852F}"/>
              </a:ext>
              <a:ext uri="{C183D7F6-B498-43B3-948B-1728B52AA6E4}">
                <adec:decorative xmlns:adec="http://schemas.microsoft.com/office/drawing/2017/decorative" val="1"/>
              </a:ext>
            </a:extLst>
          </p:cNvPr>
          <p:cNvCxnSpPr>
            <a:cxnSpLocks/>
          </p:cNvCxnSpPr>
          <p:nvPr/>
        </p:nvCxnSpPr>
        <p:spPr>
          <a:xfrm>
            <a:off x="5771254" y="4036906"/>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2B252C8E-48BF-301E-AE75-A37364913E66}"/>
              </a:ext>
              <a:ext uri="{C183D7F6-B498-43B3-948B-1728B52AA6E4}">
                <adec:decorative xmlns:adec="http://schemas.microsoft.com/office/drawing/2017/decorative" val="1"/>
              </a:ext>
            </a:extLst>
          </p:cNvPr>
          <p:cNvGrpSpPr>
            <a:grpSpLocks/>
          </p:cNvGrpSpPr>
          <p:nvPr/>
        </p:nvGrpSpPr>
        <p:grpSpPr>
          <a:xfrm>
            <a:off x="722184" y="4381642"/>
            <a:ext cx="522238" cy="522238"/>
            <a:chOff x="7039782" y="1468393"/>
            <a:chExt cx="751672" cy="751672"/>
          </a:xfrm>
        </p:grpSpPr>
        <p:sp>
          <p:nvSpPr>
            <p:cNvPr id="24" name="Oval 23">
              <a:extLst>
                <a:ext uri="{FF2B5EF4-FFF2-40B4-BE49-F238E27FC236}">
                  <a16:creationId xmlns:a16="http://schemas.microsoft.com/office/drawing/2014/main" id="{A1BA140B-1A37-9811-97A8-F21A8457A8B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5" name="list_4">
              <a:extLst>
                <a:ext uri="{FF2B5EF4-FFF2-40B4-BE49-F238E27FC236}">
                  <a16:creationId xmlns:a16="http://schemas.microsoft.com/office/drawing/2014/main" id="{78320802-5865-1BC3-3FB2-96110FC0035F}"/>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6" name="Straight Connector 25">
            <a:extLst>
              <a:ext uri="{FF2B5EF4-FFF2-40B4-BE49-F238E27FC236}">
                <a16:creationId xmlns:a16="http://schemas.microsoft.com/office/drawing/2014/main" id="{6038C8C4-E7A8-F7C2-530D-4DD3F55BC0AB}"/>
              </a:ext>
              <a:ext uri="{C183D7F6-B498-43B3-948B-1728B52AA6E4}">
                <adec:decorative xmlns:adec="http://schemas.microsoft.com/office/drawing/2017/decorative" val="1"/>
              </a:ext>
            </a:extLst>
          </p:cNvPr>
          <p:cNvCxnSpPr>
            <a:cxnSpLocks/>
          </p:cNvCxnSpPr>
          <p:nvPr/>
        </p:nvCxnSpPr>
        <p:spPr>
          <a:xfrm>
            <a:off x="5771254" y="514961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A1C522B2-055F-5DD4-26FA-4B5252FD4738}"/>
              </a:ext>
              <a:ext uri="{C183D7F6-B498-43B3-948B-1728B52AA6E4}">
                <adec:decorative xmlns:adec="http://schemas.microsoft.com/office/drawing/2017/decorative" val="1"/>
              </a:ext>
            </a:extLst>
          </p:cNvPr>
          <p:cNvGrpSpPr>
            <a:grpSpLocks/>
          </p:cNvGrpSpPr>
          <p:nvPr/>
        </p:nvGrpSpPr>
        <p:grpSpPr>
          <a:xfrm>
            <a:off x="722184" y="5494200"/>
            <a:ext cx="522238" cy="522238"/>
            <a:chOff x="724354" y="3721051"/>
            <a:chExt cx="438218" cy="438218"/>
          </a:xfrm>
        </p:grpSpPr>
        <p:sp>
          <p:nvSpPr>
            <p:cNvPr id="28" name="Oval 27">
              <a:extLst>
                <a:ext uri="{FF2B5EF4-FFF2-40B4-BE49-F238E27FC236}">
                  <a16:creationId xmlns:a16="http://schemas.microsoft.com/office/drawing/2014/main" id="{9DE6866A-2966-057E-AD7B-F5487B961FD9}"/>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9" name="Business applications">
              <a:extLst>
                <a:ext uri="{FF2B5EF4-FFF2-40B4-BE49-F238E27FC236}">
                  <a16:creationId xmlns:a16="http://schemas.microsoft.com/office/drawing/2014/main" id="{45CE27DF-D8AE-F2F1-03F3-23F82B39FC46}"/>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Tree>
    <p:custDataLst>
      <p:tags r:id="rId1"/>
    </p:custDataLst>
    <p:extLst>
      <p:ext uri="{BB962C8B-B14F-4D97-AF65-F5344CB8AC3E}">
        <p14:creationId xmlns:p14="http://schemas.microsoft.com/office/powerpoint/2010/main" val="338295638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1</a:t>
            </a:r>
          </a:p>
        </p:txBody>
      </p:sp>
      <p:sp>
        <p:nvSpPr>
          <p:cNvPr id="3" name="TextBox 2"/>
          <p:cNvSpPr txBox="1"/>
          <p:nvPr/>
        </p:nvSpPr>
        <p:spPr>
          <a:xfrm>
            <a:off x="731520" y="4480560"/>
            <a:ext cx="9144000" cy="640080"/>
          </a:xfrm>
          <a:prstGeom prst="rect">
            <a:avLst/>
          </a:prstGeom>
          <a:noFill/>
        </p:spPr>
        <p:txBody>
          <a:bodyPr wrap="square" anchor="t"/>
          <a:lstStyle/>
          <a:p>
            <a:pPr defTabSz="457200">
              <a:defRPr sz="1800" b="0">
                <a:solidFill>
                  <a:srgbClr val="FFFFFF"/>
                </a:solidFill>
                <a:latin typeface="Segoe UI"/>
              </a:defRPr>
            </a:pPr>
            <a:r>
              <a:rPr lang="en-GB" dirty="0">
                <a:cs typeface="Segoe UI" panose="020B0502040204020203" pitchFamily="34" charset="0"/>
              </a:rPr>
              <a:t>Model registry vs agent registry</a:t>
            </a:r>
            <a:endParaRPr lang="da-DK" dirty="0">
              <a:cs typeface="Segoe UI" panose="020B0502040204020203" pitchFamily="34" charset="0"/>
            </a:endParaRP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2119-CFC9-9F6B-C048-68EC09FA01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598AA7-60A1-2525-A331-1B5FFCD9407E}"/>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C28AE01E-01A1-386A-048F-DB8B4CDA7F83}"/>
              </a:ext>
            </a:extLst>
          </p:cNvPr>
          <p:cNvSpPr txBox="1"/>
          <p:nvPr/>
        </p:nvSpPr>
        <p:spPr>
          <a:xfrm>
            <a:off x="640080" y="274320"/>
            <a:ext cx="10515600" cy="731520"/>
          </a:xfrm>
          <a:prstGeom prst="rect">
            <a:avLst/>
          </a:prstGeom>
          <a:noFill/>
        </p:spPr>
        <p:txBody>
          <a:bodyPr wrap="square" anchor="t"/>
          <a:lstStyle/>
          <a:p>
            <a:pPr defTabSz="457200">
              <a:defRPr sz="2400" b="1">
                <a:solidFill>
                  <a:srgbClr val="FFFFFF"/>
                </a:solidFill>
                <a:latin typeface="Segoe UI Semibold"/>
              </a:defRPr>
            </a:pPr>
            <a:r>
              <a:rPr lang="en-GB" sz="2400" dirty="0" err="1"/>
              <a:t>MLOps</a:t>
            </a:r>
            <a:r>
              <a:rPr lang="en-GB" sz="2400" err="1"/>
              <a:t> vs </a:t>
            </a:r>
            <a:r>
              <a:rPr lang="en-GB" sz="2400" dirty="0" err="1"/>
              <a:t>AgentOps</a:t>
            </a:r>
            <a:r>
              <a:rPr lang="en-GB" sz="2400" err="1"/>
              <a:t> (Operating Layer)</a:t>
            </a:r>
          </a:p>
        </p:txBody>
      </p:sp>
      <p:sp>
        <p:nvSpPr>
          <p:cNvPr id="4" name="Rectangle 3">
            <a:extLst>
              <a:ext uri="{FF2B5EF4-FFF2-40B4-BE49-F238E27FC236}">
                <a16:creationId xmlns:a16="http://schemas.microsoft.com/office/drawing/2014/main" id="{76BACFC8-8A7E-9CF5-9803-E890B55707AB}"/>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8" name="Table 7">
            <a:extLst>
              <a:ext uri="{FF2B5EF4-FFF2-40B4-BE49-F238E27FC236}">
                <a16:creationId xmlns:a16="http://schemas.microsoft.com/office/drawing/2014/main" id="{4335AAF2-AE52-9F36-91FB-4C24E10F1E3D}"/>
              </a:ext>
            </a:extLst>
          </p:cNvPr>
          <p:cNvGraphicFramePr>
            <a:graphicFrameLocks noGrp="1"/>
          </p:cNvGraphicFramePr>
          <p:nvPr>
            <p:extLst>
              <p:ext uri="{D42A27DB-BD31-4B8C-83A1-F6EECF244321}">
                <p14:modId xmlns:p14="http://schemas.microsoft.com/office/powerpoint/2010/main" val="2091071963"/>
              </p:ext>
            </p:extLst>
          </p:nvPr>
        </p:nvGraphicFramePr>
        <p:xfrm>
          <a:off x="2063439" y="1435608"/>
          <a:ext cx="8282382" cy="4559750"/>
        </p:xfrm>
        <a:graphic>
          <a:graphicData uri="http://schemas.openxmlformats.org/drawingml/2006/table">
            <a:tbl>
              <a:tblPr>
                <a:tableStyleId>{B301B821-A1FF-4177-AEE7-76D212191A09}</a:tableStyleId>
              </a:tblPr>
              <a:tblGrid>
                <a:gridCol w="2760794">
                  <a:extLst>
                    <a:ext uri="{9D8B030D-6E8A-4147-A177-3AD203B41FA5}">
                      <a16:colId xmlns:a16="http://schemas.microsoft.com/office/drawing/2014/main" val="2059253831"/>
                    </a:ext>
                  </a:extLst>
                </a:gridCol>
                <a:gridCol w="2760794">
                  <a:extLst>
                    <a:ext uri="{9D8B030D-6E8A-4147-A177-3AD203B41FA5}">
                      <a16:colId xmlns:a16="http://schemas.microsoft.com/office/drawing/2014/main" val="916496659"/>
                    </a:ext>
                  </a:extLst>
                </a:gridCol>
                <a:gridCol w="2760794">
                  <a:extLst>
                    <a:ext uri="{9D8B030D-6E8A-4147-A177-3AD203B41FA5}">
                      <a16:colId xmlns:a16="http://schemas.microsoft.com/office/drawing/2014/main" val="3519958037"/>
                    </a:ext>
                  </a:extLst>
                </a:gridCol>
              </a:tblGrid>
              <a:tr h="505789">
                <a:tc>
                  <a:txBody>
                    <a:bodyPr/>
                    <a:lstStyle/>
                    <a:p>
                      <a:pPr>
                        <a:buNone/>
                      </a:pPr>
                      <a:r>
                        <a:rPr lang="en-GB" sz="900" dirty="0"/>
                        <a:t>Aspect</a:t>
                      </a:r>
                    </a:p>
                  </a:txBody>
                  <a:tcPr marL="44803" marR="44803" marT="22401" marB="22401" anchor="ctr"/>
                </a:tc>
                <a:tc>
                  <a:txBody>
                    <a:bodyPr/>
                    <a:lstStyle/>
                    <a:p>
                      <a:pPr>
                        <a:buNone/>
                      </a:pPr>
                      <a:r>
                        <a:rPr lang="en-GB" sz="900" b="1"/>
                        <a:t>MLOps (Model Lifecycle)</a:t>
                      </a:r>
                      <a:endParaRPr lang="en-GB" sz="900"/>
                    </a:p>
                  </a:txBody>
                  <a:tcPr marL="44803" marR="44803" marT="22401" marB="22401" anchor="ctr"/>
                </a:tc>
                <a:tc>
                  <a:txBody>
                    <a:bodyPr/>
                    <a:lstStyle/>
                    <a:p>
                      <a:pPr>
                        <a:buNone/>
                      </a:pPr>
                      <a:r>
                        <a:rPr lang="en-GB" sz="900" b="1"/>
                        <a:t>AgentOps (Agent Lifecycle)</a:t>
                      </a:r>
                      <a:endParaRPr lang="en-GB" sz="900"/>
                    </a:p>
                  </a:txBody>
                  <a:tcPr marL="44803" marR="44803" marT="22401" marB="22401" anchor="ctr"/>
                </a:tc>
                <a:extLst>
                  <a:ext uri="{0D108BD9-81ED-4DB2-BD59-A6C34878D82A}">
                    <a16:rowId xmlns:a16="http://schemas.microsoft.com/office/drawing/2014/main" val="4180914580"/>
                  </a:ext>
                </a:extLst>
              </a:tr>
              <a:tr h="887043">
                <a:tc>
                  <a:txBody>
                    <a:bodyPr/>
                    <a:lstStyle/>
                    <a:p>
                      <a:pPr>
                        <a:buNone/>
                      </a:pPr>
                      <a:r>
                        <a:rPr lang="en-GB" sz="900"/>
                        <a:t>Focus</a:t>
                      </a:r>
                    </a:p>
                  </a:txBody>
                  <a:tcPr marL="44803" marR="44803" marT="22401" marB="22401" anchor="ctr"/>
                </a:tc>
                <a:tc>
                  <a:txBody>
                    <a:bodyPr/>
                    <a:lstStyle/>
                    <a:p>
                      <a:pPr>
                        <a:buNone/>
                      </a:pPr>
                      <a:r>
                        <a:rPr lang="en-GB" sz="900"/>
                        <a:t>Model training, evaluation, deployment</a:t>
                      </a:r>
                    </a:p>
                  </a:txBody>
                  <a:tcPr marL="44803" marR="44803" marT="22401" marB="22401" anchor="ctr"/>
                </a:tc>
                <a:tc>
                  <a:txBody>
                    <a:bodyPr/>
                    <a:lstStyle/>
                    <a:p>
                      <a:pPr>
                        <a:buNone/>
                      </a:pPr>
                      <a:r>
                        <a:rPr lang="en-GB" sz="900"/>
                        <a:t>Agent behaviour, orchestration, actions</a:t>
                      </a:r>
                    </a:p>
                  </a:txBody>
                  <a:tcPr marL="44803" marR="44803" marT="22401" marB="22401" anchor="ctr"/>
                </a:tc>
                <a:extLst>
                  <a:ext uri="{0D108BD9-81ED-4DB2-BD59-A6C34878D82A}">
                    <a16:rowId xmlns:a16="http://schemas.microsoft.com/office/drawing/2014/main" val="961853584"/>
                  </a:ext>
                </a:extLst>
              </a:tr>
              <a:tr h="887043">
                <a:tc>
                  <a:txBody>
                    <a:bodyPr/>
                    <a:lstStyle/>
                    <a:p>
                      <a:pPr>
                        <a:buNone/>
                      </a:pPr>
                      <a:r>
                        <a:rPr lang="en-GB" sz="900" dirty="0"/>
                        <a:t>Scope</a:t>
                      </a:r>
                    </a:p>
                  </a:txBody>
                  <a:tcPr marL="44803" marR="44803" marT="22401" marB="22401" anchor="ctr"/>
                </a:tc>
                <a:tc>
                  <a:txBody>
                    <a:bodyPr/>
                    <a:lstStyle/>
                    <a:p>
                      <a:pPr>
                        <a:buNone/>
                      </a:pPr>
                      <a:r>
                        <a:rPr lang="en-GB" sz="900"/>
                        <a:t>Model + data pipeline</a:t>
                      </a:r>
                    </a:p>
                  </a:txBody>
                  <a:tcPr marL="44803" marR="44803" marT="22401" marB="22401" anchor="ctr"/>
                </a:tc>
                <a:tc>
                  <a:txBody>
                    <a:bodyPr/>
                    <a:lstStyle/>
                    <a:p>
                      <a:pPr>
                        <a:buNone/>
                      </a:pPr>
                      <a:r>
                        <a:rPr lang="en-GB" sz="900"/>
                        <a:t>Full </a:t>
                      </a:r>
                      <a:r>
                        <a:rPr lang="en-GB" sz="900" b="1"/>
                        <a:t>AI system (agents + tools + memory + workflows)</a:t>
                      </a:r>
                      <a:endParaRPr lang="en-GB" sz="900"/>
                    </a:p>
                  </a:txBody>
                  <a:tcPr marL="44803" marR="44803" marT="22401" marB="22401" anchor="ctr"/>
                </a:tc>
                <a:extLst>
                  <a:ext uri="{0D108BD9-81ED-4DB2-BD59-A6C34878D82A}">
                    <a16:rowId xmlns:a16="http://schemas.microsoft.com/office/drawing/2014/main" val="469739588"/>
                  </a:ext>
                </a:extLst>
              </a:tr>
              <a:tr h="505789">
                <a:tc>
                  <a:txBody>
                    <a:bodyPr/>
                    <a:lstStyle/>
                    <a:p>
                      <a:pPr>
                        <a:buNone/>
                      </a:pPr>
                      <a:r>
                        <a:rPr lang="en-GB" sz="900"/>
                        <a:t>Ownership</a:t>
                      </a:r>
                    </a:p>
                  </a:txBody>
                  <a:tcPr marL="44803" marR="44803" marT="22401" marB="22401" anchor="ctr"/>
                </a:tc>
                <a:tc>
                  <a:txBody>
                    <a:bodyPr/>
                    <a:lstStyle/>
                    <a:p>
                      <a:pPr>
                        <a:buNone/>
                      </a:pPr>
                      <a:r>
                        <a:rPr lang="en-GB" sz="900"/>
                        <a:t>ML Engineers + Platform team</a:t>
                      </a:r>
                    </a:p>
                  </a:txBody>
                  <a:tcPr marL="44803" marR="44803" marT="22401" marB="22401" anchor="ctr"/>
                </a:tc>
                <a:tc>
                  <a:txBody>
                    <a:bodyPr/>
                    <a:lstStyle/>
                    <a:p>
                      <a:pPr>
                        <a:buNone/>
                      </a:pPr>
                      <a:r>
                        <a:rPr lang="en-GB" sz="900"/>
                        <a:t>AI Engineers + Product owners</a:t>
                      </a:r>
                    </a:p>
                  </a:txBody>
                  <a:tcPr marL="44803" marR="44803" marT="22401" marB="22401" anchor="ctr"/>
                </a:tc>
                <a:extLst>
                  <a:ext uri="{0D108BD9-81ED-4DB2-BD59-A6C34878D82A}">
                    <a16:rowId xmlns:a16="http://schemas.microsoft.com/office/drawing/2014/main" val="1887128368"/>
                  </a:ext>
                </a:extLst>
              </a:tr>
              <a:tr h="887043">
                <a:tc>
                  <a:txBody>
                    <a:bodyPr/>
                    <a:lstStyle/>
                    <a:p>
                      <a:pPr>
                        <a:buNone/>
                      </a:pPr>
                      <a:r>
                        <a:rPr lang="en-GB" sz="900"/>
                        <a:t>Risk</a:t>
                      </a:r>
                    </a:p>
                  </a:txBody>
                  <a:tcPr marL="44803" marR="44803" marT="22401" marB="22401" anchor="ctr"/>
                </a:tc>
                <a:tc>
                  <a:txBody>
                    <a:bodyPr/>
                    <a:lstStyle/>
                    <a:p>
                      <a:pPr>
                        <a:buNone/>
                      </a:pPr>
                      <a:r>
                        <a:rPr lang="en-GB" sz="900" dirty="0"/>
                        <a:t>Bias, model drift, hallucination</a:t>
                      </a:r>
                    </a:p>
                  </a:txBody>
                  <a:tcPr marL="44803" marR="44803" marT="22401" marB="22401" anchor="ctr"/>
                </a:tc>
                <a:tc>
                  <a:txBody>
                    <a:bodyPr/>
                    <a:lstStyle/>
                    <a:p>
                      <a:pPr>
                        <a:buNone/>
                      </a:pPr>
                      <a:r>
                        <a:rPr lang="en-GB" sz="900"/>
                        <a:t>Misbehavior, tool misuse, context poisoning</a:t>
                      </a:r>
                    </a:p>
                  </a:txBody>
                  <a:tcPr marL="44803" marR="44803" marT="22401" marB="22401" anchor="ctr"/>
                </a:tc>
                <a:extLst>
                  <a:ext uri="{0D108BD9-81ED-4DB2-BD59-A6C34878D82A}">
                    <a16:rowId xmlns:a16="http://schemas.microsoft.com/office/drawing/2014/main" val="2436088021"/>
                  </a:ext>
                </a:extLst>
              </a:tr>
              <a:tr h="887043">
                <a:tc>
                  <a:txBody>
                    <a:bodyPr/>
                    <a:lstStyle/>
                    <a:p>
                      <a:pPr>
                        <a:buNone/>
                      </a:pPr>
                      <a:r>
                        <a:rPr lang="en-GB" sz="900"/>
                        <a:t>Monitoring</a:t>
                      </a:r>
                    </a:p>
                  </a:txBody>
                  <a:tcPr marL="44803" marR="44803" marT="22401" marB="22401" anchor="ctr"/>
                </a:tc>
                <a:tc>
                  <a:txBody>
                    <a:bodyPr/>
                    <a:lstStyle/>
                    <a:p>
                      <a:pPr>
                        <a:buNone/>
                      </a:pPr>
                      <a:r>
                        <a:rPr lang="en-GB" sz="900"/>
                        <a:t>Model performance metrics</a:t>
                      </a:r>
                    </a:p>
                  </a:txBody>
                  <a:tcPr marL="44803" marR="44803" marT="22401" marB="22401" anchor="ctr"/>
                </a:tc>
                <a:tc>
                  <a:txBody>
                    <a:bodyPr/>
                    <a:lstStyle/>
                    <a:p>
                      <a:pPr>
                        <a:buNone/>
                      </a:pPr>
                      <a:r>
                        <a:rPr lang="en-GB" sz="900" b="1" dirty="0"/>
                        <a:t>End-to-end agent actions + decisions + impact</a:t>
                      </a:r>
                      <a:endParaRPr lang="en-GB" sz="900" dirty="0"/>
                    </a:p>
                  </a:txBody>
                  <a:tcPr marL="44803" marR="44803" marT="22401" marB="22401" anchor="ctr"/>
                </a:tc>
                <a:extLst>
                  <a:ext uri="{0D108BD9-81ED-4DB2-BD59-A6C34878D82A}">
                    <a16:rowId xmlns:a16="http://schemas.microsoft.com/office/drawing/2014/main" val="2296081500"/>
                  </a:ext>
                </a:extLst>
              </a:tr>
            </a:tbl>
          </a:graphicData>
        </a:graphic>
      </p:graphicFrame>
    </p:spTree>
    <p:extLst>
      <p:ext uri="{BB962C8B-B14F-4D97-AF65-F5344CB8AC3E}">
        <p14:creationId xmlns:p14="http://schemas.microsoft.com/office/powerpoint/2010/main" val="42841079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2070A0-4B7E-762F-C044-27920E38FE46}"/>
              </a:ext>
            </a:extLst>
          </p:cNvPr>
          <p:cNvSpPr>
            <a:spLocks noGrp="1"/>
          </p:cNvSpPr>
          <p:nvPr>
            <p:ph type="title"/>
          </p:nvPr>
        </p:nvSpPr>
        <p:spPr/>
        <p:txBody>
          <a:bodyPr/>
          <a:lstStyle/>
          <a:p>
            <a:r>
              <a:rPr lang="en-GB"/>
              <a:t>MLOps</a:t>
            </a:r>
            <a:r>
              <a:rPr lang="en-GB" dirty="0"/>
              <a:t> </a:t>
            </a:r>
            <a:r>
              <a:rPr lang="en-GB"/>
              <a:t>vs</a:t>
            </a:r>
            <a:r>
              <a:rPr lang="en-GB" dirty="0"/>
              <a:t> </a:t>
            </a:r>
            <a:r>
              <a:rPr lang="en-GB"/>
              <a:t>AgenticOps</a:t>
            </a:r>
            <a:endParaRPr lang="en-GB" dirty="0"/>
          </a:p>
        </p:txBody>
      </p:sp>
      <p:sp>
        <p:nvSpPr>
          <p:cNvPr id="2" name="Footer Placeholder 1">
            <a:extLst>
              <a:ext uri="{FF2B5EF4-FFF2-40B4-BE49-F238E27FC236}">
                <a16:creationId xmlns:a16="http://schemas.microsoft.com/office/drawing/2014/main" id="{3ADB93D0-8865-FF97-4580-278A6C63F425}"/>
              </a:ext>
            </a:extLst>
          </p:cNvPr>
          <p:cNvSpPr>
            <a:spLocks noGrp="1"/>
          </p:cNvSpPr>
          <p:nvPr>
            <p:ph type="ftr" sz="quarter" idx="3"/>
          </p:nvPr>
        </p:nvSpPr>
        <p:spPr/>
        <p:txBody>
          <a:bodyPr/>
          <a:lstStyle/>
          <a:p>
            <a:pPr algn="ctr"/>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55A1DC02-CB94-1BEF-80FB-F3E807298CEF}"/>
              </a:ext>
            </a:extLst>
          </p:cNvPr>
          <p:cNvSpPr>
            <a:spLocks noGrp="1"/>
          </p:cNvSpPr>
          <p:nvPr>
            <p:ph type="sldNum" sz="quarter" idx="4"/>
          </p:nvPr>
        </p:nvSpPr>
        <p:spPr/>
        <p:txBody>
          <a:bodyPr/>
          <a:lstStyle/>
          <a:p>
            <a:pPr algn="ctr"/>
            <a:fld id="{8F881BB8-5469-4299-99B9-578BE3320A80}" type="slidenum">
              <a:rPr lang="en-US" sz="800" smtClean="0">
                <a:solidFill>
                  <a:srgbClr val="000000"/>
                </a:solidFill>
                <a:latin typeface="Segoe UI"/>
              </a:rPr>
              <a:t>6</a:t>
            </a:fld>
            <a:endParaRPr lang="en-US" sz="800">
              <a:solidFill>
                <a:srgbClr val="000000"/>
              </a:solidFill>
              <a:latin typeface="Segoe UI"/>
            </a:endParaRPr>
          </a:p>
        </p:txBody>
      </p:sp>
      <p:graphicFrame>
        <p:nvGraphicFramePr>
          <p:cNvPr id="9" name="Table 8">
            <a:extLst>
              <a:ext uri="{FF2B5EF4-FFF2-40B4-BE49-F238E27FC236}">
                <a16:creationId xmlns:a16="http://schemas.microsoft.com/office/drawing/2014/main" id="{00A79EA6-7FE7-EA24-9C40-17A5BF0E2562}"/>
              </a:ext>
            </a:extLst>
          </p:cNvPr>
          <p:cNvGraphicFramePr>
            <a:graphicFrameLocks noGrp="1"/>
          </p:cNvGraphicFramePr>
          <p:nvPr>
            <p:extLst>
              <p:ext uri="{D42A27DB-BD31-4B8C-83A1-F6EECF244321}">
                <p14:modId xmlns:p14="http://schemas.microsoft.com/office/powerpoint/2010/main" val="3164164083"/>
              </p:ext>
            </p:extLst>
          </p:nvPr>
        </p:nvGraphicFramePr>
        <p:xfrm>
          <a:off x="500000" y="2400000"/>
          <a:ext cx="5446000" cy="2525280"/>
        </p:xfrm>
        <a:graphic>
          <a:graphicData uri="http://schemas.openxmlformats.org/drawingml/2006/table">
            <a:tbl>
              <a:tblPr firstRow="1" bandRow="1"/>
              <a:tblGrid>
                <a:gridCol w="1800000">
                  <a:extLst>
                    <a:ext uri="{9D8B030D-6E8A-4147-A177-3AD203B41FA5}">
                      <a16:colId xmlns:a16="http://schemas.microsoft.com/office/drawing/2014/main" val="1798601180"/>
                    </a:ext>
                  </a:extLst>
                </a:gridCol>
                <a:gridCol w="3646000">
                  <a:extLst>
                    <a:ext uri="{9D8B030D-6E8A-4147-A177-3AD203B41FA5}">
                      <a16:colId xmlns:a16="http://schemas.microsoft.com/office/drawing/2014/main" val="1712809580"/>
                    </a:ext>
                  </a:extLst>
                </a:gridCol>
              </a:tblGrid>
              <a:tr h="420000">
                <a:tc gridSpan="2">
                  <a:txBody>
                    <a:bodyPr/>
                    <a:lstStyle/>
                    <a:p>
                      <a:pPr>
                        <a:buNone/>
                      </a:pPr>
                      <a:r>
                        <a:rPr lang="en-GB" sz="1200" b="1">
                          <a:solidFill>
                            <a:srgbClr val="FFFFFF"/>
                          </a:solidFill>
                          <a:latin typeface="Segoe UI" panose="020B0502040204020203" pitchFamily="34" charset="0"/>
                        </a:rPr>
                        <a:t>Model Registry (MLOps)</a:t>
                      </a:r>
                    </a:p>
                    <a:p>
                      <a:pPr>
                        <a:buNone/>
                      </a:pPr>
                      <a:r>
                        <a:rPr lang="en-GB" sz="1000">
                          <a:solidFill>
                            <a:srgbClr val="FFFFFF"/>
                          </a:solidFill>
                          <a:latin typeface="Segoe UI" panose="020B0502040204020203" pitchFamily="34" charset="0"/>
                        </a:rPr>
                        <a:t>Purpose: Manage models as assets</a:t>
                      </a:r>
                    </a:p>
                  </a:txBody>
                  <a:tcPr marL="72000" marR="72000" marT="45000" marB="45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hMerge="1">
                  <a:txBody>
                    <a:bodyPr/>
                    <a:lstStyle/>
                    <a:p>
                      <a:endParaRPr lang="en-GB"/>
                    </a:p>
                  </a:txBody>
                  <a:tcPr/>
                </a:tc>
                <a:extLst>
                  <a:ext uri="{0D108BD9-81ED-4DB2-BD59-A6C34878D82A}">
                    <a16:rowId xmlns:a16="http://schemas.microsoft.com/office/drawing/2014/main" val="1465995704"/>
                  </a:ext>
                </a:extLst>
              </a:tr>
              <a:tr h="350000">
                <a:tc>
                  <a:txBody>
                    <a:bodyPr/>
                    <a:lstStyle/>
                    <a:p>
                      <a:pPr>
                        <a:buNone/>
                      </a:pPr>
                      <a:r>
                        <a:rPr lang="en-GB" sz="1100" b="1">
                          <a:solidFill>
                            <a:srgbClr val="333333"/>
                          </a:solidFill>
                          <a:latin typeface="Segoe UI" panose="020B0502040204020203" pitchFamily="34" charset="0"/>
                        </a:rPr>
                        <a:t>Capability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D6E4F0"/>
                    </a:solidFill>
                  </a:tcPr>
                </a:tc>
                <a:tc>
                  <a:txBody>
                    <a:bodyPr/>
                    <a:lstStyle/>
                    <a:p>
                      <a:pPr>
                        <a:buNone/>
                      </a:pPr>
                      <a:r>
                        <a:rPr lang="en-GB" sz="1100" b="1">
                          <a:solidFill>
                            <a:srgbClr val="333333"/>
                          </a:solidFill>
                          <a:latin typeface="Segoe UI" panose="020B0502040204020203" pitchFamily="34" charset="0"/>
                        </a:rPr>
                        <a:t>Description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D6E4F0"/>
                    </a:solidFill>
                  </a:tcPr>
                </a:tc>
                <a:extLst>
                  <a:ext uri="{0D108BD9-81ED-4DB2-BD59-A6C34878D82A}">
                    <a16:rowId xmlns:a16="http://schemas.microsoft.com/office/drawing/2014/main" val="3310044408"/>
                  </a:ext>
                </a:extLst>
              </a:tr>
              <a:tr h="350000">
                <a:tc>
                  <a:txBody>
                    <a:bodyPr/>
                    <a:lstStyle/>
                    <a:p>
                      <a:pPr>
                        <a:buNone/>
                      </a:pPr>
                      <a:r>
                        <a:rPr lang="en-GB" sz="1100" b="1">
                          <a:solidFill>
                            <a:srgbClr val="333333"/>
                          </a:solidFill>
                          <a:latin typeface="Segoe UI" panose="020B0502040204020203" pitchFamily="34" charset="0"/>
                        </a:rPr>
                        <a:t>Versioning</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Track model versions, weights, configs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1787619947"/>
                  </a:ext>
                </a:extLst>
              </a:tr>
              <a:tr h="350000">
                <a:tc>
                  <a:txBody>
                    <a:bodyPr/>
                    <a:lstStyle/>
                    <a:p>
                      <a:pPr>
                        <a:buNone/>
                      </a:pPr>
                      <a:r>
                        <a:rPr lang="en-GB" sz="1100" b="1">
                          <a:solidFill>
                            <a:srgbClr val="333333"/>
                          </a:solidFill>
                          <a:latin typeface="Segoe UI" panose="020B0502040204020203" pitchFamily="34" charset="0"/>
                        </a:rPr>
                        <a:t>Evaluation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444444"/>
                          </a:solidFill>
                          <a:latin typeface="Segoe UI" panose="020B0502040204020203" pitchFamily="34" charset="0"/>
                        </a:rPr>
                        <a:t>Store benchmarks, test scores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1188892042"/>
                  </a:ext>
                </a:extLst>
              </a:tr>
              <a:tr h="350000">
                <a:tc>
                  <a:txBody>
                    <a:bodyPr/>
                    <a:lstStyle/>
                    <a:p>
                      <a:pPr>
                        <a:buNone/>
                      </a:pPr>
                      <a:r>
                        <a:rPr lang="en-GB" sz="1100" b="1">
                          <a:solidFill>
                            <a:srgbClr val="333333"/>
                          </a:solidFill>
                          <a:latin typeface="Segoe UI" panose="020B0502040204020203" pitchFamily="34" charset="0"/>
                        </a:rPr>
                        <a:t>Approval</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Promote models after validation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974381573"/>
                  </a:ext>
                </a:extLst>
              </a:tr>
              <a:tr h="350000">
                <a:tc>
                  <a:txBody>
                    <a:bodyPr/>
                    <a:lstStyle/>
                    <a:p>
                      <a:pPr>
                        <a:buNone/>
                      </a:pPr>
                      <a:r>
                        <a:rPr lang="en-GB" sz="1100" b="1">
                          <a:solidFill>
                            <a:srgbClr val="333333"/>
                          </a:solidFill>
                          <a:latin typeface="Segoe UI" panose="020B0502040204020203" pitchFamily="34" charset="0"/>
                        </a:rPr>
                        <a:t>Traceability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444444"/>
                          </a:solidFill>
                          <a:latin typeface="Segoe UI" panose="020B0502040204020203" pitchFamily="34" charset="0"/>
                        </a:rPr>
                        <a:t>Link model to data + training pipeline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2558729370"/>
                  </a:ext>
                </a:extLst>
              </a:tr>
              <a:tr h="350000">
                <a:tc>
                  <a:txBody>
                    <a:bodyPr/>
                    <a:lstStyle/>
                    <a:p>
                      <a:pPr>
                        <a:buNone/>
                      </a:pPr>
                      <a:r>
                        <a:rPr lang="en-GB" sz="1100" b="1">
                          <a:solidFill>
                            <a:srgbClr val="333333"/>
                          </a:solidFill>
                          <a:latin typeface="Segoe UI" panose="020B0502040204020203" pitchFamily="34" charset="0"/>
                        </a:rPr>
                        <a:t>Ownership</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Platform team / ML engineers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3397865442"/>
                  </a:ext>
                </a:extLst>
              </a:tr>
            </a:tbl>
          </a:graphicData>
        </a:graphic>
      </p:graphicFrame>
      <p:graphicFrame>
        <p:nvGraphicFramePr>
          <p:cNvPr id="14" name="Content Placeholder 13">
            <a:extLst>
              <a:ext uri="{FF2B5EF4-FFF2-40B4-BE49-F238E27FC236}">
                <a16:creationId xmlns:a16="http://schemas.microsoft.com/office/drawing/2014/main" id="{9C5A6611-9970-7DD4-3CEF-0145E5E6ECC1}"/>
              </a:ext>
            </a:extLst>
          </p:cNvPr>
          <p:cNvGraphicFramePr>
            <a:graphicFrameLocks noGrp="1"/>
          </p:cNvGraphicFramePr>
          <p:nvPr>
            <p:ph sz="quarter" idx="10"/>
            <p:extLst>
              <p:ext uri="{D42A27DB-BD31-4B8C-83A1-F6EECF244321}">
                <p14:modId xmlns:p14="http://schemas.microsoft.com/office/powerpoint/2010/main" val="1005068919"/>
              </p:ext>
            </p:extLst>
          </p:nvPr>
        </p:nvGraphicFramePr>
        <p:xfrm>
          <a:off x="6246000" y="2400000"/>
          <a:ext cx="5446000" cy="2525280"/>
        </p:xfrm>
        <a:graphic>
          <a:graphicData uri="http://schemas.openxmlformats.org/drawingml/2006/table">
            <a:tbl>
              <a:tblPr firstRow="1" bandRow="1"/>
              <a:tblGrid>
                <a:gridCol w="1800000">
                  <a:extLst>
                    <a:ext uri="{9D8B030D-6E8A-4147-A177-3AD203B41FA5}">
                      <a16:colId xmlns:a16="http://schemas.microsoft.com/office/drawing/2014/main" val="2519063453"/>
                    </a:ext>
                  </a:extLst>
                </a:gridCol>
                <a:gridCol w="3646000">
                  <a:extLst>
                    <a:ext uri="{9D8B030D-6E8A-4147-A177-3AD203B41FA5}">
                      <a16:colId xmlns:a16="http://schemas.microsoft.com/office/drawing/2014/main" val="187011615"/>
                    </a:ext>
                  </a:extLst>
                </a:gridCol>
              </a:tblGrid>
              <a:tr h="420000">
                <a:tc gridSpan="2">
                  <a:txBody>
                    <a:bodyPr/>
                    <a:lstStyle/>
                    <a:p>
                      <a:pPr>
                        <a:buNone/>
                      </a:pPr>
                      <a:r>
                        <a:rPr lang="en-GB" sz="1200" b="1">
                          <a:solidFill>
                            <a:srgbClr val="FFFFFF"/>
                          </a:solidFill>
                          <a:latin typeface="Segoe UI" panose="020B0502040204020203" pitchFamily="34" charset="0"/>
                        </a:rPr>
                        <a:t>Agent Registry (AgenticOps)</a:t>
                      </a:r>
                    </a:p>
                    <a:p>
                      <a:pPr>
                        <a:buNone/>
                      </a:pPr>
                      <a:r>
                        <a:rPr lang="en-GB" sz="1000">
                          <a:solidFill>
                            <a:srgbClr val="FFFFFF"/>
                          </a:solidFill>
                          <a:latin typeface="Segoe UI" panose="020B0502040204020203" pitchFamily="34" charset="0"/>
                        </a:rPr>
                        <a:t>Purpose: Manage agents as active identities</a:t>
                      </a:r>
                    </a:p>
                  </a:txBody>
                  <a:tcPr marL="72000" marR="72000" marT="45000" marB="45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hMerge="1">
                  <a:txBody>
                    <a:bodyPr/>
                    <a:lstStyle/>
                    <a:p>
                      <a:endParaRPr lang="en-GB"/>
                    </a:p>
                  </a:txBody>
                  <a:tcPr/>
                </a:tc>
                <a:extLst>
                  <a:ext uri="{0D108BD9-81ED-4DB2-BD59-A6C34878D82A}">
                    <a16:rowId xmlns:a16="http://schemas.microsoft.com/office/drawing/2014/main" val="1002781003"/>
                  </a:ext>
                </a:extLst>
              </a:tr>
              <a:tr h="350000">
                <a:tc>
                  <a:txBody>
                    <a:bodyPr/>
                    <a:lstStyle/>
                    <a:p>
                      <a:pPr>
                        <a:buNone/>
                      </a:pPr>
                      <a:r>
                        <a:rPr lang="en-GB" sz="1100" b="1">
                          <a:solidFill>
                            <a:srgbClr val="333333"/>
                          </a:solidFill>
                          <a:latin typeface="Segoe UI" panose="020B0502040204020203" pitchFamily="34" charset="0"/>
                        </a:rPr>
                        <a:t>Capability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D6E4F0"/>
                    </a:solidFill>
                  </a:tcPr>
                </a:tc>
                <a:tc>
                  <a:txBody>
                    <a:bodyPr/>
                    <a:lstStyle/>
                    <a:p>
                      <a:pPr>
                        <a:buNone/>
                      </a:pPr>
                      <a:r>
                        <a:rPr lang="en-GB" sz="1100" b="1">
                          <a:solidFill>
                            <a:srgbClr val="333333"/>
                          </a:solidFill>
                          <a:latin typeface="Segoe UI" panose="020B0502040204020203" pitchFamily="34" charset="0"/>
                        </a:rPr>
                        <a:t>Description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D6E4F0"/>
                    </a:solidFill>
                  </a:tcPr>
                </a:tc>
                <a:extLst>
                  <a:ext uri="{0D108BD9-81ED-4DB2-BD59-A6C34878D82A}">
                    <a16:rowId xmlns:a16="http://schemas.microsoft.com/office/drawing/2014/main" val="2750083947"/>
                  </a:ext>
                </a:extLst>
              </a:tr>
              <a:tr h="350000">
                <a:tc>
                  <a:txBody>
                    <a:bodyPr/>
                    <a:lstStyle/>
                    <a:p>
                      <a:pPr>
                        <a:buNone/>
                      </a:pPr>
                      <a:r>
                        <a:rPr lang="en-GB" sz="1100" b="1">
                          <a:solidFill>
                            <a:srgbClr val="333333"/>
                          </a:solidFill>
                          <a:latin typeface="Segoe UI" panose="020B0502040204020203" pitchFamily="34" charset="0"/>
                        </a:rPr>
                        <a:t>Identity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Every agent has a registered identity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2828876945"/>
                  </a:ext>
                </a:extLst>
              </a:tr>
              <a:tr h="350000">
                <a:tc>
                  <a:txBody>
                    <a:bodyPr/>
                    <a:lstStyle/>
                    <a:p>
                      <a:pPr>
                        <a:buNone/>
                      </a:pPr>
                      <a:r>
                        <a:rPr lang="en-GB" sz="1100" b="1">
                          <a:solidFill>
                            <a:srgbClr val="333333"/>
                          </a:solidFill>
                          <a:latin typeface="Segoe UI" panose="020B0502040204020203" pitchFamily="34" charset="0"/>
                        </a:rPr>
                        <a:t>Ownership</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444444"/>
                          </a:solidFill>
                          <a:latin typeface="Segoe UI" panose="020B0502040204020203" pitchFamily="34" charset="0"/>
                        </a:rPr>
                        <a:t>Clear owner (product / business)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4200739614"/>
                  </a:ext>
                </a:extLst>
              </a:tr>
              <a:tr h="350000">
                <a:tc>
                  <a:txBody>
                    <a:bodyPr/>
                    <a:lstStyle/>
                    <a:p>
                      <a:pPr>
                        <a:buNone/>
                      </a:pPr>
                      <a:r>
                        <a:rPr lang="en-GB" sz="1100" b="1">
                          <a:solidFill>
                            <a:srgbClr val="333333"/>
                          </a:solidFill>
                          <a:latin typeface="Segoe UI" panose="020B0502040204020203" pitchFamily="34" charset="0"/>
                        </a:rPr>
                        <a:t>Inventory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All agents tracked (incl. shadow agents)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1804070070"/>
                  </a:ext>
                </a:extLst>
              </a:tr>
              <a:tr h="350000">
                <a:tc>
                  <a:txBody>
                    <a:bodyPr/>
                    <a:lstStyle/>
                    <a:p>
                      <a:pPr>
                        <a:buNone/>
                      </a:pPr>
                      <a:r>
                        <a:rPr lang="en-GB" sz="1100" b="1">
                          <a:solidFill>
                            <a:srgbClr val="333333"/>
                          </a:solidFill>
                          <a:latin typeface="Segoe UI" panose="020B0502040204020203" pitchFamily="34" charset="0"/>
                        </a:rPr>
                        <a:t>Behaviour visibility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444444"/>
                          </a:solidFill>
                          <a:latin typeface="Segoe UI" panose="020B0502040204020203" pitchFamily="34" charset="0"/>
                        </a:rPr>
                        <a:t>What the agent accesses, generates, executes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793130052"/>
                  </a:ext>
                </a:extLst>
              </a:tr>
              <a:tr h="350000">
                <a:tc>
                  <a:txBody>
                    <a:bodyPr/>
                    <a:lstStyle/>
                    <a:p>
                      <a:pPr>
                        <a:buNone/>
                      </a:pPr>
                      <a:r>
                        <a:rPr lang="en-GB" sz="1100" b="1">
                          <a:solidFill>
                            <a:srgbClr val="333333"/>
                          </a:solidFill>
                          <a:latin typeface="Segoe UI" panose="020B0502040204020203" pitchFamily="34" charset="0"/>
                        </a:rPr>
                        <a:t>Policy enforcement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tc>
                  <a:txBody>
                    <a:bodyPr/>
                    <a:lstStyle/>
                    <a:p>
                      <a:pPr>
                        <a:buNone/>
                      </a:pPr>
                      <a:r>
                        <a:rPr lang="en-GB" sz="1100">
                          <a:solidFill>
                            <a:srgbClr val="444444"/>
                          </a:solidFill>
                          <a:latin typeface="Segoe UI" panose="020B0502040204020203" pitchFamily="34" charset="0"/>
                        </a:rPr>
                        <a:t>Tool access, permissions, guardrails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7FA"/>
                    </a:solidFill>
                  </a:tcPr>
                </a:tc>
                <a:extLst>
                  <a:ext uri="{0D108BD9-81ED-4DB2-BD59-A6C34878D82A}">
                    <a16:rowId xmlns:a16="http://schemas.microsoft.com/office/drawing/2014/main" val="286805108"/>
                  </a:ext>
                </a:extLst>
              </a:tr>
            </a:tbl>
          </a:graphicData>
        </a:graphic>
      </p:graphicFrame>
    </p:spTree>
    <p:extLst>
      <p:ext uri="{BB962C8B-B14F-4D97-AF65-F5344CB8AC3E}">
        <p14:creationId xmlns:p14="http://schemas.microsoft.com/office/powerpoint/2010/main" val="5561280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8BC46082-D680-818B-899D-2EADE4F9A0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C63CEF-8B17-9FEE-3F78-AB017504D7C6}"/>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kumimoji="0" lang="en-GB" sz="3300" b="1" i="0" u="none" strike="noStrike" kern="1200" cap="none" spc="0" normalizeH="0" baseline="0" noProof="0" dirty="0">
                <a:ln>
                  <a:noFill/>
                </a:ln>
                <a:solidFill>
                  <a:srgbClr val="FFFFFF"/>
                </a:solidFill>
                <a:effectLst/>
                <a:uLnTx/>
                <a:uFillTx/>
                <a:latin typeface="Segoe UI Semibold"/>
                <a:ea typeface="+mn-ea"/>
                <a:cs typeface="+mn-cs"/>
              </a:rPr>
              <a:t>2</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6183F436-7403-D93F-69DB-FE87B12ABD67}"/>
              </a:ext>
            </a:extLst>
          </p:cNvPr>
          <p:cNvSpPr txBox="1"/>
          <p:nvPr/>
        </p:nvSpPr>
        <p:spPr>
          <a:xfrm>
            <a:off x="731520" y="4480560"/>
            <a:ext cx="9144000" cy="640080"/>
          </a:xfrm>
          <a:prstGeom prst="rect">
            <a:avLst/>
          </a:prstGeom>
          <a:noFill/>
        </p:spPr>
        <p:txBody>
          <a:bodyPr wrap="square" anchor="t"/>
          <a:lstStyle/>
          <a:p>
            <a:pPr lvl="0" defTabSz="457200">
              <a:defRPr sz="1800" b="0">
                <a:solidFill>
                  <a:srgbClr val="FFFFFF"/>
                </a:solidFill>
                <a:latin typeface="Segoe UI"/>
              </a:defRPr>
            </a:pPr>
            <a:r>
              <a:rPr lang="en-GB" dirty="0">
                <a:solidFill>
                  <a:srgbClr val="FFFFFF"/>
                </a:solidFill>
                <a:latin typeface="Segoe UI"/>
                <a:cs typeface="Segoe UI" panose="020B0502040204020203" pitchFamily="34" charset="0"/>
              </a:rPr>
              <a:t>Deployment G</a:t>
            </a:r>
            <a:r>
              <a:rPr lang="en-GB" dirty="0"/>
              <a:t>ates</a:t>
            </a:r>
            <a:endParaRPr kumimoji="0" lang="da-DK" sz="1800" b="0" i="0" u="none" strike="noStrike" kern="1200" cap="none" spc="0" normalizeH="0" baseline="0" noProof="0" dirty="0">
              <a:ln>
                <a:noFill/>
              </a:ln>
              <a:solidFill>
                <a:srgbClr val="FFFFFF"/>
              </a:solidFill>
              <a:effectLst/>
              <a:uLnTx/>
              <a:uFillTx/>
              <a:latin typeface="Segoe UI"/>
              <a:ea typeface="+mn-ea"/>
              <a:cs typeface="Segoe UI" panose="020B0502040204020203" pitchFamily="34" charset="0"/>
            </a:endParaRPr>
          </a:p>
        </p:txBody>
      </p:sp>
      <p:sp>
        <p:nvSpPr>
          <p:cNvPr id="4" name="Rectangle 3">
            <a:extLst>
              <a:ext uri="{FF2B5EF4-FFF2-40B4-BE49-F238E27FC236}">
                <a16:creationId xmlns:a16="http://schemas.microsoft.com/office/drawing/2014/main" id="{AF99D424-EBD8-B337-771C-793545D399EF}"/>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82C4A9C-351E-E282-BD31-8705C4BF815B}"/>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35991633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64C3-7A9B-5642-F328-D9AA61EACD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BD8794A-1C5C-9018-03E5-6A1617C44B32}"/>
              </a:ext>
            </a:extLst>
          </p:cNvPr>
          <p:cNvSpPr/>
          <p:nvPr/>
        </p:nvSpPr>
        <p:spPr>
          <a:xfrm>
            <a:off x="0" y="0"/>
            <a:ext cx="12191695" cy="1188720"/>
          </a:xfrm>
          <a:prstGeom prst="rect">
            <a:avLst/>
          </a:prstGeom>
          <a:solidFill>
            <a:srgbClr val="243A5E"/>
          </a:solidFill>
          <a:ln>
            <a:noFill/>
          </a:ln>
        </p:spPr>
        <p:txBody>
          <a:bodyPr rtlCol="0" anchor="ctr"/>
          <a:lstStyle/>
          <a:p>
            <a:endParaRPr lang="en-GB"/>
          </a:p>
        </p:txBody>
      </p:sp>
      <p:sp>
        <p:nvSpPr>
          <p:cNvPr id="3" name="TextBox 2">
            <a:extLst>
              <a:ext uri="{FF2B5EF4-FFF2-40B4-BE49-F238E27FC236}">
                <a16:creationId xmlns:a16="http://schemas.microsoft.com/office/drawing/2014/main" id="{C45CD919-AE6E-1D26-E288-29265886A7B0}"/>
              </a:ext>
            </a:extLst>
          </p:cNvPr>
          <p:cNvSpPr txBox="1"/>
          <p:nvPr/>
        </p:nvSpPr>
        <p:spPr>
          <a:xfrm>
            <a:off x="640080" y="274320"/>
            <a:ext cx="10515600" cy="731520"/>
          </a:xfrm>
          <a:prstGeom prst="rect">
            <a:avLst/>
          </a:prstGeom>
          <a:noFill/>
        </p:spPr>
        <p:txBody>
          <a:bodyPr wrap="square" anchor="t"/>
          <a:lstStyle/>
          <a:p>
            <a:pPr>
              <a:defRPr sz="2400" b="1">
                <a:solidFill>
                  <a:srgbClr val="FFFFFF"/>
                </a:solidFill>
                <a:latin typeface="Segoe UI Semibold"/>
              </a:defRPr>
            </a:pPr>
            <a:r>
              <a:rPr lang="en-GB" sz="2400" b="1">
                <a:solidFill>
                  <a:srgbClr val="FFFFFF"/>
                </a:solidFill>
                <a:latin typeface="Segoe UI Semibold"/>
              </a:rPr>
              <a:t>Deployment Gates</a:t>
            </a:r>
          </a:p>
        </p:txBody>
      </p:sp>
      <p:sp>
        <p:nvSpPr>
          <p:cNvPr id="4" name="Rectangle 3">
            <a:extLst>
              <a:ext uri="{FF2B5EF4-FFF2-40B4-BE49-F238E27FC236}">
                <a16:creationId xmlns:a16="http://schemas.microsoft.com/office/drawing/2014/main" id="{046F2704-5D58-D576-7BB1-89C949AABD86}"/>
              </a:ext>
            </a:extLst>
          </p:cNvPr>
          <p:cNvSpPr/>
          <p:nvPr/>
        </p:nvSpPr>
        <p:spPr>
          <a:xfrm>
            <a:off x="0" y="1188720"/>
            <a:ext cx="12191695" cy="64008"/>
          </a:xfrm>
          <a:prstGeom prst="rect">
            <a:avLst/>
          </a:prstGeom>
          <a:solidFill>
            <a:srgbClr val="FFB900"/>
          </a:solidFill>
          <a:ln>
            <a:noFill/>
          </a:ln>
        </p:spPr>
        <p:txBody>
          <a:bodyPr rtlCol="0" anchor="ctr"/>
          <a:lstStyle/>
          <a:p>
            <a:endParaRPr lang="en-GB"/>
          </a:p>
        </p:txBody>
      </p:sp>
      <p:sp>
        <p:nvSpPr>
          <p:cNvPr id="20" name="TextBox 20">
            <a:extLst>
              <a:ext uri="{FF2B5EF4-FFF2-40B4-BE49-F238E27FC236}">
                <a16:creationId xmlns:a16="http://schemas.microsoft.com/office/drawing/2014/main" id="{A1B2C3D4-1234-5678-9ABC-DEF012345678}"/>
              </a:ext>
            </a:extLst>
          </p:cNvPr>
          <p:cNvSpPr txBox="1"/>
          <p:nvPr/>
        </p:nvSpPr>
        <p:spPr>
          <a:xfrm>
            <a:off x="640000" y="1400000"/>
            <a:ext cx="10900000" cy="500000"/>
          </a:xfrm>
          <a:prstGeom prst="rect">
            <a:avLst/>
          </a:prstGeom>
          <a:noFill/>
        </p:spPr>
        <p:txBody>
          <a:bodyPr wrap="square" anchor="t"/>
          <a:lstStyle/>
          <a:p>
            <a:pPr>
              <a:buNone/>
            </a:pPr>
            <a:r>
              <a:rPr lang="en-GB" sz="1200" i="1">
                <a:solidFill>
                  <a:srgbClr val="555555"/>
                </a:solidFill>
                <a:latin typeface="Segoe UI" panose="020B0502040204020203" pitchFamily="34" charset="0"/>
              </a:rPr>
              <a:t>Mandatory control checkpoints that enforce governance, risk validation, and policy compliance before and after moving AI systems across lifecycle stages.</a:t>
            </a:r>
          </a:p>
        </p:txBody>
      </p:sp>
      <p:sp>
        <p:nvSpPr>
          <p:cNvPr id="21" name="Without Gates Panel">
            <a:extLst>
              <a:ext uri="{FF2B5EF4-FFF2-40B4-BE49-F238E27FC236}">
                <a16:creationId xmlns:a16="http://schemas.microsoft.com/office/drawing/2014/main" id="{B1C2D3E4-2345-6789-ABCD-EF0123456789}"/>
              </a:ext>
            </a:extLst>
          </p:cNvPr>
          <p:cNvSpPr/>
          <p:nvPr/>
        </p:nvSpPr>
        <p:spPr>
          <a:xfrm>
            <a:off x="640000" y="2050000"/>
            <a:ext cx="5350000" cy="2200000"/>
          </a:xfrm>
          <a:prstGeom prst="roundRect">
            <a:avLst>
              <a:gd name="adj" fmla="val 3000"/>
            </a:avLst>
          </a:prstGeom>
          <a:solidFill>
            <a:srgbClr val="FFF5F5"/>
          </a:solidFill>
          <a:ln w="12700">
            <a:solidFill>
              <a:srgbClr val="E0A0A0"/>
            </a:solidFill>
          </a:ln>
        </p:spPr>
        <p:txBody>
          <a:bodyPr wrap="square" lIns="144000" tIns="108000" rIns="108000" bIns="72000" anchor="t"/>
          <a:lstStyle/>
          <a:p>
            <a:pPr>
              <a:spcAft>
                <a:spcPts val="600"/>
              </a:spcAft>
              <a:buNone/>
            </a:pPr>
            <a:r>
              <a:rPr lang="en-GB" sz="1400" b="1">
                <a:solidFill>
                  <a:srgbClr val="C42B1C"/>
                </a:solidFill>
                <a:latin typeface="Segoe UI" panose="020B0502040204020203" pitchFamily="34" charset="0"/>
              </a:rPr>
              <a:t>Without Gates</a:t>
            </a:r>
          </a:p>
          <a:p>
            <a:pPr>
              <a:lnSpc>
                <a:spcPts val="2200"/>
              </a:lnSpc>
              <a:buFont typeface="Arial" pitchFamily="34" charset="0"/>
              <a:buChar char="✗"/>
            </a:pPr>
            <a:r>
              <a:rPr lang="en-GB" sz="1200">
                <a:solidFill>
                  <a:srgbClr val="444444"/>
                </a:solidFill>
                <a:latin typeface="Segoe UI" panose="020B0502040204020203" pitchFamily="34" charset="0"/>
              </a:rPr>
              <a:t> Models get pushed without validation</a:t>
            </a:r>
          </a:p>
          <a:p>
            <a:pPr>
              <a:lnSpc>
                <a:spcPts val="2200"/>
              </a:lnSpc>
              <a:buFont typeface="Arial" pitchFamily="34" charset="0"/>
              <a:buChar char="✗"/>
            </a:pPr>
            <a:r>
              <a:rPr lang="en-GB" sz="1200">
                <a:solidFill>
                  <a:srgbClr val="444444"/>
                </a:solidFill>
                <a:latin typeface="Segoe UI" panose="020B0502040204020203" pitchFamily="34" charset="0"/>
              </a:rPr>
              <a:t> Agents act without controls</a:t>
            </a:r>
          </a:p>
          <a:p>
            <a:pPr>
              <a:lnSpc>
                <a:spcPts val="2200"/>
              </a:lnSpc>
              <a:buFont typeface="Arial" pitchFamily="34" charset="0"/>
              <a:buChar char="✗"/>
            </a:pPr>
            <a:r>
              <a:rPr lang="en-GB" sz="1200">
                <a:solidFill>
                  <a:srgbClr val="444444"/>
                </a:solidFill>
                <a:latin typeface="Segoe UI" panose="020B0502040204020203" pitchFamily="34" charset="0"/>
              </a:rPr>
              <a:t> Data risks go unchecked</a:t>
            </a:r>
          </a:p>
          <a:p>
            <a:pPr>
              <a:lnSpc>
                <a:spcPts val="2200"/>
              </a:lnSpc>
              <a:buFont typeface="Arial" pitchFamily="34" charset="0"/>
              <a:buChar char="✗"/>
            </a:pPr>
            <a:r>
              <a:rPr lang="en-GB" sz="1200">
                <a:solidFill>
                  <a:srgbClr val="444444"/>
                </a:solidFill>
                <a:latin typeface="Segoe UI" panose="020B0502040204020203" pitchFamily="34" charset="0"/>
              </a:rPr>
              <a:t> Compliance becomes reactive</a:t>
            </a:r>
          </a:p>
        </p:txBody>
      </p:sp>
      <p:sp>
        <p:nvSpPr>
          <p:cNvPr id="22" name="With Gates Panel">
            <a:extLst>
              <a:ext uri="{FF2B5EF4-FFF2-40B4-BE49-F238E27FC236}">
                <a16:creationId xmlns:a16="http://schemas.microsoft.com/office/drawing/2014/main" id="{C2D3E4F5-3456-789A-BCDE-F01234567890}"/>
              </a:ext>
            </a:extLst>
          </p:cNvPr>
          <p:cNvSpPr/>
          <p:nvPr/>
        </p:nvSpPr>
        <p:spPr>
          <a:xfrm>
            <a:off x="6200000" y="2050000"/>
            <a:ext cx="5350000" cy="2200000"/>
          </a:xfrm>
          <a:prstGeom prst="roundRect">
            <a:avLst>
              <a:gd name="adj" fmla="val 3000"/>
            </a:avLst>
          </a:prstGeom>
          <a:solidFill>
            <a:srgbClr val="F0FAF0"/>
          </a:solidFill>
          <a:ln w="12700">
            <a:solidFill>
              <a:srgbClr val="90C090"/>
            </a:solidFill>
          </a:ln>
        </p:spPr>
        <p:txBody>
          <a:bodyPr wrap="square" lIns="144000" tIns="108000" rIns="108000" bIns="72000" anchor="t"/>
          <a:lstStyle/>
          <a:p>
            <a:pPr>
              <a:spcAft>
                <a:spcPts val="600"/>
              </a:spcAft>
              <a:buNone/>
            </a:pPr>
            <a:r>
              <a:rPr lang="en-GB" sz="1400" b="1">
                <a:solidFill>
                  <a:srgbClr val="107C10"/>
                </a:solidFill>
                <a:latin typeface="Segoe UI" panose="020B0502040204020203" pitchFamily="34" charset="0"/>
              </a:rPr>
              <a:t>With Gates</a:t>
            </a:r>
          </a:p>
          <a:p>
            <a:pPr>
              <a:lnSpc>
                <a:spcPts val="2200"/>
              </a:lnSpc>
              <a:buFont typeface="Arial" pitchFamily="34" charset="0"/>
              <a:buChar char="✓"/>
            </a:pPr>
            <a:r>
              <a:rPr lang="en-GB" sz="1200">
                <a:solidFill>
                  <a:srgbClr val="444444"/>
                </a:solidFill>
                <a:latin typeface="Segoe UI" panose="020B0502040204020203" pitchFamily="34" charset="0"/>
              </a:rPr>
              <a:t> Controlled promotion</a:t>
            </a:r>
          </a:p>
          <a:p>
            <a:pPr>
              <a:lnSpc>
                <a:spcPts val="2200"/>
              </a:lnSpc>
              <a:buFont typeface="Arial" pitchFamily="34" charset="0"/>
              <a:buChar char="✓"/>
            </a:pPr>
            <a:r>
              <a:rPr lang="en-GB" sz="1200">
                <a:solidFill>
                  <a:srgbClr val="444444"/>
                </a:solidFill>
                <a:latin typeface="Segoe UI" panose="020B0502040204020203" pitchFamily="34" charset="0"/>
              </a:rPr>
              <a:t> Risk-aware deployment</a:t>
            </a:r>
          </a:p>
          <a:p>
            <a:pPr>
              <a:lnSpc>
                <a:spcPts val="2200"/>
              </a:lnSpc>
              <a:buFont typeface="Arial" pitchFamily="34" charset="0"/>
              <a:buChar char="✓"/>
            </a:pPr>
            <a:r>
              <a:rPr lang="en-GB" sz="1200">
                <a:solidFill>
                  <a:srgbClr val="444444"/>
                </a:solidFill>
                <a:latin typeface="Segoe UI" panose="020B0502040204020203" pitchFamily="34" charset="0"/>
              </a:rPr>
              <a:t> Auditability</a:t>
            </a:r>
          </a:p>
          <a:p>
            <a:pPr>
              <a:lnSpc>
                <a:spcPts val="2200"/>
              </a:lnSpc>
              <a:buFont typeface="Arial" pitchFamily="34" charset="0"/>
              <a:buChar char="✓"/>
            </a:pPr>
            <a:r>
              <a:rPr lang="en-GB" sz="1200">
                <a:solidFill>
                  <a:srgbClr val="444444"/>
                </a:solidFill>
                <a:latin typeface="Segoe UI" panose="020B0502040204020203" pitchFamily="34" charset="0"/>
              </a:rPr>
              <a:t> Consistent enforcement at scale</a:t>
            </a:r>
          </a:p>
        </p:txBody>
      </p:sp>
      <p:sp>
        <p:nvSpPr>
          <p:cNvPr id="30" name="Lifecycle Label">
            <a:extLst>
              <a:ext uri="{FF2B5EF4-FFF2-40B4-BE49-F238E27FC236}">
                <a16:creationId xmlns:a16="http://schemas.microsoft.com/office/drawing/2014/main" id="{D3E4F5A6-4567-89AB-CDEF-012345678901}"/>
              </a:ext>
            </a:extLst>
          </p:cNvPr>
          <p:cNvSpPr txBox="1"/>
          <p:nvPr/>
        </p:nvSpPr>
        <p:spPr>
          <a:xfrm>
            <a:off x="640000" y="4500000"/>
            <a:ext cx="10900000" cy="340000"/>
          </a:xfrm>
          <a:prstGeom prst="rect">
            <a:avLst/>
          </a:prstGeom>
          <a:noFill/>
        </p:spPr>
        <p:txBody>
          <a:bodyPr wrap="square" anchor="b"/>
          <a:lstStyle/>
          <a:p>
            <a:pPr>
              <a:buNone/>
            </a:pPr>
            <a:r>
              <a:rPr lang="en-GB" sz="1200" b="1">
                <a:solidFill>
                  <a:srgbClr val="243A5E"/>
                </a:solidFill>
                <a:latin typeface="Segoe UI" panose="020B0502040204020203" pitchFamily="34" charset="0"/>
              </a:rPr>
              <a:t>Lifecycle View — Where Gates Sit</a:t>
            </a:r>
          </a:p>
        </p:txBody>
      </p:sp>
      <p:sp>
        <p:nvSpPr>
          <p:cNvPr id="31" name="Stage IDEATE">
            <a:extLst>
              <a:ext uri="{FF2B5EF4-FFF2-40B4-BE49-F238E27FC236}">
                <a16:creationId xmlns:a16="http://schemas.microsoft.com/office/drawing/2014/main" id="{E0F0A0B0-5678-9ABC-DEF0-123456780000}"/>
              </a:ext>
            </a:extLst>
          </p:cNvPr>
          <p:cNvSpPr/>
          <p:nvPr/>
        </p:nvSpPr>
        <p:spPr>
          <a:xfrm>
            <a:off x="640000"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IDEATE</a:t>
            </a:r>
          </a:p>
        </p:txBody>
      </p:sp>
      <p:sp>
        <p:nvSpPr>
          <p:cNvPr id="32" name="Arrow 0">
            <a:extLst>
              <a:ext uri="{FF2B5EF4-FFF2-40B4-BE49-F238E27FC236}">
                <a16:creationId xmlns:a16="http://schemas.microsoft.com/office/drawing/2014/main" id="{F0A0B0C0-6789-ABCD-EF01-234567890000}"/>
              </a:ext>
            </a:extLst>
          </p:cNvPr>
          <p:cNvSpPr txBox="1"/>
          <p:nvPr/>
        </p:nvSpPr>
        <p:spPr>
          <a:xfrm>
            <a:off x="2296666" y="5065000"/>
            <a:ext cx="160000" cy="120000"/>
          </a:xfrm>
          <a:prstGeom prst="rect">
            <a:avLst/>
          </a:prstGeom>
          <a:noFill/>
        </p:spPr>
        <p:txBody>
          <a:bodyPr wrap="square" lIns="0" tIns="0" rIns="0" bIns="0" anchor="ctr"/>
          <a:lstStyle/>
          <a:p>
            <a:pPr algn="ctr">
              <a:buNone/>
            </a:pPr>
            <a:r>
              <a:rPr lang="en-GB" sz="1100" b="1">
                <a:solidFill>
                  <a:srgbClr val="999999"/>
                </a:solidFill>
                <a:latin typeface="Segoe UI"/>
              </a:rPr>
              <a:t>→</a:t>
            </a:r>
          </a:p>
        </p:txBody>
      </p:sp>
      <p:sp>
        <p:nvSpPr>
          <p:cNvPr id="33" name="Stage BUILD">
            <a:extLst>
              <a:ext uri="{FF2B5EF4-FFF2-40B4-BE49-F238E27FC236}">
                <a16:creationId xmlns:a16="http://schemas.microsoft.com/office/drawing/2014/main" id="{E1F1A1B1-5678-9ABC-DEF0-123456780001}"/>
              </a:ext>
            </a:extLst>
          </p:cNvPr>
          <p:cNvSpPr/>
          <p:nvPr/>
        </p:nvSpPr>
        <p:spPr>
          <a:xfrm>
            <a:off x="2496666"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BUILD</a:t>
            </a:r>
          </a:p>
        </p:txBody>
      </p:sp>
      <p:sp>
        <p:nvSpPr>
          <p:cNvPr id="34" name="Arrow 1">
            <a:extLst>
              <a:ext uri="{FF2B5EF4-FFF2-40B4-BE49-F238E27FC236}">
                <a16:creationId xmlns:a16="http://schemas.microsoft.com/office/drawing/2014/main" id="{F1A1B1C1-6789-ABCD-EF01-234567890001}"/>
              </a:ext>
            </a:extLst>
          </p:cNvPr>
          <p:cNvSpPr txBox="1"/>
          <p:nvPr/>
        </p:nvSpPr>
        <p:spPr>
          <a:xfrm>
            <a:off x="4153332" y="5065000"/>
            <a:ext cx="160000" cy="120000"/>
          </a:xfrm>
          <a:prstGeom prst="rect">
            <a:avLst/>
          </a:prstGeom>
          <a:noFill/>
        </p:spPr>
        <p:txBody>
          <a:bodyPr wrap="square" lIns="0" tIns="0" rIns="0" bIns="0" anchor="ctr"/>
          <a:lstStyle/>
          <a:p>
            <a:pPr algn="ctr">
              <a:buNone/>
            </a:pPr>
            <a:r>
              <a:rPr lang="en-GB" sz="1100" b="1">
                <a:solidFill>
                  <a:srgbClr val="999999"/>
                </a:solidFill>
                <a:latin typeface="Segoe UI"/>
              </a:rPr>
              <a:t>→</a:t>
            </a:r>
          </a:p>
        </p:txBody>
      </p:sp>
      <p:sp>
        <p:nvSpPr>
          <p:cNvPr id="35" name="Stage TEST">
            <a:extLst>
              <a:ext uri="{FF2B5EF4-FFF2-40B4-BE49-F238E27FC236}">
                <a16:creationId xmlns:a16="http://schemas.microsoft.com/office/drawing/2014/main" id="{E2F2A2B2-5678-9ABC-DEF0-123456780002}"/>
              </a:ext>
            </a:extLst>
          </p:cNvPr>
          <p:cNvSpPr/>
          <p:nvPr/>
        </p:nvSpPr>
        <p:spPr>
          <a:xfrm>
            <a:off x="4353332"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TEST</a:t>
            </a:r>
          </a:p>
        </p:txBody>
      </p:sp>
      <p:sp>
        <p:nvSpPr>
          <p:cNvPr id="36" name="Arrow 2">
            <a:extLst>
              <a:ext uri="{FF2B5EF4-FFF2-40B4-BE49-F238E27FC236}">
                <a16:creationId xmlns:a16="http://schemas.microsoft.com/office/drawing/2014/main" id="{F2A2B2C2-6789-ABCD-EF01-234567890002}"/>
              </a:ext>
            </a:extLst>
          </p:cNvPr>
          <p:cNvSpPr txBox="1"/>
          <p:nvPr/>
        </p:nvSpPr>
        <p:spPr>
          <a:xfrm>
            <a:off x="6009998" y="5065000"/>
            <a:ext cx="160000" cy="120000"/>
          </a:xfrm>
          <a:prstGeom prst="rect">
            <a:avLst/>
          </a:prstGeom>
          <a:noFill/>
        </p:spPr>
        <p:txBody>
          <a:bodyPr wrap="square" lIns="0" tIns="0" rIns="0" bIns="0" anchor="ctr"/>
          <a:lstStyle/>
          <a:p>
            <a:pPr algn="ctr">
              <a:buNone/>
            </a:pPr>
            <a:r>
              <a:rPr lang="en-GB" sz="1100" b="1">
                <a:solidFill>
                  <a:srgbClr val="999999"/>
                </a:solidFill>
                <a:latin typeface="Segoe UI"/>
              </a:rPr>
              <a:t>→</a:t>
            </a:r>
          </a:p>
        </p:txBody>
      </p:sp>
      <p:sp>
        <p:nvSpPr>
          <p:cNvPr id="37" name="Stage DEPLOY">
            <a:extLst>
              <a:ext uri="{FF2B5EF4-FFF2-40B4-BE49-F238E27FC236}">
                <a16:creationId xmlns:a16="http://schemas.microsoft.com/office/drawing/2014/main" id="{E3F3A3B3-5678-9ABC-DEF0-123456780003}"/>
              </a:ext>
            </a:extLst>
          </p:cNvPr>
          <p:cNvSpPr/>
          <p:nvPr/>
        </p:nvSpPr>
        <p:spPr>
          <a:xfrm>
            <a:off x="6209998"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DEPLOY</a:t>
            </a:r>
          </a:p>
        </p:txBody>
      </p:sp>
      <p:sp>
        <p:nvSpPr>
          <p:cNvPr id="38" name="Arrow 3">
            <a:extLst>
              <a:ext uri="{FF2B5EF4-FFF2-40B4-BE49-F238E27FC236}">
                <a16:creationId xmlns:a16="http://schemas.microsoft.com/office/drawing/2014/main" id="{F3A3B3C3-6789-ABCD-EF01-234567890003}"/>
              </a:ext>
            </a:extLst>
          </p:cNvPr>
          <p:cNvSpPr txBox="1"/>
          <p:nvPr/>
        </p:nvSpPr>
        <p:spPr>
          <a:xfrm>
            <a:off x="7866664" y="5065000"/>
            <a:ext cx="160000" cy="120000"/>
          </a:xfrm>
          <a:prstGeom prst="rect">
            <a:avLst/>
          </a:prstGeom>
          <a:noFill/>
        </p:spPr>
        <p:txBody>
          <a:bodyPr wrap="square" lIns="0" tIns="0" rIns="0" bIns="0" anchor="ctr"/>
          <a:lstStyle/>
          <a:p>
            <a:pPr algn="ctr">
              <a:buNone/>
            </a:pPr>
            <a:r>
              <a:rPr lang="en-GB" sz="1100" b="1">
                <a:solidFill>
                  <a:srgbClr val="999999"/>
                </a:solidFill>
                <a:latin typeface="Segoe UI"/>
              </a:rPr>
              <a:t>→</a:t>
            </a:r>
          </a:p>
        </p:txBody>
      </p:sp>
      <p:sp>
        <p:nvSpPr>
          <p:cNvPr id="39" name="Stage OPERATE">
            <a:extLst>
              <a:ext uri="{FF2B5EF4-FFF2-40B4-BE49-F238E27FC236}">
                <a16:creationId xmlns:a16="http://schemas.microsoft.com/office/drawing/2014/main" id="{E4F4A4B4-5678-9ABC-DEF0-123456780004}"/>
              </a:ext>
            </a:extLst>
          </p:cNvPr>
          <p:cNvSpPr/>
          <p:nvPr/>
        </p:nvSpPr>
        <p:spPr>
          <a:xfrm>
            <a:off x="8066664"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OPERATE</a:t>
            </a:r>
          </a:p>
        </p:txBody>
      </p:sp>
      <p:sp>
        <p:nvSpPr>
          <p:cNvPr id="40" name="Arrow 4">
            <a:extLst>
              <a:ext uri="{FF2B5EF4-FFF2-40B4-BE49-F238E27FC236}">
                <a16:creationId xmlns:a16="http://schemas.microsoft.com/office/drawing/2014/main" id="{F4A4B4C4-6789-ABCD-EF01-234567890004}"/>
              </a:ext>
            </a:extLst>
          </p:cNvPr>
          <p:cNvSpPr txBox="1"/>
          <p:nvPr/>
        </p:nvSpPr>
        <p:spPr>
          <a:xfrm>
            <a:off x="9723330" y="5065000"/>
            <a:ext cx="160000" cy="120000"/>
          </a:xfrm>
          <a:prstGeom prst="rect">
            <a:avLst/>
          </a:prstGeom>
          <a:noFill/>
        </p:spPr>
        <p:txBody>
          <a:bodyPr wrap="square" lIns="0" tIns="0" rIns="0" bIns="0" anchor="ctr"/>
          <a:lstStyle/>
          <a:p>
            <a:pPr algn="ctr">
              <a:buNone/>
            </a:pPr>
            <a:r>
              <a:rPr lang="en-GB" sz="1100" b="1">
                <a:solidFill>
                  <a:srgbClr val="999999"/>
                </a:solidFill>
                <a:latin typeface="Segoe UI"/>
              </a:rPr>
              <a:t>→</a:t>
            </a:r>
          </a:p>
        </p:txBody>
      </p:sp>
      <p:sp>
        <p:nvSpPr>
          <p:cNvPr id="41" name="Stage RETIRE">
            <a:extLst>
              <a:ext uri="{FF2B5EF4-FFF2-40B4-BE49-F238E27FC236}">
                <a16:creationId xmlns:a16="http://schemas.microsoft.com/office/drawing/2014/main" id="{E5F5A5B5-5678-9ABC-DEF0-123456780005}"/>
              </a:ext>
            </a:extLst>
          </p:cNvPr>
          <p:cNvSpPr/>
          <p:nvPr/>
        </p:nvSpPr>
        <p:spPr>
          <a:xfrm>
            <a:off x="9923330" y="4900000"/>
            <a:ext cx="1616666" cy="450000"/>
          </a:xfrm>
          <a:prstGeom prst="roundRect">
            <a:avLst>
              <a:gd name="adj" fmla="val 10000"/>
            </a:avLst>
          </a:prstGeom>
          <a:solidFill>
            <a:srgbClr val="2B579A"/>
          </a:solidFill>
          <a:ln w="0">
            <a:noFill/>
          </a:ln>
        </p:spPr>
        <p:txBody>
          <a:bodyPr wrap="square" lIns="36000" rIns="36000" anchor="ctr"/>
          <a:lstStyle/>
          <a:p>
            <a:pPr algn="ctr">
              <a:buNone/>
            </a:pPr>
            <a:r>
              <a:rPr lang="en-GB" sz="1000" b="1">
                <a:solidFill>
                  <a:srgbClr val="FFFFFF"/>
                </a:solidFill>
                <a:latin typeface="Segoe UI" panose="020B0502040204020203" pitchFamily="34" charset="0"/>
              </a:rPr>
              <a:t>RETIRE</a:t>
            </a:r>
          </a:p>
        </p:txBody>
      </p:sp>
      <p:sp>
        <p:nvSpPr>
          <p:cNvPr id="50" name="Gate 0">
            <a:extLst>
              <a:ext uri="{FF2B5EF4-FFF2-40B4-BE49-F238E27FC236}">
                <a16:creationId xmlns:a16="http://schemas.microsoft.com/office/drawing/2014/main" id="{A0B0C0D0-7890-BCDE-F012-3456789A0000}"/>
              </a:ext>
            </a:extLst>
          </p:cNvPr>
          <p:cNvSpPr txBox="1"/>
          <p:nvPr/>
        </p:nvSpPr>
        <p:spPr>
          <a:xfrm>
            <a:off x="2126666" y="5410000"/>
            <a:ext cx="500000" cy="250000"/>
          </a:xfrm>
          <a:prstGeom prst="rect">
            <a:avLst/>
          </a:prstGeom>
          <a:noFill/>
        </p:spPr>
        <p:txBody>
          <a:bodyPr wrap="square" lIns="0" tIns="0" rIns="0" bIns="0" anchor="t"/>
          <a:lstStyle/>
          <a:p>
            <a:pPr algn="ctr">
              <a:buNone/>
            </a:pPr>
            <a:r>
              <a:rPr lang="en-GB" sz="800" b="1">
                <a:solidFill>
                  <a:srgbClr val="D83B01"/>
                </a:solidFill>
                <a:latin typeface="Segoe UI"/>
              </a:rPr>
              <a:t>▲ GATE</a:t>
            </a:r>
          </a:p>
        </p:txBody>
      </p:sp>
      <p:sp>
        <p:nvSpPr>
          <p:cNvPr id="51" name="Gate 1">
            <a:extLst>
              <a:ext uri="{FF2B5EF4-FFF2-40B4-BE49-F238E27FC236}">
                <a16:creationId xmlns:a16="http://schemas.microsoft.com/office/drawing/2014/main" id="{A1B1C1D1-7890-BCDE-F012-3456789A0001}"/>
              </a:ext>
            </a:extLst>
          </p:cNvPr>
          <p:cNvSpPr txBox="1"/>
          <p:nvPr/>
        </p:nvSpPr>
        <p:spPr>
          <a:xfrm>
            <a:off x="3983332" y="5410000"/>
            <a:ext cx="500000" cy="250000"/>
          </a:xfrm>
          <a:prstGeom prst="rect">
            <a:avLst/>
          </a:prstGeom>
          <a:noFill/>
        </p:spPr>
        <p:txBody>
          <a:bodyPr wrap="square" lIns="0" tIns="0" rIns="0" bIns="0" anchor="t"/>
          <a:lstStyle/>
          <a:p>
            <a:pPr algn="ctr">
              <a:buNone/>
            </a:pPr>
            <a:r>
              <a:rPr lang="en-GB" sz="800" b="1">
                <a:solidFill>
                  <a:srgbClr val="D83B01"/>
                </a:solidFill>
                <a:latin typeface="Segoe UI"/>
              </a:rPr>
              <a:t>▲ GATE</a:t>
            </a:r>
          </a:p>
        </p:txBody>
      </p:sp>
      <p:sp>
        <p:nvSpPr>
          <p:cNvPr id="52" name="Gate 2">
            <a:extLst>
              <a:ext uri="{FF2B5EF4-FFF2-40B4-BE49-F238E27FC236}">
                <a16:creationId xmlns:a16="http://schemas.microsoft.com/office/drawing/2014/main" id="{A2B2C2D2-7890-BCDE-F012-3456789A0002}"/>
              </a:ext>
            </a:extLst>
          </p:cNvPr>
          <p:cNvSpPr txBox="1"/>
          <p:nvPr/>
        </p:nvSpPr>
        <p:spPr>
          <a:xfrm>
            <a:off x="5839998" y="5410000"/>
            <a:ext cx="500000" cy="250000"/>
          </a:xfrm>
          <a:prstGeom prst="rect">
            <a:avLst/>
          </a:prstGeom>
          <a:noFill/>
        </p:spPr>
        <p:txBody>
          <a:bodyPr wrap="square" lIns="0" tIns="0" rIns="0" bIns="0" anchor="t"/>
          <a:lstStyle/>
          <a:p>
            <a:pPr algn="ctr">
              <a:buNone/>
            </a:pPr>
            <a:r>
              <a:rPr lang="en-GB" sz="800" b="1">
                <a:solidFill>
                  <a:srgbClr val="D83B01"/>
                </a:solidFill>
                <a:latin typeface="Segoe UI"/>
              </a:rPr>
              <a:t>▲ GATE</a:t>
            </a:r>
          </a:p>
        </p:txBody>
      </p:sp>
    </p:spTree>
    <p:extLst>
      <p:ext uri="{BB962C8B-B14F-4D97-AF65-F5344CB8AC3E}">
        <p14:creationId xmlns:p14="http://schemas.microsoft.com/office/powerpoint/2010/main" val="5270653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3BE38F1-6CC6-DB60-7248-6ABDAEAEB8B2}"/>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91DE74C5-5C04-0C50-B987-29696BC3E3ED}"/>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9</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MLOps vs AgentOps Gate Differences</a:t>
            </a:r>
          </a:p>
        </p:txBody>
      </p:sp>
      <p:sp>
        <p:nvSpPr>
          <p:cNvPr id="21" name="Gold Accent"/>
          <p:cNvSpPr/>
          <p:nvPr/>
        </p:nvSpPr>
        <p:spPr>
          <a:xfrm>
            <a:off x="0" y="1183920"/>
            <a:ext cx="12192000" cy="55321"/>
          </a:xfrm>
          <a:prstGeom prst="rect">
            <a:avLst/>
          </a:prstGeom>
          <a:solidFill>
            <a:srgbClr val="FFB900"/>
          </a:solidFill>
          <a:ln>
            <a:noFill/>
          </a:ln>
        </p:spPr>
        <p:txBody>
          <a:bodyPr/>
          <a:lstStyle/>
          <a:p>
            <a:endParaRPr lang="en-GB"/>
          </a:p>
        </p:txBody>
      </p:sp>
      <p:graphicFrame>
        <p:nvGraphicFramePr>
          <p:cNvPr id="4" name="Table 3">
            <a:extLst>
              <a:ext uri="{FF2B5EF4-FFF2-40B4-BE49-F238E27FC236}">
                <a16:creationId xmlns:a16="http://schemas.microsoft.com/office/drawing/2014/main" id="{622C0B0F-10A3-6A09-5924-A99EA980FEF3}"/>
              </a:ext>
            </a:extLst>
          </p:cNvPr>
          <p:cNvGraphicFramePr>
            <a:graphicFrameLocks noGrp="1"/>
          </p:cNvGraphicFramePr>
          <p:nvPr>
            <p:extLst>
              <p:ext uri="{D42A27DB-BD31-4B8C-83A1-F6EECF244321}">
                <p14:modId xmlns:p14="http://schemas.microsoft.com/office/powerpoint/2010/main" val="3234943409"/>
              </p:ext>
            </p:extLst>
          </p:nvPr>
        </p:nvGraphicFramePr>
        <p:xfrm>
          <a:off x="596000" y="1500000"/>
          <a:ext cx="11000000" cy="2650000"/>
        </p:xfrm>
        <a:graphic>
          <a:graphicData uri="http://schemas.openxmlformats.org/drawingml/2006/table">
            <a:tbl>
              <a:tblPr/>
              <a:tblGrid>
                <a:gridCol w="2600000">
                  <a:extLst>
                    <a:ext uri="{9D8B030D-6E8A-4147-A177-3AD203B41FA5}">
                      <a16:colId xmlns:a16="http://schemas.microsoft.com/office/drawing/2014/main" val="300000000"/>
                    </a:ext>
                  </a:extLst>
                </a:gridCol>
                <a:gridCol w="4200000">
                  <a:extLst>
                    <a:ext uri="{9D8B030D-6E8A-4147-A177-3AD203B41FA5}">
                      <a16:colId xmlns:a16="http://schemas.microsoft.com/office/drawing/2014/main" val="300000001"/>
                    </a:ext>
                  </a:extLst>
                </a:gridCol>
                <a:gridCol w="4200000">
                  <a:extLst>
                    <a:ext uri="{9D8B030D-6E8A-4147-A177-3AD203B41FA5}">
                      <a16:colId xmlns:a16="http://schemas.microsoft.com/office/drawing/2014/main" val="300000002"/>
                    </a:ext>
                  </a:extLst>
                </a:gridCol>
              </a:tblGrid>
              <a:tr h="450000">
                <a:tc>
                  <a:txBody>
                    <a:bodyPr/>
                    <a:lstStyle/>
                    <a:p>
                      <a:pPr>
                        <a:buNone/>
                      </a:pPr>
                      <a:r>
                        <a:rPr lang="en-GB" sz="1200" b="1">
                          <a:solidFill>
                            <a:srgbClr val="FFFFFF"/>
                          </a:solidFill>
                          <a:latin typeface="Segoe UI" panose="020B0502040204020203" pitchFamily="34" charset="0"/>
                        </a:rPr>
                        <a:t>Aspect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200" b="1">
                          <a:solidFill>
                            <a:srgbClr val="FFFFFF"/>
                          </a:solidFill>
                          <a:latin typeface="Segoe UI" panose="020B0502040204020203" pitchFamily="34" charset="0"/>
                        </a:rPr>
                        <a:t>MLOps Gates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200" b="1">
                          <a:solidFill>
                            <a:srgbClr val="FFFFFF"/>
                          </a:solidFill>
                          <a:latin typeface="Segoe UI" panose="020B0502040204020203" pitchFamily="34" charset="0"/>
                        </a:rPr>
                        <a:t>AgentOps Gates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300000010"/>
                  </a:ext>
                </a:extLst>
              </a:tr>
              <a:tr h="550000">
                <a:tc>
                  <a:txBody>
                    <a:bodyPr/>
                    <a:lstStyle/>
                    <a:p>
                      <a:pPr>
                        <a:buNone/>
                      </a:pPr>
                      <a:r>
                        <a:rPr lang="en-GB" sz="1100" b="1">
                          <a:solidFill>
                            <a:srgbClr val="243A5E"/>
                          </a:solidFill>
                          <a:latin typeface="Segoe UI" panose="020B0502040204020203" pitchFamily="34" charset="0"/>
                        </a:rPr>
                        <a:t>Focus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a:solidFill>
                            <a:srgbClr val="333333"/>
                          </a:solidFill>
                          <a:latin typeface="Segoe UI" panose="020B0502040204020203" pitchFamily="34" charset="0"/>
                        </a:rPr>
                        <a:t>Model performance &amp; safety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b="1">
                          <a:solidFill>
                            <a:srgbClr val="2B579A"/>
                          </a:solidFill>
                          <a:latin typeface="Segoe UI" panose="020B0502040204020203" pitchFamily="34" charset="0"/>
                        </a:rPr>
                        <a:t>System behaviour &amp; actions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300000011"/>
                  </a:ext>
                </a:extLst>
              </a:tr>
              <a:tr h="550000">
                <a:tc>
                  <a:txBody>
                    <a:bodyPr/>
                    <a:lstStyle/>
                    <a:p>
                      <a:pPr>
                        <a:buNone/>
                      </a:pPr>
                      <a:r>
                        <a:rPr lang="en-GB" sz="1100" b="1">
                          <a:solidFill>
                            <a:srgbClr val="243A5E"/>
                          </a:solidFill>
                          <a:latin typeface="Segoe UI" panose="020B0502040204020203" pitchFamily="34" charset="0"/>
                        </a:rPr>
                        <a:t>Frequency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333333"/>
                          </a:solidFill>
                          <a:latin typeface="Segoe UI" panose="020B0502040204020203" pitchFamily="34" charset="0"/>
                        </a:rPr>
                        <a:t>Pre-deploy heavy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b="1">
                          <a:solidFill>
                            <a:srgbClr val="2B579A"/>
                          </a:solidFill>
                          <a:latin typeface="Segoe UI" panose="020B0502040204020203" pitchFamily="34" charset="0"/>
                        </a:rPr>
                        <a:t>Continuous runtime-heavy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300000012"/>
                  </a:ext>
                </a:extLst>
              </a:tr>
              <a:tr h="550000">
                <a:tc>
                  <a:txBody>
                    <a:bodyPr/>
                    <a:lstStyle/>
                    <a:p>
                      <a:pPr>
                        <a:buNone/>
                      </a:pPr>
                      <a:r>
                        <a:rPr lang="en-GB" sz="1100" b="1">
                          <a:solidFill>
                            <a:srgbClr val="243A5E"/>
                          </a:solidFill>
                          <a:latin typeface="Segoe UI" panose="020B0502040204020203" pitchFamily="34" charset="0"/>
                        </a:rPr>
                        <a:t>Key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a:solidFill>
                            <a:srgbClr val="333333"/>
                          </a:solidFill>
                          <a:latin typeface="Segoe UI" panose="020B0502040204020203" pitchFamily="34" charset="0"/>
                        </a:rPr>
                        <a:t>Bias, hallucination, drift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b="1">
                          <a:solidFill>
                            <a:srgbClr val="2B579A"/>
                          </a:solidFill>
                          <a:latin typeface="Segoe UI" panose="020B0502040204020203" pitchFamily="34" charset="0"/>
                        </a:rPr>
                        <a:t>Misuse, unsafe actions, escalation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300000013"/>
                  </a:ext>
                </a:extLst>
              </a:tr>
              <a:tr h="550000">
                <a:tc>
                  <a:txBody>
                    <a:bodyPr/>
                    <a:lstStyle/>
                    <a:p>
                      <a:pPr>
                        <a:buNone/>
                      </a:pPr>
                      <a:r>
                        <a:rPr lang="en-GB" sz="1100" b="1">
                          <a:solidFill>
                            <a:srgbClr val="243A5E"/>
                          </a:solidFill>
                          <a:latin typeface="Segoe UI" panose="020B0502040204020203" pitchFamily="34" charset="0"/>
                        </a:rPr>
                        <a:t>Monitoring</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333333"/>
                          </a:solidFill>
                          <a:latin typeface="Segoe UI" panose="020B0502040204020203" pitchFamily="34" charset="0"/>
                        </a:rPr>
                        <a:t>Metrics dashboards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b="1">
                          <a:solidFill>
                            <a:srgbClr val="2B579A"/>
                          </a:solidFill>
                          <a:latin typeface="Segoe UI" panose="020B0502040204020203" pitchFamily="34" charset="0"/>
                        </a:rPr>
                        <a:t>Action-level + decision tracking</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300000014"/>
                  </a:ext>
                </a:extLst>
              </a:tr>
            </a:tbl>
          </a:graphicData>
        </a:graphic>
      </p:graphicFrame>
    </p:spTree>
    <p:extLst>
      <p:ext uri="{BB962C8B-B14F-4D97-AF65-F5344CB8AC3E}">
        <p14:creationId xmlns:p14="http://schemas.microsoft.com/office/powerpoint/2010/main" val="13339259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10</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Standard Deployment Gates (MLOps + AgentOps)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graphicFrame>
        <p:nvGraphicFramePr>
          <p:cNvPr id="4" name="Table 3">
            <a:extLst>
              <a:ext uri="{FF2B5EF4-FFF2-40B4-BE49-F238E27FC236}">
                <a16:creationId xmlns:a16="http://schemas.microsoft.com/office/drawing/2014/main" id="{78FADAFA-2E2E-74DD-4303-6F37365FD5BA}"/>
              </a:ext>
            </a:extLst>
          </p:cNvPr>
          <p:cNvGraphicFramePr>
            <a:graphicFrameLocks noGrp="1"/>
          </p:cNvGraphicFramePr>
          <p:nvPr>
            <p:extLst>
              <p:ext uri="{D42A27DB-BD31-4B8C-83A1-F6EECF244321}">
                <p14:modId xmlns:p14="http://schemas.microsoft.com/office/powerpoint/2010/main" val="1505779707"/>
              </p:ext>
            </p:extLst>
          </p:nvPr>
        </p:nvGraphicFramePr>
        <p:xfrm>
          <a:off x="500000" y="1500000"/>
          <a:ext cx="11000000" cy="4620000"/>
        </p:xfrm>
        <a:graphic>
          <a:graphicData uri="http://schemas.openxmlformats.org/drawingml/2006/table">
            <a:tbl>
              <a:tblPr/>
              <a:tblGrid>
                <a:gridCol w="2800000">
                  <a:extLst>
                    <a:ext uri="{9D8B030D-6E8A-4147-A177-3AD203B41FA5}">
                      <a16:colId xmlns:a16="http://schemas.microsoft.com/office/drawing/2014/main" val="202800000"/>
                    </a:ext>
                  </a:extLst>
                </a:gridCol>
                <a:gridCol w="1200000">
                  <a:extLst>
                    <a:ext uri="{9D8B030D-6E8A-4147-A177-3AD203B41FA5}">
                      <a16:colId xmlns:a16="http://schemas.microsoft.com/office/drawing/2014/main" val="201200000"/>
                    </a:ext>
                  </a:extLst>
                </a:gridCol>
                <a:gridCol w="3200000">
                  <a:extLst>
                    <a:ext uri="{9D8B030D-6E8A-4147-A177-3AD203B41FA5}">
                      <a16:colId xmlns:a16="http://schemas.microsoft.com/office/drawing/2014/main" val="203200000"/>
                    </a:ext>
                  </a:extLst>
                </a:gridCol>
                <a:gridCol w="3800000">
                  <a:extLst>
                    <a:ext uri="{9D8B030D-6E8A-4147-A177-3AD203B41FA5}">
                      <a16:colId xmlns:a16="http://schemas.microsoft.com/office/drawing/2014/main" val="203800000"/>
                    </a:ext>
                  </a:extLst>
                </a:gridCol>
              </a:tblGrid>
              <a:tr h="420000">
                <a:tc>
                  <a:txBody>
                    <a:bodyPr/>
                    <a:lstStyle/>
                    <a:p>
                      <a:pPr fontAlgn="t">
                        <a:lnSpc>
                          <a:spcPts val="1200"/>
                        </a:lnSpc>
                        <a:buNone/>
                      </a:pPr>
                      <a:r>
                        <a:rPr lang="en-GB" sz="1100" b="1">
                          <a:solidFill>
                            <a:srgbClr val="FFFFFF"/>
                          </a:solidFill>
                          <a:latin typeface="Segoe UI" panose="020B0502040204020203" pitchFamily="34" charset="0"/>
                        </a:rPr>
                        <a:t>Gate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fontAlgn="t">
                        <a:lnSpc>
                          <a:spcPts val="1200"/>
                        </a:lnSpc>
                        <a:buNone/>
                      </a:pPr>
                      <a:r>
                        <a:rPr lang="en-GB" sz="1100" b="1">
                          <a:solidFill>
                            <a:srgbClr val="FFFFFF"/>
                          </a:solidFill>
                          <a:latin typeface="Segoe UI" panose="020B0502040204020203" pitchFamily="34" charset="0"/>
                        </a:rPr>
                        <a:t>Phase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fontAlgn="t">
                        <a:lnSpc>
                          <a:spcPts val="1200"/>
                        </a:lnSpc>
                        <a:buNone/>
                      </a:pPr>
                      <a:r>
                        <a:rPr lang="en-GB" sz="1100" b="1">
                          <a:solidFill>
                            <a:srgbClr val="FFFFFF"/>
                          </a:solidFill>
                          <a:latin typeface="Segoe UI" panose="020B0502040204020203" pitchFamily="34" charset="0"/>
                        </a:rPr>
                        <a:t>Purpose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fontAlgn="t">
                        <a:lnSpc>
                          <a:spcPts val="1200"/>
                        </a:lnSpc>
                        <a:buNone/>
                      </a:pPr>
                      <a:r>
                        <a:rPr lang="en-GB" sz="1100" b="1">
                          <a:solidFill>
                            <a:srgbClr val="FFFFFF"/>
                          </a:solidFill>
                          <a:latin typeface="Segoe UI" panose="020B0502040204020203" pitchFamily="34" charset="0"/>
                        </a:rPr>
                        <a:t>Key Checks</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100000001"/>
                  </a:ext>
                </a:extLst>
              </a:tr>
              <a:tr h="600000">
                <a:tc>
                  <a:txBody>
                    <a:bodyPr/>
                    <a:lstStyle/>
                    <a:p>
                      <a:pPr fontAlgn="t">
                        <a:lnSpc>
                          <a:spcPts val="1200"/>
                        </a:lnSpc>
                        <a:buNone/>
                      </a:pPr>
                      <a:r>
                        <a:rPr lang="en-GB" sz="900" b="1">
                          <a:solidFill>
                            <a:srgbClr val="243A5E"/>
                          </a:solidFill>
                          <a:latin typeface="Segoe UI" panose="020B0502040204020203" pitchFamily="34" charset="0"/>
                        </a:rPr>
                        <a:t>Gate 1: Use Case Approval</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666666"/>
                          </a:solidFill>
                          <a:latin typeface="Segoe UI" panose="020B0502040204020203" pitchFamily="34" charset="0"/>
                        </a:rPr>
                        <a:t>Pre-Build</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Ensure AI use case is valid and safe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Business objective, Risk classification (RAI), Data sensitivity, Regulatory impact</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100000002"/>
                  </a:ext>
                </a:extLst>
              </a:tr>
              <a:tr h="600000">
                <a:tc>
                  <a:txBody>
                    <a:bodyPr/>
                    <a:lstStyle/>
                    <a:p>
                      <a:pPr fontAlgn="t">
                        <a:lnSpc>
                          <a:spcPts val="1200"/>
                        </a:lnSpc>
                        <a:buNone/>
                      </a:pPr>
                      <a:r>
                        <a:rPr lang="en-GB" sz="900" b="1">
                          <a:solidFill>
                            <a:srgbClr val="243A5E"/>
                          </a:solidFill>
                          <a:latin typeface="Segoe UI" panose="020B0502040204020203" pitchFamily="34" charset="0"/>
                        </a:rPr>
                        <a:t>Gate 2: Design &amp; Architecture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666666"/>
                          </a:solidFill>
                          <a:latin typeface="Segoe UI" panose="020B0502040204020203" pitchFamily="34" charset="0"/>
                        </a:rPr>
                        <a:t>Pre-Build</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Ensure the system is built correctly</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Model selection (LLM/SLM), Agent design, Data access boundaries, Security architecture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100000003"/>
                  </a:ext>
                </a:extLst>
              </a:tr>
              <a:tr h="600000">
                <a:tc>
                  <a:txBody>
                    <a:bodyPr/>
                    <a:lstStyle/>
                    <a:p>
                      <a:pPr fontAlgn="t">
                        <a:lnSpc>
                          <a:spcPts val="1200"/>
                        </a:lnSpc>
                        <a:buNone/>
                      </a:pPr>
                      <a:r>
                        <a:rPr lang="en-GB" sz="900" b="1">
                          <a:solidFill>
                            <a:srgbClr val="243A5E"/>
                          </a:solidFill>
                          <a:latin typeface="Segoe UI" panose="020B0502040204020203" pitchFamily="34" charset="0"/>
                        </a:rPr>
                        <a:t>Gate 3: Pre-Deployment Evaluation</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666666"/>
                          </a:solidFill>
                          <a:latin typeface="Segoe UI" panose="020B0502040204020203" pitchFamily="34" charset="0"/>
                        </a:rPr>
                        <a:t>Build</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Validate readiness before production</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Model evaluation (accuracy, safety, bias), Prompt testing / red teaming, Data leakage testing</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100000004"/>
                  </a:ext>
                </a:extLst>
              </a:tr>
              <a:tr h="600000">
                <a:tc>
                  <a:txBody>
                    <a:bodyPr/>
                    <a:lstStyle/>
                    <a:p>
                      <a:pPr fontAlgn="t">
                        <a:lnSpc>
                          <a:spcPts val="1200"/>
                        </a:lnSpc>
                        <a:buNone/>
                      </a:pPr>
                      <a:r>
                        <a:rPr lang="en-GB" sz="900" b="1">
                          <a:solidFill>
                            <a:srgbClr val="243A5E"/>
                          </a:solidFill>
                          <a:latin typeface="Segoe UI" panose="020B0502040204020203" pitchFamily="34" charset="0"/>
                        </a:rPr>
                        <a:t>Gate 4: Release / Deployment</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666666"/>
                          </a:solidFill>
                          <a:latin typeface="Segoe UI" panose="020B0502040204020203" pitchFamily="34" charset="0"/>
                        </a:rPr>
                        <a:t>Pre-Deploy</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Controlled production rollout</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Approved model version, Agent configuration, Content filtering &amp; DLP, Monitoring enabled</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100000005"/>
                  </a:ext>
                </a:extLst>
              </a:tr>
              <a:tr h="600000">
                <a:tc>
                  <a:txBody>
                    <a:bodyPr/>
                    <a:lstStyle/>
                    <a:p>
                      <a:pPr fontAlgn="t">
                        <a:lnSpc>
                          <a:spcPts val="1200"/>
                        </a:lnSpc>
                        <a:buNone/>
                      </a:pPr>
                      <a:r>
                        <a:rPr lang="en-GB" sz="900" b="1">
                          <a:solidFill>
                            <a:srgbClr val="243A5E"/>
                          </a:solidFill>
                          <a:latin typeface="Segoe UI" panose="020B0502040204020203" pitchFamily="34" charset="0"/>
                        </a:rPr>
                        <a:t>Gate 5: Runtime Governance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666666"/>
                          </a:solidFill>
                          <a:latin typeface="Segoe UI" panose="020B0502040204020203" pitchFamily="34" charset="0"/>
                        </a:rPr>
                        <a:t>Production</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Continuous control in production</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Behaviour monitoring, Identity &amp; access enforcement, Tool-level permissions, Anomaly detection</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100000006"/>
                  </a:ext>
                </a:extLst>
              </a:tr>
              <a:tr h="600000">
                <a:tc>
                  <a:txBody>
                    <a:bodyPr/>
                    <a:lstStyle/>
                    <a:p>
                      <a:pPr fontAlgn="t">
                        <a:lnSpc>
                          <a:spcPts val="1200"/>
                        </a:lnSpc>
                        <a:buNone/>
                      </a:pPr>
                      <a:r>
                        <a:rPr lang="en-GB" sz="900" b="1">
                          <a:solidFill>
                            <a:srgbClr val="243A5E"/>
                          </a:solidFill>
                          <a:latin typeface="Segoe UI" panose="020B0502040204020203" pitchFamily="34" charset="0"/>
                        </a:rPr>
                        <a:t>Gate 6: Re-certification / Review</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666666"/>
                          </a:solidFill>
                          <a:latin typeface="Segoe UI" panose="020B0502040204020203" pitchFamily="34" charset="0"/>
                        </a:rPr>
                        <a:t>Post-Deploy</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Validate system over time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fontAlgn="t">
                        <a:lnSpc>
                          <a:spcPts val="1200"/>
                        </a:lnSpc>
                        <a:buNone/>
                      </a:pPr>
                      <a:r>
                        <a:rPr lang="en-GB" sz="900">
                          <a:solidFill>
                            <a:srgbClr val="333333"/>
                          </a:solidFill>
                          <a:latin typeface="Segoe UI" panose="020B0502040204020203" pitchFamily="34" charset="0"/>
                        </a:rPr>
                        <a:t>Drift detection, Compliance updates, Performance degradation, New risk patterns</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100000007"/>
                  </a:ext>
                </a:extLst>
              </a:tr>
              <a:tr h="600000">
                <a:tc>
                  <a:txBody>
                    <a:bodyPr/>
                    <a:lstStyle/>
                    <a:p>
                      <a:pPr fontAlgn="t">
                        <a:lnSpc>
                          <a:spcPts val="1200"/>
                        </a:lnSpc>
                        <a:buNone/>
                      </a:pPr>
                      <a:r>
                        <a:rPr lang="en-GB" sz="900" b="1">
                          <a:solidFill>
                            <a:srgbClr val="243A5E"/>
                          </a:solidFill>
                          <a:latin typeface="Segoe UI" panose="020B0502040204020203" pitchFamily="34" charset="0"/>
                        </a:rPr>
                        <a:t>Gate 7: Retirement</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666666"/>
                          </a:solidFill>
                          <a:latin typeface="Segoe UI" panose="020B0502040204020203" pitchFamily="34" charset="0"/>
                        </a:rPr>
                        <a:t>End-of-Life</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Decommission safely</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fontAlgn="t">
                        <a:lnSpc>
                          <a:spcPts val="1200"/>
                        </a:lnSpc>
                        <a:buNone/>
                      </a:pPr>
                      <a:r>
                        <a:rPr lang="en-GB" sz="900">
                          <a:solidFill>
                            <a:srgbClr val="333333"/>
                          </a:solidFill>
                          <a:latin typeface="Segoe UI" panose="020B0502040204020203" pitchFamily="34" charset="0"/>
                        </a:rPr>
                        <a:t>Unused agents identified, Data cleanup &amp; retention, Audit logs retained</a:t>
                      </a:r>
                    </a:p>
                  </a:txBody>
                  <a:tcPr marL="54868" marR="54868" marT="27434" marB="27434"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100000008"/>
                  </a:ext>
                </a:extLst>
              </a:tr>
            </a:tbl>
          </a:graphicData>
        </a:graphic>
      </p:graphicFrame>
    </p:spTree>
    <p:extLst>
      <p:ext uri="{BB962C8B-B14F-4D97-AF65-F5344CB8AC3E}">
        <p14:creationId xmlns:p14="http://schemas.microsoft.com/office/powerpoint/2010/main" val="10009022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B3CD76-5EB1-95B8-7D4C-4A9757F91BE7}"/>
              </a:ext>
            </a:extLst>
          </p:cNvPr>
          <p:cNvSpPr>
            <a:spLocks noGrp="1"/>
          </p:cNvSpPr>
          <p:nvPr>
            <p:ph type="sldNum" sz="quarter" idx="12"/>
          </p:nvPr>
        </p:nvSpPr>
        <p:spPr/>
        <p:txBody>
          <a:bodyPr/>
          <a:lstStyle/>
          <a:p>
            <a:fld id="{2A4877AF-57D8-4250-BD76-21C376E7EA1A}" type="slidenum">
              <a:rPr lang="en-GB" smtClean="0"/>
              <a:t>11</a:t>
            </a:fld>
            <a:endParaRPr lang="en-GB"/>
          </a:p>
        </p:txBody>
      </p:sp>
      <p:sp>
        <p:nvSpPr>
          <p:cNvPr id="20" name="Panel 1 BG"/>
          <p:cNvSpPr/>
          <p:nvPr/>
        </p:nvSpPr>
        <p:spPr>
          <a:xfrm>
            <a:off x="596000" y="1500000"/>
            <a:ext cx="3500000" cy="4800000"/>
          </a:xfrm>
          <a:prstGeom prst="roundRect">
            <a:avLst>
              <a:gd name="adj" fmla="val 3000"/>
            </a:avLst>
          </a:prstGeom>
          <a:solidFill>
            <a:srgbClr val="F8F9FA"/>
          </a:solidFill>
          <a:ln w="12700">
            <a:solidFill>
              <a:srgbClr val="E0E0E0"/>
            </a:solidFill>
          </a:ln>
        </p:spPr>
        <p:txBody>
          <a:bodyPr/>
          <a:lstStyle/>
          <a:p>
            <a:endParaRPr lang="en-GB"/>
          </a:p>
        </p:txBody>
      </p:sp>
      <p:sp>
        <p:nvSpPr>
          <p:cNvPr id="21" name="Panel 1 Header"/>
          <p:cNvSpPr/>
          <p:nvPr/>
        </p:nvSpPr>
        <p:spPr>
          <a:xfrm>
            <a:off x="596000" y="1500000"/>
            <a:ext cx="3500000" cy="500000"/>
          </a:xfrm>
          <a:prstGeom prst="roundRect">
            <a:avLst>
              <a:gd name="adj" fmla="val 3000"/>
            </a:avLst>
          </a:prstGeom>
          <a:solidFill>
            <a:srgbClr val="2B579A"/>
          </a:solidFill>
          <a:ln>
            <a:noFill/>
          </a:ln>
        </p:spPr>
        <p:txBody>
          <a:bodyPr lIns="180000" anchor="ctr" anchorCtr="0"/>
          <a:lstStyle/>
          <a:p>
            <a:r>
              <a:rPr lang="en-GB" sz="1600" b="1">
                <a:solidFill>
                  <a:srgbClr val="FFFFFF"/>
                </a:solidFill>
                <a:latin typeface="Segoe UI" panose="020B0502040204020203" pitchFamily="34" charset="0"/>
              </a:rPr>
              <a:t>Automated Gates</a:t>
            </a:r>
          </a:p>
        </p:txBody>
      </p:sp>
      <p:sp>
        <p:nvSpPr>
          <p:cNvPr id="22" name="Panel 1 Content"/>
          <p:cNvSpPr/>
          <p:nvPr/>
        </p:nvSpPr>
        <p:spPr>
          <a:xfrm>
            <a:off x="696000" y="2100000"/>
            <a:ext cx="3300000" cy="4100000"/>
          </a:xfrm>
          <a:prstGeom prst="rect">
            <a:avLst/>
          </a:prstGeom>
          <a:noFill/>
          <a:ln>
            <a:noFill/>
          </a:ln>
        </p:spPr>
        <p:txBody>
          <a:bodyPr wrap="square"/>
          <a:lstStyle/>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Policy enforcement (guardrails)</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Content filters, DLP</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CI/CD validation pipelines</a:t>
            </a:r>
          </a:p>
          <a:p>
            <a:pPr>
              <a:buNone/>
            </a:pPr>
            <a:endParaRPr lang="en-GB" sz="800"/>
          </a:p>
          <a:p>
            <a:pPr marL="171450" indent="-171450">
              <a:lnSpc>
                <a:spcPct val="180000"/>
              </a:lnSpc>
              <a:buNone/>
            </a:pPr>
            <a:r>
              <a:rPr lang="en-GB" sz="1200" b="1">
                <a:solidFill>
                  <a:srgbClr val="2B579A"/>
                </a:solidFill>
                <a:latin typeface="Segoe UI" panose="020B0502040204020203" pitchFamily="34" charset="0"/>
              </a:rPr>
              <a:t>✓ Scalable</a:t>
            </a:r>
          </a:p>
          <a:p>
            <a:pPr marL="171450" indent="-171450">
              <a:lnSpc>
                <a:spcPct val="180000"/>
              </a:lnSpc>
              <a:buNone/>
            </a:pPr>
            <a:r>
              <a:rPr lang="en-GB" sz="1200" b="1">
                <a:solidFill>
                  <a:srgbClr val="2B579A"/>
                </a:solidFill>
                <a:latin typeface="Segoe UI" panose="020B0502040204020203" pitchFamily="34" charset="0"/>
              </a:rPr>
              <a:t>✓ Consistent</a:t>
            </a:r>
          </a:p>
        </p:txBody>
      </p:sp>
      <p:sp>
        <p:nvSpPr>
          <p:cNvPr id="23" name="Panel 2 BG"/>
          <p:cNvSpPr/>
          <p:nvPr/>
        </p:nvSpPr>
        <p:spPr>
          <a:xfrm>
            <a:off x="4396000" y="1500000"/>
            <a:ext cx="3500000" cy="4800000"/>
          </a:xfrm>
          <a:prstGeom prst="roundRect">
            <a:avLst>
              <a:gd name="adj" fmla="val 3000"/>
            </a:avLst>
          </a:prstGeom>
          <a:solidFill>
            <a:srgbClr val="F8F9FA"/>
          </a:solidFill>
          <a:ln w="12700">
            <a:solidFill>
              <a:srgbClr val="E0E0E0"/>
            </a:solidFill>
          </a:ln>
        </p:spPr>
        <p:txBody>
          <a:bodyPr/>
          <a:lstStyle/>
          <a:p>
            <a:endParaRPr lang="en-GB"/>
          </a:p>
        </p:txBody>
      </p:sp>
      <p:sp>
        <p:nvSpPr>
          <p:cNvPr id="24" name="Panel 2 Header"/>
          <p:cNvSpPr/>
          <p:nvPr/>
        </p:nvSpPr>
        <p:spPr>
          <a:xfrm>
            <a:off x="4396000" y="1500000"/>
            <a:ext cx="3500000" cy="500000"/>
          </a:xfrm>
          <a:prstGeom prst="roundRect">
            <a:avLst>
              <a:gd name="adj" fmla="val 3000"/>
            </a:avLst>
          </a:prstGeom>
          <a:solidFill>
            <a:srgbClr val="243A5E"/>
          </a:solidFill>
          <a:ln>
            <a:noFill/>
          </a:ln>
        </p:spPr>
        <p:txBody>
          <a:bodyPr lIns="180000" anchor="ctr" anchorCtr="0"/>
          <a:lstStyle/>
          <a:p>
            <a:r>
              <a:rPr lang="en-GB" sz="1600" b="1">
                <a:solidFill>
                  <a:srgbClr val="FFFFFF"/>
                </a:solidFill>
                <a:latin typeface="Segoe UI" panose="020B0502040204020203" pitchFamily="34" charset="0"/>
              </a:rPr>
              <a:t>Manual Gates</a:t>
            </a:r>
          </a:p>
        </p:txBody>
      </p:sp>
      <p:sp>
        <p:nvSpPr>
          <p:cNvPr id="25" name="Panel 2 Content"/>
          <p:cNvSpPr/>
          <p:nvPr/>
        </p:nvSpPr>
        <p:spPr>
          <a:xfrm>
            <a:off x="4496000" y="2100000"/>
            <a:ext cx="3300000" cy="4100000"/>
          </a:xfrm>
          <a:prstGeom prst="rect">
            <a:avLst/>
          </a:prstGeom>
          <a:noFill/>
          <a:ln>
            <a:noFill/>
          </a:ln>
        </p:spPr>
        <p:txBody>
          <a:bodyPr wrap="square"/>
          <a:lstStyle/>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RAI committee approvals</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Risk reviews</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Compliance sign-off</a:t>
            </a:r>
          </a:p>
          <a:p>
            <a:pPr>
              <a:buNone/>
            </a:pPr>
            <a:endParaRPr lang="en-GB" sz="800"/>
          </a:p>
          <a:p>
            <a:pPr marL="171450" indent="-171450">
              <a:lnSpc>
                <a:spcPct val="180000"/>
              </a:lnSpc>
              <a:buNone/>
            </a:pPr>
            <a:r>
              <a:rPr lang="en-GB" sz="1200" b="1">
                <a:solidFill>
                  <a:srgbClr val="243A5E"/>
                </a:solidFill>
                <a:latin typeface="Segoe UI" panose="020B0502040204020203" pitchFamily="34" charset="0"/>
              </a:rPr>
              <a:t>✓ Required for high-risk scenarios</a:t>
            </a:r>
          </a:p>
        </p:txBody>
      </p:sp>
      <p:sp>
        <p:nvSpPr>
          <p:cNvPr id="26" name="Panel 3 BG"/>
          <p:cNvSpPr/>
          <p:nvPr/>
        </p:nvSpPr>
        <p:spPr>
          <a:xfrm>
            <a:off x="8196000" y="1500000"/>
            <a:ext cx="3500000" cy="4800000"/>
          </a:xfrm>
          <a:prstGeom prst="roundRect">
            <a:avLst>
              <a:gd name="adj" fmla="val 3000"/>
            </a:avLst>
          </a:prstGeom>
          <a:solidFill>
            <a:srgbClr val="F8F9FA"/>
          </a:solidFill>
          <a:ln w="12700">
            <a:solidFill>
              <a:srgbClr val="E0E0E0"/>
            </a:solidFill>
          </a:ln>
        </p:spPr>
        <p:txBody>
          <a:bodyPr/>
          <a:lstStyle/>
          <a:p>
            <a:endParaRPr lang="en-GB"/>
          </a:p>
        </p:txBody>
      </p:sp>
      <p:sp>
        <p:nvSpPr>
          <p:cNvPr id="27" name="Panel 3 Header"/>
          <p:cNvSpPr/>
          <p:nvPr/>
        </p:nvSpPr>
        <p:spPr>
          <a:xfrm>
            <a:off x="8196000" y="1500000"/>
            <a:ext cx="3500000" cy="500000"/>
          </a:xfrm>
          <a:prstGeom prst="roundRect">
            <a:avLst>
              <a:gd name="adj" fmla="val 3000"/>
            </a:avLst>
          </a:prstGeom>
          <a:solidFill>
            <a:srgbClr val="D83B01"/>
          </a:solidFill>
          <a:ln>
            <a:noFill/>
          </a:ln>
        </p:spPr>
        <p:txBody>
          <a:bodyPr lIns="180000" anchor="ctr" anchorCtr="0"/>
          <a:lstStyle/>
          <a:p>
            <a:r>
              <a:rPr lang="en-GB" sz="1600" b="1">
                <a:solidFill>
                  <a:srgbClr val="FFFFFF"/>
                </a:solidFill>
                <a:latin typeface="Segoe UI" panose="020B0502040204020203" pitchFamily="34" charset="0"/>
              </a:rPr>
              <a:t>Hybrid Gates</a:t>
            </a:r>
          </a:p>
        </p:txBody>
      </p:sp>
      <p:sp>
        <p:nvSpPr>
          <p:cNvPr id="28" name="Panel 3 Content"/>
          <p:cNvSpPr/>
          <p:nvPr/>
        </p:nvSpPr>
        <p:spPr>
          <a:xfrm>
            <a:off x="8296000" y="2100000"/>
            <a:ext cx="3300000" cy="4100000"/>
          </a:xfrm>
          <a:prstGeom prst="rect">
            <a:avLst/>
          </a:prstGeom>
          <a:noFill/>
          <a:ln>
            <a:noFill/>
          </a:ln>
        </p:spPr>
        <p:txBody>
          <a:bodyPr wrap="square"/>
          <a:lstStyle/>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Automated checks + human override</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Human-in-the-loop governance</a:t>
            </a:r>
          </a:p>
          <a:p>
            <a:pPr marL="171450" indent="-171450">
              <a:lnSpc>
                <a:spcPct val="180000"/>
              </a:lnSpc>
              <a:buFont typeface="Arial" panose="020B0604020202020204" pitchFamily="34" charset="0"/>
              <a:buChar char="•"/>
            </a:pPr>
            <a:r>
              <a:rPr lang="en-GB" sz="1200">
                <a:solidFill>
                  <a:srgbClr val="333333"/>
                </a:solidFill>
                <a:latin typeface="Segoe UI" panose="020B0502040204020203" pitchFamily="34" charset="0"/>
              </a:rPr>
              <a:t>Enterprise compliance models</a:t>
            </a:r>
          </a:p>
          <a:p>
            <a:pPr>
              <a:buNone/>
            </a:pPr>
            <a:endParaRPr lang="en-GB" sz="800"/>
          </a:p>
          <a:p>
            <a:pPr marL="171450" indent="-171450">
              <a:lnSpc>
                <a:spcPct val="180000"/>
              </a:lnSpc>
              <a:buNone/>
            </a:pPr>
            <a:r>
              <a:rPr lang="en-GB" sz="1200" b="1">
                <a:solidFill>
                  <a:srgbClr val="D83B01"/>
                </a:solidFill>
                <a:latin typeface="Segoe UI" panose="020B0502040204020203" pitchFamily="34" charset="0"/>
              </a:rPr>
              <a:t>✓ Best practice approach</a:t>
            </a:r>
          </a:p>
        </p:txBody>
      </p:sp>
      <p:sp>
        <p:nvSpPr>
          <p:cNvPr id="11" name="Header Banner">
            <a:extLst>
              <a:ext uri="{FF2B5EF4-FFF2-40B4-BE49-F238E27FC236}">
                <a16:creationId xmlns:a16="http://schemas.microsoft.com/office/drawing/2014/main" id="{C37A07C7-7A74-875D-5B2B-B3069CCAA347}"/>
              </a:ext>
            </a:extLst>
          </p:cNvPr>
          <p:cNvSpPr/>
          <p:nvPr/>
        </p:nvSpPr>
        <p:spPr>
          <a:xfrm>
            <a:off x="0" y="0"/>
            <a:ext cx="12192000" cy="1188720"/>
          </a:xfrm>
          <a:prstGeom prst="rect">
            <a:avLst/>
          </a:prstGeom>
          <a:solidFill>
            <a:srgbClr val="243A5E"/>
          </a:solidFill>
          <a:ln>
            <a:noFill/>
          </a:ln>
        </p:spPr>
        <p:txBody>
          <a:bodyPr lIns="500000" anchor="ctr" anchorCtr="0"/>
          <a:lstStyle/>
          <a:p>
            <a:r>
              <a:rPr lang="en-GB" sz="2200" b="1" dirty="0">
                <a:solidFill>
                  <a:srgbClr val="FFFFFF"/>
                </a:solidFill>
                <a:latin typeface="Segoe UI" panose="020B0502040204020203" pitchFamily="34" charset="0"/>
              </a:rPr>
              <a:t>Types of Gates (How They Are Enforced)</a:t>
            </a:r>
          </a:p>
        </p:txBody>
      </p:sp>
      <p:sp>
        <p:nvSpPr>
          <p:cNvPr id="13" name="Gold Accent">
            <a:extLst>
              <a:ext uri="{FF2B5EF4-FFF2-40B4-BE49-F238E27FC236}">
                <a16:creationId xmlns:a16="http://schemas.microsoft.com/office/drawing/2014/main" id="{1CB60B55-628B-DFC6-D6A0-72DA9A55875F}"/>
              </a:ext>
            </a:extLst>
          </p:cNvPr>
          <p:cNvSpPr/>
          <p:nvPr/>
        </p:nvSpPr>
        <p:spPr>
          <a:xfrm>
            <a:off x="0" y="1183920"/>
            <a:ext cx="12192000" cy="55321"/>
          </a:xfrm>
          <a:prstGeom prst="rect">
            <a:avLst/>
          </a:prstGeom>
          <a:solidFill>
            <a:srgbClr val="FFB900"/>
          </a:solidFill>
          <a:ln>
            <a:noFill/>
          </a:ln>
        </p:spPr>
        <p:txBody>
          <a:bodyPr/>
          <a:lstStyle/>
          <a:p>
            <a:endParaRPr lang="en-GB"/>
          </a:p>
        </p:txBody>
      </p:sp>
    </p:spTree>
    <p:extLst>
      <p:ext uri="{BB962C8B-B14F-4D97-AF65-F5344CB8AC3E}">
        <p14:creationId xmlns:p14="http://schemas.microsoft.com/office/powerpoint/2010/main" val="1897889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E8E8750E-5B2D-AAEC-64AB-6280A9F4EA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2F34A5-1C18-9799-AD91-5AEBA708DEB5}"/>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kumimoji="0" lang="en-GB" sz="3300" b="1" i="0" u="none" strike="noStrike" kern="1200" cap="none" spc="0" normalizeH="0" baseline="0" noProof="0" dirty="0">
                <a:ln>
                  <a:noFill/>
                </a:ln>
                <a:solidFill>
                  <a:srgbClr val="FFFFFF"/>
                </a:solidFill>
                <a:effectLst/>
                <a:uLnTx/>
                <a:uFillTx/>
                <a:latin typeface="Segoe UI Semibold"/>
                <a:ea typeface="+mn-ea"/>
                <a:cs typeface="+mn-cs"/>
              </a:rPr>
              <a:t>3</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983C2F71-5555-8C29-446C-F869FB709098}"/>
              </a:ext>
            </a:extLst>
          </p:cNvPr>
          <p:cNvSpPr txBox="1"/>
          <p:nvPr/>
        </p:nvSpPr>
        <p:spPr>
          <a:xfrm>
            <a:off x="731520" y="4480560"/>
            <a:ext cx="9144000" cy="640080"/>
          </a:xfrm>
          <a:prstGeom prst="rect">
            <a:avLst/>
          </a:prstGeom>
          <a:noFill/>
        </p:spPr>
        <p:txBody>
          <a:bodyPr wrap="square" anchor="t"/>
          <a:lstStyle/>
          <a:p>
            <a:pPr lvl="0" defTabSz="457200">
              <a:defRPr sz="1800" b="0">
                <a:solidFill>
                  <a:srgbClr val="FFFFFF"/>
                </a:solidFill>
                <a:latin typeface="Segoe UI"/>
              </a:defRPr>
            </a:pPr>
            <a:r>
              <a:rPr lang="en-GB" dirty="0"/>
              <a:t>Evaluation-driven promotion</a:t>
            </a:r>
            <a:endParaRPr kumimoji="0" lang="da-DK" sz="1800" b="0" i="0" u="none" strike="noStrike" kern="1200" cap="none" spc="0" normalizeH="0" baseline="0" noProof="0" dirty="0">
              <a:ln>
                <a:noFill/>
              </a:ln>
              <a:solidFill>
                <a:srgbClr val="FFFFFF"/>
              </a:solidFill>
              <a:effectLst/>
              <a:uLnTx/>
              <a:uFillTx/>
              <a:latin typeface="Segoe UI"/>
              <a:ea typeface="+mn-ea"/>
              <a:cs typeface="Segoe UI" panose="020B0502040204020203" pitchFamily="34" charset="0"/>
            </a:endParaRPr>
          </a:p>
        </p:txBody>
      </p:sp>
      <p:sp>
        <p:nvSpPr>
          <p:cNvPr id="4" name="Rectangle 3">
            <a:extLst>
              <a:ext uri="{FF2B5EF4-FFF2-40B4-BE49-F238E27FC236}">
                <a16:creationId xmlns:a16="http://schemas.microsoft.com/office/drawing/2014/main" id="{E95FFAFC-4381-E92C-EAFA-C6ACC4735A35}"/>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72C974B-D4C2-3515-68AA-D70574C4850E}"/>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86812335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13</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What Is Evaluation-Driven Promotion?</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Definition"/>
          <p:cNvSpPr/>
          <p:nvPr/>
        </p:nvSpPr>
        <p:spPr>
          <a:xfrm>
            <a:off x="500000" y="1400000"/>
            <a:ext cx="11192000" cy="500000"/>
          </a:xfrm>
          <a:prstGeom prst="rect">
            <a:avLst/>
          </a:prstGeom>
          <a:noFill/>
          <a:ln>
            <a:noFill/>
          </a:ln>
        </p:spPr>
        <p:txBody>
          <a:bodyPr wrap="square" anchor="t"/>
          <a:lstStyle/>
          <a:p>
            <a:pPr>
              <a:buNone/>
            </a:pPr>
            <a:r>
              <a:rPr lang="en-GB" sz="1300" i="1">
                <a:solidFill>
                  <a:srgbClr val="666666"/>
                </a:solidFill>
                <a:latin typeface="Segoe UI" panose="020B0502040204020203" pitchFamily="34" charset="0"/>
              </a:rPr>
              <a:t>AI models and agents are promoted across lifecycle stages only when they meet defined evaluation and risk thresholds — not based on development completion or timelines.</a:t>
            </a:r>
          </a:p>
        </p:txBody>
      </p:sp>
      <p:sp>
        <p:nvSpPr>
          <p:cNvPr id="30" name="Panel BG 30"/>
          <p:cNvSpPr/>
          <p:nvPr/>
        </p:nvSpPr>
        <p:spPr>
          <a:xfrm>
            <a:off x="500000" y="2100000"/>
            <a:ext cx="5350000" cy="3400000"/>
          </a:xfrm>
          <a:prstGeom prst="roundRect">
            <a:avLst>
              <a:gd name="adj" fmla="val 3000"/>
            </a:avLst>
          </a:prstGeom>
          <a:solidFill>
            <a:srgbClr val="FFF5F5"/>
          </a:solidFill>
          <a:ln w="12700">
            <a:solidFill>
              <a:srgbClr val="E0A0A0"/>
            </a:solidFill>
          </a:ln>
        </p:spPr>
        <p:txBody>
          <a:bodyPr/>
          <a:lstStyle/>
          <a:p>
            <a:endParaRPr lang="en-GB"/>
          </a:p>
        </p:txBody>
      </p:sp>
      <p:sp>
        <p:nvSpPr>
          <p:cNvPr id="31" name="Panel Header 30"/>
          <p:cNvSpPr/>
          <p:nvPr/>
        </p:nvSpPr>
        <p:spPr>
          <a:xfrm>
            <a:off x="500000" y="2100000"/>
            <a:ext cx="5350000" cy="450000"/>
          </a:xfrm>
          <a:prstGeom prst="roundRect">
            <a:avLst>
              <a:gd name="adj" fmla="val 3000"/>
            </a:avLst>
          </a:prstGeom>
          <a:solidFill>
            <a:srgbClr val="C42B1C"/>
          </a:solidFill>
          <a:ln>
            <a:noFill/>
          </a:ln>
        </p:spPr>
        <p:txBody>
          <a:bodyPr lIns="180000" anchor="ctr" anchorCtr="0"/>
          <a:lstStyle/>
          <a:p>
            <a:r>
              <a:rPr lang="en-GB" sz="1400" b="1">
                <a:solidFill>
                  <a:srgbClr val="FFFFFF"/>
                </a:solidFill>
                <a:latin typeface="Segoe UI" panose="020B0502040204020203" pitchFamily="34" charset="0"/>
              </a:rPr>
              <a:t>Traditional Approach</a:t>
            </a:r>
          </a:p>
        </p:txBody>
      </p:sp>
      <p:sp>
        <p:nvSpPr>
          <p:cNvPr id="32" name="Panel Content 30"/>
          <p:cNvSpPr/>
          <p:nvPr/>
        </p:nvSpPr>
        <p:spPr>
          <a:xfrm>
            <a:off x="580000" y="2630000"/>
            <a:ext cx="5190000" cy="27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Promote when code is complete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Basic functional tests pass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Hidden risks (bias, unsafe behaviour, data leaks)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Rework later</a:t>
            </a:r>
          </a:p>
        </p:txBody>
      </p:sp>
      <p:sp>
        <p:nvSpPr>
          <p:cNvPr id="40" name="Panel BG 40"/>
          <p:cNvSpPr/>
          <p:nvPr/>
        </p:nvSpPr>
        <p:spPr>
          <a:xfrm>
            <a:off x="6150000" y="2100000"/>
            <a:ext cx="5542000" cy="3400000"/>
          </a:xfrm>
          <a:prstGeom prst="roundRect">
            <a:avLst>
              <a:gd name="adj" fmla="val 3000"/>
            </a:avLst>
          </a:prstGeom>
          <a:solidFill>
            <a:srgbClr val="F0FAF0"/>
          </a:solidFill>
          <a:ln w="12700">
            <a:solidFill>
              <a:srgbClr val="90C090"/>
            </a:solidFill>
          </a:ln>
        </p:spPr>
        <p:txBody>
          <a:bodyPr/>
          <a:lstStyle/>
          <a:p>
            <a:endParaRPr lang="en-GB"/>
          </a:p>
        </p:txBody>
      </p:sp>
      <p:sp>
        <p:nvSpPr>
          <p:cNvPr id="41" name="Panel Header 40"/>
          <p:cNvSpPr/>
          <p:nvPr/>
        </p:nvSpPr>
        <p:spPr>
          <a:xfrm>
            <a:off x="6150000" y="2100000"/>
            <a:ext cx="5542000" cy="450000"/>
          </a:xfrm>
          <a:prstGeom prst="roundRect">
            <a:avLst>
              <a:gd name="adj" fmla="val 3000"/>
            </a:avLst>
          </a:prstGeom>
          <a:solidFill>
            <a:srgbClr val="107C10"/>
          </a:solidFill>
          <a:ln>
            <a:noFill/>
          </a:ln>
        </p:spPr>
        <p:txBody>
          <a:bodyPr lIns="180000" anchor="ctr" anchorCtr="0"/>
          <a:lstStyle/>
          <a:p>
            <a:r>
              <a:rPr lang="en-GB" sz="1400" b="1">
                <a:solidFill>
                  <a:srgbClr val="FFFFFF"/>
                </a:solidFill>
                <a:latin typeface="Segoe UI" panose="020B0502040204020203" pitchFamily="34" charset="0"/>
              </a:rPr>
              <a:t>Modern AI Approach</a:t>
            </a:r>
          </a:p>
        </p:txBody>
      </p:sp>
      <p:sp>
        <p:nvSpPr>
          <p:cNvPr id="42" name="Panel Content 40"/>
          <p:cNvSpPr/>
          <p:nvPr/>
        </p:nvSpPr>
        <p:spPr>
          <a:xfrm>
            <a:off x="6230000" y="2630000"/>
            <a:ext cx="5382000" cy="27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Risk is understood and assessed</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Safety is validated</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Behaviour is predictable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Promotion = evidence of trust</a:t>
            </a:r>
          </a:p>
        </p:txBody>
      </p:sp>
      <p:sp>
        <p:nvSpPr>
          <p:cNvPr id="50" name="Key Principle"/>
          <p:cNvSpPr/>
          <p:nvPr/>
        </p:nvSpPr>
        <p:spPr>
          <a:xfrm>
            <a:off x="500000" y="5700000"/>
            <a:ext cx="11192000" cy="5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Why it matters: </a:t>
            </a:r>
            <a:r>
              <a:rPr lang="en-GB" sz="1200">
                <a:solidFill>
                  <a:srgbClr val="333333"/>
                </a:solidFill>
                <a:latin typeface="Segoe UI" panose="020B0502040204020203" pitchFamily="34" charset="0"/>
              </a:rPr>
              <a:t>Governance must move from documentation to enforcement. Promotion must be tied to measurable trust signals, not assumptions.</a:t>
            </a:r>
          </a:p>
        </p:txBody>
      </p:sp>
    </p:spTree>
    <p:extLst>
      <p:ext uri="{BB962C8B-B14F-4D97-AF65-F5344CB8AC3E}">
        <p14:creationId xmlns:p14="http://schemas.microsoft.com/office/powerpoint/2010/main" val="5000000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14</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Where It Fits in Lifecycle</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30" name="Stage BUILD"/>
          <p:cNvSpPr/>
          <p:nvPr/>
        </p:nvSpPr>
        <p:spPr>
          <a:xfrm>
            <a:off x="500000" y="1450000"/>
            <a:ext cx="1600000" cy="420000"/>
          </a:xfrm>
          <a:prstGeom prst="roundRect">
            <a:avLst>
              <a:gd name="adj" fmla="val 15000"/>
            </a:avLst>
          </a:prstGeom>
          <a:solidFill>
            <a:srgbClr val="2B579A"/>
          </a:solidFill>
          <a:ln w="0">
            <a:noFill/>
          </a:ln>
        </p:spPr>
        <p:txBody>
          <a:bodyPr lIns="36000" rIns="36000" anchor="ctr"/>
          <a:lstStyle/>
          <a:p>
            <a:pPr algn="ctr">
              <a:buNone/>
            </a:pPr>
            <a:r>
              <a:rPr lang="en-GB" sz="1000" b="1">
                <a:solidFill>
                  <a:srgbClr val="FFFFFF"/>
                </a:solidFill>
                <a:latin typeface="Segoe UI" panose="020B0502040204020203" pitchFamily="34" charset="0"/>
              </a:rPr>
              <a:t>BUILD</a:t>
            </a:r>
          </a:p>
        </p:txBody>
      </p:sp>
      <p:sp>
        <p:nvSpPr>
          <p:cNvPr id="60" name="Arrow 0"/>
          <p:cNvSpPr txBox="1"/>
          <p:nvPr/>
        </p:nvSpPr>
        <p:spPr>
          <a:xfrm>
            <a:off x="2100000" y="1600000"/>
            <a:ext cx="150000" cy="120000"/>
          </a:xfrm>
          <a:prstGeom prst="rect">
            <a:avLst/>
          </a:prstGeom>
          <a:noFill/>
        </p:spPr>
        <p:txBody>
          <a:bodyPr lIns="0" tIns="0" rIns="0" bIns="0" anchor="ctr"/>
          <a:lstStyle/>
          <a:p>
            <a:pPr algn="ctr">
              <a:buNone/>
            </a:pPr>
            <a:r>
              <a:rPr lang="en-GB" sz="1100" b="1">
                <a:solidFill>
                  <a:srgbClr val="999999"/>
                </a:solidFill>
                <a:latin typeface="Segoe UI"/>
              </a:rPr>
              <a:t>→</a:t>
            </a:r>
          </a:p>
        </p:txBody>
      </p:sp>
      <p:sp>
        <p:nvSpPr>
          <p:cNvPr id="31" name="Stage TEST"/>
          <p:cNvSpPr/>
          <p:nvPr/>
        </p:nvSpPr>
        <p:spPr>
          <a:xfrm>
            <a:off x="2250000" y="1450000"/>
            <a:ext cx="1600000" cy="420000"/>
          </a:xfrm>
          <a:prstGeom prst="roundRect">
            <a:avLst>
              <a:gd name="adj" fmla="val 15000"/>
            </a:avLst>
          </a:prstGeom>
          <a:solidFill>
            <a:srgbClr val="2B579A"/>
          </a:solidFill>
          <a:ln w="0">
            <a:noFill/>
          </a:ln>
        </p:spPr>
        <p:txBody>
          <a:bodyPr lIns="36000" rIns="36000" anchor="ctr"/>
          <a:lstStyle/>
          <a:p>
            <a:pPr algn="ctr">
              <a:buNone/>
            </a:pPr>
            <a:r>
              <a:rPr lang="en-GB" sz="1000" b="1">
                <a:solidFill>
                  <a:srgbClr val="FFFFFF"/>
                </a:solidFill>
                <a:latin typeface="Segoe UI" panose="020B0502040204020203" pitchFamily="34" charset="0"/>
              </a:rPr>
              <a:t>TEST</a:t>
            </a:r>
          </a:p>
        </p:txBody>
      </p:sp>
      <p:sp>
        <p:nvSpPr>
          <p:cNvPr id="61" name="Arrow 1"/>
          <p:cNvSpPr txBox="1"/>
          <p:nvPr/>
        </p:nvSpPr>
        <p:spPr>
          <a:xfrm>
            <a:off x="3850000" y="1600000"/>
            <a:ext cx="150000" cy="120000"/>
          </a:xfrm>
          <a:prstGeom prst="rect">
            <a:avLst/>
          </a:prstGeom>
          <a:noFill/>
        </p:spPr>
        <p:txBody>
          <a:bodyPr lIns="0" tIns="0" rIns="0" bIns="0" anchor="ctr"/>
          <a:lstStyle/>
          <a:p>
            <a:pPr algn="ctr">
              <a:buNone/>
            </a:pPr>
            <a:r>
              <a:rPr lang="en-GB" sz="1100" b="1">
                <a:solidFill>
                  <a:srgbClr val="999999"/>
                </a:solidFill>
                <a:latin typeface="Segoe UI"/>
              </a:rPr>
              <a:t>→</a:t>
            </a:r>
          </a:p>
        </p:txBody>
      </p:sp>
      <p:sp>
        <p:nvSpPr>
          <p:cNvPr id="32" name="Stage EVALUATE"/>
          <p:cNvSpPr/>
          <p:nvPr/>
        </p:nvSpPr>
        <p:spPr>
          <a:xfrm>
            <a:off x="4000000" y="1450000"/>
            <a:ext cx="1600000" cy="420000"/>
          </a:xfrm>
          <a:prstGeom prst="roundRect">
            <a:avLst>
              <a:gd name="adj" fmla="val 15000"/>
            </a:avLst>
          </a:prstGeom>
          <a:solidFill>
            <a:srgbClr val="D83B01"/>
          </a:solidFill>
          <a:ln w="0">
            <a:noFill/>
          </a:ln>
        </p:spPr>
        <p:txBody>
          <a:bodyPr lIns="36000" rIns="36000" anchor="ctr"/>
          <a:lstStyle/>
          <a:p>
            <a:pPr algn="ctr">
              <a:buNone/>
            </a:pPr>
            <a:r>
              <a:rPr lang="en-GB" sz="1000" b="1">
                <a:solidFill>
                  <a:srgbClr val="FFFFFF"/>
                </a:solidFill>
                <a:latin typeface="Segoe UI" panose="020B0502040204020203" pitchFamily="34" charset="0"/>
              </a:rPr>
              <a:t>EVALUATE</a:t>
            </a:r>
          </a:p>
        </p:txBody>
      </p:sp>
      <p:sp>
        <p:nvSpPr>
          <p:cNvPr id="62" name="Arrow 2"/>
          <p:cNvSpPr txBox="1"/>
          <p:nvPr/>
        </p:nvSpPr>
        <p:spPr>
          <a:xfrm>
            <a:off x="5600000" y="1600000"/>
            <a:ext cx="150000" cy="120000"/>
          </a:xfrm>
          <a:prstGeom prst="rect">
            <a:avLst/>
          </a:prstGeom>
          <a:noFill/>
        </p:spPr>
        <p:txBody>
          <a:bodyPr lIns="0" tIns="0" rIns="0" bIns="0" anchor="ctr"/>
          <a:lstStyle/>
          <a:p>
            <a:pPr algn="ctr">
              <a:buNone/>
            </a:pPr>
            <a:r>
              <a:rPr lang="en-GB" sz="1100" b="1">
                <a:solidFill>
                  <a:srgbClr val="999999"/>
                </a:solidFill>
                <a:latin typeface="Segoe UI"/>
              </a:rPr>
              <a:t>→</a:t>
            </a:r>
          </a:p>
        </p:txBody>
      </p:sp>
      <p:sp>
        <p:nvSpPr>
          <p:cNvPr id="33" name="Stage PROMOTE"/>
          <p:cNvSpPr/>
          <p:nvPr/>
        </p:nvSpPr>
        <p:spPr>
          <a:xfrm>
            <a:off x="5750000" y="1450000"/>
            <a:ext cx="1600000" cy="420000"/>
          </a:xfrm>
          <a:prstGeom prst="roundRect">
            <a:avLst>
              <a:gd name="adj" fmla="val 15000"/>
            </a:avLst>
          </a:prstGeom>
          <a:solidFill>
            <a:srgbClr val="2B579A"/>
          </a:solidFill>
          <a:ln w="0">
            <a:noFill/>
          </a:ln>
        </p:spPr>
        <p:txBody>
          <a:bodyPr lIns="36000" rIns="36000" anchor="ctr"/>
          <a:lstStyle/>
          <a:p>
            <a:pPr algn="ctr">
              <a:buNone/>
            </a:pPr>
            <a:r>
              <a:rPr lang="en-GB" sz="1000" b="1">
                <a:solidFill>
                  <a:srgbClr val="FFFFFF"/>
                </a:solidFill>
                <a:latin typeface="Segoe UI" panose="020B0502040204020203" pitchFamily="34" charset="0"/>
              </a:rPr>
              <a:t>PROMOTE</a:t>
            </a:r>
          </a:p>
        </p:txBody>
      </p:sp>
      <p:sp>
        <p:nvSpPr>
          <p:cNvPr id="63" name="Arrow 3"/>
          <p:cNvSpPr txBox="1"/>
          <p:nvPr/>
        </p:nvSpPr>
        <p:spPr>
          <a:xfrm>
            <a:off x="7350000" y="1600000"/>
            <a:ext cx="150000" cy="120000"/>
          </a:xfrm>
          <a:prstGeom prst="rect">
            <a:avLst/>
          </a:prstGeom>
          <a:noFill/>
        </p:spPr>
        <p:txBody>
          <a:bodyPr lIns="0" tIns="0" rIns="0" bIns="0" anchor="ctr"/>
          <a:lstStyle/>
          <a:p>
            <a:pPr algn="ctr">
              <a:buNone/>
            </a:pPr>
            <a:r>
              <a:rPr lang="en-GB" sz="1100" b="1">
                <a:solidFill>
                  <a:srgbClr val="999999"/>
                </a:solidFill>
                <a:latin typeface="Segoe UI"/>
              </a:rPr>
              <a:t>→</a:t>
            </a:r>
          </a:p>
        </p:txBody>
      </p:sp>
      <p:sp>
        <p:nvSpPr>
          <p:cNvPr id="34" name="Stage DEPLOY"/>
          <p:cNvSpPr/>
          <p:nvPr/>
        </p:nvSpPr>
        <p:spPr>
          <a:xfrm>
            <a:off x="7500000" y="1450000"/>
            <a:ext cx="1600000" cy="420000"/>
          </a:xfrm>
          <a:prstGeom prst="roundRect">
            <a:avLst>
              <a:gd name="adj" fmla="val 15000"/>
            </a:avLst>
          </a:prstGeom>
          <a:solidFill>
            <a:srgbClr val="2B579A"/>
          </a:solidFill>
          <a:ln w="0">
            <a:noFill/>
          </a:ln>
        </p:spPr>
        <p:txBody>
          <a:bodyPr lIns="36000" rIns="36000" anchor="ctr"/>
          <a:lstStyle/>
          <a:p>
            <a:pPr algn="ctr">
              <a:buNone/>
            </a:pPr>
            <a:r>
              <a:rPr lang="en-GB" sz="1000" b="1">
                <a:solidFill>
                  <a:srgbClr val="FFFFFF"/>
                </a:solidFill>
                <a:latin typeface="Segoe UI" panose="020B0502040204020203" pitchFamily="34" charset="0"/>
              </a:rPr>
              <a:t>DEPLOY</a:t>
            </a:r>
          </a:p>
        </p:txBody>
      </p:sp>
      <p:sp>
        <p:nvSpPr>
          <p:cNvPr id="64" name="Arrow 4"/>
          <p:cNvSpPr txBox="1"/>
          <p:nvPr/>
        </p:nvSpPr>
        <p:spPr>
          <a:xfrm>
            <a:off x="9100000" y="1600000"/>
            <a:ext cx="150000" cy="120000"/>
          </a:xfrm>
          <a:prstGeom prst="rect">
            <a:avLst/>
          </a:prstGeom>
          <a:noFill/>
        </p:spPr>
        <p:txBody>
          <a:bodyPr lIns="0" tIns="0" rIns="0" bIns="0" anchor="ctr"/>
          <a:lstStyle/>
          <a:p>
            <a:pPr algn="ctr">
              <a:buNone/>
            </a:pPr>
            <a:r>
              <a:rPr lang="en-GB" sz="1100" b="1">
                <a:solidFill>
                  <a:srgbClr val="999999"/>
                </a:solidFill>
                <a:latin typeface="Segoe UI"/>
              </a:rPr>
              <a:t>→</a:t>
            </a:r>
          </a:p>
        </p:txBody>
      </p:sp>
      <p:sp>
        <p:nvSpPr>
          <p:cNvPr id="35" name="Stage MONITOR"/>
          <p:cNvSpPr/>
          <p:nvPr/>
        </p:nvSpPr>
        <p:spPr>
          <a:xfrm>
            <a:off x="9250000" y="1450000"/>
            <a:ext cx="1600000" cy="420000"/>
          </a:xfrm>
          <a:prstGeom prst="roundRect">
            <a:avLst>
              <a:gd name="adj" fmla="val 15000"/>
            </a:avLst>
          </a:prstGeom>
          <a:solidFill>
            <a:srgbClr val="2B579A"/>
          </a:solidFill>
          <a:ln w="0">
            <a:noFill/>
          </a:ln>
        </p:spPr>
        <p:txBody>
          <a:bodyPr lIns="36000" rIns="36000" anchor="ctr"/>
          <a:lstStyle/>
          <a:p>
            <a:pPr algn="ctr">
              <a:buNone/>
            </a:pPr>
            <a:r>
              <a:rPr lang="en-GB" sz="1000" b="1">
                <a:solidFill>
                  <a:srgbClr val="FFFFFF"/>
                </a:solidFill>
                <a:latin typeface="Segoe UI" panose="020B0502040204020203" pitchFamily="34" charset="0"/>
              </a:rPr>
              <a:t>MONITOR</a:t>
            </a:r>
          </a:p>
        </p:txBody>
      </p:sp>
      <p:sp>
        <p:nvSpPr>
          <p:cNvPr id="70" name="Callout"/>
          <p:cNvSpPr/>
          <p:nvPr/>
        </p:nvSpPr>
        <p:spPr>
          <a:xfrm>
            <a:off x="500000" y="2050000"/>
            <a:ext cx="11192000" cy="350000"/>
          </a:xfrm>
          <a:prstGeom prst="rect">
            <a:avLst/>
          </a:prstGeom>
          <a:noFill/>
          <a:ln>
            <a:noFill/>
          </a:ln>
        </p:spPr>
        <p:txBody>
          <a:bodyPr anchor="ctr"/>
          <a:lstStyle/>
          <a:p>
            <a:pPr>
              <a:buNone/>
            </a:pPr>
            <a:r>
              <a:rPr lang="en-GB" sz="1200" b="1" i="1">
                <a:solidFill>
                  <a:srgbClr val="D83B01"/>
                </a:solidFill>
                <a:latin typeface="Segoe UI" panose="020B0502040204020203" pitchFamily="34" charset="0"/>
              </a:rPr>
              <a:t>➡ Evaluation becomes the gate BEFORE promotion</a:t>
            </a:r>
          </a:p>
        </p:txBody>
      </p:sp>
      <p:sp>
        <p:nvSpPr>
          <p:cNvPr id="71" name="Section Label"/>
          <p:cNvSpPr/>
          <p:nvPr/>
        </p:nvSpPr>
        <p:spPr>
          <a:xfrm>
            <a:off x="500000" y="2500000"/>
            <a:ext cx="11192000" cy="25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Evaluation Layers (What Gets Tested)</a:t>
            </a:r>
          </a:p>
        </p:txBody>
      </p:sp>
      <p:graphicFrame>
        <p:nvGraphicFramePr>
          <p:cNvPr id="4" name="Table 3">
            <a:extLst>
              <a:ext uri="{FF2B5EF4-FFF2-40B4-BE49-F238E27FC236}">
                <a16:creationId xmlns:a16="http://schemas.microsoft.com/office/drawing/2014/main" id="{AAAA1111-1111-1111-1111-111111111111}"/>
              </a:ext>
            </a:extLst>
          </p:cNvPr>
          <p:cNvGraphicFramePr>
            <a:graphicFrameLocks noGrp="1"/>
          </p:cNvGraphicFramePr>
          <p:nvPr>
            <p:extLst>
              <p:ext uri="{D42A27DB-BD31-4B8C-83A1-F6EECF244321}">
                <p14:modId xmlns:p14="http://schemas.microsoft.com/office/powerpoint/2010/main" val="4164092470"/>
              </p:ext>
            </p:extLst>
          </p:nvPr>
        </p:nvGraphicFramePr>
        <p:xfrm>
          <a:off x="577638" y="2779518"/>
          <a:ext cx="11192000" cy="2340000"/>
        </p:xfrm>
        <a:graphic>
          <a:graphicData uri="http://schemas.openxmlformats.org/drawingml/2006/table">
            <a:tbl>
              <a:tblPr/>
              <a:tblGrid>
                <a:gridCol w="3000000">
                  <a:extLst>
                    <a:ext uri="{9D8B030D-6E8A-4147-A177-3AD203B41FA5}">
                      <a16:colId xmlns:a16="http://schemas.microsoft.com/office/drawing/2014/main" val="500000000"/>
                    </a:ext>
                  </a:extLst>
                </a:gridCol>
                <a:gridCol w="8192000">
                  <a:extLst>
                    <a:ext uri="{9D8B030D-6E8A-4147-A177-3AD203B41FA5}">
                      <a16:colId xmlns:a16="http://schemas.microsoft.com/office/drawing/2014/main" val="500000001"/>
                    </a:ext>
                  </a:extLst>
                </a:gridCol>
              </a:tblGrid>
              <a:tr h="420000">
                <a:tc>
                  <a:txBody>
                    <a:bodyPr/>
                    <a:lstStyle/>
                    <a:p>
                      <a:pPr>
                        <a:buNone/>
                      </a:pPr>
                      <a:r>
                        <a:rPr lang="en-GB" sz="1200" b="1">
                          <a:solidFill>
                            <a:srgbClr val="FFFFFF"/>
                          </a:solidFill>
                          <a:latin typeface="Segoe UI" panose="020B0502040204020203" pitchFamily="34" charset="0"/>
                        </a:rPr>
                        <a:t>Layer</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200" b="1">
                          <a:solidFill>
                            <a:srgbClr val="FFFFFF"/>
                          </a:solidFill>
                          <a:latin typeface="Segoe UI" panose="020B0502040204020203" pitchFamily="34" charset="0"/>
                        </a:rPr>
                        <a:t>Evaluated For</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500000010"/>
                  </a:ext>
                </a:extLst>
              </a:tr>
              <a:tr h="480000">
                <a:tc>
                  <a:txBody>
                    <a:bodyPr/>
                    <a:lstStyle/>
                    <a:p>
                      <a:pPr>
                        <a:buNone/>
                      </a:pPr>
                      <a:r>
                        <a:rPr lang="en-GB" sz="1100" b="1" dirty="0">
                          <a:solidFill>
                            <a:srgbClr val="243A5E"/>
                          </a:solidFill>
                          <a:latin typeface="Segoe UI" panose="020B0502040204020203" pitchFamily="34" charset="0"/>
                        </a:rPr>
                        <a:t>Model</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a:solidFill>
                            <a:srgbClr val="333333"/>
                          </a:solidFill>
                          <a:latin typeface="Segoe UI" panose="020B0502040204020203" pitchFamily="34" charset="0"/>
                        </a:rPr>
                        <a:t>Accuracy, bias, safety, hallucinations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500000011"/>
                  </a:ext>
                </a:extLst>
              </a:tr>
              <a:tr h="480000">
                <a:tc>
                  <a:txBody>
                    <a:bodyPr/>
                    <a:lstStyle/>
                    <a:p>
                      <a:pPr>
                        <a:buNone/>
                      </a:pPr>
                      <a:r>
                        <a:rPr lang="en-GB" sz="1100" b="1">
                          <a:solidFill>
                            <a:srgbClr val="243A5E"/>
                          </a:solidFill>
                          <a:latin typeface="Segoe UI" panose="020B0502040204020203" pitchFamily="34" charset="0"/>
                        </a:rPr>
                        <a:t>Agent (AgentOps)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a:solidFill>
                            <a:srgbClr val="333333"/>
                          </a:solidFill>
                          <a:latin typeface="Segoe UI" panose="020B0502040204020203" pitchFamily="34" charset="0"/>
                        </a:rPr>
                        <a:t>Behaviour, tool usage, decision paths, autonomy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500000012"/>
                  </a:ext>
                </a:extLst>
              </a:tr>
              <a:tr h="480000">
                <a:tc>
                  <a:txBody>
                    <a:bodyPr/>
                    <a:lstStyle/>
                    <a:p>
                      <a:pPr>
                        <a:buNone/>
                      </a:pPr>
                      <a:r>
                        <a:rPr lang="en-GB" sz="1100" b="1">
                          <a:solidFill>
                            <a:srgbClr val="243A5E"/>
                          </a:solidFill>
                          <a:latin typeface="Segoe UI" panose="020B0502040204020203" pitchFamily="34" charset="0"/>
                        </a:rPr>
                        <a:t>Data</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100">
                          <a:solidFill>
                            <a:srgbClr val="333333"/>
                          </a:solidFill>
                          <a:latin typeface="Segoe UI" panose="020B0502040204020203" pitchFamily="34" charset="0"/>
                        </a:rPr>
                        <a:t>Sensitivity, leakage risk, compliance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500000013"/>
                  </a:ext>
                </a:extLst>
              </a:tr>
              <a:tr h="480000">
                <a:tc>
                  <a:txBody>
                    <a:bodyPr/>
                    <a:lstStyle/>
                    <a:p>
                      <a:pPr>
                        <a:buNone/>
                      </a:pPr>
                      <a:r>
                        <a:rPr lang="en-GB" sz="1100" b="1">
                          <a:solidFill>
                            <a:srgbClr val="243A5E"/>
                          </a:solidFill>
                          <a:latin typeface="Segoe UI" panose="020B0502040204020203" pitchFamily="34" charset="0"/>
                        </a:rPr>
                        <a:t>System (End-to-End)</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100" dirty="0">
                          <a:solidFill>
                            <a:srgbClr val="333333"/>
                          </a:solidFill>
                          <a:latin typeface="Segoe UI" panose="020B0502040204020203" pitchFamily="34" charset="0"/>
                        </a:rPr>
                        <a:t>Real workflow impact, failure scenarios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500000014"/>
                  </a:ext>
                </a:extLst>
              </a:tr>
            </a:tbl>
          </a:graphicData>
        </a:graphic>
      </p:graphicFrame>
      <p:sp>
        <p:nvSpPr>
          <p:cNvPr id="72" name="Table Subtitle"/>
          <p:cNvSpPr/>
          <p:nvPr/>
        </p:nvSpPr>
        <p:spPr>
          <a:xfrm>
            <a:off x="500000" y="5040000"/>
            <a:ext cx="11192000" cy="300000"/>
          </a:xfrm>
          <a:prstGeom prst="rect">
            <a:avLst/>
          </a:prstGeom>
          <a:noFill/>
          <a:ln>
            <a:noFill/>
          </a:ln>
        </p:spPr>
        <p:txBody>
          <a:bodyPr anchor="t"/>
          <a:lstStyle/>
          <a:p>
            <a:pPr>
              <a:buNone/>
            </a:pPr>
            <a:r>
              <a:rPr lang="en-GB" sz="1100" i="1">
                <a:solidFill>
                  <a:srgbClr val="666666"/>
                </a:solidFill>
                <a:latin typeface="Segoe UI" panose="020B0502040204020203" pitchFamily="34" charset="0"/>
              </a:rPr>
              <a:t>Promotion decisions must consider all layers, not just the model.</a:t>
            </a:r>
          </a:p>
        </p:txBody>
      </p:sp>
    </p:spTree>
    <p:extLst>
      <p:ext uri="{BB962C8B-B14F-4D97-AF65-F5344CB8AC3E}">
        <p14:creationId xmlns:p14="http://schemas.microsoft.com/office/powerpoint/2010/main" val="50000000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15</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Evaluation Criteria (Examples)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30" name="Panel BG 30"/>
          <p:cNvSpPr/>
          <p:nvPr/>
        </p:nvSpPr>
        <p:spPr>
          <a:xfrm>
            <a:off x="500000" y="14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1" name="Panel Header 30"/>
          <p:cNvSpPr/>
          <p:nvPr/>
        </p:nvSpPr>
        <p:spPr>
          <a:xfrm>
            <a:off x="500000" y="1450000"/>
            <a:ext cx="5346000" cy="450000"/>
          </a:xfrm>
          <a:prstGeom prst="roundRect">
            <a:avLst>
              <a:gd name="adj" fmla="val 3000"/>
            </a:avLst>
          </a:prstGeom>
          <a:solidFill>
            <a:srgbClr val="2B579A"/>
          </a:solidFill>
          <a:ln>
            <a:noFill/>
          </a:ln>
        </p:spPr>
        <p:txBody>
          <a:bodyPr lIns="180000" anchor="ctr" anchorCtr="0"/>
          <a:lstStyle/>
          <a:p>
            <a:r>
              <a:rPr lang="en-GB" sz="1400" b="1">
                <a:solidFill>
                  <a:srgbClr val="FFFFFF"/>
                </a:solidFill>
                <a:latin typeface="Segoe UI" panose="020B0502040204020203" pitchFamily="34" charset="0"/>
              </a:rPr>
              <a:t>Model-Level</a:t>
            </a:r>
          </a:p>
        </p:txBody>
      </p:sp>
      <p:sp>
        <p:nvSpPr>
          <p:cNvPr id="32" name="Panel Content 30"/>
          <p:cNvSpPr/>
          <p:nvPr/>
        </p:nvSpPr>
        <p:spPr>
          <a:xfrm>
            <a:off x="580000" y="1980000"/>
            <a:ext cx="5186000" cy="15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Accuracy / performance benchmarks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Bias &amp; fairness checks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Safety filtering effectiveness</a:t>
            </a:r>
          </a:p>
        </p:txBody>
      </p:sp>
      <p:sp>
        <p:nvSpPr>
          <p:cNvPr id="33" name="Panel BG 33"/>
          <p:cNvSpPr/>
          <p:nvPr/>
        </p:nvSpPr>
        <p:spPr>
          <a:xfrm>
            <a:off x="6346000" y="14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4" name="Panel Header 33"/>
          <p:cNvSpPr/>
          <p:nvPr/>
        </p:nvSpPr>
        <p:spPr>
          <a:xfrm>
            <a:off x="6346000" y="1450000"/>
            <a:ext cx="5346000" cy="450000"/>
          </a:xfrm>
          <a:prstGeom prst="roundRect">
            <a:avLst>
              <a:gd name="adj" fmla="val 3000"/>
            </a:avLst>
          </a:prstGeom>
          <a:solidFill>
            <a:srgbClr val="243A5E"/>
          </a:solidFill>
          <a:ln>
            <a:noFill/>
          </a:ln>
        </p:spPr>
        <p:txBody>
          <a:bodyPr lIns="180000" anchor="ctr" anchorCtr="0"/>
          <a:lstStyle/>
          <a:p>
            <a:r>
              <a:rPr lang="en-GB" sz="1400" b="1">
                <a:solidFill>
                  <a:srgbClr val="FFFFFF"/>
                </a:solidFill>
                <a:latin typeface="Segoe UI" panose="020B0502040204020203" pitchFamily="34" charset="0"/>
              </a:rPr>
              <a:t>Agent-Level</a:t>
            </a:r>
          </a:p>
        </p:txBody>
      </p:sp>
      <p:sp>
        <p:nvSpPr>
          <p:cNvPr id="35" name="Panel Content 33"/>
          <p:cNvSpPr/>
          <p:nvPr/>
        </p:nvSpPr>
        <p:spPr>
          <a:xfrm>
            <a:off x="6426000" y="1980000"/>
            <a:ext cx="5186000" cy="15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Correct use of tools / APIs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Safe execution of actions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Adherence to instructions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Controlled autonomy level</a:t>
            </a:r>
          </a:p>
        </p:txBody>
      </p:sp>
      <p:sp>
        <p:nvSpPr>
          <p:cNvPr id="36" name="Panel BG 36"/>
          <p:cNvSpPr/>
          <p:nvPr/>
        </p:nvSpPr>
        <p:spPr>
          <a:xfrm>
            <a:off x="500000" y="39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7" name="Panel Header 36"/>
          <p:cNvSpPr/>
          <p:nvPr/>
        </p:nvSpPr>
        <p:spPr>
          <a:xfrm>
            <a:off x="500000" y="3950000"/>
            <a:ext cx="5346000" cy="450000"/>
          </a:xfrm>
          <a:prstGeom prst="roundRect">
            <a:avLst>
              <a:gd name="adj" fmla="val 3000"/>
            </a:avLst>
          </a:prstGeom>
          <a:solidFill>
            <a:srgbClr val="D83B01"/>
          </a:solidFill>
          <a:ln>
            <a:noFill/>
          </a:ln>
        </p:spPr>
        <p:txBody>
          <a:bodyPr lIns="180000" anchor="ctr" anchorCtr="0"/>
          <a:lstStyle/>
          <a:p>
            <a:r>
              <a:rPr lang="en-GB" sz="1400" b="1">
                <a:solidFill>
                  <a:srgbClr val="FFFFFF"/>
                </a:solidFill>
                <a:latin typeface="Segoe UI" panose="020B0502040204020203" pitchFamily="34" charset="0"/>
              </a:rPr>
              <a:t>Data-Level</a:t>
            </a:r>
          </a:p>
        </p:txBody>
      </p:sp>
      <p:sp>
        <p:nvSpPr>
          <p:cNvPr id="38" name="Panel Content 36"/>
          <p:cNvSpPr/>
          <p:nvPr/>
        </p:nvSpPr>
        <p:spPr>
          <a:xfrm>
            <a:off x="580000" y="4480000"/>
            <a:ext cx="5186000" cy="15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Exposure of sensitive data (PII/IP)</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Policy compliance (DLP, retention)</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Access control validation</a:t>
            </a:r>
          </a:p>
        </p:txBody>
      </p:sp>
      <p:sp>
        <p:nvSpPr>
          <p:cNvPr id="39" name="Panel BG 39"/>
          <p:cNvSpPr/>
          <p:nvPr/>
        </p:nvSpPr>
        <p:spPr>
          <a:xfrm>
            <a:off x="6346000" y="39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40" name="Panel Header 39"/>
          <p:cNvSpPr/>
          <p:nvPr/>
        </p:nvSpPr>
        <p:spPr>
          <a:xfrm>
            <a:off x="6346000" y="3950000"/>
            <a:ext cx="5346000" cy="450000"/>
          </a:xfrm>
          <a:prstGeom prst="roundRect">
            <a:avLst>
              <a:gd name="adj" fmla="val 3000"/>
            </a:avLst>
          </a:prstGeom>
          <a:solidFill>
            <a:srgbClr val="5C2D91"/>
          </a:solidFill>
          <a:ln>
            <a:noFill/>
          </a:ln>
        </p:spPr>
        <p:txBody>
          <a:bodyPr lIns="180000" anchor="ctr" anchorCtr="0"/>
          <a:lstStyle/>
          <a:p>
            <a:r>
              <a:rPr lang="en-GB" sz="1400" b="1">
                <a:solidFill>
                  <a:srgbClr val="FFFFFF"/>
                </a:solidFill>
                <a:latin typeface="Segoe UI" panose="020B0502040204020203" pitchFamily="34" charset="0"/>
              </a:rPr>
              <a:t>System-Level</a:t>
            </a:r>
          </a:p>
        </p:txBody>
      </p:sp>
      <p:sp>
        <p:nvSpPr>
          <p:cNvPr id="41" name="Panel Content 39"/>
          <p:cNvSpPr/>
          <p:nvPr/>
        </p:nvSpPr>
        <p:spPr>
          <a:xfrm>
            <a:off x="6426000" y="4480000"/>
            <a:ext cx="5186000" cy="159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End-to-end workflow correctness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Failure handling &amp; fallback behaviour</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Regulatory alignment</a:t>
            </a:r>
          </a:p>
        </p:txBody>
      </p:sp>
    </p:spTree>
    <p:extLst>
      <p:ext uri="{BB962C8B-B14F-4D97-AF65-F5344CB8AC3E}">
        <p14:creationId xmlns:p14="http://schemas.microsoft.com/office/powerpoint/2010/main" val="50000000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16</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Promotion Gate Logic (How It Works)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Label 1"/>
          <p:cNvSpPr/>
          <p:nvPr/>
        </p:nvSpPr>
        <p:spPr>
          <a:xfrm>
            <a:off x="500000" y="1350000"/>
            <a:ext cx="5346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Promotion Decision Framework</a:t>
            </a:r>
          </a:p>
        </p:txBody>
      </p:sp>
      <p:graphicFrame>
        <p:nvGraphicFramePr>
          <p:cNvPr id="4" name="Table 3">
            <a:extLst>
              <a:ext uri="{FF2B5EF4-FFF2-40B4-BE49-F238E27FC236}">
                <a16:creationId xmlns:a16="http://schemas.microsoft.com/office/drawing/2014/main" id="{BBBB2222-2222-2222-2222-222222222222}"/>
              </a:ext>
            </a:extLst>
          </p:cNvPr>
          <p:cNvGraphicFramePr>
            <a:graphicFrameLocks noGrp="1"/>
          </p:cNvGraphicFramePr>
          <p:nvPr>
            <p:extLst>
              <p:ext uri="{D42A27DB-BD31-4B8C-83A1-F6EECF244321}">
                <p14:modId xmlns:p14="http://schemas.microsoft.com/office/powerpoint/2010/main" val="3133024531"/>
              </p:ext>
            </p:extLst>
          </p:nvPr>
        </p:nvGraphicFramePr>
        <p:xfrm>
          <a:off x="500000" y="1700000"/>
          <a:ext cx="5346000" cy="1520000"/>
        </p:xfrm>
        <a:graphic>
          <a:graphicData uri="http://schemas.openxmlformats.org/drawingml/2006/table">
            <a:tbl>
              <a:tblPr/>
              <a:tblGrid>
                <a:gridCol w="2400000">
                  <a:extLst>
                    <a:ext uri="{9D8B030D-6E8A-4147-A177-3AD203B41FA5}">
                      <a16:colId xmlns:a16="http://schemas.microsoft.com/office/drawing/2014/main" val="600000000"/>
                    </a:ext>
                  </a:extLst>
                </a:gridCol>
                <a:gridCol w="2946000">
                  <a:extLst>
                    <a:ext uri="{9D8B030D-6E8A-4147-A177-3AD203B41FA5}">
                      <a16:colId xmlns:a16="http://schemas.microsoft.com/office/drawing/2014/main" val="600000001"/>
                    </a:ext>
                  </a:extLst>
                </a:gridCol>
              </a:tblGrid>
              <a:tr h="380000">
                <a:tc>
                  <a:txBody>
                    <a:bodyPr/>
                    <a:lstStyle/>
                    <a:p>
                      <a:pPr>
                        <a:buNone/>
                      </a:pPr>
                      <a:r>
                        <a:rPr lang="en-GB" sz="1100" b="1">
                          <a:solidFill>
                            <a:srgbClr val="FFFFFF"/>
                          </a:solidFill>
                          <a:latin typeface="Segoe UI" panose="020B0502040204020203" pitchFamily="34" charset="0"/>
                        </a:rPr>
                        <a:t>Evaluation Result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Action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600000010"/>
                  </a:ext>
                </a:extLst>
              </a:tr>
              <a:tr h="380000">
                <a:tc>
                  <a:txBody>
                    <a:bodyPr/>
                    <a:lstStyle/>
                    <a:p>
                      <a:pPr>
                        <a:buNone/>
                      </a:pPr>
                      <a:r>
                        <a:rPr lang="en-GB" sz="1000" b="1">
                          <a:solidFill>
                            <a:srgbClr val="243A5E"/>
                          </a:solidFill>
                          <a:latin typeface="Segoe UI" panose="020B0502040204020203" pitchFamily="34" charset="0"/>
                        </a:rPr>
                        <a:t>Meets all thresholds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Promote to next stage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600000011"/>
                  </a:ext>
                </a:extLst>
              </a:tr>
              <a:tr h="380000">
                <a:tc>
                  <a:txBody>
                    <a:bodyPr/>
                    <a:lstStyle/>
                    <a:p>
                      <a:pPr>
                        <a:buNone/>
                      </a:pPr>
                      <a:r>
                        <a:rPr lang="en-GB" sz="1000" b="1">
                          <a:solidFill>
                            <a:srgbClr val="243A5E"/>
                          </a:solidFill>
                          <a:latin typeface="Segoe UI" panose="020B0502040204020203" pitchFamily="34" charset="0"/>
                        </a:rPr>
                        <a:t>Partial pass / medium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Promote with restrictions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600000012"/>
                  </a:ext>
                </a:extLst>
              </a:tr>
              <a:tr h="380000">
                <a:tc>
                  <a:txBody>
                    <a:bodyPr/>
                    <a:lstStyle/>
                    <a:p>
                      <a:pPr>
                        <a:buNone/>
                      </a:pPr>
                      <a:r>
                        <a:rPr lang="en-GB" sz="1000" b="1">
                          <a:solidFill>
                            <a:srgbClr val="243A5E"/>
                          </a:solidFill>
                          <a:latin typeface="Segoe UI" panose="020B0502040204020203" pitchFamily="34" charset="0"/>
                        </a:rPr>
                        <a:t>Fails evaluation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Reject / rework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600000013"/>
                  </a:ext>
                </a:extLst>
              </a:tr>
            </a:tbl>
          </a:graphicData>
        </a:graphic>
      </p:graphicFrame>
      <p:sp>
        <p:nvSpPr>
          <p:cNvPr id="23" name="Label 2"/>
          <p:cNvSpPr/>
          <p:nvPr/>
        </p:nvSpPr>
        <p:spPr>
          <a:xfrm>
            <a:off x="6346000" y="1350000"/>
            <a:ext cx="5346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Human-in-the-Loop Model</a:t>
            </a:r>
          </a:p>
        </p:txBody>
      </p:sp>
      <p:graphicFrame>
        <p:nvGraphicFramePr>
          <p:cNvPr id="5" name="Table 4">
            <a:extLst>
              <a:ext uri="{FF2B5EF4-FFF2-40B4-BE49-F238E27FC236}">
                <a16:creationId xmlns:a16="http://schemas.microsoft.com/office/drawing/2014/main" id="{CCCC3333-3333-3333-3333-333333333333}"/>
              </a:ext>
            </a:extLst>
          </p:cNvPr>
          <p:cNvGraphicFramePr>
            <a:graphicFrameLocks noGrp="1"/>
          </p:cNvGraphicFramePr>
          <p:nvPr>
            <p:extLst>
              <p:ext uri="{D42A27DB-BD31-4B8C-83A1-F6EECF244321}">
                <p14:modId xmlns:p14="http://schemas.microsoft.com/office/powerpoint/2010/main" val="2828445297"/>
              </p:ext>
            </p:extLst>
          </p:nvPr>
        </p:nvGraphicFramePr>
        <p:xfrm>
          <a:off x="6346000" y="1700000"/>
          <a:ext cx="5346000" cy="1520000"/>
        </p:xfrm>
        <a:graphic>
          <a:graphicData uri="http://schemas.openxmlformats.org/drawingml/2006/table">
            <a:tbl>
              <a:tblPr/>
              <a:tblGrid>
                <a:gridCol w="2400000">
                  <a:extLst>
                    <a:ext uri="{9D8B030D-6E8A-4147-A177-3AD203B41FA5}">
                      <a16:colId xmlns:a16="http://schemas.microsoft.com/office/drawing/2014/main" val="700000000"/>
                    </a:ext>
                  </a:extLst>
                </a:gridCol>
                <a:gridCol w="2946000">
                  <a:extLst>
                    <a:ext uri="{9D8B030D-6E8A-4147-A177-3AD203B41FA5}">
                      <a16:colId xmlns:a16="http://schemas.microsoft.com/office/drawing/2014/main" val="700000001"/>
                    </a:ext>
                  </a:extLst>
                </a:gridCol>
              </a:tblGrid>
              <a:tr h="380000">
                <a:tc>
                  <a:txBody>
                    <a:bodyPr/>
                    <a:lstStyle/>
                    <a:p>
                      <a:pPr>
                        <a:buNone/>
                      </a:pPr>
                      <a:r>
                        <a:rPr lang="en-GB" sz="1100" b="1">
                          <a:solidFill>
                            <a:srgbClr val="FFFFFF"/>
                          </a:solidFill>
                          <a:latin typeface="Segoe UI" panose="020B0502040204020203" pitchFamily="34" charset="0"/>
                        </a:rPr>
                        <a:t>Evaluation Outcome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HITL Model</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700000010"/>
                  </a:ext>
                </a:extLst>
              </a:tr>
              <a:tr h="380000">
                <a:tc>
                  <a:txBody>
                    <a:bodyPr/>
                    <a:lstStyle/>
                    <a:p>
                      <a:pPr>
                        <a:buNone/>
                      </a:pPr>
                      <a:r>
                        <a:rPr lang="en-GB" sz="1000" b="1">
                          <a:solidFill>
                            <a:srgbClr val="243A5E"/>
                          </a:solidFill>
                          <a:latin typeface="Segoe UI" panose="020B0502040204020203" pitchFamily="34" charset="0"/>
                        </a:rPr>
                        <a:t>High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Assistant (human leads)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700000011"/>
                  </a:ext>
                </a:extLst>
              </a:tr>
              <a:tr h="380000">
                <a:tc>
                  <a:txBody>
                    <a:bodyPr/>
                    <a:lstStyle/>
                    <a:p>
                      <a:pPr>
                        <a:buNone/>
                      </a:pPr>
                      <a:r>
                        <a:rPr lang="en-GB" sz="1000" b="1">
                          <a:solidFill>
                            <a:srgbClr val="243A5E"/>
                          </a:solidFill>
                          <a:latin typeface="Segoe UI" panose="020B0502040204020203" pitchFamily="34" charset="0"/>
                        </a:rPr>
                        <a:t>Medium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Teammate (shared control)</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700000012"/>
                  </a:ext>
                </a:extLst>
              </a:tr>
              <a:tr h="380000">
                <a:tc>
                  <a:txBody>
                    <a:bodyPr/>
                    <a:lstStyle/>
                    <a:p>
                      <a:pPr>
                        <a:buNone/>
                      </a:pPr>
                      <a:r>
                        <a:rPr lang="en-GB" sz="1000" b="1">
                          <a:solidFill>
                            <a:srgbClr val="243A5E"/>
                          </a:solidFill>
                          <a:latin typeface="Segoe UI" panose="020B0502040204020203" pitchFamily="34" charset="0"/>
                        </a:rPr>
                        <a:t>Low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Operator (AI runs, human reviews)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700000013"/>
                  </a:ext>
                </a:extLst>
              </a:tr>
            </a:tbl>
          </a:graphicData>
        </a:graphic>
      </p:graphicFrame>
      <p:sp>
        <p:nvSpPr>
          <p:cNvPr id="24" name="Label 3"/>
          <p:cNvSpPr/>
          <p:nvPr/>
        </p:nvSpPr>
        <p:spPr>
          <a:xfrm>
            <a:off x="500000" y="3150000"/>
            <a:ext cx="11192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Promotion Responsibility</a:t>
            </a:r>
          </a:p>
        </p:txBody>
      </p:sp>
      <p:graphicFrame>
        <p:nvGraphicFramePr>
          <p:cNvPr id="6" name="Table 5">
            <a:extLst>
              <a:ext uri="{FF2B5EF4-FFF2-40B4-BE49-F238E27FC236}">
                <a16:creationId xmlns:a16="http://schemas.microsoft.com/office/drawing/2014/main" id="{DDDD4444-4444-4444-4444-444444444444}"/>
              </a:ext>
            </a:extLst>
          </p:cNvPr>
          <p:cNvGraphicFramePr>
            <a:graphicFrameLocks noGrp="1"/>
          </p:cNvGraphicFramePr>
          <p:nvPr>
            <p:extLst>
              <p:ext uri="{D42A27DB-BD31-4B8C-83A1-F6EECF244321}">
                <p14:modId xmlns:p14="http://schemas.microsoft.com/office/powerpoint/2010/main" val="1941923916"/>
              </p:ext>
            </p:extLst>
          </p:nvPr>
        </p:nvGraphicFramePr>
        <p:xfrm>
          <a:off x="500000" y="3500000"/>
          <a:ext cx="11192000" cy="1520000"/>
        </p:xfrm>
        <a:graphic>
          <a:graphicData uri="http://schemas.openxmlformats.org/drawingml/2006/table">
            <a:tbl>
              <a:tblPr/>
              <a:tblGrid>
                <a:gridCol w="3000000">
                  <a:extLst>
                    <a:ext uri="{9D8B030D-6E8A-4147-A177-3AD203B41FA5}">
                      <a16:colId xmlns:a16="http://schemas.microsoft.com/office/drawing/2014/main" val="800000000"/>
                    </a:ext>
                  </a:extLst>
                </a:gridCol>
                <a:gridCol w="8192000">
                  <a:extLst>
                    <a:ext uri="{9D8B030D-6E8A-4147-A177-3AD203B41FA5}">
                      <a16:colId xmlns:a16="http://schemas.microsoft.com/office/drawing/2014/main" val="800000001"/>
                    </a:ext>
                  </a:extLst>
                </a:gridCol>
              </a:tblGrid>
              <a:tr h="380000">
                <a:tc>
                  <a:txBody>
                    <a:bodyPr/>
                    <a:lstStyle/>
                    <a:p>
                      <a:pPr>
                        <a:buNone/>
                      </a:pPr>
                      <a:r>
                        <a:rPr lang="en-GB" sz="1100" b="1">
                          <a:solidFill>
                            <a:srgbClr val="FFFFFF"/>
                          </a:solidFill>
                          <a:latin typeface="Segoe UI" panose="020B0502040204020203" pitchFamily="34" charset="0"/>
                        </a:rPr>
                        <a:t>Layer</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Promotion Responsibility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800000010"/>
                  </a:ext>
                </a:extLst>
              </a:tr>
              <a:tr h="380000">
                <a:tc>
                  <a:txBody>
                    <a:bodyPr/>
                    <a:lstStyle/>
                    <a:p>
                      <a:pPr>
                        <a:buNone/>
                      </a:pPr>
                      <a:r>
                        <a:rPr lang="en-GB" sz="1000" b="1">
                          <a:solidFill>
                            <a:srgbClr val="243A5E"/>
                          </a:solidFill>
                          <a:latin typeface="Segoe UI" panose="020B0502040204020203" pitchFamily="34" charset="0"/>
                        </a:rPr>
                        <a:t>Model</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Platform / ML team (performance + safety)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800000011"/>
                  </a:ext>
                </a:extLst>
              </a:tr>
              <a:tr h="380000">
                <a:tc>
                  <a:txBody>
                    <a:bodyPr/>
                    <a:lstStyle/>
                    <a:p>
                      <a:pPr>
                        <a:buNone/>
                      </a:pPr>
                      <a:r>
                        <a:rPr lang="en-GB" sz="1000" b="1">
                          <a:solidFill>
                            <a:srgbClr val="243A5E"/>
                          </a:solidFill>
                          <a:latin typeface="Segoe UI" panose="020B0502040204020203" pitchFamily="34" charset="0"/>
                        </a:rPr>
                        <a:t>Agent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Product + AI engineers (behaviour + actions)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800000012"/>
                  </a:ext>
                </a:extLst>
              </a:tr>
              <a:tr h="380000">
                <a:tc>
                  <a:txBody>
                    <a:bodyPr/>
                    <a:lstStyle/>
                    <a:p>
                      <a:pPr>
                        <a:buNone/>
                      </a:pPr>
                      <a:r>
                        <a:rPr lang="en-GB" sz="1000" b="1">
                          <a:solidFill>
                            <a:srgbClr val="243A5E"/>
                          </a:solidFill>
                          <a:latin typeface="Segoe UI" panose="020B0502040204020203" pitchFamily="34" charset="0"/>
                        </a:rPr>
                        <a:t>Data</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CDO / governance (compliance + risk)</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800000013"/>
                  </a:ext>
                </a:extLst>
              </a:tr>
            </a:tbl>
          </a:graphicData>
        </a:graphic>
      </p:graphicFrame>
      <p:sp>
        <p:nvSpPr>
          <p:cNvPr id="25" name="Key Principle"/>
          <p:cNvSpPr/>
          <p:nvPr/>
        </p:nvSpPr>
        <p:spPr>
          <a:xfrm>
            <a:off x="500000" y="5200000"/>
            <a:ext cx="11192000" cy="5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Key principle: </a:t>
            </a:r>
            <a:r>
              <a:rPr lang="en-GB" sz="1200" i="1">
                <a:solidFill>
                  <a:srgbClr val="333333"/>
                </a:solidFill>
                <a:latin typeface="Segoe UI" panose="020B0502040204020203" pitchFamily="34" charset="0"/>
              </a:rPr>
              <a:t>"Do not promote artifacts — promote validated behaviour." Promotion includes choosing the right autonomy level.</a:t>
            </a:r>
          </a:p>
        </p:txBody>
      </p:sp>
    </p:spTree>
    <p:extLst>
      <p:ext uri="{BB962C8B-B14F-4D97-AF65-F5344CB8AC3E}">
        <p14:creationId xmlns:p14="http://schemas.microsoft.com/office/powerpoint/2010/main" val="5000000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D6D82DCA-4DE3-EEFB-6E91-3A1B1521DE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D457A5-F58D-8D96-E11F-DA15518E1CB2}"/>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lang="en-GB" sz="3300" b="1" dirty="0">
                <a:solidFill>
                  <a:srgbClr val="FFFFFF"/>
                </a:solidFill>
                <a:latin typeface="Segoe UI Semibold"/>
              </a:rPr>
              <a:t>4</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C6D95FDF-6AB8-D50F-57B5-016BD040E8F5}"/>
              </a:ext>
            </a:extLst>
          </p:cNvPr>
          <p:cNvSpPr txBox="1"/>
          <p:nvPr/>
        </p:nvSpPr>
        <p:spPr>
          <a:xfrm>
            <a:off x="731520" y="4480560"/>
            <a:ext cx="9144000" cy="640080"/>
          </a:xfrm>
          <a:prstGeom prst="rect">
            <a:avLst/>
          </a:prstGeom>
          <a:noFill/>
        </p:spPr>
        <p:txBody>
          <a:bodyPr wrap="square" anchor="t"/>
          <a:lstStyle/>
          <a:p>
            <a:pPr lvl="0" defTabSz="457200">
              <a:defRPr sz="1800" b="0">
                <a:solidFill>
                  <a:srgbClr val="FFFFFF"/>
                </a:solidFill>
                <a:latin typeface="Segoe UI"/>
              </a:defRPr>
            </a:pPr>
            <a:r>
              <a:rPr lang="en-GB" dirty="0"/>
              <a:t>FAOS (feedback-aware optimization systems)</a:t>
            </a:r>
            <a:endParaRPr kumimoji="0" lang="da-DK" sz="1800" b="0" i="0" u="none" strike="noStrike" kern="1200" cap="none" spc="0" normalizeH="0" baseline="0" noProof="0" dirty="0">
              <a:ln>
                <a:noFill/>
              </a:ln>
              <a:solidFill>
                <a:srgbClr val="FFFFFF"/>
              </a:solidFill>
              <a:effectLst/>
              <a:uLnTx/>
              <a:uFillTx/>
              <a:latin typeface="Segoe UI"/>
              <a:ea typeface="+mn-ea"/>
              <a:cs typeface="Segoe UI" panose="020B0502040204020203" pitchFamily="34" charset="0"/>
            </a:endParaRPr>
          </a:p>
        </p:txBody>
      </p:sp>
      <p:sp>
        <p:nvSpPr>
          <p:cNvPr id="4" name="Rectangle 3">
            <a:extLst>
              <a:ext uri="{FF2B5EF4-FFF2-40B4-BE49-F238E27FC236}">
                <a16:creationId xmlns:a16="http://schemas.microsoft.com/office/drawing/2014/main" id="{D55F71DD-95AA-31C6-D200-911852C91E98}"/>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F83327D-F057-B785-02A4-DB402D9FA1DA}"/>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7788966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18</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What is FAOS?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Body Text 22"/>
          <p:cNvSpPr/>
          <p:nvPr/>
        </p:nvSpPr>
        <p:spPr>
          <a:xfrm>
            <a:off x="500000" y="1450000"/>
            <a:ext cx="11192000" cy="650000"/>
          </a:xfrm>
          <a:prstGeom prst="rect">
            <a:avLst/>
          </a:prstGeom>
          <a:noFill/>
          <a:ln>
            <a:noFill/>
          </a:ln>
        </p:spPr>
        <p:txBody>
          <a:bodyPr wrap="square"/>
          <a:lstStyle/>
          <a:p>
            <a:pPr>
              <a:lnSpc>
                <a:spcPct val="150000"/>
              </a:lnSpc>
              <a:spcAft>
                <a:spcPts val="600"/>
              </a:spcAft>
              <a:buNone/>
            </a:pPr>
            <a:r>
              <a:rPr lang="en-GB" sz="1400">
                <a:solidFill>
                  <a:srgbClr val="333333"/>
                </a:solidFill>
                <a:latin typeface="Segoe UI" panose="020B0502040204020203" pitchFamily="34" charset="0"/>
              </a:rPr>
              <a:t>FAOS (Feedback-Aware Optimisation Systems) is a closed-loop system that continuously captures feedback from AI usage, evaluates it against safety and performance criteria, and uses it to optimise models, agents, and system behaviour over time.</a:t>
            </a:r>
          </a:p>
        </p:txBody>
      </p:sp>
      <p:sp>
        <p:nvSpPr>
          <p:cNvPr id="30" name="Panel BG 30"/>
          <p:cNvSpPr/>
          <p:nvPr/>
        </p:nvSpPr>
        <p:spPr>
          <a:xfrm>
            <a:off x="500000" y="2400000"/>
            <a:ext cx="5346000" cy="2400000"/>
          </a:xfrm>
          <a:prstGeom prst="roundRect">
            <a:avLst>
              <a:gd name="adj" fmla="val 3000"/>
            </a:avLst>
          </a:prstGeom>
          <a:solidFill>
            <a:srgbClr val="F8F9FA"/>
          </a:solidFill>
          <a:ln w="12700">
            <a:solidFill>
              <a:srgbClr val="E0E0E0"/>
            </a:solidFill>
          </a:ln>
        </p:spPr>
        <p:txBody>
          <a:bodyPr/>
          <a:lstStyle/>
          <a:p>
            <a:endParaRPr lang="en-GB"/>
          </a:p>
        </p:txBody>
      </p:sp>
      <p:sp>
        <p:nvSpPr>
          <p:cNvPr id="31" name="Panel Header 31"/>
          <p:cNvSpPr/>
          <p:nvPr/>
        </p:nvSpPr>
        <p:spPr>
          <a:xfrm>
            <a:off x="500000" y="2400000"/>
            <a:ext cx="5346000" cy="450000"/>
          </a:xfrm>
          <a:prstGeom prst="roundRect">
            <a:avLst>
              <a:gd name="adj" fmla="val 3000"/>
            </a:avLst>
          </a:prstGeom>
          <a:solidFill>
            <a:srgbClr val="C4314B"/>
          </a:solidFill>
          <a:ln>
            <a:noFill/>
          </a:ln>
        </p:spPr>
        <p:txBody>
          <a:bodyPr lIns="180000" anchor="ctr" anchorCtr="0"/>
          <a:lstStyle/>
          <a:p>
            <a:r>
              <a:rPr lang="en-GB" sz="1400" b="1">
                <a:solidFill>
                  <a:srgbClr val="FFFFFF"/>
                </a:solidFill>
                <a:latin typeface="Segoe UI" panose="020B0502040204020203" pitchFamily="34" charset="0"/>
              </a:rPr>
              <a:t>Without FAOS</a:t>
            </a:r>
          </a:p>
        </p:txBody>
      </p:sp>
      <p:sp>
        <p:nvSpPr>
          <p:cNvPr id="32" name="Panel Content 32"/>
          <p:cNvSpPr/>
          <p:nvPr/>
        </p:nvSpPr>
        <p:spPr>
          <a:xfrm>
            <a:off x="580000" y="2930000"/>
            <a:ext cx="5186000" cy="18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Drift goes undetected</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Agents become unpredictable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Risks accumulate silently</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Compliance becomes reactive</a:t>
            </a:r>
          </a:p>
        </p:txBody>
      </p:sp>
      <p:sp>
        <p:nvSpPr>
          <p:cNvPr id="33" name="Panel BG 33"/>
          <p:cNvSpPr/>
          <p:nvPr/>
        </p:nvSpPr>
        <p:spPr>
          <a:xfrm>
            <a:off x="6346000" y="2400000"/>
            <a:ext cx="5346000" cy="2400000"/>
          </a:xfrm>
          <a:prstGeom prst="roundRect">
            <a:avLst>
              <a:gd name="adj" fmla="val 3000"/>
            </a:avLst>
          </a:prstGeom>
          <a:solidFill>
            <a:srgbClr val="F8F9FA"/>
          </a:solidFill>
          <a:ln w="12700">
            <a:solidFill>
              <a:srgbClr val="E0E0E0"/>
            </a:solidFill>
          </a:ln>
        </p:spPr>
        <p:txBody>
          <a:bodyPr/>
          <a:lstStyle/>
          <a:p>
            <a:endParaRPr lang="en-GB"/>
          </a:p>
        </p:txBody>
      </p:sp>
      <p:sp>
        <p:nvSpPr>
          <p:cNvPr id="34" name="Panel Header 34"/>
          <p:cNvSpPr/>
          <p:nvPr/>
        </p:nvSpPr>
        <p:spPr>
          <a:xfrm>
            <a:off x="6346000" y="2400000"/>
            <a:ext cx="5346000" cy="450000"/>
          </a:xfrm>
          <a:prstGeom prst="roundRect">
            <a:avLst>
              <a:gd name="adj" fmla="val 3000"/>
            </a:avLst>
          </a:prstGeom>
          <a:solidFill>
            <a:srgbClr val="107C10"/>
          </a:solidFill>
          <a:ln>
            <a:noFill/>
          </a:ln>
        </p:spPr>
        <p:txBody>
          <a:bodyPr lIns="180000" anchor="ctr" anchorCtr="0"/>
          <a:lstStyle/>
          <a:p>
            <a:r>
              <a:rPr lang="en-GB" sz="1400" b="1">
                <a:solidFill>
                  <a:srgbClr val="FFFFFF"/>
                </a:solidFill>
                <a:latin typeface="Segoe UI" panose="020B0502040204020203" pitchFamily="34" charset="0"/>
              </a:rPr>
              <a:t>With FAOS</a:t>
            </a:r>
          </a:p>
        </p:txBody>
      </p:sp>
      <p:sp>
        <p:nvSpPr>
          <p:cNvPr id="35" name="Panel Content 35"/>
          <p:cNvSpPr/>
          <p:nvPr/>
        </p:nvSpPr>
        <p:spPr>
          <a:xfrm>
            <a:off x="6426000" y="2930000"/>
            <a:ext cx="5186000" cy="18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Continuous improvement</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Early risk detection</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Adaptive governance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Scalable trust</a:t>
            </a:r>
          </a:p>
        </p:txBody>
      </p:sp>
      <p:sp>
        <p:nvSpPr>
          <p:cNvPr id="36" name="Callout 36"/>
          <p:cNvSpPr/>
          <p:nvPr/>
        </p:nvSpPr>
        <p:spPr>
          <a:xfrm>
            <a:off x="500000" y="5000000"/>
            <a:ext cx="11192000" cy="7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FAOS Core Loop: </a:t>
            </a:r>
            <a:r>
              <a:rPr lang="en-GB" sz="1200" i="1">
                <a:solidFill>
                  <a:srgbClr val="333333"/>
                </a:solidFill>
                <a:latin typeface="Segoe UI" panose="020B0502040204020203" pitchFamily="34" charset="0"/>
              </a:rPr>
              <a:t>User Interaction → Feedback → Evaluation → Optimisation → Re-deploy (continuous cycle)</a:t>
            </a:r>
          </a:p>
        </p:txBody>
      </p:sp>
    </p:spTree>
    <p:extLst>
      <p:ext uri="{BB962C8B-B14F-4D97-AF65-F5344CB8AC3E}">
        <p14:creationId xmlns:p14="http://schemas.microsoft.com/office/powerpoint/2010/main" val="600000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19</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FAOS Components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30" name="Panel BG 30"/>
          <p:cNvSpPr/>
          <p:nvPr/>
        </p:nvSpPr>
        <p:spPr>
          <a:xfrm>
            <a:off x="500000" y="14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1" name="Panel Header 31"/>
          <p:cNvSpPr/>
          <p:nvPr/>
        </p:nvSpPr>
        <p:spPr>
          <a:xfrm>
            <a:off x="500000" y="1450000"/>
            <a:ext cx="5346000" cy="450000"/>
          </a:xfrm>
          <a:prstGeom prst="roundRect">
            <a:avLst>
              <a:gd name="adj" fmla="val 3000"/>
            </a:avLst>
          </a:prstGeom>
          <a:solidFill>
            <a:srgbClr val="2B579A"/>
          </a:solidFill>
          <a:ln>
            <a:noFill/>
          </a:ln>
        </p:spPr>
        <p:txBody>
          <a:bodyPr lIns="180000" anchor="ctr" anchorCtr="0"/>
          <a:lstStyle/>
          <a:p>
            <a:r>
              <a:rPr lang="en-GB" sz="1400" b="1">
                <a:solidFill>
                  <a:srgbClr val="FFFFFF"/>
                </a:solidFill>
                <a:latin typeface="Segoe UI" panose="020B0502040204020203" pitchFamily="34" charset="0"/>
              </a:rPr>
              <a:t>1. Feedback Capture Layer</a:t>
            </a:r>
          </a:p>
        </p:txBody>
      </p:sp>
      <p:sp>
        <p:nvSpPr>
          <p:cNvPr id="32" name="Panel Content 32"/>
          <p:cNvSpPr/>
          <p:nvPr/>
        </p:nvSpPr>
        <p:spPr>
          <a:xfrm>
            <a:off x="580000" y="1980000"/>
            <a:ext cx="5186000" cy="16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User feedback (explicit ratings, corrections)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System logs and telemetry (implicit signals)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Agent actions and decisions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Errors, escalations, and anomalies</a:t>
            </a:r>
          </a:p>
        </p:txBody>
      </p:sp>
      <p:sp>
        <p:nvSpPr>
          <p:cNvPr id="33" name="Panel BG 33"/>
          <p:cNvSpPr/>
          <p:nvPr/>
        </p:nvSpPr>
        <p:spPr>
          <a:xfrm>
            <a:off x="6346000" y="14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4" name="Panel Header 34"/>
          <p:cNvSpPr/>
          <p:nvPr/>
        </p:nvSpPr>
        <p:spPr>
          <a:xfrm>
            <a:off x="6346000" y="1450000"/>
            <a:ext cx="5346000" cy="450000"/>
          </a:xfrm>
          <a:prstGeom prst="roundRect">
            <a:avLst>
              <a:gd name="adj" fmla="val 3000"/>
            </a:avLst>
          </a:prstGeom>
          <a:solidFill>
            <a:srgbClr val="243A5E"/>
          </a:solidFill>
          <a:ln>
            <a:noFill/>
          </a:ln>
        </p:spPr>
        <p:txBody>
          <a:bodyPr lIns="180000" anchor="ctr" anchorCtr="0"/>
          <a:lstStyle/>
          <a:p>
            <a:r>
              <a:rPr lang="en-GB" sz="1400" b="1">
                <a:solidFill>
                  <a:srgbClr val="FFFFFF"/>
                </a:solidFill>
                <a:latin typeface="Segoe UI" panose="020B0502040204020203" pitchFamily="34" charset="0"/>
              </a:rPr>
              <a:t>2. Evaluation Engine</a:t>
            </a:r>
          </a:p>
        </p:txBody>
      </p:sp>
      <p:sp>
        <p:nvSpPr>
          <p:cNvPr id="35" name="Panel Content 35"/>
          <p:cNvSpPr/>
          <p:nvPr/>
        </p:nvSpPr>
        <p:spPr>
          <a:xfrm>
            <a:off x="6426000" y="1980000"/>
            <a:ext cx="5186000" cy="16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Safety thresholds (RAI principles)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Performance metrics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Behaviour rules (agent intent adherence)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Compliance requirements</a:t>
            </a:r>
          </a:p>
        </p:txBody>
      </p:sp>
      <p:sp>
        <p:nvSpPr>
          <p:cNvPr id="36" name="Panel BG 36"/>
          <p:cNvSpPr/>
          <p:nvPr/>
        </p:nvSpPr>
        <p:spPr>
          <a:xfrm>
            <a:off x="500000" y="39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37" name="Panel Header 37"/>
          <p:cNvSpPr/>
          <p:nvPr/>
        </p:nvSpPr>
        <p:spPr>
          <a:xfrm>
            <a:off x="500000" y="3950000"/>
            <a:ext cx="5346000" cy="450000"/>
          </a:xfrm>
          <a:prstGeom prst="roundRect">
            <a:avLst>
              <a:gd name="adj" fmla="val 3000"/>
            </a:avLst>
          </a:prstGeom>
          <a:solidFill>
            <a:srgbClr val="D83B01"/>
          </a:solidFill>
          <a:ln>
            <a:noFill/>
          </a:ln>
        </p:spPr>
        <p:txBody>
          <a:bodyPr lIns="180000" anchor="ctr" anchorCtr="0"/>
          <a:lstStyle/>
          <a:p>
            <a:r>
              <a:rPr lang="en-GB" sz="1400" b="1">
                <a:solidFill>
                  <a:srgbClr val="FFFFFF"/>
                </a:solidFill>
                <a:latin typeface="Segoe UI" panose="020B0502040204020203" pitchFamily="34" charset="0"/>
              </a:rPr>
              <a:t>3. Optimisation Layer</a:t>
            </a:r>
          </a:p>
        </p:txBody>
      </p:sp>
      <p:sp>
        <p:nvSpPr>
          <p:cNvPr id="38" name="Panel Content 38"/>
          <p:cNvSpPr/>
          <p:nvPr/>
        </p:nvSpPr>
        <p:spPr>
          <a:xfrm>
            <a:off x="580000" y="4480000"/>
            <a:ext cx="5186000" cy="16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Prompts and grounding logic</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Agent workflows and tool usage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Model configurations (fine-tuning / routing)</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Guardrails and policies</a:t>
            </a:r>
          </a:p>
        </p:txBody>
      </p:sp>
      <p:sp>
        <p:nvSpPr>
          <p:cNvPr id="39" name="Panel BG 39"/>
          <p:cNvSpPr/>
          <p:nvPr/>
        </p:nvSpPr>
        <p:spPr>
          <a:xfrm>
            <a:off x="6346000" y="3950000"/>
            <a:ext cx="5346000" cy="2200000"/>
          </a:xfrm>
          <a:prstGeom prst="roundRect">
            <a:avLst>
              <a:gd name="adj" fmla="val 3000"/>
            </a:avLst>
          </a:prstGeom>
          <a:solidFill>
            <a:srgbClr val="F8F9FA"/>
          </a:solidFill>
          <a:ln w="12700">
            <a:solidFill>
              <a:srgbClr val="E0E0E0"/>
            </a:solidFill>
          </a:ln>
        </p:spPr>
        <p:txBody>
          <a:bodyPr/>
          <a:lstStyle/>
          <a:p>
            <a:endParaRPr lang="en-GB"/>
          </a:p>
        </p:txBody>
      </p:sp>
      <p:sp>
        <p:nvSpPr>
          <p:cNvPr id="40" name="Panel Header 40"/>
          <p:cNvSpPr/>
          <p:nvPr/>
        </p:nvSpPr>
        <p:spPr>
          <a:xfrm>
            <a:off x="6346000" y="3950000"/>
            <a:ext cx="5346000" cy="450000"/>
          </a:xfrm>
          <a:prstGeom prst="roundRect">
            <a:avLst>
              <a:gd name="adj" fmla="val 3000"/>
            </a:avLst>
          </a:prstGeom>
          <a:solidFill>
            <a:srgbClr val="5C2D91"/>
          </a:solidFill>
          <a:ln>
            <a:noFill/>
          </a:ln>
        </p:spPr>
        <p:txBody>
          <a:bodyPr lIns="180000" anchor="ctr" anchorCtr="0"/>
          <a:lstStyle/>
          <a:p>
            <a:r>
              <a:rPr lang="en-GB" sz="1400" b="1">
                <a:solidFill>
                  <a:srgbClr val="FFFFFF"/>
                </a:solidFill>
                <a:latin typeface="Segoe UI" panose="020B0502040204020203" pitchFamily="34" charset="0"/>
              </a:rPr>
              <a:t>4. Governance Control</a:t>
            </a:r>
          </a:p>
        </p:txBody>
      </p:sp>
      <p:sp>
        <p:nvSpPr>
          <p:cNvPr id="41" name="Panel Content 41"/>
          <p:cNvSpPr/>
          <p:nvPr/>
        </p:nvSpPr>
        <p:spPr>
          <a:xfrm>
            <a:off x="6426000" y="4480000"/>
            <a:ext cx="5186000" cy="16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Changes are approved before re-deploy</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Risk thresholds are enforced</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Auditability of improvements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Continuous monitoring enabled</a:t>
            </a:r>
          </a:p>
        </p:txBody>
      </p:sp>
    </p:spTree>
    <p:extLst>
      <p:ext uri="{BB962C8B-B14F-4D97-AF65-F5344CB8AC3E}">
        <p14:creationId xmlns:p14="http://schemas.microsoft.com/office/powerpoint/2010/main" val="600000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20</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FAOS Across MLOps + AgentOps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Flow 22"/>
          <p:cNvSpPr/>
          <p:nvPr/>
        </p:nvSpPr>
        <p:spPr>
          <a:xfrm>
            <a:off x="500000" y="1400000"/>
            <a:ext cx="1650000" cy="380000"/>
          </a:xfrm>
          <a:prstGeom prst="roundRect">
            <a:avLst>
              <a:gd name="adj" fmla="val 16667"/>
            </a:avLst>
          </a:prstGeom>
          <a:solidFill>
            <a:srgbClr val="2B579A"/>
          </a:solidFill>
          <a:ln>
            <a:noFill/>
          </a:ln>
        </p:spPr>
        <p:txBody>
          <a:bodyPr anchor="ctr" anchorCtr="1"/>
          <a:lstStyle/>
          <a:p>
            <a:pPr algn="ctr"/>
            <a:r>
              <a:rPr lang="en-GB" sz="1000" b="1">
                <a:solidFill>
                  <a:srgbClr val="FFFFFF"/>
                </a:solidFill>
                <a:latin typeface="Segoe UI" panose="020B0502040204020203" pitchFamily="34" charset="0"/>
              </a:rPr>
              <a:t>DEPLOY</a:t>
            </a:r>
          </a:p>
        </p:txBody>
      </p:sp>
      <p:sp>
        <p:nvSpPr>
          <p:cNvPr id="23" name="Flow 23"/>
          <p:cNvSpPr/>
          <p:nvPr/>
        </p:nvSpPr>
        <p:spPr>
          <a:xfrm>
            <a:off x="2330000" y="1400000"/>
            <a:ext cx="1650000" cy="380000"/>
          </a:xfrm>
          <a:prstGeom prst="roundRect">
            <a:avLst>
              <a:gd name="adj" fmla="val 16667"/>
            </a:avLst>
          </a:prstGeom>
          <a:solidFill>
            <a:srgbClr val="2B579A"/>
          </a:solidFill>
          <a:ln>
            <a:noFill/>
          </a:ln>
        </p:spPr>
        <p:txBody>
          <a:bodyPr anchor="ctr" anchorCtr="1"/>
          <a:lstStyle/>
          <a:p>
            <a:pPr algn="ctr"/>
            <a:r>
              <a:rPr lang="en-GB" sz="1000" b="1">
                <a:solidFill>
                  <a:srgbClr val="FFFFFF"/>
                </a:solidFill>
                <a:latin typeface="Segoe UI" panose="020B0502040204020203" pitchFamily="34" charset="0"/>
              </a:rPr>
              <a:t>MONITOR</a:t>
            </a:r>
          </a:p>
        </p:txBody>
      </p:sp>
      <p:sp>
        <p:nvSpPr>
          <p:cNvPr id="24" name="Flow 24"/>
          <p:cNvSpPr/>
          <p:nvPr/>
        </p:nvSpPr>
        <p:spPr>
          <a:xfrm>
            <a:off x="4160000" y="1400000"/>
            <a:ext cx="1650000" cy="380000"/>
          </a:xfrm>
          <a:prstGeom prst="roundRect">
            <a:avLst>
              <a:gd name="adj" fmla="val 16667"/>
            </a:avLst>
          </a:prstGeom>
          <a:solidFill>
            <a:srgbClr val="FFB900"/>
          </a:solidFill>
          <a:ln>
            <a:noFill/>
          </a:ln>
        </p:spPr>
        <p:txBody>
          <a:bodyPr anchor="ctr" anchorCtr="1"/>
          <a:lstStyle/>
          <a:p>
            <a:pPr algn="ctr"/>
            <a:r>
              <a:rPr lang="en-GB" sz="1000" b="1">
                <a:solidFill>
                  <a:srgbClr val="243A5E"/>
                </a:solidFill>
                <a:latin typeface="Segoe UI" panose="020B0502040204020203" pitchFamily="34" charset="0"/>
              </a:rPr>
              <a:t>FEEDBACK</a:t>
            </a:r>
          </a:p>
        </p:txBody>
      </p:sp>
      <p:sp>
        <p:nvSpPr>
          <p:cNvPr id="25" name="Flow 25"/>
          <p:cNvSpPr/>
          <p:nvPr/>
        </p:nvSpPr>
        <p:spPr>
          <a:xfrm>
            <a:off x="5990000" y="1400000"/>
            <a:ext cx="1650000" cy="380000"/>
          </a:xfrm>
          <a:prstGeom prst="roundRect">
            <a:avLst>
              <a:gd name="adj" fmla="val 16667"/>
            </a:avLst>
          </a:prstGeom>
          <a:solidFill>
            <a:srgbClr val="FFB900"/>
          </a:solidFill>
          <a:ln>
            <a:noFill/>
          </a:ln>
        </p:spPr>
        <p:txBody>
          <a:bodyPr anchor="ctr" anchorCtr="1"/>
          <a:lstStyle/>
          <a:p>
            <a:pPr algn="ctr"/>
            <a:r>
              <a:rPr lang="en-GB" sz="1000" b="1">
                <a:solidFill>
                  <a:srgbClr val="243A5E"/>
                </a:solidFill>
                <a:latin typeface="Segoe UI" panose="020B0502040204020203" pitchFamily="34" charset="0"/>
              </a:rPr>
              <a:t>EVALUATE</a:t>
            </a:r>
          </a:p>
        </p:txBody>
      </p:sp>
      <p:sp>
        <p:nvSpPr>
          <p:cNvPr id="26" name="Flow 26"/>
          <p:cNvSpPr/>
          <p:nvPr/>
        </p:nvSpPr>
        <p:spPr>
          <a:xfrm>
            <a:off x="7820000" y="1400000"/>
            <a:ext cx="1650000" cy="380000"/>
          </a:xfrm>
          <a:prstGeom prst="roundRect">
            <a:avLst>
              <a:gd name="adj" fmla="val 16667"/>
            </a:avLst>
          </a:prstGeom>
          <a:solidFill>
            <a:srgbClr val="FFB900"/>
          </a:solidFill>
          <a:ln>
            <a:noFill/>
          </a:ln>
        </p:spPr>
        <p:txBody>
          <a:bodyPr anchor="ctr" anchorCtr="1"/>
          <a:lstStyle/>
          <a:p>
            <a:pPr algn="ctr"/>
            <a:r>
              <a:rPr lang="en-GB" sz="1000" b="1">
                <a:solidFill>
                  <a:srgbClr val="243A5E"/>
                </a:solidFill>
                <a:latin typeface="Segoe UI" panose="020B0502040204020203" pitchFamily="34" charset="0"/>
              </a:rPr>
              <a:t>OPTIMISE</a:t>
            </a:r>
          </a:p>
        </p:txBody>
      </p:sp>
      <p:sp>
        <p:nvSpPr>
          <p:cNvPr id="27" name="Flow 27"/>
          <p:cNvSpPr/>
          <p:nvPr/>
        </p:nvSpPr>
        <p:spPr>
          <a:xfrm>
            <a:off x="9650000" y="1400000"/>
            <a:ext cx="1650000" cy="380000"/>
          </a:xfrm>
          <a:prstGeom prst="roundRect">
            <a:avLst>
              <a:gd name="adj" fmla="val 16667"/>
            </a:avLst>
          </a:prstGeom>
          <a:solidFill>
            <a:srgbClr val="2B579A"/>
          </a:solidFill>
          <a:ln>
            <a:noFill/>
          </a:ln>
        </p:spPr>
        <p:txBody>
          <a:bodyPr anchor="ctr" anchorCtr="1"/>
          <a:lstStyle/>
          <a:p>
            <a:pPr algn="ctr"/>
            <a:r>
              <a:rPr lang="en-GB" sz="1000" b="1">
                <a:solidFill>
                  <a:srgbClr val="FFFFFF"/>
                </a:solidFill>
                <a:latin typeface="Segoe UI" panose="020B0502040204020203" pitchFamily="34" charset="0"/>
              </a:rPr>
              <a:t>RE-PROMOTE</a:t>
            </a:r>
          </a:p>
        </p:txBody>
      </p:sp>
      <p:sp>
        <p:nvSpPr>
          <p:cNvPr id="28" name="Body Text 28"/>
          <p:cNvSpPr/>
          <p:nvPr/>
        </p:nvSpPr>
        <p:spPr>
          <a:xfrm>
            <a:off x="500000" y="2000000"/>
            <a:ext cx="11192000" cy="300000"/>
          </a:xfrm>
          <a:prstGeom prst="rect">
            <a:avLst/>
          </a:prstGeom>
          <a:noFill/>
          <a:ln>
            <a:noFill/>
          </a:ln>
        </p:spPr>
        <p:txBody>
          <a:bodyPr wrap="square"/>
          <a:lstStyle/>
          <a:p>
            <a:pPr>
              <a:lnSpc>
                <a:spcPct val="150000"/>
              </a:lnSpc>
              <a:spcAft>
                <a:spcPts val="600"/>
              </a:spcAft>
              <a:buNone/>
            </a:pPr>
            <a:r>
              <a:rPr lang="en-GB" sz="1200">
                <a:solidFill>
                  <a:srgbClr val="333333"/>
                </a:solidFill>
                <a:latin typeface="Segoe UI" panose="020B0502040204020203" pitchFamily="34" charset="0"/>
              </a:rPr>
              <a:t>FAOS extends evaluation-driven promotion into production</a:t>
            </a:r>
          </a:p>
        </p:txBody>
      </p:sp>
      <p:sp>
        <p:nvSpPr>
          <p:cNvPr id="29" name="Label 29"/>
          <p:cNvSpPr/>
          <p:nvPr/>
        </p:nvSpPr>
        <p:spPr>
          <a:xfrm>
            <a:off x="500000" y="2350000"/>
            <a:ext cx="5346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FAOS Role by Layer</a:t>
            </a:r>
          </a:p>
        </p:txBody>
      </p:sp>
      <p:graphicFrame>
        <p:nvGraphicFramePr>
          <p:cNvPr id="4" name="Table 4">
            <a:extLst>
              <a:ext uri="{FF2B5EF4-FFF2-40B4-BE49-F238E27FC236}">
                <a16:creationId xmlns:a16="http://schemas.microsoft.com/office/drawing/2014/main" id="{AAAA1111-1111-1111-1111-111111111111}"/>
              </a:ext>
            </a:extLst>
          </p:cNvPr>
          <p:cNvGraphicFramePr>
            <a:graphicFrameLocks noGrp="1"/>
          </p:cNvGraphicFramePr>
          <p:nvPr>
            <p:extLst>
              <p:ext uri="{D42A27DB-BD31-4B8C-83A1-F6EECF244321}">
                <p14:modId xmlns:p14="http://schemas.microsoft.com/office/powerpoint/2010/main" val="1280605526"/>
              </p:ext>
            </p:extLst>
          </p:nvPr>
        </p:nvGraphicFramePr>
        <p:xfrm>
          <a:off x="500000" y="2700000"/>
          <a:ext cx="11192000" cy="1900000"/>
        </p:xfrm>
        <a:graphic>
          <a:graphicData uri="http://schemas.openxmlformats.org/drawingml/2006/table">
            <a:tbl>
              <a:tblPr/>
              <a:tblGrid>
                <a:gridCol w="3000000">
                  <a:extLst>
                    <a:ext uri="{9D8B030D-6E8A-4147-A177-3AD203B41FA5}">
                      <a16:colId xmlns:a16="http://schemas.microsoft.com/office/drawing/2014/main" val="910000000"/>
                    </a:ext>
                  </a:extLst>
                </a:gridCol>
                <a:gridCol w="8192000">
                  <a:extLst>
                    <a:ext uri="{9D8B030D-6E8A-4147-A177-3AD203B41FA5}">
                      <a16:colId xmlns:a16="http://schemas.microsoft.com/office/drawing/2014/main" val="910000001"/>
                    </a:ext>
                  </a:extLst>
                </a:gridCol>
              </a:tblGrid>
              <a:tr h="380000">
                <a:tc>
                  <a:txBody>
                    <a:bodyPr/>
                    <a:lstStyle/>
                    <a:p>
                      <a:pPr>
                        <a:buNone/>
                      </a:pPr>
                      <a:r>
                        <a:rPr lang="en-GB" sz="1100" b="1">
                          <a:solidFill>
                            <a:srgbClr val="FFFFFF"/>
                          </a:solidFill>
                          <a:latin typeface="Segoe UI" panose="020B0502040204020203" pitchFamily="34" charset="0"/>
                        </a:rPr>
                        <a:t>Layer</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FAOS Role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910000010"/>
                  </a:ext>
                </a:extLst>
              </a:tr>
              <a:tr h="380000">
                <a:tc>
                  <a:txBody>
                    <a:bodyPr/>
                    <a:lstStyle/>
                    <a:p>
                      <a:pPr>
                        <a:buNone/>
                      </a:pPr>
                      <a:r>
                        <a:rPr lang="en-GB" sz="1000" b="1">
                          <a:solidFill>
                            <a:srgbClr val="243A5E"/>
                          </a:solidFill>
                          <a:latin typeface="Segoe UI" panose="020B0502040204020203" pitchFamily="34" charset="0"/>
                        </a:rPr>
                        <a:t>Model (MLOps)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Improve accuracy, reduce bias, manage drift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910000011"/>
                  </a:ext>
                </a:extLst>
              </a:tr>
              <a:tr h="380000">
                <a:tc>
                  <a:txBody>
                    <a:bodyPr/>
                    <a:lstStyle/>
                    <a:p>
                      <a:pPr>
                        <a:buNone/>
                      </a:pPr>
                      <a:r>
                        <a:rPr lang="en-GB" sz="1000" b="1">
                          <a:solidFill>
                            <a:srgbClr val="243A5E"/>
                          </a:solidFill>
                          <a:latin typeface="Segoe UI" panose="020B0502040204020203" pitchFamily="34" charset="0"/>
                        </a:rPr>
                        <a:t>Agent (AgentOps)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Optimise behaviour, tool execution, decisions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910000012"/>
                  </a:ext>
                </a:extLst>
              </a:tr>
              <a:tr h="380000">
                <a:tc>
                  <a:txBody>
                    <a:bodyPr/>
                    <a:lstStyle/>
                    <a:p>
                      <a:pPr>
                        <a:buNone/>
                      </a:pPr>
                      <a:r>
                        <a:rPr lang="en-GB" sz="1000" b="1">
                          <a:solidFill>
                            <a:srgbClr val="243A5E"/>
                          </a:solidFill>
                          <a:latin typeface="Segoe UI" panose="020B0502040204020203" pitchFamily="34" charset="0"/>
                        </a:rPr>
                        <a:t>Data</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Detect leakage, update policies, refine governance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910000013"/>
                  </a:ext>
                </a:extLst>
              </a:tr>
              <a:tr h="380000">
                <a:tc>
                  <a:txBody>
                    <a:bodyPr/>
                    <a:lstStyle/>
                    <a:p>
                      <a:pPr>
                        <a:buNone/>
                      </a:pPr>
                      <a:r>
                        <a:rPr lang="en-GB" sz="1000" b="1">
                          <a:solidFill>
                            <a:srgbClr val="243A5E"/>
                          </a:solidFill>
                          <a:latin typeface="Segoe UI" panose="020B0502040204020203" pitchFamily="34" charset="0"/>
                        </a:rPr>
                        <a:t>System</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Improve end-to-end workflows and outcomes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910000014"/>
                  </a:ext>
                </a:extLst>
              </a:tr>
            </a:tbl>
          </a:graphicData>
        </a:graphic>
      </p:graphicFrame>
      <p:sp>
        <p:nvSpPr>
          <p:cNvPr id="30" name="Label 30"/>
          <p:cNvSpPr/>
          <p:nvPr/>
        </p:nvSpPr>
        <p:spPr>
          <a:xfrm>
            <a:off x="500000" y="4650000"/>
            <a:ext cx="5346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Types of Feedback</a:t>
            </a:r>
          </a:p>
        </p:txBody>
      </p:sp>
      <p:sp>
        <p:nvSpPr>
          <p:cNvPr id="40" name="Panel BG 40"/>
          <p:cNvSpPr/>
          <p:nvPr/>
        </p:nvSpPr>
        <p:spPr>
          <a:xfrm>
            <a:off x="500000" y="5000000"/>
            <a:ext cx="5346000" cy="1500000"/>
          </a:xfrm>
          <a:prstGeom prst="roundRect">
            <a:avLst>
              <a:gd name="adj" fmla="val 3000"/>
            </a:avLst>
          </a:prstGeom>
          <a:solidFill>
            <a:srgbClr val="F8F9FA"/>
          </a:solidFill>
          <a:ln w="12700">
            <a:solidFill>
              <a:srgbClr val="E0E0E0"/>
            </a:solidFill>
          </a:ln>
        </p:spPr>
        <p:txBody>
          <a:bodyPr/>
          <a:lstStyle/>
          <a:p>
            <a:endParaRPr lang="en-GB"/>
          </a:p>
        </p:txBody>
      </p:sp>
      <p:sp>
        <p:nvSpPr>
          <p:cNvPr id="41" name="Panel Header 41"/>
          <p:cNvSpPr/>
          <p:nvPr/>
        </p:nvSpPr>
        <p:spPr>
          <a:xfrm>
            <a:off x="500000" y="5000000"/>
            <a:ext cx="5346000" cy="380000"/>
          </a:xfrm>
          <a:prstGeom prst="roundRect">
            <a:avLst>
              <a:gd name="adj" fmla="val 3000"/>
            </a:avLst>
          </a:prstGeom>
          <a:solidFill>
            <a:srgbClr val="107C10"/>
          </a:solidFill>
          <a:ln>
            <a:noFill/>
          </a:ln>
        </p:spPr>
        <p:txBody>
          <a:bodyPr lIns="180000" anchor="ctr" anchorCtr="0"/>
          <a:lstStyle/>
          <a:p>
            <a:r>
              <a:rPr lang="en-GB" sz="1400" b="1">
                <a:solidFill>
                  <a:srgbClr val="FFFFFF"/>
                </a:solidFill>
                <a:latin typeface="Segoe UI" panose="020B0502040204020203" pitchFamily="34" charset="0"/>
              </a:rPr>
              <a:t>Explicit Feedback</a:t>
            </a:r>
          </a:p>
        </p:txBody>
      </p:sp>
      <p:sp>
        <p:nvSpPr>
          <p:cNvPr id="42" name="Panel Content 42"/>
          <p:cNvSpPr/>
          <p:nvPr/>
        </p:nvSpPr>
        <p:spPr>
          <a:xfrm>
            <a:off x="580000" y="5460000"/>
            <a:ext cx="5186000" cy="104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User ratings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Corrections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Reported issues</a:t>
            </a:r>
          </a:p>
        </p:txBody>
      </p:sp>
      <p:sp>
        <p:nvSpPr>
          <p:cNvPr id="43" name="Panel BG 43"/>
          <p:cNvSpPr/>
          <p:nvPr/>
        </p:nvSpPr>
        <p:spPr>
          <a:xfrm>
            <a:off x="6346000" y="5000000"/>
            <a:ext cx="5346000" cy="1500000"/>
          </a:xfrm>
          <a:prstGeom prst="roundRect">
            <a:avLst>
              <a:gd name="adj" fmla="val 3000"/>
            </a:avLst>
          </a:prstGeom>
          <a:solidFill>
            <a:srgbClr val="F8F9FA"/>
          </a:solidFill>
          <a:ln w="12700">
            <a:solidFill>
              <a:srgbClr val="E0E0E0"/>
            </a:solidFill>
          </a:ln>
        </p:spPr>
        <p:txBody>
          <a:bodyPr/>
          <a:lstStyle/>
          <a:p>
            <a:endParaRPr lang="en-GB"/>
          </a:p>
        </p:txBody>
      </p:sp>
      <p:sp>
        <p:nvSpPr>
          <p:cNvPr id="44" name="Panel Header 44"/>
          <p:cNvSpPr/>
          <p:nvPr/>
        </p:nvSpPr>
        <p:spPr>
          <a:xfrm>
            <a:off x="6346000" y="5000000"/>
            <a:ext cx="5346000" cy="380000"/>
          </a:xfrm>
          <a:prstGeom prst="roundRect">
            <a:avLst>
              <a:gd name="adj" fmla="val 3000"/>
            </a:avLst>
          </a:prstGeom>
          <a:solidFill>
            <a:srgbClr val="D83B01"/>
          </a:solidFill>
          <a:ln>
            <a:noFill/>
          </a:ln>
        </p:spPr>
        <p:txBody>
          <a:bodyPr lIns="180000" anchor="ctr" anchorCtr="0"/>
          <a:lstStyle/>
          <a:p>
            <a:r>
              <a:rPr lang="en-GB" sz="1400" b="1">
                <a:solidFill>
                  <a:srgbClr val="FFFFFF"/>
                </a:solidFill>
                <a:latin typeface="Segoe UI" panose="020B0502040204020203" pitchFamily="34" charset="0"/>
              </a:rPr>
              <a:t>Implicit Feedback</a:t>
            </a:r>
          </a:p>
        </p:txBody>
      </p:sp>
      <p:sp>
        <p:nvSpPr>
          <p:cNvPr id="45" name="Panel Content 45"/>
          <p:cNvSpPr/>
          <p:nvPr/>
        </p:nvSpPr>
        <p:spPr>
          <a:xfrm>
            <a:off x="6426000" y="5460000"/>
            <a:ext cx="5186000" cy="104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Agent failures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Escalation to human</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Repeated retries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Abandoned tasks</a:t>
            </a:r>
          </a:p>
        </p:txBody>
      </p:sp>
    </p:spTree>
    <p:extLst>
      <p:ext uri="{BB962C8B-B14F-4D97-AF65-F5344CB8AC3E}">
        <p14:creationId xmlns:p14="http://schemas.microsoft.com/office/powerpoint/2010/main" val="600000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21</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FAOS — Real Impact</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Label 22"/>
          <p:cNvSpPr/>
          <p:nvPr/>
        </p:nvSpPr>
        <p:spPr>
          <a:xfrm>
            <a:off x="500000" y="1450000"/>
            <a:ext cx="11192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What FAOS Improves</a:t>
            </a:r>
          </a:p>
        </p:txBody>
      </p:sp>
      <p:graphicFrame>
        <p:nvGraphicFramePr>
          <p:cNvPr id="4" name="Table 4">
            <a:extLst>
              <a:ext uri="{FF2B5EF4-FFF2-40B4-BE49-F238E27FC236}">
                <a16:creationId xmlns:a16="http://schemas.microsoft.com/office/drawing/2014/main" id="{EEEE5555-5555-5555-5555-555555555555}"/>
              </a:ext>
            </a:extLst>
          </p:cNvPr>
          <p:cNvGraphicFramePr>
            <a:graphicFrameLocks noGrp="1"/>
          </p:cNvGraphicFramePr>
          <p:nvPr>
            <p:extLst>
              <p:ext uri="{D42A27DB-BD31-4B8C-83A1-F6EECF244321}">
                <p14:modId xmlns:p14="http://schemas.microsoft.com/office/powerpoint/2010/main" val="1558882265"/>
              </p:ext>
            </p:extLst>
          </p:nvPr>
        </p:nvGraphicFramePr>
        <p:xfrm>
          <a:off x="500000" y="1800000"/>
          <a:ext cx="11192000" cy="2280000"/>
        </p:xfrm>
        <a:graphic>
          <a:graphicData uri="http://schemas.openxmlformats.org/drawingml/2006/table">
            <a:tbl>
              <a:tblPr/>
              <a:tblGrid>
                <a:gridCol w="2800000">
                  <a:extLst>
                    <a:ext uri="{9D8B030D-6E8A-4147-A177-3AD203B41FA5}">
                      <a16:colId xmlns:a16="http://schemas.microsoft.com/office/drawing/2014/main" val="920000000"/>
                    </a:ext>
                  </a:extLst>
                </a:gridCol>
                <a:gridCol w="4196000">
                  <a:extLst>
                    <a:ext uri="{9D8B030D-6E8A-4147-A177-3AD203B41FA5}">
                      <a16:colId xmlns:a16="http://schemas.microsoft.com/office/drawing/2014/main" val="920000001"/>
                    </a:ext>
                  </a:extLst>
                </a:gridCol>
                <a:gridCol w="4196000">
                  <a:extLst>
                    <a:ext uri="{9D8B030D-6E8A-4147-A177-3AD203B41FA5}">
                      <a16:colId xmlns:a16="http://schemas.microsoft.com/office/drawing/2014/main" val="920000002"/>
                    </a:ext>
                  </a:extLst>
                </a:gridCol>
              </a:tblGrid>
              <a:tr h="380000">
                <a:tc>
                  <a:txBody>
                    <a:bodyPr/>
                    <a:lstStyle/>
                    <a:p>
                      <a:pPr>
                        <a:buNone/>
                      </a:pPr>
                      <a:r>
                        <a:rPr lang="en-GB" sz="1100" b="1">
                          <a:solidFill>
                            <a:srgbClr val="FFFFFF"/>
                          </a:solidFill>
                          <a:latin typeface="Segoe UI" panose="020B0502040204020203" pitchFamily="34" charset="0"/>
                        </a:rPr>
                        <a:t>Area</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Without FAOS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tc>
                  <a:txBody>
                    <a:bodyPr/>
                    <a:lstStyle/>
                    <a:p>
                      <a:pPr>
                        <a:buNone/>
                      </a:pPr>
                      <a:r>
                        <a:rPr lang="en-GB" sz="1100" b="1">
                          <a:solidFill>
                            <a:srgbClr val="FFFFFF"/>
                          </a:solidFill>
                          <a:latin typeface="Segoe UI" panose="020B0502040204020203" pitchFamily="34" charset="0"/>
                        </a:rPr>
                        <a:t>With FAOS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2B579A"/>
                    </a:solidFill>
                  </a:tcPr>
                </a:tc>
                <a:extLst>
                  <a:ext uri="{0D108BD9-81ED-4DB2-BD59-A6C34878D82A}">
                    <a16:rowId xmlns:a16="http://schemas.microsoft.com/office/drawing/2014/main" val="920000010"/>
                  </a:ext>
                </a:extLst>
              </a:tr>
              <a:tr h="380000">
                <a:tc>
                  <a:txBody>
                    <a:bodyPr/>
                    <a:lstStyle/>
                    <a:p>
                      <a:pPr>
                        <a:buNone/>
                      </a:pPr>
                      <a:r>
                        <a:rPr lang="en-GB" sz="1000" b="1">
                          <a:solidFill>
                            <a:srgbClr val="243A5E"/>
                          </a:solidFill>
                          <a:latin typeface="Segoe UI" panose="020B0502040204020203" pitchFamily="34" charset="0"/>
                        </a:rPr>
                        <a:t>Model Quality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Drift goes undetected; accuracy degrades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Continuous evaluation catches regression early</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920000011"/>
                  </a:ext>
                </a:extLst>
              </a:tr>
              <a:tr h="380000">
                <a:tc>
                  <a:txBody>
                    <a:bodyPr/>
                    <a:lstStyle/>
                    <a:p>
                      <a:pPr>
                        <a:buNone/>
                      </a:pPr>
                      <a:r>
                        <a:rPr lang="en-GB" sz="1000" b="1">
                          <a:solidFill>
                            <a:srgbClr val="243A5E"/>
                          </a:solidFill>
                          <a:latin typeface="Segoe UI" panose="020B0502040204020203" pitchFamily="34" charset="0"/>
                        </a:rPr>
                        <a:t>Agent Behaviour</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Misbehaviour accumulates over time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Feedback loop corrects actions and decisions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920000012"/>
                  </a:ext>
                </a:extLst>
              </a:tr>
              <a:tr h="380000">
                <a:tc>
                  <a:txBody>
                    <a:bodyPr/>
                    <a:lstStyle/>
                    <a:p>
                      <a:pPr>
                        <a:buNone/>
                      </a:pPr>
                      <a:r>
                        <a:rPr lang="en-GB" sz="1000" b="1">
                          <a:solidFill>
                            <a:srgbClr val="243A5E"/>
                          </a:solidFill>
                          <a:latin typeface="Segoe UI" panose="020B0502040204020203" pitchFamily="34" charset="0"/>
                        </a:rPr>
                        <a:t>Data Governance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Leakage and policy gaps remain hidden</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Automated detection and policy updates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920000013"/>
                  </a:ext>
                </a:extLst>
              </a:tr>
              <a:tr h="380000">
                <a:tc>
                  <a:txBody>
                    <a:bodyPr/>
                    <a:lstStyle/>
                    <a:p>
                      <a:pPr>
                        <a:buNone/>
                      </a:pPr>
                      <a:r>
                        <a:rPr lang="en-GB" sz="1000" b="1">
                          <a:solidFill>
                            <a:srgbClr val="243A5E"/>
                          </a:solidFill>
                          <a:latin typeface="Segoe UI" panose="020B0502040204020203" pitchFamily="34" charset="0"/>
                        </a:rPr>
                        <a:t>Compliance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Reactive; discovered during audits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tc>
                  <a:txBody>
                    <a:bodyPr/>
                    <a:lstStyle/>
                    <a:p>
                      <a:pPr>
                        <a:buNone/>
                      </a:pPr>
                      <a:r>
                        <a:rPr lang="en-GB" sz="1000">
                          <a:solidFill>
                            <a:srgbClr val="333333"/>
                          </a:solidFill>
                          <a:latin typeface="Segoe UI" panose="020B0502040204020203" pitchFamily="34" charset="0"/>
                        </a:rPr>
                        <a:t>Proactive; built into the optimisation cycle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FFFFF"/>
                    </a:solidFill>
                  </a:tcPr>
                </a:tc>
                <a:extLst>
                  <a:ext uri="{0D108BD9-81ED-4DB2-BD59-A6C34878D82A}">
                    <a16:rowId xmlns:a16="http://schemas.microsoft.com/office/drawing/2014/main" val="920000014"/>
                  </a:ext>
                </a:extLst>
              </a:tr>
              <a:tr h="380000">
                <a:tc>
                  <a:txBody>
                    <a:bodyPr/>
                    <a:lstStyle/>
                    <a:p>
                      <a:pPr>
                        <a:buNone/>
                      </a:pPr>
                      <a:r>
                        <a:rPr lang="en-GB" sz="1000" b="1">
                          <a:solidFill>
                            <a:srgbClr val="243A5E"/>
                          </a:solidFill>
                          <a:latin typeface="Segoe UI" panose="020B0502040204020203" pitchFamily="34" charset="0"/>
                        </a:rPr>
                        <a:t>Trust</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Erodes as incidents surface</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tc>
                  <a:txBody>
                    <a:bodyPr/>
                    <a:lstStyle/>
                    <a:p>
                      <a:pPr>
                        <a:buNone/>
                      </a:pPr>
                      <a:r>
                        <a:rPr lang="en-GB" sz="1000">
                          <a:solidFill>
                            <a:srgbClr val="333333"/>
                          </a:solidFill>
                          <a:latin typeface="Segoe UI" panose="020B0502040204020203" pitchFamily="34" charset="0"/>
                        </a:rPr>
                        <a:t>Grows with measurable, auditable improvements</a:t>
                      </a:r>
                    </a:p>
                  </a:txBody>
                  <a:tcPr marL="72000" marR="72000" marT="36000" marB="36000" anchor="ctr">
                    <a:lnL w="6350" cap="flat" cmpd="sng" algn="ctr">
                      <a:solidFill>
                        <a:srgbClr val="D0D0D0"/>
                      </a:solidFill>
                      <a:prstDash val="solid"/>
                      <a:round/>
                    </a:lnL>
                    <a:lnR w="6350" cap="flat" cmpd="sng" algn="ctr">
                      <a:solidFill>
                        <a:srgbClr val="D0D0D0"/>
                      </a:solidFill>
                      <a:prstDash val="solid"/>
                      <a:round/>
                    </a:lnR>
                    <a:lnT w="6350" cap="flat" cmpd="sng" algn="ctr">
                      <a:solidFill>
                        <a:srgbClr val="D0D0D0"/>
                      </a:solidFill>
                      <a:prstDash val="solid"/>
                      <a:round/>
                    </a:lnT>
                    <a:lnB w="6350" cap="flat" cmpd="sng" algn="ctr">
                      <a:solidFill>
                        <a:srgbClr val="D0D0D0"/>
                      </a:solidFill>
                      <a:prstDash val="solid"/>
                      <a:round/>
                    </a:lnB>
                    <a:solidFill>
                      <a:srgbClr val="F5F9FF"/>
                    </a:solidFill>
                  </a:tcPr>
                </a:tc>
                <a:extLst>
                  <a:ext uri="{0D108BD9-81ED-4DB2-BD59-A6C34878D82A}">
                    <a16:rowId xmlns:a16="http://schemas.microsoft.com/office/drawing/2014/main" val="920000015"/>
                  </a:ext>
                </a:extLst>
              </a:tr>
            </a:tbl>
          </a:graphicData>
        </a:graphic>
      </p:graphicFrame>
      <p:sp>
        <p:nvSpPr>
          <p:cNvPr id="23" name="Label 23"/>
          <p:cNvSpPr/>
          <p:nvPr/>
        </p:nvSpPr>
        <p:spPr>
          <a:xfrm>
            <a:off x="500000" y="4200000"/>
            <a:ext cx="11192000" cy="300000"/>
          </a:xfrm>
          <a:prstGeom prst="rect">
            <a:avLst/>
          </a:prstGeom>
          <a:noFill/>
          <a:ln>
            <a:noFill/>
          </a:ln>
        </p:spPr>
        <p:txBody>
          <a:bodyPr anchor="b"/>
          <a:lstStyle/>
          <a:p>
            <a:pPr>
              <a:buNone/>
            </a:pPr>
            <a:r>
              <a:rPr lang="en-GB" sz="1300" b="1">
                <a:solidFill>
                  <a:srgbClr val="243A5E"/>
                </a:solidFill>
                <a:latin typeface="Segoe UI" panose="020B0502040204020203" pitchFamily="34" charset="0"/>
              </a:rPr>
              <a:t>Key Governance Principles</a:t>
            </a:r>
          </a:p>
        </p:txBody>
      </p:sp>
      <p:sp>
        <p:nvSpPr>
          <p:cNvPr id="30" name="Panel BG 30"/>
          <p:cNvSpPr/>
          <p:nvPr/>
        </p:nvSpPr>
        <p:spPr>
          <a:xfrm>
            <a:off x="500000" y="4550000"/>
            <a:ext cx="3530000" cy="1850000"/>
          </a:xfrm>
          <a:prstGeom prst="roundRect">
            <a:avLst>
              <a:gd name="adj" fmla="val 3000"/>
            </a:avLst>
          </a:prstGeom>
          <a:solidFill>
            <a:srgbClr val="F8F9FA"/>
          </a:solidFill>
          <a:ln w="12700">
            <a:solidFill>
              <a:srgbClr val="E0E0E0"/>
            </a:solidFill>
          </a:ln>
        </p:spPr>
        <p:txBody>
          <a:bodyPr/>
          <a:lstStyle/>
          <a:p>
            <a:endParaRPr lang="en-GB"/>
          </a:p>
        </p:txBody>
      </p:sp>
      <p:sp>
        <p:nvSpPr>
          <p:cNvPr id="31" name="Panel Header 31"/>
          <p:cNvSpPr/>
          <p:nvPr/>
        </p:nvSpPr>
        <p:spPr>
          <a:xfrm>
            <a:off x="500000" y="4550000"/>
            <a:ext cx="3530000" cy="400000"/>
          </a:xfrm>
          <a:prstGeom prst="roundRect">
            <a:avLst>
              <a:gd name="adj" fmla="val 3000"/>
            </a:avLst>
          </a:prstGeom>
          <a:solidFill>
            <a:srgbClr val="2B579A"/>
          </a:solidFill>
          <a:ln>
            <a:noFill/>
          </a:ln>
        </p:spPr>
        <p:txBody>
          <a:bodyPr lIns="180000" anchor="ctr" anchorCtr="0"/>
          <a:lstStyle/>
          <a:p>
            <a:r>
              <a:rPr lang="en-GB" sz="1400" b="1">
                <a:solidFill>
                  <a:srgbClr val="FFFFFF"/>
                </a:solidFill>
                <a:latin typeface="Segoe UI" panose="020B0502040204020203" pitchFamily="34" charset="0"/>
              </a:rPr>
              <a:t>Continuous, Not One-Time</a:t>
            </a:r>
          </a:p>
        </p:txBody>
      </p:sp>
      <p:sp>
        <p:nvSpPr>
          <p:cNvPr id="32" name="Panel Content 32"/>
          <p:cNvSpPr/>
          <p:nvPr/>
        </p:nvSpPr>
        <p:spPr>
          <a:xfrm>
            <a:off x="580000" y="5030000"/>
            <a:ext cx="3370000" cy="13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Governance is a continuous loop</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Monitoring and feedback close the loop in production</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Policies evolve with the system</a:t>
            </a:r>
          </a:p>
        </p:txBody>
      </p:sp>
      <p:sp>
        <p:nvSpPr>
          <p:cNvPr id="33" name="Panel BG 33"/>
          <p:cNvSpPr/>
          <p:nvPr/>
        </p:nvSpPr>
        <p:spPr>
          <a:xfrm>
            <a:off x="4330000" y="4550000"/>
            <a:ext cx="3530000" cy="1850000"/>
          </a:xfrm>
          <a:prstGeom prst="roundRect">
            <a:avLst>
              <a:gd name="adj" fmla="val 3000"/>
            </a:avLst>
          </a:prstGeom>
          <a:solidFill>
            <a:srgbClr val="F8F9FA"/>
          </a:solidFill>
          <a:ln w="12700">
            <a:solidFill>
              <a:srgbClr val="E0E0E0"/>
            </a:solidFill>
          </a:ln>
        </p:spPr>
        <p:txBody>
          <a:bodyPr/>
          <a:lstStyle/>
          <a:p>
            <a:endParaRPr lang="en-GB"/>
          </a:p>
        </p:txBody>
      </p:sp>
      <p:sp>
        <p:nvSpPr>
          <p:cNvPr id="34" name="Panel Header 34"/>
          <p:cNvSpPr/>
          <p:nvPr/>
        </p:nvSpPr>
        <p:spPr>
          <a:xfrm>
            <a:off x="4330000" y="4550000"/>
            <a:ext cx="3530000" cy="400000"/>
          </a:xfrm>
          <a:prstGeom prst="roundRect">
            <a:avLst>
              <a:gd name="adj" fmla="val 3000"/>
            </a:avLst>
          </a:prstGeom>
          <a:solidFill>
            <a:srgbClr val="243A5E"/>
          </a:solidFill>
          <a:ln>
            <a:noFill/>
          </a:ln>
        </p:spPr>
        <p:txBody>
          <a:bodyPr lIns="180000" anchor="ctr" anchorCtr="0"/>
          <a:lstStyle/>
          <a:p>
            <a:r>
              <a:rPr lang="en-GB" sz="1400" b="1">
                <a:solidFill>
                  <a:srgbClr val="FFFFFF"/>
                </a:solidFill>
                <a:latin typeface="Segoe UI" panose="020B0502040204020203" pitchFamily="34" charset="0"/>
              </a:rPr>
              <a:t>Runtime Enforcement</a:t>
            </a:r>
          </a:p>
        </p:txBody>
      </p:sp>
      <p:sp>
        <p:nvSpPr>
          <p:cNvPr id="35" name="Panel Content 35"/>
          <p:cNvSpPr/>
          <p:nvPr/>
        </p:nvSpPr>
        <p:spPr>
          <a:xfrm>
            <a:off x="4410000" y="5030000"/>
            <a:ext cx="3370000" cy="13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FAOS integrates with deployment gates</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Automated checks at every stage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Human-in-the-loop for high-risk decisions</a:t>
            </a:r>
          </a:p>
        </p:txBody>
      </p:sp>
      <p:sp>
        <p:nvSpPr>
          <p:cNvPr id="36" name="Panel BG 36"/>
          <p:cNvSpPr/>
          <p:nvPr/>
        </p:nvSpPr>
        <p:spPr>
          <a:xfrm>
            <a:off x="8160000" y="4550000"/>
            <a:ext cx="3530000" cy="1850000"/>
          </a:xfrm>
          <a:prstGeom prst="roundRect">
            <a:avLst>
              <a:gd name="adj" fmla="val 3000"/>
            </a:avLst>
          </a:prstGeom>
          <a:solidFill>
            <a:srgbClr val="F8F9FA"/>
          </a:solidFill>
          <a:ln w="12700">
            <a:solidFill>
              <a:srgbClr val="E0E0E0"/>
            </a:solidFill>
          </a:ln>
        </p:spPr>
        <p:txBody>
          <a:bodyPr/>
          <a:lstStyle/>
          <a:p>
            <a:endParaRPr lang="en-GB"/>
          </a:p>
        </p:txBody>
      </p:sp>
      <p:sp>
        <p:nvSpPr>
          <p:cNvPr id="37" name="Panel Header 37"/>
          <p:cNvSpPr/>
          <p:nvPr/>
        </p:nvSpPr>
        <p:spPr>
          <a:xfrm>
            <a:off x="8160000" y="4550000"/>
            <a:ext cx="3530000" cy="400000"/>
          </a:xfrm>
          <a:prstGeom prst="roundRect">
            <a:avLst>
              <a:gd name="adj" fmla="val 3000"/>
            </a:avLst>
          </a:prstGeom>
          <a:solidFill>
            <a:srgbClr val="5C2D91"/>
          </a:solidFill>
          <a:ln>
            <a:noFill/>
          </a:ln>
        </p:spPr>
        <p:txBody>
          <a:bodyPr lIns="180000" anchor="ctr" anchorCtr="0"/>
          <a:lstStyle/>
          <a:p>
            <a:r>
              <a:rPr lang="en-GB" sz="1400" b="1">
                <a:solidFill>
                  <a:srgbClr val="FFFFFF"/>
                </a:solidFill>
                <a:latin typeface="Segoe UI" panose="020B0502040204020203" pitchFamily="34" charset="0"/>
              </a:rPr>
              <a:t>Shared Accountability</a:t>
            </a:r>
          </a:p>
        </p:txBody>
      </p:sp>
      <p:sp>
        <p:nvSpPr>
          <p:cNvPr id="38" name="Panel Content 38"/>
          <p:cNvSpPr/>
          <p:nvPr/>
        </p:nvSpPr>
        <p:spPr>
          <a:xfrm>
            <a:off x="8240000" y="5030000"/>
            <a:ext cx="3370000" cy="13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Platform teams own model layer</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Product teams own agent behaviour</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Governance teams own compliance</a:t>
            </a:r>
          </a:p>
        </p:txBody>
      </p:sp>
    </p:spTree>
    <p:extLst>
      <p:ext uri="{BB962C8B-B14F-4D97-AF65-F5344CB8AC3E}">
        <p14:creationId xmlns:p14="http://schemas.microsoft.com/office/powerpoint/2010/main" val="600000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22</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LLMs Shouldn’t Rule the World…</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Subtitle"/>
          <p:cNvSpPr/>
          <p:nvPr/>
        </p:nvSpPr>
        <p:spPr>
          <a:xfrm>
            <a:off x="500000" y="1400000"/>
            <a:ext cx="11192000" cy="400000"/>
          </a:xfrm>
          <a:prstGeom prst="rect">
            <a:avLst/>
          </a:prstGeom>
          <a:noFill/>
          <a:ln>
            <a:noFill/>
          </a:ln>
        </p:spPr>
        <p:txBody>
          <a:bodyPr/>
          <a:lstStyle/>
          <a:p>
            <a:r>
              <a:rPr lang="en-GB" sz="1800" i="1">
                <a:solidFill>
                  <a:srgbClr val="666666"/>
                </a:solidFill>
                <a:latin typeface="Segoe UI" panose="020B0502040204020203" pitchFamily="34" charset="0"/>
              </a:rPr>
              <a:t>Breaking the Swiss Army Knife Paradigm</a:t>
            </a:r>
          </a:p>
        </p:txBody>
      </p:sp>
      <p:sp>
        <p:nvSpPr>
          <p:cNvPr id="23" name="Body Text 23"/>
          <p:cNvSpPr/>
          <p:nvPr/>
        </p:nvSpPr>
        <p:spPr>
          <a:xfrm>
            <a:off x="500000" y="2000000"/>
            <a:ext cx="11192000" cy="2200000"/>
          </a:xfrm>
          <a:prstGeom prst="rect">
            <a:avLst/>
          </a:prstGeom>
          <a:noFill/>
          <a:ln>
            <a:noFill/>
          </a:ln>
        </p:spPr>
        <p:txBody>
          <a:bodyPr wrap="square"/>
          <a:lstStyle/>
          <a:p>
            <a:pPr>
              <a:lnSpc>
                <a:spcPct val="150000"/>
              </a:lnSpc>
              <a:spcAft>
                <a:spcPts val="600"/>
              </a:spcAft>
              <a:buNone/>
            </a:pPr>
            <a:r>
              <a:rPr lang="en-GB" sz="1600">
                <a:solidFill>
                  <a:srgbClr val="333333"/>
                </a:solidFill>
                <a:latin typeface="Segoe UI" panose="020B0502040204020203" pitchFamily="34" charset="0"/>
              </a:rPr>
              <a:t>For structured data problems such as time-series forecasting, purpose-built models are often more practical and performant than LLMs – they’re interpretable, lightweight, and auditable.</a:t>
            </a:r>
          </a:p>
          <a:p>
            <a:pPr>
              <a:lnSpc>
                <a:spcPct val="150000"/>
              </a:lnSpc>
              <a:spcAft>
                <a:spcPts val="600"/>
              </a:spcAft>
              <a:buNone/>
            </a:pPr>
            <a:r>
              <a:rPr lang="en-GB" sz="1600">
                <a:solidFill>
                  <a:srgbClr val="333333"/>
                </a:solidFill>
                <a:latin typeface="Segoe UI" panose="020B0502040204020203" pitchFamily="34" charset="0"/>
              </a:rPr>
              <a:t>As agentic solutions get more sophisticated, integrating bespoke specialised models often becomes the competitive edge…</a:t>
            </a:r>
          </a:p>
        </p:txBody>
      </p:sp>
      <p:sp>
        <p:nvSpPr>
          <p:cNvPr id="24" name="Callout 24"/>
          <p:cNvSpPr/>
          <p:nvPr/>
        </p:nvSpPr>
        <p:spPr>
          <a:xfrm>
            <a:off x="500000" y="4500000"/>
            <a:ext cx="11192000" cy="7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Key insight: </a:t>
            </a:r>
            <a:r>
              <a:rPr lang="en-GB" sz="1200" i="1">
                <a:solidFill>
                  <a:srgbClr val="333333"/>
                </a:solidFill>
                <a:latin typeface="Segoe UI" panose="020B0502040204020203" pitchFamily="34" charset="0"/>
              </a:rPr>
              <a:t>With the rise of MCP, what if an agent could just discover your ML model and call it like any other tool?</a:t>
            </a:r>
          </a:p>
        </p:txBody>
      </p:sp>
    </p:spTree>
    <p:extLst>
      <p:ext uri="{BB962C8B-B14F-4D97-AF65-F5344CB8AC3E}">
        <p14:creationId xmlns:p14="http://schemas.microsoft.com/office/powerpoint/2010/main" val="600000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23</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Azure ML Model as MCP Server Accelerator</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pic>
        <p:nvPicPr>
          <p:cNvPr id="22" name="Flow Diagram" descr="High-level data flow for the lab">
            <a:extLst>
              <a:ext uri="{FF2B5EF4-FFF2-40B4-BE49-F238E27FC236}">
                <a16:creationId xmlns:a16="http://schemas.microsoft.com/office/drawing/2014/main" id="{94E4F09F-5ABF-AB3F-C0A0-011C473924EA}"/>
              </a:ext>
            </a:extLst>
          </p:cNvPr>
          <p:cNvPicPr>
            <a:picLocks noChangeAspect="1"/>
          </p:cNvPicPr>
          <p:nvPr/>
        </p:nvPicPr>
        <p:blipFill>
          <a:blip r:embed="rId3"/>
          <a:stretch>
            <a:fillRect/>
          </a:stretch>
        </p:blipFill>
        <p:spPr>
          <a:xfrm>
            <a:off x="500000" y="1450000"/>
            <a:ext cx="6500000" cy="3770000"/>
          </a:xfrm>
          <a:prstGeom prst="roundRect">
            <a:avLst>
              <a:gd name="adj" fmla="val 3000"/>
            </a:avLst>
          </a:prstGeom>
        </p:spPr>
      </p:pic>
      <p:sp>
        <p:nvSpPr>
          <p:cNvPr id="23" name="Caption"/>
          <p:cNvSpPr/>
          <p:nvPr/>
        </p:nvSpPr>
        <p:spPr>
          <a:xfrm>
            <a:off x="500000" y="5350000"/>
            <a:ext cx="6500000" cy="300000"/>
          </a:xfrm>
          <a:prstGeom prst="rect">
            <a:avLst/>
          </a:prstGeom>
          <a:noFill/>
          <a:ln>
            <a:noFill/>
          </a:ln>
        </p:spPr>
        <p:txBody>
          <a:bodyPr/>
          <a:lstStyle/>
          <a:p>
            <a:pPr algn="ctr"/>
            <a:r>
              <a:rPr lang="en-GB" sz="1000" i="1">
                <a:solidFill>
                  <a:srgbClr val="666666"/>
                </a:solidFill>
                <a:latin typeface="Segoe UI" panose="020B0502040204020203" pitchFamily="34" charset="0"/>
              </a:rPr>
              <a:t>Figure: High-level data flow for the lab</a:t>
            </a:r>
          </a:p>
        </p:txBody>
      </p:sp>
      <p:sp>
        <p:nvSpPr>
          <p:cNvPr id="30" name="Panel BG 30"/>
          <p:cNvSpPr/>
          <p:nvPr/>
        </p:nvSpPr>
        <p:spPr>
          <a:xfrm>
            <a:off x="7200000" y="1450000"/>
            <a:ext cx="4492000" cy="3100000"/>
          </a:xfrm>
          <a:prstGeom prst="roundRect">
            <a:avLst>
              <a:gd name="adj" fmla="val 3000"/>
            </a:avLst>
          </a:prstGeom>
          <a:solidFill>
            <a:srgbClr val="F8F9FA"/>
          </a:solidFill>
          <a:ln w="12700">
            <a:solidFill>
              <a:srgbClr val="E0E0E0"/>
            </a:solidFill>
          </a:ln>
        </p:spPr>
        <p:txBody>
          <a:bodyPr/>
          <a:lstStyle/>
          <a:p>
            <a:endParaRPr lang="en-GB"/>
          </a:p>
        </p:txBody>
      </p:sp>
      <p:sp>
        <p:nvSpPr>
          <p:cNvPr id="31" name="Panel Header 31"/>
          <p:cNvSpPr/>
          <p:nvPr/>
        </p:nvSpPr>
        <p:spPr>
          <a:xfrm>
            <a:off x="7200000" y="1450000"/>
            <a:ext cx="4492000" cy="450000"/>
          </a:xfrm>
          <a:prstGeom prst="roundRect">
            <a:avLst>
              <a:gd name="adj" fmla="val 3000"/>
            </a:avLst>
          </a:prstGeom>
          <a:solidFill>
            <a:srgbClr val="2B579A"/>
          </a:solidFill>
          <a:ln>
            <a:noFill/>
          </a:ln>
        </p:spPr>
        <p:txBody>
          <a:bodyPr lIns="180000" anchor="ctr" anchorCtr="0"/>
          <a:lstStyle/>
          <a:p>
            <a:r>
              <a:rPr lang="en-GB" sz="1400" b="1">
                <a:solidFill>
                  <a:srgbClr val="FFFFFF"/>
                </a:solidFill>
                <a:latin typeface="Segoe UI" panose="020B0502040204020203" pitchFamily="34" charset="0"/>
              </a:rPr>
              <a:t>What This Demonstrates</a:t>
            </a:r>
          </a:p>
        </p:txBody>
      </p:sp>
      <p:sp>
        <p:nvSpPr>
          <p:cNvPr id="32" name="Panel Content 32"/>
          <p:cNvSpPr/>
          <p:nvPr/>
        </p:nvSpPr>
        <p:spPr>
          <a:xfrm>
            <a:off x="7280000" y="1980000"/>
            <a:ext cx="4332000" cy="2570000"/>
          </a:xfrm>
          <a:prstGeom prst="rect">
            <a:avLst/>
          </a:prstGeom>
          <a:noFill/>
          <a:ln>
            <a:noFill/>
          </a:ln>
        </p:spPr>
        <p:txBody>
          <a:bodyPr wrap="square"/>
          <a:lstStyle/>
          <a:p>
            <a:pPr marL="171450" indent="-171450">
              <a:lnSpc>
                <a:spcPct val="160000"/>
              </a:lnSpc>
              <a:buFont typeface="Arial" pitchFamily="34" charset="0"/>
              <a:buChar char="•"/>
            </a:pPr>
            <a:r>
              <a:rPr lang="en-GB" sz="1100">
                <a:solidFill>
                  <a:srgbClr val="333333"/>
                </a:solidFill>
                <a:latin typeface="Segoe UI" panose="020B0502040204020203" pitchFamily="34" charset="0"/>
              </a:rPr>
              <a:t>Deploy a pre-trained sklearn forecasting model to Azure ML managed endpoint</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Expose as REST API through Azure API Management</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Wrap as an MCP server for cloud-based agents in Azure AI Foundry</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Built-in LLM logging for token usage and tool calling</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Retry policies for resilience</a:t>
            </a:r>
          </a:p>
          <a:p>
            <a:pPr marL="171450" indent="-171450">
              <a:lnSpc>
                <a:spcPct val="160000"/>
              </a:lnSpc>
              <a:buFont typeface="Arial" pitchFamily="34" charset="0"/>
              <a:buChar char="•"/>
            </a:pPr>
            <a:r>
              <a:rPr lang="en-GB" sz="1100">
                <a:solidFill>
                  <a:srgbClr val="333333"/>
                </a:solidFill>
                <a:latin typeface="Segoe UI" panose="020B0502040204020203" pitchFamily="34" charset="0"/>
              </a:rPr>
              <a:t>Managed identity authentication</a:t>
            </a:r>
          </a:p>
        </p:txBody>
      </p:sp>
      <p:sp>
        <p:nvSpPr>
          <p:cNvPr id="33" name="Callout 33"/>
          <p:cNvSpPr/>
          <p:nvPr/>
        </p:nvSpPr>
        <p:spPr>
          <a:xfrm>
            <a:off x="7200000" y="4750000"/>
            <a:ext cx="4492000" cy="5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Reference: </a:t>
            </a:r>
            <a:r>
              <a:rPr lang="en-GB" sz="1200" i="1">
                <a:solidFill>
                  <a:srgbClr val="333333"/>
                </a:solidFill>
                <a:latin typeface="Segoe UI" panose="020B0502040204020203" pitchFamily="34" charset="0"/>
              </a:rPr>
              <a:t>AI-Gateway/labs/azure-ml-models (GitHub)</a:t>
            </a:r>
          </a:p>
        </p:txBody>
      </p:sp>
    </p:spTree>
    <p:extLst>
      <p:ext uri="{BB962C8B-B14F-4D97-AF65-F5344CB8AC3E}">
        <p14:creationId xmlns:p14="http://schemas.microsoft.com/office/powerpoint/2010/main" val="600000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5EC3DE60-A599-216C-FFB9-170B4CFAF6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BE3153-72EB-2B51-4FB0-9DBC101C5484}"/>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kumimoji="0" lang="en-US" sz="3300" b="1" i="0" u="none" strike="noStrike" kern="1200" cap="none" spc="0" normalizeH="0" baseline="0" noProof="0" dirty="0">
                <a:ln>
                  <a:noFill/>
                </a:ln>
                <a:solidFill>
                  <a:srgbClr val="FFFFFF"/>
                </a:solidFill>
                <a:effectLst/>
                <a:uLnTx/>
                <a:uFillTx/>
                <a:latin typeface="Segoe UI Semibold"/>
                <a:ea typeface="+mn-ea"/>
                <a:cs typeface="+mn-cs"/>
              </a:rPr>
              <a:t>5</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9387693C-A5D4-9ED6-C397-32AE220DBC14}"/>
              </a:ext>
            </a:extLst>
          </p:cNvPr>
          <p:cNvSpPr txBox="1"/>
          <p:nvPr/>
        </p:nvSpPr>
        <p:spPr>
          <a:xfrm>
            <a:off x="731520" y="4480560"/>
            <a:ext cx="9144000" cy="640080"/>
          </a:xfrm>
          <a:prstGeom prst="rect">
            <a:avLst/>
          </a:prstGeom>
          <a:noFill/>
        </p:spPr>
        <p:txBody>
          <a:bodyPr wrap="square" anchor="t"/>
          <a:lstStyle/>
          <a:p>
            <a:r>
              <a:rPr lang="en-US" b="1" dirty="0" err="1">
                <a:solidFill>
                  <a:srgbClr val="FFFFFF"/>
                </a:solidFill>
              </a:rPr>
              <a:t>AgenticOps</a:t>
            </a:r>
            <a:r>
              <a:rPr lang="en-US" b="1" dirty="0">
                <a:solidFill>
                  <a:srgbClr val="FFFFFF"/>
                </a:solidFill>
              </a:rPr>
              <a:t> on Azure - Running Agents Like Production Systems</a:t>
            </a:r>
          </a:p>
          <a:p>
            <a:endParaRPr lang="en-US" b="1" dirty="0">
              <a:solidFill>
                <a:srgbClr val="FFFFFF"/>
              </a:solidFill>
            </a:endParaRPr>
          </a:p>
        </p:txBody>
      </p:sp>
      <p:sp>
        <p:nvSpPr>
          <p:cNvPr id="4" name="Rectangle 3">
            <a:extLst>
              <a:ext uri="{FF2B5EF4-FFF2-40B4-BE49-F238E27FC236}">
                <a16:creationId xmlns:a16="http://schemas.microsoft.com/office/drawing/2014/main" id="{B78586C6-9FCA-19B2-B48C-B68420116503}"/>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64DA6B01-4892-6ADA-CB3D-58B2C7FEFC47}"/>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285707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WHY THIS MATTERS</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Why AgenticOps deserves its own focus</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800" b="1">
                <a:solidFill>
                  <a:srgbClr val="0B2A4A"/>
                </a:solidFill>
                <a:latin typeface="Segoe UI"/>
              </a:rPr>
              <a:t>Controls without telemetry are policy documents. Controls without a feedback loop drift silently.</a:t>
            </a:r>
          </a:p>
        </p:txBody>
      </p:sp>
      <p:sp>
        <p:nvSpPr>
          <p:cNvPr id="7" name="TextBox 6"/>
          <p:cNvSpPr txBox="1"/>
          <p:nvPr/>
        </p:nvSpPr>
        <p:spPr>
          <a:xfrm>
            <a:off x="457200" y="1828800"/>
            <a:ext cx="11247120" cy="365760"/>
          </a:xfrm>
          <a:prstGeom prst="rect">
            <a:avLst/>
          </a:prstGeom>
          <a:noFill/>
        </p:spPr>
        <p:txBody>
          <a:bodyPr wrap="square" lIns="45720" tIns="18288" rIns="45720" bIns="18288">
            <a:spAutoFit/>
          </a:bodyPr>
          <a:lstStyle/>
          <a:p>
            <a:r>
              <a:rPr sz="1600" b="1">
                <a:solidFill>
                  <a:srgbClr val="1F1F1F"/>
                </a:solidFill>
                <a:latin typeface="Segoe UI"/>
              </a:rPr>
              <a:t>Three failure modes AgenticOps prevents:</a:t>
            </a:r>
          </a:p>
        </p:txBody>
      </p:sp>
      <p:sp>
        <p:nvSpPr>
          <p:cNvPr id="8" name="Rectangle 7"/>
          <p:cNvSpPr/>
          <p:nvPr/>
        </p:nvSpPr>
        <p:spPr>
          <a:xfrm>
            <a:off x="457200" y="2331720"/>
            <a:ext cx="3657600" cy="31089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560320"/>
            <a:ext cx="3200400" cy="457200"/>
          </a:xfrm>
          <a:prstGeom prst="rect">
            <a:avLst/>
          </a:prstGeom>
          <a:noFill/>
        </p:spPr>
        <p:txBody>
          <a:bodyPr wrap="square" lIns="45720" tIns="18288" rIns="45720" bIns="18288">
            <a:spAutoFit/>
          </a:bodyPr>
          <a:lstStyle/>
          <a:p>
            <a:r>
              <a:rPr sz="1400" b="1">
                <a:solidFill>
                  <a:srgbClr val="0078D4"/>
                </a:solidFill>
                <a:latin typeface="Segoe UI"/>
              </a:rPr>
              <a:t>#1</a:t>
            </a:r>
          </a:p>
        </p:txBody>
      </p:sp>
      <p:sp>
        <p:nvSpPr>
          <p:cNvPr id="10" name="TextBox 9"/>
          <p:cNvSpPr txBox="1"/>
          <p:nvPr/>
        </p:nvSpPr>
        <p:spPr>
          <a:xfrm>
            <a:off x="685800" y="2880360"/>
            <a:ext cx="3200400" cy="640080"/>
          </a:xfrm>
          <a:prstGeom prst="rect">
            <a:avLst/>
          </a:prstGeom>
          <a:noFill/>
        </p:spPr>
        <p:txBody>
          <a:bodyPr wrap="square" lIns="45720" tIns="18288" rIns="45720" bIns="18288">
            <a:spAutoFit/>
          </a:bodyPr>
          <a:lstStyle/>
          <a:p>
            <a:r>
              <a:rPr sz="2000" b="1">
                <a:solidFill>
                  <a:srgbClr val="0B2A4A"/>
                </a:solidFill>
                <a:latin typeface="Segoe UI"/>
              </a:rPr>
              <a:t>Silent quality drift</a:t>
            </a:r>
          </a:p>
        </p:txBody>
      </p:sp>
      <p:sp>
        <p:nvSpPr>
          <p:cNvPr id="11" name="TextBox 10"/>
          <p:cNvSpPr txBox="1"/>
          <p:nvPr/>
        </p:nvSpPr>
        <p:spPr>
          <a:xfrm>
            <a:off x="685800" y="3611880"/>
            <a:ext cx="3200400" cy="1828800"/>
          </a:xfrm>
          <a:prstGeom prst="rect">
            <a:avLst/>
          </a:prstGeom>
          <a:noFill/>
        </p:spPr>
        <p:txBody>
          <a:bodyPr wrap="square" lIns="45720" tIns="18288" rIns="45720" bIns="18288">
            <a:spAutoFit/>
          </a:bodyPr>
          <a:lstStyle/>
          <a:p>
            <a:r>
              <a:rPr sz="1400" b="0">
                <a:solidFill>
                  <a:srgbClr val="1F1F1F"/>
                </a:solidFill>
                <a:latin typeface="Segoe UI"/>
              </a:rPr>
              <a:t>Eval scores decay over weeks. Nobody notices until a customer complains.</a:t>
            </a:r>
          </a:p>
        </p:txBody>
      </p:sp>
      <p:sp>
        <p:nvSpPr>
          <p:cNvPr id="12" name="Rectangle 11"/>
          <p:cNvSpPr/>
          <p:nvPr/>
        </p:nvSpPr>
        <p:spPr>
          <a:xfrm>
            <a:off x="4343400" y="2331720"/>
            <a:ext cx="3657600" cy="31089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2560320"/>
            <a:ext cx="3200400" cy="457200"/>
          </a:xfrm>
          <a:prstGeom prst="rect">
            <a:avLst/>
          </a:prstGeom>
          <a:noFill/>
        </p:spPr>
        <p:txBody>
          <a:bodyPr wrap="square" lIns="45720" tIns="18288" rIns="45720" bIns="18288">
            <a:spAutoFit/>
          </a:bodyPr>
          <a:lstStyle/>
          <a:p>
            <a:r>
              <a:rPr sz="1400" b="1">
                <a:solidFill>
                  <a:srgbClr val="0078D4"/>
                </a:solidFill>
                <a:latin typeface="Segoe UI"/>
              </a:rPr>
              <a:t>#2</a:t>
            </a:r>
          </a:p>
        </p:txBody>
      </p:sp>
      <p:sp>
        <p:nvSpPr>
          <p:cNvPr id="14" name="TextBox 13"/>
          <p:cNvSpPr txBox="1"/>
          <p:nvPr/>
        </p:nvSpPr>
        <p:spPr>
          <a:xfrm>
            <a:off x="4572000" y="2880360"/>
            <a:ext cx="3200400" cy="640080"/>
          </a:xfrm>
          <a:prstGeom prst="rect">
            <a:avLst/>
          </a:prstGeom>
          <a:noFill/>
        </p:spPr>
        <p:txBody>
          <a:bodyPr wrap="square" lIns="45720" tIns="18288" rIns="45720" bIns="18288">
            <a:spAutoFit/>
          </a:bodyPr>
          <a:lstStyle/>
          <a:p>
            <a:r>
              <a:rPr sz="2000" b="1">
                <a:solidFill>
                  <a:srgbClr val="0B2A4A"/>
                </a:solidFill>
                <a:latin typeface="Segoe UI"/>
              </a:rPr>
              <a:t>Blind blast radius</a:t>
            </a:r>
          </a:p>
        </p:txBody>
      </p:sp>
      <p:sp>
        <p:nvSpPr>
          <p:cNvPr id="15" name="TextBox 14"/>
          <p:cNvSpPr txBox="1"/>
          <p:nvPr/>
        </p:nvSpPr>
        <p:spPr>
          <a:xfrm>
            <a:off x="4572000" y="3611880"/>
            <a:ext cx="3200400" cy="1828800"/>
          </a:xfrm>
          <a:prstGeom prst="rect">
            <a:avLst/>
          </a:prstGeom>
          <a:noFill/>
        </p:spPr>
        <p:txBody>
          <a:bodyPr wrap="square" lIns="45720" tIns="18288" rIns="45720" bIns="18288">
            <a:spAutoFit/>
          </a:bodyPr>
          <a:lstStyle/>
          <a:p>
            <a:r>
              <a:rPr sz="1400" b="0">
                <a:solidFill>
                  <a:srgbClr val="1F1F1F"/>
                </a:solidFill>
                <a:latin typeface="Segoe UI"/>
              </a:rPr>
              <a:t>An agent calls 12 tools across 3 hops. No correlation, no story, no post-mortem possible.</a:t>
            </a:r>
          </a:p>
        </p:txBody>
      </p:sp>
      <p:sp>
        <p:nvSpPr>
          <p:cNvPr id="16" name="Rectangle 15"/>
          <p:cNvSpPr/>
          <p:nvPr/>
        </p:nvSpPr>
        <p:spPr>
          <a:xfrm>
            <a:off x="8229600" y="2331720"/>
            <a:ext cx="3657600" cy="31089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58200" y="2560320"/>
            <a:ext cx="3200400" cy="457200"/>
          </a:xfrm>
          <a:prstGeom prst="rect">
            <a:avLst/>
          </a:prstGeom>
          <a:noFill/>
        </p:spPr>
        <p:txBody>
          <a:bodyPr wrap="square" lIns="45720" tIns="18288" rIns="45720" bIns="18288">
            <a:spAutoFit/>
          </a:bodyPr>
          <a:lstStyle/>
          <a:p>
            <a:r>
              <a:rPr sz="1400" b="1">
                <a:solidFill>
                  <a:srgbClr val="0078D4"/>
                </a:solidFill>
                <a:latin typeface="Segoe UI"/>
              </a:rPr>
              <a:t>#3</a:t>
            </a:r>
          </a:p>
        </p:txBody>
      </p:sp>
      <p:sp>
        <p:nvSpPr>
          <p:cNvPr id="18" name="TextBox 17"/>
          <p:cNvSpPr txBox="1"/>
          <p:nvPr/>
        </p:nvSpPr>
        <p:spPr>
          <a:xfrm>
            <a:off x="8458200" y="2880360"/>
            <a:ext cx="3200400" cy="640080"/>
          </a:xfrm>
          <a:prstGeom prst="rect">
            <a:avLst/>
          </a:prstGeom>
          <a:noFill/>
        </p:spPr>
        <p:txBody>
          <a:bodyPr wrap="square" lIns="45720" tIns="18288" rIns="45720" bIns="18288">
            <a:spAutoFit/>
          </a:bodyPr>
          <a:lstStyle/>
          <a:p>
            <a:r>
              <a:rPr sz="2000" b="1">
                <a:solidFill>
                  <a:srgbClr val="0B2A4A"/>
                </a:solidFill>
                <a:latin typeface="Segoe UI"/>
              </a:rPr>
              <a:t>Open loop</a:t>
            </a:r>
          </a:p>
        </p:txBody>
      </p:sp>
      <p:sp>
        <p:nvSpPr>
          <p:cNvPr id="19" name="TextBox 18"/>
          <p:cNvSpPr txBox="1"/>
          <p:nvPr/>
        </p:nvSpPr>
        <p:spPr>
          <a:xfrm>
            <a:off x="8458200" y="3611880"/>
            <a:ext cx="3200400" cy="1828800"/>
          </a:xfrm>
          <a:prstGeom prst="rect">
            <a:avLst/>
          </a:prstGeom>
          <a:noFill/>
        </p:spPr>
        <p:txBody>
          <a:bodyPr wrap="square" lIns="45720" tIns="18288" rIns="45720" bIns="18288">
            <a:spAutoFit/>
          </a:bodyPr>
          <a:lstStyle/>
          <a:p>
            <a:r>
              <a:rPr sz="1400" b="0">
                <a:solidFill>
                  <a:srgbClr val="1F1F1F"/>
                </a:solidFill>
                <a:latin typeface="Segoe UI"/>
              </a:rPr>
              <a:t>Production signals never reach the prompt, model, or tool that caused the issue. Same bug ships again.</a:t>
            </a:r>
          </a:p>
        </p:txBody>
      </p:sp>
      <p:sp>
        <p:nvSpPr>
          <p:cNvPr id="20" name="TextBox 19"/>
          <p:cNvSpPr txBox="1"/>
          <p:nvPr/>
        </p:nvSpPr>
        <p:spPr>
          <a:xfrm>
            <a:off x="457200" y="5669280"/>
            <a:ext cx="11247120" cy="548640"/>
          </a:xfrm>
          <a:prstGeom prst="rect">
            <a:avLst/>
          </a:prstGeom>
          <a:noFill/>
        </p:spPr>
        <p:txBody>
          <a:bodyPr wrap="square" lIns="45720" tIns="18288" rIns="45720" bIns="18288">
            <a:spAutoFit/>
          </a:bodyPr>
          <a:lstStyle/>
          <a:p>
            <a:r>
              <a:rPr sz="1400" b="1">
                <a:solidFill>
                  <a:srgbClr val="0078D4"/>
                </a:solidFill>
                <a:latin typeface="Segoe UI"/>
              </a:rPr>
              <a:t>The promise: every governance concern becomes observable, alertable, and self-improving.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THE MENTAL MODEL</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One pipe in. Many consumers out.</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600" b="0">
                <a:solidFill>
                  <a:srgbClr val="1F1F1F"/>
                </a:solidFill>
                <a:latin typeface="Segoe UI"/>
              </a:rPr>
              <a:t>Every agent — regardless of framework or host — emits ONE consistent stream of OpenTelemetry signals.</a:t>
            </a:r>
          </a:p>
        </p:txBody>
      </p:sp>
      <p:sp>
        <p:nvSpPr>
          <p:cNvPr id="7" name="Rectangle 6"/>
          <p:cNvSpPr/>
          <p:nvPr/>
        </p:nvSpPr>
        <p:spPr>
          <a:xfrm>
            <a:off x="457200" y="2011680"/>
            <a:ext cx="2560320" cy="6400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76272"/>
            <a:ext cx="2560320" cy="640080"/>
          </a:xfrm>
          <a:prstGeom prst="rect">
            <a:avLst/>
          </a:prstGeom>
          <a:noFill/>
        </p:spPr>
        <p:txBody>
          <a:bodyPr wrap="square" lIns="45720" tIns="18288" rIns="45720" bIns="18288">
            <a:spAutoFit/>
          </a:bodyPr>
          <a:lstStyle/>
          <a:p>
            <a:pPr algn="ctr"/>
            <a:r>
              <a:rPr sz="1400" b="1">
                <a:solidFill>
                  <a:srgbClr val="0B2A4A"/>
                </a:solidFill>
                <a:latin typeface="Segoe UI"/>
              </a:rPr>
              <a:t>Foundry agents</a:t>
            </a:r>
          </a:p>
        </p:txBody>
      </p:sp>
      <p:sp>
        <p:nvSpPr>
          <p:cNvPr id="9" name="Rectangle 8"/>
          <p:cNvSpPr/>
          <p:nvPr/>
        </p:nvSpPr>
        <p:spPr>
          <a:xfrm>
            <a:off x="457200" y="2788920"/>
            <a:ext cx="2560320" cy="6400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953512"/>
            <a:ext cx="2560320" cy="640080"/>
          </a:xfrm>
          <a:prstGeom prst="rect">
            <a:avLst/>
          </a:prstGeom>
          <a:noFill/>
        </p:spPr>
        <p:txBody>
          <a:bodyPr wrap="square" lIns="45720" tIns="18288" rIns="45720" bIns="18288">
            <a:spAutoFit/>
          </a:bodyPr>
          <a:lstStyle/>
          <a:p>
            <a:pPr algn="ctr"/>
            <a:r>
              <a:rPr sz="1400" b="1">
                <a:solidFill>
                  <a:srgbClr val="0B2A4A"/>
                </a:solidFill>
                <a:latin typeface="Segoe UI"/>
              </a:rPr>
              <a:t>Agent Framework</a:t>
            </a:r>
          </a:p>
        </p:txBody>
      </p:sp>
      <p:sp>
        <p:nvSpPr>
          <p:cNvPr id="11" name="Rectangle 10"/>
          <p:cNvSpPr/>
          <p:nvPr/>
        </p:nvSpPr>
        <p:spPr>
          <a:xfrm>
            <a:off x="457200" y="3566160"/>
            <a:ext cx="2560320" cy="6400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730752"/>
            <a:ext cx="2560320" cy="640080"/>
          </a:xfrm>
          <a:prstGeom prst="rect">
            <a:avLst/>
          </a:prstGeom>
          <a:noFill/>
        </p:spPr>
        <p:txBody>
          <a:bodyPr wrap="square" lIns="45720" tIns="18288" rIns="45720" bIns="18288">
            <a:spAutoFit/>
          </a:bodyPr>
          <a:lstStyle/>
          <a:p>
            <a:pPr algn="ctr"/>
            <a:r>
              <a:rPr sz="1400" b="1">
                <a:solidFill>
                  <a:srgbClr val="0B2A4A"/>
                </a:solidFill>
                <a:latin typeface="Segoe UI"/>
              </a:rPr>
              <a:t>Custom agents (ACA/AKS/Func)</a:t>
            </a:r>
          </a:p>
        </p:txBody>
      </p:sp>
      <p:sp>
        <p:nvSpPr>
          <p:cNvPr id="13" name="Rectangle 12"/>
          <p:cNvSpPr/>
          <p:nvPr/>
        </p:nvSpPr>
        <p:spPr>
          <a:xfrm>
            <a:off x="457200" y="4343400"/>
            <a:ext cx="2560320" cy="6400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4507992"/>
            <a:ext cx="2560320" cy="640080"/>
          </a:xfrm>
          <a:prstGeom prst="rect">
            <a:avLst/>
          </a:prstGeom>
          <a:noFill/>
        </p:spPr>
        <p:txBody>
          <a:bodyPr wrap="square" lIns="45720" tIns="18288" rIns="45720" bIns="18288">
            <a:spAutoFit/>
          </a:bodyPr>
          <a:lstStyle/>
          <a:p>
            <a:pPr algn="ctr"/>
            <a:r>
              <a:rPr sz="1400" b="1">
                <a:solidFill>
                  <a:srgbClr val="0B2A4A"/>
                </a:solidFill>
                <a:latin typeface="Segoe UI"/>
              </a:rPr>
              <a:t>MCP servers</a:t>
            </a:r>
          </a:p>
        </p:txBody>
      </p:sp>
      <p:sp>
        <p:nvSpPr>
          <p:cNvPr id="15" name="Rectangle 14"/>
          <p:cNvSpPr/>
          <p:nvPr/>
        </p:nvSpPr>
        <p:spPr>
          <a:xfrm>
            <a:off x="3291840" y="2011680"/>
            <a:ext cx="2377440" cy="3108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2377440"/>
            <a:ext cx="2377440" cy="457200"/>
          </a:xfrm>
          <a:prstGeom prst="rect">
            <a:avLst/>
          </a:prstGeom>
          <a:noFill/>
        </p:spPr>
        <p:txBody>
          <a:bodyPr wrap="square" lIns="45720" tIns="18288" rIns="45720" bIns="18288">
            <a:spAutoFit/>
          </a:bodyPr>
          <a:lstStyle/>
          <a:p>
            <a:pPr algn="ctr"/>
            <a:r>
              <a:rPr sz="1800" b="1">
                <a:solidFill>
                  <a:srgbClr val="FFFFFF"/>
                </a:solidFill>
                <a:latin typeface="Segoe UI"/>
              </a:rPr>
              <a:t>OpenTelemetry</a:t>
            </a:r>
          </a:p>
        </p:txBody>
      </p:sp>
      <p:sp>
        <p:nvSpPr>
          <p:cNvPr id="17" name="TextBox 16"/>
          <p:cNvSpPr txBox="1"/>
          <p:nvPr/>
        </p:nvSpPr>
        <p:spPr>
          <a:xfrm>
            <a:off x="3291840" y="2926080"/>
            <a:ext cx="2377440" cy="457200"/>
          </a:xfrm>
          <a:prstGeom prst="rect">
            <a:avLst/>
          </a:prstGeom>
          <a:noFill/>
        </p:spPr>
        <p:txBody>
          <a:bodyPr wrap="square" lIns="45720" tIns="18288" rIns="45720" bIns="18288">
            <a:spAutoFit/>
          </a:bodyPr>
          <a:lstStyle/>
          <a:p>
            <a:pPr algn="ctr"/>
            <a:r>
              <a:rPr sz="1200" b="0">
                <a:solidFill>
                  <a:srgbClr val="CCE4F7"/>
                </a:solidFill>
                <a:latin typeface="Segoe UI"/>
              </a:rPr>
              <a:t>GenAI semconv</a:t>
            </a:r>
          </a:p>
        </p:txBody>
      </p:sp>
      <p:sp>
        <p:nvSpPr>
          <p:cNvPr id="18" name="TextBox 17"/>
          <p:cNvSpPr txBox="1"/>
          <p:nvPr/>
        </p:nvSpPr>
        <p:spPr>
          <a:xfrm>
            <a:off x="3291840" y="3657600"/>
            <a:ext cx="2377440" cy="457200"/>
          </a:xfrm>
          <a:prstGeom prst="rect">
            <a:avLst/>
          </a:prstGeom>
          <a:noFill/>
        </p:spPr>
        <p:txBody>
          <a:bodyPr wrap="square" lIns="45720" tIns="18288" rIns="45720" bIns="18288">
            <a:spAutoFit/>
          </a:bodyPr>
          <a:lstStyle/>
          <a:p>
            <a:pPr algn="ctr"/>
            <a:r>
              <a:rPr sz="2400" b="1">
                <a:solidFill>
                  <a:srgbClr val="0078D4"/>
                </a:solidFill>
                <a:latin typeface="Segoe UI"/>
              </a:rPr>
              <a:t>↓</a:t>
            </a:r>
          </a:p>
        </p:txBody>
      </p:sp>
      <p:sp>
        <p:nvSpPr>
          <p:cNvPr id="19" name="TextBox 18"/>
          <p:cNvSpPr txBox="1"/>
          <p:nvPr/>
        </p:nvSpPr>
        <p:spPr>
          <a:xfrm>
            <a:off x="3291840" y="4114800"/>
            <a:ext cx="2377440" cy="457200"/>
          </a:xfrm>
          <a:prstGeom prst="rect">
            <a:avLst/>
          </a:prstGeom>
          <a:noFill/>
        </p:spPr>
        <p:txBody>
          <a:bodyPr wrap="square" lIns="45720" tIns="18288" rIns="45720" bIns="18288">
            <a:spAutoFit/>
          </a:bodyPr>
          <a:lstStyle/>
          <a:p>
            <a:pPr algn="ctr"/>
            <a:r>
              <a:rPr sz="1600" b="1">
                <a:solidFill>
                  <a:srgbClr val="FFFFFF"/>
                </a:solidFill>
                <a:latin typeface="Segoe UI"/>
              </a:rPr>
              <a:t>App Insights</a:t>
            </a:r>
          </a:p>
        </p:txBody>
      </p:sp>
      <p:sp>
        <p:nvSpPr>
          <p:cNvPr id="20" name="TextBox 19"/>
          <p:cNvSpPr txBox="1"/>
          <p:nvPr/>
        </p:nvSpPr>
        <p:spPr>
          <a:xfrm>
            <a:off x="3291840" y="4572000"/>
            <a:ext cx="2377440" cy="457200"/>
          </a:xfrm>
          <a:prstGeom prst="rect">
            <a:avLst/>
          </a:prstGeom>
          <a:noFill/>
        </p:spPr>
        <p:txBody>
          <a:bodyPr wrap="square" lIns="45720" tIns="18288" rIns="45720" bIns="18288">
            <a:spAutoFit/>
          </a:bodyPr>
          <a:lstStyle/>
          <a:p>
            <a:pPr algn="ctr"/>
            <a:r>
              <a:rPr sz="1600" b="1">
                <a:solidFill>
                  <a:srgbClr val="FFFFFF"/>
                </a:solidFill>
                <a:latin typeface="Segoe UI"/>
              </a:rPr>
              <a:t>Log Analytics</a:t>
            </a:r>
          </a:p>
        </p:txBody>
      </p:sp>
      <p:sp>
        <p:nvSpPr>
          <p:cNvPr id="21" name="Rectangle 20"/>
          <p:cNvSpPr/>
          <p:nvPr/>
        </p:nvSpPr>
        <p:spPr>
          <a:xfrm>
            <a:off x="5943600" y="2011680"/>
            <a:ext cx="5760720" cy="502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6480" y="2057400"/>
            <a:ext cx="2743200" cy="411480"/>
          </a:xfrm>
          <a:prstGeom prst="rect">
            <a:avLst/>
          </a:prstGeom>
          <a:noFill/>
        </p:spPr>
        <p:txBody>
          <a:bodyPr wrap="square" lIns="45720" tIns="18288" rIns="45720" bIns="18288">
            <a:spAutoFit/>
          </a:bodyPr>
          <a:lstStyle/>
          <a:p>
            <a:r>
              <a:rPr sz="1300" b="1">
                <a:solidFill>
                  <a:srgbClr val="0B2A4A"/>
                </a:solidFill>
                <a:latin typeface="Segoe UI"/>
              </a:rPr>
              <a:t>Foundry Control Plane</a:t>
            </a:r>
          </a:p>
        </p:txBody>
      </p:sp>
      <p:sp>
        <p:nvSpPr>
          <p:cNvPr id="23" name="TextBox 22"/>
          <p:cNvSpPr txBox="1"/>
          <p:nvPr/>
        </p:nvSpPr>
        <p:spPr>
          <a:xfrm>
            <a:off x="8961120" y="2084832"/>
            <a:ext cx="2651760" cy="411480"/>
          </a:xfrm>
          <a:prstGeom prst="rect">
            <a:avLst/>
          </a:prstGeom>
          <a:noFill/>
        </p:spPr>
        <p:txBody>
          <a:bodyPr wrap="square" lIns="45720" tIns="18288" rIns="45720" bIns="18288">
            <a:spAutoFit/>
          </a:bodyPr>
          <a:lstStyle/>
          <a:p>
            <a:r>
              <a:rPr sz="1100" b="0">
                <a:solidFill>
                  <a:srgbClr val="606060"/>
                </a:solidFill>
                <a:latin typeface="Segoe UI"/>
              </a:rPr>
              <a:t>Fleet inventory · runs · evals</a:t>
            </a:r>
          </a:p>
        </p:txBody>
      </p:sp>
      <p:sp>
        <p:nvSpPr>
          <p:cNvPr id="24" name="Rectangle 23"/>
          <p:cNvSpPr/>
          <p:nvPr/>
        </p:nvSpPr>
        <p:spPr>
          <a:xfrm>
            <a:off x="5943600" y="2633472"/>
            <a:ext cx="5760720" cy="502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26480" y="2679192"/>
            <a:ext cx="2743200" cy="411480"/>
          </a:xfrm>
          <a:prstGeom prst="rect">
            <a:avLst/>
          </a:prstGeom>
          <a:noFill/>
        </p:spPr>
        <p:txBody>
          <a:bodyPr wrap="square" lIns="45720" tIns="18288" rIns="45720" bIns="18288">
            <a:spAutoFit/>
          </a:bodyPr>
          <a:lstStyle/>
          <a:p>
            <a:r>
              <a:rPr sz="1300" b="1">
                <a:solidFill>
                  <a:srgbClr val="0B2A4A"/>
                </a:solidFill>
                <a:latin typeface="Segoe UI"/>
              </a:rPr>
              <a:t>Azure Monitor</a:t>
            </a:r>
          </a:p>
        </p:txBody>
      </p:sp>
      <p:sp>
        <p:nvSpPr>
          <p:cNvPr id="26" name="TextBox 25"/>
          <p:cNvSpPr txBox="1"/>
          <p:nvPr/>
        </p:nvSpPr>
        <p:spPr>
          <a:xfrm>
            <a:off x="8961120" y="2706624"/>
            <a:ext cx="2651760" cy="411480"/>
          </a:xfrm>
          <a:prstGeom prst="rect">
            <a:avLst/>
          </a:prstGeom>
          <a:noFill/>
        </p:spPr>
        <p:txBody>
          <a:bodyPr wrap="square" lIns="45720" tIns="18288" rIns="45720" bIns="18288">
            <a:spAutoFit/>
          </a:bodyPr>
          <a:lstStyle/>
          <a:p>
            <a:r>
              <a:rPr sz="1100" b="0">
                <a:solidFill>
                  <a:srgbClr val="606060"/>
                </a:solidFill>
                <a:latin typeface="Segoe UI"/>
              </a:rPr>
              <a:t>Alerts · Workbooks · SLOs</a:t>
            </a:r>
          </a:p>
        </p:txBody>
      </p:sp>
      <p:sp>
        <p:nvSpPr>
          <p:cNvPr id="27" name="Rectangle 26"/>
          <p:cNvSpPr/>
          <p:nvPr/>
        </p:nvSpPr>
        <p:spPr>
          <a:xfrm>
            <a:off x="5943600" y="3255264"/>
            <a:ext cx="5760720" cy="502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3300984"/>
            <a:ext cx="2743200" cy="411480"/>
          </a:xfrm>
          <a:prstGeom prst="rect">
            <a:avLst/>
          </a:prstGeom>
          <a:noFill/>
        </p:spPr>
        <p:txBody>
          <a:bodyPr wrap="square" lIns="45720" tIns="18288" rIns="45720" bIns="18288">
            <a:spAutoFit/>
          </a:bodyPr>
          <a:lstStyle/>
          <a:p>
            <a:r>
              <a:rPr sz="1300" b="1">
                <a:solidFill>
                  <a:srgbClr val="0B2A4A"/>
                </a:solidFill>
                <a:latin typeface="Segoe UI"/>
              </a:rPr>
              <a:t>Cost Management</a:t>
            </a:r>
          </a:p>
        </p:txBody>
      </p:sp>
      <p:sp>
        <p:nvSpPr>
          <p:cNvPr id="29" name="TextBox 28"/>
          <p:cNvSpPr txBox="1"/>
          <p:nvPr/>
        </p:nvSpPr>
        <p:spPr>
          <a:xfrm>
            <a:off x="8961120" y="3328416"/>
            <a:ext cx="2651760" cy="411480"/>
          </a:xfrm>
          <a:prstGeom prst="rect">
            <a:avLst/>
          </a:prstGeom>
          <a:noFill/>
        </p:spPr>
        <p:txBody>
          <a:bodyPr wrap="square" lIns="45720" tIns="18288" rIns="45720" bIns="18288">
            <a:spAutoFit/>
          </a:bodyPr>
          <a:lstStyle/>
          <a:p>
            <a:r>
              <a:rPr sz="1100" b="0">
                <a:solidFill>
                  <a:srgbClr val="606060"/>
                </a:solidFill>
                <a:latin typeface="Segoe UI"/>
              </a:rPr>
              <a:t>Token &amp; cost chargeback</a:t>
            </a:r>
          </a:p>
        </p:txBody>
      </p:sp>
      <p:sp>
        <p:nvSpPr>
          <p:cNvPr id="30" name="Rectangle 29"/>
          <p:cNvSpPr/>
          <p:nvPr/>
        </p:nvSpPr>
        <p:spPr>
          <a:xfrm>
            <a:off x="5943600" y="3877056"/>
            <a:ext cx="5760720" cy="502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26480" y="3922776"/>
            <a:ext cx="2743200" cy="411480"/>
          </a:xfrm>
          <a:prstGeom prst="rect">
            <a:avLst/>
          </a:prstGeom>
          <a:noFill/>
        </p:spPr>
        <p:txBody>
          <a:bodyPr wrap="square" lIns="45720" tIns="18288" rIns="45720" bIns="18288">
            <a:spAutoFit/>
          </a:bodyPr>
          <a:lstStyle/>
          <a:p>
            <a:r>
              <a:rPr sz="1300" b="1">
                <a:solidFill>
                  <a:srgbClr val="0B2A4A"/>
                </a:solidFill>
                <a:latin typeface="Segoe UI"/>
              </a:rPr>
              <a:t>Defender for Cloud</a:t>
            </a:r>
          </a:p>
        </p:txBody>
      </p:sp>
      <p:sp>
        <p:nvSpPr>
          <p:cNvPr id="32" name="TextBox 31"/>
          <p:cNvSpPr txBox="1"/>
          <p:nvPr/>
        </p:nvSpPr>
        <p:spPr>
          <a:xfrm>
            <a:off x="8961120" y="3950208"/>
            <a:ext cx="2651760" cy="411480"/>
          </a:xfrm>
          <a:prstGeom prst="rect">
            <a:avLst/>
          </a:prstGeom>
          <a:noFill/>
        </p:spPr>
        <p:txBody>
          <a:bodyPr wrap="square" lIns="45720" tIns="18288" rIns="45720" bIns="18288">
            <a:spAutoFit/>
          </a:bodyPr>
          <a:lstStyle/>
          <a:p>
            <a:r>
              <a:rPr sz="1100" b="0">
                <a:solidFill>
                  <a:srgbClr val="606060"/>
                </a:solidFill>
                <a:latin typeface="Segoe UI"/>
              </a:rPr>
              <a:t>Security signals · anomalies</a:t>
            </a:r>
          </a:p>
        </p:txBody>
      </p:sp>
      <p:sp>
        <p:nvSpPr>
          <p:cNvPr id="33" name="Rectangle 32"/>
          <p:cNvSpPr/>
          <p:nvPr/>
        </p:nvSpPr>
        <p:spPr>
          <a:xfrm>
            <a:off x="5943600" y="4498848"/>
            <a:ext cx="5760720" cy="502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4544568"/>
            <a:ext cx="2743200" cy="411480"/>
          </a:xfrm>
          <a:prstGeom prst="rect">
            <a:avLst/>
          </a:prstGeom>
          <a:noFill/>
        </p:spPr>
        <p:txBody>
          <a:bodyPr wrap="square" lIns="45720" tIns="18288" rIns="45720" bIns="18288">
            <a:spAutoFit/>
          </a:bodyPr>
          <a:lstStyle/>
          <a:p>
            <a:r>
              <a:rPr sz="1300" b="1">
                <a:solidFill>
                  <a:srgbClr val="0B2A4A"/>
                </a:solidFill>
                <a:latin typeface="Segoe UI"/>
              </a:rPr>
              <a:t>CI/CD eval datasets</a:t>
            </a:r>
          </a:p>
        </p:txBody>
      </p:sp>
      <p:sp>
        <p:nvSpPr>
          <p:cNvPr id="35" name="TextBox 34"/>
          <p:cNvSpPr txBox="1"/>
          <p:nvPr/>
        </p:nvSpPr>
        <p:spPr>
          <a:xfrm>
            <a:off x="8961120" y="4572000"/>
            <a:ext cx="2651760" cy="411480"/>
          </a:xfrm>
          <a:prstGeom prst="rect">
            <a:avLst/>
          </a:prstGeom>
          <a:noFill/>
        </p:spPr>
        <p:txBody>
          <a:bodyPr wrap="square" lIns="45720" tIns="18288" rIns="45720" bIns="18288">
            <a:spAutoFit/>
          </a:bodyPr>
          <a:lstStyle/>
          <a:p>
            <a:r>
              <a:rPr sz="1100" b="0">
                <a:solidFill>
                  <a:srgbClr val="606060"/>
                </a:solidFill>
                <a:latin typeface="Segoe UI"/>
              </a:rPr>
              <a:t>The feedback loop</a:t>
            </a:r>
          </a:p>
        </p:txBody>
      </p:sp>
      <p:sp>
        <p:nvSpPr>
          <p:cNvPr id="36" name="TextBox 35"/>
          <p:cNvSpPr txBox="1"/>
          <p:nvPr/>
        </p:nvSpPr>
        <p:spPr>
          <a:xfrm>
            <a:off x="457200" y="5852160"/>
            <a:ext cx="11247120" cy="548640"/>
          </a:xfrm>
          <a:prstGeom prst="rect">
            <a:avLst/>
          </a:prstGeom>
          <a:noFill/>
        </p:spPr>
        <p:txBody>
          <a:bodyPr wrap="square" lIns="45720" tIns="18288" rIns="45720" bIns="18288">
            <a:spAutoFit/>
          </a:bodyPr>
          <a:lstStyle/>
          <a:p>
            <a:pPr algn="l"/>
            <a:r>
              <a:rPr sz="1400" b="1">
                <a:solidFill>
                  <a:srgbClr val="0078D4"/>
                </a:solidFill>
                <a:latin typeface="Segoe UI"/>
              </a:rPr>
              <a:t>Anchor for the whole story: one pipe in, many views out.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Observability has a contract</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600" b="0">
                <a:solidFill>
                  <a:srgbClr val="1F1F1F"/>
                </a:solidFill>
                <a:latin typeface="Segoe UI"/>
              </a:rPr>
              <a:t>"Observability across frameworks" only works if every agent emits the SAME shape of signal.</a:t>
            </a:r>
          </a:p>
        </p:txBody>
      </p:sp>
      <p:sp>
        <p:nvSpPr>
          <p:cNvPr id="7" name="TextBox 6"/>
          <p:cNvSpPr txBox="1"/>
          <p:nvPr/>
        </p:nvSpPr>
        <p:spPr>
          <a:xfrm>
            <a:off x="457200" y="1828800"/>
            <a:ext cx="5486400" cy="365760"/>
          </a:xfrm>
          <a:prstGeom prst="rect">
            <a:avLst/>
          </a:prstGeom>
          <a:noFill/>
        </p:spPr>
        <p:txBody>
          <a:bodyPr wrap="square" lIns="45720" tIns="18288" rIns="45720" bIns="18288">
            <a:spAutoFit/>
          </a:bodyPr>
          <a:lstStyle/>
          <a:p>
            <a:r>
              <a:rPr sz="1400" b="1">
                <a:solidFill>
                  <a:srgbClr val="0B2A4A"/>
                </a:solidFill>
                <a:latin typeface="Segoe UI"/>
              </a:rPr>
              <a:t>The contract — OTel GenAI semantic conventions:</a:t>
            </a:r>
          </a:p>
        </p:txBody>
      </p:sp>
      <p:sp>
        <p:nvSpPr>
          <p:cNvPr id="8" name="TextBox 7"/>
          <p:cNvSpPr txBox="1"/>
          <p:nvPr/>
        </p:nvSpPr>
        <p:spPr>
          <a:xfrm>
            <a:off x="457200" y="2286000"/>
            <a:ext cx="5486400" cy="3657600"/>
          </a:xfrm>
          <a:prstGeom prst="rect">
            <a:avLst/>
          </a:prstGeom>
          <a:noFill/>
        </p:spPr>
        <p:txBody>
          <a:bodyPr wrap="square">
            <a:spAutoFit/>
          </a:bodyPr>
          <a:lstStyle/>
          <a:p>
            <a:pPr>
              <a:spcAft>
                <a:spcPts val="600"/>
              </a:spcAft>
            </a:pPr>
            <a:r>
              <a:rPr sz="1400" b="0">
                <a:solidFill>
                  <a:srgbClr val="1F1F1F"/>
                </a:solidFill>
                <a:latin typeface="Segoe UI"/>
              </a:rPr>
              <a:t>• gen_ai.system  ·  gen_ai.request.model</a:t>
            </a:r>
          </a:p>
          <a:p>
            <a:pPr>
              <a:spcAft>
                <a:spcPts val="600"/>
              </a:spcAft>
            </a:pPr>
            <a:r>
              <a:rPr sz="1400" b="0">
                <a:solidFill>
                  <a:srgbClr val="1F1F1F"/>
                </a:solidFill>
                <a:latin typeface="Segoe UI"/>
              </a:rPr>
              <a:t>• gen_ai.usage.input_tokens / output_tokens</a:t>
            </a:r>
          </a:p>
          <a:p>
            <a:pPr>
              <a:spcAft>
                <a:spcPts val="600"/>
              </a:spcAft>
            </a:pPr>
            <a:r>
              <a:rPr sz="1400" b="0">
                <a:solidFill>
                  <a:srgbClr val="1F1F1F"/>
                </a:solidFill>
                <a:latin typeface="Segoe UI"/>
              </a:rPr>
              <a:t>• gen_ai.agent.id  ·  gen_ai.agent.name  ·  version</a:t>
            </a:r>
          </a:p>
          <a:p>
            <a:pPr>
              <a:spcAft>
                <a:spcPts val="600"/>
              </a:spcAft>
            </a:pPr>
            <a:r>
              <a:rPr sz="1400" b="0">
                <a:solidFill>
                  <a:srgbClr val="1F1F1F"/>
                </a:solidFill>
                <a:latin typeface="Segoe UI"/>
              </a:rPr>
              <a:t>• Tool spans: gen_ai.tool.name, args (redacted), status</a:t>
            </a:r>
          </a:p>
          <a:p>
            <a:pPr>
              <a:spcAft>
                <a:spcPts val="600"/>
              </a:spcAft>
            </a:pPr>
            <a:r>
              <a:rPr sz="1400" b="0">
                <a:solidFill>
                  <a:srgbClr val="1F1F1F"/>
                </a:solidFill>
                <a:latin typeface="Segoe UI"/>
              </a:rPr>
              <a:t>• A2A spans: parent / child agent ids + traceparent</a:t>
            </a:r>
          </a:p>
          <a:p>
            <a:pPr>
              <a:spcAft>
                <a:spcPts val="600"/>
              </a:spcAft>
            </a:pPr>
            <a:r>
              <a:rPr sz="1400" b="0">
                <a:solidFill>
                  <a:srgbClr val="1F1F1F"/>
                </a:solidFill>
                <a:latin typeface="Segoe UI"/>
              </a:rPr>
              <a:t>• Guardrail spans: policy, decision, reason</a:t>
            </a:r>
          </a:p>
          <a:p>
            <a:pPr>
              <a:spcAft>
                <a:spcPts val="600"/>
              </a:spcAft>
            </a:pPr>
            <a:r>
              <a:rPr sz="1400" b="0">
                <a:solidFill>
                  <a:srgbClr val="1F1F1F"/>
                </a:solidFill>
                <a:latin typeface="Segoe UI"/>
              </a:rPr>
              <a:t>• Eval spans: evaluator, score, threshold</a:t>
            </a:r>
          </a:p>
        </p:txBody>
      </p:sp>
      <p:sp>
        <p:nvSpPr>
          <p:cNvPr id="9" name="TextBox 8"/>
          <p:cNvSpPr txBox="1"/>
          <p:nvPr/>
        </p:nvSpPr>
        <p:spPr>
          <a:xfrm>
            <a:off x="457200" y="5669280"/>
            <a:ext cx="5486400" cy="914400"/>
          </a:xfrm>
          <a:prstGeom prst="rect">
            <a:avLst/>
          </a:prstGeom>
          <a:noFill/>
        </p:spPr>
        <p:txBody>
          <a:bodyPr wrap="square" lIns="45720" tIns="18288" rIns="45720" bIns="18288">
            <a:spAutoFit/>
          </a:bodyPr>
          <a:lstStyle/>
          <a:p>
            <a:r>
              <a:rPr sz="1200" b="1">
                <a:solidFill>
                  <a:srgbClr val="0078D4"/>
                </a:solidFill>
                <a:latin typeface="Segoe UI"/>
              </a:rPr>
              <a:t>Miss one field — gen_ai.agent.id — and every downstream dashboard, alert, and chargeback breaks.</a:t>
            </a:r>
          </a:p>
        </p:txBody>
      </p:sp>
      <p:sp>
        <p:nvSpPr>
          <p:cNvPr id="10" name="Rectangle 9"/>
          <p:cNvSpPr/>
          <p:nvPr/>
        </p:nvSpPr>
        <p:spPr>
          <a:xfrm>
            <a:off x="6309360" y="1828800"/>
            <a:ext cx="5394960" cy="43891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3611880"/>
            <a:ext cx="539496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12" name="TextBox 11"/>
          <p:cNvSpPr txBox="1"/>
          <p:nvPr/>
        </p:nvSpPr>
        <p:spPr>
          <a:xfrm>
            <a:off x="6309360" y="3977640"/>
            <a:ext cx="5394960" cy="640080"/>
          </a:xfrm>
          <a:prstGeom prst="rect">
            <a:avLst/>
          </a:prstGeom>
          <a:noFill/>
        </p:spPr>
        <p:txBody>
          <a:bodyPr wrap="square" lIns="45720" tIns="18288" rIns="45720" bIns="18288">
            <a:spAutoFit/>
          </a:bodyPr>
          <a:lstStyle/>
          <a:p>
            <a:pPr algn="ctr"/>
            <a:r>
              <a:rPr sz="1200" b="0">
                <a:solidFill>
                  <a:srgbClr val="606060"/>
                </a:solidFill>
                <a:latin typeface="Segoe UI"/>
              </a:rPr>
              <a:t>Foundry tracing — single agent run with GenAI semconv attributes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A multi-agent request is one story</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500" b="0">
                <a:solidFill>
                  <a:srgbClr val="1F1F1F"/>
                </a:solidFill>
                <a:latin typeface="Segoe UI"/>
              </a:rPr>
              <a:t>When orchestrator → specialist → tool → MCP all serve one user request, the audit story only holds if ONE trace ID spans every hop.</a:t>
            </a:r>
          </a:p>
        </p:txBody>
      </p:sp>
      <p:sp>
        <p:nvSpPr>
          <p:cNvPr id="7" name="TextBox 6"/>
          <p:cNvSpPr txBox="1"/>
          <p:nvPr/>
        </p:nvSpPr>
        <p:spPr>
          <a:xfrm>
            <a:off x="457200" y="2011680"/>
            <a:ext cx="5486400" cy="3200400"/>
          </a:xfrm>
          <a:prstGeom prst="rect">
            <a:avLst/>
          </a:prstGeom>
          <a:noFill/>
        </p:spPr>
        <p:txBody>
          <a:bodyPr wrap="square">
            <a:spAutoFit/>
          </a:bodyPr>
          <a:lstStyle/>
          <a:p>
            <a:pPr>
              <a:spcAft>
                <a:spcPts val="600"/>
              </a:spcAft>
            </a:pPr>
            <a:r>
              <a:rPr sz="1400" b="1">
                <a:solidFill>
                  <a:srgbClr val="1F1F1F"/>
                </a:solidFill>
                <a:latin typeface="Segoe UI"/>
              </a:rPr>
              <a:t>• Mechanism: W3C traceparent propagated across every A2A and MCP hop.</a:t>
            </a:r>
          </a:p>
          <a:p>
            <a:pPr>
              <a:spcAft>
                <a:spcPts val="600"/>
              </a:spcAft>
            </a:pPr>
            <a:r>
              <a:rPr sz="1400" b="0">
                <a:solidFill>
                  <a:srgbClr val="1F1F1F"/>
                </a:solidFill>
                <a:latin typeface="Segoe UI"/>
              </a:rPr>
              <a:t>• Without it, multi-agent orchestration is a black box during incidents.</a:t>
            </a:r>
          </a:p>
          <a:p>
            <a:pPr>
              <a:spcAft>
                <a:spcPts val="600"/>
              </a:spcAft>
            </a:pPr>
            <a:r>
              <a:rPr sz="1400" b="0">
                <a:solidFill>
                  <a:srgbClr val="1F1F1F"/>
                </a:solidFill>
                <a:latin typeface="Segoe UI"/>
              </a:rPr>
              <a:t>• With it, you can replay any user request as one connected story.</a:t>
            </a:r>
          </a:p>
          <a:p>
            <a:pPr>
              <a:spcAft>
                <a:spcPts val="600"/>
              </a:spcAft>
            </a:pPr>
            <a:r>
              <a:rPr sz="1400" b="1">
                <a:solidFill>
                  <a:srgbClr val="1F1F1F"/>
                </a:solidFill>
                <a:latin typeface="Segoe UI"/>
              </a:rPr>
              <a:t>• Bonus: agent topology — alert when a NEW edge appears in production.</a:t>
            </a:r>
          </a:p>
        </p:txBody>
      </p:sp>
      <p:sp>
        <p:nvSpPr>
          <p:cNvPr id="8" name="Rectangle 7"/>
          <p:cNvSpPr/>
          <p:nvPr/>
        </p:nvSpPr>
        <p:spPr>
          <a:xfrm>
            <a:off x="6309360" y="1828800"/>
            <a:ext cx="5394960" cy="43891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3611880"/>
            <a:ext cx="539496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10" name="TextBox 9"/>
          <p:cNvSpPr txBox="1"/>
          <p:nvPr/>
        </p:nvSpPr>
        <p:spPr>
          <a:xfrm>
            <a:off x="6309360" y="3977640"/>
            <a:ext cx="5394960" cy="640080"/>
          </a:xfrm>
          <a:prstGeom prst="rect">
            <a:avLst/>
          </a:prstGeom>
          <a:noFill/>
        </p:spPr>
        <p:txBody>
          <a:bodyPr wrap="square" lIns="45720" tIns="18288" rIns="45720" bIns="18288">
            <a:spAutoFit/>
          </a:bodyPr>
          <a:lstStyle/>
          <a:p>
            <a:pPr algn="ctr"/>
            <a:r>
              <a:rPr sz="1200" b="0">
                <a:solidFill>
                  <a:srgbClr val="606060"/>
                </a:solidFill>
                <a:latin typeface="Segoe UI"/>
              </a:rPr>
              <a:t>Foundry end-to-end trace — orchestrator → specialist → tool/MCP under one trace ID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Agent fleet management — the single pane of glass</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500" b="0">
                <a:solidFill>
                  <a:srgbClr val="1F1F1F"/>
                </a:solidFill>
                <a:latin typeface="Segoe UI"/>
              </a:rPr>
              <a:t>Past a handful of agents you need ONE answer to: what exists, who owns it, is it running, what does it cost?</a:t>
            </a:r>
          </a:p>
        </p:txBody>
      </p:sp>
      <p:sp>
        <p:nvSpPr>
          <p:cNvPr id="7" name="TextBox 6"/>
          <p:cNvSpPr txBox="1"/>
          <p:nvPr/>
        </p:nvSpPr>
        <p:spPr>
          <a:xfrm>
            <a:off x="457200" y="2011680"/>
            <a:ext cx="5486400" cy="3657600"/>
          </a:xfrm>
          <a:prstGeom prst="rect">
            <a:avLst/>
          </a:prstGeom>
          <a:noFill/>
        </p:spPr>
        <p:txBody>
          <a:bodyPr wrap="square">
            <a:spAutoFit/>
          </a:bodyPr>
          <a:lstStyle/>
          <a:p>
            <a:pPr>
              <a:spcAft>
                <a:spcPts val="600"/>
              </a:spcAft>
            </a:pPr>
            <a:r>
              <a:rPr sz="1400" b="0">
                <a:solidFill>
                  <a:srgbClr val="1F1F1F"/>
                </a:solidFill>
                <a:latin typeface="Segoe UI"/>
              </a:rPr>
              <a:t>• Inventory: every agent · source platform · version · owner</a:t>
            </a:r>
          </a:p>
          <a:p>
            <a:pPr>
              <a:spcAft>
                <a:spcPts val="600"/>
              </a:spcAft>
            </a:pPr>
            <a:r>
              <a:rPr sz="1400" b="0">
                <a:solidFill>
                  <a:srgbClr val="1F1F1F"/>
                </a:solidFill>
                <a:latin typeface="Segoe UI"/>
              </a:rPr>
              <a:t>• Health: status · run count · error rate · p95 latency</a:t>
            </a:r>
          </a:p>
          <a:p>
            <a:pPr>
              <a:spcAft>
                <a:spcPts val="600"/>
              </a:spcAft>
            </a:pPr>
            <a:r>
              <a:rPr sz="1400" b="0">
                <a:solidFill>
                  <a:srgbClr val="1F1F1F"/>
                </a:solidFill>
                <a:latin typeface="Segoe UI"/>
              </a:rPr>
              <a:t>• Economics: token usage · estimated cost per agent</a:t>
            </a:r>
          </a:p>
          <a:p>
            <a:pPr>
              <a:spcAft>
                <a:spcPts val="600"/>
              </a:spcAft>
            </a:pPr>
            <a:r>
              <a:rPr sz="1400" b="0">
                <a:solidFill>
                  <a:srgbClr val="1F1F1F"/>
                </a:solidFill>
                <a:latin typeface="Segoe UI"/>
              </a:rPr>
              <a:t>• Quality: latest eval scores · trend vs previous version</a:t>
            </a:r>
          </a:p>
          <a:p>
            <a:pPr>
              <a:spcAft>
                <a:spcPts val="600"/>
              </a:spcAft>
            </a:pPr>
            <a:r>
              <a:rPr sz="1400" b="0">
                <a:solidFill>
                  <a:srgbClr val="1F1F1F"/>
                </a:solidFill>
                <a:latin typeface="Segoe UI"/>
              </a:rPr>
              <a:t>• Identity link: Entra ID association per agent</a:t>
            </a:r>
          </a:p>
          <a:p>
            <a:pPr>
              <a:spcAft>
                <a:spcPts val="600"/>
              </a:spcAft>
            </a:pPr>
            <a:r>
              <a:rPr sz="1400" b="1">
                <a:solidFill>
                  <a:srgbClr val="1F1F1F"/>
                </a:solidFill>
                <a:latin typeface="Segoe UI"/>
              </a:rPr>
              <a:t>• Lifecycle ops: start / stop / block — without redeploying.</a:t>
            </a:r>
          </a:p>
        </p:txBody>
      </p:sp>
      <p:sp>
        <p:nvSpPr>
          <p:cNvPr id="8" name="Rectangle 7"/>
          <p:cNvSpPr/>
          <p:nvPr/>
        </p:nvSpPr>
        <p:spPr>
          <a:xfrm>
            <a:off x="6309360" y="1828800"/>
            <a:ext cx="5394960" cy="43891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3611880"/>
            <a:ext cx="539496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10" name="TextBox 9"/>
          <p:cNvSpPr txBox="1"/>
          <p:nvPr/>
        </p:nvSpPr>
        <p:spPr>
          <a:xfrm>
            <a:off x="6309360" y="3977640"/>
            <a:ext cx="5394960" cy="640080"/>
          </a:xfrm>
          <a:prstGeom prst="rect">
            <a:avLst/>
          </a:prstGeom>
          <a:noFill/>
        </p:spPr>
        <p:txBody>
          <a:bodyPr wrap="square" lIns="45720" tIns="18288" rIns="45720" bIns="18288">
            <a:spAutoFit/>
          </a:bodyPr>
          <a:lstStyle/>
          <a:p>
            <a:pPr algn="ctr"/>
            <a:r>
              <a:rPr sz="1200" b="0">
                <a:solidFill>
                  <a:srgbClr val="606060"/>
                </a:solidFill>
                <a:latin typeface="Segoe UI"/>
              </a:rPr>
              <a:t>Foundry Control Plane — agent inventory grid (name · status · runs · errors · cost · owner)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Alerts are the bridge from telemetry to action</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500" b="0">
                <a:solidFill>
                  <a:srgbClr val="1F1F1F"/>
                </a:solidFill>
                <a:latin typeface="Segoe UI"/>
              </a:rPr>
              <a:t>A dashboard nobody watches is not observability. Every signal worth tracking gets a threshold, an owner, and a playbook.</a:t>
            </a:r>
          </a:p>
        </p:txBody>
      </p:sp>
      <p:sp>
        <p:nvSpPr>
          <p:cNvPr id="7" name="Rectangle 6"/>
          <p:cNvSpPr/>
          <p:nvPr/>
        </p:nvSpPr>
        <p:spPr>
          <a:xfrm>
            <a:off x="457200" y="1920240"/>
            <a:ext cx="109728"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920240"/>
            <a:ext cx="5468112"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93392"/>
            <a:ext cx="1371600" cy="365760"/>
          </a:xfrm>
          <a:prstGeom prst="rect">
            <a:avLst/>
          </a:prstGeom>
          <a:noFill/>
        </p:spPr>
        <p:txBody>
          <a:bodyPr wrap="square" lIns="45720" tIns="18288" rIns="45720" bIns="18288">
            <a:spAutoFit/>
          </a:bodyPr>
          <a:lstStyle/>
          <a:p>
            <a:r>
              <a:rPr sz="1400" b="1">
                <a:solidFill>
                  <a:srgbClr val="2E7D32"/>
                </a:solidFill>
                <a:latin typeface="Segoe UI"/>
              </a:rPr>
              <a:t>Quality</a:t>
            </a:r>
          </a:p>
        </p:txBody>
      </p:sp>
      <p:sp>
        <p:nvSpPr>
          <p:cNvPr id="10" name="TextBox 9"/>
          <p:cNvSpPr txBox="1"/>
          <p:nvPr/>
        </p:nvSpPr>
        <p:spPr>
          <a:xfrm>
            <a:off x="731520" y="2304288"/>
            <a:ext cx="5120640" cy="365760"/>
          </a:xfrm>
          <a:prstGeom prst="rect">
            <a:avLst/>
          </a:prstGeom>
          <a:noFill/>
        </p:spPr>
        <p:txBody>
          <a:bodyPr wrap="square" lIns="45720" tIns="18288" rIns="45720" bIns="18288">
            <a:spAutoFit/>
          </a:bodyPr>
          <a:lstStyle/>
          <a:p>
            <a:r>
              <a:rPr sz="1100" b="0">
                <a:solidFill>
                  <a:srgbClr val="1F1F1F"/>
                </a:solidFill>
                <a:latin typeface="Segoe UI"/>
              </a:rPr>
              <a:t>Groundedness, task adherence, tool-call accuracy regressions</a:t>
            </a:r>
          </a:p>
        </p:txBody>
      </p:sp>
      <p:sp>
        <p:nvSpPr>
          <p:cNvPr id="11" name="Rectangle 10"/>
          <p:cNvSpPr/>
          <p:nvPr/>
        </p:nvSpPr>
        <p:spPr>
          <a:xfrm>
            <a:off x="457200" y="2770632"/>
            <a:ext cx="109728" cy="7772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2770632"/>
            <a:ext cx="5468112"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843784"/>
            <a:ext cx="1371600" cy="365760"/>
          </a:xfrm>
          <a:prstGeom prst="rect">
            <a:avLst/>
          </a:prstGeom>
          <a:noFill/>
        </p:spPr>
        <p:txBody>
          <a:bodyPr wrap="square" lIns="45720" tIns="18288" rIns="45720" bIns="18288">
            <a:spAutoFit/>
          </a:bodyPr>
          <a:lstStyle/>
          <a:p>
            <a:r>
              <a:rPr sz="1400" b="1">
                <a:solidFill>
                  <a:srgbClr val="C62828"/>
                </a:solidFill>
                <a:latin typeface="Segoe UI"/>
              </a:rPr>
              <a:t>Safety</a:t>
            </a:r>
          </a:p>
        </p:txBody>
      </p:sp>
      <p:sp>
        <p:nvSpPr>
          <p:cNvPr id="14" name="TextBox 13"/>
          <p:cNvSpPr txBox="1"/>
          <p:nvPr/>
        </p:nvSpPr>
        <p:spPr>
          <a:xfrm>
            <a:off x="731520" y="3154680"/>
            <a:ext cx="5120640" cy="365760"/>
          </a:xfrm>
          <a:prstGeom prst="rect">
            <a:avLst/>
          </a:prstGeom>
          <a:noFill/>
        </p:spPr>
        <p:txBody>
          <a:bodyPr wrap="square" lIns="45720" tIns="18288" rIns="45720" bIns="18288">
            <a:spAutoFit/>
          </a:bodyPr>
          <a:lstStyle/>
          <a:p>
            <a:r>
              <a:rPr sz="1100" b="0">
                <a:solidFill>
                  <a:srgbClr val="1F1F1F"/>
                </a:solidFill>
                <a:latin typeface="Segoe UI"/>
              </a:rPr>
              <a:t>Content Safety / Prompt Shield block-rate spike, XPIA hit</a:t>
            </a:r>
          </a:p>
        </p:txBody>
      </p:sp>
      <p:sp>
        <p:nvSpPr>
          <p:cNvPr id="15" name="Rectangle 14"/>
          <p:cNvSpPr/>
          <p:nvPr/>
        </p:nvSpPr>
        <p:spPr>
          <a:xfrm>
            <a:off x="457200" y="3621024"/>
            <a:ext cx="109728" cy="777240"/>
          </a:xfrm>
          <a:prstGeom prst="rect">
            <a:avLst/>
          </a:prstGeom>
          <a:solidFill>
            <a:srgbClr val="EF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3621024"/>
            <a:ext cx="5468112"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694176"/>
            <a:ext cx="1371600" cy="365760"/>
          </a:xfrm>
          <a:prstGeom prst="rect">
            <a:avLst/>
          </a:prstGeom>
          <a:noFill/>
        </p:spPr>
        <p:txBody>
          <a:bodyPr wrap="square" lIns="45720" tIns="18288" rIns="45720" bIns="18288">
            <a:spAutoFit/>
          </a:bodyPr>
          <a:lstStyle/>
          <a:p>
            <a:r>
              <a:rPr sz="1400" b="1">
                <a:solidFill>
                  <a:srgbClr val="EF6C00"/>
                </a:solidFill>
                <a:latin typeface="Segoe UI"/>
              </a:rPr>
              <a:t>Cost</a:t>
            </a:r>
          </a:p>
        </p:txBody>
      </p:sp>
      <p:sp>
        <p:nvSpPr>
          <p:cNvPr id="18" name="TextBox 17"/>
          <p:cNvSpPr txBox="1"/>
          <p:nvPr/>
        </p:nvSpPr>
        <p:spPr>
          <a:xfrm>
            <a:off x="731520" y="4005072"/>
            <a:ext cx="5120640" cy="365760"/>
          </a:xfrm>
          <a:prstGeom prst="rect">
            <a:avLst/>
          </a:prstGeom>
          <a:noFill/>
        </p:spPr>
        <p:txBody>
          <a:bodyPr wrap="square" lIns="45720" tIns="18288" rIns="45720" bIns="18288">
            <a:spAutoFit/>
          </a:bodyPr>
          <a:lstStyle/>
          <a:p>
            <a:r>
              <a:rPr sz="1100" b="0">
                <a:solidFill>
                  <a:srgbClr val="1F1F1F"/>
                </a:solidFill>
                <a:latin typeface="Segoe UI"/>
              </a:rPr>
              <a:t>Token spend vs cost budgets, per-request cost p95 anomaly</a:t>
            </a:r>
          </a:p>
        </p:txBody>
      </p:sp>
      <p:sp>
        <p:nvSpPr>
          <p:cNvPr id="19" name="Rectangle 18"/>
          <p:cNvSpPr/>
          <p:nvPr/>
        </p:nvSpPr>
        <p:spPr>
          <a:xfrm>
            <a:off x="457200" y="4471416"/>
            <a:ext cx="109728" cy="77724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4471416"/>
            <a:ext cx="5468112"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544568"/>
            <a:ext cx="1371600" cy="365760"/>
          </a:xfrm>
          <a:prstGeom prst="rect">
            <a:avLst/>
          </a:prstGeom>
          <a:noFill/>
        </p:spPr>
        <p:txBody>
          <a:bodyPr wrap="square" lIns="45720" tIns="18288" rIns="45720" bIns="18288">
            <a:spAutoFit/>
          </a:bodyPr>
          <a:lstStyle/>
          <a:p>
            <a:r>
              <a:rPr sz="1400" b="1">
                <a:solidFill>
                  <a:srgbClr val="1565C0"/>
                </a:solidFill>
                <a:latin typeface="Segoe UI"/>
              </a:rPr>
              <a:t>Reliability</a:t>
            </a:r>
          </a:p>
        </p:txBody>
      </p:sp>
      <p:sp>
        <p:nvSpPr>
          <p:cNvPr id="22" name="TextBox 21"/>
          <p:cNvSpPr txBox="1"/>
          <p:nvPr/>
        </p:nvSpPr>
        <p:spPr>
          <a:xfrm>
            <a:off x="731520" y="4855464"/>
            <a:ext cx="5120640" cy="365760"/>
          </a:xfrm>
          <a:prstGeom prst="rect">
            <a:avLst/>
          </a:prstGeom>
          <a:noFill/>
        </p:spPr>
        <p:txBody>
          <a:bodyPr wrap="square" lIns="45720" tIns="18288" rIns="45720" bIns="18288">
            <a:spAutoFit/>
          </a:bodyPr>
          <a:lstStyle/>
          <a:p>
            <a:r>
              <a:rPr sz="1100" b="0">
                <a:solidFill>
                  <a:srgbClr val="1F1F1F"/>
                </a:solidFill>
                <a:latin typeface="Segoe UI"/>
              </a:rPr>
              <a:t>Error rate, p95 latency vs SLO, tool timeout spike</a:t>
            </a:r>
          </a:p>
        </p:txBody>
      </p:sp>
      <p:sp>
        <p:nvSpPr>
          <p:cNvPr id="23" name="Rectangle 22"/>
          <p:cNvSpPr/>
          <p:nvPr/>
        </p:nvSpPr>
        <p:spPr>
          <a:xfrm>
            <a:off x="457200" y="5321808"/>
            <a:ext cx="109728" cy="777240"/>
          </a:xfrm>
          <a:prstGeom prst="rect">
            <a:avLst/>
          </a:prstGeom>
          <a:solidFill>
            <a:srgbClr val="4A1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5321808"/>
            <a:ext cx="5468112"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5394960"/>
            <a:ext cx="1371600" cy="365760"/>
          </a:xfrm>
          <a:prstGeom prst="rect">
            <a:avLst/>
          </a:prstGeom>
          <a:noFill/>
        </p:spPr>
        <p:txBody>
          <a:bodyPr wrap="square" lIns="45720" tIns="18288" rIns="45720" bIns="18288">
            <a:spAutoFit/>
          </a:bodyPr>
          <a:lstStyle/>
          <a:p>
            <a:r>
              <a:rPr sz="1400" b="1">
                <a:solidFill>
                  <a:srgbClr val="4A148C"/>
                </a:solidFill>
                <a:latin typeface="Segoe UI"/>
              </a:rPr>
              <a:t>Security</a:t>
            </a:r>
          </a:p>
        </p:txBody>
      </p:sp>
      <p:sp>
        <p:nvSpPr>
          <p:cNvPr id="26" name="TextBox 25"/>
          <p:cNvSpPr txBox="1"/>
          <p:nvPr/>
        </p:nvSpPr>
        <p:spPr>
          <a:xfrm>
            <a:off x="731520" y="5705856"/>
            <a:ext cx="5120640" cy="365760"/>
          </a:xfrm>
          <a:prstGeom prst="rect">
            <a:avLst/>
          </a:prstGeom>
          <a:noFill/>
        </p:spPr>
        <p:txBody>
          <a:bodyPr wrap="square" lIns="45720" tIns="18288" rIns="45720" bIns="18288">
            <a:spAutoFit/>
          </a:bodyPr>
          <a:lstStyle/>
          <a:p>
            <a:r>
              <a:rPr sz="1100" b="0">
                <a:solidFill>
                  <a:srgbClr val="1F1F1F"/>
                </a:solidFill>
                <a:latin typeface="Segoe UI"/>
              </a:rPr>
              <a:t>New outbound destination, unfamiliar tool invocation pattern</a:t>
            </a:r>
          </a:p>
        </p:txBody>
      </p:sp>
      <p:sp>
        <p:nvSpPr>
          <p:cNvPr id="27" name="TextBox 26"/>
          <p:cNvSpPr txBox="1"/>
          <p:nvPr/>
        </p:nvSpPr>
        <p:spPr>
          <a:xfrm>
            <a:off x="457200" y="6400800"/>
            <a:ext cx="6400800" cy="320040"/>
          </a:xfrm>
          <a:prstGeom prst="rect">
            <a:avLst/>
          </a:prstGeom>
          <a:noFill/>
        </p:spPr>
        <p:txBody>
          <a:bodyPr wrap="square" lIns="45720" tIns="18288" rIns="45720" bIns="18288">
            <a:spAutoFit/>
          </a:bodyPr>
          <a:lstStyle/>
          <a:p>
            <a:r>
              <a:rPr sz="1100" b="1">
                <a:solidFill>
                  <a:srgbClr val="0078D4"/>
                </a:solidFill>
                <a:latin typeface="Segoe UI"/>
              </a:rPr>
              <a:t>Routing: Azure Monitor → Action Group → Teams / PagerDuty → playbook (Accelerator).</a:t>
            </a:r>
          </a:p>
        </p:txBody>
      </p:sp>
      <p:sp>
        <p:nvSpPr>
          <p:cNvPr id="28" name="Rectangle 27"/>
          <p:cNvSpPr/>
          <p:nvPr/>
        </p:nvSpPr>
        <p:spPr>
          <a:xfrm>
            <a:off x="6309360" y="1920240"/>
            <a:ext cx="5394960" cy="42976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3657600"/>
            <a:ext cx="539496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30" name="TextBox 29"/>
          <p:cNvSpPr txBox="1"/>
          <p:nvPr/>
        </p:nvSpPr>
        <p:spPr>
          <a:xfrm>
            <a:off x="6309360" y="4023360"/>
            <a:ext cx="5394960" cy="640080"/>
          </a:xfrm>
          <a:prstGeom prst="rect">
            <a:avLst/>
          </a:prstGeom>
          <a:noFill/>
        </p:spPr>
        <p:txBody>
          <a:bodyPr wrap="square" lIns="45720" tIns="18288" rIns="45720" bIns="18288">
            <a:spAutoFit/>
          </a:bodyPr>
          <a:lstStyle/>
          <a:p>
            <a:pPr algn="ctr"/>
            <a:r>
              <a:rPr sz="1200" b="0">
                <a:solidFill>
                  <a:srgbClr val="606060"/>
                </a:solidFill>
                <a:latin typeface="Segoe UI"/>
              </a:rPr>
              <a:t>Azure Monitor alert rule on an agent metric (or Foundry threshold view)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UAT vs PROD — same shape, different policy</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500" b="0">
                <a:solidFill>
                  <a:srgbClr val="1F1F1F"/>
                </a:solidFill>
                <a:latin typeface="Segoe UI"/>
              </a:rPr>
              <a:t>Both environments emit the same telemetry contract. What differs is the operating policy.</a:t>
            </a:r>
          </a:p>
        </p:txBody>
      </p:sp>
      <p:sp>
        <p:nvSpPr>
          <p:cNvPr id="7" name="Rectangle 6"/>
          <p:cNvSpPr/>
          <p:nvPr/>
        </p:nvSpPr>
        <p:spPr>
          <a:xfrm>
            <a:off x="457200" y="1828800"/>
            <a:ext cx="5486400" cy="5029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20240"/>
            <a:ext cx="5486400" cy="365760"/>
          </a:xfrm>
          <a:prstGeom prst="rect">
            <a:avLst/>
          </a:prstGeom>
          <a:noFill/>
        </p:spPr>
        <p:txBody>
          <a:bodyPr wrap="square" lIns="45720" tIns="18288" rIns="45720" bIns="18288">
            <a:spAutoFit/>
          </a:bodyPr>
          <a:lstStyle/>
          <a:p>
            <a:pPr algn="ctr"/>
            <a:r>
              <a:rPr sz="1800" b="1">
                <a:solidFill>
                  <a:srgbClr val="FFFFFF"/>
                </a:solidFill>
                <a:latin typeface="Segoe UI"/>
              </a:rPr>
              <a:t>UAT</a:t>
            </a:r>
          </a:p>
        </p:txBody>
      </p:sp>
      <p:sp>
        <p:nvSpPr>
          <p:cNvPr id="9" name="Rectangle 8"/>
          <p:cNvSpPr/>
          <p:nvPr/>
        </p:nvSpPr>
        <p:spPr>
          <a:xfrm>
            <a:off x="457200" y="2331720"/>
            <a:ext cx="5486400" cy="2788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68880"/>
            <a:ext cx="5120640" cy="2560320"/>
          </a:xfrm>
          <a:prstGeom prst="rect">
            <a:avLst/>
          </a:prstGeom>
          <a:noFill/>
        </p:spPr>
        <p:txBody>
          <a:bodyPr wrap="square">
            <a:spAutoFit/>
          </a:bodyPr>
          <a:lstStyle/>
          <a:p>
            <a:pPr>
              <a:spcAft>
                <a:spcPts val="600"/>
              </a:spcAft>
            </a:pPr>
            <a:r>
              <a:rPr sz="1300" b="0">
                <a:solidFill>
                  <a:srgbClr val="1F1F1F"/>
                </a:solidFill>
                <a:latin typeface="Segoe UI"/>
              </a:rPr>
              <a:t>• Verbose traces, full payload capture</a:t>
            </a:r>
          </a:p>
          <a:p>
            <a:pPr>
              <a:spcAft>
                <a:spcPts val="600"/>
              </a:spcAft>
            </a:pPr>
            <a:r>
              <a:rPr sz="1300" b="0">
                <a:solidFill>
                  <a:srgbClr val="1F1F1F"/>
                </a:solidFill>
                <a:latin typeface="Segoe UI"/>
              </a:rPr>
              <a:t>• Full eval suite on every deploy</a:t>
            </a:r>
          </a:p>
          <a:p>
            <a:pPr>
              <a:spcAft>
                <a:spcPts val="600"/>
              </a:spcAft>
            </a:pPr>
            <a:r>
              <a:rPr sz="1300" b="0">
                <a:solidFill>
                  <a:srgbClr val="1F1F1F"/>
                </a:solidFill>
                <a:latin typeface="Segoe UI"/>
              </a:rPr>
              <a:t>• Red-team agent runs</a:t>
            </a:r>
          </a:p>
          <a:p>
            <a:pPr>
              <a:spcAft>
                <a:spcPts val="600"/>
              </a:spcAft>
            </a:pPr>
            <a:r>
              <a:rPr sz="1300" b="0">
                <a:solidFill>
                  <a:srgbClr val="1F1F1F"/>
                </a:solidFill>
                <a:latin typeface="Segoe UI"/>
              </a:rPr>
              <a:t>• Synthetic load and edge-case prompts</a:t>
            </a:r>
          </a:p>
          <a:p>
            <a:pPr>
              <a:spcAft>
                <a:spcPts val="600"/>
              </a:spcAft>
            </a:pPr>
            <a:r>
              <a:rPr sz="1300" b="0">
                <a:solidFill>
                  <a:srgbClr val="1F1F1F"/>
                </a:solidFill>
                <a:latin typeface="Segoe UI"/>
              </a:rPr>
              <a:t>• Promotion gate: eval pass + shadow run</a:t>
            </a:r>
          </a:p>
        </p:txBody>
      </p:sp>
      <p:sp>
        <p:nvSpPr>
          <p:cNvPr id="11" name="Rectangle 10"/>
          <p:cNvSpPr/>
          <p:nvPr/>
        </p:nvSpPr>
        <p:spPr>
          <a:xfrm>
            <a:off x="6263640" y="1828800"/>
            <a:ext cx="5486400" cy="5029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920240"/>
            <a:ext cx="5486400" cy="365760"/>
          </a:xfrm>
          <a:prstGeom prst="rect">
            <a:avLst/>
          </a:prstGeom>
          <a:noFill/>
        </p:spPr>
        <p:txBody>
          <a:bodyPr wrap="square" lIns="45720" tIns="18288" rIns="45720" bIns="18288">
            <a:spAutoFit/>
          </a:bodyPr>
          <a:lstStyle/>
          <a:p>
            <a:pPr algn="ctr"/>
            <a:r>
              <a:rPr sz="1800" b="1">
                <a:solidFill>
                  <a:srgbClr val="FFFFFF"/>
                </a:solidFill>
                <a:latin typeface="Segoe UI"/>
              </a:rPr>
              <a:t>PROD</a:t>
            </a:r>
          </a:p>
        </p:txBody>
      </p:sp>
      <p:sp>
        <p:nvSpPr>
          <p:cNvPr id="13" name="Rectangle 12"/>
          <p:cNvSpPr/>
          <p:nvPr/>
        </p:nvSpPr>
        <p:spPr>
          <a:xfrm>
            <a:off x="6263640" y="2331720"/>
            <a:ext cx="5486400" cy="27889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2468880"/>
            <a:ext cx="5120640" cy="2560320"/>
          </a:xfrm>
          <a:prstGeom prst="rect">
            <a:avLst/>
          </a:prstGeom>
          <a:noFill/>
        </p:spPr>
        <p:txBody>
          <a:bodyPr wrap="square">
            <a:spAutoFit/>
          </a:bodyPr>
          <a:lstStyle/>
          <a:p>
            <a:pPr>
              <a:spcAft>
                <a:spcPts val="600"/>
              </a:spcAft>
            </a:pPr>
            <a:r>
              <a:rPr sz="1300" b="0">
                <a:solidFill>
                  <a:srgbClr val="1F1F1F"/>
                </a:solidFill>
                <a:latin typeface="Segoe UI"/>
              </a:rPr>
              <a:t>• Sampled traces, redacted payloads</a:t>
            </a:r>
          </a:p>
          <a:p>
            <a:pPr>
              <a:spcAft>
                <a:spcPts val="600"/>
              </a:spcAft>
            </a:pPr>
            <a:r>
              <a:rPr sz="1300" b="0">
                <a:solidFill>
                  <a:srgbClr val="1F1F1F"/>
                </a:solidFill>
                <a:latin typeface="Segoe UI"/>
              </a:rPr>
              <a:t>• Online evaluators on % of live traffic</a:t>
            </a:r>
          </a:p>
          <a:p>
            <a:pPr>
              <a:spcAft>
                <a:spcPts val="600"/>
              </a:spcAft>
            </a:pPr>
            <a:r>
              <a:rPr sz="1300" b="0">
                <a:solidFill>
                  <a:srgbClr val="1F1F1F"/>
                </a:solidFill>
                <a:latin typeface="Segoe UI"/>
              </a:rPr>
              <a:t>• Auto-rollback armed on regression</a:t>
            </a:r>
          </a:p>
          <a:p>
            <a:pPr>
              <a:spcAft>
                <a:spcPts val="600"/>
              </a:spcAft>
            </a:pPr>
            <a:r>
              <a:rPr sz="1300" b="0">
                <a:solidFill>
                  <a:srgbClr val="1F1F1F"/>
                </a:solidFill>
                <a:latin typeface="Segoe UI"/>
              </a:rPr>
              <a:t>• Tight guardrails, aggressive thresholds</a:t>
            </a:r>
          </a:p>
          <a:p>
            <a:pPr>
              <a:spcAft>
                <a:spcPts val="600"/>
              </a:spcAft>
            </a:pPr>
            <a:r>
              <a:rPr sz="1300" b="0">
                <a:solidFill>
                  <a:srgbClr val="1F1F1F"/>
                </a:solidFill>
                <a:latin typeface="Segoe UI"/>
              </a:rPr>
              <a:t>• Real users, real money on the line</a:t>
            </a:r>
          </a:p>
        </p:txBody>
      </p:sp>
      <p:sp>
        <p:nvSpPr>
          <p:cNvPr id="15" name="Rectangle 14"/>
          <p:cNvSpPr/>
          <p:nvPr/>
        </p:nvSpPr>
        <p:spPr>
          <a:xfrm>
            <a:off x="457200" y="5349240"/>
            <a:ext cx="11247120" cy="12801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5577840"/>
            <a:ext cx="1124712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17" name="TextBox 16"/>
          <p:cNvSpPr txBox="1"/>
          <p:nvPr/>
        </p:nvSpPr>
        <p:spPr>
          <a:xfrm>
            <a:off x="457200" y="5943600"/>
            <a:ext cx="11247120" cy="640080"/>
          </a:xfrm>
          <a:prstGeom prst="rect">
            <a:avLst/>
          </a:prstGeom>
          <a:noFill/>
        </p:spPr>
        <p:txBody>
          <a:bodyPr wrap="square" lIns="45720" tIns="18288" rIns="45720" bIns="18288">
            <a:spAutoFit/>
          </a:bodyPr>
          <a:lstStyle/>
          <a:p>
            <a:pPr algn="ctr"/>
            <a:r>
              <a:rPr sz="1200" b="0">
                <a:solidFill>
                  <a:srgbClr val="606060"/>
                </a:solidFill>
                <a:latin typeface="Segoe UI"/>
              </a:rPr>
              <a:t>Foundry online / continuous evaluation configured on a deployed agent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CONCEPT</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The feedback loop is what makes this 'Ops'</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97280"/>
            <a:ext cx="11247120" cy="548640"/>
          </a:xfrm>
          <a:prstGeom prst="rect">
            <a:avLst/>
          </a:prstGeom>
          <a:noFill/>
        </p:spPr>
        <p:txBody>
          <a:bodyPr wrap="square" lIns="45720" tIns="18288" rIns="45720" bIns="18288">
            <a:spAutoFit/>
          </a:bodyPr>
          <a:lstStyle/>
          <a:p>
            <a:r>
              <a:rPr sz="1600" b="1">
                <a:solidFill>
                  <a:srgbClr val="0B2A4A"/>
                </a:solidFill>
                <a:latin typeface="Segoe UI"/>
              </a:rPr>
              <a:t>Monitoring tells you something broke. AgenticOps fixes it on the next version.</a:t>
            </a:r>
          </a:p>
        </p:txBody>
      </p:sp>
      <p:sp>
        <p:nvSpPr>
          <p:cNvPr id="7" name="Rectangle 6"/>
          <p:cNvSpPr/>
          <p:nvPr/>
        </p:nvSpPr>
        <p:spPr>
          <a:xfrm>
            <a:off x="678180" y="1920240"/>
            <a:ext cx="2057400" cy="1371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8180" y="2194560"/>
            <a:ext cx="2057400" cy="1097280"/>
          </a:xfrm>
          <a:prstGeom prst="rect">
            <a:avLst/>
          </a:prstGeom>
          <a:noFill/>
        </p:spPr>
        <p:txBody>
          <a:bodyPr wrap="square" lIns="45720" tIns="18288" rIns="45720" bIns="18288">
            <a:spAutoFit/>
          </a:bodyPr>
          <a:lstStyle/>
          <a:p>
            <a:pPr algn="ctr"/>
            <a:r>
              <a:rPr sz="1200" b="1">
                <a:solidFill>
                  <a:srgbClr val="FFFFFF"/>
                </a:solidFill>
                <a:latin typeface="Segoe UI"/>
              </a:rPr>
              <a:t>1. Production</a:t>
            </a:r>
          </a:p>
          <a:p>
            <a:pPr algn="ctr"/>
            <a:r>
              <a:rPr sz="1200" b="1">
                <a:solidFill>
                  <a:srgbClr val="FFFFFF"/>
                </a:solidFill>
                <a:latin typeface="Segoe UI"/>
              </a:rPr>
              <a:t>traces in</a:t>
            </a:r>
          </a:p>
          <a:p>
            <a:pPr algn="ctr"/>
            <a:r>
              <a:rPr sz="1200" b="1">
                <a:solidFill>
                  <a:srgbClr val="FFFFFF"/>
                </a:solidFill>
                <a:latin typeface="Segoe UI"/>
              </a:rPr>
              <a:t>App Insights</a:t>
            </a:r>
          </a:p>
        </p:txBody>
      </p:sp>
      <p:sp>
        <p:nvSpPr>
          <p:cNvPr id="9" name="TextBox 8"/>
          <p:cNvSpPr txBox="1"/>
          <p:nvPr/>
        </p:nvSpPr>
        <p:spPr>
          <a:xfrm>
            <a:off x="2735580" y="2377440"/>
            <a:ext cx="137160" cy="457200"/>
          </a:xfrm>
          <a:prstGeom prst="rect">
            <a:avLst/>
          </a:prstGeom>
          <a:noFill/>
        </p:spPr>
        <p:txBody>
          <a:bodyPr wrap="square" lIns="45720" tIns="18288" rIns="45720" bIns="18288">
            <a:spAutoFit/>
          </a:bodyPr>
          <a:lstStyle/>
          <a:p>
            <a:pPr algn="ctr"/>
            <a:r>
              <a:rPr sz="2000" b="1">
                <a:solidFill>
                  <a:srgbClr val="0078D4"/>
                </a:solidFill>
                <a:latin typeface="Segoe UI"/>
              </a:rPr>
              <a:t>→</a:t>
            </a:r>
          </a:p>
        </p:txBody>
      </p:sp>
      <p:sp>
        <p:nvSpPr>
          <p:cNvPr id="10" name="Rectangle 9"/>
          <p:cNvSpPr/>
          <p:nvPr/>
        </p:nvSpPr>
        <p:spPr>
          <a:xfrm>
            <a:off x="2872740" y="1920240"/>
            <a:ext cx="2057400" cy="13716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72740" y="2194560"/>
            <a:ext cx="2057400" cy="1097280"/>
          </a:xfrm>
          <a:prstGeom prst="rect">
            <a:avLst/>
          </a:prstGeom>
          <a:noFill/>
        </p:spPr>
        <p:txBody>
          <a:bodyPr wrap="square" lIns="45720" tIns="18288" rIns="45720" bIns="18288">
            <a:spAutoFit/>
          </a:bodyPr>
          <a:lstStyle/>
          <a:p>
            <a:pPr algn="ctr"/>
            <a:r>
              <a:rPr sz="1200" b="1">
                <a:solidFill>
                  <a:srgbClr val="FFFFFF"/>
                </a:solidFill>
                <a:latin typeface="Segoe UI"/>
              </a:rPr>
              <a:t>2. Sampler</a:t>
            </a:r>
          </a:p>
          <a:p>
            <a:pPr algn="ctr"/>
            <a:r>
              <a:rPr sz="1200" b="1">
                <a:solidFill>
                  <a:srgbClr val="FFFFFF"/>
                </a:solidFill>
                <a:latin typeface="Segoe UI"/>
              </a:rPr>
              <a:t>curates failed +</a:t>
            </a:r>
          </a:p>
          <a:p>
            <a:pPr algn="ctr"/>
            <a:r>
              <a:rPr sz="1200" b="1">
                <a:solidFill>
                  <a:srgbClr val="FFFFFF"/>
                </a:solidFill>
                <a:latin typeface="Segoe UI"/>
              </a:rPr>
              <a:t>representative</a:t>
            </a:r>
          </a:p>
        </p:txBody>
      </p:sp>
      <p:sp>
        <p:nvSpPr>
          <p:cNvPr id="12" name="TextBox 11"/>
          <p:cNvSpPr txBox="1"/>
          <p:nvPr/>
        </p:nvSpPr>
        <p:spPr>
          <a:xfrm>
            <a:off x="4930140" y="2377440"/>
            <a:ext cx="137160" cy="457200"/>
          </a:xfrm>
          <a:prstGeom prst="rect">
            <a:avLst/>
          </a:prstGeom>
          <a:noFill/>
        </p:spPr>
        <p:txBody>
          <a:bodyPr wrap="square" lIns="45720" tIns="18288" rIns="45720" bIns="18288">
            <a:spAutoFit/>
          </a:bodyPr>
          <a:lstStyle/>
          <a:p>
            <a:pPr algn="ctr"/>
            <a:r>
              <a:rPr sz="2000" b="1">
                <a:solidFill>
                  <a:srgbClr val="0078D4"/>
                </a:solidFill>
                <a:latin typeface="Segoe UI"/>
              </a:rPr>
              <a:t>→</a:t>
            </a:r>
          </a:p>
        </p:txBody>
      </p:sp>
      <p:sp>
        <p:nvSpPr>
          <p:cNvPr id="13" name="Rectangle 12"/>
          <p:cNvSpPr/>
          <p:nvPr/>
        </p:nvSpPr>
        <p:spPr>
          <a:xfrm>
            <a:off x="5067300" y="1920240"/>
            <a:ext cx="2057400" cy="1371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67300" y="2194560"/>
            <a:ext cx="2057400" cy="1097280"/>
          </a:xfrm>
          <a:prstGeom prst="rect">
            <a:avLst/>
          </a:prstGeom>
          <a:noFill/>
        </p:spPr>
        <p:txBody>
          <a:bodyPr wrap="square" lIns="45720" tIns="18288" rIns="45720" bIns="18288">
            <a:spAutoFit/>
          </a:bodyPr>
          <a:lstStyle/>
          <a:p>
            <a:pPr algn="ctr"/>
            <a:r>
              <a:rPr sz="1200" b="1">
                <a:solidFill>
                  <a:srgbClr val="FFFFFF"/>
                </a:solidFill>
                <a:latin typeface="Segoe UI"/>
              </a:rPr>
              <a:t>3. Versioned</a:t>
            </a:r>
          </a:p>
          <a:p>
            <a:pPr algn="ctr"/>
            <a:r>
              <a:rPr sz="1200" b="1">
                <a:solidFill>
                  <a:srgbClr val="FFFFFF"/>
                </a:solidFill>
                <a:latin typeface="Segoe UI"/>
              </a:rPr>
              <a:t>eval dataset</a:t>
            </a:r>
          </a:p>
          <a:p>
            <a:pPr algn="ctr"/>
            <a:r>
              <a:rPr sz="1200" b="1">
                <a:solidFill>
                  <a:srgbClr val="FFFFFF"/>
                </a:solidFill>
                <a:latin typeface="Segoe UI"/>
              </a:rPr>
              <a:t>(re-run batch)</a:t>
            </a:r>
          </a:p>
        </p:txBody>
      </p:sp>
      <p:sp>
        <p:nvSpPr>
          <p:cNvPr id="15" name="TextBox 14"/>
          <p:cNvSpPr txBox="1"/>
          <p:nvPr/>
        </p:nvSpPr>
        <p:spPr>
          <a:xfrm>
            <a:off x="7124700" y="2377440"/>
            <a:ext cx="137160" cy="457200"/>
          </a:xfrm>
          <a:prstGeom prst="rect">
            <a:avLst/>
          </a:prstGeom>
          <a:noFill/>
        </p:spPr>
        <p:txBody>
          <a:bodyPr wrap="square" lIns="45720" tIns="18288" rIns="45720" bIns="18288">
            <a:spAutoFit/>
          </a:bodyPr>
          <a:lstStyle/>
          <a:p>
            <a:pPr algn="ctr"/>
            <a:r>
              <a:rPr sz="2000" b="1">
                <a:solidFill>
                  <a:srgbClr val="0078D4"/>
                </a:solidFill>
                <a:latin typeface="Segoe UI"/>
              </a:rPr>
              <a:t>→</a:t>
            </a:r>
          </a:p>
        </p:txBody>
      </p:sp>
      <p:sp>
        <p:nvSpPr>
          <p:cNvPr id="16" name="Rectangle 15"/>
          <p:cNvSpPr/>
          <p:nvPr/>
        </p:nvSpPr>
        <p:spPr>
          <a:xfrm>
            <a:off x="7261860" y="1920240"/>
            <a:ext cx="2057400" cy="13716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61860" y="2194560"/>
            <a:ext cx="2057400" cy="1097280"/>
          </a:xfrm>
          <a:prstGeom prst="rect">
            <a:avLst/>
          </a:prstGeom>
          <a:noFill/>
        </p:spPr>
        <p:txBody>
          <a:bodyPr wrap="square" lIns="45720" tIns="18288" rIns="45720" bIns="18288">
            <a:spAutoFit/>
          </a:bodyPr>
          <a:lstStyle/>
          <a:p>
            <a:pPr algn="ctr"/>
            <a:r>
              <a:rPr sz="1200" b="1">
                <a:solidFill>
                  <a:srgbClr val="FFFFFF"/>
                </a:solidFill>
                <a:latin typeface="Segoe UI"/>
              </a:rPr>
              <a:t>4. Regressions →</a:t>
            </a:r>
          </a:p>
          <a:p>
            <a:pPr algn="ctr"/>
            <a:r>
              <a:rPr sz="1200" b="1">
                <a:solidFill>
                  <a:srgbClr val="FFFFFF"/>
                </a:solidFill>
                <a:latin typeface="Segoe UI"/>
              </a:rPr>
              <a:t>prompt / model /</a:t>
            </a:r>
          </a:p>
          <a:p>
            <a:pPr algn="ctr"/>
            <a:r>
              <a:rPr sz="1200" b="1">
                <a:solidFill>
                  <a:srgbClr val="FFFFFF"/>
                </a:solidFill>
                <a:latin typeface="Segoe UI"/>
              </a:rPr>
              <a:t>tool fix</a:t>
            </a:r>
          </a:p>
        </p:txBody>
      </p:sp>
      <p:sp>
        <p:nvSpPr>
          <p:cNvPr id="18" name="TextBox 17"/>
          <p:cNvSpPr txBox="1"/>
          <p:nvPr/>
        </p:nvSpPr>
        <p:spPr>
          <a:xfrm>
            <a:off x="9319260" y="2377440"/>
            <a:ext cx="137160" cy="457200"/>
          </a:xfrm>
          <a:prstGeom prst="rect">
            <a:avLst/>
          </a:prstGeom>
          <a:noFill/>
        </p:spPr>
        <p:txBody>
          <a:bodyPr wrap="square" lIns="45720" tIns="18288" rIns="45720" bIns="18288">
            <a:spAutoFit/>
          </a:bodyPr>
          <a:lstStyle/>
          <a:p>
            <a:pPr algn="ctr"/>
            <a:r>
              <a:rPr sz="2000" b="1">
                <a:solidFill>
                  <a:srgbClr val="0078D4"/>
                </a:solidFill>
                <a:latin typeface="Segoe UI"/>
              </a:rPr>
              <a:t>→</a:t>
            </a:r>
          </a:p>
        </p:txBody>
      </p:sp>
      <p:sp>
        <p:nvSpPr>
          <p:cNvPr id="19" name="Rectangle 18"/>
          <p:cNvSpPr/>
          <p:nvPr/>
        </p:nvSpPr>
        <p:spPr>
          <a:xfrm>
            <a:off x="9456420" y="1920240"/>
            <a:ext cx="2057400" cy="13716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56420" y="2194560"/>
            <a:ext cx="2057400" cy="1097280"/>
          </a:xfrm>
          <a:prstGeom prst="rect">
            <a:avLst/>
          </a:prstGeom>
          <a:noFill/>
        </p:spPr>
        <p:txBody>
          <a:bodyPr wrap="square" lIns="45720" tIns="18288" rIns="45720" bIns="18288">
            <a:spAutoFit/>
          </a:bodyPr>
          <a:lstStyle/>
          <a:p>
            <a:pPr algn="ctr"/>
            <a:r>
              <a:rPr sz="1200" b="1">
                <a:solidFill>
                  <a:srgbClr val="FFFFFF"/>
                </a:solidFill>
                <a:latin typeface="Segoe UI"/>
              </a:rPr>
              <a:t>5. CI promotes</a:t>
            </a:r>
          </a:p>
          <a:p>
            <a:pPr algn="ctr"/>
            <a:r>
              <a:rPr sz="1200" b="1">
                <a:solidFill>
                  <a:srgbClr val="FFFFFF"/>
                </a:solidFill>
                <a:latin typeface="Segoe UI"/>
              </a:rPr>
              <a:t>through release</a:t>
            </a:r>
          </a:p>
          <a:p>
            <a:pPr algn="ctr"/>
            <a:r>
              <a:rPr sz="1200" b="1">
                <a:solidFill>
                  <a:srgbClr val="FFFFFF"/>
                </a:solidFill>
                <a:latin typeface="Segoe UI"/>
              </a:rPr>
              <a:t>gates</a:t>
            </a:r>
          </a:p>
        </p:txBody>
      </p:sp>
      <p:sp>
        <p:nvSpPr>
          <p:cNvPr id="21" name="TextBox 20"/>
          <p:cNvSpPr txBox="1"/>
          <p:nvPr/>
        </p:nvSpPr>
        <p:spPr>
          <a:xfrm>
            <a:off x="457200" y="3520440"/>
            <a:ext cx="11247120" cy="457200"/>
          </a:xfrm>
          <a:prstGeom prst="rect">
            <a:avLst/>
          </a:prstGeom>
          <a:noFill/>
        </p:spPr>
        <p:txBody>
          <a:bodyPr wrap="square" lIns="45720" tIns="18288" rIns="45720" bIns="18288">
            <a:spAutoFit/>
          </a:bodyPr>
          <a:lstStyle/>
          <a:p>
            <a:pPr algn="l"/>
            <a:r>
              <a:rPr sz="1400" b="1">
                <a:solidFill>
                  <a:srgbClr val="0078D4"/>
                </a:solidFill>
                <a:latin typeface="Segoe UI"/>
              </a:rPr>
              <a:t>↺  Cadence-driven (daily / weekly), not incident-driven.</a:t>
            </a:r>
          </a:p>
        </p:txBody>
      </p:sp>
      <p:sp>
        <p:nvSpPr>
          <p:cNvPr id="22" name="TextBox 21"/>
          <p:cNvSpPr txBox="1"/>
          <p:nvPr/>
        </p:nvSpPr>
        <p:spPr>
          <a:xfrm>
            <a:off x="457200" y="4023360"/>
            <a:ext cx="11247120" cy="457200"/>
          </a:xfrm>
          <a:prstGeom prst="rect">
            <a:avLst/>
          </a:prstGeom>
          <a:noFill/>
        </p:spPr>
        <p:txBody>
          <a:bodyPr wrap="square" lIns="45720" tIns="18288" rIns="45720" bIns="18288">
            <a:spAutoFit/>
          </a:bodyPr>
          <a:lstStyle/>
          <a:p>
            <a:pPr algn="l"/>
            <a:r>
              <a:rPr sz="1200" b="0">
                <a:solidFill>
                  <a:srgbClr val="606060"/>
                </a:solidFill>
                <a:latin typeface="Segoe UI"/>
              </a:rPr>
              <a:t>This is the loop that turns telemetry into a self-improving system.</a:t>
            </a:r>
          </a:p>
        </p:txBody>
      </p:sp>
      <p:sp>
        <p:nvSpPr>
          <p:cNvPr id="23" name="Rectangle 22"/>
          <p:cNvSpPr/>
          <p:nvPr/>
        </p:nvSpPr>
        <p:spPr>
          <a:xfrm>
            <a:off x="2286000" y="4572000"/>
            <a:ext cx="7589520" cy="20116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0" y="5166360"/>
            <a:ext cx="7589520" cy="365760"/>
          </a:xfrm>
          <a:prstGeom prst="rect">
            <a:avLst/>
          </a:prstGeom>
          <a:noFill/>
        </p:spPr>
        <p:txBody>
          <a:bodyPr wrap="square" lIns="45720" tIns="18288" rIns="45720" bIns="18288">
            <a:spAutoFit/>
          </a:bodyPr>
          <a:lstStyle/>
          <a:p>
            <a:pPr algn="ctr"/>
            <a:r>
              <a:rPr sz="1400" b="1">
                <a:solidFill>
                  <a:srgbClr val="0078D4"/>
                </a:solidFill>
                <a:latin typeface="Segoe UI"/>
              </a:rPr>
              <a:t>[ SCREENSHOT PLACEHOLDER ]</a:t>
            </a:r>
          </a:p>
        </p:txBody>
      </p:sp>
      <p:sp>
        <p:nvSpPr>
          <p:cNvPr id="25" name="TextBox 24"/>
          <p:cNvSpPr txBox="1"/>
          <p:nvPr/>
        </p:nvSpPr>
        <p:spPr>
          <a:xfrm>
            <a:off x="2286000" y="5532120"/>
            <a:ext cx="7589520" cy="640080"/>
          </a:xfrm>
          <a:prstGeom prst="rect">
            <a:avLst/>
          </a:prstGeom>
          <a:noFill/>
        </p:spPr>
        <p:txBody>
          <a:bodyPr wrap="square" lIns="45720" tIns="18288" rIns="45720" bIns="18288">
            <a:spAutoFit/>
          </a:bodyPr>
          <a:lstStyle/>
          <a:p>
            <a:pPr algn="ctr"/>
            <a:r>
              <a:rPr sz="1200" b="0">
                <a:solidFill>
                  <a:srgbClr val="606060"/>
                </a:solidFill>
                <a:latin typeface="Segoe UI"/>
              </a:rPr>
              <a:t>Foundry batch evaluation — per-evaluator scores against a dataset version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REFERENCE ARCHITECTURE</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AgenticOps on Azure — the lean view</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2377440" cy="914400"/>
          </a:xfrm>
          <a:prstGeom prst="rect">
            <a:avLst/>
          </a:prstGeom>
          <a:solidFill>
            <a:srgbClr val="4A1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54480"/>
            <a:ext cx="2377440" cy="457200"/>
          </a:xfrm>
          <a:prstGeom prst="rect">
            <a:avLst/>
          </a:prstGeom>
          <a:noFill/>
        </p:spPr>
        <p:txBody>
          <a:bodyPr wrap="square" lIns="45720" tIns="18288" rIns="45720" bIns="18288">
            <a:spAutoFit/>
          </a:bodyPr>
          <a:lstStyle/>
          <a:p>
            <a:pPr algn="ctr"/>
            <a:r>
              <a:rPr sz="1200" b="1">
                <a:solidFill>
                  <a:srgbClr val="FFFFFF"/>
                </a:solidFill>
                <a:latin typeface="Segoe UI"/>
              </a:rPr>
              <a:t>RUNTIME</a:t>
            </a:r>
          </a:p>
        </p:txBody>
      </p:sp>
      <p:sp>
        <p:nvSpPr>
          <p:cNvPr id="8" name="Rectangle 7"/>
          <p:cNvSpPr/>
          <p:nvPr/>
        </p:nvSpPr>
        <p:spPr>
          <a:xfrm>
            <a:off x="2926080" y="1280160"/>
            <a:ext cx="8778240" cy="914400"/>
          </a:xfrm>
          <a:prstGeom prst="rect">
            <a:avLst/>
          </a:prstGeom>
          <a:solidFill>
            <a:srgbClr val="F3F6FA"/>
          </a:solidFill>
          <a:ln>
            <a:solidFill>
              <a:srgbClr val="4A14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1554480"/>
            <a:ext cx="8503920" cy="457200"/>
          </a:xfrm>
          <a:prstGeom prst="rect">
            <a:avLst/>
          </a:prstGeom>
          <a:noFill/>
        </p:spPr>
        <p:txBody>
          <a:bodyPr wrap="square" lIns="45720" tIns="18288" rIns="45720" bIns="18288">
            <a:spAutoFit/>
          </a:bodyPr>
          <a:lstStyle/>
          <a:p>
            <a:r>
              <a:rPr sz="1400" b="0">
                <a:solidFill>
                  <a:srgbClr val="1F1F1F"/>
                </a:solidFill>
                <a:latin typeface="Segoe UI"/>
              </a:rPr>
              <a:t>Foundry agents  ·  Agent Framework on ACA / AKS / Functions  ·  MCP behind APIM</a:t>
            </a:r>
          </a:p>
        </p:txBody>
      </p:sp>
      <p:sp>
        <p:nvSpPr>
          <p:cNvPr id="10" name="Rectangle 9"/>
          <p:cNvSpPr/>
          <p:nvPr/>
        </p:nvSpPr>
        <p:spPr>
          <a:xfrm>
            <a:off x="457200" y="2331720"/>
            <a:ext cx="2377440" cy="914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606040"/>
            <a:ext cx="2377440" cy="457200"/>
          </a:xfrm>
          <a:prstGeom prst="rect">
            <a:avLst/>
          </a:prstGeom>
          <a:noFill/>
        </p:spPr>
        <p:txBody>
          <a:bodyPr wrap="square" lIns="45720" tIns="18288" rIns="45720" bIns="18288">
            <a:spAutoFit/>
          </a:bodyPr>
          <a:lstStyle/>
          <a:p>
            <a:pPr algn="ctr"/>
            <a:r>
              <a:rPr sz="1200" b="1">
                <a:solidFill>
                  <a:srgbClr val="FFFFFF"/>
                </a:solidFill>
                <a:latin typeface="Segoe UI"/>
              </a:rPr>
              <a:t>TELEMETRY PLANE</a:t>
            </a:r>
          </a:p>
        </p:txBody>
      </p:sp>
      <p:sp>
        <p:nvSpPr>
          <p:cNvPr id="12" name="Rectangle 11"/>
          <p:cNvSpPr/>
          <p:nvPr/>
        </p:nvSpPr>
        <p:spPr>
          <a:xfrm>
            <a:off x="2926080" y="2331720"/>
            <a:ext cx="8778240" cy="91440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08960" y="2606040"/>
            <a:ext cx="8503920" cy="457200"/>
          </a:xfrm>
          <a:prstGeom prst="rect">
            <a:avLst/>
          </a:prstGeom>
          <a:noFill/>
        </p:spPr>
        <p:txBody>
          <a:bodyPr wrap="square" lIns="45720" tIns="18288" rIns="45720" bIns="18288">
            <a:spAutoFit/>
          </a:bodyPr>
          <a:lstStyle/>
          <a:p>
            <a:r>
              <a:rPr sz="1400" b="0">
                <a:solidFill>
                  <a:srgbClr val="1F1F1F"/>
                </a:solidFill>
                <a:latin typeface="Segoe UI"/>
              </a:rPr>
              <a:t>OTel SDK  →  Application Insights  →  Log Analytics  →  Workbooks + Alerts</a:t>
            </a:r>
          </a:p>
        </p:txBody>
      </p:sp>
      <p:sp>
        <p:nvSpPr>
          <p:cNvPr id="14" name="Rectangle 13"/>
          <p:cNvSpPr/>
          <p:nvPr/>
        </p:nvSpPr>
        <p:spPr>
          <a:xfrm>
            <a:off x="457200" y="3383280"/>
            <a:ext cx="237744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657600"/>
            <a:ext cx="2377440" cy="457200"/>
          </a:xfrm>
          <a:prstGeom prst="rect">
            <a:avLst/>
          </a:prstGeom>
          <a:noFill/>
        </p:spPr>
        <p:txBody>
          <a:bodyPr wrap="square" lIns="45720" tIns="18288" rIns="45720" bIns="18288">
            <a:spAutoFit/>
          </a:bodyPr>
          <a:lstStyle/>
          <a:p>
            <a:pPr algn="ctr"/>
            <a:r>
              <a:rPr sz="1200" b="1">
                <a:solidFill>
                  <a:srgbClr val="FFFFFF"/>
                </a:solidFill>
                <a:latin typeface="Segoe UI"/>
              </a:rPr>
              <a:t>CONTROL PLANE</a:t>
            </a:r>
          </a:p>
        </p:txBody>
      </p:sp>
      <p:sp>
        <p:nvSpPr>
          <p:cNvPr id="16" name="Rectangle 15"/>
          <p:cNvSpPr/>
          <p:nvPr/>
        </p:nvSpPr>
        <p:spPr>
          <a:xfrm>
            <a:off x="2926080" y="3383280"/>
            <a:ext cx="8778240" cy="914400"/>
          </a:xfrm>
          <a:prstGeom prst="rect">
            <a:avLst/>
          </a:prstGeom>
          <a:solidFill>
            <a:srgbClr val="F3F6FA"/>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08960" y="3657600"/>
            <a:ext cx="8503920" cy="457200"/>
          </a:xfrm>
          <a:prstGeom prst="rect">
            <a:avLst/>
          </a:prstGeom>
          <a:noFill/>
        </p:spPr>
        <p:txBody>
          <a:bodyPr wrap="square" lIns="45720" tIns="18288" rIns="45720" bIns="18288">
            <a:spAutoFit/>
          </a:bodyPr>
          <a:lstStyle/>
          <a:p>
            <a:r>
              <a:rPr sz="1400" b="0">
                <a:solidFill>
                  <a:srgbClr val="1F1F1F"/>
                </a:solidFill>
                <a:latin typeface="Segoe UI"/>
              </a:rPr>
              <a:t>Foundry Control Plane — inventory · online evals · guardrails view</a:t>
            </a:r>
          </a:p>
        </p:txBody>
      </p:sp>
      <p:sp>
        <p:nvSpPr>
          <p:cNvPr id="18" name="Rectangle 17"/>
          <p:cNvSpPr/>
          <p:nvPr/>
        </p:nvSpPr>
        <p:spPr>
          <a:xfrm>
            <a:off x="457200" y="4434840"/>
            <a:ext cx="2377440" cy="914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709160"/>
            <a:ext cx="2377440" cy="457200"/>
          </a:xfrm>
          <a:prstGeom prst="rect">
            <a:avLst/>
          </a:prstGeom>
          <a:noFill/>
        </p:spPr>
        <p:txBody>
          <a:bodyPr wrap="square" lIns="45720" tIns="18288" rIns="45720" bIns="18288">
            <a:spAutoFit/>
          </a:bodyPr>
          <a:lstStyle/>
          <a:p>
            <a:pPr algn="ctr"/>
            <a:r>
              <a:rPr sz="1200" b="1">
                <a:solidFill>
                  <a:srgbClr val="FFFFFF"/>
                </a:solidFill>
                <a:latin typeface="Segoe UI"/>
              </a:rPr>
              <a:t>CONSUMERS</a:t>
            </a:r>
          </a:p>
        </p:txBody>
      </p:sp>
      <p:sp>
        <p:nvSpPr>
          <p:cNvPr id="20" name="Rectangle 19"/>
          <p:cNvSpPr/>
          <p:nvPr/>
        </p:nvSpPr>
        <p:spPr>
          <a:xfrm>
            <a:off x="2926080" y="4434840"/>
            <a:ext cx="8778240" cy="914400"/>
          </a:xfrm>
          <a:prstGeom prst="rect">
            <a:avLst/>
          </a:prstGeom>
          <a:solidFill>
            <a:srgbClr val="F3F6FA"/>
          </a:solidFill>
          <a:ln>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08960" y="4709160"/>
            <a:ext cx="8503920" cy="457200"/>
          </a:xfrm>
          <a:prstGeom prst="rect">
            <a:avLst/>
          </a:prstGeom>
          <a:noFill/>
        </p:spPr>
        <p:txBody>
          <a:bodyPr wrap="square" lIns="45720" tIns="18288" rIns="45720" bIns="18288">
            <a:spAutoFit/>
          </a:bodyPr>
          <a:lstStyle/>
          <a:p>
            <a:r>
              <a:rPr sz="1400" b="0">
                <a:solidFill>
                  <a:srgbClr val="1F1F1F"/>
                </a:solidFill>
                <a:latin typeface="Segoe UI"/>
              </a:rPr>
              <a:t>Defender for Cloud  ·  Purview  ·  Cost Management  ·  CI/CD eval pipeline</a:t>
            </a:r>
          </a:p>
        </p:txBody>
      </p:sp>
      <p:sp>
        <p:nvSpPr>
          <p:cNvPr id="22" name="TextBox 21"/>
          <p:cNvSpPr txBox="1"/>
          <p:nvPr/>
        </p:nvSpPr>
        <p:spPr>
          <a:xfrm>
            <a:off x="457200" y="6035040"/>
            <a:ext cx="11247120" cy="548640"/>
          </a:xfrm>
          <a:prstGeom prst="rect">
            <a:avLst/>
          </a:prstGeom>
          <a:noFill/>
        </p:spPr>
        <p:txBody>
          <a:bodyPr wrap="square" lIns="45720" tIns="18288" rIns="45720" bIns="18288">
            <a:spAutoFit/>
          </a:bodyPr>
          <a:lstStyle/>
          <a:p>
            <a:pPr algn="l"/>
            <a:r>
              <a:rPr sz="1400" b="1">
                <a:solidFill>
                  <a:srgbClr val="0078D4"/>
                </a:solidFill>
                <a:latin typeface="Segoe UI"/>
              </a:rPr>
              <a:t>↺  One arrow back: Log Analytics → curated eval dataset → CI/CD.   That arrow IS the loop.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ACCELERATORS</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Four artifacts you can take home today</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5577840" cy="24688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548640" cy="2468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54480"/>
            <a:ext cx="365760" cy="457200"/>
          </a:xfrm>
          <a:prstGeom prst="rect">
            <a:avLst/>
          </a:prstGeom>
          <a:noFill/>
        </p:spPr>
        <p:txBody>
          <a:bodyPr wrap="square" lIns="45720" tIns="18288" rIns="45720" bIns="18288">
            <a:spAutoFit/>
          </a:bodyPr>
          <a:lstStyle/>
          <a:p>
            <a:r>
              <a:rPr sz="2000" b="1">
                <a:solidFill>
                  <a:srgbClr val="FFFFFF"/>
                </a:solidFill>
                <a:latin typeface="Segoe UI"/>
              </a:rPr>
              <a:t>01</a:t>
            </a:r>
          </a:p>
        </p:txBody>
      </p:sp>
      <p:sp>
        <p:nvSpPr>
          <p:cNvPr id="9" name="TextBox 8"/>
          <p:cNvSpPr txBox="1"/>
          <p:nvPr/>
        </p:nvSpPr>
        <p:spPr>
          <a:xfrm>
            <a:off x="1234440" y="1554480"/>
            <a:ext cx="4663440" cy="640080"/>
          </a:xfrm>
          <a:prstGeom prst="rect">
            <a:avLst/>
          </a:prstGeom>
          <a:noFill/>
        </p:spPr>
        <p:txBody>
          <a:bodyPr wrap="square" lIns="45720" tIns="18288" rIns="45720" bIns="18288">
            <a:spAutoFit/>
          </a:bodyPr>
          <a:lstStyle/>
          <a:p>
            <a:r>
              <a:rPr sz="1600" b="1">
                <a:solidFill>
                  <a:srgbClr val="0B2A4A"/>
                </a:solidFill>
                <a:latin typeface="Segoe UI"/>
              </a:rPr>
              <a:t>Telemetry-plane reference architecture</a:t>
            </a:r>
          </a:p>
        </p:txBody>
      </p:sp>
      <p:sp>
        <p:nvSpPr>
          <p:cNvPr id="10" name="TextBox 9"/>
          <p:cNvSpPr txBox="1"/>
          <p:nvPr/>
        </p:nvSpPr>
        <p:spPr>
          <a:xfrm>
            <a:off x="1234440" y="2194560"/>
            <a:ext cx="4663440" cy="1371600"/>
          </a:xfrm>
          <a:prstGeom prst="rect">
            <a:avLst/>
          </a:prstGeom>
          <a:noFill/>
        </p:spPr>
        <p:txBody>
          <a:bodyPr wrap="square" lIns="45720" tIns="18288" rIns="45720" bIns="18288">
            <a:spAutoFit/>
          </a:bodyPr>
          <a:lstStyle/>
          <a:p>
            <a:r>
              <a:rPr sz="1200" b="0">
                <a:solidFill>
                  <a:srgbClr val="1F1F1F"/>
                </a:solidFill>
                <a:latin typeface="Segoe UI"/>
              </a:rPr>
              <a:t>Bicep: App Insights + Log Analytics + Action Groups, wired into a Foundry project.</a:t>
            </a:r>
          </a:p>
        </p:txBody>
      </p:sp>
      <p:sp>
        <p:nvSpPr>
          <p:cNvPr id="11" name="Rectangle 10"/>
          <p:cNvSpPr/>
          <p:nvPr/>
        </p:nvSpPr>
        <p:spPr>
          <a:xfrm>
            <a:off x="6172200" y="1280160"/>
            <a:ext cx="5577840" cy="24688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280160"/>
            <a:ext cx="548640" cy="2468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1554480"/>
            <a:ext cx="365760" cy="457200"/>
          </a:xfrm>
          <a:prstGeom prst="rect">
            <a:avLst/>
          </a:prstGeom>
          <a:noFill/>
        </p:spPr>
        <p:txBody>
          <a:bodyPr wrap="square" lIns="45720" tIns="18288" rIns="45720" bIns="18288">
            <a:spAutoFit/>
          </a:bodyPr>
          <a:lstStyle/>
          <a:p>
            <a:r>
              <a:rPr sz="2000" b="1">
                <a:solidFill>
                  <a:srgbClr val="FFFFFF"/>
                </a:solidFill>
                <a:latin typeface="Segoe UI"/>
              </a:rPr>
              <a:t>02</a:t>
            </a:r>
          </a:p>
        </p:txBody>
      </p:sp>
      <p:sp>
        <p:nvSpPr>
          <p:cNvPr id="14" name="TextBox 13"/>
          <p:cNvSpPr txBox="1"/>
          <p:nvPr/>
        </p:nvSpPr>
        <p:spPr>
          <a:xfrm>
            <a:off x="6949440" y="1554480"/>
            <a:ext cx="4663440" cy="640080"/>
          </a:xfrm>
          <a:prstGeom prst="rect">
            <a:avLst/>
          </a:prstGeom>
          <a:noFill/>
        </p:spPr>
        <p:txBody>
          <a:bodyPr wrap="square" lIns="45720" tIns="18288" rIns="45720" bIns="18288">
            <a:spAutoFit/>
          </a:bodyPr>
          <a:lstStyle/>
          <a:p>
            <a:r>
              <a:rPr sz="1600" b="1">
                <a:solidFill>
                  <a:srgbClr val="0B2A4A"/>
                </a:solidFill>
                <a:latin typeface="Segoe UI"/>
              </a:rPr>
              <a:t>OTel configs (drop-in)</a:t>
            </a:r>
          </a:p>
        </p:txBody>
      </p:sp>
      <p:sp>
        <p:nvSpPr>
          <p:cNvPr id="15" name="TextBox 14"/>
          <p:cNvSpPr txBox="1"/>
          <p:nvPr/>
        </p:nvSpPr>
        <p:spPr>
          <a:xfrm>
            <a:off x="6949440" y="2194560"/>
            <a:ext cx="4663440" cy="1371600"/>
          </a:xfrm>
          <a:prstGeom prst="rect">
            <a:avLst/>
          </a:prstGeom>
          <a:noFill/>
        </p:spPr>
        <p:txBody>
          <a:bodyPr wrap="square" lIns="45720" tIns="18288" rIns="45720" bIns="18288">
            <a:spAutoFit/>
          </a:bodyPr>
          <a:lstStyle/>
          <a:p>
            <a:r>
              <a:rPr sz="1200" b="0">
                <a:solidFill>
                  <a:srgbClr val="1F1F1F"/>
                </a:solidFill>
                <a:latin typeface="Segoe UI"/>
              </a:rPr>
              <a:t>Python (Azure Monitor OTel Distro + Agent Framework auto-instrumentation) and .NET templates with the GenAI semconv attribute checklist.</a:t>
            </a:r>
          </a:p>
        </p:txBody>
      </p:sp>
      <p:sp>
        <p:nvSpPr>
          <p:cNvPr id="16" name="Rectangle 15"/>
          <p:cNvSpPr/>
          <p:nvPr/>
        </p:nvSpPr>
        <p:spPr>
          <a:xfrm>
            <a:off x="457200" y="3931920"/>
            <a:ext cx="5577840" cy="24688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931920"/>
            <a:ext cx="548640" cy="2468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206240"/>
            <a:ext cx="365760" cy="457200"/>
          </a:xfrm>
          <a:prstGeom prst="rect">
            <a:avLst/>
          </a:prstGeom>
          <a:noFill/>
        </p:spPr>
        <p:txBody>
          <a:bodyPr wrap="square" lIns="45720" tIns="18288" rIns="45720" bIns="18288">
            <a:spAutoFit/>
          </a:bodyPr>
          <a:lstStyle/>
          <a:p>
            <a:r>
              <a:rPr sz="2000" b="1">
                <a:solidFill>
                  <a:srgbClr val="FFFFFF"/>
                </a:solidFill>
                <a:latin typeface="Segoe UI"/>
              </a:rPr>
              <a:t>03</a:t>
            </a:r>
          </a:p>
        </p:txBody>
      </p:sp>
      <p:sp>
        <p:nvSpPr>
          <p:cNvPr id="19" name="TextBox 18"/>
          <p:cNvSpPr txBox="1"/>
          <p:nvPr/>
        </p:nvSpPr>
        <p:spPr>
          <a:xfrm>
            <a:off x="1234440" y="4206240"/>
            <a:ext cx="4663440" cy="640080"/>
          </a:xfrm>
          <a:prstGeom prst="rect">
            <a:avLst/>
          </a:prstGeom>
          <a:noFill/>
        </p:spPr>
        <p:txBody>
          <a:bodyPr wrap="square" lIns="45720" tIns="18288" rIns="45720" bIns="18288">
            <a:spAutoFit/>
          </a:bodyPr>
          <a:lstStyle/>
          <a:p>
            <a:r>
              <a:rPr sz="1600" b="1">
                <a:solidFill>
                  <a:srgbClr val="0B2A4A"/>
                </a:solidFill>
                <a:latin typeface="Segoe UI"/>
              </a:rPr>
              <a:t>Monitoring dashboards</a:t>
            </a:r>
          </a:p>
        </p:txBody>
      </p:sp>
      <p:sp>
        <p:nvSpPr>
          <p:cNvPr id="20" name="TextBox 19"/>
          <p:cNvSpPr txBox="1"/>
          <p:nvPr/>
        </p:nvSpPr>
        <p:spPr>
          <a:xfrm>
            <a:off x="1234440" y="4846320"/>
            <a:ext cx="4663440" cy="1371600"/>
          </a:xfrm>
          <a:prstGeom prst="rect">
            <a:avLst/>
          </a:prstGeom>
          <a:noFill/>
        </p:spPr>
        <p:txBody>
          <a:bodyPr wrap="square" lIns="45720" tIns="18288" rIns="45720" bIns="18288">
            <a:spAutoFit/>
          </a:bodyPr>
          <a:lstStyle/>
          <a:p>
            <a:r>
              <a:rPr sz="1200" b="0">
                <a:solidFill>
                  <a:srgbClr val="1F1F1F"/>
                </a:solidFill>
                <a:latin typeface="Segoe UI"/>
              </a:rPr>
              <a:t>Azure Monitor Workbook over App Insights — fleet · quality · reliability · cost · tool usage · safety · A2A topology.</a:t>
            </a:r>
          </a:p>
        </p:txBody>
      </p:sp>
      <p:sp>
        <p:nvSpPr>
          <p:cNvPr id="21" name="Rectangle 20"/>
          <p:cNvSpPr/>
          <p:nvPr/>
        </p:nvSpPr>
        <p:spPr>
          <a:xfrm>
            <a:off x="6172200" y="3931920"/>
            <a:ext cx="5577840" cy="246888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3931920"/>
            <a:ext cx="548640" cy="2468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4206240"/>
            <a:ext cx="365760" cy="457200"/>
          </a:xfrm>
          <a:prstGeom prst="rect">
            <a:avLst/>
          </a:prstGeom>
          <a:noFill/>
        </p:spPr>
        <p:txBody>
          <a:bodyPr wrap="square" lIns="45720" tIns="18288" rIns="45720" bIns="18288">
            <a:spAutoFit/>
          </a:bodyPr>
          <a:lstStyle/>
          <a:p>
            <a:r>
              <a:rPr sz="2000" b="1">
                <a:solidFill>
                  <a:srgbClr val="FFFFFF"/>
                </a:solidFill>
                <a:latin typeface="Segoe UI"/>
              </a:rPr>
              <a:t>04</a:t>
            </a:r>
          </a:p>
        </p:txBody>
      </p:sp>
      <p:sp>
        <p:nvSpPr>
          <p:cNvPr id="24" name="TextBox 23"/>
          <p:cNvSpPr txBox="1"/>
          <p:nvPr/>
        </p:nvSpPr>
        <p:spPr>
          <a:xfrm>
            <a:off x="6949440" y="4206240"/>
            <a:ext cx="4663440" cy="640080"/>
          </a:xfrm>
          <a:prstGeom prst="rect">
            <a:avLst/>
          </a:prstGeom>
          <a:noFill/>
        </p:spPr>
        <p:txBody>
          <a:bodyPr wrap="square" lIns="45720" tIns="18288" rIns="45720" bIns="18288">
            <a:spAutoFit/>
          </a:bodyPr>
          <a:lstStyle/>
          <a:p>
            <a:r>
              <a:rPr sz="1600" b="1">
                <a:solidFill>
                  <a:srgbClr val="0B2A4A"/>
                </a:solidFill>
                <a:latin typeface="Segoe UI"/>
              </a:rPr>
              <a:t>Incident response playbooks</a:t>
            </a:r>
          </a:p>
        </p:txBody>
      </p:sp>
      <p:sp>
        <p:nvSpPr>
          <p:cNvPr id="25" name="TextBox 24"/>
          <p:cNvSpPr txBox="1"/>
          <p:nvPr/>
        </p:nvSpPr>
        <p:spPr>
          <a:xfrm>
            <a:off x="6949440" y="4846320"/>
            <a:ext cx="4663440" cy="1371600"/>
          </a:xfrm>
          <a:prstGeom prst="rect">
            <a:avLst/>
          </a:prstGeom>
          <a:noFill/>
        </p:spPr>
        <p:txBody>
          <a:bodyPr wrap="square" lIns="45720" tIns="18288" rIns="45720" bIns="18288">
            <a:spAutoFit/>
          </a:bodyPr>
          <a:lstStyle/>
          <a:p>
            <a:r>
              <a:rPr sz="1200" b="0">
                <a:solidFill>
                  <a:srgbClr val="1F1F1F"/>
                </a:solidFill>
                <a:latin typeface="Segoe UI"/>
              </a:rPr>
              <a:t>Per alert category — first-5-min triage KQL, decision tree (rollback / hotfix / disable), comms templates, and the post-incident step that adds the failed trace to the next eval dataset.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MATURITY LADDER</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Where are you? Where are we taking you?</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914400" cy="96012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45920"/>
            <a:ext cx="914400" cy="457200"/>
          </a:xfrm>
          <a:prstGeom prst="rect">
            <a:avLst/>
          </a:prstGeom>
          <a:noFill/>
        </p:spPr>
        <p:txBody>
          <a:bodyPr wrap="square" lIns="45720" tIns="18288" rIns="45720" bIns="18288">
            <a:spAutoFit/>
          </a:bodyPr>
          <a:lstStyle/>
          <a:p>
            <a:pPr algn="ctr"/>
            <a:r>
              <a:rPr sz="2200" b="1">
                <a:solidFill>
                  <a:srgbClr val="1F1F1F"/>
                </a:solidFill>
                <a:latin typeface="Segoe UI"/>
              </a:rPr>
              <a:t>L1</a:t>
            </a:r>
          </a:p>
        </p:txBody>
      </p:sp>
      <p:sp>
        <p:nvSpPr>
          <p:cNvPr id="8" name="Rectangle 7"/>
          <p:cNvSpPr/>
          <p:nvPr/>
        </p:nvSpPr>
        <p:spPr>
          <a:xfrm>
            <a:off x="1417320" y="1371600"/>
            <a:ext cx="10287000" cy="960120"/>
          </a:xfrm>
          <a:prstGeom prst="rect">
            <a:avLst/>
          </a:prstGeom>
          <a:solidFill>
            <a:srgbClr val="F3F6FA"/>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00200" y="1508760"/>
            <a:ext cx="2743200" cy="457200"/>
          </a:xfrm>
          <a:prstGeom prst="rect">
            <a:avLst/>
          </a:prstGeom>
          <a:noFill/>
        </p:spPr>
        <p:txBody>
          <a:bodyPr wrap="square" lIns="45720" tIns="18288" rIns="45720" bIns="18288">
            <a:spAutoFit/>
          </a:bodyPr>
          <a:lstStyle/>
          <a:p>
            <a:r>
              <a:rPr sz="1800" b="1">
                <a:solidFill>
                  <a:srgbClr val="0B2A4A"/>
                </a:solidFill>
                <a:latin typeface="Segoe UI"/>
              </a:rPr>
              <a:t>Instrumented</a:t>
            </a:r>
          </a:p>
        </p:txBody>
      </p:sp>
      <p:sp>
        <p:nvSpPr>
          <p:cNvPr id="10" name="TextBox 9"/>
          <p:cNvSpPr txBox="1"/>
          <p:nvPr/>
        </p:nvSpPr>
        <p:spPr>
          <a:xfrm>
            <a:off x="1600200" y="1874520"/>
            <a:ext cx="9966960" cy="457200"/>
          </a:xfrm>
          <a:prstGeom prst="rect">
            <a:avLst/>
          </a:prstGeom>
          <a:noFill/>
        </p:spPr>
        <p:txBody>
          <a:bodyPr wrap="square" lIns="45720" tIns="18288" rIns="45720" bIns="18288">
            <a:spAutoFit/>
          </a:bodyPr>
          <a:lstStyle/>
          <a:p>
            <a:r>
              <a:rPr sz="1200" b="0">
                <a:solidFill>
                  <a:srgbClr val="1F1F1F"/>
                </a:solidFill>
                <a:latin typeface="Segoe UI"/>
              </a:rPr>
              <a:t>OTel + App Insights on every agent. Basic dashboards.</a:t>
            </a:r>
          </a:p>
        </p:txBody>
      </p:sp>
      <p:sp>
        <p:nvSpPr>
          <p:cNvPr id="11" name="Rectangle 10"/>
          <p:cNvSpPr/>
          <p:nvPr/>
        </p:nvSpPr>
        <p:spPr>
          <a:xfrm>
            <a:off x="457200" y="2441448"/>
            <a:ext cx="914400" cy="960120"/>
          </a:xfrm>
          <a:prstGeom prst="rect">
            <a:avLst/>
          </a:prstGeom>
          <a:solidFill>
            <a:srgbClr val="BBD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715768"/>
            <a:ext cx="914400" cy="457200"/>
          </a:xfrm>
          <a:prstGeom prst="rect">
            <a:avLst/>
          </a:prstGeom>
          <a:noFill/>
        </p:spPr>
        <p:txBody>
          <a:bodyPr wrap="square" lIns="45720" tIns="18288" rIns="45720" bIns="18288">
            <a:spAutoFit/>
          </a:bodyPr>
          <a:lstStyle/>
          <a:p>
            <a:pPr algn="ctr"/>
            <a:r>
              <a:rPr sz="2200" b="1">
                <a:solidFill>
                  <a:srgbClr val="1F1F1F"/>
                </a:solidFill>
                <a:latin typeface="Segoe UI"/>
              </a:rPr>
              <a:t>L2</a:t>
            </a:r>
          </a:p>
        </p:txBody>
      </p:sp>
      <p:sp>
        <p:nvSpPr>
          <p:cNvPr id="13" name="Rectangle 12"/>
          <p:cNvSpPr/>
          <p:nvPr/>
        </p:nvSpPr>
        <p:spPr>
          <a:xfrm>
            <a:off x="1417320" y="2441448"/>
            <a:ext cx="10287000" cy="960120"/>
          </a:xfrm>
          <a:prstGeom prst="rect">
            <a:avLst/>
          </a:prstGeom>
          <a:solidFill>
            <a:srgbClr val="F3F6FA"/>
          </a:solidFill>
          <a:ln>
            <a:solidFill>
              <a:srgbClr val="BBDE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00200" y="2578608"/>
            <a:ext cx="2743200" cy="457200"/>
          </a:xfrm>
          <a:prstGeom prst="rect">
            <a:avLst/>
          </a:prstGeom>
          <a:noFill/>
        </p:spPr>
        <p:txBody>
          <a:bodyPr wrap="square" lIns="45720" tIns="18288" rIns="45720" bIns="18288">
            <a:spAutoFit/>
          </a:bodyPr>
          <a:lstStyle/>
          <a:p>
            <a:r>
              <a:rPr sz="1800" b="1">
                <a:solidFill>
                  <a:srgbClr val="0B2A4A"/>
                </a:solidFill>
                <a:latin typeface="Segoe UI"/>
              </a:rPr>
              <a:t>Alerted</a:t>
            </a:r>
          </a:p>
        </p:txBody>
      </p:sp>
      <p:sp>
        <p:nvSpPr>
          <p:cNvPr id="15" name="TextBox 14"/>
          <p:cNvSpPr txBox="1"/>
          <p:nvPr/>
        </p:nvSpPr>
        <p:spPr>
          <a:xfrm>
            <a:off x="1600200" y="2944368"/>
            <a:ext cx="9966960" cy="457200"/>
          </a:xfrm>
          <a:prstGeom prst="rect">
            <a:avLst/>
          </a:prstGeom>
          <a:noFill/>
        </p:spPr>
        <p:txBody>
          <a:bodyPr wrap="square" lIns="45720" tIns="18288" rIns="45720" bIns="18288">
            <a:spAutoFit/>
          </a:bodyPr>
          <a:lstStyle/>
          <a:p>
            <a:r>
              <a:rPr sz="1200" b="0">
                <a:solidFill>
                  <a:srgbClr val="1F1F1F"/>
                </a:solidFill>
                <a:latin typeface="Segoe UI"/>
              </a:rPr>
              <a:t>SLOs defined, alerts routed, on-call rotation, manual rollback.</a:t>
            </a:r>
          </a:p>
        </p:txBody>
      </p:sp>
      <p:sp>
        <p:nvSpPr>
          <p:cNvPr id="16" name="Rectangle 15"/>
          <p:cNvSpPr/>
          <p:nvPr/>
        </p:nvSpPr>
        <p:spPr>
          <a:xfrm>
            <a:off x="457200" y="3511296"/>
            <a:ext cx="914400" cy="9601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785616"/>
            <a:ext cx="914400" cy="457200"/>
          </a:xfrm>
          <a:prstGeom prst="rect">
            <a:avLst/>
          </a:prstGeom>
          <a:noFill/>
        </p:spPr>
        <p:txBody>
          <a:bodyPr wrap="square" lIns="45720" tIns="18288" rIns="45720" bIns="18288">
            <a:spAutoFit/>
          </a:bodyPr>
          <a:lstStyle/>
          <a:p>
            <a:pPr algn="ctr"/>
            <a:r>
              <a:rPr sz="2200" b="1">
                <a:solidFill>
                  <a:srgbClr val="FFFFFF"/>
                </a:solidFill>
                <a:latin typeface="Segoe UI"/>
              </a:rPr>
              <a:t>L3</a:t>
            </a:r>
          </a:p>
        </p:txBody>
      </p:sp>
      <p:sp>
        <p:nvSpPr>
          <p:cNvPr id="18" name="Rectangle 17"/>
          <p:cNvSpPr/>
          <p:nvPr/>
        </p:nvSpPr>
        <p:spPr>
          <a:xfrm>
            <a:off x="1417320" y="3511296"/>
            <a:ext cx="10287000" cy="96012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00200" y="3648456"/>
            <a:ext cx="2743200" cy="457200"/>
          </a:xfrm>
          <a:prstGeom prst="rect">
            <a:avLst/>
          </a:prstGeom>
          <a:noFill/>
        </p:spPr>
        <p:txBody>
          <a:bodyPr wrap="square" lIns="45720" tIns="18288" rIns="45720" bIns="18288">
            <a:spAutoFit/>
          </a:bodyPr>
          <a:lstStyle/>
          <a:p>
            <a:r>
              <a:rPr sz="1800" b="1">
                <a:solidFill>
                  <a:srgbClr val="0B2A4A"/>
                </a:solidFill>
                <a:latin typeface="Segoe UI"/>
              </a:rPr>
              <a:t>Automated</a:t>
            </a:r>
          </a:p>
        </p:txBody>
      </p:sp>
      <p:sp>
        <p:nvSpPr>
          <p:cNvPr id="20" name="TextBox 19"/>
          <p:cNvSpPr txBox="1"/>
          <p:nvPr/>
        </p:nvSpPr>
        <p:spPr>
          <a:xfrm>
            <a:off x="1600200" y="4014216"/>
            <a:ext cx="9966960" cy="457200"/>
          </a:xfrm>
          <a:prstGeom prst="rect">
            <a:avLst/>
          </a:prstGeom>
          <a:noFill/>
        </p:spPr>
        <p:txBody>
          <a:bodyPr wrap="square" lIns="45720" tIns="18288" rIns="45720" bIns="18288">
            <a:spAutoFit/>
          </a:bodyPr>
          <a:lstStyle/>
          <a:p>
            <a:r>
              <a:rPr sz="1200" b="0">
                <a:solidFill>
                  <a:srgbClr val="1F1F1F"/>
                </a:solidFill>
                <a:latin typeface="Segoe UI"/>
              </a:rPr>
              <a:t>Online evaluators in PROD. Auto-rollback armed. A2A traced end-to-end.</a:t>
            </a:r>
          </a:p>
        </p:txBody>
      </p:sp>
      <p:sp>
        <p:nvSpPr>
          <p:cNvPr id="21" name="Rectangle 20"/>
          <p:cNvSpPr/>
          <p:nvPr/>
        </p:nvSpPr>
        <p:spPr>
          <a:xfrm>
            <a:off x="457200" y="4581144"/>
            <a:ext cx="914400" cy="9601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855464"/>
            <a:ext cx="914400" cy="457200"/>
          </a:xfrm>
          <a:prstGeom prst="rect">
            <a:avLst/>
          </a:prstGeom>
          <a:noFill/>
        </p:spPr>
        <p:txBody>
          <a:bodyPr wrap="square" lIns="45720" tIns="18288" rIns="45720" bIns="18288">
            <a:spAutoFit/>
          </a:bodyPr>
          <a:lstStyle/>
          <a:p>
            <a:pPr algn="ctr"/>
            <a:r>
              <a:rPr sz="2200" b="1">
                <a:solidFill>
                  <a:srgbClr val="FFFFFF"/>
                </a:solidFill>
                <a:latin typeface="Segoe UI"/>
              </a:rPr>
              <a:t>L4</a:t>
            </a:r>
          </a:p>
        </p:txBody>
      </p:sp>
      <p:sp>
        <p:nvSpPr>
          <p:cNvPr id="23" name="Rectangle 22"/>
          <p:cNvSpPr/>
          <p:nvPr/>
        </p:nvSpPr>
        <p:spPr>
          <a:xfrm>
            <a:off x="1417320" y="4581144"/>
            <a:ext cx="10287000" cy="960120"/>
          </a:xfrm>
          <a:prstGeom prst="rect">
            <a:avLst/>
          </a:prstGeom>
          <a:solidFill>
            <a:srgbClr val="F3F6FA"/>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00200" y="4718304"/>
            <a:ext cx="2743200" cy="457200"/>
          </a:xfrm>
          <a:prstGeom prst="rect">
            <a:avLst/>
          </a:prstGeom>
          <a:noFill/>
        </p:spPr>
        <p:txBody>
          <a:bodyPr wrap="square" lIns="45720" tIns="18288" rIns="45720" bIns="18288">
            <a:spAutoFit/>
          </a:bodyPr>
          <a:lstStyle/>
          <a:p>
            <a:r>
              <a:rPr sz="1800" b="1">
                <a:solidFill>
                  <a:srgbClr val="0B2A4A"/>
                </a:solidFill>
                <a:latin typeface="Segoe UI"/>
              </a:rPr>
              <a:t>Self-improving</a:t>
            </a:r>
          </a:p>
        </p:txBody>
      </p:sp>
      <p:sp>
        <p:nvSpPr>
          <p:cNvPr id="25" name="TextBox 24"/>
          <p:cNvSpPr txBox="1"/>
          <p:nvPr/>
        </p:nvSpPr>
        <p:spPr>
          <a:xfrm>
            <a:off x="1600200" y="5084064"/>
            <a:ext cx="9966960" cy="457200"/>
          </a:xfrm>
          <a:prstGeom prst="rect">
            <a:avLst/>
          </a:prstGeom>
          <a:noFill/>
        </p:spPr>
        <p:txBody>
          <a:bodyPr wrap="square" lIns="45720" tIns="18288" rIns="45720" bIns="18288">
            <a:spAutoFit/>
          </a:bodyPr>
          <a:lstStyle/>
          <a:p>
            <a:r>
              <a:rPr sz="1200" b="0">
                <a:solidFill>
                  <a:srgbClr val="1F1F1F"/>
                </a:solidFill>
                <a:latin typeface="Segoe UI"/>
              </a:rPr>
              <a:t>Production traces auto-curated into eval datasets on a cadence. Red-team agent in the loop.</a:t>
            </a:r>
          </a:p>
        </p:txBody>
      </p:sp>
      <p:sp>
        <p:nvSpPr>
          <p:cNvPr id="26" name="TextBox 25"/>
          <p:cNvSpPr txBox="1"/>
          <p:nvPr/>
        </p:nvSpPr>
        <p:spPr>
          <a:xfrm>
            <a:off x="457200" y="6126480"/>
            <a:ext cx="11247120" cy="457200"/>
          </a:xfrm>
          <a:prstGeom prst="rect">
            <a:avLst/>
          </a:prstGeom>
          <a:noFill/>
        </p:spPr>
        <p:txBody>
          <a:bodyPr wrap="square" lIns="45720" tIns="18288" rIns="45720" bIns="18288">
            <a:spAutoFit/>
          </a:bodyPr>
          <a:lstStyle/>
          <a:p>
            <a:pPr algn="l"/>
            <a:r>
              <a:rPr sz="1400" b="1">
                <a:solidFill>
                  <a:srgbClr val="0078D4"/>
                </a:solidFill>
                <a:latin typeface="Segoe UI"/>
              </a:rPr>
              <a:t>Most orgs today: L1 → L2.   The target this story takes you to: L3.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ANTI-PATTERNS</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If you do these, no amount of tooling will save you</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3619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8" name="Rectangle 7"/>
          <p:cNvSpPr/>
          <p:nvPr/>
        </p:nvSpPr>
        <p:spPr>
          <a:xfrm>
            <a:off x="1051560" y="137160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34440" y="1554480"/>
            <a:ext cx="10424160" cy="457200"/>
          </a:xfrm>
          <a:prstGeom prst="rect">
            <a:avLst/>
          </a:prstGeom>
          <a:noFill/>
        </p:spPr>
        <p:txBody>
          <a:bodyPr wrap="square" lIns="45720" tIns="18288" rIns="45720" bIns="18288">
            <a:spAutoFit/>
          </a:bodyPr>
          <a:lstStyle/>
          <a:p>
            <a:r>
              <a:rPr sz="1400" b="0">
                <a:solidFill>
                  <a:srgbClr val="1F1F1F"/>
                </a:solidFill>
                <a:latin typeface="Segoe UI"/>
              </a:rPr>
              <a:t>One App Insights resource shared across 50 agents — with no  gen_ai.agent.id  populated.</a:t>
            </a:r>
          </a:p>
        </p:txBody>
      </p:sp>
      <p:sp>
        <p:nvSpPr>
          <p:cNvPr id="10" name="Rectangle 9"/>
          <p:cNvSpPr/>
          <p:nvPr/>
        </p:nvSpPr>
        <p:spPr>
          <a:xfrm>
            <a:off x="457200" y="214884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31343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12" name="Rectangle 11"/>
          <p:cNvSpPr/>
          <p:nvPr/>
        </p:nvSpPr>
        <p:spPr>
          <a:xfrm>
            <a:off x="1051560" y="214884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331720"/>
            <a:ext cx="10424160" cy="457200"/>
          </a:xfrm>
          <a:prstGeom prst="rect">
            <a:avLst/>
          </a:prstGeom>
          <a:noFill/>
        </p:spPr>
        <p:txBody>
          <a:bodyPr wrap="square" lIns="45720" tIns="18288" rIns="45720" bIns="18288">
            <a:spAutoFit/>
          </a:bodyPr>
          <a:lstStyle/>
          <a:p>
            <a:r>
              <a:rPr sz="1400" b="0">
                <a:solidFill>
                  <a:srgbClr val="1F1F1F"/>
                </a:solidFill>
                <a:latin typeface="Segoe UI"/>
              </a:rPr>
              <a:t>"We'll add tracing later."   (You won't.)</a:t>
            </a:r>
          </a:p>
        </p:txBody>
      </p:sp>
      <p:sp>
        <p:nvSpPr>
          <p:cNvPr id="14" name="Rectangle 13"/>
          <p:cNvSpPr/>
          <p:nvPr/>
        </p:nvSpPr>
        <p:spPr>
          <a:xfrm>
            <a:off x="457200" y="292608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09067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16" name="Rectangle 15"/>
          <p:cNvSpPr/>
          <p:nvPr/>
        </p:nvSpPr>
        <p:spPr>
          <a:xfrm>
            <a:off x="1051560" y="292608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3108960"/>
            <a:ext cx="10424160" cy="457200"/>
          </a:xfrm>
          <a:prstGeom prst="rect">
            <a:avLst/>
          </a:prstGeom>
          <a:noFill/>
        </p:spPr>
        <p:txBody>
          <a:bodyPr wrap="square" lIns="45720" tIns="18288" rIns="45720" bIns="18288">
            <a:spAutoFit/>
          </a:bodyPr>
          <a:lstStyle/>
          <a:p>
            <a:r>
              <a:rPr sz="1400" b="0">
                <a:solidFill>
                  <a:srgbClr val="1F1F1F"/>
                </a:solidFill>
                <a:latin typeface="Segoe UI"/>
              </a:rPr>
              <a:t>Eval suite that only runs at PR time, never on production traffic.</a:t>
            </a:r>
          </a:p>
        </p:txBody>
      </p:sp>
      <p:sp>
        <p:nvSpPr>
          <p:cNvPr id="18" name="Rectangle 17"/>
          <p:cNvSpPr/>
          <p:nvPr/>
        </p:nvSpPr>
        <p:spPr>
          <a:xfrm>
            <a:off x="457200" y="370332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86791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20" name="Rectangle 19"/>
          <p:cNvSpPr/>
          <p:nvPr/>
        </p:nvSpPr>
        <p:spPr>
          <a:xfrm>
            <a:off x="1051560" y="370332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3886200"/>
            <a:ext cx="10424160" cy="457200"/>
          </a:xfrm>
          <a:prstGeom prst="rect">
            <a:avLst/>
          </a:prstGeom>
          <a:noFill/>
        </p:spPr>
        <p:txBody>
          <a:bodyPr wrap="square" lIns="45720" tIns="18288" rIns="45720" bIns="18288">
            <a:spAutoFit/>
          </a:bodyPr>
          <a:lstStyle/>
          <a:p>
            <a:r>
              <a:rPr sz="1400" b="0">
                <a:solidFill>
                  <a:srgbClr val="1F1F1F"/>
                </a:solidFill>
                <a:latin typeface="Segoe UI"/>
              </a:rPr>
              <a:t>Alerts with no playbook — pager fatigue is guaranteed.</a:t>
            </a:r>
          </a:p>
        </p:txBody>
      </p:sp>
      <p:sp>
        <p:nvSpPr>
          <p:cNvPr id="22" name="Rectangle 21"/>
          <p:cNvSpPr/>
          <p:nvPr/>
        </p:nvSpPr>
        <p:spPr>
          <a:xfrm>
            <a:off x="457200" y="448056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64515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24" name="Rectangle 23"/>
          <p:cNvSpPr/>
          <p:nvPr/>
        </p:nvSpPr>
        <p:spPr>
          <a:xfrm>
            <a:off x="1051560" y="448056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34440" y="4663440"/>
            <a:ext cx="10424160" cy="457200"/>
          </a:xfrm>
          <a:prstGeom prst="rect">
            <a:avLst/>
          </a:prstGeom>
          <a:noFill/>
        </p:spPr>
        <p:txBody>
          <a:bodyPr wrap="square" lIns="45720" tIns="18288" rIns="45720" bIns="18288">
            <a:spAutoFit/>
          </a:bodyPr>
          <a:lstStyle/>
          <a:p>
            <a:r>
              <a:rPr sz="1400" b="0">
                <a:solidFill>
                  <a:srgbClr val="1F1F1F"/>
                </a:solidFill>
                <a:latin typeface="Segoe UI"/>
              </a:rPr>
              <a:t>A2A handoffs that drop the trace ID on the floor.</a:t>
            </a:r>
          </a:p>
        </p:txBody>
      </p:sp>
      <p:sp>
        <p:nvSpPr>
          <p:cNvPr id="26" name="Rectangle 25"/>
          <p:cNvSpPr/>
          <p:nvPr/>
        </p:nvSpPr>
        <p:spPr>
          <a:xfrm>
            <a:off x="457200" y="5257800"/>
            <a:ext cx="5486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422392"/>
            <a:ext cx="548640" cy="365760"/>
          </a:xfrm>
          <a:prstGeom prst="rect">
            <a:avLst/>
          </a:prstGeom>
          <a:noFill/>
        </p:spPr>
        <p:txBody>
          <a:bodyPr wrap="square" lIns="45720" tIns="18288" rIns="45720" bIns="18288">
            <a:spAutoFit/>
          </a:bodyPr>
          <a:lstStyle/>
          <a:p>
            <a:pPr algn="ctr"/>
            <a:r>
              <a:rPr sz="1800" b="1">
                <a:solidFill>
                  <a:srgbClr val="FFFFFF"/>
                </a:solidFill>
                <a:latin typeface="Segoe UI"/>
              </a:rPr>
              <a:t>✗</a:t>
            </a:r>
          </a:p>
        </p:txBody>
      </p:sp>
      <p:sp>
        <p:nvSpPr>
          <p:cNvPr id="28" name="Rectangle 27"/>
          <p:cNvSpPr/>
          <p:nvPr/>
        </p:nvSpPr>
        <p:spPr>
          <a:xfrm>
            <a:off x="1051560" y="5257800"/>
            <a:ext cx="10698480" cy="640080"/>
          </a:xfrm>
          <a:prstGeom prst="rect">
            <a:avLst/>
          </a:prstGeom>
          <a:solidFill>
            <a:srgbClr val="F3F6FA"/>
          </a:solidFill>
          <a:ln>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34440" y="5440680"/>
            <a:ext cx="10424160" cy="457200"/>
          </a:xfrm>
          <a:prstGeom prst="rect">
            <a:avLst/>
          </a:prstGeom>
          <a:noFill/>
        </p:spPr>
        <p:txBody>
          <a:bodyPr wrap="square" lIns="45720" tIns="18288" rIns="45720" bIns="18288">
            <a:spAutoFit/>
          </a:bodyPr>
          <a:lstStyle/>
          <a:p>
            <a:r>
              <a:rPr sz="1400" b="0">
                <a:solidFill>
                  <a:srgbClr val="1F1F1F"/>
                </a:solidFill>
                <a:latin typeface="Segoe UI"/>
              </a:rPr>
              <a:t>Foundry Control Plane installed but no one assigned to watch it.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KNOWLEDGE CHECK</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Three questions before we move on</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1097280" cy="12801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783080"/>
            <a:ext cx="1097280" cy="548640"/>
          </a:xfrm>
          <a:prstGeom prst="rect">
            <a:avLst/>
          </a:prstGeom>
          <a:noFill/>
        </p:spPr>
        <p:txBody>
          <a:bodyPr wrap="square" lIns="45720" tIns="18288" rIns="45720" bIns="18288">
            <a:spAutoFit/>
          </a:bodyPr>
          <a:lstStyle/>
          <a:p>
            <a:pPr algn="ctr"/>
            <a:r>
              <a:rPr sz="2400" b="1">
                <a:solidFill>
                  <a:srgbClr val="FFFFFF"/>
                </a:solidFill>
                <a:latin typeface="Segoe UI"/>
              </a:rPr>
              <a:t>Q1</a:t>
            </a:r>
          </a:p>
        </p:txBody>
      </p:sp>
      <p:sp>
        <p:nvSpPr>
          <p:cNvPr id="8" name="Rectangle 7"/>
          <p:cNvSpPr/>
          <p:nvPr/>
        </p:nvSpPr>
        <p:spPr>
          <a:xfrm>
            <a:off x="1600200" y="1371600"/>
            <a:ext cx="10149840" cy="12801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0" y="1737360"/>
            <a:ext cx="9784080" cy="731520"/>
          </a:xfrm>
          <a:prstGeom prst="rect">
            <a:avLst/>
          </a:prstGeom>
          <a:noFill/>
        </p:spPr>
        <p:txBody>
          <a:bodyPr wrap="square" lIns="45720" tIns="18288" rIns="45720" bIns="18288">
            <a:spAutoFit/>
          </a:bodyPr>
          <a:lstStyle/>
          <a:p>
            <a:r>
              <a:rPr sz="1400" b="0">
                <a:solidFill>
                  <a:srgbClr val="1F1F1F"/>
                </a:solidFill>
                <a:latin typeface="Segoe UI"/>
              </a:rPr>
              <a:t>Which OpenTelemetry mechanism lets you correlate every span in a multi-agent A2A request to ONE user prompt?</a:t>
            </a:r>
          </a:p>
        </p:txBody>
      </p:sp>
      <p:sp>
        <p:nvSpPr>
          <p:cNvPr id="10" name="Rectangle 9"/>
          <p:cNvSpPr/>
          <p:nvPr/>
        </p:nvSpPr>
        <p:spPr>
          <a:xfrm>
            <a:off x="457200" y="2926080"/>
            <a:ext cx="1097280" cy="12801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337560"/>
            <a:ext cx="1097280" cy="548640"/>
          </a:xfrm>
          <a:prstGeom prst="rect">
            <a:avLst/>
          </a:prstGeom>
          <a:noFill/>
        </p:spPr>
        <p:txBody>
          <a:bodyPr wrap="square" lIns="45720" tIns="18288" rIns="45720" bIns="18288">
            <a:spAutoFit/>
          </a:bodyPr>
          <a:lstStyle/>
          <a:p>
            <a:pPr algn="ctr"/>
            <a:r>
              <a:rPr sz="2400" b="1">
                <a:solidFill>
                  <a:srgbClr val="FFFFFF"/>
                </a:solidFill>
                <a:latin typeface="Segoe UI"/>
              </a:rPr>
              <a:t>Q2</a:t>
            </a:r>
          </a:p>
        </p:txBody>
      </p:sp>
      <p:sp>
        <p:nvSpPr>
          <p:cNvPr id="12" name="Rectangle 11"/>
          <p:cNvSpPr/>
          <p:nvPr/>
        </p:nvSpPr>
        <p:spPr>
          <a:xfrm>
            <a:off x="1600200" y="2926080"/>
            <a:ext cx="10149840" cy="12801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3291840"/>
            <a:ext cx="9784080" cy="731520"/>
          </a:xfrm>
          <a:prstGeom prst="rect">
            <a:avLst/>
          </a:prstGeom>
          <a:noFill/>
        </p:spPr>
        <p:txBody>
          <a:bodyPr wrap="square" lIns="45720" tIns="18288" rIns="45720" bIns="18288">
            <a:spAutoFit/>
          </a:bodyPr>
          <a:lstStyle/>
          <a:p>
            <a:r>
              <a:rPr sz="1400" b="0">
                <a:solidFill>
                  <a:srgbClr val="1F1F1F"/>
                </a:solidFill>
                <a:latin typeface="Segoe UI"/>
              </a:rPr>
              <a:t>Name the four layers of the AgenticOps reference architecture, top to bottom.</a:t>
            </a:r>
          </a:p>
        </p:txBody>
      </p:sp>
      <p:sp>
        <p:nvSpPr>
          <p:cNvPr id="14" name="Rectangle 13"/>
          <p:cNvSpPr/>
          <p:nvPr/>
        </p:nvSpPr>
        <p:spPr>
          <a:xfrm>
            <a:off x="457200" y="4480560"/>
            <a:ext cx="1097280" cy="12801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4892040"/>
            <a:ext cx="1097280" cy="548640"/>
          </a:xfrm>
          <a:prstGeom prst="rect">
            <a:avLst/>
          </a:prstGeom>
          <a:noFill/>
        </p:spPr>
        <p:txBody>
          <a:bodyPr wrap="square" lIns="45720" tIns="18288" rIns="45720" bIns="18288">
            <a:spAutoFit/>
          </a:bodyPr>
          <a:lstStyle/>
          <a:p>
            <a:pPr algn="ctr"/>
            <a:r>
              <a:rPr sz="2400" b="1">
                <a:solidFill>
                  <a:srgbClr val="FFFFFF"/>
                </a:solidFill>
                <a:latin typeface="Segoe UI"/>
              </a:rPr>
              <a:t>Q3</a:t>
            </a:r>
          </a:p>
        </p:txBody>
      </p:sp>
      <p:sp>
        <p:nvSpPr>
          <p:cNvPr id="16" name="Rectangle 15"/>
          <p:cNvSpPr/>
          <p:nvPr/>
        </p:nvSpPr>
        <p:spPr>
          <a:xfrm>
            <a:off x="1600200" y="4480560"/>
            <a:ext cx="10149840" cy="128016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0" y="4846320"/>
            <a:ext cx="9784080" cy="731520"/>
          </a:xfrm>
          <a:prstGeom prst="rect">
            <a:avLst/>
          </a:prstGeom>
          <a:noFill/>
        </p:spPr>
        <p:txBody>
          <a:bodyPr wrap="square" lIns="45720" tIns="18288" rIns="45720" bIns="18288">
            <a:spAutoFit/>
          </a:bodyPr>
          <a:lstStyle/>
          <a:p>
            <a:r>
              <a:rPr sz="1400" b="0">
                <a:solidFill>
                  <a:srgbClr val="1F1F1F"/>
                </a:solidFill>
                <a:latin typeface="Segoe UI"/>
              </a:rPr>
              <a:t>A PROD groundedness score drops 15% overnight. Name two things that should happen AUTOMATICALLY under AgenticOps.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9144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972800" cy="320040"/>
          </a:xfrm>
          <a:prstGeom prst="rect">
            <a:avLst/>
          </a:prstGeom>
          <a:noFill/>
        </p:spPr>
        <p:txBody>
          <a:bodyPr wrap="square" lIns="45720" tIns="18288" rIns="45720" bIns="18288">
            <a:spAutoFit/>
          </a:bodyPr>
          <a:lstStyle/>
          <a:p>
            <a:r>
              <a:rPr sz="1200" b="1">
                <a:solidFill>
                  <a:srgbClr val="CCE4F7"/>
                </a:solidFill>
                <a:latin typeface="Segoe UI"/>
              </a:rPr>
              <a:t>TAKEAWAYS</a:t>
            </a:r>
          </a:p>
        </p:txBody>
      </p:sp>
      <p:sp>
        <p:nvSpPr>
          <p:cNvPr id="4" name="TextBox 3"/>
          <p:cNvSpPr txBox="1"/>
          <p:nvPr/>
        </p:nvSpPr>
        <p:spPr>
          <a:xfrm>
            <a:off x="365760" y="320040"/>
            <a:ext cx="11430000" cy="548640"/>
          </a:xfrm>
          <a:prstGeom prst="rect">
            <a:avLst/>
          </a:prstGeom>
          <a:noFill/>
        </p:spPr>
        <p:txBody>
          <a:bodyPr wrap="square" lIns="45720" tIns="18288" rIns="45720" bIns="18288">
            <a:spAutoFit/>
          </a:bodyPr>
          <a:lstStyle/>
          <a:p>
            <a:r>
              <a:rPr sz="2600" b="1">
                <a:solidFill>
                  <a:srgbClr val="FFFFFF"/>
                </a:solidFill>
                <a:latin typeface="Segoe UI"/>
              </a:rPr>
              <a:t>What to remember about AgenticOps</a:t>
            </a:r>
          </a:p>
        </p:txBody>
      </p:sp>
      <p:sp>
        <p:nvSpPr>
          <p:cNvPr id="5" name="Rectangle 4"/>
          <p:cNvSpPr/>
          <p:nvPr/>
        </p:nvSpPr>
        <p:spPr>
          <a:xfrm>
            <a:off x="0" y="6720840"/>
            <a:ext cx="12192000" cy="1371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548640" cy="7772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548640" cy="457200"/>
          </a:xfrm>
          <a:prstGeom prst="rect">
            <a:avLst/>
          </a:prstGeom>
          <a:noFill/>
        </p:spPr>
        <p:txBody>
          <a:bodyPr wrap="square" lIns="45720" tIns="18288" rIns="45720" bIns="18288">
            <a:spAutoFit/>
          </a:bodyPr>
          <a:lstStyle/>
          <a:p>
            <a:pPr algn="ctr"/>
            <a:r>
              <a:rPr sz="2200" b="1">
                <a:solidFill>
                  <a:srgbClr val="FFFFFF"/>
                </a:solidFill>
                <a:latin typeface="Segoe UI"/>
              </a:rPr>
              <a:t>1</a:t>
            </a:r>
          </a:p>
        </p:txBody>
      </p:sp>
      <p:sp>
        <p:nvSpPr>
          <p:cNvPr id="8" name="Rectangle 7"/>
          <p:cNvSpPr/>
          <p:nvPr/>
        </p:nvSpPr>
        <p:spPr>
          <a:xfrm>
            <a:off x="1051560" y="1371600"/>
            <a:ext cx="10698480" cy="77724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34440" y="1572768"/>
            <a:ext cx="10424160" cy="548640"/>
          </a:xfrm>
          <a:prstGeom prst="rect">
            <a:avLst/>
          </a:prstGeom>
          <a:noFill/>
        </p:spPr>
        <p:txBody>
          <a:bodyPr wrap="square" lIns="45720" tIns="18288" rIns="45720" bIns="18288">
            <a:spAutoFit/>
          </a:bodyPr>
          <a:lstStyle/>
          <a:p>
            <a:r>
              <a:rPr sz="1400" b="1">
                <a:solidFill>
                  <a:srgbClr val="0B2A4A"/>
                </a:solidFill>
                <a:latin typeface="Segoe UI"/>
              </a:rPr>
              <a:t>AgenticOps on Azure is concrete:   OTel  →  App Insights  →  Log Analytics  →  Foundry Control Plane  →  Workbooks / Alerts  →  CI/CD.</a:t>
            </a:r>
          </a:p>
        </p:txBody>
      </p:sp>
      <p:sp>
        <p:nvSpPr>
          <p:cNvPr id="10" name="Rectangle 9"/>
          <p:cNvSpPr/>
          <p:nvPr/>
        </p:nvSpPr>
        <p:spPr>
          <a:xfrm>
            <a:off x="457200" y="2331720"/>
            <a:ext cx="548640" cy="7772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532888"/>
            <a:ext cx="548640" cy="457200"/>
          </a:xfrm>
          <a:prstGeom prst="rect">
            <a:avLst/>
          </a:prstGeom>
          <a:noFill/>
        </p:spPr>
        <p:txBody>
          <a:bodyPr wrap="square" lIns="45720" tIns="18288" rIns="45720" bIns="18288">
            <a:spAutoFit/>
          </a:bodyPr>
          <a:lstStyle/>
          <a:p>
            <a:pPr algn="ctr"/>
            <a:r>
              <a:rPr sz="2200" b="1">
                <a:solidFill>
                  <a:srgbClr val="FFFFFF"/>
                </a:solidFill>
                <a:latin typeface="Segoe UI"/>
              </a:rPr>
              <a:t>2</a:t>
            </a:r>
          </a:p>
        </p:txBody>
      </p:sp>
      <p:sp>
        <p:nvSpPr>
          <p:cNvPr id="12" name="Rectangle 11"/>
          <p:cNvSpPr/>
          <p:nvPr/>
        </p:nvSpPr>
        <p:spPr>
          <a:xfrm>
            <a:off x="1051560" y="2331720"/>
            <a:ext cx="10698480" cy="77724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532888"/>
            <a:ext cx="10424160" cy="548640"/>
          </a:xfrm>
          <a:prstGeom prst="rect">
            <a:avLst/>
          </a:prstGeom>
          <a:noFill/>
        </p:spPr>
        <p:txBody>
          <a:bodyPr wrap="square" lIns="45720" tIns="18288" rIns="45720" bIns="18288">
            <a:spAutoFit/>
          </a:bodyPr>
          <a:lstStyle/>
          <a:p>
            <a:r>
              <a:rPr sz="1400" b="1">
                <a:solidFill>
                  <a:srgbClr val="0B2A4A"/>
                </a:solidFill>
                <a:latin typeface="Segoe UI"/>
              </a:rPr>
              <a:t>It does NOT replace any governance control. It makes every control measurable, alertable, and self-correcting.</a:t>
            </a:r>
          </a:p>
        </p:txBody>
      </p:sp>
      <p:sp>
        <p:nvSpPr>
          <p:cNvPr id="14" name="Rectangle 13"/>
          <p:cNvSpPr/>
          <p:nvPr/>
        </p:nvSpPr>
        <p:spPr>
          <a:xfrm>
            <a:off x="457200" y="3291840"/>
            <a:ext cx="548640" cy="7772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493008"/>
            <a:ext cx="548640" cy="457200"/>
          </a:xfrm>
          <a:prstGeom prst="rect">
            <a:avLst/>
          </a:prstGeom>
          <a:noFill/>
        </p:spPr>
        <p:txBody>
          <a:bodyPr wrap="square" lIns="45720" tIns="18288" rIns="45720" bIns="18288">
            <a:spAutoFit/>
          </a:bodyPr>
          <a:lstStyle/>
          <a:p>
            <a:pPr algn="ctr"/>
            <a:r>
              <a:rPr sz="2200" b="1">
                <a:solidFill>
                  <a:srgbClr val="FFFFFF"/>
                </a:solidFill>
                <a:latin typeface="Segoe UI"/>
              </a:rPr>
              <a:t>3</a:t>
            </a:r>
          </a:p>
        </p:txBody>
      </p:sp>
      <p:sp>
        <p:nvSpPr>
          <p:cNvPr id="16" name="Rectangle 15"/>
          <p:cNvSpPr/>
          <p:nvPr/>
        </p:nvSpPr>
        <p:spPr>
          <a:xfrm>
            <a:off x="1051560" y="3291840"/>
            <a:ext cx="10698480" cy="77724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3493008"/>
            <a:ext cx="10424160" cy="548640"/>
          </a:xfrm>
          <a:prstGeom prst="rect">
            <a:avLst/>
          </a:prstGeom>
          <a:noFill/>
        </p:spPr>
        <p:txBody>
          <a:bodyPr wrap="square" lIns="45720" tIns="18288" rIns="45720" bIns="18288">
            <a:spAutoFit/>
          </a:bodyPr>
          <a:lstStyle/>
          <a:p>
            <a:r>
              <a:rPr sz="1400" b="1">
                <a:solidFill>
                  <a:srgbClr val="0B2A4A"/>
                </a:solidFill>
                <a:latin typeface="Segoe UI"/>
              </a:rPr>
              <a:t>The discipline is the LOOP, not the tooling. Tooling will keep evolving — the concept won't.</a:t>
            </a:r>
          </a:p>
        </p:txBody>
      </p:sp>
      <p:sp>
        <p:nvSpPr>
          <p:cNvPr id="18" name="Rectangle 17"/>
          <p:cNvSpPr/>
          <p:nvPr/>
        </p:nvSpPr>
        <p:spPr>
          <a:xfrm>
            <a:off x="457200" y="4251960"/>
            <a:ext cx="548640" cy="7772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453128"/>
            <a:ext cx="548640" cy="457200"/>
          </a:xfrm>
          <a:prstGeom prst="rect">
            <a:avLst/>
          </a:prstGeom>
          <a:noFill/>
        </p:spPr>
        <p:txBody>
          <a:bodyPr wrap="square" lIns="45720" tIns="18288" rIns="45720" bIns="18288">
            <a:spAutoFit/>
          </a:bodyPr>
          <a:lstStyle/>
          <a:p>
            <a:pPr algn="ctr"/>
            <a:r>
              <a:rPr sz="2200" b="1">
                <a:solidFill>
                  <a:srgbClr val="FFFFFF"/>
                </a:solidFill>
                <a:latin typeface="Segoe UI"/>
              </a:rPr>
              <a:t>4</a:t>
            </a:r>
          </a:p>
        </p:txBody>
      </p:sp>
      <p:sp>
        <p:nvSpPr>
          <p:cNvPr id="20" name="Rectangle 19"/>
          <p:cNvSpPr/>
          <p:nvPr/>
        </p:nvSpPr>
        <p:spPr>
          <a:xfrm>
            <a:off x="1051560" y="4251960"/>
            <a:ext cx="10698480" cy="777240"/>
          </a:xfrm>
          <a:prstGeom prst="rect">
            <a:avLst/>
          </a:prstGeom>
          <a:solidFill>
            <a:srgbClr val="F3F6FA"/>
          </a:solidFill>
          <a:ln>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4453128"/>
            <a:ext cx="10424160" cy="548640"/>
          </a:xfrm>
          <a:prstGeom prst="rect">
            <a:avLst/>
          </a:prstGeom>
          <a:noFill/>
        </p:spPr>
        <p:txBody>
          <a:bodyPr wrap="square" lIns="45720" tIns="18288" rIns="45720" bIns="18288">
            <a:spAutoFit/>
          </a:bodyPr>
          <a:lstStyle/>
          <a:p>
            <a:r>
              <a:rPr sz="1400" b="1">
                <a:solidFill>
                  <a:srgbClr val="0B2A4A"/>
                </a:solidFill>
                <a:latin typeface="Segoe UI"/>
              </a:rPr>
              <a:t>Target state: Level 3 — automated, online-evaluated, A2A-traced end to end.</a:t>
            </a:r>
          </a:p>
        </p:txBody>
      </p:sp>
      <p:sp>
        <p:nvSpPr>
          <p:cNvPr id="22" name="Rectangle 21"/>
          <p:cNvSpPr/>
          <p:nvPr/>
        </p:nvSpPr>
        <p:spPr>
          <a:xfrm>
            <a:off x="457200" y="5943600"/>
            <a:ext cx="11247120" cy="6400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080760"/>
            <a:ext cx="11247120" cy="457200"/>
          </a:xfrm>
          <a:prstGeom prst="rect">
            <a:avLst/>
          </a:prstGeom>
          <a:noFill/>
        </p:spPr>
        <p:txBody>
          <a:bodyPr wrap="square" lIns="45720" tIns="18288" rIns="45720" bIns="18288">
            <a:spAutoFit/>
          </a:bodyPr>
          <a:lstStyle/>
          <a:p>
            <a:pPr algn="ctr"/>
            <a:r>
              <a:rPr sz="1500" b="1">
                <a:solidFill>
                  <a:srgbClr val="FFFFFF"/>
                </a:solidFill>
                <a:latin typeface="Segoe UI"/>
              </a:rPr>
              <a:t>One pipe in. Many views out. One loop that closes them all.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D289AB-0A89-2647-64AD-C5575F71F43D}"/>
              </a:ext>
            </a:extLst>
          </p:cNvPr>
          <p:cNvSpPr>
            <a:spLocks noGrp="1"/>
          </p:cNvSpPr>
          <p:nvPr>
            <p:ph type="ftr" sz="quarter" idx="3"/>
          </p:nvPr>
        </p:nvSpPr>
        <p:spPr/>
        <p:txBody>
          <a:bodyPr/>
          <a:lstStyle/>
          <a:p>
            <a:r>
              <a:rPr lang="en-US" sz="800">
                <a:solidFill>
                  <a:srgbClr val="000000"/>
                </a:solidFill>
                <a:latin typeface="Segoe UI"/>
              </a:rPr>
              <a:t>Microsoft Confidential</a:t>
            </a:r>
          </a:p>
        </p:txBody>
      </p:sp>
      <p:sp>
        <p:nvSpPr>
          <p:cNvPr id="3" name="Slide Number Placeholder 2">
            <a:extLst>
              <a:ext uri="{FF2B5EF4-FFF2-40B4-BE49-F238E27FC236}">
                <a16:creationId xmlns:a16="http://schemas.microsoft.com/office/drawing/2014/main" id="{4410B87F-0AFF-2C69-1F85-58C8F8567E2C}"/>
              </a:ext>
            </a:extLst>
          </p:cNvPr>
          <p:cNvSpPr>
            <a:spLocks noGrp="1"/>
          </p:cNvSpPr>
          <p:nvPr>
            <p:ph type="sldNum" sz="quarter" idx="4"/>
          </p:nvPr>
        </p:nvSpPr>
        <p:spPr/>
        <p:txBody>
          <a:bodyPr/>
          <a:lstStyle/>
          <a:p>
            <a:fld id="{8F881BB8-5469-4299-99B9-578BE3320A80}" type="slidenum">
              <a:rPr lang="en-US" sz="800" smtClean="0">
                <a:solidFill>
                  <a:srgbClr val="000000"/>
                </a:solidFill>
                <a:latin typeface="Segoe UI"/>
              </a:rPr>
              <a:t>39</a:t>
            </a:fld>
            <a:endParaRPr lang="en-US" sz="800"/>
          </a:p>
        </p:txBody>
      </p:sp>
      <p:sp>
        <p:nvSpPr>
          <p:cNvPr id="20" name="Header Banner"/>
          <p:cNvSpPr/>
          <p:nvPr/>
        </p:nvSpPr>
        <p:spPr>
          <a:xfrm>
            <a:off x="0" y="0"/>
            <a:ext cx="12192000" cy="1188720"/>
          </a:xfrm>
          <a:prstGeom prst="rect">
            <a:avLst/>
          </a:prstGeom>
          <a:solidFill>
            <a:srgbClr val="243A5E"/>
          </a:solidFill>
          <a:ln>
            <a:noFill/>
          </a:ln>
        </p:spPr>
        <p:txBody>
          <a:bodyPr lIns="500000" anchor="ctr" anchorCtr="0"/>
          <a:lstStyle/>
          <a:p>
            <a:r>
              <a:rPr lang="en-GB" sz="2200" b="1">
                <a:solidFill>
                  <a:srgbClr val="FFFFFF"/>
                </a:solidFill>
                <a:latin typeface="Segoe UI" panose="020B0502040204020203" pitchFamily="34" charset="0"/>
              </a:rPr>
              <a:t>Key Takeaways</a:t>
            </a:r>
          </a:p>
        </p:txBody>
      </p:sp>
      <p:sp>
        <p:nvSpPr>
          <p:cNvPr id="21" name="Gold Accent"/>
          <p:cNvSpPr/>
          <p:nvPr/>
        </p:nvSpPr>
        <p:spPr>
          <a:xfrm>
            <a:off x="0" y="1188720"/>
            <a:ext cx="12192000" cy="45720"/>
          </a:xfrm>
          <a:prstGeom prst="rect">
            <a:avLst/>
          </a:prstGeom>
          <a:solidFill>
            <a:srgbClr val="FFB900"/>
          </a:solidFill>
          <a:ln>
            <a:noFill/>
          </a:ln>
        </p:spPr>
        <p:txBody>
          <a:bodyPr/>
          <a:lstStyle/>
          <a:p>
            <a:endParaRPr lang="en-GB"/>
          </a:p>
        </p:txBody>
      </p:sp>
      <p:sp>
        <p:nvSpPr>
          <p:cNvPr id="22" name="Definition"/>
          <p:cNvSpPr/>
          <p:nvPr/>
        </p:nvSpPr>
        <p:spPr>
          <a:xfrm>
            <a:off x="500000" y="1400000"/>
            <a:ext cx="11192000" cy="500000"/>
          </a:xfrm>
          <a:prstGeom prst="rect">
            <a:avLst/>
          </a:prstGeom>
          <a:noFill/>
          <a:ln>
            <a:noFill/>
          </a:ln>
        </p:spPr>
        <p:txBody>
          <a:bodyPr wrap="square" anchor="t"/>
          <a:lstStyle/>
          <a:p>
            <a:pPr>
              <a:buNone/>
            </a:pPr>
            <a:r>
              <a:rPr lang="en-GB" sz="1300" i="1">
                <a:solidFill>
                  <a:srgbClr val="666666"/>
                </a:solidFill>
                <a:latin typeface="Segoe UI" panose="020B0502040204020203" pitchFamily="34" charset="0"/>
              </a:rPr>
              <a:t>Five governance pillars for managing AI systems responsibly across the model and agent lifecycle.</a:t>
            </a:r>
          </a:p>
        </p:txBody>
      </p:sp>
      <p:sp>
        <p:nvSpPr>
          <p:cNvPr id="30" name="Panel BG 30"/>
          <p:cNvSpPr/>
          <p:nvPr/>
        </p:nvSpPr>
        <p:spPr>
          <a:xfrm>
            <a:off x="500000" y="2100000"/>
            <a:ext cx="5350000" cy="3400000"/>
          </a:xfrm>
          <a:prstGeom prst="roundRect">
            <a:avLst>
              <a:gd name="adj" fmla="val 3000"/>
            </a:avLst>
          </a:prstGeom>
          <a:solidFill>
            <a:srgbClr val="EEF3FA"/>
          </a:solidFill>
          <a:ln w="12700">
            <a:solidFill>
              <a:srgbClr val="7BA7CC"/>
            </a:solidFill>
          </a:ln>
        </p:spPr>
        <p:txBody>
          <a:bodyPr/>
          <a:lstStyle/>
          <a:p>
            <a:endParaRPr lang="en-GB"/>
          </a:p>
        </p:txBody>
      </p:sp>
      <p:sp>
        <p:nvSpPr>
          <p:cNvPr id="31" name="Panel Header 30"/>
          <p:cNvSpPr/>
          <p:nvPr/>
        </p:nvSpPr>
        <p:spPr>
          <a:xfrm>
            <a:off x="500000" y="2100000"/>
            <a:ext cx="5350000" cy="450000"/>
          </a:xfrm>
          <a:prstGeom prst="roundRect">
            <a:avLst>
              <a:gd name="adj" fmla="val 3000"/>
            </a:avLst>
          </a:prstGeom>
          <a:solidFill>
            <a:srgbClr val="243A5E"/>
          </a:solidFill>
          <a:ln>
            <a:noFill/>
          </a:ln>
        </p:spPr>
        <p:txBody>
          <a:bodyPr lIns="180000" anchor="ctr" anchorCtr="0"/>
          <a:lstStyle/>
          <a:p>
            <a:r>
              <a:rPr lang="en-GB" sz="1400" b="1">
                <a:solidFill>
                  <a:srgbClr val="FFFFFF"/>
                </a:solidFill>
                <a:latin typeface="Segoe UI" panose="020B0502040204020203" pitchFamily="34" charset="0"/>
              </a:rPr>
              <a:t>Registries &amp; Deployment Gates</a:t>
            </a:r>
          </a:p>
        </p:txBody>
      </p:sp>
      <p:sp>
        <p:nvSpPr>
          <p:cNvPr id="32" name="Panel Content 30"/>
          <p:cNvSpPr/>
          <p:nvPr/>
        </p:nvSpPr>
        <p:spPr>
          <a:xfrm>
            <a:off x="580000" y="2630000"/>
            <a:ext cx="5190000" cy="2790000"/>
          </a:xfrm>
          <a:prstGeom prst="rect">
            <a:avLst/>
          </a:prstGeom>
          <a:noFill/>
          <a:ln>
            <a:noFill/>
          </a:ln>
        </p:spPr>
        <p:txBody>
          <a:bodyPr wrap="square"/>
          <a:lstStyle/>
          <a:p>
            <a:pPr marL="171450" indent="-171450">
              <a:lnSpc>
                <a:spcPct val="140000"/>
              </a:lnSpc>
              <a:buFont typeface="Arial" pitchFamily="34" charset="0"/>
              <a:buChar char="•"/>
            </a:pPr>
            <a:r>
              <a:rPr lang="en-GB" sz="1000">
                <a:solidFill>
                  <a:srgbClr val="333333"/>
                </a:solidFill>
                <a:latin typeface="Segoe UI" panose="020B0502040204020203" pitchFamily="34" charset="0"/>
              </a:rPr>
              <a:t>Model registries track versions, weights, and benchmarks; agent registries track identities, ownership, and behaviour</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Deployment gates enforce governance at every lifecycle stage — from use case approval to retirement</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Gates can be automated, manual, or hybrid depending on risk level</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MLOps gates focus on model performance; AgentOps gates focus on system behaviour and actions</a:t>
            </a:r>
          </a:p>
        </p:txBody>
      </p:sp>
      <p:sp>
        <p:nvSpPr>
          <p:cNvPr id="40" name="Panel BG 40"/>
          <p:cNvSpPr/>
          <p:nvPr/>
        </p:nvSpPr>
        <p:spPr>
          <a:xfrm>
            <a:off x="6150000" y="2100000"/>
            <a:ext cx="5542000" cy="3400000"/>
          </a:xfrm>
          <a:prstGeom prst="roundRect">
            <a:avLst>
              <a:gd name="adj" fmla="val 3000"/>
            </a:avLst>
          </a:prstGeom>
          <a:solidFill>
            <a:srgbClr val="EEF3FA"/>
          </a:solidFill>
          <a:ln w="12700">
            <a:solidFill>
              <a:srgbClr val="7BA7CC"/>
            </a:solidFill>
          </a:ln>
        </p:spPr>
        <p:txBody>
          <a:bodyPr/>
          <a:lstStyle/>
          <a:p>
            <a:endParaRPr lang="en-GB"/>
          </a:p>
        </p:txBody>
      </p:sp>
      <p:sp>
        <p:nvSpPr>
          <p:cNvPr id="41" name="Panel Header 40"/>
          <p:cNvSpPr/>
          <p:nvPr/>
        </p:nvSpPr>
        <p:spPr>
          <a:xfrm>
            <a:off x="6150000" y="2100000"/>
            <a:ext cx="5542000" cy="450000"/>
          </a:xfrm>
          <a:prstGeom prst="roundRect">
            <a:avLst>
              <a:gd name="adj" fmla="val 3000"/>
            </a:avLst>
          </a:prstGeom>
          <a:solidFill>
            <a:srgbClr val="243A5E"/>
          </a:solidFill>
          <a:ln>
            <a:noFill/>
          </a:ln>
        </p:spPr>
        <p:txBody>
          <a:bodyPr lIns="180000" anchor="ctr" anchorCtr="0"/>
          <a:lstStyle/>
          <a:p>
            <a:r>
              <a:rPr lang="en-GB" sz="1400" b="1">
                <a:solidFill>
                  <a:srgbClr val="FFFFFF"/>
                </a:solidFill>
                <a:latin typeface="Segoe UI" panose="020B0502040204020203" pitchFamily="34" charset="0"/>
              </a:rPr>
              <a:t>Evaluation, Feedback &amp; AgenticOps</a:t>
            </a:r>
          </a:p>
        </p:txBody>
      </p:sp>
      <p:sp>
        <p:nvSpPr>
          <p:cNvPr id="42" name="Panel Content 40"/>
          <p:cNvSpPr/>
          <p:nvPr/>
        </p:nvSpPr>
        <p:spPr>
          <a:xfrm>
            <a:off x="6230000" y="2630000"/>
            <a:ext cx="5382000" cy="2790000"/>
          </a:xfrm>
          <a:prstGeom prst="rect">
            <a:avLst/>
          </a:prstGeom>
          <a:noFill/>
          <a:ln>
            <a:noFill/>
          </a:ln>
        </p:spPr>
        <p:txBody>
          <a:bodyPr wrap="square"/>
          <a:lstStyle/>
          <a:p>
            <a:pPr marL="171450" indent="-171450">
              <a:lnSpc>
                <a:spcPct val="140000"/>
              </a:lnSpc>
              <a:buFont typeface="Arial" pitchFamily="34" charset="0"/>
              <a:buChar char="•"/>
            </a:pPr>
            <a:r>
              <a:rPr lang="en-GB" sz="1000">
                <a:solidFill>
                  <a:srgbClr val="333333"/>
                </a:solidFill>
                <a:latin typeface="Segoe UI" panose="020B0502040204020203" pitchFamily="34" charset="0"/>
              </a:rPr>
              <a:t>Promotion is evidence-based — tied to measurable evaluation thresholds, not timelines</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Evaluation spans model, agent, data, and system layers before any promotion</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FAOS closes the loop: feedback from production drives continuous optimisation</a:t>
            </a:r>
          </a:p>
          <a:p>
            <a:pPr marL="171450" indent="-171450">
              <a:lnSpc>
                <a:spcPct val="140000"/>
              </a:lnSpc>
              <a:buFont typeface="Arial" pitchFamily="34" charset="0"/>
              <a:buChar char="•"/>
            </a:pPr>
            <a:r>
              <a:rPr lang="en-GB" sz="1000">
                <a:solidFill>
                  <a:srgbClr val="333333"/>
                </a:solidFill>
                <a:latin typeface="Segoe UI" panose="020B0502040204020203" pitchFamily="34" charset="0"/>
              </a:rPr>
              <a:t>AgenticOps makes every governance control observable, alertable, and self-improving in production</a:t>
            </a:r>
          </a:p>
        </p:txBody>
      </p:sp>
      <p:sp>
        <p:nvSpPr>
          <p:cNvPr id="50" name="Key Principle"/>
          <p:cNvSpPr/>
          <p:nvPr/>
        </p:nvSpPr>
        <p:spPr>
          <a:xfrm>
            <a:off x="500000" y="5700000"/>
            <a:ext cx="11192000" cy="500000"/>
          </a:xfrm>
          <a:prstGeom prst="roundRect">
            <a:avLst>
              <a:gd name="adj" fmla="val 5000"/>
            </a:avLst>
          </a:prstGeom>
          <a:solidFill>
            <a:srgbClr val="EEF3FA"/>
          </a:solidFill>
          <a:ln w="12700">
            <a:solidFill>
              <a:srgbClr val="2B579A"/>
            </a:solidFill>
          </a:ln>
        </p:spPr>
        <p:txBody>
          <a:bodyPr lIns="200000" anchor="ctr"/>
          <a:lstStyle/>
          <a:p>
            <a:pPr>
              <a:buNone/>
            </a:pPr>
            <a:r>
              <a:rPr lang="en-GB" sz="1200" b="1">
                <a:solidFill>
                  <a:srgbClr val="243A5E"/>
                </a:solidFill>
                <a:latin typeface="Segoe UI" panose="020B0502040204020203" pitchFamily="34" charset="0"/>
              </a:rPr>
              <a:t>Bottom line: </a:t>
            </a:r>
            <a:r>
              <a:rPr lang="en-GB" sz="1200">
                <a:solidFill>
                  <a:srgbClr val="333333"/>
                </a:solidFill>
                <a:latin typeface="Segoe UI" panose="020B0502040204020203" pitchFamily="34" charset="0"/>
              </a:rPr>
              <a:t>Responsible AI at scale requires registries for visibility, gates for control, evaluation for trust, feedback loops for improvement, and AgenticOps to make it all enforceable.</a:t>
            </a:r>
          </a:p>
        </p:txBody>
      </p:sp>
    </p:spTree>
    <p:extLst>
      <p:ext uri="{BB962C8B-B14F-4D97-AF65-F5344CB8AC3E}">
        <p14:creationId xmlns:p14="http://schemas.microsoft.com/office/powerpoint/2010/main" val="50000000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2743200" y="2560320"/>
            <a:ext cx="6675120" cy="13716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4000" b="1">
                <a:solidFill>
                  <a:srgbClr val="FFFFFF"/>
                </a:solidFill>
                <a:latin typeface="Segoe UI Semibold"/>
              </a:defRPr>
            </a:pPr>
            <a:r>
              <a:rPr kumimoji="0" sz="4000" b="1" i="0" u="none" strike="noStrike" kern="1200" cap="none" spc="0" normalizeH="0" baseline="0" noProof="0">
                <a:ln>
                  <a:noFill/>
                </a:ln>
                <a:solidFill>
                  <a:srgbClr val="FFFFFF"/>
                </a:solidFill>
                <a:effectLst/>
                <a:uLnTx/>
                <a:uFillTx/>
                <a:latin typeface="Segoe UI Semibold"/>
                <a:ea typeface="+mn-ea"/>
                <a:cs typeface="+mn-cs"/>
              </a:rPr>
              <a:t>Questions?</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2.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5.xml><?xml version="1.0" encoding="utf-8"?>
<?mso-contentType ?>
<FormTemplates xmlns="http://schemas.microsoft.com/sharepoint/v3/contenttype/forms">
  <Display>DocumentLibraryForm</Display>
  <Edit>DocumentLibraryForm</Edit>
  <New>DocumentLibraryForm</New>
</FormTemplates>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6552B3D2-5F72-49FB-8B35-AFE12BF36804}">
  <ds:schemaRefs>
    <ds:schemaRef ds:uri="Strauss.PersonalizationDefinition"/>
  </ds:schemaRefs>
</ds:datastoreItem>
</file>

<file path=customXml/itemProps2.xml><?xml version="1.0" encoding="utf-8"?>
<ds:datastoreItem xmlns:ds="http://schemas.openxmlformats.org/officeDocument/2006/customXml" ds:itemID="{2BCFCE7B-4A43-491B-887D-365E2A1C50B2}">
  <ds:schemaRefs>
    <ds:schemaRef ds:uri="Strauss.PersonalizationDefinition"/>
  </ds:schemaRefs>
</ds:datastoreItem>
</file>

<file path=customXml/itemProps3.xml><?xml version="1.0" encoding="utf-8"?>
<ds:datastoreItem xmlns:ds="http://schemas.openxmlformats.org/officeDocument/2006/customXml" ds:itemID="{F56EB5D8-3CD5-48EE-9536-13CF2B9AC25D}">
  <ds:schemaRefs>
    <ds:schemaRef ds:uri="Strauss.PersonalizationDefinition"/>
  </ds:schemaRefs>
</ds:datastoreItem>
</file>

<file path=customXml/itemProps4.xml><?xml version="1.0" encoding="utf-8"?>
<ds:datastoreItem xmlns:ds="http://schemas.openxmlformats.org/officeDocument/2006/customXml" ds:itemID="{D7FDC28F-4CBD-40ED-9D33-0A1360D5DEC4}">
  <ds:schemaRefs>
    <ds:schemaRef ds:uri="Strauss.PersonalizationDefinition"/>
  </ds:schemaRefs>
</ds:datastoreItem>
</file>

<file path=customXml/itemProps5.xml><?xml version="1.0" encoding="utf-8"?>
<ds:datastoreItem xmlns:ds="http://schemas.openxmlformats.org/officeDocument/2006/customXml" ds:itemID="{A0EED17B-F609-411E-840C-8A361DF5E053}">
  <ds:schemaRefs>
    <ds:schemaRef ds:uri="Strauss.PersonalizationDefinition"/>
  </ds:schemaRefs>
</ds:datastoreItem>
</file>

<file path=customXml/itemProps6.xml><?xml version="1.0" encoding="utf-8"?>
<ds:datastoreItem xmlns:ds="http://schemas.openxmlformats.org/officeDocument/2006/customXml" ds:itemID="{4EA01338-72BB-48B6-B6A4-05B31FE21105}">
  <ds:schemaRefs>
    <ds:schemaRef ds:uri="Strauss.PersonalizationDefinition"/>
  </ds:schemaRefs>
</ds:datastoreItem>
</file>

<file path=customXml/itemProps7.xml><?xml version="1.0" encoding="utf-8"?>
<ds:datastoreItem xmlns:ds="http://schemas.openxmlformats.org/officeDocument/2006/customXml" ds:itemID="{103AB8E4-C30A-4895-9606-8D77F2E70F19}">
  <ds:schemaRefs>
    <ds:schemaRef ds:uri="Strauss.PersonalizationDefinition"/>
  </ds:schemaRefs>
</ds:datastoreItem>
</file>

<file path=customXml/itemProps8.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9.xml><?xml version="1.0" encoding="utf-8"?>
<ds:datastoreItem xmlns:ds="http://schemas.openxmlformats.org/officeDocument/2006/customXml" ds:itemID="{7469151F-B4F3-4C21-84F8-69D9E2B09815}">
  <ds:schemaRefs>
    <ds:schemaRef ds:uri="Strauss.PersonalizationDefinition"/>
  </ds:schemaRefs>
</ds:datastoreItem>
</file>

<file path=customXml/itemProps10.xml><?xml version="1.0" encoding="utf-8"?>
<ds:datastoreItem xmlns:ds="http://schemas.openxmlformats.org/officeDocument/2006/customXml" ds:itemID="{6F485757-9F3C-4A1E-9E86-E1C1551910BA}">
  <ds:schemaRefs>
    <ds:schemaRef ds:uri="Strauss.PersonalizationDefinition"/>
  </ds:schemaRefs>
</ds:datastoreItem>
</file>

<file path=customXml/itemProps11.xml><?xml version="1.0" encoding="utf-8"?>
<ds:datastoreItem xmlns:ds="http://schemas.openxmlformats.org/officeDocument/2006/customXml" ds:itemID="{5C919DC8-E31E-42F0-9621-B916C2E029BA}">
  <ds:schemaRefs>
    <ds:schemaRef ds:uri="Strauss.PersonalizationDefinition"/>
  </ds:schemaRefs>
</ds:datastoreItem>
</file>

<file path=customXml/itemProps12.xml><?xml version="1.0" encoding="utf-8"?>
<ds:datastoreItem xmlns:ds="http://schemas.openxmlformats.org/officeDocument/2006/customXml" ds:itemID="{377F26BD-25C8-43E7-9F1A-CFF52E7C6B85}"/>
</file>

<file path=customXml/itemProps13.xml><?xml version="1.0" encoding="utf-8"?>
<ds:datastoreItem xmlns:ds="http://schemas.openxmlformats.org/officeDocument/2006/customXml" ds:itemID="{FBC13881-F2DC-4AA3-88C8-97C40CA1EBC7}">
  <ds:schemaRefs>
    <ds:schemaRef ds:uri="Strauss.PersonalizationDefinition"/>
  </ds:schemaRefs>
</ds:datastoreItem>
</file>

<file path=customXml/itemProps14.xml><?xml version="1.0" encoding="utf-8"?>
<ds:datastoreItem xmlns:ds="http://schemas.openxmlformats.org/officeDocument/2006/customXml" ds:itemID="{4A3F169F-E27D-4A25-888C-4C5D83BAC082}">
  <ds:schemaRefs>
    <ds:schemaRef ds:uri="Strauss.PersonalizationDefinition"/>
  </ds:schemaRefs>
</ds:datastoreItem>
</file>

<file path=customXml/itemProps15.xml><?xml version="1.0" encoding="utf-8"?>
<ds:datastoreItem xmlns:ds="http://schemas.openxmlformats.org/officeDocument/2006/customXml" ds:itemID="{D76C1D54-C31A-41C7-8796-37E3A885C9B9}">
  <ds:schemaRefs>
    <ds:schemaRef ds:uri="Strauss.PersonalizationDefinition"/>
  </ds:schemaRefs>
</ds:datastoreItem>
</file>

<file path=customXml/itemProps16.xml><?xml version="1.0" encoding="utf-8"?>
<ds:datastoreItem xmlns:ds="http://schemas.openxmlformats.org/officeDocument/2006/customXml" ds:itemID="{712108F3-86F2-4B95-AF2D-FE4E45965FCC}">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734F6CED-B619-41E0-BEDE-58B64D5F5EB2}">
  <ds:schemaRefs>
    <ds:schemaRef ds:uri="Strauss.PersonalizationDefinition"/>
  </ds:schemaRefs>
</ds:datastoreItem>
</file>

<file path=customXml/itemProps19.xml><?xml version="1.0" encoding="utf-8"?>
<ds:datastoreItem xmlns:ds="http://schemas.openxmlformats.org/officeDocument/2006/customXml" ds:itemID="{4C485A9E-99A8-4277-BE90-E837A967DB2E}">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541D4602-AC17-4CBD-B95E-D5B3D757BC54}">
  <ds:schemaRefs>
    <ds:schemaRef ds:uri="Strauss.PersonalizationDefinition"/>
  </ds:schemaRefs>
</ds:datastoreItem>
</file>

<file path=customXml/itemProps22.xml><?xml version="1.0" encoding="utf-8"?>
<ds:datastoreItem xmlns:ds="http://schemas.openxmlformats.org/officeDocument/2006/customXml" ds:itemID="{A09B3D8F-A36C-4B6D-871D-C53F61DFD219}">
  <ds:schemaRefs>
    <ds:schemaRef ds:uri="Strauss.PersonalizationDefinition"/>
  </ds:schemaRefs>
</ds:datastoreItem>
</file>

<file path=customXml/itemProps23.xml><?xml version="1.0" encoding="utf-8"?>
<ds:datastoreItem xmlns:ds="http://schemas.openxmlformats.org/officeDocument/2006/customXml" ds:itemID="{7BE5F28F-50CA-40F1-A02E-E794FE33362D}">
  <ds:schemaRefs>
    <ds:schemaRef ds:uri="Strauss.PersonalizationDefinition"/>
  </ds:schemaRefs>
</ds:datastoreItem>
</file>

<file path=customXml/itemProps24.xml><?xml version="1.0" encoding="utf-8"?>
<ds:datastoreItem xmlns:ds="http://schemas.openxmlformats.org/officeDocument/2006/customXml" ds:itemID="{FC25CD5D-A9DA-407F-9106-47BDA14BCED9}">
  <ds:schemaRefs>
    <ds:schemaRef ds:uri="Strauss.PersonalizationDefinition"/>
  </ds:schemaRefs>
</ds:datastoreItem>
</file>

<file path=customXml/itemProps2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26.xml><?xml version="1.0" encoding="utf-8"?>
<ds:datastoreItem xmlns:ds="http://schemas.openxmlformats.org/officeDocument/2006/customXml" ds:itemID="{B09E3EAE-66CA-4A91-A5FE-A34A70B099ED}">
  <ds:schemaRefs>
    <ds:schemaRef ds:uri="Strauss.PersonalizationDefinition"/>
  </ds:schemaRefs>
</ds:datastoreItem>
</file>

<file path=customXml/itemProps27.xml><?xml version="1.0" encoding="utf-8"?>
<ds:datastoreItem xmlns:ds="http://schemas.openxmlformats.org/officeDocument/2006/customXml" ds:itemID="{BC268A45-186B-46A3-937F-0E016CEA70C1}">
  <ds:schemaRefs>
    <ds:schemaRef ds:uri="Strauss.PersonalizationDefinition"/>
  </ds:schemaRefs>
</ds:datastoreItem>
</file>

<file path=customXml/itemProps28.xml><?xml version="1.0" encoding="utf-8"?>
<ds:datastoreItem xmlns:ds="http://schemas.openxmlformats.org/officeDocument/2006/customXml" ds:itemID="{D55AC15F-0A03-4D96-AA43-65FC3DCE2717}">
  <ds:schemaRefs>
    <ds:schemaRef ds:uri="Strauss.PersonalizationDefinition"/>
  </ds:schemaRefs>
</ds:datastoreItem>
</file>

<file path=customXml/itemProps29.xml><?xml version="1.0" encoding="utf-8"?>
<ds:datastoreItem xmlns:ds="http://schemas.openxmlformats.org/officeDocument/2006/customXml" ds:itemID="{628127A0-F2C3-45C3-BB9F-5B29A6B848BE}">
  <ds:schemaRefs>
    <ds:schemaRef ds:uri="Strauss.PersonalizationDefinition"/>
  </ds:schemaRefs>
</ds:datastoreItem>
</file>

<file path=customXml/itemProps30.xml><?xml version="1.0" encoding="utf-8"?>
<ds:datastoreItem xmlns:ds="http://schemas.openxmlformats.org/officeDocument/2006/customXml" ds:itemID="{ECCE7DC3-F525-4E76-8812-56FCA2D21E50}">
  <ds:schemaRefs>
    <ds:schemaRef ds:uri="Strauss.PersonalizationDefinition"/>
  </ds:schemaRefs>
</ds:datastoreItem>
</file>

<file path=customXml/itemProps31.xml><?xml version="1.0" encoding="utf-8"?>
<ds:datastoreItem xmlns:ds="http://schemas.openxmlformats.org/officeDocument/2006/customXml" ds:itemID="{32920470-F086-4197-B6FE-12027DE25DCC}">
  <ds:schemaRefs>
    <ds:schemaRef ds:uri="Strauss.PersonalizationDefinition"/>
  </ds:schemaRefs>
</ds:datastoreItem>
</file>

<file path=customXml/itemProps32.xml><?xml version="1.0" encoding="utf-8"?>
<ds:datastoreItem xmlns:ds="http://schemas.openxmlformats.org/officeDocument/2006/customXml" ds:itemID="{406127A5-B8F7-4F8A-95A9-8E20F72EA129}">
  <ds:schemaRefs>
    <ds:schemaRef ds:uri="Strauss.PersonalizationDefinition"/>
  </ds:schemaRefs>
</ds:datastoreItem>
</file>

<file path=customXml/itemProps33.xml><?xml version="1.0" encoding="utf-8"?>
<ds:datastoreItem xmlns:ds="http://schemas.openxmlformats.org/officeDocument/2006/customXml" ds:itemID="{46522A59-B026-4350-BB1A-BEB05240770F}">
  <ds:schemaRefs>
    <ds:schemaRef ds:uri="Strauss.PersonalizationDefinition"/>
  </ds:schemaRefs>
</ds:datastoreItem>
</file>

<file path=customXml/itemProps34.xml><?xml version="1.0" encoding="utf-8"?>
<ds:datastoreItem xmlns:ds="http://schemas.openxmlformats.org/officeDocument/2006/customXml" ds:itemID="{B228D3F7-8445-4CE7-92DC-AC7FE2D5A2AF}">
  <ds:schemaRefs>
    <ds:schemaRef ds:uri="Strauss.PersonalizationDefinition"/>
  </ds:schemaRefs>
</ds:datastoreItem>
</file>

<file path=customXml/itemProps35.xml><?xml version="1.0" encoding="utf-8"?>
<ds:datastoreItem xmlns:ds="http://schemas.openxmlformats.org/officeDocument/2006/customXml" ds:itemID="{08068EAD-DA6C-4DC8-843E-9CB0982D15F3}">
  <ds:schemaRefs>
    <ds:schemaRef ds:uri="Strauss.PersonalizationDefinition"/>
  </ds:schemaRefs>
</ds:datastoreItem>
</file>

<file path=customXml/itemProps36.xml><?xml version="1.0" encoding="utf-8"?>
<ds:datastoreItem xmlns:ds="http://schemas.openxmlformats.org/officeDocument/2006/customXml" ds:itemID="{68BE9F8F-073F-46B7-B2D0-86DC8E2E9DCE}">
  <ds:schemaRefs>
    <ds:schemaRef ds:uri="Strauss.PersonalizationDefinition"/>
  </ds:schemaRefs>
</ds:datastoreItem>
</file>

<file path=customXml/itemProps37.xml><?xml version="1.0" encoding="utf-8"?>
<ds:datastoreItem xmlns:ds="http://schemas.openxmlformats.org/officeDocument/2006/customXml" ds:itemID="{82C716E8-B770-4139-99B0-F35B9C64B90F}">
  <ds:schemaRefs>
    <ds:schemaRef ds:uri="Strauss.PersonalizationDefinition"/>
  </ds:schemaRefs>
</ds:datastoreItem>
</file>

<file path=customXml/itemProps38.xml><?xml version="1.0" encoding="utf-8"?>
<ds:datastoreItem xmlns:ds="http://schemas.openxmlformats.org/officeDocument/2006/customXml" ds:itemID="{DE0DC7DC-A960-4E6E-BF1B-D3D906B081A2}">
  <ds:schemaRefs>
    <ds:schemaRef ds:uri="Strauss.PersonalizationDefinition"/>
  </ds:schemaRefs>
</ds:datastoreItem>
</file>

<file path=customXml/itemProps39.xml><?xml version="1.0" encoding="utf-8"?>
<ds:datastoreItem xmlns:ds="http://schemas.openxmlformats.org/officeDocument/2006/customXml" ds:itemID="{EF4AA5EB-A638-4D3A-B852-E71E18ED4953}">
  <ds:schemaRefs>
    <ds:schemaRef ds:uri="Strauss.PersonalizationDefinition"/>
  </ds:schemaRefs>
</ds:datastoreItem>
</file>

<file path=customXml/itemProps40.xml><?xml version="1.0" encoding="utf-8"?>
<ds:datastoreItem xmlns:ds="http://schemas.openxmlformats.org/officeDocument/2006/customXml" ds:itemID="{13A5538B-5199-4900-941A-B01E377F2065}">
  <ds:schemaRefs>
    <ds:schemaRef ds:uri="Strauss.PersonalizationDefinition"/>
  </ds:schemaRefs>
</ds:datastoreItem>
</file>

<file path=customXml/itemProps41.xml><?xml version="1.0" encoding="utf-8"?>
<ds:datastoreItem xmlns:ds="http://schemas.openxmlformats.org/officeDocument/2006/customXml" ds:itemID="{11767EAE-0FC6-472D-9D35-EB3533243F22}">
  <ds:schemaRefs>
    <ds:schemaRef ds:uri="Strauss.PersonalizationDefinition"/>
  </ds:schemaRefs>
</ds:datastoreItem>
</file>

<file path=customXml/itemProps42.xml><?xml version="1.0" encoding="utf-8"?>
<ds:datastoreItem xmlns:ds="http://schemas.openxmlformats.org/officeDocument/2006/customXml" ds:itemID="{DF333A1B-0A9C-4DA8-ADAB-4378B69FDC48}">
  <ds:schemaRefs>
    <ds:schemaRef ds:uri="Strauss.PersonalizationDefinition"/>
  </ds:schemaRefs>
</ds:datastoreItem>
</file>

<file path=customXml/itemProps43.xml><?xml version="1.0" encoding="utf-8"?>
<ds:datastoreItem xmlns:ds="http://schemas.openxmlformats.org/officeDocument/2006/customXml" ds:itemID="{E7EBEF02-C69B-46E0-B38A-E51611CE5254}">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40</TotalTime>
  <Words>7084</Words>
  <Application>Microsoft Office PowerPoint</Application>
  <PresentationFormat>Widescreen</PresentationFormat>
  <Paragraphs>671</Paragraphs>
  <Slides>40</Slides>
  <Notes>40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40</vt:i4>
      </vt:variant>
    </vt:vector>
  </HeadingPairs>
  <TitlesOfParts>
    <vt:vector size="48" baseType="lpstr">
      <vt:lpstr>Arial</vt:lpstr>
      <vt:lpstr>Calibri</vt:lpstr>
      <vt:lpstr>Segoe UI</vt:lpstr>
      <vt:lpstr>Segoe UI Semibold</vt:lpstr>
      <vt:lpstr>Wingdings</vt:lpstr>
      <vt:lpstr>White Template</vt:lpstr>
      <vt:lpstr>1_White Template</vt:lpstr>
      <vt:lpstr>2_White Template</vt:lpstr>
      <vt:lpstr>Module 3 – Core Governance Pillars</vt:lpstr>
      <vt:lpstr>PowerPoint Presentation</vt:lpstr>
      <vt:lpstr>Learning Units covered  in this Module </vt:lpstr>
      <vt:lpstr>PowerPoint Presentation</vt:lpstr>
      <vt:lpstr>PowerPoint Presentation</vt:lpstr>
      <vt:lpstr>MLOps vs AgenticOps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10</cp:revision>
  <dcterms:created xsi:type="dcterms:W3CDTF">2019-02-08T20:09:46Z</dcterms:created>
  <dcterms:modified xsi:type="dcterms:W3CDTF">2026-06-19T04:49:15Z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