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40"/>
  </p:sldMasterIdLst>
  <p:notesMasterIdLst>
    <p:notesMasterId r:id="rId72"/>
  </p:notesMasterIdLst>
  <p:sldIdLst>
    <p:sldId id="256" r:id="rId41"/>
    <p:sldId id="2147480453" r:id="rId42"/>
    <p:sldId id="2147480448" r:id="rId43"/>
    <p:sldId id="2147469910" r:id="rId44"/>
    <p:sldId id="2147480442" r:id="rId45"/>
    <p:sldId id="257" r:id="rId46"/>
    <p:sldId id="2147469915" r:id="rId47"/>
    <p:sldId id="2147469913" r:id="rId48"/>
    <p:sldId id="2147480423" r:id="rId49"/>
    <p:sldId id="2147480424" r:id="rId50"/>
    <p:sldId id="2147480425" r:id="rId51"/>
    <p:sldId id="2147480426" r:id="rId52"/>
    <p:sldId id="2147480454" r:id="rId53"/>
    <p:sldId id="2147480428" r:id="rId54"/>
    <p:sldId id="2147480449" r:id="rId55"/>
    <p:sldId id="2147480429" r:id="rId56"/>
    <p:sldId id="2147480430" r:id="rId57"/>
    <p:sldId id="2147480432" r:id="rId58"/>
    <p:sldId id="2147480433" r:id="rId59"/>
    <p:sldId id="2147480435" r:id="rId60"/>
    <p:sldId id="2147480434" r:id="rId61"/>
    <p:sldId id="2147480438" r:id="rId62"/>
    <p:sldId id="2147480439" r:id="rId63"/>
    <p:sldId id="2147480450" r:id="rId64"/>
    <p:sldId id="2147480443" r:id="rId65"/>
    <p:sldId id="2147480444" r:id="rId66"/>
    <p:sldId id="2147480451" r:id="rId67"/>
    <p:sldId id="2147480445" r:id="rId68"/>
    <p:sldId id="2147480446" r:id="rId69"/>
    <p:sldId id="2147480452" r:id="rId70"/>
    <p:sldId id="265" r:id="rId71"/>
  </p:sldIdLst>
  <p:sldSz cx="12192000" cy="6858000"/>
  <p:notesSz cx="6858000" cy="9144000"/>
  <p:custDataLst>
    <p:tags r:id="rId7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EF32DA53-2C03-03EE-2EEA-AE2457C9B68C}" name="Tessa Berkley" initials="TB" userId="S::tessab@audienz.com::29198474-64f9-4b67-b7f5-57f0013c624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sa Berkley" initials="TB" lastIdx="18" clrIdx="0">
    <p:extLst>
      <p:ext uri="{19B8F6BF-5375-455C-9EA6-DF929625EA0E}">
        <p15:presenceInfo xmlns:p15="http://schemas.microsoft.com/office/powerpoint/2012/main" userId="S::TessaB@audienz.com::29198474-64f9-4b67-b7f5-57f0013c6244" providerId="AD"/>
      </p:ext>
    </p:extLst>
  </p:cmAuthor>
  <p:cmAuthor id="2" name="Brianna Farah" initials="BF" lastIdx="6" clrIdx="1">
    <p:extLst>
      <p:ext uri="{19B8F6BF-5375-455C-9EA6-DF929625EA0E}">
        <p15:presenceInfo xmlns:p15="http://schemas.microsoft.com/office/powerpoint/2012/main" userId="S::brianna@audienz.com::f1856917-c2d4-49a7-94e9-7f0e47fabb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3D3"/>
    <a:srgbClr val="6089B4"/>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10" autoAdjust="0"/>
    <p:restoredTop sz="90164" autoAdjust="0"/>
  </p:normalViewPr>
  <p:slideViewPr>
    <p:cSldViewPr snapToGrid="0">
      <p:cViewPr varScale="1">
        <p:scale>
          <a:sx n="69" d="100"/>
          <a:sy n="69" d="100"/>
        </p:scale>
        <p:origin x="64" y="53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slide" Target="slides/slide2.xml"/><Relationship Id="rId47" Type="http://schemas.openxmlformats.org/officeDocument/2006/relationships/slide" Target="slides/slide7.xml"/><Relationship Id="rId63" Type="http://schemas.openxmlformats.org/officeDocument/2006/relationships/slide" Target="slides/slide23.xml"/><Relationship Id="rId68" Type="http://schemas.openxmlformats.org/officeDocument/2006/relationships/slide" Target="slides/slide28.xml"/><Relationship Id="rId16" Type="http://schemas.openxmlformats.org/officeDocument/2006/relationships/customXml" Target="../customXml/item16.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customXml" Target="../customXml/item32.xml"/><Relationship Id="rId37" Type="http://schemas.openxmlformats.org/officeDocument/2006/relationships/customXml" Target="../customXml/item37.xml"/><Relationship Id="rId40" Type="http://schemas.openxmlformats.org/officeDocument/2006/relationships/slideMaster" Target="slideMasters/slideMaster1.xml"/><Relationship Id="rId45" Type="http://schemas.openxmlformats.org/officeDocument/2006/relationships/slide" Target="slides/slide5.xml"/><Relationship Id="rId53" Type="http://schemas.openxmlformats.org/officeDocument/2006/relationships/slide" Target="slides/slide13.xml"/><Relationship Id="rId58" Type="http://schemas.openxmlformats.org/officeDocument/2006/relationships/slide" Target="slides/slide18.xml"/><Relationship Id="rId66" Type="http://schemas.openxmlformats.org/officeDocument/2006/relationships/slide" Target="slides/slide26.xml"/><Relationship Id="rId74" Type="http://schemas.openxmlformats.org/officeDocument/2006/relationships/commentAuthors" Target="commentAuthors.xml"/><Relationship Id="rId79" Type="http://schemas.microsoft.com/office/2016/11/relationships/changesInfo" Target="changesInfos/changesInfo1.xml"/><Relationship Id="rId5" Type="http://schemas.openxmlformats.org/officeDocument/2006/relationships/customXml" Target="../customXml/item5.xml"/><Relationship Id="rId61" Type="http://schemas.openxmlformats.org/officeDocument/2006/relationships/slide" Target="slides/slide21.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slide" Target="slides/slide3.xml"/><Relationship Id="rId48" Type="http://schemas.openxmlformats.org/officeDocument/2006/relationships/slide" Target="slides/slide8.xml"/><Relationship Id="rId56" Type="http://schemas.openxmlformats.org/officeDocument/2006/relationships/slide" Target="slides/slide16.xml"/><Relationship Id="rId64" Type="http://schemas.openxmlformats.org/officeDocument/2006/relationships/slide" Target="slides/slide24.xml"/><Relationship Id="rId69" Type="http://schemas.openxmlformats.org/officeDocument/2006/relationships/slide" Target="slides/slide29.xml"/><Relationship Id="rId77" Type="http://schemas.openxmlformats.org/officeDocument/2006/relationships/theme" Target="theme/theme1.xml"/><Relationship Id="rId8" Type="http://schemas.openxmlformats.org/officeDocument/2006/relationships/customXml" Target="../customXml/item8.xml"/><Relationship Id="rId51" Type="http://schemas.openxmlformats.org/officeDocument/2006/relationships/slide" Target="slides/slide11.xml"/><Relationship Id="rId72" Type="http://schemas.openxmlformats.org/officeDocument/2006/relationships/notesMaster" Target="notesMasters/notesMaster1.xml"/><Relationship Id="rId80" Type="http://schemas.microsoft.com/office/2018/10/relationships/authors" Target="author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slide" Target="slides/slide6.xml"/><Relationship Id="rId59" Type="http://schemas.openxmlformats.org/officeDocument/2006/relationships/slide" Target="slides/slide19.xml"/><Relationship Id="rId67" Type="http://schemas.openxmlformats.org/officeDocument/2006/relationships/slide" Target="slides/slide27.xml"/><Relationship Id="rId20" Type="http://schemas.openxmlformats.org/officeDocument/2006/relationships/customXml" Target="../customXml/item20.xml"/><Relationship Id="rId41" Type="http://schemas.openxmlformats.org/officeDocument/2006/relationships/slide" Target="slides/slide1.xml"/><Relationship Id="rId54" Type="http://schemas.openxmlformats.org/officeDocument/2006/relationships/slide" Target="slides/slide14.xml"/><Relationship Id="rId62" Type="http://schemas.openxmlformats.org/officeDocument/2006/relationships/slide" Target="slides/slide22.xml"/><Relationship Id="rId70" Type="http://schemas.openxmlformats.org/officeDocument/2006/relationships/slide" Target="slides/slide30.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slide" Target="slides/slide9.xml"/><Relationship Id="rId57" Type="http://schemas.openxmlformats.org/officeDocument/2006/relationships/slide" Target="slides/slide17.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slide" Target="slides/slide4.xml"/><Relationship Id="rId52" Type="http://schemas.openxmlformats.org/officeDocument/2006/relationships/slide" Target="slides/slide12.xml"/><Relationship Id="rId60" Type="http://schemas.openxmlformats.org/officeDocument/2006/relationships/slide" Target="slides/slide20.xml"/><Relationship Id="rId65" Type="http://schemas.openxmlformats.org/officeDocument/2006/relationships/slide" Target="slides/slide25.xml"/><Relationship Id="rId73" Type="http://schemas.openxmlformats.org/officeDocument/2006/relationships/tags" Target="tags/tag1.xml"/><Relationship Id="rId78"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34" Type="http://schemas.openxmlformats.org/officeDocument/2006/relationships/customXml" Target="../customXml/item34.xml"/><Relationship Id="rId50" Type="http://schemas.openxmlformats.org/officeDocument/2006/relationships/slide" Target="slides/slide10.xml"/><Relationship Id="rId55" Type="http://schemas.openxmlformats.org/officeDocument/2006/relationships/slide" Target="slides/slide15.xml"/><Relationship Id="rId76" Type="http://schemas.openxmlformats.org/officeDocument/2006/relationships/viewProps" Target="viewProps.xml"/><Relationship Id="rId7" Type="http://schemas.openxmlformats.org/officeDocument/2006/relationships/customXml" Target="../customXml/item7.xml"/><Relationship Id="rId71" Type="http://schemas.openxmlformats.org/officeDocument/2006/relationships/slide" Target="slides/slide31.xml"/><Relationship Id="rId2" Type="http://schemas.openxmlformats.org/officeDocument/2006/relationships/customXml" Target="../customXml/item2.xml"/><Relationship Id="rId29" Type="http://schemas.openxmlformats.org/officeDocument/2006/relationships/customXml" Target="../customXml/item2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jith Komma" userId="19dd5a02-2c98-48e2-b0d7-c5f5d708215b" providerId="ADAL" clId="{75DC5FA9-3ADF-422B-8F5F-A533C8BA4208}"/>
    <pc:docChg chg="undo custSel addSld delSld modSld sldOrd">
      <pc:chgData name="Sujith Komma" userId="19dd5a02-2c98-48e2-b0d7-c5f5d708215b" providerId="ADAL" clId="{75DC5FA9-3ADF-422B-8F5F-A533C8BA4208}" dt="2026-05-13T04:31:23.173" v="587" actId="47"/>
      <pc:docMkLst>
        <pc:docMk/>
      </pc:docMkLst>
      <pc:sldChg chg="modSp mod">
        <pc:chgData name="Sujith Komma" userId="19dd5a02-2c98-48e2-b0d7-c5f5d708215b" providerId="ADAL" clId="{75DC5FA9-3ADF-422B-8F5F-A533C8BA4208}" dt="2026-05-05T05:12:00.468" v="561" actId="20577"/>
        <pc:sldMkLst>
          <pc:docMk/>
          <pc:sldMk cId="2181956486" sldId="256"/>
        </pc:sldMkLst>
        <pc:spChg chg="mod">
          <ac:chgData name="Sujith Komma" userId="19dd5a02-2c98-48e2-b0d7-c5f5d708215b" providerId="ADAL" clId="{75DC5FA9-3ADF-422B-8F5F-A533C8BA4208}" dt="2026-05-05T05:11:03.352" v="559" actId="20577"/>
          <ac:spMkLst>
            <pc:docMk/>
            <pc:sldMk cId="2181956486" sldId="256"/>
            <ac:spMk id="4" creationId="{00000000-0000-0000-0000-000000000000}"/>
          </ac:spMkLst>
        </pc:spChg>
        <pc:spChg chg="mod">
          <ac:chgData name="Sujith Komma" userId="19dd5a02-2c98-48e2-b0d7-c5f5d708215b" providerId="ADAL" clId="{75DC5FA9-3ADF-422B-8F5F-A533C8BA4208}" dt="2026-05-05T05:12:00.468" v="561" actId="20577"/>
          <ac:spMkLst>
            <pc:docMk/>
            <pc:sldMk cId="2181956486" sldId="256"/>
            <ac:spMk id="6" creationId="{12808BD5-6BEE-4164-9264-E55A823F2E3D}"/>
          </ac:spMkLst>
        </pc:spChg>
      </pc:sldChg>
      <pc:sldChg chg="modSp add mod modTransition">
        <pc:chgData name="Sujith Komma" userId="19dd5a02-2c98-48e2-b0d7-c5f5d708215b" providerId="ADAL" clId="{75DC5FA9-3ADF-422B-8F5F-A533C8BA4208}" dt="2026-05-13T04:30:52.982" v="586" actId="33553"/>
        <pc:sldMkLst>
          <pc:docMk/>
          <pc:sldMk cId="0" sldId="257"/>
        </pc:sldMkLst>
        <pc:spChg chg="mod">
          <ac:chgData name="Sujith Komma" userId="19dd5a02-2c98-48e2-b0d7-c5f5d708215b" providerId="ADAL" clId="{75DC5FA9-3ADF-422B-8F5F-A533C8BA4208}" dt="2026-05-13T04:30:52.982" v="586" actId="33553"/>
          <ac:spMkLst>
            <pc:docMk/>
            <pc:sldMk cId="0" sldId="257"/>
            <ac:spMk id="29" creationId="{00000000-0000-0000-0000-000000000000}"/>
          </ac:spMkLst>
        </pc:spChg>
      </pc:sldChg>
      <pc:sldChg chg="addSp delSp modSp del mod modClrScheme chgLayout">
        <pc:chgData name="Sujith Komma" userId="19dd5a02-2c98-48e2-b0d7-c5f5d708215b" providerId="ADAL" clId="{75DC5FA9-3ADF-422B-8F5F-A533C8BA4208}" dt="2026-05-13T04:25:40.031" v="566" actId="47"/>
        <pc:sldMkLst>
          <pc:docMk/>
          <pc:sldMk cId="1089205053" sldId="2147469911"/>
        </pc:sldMkLst>
      </pc:sldChg>
      <pc:sldChg chg="addSp delSp modSp mod modTransition chgLayout">
        <pc:chgData name="Sujith Komma" userId="19dd5a02-2c98-48e2-b0d7-c5f5d708215b" providerId="ADAL" clId="{75DC5FA9-3ADF-422B-8F5F-A533C8BA4208}" dt="2026-04-21T09:00:44.368" v="148" actId="26606"/>
        <pc:sldMkLst>
          <pc:docMk/>
          <pc:sldMk cId="2547791689" sldId="2147469913"/>
        </pc:sldMkLst>
        <pc:spChg chg="mod">
          <ac:chgData name="Sujith Komma" userId="19dd5a02-2c98-48e2-b0d7-c5f5d708215b" providerId="ADAL" clId="{75DC5FA9-3ADF-422B-8F5F-A533C8BA4208}" dt="2026-04-21T09:00:44.368" v="148" actId="26606"/>
          <ac:spMkLst>
            <pc:docMk/>
            <pc:sldMk cId="2547791689" sldId="2147469913"/>
            <ac:spMk id="2" creationId="{3AB096F9-3E73-FD54-7B52-E6A43335A92B}"/>
          </ac:spMkLst>
        </pc:spChg>
        <pc:spChg chg="mod">
          <ac:chgData name="Sujith Komma" userId="19dd5a02-2c98-48e2-b0d7-c5f5d708215b" providerId="ADAL" clId="{75DC5FA9-3ADF-422B-8F5F-A533C8BA4208}" dt="2026-04-21T09:00:44.368" v="148" actId="26606"/>
          <ac:spMkLst>
            <pc:docMk/>
            <pc:sldMk cId="2547791689" sldId="2147469913"/>
            <ac:spMk id="4" creationId="{36E6FA2A-1A08-1385-B098-BEEF7FFA59AC}"/>
          </ac:spMkLst>
        </pc:spChg>
        <pc:spChg chg="mod">
          <ac:chgData name="Sujith Komma" userId="19dd5a02-2c98-48e2-b0d7-c5f5d708215b" providerId="ADAL" clId="{75DC5FA9-3ADF-422B-8F5F-A533C8BA4208}" dt="2026-04-21T09:00:44.368" v="148" actId="26606"/>
          <ac:spMkLst>
            <pc:docMk/>
            <pc:sldMk cId="2547791689" sldId="2147469913"/>
            <ac:spMk id="5" creationId="{EF48AD64-F1BB-1590-6B73-A66226052A61}"/>
          </ac:spMkLst>
        </pc:spChg>
      </pc:sldChg>
      <pc:sldChg chg="modSp add del mod">
        <pc:chgData name="Sujith Komma" userId="19dd5a02-2c98-48e2-b0d7-c5f5d708215b" providerId="ADAL" clId="{75DC5FA9-3ADF-422B-8F5F-A533C8BA4208}" dt="2026-05-13T04:31:23.173" v="587" actId="47"/>
        <pc:sldMkLst>
          <pc:docMk/>
          <pc:sldMk cId="1514254025" sldId="2147469914"/>
        </pc:sldMkLst>
      </pc:sldChg>
      <pc:sldChg chg="modSp add mod">
        <pc:chgData name="Sujith Komma" userId="19dd5a02-2c98-48e2-b0d7-c5f5d708215b" providerId="ADAL" clId="{75DC5FA9-3ADF-422B-8F5F-A533C8BA4208}" dt="2026-04-21T08:58:58.108" v="109"/>
        <pc:sldMkLst>
          <pc:docMk/>
          <pc:sldMk cId="109910103" sldId="2147469915"/>
        </pc:sldMkLst>
        <pc:spChg chg="mod">
          <ac:chgData name="Sujith Komma" userId="19dd5a02-2c98-48e2-b0d7-c5f5d708215b" providerId="ADAL" clId="{75DC5FA9-3ADF-422B-8F5F-A533C8BA4208}" dt="2026-04-21T08:58:44.110" v="107" actId="20577"/>
          <ac:spMkLst>
            <pc:docMk/>
            <pc:sldMk cId="109910103" sldId="2147469915"/>
            <ac:spMk id="2" creationId="{B6000DCB-D200-704C-12D7-CBFBE19C3B13}"/>
          </ac:spMkLst>
        </pc:spChg>
        <pc:spChg chg="mod">
          <ac:chgData name="Sujith Komma" userId="19dd5a02-2c98-48e2-b0d7-c5f5d708215b" providerId="ADAL" clId="{75DC5FA9-3ADF-422B-8F5F-A533C8BA4208}" dt="2026-04-21T08:58:58.108" v="109"/>
          <ac:spMkLst>
            <pc:docMk/>
            <pc:sldMk cId="109910103" sldId="2147469915"/>
            <ac:spMk id="7" creationId="{A08FC1BD-0E3E-E19F-5DF1-EA42B2DB99F0}"/>
          </ac:spMkLst>
        </pc:spChg>
      </pc:sldChg>
      <pc:sldChg chg="add ord">
        <pc:chgData name="Sujith Komma" userId="19dd5a02-2c98-48e2-b0d7-c5f5d708215b" providerId="ADAL" clId="{75DC5FA9-3ADF-422B-8F5F-A533C8BA4208}" dt="2026-04-21T09:15:55.736" v="163"/>
        <pc:sldMkLst>
          <pc:docMk/>
          <pc:sldMk cId="2167329007" sldId="2147480423"/>
        </pc:sldMkLst>
      </pc:sldChg>
      <pc:sldChg chg="addSp delSp modSp add mod">
        <pc:chgData name="Sujith Komma" userId="19dd5a02-2c98-48e2-b0d7-c5f5d708215b" providerId="ADAL" clId="{75DC5FA9-3ADF-422B-8F5F-A533C8BA4208}" dt="2026-04-21T09:11:49.485" v="161" actId="478"/>
        <pc:sldMkLst>
          <pc:docMk/>
          <pc:sldMk cId="2431937406" sldId="2147480424"/>
        </pc:sldMkLst>
        <pc:spChg chg="mod">
          <ac:chgData name="Sujith Komma" userId="19dd5a02-2c98-48e2-b0d7-c5f5d708215b" providerId="ADAL" clId="{75DC5FA9-3ADF-422B-8F5F-A533C8BA4208}" dt="2026-04-21T09:10:18.695" v="153"/>
          <ac:spMkLst>
            <pc:docMk/>
            <pc:sldMk cId="2431937406" sldId="2147480424"/>
            <ac:spMk id="2" creationId="{E7C3B786-1281-D50B-473A-1A57FCDC7F34}"/>
          </ac:spMkLst>
        </pc:spChg>
        <pc:spChg chg="mod">
          <ac:chgData name="Sujith Komma" userId="19dd5a02-2c98-48e2-b0d7-c5f5d708215b" providerId="ADAL" clId="{75DC5FA9-3ADF-422B-8F5F-A533C8BA4208}" dt="2026-04-21T09:11:17.547" v="157" actId="20577"/>
          <ac:spMkLst>
            <pc:docMk/>
            <pc:sldMk cId="2431937406" sldId="2147480424"/>
            <ac:spMk id="7" creationId="{71FCF8E8-0201-FC14-CBEF-A6660CB62EDF}"/>
          </ac:spMkLst>
        </pc:spChg>
      </pc:sldChg>
      <pc:sldChg chg="addSp delSp modSp new mod">
        <pc:chgData name="Sujith Komma" userId="19dd5a02-2c98-48e2-b0d7-c5f5d708215b" providerId="ADAL" clId="{75DC5FA9-3ADF-422B-8F5F-A533C8BA4208}" dt="2026-04-21T09:17:49.238" v="212" actId="14100"/>
        <pc:sldMkLst>
          <pc:docMk/>
          <pc:sldMk cId="3641274005" sldId="2147480425"/>
        </pc:sldMkLst>
        <pc:spChg chg="mod">
          <ac:chgData name="Sujith Komma" userId="19dd5a02-2c98-48e2-b0d7-c5f5d708215b" providerId="ADAL" clId="{75DC5FA9-3ADF-422B-8F5F-A533C8BA4208}" dt="2026-04-21T09:17:37.581" v="209" actId="26606"/>
          <ac:spMkLst>
            <pc:docMk/>
            <pc:sldMk cId="3641274005" sldId="2147480425"/>
            <ac:spMk id="2" creationId="{88C75AEC-DB57-EC8A-38EE-60AFB6AA1C58}"/>
          </ac:spMkLst>
        </pc:spChg>
        <pc:spChg chg="mod">
          <ac:chgData name="Sujith Komma" userId="19dd5a02-2c98-48e2-b0d7-c5f5d708215b" providerId="ADAL" clId="{75DC5FA9-3ADF-422B-8F5F-A533C8BA4208}" dt="2026-04-21T09:17:37.581" v="209" actId="26606"/>
          <ac:spMkLst>
            <pc:docMk/>
            <pc:sldMk cId="3641274005" sldId="2147480425"/>
            <ac:spMk id="3" creationId="{1665C758-C134-4817-6CDF-FEBDB9BA8C46}"/>
          </ac:spMkLst>
        </pc:spChg>
        <pc:spChg chg="mod">
          <ac:chgData name="Sujith Komma" userId="19dd5a02-2c98-48e2-b0d7-c5f5d708215b" providerId="ADAL" clId="{75DC5FA9-3ADF-422B-8F5F-A533C8BA4208}" dt="2026-04-21T09:17:37.581" v="209" actId="26606"/>
          <ac:spMkLst>
            <pc:docMk/>
            <pc:sldMk cId="3641274005" sldId="2147480425"/>
            <ac:spMk id="4" creationId="{DBDE3BD3-C6C5-6430-3A64-2B5F038BAF7D}"/>
          </ac:spMkLst>
        </pc:spChg>
        <pc:graphicFrameChg chg="add mod modGraphic">
          <ac:chgData name="Sujith Komma" userId="19dd5a02-2c98-48e2-b0d7-c5f5d708215b" providerId="ADAL" clId="{75DC5FA9-3ADF-422B-8F5F-A533C8BA4208}" dt="2026-04-21T09:17:49.238" v="212" actId="14100"/>
          <ac:graphicFrameMkLst>
            <pc:docMk/>
            <pc:sldMk cId="3641274005" sldId="2147480425"/>
            <ac:graphicFrameMk id="7" creationId="{ECF8BC2D-ED2A-C413-C067-93804FDD251E}"/>
          </ac:graphicFrameMkLst>
        </pc:graphicFrameChg>
      </pc:sldChg>
      <pc:sldChg chg="addSp delSp modSp add mod modClrScheme chgLayout">
        <pc:chgData name="Sujith Komma" userId="19dd5a02-2c98-48e2-b0d7-c5f5d708215b" providerId="ADAL" clId="{75DC5FA9-3ADF-422B-8F5F-A533C8BA4208}" dt="2026-04-21T09:20:21.073" v="247" actId="14734"/>
        <pc:sldMkLst>
          <pc:docMk/>
          <pc:sldMk cId="1479037966" sldId="2147480426"/>
        </pc:sldMkLst>
        <pc:spChg chg="mod">
          <ac:chgData name="Sujith Komma" userId="19dd5a02-2c98-48e2-b0d7-c5f5d708215b" providerId="ADAL" clId="{75DC5FA9-3ADF-422B-8F5F-A533C8BA4208}" dt="2026-04-21T09:19:56.447" v="241" actId="26606"/>
          <ac:spMkLst>
            <pc:docMk/>
            <pc:sldMk cId="1479037966" sldId="2147480426"/>
            <ac:spMk id="2" creationId="{FC689014-9ECD-9735-1B66-C502A01C66F8}"/>
          </ac:spMkLst>
        </pc:spChg>
        <pc:spChg chg="mod">
          <ac:chgData name="Sujith Komma" userId="19dd5a02-2c98-48e2-b0d7-c5f5d708215b" providerId="ADAL" clId="{75DC5FA9-3ADF-422B-8F5F-A533C8BA4208}" dt="2026-04-21T09:19:56.457" v="242" actId="26606"/>
          <ac:spMkLst>
            <pc:docMk/>
            <pc:sldMk cId="1479037966" sldId="2147480426"/>
            <ac:spMk id="4" creationId="{CC671A33-E567-47E9-1A84-831383A525D0}"/>
          </ac:spMkLst>
        </pc:spChg>
        <pc:spChg chg="mod">
          <ac:chgData name="Sujith Komma" userId="19dd5a02-2c98-48e2-b0d7-c5f5d708215b" providerId="ADAL" clId="{75DC5FA9-3ADF-422B-8F5F-A533C8BA4208}" dt="2026-04-21T09:19:56.457" v="242" actId="26606"/>
          <ac:spMkLst>
            <pc:docMk/>
            <pc:sldMk cId="1479037966" sldId="2147480426"/>
            <ac:spMk id="5" creationId="{9242A814-8424-27BB-F240-C00B9A729993}"/>
          </ac:spMkLst>
        </pc:spChg>
        <pc:graphicFrameChg chg="add mod modGraphic">
          <ac:chgData name="Sujith Komma" userId="19dd5a02-2c98-48e2-b0d7-c5f5d708215b" providerId="ADAL" clId="{75DC5FA9-3ADF-422B-8F5F-A533C8BA4208}" dt="2026-04-21T09:20:21.073" v="247" actId="14734"/>
          <ac:graphicFrameMkLst>
            <pc:docMk/>
            <pc:sldMk cId="1479037966" sldId="2147480426"/>
            <ac:graphicFrameMk id="3" creationId="{568BCD65-D042-D5C0-E392-EB7535F2B29B}"/>
          </ac:graphicFrameMkLst>
        </pc:graphicFrameChg>
      </pc:sldChg>
      <pc:sldChg chg="addSp delSp modSp add mod">
        <pc:chgData name="Sujith Komma" userId="19dd5a02-2c98-48e2-b0d7-c5f5d708215b" providerId="ADAL" clId="{75DC5FA9-3ADF-422B-8F5F-A533C8BA4208}" dt="2026-04-21T09:22:55.833" v="269" actId="14100"/>
        <pc:sldMkLst>
          <pc:docMk/>
          <pc:sldMk cId="3966504237" sldId="2147480428"/>
        </pc:sldMkLst>
        <pc:spChg chg="mod">
          <ac:chgData name="Sujith Komma" userId="19dd5a02-2c98-48e2-b0d7-c5f5d708215b" providerId="ADAL" clId="{75DC5FA9-3ADF-422B-8F5F-A533C8BA4208}" dt="2026-04-21T09:22:06.878" v="263" actId="20577"/>
          <ac:spMkLst>
            <pc:docMk/>
            <pc:sldMk cId="3966504237" sldId="2147480428"/>
            <ac:spMk id="2" creationId="{9E430778-4D5C-F1F7-04A7-F5CEE5C40537}"/>
          </ac:spMkLst>
        </pc:spChg>
        <pc:graphicFrameChg chg="add mod modGraphic">
          <ac:chgData name="Sujith Komma" userId="19dd5a02-2c98-48e2-b0d7-c5f5d708215b" providerId="ADAL" clId="{75DC5FA9-3ADF-422B-8F5F-A533C8BA4208}" dt="2026-04-21T09:22:55.833" v="269" actId="14100"/>
          <ac:graphicFrameMkLst>
            <pc:docMk/>
            <pc:sldMk cId="3966504237" sldId="2147480428"/>
            <ac:graphicFrameMk id="6" creationId="{C472642C-5658-8116-C324-69244206079E}"/>
          </ac:graphicFrameMkLst>
        </pc:graphicFrameChg>
      </pc:sldChg>
      <pc:sldChg chg="addSp delSp modSp new mod">
        <pc:chgData name="Sujith Komma" userId="19dd5a02-2c98-48e2-b0d7-c5f5d708215b" providerId="ADAL" clId="{75DC5FA9-3ADF-422B-8F5F-A533C8BA4208}" dt="2026-05-05T05:03:28.411" v="513" actId="13238"/>
        <pc:sldMkLst>
          <pc:docMk/>
          <pc:sldMk cId="2011821862" sldId="2147480429"/>
        </pc:sldMkLst>
        <pc:spChg chg="mod">
          <ac:chgData name="Sujith Komma" userId="19dd5a02-2c98-48e2-b0d7-c5f5d708215b" providerId="ADAL" clId="{75DC5FA9-3ADF-422B-8F5F-A533C8BA4208}" dt="2026-04-21T09:26:45.002" v="281" actId="26606"/>
          <ac:spMkLst>
            <pc:docMk/>
            <pc:sldMk cId="2011821862" sldId="2147480429"/>
            <ac:spMk id="2" creationId="{21DBC1D8-B55B-16B2-15F0-B90A5B7BDBBD}"/>
          </ac:spMkLst>
        </pc:spChg>
        <pc:spChg chg="mod">
          <ac:chgData name="Sujith Komma" userId="19dd5a02-2c98-48e2-b0d7-c5f5d708215b" providerId="ADAL" clId="{75DC5FA9-3ADF-422B-8F5F-A533C8BA4208}" dt="2026-04-21T09:26:45.002" v="281" actId="26606"/>
          <ac:spMkLst>
            <pc:docMk/>
            <pc:sldMk cId="2011821862" sldId="2147480429"/>
            <ac:spMk id="3" creationId="{5D6E078B-AD09-3DCD-CB28-FC5C7D878737}"/>
          </ac:spMkLst>
        </pc:spChg>
        <pc:spChg chg="mod">
          <ac:chgData name="Sujith Komma" userId="19dd5a02-2c98-48e2-b0d7-c5f5d708215b" providerId="ADAL" clId="{75DC5FA9-3ADF-422B-8F5F-A533C8BA4208}" dt="2026-04-21T09:26:45.002" v="281" actId="26606"/>
          <ac:spMkLst>
            <pc:docMk/>
            <pc:sldMk cId="2011821862" sldId="2147480429"/>
            <ac:spMk id="4" creationId="{4C231D39-CDD7-1C16-DE8F-42E8A884EC59}"/>
          </ac:spMkLst>
        </pc:spChg>
        <pc:graphicFrameChg chg="add mod modGraphic">
          <ac:chgData name="Sujith Komma" userId="19dd5a02-2c98-48e2-b0d7-c5f5d708215b" providerId="ADAL" clId="{75DC5FA9-3ADF-422B-8F5F-A533C8BA4208}" dt="2026-05-05T05:03:28.411" v="513" actId="13238"/>
          <ac:graphicFrameMkLst>
            <pc:docMk/>
            <pc:sldMk cId="2011821862" sldId="2147480429"/>
            <ac:graphicFrameMk id="7" creationId="{49D45B04-8618-418F-3C95-232B1E8D45C5}"/>
          </ac:graphicFrameMkLst>
        </pc:graphicFrameChg>
      </pc:sldChg>
      <pc:sldChg chg="modSp add mod modClrScheme chgLayout">
        <pc:chgData name="Sujith Komma" userId="19dd5a02-2c98-48e2-b0d7-c5f5d708215b" providerId="ADAL" clId="{75DC5FA9-3ADF-422B-8F5F-A533C8BA4208}" dt="2026-04-21T09:29:21.470" v="304" actId="14100"/>
        <pc:sldMkLst>
          <pc:docMk/>
          <pc:sldMk cId="1120056437" sldId="2147480430"/>
        </pc:sldMkLst>
        <pc:spChg chg="mod ord">
          <ac:chgData name="Sujith Komma" userId="19dd5a02-2c98-48e2-b0d7-c5f5d708215b" providerId="ADAL" clId="{75DC5FA9-3ADF-422B-8F5F-A533C8BA4208}" dt="2026-04-21T09:28:37.968" v="297" actId="26606"/>
          <ac:spMkLst>
            <pc:docMk/>
            <pc:sldMk cId="1120056437" sldId="2147480430"/>
            <ac:spMk id="2" creationId="{C9134361-2CEE-A3B5-73C5-886147876E31}"/>
          </ac:spMkLst>
        </pc:spChg>
        <pc:spChg chg="mod">
          <ac:chgData name="Sujith Komma" userId="19dd5a02-2c98-48e2-b0d7-c5f5d708215b" providerId="ADAL" clId="{75DC5FA9-3ADF-422B-8F5F-A533C8BA4208}" dt="2026-04-21T09:28:37.968" v="297" actId="26606"/>
          <ac:spMkLst>
            <pc:docMk/>
            <pc:sldMk cId="1120056437" sldId="2147480430"/>
            <ac:spMk id="3" creationId="{AE360ABB-9E05-1E40-7DA9-768E8F7B52D6}"/>
          </ac:spMkLst>
        </pc:spChg>
        <pc:spChg chg="mod">
          <ac:chgData name="Sujith Komma" userId="19dd5a02-2c98-48e2-b0d7-c5f5d708215b" providerId="ADAL" clId="{75DC5FA9-3ADF-422B-8F5F-A533C8BA4208}" dt="2026-04-21T09:28:37.968" v="297" actId="26606"/>
          <ac:spMkLst>
            <pc:docMk/>
            <pc:sldMk cId="1120056437" sldId="2147480430"/>
            <ac:spMk id="4" creationId="{40EA6639-F598-28CC-392B-15966D748A89}"/>
          </ac:spMkLst>
        </pc:spChg>
        <pc:graphicFrameChg chg="add mod modGraphic">
          <ac:chgData name="Sujith Komma" userId="19dd5a02-2c98-48e2-b0d7-c5f5d708215b" providerId="ADAL" clId="{75DC5FA9-3ADF-422B-8F5F-A533C8BA4208}" dt="2026-04-21T09:29:21.470" v="304" actId="14100"/>
          <ac:graphicFrameMkLst>
            <pc:docMk/>
            <pc:sldMk cId="1120056437" sldId="2147480430"/>
            <ac:graphicFrameMk id="7" creationId="{8BCB88FC-588C-BD13-1A78-E37F3C6C91CE}"/>
          </ac:graphicFrameMkLst>
        </pc:graphicFrameChg>
      </pc:sldChg>
      <pc:sldChg chg="addSp delSp modSp add mod">
        <pc:chgData name="Sujith Komma" userId="19dd5a02-2c98-48e2-b0d7-c5f5d708215b" providerId="ADAL" clId="{75DC5FA9-3ADF-422B-8F5F-A533C8BA4208}" dt="2026-04-21T09:31:30.158" v="317" actId="313"/>
        <pc:sldMkLst>
          <pc:docMk/>
          <pc:sldMk cId="2033420195" sldId="2147480432"/>
        </pc:sldMkLst>
        <pc:spChg chg="mod">
          <ac:chgData name="Sujith Komma" userId="19dd5a02-2c98-48e2-b0d7-c5f5d708215b" providerId="ADAL" clId="{75DC5FA9-3ADF-422B-8F5F-A533C8BA4208}" dt="2026-04-21T09:31:30.158" v="317" actId="313"/>
          <ac:spMkLst>
            <pc:docMk/>
            <pc:sldMk cId="2033420195" sldId="2147480432"/>
            <ac:spMk id="2" creationId="{20B7587B-92FB-0BB4-F037-DC7EE3250AC5}"/>
          </ac:spMkLst>
        </pc:spChg>
        <pc:spChg chg="add mod">
          <ac:chgData name="Sujith Komma" userId="19dd5a02-2c98-48e2-b0d7-c5f5d708215b" providerId="ADAL" clId="{75DC5FA9-3ADF-422B-8F5F-A533C8BA4208}" dt="2026-04-21T09:30:32.157" v="316"/>
          <ac:spMkLst>
            <pc:docMk/>
            <pc:sldMk cId="2033420195" sldId="2147480432"/>
            <ac:spMk id="5" creationId="{2FCF88FF-BE73-304A-F056-1BF87DB8D121}"/>
          </ac:spMkLst>
        </pc:spChg>
      </pc:sldChg>
      <pc:sldChg chg="addSp delSp modSp add mod">
        <pc:chgData name="Sujith Komma" userId="19dd5a02-2c98-48e2-b0d7-c5f5d708215b" providerId="ADAL" clId="{75DC5FA9-3ADF-422B-8F5F-A533C8BA4208}" dt="2026-04-21T09:32:38.583" v="330" actId="14100"/>
        <pc:sldMkLst>
          <pc:docMk/>
          <pc:sldMk cId="2351879588" sldId="2147480433"/>
        </pc:sldMkLst>
        <pc:spChg chg="mod">
          <ac:chgData name="Sujith Komma" userId="19dd5a02-2c98-48e2-b0d7-c5f5d708215b" providerId="ADAL" clId="{75DC5FA9-3ADF-422B-8F5F-A533C8BA4208}" dt="2026-04-21T09:32:34.806" v="329" actId="26606"/>
          <ac:spMkLst>
            <pc:docMk/>
            <pc:sldMk cId="2351879588" sldId="2147480433"/>
            <ac:spMk id="2" creationId="{73A6984B-0192-C220-59E3-EFF74CDE1384}"/>
          </ac:spMkLst>
        </pc:spChg>
        <pc:spChg chg="mod">
          <ac:chgData name="Sujith Komma" userId="19dd5a02-2c98-48e2-b0d7-c5f5d708215b" providerId="ADAL" clId="{75DC5FA9-3ADF-422B-8F5F-A533C8BA4208}" dt="2026-04-21T09:32:34.806" v="329" actId="26606"/>
          <ac:spMkLst>
            <pc:docMk/>
            <pc:sldMk cId="2351879588" sldId="2147480433"/>
            <ac:spMk id="3" creationId="{20E154BD-1C87-DCC2-629A-03E2294C1DFA}"/>
          </ac:spMkLst>
        </pc:spChg>
        <pc:spChg chg="mod">
          <ac:chgData name="Sujith Komma" userId="19dd5a02-2c98-48e2-b0d7-c5f5d708215b" providerId="ADAL" clId="{75DC5FA9-3ADF-422B-8F5F-A533C8BA4208}" dt="2026-04-21T09:32:34.806" v="329" actId="26606"/>
          <ac:spMkLst>
            <pc:docMk/>
            <pc:sldMk cId="2351879588" sldId="2147480433"/>
            <ac:spMk id="4" creationId="{85B0F453-1B32-B4F8-5920-817252EF4AB8}"/>
          </ac:spMkLst>
        </pc:spChg>
        <pc:graphicFrameChg chg="add mod modGraphic">
          <ac:chgData name="Sujith Komma" userId="19dd5a02-2c98-48e2-b0d7-c5f5d708215b" providerId="ADAL" clId="{75DC5FA9-3ADF-422B-8F5F-A533C8BA4208}" dt="2026-04-21T09:32:38.583" v="330" actId="14100"/>
          <ac:graphicFrameMkLst>
            <pc:docMk/>
            <pc:sldMk cId="2351879588" sldId="2147480433"/>
            <ac:graphicFrameMk id="6" creationId="{C260D933-5C98-9B72-A85E-CF0370598B4B}"/>
          </ac:graphicFrameMkLst>
        </pc:graphicFrameChg>
      </pc:sldChg>
      <pc:sldChg chg="addSp delSp modSp new mod">
        <pc:chgData name="Sujith Komma" userId="19dd5a02-2c98-48e2-b0d7-c5f5d708215b" providerId="ADAL" clId="{75DC5FA9-3ADF-422B-8F5F-A533C8BA4208}" dt="2026-04-21T09:35:55.261" v="392"/>
        <pc:sldMkLst>
          <pc:docMk/>
          <pc:sldMk cId="2424439576" sldId="2147480434"/>
        </pc:sldMkLst>
        <pc:spChg chg="mod">
          <ac:chgData name="Sujith Komma" userId="19dd5a02-2c98-48e2-b0d7-c5f5d708215b" providerId="ADAL" clId="{75DC5FA9-3ADF-422B-8F5F-A533C8BA4208}" dt="2026-04-21T09:35:34.153" v="390" actId="313"/>
          <ac:spMkLst>
            <pc:docMk/>
            <pc:sldMk cId="2424439576" sldId="2147480434"/>
            <ac:spMk id="2" creationId="{03F1A5CD-1B7C-24BE-EDE7-31DF75BD71E2}"/>
          </ac:spMkLst>
        </pc:spChg>
        <pc:spChg chg="add mod">
          <ac:chgData name="Sujith Komma" userId="19dd5a02-2c98-48e2-b0d7-c5f5d708215b" providerId="ADAL" clId="{75DC5FA9-3ADF-422B-8F5F-A533C8BA4208}" dt="2026-04-21T09:35:55.261" v="392"/>
          <ac:spMkLst>
            <pc:docMk/>
            <pc:sldMk cId="2424439576" sldId="2147480434"/>
            <ac:spMk id="6" creationId="{9F6E369E-6D1A-A6B0-A208-B98E92F8C740}"/>
          </ac:spMkLst>
        </pc:spChg>
      </pc:sldChg>
      <pc:sldChg chg="modSp add mod">
        <pc:chgData name="Sujith Komma" userId="19dd5a02-2c98-48e2-b0d7-c5f5d708215b" providerId="ADAL" clId="{75DC5FA9-3ADF-422B-8F5F-A533C8BA4208}" dt="2026-04-21T09:34:08.214" v="354" actId="20577"/>
        <pc:sldMkLst>
          <pc:docMk/>
          <pc:sldMk cId="981629051" sldId="2147480435"/>
        </pc:sldMkLst>
        <pc:spChg chg="mod">
          <ac:chgData name="Sujith Komma" userId="19dd5a02-2c98-48e2-b0d7-c5f5d708215b" providerId="ADAL" clId="{75DC5FA9-3ADF-422B-8F5F-A533C8BA4208}" dt="2026-04-21T09:33:40.347" v="351" actId="20577"/>
          <ac:spMkLst>
            <pc:docMk/>
            <pc:sldMk cId="981629051" sldId="2147480435"/>
            <ac:spMk id="2" creationId="{513F2CFF-83CF-5535-9DD2-B9D6EEF6BEC5}"/>
          </ac:spMkLst>
        </pc:spChg>
        <pc:spChg chg="mod">
          <ac:chgData name="Sujith Komma" userId="19dd5a02-2c98-48e2-b0d7-c5f5d708215b" providerId="ADAL" clId="{75DC5FA9-3ADF-422B-8F5F-A533C8BA4208}" dt="2026-04-21T09:34:08.214" v="354" actId="20577"/>
          <ac:spMkLst>
            <pc:docMk/>
            <pc:sldMk cId="981629051" sldId="2147480435"/>
            <ac:spMk id="5" creationId="{12A1FA7F-507C-ED38-8B46-782A9556E17D}"/>
          </ac:spMkLst>
        </pc:spChg>
      </pc:sldChg>
      <pc:sldChg chg="modSp add mod">
        <pc:chgData name="Sujith Komma" userId="19dd5a02-2c98-48e2-b0d7-c5f5d708215b" providerId="ADAL" clId="{75DC5FA9-3ADF-422B-8F5F-A533C8BA4208}" dt="2026-05-05T05:03:51.595" v="519" actId="20577"/>
        <pc:sldMkLst>
          <pc:docMk/>
          <pc:sldMk cId="2693449751" sldId="2147480437"/>
        </pc:sldMkLst>
        <pc:spChg chg="mod">
          <ac:chgData name="Sujith Komma" userId="19dd5a02-2c98-48e2-b0d7-c5f5d708215b" providerId="ADAL" clId="{75DC5FA9-3ADF-422B-8F5F-A533C8BA4208}" dt="2026-05-05T05:03:51.595" v="519" actId="20577"/>
          <ac:spMkLst>
            <pc:docMk/>
            <pc:sldMk cId="2693449751" sldId="2147480437"/>
            <ac:spMk id="2" creationId="{1D2C579F-7860-74B1-7197-35DE0F951752}"/>
          </ac:spMkLst>
        </pc:spChg>
      </pc:sldChg>
      <pc:sldChg chg="addSp delSp modSp new mod">
        <pc:chgData name="Sujith Komma" userId="19dd5a02-2c98-48e2-b0d7-c5f5d708215b" providerId="ADAL" clId="{75DC5FA9-3ADF-422B-8F5F-A533C8BA4208}" dt="2026-04-21T09:36:45.993" v="402"/>
        <pc:sldMkLst>
          <pc:docMk/>
          <pc:sldMk cId="1889673360" sldId="2147480438"/>
        </pc:sldMkLst>
        <pc:spChg chg="mod">
          <ac:chgData name="Sujith Komma" userId="19dd5a02-2c98-48e2-b0d7-c5f5d708215b" providerId="ADAL" clId="{75DC5FA9-3ADF-422B-8F5F-A533C8BA4208}" dt="2026-04-21T09:36:20.393" v="399"/>
          <ac:spMkLst>
            <pc:docMk/>
            <pc:sldMk cId="1889673360" sldId="2147480438"/>
            <ac:spMk id="2" creationId="{31F44DE0-17F9-48B2-1A67-0318D9380C72}"/>
          </ac:spMkLst>
        </pc:spChg>
        <pc:spChg chg="add mod">
          <ac:chgData name="Sujith Komma" userId="19dd5a02-2c98-48e2-b0d7-c5f5d708215b" providerId="ADAL" clId="{75DC5FA9-3ADF-422B-8F5F-A533C8BA4208}" dt="2026-04-21T09:36:45.993" v="402"/>
          <ac:spMkLst>
            <pc:docMk/>
            <pc:sldMk cId="1889673360" sldId="2147480438"/>
            <ac:spMk id="6" creationId="{05D36346-64E5-F894-8745-8416472DABBE}"/>
          </ac:spMkLst>
        </pc:spChg>
      </pc:sldChg>
      <pc:sldChg chg="addSp delSp modSp new mod">
        <pc:chgData name="Sujith Komma" userId="19dd5a02-2c98-48e2-b0d7-c5f5d708215b" providerId="ADAL" clId="{75DC5FA9-3ADF-422B-8F5F-A533C8BA4208}" dt="2026-04-21T09:37:32.315" v="407"/>
        <pc:sldMkLst>
          <pc:docMk/>
          <pc:sldMk cId="3210854860" sldId="2147480439"/>
        </pc:sldMkLst>
        <pc:spChg chg="mod">
          <ac:chgData name="Sujith Komma" userId="19dd5a02-2c98-48e2-b0d7-c5f5d708215b" providerId="ADAL" clId="{75DC5FA9-3ADF-422B-8F5F-A533C8BA4208}" dt="2026-04-21T09:37:00.538" v="404"/>
          <ac:spMkLst>
            <pc:docMk/>
            <pc:sldMk cId="3210854860" sldId="2147480439"/>
            <ac:spMk id="2" creationId="{CF43DA8D-3B41-AAD7-B5A4-B070ADB22434}"/>
          </ac:spMkLst>
        </pc:spChg>
        <pc:spChg chg="add mod">
          <ac:chgData name="Sujith Komma" userId="19dd5a02-2c98-48e2-b0d7-c5f5d708215b" providerId="ADAL" clId="{75DC5FA9-3ADF-422B-8F5F-A533C8BA4208}" dt="2026-04-21T09:37:32.315" v="407"/>
          <ac:spMkLst>
            <pc:docMk/>
            <pc:sldMk cId="3210854860" sldId="2147480439"/>
            <ac:spMk id="6" creationId="{20002998-5A5E-9572-6509-4DD1E7DBDB87}"/>
          </ac:spMkLst>
        </pc:spChg>
      </pc:sldChg>
      <pc:sldChg chg="addSp delSp modSp new mod">
        <pc:chgData name="Sujith Komma" userId="19dd5a02-2c98-48e2-b0d7-c5f5d708215b" providerId="ADAL" clId="{75DC5FA9-3ADF-422B-8F5F-A533C8BA4208}" dt="2026-04-21T09:39:35.543" v="433" actId="20577"/>
        <pc:sldMkLst>
          <pc:docMk/>
          <pc:sldMk cId="3456731982" sldId="2147480440"/>
        </pc:sldMkLst>
        <pc:spChg chg="mod">
          <ac:chgData name="Sujith Komma" userId="19dd5a02-2c98-48e2-b0d7-c5f5d708215b" providerId="ADAL" clId="{75DC5FA9-3ADF-422B-8F5F-A533C8BA4208}" dt="2026-04-21T09:38:13.418" v="424" actId="20577"/>
          <ac:spMkLst>
            <pc:docMk/>
            <pc:sldMk cId="3456731982" sldId="2147480440"/>
            <ac:spMk id="2" creationId="{C6B0F24C-382E-58EE-5AAA-EB7F97595BA9}"/>
          </ac:spMkLst>
        </pc:spChg>
        <pc:spChg chg="add mod">
          <ac:chgData name="Sujith Komma" userId="19dd5a02-2c98-48e2-b0d7-c5f5d708215b" providerId="ADAL" clId="{75DC5FA9-3ADF-422B-8F5F-A533C8BA4208}" dt="2026-04-21T09:39:35.543" v="433" actId="20577"/>
          <ac:spMkLst>
            <pc:docMk/>
            <pc:sldMk cId="3456731982" sldId="2147480440"/>
            <ac:spMk id="6" creationId="{461570FA-A320-CA8A-1D44-F5CB1175CF64}"/>
          </ac:spMkLst>
        </pc:spChg>
      </pc:sldChg>
      <pc:sldChg chg="modSp add mod">
        <pc:chgData name="Sujith Komma" userId="19dd5a02-2c98-48e2-b0d7-c5f5d708215b" providerId="ADAL" clId="{75DC5FA9-3ADF-422B-8F5F-A533C8BA4208}" dt="2026-05-05T05:04:48.951" v="525" actId="20577"/>
        <pc:sldMkLst>
          <pc:docMk/>
          <pc:sldMk cId="643667788" sldId="2147480441"/>
        </pc:sldMkLst>
        <pc:spChg chg="mod">
          <ac:chgData name="Sujith Komma" userId="19dd5a02-2c98-48e2-b0d7-c5f5d708215b" providerId="ADAL" clId="{75DC5FA9-3ADF-422B-8F5F-A533C8BA4208}" dt="2026-05-05T05:04:48.951" v="525" actId="20577"/>
          <ac:spMkLst>
            <pc:docMk/>
            <pc:sldMk cId="643667788" sldId="2147480441"/>
            <ac:spMk id="2" creationId="{D38BDF0F-9691-63C3-EB28-3ECB783FE40B}"/>
          </ac:spMkLst>
        </pc:spChg>
        <pc:spChg chg="mod">
          <ac:chgData name="Sujith Komma" userId="19dd5a02-2c98-48e2-b0d7-c5f5d708215b" providerId="ADAL" clId="{75DC5FA9-3ADF-422B-8F5F-A533C8BA4208}" dt="2026-04-21T09:41:18.492" v="452" actId="6549"/>
          <ac:spMkLst>
            <pc:docMk/>
            <pc:sldMk cId="643667788" sldId="2147480441"/>
            <ac:spMk id="6" creationId="{EB9440E2-47E3-E4E7-54A1-C7E749118F08}"/>
          </ac:spMkLst>
        </pc:spChg>
      </pc:sldChg>
      <pc:sldChg chg="modSp add mod modTransition setBg">
        <pc:chgData name="Sujith Komma" userId="19dd5a02-2c98-48e2-b0d7-c5f5d708215b" providerId="ADAL" clId="{75DC5FA9-3ADF-422B-8F5F-A533C8BA4208}" dt="2026-05-13T04:30:49.175" v="585" actId="33553"/>
        <pc:sldMkLst>
          <pc:docMk/>
          <pc:sldMk cId="0" sldId="2147480442"/>
        </pc:sldMkLst>
        <pc:spChg chg="mod">
          <ac:chgData name="Sujith Komma" userId="19dd5a02-2c98-48e2-b0d7-c5f5d708215b" providerId="ADAL" clId="{75DC5FA9-3ADF-422B-8F5F-A533C8BA4208}" dt="2026-05-13T04:26:16.494" v="567" actId="962"/>
          <ac:spMkLst>
            <pc:docMk/>
            <pc:sldMk cId="0" sldId="2147480442"/>
            <ac:spMk id="2" creationId="{00000000-0000-0000-0000-000000000000}"/>
          </ac:spMkLst>
        </pc:spChg>
        <pc:spChg chg="mod">
          <ac:chgData name="Sujith Komma" userId="19dd5a02-2c98-48e2-b0d7-c5f5d708215b" providerId="ADAL" clId="{75DC5FA9-3ADF-422B-8F5F-A533C8BA4208}" dt="2026-05-13T04:26:16.503" v="568" actId="962"/>
          <ac:spMkLst>
            <pc:docMk/>
            <pc:sldMk cId="0" sldId="2147480442"/>
            <ac:spMk id="3" creationId="{00000000-0000-0000-0000-000000000000}"/>
          </ac:spMkLst>
        </pc:spChg>
        <pc:spChg chg="mod">
          <ac:chgData name="Sujith Komma" userId="19dd5a02-2c98-48e2-b0d7-c5f5d708215b" providerId="ADAL" clId="{75DC5FA9-3ADF-422B-8F5F-A533C8BA4208}" dt="2026-05-13T04:26:16.510" v="569" actId="962"/>
          <ac:spMkLst>
            <pc:docMk/>
            <pc:sldMk cId="0" sldId="2147480442"/>
            <ac:spMk id="4" creationId="{00000000-0000-0000-0000-000000000000}"/>
          </ac:spMkLst>
        </pc:spChg>
        <pc:spChg chg="mod">
          <ac:chgData name="Sujith Komma" userId="19dd5a02-2c98-48e2-b0d7-c5f5d708215b" providerId="ADAL" clId="{75DC5FA9-3ADF-422B-8F5F-A533C8BA4208}" dt="2026-05-13T04:30:49.175" v="585" actId="33553"/>
          <ac:spMkLst>
            <pc:docMk/>
            <pc:sldMk cId="0" sldId="2147480442"/>
            <ac:spMk id="5" creationId="{00000000-0000-0000-0000-000000000000}"/>
          </ac:spMkLst>
        </pc:spChg>
        <pc:spChg chg="mod">
          <ac:chgData name="Sujith Komma" userId="19dd5a02-2c98-48e2-b0d7-c5f5d708215b" providerId="ADAL" clId="{75DC5FA9-3ADF-422B-8F5F-A533C8BA4208}" dt="2026-05-13T04:26:16.514" v="570" actId="962"/>
          <ac:spMkLst>
            <pc:docMk/>
            <pc:sldMk cId="0" sldId="2147480442"/>
            <ac:spMk id="7" creationId="{00000000-0000-0000-0000-000000000000}"/>
          </ac:spMkLst>
        </pc:spChg>
        <pc:spChg chg="mod">
          <ac:chgData name="Sujith Komma" userId="19dd5a02-2c98-48e2-b0d7-c5f5d708215b" providerId="ADAL" clId="{75DC5FA9-3ADF-422B-8F5F-A533C8BA4208}" dt="2026-05-13T04:26:16.519" v="571" actId="962"/>
          <ac:spMkLst>
            <pc:docMk/>
            <pc:sldMk cId="0" sldId="2147480442"/>
            <ac:spMk id="8" creationId="{00000000-0000-0000-0000-000000000000}"/>
          </ac:spMkLst>
        </pc:spChg>
        <pc:spChg chg="mod">
          <ac:chgData name="Sujith Komma" userId="19dd5a02-2c98-48e2-b0d7-c5f5d708215b" providerId="ADAL" clId="{75DC5FA9-3ADF-422B-8F5F-A533C8BA4208}" dt="2026-05-13T04:30:29.243" v="584" actId="207"/>
          <ac:spMkLst>
            <pc:docMk/>
            <pc:sldMk cId="0" sldId="2147480442"/>
            <ac:spMk id="13" creationId="{00000000-0000-0000-0000-000000000000}"/>
          </ac:spMkLst>
        </pc:spChg>
        <pc:spChg chg="mod">
          <ac:chgData name="Sujith Komma" userId="19dd5a02-2c98-48e2-b0d7-c5f5d708215b" providerId="ADAL" clId="{75DC5FA9-3ADF-422B-8F5F-A533C8BA4208}" dt="2026-05-13T04:26:16.524" v="572" actId="962"/>
          <ac:spMkLst>
            <pc:docMk/>
            <pc:sldMk cId="0" sldId="2147480442"/>
            <ac:spMk id="15" creationId="{00000000-0000-0000-0000-000000000000}"/>
          </ac:spMkLst>
        </pc:spChg>
        <pc:spChg chg="mod">
          <ac:chgData name="Sujith Komma" userId="19dd5a02-2c98-48e2-b0d7-c5f5d708215b" providerId="ADAL" clId="{75DC5FA9-3ADF-422B-8F5F-A533C8BA4208}" dt="2026-05-13T04:26:16.529" v="573" actId="962"/>
          <ac:spMkLst>
            <pc:docMk/>
            <pc:sldMk cId="0" sldId="2147480442"/>
            <ac:spMk id="16" creationId="{00000000-0000-0000-0000-000000000000}"/>
          </ac:spMkLst>
        </pc:spChg>
        <pc:spChg chg="mod">
          <ac:chgData name="Sujith Komma" userId="19dd5a02-2c98-48e2-b0d7-c5f5d708215b" providerId="ADAL" clId="{75DC5FA9-3ADF-422B-8F5F-A533C8BA4208}" dt="2026-05-13T04:26:16.536" v="574" actId="962"/>
          <ac:spMkLst>
            <pc:docMk/>
            <pc:sldMk cId="0" sldId="2147480442"/>
            <ac:spMk id="23" creationId="{00000000-0000-0000-0000-000000000000}"/>
          </ac:spMkLst>
        </pc:spChg>
        <pc:spChg chg="mod">
          <ac:chgData name="Sujith Komma" userId="19dd5a02-2c98-48e2-b0d7-c5f5d708215b" providerId="ADAL" clId="{75DC5FA9-3ADF-422B-8F5F-A533C8BA4208}" dt="2026-05-13T04:26:16.539" v="575" actId="962"/>
          <ac:spMkLst>
            <pc:docMk/>
            <pc:sldMk cId="0" sldId="2147480442"/>
            <ac:spMk id="24" creationId="{00000000-0000-0000-0000-000000000000}"/>
          </ac:spMkLst>
        </pc:spChg>
        <pc:spChg chg="mod">
          <ac:chgData name="Sujith Komma" userId="19dd5a02-2c98-48e2-b0d7-c5f5d708215b" providerId="ADAL" clId="{75DC5FA9-3ADF-422B-8F5F-A533C8BA4208}" dt="2026-05-13T04:26:16.545" v="576" actId="962"/>
          <ac:spMkLst>
            <pc:docMk/>
            <pc:sldMk cId="0" sldId="2147480442"/>
            <ac:spMk id="31" creationId="{00000000-0000-0000-0000-000000000000}"/>
          </ac:spMkLst>
        </pc:spChg>
        <pc:spChg chg="mod">
          <ac:chgData name="Sujith Komma" userId="19dd5a02-2c98-48e2-b0d7-c5f5d708215b" providerId="ADAL" clId="{75DC5FA9-3ADF-422B-8F5F-A533C8BA4208}" dt="2026-05-13T04:26:16.551" v="577" actId="962"/>
          <ac:spMkLst>
            <pc:docMk/>
            <pc:sldMk cId="0" sldId="2147480442"/>
            <ac:spMk id="32" creationId="{00000000-0000-0000-0000-000000000000}"/>
          </ac:spMkLst>
        </pc:spChg>
        <pc:spChg chg="mod">
          <ac:chgData name="Sujith Komma" userId="19dd5a02-2c98-48e2-b0d7-c5f5d708215b" providerId="ADAL" clId="{75DC5FA9-3ADF-422B-8F5F-A533C8BA4208}" dt="2026-05-13T04:26:16.555" v="578" actId="962"/>
          <ac:spMkLst>
            <pc:docMk/>
            <pc:sldMk cId="0" sldId="2147480442"/>
            <ac:spMk id="39" creationId="{00000000-0000-0000-0000-000000000000}"/>
          </ac:spMkLst>
        </pc:spChg>
        <pc:spChg chg="mod">
          <ac:chgData name="Sujith Komma" userId="19dd5a02-2c98-48e2-b0d7-c5f5d708215b" providerId="ADAL" clId="{75DC5FA9-3ADF-422B-8F5F-A533C8BA4208}" dt="2026-05-13T04:26:16.559" v="579" actId="962"/>
          <ac:spMkLst>
            <pc:docMk/>
            <pc:sldMk cId="0" sldId="2147480442"/>
            <ac:spMk id="40" creationId="{00000000-0000-0000-0000-000000000000}"/>
          </ac:spMkLst>
        </pc:spChg>
      </pc:sldChg>
    </pc:docChg>
  </pc:docChgLst>
  <pc:docChgLst>
    <pc:chgData name="Mahi Sundararajan" userId="1319c946-a83f-4def-8c00-c7c406a5fa35" providerId="ADAL" clId="{6C62D458-5E75-4392-9FAB-DD9FC135922F}"/>
    <pc:docChg chg="custSel addSld modSld">
      <pc:chgData name="Mahi Sundararajan" userId="1319c946-a83f-4def-8c00-c7c406a5fa35" providerId="ADAL" clId="{6C62D458-5E75-4392-9FAB-DD9FC135922F}" dt="2026-05-14T06:14:55.133" v="3" actId="27636"/>
      <pc:docMkLst>
        <pc:docMk/>
      </pc:docMkLst>
      <pc:sldChg chg="delSp mod">
        <pc:chgData name="Mahi Sundararajan" userId="1319c946-a83f-4def-8c00-c7c406a5fa35" providerId="ADAL" clId="{6C62D458-5E75-4392-9FAB-DD9FC135922F}" dt="2026-05-14T05:49:33.082" v="0" actId="478"/>
        <pc:sldMkLst>
          <pc:docMk/>
          <pc:sldMk cId="2181956486" sldId="256"/>
        </pc:sldMkLst>
        <pc:spChg chg="del">
          <ac:chgData name="Mahi Sundararajan" userId="1319c946-a83f-4def-8c00-c7c406a5fa35" providerId="ADAL" clId="{6C62D458-5E75-4392-9FAB-DD9FC135922F}" dt="2026-05-14T05:49:33.082" v="0" actId="478"/>
          <ac:spMkLst>
            <pc:docMk/>
            <pc:sldMk cId="2181956486" sldId="256"/>
            <ac:spMk id="2" creationId="{9CB4E598-1E13-4447-9E06-DBF9A413A1E7}"/>
          </ac:spMkLst>
        </pc:spChg>
      </pc:sldChg>
      <pc:sldChg chg="modSp add mod">
        <pc:chgData name="Mahi Sundararajan" userId="1319c946-a83f-4def-8c00-c7c406a5fa35" providerId="ADAL" clId="{6C62D458-5E75-4392-9FAB-DD9FC135922F}" dt="2026-05-14T06:14:55.103" v="2" actId="27636"/>
        <pc:sldMkLst>
          <pc:docMk/>
          <pc:sldMk cId="2431937406" sldId="2147480443"/>
        </pc:sldMkLst>
        <pc:spChg chg="mod">
          <ac:chgData name="Mahi Sundararajan" userId="1319c946-a83f-4def-8c00-c7c406a5fa35" providerId="ADAL" clId="{6C62D458-5E75-4392-9FAB-DD9FC135922F}" dt="2026-05-14T06:14:55.103" v="2" actId="27636"/>
          <ac:spMkLst>
            <pc:docMk/>
            <pc:sldMk cId="2431937406" sldId="2147480443"/>
            <ac:spMk id="7" creationId="{71FCF8E8-0201-FC14-CBEF-A6660CB62EDF}"/>
          </ac:spMkLst>
        </pc:spChg>
      </pc:sldChg>
      <pc:sldChg chg="add">
        <pc:chgData name="Mahi Sundararajan" userId="1319c946-a83f-4def-8c00-c7c406a5fa35" providerId="ADAL" clId="{6C62D458-5E75-4392-9FAB-DD9FC135922F}" dt="2026-05-14T06:14:55.025" v="1" actId="26606"/>
        <pc:sldMkLst>
          <pc:docMk/>
          <pc:sldMk cId="2431937406" sldId="2147480444"/>
        </pc:sldMkLst>
      </pc:sldChg>
      <pc:sldChg chg="add">
        <pc:chgData name="Mahi Sundararajan" userId="1319c946-a83f-4def-8c00-c7c406a5fa35" providerId="ADAL" clId="{6C62D458-5E75-4392-9FAB-DD9FC135922F}" dt="2026-05-14T06:14:55.025" v="1" actId="26606"/>
        <pc:sldMkLst>
          <pc:docMk/>
          <pc:sldMk cId="3641274005" sldId="2147480445"/>
        </pc:sldMkLst>
      </pc:sldChg>
      <pc:sldChg chg="modSp add mod">
        <pc:chgData name="Mahi Sundararajan" userId="1319c946-a83f-4def-8c00-c7c406a5fa35" providerId="ADAL" clId="{6C62D458-5E75-4392-9FAB-DD9FC135922F}" dt="2026-05-14T06:14:55.133" v="3" actId="27636"/>
        <pc:sldMkLst>
          <pc:docMk/>
          <pc:sldMk cId="2431937406" sldId="2147480446"/>
        </pc:sldMkLst>
        <pc:spChg chg="mod">
          <ac:chgData name="Mahi Sundararajan" userId="1319c946-a83f-4def-8c00-c7c406a5fa35" providerId="ADAL" clId="{6C62D458-5E75-4392-9FAB-DD9FC135922F}" dt="2026-05-14T06:14:55.133" v="3" actId="27636"/>
          <ac:spMkLst>
            <pc:docMk/>
            <pc:sldMk cId="2431937406" sldId="2147480446"/>
            <ac:spMk id="7" creationId="{71FCF8E8-0201-FC14-CBEF-A6660CB62ED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A134-D1E1-48C7-8D52-300A0775AF83}" type="datetimeFigureOut">
              <a:rPr lang="en-US"/>
              <a:t>6/18/2026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9229F-6F41-4CC3-A51C-EB832A3392C5}" type="slidenum">
              <a:rPr lang="en-US"/>
              <a:t>‹#›</a:t>
            </a:fld>
            <a:endParaRPr lang="en-US"/>
          </a:p>
        </p:txBody>
      </p:sp>
    </p:spTree>
    <p:extLst>
      <p:ext uri="{BB962C8B-B14F-4D97-AF65-F5344CB8AC3E}">
        <p14:creationId xmlns:p14="http://schemas.microsoft.com/office/powerpoint/2010/main" val="422389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a:t>
            </a:fld>
            <a:endParaRPr lang="en-US"/>
          </a:p>
        </p:txBody>
      </p:sp>
      <p:sp>
        <p:nvSpPr>
          <p:cNvPr id="3" name="Date Placeholder 2">
            <a:extLst>
              <a:ext uri="{FF2B5EF4-FFF2-40B4-BE49-F238E27FC236}">
                <a16:creationId xmlns:a16="http://schemas.microsoft.com/office/drawing/2014/main" id="{82C0C817-6383-40C6-A619-A7F43126961B}"/>
              </a:ext>
            </a:extLst>
          </p:cNvPr>
          <p:cNvSpPr>
            <a:spLocks noGrp="1"/>
          </p:cNvSpPr>
          <p:nvPr>
            <p:ph type="dt" idx="12"/>
          </p:nvPr>
        </p:nvSpPr>
        <p:spPr/>
        <p:txBody>
          <a:bodyPr/>
          <a:lstStyle/>
          <a:p>
            <a:fld id="{93F0BA74-B6B0-4726-B93D-848B68F9209C}" type="datetime1">
              <a:rPr lang="en-US"/>
              <a:t>6/18/2026</a:t>
            </a:fld>
            <a:endParaRPr lang="en-US"/>
          </a:p>
        </p:txBody>
      </p:sp>
      <p:sp>
        <p:nvSpPr>
          <p:cNvPr id="8" name="Slide Image Placeholder 7">
            <a:extLst>
              <a:ext uri="{FF2B5EF4-FFF2-40B4-BE49-F238E27FC236}">
                <a16:creationId xmlns:a16="http://schemas.microsoft.com/office/drawing/2014/main" id="{F98C1305-7F63-4C5E-9604-A0FF494BE45D}"/>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9BFE94D2-9DA0-437E-8011-0DB757A5E8DD}"/>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A24C5275-F675-4BEB-AAB5-B95AC3507DD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090206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Pattern 1: Recursive Agent Loops</a:t>
            </a:r>
          </a:p>
          <a:p>
            <a:r>
              <a:rPr lang="en-IN" dirty="0"/>
              <a:t>Agent calls LLM → gets tool result → calls LLM again → repeat</a:t>
            </a:r>
          </a:p>
          <a:p>
            <a:r>
              <a:rPr lang="en-IN" dirty="0"/>
              <a:t>Each loop iteration = input tokens + output tokens + tool call tokens</a:t>
            </a:r>
          </a:p>
          <a:p>
            <a:r>
              <a:rPr lang="en-IN" b="1" dirty="0"/>
              <a:t>Risk:</a:t>
            </a:r>
            <a:r>
              <a:rPr lang="en-IN" dirty="0"/>
              <a:t> Infinite loops without exit conditions can burn tokens indefinitely</a:t>
            </a:r>
          </a:p>
          <a:p>
            <a:r>
              <a:rPr lang="en-IN" b="1" dirty="0"/>
              <a:t>Mitigation:</a:t>
            </a:r>
            <a:r>
              <a:rPr lang="en-IN" dirty="0"/>
              <a:t> Max iteration caps, token budget per agent run</a:t>
            </a:r>
          </a:p>
          <a:p>
            <a:r>
              <a:rPr lang="en-IN" b="1" dirty="0"/>
              <a:t>Pattern 2: Fan-Out Amplification</a:t>
            </a:r>
          </a:p>
          <a:p>
            <a:r>
              <a:rPr lang="en-IN" dirty="0"/>
              <a:t>Orchestrator spawns multiple sub-agents in parallel</a:t>
            </a:r>
          </a:p>
          <a:p>
            <a:r>
              <a:rPr lang="en-IN" dirty="0"/>
              <a:t>Each sub-agent makes independent LLM calls</a:t>
            </a:r>
          </a:p>
          <a:p>
            <a:r>
              <a:rPr lang="en-IN" dirty="0"/>
              <a:t>1 user request → 5 sub-agents × 3 LLM calls each = 15 LLM calls</a:t>
            </a:r>
          </a:p>
          <a:p>
            <a:r>
              <a:rPr lang="en-IN" b="1" dirty="0"/>
              <a:t>Risk:</a:t>
            </a:r>
            <a:r>
              <a:rPr lang="en-IN" dirty="0"/>
              <a:t> Exponential token growth with nested multi-agent workflows</a:t>
            </a:r>
          </a:p>
          <a:p>
            <a:r>
              <a:rPr lang="en-IN" b="1" dirty="0"/>
              <a:t>Mitigation:</a:t>
            </a:r>
            <a:r>
              <a:rPr lang="en-IN" dirty="0"/>
              <a:t> Concurrency limits, hierarchical budgets</a:t>
            </a:r>
          </a:p>
          <a:p>
            <a:r>
              <a:rPr lang="en-IN" b="1" dirty="0"/>
              <a:t>Pattern 3: Context Window Bloat</a:t>
            </a:r>
          </a:p>
          <a:p>
            <a:r>
              <a:rPr lang="en-IN" dirty="0"/>
              <a:t>Agents accumulate conversation history across turns</a:t>
            </a:r>
          </a:p>
          <a:p>
            <a:r>
              <a:rPr lang="en-IN" dirty="0"/>
              <a:t>Each subsequent call sends entire history + new content</a:t>
            </a:r>
          </a:p>
          <a:p>
            <a:r>
              <a:rPr lang="en-IN" dirty="0"/>
              <a:t>Token cost grows quadratically with conversation length</a:t>
            </a:r>
          </a:p>
          <a:p>
            <a:r>
              <a:rPr lang="en-IN" b="1" dirty="0"/>
              <a:t>Risk:</a:t>
            </a:r>
            <a:r>
              <a:rPr lang="en-IN" dirty="0"/>
              <a:t> Long-running agent sessions with growing context</a:t>
            </a:r>
          </a:p>
          <a:p>
            <a:r>
              <a:rPr lang="en-IN" b="1" dirty="0"/>
              <a:t>Mitigation:</a:t>
            </a:r>
            <a:r>
              <a:rPr lang="en-IN" dirty="0"/>
              <a:t> Context summarization, sliding window, selective memory</a:t>
            </a:r>
          </a:p>
          <a:p>
            <a:pPr algn="l"/>
            <a:endParaRPr lang="en-IN" sz="1400" dirty="0"/>
          </a:p>
          <a:p>
            <a:endParaRPr lang="en-IN" dirty="0"/>
          </a:p>
        </p:txBody>
      </p:sp>
      <p:sp>
        <p:nvSpPr>
          <p:cNvPr id="4" name="Slide Number Placeholder 3"/>
          <p:cNvSpPr>
            <a:spLocks noGrp="1"/>
          </p:cNvSpPr>
          <p:nvPr>
            <p:ph type="sldNum" sz="quarter" idx="5"/>
          </p:nvPr>
        </p:nvSpPr>
        <p:spPr/>
        <p:txBody>
          <a:bodyPr/>
          <a:lstStyle/>
          <a:p>
            <a:fld id="{1D09229F-6F41-4CC3-A51C-EB832A3392C5}" type="slidenum">
              <a:rPr lang="en-US" smtClean="0"/>
              <a:t>5</a:t>
            </a:fld>
            <a:endParaRPr lang="en-US"/>
          </a:p>
        </p:txBody>
      </p:sp>
    </p:spTree>
    <p:extLst>
      <p:ext uri="{BB962C8B-B14F-4D97-AF65-F5344CB8AC3E}">
        <p14:creationId xmlns:p14="http://schemas.microsoft.com/office/powerpoint/2010/main" val="3528455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Pattern 4: Retry Storm</a:t>
            </a:r>
          </a:p>
          <a:p>
            <a:r>
              <a:rPr lang="en-IN" dirty="0"/>
              <a:t>Failed API calls trigger automatic retries</a:t>
            </a:r>
          </a:p>
          <a:p>
            <a:r>
              <a:rPr lang="en-IN" dirty="0"/>
              <a:t>Retries consume tokens even on failures (partial completions)</a:t>
            </a:r>
          </a:p>
          <a:p>
            <a:r>
              <a:rPr lang="en-IN" dirty="0"/>
              <a:t>429 rate limits can trigger backoff loops that still accumulate cost</a:t>
            </a:r>
          </a:p>
          <a:p>
            <a:r>
              <a:rPr lang="en-IN" b="1" dirty="0"/>
              <a:t>Risk:</a:t>
            </a:r>
            <a:r>
              <a:rPr lang="en-IN" dirty="0"/>
              <a:t> Cascading failures with exponential backoff</a:t>
            </a:r>
          </a:p>
          <a:p>
            <a:r>
              <a:rPr lang="en-IN" b="1" dirty="0"/>
              <a:t>Mitigation:</a:t>
            </a:r>
            <a:r>
              <a:rPr lang="en-IN" dirty="0"/>
              <a:t> Circuit breakers, dead-letter queues, max retry budgets</a:t>
            </a:r>
          </a:p>
          <a:p>
            <a:r>
              <a:rPr lang="en-IN" b="1" dirty="0"/>
              <a:t>Pattern 5: Model Over-Provisioning</a:t>
            </a:r>
          </a:p>
          <a:p>
            <a:r>
              <a:rPr lang="en-IN" dirty="0"/>
              <a:t>Using GPT-4o for tasks that GPT-4o-mini can handle</a:t>
            </a:r>
          </a:p>
          <a:p>
            <a:r>
              <a:rPr lang="en-IN" dirty="0"/>
              <a:t>Embedding calls with unnecessarily large models</a:t>
            </a:r>
          </a:p>
          <a:p>
            <a:r>
              <a:rPr lang="en-IN" b="1" dirty="0"/>
              <a:t>Risk:</a:t>
            </a:r>
            <a:r>
              <a:rPr lang="en-IN" dirty="0"/>
              <a:t> 10-30× cost premium for equivalent quality</a:t>
            </a:r>
          </a:p>
          <a:p>
            <a:r>
              <a:rPr lang="en-IN" b="1" dirty="0"/>
              <a:t>Mitigation:</a:t>
            </a:r>
            <a:r>
              <a:rPr lang="en-IN" dirty="0"/>
              <a:t> Model routing based on task complexity</a:t>
            </a:r>
          </a:p>
          <a:p>
            <a:endParaRPr lang="en-IN" dirty="0"/>
          </a:p>
        </p:txBody>
      </p:sp>
      <p:sp>
        <p:nvSpPr>
          <p:cNvPr id="4" name="Slide Number Placeholder 3"/>
          <p:cNvSpPr>
            <a:spLocks noGrp="1"/>
          </p:cNvSpPr>
          <p:nvPr>
            <p:ph type="sldNum" sz="quarter" idx="5"/>
          </p:nvPr>
        </p:nvSpPr>
        <p:spPr/>
        <p:txBody>
          <a:bodyPr/>
          <a:lstStyle/>
          <a:p>
            <a:fld id="{1D09229F-6F41-4CC3-A51C-EB832A3392C5}" type="slidenum">
              <a:rPr lang="en-US" smtClean="0"/>
              <a:t>6</a:t>
            </a:fld>
            <a:endParaRPr lang="en-US"/>
          </a:p>
        </p:txBody>
      </p:sp>
    </p:spTree>
    <p:extLst>
      <p:ext uri="{BB962C8B-B14F-4D97-AF65-F5344CB8AC3E}">
        <p14:creationId xmlns:p14="http://schemas.microsoft.com/office/powerpoint/2010/main" val="3800486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D09229F-6F41-4CC3-A51C-EB832A3392C5}" type="slidenum">
              <a:rPr lang="en-US" smtClean="0"/>
              <a:t>8</a:t>
            </a:fld>
            <a:endParaRPr lang="en-US"/>
          </a:p>
        </p:txBody>
      </p:sp>
    </p:spTree>
    <p:extLst>
      <p:ext uri="{BB962C8B-B14F-4D97-AF65-F5344CB8AC3E}">
        <p14:creationId xmlns:p14="http://schemas.microsoft.com/office/powerpoint/2010/main" val="270800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7DAE7E-8766-4B52-9CC8-80182737E7FE}" type="slidenum">
              <a:rPr kumimoji="0" lang="pt-P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pt-P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965522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13</a:t>
            </a:fld>
            <a:endParaRPr lang="en-US"/>
          </a:p>
        </p:txBody>
      </p:sp>
      <p:sp>
        <p:nvSpPr>
          <p:cNvPr id="8" name="Slide Image Placeholder 7"/>
          <p:cNvSpPr>
            <a:spLocks noGrp="1" noRot="1" noChangeAspect="1"/>
          </p:cNvSpPr>
          <p:nvPr>
            <p:ph type="sldImg"/>
          </p:nvPr>
        </p:nvSpPr>
        <p:spPr/>
      </p:sp>
      <p:sp>
        <p:nvSpPr>
          <p:cNvPr id="9" name="Notes Placeholder 8"/>
          <p:cNvSpPr>
            <a:spLocks noGrp="1"/>
          </p:cNvSpPr>
          <p:nvPr>
            <p:ph type="body" idx="1"/>
          </p:nvPr>
        </p:nvSpPr>
        <p:spPr>
          <a:xfrm>
            <a:off x="685800" y="4400550"/>
            <a:ext cx="5486400" cy="3600450"/>
          </a:xfrm>
          <a:prstGeom prst="rect">
            <a:avLst/>
          </a:prstGeom>
        </p:spPr>
        <p:txBody>
          <a:bodyPr/>
          <a:lstStyle/>
          <a:p>
            <a:r>
              <a:rPr lang="en-US" b="1"/>
              <a:t>TALK TRACK: PAYG vs. PTU Decision Flowchart</a:t>
            </a:r>
          </a:p>
          <a:p>
            <a:endParaRPr lang="en-US"/>
          </a:p>
          <a:p>
            <a:r>
              <a:rPr lang="en-US" b="1"/>
              <a:t>Opening (30 seconds)</a:t>
            </a:r>
          </a:p>
          <a:p>
            <a:r>
              <a:rPr lang="en-US"/>
              <a:t>One of the most impactful cost decisions you will make with Azure OpenAI is choosing between Pay-As-You-Go (PAYG) and Provisioned Throughput Units (PTU). This flowchart walks through the key decision points to help you pick the right model for your workload.</a:t>
            </a:r>
          </a:p>
          <a:p>
            <a:endParaRPr lang="en-US"/>
          </a:p>
          <a:p>
            <a:r>
              <a:rPr lang="en-US" b="1"/>
              <a:t>Decision Point 1: Sustained Usage &gt; 300K TPM? (45 seconds)</a:t>
            </a:r>
          </a:p>
          <a:p>
            <a:r>
              <a:rPr lang="en-US"/>
              <a:t>Start by assessing your workload volume. The 300K tokens-per-minute threshold is the key inflection point. Below this level, PAYG is almost always more cost-effective because you are not paying for idle capacity. Above 300K TPM sustained, the economics shift in favor of reserved capacity. Use Azure Monitor diagnostic logs and KQL queries to measure your actual peak and average TPM before making this call.</a:t>
            </a:r>
          </a:p>
          <a:p>
            <a:endParaRPr lang="en-US"/>
          </a:p>
          <a:p>
            <a:r>
              <a:rPr lang="en-US" b="1"/>
              <a:t>Decision Point 2 (YES path): Predictable, Steady Throughput? (45 seconds)</a:t>
            </a:r>
          </a:p>
          <a:p>
            <a:r>
              <a:rPr lang="en-US"/>
              <a:t>If you have high sustained usage AND predictable, steady patterns, go with PTU. You get a fixed monthly cost, dedicated capacity with guaranteed low latency, and no risk of token-based cost spikes. PTU billing is per PTU-hour, not per token, so once provisioned, you can push as many tokens through as the capacity allows. If traffic is high but unpredictable or spiky, choose PAYG with monitoring. Set up budget alerts and anomaly detection, and re-evaluate for PTU once usage patterns stabilize.</a:t>
            </a:r>
          </a:p>
          <a:p>
            <a:endParaRPr lang="en-US"/>
          </a:p>
          <a:p>
            <a:r>
              <a:rPr lang="en-US" b="1"/>
              <a:t>Decision Point 3 (NO path): Latency-Sensitive Production? (45 seconds)</a:t>
            </a:r>
          </a:p>
          <a:p>
            <a:r>
              <a:rPr lang="en-US"/>
              <a:t>For workloads below 300K TPM, the next question is latency sensitivity. PAYG runs on shared capacity with no throughput guarantees. During peak periods, your requests compete with others. If you have a latency-sensitive production application, consider a hybrid approach: use PTU for your baseline steady-state traffic to guarantee performance, and let PAYG handle overflow and burst. This balances cost predictability with flexibility. If latency is not critical, stick with pure PAYG for maximum flexibility and zero commitment.</a:t>
            </a:r>
          </a:p>
          <a:p>
            <a:endParaRPr lang="en-US"/>
          </a:p>
          <a:p>
            <a:r>
              <a:rPr lang="en-US" b="1"/>
              <a:t>Key Considerations (30 seconds)</a:t>
            </a:r>
          </a:p>
          <a:p>
            <a:r>
              <a:rPr lang="en-US"/>
              <a:t>A few important points: PTU pricing is model-independent. Your PTU quota is shared across all supported models in a region. Azure Reservations for PTU (monthly or annual) can save 60-70% versus on-demand hourly PTU pricing. And remember, you can always start with PAYG, monitor your usage, and migrate to PTU once you have enough data to size your deployment confidently. Use the Foundry capacity calculator or the PTU sizing formulas in Microsoft Learn to estimate PTU requirements before committing.</a:t>
            </a:r>
          </a:p>
          <a:p>
            <a:endParaRPr lang="en-US"/>
          </a:p>
          <a:p>
            <a:r>
              <a:rPr lang="en-US" b="1"/>
              <a:t>References</a:t>
            </a:r>
          </a:p>
          <a:p>
            <a:r>
              <a:rPr lang="en-US"/>
              <a:t>[1] Provisioned Throughput Billing: learn.microsoft.com/en-us/azure/foundry/openai/concepts/provisioned-throughput-billing</a:t>
            </a:r>
          </a:p>
          <a:p>
            <a:r>
              <a:rPr lang="en-US"/>
              <a:t>[2] Azure OpenAI Pricing: azure.microsoft.com/en-us/pricing/details/azure-openai</a:t>
            </a:r>
          </a:p>
          <a:p>
            <a:r>
              <a:rPr lang="en-US"/>
              <a:t>[3] PTU Sizing Guide: learn.microsoft.com/en-us/azure/foundry/openai/how-to/provisioned-throughput-sizing</a:t>
            </a:r>
          </a:p>
          <a:p>
            <a:r>
              <a:rPr lang="en-US"/>
              <a:t>[4] PTU Advisor Tool (GitHub): github.com/msftse/ptu-advisor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smtClean="0"/>
              <a:pPr/>
              <a:t>31</a:t>
            </a:fld>
            <a:endParaRPr lang="en-US"/>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smtClean="0"/>
              <a:t>6/18/2026</a:t>
            </a:fld>
            <a:endParaRPr lang="en-US"/>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8936056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7996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91382980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3825926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6209294"/>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62578842"/>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709166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4395143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24181485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144984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98382895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121014998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4845587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32420699"/>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98125844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6583093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99117970"/>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7479832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31135058"/>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33995091"/>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1578391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74061126"/>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6361580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4100341"/>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2611102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36435931"/>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9729763"/>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6389936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881336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728067837"/>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6316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35085315"/>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 id="2147484081" r:id="rId13"/>
    <p:sldLayoutId id="2147484082" r:id="rId14"/>
    <p:sldLayoutId id="2147484083" r:id="rId15"/>
    <p:sldLayoutId id="2147484084" r:id="rId16"/>
    <p:sldLayoutId id="2147484085" r:id="rId17"/>
    <p:sldLayoutId id="2147484086" r:id="rId18"/>
    <p:sldLayoutId id="2147484087" r:id="rId19"/>
    <p:sldLayoutId id="2147484088" r:id="rId20"/>
    <p:sldLayoutId id="2147484089" r:id="rId21"/>
    <p:sldLayoutId id="2147484090" r:id="rId22"/>
    <p:sldLayoutId id="2147484091" r:id="rId23"/>
    <p:sldLayoutId id="2147484092" r:id="rId24"/>
    <p:sldLayoutId id="2147484093" r:id="rId25"/>
    <p:sldLayoutId id="2147484094" r:id="rId26"/>
    <p:sldLayoutId id="2147484095" r:id="rId27"/>
    <p:sldLayoutId id="2147484096" r:id="rId28"/>
    <p:sldLayoutId id="2147484097" r:id="rId29"/>
    <p:sldLayoutId id="2147484098" r:id="rId30"/>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15.xml"/><Relationship Id="rId1" Type="http://schemas.openxmlformats.org/officeDocument/2006/relationships/tags" Target="../tags/tag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2.xml"/><Relationship Id="rId1" Type="http://schemas.openxmlformats.org/officeDocument/2006/relationships/themeOverride" Target="../theme/themeOverride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2.svg"/><Relationship Id="rId18" Type="http://schemas.openxmlformats.org/officeDocument/2006/relationships/image" Target="../media/image17.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1.svg"/><Relationship Id="rId17" Type="http://schemas.openxmlformats.org/officeDocument/2006/relationships/image" Target="../media/image16.svg"/><Relationship Id="rId2" Type="http://schemas.openxmlformats.org/officeDocument/2006/relationships/notesSlide" Target="../notesSlides/notesSlide5.xml"/><Relationship Id="rId16" Type="http://schemas.openxmlformats.org/officeDocument/2006/relationships/image" Target="../media/image15.png"/><Relationship Id="rId1" Type="http://schemas.openxmlformats.org/officeDocument/2006/relationships/slideLayout" Target="../slideLayouts/slideLayout3.xml"/><Relationship Id="rId6" Type="http://schemas.openxmlformats.org/officeDocument/2006/relationships/image" Target="../media/image6.svg"/><Relationship Id="rId11" Type="http://schemas.microsoft.com/office/2007/relationships/hdphoto" Target="../media/hdphoto1.wdp"/><Relationship Id="rId5" Type="http://schemas.openxmlformats.org/officeDocument/2006/relationships/image" Target="../media/image5.svg"/><Relationship Id="rId15" Type="http://schemas.openxmlformats.org/officeDocument/2006/relationships/image" Target="../media/image14.png"/><Relationship Id="rId10" Type="http://schemas.openxmlformats.org/officeDocument/2006/relationships/image" Target="../media/image10.png"/><Relationship Id="rId4" Type="http://schemas.openxmlformats.org/officeDocument/2006/relationships/image" Target="../media/image4.svg"/><Relationship Id="rId9" Type="http://schemas.openxmlformats.org/officeDocument/2006/relationships/image" Target="../media/image9.svg"/><Relationship Id="rId14" Type="http://schemas.openxmlformats.org/officeDocument/2006/relationships/image" Target="../media/image13.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name="HIDDEN - Slide3">
    <p:spTree>
      <p:nvGrpSpPr>
        <p:cNvPr id="1" name=""/>
        <p:cNvGrpSpPr/>
        <p:nvPr/>
      </p:nvGrpSpPr>
      <p:grpSpPr>
        <a:xfrm>
          <a:off x="0" y="0"/>
          <a:ext cx="0" cy="0"/>
          <a:chOff x="0" y="0"/>
          <a:chExt cx="0" cy="0"/>
        </a:xfrm>
      </p:grpSpPr>
      <p:sp>
        <p:nvSpPr>
          <p:cNvPr id="4" name="Title 3"/>
          <p:cNvSpPr>
            <a:spLocks noGrp="1"/>
          </p:cNvSpPr>
          <p:nvPr>
            <p:ph type="title"/>
            <p:custDataLst>
              <p:custData r:id="rId2"/>
            </p:custDataLst>
          </p:nvPr>
        </p:nvSpPr>
        <p:spPr>
          <a:xfrm>
            <a:off x="584200" y="3318975"/>
            <a:ext cx="7298437" cy="2031325"/>
          </a:xfrm>
        </p:spPr>
        <p:txBody>
          <a:bodyPr/>
          <a:lstStyle/>
          <a:p>
            <a:r>
              <a:rPr lang="en-US" dirty="0"/>
              <a:t>Module 3 – Core Governance Pillars</a:t>
            </a:r>
          </a:p>
        </p:txBody>
      </p:sp>
      <p:sp>
        <p:nvSpPr>
          <p:cNvPr id="6" name="Subtitle 5">
            <a:extLst>
              <a:ext uri="{FF2B5EF4-FFF2-40B4-BE49-F238E27FC236}">
                <a16:creationId xmlns:a16="http://schemas.microsoft.com/office/drawing/2014/main" id="{12808BD5-6BEE-4164-9264-E55A823F2E3D}"/>
              </a:ext>
            </a:extLst>
          </p:cNvPr>
          <p:cNvSpPr>
            <a:spLocks noGrp="1"/>
          </p:cNvSpPr>
          <p:nvPr>
            <p:ph type="body" sz="quarter" idx="12"/>
          </p:nvPr>
        </p:nvSpPr>
        <p:spPr/>
        <p:txBody>
          <a:bodyPr>
            <a:normAutofit/>
          </a:bodyPr>
          <a:lstStyle/>
          <a:p>
            <a:r>
              <a:rPr lang="en-US" dirty="0"/>
              <a:t>Cost-Governance-</a:t>
            </a:r>
            <a:r>
              <a:rPr lang="en-US" dirty="0" err="1"/>
              <a:t>Finops</a:t>
            </a:r>
            <a:r>
              <a:rPr lang="en-US" dirty="0"/>
              <a:t>-AI</a:t>
            </a:r>
          </a:p>
        </p:txBody>
      </p:sp>
    </p:spTree>
    <p:custDataLst>
      <p:tags r:id="rId1"/>
    </p:custDataLst>
    <p:extLst>
      <p:ext uri="{BB962C8B-B14F-4D97-AF65-F5344CB8AC3E}">
        <p14:creationId xmlns:p14="http://schemas.microsoft.com/office/powerpoint/2010/main" val="2181956486"/>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1322-9F37-477D-9B5B-EBF49D8B1DE4}"/>
              </a:ext>
            </a:extLst>
          </p:cNvPr>
          <p:cNvSpPr>
            <a:spLocks noGrp="1"/>
          </p:cNvSpPr>
          <p:nvPr>
            <p:ph type="title"/>
          </p:nvPr>
        </p:nvSpPr>
        <p:spPr>
          <a:xfrm>
            <a:off x="575481" y="599436"/>
            <a:ext cx="11018520" cy="1107996"/>
          </a:xfrm>
        </p:spPr>
        <p:txBody>
          <a:bodyPr lIns="0" tIns="0" rIns="0" bIns="0" anchor="t"/>
          <a:lstStyle/>
          <a:p>
            <a:r>
              <a:rPr lang="en-US" dirty="0"/>
              <a:t>Learning Units covered </a:t>
            </a:r>
            <a:br>
              <a:rPr lang="en-US" dirty="0"/>
            </a:br>
            <a:r>
              <a:rPr lang="en-US" dirty="0"/>
              <a:t>in this Module </a:t>
            </a:r>
          </a:p>
        </p:txBody>
      </p:sp>
      <p:graphicFrame>
        <p:nvGraphicFramePr>
          <p:cNvPr id="40" name="Table 3">
            <a:extLst>
              <a:ext uri="{FF2B5EF4-FFF2-40B4-BE49-F238E27FC236}">
                <a16:creationId xmlns:a16="http://schemas.microsoft.com/office/drawing/2014/main" id="{AC7A2A35-EB6E-428E-BCEC-3E58E036016D}"/>
              </a:ext>
            </a:extLst>
          </p:cNvPr>
          <p:cNvGraphicFramePr>
            <a:graphicFrameLocks noGrp="1"/>
          </p:cNvGraphicFramePr>
          <p:nvPr>
            <p:extLst>
              <p:ext uri="{D42A27DB-BD31-4B8C-83A1-F6EECF244321}">
                <p14:modId xmlns:p14="http://schemas.microsoft.com/office/powerpoint/2010/main" val="247974957"/>
              </p:ext>
            </p:extLst>
          </p:nvPr>
        </p:nvGraphicFramePr>
        <p:xfrm>
          <a:off x="575481" y="1815577"/>
          <a:ext cx="5669280" cy="445750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245818860"/>
                    </a:ext>
                  </a:extLst>
                </a:gridCol>
                <a:gridCol w="4846320">
                  <a:extLst>
                    <a:ext uri="{9D8B030D-6E8A-4147-A177-3AD203B41FA5}">
                      <a16:colId xmlns:a16="http://schemas.microsoft.com/office/drawing/2014/main" val="3975527072"/>
                    </a:ext>
                  </a:extLst>
                </a:gridCol>
              </a:tblGrid>
              <a:tr h="891500">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FinOps &amp; Cost Patterns</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76677287"/>
                  </a:ext>
                </a:extLst>
              </a:tr>
              <a:tr h="891500">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a:ln>
                            <a:noFill/>
                          </a:ln>
                          <a:solidFill>
                            <a:srgbClr val="000000"/>
                          </a:solidFill>
                          <a:effectLst/>
                          <a:uLnTx/>
                          <a:uFillTx/>
                          <a:latin typeface="+mn-lt"/>
                          <a:ea typeface="+mn-ea"/>
                          <a:cs typeface="Segoe UI" panose="020B0502040204020203" pitchFamily="34" charset="0"/>
                        </a:rPr>
                        <a:t>AI Governance Controls</a:t>
                      </a:r>
                      <a:endParaRPr kumimoji="0" lang="da-DK"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16497433"/>
                  </a:ext>
                </a:extLst>
              </a:tr>
              <a:tr h="891500">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a:ln>
                            <a:noFill/>
                          </a:ln>
                          <a:solidFill>
                            <a:srgbClr val="000000"/>
                          </a:solidFill>
                          <a:effectLst/>
                          <a:uLnTx/>
                          <a:uFillTx/>
                          <a:latin typeface="+mn-lt"/>
                          <a:ea typeface="+mn-ea"/>
                          <a:cs typeface="Segoe UI" panose="020B0502040204020203" pitchFamily="34" charset="0"/>
                        </a:rPr>
                        <a:t>Chargeback &amp; Financial Accountability</a:t>
                      </a:r>
                      <a:endParaRPr kumimoji="0" lang="da-DK"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88902310"/>
                  </a:ext>
                </a:extLst>
              </a:tr>
              <a:tr h="891500">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a:ln>
                            <a:noFill/>
                          </a:ln>
                          <a:solidFill>
                            <a:srgbClr val="000000"/>
                          </a:solidFill>
                          <a:effectLst/>
                          <a:uLnTx/>
                          <a:uFillTx/>
                          <a:latin typeface="+mn-lt"/>
                          <a:ea typeface="+mn-ea"/>
                          <a:cs typeface="Segoe UI" panose="020B0502040204020203" pitchFamily="34" charset="0"/>
                        </a:rPr>
                        <a:t>Optimization Strategies</a:t>
                      </a:r>
                      <a:endParaRPr kumimoji="0" lang="da-DK"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01743516"/>
                  </a:ext>
                </a:extLst>
              </a:tr>
              <a:tr h="891500">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a:ln>
                            <a:noFill/>
                          </a:ln>
                          <a:solidFill>
                            <a:srgbClr val="000000"/>
                          </a:solidFill>
                          <a:effectLst/>
                          <a:uLnTx/>
                          <a:uFillTx/>
                          <a:latin typeface="+mn-lt"/>
                          <a:ea typeface="+mn-ea"/>
                          <a:cs typeface="Segoe UI" panose="020B0502040204020203" pitchFamily="34" charset="0"/>
                        </a:rPr>
                        <a:t>Roles &amp; Monitoring</a:t>
                      </a:r>
                      <a:endParaRPr kumimoji="0" lang="da-DK"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153319110"/>
                  </a:ext>
                </a:extLst>
              </a:tr>
            </a:tbl>
          </a:graphicData>
        </a:graphic>
      </p:graphicFrame>
      <p:cxnSp>
        <p:nvCxnSpPr>
          <p:cNvPr id="138" name="Straight Connector 137">
            <a:extLst>
              <a:ext uri="{FF2B5EF4-FFF2-40B4-BE49-F238E27FC236}">
                <a16:creationId xmlns:a16="http://schemas.microsoft.com/office/drawing/2014/main" id="{A26070F4-FF72-4496-AD61-51AF8C6F60F4}"/>
              </a:ext>
              <a:ext uri="{C183D7F6-B498-43B3-948B-1728B52AA6E4}">
                <adec:decorative xmlns:adec="http://schemas.microsoft.com/office/drawing/2017/decorative" val="1"/>
              </a:ext>
            </a:extLst>
          </p:cNvPr>
          <p:cNvCxnSpPr>
            <a:cxnSpLocks/>
          </p:cNvCxnSpPr>
          <p:nvPr/>
        </p:nvCxnSpPr>
        <p:spPr>
          <a:xfrm>
            <a:off x="5771254" y="2705122"/>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57" name="Group 156">
            <a:extLst>
              <a:ext uri="{FF2B5EF4-FFF2-40B4-BE49-F238E27FC236}">
                <a16:creationId xmlns:a16="http://schemas.microsoft.com/office/drawing/2014/main" id="{13583A66-C524-4F12-B97E-1F9CAB279427}"/>
              </a:ext>
              <a:ext uri="{C183D7F6-B498-43B3-948B-1728B52AA6E4}">
                <adec:decorative xmlns:adec="http://schemas.microsoft.com/office/drawing/2017/decorative" val="1"/>
              </a:ext>
            </a:extLst>
          </p:cNvPr>
          <p:cNvGrpSpPr/>
          <p:nvPr/>
        </p:nvGrpSpPr>
        <p:grpSpPr>
          <a:xfrm>
            <a:off x="777563" y="2962141"/>
            <a:ext cx="411480" cy="411480"/>
            <a:chOff x="724354" y="2781602"/>
            <a:chExt cx="438218" cy="438964"/>
          </a:xfrm>
        </p:grpSpPr>
        <p:sp>
          <p:nvSpPr>
            <p:cNvPr id="158" name="Oval 157">
              <a:extLst>
                <a:ext uri="{FF2B5EF4-FFF2-40B4-BE49-F238E27FC236}">
                  <a16:creationId xmlns:a16="http://schemas.microsoft.com/office/drawing/2014/main" id="{ACCD0E95-46EB-47F9-9E09-DBB444948CC2}"/>
                </a:ext>
                <a:ext uri="{C183D7F6-B498-43B3-948B-1728B52AA6E4}">
                  <adec:decorative xmlns:adec="http://schemas.microsoft.com/office/drawing/2017/decorative" val="1"/>
                </a:ext>
              </a:extLst>
            </p:cNvPr>
            <p:cNvSpPr>
              <a:spLocks/>
            </p:cNvSpPr>
            <p:nvPr/>
          </p:nvSpPr>
          <p:spPr bwMode="auto">
            <a:xfrm>
              <a:off x="724354" y="2781602"/>
              <a:ext cx="438218" cy="438964"/>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normalizeH="0" baseline="0" noProof="0">
                <a:ln>
                  <a:noFill/>
                </a:ln>
                <a:solidFill>
                  <a:srgbClr val="FFFFFF"/>
                </a:solidFill>
                <a:effectLst/>
                <a:uLnTx/>
                <a:uFillTx/>
                <a:latin typeface="Segoe UI"/>
                <a:ea typeface="Segoe UI" pitchFamily="34" charset="0"/>
                <a:cs typeface="Segoe UI" pitchFamily="34" charset="0"/>
              </a:endParaRPr>
            </a:p>
          </p:txBody>
        </p:sp>
        <p:sp>
          <p:nvSpPr>
            <p:cNvPr id="159" name="Trackers_EADF">
              <a:extLst>
                <a:ext uri="{FF2B5EF4-FFF2-40B4-BE49-F238E27FC236}">
                  <a16:creationId xmlns:a16="http://schemas.microsoft.com/office/drawing/2014/main" id="{F671B910-5E20-42A8-8AFC-06F4BDA8D207}"/>
                </a:ext>
                <a:ext uri="{C183D7F6-B498-43B3-948B-1728B52AA6E4}">
                  <adec:decorative xmlns:adec="http://schemas.microsoft.com/office/drawing/2017/decorative" val="1"/>
                </a:ext>
              </a:extLst>
            </p:cNvPr>
            <p:cNvSpPr>
              <a:spLocks noChangeAspect="1" noEditPoints="1"/>
            </p:cNvSpPr>
            <p:nvPr/>
          </p:nvSpPr>
          <p:spPr bwMode="auto">
            <a:xfrm>
              <a:off x="854529" y="2879611"/>
              <a:ext cx="177869" cy="242946"/>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normalizeH="0" baseline="0" noProof="0">
                <a:ln>
                  <a:noFill/>
                </a:ln>
                <a:solidFill>
                  <a:prstClr val="black"/>
                </a:solidFill>
                <a:effectLst/>
                <a:uLnTx/>
                <a:uFillTx/>
                <a:latin typeface="Calibri" panose="020F0502020204030204"/>
                <a:ea typeface="+mn-ea"/>
                <a:cs typeface="+mn-cs"/>
              </a:endParaRPr>
            </a:p>
          </p:txBody>
        </p:sp>
      </p:grpSp>
      <p:cxnSp>
        <p:nvCxnSpPr>
          <p:cNvPr id="175" name="Straight Connector 174">
            <a:extLst>
              <a:ext uri="{FF2B5EF4-FFF2-40B4-BE49-F238E27FC236}">
                <a16:creationId xmlns:a16="http://schemas.microsoft.com/office/drawing/2014/main" id="{6902113C-0BBB-43B5-9577-E93899497A21}"/>
              </a:ext>
              <a:ext uri="{C183D7F6-B498-43B3-948B-1728B52AA6E4}">
                <adec:decorative xmlns:adec="http://schemas.microsoft.com/office/drawing/2017/decorative" val="1"/>
              </a:ext>
            </a:extLst>
          </p:cNvPr>
          <p:cNvCxnSpPr>
            <a:cxnSpLocks/>
          </p:cNvCxnSpPr>
          <p:nvPr/>
        </p:nvCxnSpPr>
        <p:spPr>
          <a:xfrm>
            <a:off x="5771254" y="3596375"/>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90" name="Group 189">
            <a:extLst>
              <a:ext uri="{FF2B5EF4-FFF2-40B4-BE49-F238E27FC236}">
                <a16:creationId xmlns:a16="http://schemas.microsoft.com/office/drawing/2014/main" id="{3AE35778-145B-414C-A48E-72D6422A683B}"/>
              </a:ext>
              <a:ext uri="{C183D7F6-B498-43B3-948B-1728B52AA6E4}">
                <adec:decorative xmlns:adec="http://schemas.microsoft.com/office/drawing/2017/decorative" val="1"/>
              </a:ext>
            </a:extLst>
          </p:cNvPr>
          <p:cNvGrpSpPr>
            <a:grpSpLocks/>
          </p:cNvGrpSpPr>
          <p:nvPr/>
        </p:nvGrpSpPr>
        <p:grpSpPr>
          <a:xfrm>
            <a:off x="777563" y="3851759"/>
            <a:ext cx="411480" cy="411480"/>
            <a:chOff x="7039782" y="1468393"/>
            <a:chExt cx="751672" cy="751672"/>
          </a:xfrm>
        </p:grpSpPr>
        <p:sp>
          <p:nvSpPr>
            <p:cNvPr id="191" name="Oval 190">
              <a:extLst>
                <a:ext uri="{FF2B5EF4-FFF2-40B4-BE49-F238E27FC236}">
                  <a16:creationId xmlns:a16="http://schemas.microsoft.com/office/drawing/2014/main" id="{DDFC082B-4D83-4009-814E-9F784122CC61}"/>
                </a:ext>
                <a:ext uri="{C183D7F6-B498-43B3-948B-1728B52AA6E4}">
                  <adec:decorative xmlns:adec="http://schemas.microsoft.com/office/drawing/2017/decorative" val="1"/>
                </a:ext>
              </a:extLst>
            </p:cNvPr>
            <p:cNvSpPr>
              <a:spLocks/>
            </p:cNvSpPr>
            <p:nvPr/>
          </p:nvSpPr>
          <p:spPr bwMode="auto">
            <a:xfrm>
              <a:off x="7039782"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92" name="list_4">
              <a:extLst>
                <a:ext uri="{FF2B5EF4-FFF2-40B4-BE49-F238E27FC236}">
                  <a16:creationId xmlns:a16="http://schemas.microsoft.com/office/drawing/2014/main" id="{F74253CA-D85D-4DC4-A80C-8C4DA70AD0D4}"/>
                </a:ext>
                <a:ext uri="{C183D7F6-B498-43B3-948B-1728B52AA6E4}">
                  <adec:decorative xmlns:adec="http://schemas.microsoft.com/office/drawing/2017/decorative" val="1"/>
                </a:ext>
              </a:extLst>
            </p:cNvPr>
            <p:cNvSpPr>
              <a:spLocks noChangeAspect="1" noEditPoints="1"/>
            </p:cNvSpPr>
            <p:nvPr/>
          </p:nvSpPr>
          <p:spPr bwMode="auto">
            <a:xfrm>
              <a:off x="7196380" y="1708702"/>
              <a:ext cx="438475" cy="271054"/>
            </a:xfrm>
            <a:custGeom>
              <a:avLst/>
              <a:gdLst>
                <a:gd name="T0" fmla="*/ 90 w 253"/>
                <a:gd name="T1" fmla="*/ 24 h 171"/>
                <a:gd name="T2" fmla="*/ 253 w 253"/>
                <a:gd name="T3" fmla="*/ 24 h 171"/>
                <a:gd name="T4" fmla="*/ 90 w 253"/>
                <a:gd name="T5" fmla="*/ 73 h 171"/>
                <a:gd name="T6" fmla="*/ 253 w 253"/>
                <a:gd name="T7" fmla="*/ 73 h 171"/>
                <a:gd name="T8" fmla="*/ 90 w 253"/>
                <a:gd name="T9" fmla="*/ 121 h 171"/>
                <a:gd name="T10" fmla="*/ 253 w 253"/>
                <a:gd name="T11" fmla="*/ 121 h 171"/>
                <a:gd name="T12" fmla="*/ 90 w 253"/>
                <a:gd name="T13" fmla="*/ 171 h 171"/>
                <a:gd name="T14" fmla="*/ 253 w 253"/>
                <a:gd name="T15" fmla="*/ 171 h 171"/>
                <a:gd name="T16" fmla="*/ 0 w 253"/>
                <a:gd name="T17" fmla="*/ 23 h 171"/>
                <a:gd name="T18" fmla="*/ 17 w 253"/>
                <a:gd name="T19" fmla="*/ 40 h 171"/>
                <a:gd name="T20" fmla="*/ 58 w 253"/>
                <a:gd name="T21" fmla="*/ 0 h 171"/>
                <a:gd name="T22" fmla="*/ 0 w 253"/>
                <a:gd name="T23" fmla="*/ 121 h 171"/>
                <a:gd name="T24" fmla="*/ 17 w 253"/>
                <a:gd name="T25" fmla="*/ 138 h 171"/>
                <a:gd name="T26" fmla="*/ 58 w 253"/>
                <a:gd name="T27" fmla="*/ 9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3" h="171">
                  <a:moveTo>
                    <a:pt x="90" y="24"/>
                  </a:moveTo>
                  <a:lnTo>
                    <a:pt x="253" y="24"/>
                  </a:lnTo>
                  <a:moveTo>
                    <a:pt x="90" y="73"/>
                  </a:moveTo>
                  <a:lnTo>
                    <a:pt x="253" y="73"/>
                  </a:lnTo>
                  <a:moveTo>
                    <a:pt x="90" y="121"/>
                  </a:moveTo>
                  <a:lnTo>
                    <a:pt x="253" y="121"/>
                  </a:lnTo>
                  <a:moveTo>
                    <a:pt x="90" y="171"/>
                  </a:moveTo>
                  <a:lnTo>
                    <a:pt x="253" y="171"/>
                  </a:lnTo>
                  <a:moveTo>
                    <a:pt x="0" y="23"/>
                  </a:moveTo>
                  <a:lnTo>
                    <a:pt x="17" y="40"/>
                  </a:lnTo>
                  <a:lnTo>
                    <a:pt x="58" y="0"/>
                  </a:lnTo>
                  <a:moveTo>
                    <a:pt x="0" y="121"/>
                  </a:moveTo>
                  <a:lnTo>
                    <a:pt x="17" y="138"/>
                  </a:lnTo>
                  <a:lnTo>
                    <a:pt x="58" y="98"/>
                  </a:lnTo>
                </a:path>
              </a:pathLst>
            </a:custGeom>
            <a:noFill/>
            <a:ln w="12700" cap="flat">
              <a:solidFill>
                <a:schemeClr val="tx2"/>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204" name="Straight Connector 203">
            <a:extLst>
              <a:ext uri="{FF2B5EF4-FFF2-40B4-BE49-F238E27FC236}">
                <a16:creationId xmlns:a16="http://schemas.microsoft.com/office/drawing/2014/main" id="{9637AC6B-5B31-424F-B714-943C748A2141}"/>
              </a:ext>
              <a:ext uri="{C183D7F6-B498-43B3-948B-1728B52AA6E4}">
                <adec:decorative xmlns:adec="http://schemas.microsoft.com/office/drawing/2017/decorative" val="1"/>
              </a:ext>
            </a:extLst>
          </p:cNvPr>
          <p:cNvCxnSpPr>
            <a:cxnSpLocks/>
          </p:cNvCxnSpPr>
          <p:nvPr/>
        </p:nvCxnSpPr>
        <p:spPr>
          <a:xfrm>
            <a:off x="5771254" y="4487628"/>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15" name="Group 214">
            <a:extLst>
              <a:ext uri="{FF2B5EF4-FFF2-40B4-BE49-F238E27FC236}">
                <a16:creationId xmlns:a16="http://schemas.microsoft.com/office/drawing/2014/main" id="{EC44BA72-BF41-46BB-8A81-F0B147FD1945}"/>
              </a:ext>
              <a:ext uri="{C183D7F6-B498-43B3-948B-1728B52AA6E4}">
                <adec:decorative xmlns:adec="http://schemas.microsoft.com/office/drawing/2017/decorative" val="1"/>
              </a:ext>
            </a:extLst>
          </p:cNvPr>
          <p:cNvGrpSpPr>
            <a:grpSpLocks/>
          </p:cNvGrpSpPr>
          <p:nvPr/>
        </p:nvGrpSpPr>
        <p:grpSpPr>
          <a:xfrm>
            <a:off x="777563" y="4741377"/>
            <a:ext cx="411480" cy="411480"/>
            <a:chOff x="724354" y="3721051"/>
            <a:chExt cx="438218" cy="438218"/>
          </a:xfrm>
        </p:grpSpPr>
        <p:sp>
          <p:nvSpPr>
            <p:cNvPr id="216" name="Oval 215">
              <a:extLst>
                <a:ext uri="{FF2B5EF4-FFF2-40B4-BE49-F238E27FC236}">
                  <a16:creationId xmlns:a16="http://schemas.microsoft.com/office/drawing/2014/main" id="{9B627AB3-E75C-4A12-97F6-E46582452569}"/>
                </a:ext>
                <a:ext uri="{C183D7F6-B498-43B3-948B-1728B52AA6E4}">
                  <adec:decorative xmlns:adec="http://schemas.microsoft.com/office/drawing/2017/decorative" val="1"/>
                </a:ext>
              </a:extLst>
            </p:cNvPr>
            <p:cNvSpPr>
              <a:spLocks/>
            </p:cNvSpPr>
            <p:nvPr/>
          </p:nvSpPr>
          <p:spPr bwMode="auto">
            <a:xfrm>
              <a:off x="724354" y="3721051"/>
              <a:ext cx="438218" cy="438218"/>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17" name="Business applications">
              <a:extLst>
                <a:ext uri="{FF2B5EF4-FFF2-40B4-BE49-F238E27FC236}">
                  <a16:creationId xmlns:a16="http://schemas.microsoft.com/office/drawing/2014/main" id="{763379E2-4B86-44AF-A53D-25E4EBB91377}"/>
                </a:ext>
                <a:ext uri="{C183D7F6-B498-43B3-948B-1728B52AA6E4}">
                  <adec:decorative xmlns:adec="http://schemas.microsoft.com/office/drawing/2017/decorative" val="1"/>
                </a:ext>
              </a:extLst>
            </p:cNvPr>
            <p:cNvSpPr>
              <a:spLocks noChangeAspect="1" noEditPoints="1"/>
            </p:cNvSpPr>
            <p:nvPr/>
          </p:nvSpPr>
          <p:spPr bwMode="auto">
            <a:xfrm>
              <a:off x="826310" y="3843880"/>
              <a:ext cx="234306" cy="192560"/>
            </a:xfrm>
            <a:custGeom>
              <a:avLst/>
              <a:gdLst>
                <a:gd name="T0" fmla="*/ 196 w 449"/>
                <a:gd name="T1" fmla="*/ 369 h 369"/>
                <a:gd name="T2" fmla="*/ 0 w 449"/>
                <a:gd name="T3" fmla="*/ 369 h 369"/>
                <a:gd name="T4" fmla="*/ 99 w 449"/>
                <a:gd name="T5" fmla="*/ 240 h 369"/>
                <a:gd name="T6" fmla="*/ 196 w 449"/>
                <a:gd name="T7" fmla="*/ 369 h 369"/>
                <a:gd name="T8" fmla="*/ 442 w 449"/>
                <a:gd name="T9" fmla="*/ 67 h 369"/>
                <a:gd name="T10" fmla="*/ 229 w 449"/>
                <a:gd name="T11" fmla="*/ 369 h 369"/>
                <a:gd name="T12" fmla="*/ 449 w 449"/>
                <a:gd name="T13" fmla="*/ 369 h 369"/>
                <a:gd name="T14" fmla="*/ 442 w 449"/>
                <a:gd name="T15" fmla="*/ 67 h 369"/>
                <a:gd name="T16" fmla="*/ 240 w 449"/>
                <a:gd name="T17" fmla="*/ 168 h 369"/>
                <a:gd name="T18" fmla="*/ 101 w 449"/>
                <a:gd name="T19" fmla="*/ 369 h 369"/>
                <a:gd name="T20" fmla="*/ 379 w 449"/>
                <a:gd name="T21" fmla="*/ 369 h 369"/>
                <a:gd name="T22" fmla="*/ 240 w 449"/>
                <a:gd name="T23" fmla="*/ 168 h 369"/>
                <a:gd name="T24" fmla="*/ 398 w 449"/>
                <a:gd name="T25" fmla="*/ 48 h 369"/>
                <a:gd name="T26" fmla="*/ 398 w 449"/>
                <a:gd name="T27" fmla="*/ 48 h 369"/>
                <a:gd name="T28" fmla="*/ 371 w 449"/>
                <a:gd name="T29" fmla="*/ 77 h 369"/>
                <a:gd name="T30" fmla="*/ 382 w 449"/>
                <a:gd name="T31" fmla="*/ 65 h 369"/>
                <a:gd name="T32" fmla="*/ 349 w 449"/>
                <a:gd name="T33" fmla="*/ 102 h 369"/>
                <a:gd name="T34" fmla="*/ 360 w 449"/>
                <a:gd name="T35" fmla="*/ 90 h 369"/>
                <a:gd name="T36" fmla="*/ 328 w 449"/>
                <a:gd name="T37" fmla="*/ 126 h 369"/>
                <a:gd name="T38" fmla="*/ 338 w 449"/>
                <a:gd name="T39" fmla="*/ 114 h 369"/>
                <a:gd name="T40" fmla="*/ 305 w 449"/>
                <a:gd name="T41" fmla="*/ 150 h 369"/>
                <a:gd name="T42" fmla="*/ 316 w 449"/>
                <a:gd name="T43" fmla="*/ 138 h 369"/>
                <a:gd name="T44" fmla="*/ 283 w 449"/>
                <a:gd name="T45" fmla="*/ 175 h 369"/>
                <a:gd name="T46" fmla="*/ 294 w 449"/>
                <a:gd name="T47" fmla="*/ 163 h 369"/>
                <a:gd name="T48" fmla="*/ 261 w 449"/>
                <a:gd name="T49" fmla="*/ 199 h 369"/>
                <a:gd name="T50" fmla="*/ 273 w 449"/>
                <a:gd name="T51" fmla="*/ 187 h 369"/>
                <a:gd name="T52" fmla="*/ 239 w 449"/>
                <a:gd name="T53" fmla="*/ 223 h 369"/>
                <a:gd name="T54" fmla="*/ 250 w 449"/>
                <a:gd name="T55" fmla="*/ 211 h 369"/>
                <a:gd name="T56" fmla="*/ 217 w 449"/>
                <a:gd name="T57" fmla="*/ 248 h 369"/>
                <a:gd name="T58" fmla="*/ 229 w 449"/>
                <a:gd name="T59" fmla="*/ 236 h 369"/>
                <a:gd name="T60" fmla="*/ 195 w 449"/>
                <a:gd name="T61" fmla="*/ 273 h 369"/>
                <a:gd name="T62" fmla="*/ 206 w 449"/>
                <a:gd name="T63" fmla="*/ 260 h 369"/>
                <a:gd name="T64" fmla="*/ 174 w 449"/>
                <a:gd name="T65" fmla="*/ 296 h 369"/>
                <a:gd name="T66" fmla="*/ 185 w 449"/>
                <a:gd name="T67" fmla="*/ 284 h 369"/>
                <a:gd name="T68" fmla="*/ 151 w 449"/>
                <a:gd name="T69" fmla="*/ 321 h 369"/>
                <a:gd name="T70" fmla="*/ 162 w 449"/>
                <a:gd name="T71" fmla="*/ 309 h 369"/>
                <a:gd name="T72" fmla="*/ 130 w 449"/>
                <a:gd name="T73" fmla="*/ 346 h 369"/>
                <a:gd name="T74" fmla="*/ 141 w 449"/>
                <a:gd name="T75" fmla="*/ 333 h 369"/>
                <a:gd name="T76" fmla="*/ 107 w 449"/>
                <a:gd name="T77" fmla="*/ 369 h 369"/>
                <a:gd name="T78" fmla="*/ 119 w 449"/>
                <a:gd name="T79" fmla="*/ 358 h 369"/>
                <a:gd name="T80" fmla="*/ 438 w 449"/>
                <a:gd name="T81" fmla="*/ 28 h 369"/>
                <a:gd name="T82" fmla="*/ 438 w 449"/>
                <a:gd name="T83" fmla="*/ 28 h 369"/>
                <a:gd name="T84" fmla="*/ 444 w 449"/>
                <a:gd name="T85" fmla="*/ 25 h 369"/>
                <a:gd name="T86" fmla="*/ 444 w 449"/>
                <a:gd name="T87" fmla="*/ 0 h 369"/>
                <a:gd name="T88" fmla="*/ 419 w 449"/>
                <a:gd name="T89" fmla="*/ 0 h 369"/>
                <a:gd name="T90" fmla="*/ 444 w 449"/>
                <a:gd name="T91" fmla="*/ 0 h 369"/>
                <a:gd name="T92" fmla="*/ 395 w 449"/>
                <a:gd name="T93" fmla="*/ 50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49" h="369">
                  <a:moveTo>
                    <a:pt x="196" y="369"/>
                  </a:moveTo>
                  <a:lnTo>
                    <a:pt x="0" y="369"/>
                  </a:lnTo>
                  <a:lnTo>
                    <a:pt x="99" y="240"/>
                  </a:lnTo>
                  <a:lnTo>
                    <a:pt x="196" y="369"/>
                  </a:lnTo>
                  <a:moveTo>
                    <a:pt x="442" y="67"/>
                  </a:moveTo>
                  <a:lnTo>
                    <a:pt x="229" y="369"/>
                  </a:lnTo>
                  <a:lnTo>
                    <a:pt x="449" y="369"/>
                  </a:lnTo>
                  <a:lnTo>
                    <a:pt x="442" y="67"/>
                  </a:lnTo>
                  <a:moveTo>
                    <a:pt x="240" y="168"/>
                  </a:moveTo>
                  <a:lnTo>
                    <a:pt x="101" y="369"/>
                  </a:lnTo>
                  <a:lnTo>
                    <a:pt x="379" y="369"/>
                  </a:lnTo>
                  <a:lnTo>
                    <a:pt x="240" y="168"/>
                  </a:lnTo>
                  <a:moveTo>
                    <a:pt x="398" y="48"/>
                  </a:moveTo>
                  <a:lnTo>
                    <a:pt x="398" y="48"/>
                  </a:lnTo>
                  <a:moveTo>
                    <a:pt x="371" y="77"/>
                  </a:moveTo>
                  <a:lnTo>
                    <a:pt x="382" y="65"/>
                  </a:lnTo>
                  <a:moveTo>
                    <a:pt x="349" y="102"/>
                  </a:moveTo>
                  <a:lnTo>
                    <a:pt x="360" y="90"/>
                  </a:lnTo>
                  <a:moveTo>
                    <a:pt x="328" y="126"/>
                  </a:moveTo>
                  <a:lnTo>
                    <a:pt x="338" y="114"/>
                  </a:lnTo>
                  <a:moveTo>
                    <a:pt x="305" y="150"/>
                  </a:moveTo>
                  <a:lnTo>
                    <a:pt x="316" y="138"/>
                  </a:lnTo>
                  <a:moveTo>
                    <a:pt x="283" y="175"/>
                  </a:moveTo>
                  <a:lnTo>
                    <a:pt x="294" y="163"/>
                  </a:lnTo>
                  <a:moveTo>
                    <a:pt x="261" y="199"/>
                  </a:moveTo>
                  <a:lnTo>
                    <a:pt x="273" y="187"/>
                  </a:lnTo>
                  <a:moveTo>
                    <a:pt x="239" y="223"/>
                  </a:moveTo>
                  <a:lnTo>
                    <a:pt x="250" y="211"/>
                  </a:lnTo>
                  <a:moveTo>
                    <a:pt x="217" y="248"/>
                  </a:moveTo>
                  <a:lnTo>
                    <a:pt x="229" y="236"/>
                  </a:lnTo>
                  <a:moveTo>
                    <a:pt x="195" y="273"/>
                  </a:moveTo>
                  <a:lnTo>
                    <a:pt x="206" y="260"/>
                  </a:lnTo>
                  <a:moveTo>
                    <a:pt x="174" y="296"/>
                  </a:moveTo>
                  <a:lnTo>
                    <a:pt x="185" y="284"/>
                  </a:lnTo>
                  <a:moveTo>
                    <a:pt x="151" y="321"/>
                  </a:moveTo>
                  <a:lnTo>
                    <a:pt x="162" y="309"/>
                  </a:lnTo>
                  <a:moveTo>
                    <a:pt x="130" y="346"/>
                  </a:moveTo>
                  <a:lnTo>
                    <a:pt x="141" y="333"/>
                  </a:lnTo>
                  <a:moveTo>
                    <a:pt x="107" y="369"/>
                  </a:moveTo>
                  <a:lnTo>
                    <a:pt x="119" y="358"/>
                  </a:lnTo>
                  <a:moveTo>
                    <a:pt x="438" y="28"/>
                  </a:moveTo>
                  <a:lnTo>
                    <a:pt x="438" y="28"/>
                  </a:lnTo>
                  <a:moveTo>
                    <a:pt x="444" y="25"/>
                  </a:moveTo>
                  <a:lnTo>
                    <a:pt x="444" y="0"/>
                  </a:lnTo>
                  <a:lnTo>
                    <a:pt x="419" y="0"/>
                  </a:lnTo>
                  <a:moveTo>
                    <a:pt x="444" y="0"/>
                  </a:moveTo>
                  <a:lnTo>
                    <a:pt x="395" y="50"/>
                  </a:lnTo>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cxnSp>
        <p:nvCxnSpPr>
          <p:cNvPr id="225" name="Straight Connector 224">
            <a:extLst>
              <a:ext uri="{FF2B5EF4-FFF2-40B4-BE49-F238E27FC236}">
                <a16:creationId xmlns:a16="http://schemas.microsoft.com/office/drawing/2014/main" id="{CC11445C-1AC2-4AF8-864F-6BEEAC44CE08}"/>
              </a:ext>
              <a:ext uri="{C183D7F6-B498-43B3-948B-1728B52AA6E4}">
                <adec:decorative xmlns:adec="http://schemas.microsoft.com/office/drawing/2017/decorative" val="1"/>
              </a:ext>
            </a:extLst>
          </p:cNvPr>
          <p:cNvCxnSpPr>
            <a:cxnSpLocks/>
          </p:cNvCxnSpPr>
          <p:nvPr/>
        </p:nvCxnSpPr>
        <p:spPr>
          <a:xfrm>
            <a:off x="5771254" y="5378882"/>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32" name="Group 231">
            <a:extLst>
              <a:ext uri="{FF2B5EF4-FFF2-40B4-BE49-F238E27FC236}">
                <a16:creationId xmlns:a16="http://schemas.microsoft.com/office/drawing/2014/main" id="{396E1151-4B21-4315-B5B3-CAD3450066AC}"/>
              </a:ext>
              <a:ext uri="{C183D7F6-B498-43B3-948B-1728B52AA6E4}">
                <adec:decorative xmlns:adec="http://schemas.microsoft.com/office/drawing/2017/decorative" val="1"/>
              </a:ext>
            </a:extLst>
          </p:cNvPr>
          <p:cNvGrpSpPr>
            <a:grpSpLocks/>
          </p:cNvGrpSpPr>
          <p:nvPr/>
        </p:nvGrpSpPr>
        <p:grpSpPr>
          <a:xfrm>
            <a:off x="777563" y="5630994"/>
            <a:ext cx="411480" cy="411480"/>
            <a:chOff x="4850654" y="3383869"/>
            <a:chExt cx="751672" cy="751672"/>
          </a:xfrm>
        </p:grpSpPr>
        <p:sp>
          <p:nvSpPr>
            <p:cNvPr id="233" name="Oval 232">
              <a:extLst>
                <a:ext uri="{FF2B5EF4-FFF2-40B4-BE49-F238E27FC236}">
                  <a16:creationId xmlns:a16="http://schemas.microsoft.com/office/drawing/2014/main" id="{B308703B-D3AF-4747-A132-8F244AAF7E98}"/>
                </a:ext>
                <a:ext uri="{C183D7F6-B498-43B3-948B-1728B52AA6E4}">
                  <adec:decorative xmlns:adec="http://schemas.microsoft.com/office/drawing/2017/decorative" val="1"/>
                </a:ext>
              </a:extLst>
            </p:cNvPr>
            <p:cNvSpPr/>
            <p:nvPr/>
          </p:nvSpPr>
          <p:spPr bwMode="auto">
            <a:xfrm>
              <a:off x="4850654" y="3383869"/>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IN" sz="2400" b="0" i="0" u="none" strike="noStrike" kern="1200" cap="none" spc="0" normalizeH="0" baseline="0" noProof="0" err="1">
                <a:ln>
                  <a:noFill/>
                </a:ln>
                <a:solidFill>
                  <a:schemeClr val="tx2"/>
                </a:solidFill>
                <a:effectLst/>
                <a:uLnTx/>
                <a:uFillTx/>
                <a:latin typeface="Segoe UI"/>
                <a:ea typeface="Segoe UI" pitchFamily="34" charset="0"/>
                <a:cs typeface="Segoe UI" pitchFamily="34" charset="0"/>
              </a:endParaRPr>
            </a:p>
          </p:txBody>
        </p:sp>
        <p:sp>
          <p:nvSpPr>
            <p:cNvPr id="234" name="Freeform: Shape 233">
              <a:extLst>
                <a:ext uri="{FF2B5EF4-FFF2-40B4-BE49-F238E27FC236}">
                  <a16:creationId xmlns:a16="http://schemas.microsoft.com/office/drawing/2014/main" id="{DB6E869F-8306-48E9-BAF6-F453E40CD4D7}"/>
                </a:ext>
                <a:ext uri="{C183D7F6-B498-43B3-948B-1728B52AA6E4}">
                  <adec:decorative xmlns:adec="http://schemas.microsoft.com/office/drawing/2017/decorative" val="1"/>
                </a:ext>
              </a:extLst>
            </p:cNvPr>
            <p:cNvSpPr/>
            <p:nvPr/>
          </p:nvSpPr>
          <p:spPr>
            <a:xfrm>
              <a:off x="5043367" y="3600998"/>
              <a:ext cx="366246" cy="317412"/>
            </a:xfrm>
            <a:custGeom>
              <a:avLst/>
              <a:gdLst>
                <a:gd name="connsiteX0" fmla="*/ 93073 w 285750"/>
                <a:gd name="connsiteY0" fmla="*/ 118791 h 247650"/>
                <a:gd name="connsiteX1" fmla="*/ 142603 w 285750"/>
                <a:gd name="connsiteY1" fmla="*/ 68308 h 247650"/>
                <a:gd name="connsiteX2" fmla="*/ 192133 w 285750"/>
                <a:gd name="connsiteY2" fmla="*/ 118791 h 247650"/>
                <a:gd name="connsiteX3" fmla="*/ 142603 w 285750"/>
                <a:gd name="connsiteY3" fmla="*/ 169273 h 247650"/>
                <a:gd name="connsiteX4" fmla="*/ 93073 w 285750"/>
                <a:gd name="connsiteY4" fmla="*/ 118791 h 247650"/>
                <a:gd name="connsiteX5" fmla="*/ 93073 w 285750"/>
                <a:gd name="connsiteY5" fmla="*/ 118791 h 247650"/>
                <a:gd name="connsiteX6" fmla="*/ 212136 w 285750"/>
                <a:gd name="connsiteY6" fmla="*/ 241663 h 247650"/>
                <a:gd name="connsiteX7" fmla="*/ 142603 w 285750"/>
                <a:gd name="connsiteY7" fmla="*/ 171178 h 247650"/>
                <a:gd name="connsiteX8" fmla="*/ 73071 w 285750"/>
                <a:gd name="connsiteY8" fmla="*/ 241663 h 247650"/>
                <a:gd name="connsiteX9" fmla="*/ 51163 w 285750"/>
                <a:gd name="connsiteY9" fmla="*/ 70213 h 247650"/>
                <a:gd name="connsiteX10" fmla="*/ 82596 w 285750"/>
                <a:gd name="connsiteY10" fmla="*/ 38781 h 247650"/>
                <a:gd name="connsiteX11" fmla="*/ 51163 w 285750"/>
                <a:gd name="connsiteY11" fmla="*/ 7348 h 247650"/>
                <a:gd name="connsiteX12" fmla="*/ 19731 w 285750"/>
                <a:gd name="connsiteY12" fmla="*/ 38781 h 247650"/>
                <a:gd name="connsiteX13" fmla="*/ 51163 w 285750"/>
                <a:gd name="connsiteY13" fmla="*/ 70213 h 247650"/>
                <a:gd name="connsiteX14" fmla="*/ 51163 w 285750"/>
                <a:gd name="connsiteY14" fmla="*/ 70213 h 247650"/>
                <a:gd name="connsiteX15" fmla="*/ 94026 w 285750"/>
                <a:gd name="connsiteY15" fmla="*/ 114028 h 247650"/>
                <a:gd name="connsiteX16" fmla="*/ 51163 w 285750"/>
                <a:gd name="connsiteY16" fmla="*/ 70213 h 247650"/>
                <a:gd name="connsiteX17" fmla="*/ 7348 w 285750"/>
                <a:gd name="connsiteY17" fmla="*/ 114028 h 247650"/>
                <a:gd name="connsiteX18" fmla="*/ 234996 w 285750"/>
                <a:gd name="connsiteY18" fmla="*/ 70213 h 247650"/>
                <a:gd name="connsiteX19" fmla="*/ 266428 w 285750"/>
                <a:gd name="connsiteY19" fmla="*/ 38781 h 247650"/>
                <a:gd name="connsiteX20" fmla="*/ 234996 w 285750"/>
                <a:gd name="connsiteY20" fmla="*/ 7348 h 247650"/>
                <a:gd name="connsiteX21" fmla="*/ 203563 w 285750"/>
                <a:gd name="connsiteY21" fmla="*/ 38781 h 247650"/>
                <a:gd name="connsiteX22" fmla="*/ 234996 w 285750"/>
                <a:gd name="connsiteY22" fmla="*/ 70213 h 247650"/>
                <a:gd name="connsiteX23" fmla="*/ 234996 w 285750"/>
                <a:gd name="connsiteY23" fmla="*/ 70213 h 247650"/>
                <a:gd name="connsiteX24" fmla="*/ 278811 w 285750"/>
                <a:gd name="connsiteY24" fmla="*/ 114028 h 247650"/>
                <a:gd name="connsiteX25" fmla="*/ 234996 w 285750"/>
                <a:gd name="connsiteY25" fmla="*/ 70213 h 247650"/>
                <a:gd name="connsiteX26" fmla="*/ 191181 w 285750"/>
                <a:gd name="connsiteY26" fmla="*/ 114028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85750" h="247650">
                  <a:moveTo>
                    <a:pt x="93073" y="118791"/>
                  </a:moveTo>
                  <a:cubicBezTo>
                    <a:pt x="93073" y="91168"/>
                    <a:pt x="115933" y="68308"/>
                    <a:pt x="142603" y="68308"/>
                  </a:cubicBezTo>
                  <a:cubicBezTo>
                    <a:pt x="170226" y="68308"/>
                    <a:pt x="192133" y="91168"/>
                    <a:pt x="192133" y="118791"/>
                  </a:cubicBezTo>
                  <a:cubicBezTo>
                    <a:pt x="192133" y="146413"/>
                    <a:pt x="170226" y="169273"/>
                    <a:pt x="142603" y="169273"/>
                  </a:cubicBezTo>
                  <a:cubicBezTo>
                    <a:pt x="114981" y="170226"/>
                    <a:pt x="93073" y="147366"/>
                    <a:pt x="93073" y="118791"/>
                  </a:cubicBezTo>
                  <a:lnTo>
                    <a:pt x="93073" y="118791"/>
                  </a:lnTo>
                  <a:close/>
                  <a:moveTo>
                    <a:pt x="212136" y="241663"/>
                  </a:moveTo>
                  <a:cubicBezTo>
                    <a:pt x="212136" y="202611"/>
                    <a:pt x="180703" y="171178"/>
                    <a:pt x="142603" y="171178"/>
                  </a:cubicBezTo>
                  <a:cubicBezTo>
                    <a:pt x="104503" y="171178"/>
                    <a:pt x="73071" y="202611"/>
                    <a:pt x="73071" y="241663"/>
                  </a:cubicBezTo>
                  <a:moveTo>
                    <a:pt x="51163" y="70213"/>
                  </a:moveTo>
                  <a:cubicBezTo>
                    <a:pt x="68308" y="70213"/>
                    <a:pt x="82596" y="55926"/>
                    <a:pt x="82596" y="38781"/>
                  </a:cubicBezTo>
                  <a:cubicBezTo>
                    <a:pt x="82596" y="21636"/>
                    <a:pt x="68308" y="7348"/>
                    <a:pt x="51163" y="7348"/>
                  </a:cubicBezTo>
                  <a:cubicBezTo>
                    <a:pt x="34018" y="7348"/>
                    <a:pt x="19731" y="21636"/>
                    <a:pt x="19731" y="38781"/>
                  </a:cubicBezTo>
                  <a:cubicBezTo>
                    <a:pt x="19731" y="55926"/>
                    <a:pt x="34018" y="70213"/>
                    <a:pt x="51163" y="70213"/>
                  </a:cubicBezTo>
                  <a:lnTo>
                    <a:pt x="51163" y="70213"/>
                  </a:lnTo>
                  <a:close/>
                  <a:moveTo>
                    <a:pt x="94026" y="114028"/>
                  </a:moveTo>
                  <a:cubicBezTo>
                    <a:pt x="94026" y="90216"/>
                    <a:pt x="74976" y="70213"/>
                    <a:pt x="51163" y="70213"/>
                  </a:cubicBezTo>
                  <a:cubicBezTo>
                    <a:pt x="27351" y="70213"/>
                    <a:pt x="7348" y="90216"/>
                    <a:pt x="7348" y="114028"/>
                  </a:cubicBezTo>
                  <a:moveTo>
                    <a:pt x="234996" y="70213"/>
                  </a:moveTo>
                  <a:cubicBezTo>
                    <a:pt x="252141" y="70213"/>
                    <a:pt x="266428" y="55926"/>
                    <a:pt x="266428" y="38781"/>
                  </a:cubicBezTo>
                  <a:cubicBezTo>
                    <a:pt x="266428" y="21636"/>
                    <a:pt x="252141" y="7348"/>
                    <a:pt x="234996" y="7348"/>
                  </a:cubicBezTo>
                  <a:cubicBezTo>
                    <a:pt x="217851" y="7348"/>
                    <a:pt x="203563" y="21636"/>
                    <a:pt x="203563" y="38781"/>
                  </a:cubicBezTo>
                  <a:cubicBezTo>
                    <a:pt x="203563" y="55926"/>
                    <a:pt x="217851" y="70213"/>
                    <a:pt x="234996" y="70213"/>
                  </a:cubicBezTo>
                  <a:lnTo>
                    <a:pt x="234996" y="70213"/>
                  </a:lnTo>
                  <a:close/>
                  <a:moveTo>
                    <a:pt x="278811" y="114028"/>
                  </a:moveTo>
                  <a:cubicBezTo>
                    <a:pt x="278811" y="90216"/>
                    <a:pt x="259761" y="70213"/>
                    <a:pt x="234996" y="70213"/>
                  </a:cubicBezTo>
                  <a:cubicBezTo>
                    <a:pt x="210231" y="70213"/>
                    <a:pt x="191181" y="90216"/>
                    <a:pt x="191181" y="114028"/>
                  </a:cubicBezTo>
                </a:path>
              </a:pathLst>
            </a:custGeom>
            <a:noFill/>
            <a:ln w="12700" cap="sq">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solidFill>
                <a:effectLst/>
                <a:uLnTx/>
                <a:uFillTx/>
                <a:latin typeface="Segoe UI"/>
                <a:ea typeface="+mn-ea"/>
                <a:cs typeface="+mn-cs"/>
              </a:endParaRPr>
            </a:p>
          </p:txBody>
        </p:sp>
      </p:grpSp>
      <p:sp>
        <p:nvSpPr>
          <p:cNvPr id="243" name="Footer Placeholder 2">
            <a:extLst>
              <a:ext uri="{FF2B5EF4-FFF2-40B4-BE49-F238E27FC236}">
                <a16:creationId xmlns:a16="http://schemas.microsoft.com/office/drawing/2014/main" id="{BA1D717F-315A-47C2-9101-B9CD470542A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pic>
        <p:nvPicPr>
          <p:cNvPr id="244" name="Picture 243" descr="Two young employees sitting in a coffee table working on a laptop">
            <a:extLst>
              <a:ext uri="{FF2B5EF4-FFF2-40B4-BE49-F238E27FC236}">
                <a16:creationId xmlns:a16="http://schemas.microsoft.com/office/drawing/2014/main" id="{10BD9D65-F81F-4C2F-8BF0-C38DC85F12A4}"/>
              </a:ext>
            </a:extLst>
          </p:cNvPr>
          <p:cNvPicPr>
            <a:picLocks noChangeAspect="1"/>
          </p:cNvPicPr>
          <p:nvPr/>
        </p:nvPicPr>
        <p:blipFill rotWithShape="1">
          <a:blip r:embed="rId3">
            <a:extLst>
              <a:ext uri="{28A0092B-C50C-407E-A947-70E740481C1C}">
                <a14:useLocalDpi xmlns:a14="http://schemas.microsoft.com/office/drawing/2010/main" val="0"/>
              </a:ext>
            </a:extLst>
          </a:blip>
          <a:srcRect l="10446" t="3964" r="38914" b="906"/>
          <a:stretch/>
        </p:blipFill>
        <p:spPr>
          <a:xfrm>
            <a:off x="6715115" y="0"/>
            <a:ext cx="5476886" cy="6858000"/>
          </a:xfrm>
          <a:custGeom>
            <a:avLst/>
            <a:gdLst>
              <a:gd name="connsiteX0" fmla="*/ 0 w 2743198"/>
              <a:gd name="connsiteY0" fmla="*/ 0 h 4663440"/>
              <a:gd name="connsiteX1" fmla="*/ 2743198 w 2743198"/>
              <a:gd name="connsiteY1" fmla="*/ 0 h 4663440"/>
              <a:gd name="connsiteX2" fmla="*/ 2743198 w 2743198"/>
              <a:gd name="connsiteY2" fmla="*/ 4663440 h 4663440"/>
              <a:gd name="connsiteX3" fmla="*/ 0 w 2743198"/>
              <a:gd name="connsiteY3" fmla="*/ 4663440 h 4663440"/>
            </a:gdLst>
            <a:ahLst/>
            <a:cxnLst>
              <a:cxn ang="0">
                <a:pos x="connsiteX0" y="connsiteY0"/>
              </a:cxn>
              <a:cxn ang="0">
                <a:pos x="connsiteX1" y="connsiteY1"/>
              </a:cxn>
              <a:cxn ang="0">
                <a:pos x="connsiteX2" y="connsiteY2"/>
              </a:cxn>
              <a:cxn ang="0">
                <a:pos x="connsiteX3" y="connsiteY3"/>
              </a:cxn>
            </a:cxnLst>
            <a:rect l="l" t="t" r="r" b="b"/>
            <a:pathLst>
              <a:path w="2743198" h="4663440">
                <a:moveTo>
                  <a:pt x="0" y="0"/>
                </a:moveTo>
                <a:lnTo>
                  <a:pt x="2743198" y="0"/>
                </a:lnTo>
                <a:lnTo>
                  <a:pt x="2743198" y="4663440"/>
                </a:lnTo>
                <a:lnTo>
                  <a:pt x="0" y="4663440"/>
                </a:lnTo>
                <a:close/>
              </a:path>
            </a:pathLst>
          </a:custGeom>
        </p:spPr>
      </p:pic>
      <p:grpSp>
        <p:nvGrpSpPr>
          <p:cNvPr id="3" name="Group 2">
            <a:extLst>
              <a:ext uri="{FF2B5EF4-FFF2-40B4-BE49-F238E27FC236}">
                <a16:creationId xmlns:a16="http://schemas.microsoft.com/office/drawing/2014/main" id="{A525CF7B-DDD2-7BC4-0032-27F59399BADD}"/>
              </a:ext>
              <a:ext uri="{C183D7F6-B498-43B3-948B-1728B52AA6E4}">
                <adec:decorative xmlns:adec="http://schemas.microsoft.com/office/drawing/2017/decorative" val="1"/>
              </a:ext>
            </a:extLst>
          </p:cNvPr>
          <p:cNvGrpSpPr>
            <a:grpSpLocks noChangeAspect="1"/>
          </p:cNvGrpSpPr>
          <p:nvPr/>
        </p:nvGrpSpPr>
        <p:grpSpPr>
          <a:xfrm>
            <a:off x="777563" y="2072523"/>
            <a:ext cx="411480" cy="411480"/>
            <a:chOff x="10323474" y="1468393"/>
            <a:chExt cx="751672" cy="751672"/>
          </a:xfrm>
        </p:grpSpPr>
        <p:sp>
          <p:nvSpPr>
            <p:cNvPr id="4" name="Oval 3">
              <a:extLst>
                <a:ext uri="{FF2B5EF4-FFF2-40B4-BE49-F238E27FC236}">
                  <a16:creationId xmlns:a16="http://schemas.microsoft.com/office/drawing/2014/main" id="{F31A50D2-9383-E323-CE8B-FEEE7CA76A37}"/>
                </a:ext>
                <a:ext uri="{C183D7F6-B498-43B3-948B-1728B52AA6E4}">
                  <adec:decorative xmlns:adec="http://schemas.microsoft.com/office/drawing/2017/decorative" val="1"/>
                </a:ext>
              </a:extLst>
            </p:cNvPr>
            <p:cNvSpPr>
              <a:spLocks/>
            </p:cNvSpPr>
            <p:nvPr/>
          </p:nvSpPr>
          <p:spPr bwMode="auto">
            <a:xfrm>
              <a:off x="1032347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5" name="Group 4">
              <a:extLst>
                <a:ext uri="{FF2B5EF4-FFF2-40B4-BE49-F238E27FC236}">
                  <a16:creationId xmlns:a16="http://schemas.microsoft.com/office/drawing/2014/main" id="{EFAB32F8-94D0-A909-D319-77F3A95C57EB}"/>
                </a:ext>
                <a:ext uri="{C183D7F6-B498-43B3-948B-1728B52AA6E4}">
                  <adec:decorative xmlns:adec="http://schemas.microsoft.com/office/drawing/2017/decorative" val="1"/>
                </a:ext>
              </a:extLst>
            </p:cNvPr>
            <p:cNvGrpSpPr/>
            <p:nvPr/>
          </p:nvGrpSpPr>
          <p:grpSpPr>
            <a:xfrm>
              <a:off x="10472703" y="1678978"/>
              <a:ext cx="453205" cy="330587"/>
              <a:chOff x="1317737" y="7238855"/>
              <a:chExt cx="596040" cy="434772"/>
            </a:xfrm>
          </p:grpSpPr>
          <p:sp>
            <p:nvSpPr>
              <p:cNvPr id="6" name="Freeform: Shape 5">
                <a:extLst>
                  <a:ext uri="{FF2B5EF4-FFF2-40B4-BE49-F238E27FC236}">
                    <a16:creationId xmlns:a16="http://schemas.microsoft.com/office/drawing/2014/main" id="{22A4E3AD-072B-7C3D-1375-37B0E9F22AB3}"/>
                  </a:ext>
                </a:extLst>
              </p:cNvPr>
              <p:cNvSpPr/>
              <p:nvPr/>
            </p:nvSpPr>
            <p:spPr>
              <a:xfrm>
                <a:off x="1758961"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7" name="Freeform: Shape 6">
                <a:extLst>
                  <a:ext uri="{FF2B5EF4-FFF2-40B4-BE49-F238E27FC236}">
                    <a16:creationId xmlns:a16="http://schemas.microsoft.com/office/drawing/2014/main" id="{55C803EB-9475-2637-1748-A6F1E33C2B5B}"/>
                  </a:ext>
                </a:extLst>
              </p:cNvPr>
              <p:cNvSpPr/>
              <p:nvPr/>
            </p:nvSpPr>
            <p:spPr>
              <a:xfrm>
                <a:off x="1317737"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8" name="Freeform: Shape 7">
                <a:extLst>
                  <a:ext uri="{FF2B5EF4-FFF2-40B4-BE49-F238E27FC236}">
                    <a16:creationId xmlns:a16="http://schemas.microsoft.com/office/drawing/2014/main" id="{2A69CFF9-4FF2-38F1-F049-172406755F04}"/>
                  </a:ext>
                </a:extLst>
              </p:cNvPr>
              <p:cNvSpPr/>
              <p:nvPr/>
            </p:nvSpPr>
            <p:spPr>
              <a:xfrm>
                <a:off x="1340959" y="7282719"/>
                <a:ext cx="116112" cy="103210"/>
              </a:xfrm>
              <a:custGeom>
                <a:avLst/>
                <a:gdLst>
                  <a:gd name="connsiteX0" fmla="*/ 44496 w 85725"/>
                  <a:gd name="connsiteY0" fmla="*/ 65451 h 76200"/>
                  <a:gd name="connsiteX1" fmla="*/ 20683 w 85725"/>
                  <a:gd name="connsiteY1" fmla="*/ 77833 h 76200"/>
                  <a:gd name="connsiteX2" fmla="*/ 25446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0691 w 85725"/>
                  <a:gd name="connsiteY7" fmla="*/ 34018 h 76200"/>
                  <a:gd name="connsiteX8" fmla="*/ 62593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0683" y="77833"/>
                    </a:lnTo>
                    <a:lnTo>
                      <a:pt x="25446" y="52116"/>
                    </a:lnTo>
                    <a:lnTo>
                      <a:pt x="7348" y="34018"/>
                    </a:lnTo>
                    <a:lnTo>
                      <a:pt x="33066" y="30208"/>
                    </a:lnTo>
                    <a:lnTo>
                      <a:pt x="44496" y="7348"/>
                    </a:lnTo>
                    <a:lnTo>
                      <a:pt x="55926" y="30208"/>
                    </a:lnTo>
                    <a:lnTo>
                      <a:pt x="80691" y="34018"/>
                    </a:lnTo>
                    <a:lnTo>
                      <a:pt x="62593"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9" name="Freeform: Shape 8">
                <a:extLst>
                  <a:ext uri="{FF2B5EF4-FFF2-40B4-BE49-F238E27FC236}">
                    <a16:creationId xmlns:a16="http://schemas.microsoft.com/office/drawing/2014/main" id="{0423864F-EA6F-CBF6-2A69-470545723B40}"/>
                  </a:ext>
                </a:extLst>
              </p:cNvPr>
              <p:cNvSpPr/>
              <p:nvPr/>
            </p:nvSpPr>
            <p:spPr>
              <a:xfrm>
                <a:off x="1778313" y="7282719"/>
                <a:ext cx="116112" cy="103210"/>
              </a:xfrm>
              <a:custGeom>
                <a:avLst/>
                <a:gdLst>
                  <a:gd name="connsiteX0" fmla="*/ 44496 w 85725"/>
                  <a:gd name="connsiteY0" fmla="*/ 65451 h 76200"/>
                  <a:gd name="connsiteX1" fmla="*/ 21636 w 85725"/>
                  <a:gd name="connsiteY1" fmla="*/ 77833 h 76200"/>
                  <a:gd name="connsiteX2" fmla="*/ 26398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1643 w 85725"/>
                  <a:gd name="connsiteY7" fmla="*/ 34018 h 76200"/>
                  <a:gd name="connsiteX8" fmla="*/ 63546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1636" y="77833"/>
                    </a:lnTo>
                    <a:lnTo>
                      <a:pt x="26398" y="52116"/>
                    </a:lnTo>
                    <a:lnTo>
                      <a:pt x="7348" y="34018"/>
                    </a:lnTo>
                    <a:lnTo>
                      <a:pt x="33066" y="30208"/>
                    </a:lnTo>
                    <a:lnTo>
                      <a:pt x="44496" y="7348"/>
                    </a:lnTo>
                    <a:lnTo>
                      <a:pt x="55926" y="30208"/>
                    </a:lnTo>
                    <a:lnTo>
                      <a:pt x="81643" y="34018"/>
                    </a:lnTo>
                    <a:lnTo>
                      <a:pt x="63546"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 name="Freeform: Shape 9">
                <a:extLst>
                  <a:ext uri="{FF2B5EF4-FFF2-40B4-BE49-F238E27FC236}">
                    <a16:creationId xmlns:a16="http://schemas.microsoft.com/office/drawing/2014/main" id="{7ECDD75D-DD0C-9C86-1031-43B5FFC9B03E}"/>
                  </a:ext>
                </a:extLst>
              </p:cNvPr>
              <p:cNvSpPr/>
              <p:nvPr/>
            </p:nvSpPr>
            <p:spPr>
              <a:xfrm>
                <a:off x="1378372"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4" y="26398"/>
                      <a:pt x="16873" y="26398"/>
                    </a:cubicBezTo>
                    <a:cubicBezTo>
                      <a:pt x="11612" y="26398"/>
                      <a:pt x="7348" y="22134"/>
                      <a:pt x="7348" y="16873"/>
                    </a:cubicBezTo>
                    <a:cubicBezTo>
                      <a:pt x="7348" y="11613"/>
                      <a:pt x="11612" y="7348"/>
                      <a:pt x="16873" y="7348"/>
                    </a:cubicBezTo>
                    <a:cubicBezTo>
                      <a:pt x="22134"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1" name="Freeform: Shape 10">
                <a:extLst>
                  <a:ext uri="{FF2B5EF4-FFF2-40B4-BE49-F238E27FC236}">
                    <a16:creationId xmlns:a16="http://schemas.microsoft.com/office/drawing/2014/main" id="{F91C22ED-61AE-3B9D-7402-693EE78AE57A}"/>
                  </a:ext>
                </a:extLst>
              </p:cNvPr>
              <p:cNvSpPr/>
              <p:nvPr/>
            </p:nvSpPr>
            <p:spPr>
              <a:xfrm>
                <a:off x="1818307"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3" y="26398"/>
                      <a:pt x="16873" y="26398"/>
                    </a:cubicBezTo>
                    <a:cubicBezTo>
                      <a:pt x="11613" y="26398"/>
                      <a:pt x="7348" y="22134"/>
                      <a:pt x="7348" y="16873"/>
                    </a:cubicBezTo>
                    <a:cubicBezTo>
                      <a:pt x="7348" y="11613"/>
                      <a:pt x="11613" y="7348"/>
                      <a:pt x="16873" y="7348"/>
                    </a:cubicBezTo>
                    <a:cubicBezTo>
                      <a:pt x="22133"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2" name="Freeform: Shape 11">
                <a:extLst>
                  <a:ext uri="{FF2B5EF4-FFF2-40B4-BE49-F238E27FC236}">
                    <a16:creationId xmlns:a16="http://schemas.microsoft.com/office/drawing/2014/main" id="{3E21FCC6-A40E-7282-A1A6-2351D3BB49CE}"/>
                  </a:ext>
                </a:extLst>
              </p:cNvPr>
              <p:cNvSpPr/>
              <p:nvPr/>
            </p:nvSpPr>
            <p:spPr>
              <a:xfrm>
                <a:off x="1524158" y="7383349"/>
                <a:ext cx="180618" cy="206420"/>
              </a:xfrm>
              <a:custGeom>
                <a:avLst/>
                <a:gdLst>
                  <a:gd name="connsiteX0" fmla="*/ 31161 w 133350"/>
                  <a:gd name="connsiteY0" fmla="*/ 47353 h 152400"/>
                  <a:gd name="connsiteX1" fmla="*/ 69261 w 133350"/>
                  <a:gd name="connsiteY1" fmla="*/ 7348 h 152400"/>
                  <a:gd name="connsiteX2" fmla="*/ 108313 w 133350"/>
                  <a:gd name="connsiteY2" fmla="*/ 47353 h 152400"/>
                  <a:gd name="connsiteX3" fmla="*/ 69261 w 133350"/>
                  <a:gd name="connsiteY3" fmla="*/ 87358 h 152400"/>
                  <a:gd name="connsiteX4" fmla="*/ 31161 w 133350"/>
                  <a:gd name="connsiteY4" fmla="*/ 47353 h 152400"/>
                  <a:gd name="connsiteX5" fmla="*/ 31161 w 133350"/>
                  <a:gd name="connsiteY5" fmla="*/ 47353 h 152400"/>
                  <a:gd name="connsiteX6" fmla="*/ 131173 w 133350"/>
                  <a:gd name="connsiteY6" fmla="*/ 151176 h 152400"/>
                  <a:gd name="connsiteX7" fmla="*/ 69261 w 133350"/>
                  <a:gd name="connsiteY7" fmla="*/ 87358 h 152400"/>
                  <a:gd name="connsiteX8" fmla="*/ 7348 w 133350"/>
                  <a:gd name="connsiteY8" fmla="*/ 15117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0" h="152400">
                    <a:moveTo>
                      <a:pt x="31161" y="47353"/>
                    </a:moveTo>
                    <a:cubicBezTo>
                      <a:pt x="31161" y="25446"/>
                      <a:pt x="48306" y="7348"/>
                      <a:pt x="69261" y="7348"/>
                    </a:cubicBezTo>
                    <a:cubicBezTo>
                      <a:pt x="90216" y="7348"/>
                      <a:pt x="108313" y="25446"/>
                      <a:pt x="108313" y="47353"/>
                    </a:cubicBezTo>
                    <a:cubicBezTo>
                      <a:pt x="108313" y="69261"/>
                      <a:pt x="90216" y="87358"/>
                      <a:pt x="69261" y="87358"/>
                    </a:cubicBezTo>
                    <a:cubicBezTo>
                      <a:pt x="48306" y="87358"/>
                      <a:pt x="31161" y="69261"/>
                      <a:pt x="31161" y="47353"/>
                    </a:cubicBezTo>
                    <a:lnTo>
                      <a:pt x="31161" y="47353"/>
                    </a:lnTo>
                    <a:close/>
                    <a:moveTo>
                      <a:pt x="131173" y="151176"/>
                    </a:moveTo>
                    <a:cubicBezTo>
                      <a:pt x="131173" y="115933"/>
                      <a:pt x="103551" y="87358"/>
                      <a:pt x="69261" y="87358"/>
                    </a:cubicBezTo>
                    <a:cubicBezTo>
                      <a:pt x="34971" y="87358"/>
                      <a:pt x="7348" y="115933"/>
                      <a:pt x="7348" y="151176"/>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3" name="Freeform: Shape 12">
                <a:extLst>
                  <a:ext uri="{FF2B5EF4-FFF2-40B4-BE49-F238E27FC236}">
                    <a16:creationId xmlns:a16="http://schemas.microsoft.com/office/drawing/2014/main" id="{4087E667-8D6D-17A8-1B7A-032A0C196B87}"/>
                  </a:ext>
                </a:extLst>
              </p:cNvPr>
              <p:cNvSpPr/>
              <p:nvPr/>
            </p:nvSpPr>
            <p:spPr>
              <a:xfrm>
                <a:off x="1540929" y="7238855"/>
                <a:ext cx="141914" cy="141913"/>
              </a:xfrm>
              <a:custGeom>
                <a:avLst/>
                <a:gdLst>
                  <a:gd name="connsiteX0" fmla="*/ 56878 w 104775"/>
                  <a:gd name="connsiteY0" fmla="*/ 85453 h 104775"/>
                  <a:gd name="connsiteX1" fmla="*/ 26398 w 104775"/>
                  <a:gd name="connsiteY1" fmla="*/ 101646 h 104775"/>
                  <a:gd name="connsiteX2" fmla="*/ 32113 w 104775"/>
                  <a:gd name="connsiteY2" fmla="*/ 67356 h 104775"/>
                  <a:gd name="connsiteX3" fmla="*/ 7348 w 104775"/>
                  <a:gd name="connsiteY3" fmla="*/ 43543 h 104775"/>
                  <a:gd name="connsiteX4" fmla="*/ 41638 w 104775"/>
                  <a:gd name="connsiteY4" fmla="*/ 37828 h 104775"/>
                  <a:gd name="connsiteX5" fmla="*/ 56878 w 104775"/>
                  <a:gd name="connsiteY5" fmla="*/ 7348 h 104775"/>
                  <a:gd name="connsiteX6" fmla="*/ 72118 w 104775"/>
                  <a:gd name="connsiteY6" fmla="*/ 37828 h 104775"/>
                  <a:gd name="connsiteX7" fmla="*/ 106408 w 104775"/>
                  <a:gd name="connsiteY7" fmla="*/ 43543 h 104775"/>
                  <a:gd name="connsiteX8" fmla="*/ 81643 w 104775"/>
                  <a:gd name="connsiteY8" fmla="*/ 67356 h 104775"/>
                  <a:gd name="connsiteX9" fmla="*/ 87358 w 104775"/>
                  <a:gd name="connsiteY9" fmla="*/ 10164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75" h="104775">
                    <a:moveTo>
                      <a:pt x="56878" y="85453"/>
                    </a:moveTo>
                    <a:lnTo>
                      <a:pt x="26398" y="101646"/>
                    </a:lnTo>
                    <a:lnTo>
                      <a:pt x="32113" y="67356"/>
                    </a:lnTo>
                    <a:lnTo>
                      <a:pt x="7348" y="43543"/>
                    </a:lnTo>
                    <a:lnTo>
                      <a:pt x="41638" y="37828"/>
                    </a:lnTo>
                    <a:lnTo>
                      <a:pt x="56878" y="7348"/>
                    </a:lnTo>
                    <a:lnTo>
                      <a:pt x="72118" y="37828"/>
                    </a:lnTo>
                    <a:lnTo>
                      <a:pt x="106408" y="43543"/>
                    </a:lnTo>
                    <a:lnTo>
                      <a:pt x="81643" y="67356"/>
                    </a:lnTo>
                    <a:lnTo>
                      <a:pt x="87358" y="101646"/>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 name="Freeform: Shape 13">
                <a:extLst>
                  <a:ext uri="{FF2B5EF4-FFF2-40B4-BE49-F238E27FC236}">
                    <a16:creationId xmlns:a16="http://schemas.microsoft.com/office/drawing/2014/main" id="{05AD57A0-8CC0-6D3E-D83F-35648206AA58}"/>
                  </a:ext>
                </a:extLst>
              </p:cNvPr>
              <p:cNvSpPr/>
              <p:nvPr/>
            </p:nvSpPr>
            <p:spPr>
              <a:xfrm>
                <a:off x="1589954" y="7622022"/>
                <a:ext cx="51605" cy="51605"/>
              </a:xfrm>
              <a:custGeom>
                <a:avLst/>
                <a:gdLst>
                  <a:gd name="connsiteX0" fmla="*/ 34018 w 38100"/>
                  <a:gd name="connsiteY0" fmla="*/ 20683 h 38100"/>
                  <a:gd name="connsiteX1" fmla="*/ 20683 w 38100"/>
                  <a:gd name="connsiteY1" fmla="*/ 34018 h 38100"/>
                  <a:gd name="connsiteX2" fmla="*/ 7348 w 38100"/>
                  <a:gd name="connsiteY2" fmla="*/ 20683 h 38100"/>
                  <a:gd name="connsiteX3" fmla="*/ 20683 w 38100"/>
                  <a:gd name="connsiteY3" fmla="*/ 7348 h 38100"/>
                  <a:gd name="connsiteX4" fmla="*/ 34018 w 38100"/>
                  <a:gd name="connsiteY4" fmla="*/ 20683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4018" y="20683"/>
                    </a:moveTo>
                    <a:cubicBezTo>
                      <a:pt x="34018" y="28048"/>
                      <a:pt x="28048" y="34018"/>
                      <a:pt x="20683" y="34018"/>
                    </a:cubicBezTo>
                    <a:cubicBezTo>
                      <a:pt x="13319" y="34018"/>
                      <a:pt x="7348" y="28048"/>
                      <a:pt x="7348" y="20683"/>
                    </a:cubicBezTo>
                    <a:cubicBezTo>
                      <a:pt x="7348" y="13318"/>
                      <a:pt x="13319" y="7348"/>
                      <a:pt x="20683" y="7348"/>
                    </a:cubicBezTo>
                    <a:cubicBezTo>
                      <a:pt x="28048" y="7348"/>
                      <a:pt x="34018" y="13318"/>
                      <a:pt x="34018" y="2068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 name="Freeform: Shape 14">
                <a:extLst>
                  <a:ext uri="{FF2B5EF4-FFF2-40B4-BE49-F238E27FC236}">
                    <a16:creationId xmlns:a16="http://schemas.microsoft.com/office/drawing/2014/main" id="{8CB15993-6AB4-3684-94F7-50E446952A43}"/>
                  </a:ext>
                </a:extLst>
              </p:cNvPr>
              <p:cNvSpPr/>
              <p:nvPr/>
            </p:nvSpPr>
            <p:spPr>
              <a:xfrm>
                <a:off x="1402886" y="7571707"/>
                <a:ext cx="193519" cy="77407"/>
              </a:xfrm>
              <a:custGeom>
                <a:avLst/>
                <a:gdLst>
                  <a:gd name="connsiteX0" fmla="*/ 7348 w 142875"/>
                  <a:gd name="connsiteY0" fmla="*/ 7348 h 57150"/>
                  <a:gd name="connsiteX1" fmla="*/ 144508 w 142875"/>
                  <a:gd name="connsiteY1" fmla="*/ 56878 h 57150"/>
                </a:gdLst>
                <a:ahLst/>
                <a:cxnLst>
                  <a:cxn ang="0">
                    <a:pos x="connsiteX0" y="connsiteY0"/>
                  </a:cxn>
                  <a:cxn ang="0">
                    <a:pos x="connsiteX1" y="connsiteY1"/>
                  </a:cxn>
                </a:cxnLst>
                <a:rect l="l" t="t" r="r" b="b"/>
                <a:pathLst>
                  <a:path w="142875" h="57150">
                    <a:moveTo>
                      <a:pt x="7348" y="7348"/>
                    </a:moveTo>
                    <a:lnTo>
                      <a:pt x="144508" y="5687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6" name="Freeform: Shape 15">
                <a:extLst>
                  <a:ext uri="{FF2B5EF4-FFF2-40B4-BE49-F238E27FC236}">
                    <a16:creationId xmlns:a16="http://schemas.microsoft.com/office/drawing/2014/main" id="{5AFD2FA5-FF70-2BEC-37A7-EDDCED8F4F82}"/>
                  </a:ext>
                </a:extLst>
              </p:cNvPr>
              <p:cNvSpPr/>
              <p:nvPr/>
            </p:nvSpPr>
            <p:spPr>
              <a:xfrm>
                <a:off x="1628658" y="7571707"/>
                <a:ext cx="206421" cy="77407"/>
              </a:xfrm>
              <a:custGeom>
                <a:avLst/>
                <a:gdLst>
                  <a:gd name="connsiteX0" fmla="*/ 7348 w 152400"/>
                  <a:gd name="connsiteY0" fmla="*/ 56878 h 57150"/>
                  <a:gd name="connsiteX1" fmla="*/ 148318 w 152400"/>
                  <a:gd name="connsiteY1" fmla="*/ 7348 h 57150"/>
                </a:gdLst>
                <a:ahLst/>
                <a:cxnLst>
                  <a:cxn ang="0">
                    <a:pos x="connsiteX0" y="connsiteY0"/>
                  </a:cxn>
                  <a:cxn ang="0">
                    <a:pos x="connsiteX1" y="connsiteY1"/>
                  </a:cxn>
                </a:cxnLst>
                <a:rect l="l" t="t" r="r" b="b"/>
                <a:pathLst>
                  <a:path w="152400" h="57150">
                    <a:moveTo>
                      <a:pt x="7348" y="56878"/>
                    </a:moveTo>
                    <a:lnTo>
                      <a:pt x="148318" y="734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grpSp>
      </p:grpSp>
    </p:spTree>
    <p:custDataLst>
      <p:tags r:id="rId1"/>
    </p:custDataLst>
    <p:extLst>
      <p:ext uri="{BB962C8B-B14F-4D97-AF65-F5344CB8AC3E}">
        <p14:creationId xmlns:p14="http://schemas.microsoft.com/office/powerpoint/2010/main" val="3162923012"/>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096F9-3E73-FD54-7B52-E6A43335A92B}"/>
              </a:ext>
            </a:extLst>
          </p:cNvPr>
          <p:cNvSpPr>
            <a:spLocks noGrp="1"/>
          </p:cNvSpPr>
          <p:nvPr>
            <p:ph type="title"/>
          </p:nvPr>
        </p:nvSpPr>
        <p:spPr>
          <a:xfrm>
            <a:off x="584200" y="4075330"/>
            <a:ext cx="10500000" cy="1500000"/>
          </a:xfrm>
        </p:spPr>
        <p:txBody>
          <a:bodyPr wrap="square" anchor="b">
            <a:normAutofit/>
          </a:bodyPr>
          <a:lstStyle/>
          <a:p>
            <a:r>
              <a:rPr lang="en-US"/>
              <a:t>FinOps &amp; Cost Patterns</a:t>
            </a:r>
          </a:p>
        </p:txBody>
      </p:sp>
      <p:sp>
        <p:nvSpPr>
          <p:cNvPr id="4" name="Footer Placeholder 3">
            <a:extLst>
              <a:ext uri="{FF2B5EF4-FFF2-40B4-BE49-F238E27FC236}">
                <a16:creationId xmlns:a16="http://schemas.microsoft.com/office/drawing/2014/main" id="{36E6FA2A-1A08-1385-B098-BEEF7FFA59AC}"/>
              </a:ext>
            </a:extLst>
          </p:cNvPr>
          <p:cNvSpPr>
            <a:spLocks noGrp="1"/>
          </p:cNvSpPr>
          <p:nvPr>
            <p:ph type="ftr" sz="quarter" idx="3"/>
          </p:nvPr>
        </p:nvSpPr>
        <p:spPr>
          <a:xfrm>
            <a:off x="4038600" y="6539518"/>
            <a:ext cx="4114800" cy="123111"/>
          </a:xfrm>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FFFFFF"/>
                </a:solidFill>
                <a:effectLst/>
                <a:uLnTx/>
                <a:uFillTx/>
              </a:rPr>
              <a:t>Microsoft Confidential</a:t>
            </a:r>
          </a:p>
        </p:txBody>
      </p:sp>
      <p:sp>
        <p:nvSpPr>
          <p:cNvPr id="5" name="Slide Number Placeholder 4">
            <a:extLst>
              <a:ext uri="{FF2B5EF4-FFF2-40B4-BE49-F238E27FC236}">
                <a16:creationId xmlns:a16="http://schemas.microsoft.com/office/drawing/2014/main" id="{EF48AD64-F1BB-1590-6B73-A66226052A61}"/>
              </a:ext>
            </a:extLst>
          </p:cNvPr>
          <p:cNvSpPr>
            <a:spLocks noGrp="1"/>
          </p:cNvSpPr>
          <p:nvPr>
            <p:ph type="sldNum" sz="quarter" idx="4"/>
          </p:nvPr>
        </p:nvSpPr>
        <p:spPr>
          <a:xfrm>
            <a:off x="11697272" y="6539518"/>
            <a:ext cx="404240" cy="123111"/>
          </a:xfrm>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FFFFFF"/>
                </a:solidFill>
                <a:effectLst/>
                <a:uLnTx/>
                <a:uFillTx/>
              </a:rPr>
              <a:pPr marL="0" marR="0" lvl="0" indent="0" defTabSz="914400" rtl="0" eaLnBrk="1" fontAlgn="auto" latinLnBrk="0" hangingPunct="1">
                <a:spcBef>
                  <a:spcPts val="0"/>
                </a:spcBef>
                <a:spcAft>
                  <a:spcPts val="600"/>
                </a:spcAft>
                <a:buClrTx/>
                <a:buSzTx/>
                <a:buFontTx/>
                <a:buNone/>
                <a:tabLst/>
                <a:defRPr/>
              </a:pPr>
              <a:t>3</a:t>
            </a:fld>
            <a:endParaRPr kumimoji="0" lang="en-US" b="0" i="0" u="none" strike="noStrike" kern="120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2547791689"/>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54093-BB79-5483-F352-6627BF86BE66}"/>
              </a:ext>
            </a:extLst>
          </p:cNvPr>
          <p:cNvSpPr>
            <a:spLocks noGrp="1"/>
          </p:cNvSpPr>
          <p:nvPr>
            <p:ph type="title"/>
          </p:nvPr>
        </p:nvSpPr>
        <p:spPr>
          <a:xfrm>
            <a:off x="575481" y="599436"/>
            <a:ext cx="11018520" cy="553998"/>
          </a:xfrm>
        </p:spPr>
        <p:txBody>
          <a:bodyPr wrap="square" anchor="t">
            <a:normAutofit/>
          </a:bodyPr>
          <a:lstStyle/>
          <a:p>
            <a:r>
              <a:rPr lang="en-US" dirty="0"/>
              <a:t>FinOps vs AI Extended FinOps</a:t>
            </a:r>
          </a:p>
        </p:txBody>
      </p:sp>
      <p:sp>
        <p:nvSpPr>
          <p:cNvPr id="4" name="Footer Placeholder 3">
            <a:extLst>
              <a:ext uri="{FF2B5EF4-FFF2-40B4-BE49-F238E27FC236}">
                <a16:creationId xmlns:a16="http://schemas.microsoft.com/office/drawing/2014/main" id="{A6E892B1-D702-E051-36D8-1ADDD5AADF84}"/>
              </a:ext>
            </a:extLst>
          </p:cNvPr>
          <p:cNvSpPr>
            <a:spLocks noGrp="1"/>
          </p:cNvSpPr>
          <p:nvPr>
            <p:ph type="ftr" sz="quarter" idx="3"/>
          </p:nvPr>
        </p:nvSpPr>
        <p:spPr>
          <a:xfrm>
            <a:off x="4038600" y="6539518"/>
            <a:ext cx="4114800" cy="123111"/>
          </a:xfrm>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000000"/>
                </a:solidFill>
                <a:effectLst/>
                <a:uLnTx/>
                <a:uFillTx/>
              </a:rPr>
              <a:t>Microsoft Confidential</a:t>
            </a:r>
          </a:p>
        </p:txBody>
      </p:sp>
      <p:sp>
        <p:nvSpPr>
          <p:cNvPr id="5" name="Slide Number Placeholder 4">
            <a:extLst>
              <a:ext uri="{FF2B5EF4-FFF2-40B4-BE49-F238E27FC236}">
                <a16:creationId xmlns:a16="http://schemas.microsoft.com/office/drawing/2014/main" id="{8F24F83A-2BF3-8ADE-E93C-7956701DB17D}"/>
              </a:ext>
            </a:extLst>
          </p:cNvPr>
          <p:cNvSpPr>
            <a:spLocks noGrp="1"/>
          </p:cNvSpPr>
          <p:nvPr>
            <p:ph type="sldNum" sz="quarter" idx="4"/>
          </p:nvPr>
        </p:nvSpPr>
        <p:spPr>
          <a:xfrm>
            <a:off x="11697272" y="6539518"/>
            <a:ext cx="404240" cy="123111"/>
          </a:xfrm>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000000"/>
                </a:solidFill>
                <a:effectLst/>
                <a:uLnTx/>
                <a:uFillTx/>
              </a:rPr>
              <a:pPr marL="0" marR="0" lvl="0" indent="0" defTabSz="914400" rtl="0" eaLnBrk="1" fontAlgn="auto" latinLnBrk="0" hangingPunct="1">
                <a:spcBef>
                  <a:spcPts val="0"/>
                </a:spcBef>
                <a:spcAft>
                  <a:spcPts val="600"/>
                </a:spcAft>
                <a:buClrTx/>
                <a:buSzTx/>
                <a:buFontTx/>
                <a:buNone/>
                <a:tabLst/>
                <a:defRPr/>
              </a:pPr>
              <a:t>4</a:t>
            </a:fld>
            <a:endParaRPr kumimoji="0" lang="en-US" b="0" i="0" u="none" strike="noStrike" kern="1200" cap="none" spc="0" normalizeH="0" baseline="0" noProof="0">
              <a:ln>
                <a:noFill/>
              </a:ln>
              <a:solidFill>
                <a:srgbClr val="000000"/>
              </a:solidFill>
              <a:effectLst/>
              <a:uLnTx/>
              <a:uFillTx/>
            </a:endParaRPr>
          </a:p>
        </p:txBody>
      </p:sp>
      <p:graphicFrame>
        <p:nvGraphicFramePr>
          <p:cNvPr id="6" name="Table 5">
            <a:extLst>
              <a:ext uri="{FF2B5EF4-FFF2-40B4-BE49-F238E27FC236}">
                <a16:creationId xmlns:a16="http://schemas.microsoft.com/office/drawing/2014/main" id="{D46AFAC1-38EE-D3BD-380F-C6A4BA35F3E7}"/>
              </a:ext>
            </a:extLst>
          </p:cNvPr>
          <p:cNvGraphicFramePr>
            <a:graphicFrameLocks noGrp="1"/>
          </p:cNvGraphicFramePr>
          <p:nvPr>
            <p:extLst>
              <p:ext uri="{D42A27DB-BD31-4B8C-83A1-F6EECF244321}">
                <p14:modId xmlns:p14="http://schemas.microsoft.com/office/powerpoint/2010/main" val="3795656321"/>
              </p:ext>
            </p:extLst>
          </p:nvPr>
        </p:nvGraphicFramePr>
        <p:xfrm>
          <a:off x="746760" y="1859280"/>
          <a:ext cx="10492741" cy="4399283"/>
        </p:xfrm>
        <a:graphic>
          <a:graphicData uri="http://schemas.openxmlformats.org/drawingml/2006/table">
            <a:tbl>
              <a:tblPr firstRow="1" bandRow="1">
                <a:tableStyleId>{5C22544A-7EE6-4342-B048-85BDC9FD1C3A}</a:tableStyleId>
              </a:tblPr>
              <a:tblGrid>
                <a:gridCol w="1890371">
                  <a:extLst>
                    <a:ext uri="{9D8B030D-6E8A-4147-A177-3AD203B41FA5}">
                      <a16:colId xmlns:a16="http://schemas.microsoft.com/office/drawing/2014/main" val="727935557"/>
                    </a:ext>
                  </a:extLst>
                </a:gridCol>
                <a:gridCol w="4188057">
                  <a:extLst>
                    <a:ext uri="{9D8B030D-6E8A-4147-A177-3AD203B41FA5}">
                      <a16:colId xmlns:a16="http://schemas.microsoft.com/office/drawing/2014/main" val="3385683807"/>
                    </a:ext>
                  </a:extLst>
                </a:gridCol>
                <a:gridCol w="4414313">
                  <a:extLst>
                    <a:ext uri="{9D8B030D-6E8A-4147-A177-3AD203B41FA5}">
                      <a16:colId xmlns:a16="http://schemas.microsoft.com/office/drawing/2014/main" val="1726382143"/>
                    </a:ext>
                  </a:extLst>
                </a:gridCol>
              </a:tblGrid>
              <a:tr h="496953">
                <a:tc>
                  <a:txBody>
                    <a:bodyPr/>
                    <a:lstStyle/>
                    <a:p>
                      <a:pPr algn="l">
                        <a:buNone/>
                      </a:pPr>
                      <a:r>
                        <a:rPr lang="en-IN" sz="1400">
                          <a:effectLst/>
                        </a:rPr>
                        <a:t>Phase</a:t>
                      </a:r>
                    </a:p>
                  </a:txBody>
                  <a:tcPr marL="49336" marR="49336" marT="24668" marB="24668" anchor="ctr"/>
                </a:tc>
                <a:tc>
                  <a:txBody>
                    <a:bodyPr/>
                    <a:lstStyle/>
                    <a:p>
                      <a:pPr algn="l">
                        <a:buNone/>
                      </a:pPr>
                      <a:r>
                        <a:rPr lang="en-IN" sz="1400" dirty="0">
                          <a:effectLst/>
                        </a:rPr>
                        <a:t>Traditional FinOps</a:t>
                      </a:r>
                    </a:p>
                  </a:txBody>
                  <a:tcPr marL="49336" marR="49336" marT="24668" marB="24668" anchor="ctr"/>
                </a:tc>
                <a:tc>
                  <a:txBody>
                    <a:bodyPr/>
                    <a:lstStyle/>
                    <a:p>
                      <a:pPr algn="l">
                        <a:buNone/>
                      </a:pPr>
                      <a:r>
                        <a:rPr lang="en-IN" sz="1400">
                          <a:effectLst/>
                        </a:rPr>
                        <a:t>AI FinOps Extension</a:t>
                      </a:r>
                    </a:p>
                  </a:txBody>
                  <a:tcPr marL="49336" marR="49336" marT="24668" marB="24668" anchor="ctr"/>
                </a:tc>
                <a:extLst>
                  <a:ext uri="{0D108BD9-81ED-4DB2-BD59-A6C34878D82A}">
                    <a16:rowId xmlns:a16="http://schemas.microsoft.com/office/drawing/2014/main" val="2105755056"/>
                  </a:ext>
                </a:extLst>
              </a:tr>
              <a:tr h="1185945">
                <a:tc>
                  <a:txBody>
                    <a:bodyPr/>
                    <a:lstStyle/>
                    <a:p>
                      <a:pPr>
                        <a:buNone/>
                      </a:pPr>
                      <a:r>
                        <a:rPr lang="en-IN" sz="1400" b="1">
                          <a:effectLst/>
                        </a:rPr>
                        <a:t>Inform</a:t>
                      </a:r>
                      <a:endParaRPr lang="en-IN" sz="1400">
                        <a:effectLst/>
                      </a:endParaRPr>
                    </a:p>
                  </a:txBody>
                  <a:tcPr marL="49336" marR="49336" marT="24668" marB="24668" anchor="ctr"/>
                </a:tc>
                <a:tc>
                  <a:txBody>
                    <a:bodyPr/>
                    <a:lstStyle/>
                    <a:p>
                      <a:pPr>
                        <a:buNone/>
                      </a:pPr>
                      <a:r>
                        <a:rPr lang="en-IN" sz="1400">
                          <a:effectLst/>
                        </a:rPr>
                        <a:t>Cost visibility, allocation</a:t>
                      </a:r>
                    </a:p>
                  </a:txBody>
                  <a:tcPr marL="49336" marR="49336" marT="24668" marB="24668" anchor="ctr"/>
                </a:tc>
                <a:tc>
                  <a:txBody>
                    <a:bodyPr/>
                    <a:lstStyle/>
                    <a:p>
                      <a:pPr>
                        <a:buNone/>
                      </a:pPr>
                      <a:r>
                        <a:rPr lang="en-GB" sz="1400">
                          <a:effectLst/>
                        </a:rPr>
                        <a:t>Token usage dashboards, model cost attribution, per-agent cost tracking</a:t>
                      </a:r>
                    </a:p>
                  </a:txBody>
                  <a:tcPr marL="49336" marR="49336" marT="24668" marB="24668" anchor="ctr"/>
                </a:tc>
                <a:extLst>
                  <a:ext uri="{0D108BD9-81ED-4DB2-BD59-A6C34878D82A}">
                    <a16:rowId xmlns:a16="http://schemas.microsoft.com/office/drawing/2014/main" val="3233595761"/>
                  </a:ext>
                </a:extLst>
              </a:tr>
              <a:tr h="1530440">
                <a:tc>
                  <a:txBody>
                    <a:bodyPr/>
                    <a:lstStyle/>
                    <a:p>
                      <a:pPr>
                        <a:buNone/>
                      </a:pPr>
                      <a:r>
                        <a:rPr lang="en-IN" sz="1400" b="1">
                          <a:effectLst/>
                        </a:rPr>
                        <a:t>Optimize</a:t>
                      </a:r>
                      <a:endParaRPr lang="en-IN" sz="1400">
                        <a:effectLst/>
                      </a:endParaRPr>
                    </a:p>
                  </a:txBody>
                  <a:tcPr marL="49336" marR="49336" marT="24668" marB="24668" anchor="ctr"/>
                </a:tc>
                <a:tc>
                  <a:txBody>
                    <a:bodyPr/>
                    <a:lstStyle/>
                    <a:p>
                      <a:pPr>
                        <a:buNone/>
                      </a:pPr>
                      <a:r>
                        <a:rPr lang="en-IN" sz="1400">
                          <a:effectLst/>
                        </a:rPr>
                        <a:t>Rightsizing, reservations</a:t>
                      </a:r>
                    </a:p>
                  </a:txBody>
                  <a:tcPr marL="49336" marR="49336" marT="24668" marB="24668" anchor="ctr"/>
                </a:tc>
                <a:tc>
                  <a:txBody>
                    <a:bodyPr/>
                    <a:lstStyle/>
                    <a:p>
                      <a:pPr>
                        <a:buNone/>
                      </a:pPr>
                      <a:r>
                        <a:rPr lang="en-GB" sz="1400">
                          <a:effectLst/>
                        </a:rPr>
                        <a:t>Model selection optimization, prompt efficiency, caching, PTU vs. PAYG</a:t>
                      </a:r>
                    </a:p>
                  </a:txBody>
                  <a:tcPr marL="49336" marR="49336" marT="24668" marB="24668" anchor="ctr"/>
                </a:tc>
                <a:extLst>
                  <a:ext uri="{0D108BD9-81ED-4DB2-BD59-A6C34878D82A}">
                    <a16:rowId xmlns:a16="http://schemas.microsoft.com/office/drawing/2014/main" val="931294249"/>
                  </a:ext>
                </a:extLst>
              </a:tr>
              <a:tr h="1185945">
                <a:tc>
                  <a:txBody>
                    <a:bodyPr/>
                    <a:lstStyle/>
                    <a:p>
                      <a:pPr>
                        <a:buNone/>
                      </a:pPr>
                      <a:r>
                        <a:rPr lang="en-IN" sz="1400" b="1">
                          <a:effectLst/>
                        </a:rPr>
                        <a:t>Operate</a:t>
                      </a:r>
                      <a:endParaRPr lang="en-IN" sz="1400">
                        <a:effectLst/>
                      </a:endParaRPr>
                    </a:p>
                  </a:txBody>
                  <a:tcPr marL="49336" marR="49336" marT="24668" marB="24668" anchor="ctr"/>
                </a:tc>
                <a:tc>
                  <a:txBody>
                    <a:bodyPr/>
                    <a:lstStyle/>
                    <a:p>
                      <a:pPr>
                        <a:buNone/>
                      </a:pPr>
                      <a:r>
                        <a:rPr lang="en-IN" sz="1400">
                          <a:effectLst/>
                        </a:rPr>
                        <a:t>Budgets, governance policies</a:t>
                      </a:r>
                    </a:p>
                  </a:txBody>
                  <a:tcPr marL="49336" marR="49336" marT="24668" marB="24668" anchor="ctr"/>
                </a:tc>
                <a:tc>
                  <a:txBody>
                    <a:bodyPr/>
                    <a:lstStyle/>
                    <a:p>
                      <a:pPr>
                        <a:buNone/>
                      </a:pPr>
                      <a:r>
                        <a:rPr lang="en-GB" sz="1400" dirty="0">
                          <a:effectLst/>
                        </a:rPr>
                        <a:t>Token rate limits, AI gateway policies, agent cost guardrails</a:t>
                      </a:r>
                    </a:p>
                  </a:txBody>
                  <a:tcPr marL="49336" marR="49336" marT="24668" marB="24668" anchor="ctr"/>
                </a:tc>
                <a:extLst>
                  <a:ext uri="{0D108BD9-81ED-4DB2-BD59-A6C34878D82A}">
                    <a16:rowId xmlns:a16="http://schemas.microsoft.com/office/drawing/2014/main" val="960643566"/>
                  </a:ext>
                </a:extLst>
              </a:tr>
            </a:tbl>
          </a:graphicData>
        </a:graphic>
      </p:graphicFrame>
    </p:spTree>
    <p:extLst>
      <p:ext uri="{BB962C8B-B14F-4D97-AF65-F5344CB8AC3E}">
        <p14:creationId xmlns:p14="http://schemas.microsoft.com/office/powerpoint/2010/main" val="1091338236"/>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C183D7F6-B498-43B3-948B-1728B52AA6E4}">
                <adec:decorative xmlns:adec="http://schemas.microsoft.com/office/drawing/2017/decorative" val="1"/>
              </a:ext>
            </a:extLst>
          </p:cNvPr>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C183D7F6-B498-43B3-948B-1728B52AA6E4}">
                <adec:decorative xmlns:adec="http://schemas.microsoft.com/office/drawing/2017/decorative" val="1"/>
              </a:ext>
            </a:extLst>
          </p:cNvPr>
          <p:cNvSpPr/>
          <p:nvPr/>
        </p:nvSpPr>
        <p:spPr>
          <a:xfrm>
            <a:off x="0" y="0"/>
            <a:ext cx="12191695" cy="868680"/>
          </a:xfrm>
          <a:prstGeom prst="rect">
            <a:avLst/>
          </a:prstGeom>
          <a:solidFill>
            <a:srgbClr val="0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C183D7F6-B498-43B3-948B-1728B52AA6E4}">
                <adec:decorative xmlns:adec="http://schemas.microsoft.com/office/drawing/2017/decorative" val="1"/>
              </a:ext>
            </a:extLst>
          </p:cNvPr>
          <p:cNvSpPr/>
          <p:nvPr/>
        </p:nvSpPr>
        <p:spPr>
          <a:xfrm>
            <a:off x="0" y="868680"/>
            <a:ext cx="12191695" cy="5486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itle 4"/>
          <p:cNvSpPr txBox="1">
            <a:spLocks noGrp="1"/>
          </p:cNvSpPr>
          <p:nvPr>
            <p:ph type="title" idx="4294967295"/>
          </p:nvPr>
        </p:nvSpPr>
        <p:spPr>
          <a:xfrm>
            <a:off x="457200" y="164592"/>
            <a:ext cx="11247120" cy="64008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000" b="1" i="0" u="none" strike="noStrike" kern="1200" cap="none" spc="0" normalizeH="0" baseline="0" noProof="0" dirty="0">
                <a:ln>
                  <a:noFill/>
                </a:ln>
                <a:solidFill>
                  <a:srgbClr val="FFFFFF"/>
                </a:solidFill>
                <a:effectLst/>
                <a:uLnTx/>
                <a:uFillTx/>
                <a:latin typeface="Segoe UI"/>
                <a:ea typeface="+mn-ea"/>
                <a:cs typeface="+mn-cs"/>
              </a:rPr>
              <a:t>Cost Explosion Patterns in Agentic Systems</a:t>
            </a:r>
          </a:p>
        </p:txBody>
      </p:sp>
      <p:sp>
        <p:nvSpPr>
          <p:cNvPr id="6" name="TextBox 5"/>
          <p:cNvSpPr txBox="1"/>
          <p:nvPr/>
        </p:nvSpPr>
        <p:spPr>
          <a:xfrm>
            <a:off x="457200" y="1051560"/>
            <a:ext cx="11247120" cy="365760"/>
          </a:xfrm>
          <a:prstGeom prst="rect">
            <a:avLst/>
          </a:prstGeom>
          <a:noFill/>
        </p:spPr>
        <p:txBody>
          <a:bodyPr wrap="square" lIns="0" tIns="0" rIns="0" bIns="0" anchor="t">
            <a:spAutoFit/>
          </a:bodyPr>
          <a:lstStyle/>
          <a:p>
            <a:pPr algn="l"/>
            <a:r>
              <a:rPr sz="1400" b="0" dirty="0">
                <a:solidFill>
                  <a:srgbClr val="556677"/>
                </a:solidFill>
                <a:latin typeface="Segoe UI"/>
              </a:rPr>
              <a:t>Five patterns that silently inflate token spend — and how to contain each one</a:t>
            </a:r>
          </a:p>
        </p:txBody>
      </p:sp>
      <p:sp>
        <p:nvSpPr>
          <p:cNvPr id="7" name="Rounded Rectangle 6">
            <a:extLst>
              <a:ext uri="{C183D7F6-B498-43B3-948B-1728B52AA6E4}">
                <adec:decorative xmlns:adec="http://schemas.microsoft.com/office/drawing/2017/decorative" val="1"/>
              </a:ext>
            </a:extLst>
          </p:cNvPr>
          <p:cNvSpPr/>
          <p:nvPr/>
        </p:nvSpPr>
        <p:spPr>
          <a:xfrm>
            <a:off x="399135" y="1463040"/>
            <a:ext cx="3703320" cy="2423160"/>
          </a:xfrm>
          <a:prstGeom prst="roundRect">
            <a:avLst/>
          </a:prstGeom>
          <a:solidFill>
            <a:srgbClr val="FFFFFF"/>
          </a:solidFill>
          <a:ln w="9525">
            <a:solidFill>
              <a:srgbClr val="CFD8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a:extLst>
              <a:ext uri="{C183D7F6-B498-43B3-948B-1728B52AA6E4}">
                <adec:decorative xmlns:adec="http://schemas.microsoft.com/office/drawing/2017/decorative" val="1"/>
              </a:ext>
            </a:extLst>
          </p:cNvPr>
          <p:cNvSpPr/>
          <p:nvPr/>
        </p:nvSpPr>
        <p:spPr>
          <a:xfrm>
            <a:off x="650595" y="1783080"/>
            <a:ext cx="777240" cy="777240"/>
          </a:xfrm>
          <a:prstGeom prst="ellipse">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0595" y="1783080"/>
            <a:ext cx="777240" cy="777240"/>
          </a:xfrm>
          <a:prstGeom prst="rect">
            <a:avLst/>
          </a:prstGeom>
          <a:noFill/>
        </p:spPr>
        <p:txBody>
          <a:bodyPr wrap="square" lIns="0" tIns="0" rIns="0" bIns="0" anchor="ctr">
            <a:spAutoFit/>
          </a:bodyPr>
          <a:lstStyle/>
          <a:p>
            <a:pPr algn="ctr"/>
            <a:r>
              <a:rPr sz="2600" b="1" dirty="0">
                <a:solidFill>
                  <a:srgbClr val="FFFFFF"/>
                </a:solidFill>
                <a:latin typeface="Segoe UI Emoji"/>
              </a:rPr>
              <a:t>🔁</a:t>
            </a:r>
          </a:p>
        </p:txBody>
      </p:sp>
      <p:sp>
        <p:nvSpPr>
          <p:cNvPr id="10" name="TextBox 9"/>
          <p:cNvSpPr txBox="1"/>
          <p:nvPr/>
        </p:nvSpPr>
        <p:spPr>
          <a:xfrm>
            <a:off x="1564995" y="1874520"/>
            <a:ext cx="2377440" cy="777240"/>
          </a:xfrm>
          <a:prstGeom prst="rect">
            <a:avLst/>
          </a:prstGeom>
          <a:noFill/>
        </p:spPr>
        <p:txBody>
          <a:bodyPr wrap="square" lIns="0" tIns="0" rIns="0" bIns="0" anchor="t">
            <a:spAutoFit/>
          </a:bodyPr>
          <a:lstStyle/>
          <a:p>
            <a:pPr algn="l"/>
            <a:r>
              <a:rPr sz="1500" b="1" dirty="0">
                <a:solidFill>
                  <a:srgbClr val="0F2A5C"/>
                </a:solidFill>
                <a:latin typeface="Segoe UI"/>
              </a:rPr>
              <a:t>Recursive Agent Loops</a:t>
            </a:r>
          </a:p>
        </p:txBody>
      </p:sp>
      <p:sp>
        <p:nvSpPr>
          <p:cNvPr id="11" name="TextBox 10"/>
          <p:cNvSpPr txBox="1"/>
          <p:nvPr/>
        </p:nvSpPr>
        <p:spPr>
          <a:xfrm>
            <a:off x="650595" y="2788920"/>
            <a:ext cx="3200400" cy="274320"/>
          </a:xfrm>
          <a:prstGeom prst="rect">
            <a:avLst/>
          </a:prstGeom>
          <a:noFill/>
        </p:spPr>
        <p:txBody>
          <a:bodyPr wrap="square" lIns="0" tIns="0" rIns="0" bIns="0" anchor="t">
            <a:spAutoFit/>
          </a:bodyPr>
          <a:lstStyle/>
          <a:p>
            <a:pPr algn="l"/>
            <a:r>
              <a:rPr sz="900" b="1">
                <a:solidFill>
                  <a:srgbClr val="C0392B"/>
                </a:solidFill>
                <a:latin typeface="Segoe UI"/>
              </a:rPr>
              <a:t>RISK</a:t>
            </a:r>
          </a:p>
        </p:txBody>
      </p:sp>
      <p:sp>
        <p:nvSpPr>
          <p:cNvPr id="12" name="TextBox 11"/>
          <p:cNvSpPr txBox="1"/>
          <p:nvPr/>
        </p:nvSpPr>
        <p:spPr>
          <a:xfrm>
            <a:off x="605181" y="2971800"/>
            <a:ext cx="3200400" cy="822960"/>
          </a:xfrm>
          <a:prstGeom prst="rect">
            <a:avLst/>
          </a:prstGeom>
          <a:noFill/>
        </p:spPr>
        <p:txBody>
          <a:bodyPr wrap="square" lIns="0" tIns="0" rIns="0" bIns="0" anchor="t">
            <a:spAutoFit/>
          </a:bodyPr>
          <a:lstStyle/>
          <a:p>
            <a:pPr algn="l"/>
            <a:r>
              <a:rPr sz="1100" b="0">
                <a:solidFill>
                  <a:srgbClr val="1F2A37"/>
                </a:solidFill>
                <a:latin typeface="Segoe UI"/>
              </a:rPr>
              <a:t>Agent ↔ tool ↔ LLM cycles with no exit</a:t>
            </a:r>
          </a:p>
          <a:p>
            <a:pPr algn="l"/>
            <a:r>
              <a:rPr sz="1100" b="0">
                <a:solidFill>
                  <a:srgbClr val="1F2A37"/>
                </a:solidFill>
                <a:latin typeface="Segoe UI"/>
              </a:rPr>
              <a:t>condition burn tokens indefinitely.</a:t>
            </a:r>
          </a:p>
        </p:txBody>
      </p:sp>
      <p:sp>
        <p:nvSpPr>
          <p:cNvPr id="13" name="TextBox 12"/>
          <p:cNvSpPr txBox="1"/>
          <p:nvPr/>
        </p:nvSpPr>
        <p:spPr>
          <a:xfrm>
            <a:off x="623392" y="3411783"/>
            <a:ext cx="3200400" cy="274320"/>
          </a:xfrm>
          <a:prstGeom prst="rect">
            <a:avLst/>
          </a:prstGeom>
          <a:noFill/>
        </p:spPr>
        <p:txBody>
          <a:bodyPr wrap="square" lIns="0" tIns="0" rIns="0" bIns="0" anchor="t">
            <a:spAutoFit/>
          </a:bodyPr>
          <a:lstStyle/>
          <a:p>
            <a:pPr algn="l"/>
            <a:r>
              <a:rPr sz="900" b="1" dirty="0">
                <a:solidFill>
                  <a:srgbClr val="1E8E3E"/>
                </a:solidFill>
                <a:latin typeface="Segoe UI"/>
              </a:rPr>
              <a:t>MITIGATION</a:t>
            </a:r>
          </a:p>
        </p:txBody>
      </p:sp>
      <p:sp>
        <p:nvSpPr>
          <p:cNvPr id="14" name="TextBox 13"/>
          <p:cNvSpPr txBox="1"/>
          <p:nvPr/>
        </p:nvSpPr>
        <p:spPr>
          <a:xfrm>
            <a:off x="623392" y="3590405"/>
            <a:ext cx="3200400" cy="822960"/>
          </a:xfrm>
          <a:prstGeom prst="rect">
            <a:avLst/>
          </a:prstGeom>
          <a:noFill/>
        </p:spPr>
        <p:txBody>
          <a:bodyPr wrap="square" lIns="0" tIns="0" rIns="0" bIns="0" anchor="t">
            <a:spAutoFit/>
          </a:bodyPr>
          <a:lstStyle/>
          <a:p>
            <a:pPr algn="l"/>
            <a:r>
              <a:rPr sz="1100" b="0" dirty="0">
                <a:solidFill>
                  <a:srgbClr val="1F2A37"/>
                </a:solidFill>
                <a:latin typeface="Segoe UI"/>
              </a:rPr>
              <a:t>Max iteration caps; per-run token budget.</a:t>
            </a:r>
          </a:p>
        </p:txBody>
      </p:sp>
      <p:sp>
        <p:nvSpPr>
          <p:cNvPr id="15" name="Rounded Rectangle 14">
            <a:extLst>
              <a:ext uri="{C183D7F6-B498-43B3-948B-1728B52AA6E4}">
                <adec:decorative xmlns:adec="http://schemas.microsoft.com/office/drawing/2017/decorative" val="1"/>
              </a:ext>
            </a:extLst>
          </p:cNvPr>
          <p:cNvSpPr/>
          <p:nvPr/>
        </p:nvSpPr>
        <p:spPr>
          <a:xfrm>
            <a:off x="4244187" y="1508760"/>
            <a:ext cx="3703320" cy="2423160"/>
          </a:xfrm>
          <a:prstGeom prst="roundRect">
            <a:avLst/>
          </a:prstGeom>
          <a:solidFill>
            <a:srgbClr val="FFFFFF"/>
          </a:solidFill>
          <a:ln w="9525">
            <a:solidFill>
              <a:srgbClr val="CFD8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a:extLst>
              <a:ext uri="{C183D7F6-B498-43B3-948B-1728B52AA6E4}">
                <adec:decorative xmlns:adec="http://schemas.microsoft.com/office/drawing/2017/decorative" val="1"/>
              </a:ext>
            </a:extLst>
          </p:cNvPr>
          <p:cNvSpPr/>
          <p:nvPr/>
        </p:nvSpPr>
        <p:spPr>
          <a:xfrm>
            <a:off x="4518507" y="1783080"/>
            <a:ext cx="777240" cy="777240"/>
          </a:xfrm>
          <a:prstGeom prst="ellipse">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18507" y="1783080"/>
            <a:ext cx="777240" cy="777240"/>
          </a:xfrm>
          <a:prstGeom prst="rect">
            <a:avLst/>
          </a:prstGeom>
          <a:noFill/>
        </p:spPr>
        <p:txBody>
          <a:bodyPr wrap="square" lIns="0" tIns="0" rIns="0" bIns="0" anchor="ctr">
            <a:spAutoFit/>
          </a:bodyPr>
          <a:lstStyle/>
          <a:p>
            <a:pPr algn="ctr"/>
            <a:r>
              <a:rPr sz="2600" b="1">
                <a:solidFill>
                  <a:srgbClr val="FFFFFF"/>
                </a:solidFill>
                <a:latin typeface="Segoe UI Emoji"/>
              </a:rPr>
              <a:t>🌳</a:t>
            </a:r>
          </a:p>
        </p:txBody>
      </p:sp>
      <p:sp>
        <p:nvSpPr>
          <p:cNvPr id="18" name="TextBox 17"/>
          <p:cNvSpPr txBox="1"/>
          <p:nvPr/>
        </p:nvSpPr>
        <p:spPr>
          <a:xfrm>
            <a:off x="5432907" y="1874520"/>
            <a:ext cx="2377440" cy="777240"/>
          </a:xfrm>
          <a:prstGeom prst="rect">
            <a:avLst/>
          </a:prstGeom>
          <a:noFill/>
        </p:spPr>
        <p:txBody>
          <a:bodyPr wrap="square" lIns="0" tIns="0" rIns="0" bIns="0" anchor="t">
            <a:spAutoFit/>
          </a:bodyPr>
          <a:lstStyle/>
          <a:p>
            <a:pPr algn="l"/>
            <a:r>
              <a:rPr sz="1500" b="1">
                <a:solidFill>
                  <a:srgbClr val="0F2A5C"/>
                </a:solidFill>
                <a:latin typeface="Segoe UI"/>
              </a:rPr>
              <a:t>Fan-Out Amplification</a:t>
            </a:r>
          </a:p>
        </p:txBody>
      </p:sp>
      <p:sp>
        <p:nvSpPr>
          <p:cNvPr id="19" name="TextBox 18"/>
          <p:cNvSpPr txBox="1"/>
          <p:nvPr/>
        </p:nvSpPr>
        <p:spPr>
          <a:xfrm>
            <a:off x="4518507" y="2788920"/>
            <a:ext cx="3200400" cy="274320"/>
          </a:xfrm>
          <a:prstGeom prst="rect">
            <a:avLst/>
          </a:prstGeom>
          <a:noFill/>
        </p:spPr>
        <p:txBody>
          <a:bodyPr wrap="square" lIns="0" tIns="0" rIns="0" bIns="0" anchor="t">
            <a:spAutoFit/>
          </a:bodyPr>
          <a:lstStyle/>
          <a:p>
            <a:pPr algn="l"/>
            <a:r>
              <a:rPr sz="900" b="1">
                <a:solidFill>
                  <a:srgbClr val="C0392B"/>
                </a:solidFill>
                <a:latin typeface="Segoe UI"/>
              </a:rPr>
              <a:t>RISK</a:t>
            </a:r>
          </a:p>
        </p:txBody>
      </p:sp>
      <p:sp>
        <p:nvSpPr>
          <p:cNvPr id="20" name="TextBox 19"/>
          <p:cNvSpPr txBox="1"/>
          <p:nvPr/>
        </p:nvSpPr>
        <p:spPr>
          <a:xfrm>
            <a:off x="4501590" y="2936226"/>
            <a:ext cx="3200400" cy="822960"/>
          </a:xfrm>
          <a:prstGeom prst="rect">
            <a:avLst/>
          </a:prstGeom>
          <a:noFill/>
        </p:spPr>
        <p:txBody>
          <a:bodyPr wrap="square" lIns="0" tIns="0" rIns="0" bIns="0" anchor="t">
            <a:spAutoFit/>
          </a:bodyPr>
          <a:lstStyle/>
          <a:p>
            <a:pPr algn="l"/>
            <a:r>
              <a:rPr sz="1100" b="0" dirty="0">
                <a:solidFill>
                  <a:srgbClr val="1F2A37"/>
                </a:solidFill>
                <a:latin typeface="Segoe UI"/>
              </a:rPr>
              <a:t>1 request → 5 sub-agents × 3 calls = 15</a:t>
            </a:r>
          </a:p>
          <a:p>
            <a:pPr algn="l"/>
            <a:r>
              <a:rPr sz="1100" b="0" dirty="0">
                <a:solidFill>
                  <a:srgbClr val="1F2A37"/>
                </a:solidFill>
                <a:latin typeface="Segoe UI"/>
              </a:rPr>
              <a:t>LLM calls. Exponential growth.</a:t>
            </a:r>
          </a:p>
        </p:txBody>
      </p:sp>
      <p:sp>
        <p:nvSpPr>
          <p:cNvPr id="21" name="TextBox 20"/>
          <p:cNvSpPr txBox="1"/>
          <p:nvPr/>
        </p:nvSpPr>
        <p:spPr>
          <a:xfrm>
            <a:off x="4500035" y="3331561"/>
            <a:ext cx="3200400" cy="274320"/>
          </a:xfrm>
          <a:prstGeom prst="rect">
            <a:avLst/>
          </a:prstGeom>
          <a:noFill/>
        </p:spPr>
        <p:txBody>
          <a:bodyPr wrap="square" lIns="0" tIns="0" rIns="0" bIns="0" anchor="t">
            <a:spAutoFit/>
          </a:bodyPr>
          <a:lstStyle/>
          <a:p>
            <a:pPr algn="l"/>
            <a:r>
              <a:rPr sz="900" b="1" dirty="0">
                <a:solidFill>
                  <a:srgbClr val="1E8E3E"/>
                </a:solidFill>
                <a:latin typeface="Segoe UI"/>
              </a:rPr>
              <a:t>MITIGATION</a:t>
            </a:r>
          </a:p>
        </p:txBody>
      </p:sp>
      <p:sp>
        <p:nvSpPr>
          <p:cNvPr id="22" name="TextBox 21"/>
          <p:cNvSpPr txBox="1"/>
          <p:nvPr/>
        </p:nvSpPr>
        <p:spPr>
          <a:xfrm>
            <a:off x="4504905" y="3512012"/>
            <a:ext cx="3200400" cy="822960"/>
          </a:xfrm>
          <a:prstGeom prst="rect">
            <a:avLst/>
          </a:prstGeom>
          <a:noFill/>
        </p:spPr>
        <p:txBody>
          <a:bodyPr wrap="square" lIns="0" tIns="0" rIns="0" bIns="0" anchor="t">
            <a:spAutoFit/>
          </a:bodyPr>
          <a:lstStyle/>
          <a:p>
            <a:pPr algn="l"/>
            <a:r>
              <a:rPr sz="1100" b="0" dirty="0">
                <a:solidFill>
                  <a:srgbClr val="1F2A37"/>
                </a:solidFill>
                <a:latin typeface="Segoe UI"/>
              </a:rPr>
              <a:t>Concurrency limits; hierarchical budgets.</a:t>
            </a:r>
          </a:p>
        </p:txBody>
      </p:sp>
      <p:sp>
        <p:nvSpPr>
          <p:cNvPr id="23" name="Rounded Rectangle 22">
            <a:extLst>
              <a:ext uri="{C183D7F6-B498-43B3-948B-1728B52AA6E4}">
                <adec:decorative xmlns:adec="http://schemas.microsoft.com/office/drawing/2017/decorative" val="1"/>
              </a:ext>
            </a:extLst>
          </p:cNvPr>
          <p:cNvSpPr/>
          <p:nvPr/>
        </p:nvSpPr>
        <p:spPr>
          <a:xfrm>
            <a:off x="8112099" y="1508760"/>
            <a:ext cx="3703320" cy="2423160"/>
          </a:xfrm>
          <a:prstGeom prst="roundRect">
            <a:avLst/>
          </a:prstGeom>
          <a:solidFill>
            <a:srgbClr val="FFFFFF"/>
          </a:solidFill>
          <a:ln w="9525">
            <a:solidFill>
              <a:srgbClr val="CFD8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a:extLst>
              <a:ext uri="{C183D7F6-B498-43B3-948B-1728B52AA6E4}">
                <adec:decorative xmlns:adec="http://schemas.microsoft.com/office/drawing/2017/decorative" val="1"/>
              </a:ext>
            </a:extLst>
          </p:cNvPr>
          <p:cNvSpPr/>
          <p:nvPr/>
        </p:nvSpPr>
        <p:spPr>
          <a:xfrm>
            <a:off x="8386419" y="1783080"/>
            <a:ext cx="777240" cy="777240"/>
          </a:xfrm>
          <a:prstGeom prst="ellipse">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86419" y="1783080"/>
            <a:ext cx="777240" cy="777240"/>
          </a:xfrm>
          <a:prstGeom prst="rect">
            <a:avLst/>
          </a:prstGeom>
          <a:noFill/>
        </p:spPr>
        <p:txBody>
          <a:bodyPr wrap="square" lIns="0" tIns="0" rIns="0" bIns="0" anchor="ctr">
            <a:spAutoFit/>
          </a:bodyPr>
          <a:lstStyle/>
          <a:p>
            <a:pPr algn="ctr"/>
            <a:r>
              <a:rPr sz="2600" b="1">
                <a:solidFill>
                  <a:srgbClr val="FFFFFF"/>
                </a:solidFill>
                <a:latin typeface="Segoe UI Emoji"/>
              </a:rPr>
              <a:t>💬</a:t>
            </a:r>
          </a:p>
        </p:txBody>
      </p:sp>
      <p:sp>
        <p:nvSpPr>
          <p:cNvPr id="26" name="TextBox 25"/>
          <p:cNvSpPr txBox="1"/>
          <p:nvPr/>
        </p:nvSpPr>
        <p:spPr>
          <a:xfrm>
            <a:off x="9300819" y="1874520"/>
            <a:ext cx="2377440" cy="777240"/>
          </a:xfrm>
          <a:prstGeom prst="rect">
            <a:avLst/>
          </a:prstGeom>
          <a:noFill/>
        </p:spPr>
        <p:txBody>
          <a:bodyPr wrap="square" lIns="0" tIns="0" rIns="0" bIns="0" anchor="t">
            <a:spAutoFit/>
          </a:bodyPr>
          <a:lstStyle/>
          <a:p>
            <a:pPr algn="l"/>
            <a:r>
              <a:rPr sz="1500" b="1">
                <a:solidFill>
                  <a:srgbClr val="0F2A5C"/>
                </a:solidFill>
                <a:latin typeface="Segoe UI"/>
              </a:rPr>
              <a:t>Context Window Bloat</a:t>
            </a:r>
          </a:p>
        </p:txBody>
      </p:sp>
      <p:sp>
        <p:nvSpPr>
          <p:cNvPr id="27" name="TextBox 26"/>
          <p:cNvSpPr txBox="1"/>
          <p:nvPr/>
        </p:nvSpPr>
        <p:spPr>
          <a:xfrm>
            <a:off x="8386419" y="2788920"/>
            <a:ext cx="3200400" cy="274320"/>
          </a:xfrm>
          <a:prstGeom prst="rect">
            <a:avLst/>
          </a:prstGeom>
          <a:noFill/>
        </p:spPr>
        <p:txBody>
          <a:bodyPr wrap="square" lIns="0" tIns="0" rIns="0" bIns="0" anchor="t">
            <a:spAutoFit/>
          </a:bodyPr>
          <a:lstStyle/>
          <a:p>
            <a:pPr algn="l"/>
            <a:r>
              <a:rPr sz="900" b="1">
                <a:solidFill>
                  <a:srgbClr val="C0392B"/>
                </a:solidFill>
                <a:latin typeface="Segoe UI"/>
              </a:rPr>
              <a:t>RISK</a:t>
            </a:r>
          </a:p>
        </p:txBody>
      </p:sp>
      <p:sp>
        <p:nvSpPr>
          <p:cNvPr id="28" name="TextBox 27"/>
          <p:cNvSpPr txBox="1"/>
          <p:nvPr/>
        </p:nvSpPr>
        <p:spPr>
          <a:xfrm>
            <a:off x="8377949" y="2971800"/>
            <a:ext cx="3200400" cy="822960"/>
          </a:xfrm>
          <a:prstGeom prst="rect">
            <a:avLst/>
          </a:prstGeom>
          <a:noFill/>
        </p:spPr>
        <p:txBody>
          <a:bodyPr wrap="square" lIns="0" tIns="0" rIns="0" bIns="0" anchor="t">
            <a:spAutoFit/>
          </a:bodyPr>
          <a:lstStyle/>
          <a:p>
            <a:pPr algn="l"/>
            <a:r>
              <a:rPr sz="1100" b="0" dirty="0">
                <a:solidFill>
                  <a:srgbClr val="1F2A37"/>
                </a:solidFill>
                <a:latin typeface="Segoe UI"/>
              </a:rPr>
              <a:t>Each turn re-sends entire history.</a:t>
            </a:r>
          </a:p>
          <a:p>
            <a:pPr algn="l"/>
            <a:r>
              <a:rPr sz="1100" b="0" dirty="0">
                <a:solidFill>
                  <a:srgbClr val="1F2A37"/>
                </a:solidFill>
                <a:latin typeface="Segoe UI"/>
              </a:rPr>
              <a:t>Cost grows quadratically.</a:t>
            </a:r>
          </a:p>
        </p:txBody>
      </p:sp>
      <p:sp>
        <p:nvSpPr>
          <p:cNvPr id="29" name="TextBox 28"/>
          <p:cNvSpPr txBox="1"/>
          <p:nvPr/>
        </p:nvSpPr>
        <p:spPr>
          <a:xfrm>
            <a:off x="8343430" y="3374852"/>
            <a:ext cx="3200400" cy="274320"/>
          </a:xfrm>
          <a:prstGeom prst="rect">
            <a:avLst/>
          </a:prstGeom>
          <a:noFill/>
        </p:spPr>
        <p:txBody>
          <a:bodyPr wrap="square" lIns="0" tIns="0" rIns="0" bIns="0" anchor="t">
            <a:spAutoFit/>
          </a:bodyPr>
          <a:lstStyle/>
          <a:p>
            <a:pPr algn="l"/>
            <a:r>
              <a:rPr sz="900" b="1" dirty="0">
                <a:solidFill>
                  <a:srgbClr val="1E8E3E"/>
                </a:solidFill>
                <a:latin typeface="Segoe UI"/>
              </a:rPr>
              <a:t>MITIGATION</a:t>
            </a:r>
          </a:p>
        </p:txBody>
      </p:sp>
      <p:sp>
        <p:nvSpPr>
          <p:cNvPr id="30" name="TextBox 29"/>
          <p:cNvSpPr txBox="1"/>
          <p:nvPr/>
        </p:nvSpPr>
        <p:spPr>
          <a:xfrm>
            <a:off x="8308911" y="3590405"/>
            <a:ext cx="3200400" cy="822960"/>
          </a:xfrm>
          <a:prstGeom prst="rect">
            <a:avLst/>
          </a:prstGeom>
          <a:noFill/>
        </p:spPr>
        <p:txBody>
          <a:bodyPr wrap="square" lIns="0" tIns="0" rIns="0" bIns="0" anchor="t">
            <a:spAutoFit/>
          </a:bodyPr>
          <a:lstStyle/>
          <a:p>
            <a:pPr algn="l"/>
            <a:r>
              <a:rPr sz="1100" b="0" dirty="0">
                <a:solidFill>
                  <a:srgbClr val="1F2A37"/>
                </a:solidFill>
                <a:latin typeface="Segoe UI"/>
              </a:rPr>
              <a:t>Summarization, sliding window, selective memory.</a:t>
            </a:r>
          </a:p>
        </p:txBody>
      </p:sp>
      <p:sp>
        <p:nvSpPr>
          <p:cNvPr id="31" name="Rounded Rectangle 30">
            <a:extLst>
              <a:ext uri="{C183D7F6-B498-43B3-948B-1728B52AA6E4}">
                <adec:decorative xmlns:adec="http://schemas.microsoft.com/office/drawing/2017/decorative" val="1"/>
              </a:ext>
            </a:extLst>
          </p:cNvPr>
          <p:cNvSpPr/>
          <p:nvPr/>
        </p:nvSpPr>
        <p:spPr>
          <a:xfrm>
            <a:off x="2179472" y="4343400"/>
            <a:ext cx="3703320" cy="2423160"/>
          </a:xfrm>
          <a:prstGeom prst="roundRect">
            <a:avLst/>
          </a:prstGeom>
          <a:solidFill>
            <a:srgbClr val="FFFFFF"/>
          </a:solidFill>
          <a:ln w="9525">
            <a:solidFill>
              <a:srgbClr val="CFD8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a:extLst>
              <a:ext uri="{C183D7F6-B498-43B3-948B-1728B52AA6E4}">
                <adec:decorative xmlns:adec="http://schemas.microsoft.com/office/drawing/2017/decorative" val="1"/>
              </a:ext>
            </a:extLst>
          </p:cNvPr>
          <p:cNvSpPr/>
          <p:nvPr/>
        </p:nvSpPr>
        <p:spPr>
          <a:xfrm>
            <a:off x="2584551" y="4389120"/>
            <a:ext cx="777240" cy="777240"/>
          </a:xfrm>
          <a:prstGeom prst="ellipse">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584551" y="4389120"/>
            <a:ext cx="777240" cy="777240"/>
          </a:xfrm>
          <a:prstGeom prst="rect">
            <a:avLst/>
          </a:prstGeom>
          <a:noFill/>
        </p:spPr>
        <p:txBody>
          <a:bodyPr wrap="square" lIns="0" tIns="0" rIns="0" bIns="0" anchor="ctr">
            <a:spAutoFit/>
          </a:bodyPr>
          <a:lstStyle/>
          <a:p>
            <a:pPr algn="ctr"/>
            <a:r>
              <a:rPr sz="2600" b="1">
                <a:solidFill>
                  <a:srgbClr val="FFFFFF"/>
                </a:solidFill>
                <a:latin typeface="Segoe UI Emoji"/>
              </a:rPr>
              <a:t>⚡</a:t>
            </a:r>
          </a:p>
        </p:txBody>
      </p:sp>
      <p:sp>
        <p:nvSpPr>
          <p:cNvPr id="34" name="TextBox 33"/>
          <p:cNvSpPr txBox="1"/>
          <p:nvPr/>
        </p:nvSpPr>
        <p:spPr>
          <a:xfrm>
            <a:off x="3476091" y="4663440"/>
            <a:ext cx="2377440" cy="777240"/>
          </a:xfrm>
          <a:prstGeom prst="rect">
            <a:avLst/>
          </a:prstGeom>
          <a:noFill/>
        </p:spPr>
        <p:txBody>
          <a:bodyPr wrap="square" lIns="0" tIns="0" rIns="0" bIns="0" anchor="t">
            <a:spAutoFit/>
          </a:bodyPr>
          <a:lstStyle/>
          <a:p>
            <a:pPr algn="l"/>
            <a:r>
              <a:rPr sz="1500" b="1">
                <a:solidFill>
                  <a:srgbClr val="0F2A5C"/>
                </a:solidFill>
                <a:latin typeface="Segoe UI"/>
              </a:rPr>
              <a:t>Retry Storm</a:t>
            </a:r>
          </a:p>
        </p:txBody>
      </p:sp>
      <p:sp>
        <p:nvSpPr>
          <p:cNvPr id="35" name="TextBox 34"/>
          <p:cNvSpPr txBox="1"/>
          <p:nvPr/>
        </p:nvSpPr>
        <p:spPr>
          <a:xfrm>
            <a:off x="2584551" y="5394960"/>
            <a:ext cx="3200400" cy="274320"/>
          </a:xfrm>
          <a:prstGeom prst="rect">
            <a:avLst/>
          </a:prstGeom>
          <a:noFill/>
        </p:spPr>
        <p:txBody>
          <a:bodyPr wrap="square" lIns="0" tIns="0" rIns="0" bIns="0" anchor="t">
            <a:spAutoFit/>
          </a:bodyPr>
          <a:lstStyle/>
          <a:p>
            <a:pPr algn="l"/>
            <a:r>
              <a:rPr sz="900" b="1">
                <a:solidFill>
                  <a:srgbClr val="C0392B"/>
                </a:solidFill>
                <a:latin typeface="Segoe UI"/>
              </a:rPr>
              <a:t>RISK</a:t>
            </a:r>
          </a:p>
        </p:txBody>
      </p:sp>
      <p:sp>
        <p:nvSpPr>
          <p:cNvPr id="36" name="TextBox 35"/>
          <p:cNvSpPr txBox="1"/>
          <p:nvPr/>
        </p:nvSpPr>
        <p:spPr>
          <a:xfrm>
            <a:off x="2576856" y="5577840"/>
            <a:ext cx="3200400" cy="822960"/>
          </a:xfrm>
          <a:prstGeom prst="rect">
            <a:avLst/>
          </a:prstGeom>
          <a:noFill/>
        </p:spPr>
        <p:txBody>
          <a:bodyPr wrap="square" lIns="0" tIns="0" rIns="0" bIns="0" anchor="t">
            <a:spAutoFit/>
          </a:bodyPr>
          <a:lstStyle/>
          <a:p>
            <a:pPr algn="l"/>
            <a:r>
              <a:rPr sz="1100" b="0" dirty="0">
                <a:solidFill>
                  <a:srgbClr val="1F2A37"/>
                </a:solidFill>
                <a:latin typeface="Segoe UI"/>
              </a:rPr>
              <a:t>Failed calls trigger auto-retries; 429</a:t>
            </a:r>
          </a:p>
          <a:p>
            <a:pPr algn="l"/>
            <a:r>
              <a:rPr sz="1100" b="0" dirty="0">
                <a:solidFill>
                  <a:srgbClr val="1F2A37"/>
                </a:solidFill>
                <a:latin typeface="Segoe UI"/>
              </a:rPr>
              <a:t>backoff loops still cost tokens.</a:t>
            </a:r>
          </a:p>
        </p:txBody>
      </p:sp>
      <p:sp>
        <p:nvSpPr>
          <p:cNvPr id="37" name="TextBox 36"/>
          <p:cNvSpPr txBox="1"/>
          <p:nvPr/>
        </p:nvSpPr>
        <p:spPr>
          <a:xfrm>
            <a:off x="2584551" y="6126480"/>
            <a:ext cx="3200400" cy="274320"/>
          </a:xfrm>
          <a:prstGeom prst="rect">
            <a:avLst/>
          </a:prstGeom>
          <a:noFill/>
        </p:spPr>
        <p:txBody>
          <a:bodyPr wrap="square" lIns="0" tIns="0" rIns="0" bIns="0" anchor="t">
            <a:spAutoFit/>
          </a:bodyPr>
          <a:lstStyle/>
          <a:p>
            <a:pPr algn="l"/>
            <a:r>
              <a:rPr sz="900" b="1" dirty="0">
                <a:solidFill>
                  <a:srgbClr val="1E8E3E"/>
                </a:solidFill>
                <a:latin typeface="Segoe UI"/>
              </a:rPr>
              <a:t>MITIGATION</a:t>
            </a:r>
          </a:p>
        </p:txBody>
      </p:sp>
      <p:sp>
        <p:nvSpPr>
          <p:cNvPr id="38" name="TextBox 37"/>
          <p:cNvSpPr txBox="1"/>
          <p:nvPr/>
        </p:nvSpPr>
        <p:spPr>
          <a:xfrm>
            <a:off x="2539137" y="6303361"/>
            <a:ext cx="3200400" cy="822960"/>
          </a:xfrm>
          <a:prstGeom prst="rect">
            <a:avLst/>
          </a:prstGeom>
          <a:noFill/>
        </p:spPr>
        <p:txBody>
          <a:bodyPr wrap="square" lIns="0" tIns="0" rIns="0" bIns="0" anchor="t">
            <a:spAutoFit/>
          </a:bodyPr>
          <a:lstStyle/>
          <a:p>
            <a:pPr algn="l"/>
            <a:r>
              <a:rPr sz="1100" b="0" dirty="0">
                <a:solidFill>
                  <a:srgbClr val="1F2A37"/>
                </a:solidFill>
                <a:latin typeface="Segoe UI"/>
              </a:rPr>
              <a:t>Circuit breakers; DLQs; max retry budgets.</a:t>
            </a:r>
          </a:p>
        </p:txBody>
      </p:sp>
      <p:sp>
        <p:nvSpPr>
          <p:cNvPr id="39" name="Rounded Rectangle 38">
            <a:extLst>
              <a:ext uri="{C183D7F6-B498-43B3-948B-1728B52AA6E4}">
                <adec:decorative xmlns:adec="http://schemas.microsoft.com/office/drawing/2017/decorative" val="1"/>
              </a:ext>
            </a:extLst>
          </p:cNvPr>
          <p:cNvSpPr/>
          <p:nvPr/>
        </p:nvSpPr>
        <p:spPr>
          <a:xfrm>
            <a:off x="6150711" y="4434840"/>
            <a:ext cx="3703320" cy="2423160"/>
          </a:xfrm>
          <a:prstGeom prst="roundRect">
            <a:avLst/>
          </a:prstGeom>
          <a:solidFill>
            <a:srgbClr val="FFFFFF"/>
          </a:solidFill>
          <a:ln w="9525">
            <a:solidFill>
              <a:srgbClr val="CFD8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a:extLst>
              <a:ext uri="{C183D7F6-B498-43B3-948B-1728B52AA6E4}">
                <adec:decorative xmlns:adec="http://schemas.microsoft.com/office/drawing/2017/decorative" val="1"/>
              </a:ext>
            </a:extLst>
          </p:cNvPr>
          <p:cNvSpPr/>
          <p:nvPr/>
        </p:nvSpPr>
        <p:spPr>
          <a:xfrm>
            <a:off x="6452463" y="4389120"/>
            <a:ext cx="777240" cy="777240"/>
          </a:xfrm>
          <a:prstGeom prst="ellipse">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52463" y="4389120"/>
            <a:ext cx="777240" cy="777240"/>
          </a:xfrm>
          <a:prstGeom prst="rect">
            <a:avLst/>
          </a:prstGeom>
          <a:noFill/>
        </p:spPr>
        <p:txBody>
          <a:bodyPr wrap="square" lIns="0" tIns="0" rIns="0" bIns="0" anchor="ctr">
            <a:spAutoFit/>
          </a:bodyPr>
          <a:lstStyle/>
          <a:p>
            <a:pPr algn="ctr"/>
            <a:r>
              <a:rPr sz="2600" b="1">
                <a:solidFill>
                  <a:srgbClr val="FFFFFF"/>
                </a:solidFill>
                <a:latin typeface="Segoe UI Emoji"/>
              </a:rPr>
              <a:t>🧠</a:t>
            </a:r>
          </a:p>
        </p:txBody>
      </p:sp>
      <p:sp>
        <p:nvSpPr>
          <p:cNvPr id="42" name="TextBox 41"/>
          <p:cNvSpPr txBox="1"/>
          <p:nvPr/>
        </p:nvSpPr>
        <p:spPr>
          <a:xfrm>
            <a:off x="7366863" y="4480560"/>
            <a:ext cx="2377440" cy="777240"/>
          </a:xfrm>
          <a:prstGeom prst="rect">
            <a:avLst/>
          </a:prstGeom>
          <a:noFill/>
        </p:spPr>
        <p:txBody>
          <a:bodyPr wrap="square" lIns="0" tIns="0" rIns="0" bIns="0" anchor="t">
            <a:spAutoFit/>
          </a:bodyPr>
          <a:lstStyle/>
          <a:p>
            <a:pPr algn="l"/>
            <a:r>
              <a:rPr sz="1500" b="1">
                <a:solidFill>
                  <a:srgbClr val="0F2A5C"/>
                </a:solidFill>
                <a:latin typeface="Segoe UI"/>
              </a:rPr>
              <a:t>Model Over-Provisioning</a:t>
            </a:r>
          </a:p>
        </p:txBody>
      </p:sp>
      <p:sp>
        <p:nvSpPr>
          <p:cNvPr id="43" name="TextBox 42"/>
          <p:cNvSpPr txBox="1"/>
          <p:nvPr/>
        </p:nvSpPr>
        <p:spPr>
          <a:xfrm>
            <a:off x="6452463" y="5394960"/>
            <a:ext cx="3200400" cy="274320"/>
          </a:xfrm>
          <a:prstGeom prst="rect">
            <a:avLst/>
          </a:prstGeom>
          <a:noFill/>
        </p:spPr>
        <p:txBody>
          <a:bodyPr wrap="square" lIns="0" tIns="0" rIns="0" bIns="0" anchor="t">
            <a:spAutoFit/>
          </a:bodyPr>
          <a:lstStyle/>
          <a:p>
            <a:pPr algn="l"/>
            <a:r>
              <a:rPr sz="900" b="1">
                <a:solidFill>
                  <a:srgbClr val="C0392B"/>
                </a:solidFill>
                <a:latin typeface="Segoe UI"/>
              </a:rPr>
              <a:t>RISK</a:t>
            </a:r>
          </a:p>
        </p:txBody>
      </p:sp>
      <p:sp>
        <p:nvSpPr>
          <p:cNvPr id="44" name="TextBox 43"/>
          <p:cNvSpPr txBox="1"/>
          <p:nvPr/>
        </p:nvSpPr>
        <p:spPr>
          <a:xfrm>
            <a:off x="6414744" y="5577840"/>
            <a:ext cx="3200400" cy="822960"/>
          </a:xfrm>
          <a:prstGeom prst="rect">
            <a:avLst/>
          </a:prstGeom>
          <a:noFill/>
        </p:spPr>
        <p:txBody>
          <a:bodyPr wrap="square" lIns="0" tIns="0" rIns="0" bIns="0" anchor="t">
            <a:spAutoFit/>
          </a:bodyPr>
          <a:lstStyle/>
          <a:p>
            <a:pPr algn="l"/>
            <a:r>
              <a:rPr sz="1100" b="0" dirty="0">
                <a:solidFill>
                  <a:srgbClr val="1F2A37"/>
                </a:solidFill>
                <a:latin typeface="Segoe UI"/>
              </a:rPr>
              <a:t>Using GPT-4o where GPT-4o-mini</a:t>
            </a:r>
          </a:p>
          <a:p>
            <a:pPr algn="l"/>
            <a:r>
              <a:rPr sz="1100" b="0" dirty="0">
                <a:solidFill>
                  <a:srgbClr val="1F2A37"/>
                </a:solidFill>
                <a:latin typeface="Segoe UI"/>
              </a:rPr>
              <a:t>suffices = 10–30× cost premium.</a:t>
            </a:r>
          </a:p>
        </p:txBody>
      </p:sp>
      <p:sp>
        <p:nvSpPr>
          <p:cNvPr id="45" name="TextBox 44"/>
          <p:cNvSpPr txBox="1"/>
          <p:nvPr/>
        </p:nvSpPr>
        <p:spPr>
          <a:xfrm>
            <a:off x="6402171" y="6111471"/>
            <a:ext cx="3200400" cy="274320"/>
          </a:xfrm>
          <a:prstGeom prst="rect">
            <a:avLst/>
          </a:prstGeom>
          <a:noFill/>
        </p:spPr>
        <p:txBody>
          <a:bodyPr wrap="square" lIns="0" tIns="0" rIns="0" bIns="0" anchor="t">
            <a:spAutoFit/>
          </a:bodyPr>
          <a:lstStyle/>
          <a:p>
            <a:pPr algn="l"/>
            <a:r>
              <a:rPr sz="900" b="1" dirty="0">
                <a:solidFill>
                  <a:srgbClr val="1E8E3E"/>
                </a:solidFill>
                <a:latin typeface="Segoe UI"/>
              </a:rPr>
              <a:t>MITIGATION</a:t>
            </a:r>
          </a:p>
        </p:txBody>
      </p:sp>
      <p:sp>
        <p:nvSpPr>
          <p:cNvPr id="46" name="TextBox 45"/>
          <p:cNvSpPr txBox="1"/>
          <p:nvPr/>
        </p:nvSpPr>
        <p:spPr>
          <a:xfrm>
            <a:off x="6427317" y="6303361"/>
            <a:ext cx="3200400" cy="822960"/>
          </a:xfrm>
          <a:prstGeom prst="rect">
            <a:avLst/>
          </a:prstGeom>
          <a:noFill/>
        </p:spPr>
        <p:txBody>
          <a:bodyPr wrap="square" lIns="0" tIns="0" rIns="0" bIns="0" anchor="t">
            <a:spAutoFit/>
          </a:bodyPr>
          <a:lstStyle/>
          <a:p>
            <a:pPr algn="l"/>
            <a:r>
              <a:rPr sz="1100" b="0" dirty="0">
                <a:solidFill>
                  <a:srgbClr val="1F2A37"/>
                </a:solidFill>
                <a:latin typeface="Segoe UI"/>
              </a:rPr>
              <a:t>Model routing by task complexity.</a:t>
            </a:r>
          </a:p>
        </p:txBody>
      </p:sp>
      <p:sp>
        <p:nvSpPr>
          <p:cNvPr id="47" name="TextBox 46"/>
          <p:cNvSpPr txBox="1"/>
          <p:nvPr/>
        </p:nvSpPr>
        <p:spPr>
          <a:xfrm>
            <a:off x="384417" y="6537960"/>
            <a:ext cx="11247120" cy="274320"/>
          </a:xfrm>
          <a:prstGeom prst="rect">
            <a:avLst/>
          </a:prstGeom>
          <a:noFill/>
        </p:spPr>
        <p:txBody>
          <a:bodyPr wrap="square" lIns="0" tIns="0" rIns="0" bIns="0" anchor="t">
            <a:spAutoFit/>
          </a:bodyPr>
          <a:lstStyle/>
          <a:p>
            <a:pPr algn="ctr"/>
            <a:r>
              <a:rPr sz="900" b="0" dirty="0">
                <a:solidFill>
                  <a:srgbClr val="556677"/>
                </a:solidFill>
                <a:latin typeface="Segoe UI"/>
              </a:rPr>
              <a:t>Microsoft Confidential</a:t>
            </a:r>
          </a:p>
        </p:txBody>
      </p:sp>
    </p:spTree>
  </p:cSld>
  <p:clrMapOvr>
    <a:overrideClrMapping bg1="lt1" tx1="dk1" bg2="lt2" tx2="dk2" accent1="accent1" accent2="accent2" accent3="accent3" accent4="accent4" accent5="accent5" accent6="accent6" hlink="hlink" folHlink="folHlink"/>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68680"/>
          </a:xfrm>
          <a:prstGeom prst="rect">
            <a:avLst/>
          </a:prstGeom>
          <a:solidFill>
            <a:srgbClr val="0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868680"/>
            <a:ext cx="12191695" cy="5486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64592"/>
            <a:ext cx="11247120" cy="640080"/>
          </a:xfrm>
          <a:prstGeom prst="rect">
            <a:avLst/>
          </a:prstGeom>
          <a:noFill/>
        </p:spPr>
        <p:txBody>
          <a:bodyPr wrap="square" lIns="0" tIns="0" rIns="0" bIns="0" anchor="ctr">
            <a:spAutoFit/>
          </a:bodyPr>
          <a:lstStyle/>
          <a:p>
            <a:pPr algn="l"/>
            <a:r>
              <a:rPr sz="3000" b="1">
                <a:solidFill>
                  <a:srgbClr val="FFFFFF"/>
                </a:solidFill>
                <a:latin typeface="Segoe UI"/>
              </a:rPr>
              <a:t>Cost Explosion Patterns in Agentic Systems (Cont’d)</a:t>
            </a:r>
          </a:p>
        </p:txBody>
      </p:sp>
      <p:sp>
        <p:nvSpPr>
          <p:cNvPr id="6" name="TextBox 5"/>
          <p:cNvSpPr txBox="1"/>
          <p:nvPr/>
        </p:nvSpPr>
        <p:spPr>
          <a:xfrm>
            <a:off x="457200" y="1051560"/>
            <a:ext cx="11247120" cy="365760"/>
          </a:xfrm>
          <a:prstGeom prst="rect">
            <a:avLst/>
          </a:prstGeom>
          <a:noFill/>
        </p:spPr>
        <p:txBody>
          <a:bodyPr wrap="square" lIns="0" tIns="0" rIns="0" bIns="0" anchor="t">
            <a:spAutoFit/>
          </a:bodyPr>
          <a:lstStyle/>
          <a:p>
            <a:pPr algn="l"/>
            <a:r>
              <a:rPr sz="1400" b="0">
                <a:solidFill>
                  <a:srgbClr val="556677"/>
                </a:solidFill>
                <a:latin typeface="Segoe UI"/>
              </a:rPr>
              <a:t>Two more failure modes — from cascading retries to oversized models</a:t>
            </a:r>
          </a:p>
        </p:txBody>
      </p:sp>
      <p:sp>
        <p:nvSpPr>
          <p:cNvPr id="7" name="Rounded Rectangle 6"/>
          <p:cNvSpPr/>
          <p:nvPr/>
        </p:nvSpPr>
        <p:spPr>
          <a:xfrm>
            <a:off x="403707" y="1554480"/>
            <a:ext cx="5577840" cy="4754880"/>
          </a:xfrm>
          <a:prstGeom prst="roundRect">
            <a:avLst/>
          </a:prstGeom>
          <a:solidFill>
            <a:srgbClr val="FFFFFF"/>
          </a:solidFill>
          <a:ln w="9525">
            <a:solidFill>
              <a:srgbClr val="CFD8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03707" y="1554480"/>
            <a:ext cx="5577840" cy="7315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69467" y="1965960"/>
            <a:ext cx="1005840" cy="1005840"/>
          </a:xfrm>
          <a:prstGeom prst="ellipse">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9467" y="1965960"/>
            <a:ext cx="1005840" cy="1005840"/>
          </a:xfrm>
          <a:prstGeom prst="rect">
            <a:avLst/>
          </a:prstGeom>
          <a:noFill/>
        </p:spPr>
        <p:txBody>
          <a:bodyPr wrap="square" lIns="0" tIns="0" rIns="0" bIns="0" anchor="ctr">
            <a:spAutoFit/>
          </a:bodyPr>
          <a:lstStyle/>
          <a:p>
            <a:pPr algn="ctr"/>
            <a:r>
              <a:rPr sz="3600" b="1">
                <a:solidFill>
                  <a:srgbClr val="FFFFFF"/>
                </a:solidFill>
                <a:latin typeface="Segoe UI Emoji"/>
              </a:rPr>
              <a:t>⚡</a:t>
            </a:r>
          </a:p>
        </p:txBody>
      </p:sp>
      <p:sp>
        <p:nvSpPr>
          <p:cNvPr id="11" name="TextBox 10"/>
          <p:cNvSpPr txBox="1"/>
          <p:nvPr/>
        </p:nvSpPr>
        <p:spPr>
          <a:xfrm>
            <a:off x="1958187" y="1965960"/>
            <a:ext cx="3886200" cy="320040"/>
          </a:xfrm>
          <a:prstGeom prst="rect">
            <a:avLst/>
          </a:prstGeom>
          <a:noFill/>
        </p:spPr>
        <p:txBody>
          <a:bodyPr wrap="square" lIns="0" tIns="0" rIns="0" bIns="0" anchor="t">
            <a:spAutoFit/>
          </a:bodyPr>
          <a:lstStyle/>
          <a:p>
            <a:pPr algn="l"/>
            <a:r>
              <a:rPr sz="1100" b="1">
                <a:solidFill>
                  <a:srgbClr val="F5A623"/>
                </a:solidFill>
                <a:latin typeface="Segoe UI"/>
              </a:rPr>
              <a:t>PATTERN 4</a:t>
            </a:r>
          </a:p>
        </p:txBody>
      </p:sp>
      <p:sp>
        <p:nvSpPr>
          <p:cNvPr id="12" name="TextBox 11"/>
          <p:cNvSpPr txBox="1"/>
          <p:nvPr/>
        </p:nvSpPr>
        <p:spPr>
          <a:xfrm>
            <a:off x="1958187" y="2267712"/>
            <a:ext cx="3886200" cy="640080"/>
          </a:xfrm>
          <a:prstGeom prst="rect">
            <a:avLst/>
          </a:prstGeom>
          <a:noFill/>
        </p:spPr>
        <p:txBody>
          <a:bodyPr wrap="square" lIns="0" tIns="0" rIns="0" bIns="0" anchor="t">
            <a:spAutoFit/>
          </a:bodyPr>
          <a:lstStyle/>
          <a:p>
            <a:pPr algn="l"/>
            <a:r>
              <a:rPr sz="2200" b="1">
                <a:solidFill>
                  <a:srgbClr val="0F2A5C"/>
                </a:solidFill>
                <a:latin typeface="Segoe UI"/>
              </a:rPr>
              <a:t>Retry Storm</a:t>
            </a:r>
          </a:p>
        </p:txBody>
      </p:sp>
      <p:sp>
        <p:nvSpPr>
          <p:cNvPr id="13" name="Oval 12"/>
          <p:cNvSpPr/>
          <p:nvPr/>
        </p:nvSpPr>
        <p:spPr>
          <a:xfrm>
            <a:off x="815187" y="3328416"/>
            <a:ext cx="109728" cy="109728"/>
          </a:xfrm>
          <a:prstGeom prst="ellipse">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43787" y="3246120"/>
            <a:ext cx="4709160" cy="502920"/>
          </a:xfrm>
          <a:prstGeom prst="rect">
            <a:avLst/>
          </a:prstGeom>
          <a:noFill/>
        </p:spPr>
        <p:txBody>
          <a:bodyPr wrap="square" lIns="0" tIns="0" rIns="0" bIns="0" anchor="t">
            <a:spAutoFit/>
          </a:bodyPr>
          <a:lstStyle/>
          <a:p>
            <a:pPr algn="l"/>
            <a:r>
              <a:rPr sz="1200" b="0">
                <a:solidFill>
                  <a:srgbClr val="1F2A37"/>
                </a:solidFill>
                <a:latin typeface="Segoe UI"/>
              </a:rPr>
              <a:t>Failed API calls trigger automatic retries</a:t>
            </a:r>
          </a:p>
        </p:txBody>
      </p:sp>
      <p:sp>
        <p:nvSpPr>
          <p:cNvPr id="15" name="Oval 14"/>
          <p:cNvSpPr/>
          <p:nvPr/>
        </p:nvSpPr>
        <p:spPr>
          <a:xfrm>
            <a:off x="815187" y="3831336"/>
            <a:ext cx="109728" cy="109728"/>
          </a:xfrm>
          <a:prstGeom prst="ellipse">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43787" y="3749040"/>
            <a:ext cx="4709160" cy="502920"/>
          </a:xfrm>
          <a:prstGeom prst="rect">
            <a:avLst/>
          </a:prstGeom>
          <a:noFill/>
        </p:spPr>
        <p:txBody>
          <a:bodyPr wrap="square" lIns="0" tIns="0" rIns="0" bIns="0" anchor="t">
            <a:spAutoFit/>
          </a:bodyPr>
          <a:lstStyle/>
          <a:p>
            <a:pPr algn="l"/>
            <a:r>
              <a:rPr sz="1200" b="0">
                <a:solidFill>
                  <a:srgbClr val="1F2A37"/>
                </a:solidFill>
                <a:latin typeface="Segoe UI"/>
              </a:rPr>
              <a:t>Tokens are charged even on partial completions</a:t>
            </a:r>
          </a:p>
        </p:txBody>
      </p:sp>
      <p:sp>
        <p:nvSpPr>
          <p:cNvPr id="17" name="Oval 16"/>
          <p:cNvSpPr/>
          <p:nvPr/>
        </p:nvSpPr>
        <p:spPr>
          <a:xfrm>
            <a:off x="815187" y="4334256"/>
            <a:ext cx="109728" cy="109728"/>
          </a:xfrm>
          <a:prstGeom prst="ellipse">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3787" y="4251960"/>
            <a:ext cx="4709160" cy="502920"/>
          </a:xfrm>
          <a:prstGeom prst="rect">
            <a:avLst/>
          </a:prstGeom>
          <a:noFill/>
        </p:spPr>
        <p:txBody>
          <a:bodyPr wrap="square" lIns="0" tIns="0" rIns="0" bIns="0" anchor="t">
            <a:spAutoFit/>
          </a:bodyPr>
          <a:lstStyle/>
          <a:p>
            <a:pPr algn="l"/>
            <a:r>
              <a:rPr sz="1200" b="0">
                <a:solidFill>
                  <a:srgbClr val="1F2A37"/>
                </a:solidFill>
                <a:latin typeface="Segoe UI"/>
              </a:rPr>
              <a:t>429 rate limits cause backoff loops that still cost</a:t>
            </a:r>
          </a:p>
        </p:txBody>
      </p:sp>
      <p:sp>
        <p:nvSpPr>
          <p:cNvPr id="19" name="Rectangle 18"/>
          <p:cNvSpPr/>
          <p:nvPr/>
        </p:nvSpPr>
        <p:spPr>
          <a:xfrm>
            <a:off x="769467" y="4526280"/>
            <a:ext cx="4846320" cy="18288"/>
          </a:xfrm>
          <a:prstGeom prst="rect">
            <a:avLst/>
          </a:prstGeom>
          <a:solidFill>
            <a:srgbClr val="CFD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9467" y="4663440"/>
            <a:ext cx="914400" cy="274320"/>
          </a:xfrm>
          <a:prstGeom prst="rect">
            <a:avLst/>
          </a:prstGeom>
          <a:noFill/>
        </p:spPr>
        <p:txBody>
          <a:bodyPr wrap="square" lIns="0" tIns="0" rIns="0" bIns="0" anchor="t">
            <a:spAutoFit/>
          </a:bodyPr>
          <a:lstStyle/>
          <a:p>
            <a:pPr algn="l"/>
            <a:r>
              <a:rPr sz="1000" b="1">
                <a:solidFill>
                  <a:srgbClr val="C0392B"/>
                </a:solidFill>
                <a:latin typeface="Segoe UI"/>
              </a:rPr>
              <a:t>RISK</a:t>
            </a:r>
          </a:p>
        </p:txBody>
      </p:sp>
      <p:sp>
        <p:nvSpPr>
          <p:cNvPr id="21" name="TextBox 20"/>
          <p:cNvSpPr txBox="1"/>
          <p:nvPr/>
        </p:nvSpPr>
        <p:spPr>
          <a:xfrm>
            <a:off x="1683867" y="4663440"/>
            <a:ext cx="4069080" cy="640080"/>
          </a:xfrm>
          <a:prstGeom prst="rect">
            <a:avLst/>
          </a:prstGeom>
          <a:noFill/>
        </p:spPr>
        <p:txBody>
          <a:bodyPr wrap="square" lIns="0" tIns="0" rIns="0" bIns="0" anchor="t">
            <a:spAutoFit/>
          </a:bodyPr>
          <a:lstStyle/>
          <a:p>
            <a:pPr algn="l"/>
            <a:r>
              <a:rPr sz="1200" b="0">
                <a:solidFill>
                  <a:srgbClr val="1F2A37"/>
                </a:solidFill>
                <a:latin typeface="Segoe UI"/>
              </a:rPr>
              <a:t>Cascading failures with exponential backoff inflate spend silently.</a:t>
            </a:r>
          </a:p>
        </p:txBody>
      </p:sp>
      <p:sp>
        <p:nvSpPr>
          <p:cNvPr id="22" name="TextBox 21"/>
          <p:cNvSpPr txBox="1"/>
          <p:nvPr/>
        </p:nvSpPr>
        <p:spPr>
          <a:xfrm>
            <a:off x="769467" y="5440680"/>
            <a:ext cx="914400" cy="274320"/>
          </a:xfrm>
          <a:prstGeom prst="rect">
            <a:avLst/>
          </a:prstGeom>
          <a:noFill/>
        </p:spPr>
        <p:txBody>
          <a:bodyPr wrap="square" lIns="0" tIns="0" rIns="0" bIns="0" anchor="t">
            <a:spAutoFit/>
          </a:bodyPr>
          <a:lstStyle/>
          <a:p>
            <a:pPr algn="l"/>
            <a:r>
              <a:rPr sz="1000" b="1">
                <a:solidFill>
                  <a:srgbClr val="1E8E3E"/>
                </a:solidFill>
                <a:latin typeface="Segoe UI"/>
              </a:rPr>
              <a:t>MITIGATION</a:t>
            </a:r>
          </a:p>
        </p:txBody>
      </p:sp>
      <p:sp>
        <p:nvSpPr>
          <p:cNvPr id="23" name="TextBox 22"/>
          <p:cNvSpPr txBox="1"/>
          <p:nvPr/>
        </p:nvSpPr>
        <p:spPr>
          <a:xfrm>
            <a:off x="1683867" y="5440680"/>
            <a:ext cx="4069080" cy="640080"/>
          </a:xfrm>
          <a:prstGeom prst="rect">
            <a:avLst/>
          </a:prstGeom>
          <a:noFill/>
        </p:spPr>
        <p:txBody>
          <a:bodyPr wrap="square" lIns="0" tIns="0" rIns="0" bIns="0" anchor="t">
            <a:spAutoFit/>
          </a:bodyPr>
          <a:lstStyle/>
          <a:p>
            <a:pPr algn="l"/>
            <a:r>
              <a:rPr sz="1200" b="0">
                <a:solidFill>
                  <a:srgbClr val="1F2A37"/>
                </a:solidFill>
                <a:latin typeface="Segoe UI"/>
              </a:rPr>
              <a:t>Circuit breakers, dead-letter queues, max retry budgets per workflow.</a:t>
            </a:r>
          </a:p>
        </p:txBody>
      </p:sp>
      <p:sp>
        <p:nvSpPr>
          <p:cNvPr id="24" name="Rounded Rectangle 23"/>
          <p:cNvSpPr/>
          <p:nvPr/>
        </p:nvSpPr>
        <p:spPr>
          <a:xfrm>
            <a:off x="6210147" y="1554480"/>
            <a:ext cx="5577840" cy="4754880"/>
          </a:xfrm>
          <a:prstGeom prst="roundRect">
            <a:avLst/>
          </a:prstGeom>
          <a:solidFill>
            <a:srgbClr val="FFFFFF"/>
          </a:solidFill>
          <a:ln w="9525">
            <a:solidFill>
              <a:srgbClr val="CFD8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210147" y="1554480"/>
            <a:ext cx="5577840" cy="7315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575907" y="1965960"/>
            <a:ext cx="1005840" cy="1005840"/>
          </a:xfrm>
          <a:prstGeom prst="ellipse">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75907" y="1965960"/>
            <a:ext cx="1005840" cy="1005840"/>
          </a:xfrm>
          <a:prstGeom prst="rect">
            <a:avLst/>
          </a:prstGeom>
          <a:noFill/>
        </p:spPr>
        <p:txBody>
          <a:bodyPr wrap="square" lIns="0" tIns="0" rIns="0" bIns="0" anchor="ctr">
            <a:spAutoFit/>
          </a:bodyPr>
          <a:lstStyle/>
          <a:p>
            <a:pPr algn="ctr"/>
            <a:r>
              <a:rPr sz="3600" b="1">
                <a:solidFill>
                  <a:srgbClr val="FFFFFF"/>
                </a:solidFill>
                <a:latin typeface="Segoe UI Emoji"/>
              </a:rPr>
              <a:t>🧠</a:t>
            </a:r>
          </a:p>
        </p:txBody>
      </p:sp>
      <p:sp>
        <p:nvSpPr>
          <p:cNvPr id="28" name="TextBox 27"/>
          <p:cNvSpPr txBox="1"/>
          <p:nvPr/>
        </p:nvSpPr>
        <p:spPr>
          <a:xfrm>
            <a:off x="7764627" y="1965960"/>
            <a:ext cx="3886200" cy="320040"/>
          </a:xfrm>
          <a:prstGeom prst="rect">
            <a:avLst/>
          </a:prstGeom>
          <a:noFill/>
        </p:spPr>
        <p:txBody>
          <a:bodyPr wrap="square" lIns="0" tIns="0" rIns="0" bIns="0" anchor="t">
            <a:spAutoFit/>
          </a:bodyPr>
          <a:lstStyle/>
          <a:p>
            <a:pPr algn="l"/>
            <a:r>
              <a:rPr sz="1100" b="1">
                <a:solidFill>
                  <a:srgbClr val="F5A623"/>
                </a:solidFill>
                <a:latin typeface="Segoe UI"/>
              </a:rPr>
              <a:t>PATTERN 5</a:t>
            </a:r>
          </a:p>
        </p:txBody>
      </p:sp>
      <p:sp>
        <p:nvSpPr>
          <p:cNvPr id="29" name="Title 28"/>
          <p:cNvSpPr txBox="1">
            <a:spLocks noGrp="1"/>
          </p:cNvSpPr>
          <p:nvPr>
            <p:ph type="title" idx="4294967295"/>
          </p:nvPr>
        </p:nvSpPr>
        <p:spPr>
          <a:xfrm>
            <a:off x="7764627" y="2267712"/>
            <a:ext cx="3886200" cy="64008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200" b="1" i="0" u="none" strike="noStrike" kern="1200" cap="none" spc="0" normalizeH="0" baseline="0" noProof="0" dirty="0">
                <a:ln>
                  <a:noFill/>
                </a:ln>
                <a:solidFill>
                  <a:srgbClr val="0F2A5C"/>
                </a:solidFill>
                <a:effectLst/>
                <a:uLnTx/>
                <a:uFillTx/>
                <a:latin typeface="Segoe UI"/>
                <a:ea typeface="+mn-ea"/>
                <a:cs typeface="+mn-cs"/>
              </a:rPr>
              <a:t>Model Over-Provisioning</a:t>
            </a:r>
          </a:p>
        </p:txBody>
      </p:sp>
      <p:sp>
        <p:nvSpPr>
          <p:cNvPr id="30" name="Oval 29"/>
          <p:cNvSpPr/>
          <p:nvPr/>
        </p:nvSpPr>
        <p:spPr>
          <a:xfrm>
            <a:off x="6621627" y="3328416"/>
            <a:ext cx="109728" cy="109728"/>
          </a:xfrm>
          <a:prstGeom prst="ellipse">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0227" y="3246120"/>
            <a:ext cx="4709160" cy="502920"/>
          </a:xfrm>
          <a:prstGeom prst="rect">
            <a:avLst/>
          </a:prstGeom>
          <a:noFill/>
        </p:spPr>
        <p:txBody>
          <a:bodyPr wrap="square" lIns="0" tIns="0" rIns="0" bIns="0" anchor="t">
            <a:spAutoFit/>
          </a:bodyPr>
          <a:lstStyle/>
          <a:p>
            <a:pPr algn="l"/>
            <a:r>
              <a:rPr sz="1200" b="0">
                <a:solidFill>
                  <a:srgbClr val="1F2A37"/>
                </a:solidFill>
                <a:latin typeface="Segoe UI"/>
              </a:rPr>
              <a:t>Using GPT-4o for tasks GPT-4o-mini handles fine</a:t>
            </a:r>
          </a:p>
        </p:txBody>
      </p:sp>
      <p:sp>
        <p:nvSpPr>
          <p:cNvPr id="32" name="Oval 31"/>
          <p:cNvSpPr/>
          <p:nvPr/>
        </p:nvSpPr>
        <p:spPr>
          <a:xfrm>
            <a:off x="6621627" y="3831336"/>
            <a:ext cx="109728" cy="109728"/>
          </a:xfrm>
          <a:prstGeom prst="ellipse">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850227" y="3749040"/>
            <a:ext cx="4709160" cy="502920"/>
          </a:xfrm>
          <a:prstGeom prst="rect">
            <a:avLst/>
          </a:prstGeom>
          <a:noFill/>
        </p:spPr>
        <p:txBody>
          <a:bodyPr wrap="square" lIns="0" tIns="0" rIns="0" bIns="0" anchor="t">
            <a:spAutoFit/>
          </a:bodyPr>
          <a:lstStyle/>
          <a:p>
            <a:pPr algn="l"/>
            <a:r>
              <a:rPr sz="1200" b="0">
                <a:solidFill>
                  <a:srgbClr val="1F2A37"/>
                </a:solidFill>
                <a:latin typeface="Segoe UI"/>
              </a:rPr>
              <a:t>Embedding calls with unnecessarily large models</a:t>
            </a:r>
          </a:p>
        </p:txBody>
      </p:sp>
      <p:sp>
        <p:nvSpPr>
          <p:cNvPr id="34" name="Oval 33"/>
          <p:cNvSpPr/>
          <p:nvPr/>
        </p:nvSpPr>
        <p:spPr>
          <a:xfrm>
            <a:off x="6621627" y="4334256"/>
            <a:ext cx="109728" cy="109728"/>
          </a:xfrm>
          <a:prstGeom prst="ellipse">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50227" y="4251960"/>
            <a:ext cx="4709160" cy="502920"/>
          </a:xfrm>
          <a:prstGeom prst="rect">
            <a:avLst/>
          </a:prstGeom>
          <a:noFill/>
        </p:spPr>
        <p:txBody>
          <a:bodyPr wrap="square" lIns="0" tIns="0" rIns="0" bIns="0" anchor="t">
            <a:spAutoFit/>
          </a:bodyPr>
          <a:lstStyle/>
          <a:p>
            <a:pPr algn="l"/>
            <a:r>
              <a:rPr sz="1200" b="0">
                <a:solidFill>
                  <a:srgbClr val="1F2A37"/>
                </a:solidFill>
                <a:latin typeface="Segoe UI"/>
              </a:rPr>
              <a:t>Default to flagship model without quality testing</a:t>
            </a:r>
          </a:p>
        </p:txBody>
      </p:sp>
      <p:sp>
        <p:nvSpPr>
          <p:cNvPr id="36" name="Rectangle 35"/>
          <p:cNvSpPr/>
          <p:nvPr/>
        </p:nvSpPr>
        <p:spPr>
          <a:xfrm>
            <a:off x="6575907" y="4526280"/>
            <a:ext cx="4846320" cy="18288"/>
          </a:xfrm>
          <a:prstGeom prst="rect">
            <a:avLst/>
          </a:prstGeom>
          <a:solidFill>
            <a:srgbClr val="CFD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575907" y="4663440"/>
            <a:ext cx="914400" cy="274320"/>
          </a:xfrm>
          <a:prstGeom prst="rect">
            <a:avLst/>
          </a:prstGeom>
          <a:noFill/>
        </p:spPr>
        <p:txBody>
          <a:bodyPr wrap="square" lIns="0" tIns="0" rIns="0" bIns="0" anchor="t">
            <a:spAutoFit/>
          </a:bodyPr>
          <a:lstStyle/>
          <a:p>
            <a:pPr algn="l"/>
            <a:r>
              <a:rPr sz="1000" b="1">
                <a:solidFill>
                  <a:srgbClr val="C0392B"/>
                </a:solidFill>
                <a:latin typeface="Segoe UI"/>
              </a:rPr>
              <a:t>RISK</a:t>
            </a:r>
          </a:p>
        </p:txBody>
      </p:sp>
      <p:sp>
        <p:nvSpPr>
          <p:cNvPr id="38" name="TextBox 37"/>
          <p:cNvSpPr txBox="1"/>
          <p:nvPr/>
        </p:nvSpPr>
        <p:spPr>
          <a:xfrm>
            <a:off x="7490307" y="4663440"/>
            <a:ext cx="4069080" cy="640080"/>
          </a:xfrm>
          <a:prstGeom prst="rect">
            <a:avLst/>
          </a:prstGeom>
          <a:noFill/>
        </p:spPr>
        <p:txBody>
          <a:bodyPr wrap="square" lIns="0" tIns="0" rIns="0" bIns="0" anchor="t">
            <a:spAutoFit/>
          </a:bodyPr>
          <a:lstStyle/>
          <a:p>
            <a:pPr algn="l"/>
            <a:r>
              <a:rPr sz="1200" b="0">
                <a:solidFill>
                  <a:srgbClr val="1F2A37"/>
                </a:solidFill>
                <a:latin typeface="Segoe UI"/>
              </a:rPr>
              <a:t>10–30× cost premium for equivalent output quality.</a:t>
            </a:r>
          </a:p>
        </p:txBody>
      </p:sp>
      <p:sp>
        <p:nvSpPr>
          <p:cNvPr id="39" name="TextBox 38"/>
          <p:cNvSpPr txBox="1"/>
          <p:nvPr/>
        </p:nvSpPr>
        <p:spPr>
          <a:xfrm>
            <a:off x="6575907" y="5440680"/>
            <a:ext cx="914400" cy="274320"/>
          </a:xfrm>
          <a:prstGeom prst="rect">
            <a:avLst/>
          </a:prstGeom>
          <a:noFill/>
        </p:spPr>
        <p:txBody>
          <a:bodyPr wrap="square" lIns="0" tIns="0" rIns="0" bIns="0" anchor="t">
            <a:spAutoFit/>
          </a:bodyPr>
          <a:lstStyle/>
          <a:p>
            <a:pPr algn="l"/>
            <a:r>
              <a:rPr sz="1000" b="1">
                <a:solidFill>
                  <a:srgbClr val="1E8E3E"/>
                </a:solidFill>
                <a:latin typeface="Segoe UI"/>
              </a:rPr>
              <a:t>MITIGATION</a:t>
            </a:r>
          </a:p>
        </p:txBody>
      </p:sp>
      <p:sp>
        <p:nvSpPr>
          <p:cNvPr id="40" name="TextBox 39"/>
          <p:cNvSpPr txBox="1"/>
          <p:nvPr/>
        </p:nvSpPr>
        <p:spPr>
          <a:xfrm>
            <a:off x="7490307" y="5440680"/>
            <a:ext cx="4069080" cy="640080"/>
          </a:xfrm>
          <a:prstGeom prst="rect">
            <a:avLst/>
          </a:prstGeom>
          <a:noFill/>
        </p:spPr>
        <p:txBody>
          <a:bodyPr wrap="square" lIns="0" tIns="0" rIns="0" bIns="0" anchor="t">
            <a:spAutoFit/>
          </a:bodyPr>
          <a:lstStyle/>
          <a:p>
            <a:pPr algn="l"/>
            <a:r>
              <a:rPr sz="1200" b="0">
                <a:solidFill>
                  <a:srgbClr val="1F2A37"/>
                </a:solidFill>
                <a:latin typeface="Segoe UI"/>
              </a:rPr>
              <a:t>Model routing by task complexity; tiered model selection policies.</a:t>
            </a:r>
          </a:p>
        </p:txBody>
      </p:sp>
      <p:sp>
        <p:nvSpPr>
          <p:cNvPr id="41" name="TextBox 40"/>
          <p:cNvSpPr txBox="1"/>
          <p:nvPr/>
        </p:nvSpPr>
        <p:spPr>
          <a:xfrm>
            <a:off x="457200" y="6537960"/>
            <a:ext cx="11247120" cy="274320"/>
          </a:xfrm>
          <a:prstGeom prst="rect">
            <a:avLst/>
          </a:prstGeom>
          <a:noFill/>
        </p:spPr>
        <p:txBody>
          <a:bodyPr wrap="square" lIns="0" tIns="0" rIns="0" bIns="0" anchor="t">
            <a:spAutoFit/>
          </a:bodyPr>
          <a:lstStyle/>
          <a:p>
            <a:pPr algn="ctr"/>
            <a:r>
              <a:rPr sz="900" b="0">
                <a:solidFill>
                  <a:srgbClr val="556677"/>
                </a:solidFill>
                <a:latin typeface="Segoe UI"/>
              </a:rPr>
              <a:t>Microsoft Confidential</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13284-1E5D-49FD-4F3A-413D19BE29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000DCB-D200-704C-12D7-CBFBE19C3B13}"/>
              </a:ext>
            </a:extLst>
          </p:cNvPr>
          <p:cNvSpPr>
            <a:spLocks noGrp="1"/>
          </p:cNvSpPr>
          <p:nvPr>
            <p:ph type="title"/>
          </p:nvPr>
        </p:nvSpPr>
        <p:spPr>
          <a:xfrm>
            <a:off x="575481" y="599436"/>
            <a:ext cx="11018520" cy="553998"/>
          </a:xfrm>
        </p:spPr>
        <p:txBody>
          <a:bodyPr vert="horz" wrap="square" lIns="0" tIns="0" rIns="0" bIns="0" rtlCol="0" anchor="t">
            <a:normAutofit/>
          </a:bodyPr>
          <a:lstStyle/>
          <a:p>
            <a:r>
              <a:rPr lang="en-US" b="0" kern="1200" cap="none" spc="0" baseline="0" dirty="0">
                <a:ln w="3175">
                  <a:noFill/>
                </a:ln>
                <a:effectLst/>
                <a:latin typeface="+mj-lt"/>
                <a:ea typeface="+mn-ea"/>
                <a:cs typeface="Segoe UI" pitchFamily="34" charset="0"/>
              </a:rPr>
              <a:t>Example of an Agentic System</a:t>
            </a:r>
          </a:p>
        </p:txBody>
      </p:sp>
      <p:sp>
        <p:nvSpPr>
          <p:cNvPr id="4" name="Footer Placeholder 3">
            <a:extLst>
              <a:ext uri="{FF2B5EF4-FFF2-40B4-BE49-F238E27FC236}">
                <a16:creationId xmlns:a16="http://schemas.microsoft.com/office/drawing/2014/main" id="{201D4C51-F63C-2B9C-FC4B-1D0B38FF2D17}"/>
              </a:ext>
            </a:extLst>
          </p:cNvPr>
          <p:cNvSpPr>
            <a:spLocks noGrp="1"/>
          </p:cNvSpPr>
          <p:nvPr>
            <p:ph type="ftr" sz="quarter" idx="3"/>
          </p:nvPr>
        </p:nvSpPr>
        <p:spPr>
          <a:xfrm>
            <a:off x="4038600" y="6539518"/>
            <a:ext cx="4114800" cy="123111"/>
          </a:xfrm>
        </p:spPr>
        <p:txBody>
          <a:bodyPr vert="horz" lIns="0" tIns="0" rIns="0" bIns="0" rtlCol="0" anchor="ctr">
            <a:normAutofit/>
          </a:bodyPr>
          <a:lstStyle/>
          <a:p>
            <a:pPr>
              <a:spcAft>
                <a:spcPts val="600"/>
              </a:spcAft>
              <a:defRPr/>
            </a:pPr>
            <a:r>
              <a:rPr lang="en-US" kern="1200">
                <a:solidFill>
                  <a:srgbClr val="000000"/>
                </a:solidFill>
                <a:latin typeface="Segoe UI"/>
                <a:ea typeface="+mn-ea"/>
                <a:cs typeface="+mn-cs"/>
              </a:rPr>
              <a:t>Microsoft Confidential</a:t>
            </a:r>
          </a:p>
        </p:txBody>
      </p:sp>
      <p:sp>
        <p:nvSpPr>
          <p:cNvPr id="5" name="Slide Number Placeholder 4">
            <a:extLst>
              <a:ext uri="{FF2B5EF4-FFF2-40B4-BE49-F238E27FC236}">
                <a16:creationId xmlns:a16="http://schemas.microsoft.com/office/drawing/2014/main" id="{B3B58AAC-E965-77F8-FEDC-3B06936FEB03}"/>
              </a:ext>
            </a:extLst>
          </p:cNvPr>
          <p:cNvSpPr>
            <a:spLocks noGrp="1"/>
          </p:cNvSpPr>
          <p:nvPr>
            <p:ph type="sldNum" sz="quarter" idx="4"/>
          </p:nvPr>
        </p:nvSpPr>
        <p:spPr>
          <a:xfrm>
            <a:off x="11697272" y="6539518"/>
            <a:ext cx="404240" cy="123111"/>
          </a:xfrm>
        </p:spPr>
        <p:txBody>
          <a:bodyPr vert="horz" wrap="square" lIns="0" tIns="0" rIns="0" bIns="0" rtlCol="0" anchor="ctr">
            <a:normAutofit/>
          </a:bodyPr>
          <a:lstStyle/>
          <a:p>
            <a:pPr>
              <a:spcAft>
                <a:spcPts val="600"/>
              </a:spcAft>
              <a:defRPr/>
            </a:pPr>
            <a:fld id="{8F881BB8-5469-4299-99B9-578BE3320A80}" type="slidenum">
              <a:rPr lang="en-US" smtClean="0">
                <a:solidFill>
                  <a:srgbClr val="000000"/>
                </a:solidFill>
                <a:latin typeface="Segoe UI"/>
              </a:rPr>
              <a:pPr>
                <a:spcAft>
                  <a:spcPts val="600"/>
                </a:spcAft>
                <a:defRPr/>
              </a:pPr>
              <a:t>7</a:t>
            </a:fld>
            <a:endParaRPr lang="en-US">
              <a:solidFill>
                <a:srgbClr val="000000"/>
              </a:solidFill>
              <a:latin typeface="Segoe UI"/>
            </a:endParaRPr>
          </a:p>
        </p:txBody>
      </p:sp>
      <p:sp>
        <p:nvSpPr>
          <p:cNvPr id="7" name="TextBox 6">
            <a:extLst>
              <a:ext uri="{FF2B5EF4-FFF2-40B4-BE49-F238E27FC236}">
                <a16:creationId xmlns:a16="http://schemas.microsoft.com/office/drawing/2014/main" id="{A08FC1BD-0E3E-E19F-5DF1-EA42B2DB99F0}"/>
              </a:ext>
            </a:extLst>
          </p:cNvPr>
          <p:cNvSpPr txBox="1"/>
          <p:nvPr/>
        </p:nvSpPr>
        <p:spPr>
          <a:xfrm>
            <a:off x="740979" y="1742090"/>
            <a:ext cx="10586545" cy="3631763"/>
          </a:xfrm>
          <a:prstGeom prst="rect">
            <a:avLst/>
          </a:prstGeom>
          <a:noFill/>
        </p:spPr>
        <p:txBody>
          <a:bodyPr wrap="square" lIns="0" tIns="0" rIns="0" bIns="0" rtlCol="0">
            <a:spAutoFit/>
          </a:bodyPr>
          <a:lstStyle/>
          <a:p>
            <a:r>
              <a:rPr lang="en-IN" dirty="0"/>
              <a:t>User Request (500 tokens)</a:t>
            </a:r>
          </a:p>
          <a:p>
            <a:r>
              <a:rPr lang="en-IN" dirty="0"/>
              <a:t>    → Orchestrator Agent (1,500 input + 800 output)</a:t>
            </a:r>
          </a:p>
          <a:p>
            <a:r>
              <a:rPr lang="en-IN" dirty="0"/>
              <a:t>        → Sub-Agent 1: Research (3,000 input + 1,200 output)</a:t>
            </a:r>
          </a:p>
          <a:p>
            <a:r>
              <a:rPr lang="en-IN" dirty="0"/>
              <a:t>            → Tool Call: Search (500 input + 2,000 output)</a:t>
            </a:r>
          </a:p>
          <a:p>
            <a:r>
              <a:rPr lang="en-IN" dirty="0"/>
              <a:t>        → Sub-Agent 2: Analysis (2,500 input + 1,500 output)</a:t>
            </a:r>
          </a:p>
          <a:p>
            <a:r>
              <a:rPr lang="en-IN" dirty="0"/>
              <a:t>        → Sub-Agent 3: Writing (4,000 input + 3,000 output)</a:t>
            </a:r>
          </a:p>
          <a:p>
            <a:r>
              <a:rPr lang="en-IN" dirty="0"/>
              <a:t>    → Final Synthesis (5,000 input + 2,000 output)</a:t>
            </a:r>
          </a:p>
          <a:p>
            <a:r>
              <a:rPr lang="en-IN" dirty="0"/>
              <a:t>─────────────────────────────────────────────────</a:t>
            </a:r>
          </a:p>
          <a:p>
            <a:r>
              <a:rPr lang="en-IN" dirty="0"/>
              <a:t>Total: ~22,000 tokens for 1 user request</a:t>
            </a:r>
          </a:p>
          <a:p>
            <a:r>
              <a:rPr lang="en-IN" dirty="0"/>
              <a:t>At GPT-4o rates (~$5/1M input, ~$15/1M output):</a:t>
            </a:r>
          </a:p>
          <a:p>
            <a:r>
              <a:rPr lang="en-IN" dirty="0"/>
              <a:t>Cost per request ≈ $0.12 - $0.25</a:t>
            </a:r>
          </a:p>
          <a:p>
            <a:r>
              <a:rPr lang="en-IN" dirty="0"/>
              <a:t>At 10,000 requests/day = $1,200 - $2,500/day</a:t>
            </a:r>
          </a:p>
          <a:p>
            <a:pPr algn="l"/>
            <a:endParaRPr lang="en-IN" sz="2000" dirty="0" err="1"/>
          </a:p>
        </p:txBody>
      </p:sp>
    </p:spTree>
    <p:extLst>
      <p:ext uri="{BB962C8B-B14F-4D97-AF65-F5344CB8AC3E}">
        <p14:creationId xmlns:p14="http://schemas.microsoft.com/office/powerpoint/2010/main" val="10991010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096F9-3E73-FD54-7B52-E6A43335A92B}"/>
              </a:ext>
            </a:extLst>
          </p:cNvPr>
          <p:cNvSpPr>
            <a:spLocks noGrp="1"/>
          </p:cNvSpPr>
          <p:nvPr>
            <p:ph type="title"/>
          </p:nvPr>
        </p:nvSpPr>
        <p:spPr>
          <a:xfrm>
            <a:off x="584200" y="4075330"/>
            <a:ext cx="7298437" cy="1015663"/>
          </a:xfrm>
        </p:spPr>
        <p:txBody>
          <a:bodyPr wrap="square" anchor="b">
            <a:normAutofit/>
          </a:bodyPr>
          <a:lstStyle/>
          <a:p>
            <a:r>
              <a:rPr lang="en-US" dirty="0"/>
              <a:t>AI Governance</a:t>
            </a:r>
          </a:p>
        </p:txBody>
      </p:sp>
      <p:sp>
        <p:nvSpPr>
          <p:cNvPr id="4" name="Footer Placeholder 3">
            <a:extLst>
              <a:ext uri="{FF2B5EF4-FFF2-40B4-BE49-F238E27FC236}">
                <a16:creationId xmlns:a16="http://schemas.microsoft.com/office/drawing/2014/main" id="{36E6FA2A-1A08-1385-B098-BEEF7FFA59AC}"/>
              </a:ext>
            </a:extLst>
          </p:cNvPr>
          <p:cNvSpPr>
            <a:spLocks noGrp="1"/>
          </p:cNvSpPr>
          <p:nvPr>
            <p:ph type="ftr" sz="quarter" idx="3"/>
          </p:nvPr>
        </p:nvSpPr>
        <p:spPr>
          <a:xfrm>
            <a:off x="4038600" y="6539518"/>
            <a:ext cx="4114800" cy="123111"/>
          </a:xfrm>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FFFFFF"/>
                </a:solidFill>
                <a:effectLst/>
                <a:uLnTx/>
                <a:uFillTx/>
              </a:rPr>
              <a:t>Microsoft Confidential</a:t>
            </a:r>
          </a:p>
        </p:txBody>
      </p:sp>
      <p:sp>
        <p:nvSpPr>
          <p:cNvPr id="5" name="Slide Number Placeholder 4">
            <a:extLst>
              <a:ext uri="{FF2B5EF4-FFF2-40B4-BE49-F238E27FC236}">
                <a16:creationId xmlns:a16="http://schemas.microsoft.com/office/drawing/2014/main" id="{EF48AD64-F1BB-1590-6B73-A66226052A61}"/>
              </a:ext>
            </a:extLst>
          </p:cNvPr>
          <p:cNvSpPr>
            <a:spLocks noGrp="1"/>
          </p:cNvSpPr>
          <p:nvPr>
            <p:ph type="sldNum" sz="quarter" idx="4"/>
          </p:nvPr>
        </p:nvSpPr>
        <p:spPr>
          <a:xfrm>
            <a:off x="11697272" y="6539518"/>
            <a:ext cx="404240" cy="123111"/>
          </a:xfrm>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FFFFFF"/>
                </a:solidFill>
                <a:effectLst/>
                <a:uLnTx/>
                <a:uFillTx/>
              </a:rPr>
              <a:pPr marL="0" marR="0" lvl="0" indent="0" defTabSz="914400" rtl="0" eaLnBrk="1" fontAlgn="auto" latinLnBrk="0" hangingPunct="1">
                <a:spcBef>
                  <a:spcPts val="0"/>
                </a:spcBef>
                <a:spcAft>
                  <a:spcPts val="600"/>
                </a:spcAft>
                <a:buClrTx/>
                <a:buSzTx/>
                <a:buFontTx/>
                <a:buNone/>
                <a:tabLst/>
                <a:defRPr/>
              </a:pPr>
              <a:t>8</a:t>
            </a:fld>
            <a:endParaRPr kumimoji="0" lang="en-US" b="0" i="0" u="none" strike="noStrike" kern="120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2547791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34" name="Group 3333">
            <a:extLst>
              <a:ext uri="{FF2B5EF4-FFF2-40B4-BE49-F238E27FC236}">
                <a16:creationId xmlns:a16="http://schemas.microsoft.com/office/drawing/2014/main" id="{D43765D9-89B0-0F4F-2EAC-07F2C285CDA4}"/>
              </a:ext>
              <a:ext uri="{C183D7F6-B498-43B3-948B-1728B52AA6E4}">
                <adec:decorative xmlns:adec="http://schemas.microsoft.com/office/drawing/2017/decorative" val="1"/>
              </a:ext>
            </a:extLst>
          </p:cNvPr>
          <p:cNvGrpSpPr/>
          <p:nvPr/>
        </p:nvGrpSpPr>
        <p:grpSpPr>
          <a:xfrm>
            <a:off x="304801" y="3428595"/>
            <a:ext cx="11582399" cy="2918745"/>
            <a:chOff x="304801" y="3428595"/>
            <a:chExt cx="11582399" cy="2918745"/>
          </a:xfrm>
        </p:grpSpPr>
        <p:sp>
          <p:nvSpPr>
            <p:cNvPr id="15" name="Rectangle: Rounded Corners 14">
              <a:extLst>
                <a:ext uri="{FF2B5EF4-FFF2-40B4-BE49-F238E27FC236}">
                  <a16:creationId xmlns:a16="http://schemas.microsoft.com/office/drawing/2014/main" id="{79D7BFCD-BB05-8AFD-0F49-12AB5E1C81DF}"/>
                </a:ext>
              </a:extLst>
            </p:cNvPr>
            <p:cNvSpPr/>
            <p:nvPr/>
          </p:nvSpPr>
          <p:spPr bwMode="auto">
            <a:xfrm>
              <a:off x="304801" y="3428595"/>
              <a:ext cx="11582399" cy="2918745"/>
            </a:xfrm>
            <a:prstGeom prst="roundRect">
              <a:avLst>
                <a:gd name="adj" fmla="val 3334"/>
              </a:avLst>
            </a:prstGeom>
            <a:solidFill>
              <a:schemeClr val="bg1">
                <a:lumMod val="95000"/>
              </a:schemeClr>
            </a:solidFill>
            <a:ln w="9525" cap="flat" cmpd="sng" algn="ctr">
              <a:solidFill>
                <a:schemeClr val="bg1">
                  <a:lumMod val="95000"/>
                </a:schemeClr>
              </a:solidFill>
              <a:prstDash val="solid"/>
              <a:miter lim="800000"/>
              <a:headEnd type="none" w="med" len="med"/>
              <a:tailEnd type="none" w="med" len="med"/>
            </a:ln>
            <a:effectLst>
              <a:innerShdw blurRad="330200" dist="50800" dir="13500000">
                <a:prstClr val="black">
                  <a:alpha val="17000"/>
                </a:prstClr>
              </a:innerShdw>
            </a:effectLst>
          </p:spPr>
          <p:txBody>
            <a:bodyPr rot="0" spcFirstLastPara="0" vertOverflow="overflow" horzOverflow="overflow" vert="horz" wrap="square" lIns="182830" tIns="146265" rIns="182830" bIns="146265" numCol="1" spcCol="0" rtlCol="0" fromWordArt="0" anchor="t" anchorCtr="0" forceAA="0" compatLnSpc="1">
              <a:prstTxWarp prst="textNoShape">
                <a:avLst/>
              </a:prstTxWarp>
              <a:noAutofit/>
            </a:bodyPr>
            <a:lstStyle/>
            <a:p>
              <a:pPr marL="0" marR="0" lvl="0" indent="0" algn="l" defTabSz="932107" rtl="0"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08ABC0"/>
                </a:solidFill>
                <a:effectLst/>
                <a:uLnTx/>
                <a:uFillTx/>
                <a:latin typeface="Segoe UI"/>
                <a:ea typeface="+mn-ea"/>
                <a:cs typeface="Segoe UI" pitchFamily="34" charset="0"/>
              </a:endParaRPr>
            </a:p>
          </p:txBody>
        </p:sp>
        <p:grpSp>
          <p:nvGrpSpPr>
            <p:cNvPr id="3240" name="Group 3239">
              <a:extLst>
                <a:ext uri="{FF2B5EF4-FFF2-40B4-BE49-F238E27FC236}">
                  <a16:creationId xmlns:a16="http://schemas.microsoft.com/office/drawing/2014/main" id="{D293C4EF-D85D-8318-4D09-6135EDCD1990}"/>
                </a:ext>
              </a:extLst>
            </p:cNvPr>
            <p:cNvGrpSpPr/>
            <p:nvPr/>
          </p:nvGrpSpPr>
          <p:grpSpPr>
            <a:xfrm>
              <a:off x="548332" y="5273292"/>
              <a:ext cx="11095336" cy="944781"/>
              <a:chOff x="255925" y="5231471"/>
              <a:chExt cx="11413612" cy="971883"/>
            </a:xfrm>
          </p:grpSpPr>
          <p:pic>
            <p:nvPicPr>
              <p:cNvPr id="3206" name="Graphic 3205">
                <a:extLst>
                  <a:ext uri="{FF2B5EF4-FFF2-40B4-BE49-F238E27FC236}">
                    <a16:creationId xmlns:a16="http://schemas.microsoft.com/office/drawing/2014/main" id="{A75BD1E3-28C8-DDBA-75DE-87801967802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86885" y="5249124"/>
                <a:ext cx="365652" cy="365652"/>
              </a:xfrm>
              <a:prstGeom prst="rect">
                <a:avLst/>
              </a:prstGeom>
            </p:spPr>
          </p:pic>
          <p:pic>
            <p:nvPicPr>
              <p:cNvPr id="3207" name="Graphic 3206">
                <a:extLst>
                  <a:ext uri="{FF2B5EF4-FFF2-40B4-BE49-F238E27FC236}">
                    <a16:creationId xmlns:a16="http://schemas.microsoft.com/office/drawing/2014/main" id="{864CB294-5505-594D-DD7A-52F8D4D6CA9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87482" y="5249124"/>
                <a:ext cx="365652" cy="365652"/>
              </a:xfrm>
              <a:prstGeom prst="rect">
                <a:avLst/>
              </a:prstGeom>
            </p:spPr>
          </p:pic>
          <p:pic>
            <p:nvPicPr>
              <p:cNvPr id="3211" name="Graphic 3210">
                <a:extLst>
                  <a:ext uri="{FF2B5EF4-FFF2-40B4-BE49-F238E27FC236}">
                    <a16:creationId xmlns:a16="http://schemas.microsoft.com/office/drawing/2014/main" id="{892E3D70-E403-2018-7E2A-775EE3E234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63879" y="5241169"/>
                <a:ext cx="365652" cy="365652"/>
              </a:xfrm>
              <a:prstGeom prst="rect">
                <a:avLst/>
              </a:prstGeom>
            </p:spPr>
          </p:pic>
          <p:pic>
            <p:nvPicPr>
              <p:cNvPr id="3213" name="Graphic 3212">
                <a:extLst>
                  <a:ext uri="{FF2B5EF4-FFF2-40B4-BE49-F238E27FC236}">
                    <a16:creationId xmlns:a16="http://schemas.microsoft.com/office/drawing/2014/main" id="{44161E5A-2817-30FD-218B-40C5C77188B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95931" y="5246077"/>
                <a:ext cx="365652" cy="365652"/>
              </a:xfrm>
              <a:prstGeom prst="rect">
                <a:avLst/>
              </a:prstGeom>
            </p:spPr>
          </p:pic>
          <p:sp>
            <p:nvSpPr>
              <p:cNvPr id="3215" name="TextBox 3214">
                <a:extLst>
                  <a:ext uri="{FF2B5EF4-FFF2-40B4-BE49-F238E27FC236}">
                    <a16:creationId xmlns:a16="http://schemas.microsoft.com/office/drawing/2014/main" id="{D9CAE4AD-7A9E-297C-6F20-F08F1ADA4D01}"/>
                  </a:ext>
                </a:extLst>
              </p:cNvPr>
              <p:cNvSpPr txBox="1"/>
              <p:nvPr/>
            </p:nvSpPr>
            <p:spPr>
              <a:xfrm>
                <a:off x="255925" y="5649355"/>
                <a:ext cx="1491774" cy="369332"/>
              </a:xfrm>
              <a:prstGeom prst="rect">
                <a:avLst/>
              </a:prstGeom>
              <a:noFill/>
            </p:spPr>
            <p:txBody>
              <a:bodyPr wrap="square" lIns="0" tIns="0" rIns="0" bIns="0" rtlCol="0">
                <a:spAutoFit/>
              </a:bodyPr>
              <a:lstStyle/>
              <a:p>
                <a:pPr marL="0" marR="0" lvl="0" indent="0" algn="ctr" defTabSz="914101"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lumMod val="85000"/>
                        <a:lumOff val="15000"/>
                      </a:prstClr>
                    </a:solidFill>
                    <a:effectLst/>
                    <a:uLnTx/>
                    <a:uFillTx/>
                    <a:latin typeface="Segoe UI"/>
                    <a:ea typeface="+mn-ea"/>
                    <a:cs typeface="Segoe UI Semilight" panose="020B0402040204020203" pitchFamily="34" charset="0"/>
                  </a:rPr>
                  <a:t>Fully managed</a:t>
                </a:r>
                <a:br>
                  <a:rPr kumimoji="0" lang="en-US" sz="1200" b="0" i="0" u="none" strike="noStrike" kern="1200" cap="none" spc="0" normalizeH="0" baseline="0" noProof="0">
                    <a:ln>
                      <a:noFill/>
                    </a:ln>
                    <a:solidFill>
                      <a:prstClr val="black">
                        <a:lumMod val="85000"/>
                        <a:lumOff val="15000"/>
                      </a:prstClr>
                    </a:solidFill>
                    <a:effectLst/>
                    <a:uLnTx/>
                    <a:uFillTx/>
                    <a:latin typeface="Segoe UI"/>
                    <a:ea typeface="+mn-ea"/>
                    <a:cs typeface="Segoe UI Semilight" panose="020B0402040204020203" pitchFamily="34" charset="0"/>
                  </a:rPr>
                </a:br>
                <a:r>
                  <a:rPr kumimoji="0" lang="en-US" sz="1200" b="0" i="0" u="none" strike="noStrike" kern="1200" cap="none" spc="0" normalizeH="0" baseline="0" noProof="0">
                    <a:ln>
                      <a:noFill/>
                    </a:ln>
                    <a:solidFill>
                      <a:prstClr val="black">
                        <a:lumMod val="85000"/>
                        <a:lumOff val="15000"/>
                      </a:prstClr>
                    </a:solidFill>
                    <a:effectLst/>
                    <a:uLnTx/>
                    <a:uFillTx/>
                    <a:latin typeface="Segoe UI"/>
                    <a:ea typeface="+mn-ea"/>
                    <a:cs typeface="Segoe UI Semilight" panose="020B0402040204020203" pitchFamily="34" charset="0"/>
                  </a:rPr>
                  <a:t>Azure service</a:t>
                </a:r>
              </a:p>
            </p:txBody>
          </p:sp>
          <p:sp>
            <p:nvSpPr>
              <p:cNvPr id="3216" name="TextBox 3215">
                <a:extLst>
                  <a:ext uri="{FF2B5EF4-FFF2-40B4-BE49-F238E27FC236}">
                    <a16:creationId xmlns:a16="http://schemas.microsoft.com/office/drawing/2014/main" id="{796DA869-67F9-4222-7572-3D0B47B5FCEE}"/>
                  </a:ext>
                </a:extLst>
              </p:cNvPr>
              <p:cNvSpPr txBox="1"/>
              <p:nvPr/>
            </p:nvSpPr>
            <p:spPr>
              <a:xfrm>
                <a:off x="8524123" y="5649356"/>
                <a:ext cx="1491774" cy="369332"/>
              </a:xfrm>
              <a:prstGeom prst="rect">
                <a:avLst/>
              </a:prstGeom>
              <a:noFill/>
            </p:spPr>
            <p:txBody>
              <a:bodyPr wrap="square" lIns="0" tIns="0" rIns="0" bIns="0" rtlCol="0">
                <a:spAutoFit/>
              </a:bodyPr>
              <a:lstStyle/>
              <a:p>
                <a:pPr marL="0" marR="0" lvl="0" indent="0" algn="ctr" defTabSz="914101"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lumMod val="85000"/>
                        <a:lumOff val="15000"/>
                      </a:prstClr>
                    </a:solidFill>
                    <a:effectLst/>
                    <a:uLnTx/>
                    <a:uFillTx/>
                    <a:latin typeface="Segoe UI"/>
                    <a:ea typeface="+mn-ea"/>
                    <a:cs typeface="Segoe UI Semilight" panose="020B0402040204020203" pitchFamily="34" charset="0"/>
                  </a:rPr>
                  <a:t>API analytics, logging &amp; observability</a:t>
                </a:r>
              </a:p>
            </p:txBody>
          </p:sp>
          <p:sp>
            <p:nvSpPr>
              <p:cNvPr id="3217" name="TextBox 3216">
                <a:extLst>
                  <a:ext uri="{FF2B5EF4-FFF2-40B4-BE49-F238E27FC236}">
                    <a16:creationId xmlns:a16="http://schemas.microsoft.com/office/drawing/2014/main" id="{D649EBEE-4FB0-1518-DA7F-A8EE5E9352BF}"/>
                  </a:ext>
                </a:extLst>
              </p:cNvPr>
              <p:cNvSpPr txBox="1"/>
              <p:nvPr/>
            </p:nvSpPr>
            <p:spPr>
              <a:xfrm>
                <a:off x="5216844" y="5649356"/>
                <a:ext cx="1491774" cy="369332"/>
              </a:xfrm>
              <a:prstGeom prst="rect">
                <a:avLst/>
              </a:prstGeom>
              <a:noFill/>
            </p:spPr>
            <p:txBody>
              <a:bodyPr wrap="square" lIns="0" tIns="0" rIns="0" bIns="0" rtlCol="0">
                <a:spAutoFit/>
              </a:bodyPr>
              <a:lstStyle/>
              <a:p>
                <a:pPr marL="0" marR="0" lvl="0" indent="0" algn="ctr" defTabSz="914101"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lumMod val="85000"/>
                        <a:lumOff val="15000"/>
                      </a:prstClr>
                    </a:solidFill>
                    <a:effectLst/>
                    <a:uLnTx/>
                    <a:uFillTx/>
                    <a:latin typeface="Segoe UI"/>
                    <a:ea typeface="+mn-ea"/>
                    <a:cs typeface="Segoe UI Semilight" panose="020B0402040204020203" pitchFamily="34" charset="0"/>
                  </a:rPr>
                  <a:t>API security, secrets &amp; cert. management</a:t>
                </a:r>
              </a:p>
            </p:txBody>
          </p:sp>
          <p:sp>
            <p:nvSpPr>
              <p:cNvPr id="3218" name="TextBox 3217">
                <a:extLst>
                  <a:ext uri="{FF2B5EF4-FFF2-40B4-BE49-F238E27FC236}">
                    <a16:creationId xmlns:a16="http://schemas.microsoft.com/office/drawing/2014/main" id="{ED7BC62C-3AE5-DBB9-6E84-9BB3AEE59E06}"/>
                  </a:ext>
                </a:extLst>
              </p:cNvPr>
              <p:cNvSpPr txBox="1"/>
              <p:nvPr/>
            </p:nvSpPr>
            <p:spPr>
              <a:xfrm>
                <a:off x="3563204" y="5649356"/>
                <a:ext cx="1491774" cy="553998"/>
              </a:xfrm>
              <a:prstGeom prst="rect">
                <a:avLst/>
              </a:prstGeom>
              <a:noFill/>
            </p:spPr>
            <p:txBody>
              <a:bodyPr wrap="square" lIns="0" tIns="0" rIns="0" bIns="0" rtlCol="0">
                <a:spAutoFit/>
              </a:bodyPr>
              <a:lstStyle/>
              <a:p>
                <a:pPr marL="0" marR="0" lvl="0" indent="0" algn="ctr" defTabSz="914101"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lumMod val="85000"/>
                        <a:lumOff val="15000"/>
                      </a:prstClr>
                    </a:solidFill>
                    <a:effectLst/>
                    <a:uLnTx/>
                    <a:uFillTx/>
                    <a:latin typeface="Segoe UI"/>
                    <a:ea typeface="+mn-ea"/>
                    <a:cs typeface="Segoe UI Semilight" panose="020B0402040204020203" pitchFamily="34" charset="0"/>
                  </a:rPr>
                  <a:t>Network isolation, WAF &amp; DDoS Protection</a:t>
                </a:r>
              </a:p>
            </p:txBody>
          </p:sp>
          <p:sp>
            <p:nvSpPr>
              <p:cNvPr id="3219" name="TextBox 3218">
                <a:extLst>
                  <a:ext uri="{FF2B5EF4-FFF2-40B4-BE49-F238E27FC236}">
                    <a16:creationId xmlns:a16="http://schemas.microsoft.com/office/drawing/2014/main" id="{D53DA86D-FCF9-4370-466F-248342F1C1DA}"/>
                  </a:ext>
                </a:extLst>
              </p:cNvPr>
              <p:cNvSpPr txBox="1"/>
              <p:nvPr/>
            </p:nvSpPr>
            <p:spPr>
              <a:xfrm>
                <a:off x="1909565" y="5649356"/>
                <a:ext cx="1491774" cy="553998"/>
              </a:xfrm>
              <a:prstGeom prst="rect">
                <a:avLst/>
              </a:prstGeom>
              <a:noFill/>
            </p:spPr>
            <p:txBody>
              <a:bodyPr wrap="square" lIns="0" tIns="0" rIns="0" bIns="0" rtlCol="0">
                <a:spAutoFit/>
              </a:bodyPr>
              <a:lstStyle/>
              <a:p>
                <a:pPr marL="0" marR="0" lvl="0" indent="0" algn="ctr" defTabSz="914101"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lumMod val="85000"/>
                        <a:lumOff val="15000"/>
                      </a:prstClr>
                    </a:solidFill>
                    <a:effectLst/>
                    <a:uLnTx/>
                    <a:uFillTx/>
                    <a:latin typeface="Segoe UI"/>
                    <a:ea typeface="+mn-ea"/>
                    <a:cs typeface="Segoe UI Semilight" panose="020B0402040204020203" pitchFamily="34" charset="0"/>
                  </a:rPr>
                  <a:t>Manage APIs on Azure, hybrid or multi-cloud </a:t>
                </a:r>
              </a:p>
            </p:txBody>
          </p:sp>
          <p:sp>
            <p:nvSpPr>
              <p:cNvPr id="3220" name="TextBox 3219">
                <a:extLst>
                  <a:ext uri="{FF2B5EF4-FFF2-40B4-BE49-F238E27FC236}">
                    <a16:creationId xmlns:a16="http://schemas.microsoft.com/office/drawing/2014/main" id="{FC14AB5D-3426-E75B-5D76-212E64540B4B}"/>
                  </a:ext>
                </a:extLst>
              </p:cNvPr>
              <p:cNvSpPr txBox="1"/>
              <p:nvPr/>
            </p:nvSpPr>
            <p:spPr>
              <a:xfrm>
                <a:off x="10177763" y="5649356"/>
                <a:ext cx="1491774" cy="369332"/>
              </a:xfrm>
              <a:prstGeom prst="rect">
                <a:avLst/>
              </a:prstGeom>
              <a:noFill/>
            </p:spPr>
            <p:txBody>
              <a:bodyPr wrap="square" lIns="0" tIns="0" rIns="0" bIns="0" rtlCol="0">
                <a:spAutoFit/>
              </a:bodyPr>
              <a:lstStyle/>
              <a:p>
                <a:pPr marL="0" marR="0" lvl="0" indent="0" algn="ctr" defTabSz="914101"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lumMod val="85000"/>
                        <a:lumOff val="15000"/>
                      </a:prstClr>
                    </a:solidFill>
                    <a:effectLst/>
                    <a:uLnTx/>
                    <a:uFillTx/>
                    <a:latin typeface="Segoe UI"/>
                    <a:ea typeface="+mn-ea"/>
                    <a:cs typeface="Segoe UI Semilight" panose="020B0402040204020203" pitchFamily="34" charset="0"/>
                  </a:rPr>
                  <a:t>Extensible with Azure Integration Services</a:t>
                </a:r>
              </a:p>
            </p:txBody>
          </p:sp>
          <p:sp>
            <p:nvSpPr>
              <p:cNvPr id="3221" name="TextBox 3220">
                <a:extLst>
                  <a:ext uri="{FF2B5EF4-FFF2-40B4-BE49-F238E27FC236}">
                    <a16:creationId xmlns:a16="http://schemas.microsoft.com/office/drawing/2014/main" id="{9DB52853-F563-1FBB-4A87-3EC6EFFF9BAF}"/>
                  </a:ext>
                </a:extLst>
              </p:cNvPr>
              <p:cNvSpPr txBox="1"/>
              <p:nvPr/>
            </p:nvSpPr>
            <p:spPr>
              <a:xfrm>
                <a:off x="6870483" y="5649356"/>
                <a:ext cx="1491774" cy="369332"/>
              </a:xfrm>
              <a:prstGeom prst="rect">
                <a:avLst/>
              </a:prstGeom>
              <a:noFill/>
            </p:spPr>
            <p:txBody>
              <a:bodyPr wrap="square" lIns="0" tIns="0" rIns="0" bIns="0" rtlCol="0">
                <a:spAutoFit/>
              </a:bodyPr>
              <a:lstStyle/>
              <a:p>
                <a:pPr marL="0" marR="0" lvl="0" indent="0" algn="ctr" defTabSz="914101"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lumMod val="85000"/>
                        <a:lumOff val="15000"/>
                      </a:prstClr>
                    </a:solidFill>
                    <a:effectLst/>
                    <a:uLnTx/>
                    <a:uFillTx/>
                    <a:latin typeface="Segoe UI"/>
                    <a:ea typeface="+mn-ea"/>
                    <a:cs typeface="Segoe UI Semilight" panose="020B0402040204020203" pitchFamily="34" charset="0"/>
                  </a:rPr>
                  <a:t>DevOps with CI/CD, </a:t>
                </a:r>
                <a:r>
                  <a:rPr kumimoji="0" lang="en-US" sz="1200" b="0" i="0" u="none" strike="noStrike" kern="1200" cap="none" spc="0" normalizeH="0" baseline="0" noProof="0" err="1">
                    <a:ln>
                      <a:noFill/>
                    </a:ln>
                    <a:solidFill>
                      <a:prstClr val="black">
                        <a:lumMod val="85000"/>
                        <a:lumOff val="15000"/>
                      </a:prstClr>
                    </a:solidFill>
                    <a:effectLst/>
                    <a:uLnTx/>
                    <a:uFillTx/>
                    <a:latin typeface="Segoe UI"/>
                    <a:ea typeface="+mn-ea"/>
                    <a:cs typeface="Segoe UI Semilight" panose="020B0402040204020203" pitchFamily="34" charset="0"/>
                  </a:rPr>
                  <a:t>IaC</a:t>
                </a:r>
                <a:r>
                  <a:rPr kumimoji="0" lang="en-US" sz="1200" b="0" i="0" u="none" strike="noStrike" kern="1200" cap="none" spc="0" normalizeH="0" baseline="0" noProof="0">
                    <a:ln>
                      <a:noFill/>
                    </a:ln>
                    <a:solidFill>
                      <a:prstClr val="black">
                        <a:lumMod val="85000"/>
                        <a:lumOff val="15000"/>
                      </a:prstClr>
                    </a:solidFill>
                    <a:effectLst/>
                    <a:uLnTx/>
                    <a:uFillTx/>
                    <a:latin typeface="Segoe UI"/>
                    <a:ea typeface="+mn-ea"/>
                    <a:cs typeface="Segoe UI Semilight" panose="020B0402040204020203" pitchFamily="34" charset="0"/>
                  </a:rPr>
                  <a:t> &amp; </a:t>
                </a:r>
                <a:r>
                  <a:rPr kumimoji="0" lang="en-US" sz="1200" b="0" i="0" u="none" strike="noStrike" kern="1200" cap="none" spc="0" normalizeH="0" baseline="0" noProof="0" err="1">
                    <a:ln>
                      <a:noFill/>
                    </a:ln>
                    <a:solidFill>
                      <a:prstClr val="black">
                        <a:lumMod val="85000"/>
                        <a:lumOff val="15000"/>
                      </a:prstClr>
                    </a:solidFill>
                    <a:effectLst/>
                    <a:uLnTx/>
                    <a:uFillTx/>
                    <a:latin typeface="Segoe UI"/>
                    <a:ea typeface="+mn-ea"/>
                    <a:cs typeface="Segoe UI Semilight" panose="020B0402040204020203" pitchFamily="34" charset="0"/>
                  </a:rPr>
                  <a:t>APIOps</a:t>
                </a:r>
                <a:r>
                  <a:rPr kumimoji="0" lang="en-US" sz="1200" b="0" i="0" u="none" strike="noStrike" kern="1200" cap="none" spc="0" normalizeH="0" baseline="0" noProof="0">
                    <a:ln>
                      <a:noFill/>
                    </a:ln>
                    <a:solidFill>
                      <a:prstClr val="black">
                        <a:lumMod val="85000"/>
                        <a:lumOff val="15000"/>
                      </a:prstClr>
                    </a:solidFill>
                    <a:effectLst/>
                    <a:uLnTx/>
                    <a:uFillTx/>
                    <a:latin typeface="Segoe UI"/>
                    <a:ea typeface="+mn-ea"/>
                    <a:cs typeface="Segoe UI Semilight" panose="020B0402040204020203" pitchFamily="34" charset="0"/>
                  </a:rPr>
                  <a:t>/</a:t>
                </a:r>
                <a:r>
                  <a:rPr kumimoji="0" lang="en-US" sz="1200" b="0" i="0" u="none" strike="noStrike" kern="1200" cap="none" spc="0" normalizeH="0" baseline="0" noProof="0" err="1">
                    <a:ln>
                      <a:noFill/>
                    </a:ln>
                    <a:solidFill>
                      <a:prstClr val="black">
                        <a:lumMod val="85000"/>
                        <a:lumOff val="15000"/>
                      </a:prstClr>
                    </a:solidFill>
                    <a:effectLst/>
                    <a:uLnTx/>
                    <a:uFillTx/>
                    <a:latin typeface="Segoe UI"/>
                    <a:ea typeface="+mn-ea"/>
                    <a:cs typeface="Segoe UI Semilight" panose="020B0402040204020203" pitchFamily="34" charset="0"/>
                  </a:rPr>
                  <a:t>GitOps</a:t>
                </a:r>
                <a:r>
                  <a:rPr kumimoji="0" lang="en-US" sz="1200" b="0" i="0" u="none" strike="noStrike" kern="1200" cap="none" spc="0" normalizeH="0" baseline="0" noProof="0">
                    <a:ln>
                      <a:noFill/>
                    </a:ln>
                    <a:solidFill>
                      <a:prstClr val="black">
                        <a:lumMod val="85000"/>
                        <a:lumOff val="15000"/>
                      </a:prstClr>
                    </a:solidFill>
                    <a:effectLst/>
                    <a:uLnTx/>
                    <a:uFillTx/>
                    <a:latin typeface="Segoe UI"/>
                    <a:ea typeface="+mn-ea"/>
                    <a:cs typeface="Segoe UI Semilight" panose="020B0402040204020203" pitchFamily="34" charset="0"/>
                  </a:rPr>
                  <a:t> </a:t>
                </a:r>
              </a:p>
            </p:txBody>
          </p:sp>
          <p:pic>
            <p:nvPicPr>
              <p:cNvPr id="3222" name="Graphic 3221">
                <a:extLst>
                  <a:ext uri="{FF2B5EF4-FFF2-40B4-BE49-F238E27FC236}">
                    <a16:creationId xmlns:a16="http://schemas.microsoft.com/office/drawing/2014/main" id="{5976763A-649F-115A-7647-2884D62E62B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929575" y="5259305"/>
                <a:ext cx="365652" cy="365652"/>
              </a:xfrm>
              <a:prstGeom prst="rect">
                <a:avLst/>
              </a:prstGeom>
            </p:spPr>
          </p:pic>
          <p:pic>
            <p:nvPicPr>
              <p:cNvPr id="3223" name="Graphic 3222">
                <a:extLst>
                  <a:ext uri="{FF2B5EF4-FFF2-40B4-BE49-F238E27FC236}">
                    <a16:creationId xmlns:a16="http://schemas.microsoft.com/office/drawing/2014/main" id="{35CA2F62-7DED-90E4-E375-021F50F3F14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552074" y="5279326"/>
                <a:ext cx="292863" cy="292864"/>
              </a:xfrm>
              <a:prstGeom prst="rect">
                <a:avLst/>
              </a:prstGeom>
            </p:spPr>
          </p:pic>
          <p:pic>
            <p:nvPicPr>
              <p:cNvPr id="3224" name="Graphic 3223">
                <a:extLst>
                  <a:ext uri="{FF2B5EF4-FFF2-40B4-BE49-F238E27FC236}">
                    <a16:creationId xmlns:a16="http://schemas.microsoft.com/office/drawing/2014/main" id="{DF3E3E23-0AB8-7E6D-34F4-32512F50BAF8}"/>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31720" y="5260592"/>
                <a:ext cx="367477" cy="367477"/>
              </a:xfrm>
              <a:prstGeom prst="rect">
                <a:avLst/>
              </a:prstGeom>
            </p:spPr>
          </p:pic>
          <p:pic>
            <p:nvPicPr>
              <p:cNvPr id="3227" name="Picture 4">
                <a:extLst>
                  <a:ext uri="{FF2B5EF4-FFF2-40B4-BE49-F238E27FC236}">
                    <a16:creationId xmlns:a16="http://schemas.microsoft.com/office/drawing/2014/main" id="{2A99C849-599F-58D4-2EF4-EE21F2D05AE5}"/>
                  </a:ext>
                  <a:ext uri="{C183D7F6-B498-43B3-948B-1728B52AA6E4}">
                    <adec:decorative xmlns:adec="http://schemas.microsoft.com/office/drawing/2017/decorative" val="1"/>
                  </a:ext>
                </a:extLst>
              </p:cNvPr>
              <p:cNvPicPr>
                <a:picLocks noChangeAspect="1" noChangeArrowheads="1"/>
              </p:cNvPicPr>
              <p:nvPr/>
            </p:nvPicPr>
            <p:blipFill>
              <a:blip r:embed="rId10" cstate="hqprint">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7233544" y="5263668"/>
                <a:ext cx="340435" cy="340435"/>
              </a:xfrm>
              <a:prstGeom prst="rect">
                <a:avLst/>
              </a:prstGeom>
              <a:noFill/>
              <a:extLst>
                <a:ext uri="{909E8E84-426E-40DD-AFC4-6F175D3DCCD1}">
                  <a14:hiddenFill xmlns:a14="http://schemas.microsoft.com/office/drawing/2010/main">
                    <a:solidFill>
                      <a:srgbClr val="FFFFFF"/>
                    </a:solidFill>
                  </a14:hiddenFill>
                </a:ext>
              </a:extLst>
            </p:spPr>
          </p:pic>
          <p:pic>
            <p:nvPicPr>
              <p:cNvPr id="3228" name="Graphic 3227">
                <a:extLst>
                  <a:ext uri="{FF2B5EF4-FFF2-40B4-BE49-F238E27FC236}">
                    <a16:creationId xmlns:a16="http://schemas.microsoft.com/office/drawing/2014/main" id="{86F5D45A-A7A4-21A2-DDF1-B05F5170ABE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747949" y="5259920"/>
                <a:ext cx="365652" cy="365652"/>
              </a:xfrm>
              <a:prstGeom prst="rect">
                <a:avLst/>
              </a:prstGeom>
            </p:spPr>
          </p:pic>
          <p:pic>
            <p:nvPicPr>
              <p:cNvPr id="3229" name="Graphic 3228">
                <a:extLst>
                  <a:ext uri="{FF2B5EF4-FFF2-40B4-BE49-F238E27FC236}">
                    <a16:creationId xmlns:a16="http://schemas.microsoft.com/office/drawing/2014/main" id="{37B635D9-1A32-0374-5FA4-7CAB5C0655B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p:blipFill>
            <p:spPr>
              <a:xfrm>
                <a:off x="2197303" y="5231471"/>
                <a:ext cx="393485" cy="393485"/>
              </a:xfrm>
              <a:prstGeom prst="rect">
                <a:avLst/>
              </a:prstGeom>
            </p:spPr>
          </p:pic>
          <p:pic>
            <p:nvPicPr>
              <p:cNvPr id="3230" name="Graphic 3229">
                <a:extLst>
                  <a:ext uri="{FF2B5EF4-FFF2-40B4-BE49-F238E27FC236}">
                    <a16:creationId xmlns:a16="http://schemas.microsoft.com/office/drawing/2014/main" id="{8AB711F2-C5A9-C158-0038-F62E31FAB31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828824" y="5237111"/>
                <a:ext cx="383184" cy="383184"/>
              </a:xfrm>
              <a:prstGeom prst="rect">
                <a:avLst/>
              </a:prstGeom>
            </p:spPr>
          </p:pic>
          <p:pic>
            <p:nvPicPr>
              <p:cNvPr id="3231" name="Picture 26" descr="Azure Web Application Firewall: Implement Firewall in Front Door | by  Ramakrishnan Ravichandran | Medium">
                <a:extLst>
                  <a:ext uri="{FF2B5EF4-FFF2-40B4-BE49-F238E27FC236}">
                    <a16:creationId xmlns:a16="http://schemas.microsoft.com/office/drawing/2014/main" id="{E286B75A-022E-7312-43C7-C3FA6B10A627}"/>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110454" y="5233906"/>
                <a:ext cx="678904" cy="356424"/>
              </a:xfrm>
              <a:prstGeom prst="rect">
                <a:avLst/>
              </a:prstGeom>
              <a:noFill/>
              <a:extLst>
                <a:ext uri="{909E8E84-426E-40DD-AFC4-6F175D3DCCD1}">
                  <a14:hiddenFill xmlns:a14="http://schemas.microsoft.com/office/drawing/2010/main">
                    <a:solidFill>
                      <a:srgbClr val="FFFFFF"/>
                    </a:solidFill>
                  </a14:hiddenFill>
                </a:ext>
              </a:extLst>
            </p:spPr>
          </p:pic>
          <p:pic>
            <p:nvPicPr>
              <p:cNvPr id="3232" name="Picture 28">
                <a:extLst>
                  <a:ext uri="{FF2B5EF4-FFF2-40B4-BE49-F238E27FC236}">
                    <a16:creationId xmlns:a16="http://schemas.microsoft.com/office/drawing/2014/main" id="{95B15C98-1DCA-A7D6-3104-8F554384F49F}"/>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820683" y="5267434"/>
                <a:ext cx="362257" cy="362256"/>
              </a:xfrm>
              <a:prstGeom prst="rect">
                <a:avLst/>
              </a:prstGeom>
              <a:noFill/>
              <a:extLst>
                <a:ext uri="{909E8E84-426E-40DD-AFC4-6F175D3DCCD1}">
                  <a14:hiddenFill xmlns:a14="http://schemas.microsoft.com/office/drawing/2010/main">
                    <a:solidFill>
                      <a:srgbClr val="FFFFFF"/>
                    </a:solidFill>
                  </a14:hiddenFill>
                </a:ext>
              </a:extLst>
            </p:spPr>
          </p:pic>
          <p:cxnSp>
            <p:nvCxnSpPr>
              <p:cNvPr id="3233" name="Straight Connector 3232">
                <a:extLst>
                  <a:ext uri="{FF2B5EF4-FFF2-40B4-BE49-F238E27FC236}">
                    <a16:creationId xmlns:a16="http://schemas.microsoft.com/office/drawing/2014/main" id="{730B4AE5-C694-B890-26A7-EA96AB9B535F}"/>
                  </a:ext>
                </a:extLst>
              </p:cNvPr>
              <p:cNvCxnSpPr>
                <a:cxnSpLocks/>
              </p:cNvCxnSpPr>
              <p:nvPr/>
            </p:nvCxnSpPr>
            <p:spPr>
              <a:xfrm>
                <a:off x="1828632" y="5316146"/>
                <a:ext cx="0" cy="822349"/>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34" name="Straight Connector 3233">
                <a:extLst>
                  <a:ext uri="{FF2B5EF4-FFF2-40B4-BE49-F238E27FC236}">
                    <a16:creationId xmlns:a16="http://schemas.microsoft.com/office/drawing/2014/main" id="{C0E37CC5-B012-9B48-786B-897BCE502ADC}"/>
                  </a:ext>
                </a:extLst>
              </p:cNvPr>
              <p:cNvCxnSpPr>
                <a:cxnSpLocks/>
              </p:cNvCxnSpPr>
              <p:nvPr/>
            </p:nvCxnSpPr>
            <p:spPr>
              <a:xfrm>
                <a:off x="3482271" y="5316146"/>
                <a:ext cx="0" cy="822349"/>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36" name="Straight Connector 3235">
                <a:extLst>
                  <a:ext uri="{FF2B5EF4-FFF2-40B4-BE49-F238E27FC236}">
                    <a16:creationId xmlns:a16="http://schemas.microsoft.com/office/drawing/2014/main" id="{131A3684-4EA9-FEEF-8B15-4760010B18B3}"/>
                  </a:ext>
                </a:extLst>
              </p:cNvPr>
              <p:cNvCxnSpPr>
                <a:cxnSpLocks/>
              </p:cNvCxnSpPr>
              <p:nvPr/>
            </p:nvCxnSpPr>
            <p:spPr>
              <a:xfrm>
                <a:off x="5135911" y="5316146"/>
                <a:ext cx="0" cy="822349"/>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37" name="Straight Connector 3236">
                <a:extLst>
                  <a:ext uri="{FF2B5EF4-FFF2-40B4-BE49-F238E27FC236}">
                    <a16:creationId xmlns:a16="http://schemas.microsoft.com/office/drawing/2014/main" id="{0EBECFFB-5A02-CEB0-51A0-76458B850E21}"/>
                  </a:ext>
                </a:extLst>
              </p:cNvPr>
              <p:cNvCxnSpPr>
                <a:cxnSpLocks/>
              </p:cNvCxnSpPr>
              <p:nvPr/>
            </p:nvCxnSpPr>
            <p:spPr>
              <a:xfrm>
                <a:off x="6789550" y="5316146"/>
                <a:ext cx="0" cy="822349"/>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38" name="Straight Connector 3237">
                <a:extLst>
                  <a:ext uri="{FF2B5EF4-FFF2-40B4-BE49-F238E27FC236}">
                    <a16:creationId xmlns:a16="http://schemas.microsoft.com/office/drawing/2014/main" id="{1495D499-4EF2-250D-3EC4-426AB918B3C3}"/>
                  </a:ext>
                </a:extLst>
              </p:cNvPr>
              <p:cNvCxnSpPr>
                <a:cxnSpLocks/>
              </p:cNvCxnSpPr>
              <p:nvPr/>
            </p:nvCxnSpPr>
            <p:spPr>
              <a:xfrm>
                <a:off x="8443190" y="5316146"/>
                <a:ext cx="0" cy="822349"/>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39" name="Straight Connector 3238">
                <a:extLst>
                  <a:ext uri="{FF2B5EF4-FFF2-40B4-BE49-F238E27FC236}">
                    <a16:creationId xmlns:a16="http://schemas.microsoft.com/office/drawing/2014/main" id="{2207EBAC-1DDE-0689-749C-04FB6EE1A8BB}"/>
                  </a:ext>
                </a:extLst>
              </p:cNvPr>
              <p:cNvCxnSpPr>
                <a:cxnSpLocks/>
              </p:cNvCxnSpPr>
              <p:nvPr/>
            </p:nvCxnSpPr>
            <p:spPr>
              <a:xfrm>
                <a:off x="10096829" y="5316146"/>
                <a:ext cx="0" cy="822349"/>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3328" name="Group 3327">
            <a:extLst>
              <a:ext uri="{FF2B5EF4-FFF2-40B4-BE49-F238E27FC236}">
                <a16:creationId xmlns:a16="http://schemas.microsoft.com/office/drawing/2014/main" id="{ADB3AEE5-659F-F9B5-3FDB-FAE4DFF9EB61}"/>
              </a:ext>
              <a:ext uri="{C183D7F6-B498-43B3-948B-1728B52AA6E4}">
                <adec:decorative xmlns:adec="http://schemas.microsoft.com/office/drawing/2017/decorative" val="1"/>
              </a:ext>
            </a:extLst>
          </p:cNvPr>
          <p:cNvGrpSpPr/>
          <p:nvPr/>
        </p:nvGrpSpPr>
        <p:grpSpPr>
          <a:xfrm>
            <a:off x="304801" y="1936704"/>
            <a:ext cx="11301982" cy="3057030"/>
            <a:chOff x="304801" y="1936704"/>
            <a:chExt cx="11301982" cy="3057030"/>
          </a:xfrm>
        </p:grpSpPr>
        <p:sp>
          <p:nvSpPr>
            <p:cNvPr id="3170" name="Rectangle: Rounded Corners 3169">
              <a:extLst>
                <a:ext uri="{FF2B5EF4-FFF2-40B4-BE49-F238E27FC236}">
                  <a16:creationId xmlns:a16="http://schemas.microsoft.com/office/drawing/2014/main" id="{4E2204E0-A12C-F671-3C50-F2CE46D3154D}"/>
                </a:ext>
              </a:extLst>
            </p:cNvPr>
            <p:cNvSpPr/>
            <p:nvPr/>
          </p:nvSpPr>
          <p:spPr bwMode="auto">
            <a:xfrm>
              <a:off x="1152583" y="1936704"/>
              <a:ext cx="9886835" cy="3057030"/>
            </a:xfrm>
            <a:prstGeom prst="roundRect">
              <a:avLst>
                <a:gd name="adj" fmla="val 4787"/>
              </a:avLst>
            </a:prstGeom>
            <a:solidFill>
              <a:schemeClr val="bg1">
                <a:lumMod val="95000"/>
              </a:schemeClr>
            </a:solidFill>
            <a:ln w="12700">
              <a:solidFill>
                <a:schemeClr val="accent1">
                  <a:lumMod val="20000"/>
                  <a:lumOff val="80000"/>
                </a:schemeClr>
              </a:solidFill>
            </a:ln>
          </p:spPr>
          <p:txBody>
            <a:bodyPr rot="0" spcFirstLastPara="0" vertOverflow="overflow" horzOverflow="overflow" vert="horz" wrap="square" lIns="134443" tIns="134443" rIns="89628" bIns="89628" numCol="1" spcCol="0" rtlCol="0" fromWordArt="0" anchor="t" anchorCtr="0" forceAA="0" compatLnSpc="1">
              <a:prstTxWarp prst="textNoShape">
                <a:avLst/>
              </a:prstTxWarp>
              <a:noAutofit/>
            </a:bodyPr>
            <a:lstStyle/>
            <a:p>
              <a:pPr marL="0" marR="0" lvl="0" indent="0" algn="l" defTabSz="914011" rtl="0" eaLnBrk="1" fontAlgn="base" latinLnBrk="0" hangingPunct="1">
                <a:lnSpc>
                  <a:spcPct val="100000"/>
                </a:lnSpc>
                <a:spcBef>
                  <a:spcPct val="0"/>
                </a:spcBef>
                <a:spcAft>
                  <a:spcPct val="0"/>
                </a:spcAft>
                <a:buClrTx/>
                <a:buSzTx/>
                <a:buFontTx/>
                <a:buNone/>
                <a:tabLst/>
                <a:defRPr/>
              </a:pPr>
              <a:endParaRPr kumimoji="0" lang="en-IN" sz="1067" b="0" i="0" u="none" strike="noStrike" kern="0" cap="none" spc="0" normalizeH="0" baseline="0" noProof="0" err="1">
                <a:ln>
                  <a:noFill/>
                </a:ln>
                <a:solidFill>
                  <a:srgbClr val="0078D4"/>
                </a:solidFill>
                <a:effectLst/>
                <a:uLnTx/>
                <a:uFillTx/>
                <a:latin typeface="Segoe UI Semibold"/>
                <a:ea typeface="+mn-ea"/>
                <a:cs typeface="Segoe UI Semibold" panose="020B0702040204020203" pitchFamily="34" charset="0"/>
              </a:endParaRPr>
            </a:p>
          </p:txBody>
        </p:sp>
        <p:grpSp>
          <p:nvGrpSpPr>
            <p:cNvPr id="3324" name="Group 3323">
              <a:extLst>
                <a:ext uri="{FF2B5EF4-FFF2-40B4-BE49-F238E27FC236}">
                  <a16:creationId xmlns:a16="http://schemas.microsoft.com/office/drawing/2014/main" id="{4E93405E-CCB8-9EB7-EDC7-56E1D24A6D78}"/>
                </a:ext>
              </a:extLst>
            </p:cNvPr>
            <p:cNvGrpSpPr/>
            <p:nvPr/>
          </p:nvGrpSpPr>
          <p:grpSpPr>
            <a:xfrm>
              <a:off x="304801" y="2028851"/>
              <a:ext cx="11301982" cy="2842982"/>
              <a:chOff x="304801" y="2028851"/>
              <a:chExt cx="11301982" cy="2842982"/>
            </a:xfrm>
          </p:grpSpPr>
          <p:sp>
            <p:nvSpPr>
              <p:cNvPr id="9" name="Rectangle: Rounded Corners 8">
                <a:extLst>
                  <a:ext uri="{FF2B5EF4-FFF2-40B4-BE49-F238E27FC236}">
                    <a16:creationId xmlns:a16="http://schemas.microsoft.com/office/drawing/2014/main" id="{876F828B-33FD-D1B5-EFF4-B2A0E040EEFE}"/>
                  </a:ext>
                </a:extLst>
              </p:cNvPr>
              <p:cNvSpPr/>
              <p:nvPr/>
            </p:nvSpPr>
            <p:spPr bwMode="auto">
              <a:xfrm>
                <a:off x="585217" y="2028851"/>
                <a:ext cx="11021566" cy="2842982"/>
              </a:xfrm>
              <a:prstGeom prst="roundRect">
                <a:avLst>
                  <a:gd name="adj" fmla="val 3079"/>
                </a:avLst>
              </a:prstGeom>
              <a:solidFill>
                <a:schemeClr val="bg1"/>
              </a:solidFill>
              <a:ln w="6350">
                <a:solidFill>
                  <a:schemeClr val="bg1"/>
                </a:solidFill>
              </a:ln>
              <a:effectLst>
                <a:outerShdw blurRad="279400" dist="38100" dir="2700000" algn="tl" rotWithShape="0">
                  <a:schemeClr val="tx2">
                    <a:lumMod val="50000"/>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82852" tIns="1828518" rIns="182852" bIns="30475" rtlCol="0" anchor="t"/>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IN" sz="1866" b="0" i="0" u="none" strike="noStrike" kern="1200" cap="none" spc="0" normalizeH="0" baseline="0" noProof="0" err="1">
                  <a:ln>
                    <a:noFill/>
                  </a:ln>
                  <a:solidFill>
                    <a:srgbClr val="135D8F"/>
                  </a:solidFill>
                  <a:effectLst/>
                  <a:uLnTx/>
                  <a:uFillTx/>
                  <a:latin typeface="Segoe UI Semibold"/>
                  <a:ea typeface="+mn-ea"/>
                  <a:cs typeface="+mn-cs"/>
                </a:endParaRPr>
              </a:p>
            </p:txBody>
          </p:sp>
          <p:grpSp>
            <p:nvGrpSpPr>
              <p:cNvPr id="3257" name="Group 3256">
                <a:extLst>
                  <a:ext uri="{FF2B5EF4-FFF2-40B4-BE49-F238E27FC236}">
                    <a16:creationId xmlns:a16="http://schemas.microsoft.com/office/drawing/2014/main" id="{CF3618E8-EE84-8FC9-1C33-743E9B605873}"/>
                  </a:ext>
                </a:extLst>
              </p:cNvPr>
              <p:cNvGrpSpPr/>
              <p:nvPr/>
            </p:nvGrpSpPr>
            <p:grpSpPr>
              <a:xfrm>
                <a:off x="304801" y="2311650"/>
                <a:ext cx="533118" cy="533817"/>
                <a:chOff x="10494651" y="2777614"/>
                <a:chExt cx="730562" cy="731520"/>
              </a:xfrm>
            </p:grpSpPr>
            <p:sp>
              <p:nvSpPr>
                <p:cNvPr id="3258" name="Oval 3257">
                  <a:extLst>
                    <a:ext uri="{FF2B5EF4-FFF2-40B4-BE49-F238E27FC236}">
                      <a16:creationId xmlns:a16="http://schemas.microsoft.com/office/drawing/2014/main" id="{7651AC14-53BA-CF6B-BF7A-9F7280FE6BC4}"/>
                    </a:ext>
                  </a:extLst>
                </p:cNvPr>
                <p:cNvSpPr/>
                <p:nvPr/>
              </p:nvSpPr>
              <p:spPr>
                <a:xfrm>
                  <a:off x="10494651" y="2777614"/>
                  <a:ext cx="730562" cy="73152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Segoe UI"/>
                    <a:ea typeface="+mn-ea"/>
                    <a:cs typeface="+mn-cs"/>
                  </a:endParaRPr>
                </a:p>
              </p:txBody>
            </p:sp>
            <p:pic>
              <p:nvPicPr>
                <p:cNvPr id="3259" name="Graphic 3258">
                  <a:extLst>
                    <a:ext uri="{FF2B5EF4-FFF2-40B4-BE49-F238E27FC236}">
                      <a16:creationId xmlns:a16="http://schemas.microsoft.com/office/drawing/2014/main" id="{ACF5AF07-6F8A-3B70-CEEB-122BA7CC7002}"/>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0586901" y="2870343"/>
                  <a:ext cx="546062" cy="546062"/>
                </a:xfrm>
                <a:prstGeom prst="rect">
                  <a:avLst/>
                </a:prstGeom>
              </p:spPr>
            </p:pic>
          </p:grpSp>
        </p:grpSp>
      </p:grpSp>
      <p:sp>
        <p:nvSpPr>
          <p:cNvPr id="35" name="Title 2">
            <a:extLst>
              <a:ext uri="{FF2B5EF4-FFF2-40B4-BE49-F238E27FC236}">
                <a16:creationId xmlns:a16="http://schemas.microsoft.com/office/drawing/2014/main" id="{A354D683-1316-F777-4FB7-33B69D8A8745}"/>
              </a:ext>
            </a:extLst>
          </p:cNvPr>
          <p:cNvSpPr>
            <a:spLocks noGrp="1"/>
          </p:cNvSpPr>
          <p:nvPr>
            <p:ph type="title"/>
          </p:nvPr>
        </p:nvSpPr>
        <p:spPr/>
        <p:txBody>
          <a:bodyPr/>
          <a:lstStyle/>
          <a:p>
            <a:r>
              <a:rPr lang="en-US"/>
              <a:t>Publish, manage, secure, analyze your APIs on a scalable platform</a:t>
            </a:r>
          </a:p>
        </p:txBody>
      </p:sp>
      <p:cxnSp>
        <p:nvCxnSpPr>
          <p:cNvPr id="3176" name="Connector: Elbow 3175">
            <a:extLst>
              <a:ext uri="{FF2B5EF4-FFF2-40B4-BE49-F238E27FC236}">
                <a16:creationId xmlns:a16="http://schemas.microsoft.com/office/drawing/2014/main" id="{98E57D46-3D79-3B1A-3F18-9185FCCDE0BA}"/>
              </a:ext>
              <a:ext uri="{C183D7F6-B498-43B3-948B-1728B52AA6E4}">
                <adec:decorative xmlns:adec="http://schemas.microsoft.com/office/drawing/2017/decorative" val="1"/>
              </a:ext>
            </a:extLst>
          </p:cNvPr>
          <p:cNvCxnSpPr/>
          <p:nvPr/>
        </p:nvCxnSpPr>
        <p:spPr>
          <a:xfrm rot="5400000" flipH="1" flipV="1">
            <a:off x="6096001" y="-414929"/>
            <a:ext cx="12700" cy="7252916"/>
          </a:xfrm>
          <a:prstGeom prst="bentConnector3">
            <a:avLst>
              <a:gd name="adj1" fmla="val 1800000"/>
            </a:avLst>
          </a:prstGeom>
          <a:ln>
            <a:solidFill>
              <a:schemeClr val="tx2"/>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78" name="Connector: Elbow 3177">
            <a:extLst>
              <a:ext uri="{FF2B5EF4-FFF2-40B4-BE49-F238E27FC236}">
                <a16:creationId xmlns:a16="http://schemas.microsoft.com/office/drawing/2014/main" id="{61DC9529-E2BD-0821-4A97-B3F8A22EF765}"/>
              </a:ext>
              <a:ext uri="{C183D7F6-B498-43B3-948B-1728B52AA6E4}">
                <adec:decorative xmlns:adec="http://schemas.microsoft.com/office/drawing/2017/decorative" val="1"/>
              </a:ext>
            </a:extLst>
          </p:cNvPr>
          <p:cNvCxnSpPr/>
          <p:nvPr/>
        </p:nvCxnSpPr>
        <p:spPr>
          <a:xfrm rot="5400000">
            <a:off x="4282772" y="2431188"/>
            <a:ext cx="12700" cy="3626458"/>
          </a:xfrm>
          <a:prstGeom prst="bentConnector3">
            <a:avLst>
              <a:gd name="adj1" fmla="val 1800000"/>
            </a:avLst>
          </a:prstGeom>
          <a:ln>
            <a:solidFill>
              <a:schemeClr val="tx2"/>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3325" name="Group 3324">
            <a:extLst>
              <a:ext uri="{FF2B5EF4-FFF2-40B4-BE49-F238E27FC236}">
                <a16:creationId xmlns:a16="http://schemas.microsoft.com/office/drawing/2014/main" id="{2951C497-749D-380D-CF47-365702C2C584}"/>
              </a:ext>
              <a:ext uri="{C183D7F6-B498-43B3-948B-1728B52AA6E4}">
                <adec:decorative xmlns:adec="http://schemas.microsoft.com/office/drawing/2017/decorative" val="1"/>
              </a:ext>
            </a:extLst>
          </p:cNvPr>
          <p:cNvGrpSpPr/>
          <p:nvPr/>
        </p:nvGrpSpPr>
        <p:grpSpPr>
          <a:xfrm>
            <a:off x="1102983" y="1619095"/>
            <a:ext cx="2733119" cy="1067391"/>
            <a:chOff x="1102983" y="1619095"/>
            <a:chExt cx="2733119" cy="1067391"/>
          </a:xfrm>
        </p:grpSpPr>
        <p:grpSp>
          <p:nvGrpSpPr>
            <p:cNvPr id="3106" name="Group 3105">
              <a:extLst>
                <a:ext uri="{FF2B5EF4-FFF2-40B4-BE49-F238E27FC236}">
                  <a16:creationId xmlns:a16="http://schemas.microsoft.com/office/drawing/2014/main" id="{372D0922-58B8-0707-C968-A6228001E7C9}"/>
                </a:ext>
              </a:extLst>
            </p:cNvPr>
            <p:cNvGrpSpPr/>
            <p:nvPr/>
          </p:nvGrpSpPr>
          <p:grpSpPr>
            <a:xfrm>
              <a:off x="2141883" y="1619095"/>
              <a:ext cx="655318" cy="655316"/>
              <a:chOff x="2152792" y="1630004"/>
              <a:chExt cx="633500" cy="633498"/>
            </a:xfrm>
          </p:grpSpPr>
          <p:sp>
            <p:nvSpPr>
              <p:cNvPr id="21" name="Oval 20">
                <a:extLst>
                  <a:ext uri="{FF2B5EF4-FFF2-40B4-BE49-F238E27FC236}">
                    <a16:creationId xmlns:a16="http://schemas.microsoft.com/office/drawing/2014/main" id="{1D613A26-DD91-0222-9E2C-83CA470C287A}"/>
                  </a:ext>
                </a:extLst>
              </p:cNvPr>
              <p:cNvSpPr/>
              <p:nvPr/>
            </p:nvSpPr>
            <p:spPr bwMode="auto">
              <a:xfrm>
                <a:off x="2152792" y="1630004"/>
                <a:ext cx="633500" cy="633498"/>
              </a:xfrm>
              <a:prstGeom prst="ellipse">
                <a:avLst/>
              </a:prstGeom>
              <a:solidFill>
                <a:schemeClr val="bg1"/>
              </a:solidFill>
              <a:ln w="6350">
                <a:noFill/>
              </a:ln>
              <a:effectLst>
                <a:outerShdw blurRad="101600" dist="38100" dir="13500000" algn="br" rotWithShape="0">
                  <a:schemeClr val="tx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82852" tIns="1828518" rIns="182852" bIns="30475" rtlCol="0" anchor="t"/>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IN" sz="1866" b="0" i="0" u="none" strike="noStrike" kern="1200" cap="none" spc="0" normalizeH="0" baseline="0" noProof="0">
                  <a:ln>
                    <a:noFill/>
                  </a:ln>
                  <a:solidFill>
                    <a:srgbClr val="135D8F"/>
                  </a:solidFill>
                  <a:effectLst/>
                  <a:uLnTx/>
                  <a:uFillTx/>
                  <a:latin typeface="Segoe UI Semibold"/>
                  <a:ea typeface="+mn-ea"/>
                  <a:cs typeface="+mn-cs"/>
                </a:endParaRPr>
              </a:p>
            </p:txBody>
          </p:sp>
          <p:sp>
            <p:nvSpPr>
              <p:cNvPr id="55" name="Modern_workplace" title="Icon of three people connected by a dotted line">
                <a:extLst>
                  <a:ext uri="{FF2B5EF4-FFF2-40B4-BE49-F238E27FC236}">
                    <a16:creationId xmlns:a16="http://schemas.microsoft.com/office/drawing/2014/main" id="{7B833100-299B-DF7B-16C3-C81FFA14C3DB}"/>
                  </a:ext>
                </a:extLst>
              </p:cNvPr>
              <p:cNvSpPr>
                <a:spLocks noChangeAspect="1" noEditPoints="1"/>
              </p:cNvSpPr>
              <p:nvPr/>
            </p:nvSpPr>
            <p:spPr bwMode="auto">
              <a:xfrm>
                <a:off x="2270761" y="1754110"/>
                <a:ext cx="397562" cy="385286"/>
              </a:xfrm>
              <a:custGeom>
                <a:avLst/>
                <a:gdLst>
                  <a:gd name="T0" fmla="*/ 210 w 584"/>
                  <a:gd name="T1" fmla="*/ 515 h 564"/>
                  <a:gd name="T2" fmla="*/ 226 w 584"/>
                  <a:gd name="T3" fmla="*/ 515 h 564"/>
                  <a:gd name="T4" fmla="*/ 239 w 584"/>
                  <a:gd name="T5" fmla="*/ 515 h 564"/>
                  <a:gd name="T6" fmla="*/ 255 w 584"/>
                  <a:gd name="T7" fmla="*/ 515 h 564"/>
                  <a:gd name="T8" fmla="*/ 269 w 584"/>
                  <a:gd name="T9" fmla="*/ 515 h 564"/>
                  <a:gd name="T10" fmla="*/ 285 w 584"/>
                  <a:gd name="T11" fmla="*/ 515 h 564"/>
                  <a:gd name="T12" fmla="*/ 298 w 584"/>
                  <a:gd name="T13" fmla="*/ 515 h 564"/>
                  <a:gd name="T14" fmla="*/ 314 w 584"/>
                  <a:gd name="T15" fmla="*/ 515 h 564"/>
                  <a:gd name="T16" fmla="*/ 328 w 584"/>
                  <a:gd name="T17" fmla="*/ 515 h 564"/>
                  <a:gd name="T18" fmla="*/ 344 w 584"/>
                  <a:gd name="T19" fmla="*/ 515 h 564"/>
                  <a:gd name="T20" fmla="*/ 357 w 584"/>
                  <a:gd name="T21" fmla="*/ 515 h 564"/>
                  <a:gd name="T22" fmla="*/ 373 w 584"/>
                  <a:gd name="T23" fmla="*/ 515 h 564"/>
                  <a:gd name="T24" fmla="*/ 366 w 584"/>
                  <a:gd name="T25" fmla="*/ 247 h 564"/>
                  <a:gd name="T26" fmla="*/ 358 w 584"/>
                  <a:gd name="T27" fmla="*/ 233 h 564"/>
                  <a:gd name="T28" fmla="*/ 372 w 584"/>
                  <a:gd name="T29" fmla="*/ 259 h 564"/>
                  <a:gd name="T30" fmla="*/ 380 w 584"/>
                  <a:gd name="T31" fmla="*/ 273 h 564"/>
                  <a:gd name="T32" fmla="*/ 386 w 584"/>
                  <a:gd name="T33" fmla="*/ 285 h 564"/>
                  <a:gd name="T34" fmla="*/ 393 w 584"/>
                  <a:gd name="T35" fmla="*/ 299 h 564"/>
                  <a:gd name="T36" fmla="*/ 400 w 584"/>
                  <a:gd name="T37" fmla="*/ 311 h 564"/>
                  <a:gd name="T38" fmla="*/ 407 w 584"/>
                  <a:gd name="T39" fmla="*/ 325 h 564"/>
                  <a:gd name="T40" fmla="*/ 414 w 584"/>
                  <a:gd name="T41" fmla="*/ 337 h 564"/>
                  <a:gd name="T42" fmla="*/ 421 w 584"/>
                  <a:gd name="T43" fmla="*/ 351 h 564"/>
                  <a:gd name="T44" fmla="*/ 226 w 584"/>
                  <a:gd name="T45" fmla="*/ 233 h 564"/>
                  <a:gd name="T46" fmla="*/ 218 w 584"/>
                  <a:gd name="T47" fmla="*/ 247 h 564"/>
                  <a:gd name="T48" fmla="*/ 212 w 584"/>
                  <a:gd name="T49" fmla="*/ 259 h 564"/>
                  <a:gd name="T50" fmla="*/ 204 w 584"/>
                  <a:gd name="T51" fmla="*/ 273 h 564"/>
                  <a:gd name="T52" fmla="*/ 198 w 584"/>
                  <a:gd name="T53" fmla="*/ 285 h 564"/>
                  <a:gd name="T54" fmla="*/ 191 w 584"/>
                  <a:gd name="T55" fmla="*/ 299 h 564"/>
                  <a:gd name="T56" fmla="*/ 184 w 584"/>
                  <a:gd name="T57" fmla="*/ 311 h 564"/>
                  <a:gd name="T58" fmla="*/ 177 w 584"/>
                  <a:gd name="T59" fmla="*/ 325 h 564"/>
                  <a:gd name="T60" fmla="*/ 170 w 584"/>
                  <a:gd name="T61" fmla="*/ 337 h 564"/>
                  <a:gd name="T62" fmla="*/ 163 w 584"/>
                  <a:gd name="T63" fmla="*/ 351 h 564"/>
                  <a:gd name="T64" fmla="*/ 239 w 584"/>
                  <a:gd name="T65" fmla="*/ 53 h 564"/>
                  <a:gd name="T66" fmla="*/ 293 w 584"/>
                  <a:gd name="T67" fmla="*/ 105 h 564"/>
                  <a:gd name="T68" fmla="*/ 347 w 584"/>
                  <a:gd name="T69" fmla="*/ 53 h 564"/>
                  <a:gd name="T70" fmla="*/ 293 w 584"/>
                  <a:gd name="T71" fmla="*/ 0 h 564"/>
                  <a:gd name="T72" fmla="*/ 239 w 584"/>
                  <a:gd name="T73" fmla="*/ 53 h 564"/>
                  <a:gd name="T74" fmla="*/ 205 w 584"/>
                  <a:gd name="T75" fmla="*/ 190 h 564"/>
                  <a:gd name="T76" fmla="*/ 292 w 584"/>
                  <a:gd name="T77" fmla="*/ 105 h 564"/>
                  <a:gd name="T78" fmla="*/ 379 w 584"/>
                  <a:gd name="T79" fmla="*/ 190 h 564"/>
                  <a:gd name="T80" fmla="*/ 444 w 584"/>
                  <a:gd name="T81" fmla="*/ 427 h 564"/>
                  <a:gd name="T82" fmla="*/ 498 w 584"/>
                  <a:gd name="T83" fmla="*/ 479 h 564"/>
                  <a:gd name="T84" fmla="*/ 553 w 584"/>
                  <a:gd name="T85" fmla="*/ 427 h 564"/>
                  <a:gd name="T86" fmla="*/ 498 w 584"/>
                  <a:gd name="T87" fmla="*/ 374 h 564"/>
                  <a:gd name="T88" fmla="*/ 444 w 584"/>
                  <a:gd name="T89" fmla="*/ 427 h 564"/>
                  <a:gd name="T90" fmla="*/ 411 w 584"/>
                  <a:gd name="T91" fmla="*/ 564 h 564"/>
                  <a:gd name="T92" fmla="*/ 498 w 584"/>
                  <a:gd name="T93" fmla="*/ 479 h 564"/>
                  <a:gd name="T94" fmla="*/ 584 w 584"/>
                  <a:gd name="T95" fmla="*/ 564 h 564"/>
                  <a:gd name="T96" fmla="*/ 34 w 584"/>
                  <a:gd name="T97" fmla="*/ 427 h 564"/>
                  <a:gd name="T98" fmla="*/ 87 w 584"/>
                  <a:gd name="T99" fmla="*/ 479 h 564"/>
                  <a:gd name="T100" fmla="*/ 142 w 584"/>
                  <a:gd name="T101" fmla="*/ 427 h 564"/>
                  <a:gd name="T102" fmla="*/ 87 w 584"/>
                  <a:gd name="T103" fmla="*/ 374 h 564"/>
                  <a:gd name="T104" fmla="*/ 34 w 584"/>
                  <a:gd name="T105" fmla="*/ 427 h 564"/>
                  <a:gd name="T106" fmla="*/ 0 w 584"/>
                  <a:gd name="T107" fmla="*/ 564 h 564"/>
                  <a:gd name="T108" fmla="*/ 87 w 584"/>
                  <a:gd name="T109" fmla="*/ 479 h 564"/>
                  <a:gd name="T110" fmla="*/ 173 w 584"/>
                  <a:gd name="T111" fmla="*/ 564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84" h="564">
                    <a:moveTo>
                      <a:pt x="210" y="515"/>
                    </a:moveTo>
                    <a:cubicBezTo>
                      <a:pt x="226" y="515"/>
                      <a:pt x="226" y="515"/>
                      <a:pt x="226" y="515"/>
                    </a:cubicBezTo>
                    <a:moveTo>
                      <a:pt x="239" y="515"/>
                    </a:moveTo>
                    <a:cubicBezTo>
                      <a:pt x="255" y="515"/>
                      <a:pt x="255" y="515"/>
                      <a:pt x="255" y="515"/>
                    </a:cubicBezTo>
                    <a:moveTo>
                      <a:pt x="269" y="515"/>
                    </a:moveTo>
                    <a:cubicBezTo>
                      <a:pt x="285" y="515"/>
                      <a:pt x="285" y="515"/>
                      <a:pt x="285" y="515"/>
                    </a:cubicBezTo>
                    <a:moveTo>
                      <a:pt x="298" y="515"/>
                    </a:moveTo>
                    <a:cubicBezTo>
                      <a:pt x="314" y="515"/>
                      <a:pt x="314" y="515"/>
                      <a:pt x="314" y="515"/>
                    </a:cubicBezTo>
                    <a:moveTo>
                      <a:pt x="328" y="515"/>
                    </a:moveTo>
                    <a:cubicBezTo>
                      <a:pt x="344" y="515"/>
                      <a:pt x="344" y="515"/>
                      <a:pt x="344" y="515"/>
                    </a:cubicBezTo>
                    <a:moveTo>
                      <a:pt x="357" y="515"/>
                    </a:moveTo>
                    <a:cubicBezTo>
                      <a:pt x="373" y="515"/>
                      <a:pt x="373" y="515"/>
                      <a:pt x="373" y="515"/>
                    </a:cubicBezTo>
                    <a:moveTo>
                      <a:pt x="366" y="247"/>
                    </a:moveTo>
                    <a:cubicBezTo>
                      <a:pt x="358" y="233"/>
                      <a:pt x="358" y="233"/>
                      <a:pt x="358" y="233"/>
                    </a:cubicBezTo>
                    <a:moveTo>
                      <a:pt x="372" y="259"/>
                    </a:moveTo>
                    <a:cubicBezTo>
                      <a:pt x="380" y="273"/>
                      <a:pt x="380" y="273"/>
                      <a:pt x="380" y="273"/>
                    </a:cubicBezTo>
                    <a:moveTo>
                      <a:pt x="386" y="285"/>
                    </a:moveTo>
                    <a:cubicBezTo>
                      <a:pt x="393" y="299"/>
                      <a:pt x="393" y="299"/>
                      <a:pt x="393" y="299"/>
                    </a:cubicBezTo>
                    <a:moveTo>
                      <a:pt x="400" y="311"/>
                    </a:moveTo>
                    <a:cubicBezTo>
                      <a:pt x="407" y="325"/>
                      <a:pt x="407" y="325"/>
                      <a:pt x="407" y="325"/>
                    </a:cubicBezTo>
                    <a:moveTo>
                      <a:pt x="414" y="337"/>
                    </a:moveTo>
                    <a:cubicBezTo>
                      <a:pt x="421" y="351"/>
                      <a:pt x="421" y="351"/>
                      <a:pt x="421" y="351"/>
                    </a:cubicBezTo>
                    <a:moveTo>
                      <a:pt x="226" y="233"/>
                    </a:moveTo>
                    <a:cubicBezTo>
                      <a:pt x="218" y="247"/>
                      <a:pt x="218" y="247"/>
                      <a:pt x="218" y="247"/>
                    </a:cubicBezTo>
                    <a:moveTo>
                      <a:pt x="212" y="259"/>
                    </a:moveTo>
                    <a:cubicBezTo>
                      <a:pt x="204" y="273"/>
                      <a:pt x="204" y="273"/>
                      <a:pt x="204" y="273"/>
                    </a:cubicBezTo>
                    <a:moveTo>
                      <a:pt x="198" y="285"/>
                    </a:moveTo>
                    <a:cubicBezTo>
                      <a:pt x="191" y="299"/>
                      <a:pt x="191" y="299"/>
                      <a:pt x="191" y="299"/>
                    </a:cubicBezTo>
                    <a:moveTo>
                      <a:pt x="184" y="311"/>
                    </a:moveTo>
                    <a:cubicBezTo>
                      <a:pt x="177" y="325"/>
                      <a:pt x="177" y="325"/>
                      <a:pt x="177" y="325"/>
                    </a:cubicBezTo>
                    <a:moveTo>
                      <a:pt x="170" y="337"/>
                    </a:moveTo>
                    <a:cubicBezTo>
                      <a:pt x="163" y="351"/>
                      <a:pt x="163" y="351"/>
                      <a:pt x="163" y="351"/>
                    </a:cubicBezTo>
                    <a:moveTo>
                      <a:pt x="239" y="53"/>
                    </a:moveTo>
                    <a:cubicBezTo>
                      <a:pt x="239" y="82"/>
                      <a:pt x="263" y="105"/>
                      <a:pt x="293" y="105"/>
                    </a:cubicBezTo>
                    <a:cubicBezTo>
                      <a:pt x="322" y="105"/>
                      <a:pt x="347" y="82"/>
                      <a:pt x="347" y="53"/>
                    </a:cubicBezTo>
                    <a:cubicBezTo>
                      <a:pt x="347" y="24"/>
                      <a:pt x="322" y="0"/>
                      <a:pt x="293" y="0"/>
                    </a:cubicBezTo>
                    <a:cubicBezTo>
                      <a:pt x="263" y="0"/>
                      <a:pt x="239" y="24"/>
                      <a:pt x="239" y="53"/>
                    </a:cubicBezTo>
                    <a:close/>
                    <a:moveTo>
                      <a:pt x="205" y="190"/>
                    </a:moveTo>
                    <a:cubicBezTo>
                      <a:pt x="205" y="143"/>
                      <a:pt x="244" y="105"/>
                      <a:pt x="292" y="105"/>
                    </a:cubicBezTo>
                    <a:cubicBezTo>
                      <a:pt x="340" y="105"/>
                      <a:pt x="379" y="143"/>
                      <a:pt x="379" y="190"/>
                    </a:cubicBezTo>
                    <a:moveTo>
                      <a:pt x="444" y="427"/>
                    </a:moveTo>
                    <a:cubicBezTo>
                      <a:pt x="444" y="456"/>
                      <a:pt x="469" y="479"/>
                      <a:pt x="498" y="479"/>
                    </a:cubicBezTo>
                    <a:cubicBezTo>
                      <a:pt x="528" y="479"/>
                      <a:pt x="553" y="456"/>
                      <a:pt x="553" y="427"/>
                    </a:cubicBezTo>
                    <a:cubicBezTo>
                      <a:pt x="553" y="398"/>
                      <a:pt x="528" y="374"/>
                      <a:pt x="498" y="374"/>
                    </a:cubicBezTo>
                    <a:cubicBezTo>
                      <a:pt x="469" y="374"/>
                      <a:pt x="444" y="398"/>
                      <a:pt x="444" y="427"/>
                    </a:cubicBezTo>
                    <a:close/>
                    <a:moveTo>
                      <a:pt x="411" y="564"/>
                    </a:moveTo>
                    <a:cubicBezTo>
                      <a:pt x="411" y="517"/>
                      <a:pt x="449" y="479"/>
                      <a:pt x="498" y="479"/>
                    </a:cubicBezTo>
                    <a:cubicBezTo>
                      <a:pt x="546" y="479"/>
                      <a:pt x="584" y="517"/>
                      <a:pt x="584" y="564"/>
                    </a:cubicBezTo>
                    <a:moveTo>
                      <a:pt x="34" y="427"/>
                    </a:moveTo>
                    <a:cubicBezTo>
                      <a:pt x="34" y="456"/>
                      <a:pt x="58" y="479"/>
                      <a:pt x="87" y="479"/>
                    </a:cubicBezTo>
                    <a:cubicBezTo>
                      <a:pt x="117" y="479"/>
                      <a:pt x="142" y="456"/>
                      <a:pt x="142" y="427"/>
                    </a:cubicBezTo>
                    <a:cubicBezTo>
                      <a:pt x="142" y="398"/>
                      <a:pt x="117" y="374"/>
                      <a:pt x="87" y="374"/>
                    </a:cubicBezTo>
                    <a:cubicBezTo>
                      <a:pt x="58" y="374"/>
                      <a:pt x="34" y="398"/>
                      <a:pt x="34" y="427"/>
                    </a:cubicBezTo>
                    <a:close/>
                    <a:moveTo>
                      <a:pt x="0" y="564"/>
                    </a:moveTo>
                    <a:cubicBezTo>
                      <a:pt x="0" y="517"/>
                      <a:pt x="38" y="479"/>
                      <a:pt x="87" y="479"/>
                    </a:cubicBezTo>
                    <a:cubicBezTo>
                      <a:pt x="135" y="479"/>
                      <a:pt x="173" y="517"/>
                      <a:pt x="173" y="564"/>
                    </a:cubicBezTo>
                  </a:path>
                </a:pathLst>
              </a:custGeom>
              <a:noFill/>
              <a:ln w="15875" cap="flat">
                <a:solidFill>
                  <a:schemeClr val="tx2">
                    <a:lumMod val="20000"/>
                    <a:lumOff val="8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0951" tIns="30475" rIns="60951" bIns="30475" numCol="1" anchor="t" anchorCtr="0" compatLnSpc="1">
                <a:prstTxWarp prst="textNoShape">
                  <a:avLst/>
                </a:prstTxWarp>
              </a:bodyP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US" sz="1067" b="0" i="0" u="none" strike="noStrike" kern="1200" cap="none" spc="0" normalizeH="0" baseline="0" noProof="0">
                  <a:ln>
                    <a:noFill/>
                  </a:ln>
                  <a:solidFill>
                    <a:prstClr val="black"/>
                  </a:solidFill>
                  <a:effectLst/>
                  <a:uLnTx/>
                  <a:uFillTx/>
                  <a:latin typeface="Segoe UI"/>
                  <a:ea typeface="+mn-ea"/>
                  <a:cs typeface="+mn-cs"/>
                </a:endParaRPr>
              </a:p>
            </p:txBody>
          </p:sp>
        </p:grpSp>
        <p:sp>
          <p:nvSpPr>
            <p:cNvPr id="3245" name="TextBox 3244">
              <a:extLst>
                <a:ext uri="{FF2B5EF4-FFF2-40B4-BE49-F238E27FC236}">
                  <a16:creationId xmlns:a16="http://schemas.microsoft.com/office/drawing/2014/main" id="{64BDBBD5-0965-2ED6-8E10-9C4A07E6869A}"/>
                </a:ext>
              </a:extLst>
            </p:cNvPr>
            <p:cNvSpPr txBox="1"/>
            <p:nvPr/>
          </p:nvSpPr>
          <p:spPr>
            <a:xfrm>
              <a:off x="2014290" y="2353531"/>
              <a:ext cx="910506" cy="169277"/>
            </a:xfrm>
            <a:prstGeom prst="rect">
              <a:avLst/>
            </a:prstGeom>
            <a:noFill/>
          </p:spPr>
          <p:txBody>
            <a:bodyPr wrap="none" lIns="0" tIns="0" rIns="0" bIns="0" rtlCol="0">
              <a:spAutoFit/>
            </a:bodyPr>
            <a:lstStyle/>
            <a:p>
              <a:pPr marL="0" marR="0" lvl="0" indent="0" algn="ctr" defTabSz="914101"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63668"/>
                  </a:solidFill>
                  <a:effectLst/>
                  <a:uLnTx/>
                  <a:uFillTx/>
                  <a:latin typeface="Segoe UI Semibold"/>
                  <a:ea typeface="+mn-ea"/>
                  <a:cs typeface="Segoe UI Semilight" panose="020B0402040204020203" pitchFamily="34" charset="0"/>
                </a:rPr>
                <a:t>API Publishers</a:t>
              </a:r>
            </a:p>
          </p:txBody>
        </p:sp>
        <p:sp>
          <p:nvSpPr>
            <p:cNvPr id="3252" name="TextBox 3251">
              <a:extLst>
                <a:ext uri="{FF2B5EF4-FFF2-40B4-BE49-F238E27FC236}">
                  <a16:creationId xmlns:a16="http://schemas.microsoft.com/office/drawing/2014/main" id="{9A4C398F-6EB3-1E7D-7D31-971D5D196914}"/>
                </a:ext>
              </a:extLst>
            </p:cNvPr>
            <p:cNvSpPr txBox="1"/>
            <p:nvPr/>
          </p:nvSpPr>
          <p:spPr>
            <a:xfrm>
              <a:off x="1102983" y="2524903"/>
              <a:ext cx="2733119" cy="161583"/>
            </a:xfrm>
            <a:prstGeom prst="rect">
              <a:avLst/>
            </a:prstGeom>
            <a:noFill/>
            <a:ln>
              <a:noFill/>
            </a:ln>
          </p:spPr>
          <p:txBody>
            <a:bodyPr wrap="none" lIns="0" tIns="0" rIns="0" bIns="0" rtlCol="0" anchor="ctr">
              <a:spAutoFit/>
            </a:bodyPr>
            <a:lstStyle/>
            <a:p>
              <a:pPr marL="0" marR="0" lvl="0" indent="0" algn="ctr" defTabSz="914101" rtl="0" eaLnBrk="1" fontAlgn="auto" latinLnBrk="0" hangingPunct="1">
                <a:lnSpc>
                  <a:spcPct val="100000"/>
                </a:lnSpc>
                <a:spcBef>
                  <a:spcPts val="400"/>
                </a:spcBef>
                <a:spcAft>
                  <a:spcPts val="0"/>
                </a:spcAft>
                <a:buClrTx/>
                <a:buSzTx/>
                <a:buFontTx/>
                <a:buNone/>
                <a:tabLst/>
                <a:defRPr/>
              </a:pPr>
              <a:r>
                <a:rPr kumimoji="0" lang="en-US" sz="1050" b="0" i="0" u="none" strike="noStrike" kern="1200" cap="none" spc="0" normalizeH="0" baseline="0" noProof="0">
                  <a:ln>
                    <a:noFill/>
                  </a:ln>
                  <a:solidFill>
                    <a:prstClr val="black">
                      <a:lumMod val="85000"/>
                      <a:lumOff val="15000"/>
                    </a:prstClr>
                  </a:solidFill>
                  <a:effectLst/>
                  <a:uLnTx/>
                  <a:uFillTx/>
                  <a:latin typeface="Segoe UI"/>
                  <a:ea typeface="+mn-ea"/>
                  <a:cs typeface="Segoe UI Semilight" panose="020B0402040204020203" pitchFamily="34" charset="0"/>
                </a:rPr>
                <a:t>Abstract | Secure | Evolve | Observe | Monetize</a:t>
              </a:r>
            </a:p>
          </p:txBody>
        </p:sp>
      </p:grpSp>
      <p:grpSp>
        <p:nvGrpSpPr>
          <p:cNvPr id="3326" name="Group 3325">
            <a:extLst>
              <a:ext uri="{FF2B5EF4-FFF2-40B4-BE49-F238E27FC236}">
                <a16:creationId xmlns:a16="http://schemas.microsoft.com/office/drawing/2014/main" id="{2A2B85C4-73F8-C28F-8E5F-C2276CF4D485}"/>
              </a:ext>
              <a:ext uri="{C183D7F6-B498-43B3-948B-1728B52AA6E4}">
                <adec:decorative xmlns:adec="http://schemas.microsoft.com/office/drawing/2017/decorative" val="1"/>
              </a:ext>
            </a:extLst>
          </p:cNvPr>
          <p:cNvGrpSpPr/>
          <p:nvPr/>
        </p:nvGrpSpPr>
        <p:grpSpPr>
          <a:xfrm>
            <a:off x="4860085" y="1619095"/>
            <a:ext cx="2471831" cy="1067391"/>
            <a:chOff x="4860085" y="1619095"/>
            <a:chExt cx="2471831" cy="1067391"/>
          </a:xfrm>
        </p:grpSpPr>
        <p:grpSp>
          <p:nvGrpSpPr>
            <p:cNvPr id="3107" name="Group 3106">
              <a:extLst>
                <a:ext uri="{FF2B5EF4-FFF2-40B4-BE49-F238E27FC236}">
                  <a16:creationId xmlns:a16="http://schemas.microsoft.com/office/drawing/2014/main" id="{C6E2B202-34F3-50F7-5CC7-38FCAE9BB34A}"/>
                </a:ext>
              </a:extLst>
            </p:cNvPr>
            <p:cNvGrpSpPr/>
            <p:nvPr/>
          </p:nvGrpSpPr>
          <p:grpSpPr>
            <a:xfrm>
              <a:off x="5768341" y="1619095"/>
              <a:ext cx="655318" cy="655316"/>
              <a:chOff x="5779250" y="1630004"/>
              <a:chExt cx="633500" cy="633498"/>
            </a:xfrm>
          </p:grpSpPr>
          <p:sp>
            <p:nvSpPr>
              <p:cNvPr id="25" name="Oval 24">
                <a:extLst>
                  <a:ext uri="{FF2B5EF4-FFF2-40B4-BE49-F238E27FC236}">
                    <a16:creationId xmlns:a16="http://schemas.microsoft.com/office/drawing/2014/main" id="{DC109332-A157-F267-4167-42EE63450064}"/>
                  </a:ext>
                </a:extLst>
              </p:cNvPr>
              <p:cNvSpPr/>
              <p:nvPr/>
            </p:nvSpPr>
            <p:spPr bwMode="auto">
              <a:xfrm>
                <a:off x="5779250" y="1630004"/>
                <a:ext cx="633500" cy="633498"/>
              </a:xfrm>
              <a:prstGeom prst="ellipse">
                <a:avLst/>
              </a:prstGeom>
              <a:solidFill>
                <a:schemeClr val="bg1"/>
              </a:solidFill>
              <a:ln w="6350">
                <a:noFill/>
              </a:ln>
              <a:effectLst>
                <a:outerShdw blurRad="101600" dist="38100" dir="13500000" algn="br" rotWithShape="0">
                  <a:schemeClr val="tx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82852" tIns="1828518" rIns="182852" bIns="30475" rtlCol="0" anchor="t"/>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IN" sz="1866" b="0" i="0" u="none" strike="noStrike" kern="1200" cap="none" spc="0" normalizeH="0" baseline="0" noProof="0" err="1">
                  <a:ln>
                    <a:noFill/>
                  </a:ln>
                  <a:solidFill>
                    <a:srgbClr val="135D8F"/>
                  </a:solidFill>
                  <a:effectLst/>
                  <a:uLnTx/>
                  <a:uFillTx/>
                  <a:latin typeface="Segoe UI Semibold"/>
                  <a:ea typeface="+mn-ea"/>
                  <a:cs typeface="+mn-cs"/>
                </a:endParaRPr>
              </a:p>
            </p:txBody>
          </p:sp>
          <p:sp>
            <p:nvSpPr>
              <p:cNvPr id="58" name="people_6" title="Icon of a person with a screen behind them">
                <a:extLst>
                  <a:ext uri="{FF2B5EF4-FFF2-40B4-BE49-F238E27FC236}">
                    <a16:creationId xmlns:a16="http://schemas.microsoft.com/office/drawing/2014/main" id="{901199BB-1FE9-2581-1A4D-5B6E373CAC7A}"/>
                  </a:ext>
                </a:extLst>
              </p:cNvPr>
              <p:cNvSpPr>
                <a:spLocks noChangeAspect="1" noEditPoints="1"/>
              </p:cNvSpPr>
              <p:nvPr/>
            </p:nvSpPr>
            <p:spPr bwMode="auto">
              <a:xfrm>
                <a:off x="5933591" y="1784988"/>
                <a:ext cx="324818" cy="323530"/>
              </a:xfrm>
              <a:custGeom>
                <a:avLst/>
                <a:gdLst>
                  <a:gd name="T0" fmla="*/ 90 w 347"/>
                  <a:gd name="T1" fmla="*/ 124 h 347"/>
                  <a:gd name="T2" fmla="*/ 175 w 347"/>
                  <a:gd name="T3" fmla="*/ 39 h 347"/>
                  <a:gd name="T4" fmla="*/ 260 w 347"/>
                  <a:gd name="T5" fmla="*/ 124 h 347"/>
                  <a:gd name="T6" fmla="*/ 175 w 347"/>
                  <a:gd name="T7" fmla="*/ 209 h 347"/>
                  <a:gd name="T8" fmla="*/ 90 w 347"/>
                  <a:gd name="T9" fmla="*/ 124 h 347"/>
                  <a:gd name="T10" fmla="*/ 311 w 347"/>
                  <a:gd name="T11" fmla="*/ 347 h 347"/>
                  <a:gd name="T12" fmla="*/ 174 w 347"/>
                  <a:gd name="T13" fmla="*/ 209 h 347"/>
                  <a:gd name="T14" fmla="*/ 36 w 347"/>
                  <a:gd name="T15" fmla="*/ 347 h 347"/>
                  <a:gd name="T16" fmla="*/ 293 w 347"/>
                  <a:gd name="T17" fmla="*/ 239 h 347"/>
                  <a:gd name="T18" fmla="*/ 347 w 347"/>
                  <a:gd name="T19" fmla="*/ 239 h 347"/>
                  <a:gd name="T20" fmla="*/ 347 w 347"/>
                  <a:gd name="T21" fmla="*/ 0 h 347"/>
                  <a:gd name="T22" fmla="*/ 0 w 347"/>
                  <a:gd name="T23" fmla="*/ 0 h 347"/>
                  <a:gd name="T24" fmla="*/ 0 w 347"/>
                  <a:gd name="T25" fmla="*/ 239 h 347"/>
                  <a:gd name="T26" fmla="*/ 54 w 347"/>
                  <a:gd name="T27" fmla="*/ 239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7" h="347">
                    <a:moveTo>
                      <a:pt x="90" y="124"/>
                    </a:moveTo>
                    <a:cubicBezTo>
                      <a:pt x="90" y="77"/>
                      <a:pt x="128" y="39"/>
                      <a:pt x="175" y="39"/>
                    </a:cubicBezTo>
                    <a:cubicBezTo>
                      <a:pt x="222" y="39"/>
                      <a:pt x="260" y="77"/>
                      <a:pt x="260" y="124"/>
                    </a:cubicBezTo>
                    <a:cubicBezTo>
                      <a:pt x="260" y="171"/>
                      <a:pt x="222" y="209"/>
                      <a:pt x="175" y="209"/>
                    </a:cubicBezTo>
                    <a:cubicBezTo>
                      <a:pt x="128" y="209"/>
                      <a:pt x="90" y="171"/>
                      <a:pt x="90" y="124"/>
                    </a:cubicBezTo>
                    <a:close/>
                    <a:moveTo>
                      <a:pt x="311" y="347"/>
                    </a:moveTo>
                    <a:cubicBezTo>
                      <a:pt x="311" y="271"/>
                      <a:pt x="249" y="209"/>
                      <a:pt x="174" y="209"/>
                    </a:cubicBezTo>
                    <a:cubicBezTo>
                      <a:pt x="98" y="209"/>
                      <a:pt x="36" y="271"/>
                      <a:pt x="36" y="347"/>
                    </a:cubicBezTo>
                    <a:moveTo>
                      <a:pt x="293" y="239"/>
                    </a:moveTo>
                    <a:cubicBezTo>
                      <a:pt x="347" y="239"/>
                      <a:pt x="347" y="239"/>
                      <a:pt x="347" y="239"/>
                    </a:cubicBezTo>
                    <a:cubicBezTo>
                      <a:pt x="347" y="0"/>
                      <a:pt x="347" y="0"/>
                      <a:pt x="347" y="0"/>
                    </a:cubicBezTo>
                    <a:cubicBezTo>
                      <a:pt x="0" y="0"/>
                      <a:pt x="0" y="0"/>
                      <a:pt x="0" y="0"/>
                    </a:cubicBezTo>
                    <a:cubicBezTo>
                      <a:pt x="0" y="239"/>
                      <a:pt x="0" y="239"/>
                      <a:pt x="0" y="239"/>
                    </a:cubicBezTo>
                    <a:cubicBezTo>
                      <a:pt x="54" y="239"/>
                      <a:pt x="54" y="239"/>
                      <a:pt x="54" y="239"/>
                    </a:cubicBezTo>
                  </a:path>
                </a:pathLst>
              </a:custGeom>
              <a:noFill/>
              <a:ln w="15875" cap="flat">
                <a:solidFill>
                  <a:schemeClr val="tx2">
                    <a:lumMod val="20000"/>
                    <a:lumOff val="8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0951" tIns="30475" rIns="60951" bIns="30475" numCol="1" anchor="t" anchorCtr="0" compatLnSpc="1">
                <a:prstTxWarp prst="textNoShape">
                  <a:avLst/>
                </a:prstTxWarp>
              </a:bodyPr>
              <a:lstStyle/>
              <a:p>
                <a:pPr marL="0" marR="0" lvl="0" indent="0" algn="l" defTabSz="304770" rtl="0" eaLnBrk="1" fontAlgn="auto" latinLnBrk="0" hangingPunct="1">
                  <a:lnSpc>
                    <a:spcPct val="100000"/>
                  </a:lnSpc>
                  <a:spcBef>
                    <a:spcPts val="0"/>
                  </a:spcBef>
                  <a:spcAft>
                    <a:spcPts val="0"/>
                  </a:spcAft>
                  <a:buClrTx/>
                  <a:buSzTx/>
                  <a:buFontTx/>
                  <a:buNone/>
                  <a:tabLst/>
                  <a:defRPr/>
                </a:pPr>
                <a:endParaRPr kumimoji="0" lang="en-US" sz="1067" b="0" i="0" u="none" strike="noStrike" kern="1200" cap="none" spc="0" normalizeH="0" baseline="0" noProof="0">
                  <a:ln>
                    <a:noFill/>
                  </a:ln>
                  <a:solidFill>
                    <a:prstClr val="black"/>
                  </a:solidFill>
                  <a:effectLst/>
                  <a:uLnTx/>
                  <a:uFillTx/>
                  <a:latin typeface="Segoe UI"/>
                  <a:ea typeface="+mn-ea"/>
                  <a:cs typeface="+mn-cs"/>
                </a:endParaRPr>
              </a:p>
            </p:txBody>
          </p:sp>
        </p:grpSp>
        <p:sp>
          <p:nvSpPr>
            <p:cNvPr id="3246" name="TextBox 3245">
              <a:extLst>
                <a:ext uri="{FF2B5EF4-FFF2-40B4-BE49-F238E27FC236}">
                  <a16:creationId xmlns:a16="http://schemas.microsoft.com/office/drawing/2014/main" id="{3607B035-2B47-CF5A-3AC6-71D72FB1E895}"/>
                </a:ext>
              </a:extLst>
            </p:cNvPr>
            <p:cNvSpPr txBox="1"/>
            <p:nvPr/>
          </p:nvSpPr>
          <p:spPr>
            <a:xfrm>
              <a:off x="5584642" y="2353531"/>
              <a:ext cx="1022717" cy="169277"/>
            </a:xfrm>
            <a:prstGeom prst="rect">
              <a:avLst/>
            </a:prstGeom>
            <a:noFill/>
          </p:spPr>
          <p:txBody>
            <a:bodyPr wrap="none" lIns="0" tIns="0" rIns="0" bIns="0" rtlCol="0">
              <a:spAutoFit/>
            </a:bodyPr>
            <a:lstStyle/>
            <a:p>
              <a:pPr marL="0" marR="0" lvl="0" indent="0" algn="ctr" defTabSz="914101"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63668"/>
                  </a:solidFill>
                  <a:effectLst/>
                  <a:uLnTx/>
                  <a:uFillTx/>
                  <a:latin typeface="Segoe UI Semibold"/>
                  <a:ea typeface="+mn-ea"/>
                  <a:cs typeface="Segoe UI Semilight" panose="020B0402040204020203" pitchFamily="34" charset="0"/>
                </a:rPr>
                <a:t>App Developers</a:t>
              </a:r>
            </a:p>
          </p:txBody>
        </p:sp>
        <p:sp>
          <p:nvSpPr>
            <p:cNvPr id="3254" name="TextBox 3253">
              <a:extLst>
                <a:ext uri="{FF2B5EF4-FFF2-40B4-BE49-F238E27FC236}">
                  <a16:creationId xmlns:a16="http://schemas.microsoft.com/office/drawing/2014/main" id="{8E4B6CB8-B779-363C-2614-FE39A8BE8642}"/>
                </a:ext>
              </a:extLst>
            </p:cNvPr>
            <p:cNvSpPr txBox="1"/>
            <p:nvPr/>
          </p:nvSpPr>
          <p:spPr>
            <a:xfrm>
              <a:off x="4860085" y="2524903"/>
              <a:ext cx="2471831" cy="161583"/>
            </a:xfrm>
            <a:prstGeom prst="rect">
              <a:avLst/>
            </a:prstGeom>
            <a:noFill/>
            <a:ln>
              <a:noFill/>
            </a:ln>
          </p:spPr>
          <p:txBody>
            <a:bodyPr wrap="none" lIns="0" tIns="0" rIns="0" bIns="0" rtlCol="0" anchor="ctr">
              <a:spAutoFit/>
            </a:bodyPr>
            <a:lstStyle/>
            <a:p>
              <a:pPr marL="0" marR="0" lvl="0" indent="0" algn="ctr" defTabSz="914101" rtl="0" eaLnBrk="1" fontAlgn="auto" latinLnBrk="0" hangingPunct="1">
                <a:lnSpc>
                  <a:spcPct val="100000"/>
                </a:lnSpc>
                <a:spcBef>
                  <a:spcPts val="400"/>
                </a:spcBef>
                <a:spcAft>
                  <a:spcPts val="0"/>
                </a:spcAft>
                <a:buClrTx/>
                <a:buSzTx/>
                <a:buFontTx/>
                <a:buNone/>
                <a:tabLst/>
                <a:defRPr/>
              </a:pPr>
              <a:r>
                <a:rPr kumimoji="0" lang="en-US" sz="1050" b="0" i="0" u="none" strike="noStrike" kern="1200" cap="none" spc="0" normalizeH="0" baseline="0" noProof="0">
                  <a:ln>
                    <a:noFill/>
                  </a:ln>
                  <a:solidFill>
                    <a:prstClr val="black">
                      <a:lumMod val="85000"/>
                      <a:lumOff val="15000"/>
                    </a:prstClr>
                  </a:solidFill>
                  <a:effectLst/>
                  <a:uLnTx/>
                  <a:uFillTx/>
                  <a:latin typeface="Segoe UI"/>
                  <a:ea typeface="+mn-ea"/>
                  <a:cs typeface="Segoe UI Semilight" panose="020B0402040204020203" pitchFamily="34" charset="0"/>
                </a:rPr>
                <a:t>Discover | Learn | Try | Onboard | Get help</a:t>
              </a:r>
            </a:p>
          </p:txBody>
        </p:sp>
      </p:grpSp>
      <p:grpSp>
        <p:nvGrpSpPr>
          <p:cNvPr id="3329" name="Group 3328">
            <a:extLst>
              <a:ext uri="{FF2B5EF4-FFF2-40B4-BE49-F238E27FC236}">
                <a16:creationId xmlns:a16="http://schemas.microsoft.com/office/drawing/2014/main" id="{F6AFDAA7-8391-23EB-036E-12AF5A352D65}"/>
              </a:ext>
              <a:ext uri="{C183D7F6-B498-43B3-948B-1728B52AA6E4}">
                <adec:decorative xmlns:adec="http://schemas.microsoft.com/office/drawing/2017/decorative" val="1"/>
              </a:ext>
            </a:extLst>
          </p:cNvPr>
          <p:cNvGrpSpPr/>
          <p:nvPr/>
        </p:nvGrpSpPr>
        <p:grpSpPr>
          <a:xfrm>
            <a:off x="724584" y="3211529"/>
            <a:ext cx="3489917" cy="1033588"/>
            <a:chOff x="724584" y="3211529"/>
            <a:chExt cx="3489917" cy="1033588"/>
          </a:xfrm>
        </p:grpSpPr>
        <p:sp>
          <p:nvSpPr>
            <p:cNvPr id="3099" name="Rectangle: Rounded Corners 3098">
              <a:extLst>
                <a:ext uri="{FF2B5EF4-FFF2-40B4-BE49-F238E27FC236}">
                  <a16:creationId xmlns:a16="http://schemas.microsoft.com/office/drawing/2014/main" id="{5035CEE2-B401-04C4-75F1-D6F752633650}"/>
                </a:ext>
              </a:extLst>
            </p:cNvPr>
            <p:cNvSpPr/>
            <p:nvPr/>
          </p:nvSpPr>
          <p:spPr bwMode="auto">
            <a:xfrm>
              <a:off x="724584" y="3434509"/>
              <a:ext cx="3489917" cy="810608"/>
            </a:xfrm>
            <a:prstGeom prst="roundRect">
              <a:avLst>
                <a:gd name="adj" fmla="val 7900"/>
              </a:avLst>
            </a:prstGeom>
            <a:solidFill>
              <a:schemeClr val="tx2">
                <a:lumMod val="20000"/>
                <a:lumOff val="80000"/>
              </a:schemeClr>
            </a:solidFill>
            <a:ln w="6350">
              <a:solidFill>
                <a:schemeClr val="tx2">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52" tIns="1828518" rIns="182852" bIns="30475" rtlCol="0" anchor="t"/>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IN" sz="1866" b="0" i="0" u="none" strike="noStrike" kern="1200" cap="none" spc="0" normalizeH="0" baseline="0" noProof="0" err="1">
                <a:ln>
                  <a:noFill/>
                </a:ln>
                <a:solidFill>
                  <a:srgbClr val="135D8F"/>
                </a:solidFill>
                <a:effectLst/>
                <a:uLnTx/>
                <a:uFillTx/>
                <a:latin typeface="Segoe UI Semibold"/>
                <a:ea typeface="+mn-ea"/>
                <a:cs typeface="+mn-cs"/>
              </a:endParaRPr>
            </a:p>
          </p:txBody>
        </p:sp>
        <p:sp>
          <p:nvSpPr>
            <p:cNvPr id="16" name="Rectangle: Top Corners Rounded 15">
              <a:extLst>
                <a:ext uri="{FF2B5EF4-FFF2-40B4-BE49-F238E27FC236}">
                  <a16:creationId xmlns:a16="http://schemas.microsoft.com/office/drawing/2014/main" id="{511B37BD-66C1-1B15-835C-D1FC20F7D787}"/>
                </a:ext>
              </a:extLst>
            </p:cNvPr>
            <p:cNvSpPr/>
            <p:nvPr/>
          </p:nvSpPr>
          <p:spPr bwMode="auto">
            <a:xfrm>
              <a:off x="724584" y="3211529"/>
              <a:ext cx="3489917" cy="311563"/>
            </a:xfrm>
            <a:prstGeom prst="round2SameRect">
              <a:avLst/>
            </a:prstGeom>
            <a:solidFill>
              <a:schemeClr val="tx2"/>
            </a:solidFill>
            <a:ln w="6350">
              <a:solidFill>
                <a:schemeClr val="tx2">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52" tIns="1828518" rIns="182852" bIns="30475" rtlCol="0" anchor="t"/>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IN" sz="1866" b="0" i="0" u="none" strike="noStrike" kern="1200" cap="none" spc="0" normalizeH="0" baseline="0" noProof="0" err="1">
                <a:ln>
                  <a:noFill/>
                </a:ln>
                <a:solidFill>
                  <a:srgbClr val="135D8F"/>
                </a:solidFill>
                <a:effectLst/>
                <a:uLnTx/>
                <a:uFillTx/>
                <a:latin typeface="Segoe UI Semibold"/>
                <a:ea typeface="+mn-ea"/>
                <a:cs typeface="+mn-cs"/>
              </a:endParaRPr>
            </a:p>
          </p:txBody>
        </p:sp>
        <p:sp>
          <p:nvSpPr>
            <p:cNvPr id="3260" name="TextBox 3259">
              <a:extLst>
                <a:ext uri="{FF2B5EF4-FFF2-40B4-BE49-F238E27FC236}">
                  <a16:creationId xmlns:a16="http://schemas.microsoft.com/office/drawing/2014/main" id="{FE44A5B0-15E0-0C7D-6EF8-33F774B20D14}"/>
                </a:ext>
              </a:extLst>
            </p:cNvPr>
            <p:cNvSpPr txBox="1"/>
            <p:nvPr/>
          </p:nvSpPr>
          <p:spPr>
            <a:xfrm>
              <a:off x="1716131" y="3264851"/>
              <a:ext cx="1506823" cy="205121"/>
            </a:xfrm>
            <a:prstGeom prst="rect">
              <a:avLst/>
            </a:prstGeom>
            <a:noFill/>
          </p:spPr>
          <p:txBody>
            <a:bodyPr wrap="none" lIns="0" tIns="0" rIns="0" bIns="0" rtlCol="0" anchor="ctr">
              <a:spAutoFit/>
            </a:bodyPr>
            <a:lstStyle/>
            <a:p>
              <a:pPr marL="0" marR="0" lvl="0" indent="0" algn="l" defTabSz="914101"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FFFFFF"/>
                  </a:solidFill>
                  <a:effectLst/>
                  <a:uLnTx/>
                  <a:uFillTx/>
                  <a:latin typeface="Segoe UI Semibold"/>
                  <a:ea typeface="+mn-ea"/>
                  <a:cs typeface="Segoe UI Semilight" panose="020B0402040204020203" pitchFamily="34" charset="0"/>
                </a:rPr>
                <a:t>Management Plane</a:t>
              </a:r>
            </a:p>
          </p:txBody>
        </p:sp>
        <p:sp>
          <p:nvSpPr>
            <p:cNvPr id="3102" name="TextBox 3101">
              <a:extLst>
                <a:ext uri="{FF2B5EF4-FFF2-40B4-BE49-F238E27FC236}">
                  <a16:creationId xmlns:a16="http://schemas.microsoft.com/office/drawing/2014/main" id="{47453671-BBFB-63BE-9E3C-90C7B4CDB5C3}"/>
                </a:ext>
              </a:extLst>
            </p:cNvPr>
            <p:cNvSpPr txBox="1"/>
            <p:nvPr/>
          </p:nvSpPr>
          <p:spPr>
            <a:xfrm>
              <a:off x="2016335" y="3973891"/>
              <a:ext cx="858697" cy="184666"/>
            </a:xfrm>
            <a:prstGeom prst="rect">
              <a:avLst/>
            </a:prstGeom>
            <a:noFill/>
          </p:spPr>
          <p:txBody>
            <a:bodyPr wrap="none" lIns="0" tIns="0" rIns="0" bIns="0" rtlCol="0" anchor="ctr">
              <a:spAutoFit/>
            </a:bodyPr>
            <a:lstStyle/>
            <a:p>
              <a:pPr marL="0" marR="0" lvl="0" indent="0" algn="ctr" defTabSz="914101"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lumMod val="85000"/>
                      <a:lumOff val="15000"/>
                    </a:prstClr>
                  </a:solidFill>
                  <a:effectLst/>
                  <a:uLnTx/>
                  <a:uFillTx/>
                  <a:latin typeface="Segoe UI Semibold"/>
                  <a:ea typeface="+mn-ea"/>
                  <a:cs typeface="Segoe UI Semilight" panose="020B0402040204020203" pitchFamily="34" charset="0"/>
                </a:rPr>
                <a:t>Azure Portal</a:t>
              </a:r>
            </a:p>
          </p:txBody>
        </p:sp>
        <p:pic>
          <p:nvPicPr>
            <p:cNvPr id="3103" name="Picture 28">
              <a:extLst>
                <a:ext uri="{FF2B5EF4-FFF2-40B4-BE49-F238E27FC236}">
                  <a16:creationId xmlns:a16="http://schemas.microsoft.com/office/drawing/2014/main" id="{966DCA94-7DE0-7F0C-07AF-023D9046612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300539" y="3562301"/>
              <a:ext cx="338006" cy="33800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331" name="Group 3330">
            <a:extLst>
              <a:ext uri="{FF2B5EF4-FFF2-40B4-BE49-F238E27FC236}">
                <a16:creationId xmlns:a16="http://schemas.microsoft.com/office/drawing/2014/main" id="{6DCC9AC0-0C7E-EA25-62D7-60E866E1DAA3}"/>
              </a:ext>
              <a:ext uri="{C183D7F6-B498-43B3-948B-1728B52AA6E4}">
                <adec:decorative xmlns:adec="http://schemas.microsoft.com/office/drawing/2017/decorative" val="1"/>
              </a:ext>
            </a:extLst>
          </p:cNvPr>
          <p:cNvGrpSpPr/>
          <p:nvPr/>
        </p:nvGrpSpPr>
        <p:grpSpPr>
          <a:xfrm>
            <a:off x="7977500" y="3211529"/>
            <a:ext cx="3489917" cy="1033588"/>
            <a:chOff x="7977500" y="3211529"/>
            <a:chExt cx="3489917" cy="1033588"/>
          </a:xfrm>
        </p:grpSpPr>
        <p:sp>
          <p:nvSpPr>
            <p:cNvPr id="3101" name="Rectangle: Rounded Corners 3100">
              <a:extLst>
                <a:ext uri="{FF2B5EF4-FFF2-40B4-BE49-F238E27FC236}">
                  <a16:creationId xmlns:a16="http://schemas.microsoft.com/office/drawing/2014/main" id="{85B88169-EB40-F8DB-5780-FA12917065EA}"/>
                </a:ext>
              </a:extLst>
            </p:cNvPr>
            <p:cNvSpPr/>
            <p:nvPr/>
          </p:nvSpPr>
          <p:spPr bwMode="auto">
            <a:xfrm>
              <a:off x="7977500" y="3434509"/>
              <a:ext cx="3489917" cy="810608"/>
            </a:xfrm>
            <a:prstGeom prst="roundRect">
              <a:avLst>
                <a:gd name="adj" fmla="val 7900"/>
              </a:avLst>
            </a:prstGeom>
            <a:solidFill>
              <a:schemeClr val="tx2">
                <a:lumMod val="20000"/>
                <a:lumOff val="80000"/>
              </a:schemeClr>
            </a:solidFill>
            <a:ln w="6350">
              <a:solidFill>
                <a:schemeClr val="tx2">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52" tIns="1828518" rIns="182852" bIns="30475" rtlCol="0" anchor="t"/>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IN" sz="1866" b="0" i="0" u="none" strike="noStrike" kern="1200" cap="none" spc="0" normalizeH="0" baseline="0" noProof="0" err="1">
                <a:ln>
                  <a:noFill/>
                </a:ln>
                <a:solidFill>
                  <a:srgbClr val="135D8F"/>
                </a:solidFill>
                <a:effectLst/>
                <a:uLnTx/>
                <a:uFillTx/>
                <a:latin typeface="Segoe UI Semibold"/>
                <a:ea typeface="+mn-ea"/>
                <a:cs typeface="+mn-cs"/>
              </a:endParaRPr>
            </a:p>
          </p:txBody>
        </p:sp>
        <p:sp>
          <p:nvSpPr>
            <p:cNvPr id="18" name="Rectangle: Top Corners Rounded 17">
              <a:extLst>
                <a:ext uri="{FF2B5EF4-FFF2-40B4-BE49-F238E27FC236}">
                  <a16:creationId xmlns:a16="http://schemas.microsoft.com/office/drawing/2014/main" id="{6C07D5E5-0A0B-C201-E73D-3B499834DDA3}"/>
                </a:ext>
              </a:extLst>
            </p:cNvPr>
            <p:cNvSpPr/>
            <p:nvPr/>
          </p:nvSpPr>
          <p:spPr bwMode="auto">
            <a:xfrm>
              <a:off x="7977500" y="3211529"/>
              <a:ext cx="3489917" cy="311563"/>
            </a:xfrm>
            <a:prstGeom prst="round2SameRect">
              <a:avLst/>
            </a:prstGeom>
            <a:solidFill>
              <a:schemeClr val="tx2"/>
            </a:solidFill>
            <a:ln w="6350">
              <a:solidFill>
                <a:schemeClr val="tx2">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52" tIns="1828518" rIns="182852" bIns="30475" rtlCol="0" anchor="t"/>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IN" sz="1866" b="0" i="0" u="none" strike="noStrike" kern="1200" cap="none" spc="0" normalizeH="0" baseline="0" noProof="0" err="1">
                <a:ln>
                  <a:noFill/>
                </a:ln>
                <a:solidFill>
                  <a:srgbClr val="135D8F"/>
                </a:solidFill>
                <a:effectLst/>
                <a:uLnTx/>
                <a:uFillTx/>
                <a:latin typeface="Segoe UI Semibold"/>
                <a:ea typeface="+mn-ea"/>
                <a:cs typeface="+mn-cs"/>
              </a:endParaRPr>
            </a:p>
          </p:txBody>
        </p:sp>
        <p:sp>
          <p:nvSpPr>
            <p:cNvPr id="3262" name="TextBox 3261">
              <a:extLst>
                <a:ext uri="{FF2B5EF4-FFF2-40B4-BE49-F238E27FC236}">
                  <a16:creationId xmlns:a16="http://schemas.microsoft.com/office/drawing/2014/main" id="{1A25D848-3D01-3FF4-7598-95B2D3560D54}"/>
                </a:ext>
              </a:extLst>
            </p:cNvPr>
            <p:cNvSpPr txBox="1"/>
            <p:nvPr/>
          </p:nvSpPr>
          <p:spPr>
            <a:xfrm>
              <a:off x="9304876" y="3264851"/>
              <a:ext cx="835165" cy="205121"/>
            </a:xfrm>
            <a:prstGeom prst="rect">
              <a:avLst/>
            </a:prstGeom>
            <a:noFill/>
          </p:spPr>
          <p:txBody>
            <a:bodyPr wrap="none" lIns="0" tIns="0" rIns="0" bIns="0" rtlCol="0" anchor="ctr">
              <a:spAutoFit/>
            </a:bodyPr>
            <a:lstStyle/>
            <a:p>
              <a:pPr marL="0" marR="0" lvl="0" indent="0" algn="ctr" defTabSz="914101"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FFFFFF"/>
                  </a:solidFill>
                  <a:effectLst/>
                  <a:uLnTx/>
                  <a:uFillTx/>
                  <a:latin typeface="Segoe UI Semibold"/>
                  <a:ea typeface="+mn-ea"/>
                  <a:cs typeface="Segoe UI Semilight" panose="020B0402040204020203" pitchFamily="34" charset="0"/>
                </a:rPr>
                <a:t>Data Plane</a:t>
              </a:r>
            </a:p>
          </p:txBody>
        </p:sp>
        <p:sp>
          <p:nvSpPr>
            <p:cNvPr id="3110" name="TextBox 3109">
              <a:extLst>
                <a:ext uri="{FF2B5EF4-FFF2-40B4-BE49-F238E27FC236}">
                  <a16:creationId xmlns:a16="http://schemas.microsoft.com/office/drawing/2014/main" id="{CDDE3CD2-F950-920E-7D8A-280AD27792BE}"/>
                </a:ext>
              </a:extLst>
            </p:cNvPr>
            <p:cNvSpPr txBox="1"/>
            <p:nvPr/>
          </p:nvSpPr>
          <p:spPr>
            <a:xfrm>
              <a:off x="8194247" y="3973891"/>
              <a:ext cx="1302344" cy="184666"/>
            </a:xfrm>
            <a:prstGeom prst="rect">
              <a:avLst/>
            </a:prstGeom>
            <a:noFill/>
          </p:spPr>
          <p:txBody>
            <a:bodyPr wrap="none" lIns="0" tIns="0" rIns="0" bIns="0" rtlCol="0" anchor="ctr">
              <a:spAutoFit/>
            </a:bodyPr>
            <a:lstStyle/>
            <a:p>
              <a:pPr marL="0" marR="0" lvl="0" indent="0" algn="ctr" defTabSz="914101"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lumMod val="85000"/>
                      <a:lumOff val="15000"/>
                    </a:prstClr>
                  </a:solidFill>
                  <a:effectLst/>
                  <a:uLnTx/>
                  <a:uFillTx/>
                  <a:latin typeface="Segoe UI Semibold"/>
                  <a:ea typeface="+mn-ea"/>
                  <a:cs typeface="Segoe UI Semilight" panose="020B0402040204020203" pitchFamily="34" charset="0"/>
                </a:rPr>
                <a:t>Managed Gateway</a:t>
              </a:r>
            </a:p>
          </p:txBody>
        </p:sp>
        <p:sp>
          <p:nvSpPr>
            <p:cNvPr id="3111" name="IoT" title="Icon of five circles that all connect to a center circle">
              <a:extLst>
                <a:ext uri="{FF2B5EF4-FFF2-40B4-BE49-F238E27FC236}">
                  <a16:creationId xmlns:a16="http://schemas.microsoft.com/office/drawing/2014/main" id="{F67F272A-790F-F30E-B078-A26ABB25FE25}"/>
                </a:ext>
              </a:extLst>
            </p:cNvPr>
            <p:cNvSpPr>
              <a:spLocks noChangeAspect="1" noEditPoints="1"/>
            </p:cNvSpPr>
            <p:nvPr/>
          </p:nvSpPr>
          <p:spPr bwMode="auto">
            <a:xfrm>
              <a:off x="8709056" y="3592290"/>
              <a:ext cx="310881" cy="311379"/>
            </a:xfrm>
            <a:custGeom>
              <a:avLst/>
              <a:gdLst>
                <a:gd name="T0" fmla="*/ 235 w 352"/>
                <a:gd name="T1" fmla="*/ 176 h 352"/>
                <a:gd name="T2" fmla="*/ 176 w 352"/>
                <a:gd name="T3" fmla="*/ 235 h 352"/>
                <a:gd name="T4" fmla="*/ 117 w 352"/>
                <a:gd name="T5" fmla="*/ 176 h 352"/>
                <a:gd name="T6" fmla="*/ 176 w 352"/>
                <a:gd name="T7" fmla="*/ 117 h 352"/>
                <a:gd name="T8" fmla="*/ 235 w 352"/>
                <a:gd name="T9" fmla="*/ 176 h 352"/>
                <a:gd name="T10" fmla="*/ 270 w 352"/>
                <a:gd name="T11" fmla="*/ 0 h 352"/>
                <a:gd name="T12" fmla="*/ 235 w 352"/>
                <a:gd name="T13" fmla="*/ 35 h 352"/>
                <a:gd name="T14" fmla="*/ 270 w 352"/>
                <a:gd name="T15" fmla="*/ 70 h 352"/>
                <a:gd name="T16" fmla="*/ 305 w 352"/>
                <a:gd name="T17" fmla="*/ 35 h 352"/>
                <a:gd name="T18" fmla="*/ 270 w 352"/>
                <a:gd name="T19" fmla="*/ 0 h 352"/>
                <a:gd name="T20" fmla="*/ 82 w 352"/>
                <a:gd name="T21" fmla="*/ 23 h 352"/>
                <a:gd name="T22" fmla="*/ 47 w 352"/>
                <a:gd name="T23" fmla="*/ 59 h 352"/>
                <a:gd name="T24" fmla="*/ 82 w 352"/>
                <a:gd name="T25" fmla="*/ 94 h 352"/>
                <a:gd name="T26" fmla="*/ 117 w 352"/>
                <a:gd name="T27" fmla="*/ 59 h 352"/>
                <a:gd name="T28" fmla="*/ 82 w 352"/>
                <a:gd name="T29" fmla="*/ 23 h 352"/>
                <a:gd name="T30" fmla="*/ 35 w 352"/>
                <a:gd name="T31" fmla="*/ 211 h 352"/>
                <a:gd name="T32" fmla="*/ 0 w 352"/>
                <a:gd name="T33" fmla="*/ 246 h 352"/>
                <a:gd name="T34" fmla="*/ 35 w 352"/>
                <a:gd name="T35" fmla="*/ 282 h 352"/>
                <a:gd name="T36" fmla="*/ 70 w 352"/>
                <a:gd name="T37" fmla="*/ 246 h 352"/>
                <a:gd name="T38" fmla="*/ 35 w 352"/>
                <a:gd name="T39" fmla="*/ 211 h 352"/>
                <a:gd name="T40" fmla="*/ 223 w 352"/>
                <a:gd name="T41" fmla="*/ 282 h 352"/>
                <a:gd name="T42" fmla="*/ 188 w 352"/>
                <a:gd name="T43" fmla="*/ 317 h 352"/>
                <a:gd name="T44" fmla="*/ 223 w 352"/>
                <a:gd name="T45" fmla="*/ 352 h 352"/>
                <a:gd name="T46" fmla="*/ 258 w 352"/>
                <a:gd name="T47" fmla="*/ 317 h 352"/>
                <a:gd name="T48" fmla="*/ 223 w 352"/>
                <a:gd name="T49" fmla="*/ 282 h 352"/>
                <a:gd name="T50" fmla="*/ 317 w 352"/>
                <a:gd name="T51" fmla="*/ 164 h 352"/>
                <a:gd name="T52" fmla="*/ 282 w 352"/>
                <a:gd name="T53" fmla="*/ 199 h 352"/>
                <a:gd name="T54" fmla="*/ 317 w 352"/>
                <a:gd name="T55" fmla="*/ 235 h 352"/>
                <a:gd name="T56" fmla="*/ 352 w 352"/>
                <a:gd name="T57" fmla="*/ 199 h 352"/>
                <a:gd name="T58" fmla="*/ 317 w 352"/>
                <a:gd name="T59" fmla="*/ 164 h 352"/>
                <a:gd name="T60" fmla="*/ 250 w 352"/>
                <a:gd name="T61" fmla="*/ 64 h 352"/>
                <a:gd name="T62" fmla="*/ 209 w 352"/>
                <a:gd name="T63" fmla="*/ 127 h 352"/>
                <a:gd name="T64" fmla="*/ 139 w 352"/>
                <a:gd name="T65" fmla="*/ 130 h 352"/>
                <a:gd name="T66" fmla="*/ 104 w 352"/>
                <a:gd name="T67" fmla="*/ 86 h 352"/>
                <a:gd name="T68" fmla="*/ 67 w 352"/>
                <a:gd name="T69" fmla="*/ 231 h 352"/>
                <a:gd name="T70" fmla="*/ 124 w 352"/>
                <a:gd name="T71" fmla="*/ 202 h 352"/>
                <a:gd name="T72" fmla="*/ 212 w 352"/>
                <a:gd name="T73" fmla="*/ 283 h 352"/>
                <a:gd name="T74" fmla="*/ 195 w 352"/>
                <a:gd name="T75" fmla="*/ 232 h 352"/>
                <a:gd name="T76" fmla="*/ 234 w 352"/>
                <a:gd name="T77" fmla="*/ 186 h 352"/>
                <a:gd name="T78" fmla="*/ 282 w 352"/>
                <a:gd name="T79" fmla="*/ 194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52" h="352">
                  <a:moveTo>
                    <a:pt x="235" y="176"/>
                  </a:moveTo>
                  <a:cubicBezTo>
                    <a:pt x="235" y="208"/>
                    <a:pt x="208" y="235"/>
                    <a:pt x="176" y="235"/>
                  </a:cubicBezTo>
                  <a:cubicBezTo>
                    <a:pt x="144" y="235"/>
                    <a:pt x="117" y="208"/>
                    <a:pt x="117" y="176"/>
                  </a:cubicBezTo>
                  <a:cubicBezTo>
                    <a:pt x="117" y="144"/>
                    <a:pt x="144" y="117"/>
                    <a:pt x="176" y="117"/>
                  </a:cubicBezTo>
                  <a:cubicBezTo>
                    <a:pt x="208" y="117"/>
                    <a:pt x="235" y="144"/>
                    <a:pt x="235" y="176"/>
                  </a:cubicBezTo>
                  <a:close/>
                  <a:moveTo>
                    <a:pt x="270" y="0"/>
                  </a:moveTo>
                  <a:cubicBezTo>
                    <a:pt x="250" y="0"/>
                    <a:pt x="235" y="16"/>
                    <a:pt x="235" y="35"/>
                  </a:cubicBezTo>
                  <a:cubicBezTo>
                    <a:pt x="235" y="55"/>
                    <a:pt x="250" y="70"/>
                    <a:pt x="270" y="70"/>
                  </a:cubicBezTo>
                  <a:cubicBezTo>
                    <a:pt x="289" y="70"/>
                    <a:pt x="305" y="55"/>
                    <a:pt x="305" y="35"/>
                  </a:cubicBezTo>
                  <a:cubicBezTo>
                    <a:pt x="305" y="16"/>
                    <a:pt x="289" y="0"/>
                    <a:pt x="270" y="0"/>
                  </a:cubicBezTo>
                  <a:close/>
                  <a:moveTo>
                    <a:pt x="82" y="23"/>
                  </a:moveTo>
                  <a:cubicBezTo>
                    <a:pt x="63" y="23"/>
                    <a:pt x="47" y="39"/>
                    <a:pt x="47" y="59"/>
                  </a:cubicBezTo>
                  <a:cubicBezTo>
                    <a:pt x="47" y="78"/>
                    <a:pt x="63" y="94"/>
                    <a:pt x="82" y="94"/>
                  </a:cubicBezTo>
                  <a:cubicBezTo>
                    <a:pt x="102" y="94"/>
                    <a:pt x="117" y="78"/>
                    <a:pt x="117" y="59"/>
                  </a:cubicBezTo>
                  <a:cubicBezTo>
                    <a:pt x="117" y="39"/>
                    <a:pt x="102" y="23"/>
                    <a:pt x="82" y="23"/>
                  </a:cubicBezTo>
                  <a:close/>
                  <a:moveTo>
                    <a:pt x="35" y="211"/>
                  </a:moveTo>
                  <a:cubicBezTo>
                    <a:pt x="16" y="211"/>
                    <a:pt x="0" y="227"/>
                    <a:pt x="0" y="246"/>
                  </a:cubicBezTo>
                  <a:cubicBezTo>
                    <a:pt x="0" y="266"/>
                    <a:pt x="16" y="282"/>
                    <a:pt x="35" y="282"/>
                  </a:cubicBezTo>
                  <a:cubicBezTo>
                    <a:pt x="55" y="282"/>
                    <a:pt x="70" y="266"/>
                    <a:pt x="70" y="246"/>
                  </a:cubicBezTo>
                  <a:cubicBezTo>
                    <a:pt x="70" y="227"/>
                    <a:pt x="55" y="211"/>
                    <a:pt x="35" y="211"/>
                  </a:cubicBezTo>
                  <a:close/>
                  <a:moveTo>
                    <a:pt x="223" y="282"/>
                  </a:moveTo>
                  <a:cubicBezTo>
                    <a:pt x="203" y="282"/>
                    <a:pt x="188" y="297"/>
                    <a:pt x="188" y="317"/>
                  </a:cubicBezTo>
                  <a:cubicBezTo>
                    <a:pt x="188" y="336"/>
                    <a:pt x="203" y="352"/>
                    <a:pt x="223" y="352"/>
                  </a:cubicBezTo>
                  <a:cubicBezTo>
                    <a:pt x="242" y="352"/>
                    <a:pt x="258" y="336"/>
                    <a:pt x="258" y="317"/>
                  </a:cubicBezTo>
                  <a:cubicBezTo>
                    <a:pt x="258" y="297"/>
                    <a:pt x="242" y="282"/>
                    <a:pt x="223" y="282"/>
                  </a:cubicBezTo>
                  <a:close/>
                  <a:moveTo>
                    <a:pt x="317" y="164"/>
                  </a:moveTo>
                  <a:cubicBezTo>
                    <a:pt x="297" y="164"/>
                    <a:pt x="282" y="180"/>
                    <a:pt x="282" y="199"/>
                  </a:cubicBezTo>
                  <a:cubicBezTo>
                    <a:pt x="282" y="219"/>
                    <a:pt x="297" y="235"/>
                    <a:pt x="317" y="235"/>
                  </a:cubicBezTo>
                  <a:cubicBezTo>
                    <a:pt x="336" y="235"/>
                    <a:pt x="352" y="219"/>
                    <a:pt x="352" y="199"/>
                  </a:cubicBezTo>
                  <a:cubicBezTo>
                    <a:pt x="352" y="180"/>
                    <a:pt x="336" y="164"/>
                    <a:pt x="317" y="164"/>
                  </a:cubicBezTo>
                  <a:close/>
                  <a:moveTo>
                    <a:pt x="250" y="64"/>
                  </a:moveTo>
                  <a:cubicBezTo>
                    <a:pt x="209" y="127"/>
                    <a:pt x="209" y="127"/>
                    <a:pt x="209" y="127"/>
                  </a:cubicBezTo>
                  <a:moveTo>
                    <a:pt x="139" y="130"/>
                  </a:moveTo>
                  <a:cubicBezTo>
                    <a:pt x="104" y="86"/>
                    <a:pt x="104" y="86"/>
                    <a:pt x="104" y="86"/>
                  </a:cubicBezTo>
                  <a:moveTo>
                    <a:pt x="67" y="231"/>
                  </a:moveTo>
                  <a:cubicBezTo>
                    <a:pt x="124" y="202"/>
                    <a:pt x="124" y="202"/>
                    <a:pt x="124" y="202"/>
                  </a:cubicBezTo>
                  <a:moveTo>
                    <a:pt x="212" y="283"/>
                  </a:moveTo>
                  <a:cubicBezTo>
                    <a:pt x="195" y="232"/>
                    <a:pt x="195" y="232"/>
                    <a:pt x="195" y="232"/>
                  </a:cubicBezTo>
                  <a:moveTo>
                    <a:pt x="234" y="186"/>
                  </a:moveTo>
                  <a:cubicBezTo>
                    <a:pt x="282" y="194"/>
                    <a:pt x="282" y="194"/>
                    <a:pt x="282" y="194"/>
                  </a:cubicBezTo>
                </a:path>
              </a:pathLst>
            </a:custGeom>
            <a:noFill/>
            <a:ln w="15875" cap="sq">
              <a:solidFill>
                <a:schemeClr val="bg1">
                  <a:lumMod val="50000"/>
                </a:schemeClr>
              </a:solidFill>
              <a:prstDash val="solid"/>
              <a:miter lim="800000"/>
              <a:headEnd/>
              <a:tailEnd/>
            </a:ln>
          </p:spPr>
          <p:txBody>
            <a:bodyPr vert="horz" wrap="square" lIns="60951" tIns="30475" rIns="60951" bIns="30475" numCol="1" anchor="t" anchorCtr="0" compatLnSpc="1">
              <a:prstTxWarp prst="textNoShape">
                <a:avLst/>
              </a:prstTxWarp>
            </a:bodyPr>
            <a:lstStyle/>
            <a:p>
              <a:pPr marL="0" marR="0" lvl="0" indent="0" algn="l" defTabSz="304770" rtl="0" eaLnBrk="1" fontAlgn="auto" latinLnBrk="0" hangingPunct="1">
                <a:lnSpc>
                  <a:spcPct val="100000"/>
                </a:lnSpc>
                <a:spcBef>
                  <a:spcPts val="0"/>
                </a:spcBef>
                <a:spcAft>
                  <a:spcPts val="0"/>
                </a:spcAft>
                <a:buClrTx/>
                <a:buSzTx/>
                <a:buFontTx/>
                <a:buNone/>
                <a:tabLst/>
                <a:defRPr/>
              </a:pPr>
              <a:endParaRPr kumimoji="0" lang="en-US" sz="1067"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3112" name="IoT_Hub" title="Icon of circles connecting to a center circle surrounded by brackets">
              <a:extLst>
                <a:ext uri="{FF2B5EF4-FFF2-40B4-BE49-F238E27FC236}">
                  <a16:creationId xmlns:a16="http://schemas.microsoft.com/office/drawing/2014/main" id="{9C5C2CA5-D949-19B0-8645-3874C7E95E9F}"/>
                </a:ext>
              </a:extLst>
            </p:cNvPr>
            <p:cNvSpPr>
              <a:spLocks noChangeAspect="1" noEditPoints="1"/>
            </p:cNvSpPr>
            <p:nvPr/>
          </p:nvSpPr>
          <p:spPr bwMode="auto">
            <a:xfrm>
              <a:off x="10454705" y="3592788"/>
              <a:ext cx="310881" cy="310881"/>
            </a:xfrm>
            <a:custGeom>
              <a:avLst/>
              <a:gdLst>
                <a:gd name="T0" fmla="*/ 274 w 360"/>
                <a:gd name="T1" fmla="*/ 0 h 360"/>
                <a:gd name="T2" fmla="*/ 360 w 360"/>
                <a:gd name="T3" fmla="*/ 0 h 360"/>
                <a:gd name="T4" fmla="*/ 360 w 360"/>
                <a:gd name="T5" fmla="*/ 85 h 360"/>
                <a:gd name="T6" fmla="*/ 0 w 360"/>
                <a:gd name="T7" fmla="*/ 275 h 360"/>
                <a:gd name="T8" fmla="*/ 0 w 360"/>
                <a:gd name="T9" fmla="*/ 360 h 360"/>
                <a:gd name="T10" fmla="*/ 85 w 360"/>
                <a:gd name="T11" fmla="*/ 360 h 360"/>
                <a:gd name="T12" fmla="*/ 196 w 360"/>
                <a:gd name="T13" fmla="*/ 176 h 360"/>
                <a:gd name="T14" fmla="*/ 235 w 360"/>
                <a:gd name="T15" fmla="*/ 215 h 360"/>
                <a:gd name="T16" fmla="*/ 274 w 360"/>
                <a:gd name="T17" fmla="*/ 176 h 360"/>
                <a:gd name="T18" fmla="*/ 235 w 360"/>
                <a:gd name="T19" fmla="*/ 137 h 360"/>
                <a:gd name="T20" fmla="*/ 196 w 360"/>
                <a:gd name="T21" fmla="*/ 176 h 360"/>
                <a:gd name="T22" fmla="*/ 263 w 360"/>
                <a:gd name="T23" fmla="*/ 260 h 360"/>
                <a:gd name="T24" fmla="*/ 290 w 360"/>
                <a:gd name="T25" fmla="*/ 286 h 360"/>
                <a:gd name="T26" fmla="*/ 316 w 360"/>
                <a:gd name="T27" fmla="*/ 260 h 360"/>
                <a:gd name="T28" fmla="*/ 290 w 360"/>
                <a:gd name="T29" fmla="*/ 233 h 360"/>
                <a:gd name="T30" fmla="*/ 263 w 360"/>
                <a:gd name="T31" fmla="*/ 260 h 360"/>
                <a:gd name="T32" fmla="*/ 123 w 360"/>
                <a:gd name="T33" fmla="*/ 258 h 360"/>
                <a:gd name="T34" fmla="*/ 144 w 360"/>
                <a:gd name="T35" fmla="*/ 279 h 360"/>
                <a:gd name="T36" fmla="*/ 165 w 360"/>
                <a:gd name="T37" fmla="*/ 258 h 360"/>
                <a:gd name="T38" fmla="*/ 144 w 360"/>
                <a:gd name="T39" fmla="*/ 236 h 360"/>
                <a:gd name="T40" fmla="*/ 123 w 360"/>
                <a:gd name="T41" fmla="*/ 258 h 360"/>
                <a:gd name="T42" fmla="*/ 32 w 360"/>
                <a:gd name="T43" fmla="*/ 170 h 360"/>
                <a:gd name="T44" fmla="*/ 59 w 360"/>
                <a:gd name="T45" fmla="*/ 196 h 360"/>
                <a:gd name="T46" fmla="*/ 85 w 360"/>
                <a:gd name="T47" fmla="*/ 170 h 360"/>
                <a:gd name="T48" fmla="*/ 59 w 360"/>
                <a:gd name="T49" fmla="*/ 143 h 360"/>
                <a:gd name="T50" fmla="*/ 32 w 360"/>
                <a:gd name="T51" fmla="*/ 170 h 360"/>
                <a:gd name="T52" fmla="*/ 133 w 360"/>
                <a:gd name="T53" fmla="*/ 74 h 360"/>
                <a:gd name="T54" fmla="*/ 160 w 360"/>
                <a:gd name="T55" fmla="*/ 100 h 360"/>
                <a:gd name="T56" fmla="*/ 187 w 360"/>
                <a:gd name="T57" fmla="*/ 74 h 360"/>
                <a:gd name="T58" fmla="*/ 160 w 360"/>
                <a:gd name="T59" fmla="*/ 47 h 360"/>
                <a:gd name="T60" fmla="*/ 133 w 360"/>
                <a:gd name="T61" fmla="*/ 74 h 360"/>
                <a:gd name="T62" fmla="*/ 176 w 360"/>
                <a:gd name="T63" fmla="*/ 95 h 360"/>
                <a:gd name="T64" fmla="*/ 214 w 360"/>
                <a:gd name="T65" fmla="*/ 143 h 360"/>
                <a:gd name="T66" fmla="*/ 274 w 360"/>
                <a:gd name="T67" fmla="*/ 238 h 360"/>
                <a:gd name="T68" fmla="*/ 256 w 360"/>
                <a:gd name="T69" fmla="*/ 211 h 360"/>
                <a:gd name="T70" fmla="*/ 161 w 360"/>
                <a:gd name="T71" fmla="*/ 245 h 360"/>
                <a:gd name="T72" fmla="*/ 208 w 360"/>
                <a:gd name="T73" fmla="*/ 204 h 360"/>
                <a:gd name="T74" fmla="*/ 85 w 360"/>
                <a:gd name="T75" fmla="*/ 173 h 360"/>
                <a:gd name="T76" fmla="*/ 196 w 360"/>
                <a:gd name="T77" fmla="*/ 176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60" h="360">
                  <a:moveTo>
                    <a:pt x="274" y="0"/>
                  </a:moveTo>
                  <a:cubicBezTo>
                    <a:pt x="360" y="0"/>
                    <a:pt x="360" y="0"/>
                    <a:pt x="360" y="0"/>
                  </a:cubicBezTo>
                  <a:cubicBezTo>
                    <a:pt x="360" y="85"/>
                    <a:pt x="360" y="85"/>
                    <a:pt x="360" y="85"/>
                  </a:cubicBezTo>
                  <a:moveTo>
                    <a:pt x="0" y="275"/>
                  </a:moveTo>
                  <a:cubicBezTo>
                    <a:pt x="0" y="360"/>
                    <a:pt x="0" y="360"/>
                    <a:pt x="0" y="360"/>
                  </a:cubicBezTo>
                  <a:cubicBezTo>
                    <a:pt x="85" y="360"/>
                    <a:pt x="85" y="360"/>
                    <a:pt x="85" y="360"/>
                  </a:cubicBezTo>
                  <a:moveTo>
                    <a:pt x="196" y="176"/>
                  </a:moveTo>
                  <a:cubicBezTo>
                    <a:pt x="196" y="198"/>
                    <a:pt x="213" y="215"/>
                    <a:pt x="235" y="215"/>
                  </a:cubicBezTo>
                  <a:cubicBezTo>
                    <a:pt x="256" y="215"/>
                    <a:pt x="274" y="198"/>
                    <a:pt x="274" y="176"/>
                  </a:cubicBezTo>
                  <a:cubicBezTo>
                    <a:pt x="274" y="155"/>
                    <a:pt x="256" y="137"/>
                    <a:pt x="235" y="137"/>
                  </a:cubicBezTo>
                  <a:cubicBezTo>
                    <a:pt x="213" y="137"/>
                    <a:pt x="196" y="155"/>
                    <a:pt x="196" y="176"/>
                  </a:cubicBezTo>
                  <a:close/>
                  <a:moveTo>
                    <a:pt x="263" y="260"/>
                  </a:moveTo>
                  <a:cubicBezTo>
                    <a:pt x="263" y="274"/>
                    <a:pt x="275" y="286"/>
                    <a:pt x="290" y="286"/>
                  </a:cubicBezTo>
                  <a:cubicBezTo>
                    <a:pt x="304" y="286"/>
                    <a:pt x="316" y="274"/>
                    <a:pt x="316" y="260"/>
                  </a:cubicBezTo>
                  <a:cubicBezTo>
                    <a:pt x="316" y="245"/>
                    <a:pt x="304" y="233"/>
                    <a:pt x="290" y="233"/>
                  </a:cubicBezTo>
                  <a:cubicBezTo>
                    <a:pt x="275" y="233"/>
                    <a:pt x="263" y="245"/>
                    <a:pt x="263" y="260"/>
                  </a:cubicBezTo>
                  <a:close/>
                  <a:moveTo>
                    <a:pt x="123" y="258"/>
                  </a:moveTo>
                  <a:cubicBezTo>
                    <a:pt x="123" y="270"/>
                    <a:pt x="132" y="279"/>
                    <a:pt x="144" y="279"/>
                  </a:cubicBezTo>
                  <a:cubicBezTo>
                    <a:pt x="156" y="279"/>
                    <a:pt x="165" y="270"/>
                    <a:pt x="165" y="258"/>
                  </a:cubicBezTo>
                  <a:cubicBezTo>
                    <a:pt x="165" y="246"/>
                    <a:pt x="156" y="236"/>
                    <a:pt x="144" y="236"/>
                  </a:cubicBezTo>
                  <a:cubicBezTo>
                    <a:pt x="132" y="236"/>
                    <a:pt x="123" y="246"/>
                    <a:pt x="123" y="258"/>
                  </a:cubicBezTo>
                  <a:close/>
                  <a:moveTo>
                    <a:pt x="32" y="170"/>
                  </a:moveTo>
                  <a:cubicBezTo>
                    <a:pt x="32" y="184"/>
                    <a:pt x="44" y="196"/>
                    <a:pt x="59" y="196"/>
                  </a:cubicBezTo>
                  <a:cubicBezTo>
                    <a:pt x="73" y="196"/>
                    <a:pt x="85" y="184"/>
                    <a:pt x="85" y="170"/>
                  </a:cubicBezTo>
                  <a:cubicBezTo>
                    <a:pt x="85" y="155"/>
                    <a:pt x="73" y="143"/>
                    <a:pt x="59" y="143"/>
                  </a:cubicBezTo>
                  <a:cubicBezTo>
                    <a:pt x="44" y="143"/>
                    <a:pt x="32" y="155"/>
                    <a:pt x="32" y="170"/>
                  </a:cubicBezTo>
                  <a:close/>
                  <a:moveTo>
                    <a:pt x="133" y="74"/>
                  </a:moveTo>
                  <a:cubicBezTo>
                    <a:pt x="133" y="88"/>
                    <a:pt x="145" y="100"/>
                    <a:pt x="160" y="100"/>
                  </a:cubicBezTo>
                  <a:cubicBezTo>
                    <a:pt x="175" y="100"/>
                    <a:pt x="187" y="88"/>
                    <a:pt x="187" y="74"/>
                  </a:cubicBezTo>
                  <a:cubicBezTo>
                    <a:pt x="187" y="59"/>
                    <a:pt x="175" y="47"/>
                    <a:pt x="160" y="47"/>
                  </a:cubicBezTo>
                  <a:cubicBezTo>
                    <a:pt x="145" y="47"/>
                    <a:pt x="133" y="59"/>
                    <a:pt x="133" y="74"/>
                  </a:cubicBezTo>
                  <a:close/>
                  <a:moveTo>
                    <a:pt x="176" y="95"/>
                  </a:moveTo>
                  <a:cubicBezTo>
                    <a:pt x="214" y="143"/>
                    <a:pt x="214" y="143"/>
                    <a:pt x="214" y="143"/>
                  </a:cubicBezTo>
                  <a:moveTo>
                    <a:pt x="274" y="238"/>
                  </a:moveTo>
                  <a:cubicBezTo>
                    <a:pt x="256" y="211"/>
                    <a:pt x="256" y="211"/>
                    <a:pt x="256" y="211"/>
                  </a:cubicBezTo>
                  <a:moveTo>
                    <a:pt x="161" y="245"/>
                  </a:moveTo>
                  <a:cubicBezTo>
                    <a:pt x="208" y="204"/>
                    <a:pt x="208" y="204"/>
                    <a:pt x="208" y="204"/>
                  </a:cubicBezTo>
                  <a:moveTo>
                    <a:pt x="85" y="173"/>
                  </a:moveTo>
                  <a:cubicBezTo>
                    <a:pt x="196" y="176"/>
                    <a:pt x="196" y="176"/>
                    <a:pt x="196" y="176"/>
                  </a:cubicBezTo>
                </a:path>
              </a:pathLst>
            </a:custGeom>
            <a:noFill/>
            <a:ln w="15875" cap="sq">
              <a:solidFill>
                <a:schemeClr val="bg1">
                  <a:lumMod val="50000"/>
                </a:schemeClr>
              </a:solidFill>
              <a:prstDash val="solid"/>
              <a:miter lim="800000"/>
              <a:headEnd/>
              <a:tailEnd/>
            </a:ln>
          </p:spPr>
          <p:txBody>
            <a:bodyPr vert="horz" wrap="square" lIns="60951" tIns="30475" rIns="60951" bIns="30475" numCol="1" anchor="t" anchorCtr="0" compatLnSpc="1">
              <a:prstTxWarp prst="textNoShape">
                <a:avLst/>
              </a:prstTxWarp>
            </a:bodyPr>
            <a:lstStyle/>
            <a:p>
              <a:pPr marL="0" marR="0" lvl="0" indent="0" algn="l" defTabSz="304770" rtl="0" eaLnBrk="1" fontAlgn="auto" latinLnBrk="0" hangingPunct="1">
                <a:lnSpc>
                  <a:spcPct val="100000"/>
                </a:lnSpc>
                <a:spcBef>
                  <a:spcPts val="0"/>
                </a:spcBef>
                <a:spcAft>
                  <a:spcPts val="0"/>
                </a:spcAft>
                <a:buClrTx/>
                <a:buSzTx/>
                <a:buFontTx/>
                <a:buNone/>
                <a:tabLst/>
                <a:defRPr/>
              </a:pPr>
              <a:endParaRPr kumimoji="0" lang="en-US" sz="1067"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3113" name="TextBox 3112">
              <a:extLst>
                <a:ext uri="{FF2B5EF4-FFF2-40B4-BE49-F238E27FC236}">
                  <a16:creationId xmlns:a16="http://schemas.microsoft.com/office/drawing/2014/main" id="{7B8861BD-DF24-61D2-51E4-1022675E53FF}"/>
                </a:ext>
              </a:extLst>
            </p:cNvPr>
            <p:cNvSpPr txBox="1"/>
            <p:nvPr/>
          </p:nvSpPr>
          <p:spPr>
            <a:xfrm>
              <a:off x="9915657" y="3973891"/>
              <a:ext cx="1439304" cy="184666"/>
            </a:xfrm>
            <a:prstGeom prst="rect">
              <a:avLst/>
            </a:prstGeom>
            <a:noFill/>
          </p:spPr>
          <p:txBody>
            <a:bodyPr wrap="none" lIns="0" tIns="0" rIns="0" bIns="0" rtlCol="0" anchor="ctr">
              <a:spAutoFit/>
            </a:bodyPr>
            <a:lstStyle/>
            <a:p>
              <a:pPr marL="0" marR="0" lvl="0" indent="0" algn="ctr" defTabSz="914101"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lumMod val="85000"/>
                      <a:lumOff val="15000"/>
                    </a:prstClr>
                  </a:solidFill>
                  <a:effectLst/>
                  <a:uLnTx/>
                  <a:uFillTx/>
                  <a:latin typeface="Segoe UI Semibold"/>
                  <a:ea typeface="+mn-ea"/>
                  <a:cs typeface="Segoe UI Semilight" panose="020B0402040204020203" pitchFamily="34" charset="0"/>
                </a:rPr>
                <a:t>Self-hosted Gateway</a:t>
              </a:r>
            </a:p>
          </p:txBody>
        </p:sp>
      </p:grpSp>
      <p:grpSp>
        <p:nvGrpSpPr>
          <p:cNvPr id="3332" name="Group 3331">
            <a:extLst>
              <a:ext uri="{FF2B5EF4-FFF2-40B4-BE49-F238E27FC236}">
                <a16:creationId xmlns:a16="http://schemas.microsoft.com/office/drawing/2014/main" id="{546F23DC-57AD-4B23-197C-D7A5AD768C01}"/>
              </a:ext>
              <a:ext uri="{C183D7F6-B498-43B3-948B-1728B52AA6E4}">
                <adec:decorative xmlns:adec="http://schemas.microsoft.com/office/drawing/2017/decorative" val="1"/>
              </a:ext>
            </a:extLst>
          </p:cNvPr>
          <p:cNvGrpSpPr/>
          <p:nvPr/>
        </p:nvGrpSpPr>
        <p:grpSpPr>
          <a:xfrm>
            <a:off x="8005642" y="1619095"/>
            <a:ext cx="3433632" cy="1230245"/>
            <a:chOff x="8005642" y="1619095"/>
            <a:chExt cx="3433632" cy="1230245"/>
          </a:xfrm>
        </p:grpSpPr>
        <p:grpSp>
          <p:nvGrpSpPr>
            <p:cNvPr id="3327" name="Group 3326">
              <a:extLst>
                <a:ext uri="{FF2B5EF4-FFF2-40B4-BE49-F238E27FC236}">
                  <a16:creationId xmlns:a16="http://schemas.microsoft.com/office/drawing/2014/main" id="{C5956DCF-77B4-4A51-57E4-EBE6B446236E}"/>
                </a:ext>
              </a:extLst>
            </p:cNvPr>
            <p:cNvGrpSpPr/>
            <p:nvPr/>
          </p:nvGrpSpPr>
          <p:grpSpPr>
            <a:xfrm>
              <a:off x="8005642" y="1619095"/>
              <a:ext cx="3433632" cy="1230245"/>
              <a:chOff x="8005642" y="1619095"/>
              <a:chExt cx="3433632" cy="1230245"/>
            </a:xfrm>
          </p:grpSpPr>
          <p:grpSp>
            <p:nvGrpSpPr>
              <p:cNvPr id="3108" name="Group 3107">
                <a:extLst>
                  <a:ext uri="{FF2B5EF4-FFF2-40B4-BE49-F238E27FC236}">
                    <a16:creationId xmlns:a16="http://schemas.microsoft.com/office/drawing/2014/main" id="{8436C028-3EBA-D8FC-7799-9CC1CA524617}"/>
                  </a:ext>
                </a:extLst>
              </p:cNvPr>
              <p:cNvGrpSpPr/>
              <p:nvPr/>
            </p:nvGrpSpPr>
            <p:grpSpPr>
              <a:xfrm>
                <a:off x="9394799" y="1619095"/>
                <a:ext cx="655318" cy="655316"/>
                <a:chOff x="9405708" y="1630004"/>
                <a:chExt cx="633500" cy="633498"/>
              </a:xfrm>
            </p:grpSpPr>
            <p:sp>
              <p:nvSpPr>
                <p:cNvPr id="26" name="Oval 25">
                  <a:extLst>
                    <a:ext uri="{FF2B5EF4-FFF2-40B4-BE49-F238E27FC236}">
                      <a16:creationId xmlns:a16="http://schemas.microsoft.com/office/drawing/2014/main" id="{CB5DCE50-EC6D-DACD-DDBC-9500CC415CC1}"/>
                    </a:ext>
                  </a:extLst>
                </p:cNvPr>
                <p:cNvSpPr/>
                <p:nvPr/>
              </p:nvSpPr>
              <p:spPr bwMode="auto">
                <a:xfrm>
                  <a:off x="9405708" y="1630004"/>
                  <a:ext cx="633500" cy="633498"/>
                </a:xfrm>
                <a:prstGeom prst="ellipse">
                  <a:avLst/>
                </a:prstGeom>
                <a:solidFill>
                  <a:schemeClr val="bg1"/>
                </a:solidFill>
                <a:ln w="6350">
                  <a:noFill/>
                </a:ln>
                <a:effectLst>
                  <a:outerShdw blurRad="101600" dist="38100" dir="13500000" algn="br" rotWithShape="0">
                    <a:schemeClr val="tx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82852" tIns="1828518" rIns="182852" bIns="30475" rtlCol="0" anchor="t"/>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IN" sz="1866" b="0" i="0" u="none" strike="noStrike" kern="1200" cap="none" spc="0" normalizeH="0" baseline="0" noProof="0" err="1">
                    <a:ln>
                      <a:noFill/>
                    </a:ln>
                    <a:solidFill>
                      <a:srgbClr val="135D8F"/>
                    </a:solidFill>
                    <a:effectLst/>
                    <a:uLnTx/>
                    <a:uFillTx/>
                    <a:latin typeface="Segoe UI Semibold"/>
                    <a:ea typeface="+mn-ea"/>
                    <a:cs typeface="+mn-cs"/>
                  </a:endParaRPr>
                </a:p>
              </p:txBody>
            </p:sp>
            <p:sp>
              <p:nvSpPr>
                <p:cNvPr id="3141" name="people_12" title="Icon of three people">
                  <a:extLst>
                    <a:ext uri="{FF2B5EF4-FFF2-40B4-BE49-F238E27FC236}">
                      <a16:creationId xmlns:a16="http://schemas.microsoft.com/office/drawing/2014/main" id="{3FD9F972-7FF8-EC0E-F828-7AFA1FB10E1D}"/>
                    </a:ext>
                  </a:extLst>
                </p:cNvPr>
                <p:cNvSpPr>
                  <a:spLocks noChangeAspect="1" noEditPoints="1"/>
                </p:cNvSpPr>
                <p:nvPr/>
              </p:nvSpPr>
              <p:spPr bwMode="auto">
                <a:xfrm>
                  <a:off x="9525072" y="1778348"/>
                  <a:ext cx="394774" cy="336812"/>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5875" cap="sq">
                  <a:solidFill>
                    <a:schemeClr val="tx2">
                      <a:lumMod val="20000"/>
                      <a:lumOff val="8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0951" tIns="30475" rIns="60951" bIns="30475" numCol="1" anchor="t" anchorCtr="0" compatLnSpc="1">
                  <a:prstTxWarp prst="textNoShape">
                    <a:avLst/>
                  </a:prstTxWarp>
                </a:bodyPr>
                <a:lstStyle/>
                <a:p>
                  <a:pPr marL="0" marR="0" lvl="0" indent="0" algn="l" defTabSz="304770" rtl="0" eaLnBrk="1" fontAlgn="auto" latinLnBrk="0" hangingPunct="1">
                    <a:lnSpc>
                      <a:spcPct val="100000"/>
                    </a:lnSpc>
                    <a:spcBef>
                      <a:spcPts val="0"/>
                    </a:spcBef>
                    <a:spcAft>
                      <a:spcPts val="0"/>
                    </a:spcAft>
                    <a:buClrTx/>
                    <a:buSzTx/>
                    <a:buFontTx/>
                    <a:buNone/>
                    <a:tabLst/>
                    <a:defRPr/>
                  </a:pPr>
                  <a:endParaRPr kumimoji="0" lang="en-US" sz="933"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sp>
            <p:nvSpPr>
              <p:cNvPr id="3247" name="TextBox 3246">
                <a:extLst>
                  <a:ext uri="{FF2B5EF4-FFF2-40B4-BE49-F238E27FC236}">
                    <a16:creationId xmlns:a16="http://schemas.microsoft.com/office/drawing/2014/main" id="{1778C736-D760-012C-E5D8-F0FDBF83B10B}"/>
                  </a:ext>
                </a:extLst>
              </p:cNvPr>
              <p:cNvSpPr txBox="1"/>
              <p:nvPr/>
            </p:nvSpPr>
            <p:spPr>
              <a:xfrm>
                <a:off x="8656461" y="2353531"/>
                <a:ext cx="2131995" cy="169277"/>
              </a:xfrm>
              <a:prstGeom prst="rect">
                <a:avLst/>
              </a:prstGeom>
              <a:noFill/>
            </p:spPr>
            <p:txBody>
              <a:bodyPr wrap="none" lIns="0" tIns="0" rIns="0" bIns="0" rtlCol="0">
                <a:spAutoFit/>
              </a:bodyPr>
              <a:lstStyle/>
              <a:p>
                <a:pPr marL="0" marR="0" lvl="0" indent="0" algn="ctr" defTabSz="914101"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63668"/>
                    </a:solidFill>
                    <a:effectLst/>
                    <a:uLnTx/>
                    <a:uFillTx/>
                    <a:latin typeface="Segoe UI Semibold"/>
                    <a:ea typeface="+mn-ea"/>
                    <a:cs typeface="Segoe UI Semilight" panose="020B0402040204020203" pitchFamily="34" charset="0"/>
                  </a:rPr>
                  <a:t>Employees | Customers | Partners</a:t>
                </a:r>
              </a:p>
            </p:txBody>
          </p:sp>
          <p:sp>
            <p:nvSpPr>
              <p:cNvPr id="3255" name="TextBox 3254">
                <a:extLst>
                  <a:ext uri="{FF2B5EF4-FFF2-40B4-BE49-F238E27FC236}">
                    <a16:creationId xmlns:a16="http://schemas.microsoft.com/office/drawing/2014/main" id="{41B29AF1-ED47-E193-B493-6BFB668DC15B}"/>
                  </a:ext>
                </a:extLst>
              </p:cNvPr>
              <p:cNvSpPr txBox="1"/>
              <p:nvPr/>
            </p:nvSpPr>
            <p:spPr>
              <a:xfrm>
                <a:off x="8005642" y="2526175"/>
                <a:ext cx="3433632" cy="323165"/>
              </a:xfrm>
              <a:prstGeom prst="rect">
                <a:avLst/>
              </a:prstGeom>
              <a:noFill/>
              <a:ln>
                <a:noFill/>
              </a:ln>
            </p:spPr>
            <p:txBody>
              <a:bodyPr wrap="none" lIns="0" tIns="0" rIns="0" bIns="0" rtlCol="0" anchor="ctr">
                <a:spAutoFit/>
              </a:bodyPr>
              <a:lstStyle/>
              <a:p>
                <a:pPr marL="0" marR="0" lvl="0" indent="0" algn="ctr" defTabSz="914101" rtl="0" eaLnBrk="1" fontAlgn="auto" latinLnBrk="0" hangingPunct="1">
                  <a:lnSpc>
                    <a:spcPct val="100000"/>
                  </a:lnSpc>
                  <a:spcBef>
                    <a:spcPts val="400"/>
                  </a:spcBef>
                  <a:spcAft>
                    <a:spcPts val="0"/>
                  </a:spcAft>
                  <a:buClrTx/>
                  <a:buSzTx/>
                  <a:buFontTx/>
                  <a:buNone/>
                  <a:tabLst/>
                  <a:defRPr/>
                </a:pPr>
                <a:r>
                  <a:rPr kumimoji="0" lang="en-US" sz="1050" b="0" i="0" u="none" strike="noStrike" kern="1200" cap="none" spc="0" normalizeH="0" baseline="0" noProof="0">
                    <a:ln>
                      <a:noFill/>
                    </a:ln>
                    <a:solidFill>
                      <a:prstClr val="black">
                        <a:lumMod val="85000"/>
                        <a:lumOff val="15000"/>
                      </a:prstClr>
                    </a:solidFill>
                    <a:effectLst/>
                    <a:uLnTx/>
                    <a:uFillTx/>
                    <a:latin typeface="Segoe UI"/>
                    <a:ea typeface="+mn-ea"/>
                    <a:cs typeface="Segoe UI Semilight" panose="020B0402040204020203" pitchFamily="34" charset="0"/>
                  </a:rPr>
                  <a:t>Desktop &amp; Mobile Apps | B2B Integration | SaaS &amp; Cloud |</a:t>
                </a:r>
                <a:br>
                  <a:rPr kumimoji="0" lang="en-US" sz="1050" b="0" i="0" u="none" strike="noStrike" kern="1200" cap="none" spc="0" normalizeH="0" baseline="0" noProof="0">
                    <a:ln>
                      <a:noFill/>
                    </a:ln>
                    <a:solidFill>
                      <a:prstClr val="black">
                        <a:lumMod val="85000"/>
                        <a:lumOff val="15000"/>
                      </a:prstClr>
                    </a:solidFill>
                    <a:effectLst/>
                    <a:uLnTx/>
                    <a:uFillTx/>
                    <a:latin typeface="Segoe UI"/>
                    <a:ea typeface="+mn-ea"/>
                    <a:cs typeface="Segoe UI Semilight" panose="020B0402040204020203" pitchFamily="34" charset="0"/>
                  </a:rPr>
                </a:br>
                <a:r>
                  <a:rPr kumimoji="0" lang="en-US" sz="1050" b="0" i="0" u="none" strike="noStrike" kern="1200" cap="none" spc="0" normalizeH="0" baseline="0" noProof="0">
                    <a:ln>
                      <a:noFill/>
                    </a:ln>
                    <a:solidFill>
                      <a:prstClr val="black">
                        <a:lumMod val="85000"/>
                        <a:lumOff val="15000"/>
                      </a:prstClr>
                    </a:solidFill>
                    <a:effectLst/>
                    <a:uLnTx/>
                    <a:uFillTx/>
                    <a:latin typeface="Segoe UI"/>
                    <a:ea typeface="+mn-ea"/>
                    <a:cs typeface="Segoe UI Semilight" panose="020B0402040204020203" pitchFamily="34" charset="0"/>
                  </a:rPr>
                  <a:t>Services | IoT Devices | Teams &amp; Power Platform</a:t>
                </a:r>
              </a:p>
            </p:txBody>
          </p:sp>
        </p:grpSp>
        <p:sp>
          <p:nvSpPr>
            <p:cNvPr id="3114" name="Isosceles Triangle 3113">
              <a:extLst>
                <a:ext uri="{FF2B5EF4-FFF2-40B4-BE49-F238E27FC236}">
                  <a16:creationId xmlns:a16="http://schemas.microsoft.com/office/drawing/2014/main" id="{1226D5DC-8BA4-5459-1CC8-6A2A9BE2F8B4}"/>
                </a:ext>
              </a:extLst>
            </p:cNvPr>
            <p:cNvSpPr/>
            <p:nvPr/>
          </p:nvSpPr>
          <p:spPr bwMode="auto">
            <a:xfrm rot="10800000">
              <a:off x="10974497" y="2025676"/>
              <a:ext cx="100355" cy="86513"/>
            </a:xfrm>
            <a:prstGeom prst="triangl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grpSp>
        <p:nvGrpSpPr>
          <p:cNvPr id="3333" name="Group 3332">
            <a:extLst>
              <a:ext uri="{FF2B5EF4-FFF2-40B4-BE49-F238E27FC236}">
                <a16:creationId xmlns:a16="http://schemas.microsoft.com/office/drawing/2014/main" id="{1179C4EB-0D45-B703-988B-15D9B796CC15}"/>
              </a:ext>
              <a:ext uri="{C183D7F6-B498-43B3-948B-1728B52AA6E4}">
                <adec:decorative xmlns:adec="http://schemas.microsoft.com/office/drawing/2017/decorative" val="1"/>
              </a:ext>
            </a:extLst>
          </p:cNvPr>
          <p:cNvGrpSpPr/>
          <p:nvPr/>
        </p:nvGrpSpPr>
        <p:grpSpPr>
          <a:xfrm>
            <a:off x="8416370" y="4347118"/>
            <a:ext cx="2612177" cy="852373"/>
            <a:chOff x="8416370" y="4347118"/>
            <a:chExt cx="2612177" cy="852373"/>
          </a:xfrm>
        </p:grpSpPr>
        <p:grpSp>
          <p:nvGrpSpPr>
            <p:cNvPr id="3109" name="Group 3108">
              <a:extLst>
                <a:ext uri="{FF2B5EF4-FFF2-40B4-BE49-F238E27FC236}">
                  <a16:creationId xmlns:a16="http://schemas.microsoft.com/office/drawing/2014/main" id="{B85D5C44-F18D-D3B4-07EA-E0B14C0C591A}"/>
                </a:ext>
              </a:extLst>
            </p:cNvPr>
            <p:cNvGrpSpPr/>
            <p:nvPr/>
          </p:nvGrpSpPr>
          <p:grpSpPr>
            <a:xfrm>
              <a:off x="9394799" y="4544175"/>
              <a:ext cx="655318" cy="655316"/>
              <a:chOff x="9405708" y="4555084"/>
              <a:chExt cx="633500" cy="633498"/>
            </a:xfrm>
          </p:grpSpPr>
          <p:sp>
            <p:nvSpPr>
              <p:cNvPr id="28" name="Oval 27">
                <a:extLst>
                  <a:ext uri="{FF2B5EF4-FFF2-40B4-BE49-F238E27FC236}">
                    <a16:creationId xmlns:a16="http://schemas.microsoft.com/office/drawing/2014/main" id="{EF3F1E58-EE36-FAFF-86E8-F5B3AB606FBD}"/>
                  </a:ext>
                </a:extLst>
              </p:cNvPr>
              <p:cNvSpPr/>
              <p:nvPr/>
            </p:nvSpPr>
            <p:spPr bwMode="auto">
              <a:xfrm>
                <a:off x="9405708" y="4555084"/>
                <a:ext cx="633500" cy="633498"/>
              </a:xfrm>
              <a:prstGeom prst="ellipse">
                <a:avLst/>
              </a:prstGeom>
              <a:solidFill>
                <a:schemeClr val="bg1"/>
              </a:solidFill>
              <a:ln w="6350">
                <a:noFill/>
              </a:ln>
              <a:effectLst>
                <a:outerShdw blurRad="101600" dist="38100" dir="13500000" algn="br" rotWithShape="0">
                  <a:schemeClr val="tx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82852" tIns="1828518" rIns="182852" bIns="30475" rtlCol="0" anchor="t"/>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IN" sz="1866" b="0" i="0" u="none" strike="noStrike" kern="1200" cap="none" spc="0" normalizeH="0" baseline="0" noProof="0" err="1">
                  <a:ln>
                    <a:noFill/>
                  </a:ln>
                  <a:solidFill>
                    <a:srgbClr val="135D8F"/>
                  </a:solidFill>
                  <a:effectLst/>
                  <a:uLnTx/>
                  <a:uFillTx/>
                  <a:latin typeface="Segoe UI Semibold"/>
                  <a:ea typeface="+mn-ea"/>
                  <a:cs typeface="+mn-cs"/>
                </a:endParaRPr>
              </a:p>
            </p:txBody>
          </p:sp>
          <p:sp>
            <p:nvSpPr>
              <p:cNvPr id="3169" name="Processing_E9F5" title="Icon of two interlocked gears">
                <a:extLst>
                  <a:ext uri="{FF2B5EF4-FFF2-40B4-BE49-F238E27FC236}">
                    <a16:creationId xmlns:a16="http://schemas.microsoft.com/office/drawing/2014/main" id="{14E0B393-1DA4-69B7-CC82-2DF308BF2883}"/>
                  </a:ext>
                </a:extLst>
              </p:cNvPr>
              <p:cNvSpPr>
                <a:spLocks noChangeAspect="1" noEditPoints="1"/>
              </p:cNvSpPr>
              <p:nvPr/>
            </p:nvSpPr>
            <p:spPr bwMode="auto">
              <a:xfrm>
                <a:off x="9515488" y="4691576"/>
                <a:ext cx="413940" cy="360514"/>
              </a:xfrm>
              <a:custGeom>
                <a:avLst/>
                <a:gdLst>
                  <a:gd name="T0" fmla="*/ 924 w 3867"/>
                  <a:gd name="T1" fmla="*/ 299 h 3367"/>
                  <a:gd name="T2" fmla="*/ 1549 w 3867"/>
                  <a:gd name="T3" fmla="*/ 924 h 3367"/>
                  <a:gd name="T4" fmla="*/ 924 w 3867"/>
                  <a:gd name="T5" fmla="*/ 1549 h 3367"/>
                  <a:gd name="T6" fmla="*/ 299 w 3867"/>
                  <a:gd name="T7" fmla="*/ 924 h 3367"/>
                  <a:gd name="T8" fmla="*/ 924 w 3867"/>
                  <a:gd name="T9" fmla="*/ 299 h 3367"/>
                  <a:gd name="T10" fmla="*/ 1163 w 3867"/>
                  <a:gd name="T11" fmla="*/ 347 h 3367"/>
                  <a:gd name="T12" fmla="*/ 1307 w 3867"/>
                  <a:gd name="T13" fmla="*/ 0 h 3367"/>
                  <a:gd name="T14" fmla="*/ 1501 w 3867"/>
                  <a:gd name="T15" fmla="*/ 685 h 3367"/>
                  <a:gd name="T16" fmla="*/ 1848 w 3867"/>
                  <a:gd name="T17" fmla="*/ 541 h 3367"/>
                  <a:gd name="T18" fmla="*/ 1501 w 3867"/>
                  <a:gd name="T19" fmla="*/ 1163 h 3367"/>
                  <a:gd name="T20" fmla="*/ 1848 w 3867"/>
                  <a:gd name="T21" fmla="*/ 1307 h 3367"/>
                  <a:gd name="T22" fmla="*/ 1163 w 3867"/>
                  <a:gd name="T23" fmla="*/ 1501 h 3367"/>
                  <a:gd name="T24" fmla="*/ 1307 w 3867"/>
                  <a:gd name="T25" fmla="*/ 1848 h 3367"/>
                  <a:gd name="T26" fmla="*/ 685 w 3867"/>
                  <a:gd name="T27" fmla="*/ 1501 h 3367"/>
                  <a:gd name="T28" fmla="*/ 541 w 3867"/>
                  <a:gd name="T29" fmla="*/ 1848 h 3367"/>
                  <a:gd name="T30" fmla="*/ 347 w 3867"/>
                  <a:gd name="T31" fmla="*/ 1163 h 3367"/>
                  <a:gd name="T32" fmla="*/ 0 w 3867"/>
                  <a:gd name="T33" fmla="*/ 1307 h 3367"/>
                  <a:gd name="T34" fmla="*/ 0 w 3867"/>
                  <a:gd name="T35" fmla="*/ 541 h 3367"/>
                  <a:gd name="T36" fmla="*/ 347 w 3867"/>
                  <a:gd name="T37" fmla="*/ 685 h 3367"/>
                  <a:gd name="T38" fmla="*/ 685 w 3867"/>
                  <a:gd name="T39" fmla="*/ 347 h 3367"/>
                  <a:gd name="T40" fmla="*/ 541 w 3867"/>
                  <a:gd name="T41" fmla="*/ 0 h 3367"/>
                  <a:gd name="T42" fmla="*/ 2049 w 3867"/>
                  <a:gd name="T43" fmla="*/ 2299 h 3367"/>
                  <a:gd name="T44" fmla="*/ 2799 w 3867"/>
                  <a:gd name="T45" fmla="*/ 3049 h 3367"/>
                  <a:gd name="T46" fmla="*/ 3549 w 3867"/>
                  <a:gd name="T47" fmla="*/ 2299 h 3367"/>
                  <a:gd name="T48" fmla="*/ 2799 w 3867"/>
                  <a:gd name="T49" fmla="*/ 1549 h 3367"/>
                  <a:gd name="T50" fmla="*/ 2049 w 3867"/>
                  <a:gd name="T51" fmla="*/ 2299 h 3367"/>
                  <a:gd name="T52" fmla="*/ 2357 w 3867"/>
                  <a:gd name="T53" fmla="*/ 1231 h 3367"/>
                  <a:gd name="T54" fmla="*/ 2512 w 3867"/>
                  <a:gd name="T55" fmla="*/ 1606 h 3367"/>
                  <a:gd name="T56" fmla="*/ 2106 w 3867"/>
                  <a:gd name="T57" fmla="*/ 2012 h 3367"/>
                  <a:gd name="T58" fmla="*/ 1731 w 3867"/>
                  <a:gd name="T59" fmla="*/ 1856 h 3367"/>
                  <a:gd name="T60" fmla="*/ 2106 w 3867"/>
                  <a:gd name="T61" fmla="*/ 2586 h 3367"/>
                  <a:gd name="T62" fmla="*/ 1731 w 3867"/>
                  <a:gd name="T63" fmla="*/ 2741 h 3367"/>
                  <a:gd name="T64" fmla="*/ 2512 w 3867"/>
                  <a:gd name="T65" fmla="*/ 2992 h 3367"/>
                  <a:gd name="T66" fmla="*/ 2357 w 3867"/>
                  <a:gd name="T67" fmla="*/ 3367 h 3367"/>
                  <a:gd name="T68" fmla="*/ 3086 w 3867"/>
                  <a:gd name="T69" fmla="*/ 2992 h 3367"/>
                  <a:gd name="T70" fmla="*/ 3241 w 3867"/>
                  <a:gd name="T71" fmla="*/ 3367 h 3367"/>
                  <a:gd name="T72" fmla="*/ 3492 w 3867"/>
                  <a:gd name="T73" fmla="*/ 2586 h 3367"/>
                  <a:gd name="T74" fmla="*/ 3867 w 3867"/>
                  <a:gd name="T75" fmla="*/ 2741 h 3367"/>
                  <a:gd name="T76" fmla="*/ 3492 w 3867"/>
                  <a:gd name="T77" fmla="*/ 2012 h 3367"/>
                  <a:gd name="T78" fmla="*/ 3867 w 3867"/>
                  <a:gd name="T79" fmla="*/ 1856 h 3367"/>
                  <a:gd name="T80" fmla="*/ 3086 w 3867"/>
                  <a:gd name="T81" fmla="*/ 1606 h 3367"/>
                  <a:gd name="T82" fmla="*/ 3241 w 3867"/>
                  <a:gd name="T83" fmla="*/ 1231 h 3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67" h="3367">
                    <a:moveTo>
                      <a:pt x="924" y="299"/>
                    </a:moveTo>
                    <a:cubicBezTo>
                      <a:pt x="1269" y="299"/>
                      <a:pt x="1549" y="579"/>
                      <a:pt x="1549" y="924"/>
                    </a:cubicBezTo>
                    <a:cubicBezTo>
                      <a:pt x="1549" y="1269"/>
                      <a:pt x="1269" y="1549"/>
                      <a:pt x="924" y="1549"/>
                    </a:cubicBezTo>
                    <a:cubicBezTo>
                      <a:pt x="579" y="1549"/>
                      <a:pt x="299" y="1269"/>
                      <a:pt x="299" y="924"/>
                    </a:cubicBezTo>
                    <a:cubicBezTo>
                      <a:pt x="299" y="579"/>
                      <a:pt x="579" y="299"/>
                      <a:pt x="924" y="299"/>
                    </a:cubicBezTo>
                    <a:close/>
                    <a:moveTo>
                      <a:pt x="1163" y="347"/>
                    </a:moveTo>
                    <a:cubicBezTo>
                      <a:pt x="1307" y="0"/>
                      <a:pt x="1307" y="0"/>
                      <a:pt x="1307" y="0"/>
                    </a:cubicBezTo>
                    <a:moveTo>
                      <a:pt x="1501" y="685"/>
                    </a:moveTo>
                    <a:cubicBezTo>
                      <a:pt x="1848" y="541"/>
                      <a:pt x="1848" y="541"/>
                      <a:pt x="1848" y="541"/>
                    </a:cubicBezTo>
                    <a:moveTo>
                      <a:pt x="1501" y="1163"/>
                    </a:moveTo>
                    <a:cubicBezTo>
                      <a:pt x="1848" y="1307"/>
                      <a:pt x="1848" y="1307"/>
                      <a:pt x="1848" y="1307"/>
                    </a:cubicBezTo>
                    <a:moveTo>
                      <a:pt x="1163" y="1501"/>
                    </a:moveTo>
                    <a:cubicBezTo>
                      <a:pt x="1307" y="1848"/>
                      <a:pt x="1307" y="1848"/>
                      <a:pt x="1307" y="1848"/>
                    </a:cubicBezTo>
                    <a:moveTo>
                      <a:pt x="685" y="1501"/>
                    </a:moveTo>
                    <a:cubicBezTo>
                      <a:pt x="541" y="1848"/>
                      <a:pt x="541" y="1848"/>
                      <a:pt x="541" y="1848"/>
                    </a:cubicBezTo>
                    <a:moveTo>
                      <a:pt x="347" y="1163"/>
                    </a:moveTo>
                    <a:cubicBezTo>
                      <a:pt x="0" y="1307"/>
                      <a:pt x="0" y="1307"/>
                      <a:pt x="0" y="1307"/>
                    </a:cubicBezTo>
                    <a:moveTo>
                      <a:pt x="0" y="541"/>
                    </a:moveTo>
                    <a:cubicBezTo>
                      <a:pt x="347" y="685"/>
                      <a:pt x="347" y="685"/>
                      <a:pt x="347" y="685"/>
                    </a:cubicBezTo>
                    <a:moveTo>
                      <a:pt x="685" y="347"/>
                    </a:moveTo>
                    <a:cubicBezTo>
                      <a:pt x="541" y="0"/>
                      <a:pt x="541" y="0"/>
                      <a:pt x="541" y="0"/>
                    </a:cubicBezTo>
                    <a:moveTo>
                      <a:pt x="2049" y="2299"/>
                    </a:moveTo>
                    <a:cubicBezTo>
                      <a:pt x="2049" y="2713"/>
                      <a:pt x="2385" y="3049"/>
                      <a:pt x="2799" y="3049"/>
                    </a:cubicBezTo>
                    <a:cubicBezTo>
                      <a:pt x="3213" y="3049"/>
                      <a:pt x="3549" y="2713"/>
                      <a:pt x="3549" y="2299"/>
                    </a:cubicBezTo>
                    <a:cubicBezTo>
                      <a:pt x="3549" y="1885"/>
                      <a:pt x="3213" y="1549"/>
                      <a:pt x="2799" y="1549"/>
                    </a:cubicBezTo>
                    <a:cubicBezTo>
                      <a:pt x="2385" y="1549"/>
                      <a:pt x="2049" y="1885"/>
                      <a:pt x="2049" y="2299"/>
                    </a:cubicBezTo>
                    <a:close/>
                    <a:moveTo>
                      <a:pt x="2357" y="1231"/>
                    </a:moveTo>
                    <a:cubicBezTo>
                      <a:pt x="2512" y="1606"/>
                      <a:pt x="2512" y="1606"/>
                      <a:pt x="2512" y="1606"/>
                    </a:cubicBezTo>
                    <a:moveTo>
                      <a:pt x="2106" y="2012"/>
                    </a:moveTo>
                    <a:cubicBezTo>
                      <a:pt x="1731" y="1856"/>
                      <a:pt x="1731" y="1856"/>
                      <a:pt x="1731" y="1856"/>
                    </a:cubicBezTo>
                    <a:moveTo>
                      <a:pt x="2106" y="2586"/>
                    </a:moveTo>
                    <a:cubicBezTo>
                      <a:pt x="1731" y="2741"/>
                      <a:pt x="1731" y="2741"/>
                      <a:pt x="1731" y="2741"/>
                    </a:cubicBezTo>
                    <a:moveTo>
                      <a:pt x="2512" y="2992"/>
                    </a:moveTo>
                    <a:cubicBezTo>
                      <a:pt x="2357" y="3367"/>
                      <a:pt x="2357" y="3367"/>
                      <a:pt x="2357" y="3367"/>
                    </a:cubicBezTo>
                    <a:moveTo>
                      <a:pt x="3086" y="2992"/>
                    </a:moveTo>
                    <a:cubicBezTo>
                      <a:pt x="3241" y="3367"/>
                      <a:pt x="3241" y="3367"/>
                      <a:pt x="3241" y="3367"/>
                    </a:cubicBezTo>
                    <a:moveTo>
                      <a:pt x="3492" y="2586"/>
                    </a:moveTo>
                    <a:cubicBezTo>
                      <a:pt x="3867" y="2741"/>
                      <a:pt x="3867" y="2741"/>
                      <a:pt x="3867" y="2741"/>
                    </a:cubicBezTo>
                    <a:moveTo>
                      <a:pt x="3492" y="2012"/>
                    </a:moveTo>
                    <a:cubicBezTo>
                      <a:pt x="3867" y="1856"/>
                      <a:pt x="3867" y="1856"/>
                      <a:pt x="3867" y="1856"/>
                    </a:cubicBezTo>
                    <a:moveTo>
                      <a:pt x="3086" y="1606"/>
                    </a:moveTo>
                    <a:cubicBezTo>
                      <a:pt x="3241" y="1231"/>
                      <a:pt x="3241" y="1231"/>
                      <a:pt x="3241" y="1231"/>
                    </a:cubicBezTo>
                  </a:path>
                </a:pathLst>
              </a:custGeom>
              <a:noFill/>
              <a:ln w="15875" cap="flat">
                <a:solidFill>
                  <a:schemeClr val="tx2">
                    <a:lumMod val="20000"/>
                    <a:lumOff val="8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0951" tIns="30475" rIns="60951" bIns="30475" numCol="1" anchor="t" anchorCtr="0" compatLnSpc="1">
                <a:prstTxWarp prst="textNoShape">
                  <a:avLst/>
                </a:prstTxWarp>
              </a:bodyPr>
              <a:lstStyle/>
              <a:p>
                <a:pPr marL="0" marR="0" lvl="0" indent="0" algn="l" defTabSz="30477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a:ea typeface="+mn-ea"/>
                  <a:cs typeface="+mn-cs"/>
                </a:endParaRPr>
              </a:p>
            </p:txBody>
          </p:sp>
        </p:grpSp>
        <p:sp>
          <p:nvSpPr>
            <p:cNvPr id="3241" name="TextBox 3240">
              <a:extLst>
                <a:ext uri="{FF2B5EF4-FFF2-40B4-BE49-F238E27FC236}">
                  <a16:creationId xmlns:a16="http://schemas.microsoft.com/office/drawing/2014/main" id="{0487D0D9-4B16-89C3-CA2D-D0C193D23E7E}"/>
                </a:ext>
              </a:extLst>
            </p:cNvPr>
            <p:cNvSpPr txBox="1"/>
            <p:nvPr/>
          </p:nvSpPr>
          <p:spPr>
            <a:xfrm>
              <a:off x="8416370" y="4347118"/>
              <a:ext cx="2612177" cy="206941"/>
            </a:xfrm>
            <a:prstGeom prst="rect">
              <a:avLst/>
            </a:prstGeom>
            <a:noFill/>
          </p:spPr>
          <p:txBody>
            <a:bodyPr wrap="square" lIns="0" tIns="0" rIns="0" bIns="0" rtlCol="0">
              <a:noAutofit/>
            </a:bodyPr>
            <a:lstStyle/>
            <a:p>
              <a:pPr marL="0" marR="0" lvl="0" indent="0" algn="ctr" defTabSz="914101"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Semibold"/>
                  <a:ea typeface="+mn-ea"/>
                  <a:cs typeface="Segoe UI Semilight" panose="020B0402040204020203" pitchFamily="34" charset="0"/>
                </a:rPr>
                <a:t>API Backends</a:t>
              </a:r>
            </a:p>
          </p:txBody>
        </p:sp>
        <p:sp>
          <p:nvSpPr>
            <p:cNvPr id="3115" name="Isosceles Triangle 3114">
              <a:extLst>
                <a:ext uri="{FF2B5EF4-FFF2-40B4-BE49-F238E27FC236}">
                  <a16:creationId xmlns:a16="http://schemas.microsoft.com/office/drawing/2014/main" id="{EE9E9450-8799-C542-EC23-F015CCAAC3E3}"/>
                </a:ext>
              </a:extLst>
            </p:cNvPr>
            <p:cNvSpPr/>
            <p:nvPr/>
          </p:nvSpPr>
          <p:spPr bwMode="auto">
            <a:xfrm rot="16200000">
              <a:off x="10524049" y="4953986"/>
              <a:ext cx="100355" cy="86513"/>
            </a:xfrm>
            <a:prstGeom prst="triangl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grpSp>
        <p:nvGrpSpPr>
          <p:cNvPr id="32" name="Group 31">
            <a:extLst>
              <a:ext uri="{FF2B5EF4-FFF2-40B4-BE49-F238E27FC236}">
                <a16:creationId xmlns:a16="http://schemas.microsoft.com/office/drawing/2014/main" id="{5A634D0F-4939-89BD-7F06-E5C477CDEA94}"/>
              </a:ext>
              <a:ext uri="{C183D7F6-B498-43B3-948B-1728B52AA6E4}">
                <adec:decorative xmlns:adec="http://schemas.microsoft.com/office/drawing/2017/decorative" val="1"/>
              </a:ext>
            </a:extLst>
          </p:cNvPr>
          <p:cNvGrpSpPr/>
          <p:nvPr/>
        </p:nvGrpSpPr>
        <p:grpSpPr>
          <a:xfrm>
            <a:off x="4351042" y="3211529"/>
            <a:ext cx="3489917" cy="1033588"/>
            <a:chOff x="4351042" y="3211529"/>
            <a:chExt cx="3489917" cy="1033588"/>
          </a:xfrm>
        </p:grpSpPr>
        <p:grpSp>
          <p:nvGrpSpPr>
            <p:cNvPr id="3330" name="Group 3329">
              <a:extLst>
                <a:ext uri="{FF2B5EF4-FFF2-40B4-BE49-F238E27FC236}">
                  <a16:creationId xmlns:a16="http://schemas.microsoft.com/office/drawing/2014/main" id="{4735E463-920D-AA0F-ED64-1E4F557797E1}"/>
                </a:ext>
              </a:extLst>
            </p:cNvPr>
            <p:cNvGrpSpPr/>
            <p:nvPr/>
          </p:nvGrpSpPr>
          <p:grpSpPr>
            <a:xfrm>
              <a:off x="4351042" y="3211529"/>
              <a:ext cx="3489917" cy="1033588"/>
              <a:chOff x="4351042" y="3211529"/>
              <a:chExt cx="3489917" cy="1033588"/>
            </a:xfrm>
          </p:grpSpPr>
          <p:sp>
            <p:nvSpPr>
              <p:cNvPr id="3100" name="Rectangle: Rounded Corners 3099">
                <a:extLst>
                  <a:ext uri="{FF2B5EF4-FFF2-40B4-BE49-F238E27FC236}">
                    <a16:creationId xmlns:a16="http://schemas.microsoft.com/office/drawing/2014/main" id="{9D77E069-232F-C4DD-C48E-6BAF445E8BBD}"/>
                  </a:ext>
                </a:extLst>
              </p:cNvPr>
              <p:cNvSpPr/>
              <p:nvPr/>
            </p:nvSpPr>
            <p:spPr bwMode="auto">
              <a:xfrm>
                <a:off x="4351042" y="3434509"/>
                <a:ext cx="3489917" cy="810608"/>
              </a:xfrm>
              <a:prstGeom prst="roundRect">
                <a:avLst>
                  <a:gd name="adj" fmla="val 7900"/>
                </a:avLst>
              </a:prstGeom>
              <a:solidFill>
                <a:schemeClr val="tx2">
                  <a:lumMod val="20000"/>
                  <a:lumOff val="80000"/>
                </a:schemeClr>
              </a:solidFill>
              <a:ln w="6350">
                <a:solidFill>
                  <a:schemeClr val="tx2">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52" tIns="1828518" rIns="182852" bIns="30475" rtlCol="0" anchor="t"/>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IN" sz="1866" b="0" i="0" u="none" strike="noStrike" kern="1200" cap="none" spc="0" normalizeH="0" baseline="0" noProof="0" err="1">
                  <a:ln>
                    <a:noFill/>
                  </a:ln>
                  <a:solidFill>
                    <a:srgbClr val="135D8F"/>
                  </a:solidFill>
                  <a:effectLst/>
                  <a:uLnTx/>
                  <a:uFillTx/>
                  <a:latin typeface="Segoe UI Semibold"/>
                  <a:ea typeface="+mn-ea"/>
                  <a:cs typeface="+mn-cs"/>
                </a:endParaRPr>
              </a:p>
            </p:txBody>
          </p:sp>
          <p:sp>
            <p:nvSpPr>
              <p:cNvPr id="17" name="Rectangle: Top Corners Rounded 16">
                <a:extLst>
                  <a:ext uri="{FF2B5EF4-FFF2-40B4-BE49-F238E27FC236}">
                    <a16:creationId xmlns:a16="http://schemas.microsoft.com/office/drawing/2014/main" id="{C608DBB3-EE16-85A5-AB3F-1F63D99B2E3E}"/>
                  </a:ext>
                </a:extLst>
              </p:cNvPr>
              <p:cNvSpPr/>
              <p:nvPr/>
            </p:nvSpPr>
            <p:spPr bwMode="auto">
              <a:xfrm>
                <a:off x="4351042" y="3211529"/>
                <a:ext cx="3489917" cy="311563"/>
              </a:xfrm>
              <a:prstGeom prst="round2SameRect">
                <a:avLst/>
              </a:prstGeom>
              <a:solidFill>
                <a:schemeClr val="tx2"/>
              </a:solidFill>
              <a:ln w="6350">
                <a:solidFill>
                  <a:schemeClr val="tx2">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52" tIns="1828518" rIns="182852" bIns="30475" rtlCol="0" anchor="t"/>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IN" sz="1866" b="0" i="0" u="none" strike="noStrike" kern="1200" cap="none" spc="0" normalizeH="0" baseline="0" noProof="0" err="1">
                  <a:ln>
                    <a:noFill/>
                  </a:ln>
                  <a:solidFill>
                    <a:srgbClr val="135D8F"/>
                  </a:solidFill>
                  <a:effectLst/>
                  <a:uLnTx/>
                  <a:uFillTx/>
                  <a:latin typeface="Segoe UI Semibold"/>
                  <a:ea typeface="+mn-ea"/>
                  <a:cs typeface="+mn-cs"/>
                </a:endParaRPr>
              </a:p>
            </p:txBody>
          </p:sp>
          <p:sp>
            <p:nvSpPr>
              <p:cNvPr id="3261" name="TextBox 3260">
                <a:extLst>
                  <a:ext uri="{FF2B5EF4-FFF2-40B4-BE49-F238E27FC236}">
                    <a16:creationId xmlns:a16="http://schemas.microsoft.com/office/drawing/2014/main" id="{2706F35D-A0B8-80A4-4F20-AD104BC468B1}"/>
                  </a:ext>
                </a:extLst>
              </p:cNvPr>
              <p:cNvSpPr txBox="1"/>
              <p:nvPr/>
            </p:nvSpPr>
            <p:spPr>
              <a:xfrm>
                <a:off x="5686433" y="3264851"/>
                <a:ext cx="819135" cy="205121"/>
              </a:xfrm>
              <a:prstGeom prst="rect">
                <a:avLst/>
              </a:prstGeom>
              <a:noFill/>
            </p:spPr>
            <p:txBody>
              <a:bodyPr wrap="none" lIns="0" tIns="0" rIns="0" bIns="0" rtlCol="0" anchor="ctr">
                <a:spAutoFit/>
              </a:bodyPr>
              <a:lstStyle/>
              <a:p>
                <a:pPr marL="0" marR="0" lvl="0" indent="0" algn="l" defTabSz="914101"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FFFFFF"/>
                    </a:solidFill>
                    <a:effectLst/>
                    <a:uLnTx/>
                    <a:uFillTx/>
                    <a:latin typeface="Segoe UI Semibold"/>
                    <a:ea typeface="+mn-ea"/>
                    <a:cs typeface="Segoe UI Semilight" panose="020B0402040204020203" pitchFamily="34" charset="0"/>
                  </a:rPr>
                  <a:t>User Plane</a:t>
                </a:r>
              </a:p>
            </p:txBody>
          </p:sp>
          <p:sp>
            <p:nvSpPr>
              <p:cNvPr id="3104" name="TextBox 3103">
                <a:extLst>
                  <a:ext uri="{FF2B5EF4-FFF2-40B4-BE49-F238E27FC236}">
                    <a16:creationId xmlns:a16="http://schemas.microsoft.com/office/drawing/2014/main" id="{C6251891-7E0D-D59E-F506-5239C44DDA02}"/>
                  </a:ext>
                </a:extLst>
              </p:cNvPr>
              <p:cNvSpPr txBox="1"/>
              <p:nvPr/>
            </p:nvSpPr>
            <p:spPr>
              <a:xfrm>
                <a:off x="5380706" y="3973891"/>
                <a:ext cx="1430589" cy="184666"/>
              </a:xfrm>
              <a:prstGeom prst="rect">
                <a:avLst/>
              </a:prstGeom>
              <a:noFill/>
            </p:spPr>
            <p:txBody>
              <a:bodyPr wrap="square" lIns="0" tIns="0" rIns="0" bIns="0" rtlCol="0" anchor="ctr">
                <a:spAutoFit/>
              </a:bodyPr>
              <a:lstStyle/>
              <a:p>
                <a:pPr marL="0" marR="0" lvl="0" indent="0" algn="ctr" defTabSz="914101"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lumMod val="85000"/>
                        <a:lumOff val="15000"/>
                      </a:prstClr>
                    </a:solidFill>
                    <a:effectLst/>
                    <a:uLnTx/>
                    <a:uFillTx/>
                    <a:latin typeface="Segoe UI Semibold"/>
                    <a:ea typeface="+mn-ea"/>
                    <a:cs typeface="Segoe UI Semilight" panose="020B0402040204020203" pitchFamily="34" charset="0"/>
                  </a:rPr>
                  <a:t>Developer Portal</a:t>
                </a:r>
              </a:p>
            </p:txBody>
          </p:sp>
        </p:grpSp>
        <p:sp>
          <p:nvSpPr>
            <p:cNvPr id="14" name="Laptop_E770" title="Icon of a laptop">
              <a:extLst>
                <a:ext uri="{FF2B5EF4-FFF2-40B4-BE49-F238E27FC236}">
                  <a16:creationId xmlns:a16="http://schemas.microsoft.com/office/drawing/2014/main" id="{47C0003D-4CA2-DAED-D975-95196B1646AC}"/>
                </a:ext>
              </a:extLst>
            </p:cNvPr>
            <p:cNvSpPr>
              <a:spLocks noChangeAspect="1" noEditPoints="1"/>
            </p:cNvSpPr>
            <p:nvPr/>
          </p:nvSpPr>
          <p:spPr bwMode="auto">
            <a:xfrm>
              <a:off x="5882189" y="3601370"/>
              <a:ext cx="415983" cy="277576"/>
            </a:xfrm>
            <a:custGeom>
              <a:avLst/>
              <a:gdLst>
                <a:gd name="T0" fmla="*/ 3250 w 3750"/>
                <a:gd name="T1" fmla="*/ 1750 h 2500"/>
                <a:gd name="T2" fmla="*/ 500 w 3750"/>
                <a:gd name="T3" fmla="*/ 1750 h 2500"/>
                <a:gd name="T4" fmla="*/ 500 w 3750"/>
                <a:gd name="T5" fmla="*/ 0 h 2500"/>
                <a:gd name="T6" fmla="*/ 3250 w 3750"/>
                <a:gd name="T7" fmla="*/ 0 h 2500"/>
                <a:gd name="T8" fmla="*/ 3250 w 3750"/>
                <a:gd name="T9" fmla="*/ 1750 h 2500"/>
                <a:gd name="T10" fmla="*/ 0 w 3750"/>
                <a:gd name="T11" fmla="*/ 2375 h 2500"/>
                <a:gd name="T12" fmla="*/ 125 w 3750"/>
                <a:gd name="T13" fmla="*/ 2500 h 2500"/>
                <a:gd name="T14" fmla="*/ 3625 w 3750"/>
                <a:gd name="T15" fmla="*/ 2500 h 2500"/>
                <a:gd name="T16" fmla="*/ 3750 w 3750"/>
                <a:gd name="T17" fmla="*/ 2375 h 2500"/>
                <a:gd name="T18" fmla="*/ 3688 w 3750"/>
                <a:gd name="T19" fmla="*/ 2187 h 2500"/>
                <a:gd name="T20" fmla="*/ 3250 w 3750"/>
                <a:gd name="T21" fmla="*/ 1750 h 2500"/>
                <a:gd name="T22" fmla="*/ 500 w 3750"/>
                <a:gd name="T23" fmla="*/ 1750 h 2500"/>
                <a:gd name="T24" fmla="*/ 63 w 3750"/>
                <a:gd name="T25" fmla="*/ 2187 h 2500"/>
                <a:gd name="T26" fmla="*/ 0 w 3750"/>
                <a:gd name="T27" fmla="*/ 2375 h 2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50" h="2500">
                  <a:moveTo>
                    <a:pt x="3250" y="1750"/>
                  </a:moveTo>
                  <a:cubicBezTo>
                    <a:pt x="500" y="1750"/>
                    <a:pt x="500" y="1750"/>
                    <a:pt x="500" y="1750"/>
                  </a:cubicBezTo>
                  <a:cubicBezTo>
                    <a:pt x="500" y="0"/>
                    <a:pt x="500" y="0"/>
                    <a:pt x="500" y="0"/>
                  </a:cubicBezTo>
                  <a:cubicBezTo>
                    <a:pt x="3250" y="0"/>
                    <a:pt x="3250" y="0"/>
                    <a:pt x="3250" y="0"/>
                  </a:cubicBezTo>
                  <a:lnTo>
                    <a:pt x="3250" y="1750"/>
                  </a:lnTo>
                  <a:close/>
                  <a:moveTo>
                    <a:pt x="0" y="2375"/>
                  </a:moveTo>
                  <a:cubicBezTo>
                    <a:pt x="0" y="2444"/>
                    <a:pt x="56" y="2500"/>
                    <a:pt x="125" y="2500"/>
                  </a:cubicBezTo>
                  <a:cubicBezTo>
                    <a:pt x="3625" y="2500"/>
                    <a:pt x="3625" y="2500"/>
                    <a:pt x="3625" y="2500"/>
                  </a:cubicBezTo>
                  <a:cubicBezTo>
                    <a:pt x="3694" y="2500"/>
                    <a:pt x="3750" y="2444"/>
                    <a:pt x="3750" y="2375"/>
                  </a:cubicBezTo>
                  <a:cubicBezTo>
                    <a:pt x="3750" y="2302"/>
                    <a:pt x="3726" y="2235"/>
                    <a:pt x="3688" y="2187"/>
                  </a:cubicBezTo>
                  <a:cubicBezTo>
                    <a:pt x="3250" y="1750"/>
                    <a:pt x="3250" y="1750"/>
                    <a:pt x="3250" y="1750"/>
                  </a:cubicBezTo>
                  <a:cubicBezTo>
                    <a:pt x="500" y="1750"/>
                    <a:pt x="500" y="1750"/>
                    <a:pt x="500" y="1750"/>
                  </a:cubicBezTo>
                  <a:cubicBezTo>
                    <a:pt x="63" y="2187"/>
                    <a:pt x="63" y="2187"/>
                    <a:pt x="63" y="2187"/>
                  </a:cubicBezTo>
                  <a:cubicBezTo>
                    <a:pt x="24" y="2235"/>
                    <a:pt x="0" y="2302"/>
                    <a:pt x="0" y="2375"/>
                  </a:cubicBezTo>
                  <a:close/>
                </a:path>
              </a:pathLst>
            </a:custGeom>
            <a:noFill/>
            <a:ln w="15875" cap="sq">
              <a:solidFill>
                <a:schemeClr val="bg1">
                  <a:lumMod val="50000"/>
                </a:schemeClr>
              </a:solidFill>
              <a:prstDash val="solid"/>
              <a:miter lim="800000"/>
              <a:headEnd/>
              <a:tailEnd/>
            </a:ln>
          </p:spPr>
          <p:txBody>
            <a:bodyPr vert="horz" wrap="square" lIns="60951" tIns="30475" rIns="60951" bIns="30475" numCol="1" anchor="t" anchorCtr="0" compatLnSpc="1">
              <a:prstTxWarp prst="textNoShape">
                <a:avLst/>
              </a:prstTxWarp>
            </a:bodyPr>
            <a:lstStyle/>
            <a:p>
              <a:pPr marL="0" marR="0" lvl="0" indent="0" algn="l" defTabSz="304770" rtl="0" eaLnBrk="1" fontAlgn="auto" latinLnBrk="0" hangingPunct="1">
                <a:lnSpc>
                  <a:spcPct val="100000"/>
                </a:lnSpc>
                <a:spcBef>
                  <a:spcPts val="0"/>
                </a:spcBef>
                <a:spcAft>
                  <a:spcPts val="0"/>
                </a:spcAft>
                <a:buClrTx/>
                <a:buSzTx/>
                <a:buFontTx/>
                <a:buNone/>
                <a:tabLst/>
                <a:defRPr/>
              </a:pPr>
              <a:endParaRPr kumimoji="0" lang="en-US" sz="1067"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spTree>
    <p:extLst>
      <p:ext uri="{BB962C8B-B14F-4D97-AF65-F5344CB8AC3E}">
        <p14:creationId xmlns:p14="http://schemas.microsoft.com/office/powerpoint/2010/main" val="21673290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328"/>
                                        </p:tgtEl>
                                        <p:attrNameLst>
                                          <p:attrName>style.visibility</p:attrName>
                                        </p:attrNameLst>
                                      </p:cBhvr>
                                      <p:to>
                                        <p:strVal val="visible"/>
                                      </p:to>
                                    </p:set>
                                    <p:animEffect transition="in" filter="wipe(left)">
                                      <p:cBhvr>
                                        <p:cTn id="7" dur="500"/>
                                        <p:tgtEl>
                                          <p:spTgt spid="332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325"/>
                                        </p:tgtEl>
                                        <p:attrNameLst>
                                          <p:attrName>style.visibility</p:attrName>
                                        </p:attrNameLst>
                                      </p:cBhvr>
                                      <p:to>
                                        <p:strVal val="visible"/>
                                      </p:to>
                                    </p:set>
                                    <p:animEffect transition="in" filter="wipe(up)">
                                      <p:cBhvr>
                                        <p:cTn id="11" dur="500"/>
                                        <p:tgtEl>
                                          <p:spTgt spid="3325"/>
                                        </p:tgtEl>
                                      </p:cBhvr>
                                    </p:animEffect>
                                  </p:childTnLst>
                                </p:cTn>
                              </p:par>
                            </p:childTnLst>
                          </p:cTn>
                        </p:par>
                        <p:par>
                          <p:cTn id="12" fill="hold">
                            <p:stCondLst>
                              <p:cond delay="1000"/>
                            </p:stCondLst>
                            <p:childTnLst>
                              <p:par>
                                <p:cTn id="13" presetID="53" presetClass="entr" presetSubtype="16" fill="hold" nodeType="afterEffect">
                                  <p:stCondLst>
                                    <p:cond delay="0"/>
                                  </p:stCondLst>
                                  <p:childTnLst>
                                    <p:set>
                                      <p:cBhvr>
                                        <p:cTn id="14" dur="1" fill="hold">
                                          <p:stCondLst>
                                            <p:cond delay="0"/>
                                          </p:stCondLst>
                                        </p:cTn>
                                        <p:tgtEl>
                                          <p:spTgt spid="3329"/>
                                        </p:tgtEl>
                                        <p:attrNameLst>
                                          <p:attrName>style.visibility</p:attrName>
                                        </p:attrNameLst>
                                      </p:cBhvr>
                                      <p:to>
                                        <p:strVal val="visible"/>
                                      </p:to>
                                    </p:set>
                                    <p:anim calcmode="lin" valueType="num">
                                      <p:cBhvr>
                                        <p:cTn id="15" dur="500" fill="hold"/>
                                        <p:tgtEl>
                                          <p:spTgt spid="3329"/>
                                        </p:tgtEl>
                                        <p:attrNameLst>
                                          <p:attrName>ppt_w</p:attrName>
                                        </p:attrNameLst>
                                      </p:cBhvr>
                                      <p:tavLst>
                                        <p:tav tm="0">
                                          <p:val>
                                            <p:fltVal val="0"/>
                                          </p:val>
                                        </p:tav>
                                        <p:tav tm="100000">
                                          <p:val>
                                            <p:strVal val="#ppt_w"/>
                                          </p:val>
                                        </p:tav>
                                      </p:tavLst>
                                    </p:anim>
                                    <p:anim calcmode="lin" valueType="num">
                                      <p:cBhvr>
                                        <p:cTn id="16" dur="500" fill="hold"/>
                                        <p:tgtEl>
                                          <p:spTgt spid="3329"/>
                                        </p:tgtEl>
                                        <p:attrNameLst>
                                          <p:attrName>ppt_h</p:attrName>
                                        </p:attrNameLst>
                                      </p:cBhvr>
                                      <p:tavLst>
                                        <p:tav tm="0">
                                          <p:val>
                                            <p:fltVal val="0"/>
                                          </p:val>
                                        </p:tav>
                                        <p:tav tm="100000">
                                          <p:val>
                                            <p:strVal val="#ppt_h"/>
                                          </p:val>
                                        </p:tav>
                                      </p:tavLst>
                                    </p:anim>
                                    <p:animEffect transition="in" filter="fade">
                                      <p:cBhvr>
                                        <p:cTn id="17" dur="500"/>
                                        <p:tgtEl>
                                          <p:spTgt spid="33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326"/>
                                        </p:tgtEl>
                                        <p:attrNameLst>
                                          <p:attrName>style.visibility</p:attrName>
                                        </p:attrNameLst>
                                      </p:cBhvr>
                                      <p:to>
                                        <p:strVal val="visible"/>
                                      </p:to>
                                    </p:set>
                                    <p:animEffect transition="in" filter="wipe(up)">
                                      <p:cBhvr>
                                        <p:cTn id="22" dur="500"/>
                                        <p:tgtEl>
                                          <p:spTgt spid="3326"/>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3178"/>
                                        </p:tgtEl>
                                        <p:attrNameLst>
                                          <p:attrName>style.visibility</p:attrName>
                                        </p:attrNameLst>
                                      </p:cBhvr>
                                      <p:to>
                                        <p:strVal val="visible"/>
                                      </p:to>
                                    </p:set>
                                    <p:animEffect transition="in" filter="wipe(left)">
                                      <p:cBhvr>
                                        <p:cTn id="26" dur="500"/>
                                        <p:tgtEl>
                                          <p:spTgt spid="3178"/>
                                        </p:tgtEl>
                                      </p:cBhvr>
                                    </p:animEffect>
                                  </p:childTnLst>
                                </p:cTn>
                              </p:par>
                            </p:childTnLst>
                          </p:cTn>
                        </p:par>
                        <p:par>
                          <p:cTn id="27" fill="hold">
                            <p:stCondLst>
                              <p:cond delay="1000"/>
                            </p:stCondLst>
                            <p:childTnLst>
                              <p:par>
                                <p:cTn id="28" presetID="53" presetClass="entr" presetSubtype="16" fill="hold" nodeType="afterEffect">
                                  <p:stCondLst>
                                    <p:cond delay="0"/>
                                  </p:stCondLst>
                                  <p:childTnLst>
                                    <p:set>
                                      <p:cBhvr>
                                        <p:cTn id="29" dur="1" fill="hold">
                                          <p:stCondLst>
                                            <p:cond delay="0"/>
                                          </p:stCondLst>
                                        </p:cTn>
                                        <p:tgtEl>
                                          <p:spTgt spid="32"/>
                                        </p:tgtEl>
                                        <p:attrNameLst>
                                          <p:attrName>style.visibility</p:attrName>
                                        </p:attrNameLst>
                                      </p:cBhvr>
                                      <p:to>
                                        <p:strVal val="visible"/>
                                      </p:to>
                                    </p:set>
                                    <p:anim calcmode="lin" valueType="num">
                                      <p:cBhvr>
                                        <p:cTn id="30" dur="500" fill="hold"/>
                                        <p:tgtEl>
                                          <p:spTgt spid="32"/>
                                        </p:tgtEl>
                                        <p:attrNameLst>
                                          <p:attrName>ppt_w</p:attrName>
                                        </p:attrNameLst>
                                      </p:cBhvr>
                                      <p:tavLst>
                                        <p:tav tm="0">
                                          <p:val>
                                            <p:fltVal val="0"/>
                                          </p:val>
                                        </p:tav>
                                        <p:tav tm="100000">
                                          <p:val>
                                            <p:strVal val="#ppt_w"/>
                                          </p:val>
                                        </p:tav>
                                      </p:tavLst>
                                    </p:anim>
                                    <p:anim calcmode="lin" valueType="num">
                                      <p:cBhvr>
                                        <p:cTn id="31" dur="500" fill="hold"/>
                                        <p:tgtEl>
                                          <p:spTgt spid="32"/>
                                        </p:tgtEl>
                                        <p:attrNameLst>
                                          <p:attrName>ppt_h</p:attrName>
                                        </p:attrNameLst>
                                      </p:cBhvr>
                                      <p:tavLst>
                                        <p:tav tm="0">
                                          <p:val>
                                            <p:fltVal val="0"/>
                                          </p:val>
                                        </p:tav>
                                        <p:tav tm="100000">
                                          <p:val>
                                            <p:strVal val="#ppt_h"/>
                                          </p:val>
                                        </p:tav>
                                      </p:tavLst>
                                    </p:anim>
                                    <p:animEffect transition="in" filter="fade">
                                      <p:cBhvr>
                                        <p:cTn id="32" dur="500"/>
                                        <p:tgtEl>
                                          <p:spTgt spid="3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3332"/>
                                        </p:tgtEl>
                                        <p:attrNameLst>
                                          <p:attrName>style.visibility</p:attrName>
                                        </p:attrNameLst>
                                      </p:cBhvr>
                                      <p:to>
                                        <p:strVal val="visible"/>
                                      </p:to>
                                    </p:set>
                                    <p:animEffect transition="in" filter="wipe(up)">
                                      <p:cBhvr>
                                        <p:cTn id="37" dur="500"/>
                                        <p:tgtEl>
                                          <p:spTgt spid="3332"/>
                                        </p:tgtEl>
                                      </p:cBhvr>
                                    </p:animEffect>
                                  </p:childTnLst>
                                </p:cTn>
                              </p:par>
                            </p:childTnLst>
                          </p:cTn>
                        </p:par>
                        <p:par>
                          <p:cTn id="38" fill="hold">
                            <p:stCondLst>
                              <p:cond delay="500"/>
                            </p:stCondLst>
                            <p:childTnLst>
                              <p:par>
                                <p:cTn id="39" presetID="53" presetClass="entr" presetSubtype="16" fill="hold" nodeType="afterEffect">
                                  <p:stCondLst>
                                    <p:cond delay="0"/>
                                  </p:stCondLst>
                                  <p:childTnLst>
                                    <p:set>
                                      <p:cBhvr>
                                        <p:cTn id="40" dur="1" fill="hold">
                                          <p:stCondLst>
                                            <p:cond delay="0"/>
                                          </p:stCondLst>
                                        </p:cTn>
                                        <p:tgtEl>
                                          <p:spTgt spid="3331"/>
                                        </p:tgtEl>
                                        <p:attrNameLst>
                                          <p:attrName>style.visibility</p:attrName>
                                        </p:attrNameLst>
                                      </p:cBhvr>
                                      <p:to>
                                        <p:strVal val="visible"/>
                                      </p:to>
                                    </p:set>
                                    <p:anim calcmode="lin" valueType="num">
                                      <p:cBhvr>
                                        <p:cTn id="41" dur="500" fill="hold"/>
                                        <p:tgtEl>
                                          <p:spTgt spid="3331"/>
                                        </p:tgtEl>
                                        <p:attrNameLst>
                                          <p:attrName>ppt_w</p:attrName>
                                        </p:attrNameLst>
                                      </p:cBhvr>
                                      <p:tavLst>
                                        <p:tav tm="0">
                                          <p:val>
                                            <p:fltVal val="0"/>
                                          </p:val>
                                        </p:tav>
                                        <p:tav tm="100000">
                                          <p:val>
                                            <p:strVal val="#ppt_w"/>
                                          </p:val>
                                        </p:tav>
                                      </p:tavLst>
                                    </p:anim>
                                    <p:anim calcmode="lin" valueType="num">
                                      <p:cBhvr>
                                        <p:cTn id="42" dur="500" fill="hold"/>
                                        <p:tgtEl>
                                          <p:spTgt spid="3331"/>
                                        </p:tgtEl>
                                        <p:attrNameLst>
                                          <p:attrName>ppt_h</p:attrName>
                                        </p:attrNameLst>
                                      </p:cBhvr>
                                      <p:tavLst>
                                        <p:tav tm="0">
                                          <p:val>
                                            <p:fltVal val="0"/>
                                          </p:val>
                                        </p:tav>
                                        <p:tav tm="100000">
                                          <p:val>
                                            <p:strVal val="#ppt_h"/>
                                          </p:val>
                                        </p:tav>
                                      </p:tavLst>
                                    </p:anim>
                                    <p:animEffect transition="in" filter="fade">
                                      <p:cBhvr>
                                        <p:cTn id="43" dur="500"/>
                                        <p:tgtEl>
                                          <p:spTgt spid="3331"/>
                                        </p:tgtEl>
                                      </p:cBhvr>
                                    </p:animEffect>
                                  </p:childTnLst>
                                </p:cTn>
                              </p:par>
                            </p:childTnLst>
                          </p:cTn>
                        </p:par>
                        <p:par>
                          <p:cTn id="44" fill="hold">
                            <p:stCondLst>
                              <p:cond delay="1000"/>
                            </p:stCondLst>
                            <p:childTnLst>
                              <p:par>
                                <p:cTn id="45" presetID="22" presetClass="entr" presetSubtype="1" fill="hold" nodeType="afterEffect">
                                  <p:stCondLst>
                                    <p:cond delay="0"/>
                                  </p:stCondLst>
                                  <p:childTnLst>
                                    <p:set>
                                      <p:cBhvr>
                                        <p:cTn id="46" dur="1" fill="hold">
                                          <p:stCondLst>
                                            <p:cond delay="0"/>
                                          </p:stCondLst>
                                        </p:cTn>
                                        <p:tgtEl>
                                          <p:spTgt spid="3333"/>
                                        </p:tgtEl>
                                        <p:attrNameLst>
                                          <p:attrName>style.visibility</p:attrName>
                                        </p:attrNameLst>
                                      </p:cBhvr>
                                      <p:to>
                                        <p:strVal val="visible"/>
                                      </p:to>
                                    </p:set>
                                    <p:animEffect transition="in" filter="wipe(up)">
                                      <p:cBhvr>
                                        <p:cTn id="47" dur="500"/>
                                        <p:tgtEl>
                                          <p:spTgt spid="3333"/>
                                        </p:tgtEl>
                                      </p:cBhvr>
                                    </p:animEffect>
                                  </p:childTnLst>
                                </p:cTn>
                              </p:par>
                            </p:childTnLst>
                          </p:cTn>
                        </p:par>
                        <p:par>
                          <p:cTn id="48" fill="hold">
                            <p:stCondLst>
                              <p:cond delay="1500"/>
                            </p:stCondLst>
                            <p:childTnLst>
                              <p:par>
                                <p:cTn id="49" presetID="22" presetClass="entr" presetSubtype="8" fill="hold" nodeType="afterEffect">
                                  <p:stCondLst>
                                    <p:cond delay="0"/>
                                  </p:stCondLst>
                                  <p:childTnLst>
                                    <p:set>
                                      <p:cBhvr>
                                        <p:cTn id="50" dur="1" fill="hold">
                                          <p:stCondLst>
                                            <p:cond delay="0"/>
                                          </p:stCondLst>
                                        </p:cTn>
                                        <p:tgtEl>
                                          <p:spTgt spid="3176"/>
                                        </p:tgtEl>
                                        <p:attrNameLst>
                                          <p:attrName>style.visibility</p:attrName>
                                        </p:attrNameLst>
                                      </p:cBhvr>
                                      <p:to>
                                        <p:strVal val="visible"/>
                                      </p:to>
                                    </p:set>
                                    <p:animEffect transition="in" filter="wipe(left)">
                                      <p:cBhvr>
                                        <p:cTn id="51" dur="500"/>
                                        <p:tgtEl>
                                          <p:spTgt spid="3176"/>
                                        </p:tgtEl>
                                      </p:cBhvr>
                                    </p:animEffect>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334"/>
                                        </p:tgtEl>
                                        <p:attrNameLst>
                                          <p:attrName>style.visibility</p:attrName>
                                        </p:attrNameLst>
                                      </p:cBhvr>
                                      <p:to>
                                        <p:strVal val="visible"/>
                                      </p:to>
                                    </p:set>
                                    <p:animEffect transition="in" filter="fade">
                                      <p:cBhvr>
                                        <p:cTn id="56" dur="1000"/>
                                        <p:tgtEl>
                                          <p:spTgt spid="3334"/>
                                        </p:tgtEl>
                                      </p:cBhvr>
                                    </p:animEffect>
                                    <p:anim calcmode="lin" valueType="num">
                                      <p:cBhvr>
                                        <p:cTn id="57" dur="1000" fill="hold"/>
                                        <p:tgtEl>
                                          <p:spTgt spid="3334"/>
                                        </p:tgtEl>
                                        <p:attrNameLst>
                                          <p:attrName>ppt_x</p:attrName>
                                        </p:attrNameLst>
                                      </p:cBhvr>
                                      <p:tavLst>
                                        <p:tav tm="0">
                                          <p:val>
                                            <p:strVal val="#ppt_x"/>
                                          </p:val>
                                        </p:tav>
                                        <p:tav tm="100000">
                                          <p:val>
                                            <p:strVal val="#ppt_x"/>
                                          </p:val>
                                        </p:tav>
                                      </p:tavLst>
                                    </p:anim>
                                    <p:anim calcmode="lin" valueType="num">
                                      <p:cBhvr>
                                        <p:cTn id="58" dur="1000" fill="hold"/>
                                        <p:tgtEl>
                                          <p:spTgt spid="33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B483-62D8-32F5-9A27-1A2498E88A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C3B786-1281-D50B-473A-1A57FCDC7F34}"/>
              </a:ext>
            </a:extLst>
          </p:cNvPr>
          <p:cNvSpPr>
            <a:spLocks noGrp="1"/>
          </p:cNvSpPr>
          <p:nvPr>
            <p:ph type="title"/>
          </p:nvPr>
        </p:nvSpPr>
        <p:spPr>
          <a:xfrm>
            <a:off x="575481" y="599436"/>
            <a:ext cx="11018520" cy="553998"/>
          </a:xfrm>
        </p:spPr>
        <p:txBody>
          <a:bodyPr vert="horz" wrap="square" lIns="0" tIns="0" rIns="0" bIns="0" rtlCol="0" anchor="t">
            <a:normAutofit/>
          </a:bodyPr>
          <a:lstStyle/>
          <a:p>
            <a:r>
              <a:rPr lang="en-IN" b="1" dirty="0"/>
              <a:t> Token Governance</a:t>
            </a:r>
          </a:p>
        </p:txBody>
      </p:sp>
      <p:sp>
        <p:nvSpPr>
          <p:cNvPr id="4" name="Footer Placeholder 3">
            <a:extLst>
              <a:ext uri="{FF2B5EF4-FFF2-40B4-BE49-F238E27FC236}">
                <a16:creationId xmlns:a16="http://schemas.microsoft.com/office/drawing/2014/main" id="{7C369FB0-CF2A-149A-AFA8-78CB6BA2E76C}"/>
              </a:ext>
            </a:extLst>
          </p:cNvPr>
          <p:cNvSpPr>
            <a:spLocks noGrp="1"/>
          </p:cNvSpPr>
          <p:nvPr>
            <p:ph type="ftr" sz="quarter" idx="3"/>
          </p:nvPr>
        </p:nvSpPr>
        <p:spPr>
          <a:xfrm>
            <a:off x="4038600" y="6539518"/>
            <a:ext cx="4114800" cy="123111"/>
          </a:xfrm>
        </p:spPr>
        <p:txBody>
          <a:bodyPr vert="horz" lIns="0" tIns="0" rIns="0" bIns="0" rtlCol="0" anchor="ctr">
            <a:normAutofit/>
          </a:bodyPr>
          <a:lstStyle/>
          <a:p>
            <a:pPr>
              <a:spcAft>
                <a:spcPts val="600"/>
              </a:spcAft>
              <a:defRPr/>
            </a:pPr>
            <a:r>
              <a:rPr lang="en-US" kern="1200">
                <a:solidFill>
                  <a:srgbClr val="000000"/>
                </a:solidFill>
                <a:latin typeface="Segoe UI"/>
                <a:ea typeface="+mn-ea"/>
                <a:cs typeface="+mn-cs"/>
              </a:rPr>
              <a:t>Microsoft Confidential</a:t>
            </a:r>
          </a:p>
        </p:txBody>
      </p:sp>
      <p:sp>
        <p:nvSpPr>
          <p:cNvPr id="5" name="Slide Number Placeholder 4">
            <a:extLst>
              <a:ext uri="{FF2B5EF4-FFF2-40B4-BE49-F238E27FC236}">
                <a16:creationId xmlns:a16="http://schemas.microsoft.com/office/drawing/2014/main" id="{D4124CD3-18F7-0DA3-7BBC-712228A73267}"/>
              </a:ext>
            </a:extLst>
          </p:cNvPr>
          <p:cNvSpPr>
            <a:spLocks noGrp="1"/>
          </p:cNvSpPr>
          <p:nvPr>
            <p:ph type="sldNum" sz="quarter" idx="4"/>
          </p:nvPr>
        </p:nvSpPr>
        <p:spPr>
          <a:xfrm>
            <a:off x="11697272" y="6539518"/>
            <a:ext cx="404240" cy="123111"/>
          </a:xfrm>
        </p:spPr>
        <p:txBody>
          <a:bodyPr vert="horz" wrap="square" lIns="0" tIns="0" rIns="0" bIns="0" rtlCol="0" anchor="ctr">
            <a:normAutofit/>
          </a:bodyPr>
          <a:lstStyle/>
          <a:p>
            <a:pPr>
              <a:spcAft>
                <a:spcPts val="600"/>
              </a:spcAft>
              <a:defRPr/>
            </a:pPr>
            <a:fld id="{8F881BB8-5469-4299-99B9-578BE3320A80}" type="slidenum">
              <a:rPr lang="en-US" smtClean="0">
                <a:solidFill>
                  <a:srgbClr val="000000"/>
                </a:solidFill>
                <a:latin typeface="Segoe UI"/>
              </a:rPr>
              <a:pPr>
                <a:spcAft>
                  <a:spcPts val="600"/>
                </a:spcAft>
                <a:defRPr/>
              </a:pPr>
              <a:t>10</a:t>
            </a:fld>
            <a:endParaRPr lang="en-US">
              <a:solidFill>
                <a:srgbClr val="000000"/>
              </a:solidFill>
              <a:latin typeface="Segoe UI"/>
            </a:endParaRPr>
          </a:p>
        </p:txBody>
      </p:sp>
      <p:sp>
        <p:nvSpPr>
          <p:cNvPr id="7" name="TextBox 6">
            <a:extLst>
              <a:ext uri="{FF2B5EF4-FFF2-40B4-BE49-F238E27FC236}">
                <a16:creationId xmlns:a16="http://schemas.microsoft.com/office/drawing/2014/main" id="{71FCF8E8-0201-FC14-CBEF-A6660CB62EDF}"/>
              </a:ext>
            </a:extLst>
          </p:cNvPr>
          <p:cNvSpPr txBox="1"/>
          <p:nvPr/>
        </p:nvSpPr>
        <p:spPr>
          <a:xfrm>
            <a:off x="740979" y="1742090"/>
            <a:ext cx="10586545" cy="3077766"/>
          </a:xfrm>
          <a:prstGeom prst="rect">
            <a:avLst/>
          </a:prstGeom>
          <a:noFill/>
        </p:spPr>
        <p:txBody>
          <a:bodyPr wrap="square" lIns="0" tIns="0" rIns="0" bIns="0" rtlCol="0">
            <a:spAutoFit/>
          </a:bodyPr>
          <a:lstStyle/>
          <a:p>
            <a:r>
              <a:rPr lang="en-IN" b="1" dirty="0"/>
              <a:t>Token Rate Limiting</a:t>
            </a:r>
          </a:p>
          <a:p>
            <a:r>
              <a:rPr lang="en-IN" b="1" dirty="0"/>
              <a:t>Tokens-Per-Minute (TPM):</a:t>
            </a:r>
            <a:r>
              <a:rPr lang="en-IN" dirty="0"/>
              <a:t> Rate limit enforced per deployment</a:t>
            </a:r>
          </a:p>
          <a:p>
            <a:r>
              <a:rPr lang="en-IN" b="1" dirty="0"/>
              <a:t>Requests-Per-Minute (RPM):</a:t>
            </a:r>
            <a:r>
              <a:rPr lang="en-IN" dirty="0"/>
              <a:t> Proportional to TPM allocation</a:t>
            </a:r>
          </a:p>
          <a:p>
            <a:r>
              <a:rPr lang="en-IN" b="1" dirty="0"/>
              <a:t>Total Token Quota:</a:t>
            </a:r>
            <a:r>
              <a:rPr lang="en-IN" dirty="0"/>
              <a:t> Hourly, daily, weekly, monthly, or yearly caps</a:t>
            </a:r>
          </a:p>
          <a:p>
            <a:r>
              <a:rPr lang="en-IN" b="1" dirty="0"/>
              <a:t>Azure Implementation:</a:t>
            </a:r>
          </a:p>
          <a:p>
            <a:r>
              <a:rPr lang="en-IN" b="1" dirty="0"/>
              <a:t>Azure OpenAI Quota:</a:t>
            </a:r>
            <a:r>
              <a:rPr lang="en-IN" dirty="0"/>
              <a:t> Per-subscription, per-region, per-model TPM allocation</a:t>
            </a:r>
          </a:p>
          <a:p>
            <a:r>
              <a:rPr lang="en-IN" b="1" dirty="0"/>
              <a:t>AI Gateway (Azure API Management):</a:t>
            </a:r>
            <a:r>
              <a:rPr lang="en-IN" dirty="0"/>
              <a:t> Centralized token policies</a:t>
            </a:r>
          </a:p>
          <a:p>
            <a:r>
              <a:rPr lang="en-IN" b="1" dirty="0"/>
              <a:t>Foundry Control Plane:</a:t>
            </a:r>
            <a:r>
              <a:rPr lang="en-IN" dirty="0"/>
              <a:t> Project-level TPM and quota enforcement</a:t>
            </a:r>
          </a:p>
          <a:p>
            <a:endParaRPr lang="en-IN" dirty="0"/>
          </a:p>
          <a:p>
            <a:endParaRPr lang="en-IN" dirty="0"/>
          </a:p>
          <a:p>
            <a:pPr algn="l"/>
            <a:endParaRPr lang="en-IN" sz="2000" dirty="0" err="1"/>
          </a:p>
        </p:txBody>
      </p:sp>
    </p:spTree>
    <p:extLst>
      <p:ext uri="{BB962C8B-B14F-4D97-AF65-F5344CB8AC3E}">
        <p14:creationId xmlns:p14="http://schemas.microsoft.com/office/powerpoint/2010/main" val="243193740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75AEC-DB57-EC8A-38EE-60AFB6AA1C58}"/>
              </a:ext>
            </a:extLst>
          </p:cNvPr>
          <p:cNvSpPr>
            <a:spLocks noGrp="1"/>
          </p:cNvSpPr>
          <p:nvPr>
            <p:ph type="title"/>
          </p:nvPr>
        </p:nvSpPr>
        <p:spPr>
          <a:xfrm>
            <a:off x="575481" y="599436"/>
            <a:ext cx="11018520" cy="553998"/>
          </a:xfrm>
        </p:spPr>
        <p:txBody>
          <a:bodyPr wrap="square" anchor="t">
            <a:normAutofit/>
          </a:bodyPr>
          <a:lstStyle/>
          <a:p>
            <a:r>
              <a:rPr lang="en-GB" dirty="0"/>
              <a:t>Token Governance </a:t>
            </a:r>
            <a:r>
              <a:rPr lang="en-GB" err="1"/>
              <a:t>Cont'd</a:t>
            </a:r>
            <a:endParaRPr lang="en-IN" dirty="0"/>
          </a:p>
        </p:txBody>
      </p:sp>
      <p:sp>
        <p:nvSpPr>
          <p:cNvPr id="3" name="Footer Placeholder 2">
            <a:extLst>
              <a:ext uri="{FF2B5EF4-FFF2-40B4-BE49-F238E27FC236}">
                <a16:creationId xmlns:a16="http://schemas.microsoft.com/office/drawing/2014/main" id="{1665C758-C134-4817-6CDF-FEBDB9BA8C46}"/>
              </a:ext>
            </a:extLst>
          </p:cNvPr>
          <p:cNvSpPr>
            <a:spLocks noGrp="1"/>
          </p:cNvSpPr>
          <p:nvPr>
            <p:ph type="ftr" sz="quarter" idx="3"/>
          </p:nvPr>
        </p:nvSpPr>
        <p:spPr>
          <a:xfrm>
            <a:off x="4038600" y="6539518"/>
            <a:ext cx="4114800" cy="123111"/>
          </a:xfrm>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000000"/>
                </a:solidFill>
                <a:effectLst/>
                <a:uLnTx/>
                <a:uFillTx/>
              </a:rPr>
              <a:t>Microsoft Confidential</a:t>
            </a:r>
          </a:p>
        </p:txBody>
      </p:sp>
      <p:sp>
        <p:nvSpPr>
          <p:cNvPr id="4" name="Slide Number Placeholder 3">
            <a:extLst>
              <a:ext uri="{FF2B5EF4-FFF2-40B4-BE49-F238E27FC236}">
                <a16:creationId xmlns:a16="http://schemas.microsoft.com/office/drawing/2014/main" id="{DBDE3BD3-C6C5-6430-3A64-2B5F038BAF7D}"/>
              </a:ext>
            </a:extLst>
          </p:cNvPr>
          <p:cNvSpPr>
            <a:spLocks noGrp="1"/>
          </p:cNvSpPr>
          <p:nvPr>
            <p:ph type="sldNum" sz="quarter" idx="4"/>
          </p:nvPr>
        </p:nvSpPr>
        <p:spPr>
          <a:xfrm>
            <a:off x="11697272" y="6539518"/>
            <a:ext cx="404240" cy="123111"/>
          </a:xfrm>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000000"/>
                </a:solidFill>
                <a:effectLst/>
                <a:uLnTx/>
                <a:uFillTx/>
              </a:rPr>
              <a:pPr marL="0" marR="0" lvl="0" indent="0" defTabSz="914400" rtl="0" eaLnBrk="1" fontAlgn="auto" latinLnBrk="0" hangingPunct="1">
                <a:spcBef>
                  <a:spcPts val="0"/>
                </a:spcBef>
                <a:spcAft>
                  <a:spcPts val="600"/>
                </a:spcAft>
                <a:buClrTx/>
                <a:buSzTx/>
                <a:buFontTx/>
                <a:buNone/>
                <a:tabLst/>
                <a:defRPr/>
              </a:pPr>
              <a:t>11</a:t>
            </a:fld>
            <a:endParaRPr kumimoji="0" lang="en-US" b="0" i="0" u="none" strike="noStrike" kern="1200" cap="none" spc="0" normalizeH="0" baseline="0" noProof="0">
              <a:ln>
                <a:noFill/>
              </a:ln>
              <a:solidFill>
                <a:srgbClr val="000000"/>
              </a:solidFill>
              <a:effectLst/>
              <a:uLnTx/>
              <a:uFillTx/>
            </a:endParaRPr>
          </a:p>
        </p:txBody>
      </p:sp>
      <p:graphicFrame>
        <p:nvGraphicFramePr>
          <p:cNvPr id="7" name="Table 6">
            <a:extLst>
              <a:ext uri="{FF2B5EF4-FFF2-40B4-BE49-F238E27FC236}">
                <a16:creationId xmlns:a16="http://schemas.microsoft.com/office/drawing/2014/main" id="{ECF8BC2D-ED2A-C413-C067-93804FDD251E}"/>
              </a:ext>
            </a:extLst>
          </p:cNvPr>
          <p:cNvGraphicFramePr>
            <a:graphicFrameLocks noGrp="1"/>
          </p:cNvGraphicFramePr>
          <p:nvPr>
            <p:extLst>
              <p:ext uri="{D42A27DB-BD31-4B8C-83A1-F6EECF244321}">
                <p14:modId xmlns:p14="http://schemas.microsoft.com/office/powerpoint/2010/main" val="2602250349"/>
              </p:ext>
            </p:extLst>
          </p:nvPr>
        </p:nvGraphicFramePr>
        <p:xfrm>
          <a:off x="1300657" y="2396358"/>
          <a:ext cx="9467192" cy="3444764"/>
        </p:xfrm>
        <a:graphic>
          <a:graphicData uri="http://schemas.openxmlformats.org/drawingml/2006/table">
            <a:tbl>
              <a:tblPr firstRow="1" bandRow="1">
                <a:noFill/>
              </a:tblPr>
              <a:tblGrid>
                <a:gridCol w="3052897">
                  <a:extLst>
                    <a:ext uri="{9D8B030D-6E8A-4147-A177-3AD203B41FA5}">
                      <a16:colId xmlns:a16="http://schemas.microsoft.com/office/drawing/2014/main" val="3811209202"/>
                    </a:ext>
                  </a:extLst>
                </a:gridCol>
                <a:gridCol w="3659947">
                  <a:extLst>
                    <a:ext uri="{9D8B030D-6E8A-4147-A177-3AD203B41FA5}">
                      <a16:colId xmlns:a16="http://schemas.microsoft.com/office/drawing/2014/main" val="3182784803"/>
                    </a:ext>
                  </a:extLst>
                </a:gridCol>
                <a:gridCol w="2754348">
                  <a:extLst>
                    <a:ext uri="{9D8B030D-6E8A-4147-A177-3AD203B41FA5}">
                      <a16:colId xmlns:a16="http://schemas.microsoft.com/office/drawing/2014/main" val="956694480"/>
                    </a:ext>
                  </a:extLst>
                </a:gridCol>
              </a:tblGrid>
              <a:tr h="752796">
                <a:tc>
                  <a:txBody>
                    <a:bodyPr/>
                    <a:lstStyle/>
                    <a:p>
                      <a:pPr algn="l">
                        <a:buNone/>
                      </a:pPr>
                      <a:r>
                        <a:rPr lang="en-IN" sz="1700" b="1" cap="none" spc="0" dirty="0">
                          <a:solidFill>
                            <a:schemeClr val="bg1"/>
                          </a:solidFill>
                          <a:effectLst/>
                        </a:rPr>
                        <a:t>Level</a:t>
                      </a:r>
                    </a:p>
                  </a:txBody>
                  <a:tcPr marL="79125" marR="56518" marT="113036" marB="113036" anchor="ctr">
                    <a:lnL w="12700" cmpd="sng">
                      <a:noFill/>
                    </a:lnL>
                    <a:lnR w="12700" cmpd="sng">
                      <a:noFill/>
                    </a:lnR>
                    <a:lnT w="19050" cap="flat" cmpd="sng" algn="ctr">
                      <a:noFill/>
                      <a:prstDash val="solid"/>
                    </a:lnT>
                    <a:lnB w="38100" cmpd="sng">
                      <a:noFill/>
                    </a:lnB>
                    <a:solidFill>
                      <a:schemeClr val="tx1"/>
                    </a:solidFill>
                  </a:tcPr>
                </a:tc>
                <a:tc>
                  <a:txBody>
                    <a:bodyPr/>
                    <a:lstStyle/>
                    <a:p>
                      <a:pPr algn="l">
                        <a:buNone/>
                      </a:pPr>
                      <a:r>
                        <a:rPr lang="en-IN" sz="1700" b="1" cap="none" spc="0">
                          <a:solidFill>
                            <a:schemeClr val="bg1"/>
                          </a:solidFill>
                          <a:effectLst/>
                        </a:rPr>
                        <a:t>Mechanism</a:t>
                      </a:r>
                    </a:p>
                  </a:txBody>
                  <a:tcPr marL="79125" marR="56518" marT="113036" marB="113036" anchor="ctr">
                    <a:lnL w="12700" cmpd="sng">
                      <a:noFill/>
                    </a:lnL>
                    <a:lnR w="12700" cmpd="sng">
                      <a:noFill/>
                    </a:lnR>
                    <a:lnT w="19050" cap="flat" cmpd="sng" algn="ctr">
                      <a:noFill/>
                      <a:prstDash val="solid"/>
                    </a:lnT>
                    <a:lnB w="38100" cmpd="sng">
                      <a:noFill/>
                    </a:lnB>
                    <a:solidFill>
                      <a:schemeClr val="tx1"/>
                    </a:solidFill>
                  </a:tcPr>
                </a:tc>
                <a:tc>
                  <a:txBody>
                    <a:bodyPr/>
                    <a:lstStyle/>
                    <a:p>
                      <a:pPr algn="l">
                        <a:buNone/>
                      </a:pPr>
                      <a:r>
                        <a:rPr lang="en-IN" sz="1700" b="1" cap="none" spc="0">
                          <a:solidFill>
                            <a:schemeClr val="bg1"/>
                          </a:solidFill>
                          <a:effectLst/>
                        </a:rPr>
                        <a:t>Scope</a:t>
                      </a:r>
                    </a:p>
                  </a:txBody>
                  <a:tcPr marL="79125" marR="56518" marT="113036" marB="113036" anchor="ctr">
                    <a:lnL w="12700" cmpd="sng">
                      <a:noFill/>
                    </a:lnL>
                    <a:lnR w="12700" cmpd="sng">
                      <a:noFill/>
                    </a:lnR>
                    <a:lnT w="19050" cap="flat" cmpd="sng" algn="ctr">
                      <a:noFill/>
                      <a:prstDash val="solid"/>
                    </a:lnT>
                    <a:lnB w="38100" cmpd="sng">
                      <a:noFill/>
                    </a:lnB>
                    <a:solidFill>
                      <a:schemeClr val="tx1"/>
                    </a:solidFill>
                  </a:tcPr>
                </a:tc>
                <a:extLst>
                  <a:ext uri="{0D108BD9-81ED-4DB2-BD59-A6C34878D82A}">
                    <a16:rowId xmlns:a16="http://schemas.microsoft.com/office/drawing/2014/main" val="3718155637"/>
                  </a:ext>
                </a:extLst>
              </a:tr>
              <a:tr h="593471">
                <a:tc>
                  <a:txBody>
                    <a:bodyPr/>
                    <a:lstStyle/>
                    <a:p>
                      <a:pPr>
                        <a:buNone/>
                      </a:pPr>
                      <a:r>
                        <a:rPr lang="en-IN" sz="1500" cap="none" spc="0">
                          <a:solidFill>
                            <a:schemeClr val="tx1"/>
                          </a:solidFill>
                          <a:effectLst/>
                        </a:rPr>
                        <a:t>Model deployment</a:t>
                      </a:r>
                    </a:p>
                  </a:txBody>
                  <a:tcPr marL="79125" marR="56518" marT="37478" marB="113036" anchor="ctr">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a:buNone/>
                      </a:pPr>
                      <a:r>
                        <a:rPr lang="en-IN" sz="1500" cap="none" spc="0">
                          <a:solidFill>
                            <a:schemeClr val="tx1"/>
                          </a:solidFill>
                          <a:effectLst/>
                        </a:rPr>
                        <a:t>Azure OpenAI quota</a:t>
                      </a:r>
                    </a:p>
                  </a:txBody>
                  <a:tcPr marL="79125" marR="56518" marT="37478" marB="113036" anchor="ctr">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a:buNone/>
                      </a:pPr>
                      <a:r>
                        <a:rPr lang="en-IN" sz="1500" cap="none" spc="0">
                          <a:solidFill>
                            <a:schemeClr val="tx1"/>
                          </a:solidFill>
                          <a:effectLst/>
                        </a:rPr>
                        <a:t>Per-resource</a:t>
                      </a:r>
                    </a:p>
                  </a:txBody>
                  <a:tcPr marL="79125" marR="56518" marT="37478" marB="113036" anchor="ctr">
                    <a:lnL w="12700" cmpd="sng">
                      <a:noFill/>
                      <a:prstDash val="solid"/>
                    </a:lnL>
                    <a:lnR w="12700" cmpd="sng">
                      <a:noFill/>
                      <a:prstDash val="solid"/>
                    </a:lnR>
                    <a:lnT w="38100" cmpd="sng">
                      <a:noFill/>
                    </a:lnT>
                    <a:lnB w="12700" cap="flat" cmpd="sng" algn="ctr">
                      <a:solidFill>
                        <a:schemeClr val="tx1"/>
                      </a:solidFill>
                      <a:prstDash val="solid"/>
                    </a:lnB>
                    <a:noFill/>
                  </a:tcPr>
                </a:tc>
                <a:extLst>
                  <a:ext uri="{0D108BD9-81ED-4DB2-BD59-A6C34878D82A}">
                    <a16:rowId xmlns:a16="http://schemas.microsoft.com/office/drawing/2014/main" val="238870077"/>
                  </a:ext>
                </a:extLst>
              </a:tr>
              <a:tr h="911555">
                <a:tc>
                  <a:txBody>
                    <a:bodyPr/>
                    <a:lstStyle/>
                    <a:p>
                      <a:pPr>
                        <a:buNone/>
                      </a:pPr>
                      <a:r>
                        <a:rPr lang="en-IN" sz="1500" cap="none" spc="0">
                          <a:solidFill>
                            <a:schemeClr val="tx1"/>
                          </a:solidFill>
                          <a:effectLst/>
                        </a:rPr>
                        <a:t>API gateway</a:t>
                      </a:r>
                    </a:p>
                  </a:txBody>
                  <a:tcPr marL="79125" marR="56518" marT="37478" marB="113036"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buNone/>
                      </a:pPr>
                      <a:r>
                        <a:rPr lang="en-IN" sz="1500" cap="none" spc="0">
                          <a:solidFill>
                            <a:schemeClr val="tx1"/>
                          </a:solidFill>
                          <a:effectLst/>
                        </a:rPr>
                        <a:t>APIM token limit policy</a:t>
                      </a:r>
                    </a:p>
                  </a:txBody>
                  <a:tcPr marL="79125" marR="56518" marT="37478" marB="113036"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buNone/>
                      </a:pPr>
                      <a:r>
                        <a:rPr lang="en-IN" sz="1500" cap="none" spc="0">
                          <a:solidFill>
                            <a:schemeClr val="tx1"/>
                          </a:solidFill>
                          <a:effectLst/>
                        </a:rPr>
                        <a:t>Per-consumer/team</a:t>
                      </a:r>
                    </a:p>
                  </a:txBody>
                  <a:tcPr marL="79125" marR="56518" marT="37478" marB="113036"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3247409934"/>
                  </a:ext>
                </a:extLst>
              </a:tr>
              <a:tr h="593471">
                <a:tc>
                  <a:txBody>
                    <a:bodyPr/>
                    <a:lstStyle/>
                    <a:p>
                      <a:pPr>
                        <a:buNone/>
                      </a:pPr>
                      <a:r>
                        <a:rPr lang="en-IN" sz="1500" cap="none" spc="0">
                          <a:solidFill>
                            <a:schemeClr val="tx1"/>
                          </a:solidFill>
                          <a:effectLst/>
                        </a:rPr>
                        <a:t>Project</a:t>
                      </a:r>
                    </a:p>
                  </a:txBody>
                  <a:tcPr marL="79125" marR="56518" marT="37478" marB="113036"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buNone/>
                      </a:pPr>
                      <a:r>
                        <a:rPr lang="en-IN" sz="1500" cap="none" spc="0">
                          <a:solidFill>
                            <a:schemeClr val="tx1"/>
                          </a:solidFill>
                          <a:effectLst/>
                        </a:rPr>
                        <a:t>Foundry Control Plane</a:t>
                      </a:r>
                    </a:p>
                  </a:txBody>
                  <a:tcPr marL="79125" marR="56518" marT="37478" marB="113036"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buNone/>
                      </a:pPr>
                      <a:r>
                        <a:rPr lang="en-IN" sz="1500" cap="none" spc="0">
                          <a:solidFill>
                            <a:schemeClr val="tx1"/>
                          </a:solidFill>
                          <a:effectLst/>
                        </a:rPr>
                        <a:t>Per-project</a:t>
                      </a:r>
                    </a:p>
                  </a:txBody>
                  <a:tcPr marL="79125" marR="56518" marT="37478" marB="113036"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656724713"/>
                  </a:ext>
                </a:extLst>
              </a:tr>
              <a:tr h="593471">
                <a:tc>
                  <a:txBody>
                    <a:bodyPr/>
                    <a:lstStyle/>
                    <a:p>
                      <a:pPr>
                        <a:buNone/>
                      </a:pPr>
                      <a:r>
                        <a:rPr lang="en-IN" sz="1500" cap="none" spc="0">
                          <a:solidFill>
                            <a:schemeClr val="tx1"/>
                          </a:solidFill>
                          <a:effectLst/>
                        </a:rPr>
                        <a:t>Subscription</a:t>
                      </a:r>
                    </a:p>
                  </a:txBody>
                  <a:tcPr marL="79125" marR="56518" marT="37478" marB="113036"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buNone/>
                      </a:pPr>
                      <a:r>
                        <a:rPr lang="en-IN" sz="1500" cap="none" spc="0">
                          <a:solidFill>
                            <a:schemeClr val="tx1"/>
                          </a:solidFill>
                          <a:effectLst/>
                        </a:rPr>
                        <a:t>Azure Budget + Policy</a:t>
                      </a:r>
                    </a:p>
                  </a:txBody>
                  <a:tcPr marL="79125" marR="56518" marT="37478" marB="113036"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buNone/>
                      </a:pPr>
                      <a:r>
                        <a:rPr lang="en-IN" sz="1500" cap="none" spc="0" dirty="0">
                          <a:solidFill>
                            <a:schemeClr val="tx1"/>
                          </a:solidFill>
                          <a:effectLst/>
                        </a:rPr>
                        <a:t>Per-subscription</a:t>
                      </a:r>
                    </a:p>
                  </a:txBody>
                  <a:tcPr marL="79125" marR="56518" marT="37478" marB="113036"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813849601"/>
                  </a:ext>
                </a:extLst>
              </a:tr>
            </a:tbl>
          </a:graphicData>
        </a:graphic>
      </p:graphicFrame>
    </p:spTree>
    <p:extLst>
      <p:ext uri="{BB962C8B-B14F-4D97-AF65-F5344CB8AC3E}">
        <p14:creationId xmlns:p14="http://schemas.microsoft.com/office/powerpoint/2010/main" val="364127400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6ABD2-E176-83B6-2DF9-3E003968AB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689014-9ECD-9735-1B66-C502A01C66F8}"/>
              </a:ext>
            </a:extLst>
          </p:cNvPr>
          <p:cNvSpPr>
            <a:spLocks noGrp="1"/>
          </p:cNvSpPr>
          <p:nvPr>
            <p:ph type="title"/>
          </p:nvPr>
        </p:nvSpPr>
        <p:spPr>
          <a:xfrm>
            <a:off x="575481" y="599436"/>
            <a:ext cx="11018520" cy="553998"/>
          </a:xfrm>
        </p:spPr>
        <p:txBody>
          <a:bodyPr vert="horz" wrap="square" lIns="0" tIns="0" rIns="0" bIns="0" rtlCol="0" anchor="t">
            <a:normAutofit/>
          </a:bodyPr>
          <a:lstStyle/>
          <a:p>
            <a:r>
              <a:rPr lang="en-IN" b="1" dirty="0"/>
              <a:t> Throughput  Governance</a:t>
            </a:r>
          </a:p>
        </p:txBody>
      </p:sp>
      <p:sp>
        <p:nvSpPr>
          <p:cNvPr id="4" name="Footer Placeholder 3">
            <a:extLst>
              <a:ext uri="{FF2B5EF4-FFF2-40B4-BE49-F238E27FC236}">
                <a16:creationId xmlns:a16="http://schemas.microsoft.com/office/drawing/2014/main" id="{CC671A33-E567-47E9-1A84-831383A525D0}"/>
              </a:ext>
            </a:extLst>
          </p:cNvPr>
          <p:cNvSpPr>
            <a:spLocks noGrp="1"/>
          </p:cNvSpPr>
          <p:nvPr>
            <p:ph type="ftr" sz="quarter" idx="3"/>
          </p:nvPr>
        </p:nvSpPr>
        <p:spPr>
          <a:xfrm>
            <a:off x="4038600" y="6539518"/>
            <a:ext cx="4114800" cy="123111"/>
          </a:xfrm>
        </p:spPr>
        <p:txBody>
          <a:bodyPr vert="horz" lIns="0" tIns="0" rIns="0" bIns="0" rtlCol="0" anchor="ctr">
            <a:normAutofit/>
          </a:bodyPr>
          <a:lstStyle/>
          <a:p>
            <a:pPr>
              <a:spcAft>
                <a:spcPts val="600"/>
              </a:spcAft>
              <a:defRPr/>
            </a:pPr>
            <a:r>
              <a:rPr lang="en-US" kern="1200">
                <a:solidFill>
                  <a:srgbClr val="000000"/>
                </a:solidFill>
              </a:rPr>
              <a:t>Microsoft Confidential</a:t>
            </a:r>
          </a:p>
        </p:txBody>
      </p:sp>
      <p:sp>
        <p:nvSpPr>
          <p:cNvPr id="5" name="Slide Number Placeholder 4">
            <a:extLst>
              <a:ext uri="{FF2B5EF4-FFF2-40B4-BE49-F238E27FC236}">
                <a16:creationId xmlns:a16="http://schemas.microsoft.com/office/drawing/2014/main" id="{9242A814-8424-27BB-F240-C00B9A729993}"/>
              </a:ext>
            </a:extLst>
          </p:cNvPr>
          <p:cNvSpPr>
            <a:spLocks noGrp="1"/>
          </p:cNvSpPr>
          <p:nvPr>
            <p:ph type="sldNum" sz="quarter" idx="4"/>
          </p:nvPr>
        </p:nvSpPr>
        <p:spPr>
          <a:xfrm>
            <a:off x="11697272" y="6539518"/>
            <a:ext cx="404240" cy="123111"/>
          </a:xfrm>
        </p:spPr>
        <p:txBody>
          <a:bodyPr vert="horz" wrap="square" lIns="0" tIns="0" rIns="0" bIns="0" rtlCol="0" anchor="ctr">
            <a:normAutofit/>
          </a:bodyPr>
          <a:lstStyle/>
          <a:p>
            <a:pPr>
              <a:spcAft>
                <a:spcPts val="600"/>
              </a:spcAft>
              <a:defRPr/>
            </a:pPr>
            <a:fld id="{8F881BB8-5469-4299-99B9-578BE3320A80}" type="slidenum">
              <a:rPr lang="en-US" smtClean="0">
                <a:solidFill>
                  <a:srgbClr val="000000"/>
                </a:solidFill>
              </a:rPr>
              <a:pPr>
                <a:spcAft>
                  <a:spcPts val="600"/>
                </a:spcAft>
                <a:defRPr/>
              </a:pPr>
              <a:t>12</a:t>
            </a:fld>
            <a:endParaRPr lang="en-US">
              <a:solidFill>
                <a:srgbClr val="000000"/>
              </a:solidFill>
            </a:endParaRPr>
          </a:p>
        </p:txBody>
      </p:sp>
      <p:graphicFrame>
        <p:nvGraphicFramePr>
          <p:cNvPr id="3" name="Table 2">
            <a:extLst>
              <a:ext uri="{FF2B5EF4-FFF2-40B4-BE49-F238E27FC236}">
                <a16:creationId xmlns:a16="http://schemas.microsoft.com/office/drawing/2014/main" id="{568BCD65-D042-D5C0-E392-EB7535F2B29B}"/>
              </a:ext>
            </a:extLst>
          </p:cNvPr>
          <p:cNvGraphicFramePr>
            <a:graphicFrameLocks noGrp="1"/>
          </p:cNvGraphicFramePr>
          <p:nvPr>
            <p:extLst>
              <p:ext uri="{D42A27DB-BD31-4B8C-83A1-F6EECF244321}">
                <p14:modId xmlns:p14="http://schemas.microsoft.com/office/powerpoint/2010/main" val="2466690652"/>
              </p:ext>
            </p:extLst>
          </p:nvPr>
        </p:nvGraphicFramePr>
        <p:xfrm>
          <a:off x="1915511" y="2372709"/>
          <a:ext cx="9033642" cy="3338687"/>
        </p:xfrm>
        <a:graphic>
          <a:graphicData uri="http://schemas.openxmlformats.org/drawingml/2006/table">
            <a:tbl>
              <a:tblPr firstRow="1" bandRow="1">
                <a:solidFill>
                  <a:schemeClr val="bg1">
                    <a:lumMod val="95000"/>
                  </a:schemeClr>
                </a:solidFill>
                <a:tableStyleId>{8799B23B-EC83-4686-B30A-512413B5E67A}</a:tableStyleId>
              </a:tblPr>
              <a:tblGrid>
                <a:gridCol w="1776158">
                  <a:extLst>
                    <a:ext uri="{9D8B030D-6E8A-4147-A177-3AD203B41FA5}">
                      <a16:colId xmlns:a16="http://schemas.microsoft.com/office/drawing/2014/main" val="3208379367"/>
                    </a:ext>
                  </a:extLst>
                </a:gridCol>
                <a:gridCol w="3119034">
                  <a:extLst>
                    <a:ext uri="{9D8B030D-6E8A-4147-A177-3AD203B41FA5}">
                      <a16:colId xmlns:a16="http://schemas.microsoft.com/office/drawing/2014/main" val="3882420836"/>
                    </a:ext>
                  </a:extLst>
                </a:gridCol>
                <a:gridCol w="4138450">
                  <a:extLst>
                    <a:ext uri="{9D8B030D-6E8A-4147-A177-3AD203B41FA5}">
                      <a16:colId xmlns:a16="http://schemas.microsoft.com/office/drawing/2014/main" val="2606966622"/>
                    </a:ext>
                  </a:extLst>
                </a:gridCol>
              </a:tblGrid>
              <a:tr h="731362">
                <a:tc>
                  <a:txBody>
                    <a:bodyPr/>
                    <a:lstStyle/>
                    <a:p>
                      <a:pPr algn="l">
                        <a:buNone/>
                      </a:pPr>
                      <a:r>
                        <a:rPr lang="en-IN" sz="1700" b="1" cap="none" spc="0">
                          <a:solidFill>
                            <a:schemeClr val="tx1"/>
                          </a:solidFill>
                          <a:effectLst/>
                        </a:rPr>
                        <a:t>Aspect</a:t>
                      </a:r>
                    </a:p>
                  </a:txBody>
                  <a:tcPr marL="67705" marR="57533" marT="19344" marB="145083"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algn="l">
                        <a:buNone/>
                      </a:pPr>
                      <a:r>
                        <a:rPr lang="en-IN" sz="1700" b="1" cap="none" spc="0">
                          <a:solidFill>
                            <a:schemeClr val="tx1"/>
                          </a:solidFill>
                          <a:effectLst/>
                        </a:rPr>
                        <a:t>PAYG (Token-based)</a:t>
                      </a:r>
                    </a:p>
                  </a:txBody>
                  <a:tcPr marL="67705" marR="57533" marT="19344" marB="145083"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algn="l">
                        <a:buNone/>
                      </a:pPr>
                      <a:r>
                        <a:rPr lang="en-IN" sz="1700" b="1" cap="none" spc="0">
                          <a:solidFill>
                            <a:schemeClr val="tx1"/>
                          </a:solidFill>
                          <a:effectLst/>
                        </a:rPr>
                        <a:t>PTU (Capacity-based)</a:t>
                      </a:r>
                    </a:p>
                  </a:txBody>
                  <a:tcPr marL="67705" marR="57533" marT="19344" marB="145083" anchor="b">
                    <a:lnL w="12700" cmpd="sng">
                      <a:noFill/>
                    </a:lnL>
                    <a:lnR w="12700" cmpd="sng">
                      <a:noFill/>
                    </a:lnR>
                    <a:lnT w="9525" cap="flat" cmpd="sng" algn="ctr">
                      <a:noFill/>
                      <a:prstDash val="solid"/>
                    </a:lnT>
                    <a:lnB w="38100" cmpd="sng">
                      <a:noFill/>
                    </a:lnB>
                    <a:solidFill>
                      <a:schemeClr val="bg1">
                        <a:lumMod val="95000"/>
                      </a:schemeClr>
                    </a:solidFill>
                  </a:tcPr>
                </a:tc>
                <a:extLst>
                  <a:ext uri="{0D108BD9-81ED-4DB2-BD59-A6C34878D82A}">
                    <a16:rowId xmlns:a16="http://schemas.microsoft.com/office/drawing/2014/main" val="3218909070"/>
                  </a:ext>
                </a:extLst>
              </a:tr>
              <a:tr h="403397">
                <a:tc>
                  <a:txBody>
                    <a:bodyPr/>
                    <a:lstStyle/>
                    <a:p>
                      <a:pPr>
                        <a:buNone/>
                      </a:pPr>
                      <a:r>
                        <a:rPr lang="en-IN" sz="1300" cap="none" spc="0">
                          <a:solidFill>
                            <a:schemeClr val="tx1"/>
                          </a:solidFill>
                          <a:effectLst/>
                        </a:rPr>
                        <a:t>Billing</a:t>
                      </a:r>
                    </a:p>
                  </a:txBody>
                  <a:tcPr marL="67705" marR="57533" marT="19344" marB="145083" anchor="ctr">
                    <a:lnL w="12700" cap="flat" cmpd="sng" algn="ctr">
                      <a:solidFill>
                        <a:schemeClr val="accent1"/>
                      </a:solid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a:buNone/>
                      </a:pPr>
                      <a:r>
                        <a:rPr lang="en-IN" sz="1300" cap="none" spc="0">
                          <a:solidFill>
                            <a:schemeClr val="tx1"/>
                          </a:solidFill>
                          <a:effectLst/>
                        </a:rPr>
                        <a:t>Per token consumed</a:t>
                      </a:r>
                    </a:p>
                  </a:txBody>
                  <a:tcPr marL="67705" marR="57533" marT="19344" marB="145083" anchor="ctr">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a:buNone/>
                      </a:pPr>
                      <a:r>
                        <a:rPr lang="en-IN" sz="1300" cap="none" spc="0">
                          <a:solidFill>
                            <a:schemeClr val="tx1"/>
                          </a:solidFill>
                          <a:effectLst/>
                        </a:rPr>
                        <a:t>Per PTU-hour reserved</a:t>
                      </a:r>
                    </a:p>
                  </a:txBody>
                  <a:tcPr marL="67705" marR="57533" marT="19344" marB="145083" anchor="ctr">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extLst>
                  <a:ext uri="{0D108BD9-81ED-4DB2-BD59-A6C34878D82A}">
                    <a16:rowId xmlns:a16="http://schemas.microsoft.com/office/drawing/2014/main" val="4022203284"/>
                  </a:ext>
                </a:extLst>
              </a:tr>
              <a:tr h="600177">
                <a:tc>
                  <a:txBody>
                    <a:bodyPr/>
                    <a:lstStyle/>
                    <a:p>
                      <a:pPr>
                        <a:buNone/>
                      </a:pPr>
                      <a:r>
                        <a:rPr lang="en-IN" sz="1300" cap="none" spc="0">
                          <a:solidFill>
                            <a:schemeClr val="tx1"/>
                          </a:solidFill>
                          <a:effectLst/>
                        </a:rPr>
                        <a:t>Best for</a:t>
                      </a:r>
                    </a:p>
                  </a:txBody>
                  <a:tcPr marL="67705" marR="57533" marT="19344" marB="145083" anchor="ctr">
                    <a:lnL w="12700" cap="flat" cmpd="sng" algn="ctr">
                      <a:solidFill>
                        <a:schemeClr val="accent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buNone/>
                      </a:pPr>
                      <a:r>
                        <a:rPr lang="en-IN" sz="1300" cap="none" spc="0">
                          <a:solidFill>
                            <a:schemeClr val="tx1"/>
                          </a:solidFill>
                          <a:effectLst/>
                        </a:rPr>
                        <a:t>Variable/unpredictable load</a:t>
                      </a:r>
                    </a:p>
                  </a:txBody>
                  <a:tcPr marL="67705" marR="57533" marT="19344" marB="145083"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buNone/>
                      </a:pPr>
                      <a:r>
                        <a:rPr lang="en-IN" sz="1300" cap="none" spc="0">
                          <a:solidFill>
                            <a:schemeClr val="tx1"/>
                          </a:solidFill>
                          <a:effectLst/>
                        </a:rPr>
                        <a:t>Steady, high-throughput workloads</a:t>
                      </a:r>
                    </a:p>
                  </a:txBody>
                  <a:tcPr marL="67705" marR="57533" marT="19344" marB="145083"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2380772164"/>
                  </a:ext>
                </a:extLst>
              </a:tr>
              <a:tr h="600177">
                <a:tc>
                  <a:txBody>
                    <a:bodyPr/>
                    <a:lstStyle/>
                    <a:p>
                      <a:pPr>
                        <a:buNone/>
                      </a:pPr>
                      <a:r>
                        <a:rPr lang="en-IN" sz="1300" cap="none" spc="0">
                          <a:solidFill>
                            <a:schemeClr val="tx1"/>
                          </a:solidFill>
                          <a:effectLst/>
                        </a:rPr>
                        <a:t>Latency</a:t>
                      </a:r>
                    </a:p>
                  </a:txBody>
                  <a:tcPr marL="67705" marR="57533" marT="19344" marB="145083" anchor="ctr">
                    <a:lnL w="12700" cap="flat" cmpd="sng" algn="ctr">
                      <a:solidFill>
                        <a:schemeClr val="accent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buNone/>
                      </a:pPr>
                      <a:r>
                        <a:rPr lang="en-IN" sz="1300" cap="none" spc="0">
                          <a:solidFill>
                            <a:schemeClr val="tx1"/>
                          </a:solidFill>
                          <a:effectLst/>
                        </a:rPr>
                        <a:t>Shared capacity, variable</a:t>
                      </a:r>
                    </a:p>
                  </a:txBody>
                  <a:tcPr marL="67705" marR="57533" marT="19344" marB="145083"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buNone/>
                      </a:pPr>
                      <a:r>
                        <a:rPr lang="en-IN" sz="1300" cap="none" spc="0">
                          <a:solidFill>
                            <a:schemeClr val="tx1"/>
                          </a:solidFill>
                          <a:effectLst/>
                        </a:rPr>
                        <a:t>Dedicated capacity, predictable</a:t>
                      </a:r>
                    </a:p>
                  </a:txBody>
                  <a:tcPr marL="67705" marR="57533" marT="19344" marB="145083"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1019668296"/>
                  </a:ext>
                </a:extLst>
              </a:tr>
              <a:tr h="403397">
                <a:tc>
                  <a:txBody>
                    <a:bodyPr/>
                    <a:lstStyle/>
                    <a:p>
                      <a:pPr>
                        <a:buNone/>
                      </a:pPr>
                      <a:r>
                        <a:rPr lang="en-IN" sz="1300" cap="none" spc="0">
                          <a:solidFill>
                            <a:schemeClr val="tx1"/>
                          </a:solidFill>
                          <a:effectLst/>
                        </a:rPr>
                        <a:t>Cost control</a:t>
                      </a:r>
                    </a:p>
                  </a:txBody>
                  <a:tcPr marL="67705" marR="57533" marT="19344" marB="145083" anchor="ctr">
                    <a:lnL w="12700" cap="flat" cmpd="sng" algn="ctr">
                      <a:solidFill>
                        <a:schemeClr val="accent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buNone/>
                      </a:pPr>
                      <a:r>
                        <a:rPr lang="en-IN" sz="1300" cap="none" spc="0">
                          <a:solidFill>
                            <a:schemeClr val="tx1"/>
                          </a:solidFill>
                          <a:effectLst/>
                        </a:rPr>
                        <a:t>Hard to predict</a:t>
                      </a:r>
                    </a:p>
                  </a:txBody>
                  <a:tcPr marL="67705" marR="57533" marT="19344" marB="145083"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buNone/>
                      </a:pPr>
                      <a:r>
                        <a:rPr lang="en-IN" sz="1300" cap="none" spc="0">
                          <a:solidFill>
                            <a:schemeClr val="tx1"/>
                          </a:solidFill>
                          <a:effectLst/>
                        </a:rPr>
                        <a:t>Fixed monthly cost</a:t>
                      </a:r>
                    </a:p>
                  </a:txBody>
                  <a:tcPr marL="67705" marR="57533" marT="19344" marB="145083"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2405720267"/>
                  </a:ext>
                </a:extLst>
              </a:tr>
              <a:tr h="600177">
                <a:tc>
                  <a:txBody>
                    <a:bodyPr/>
                    <a:lstStyle/>
                    <a:p>
                      <a:pPr>
                        <a:buNone/>
                      </a:pPr>
                      <a:r>
                        <a:rPr lang="en-IN" sz="1300" cap="none" spc="0">
                          <a:solidFill>
                            <a:schemeClr val="tx1"/>
                          </a:solidFill>
                          <a:effectLst/>
                        </a:rPr>
                        <a:t>Risk</a:t>
                      </a:r>
                    </a:p>
                  </a:txBody>
                  <a:tcPr marL="67705" marR="57533" marT="19344" marB="145083" anchor="ctr">
                    <a:lnL w="12700" cap="flat" cmpd="sng" algn="ctr">
                      <a:solidFill>
                        <a:schemeClr val="accent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IN" sz="1300" cap="none" spc="0">
                          <a:solidFill>
                            <a:schemeClr val="tx1"/>
                          </a:solidFill>
                          <a:effectLst/>
                        </a:rPr>
                        <a:t>Token explosion = cost explosion</a:t>
                      </a:r>
                    </a:p>
                  </a:txBody>
                  <a:tcPr marL="67705" marR="57533" marT="19344" marB="14508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IN" sz="1300" cap="none" spc="0" dirty="0">
                          <a:solidFill>
                            <a:schemeClr val="tx1"/>
                          </a:solidFill>
                          <a:effectLst/>
                        </a:rPr>
                        <a:t>Over-provisioning = waste</a:t>
                      </a:r>
                    </a:p>
                  </a:txBody>
                  <a:tcPr marL="67705" marR="57533" marT="19344" marB="14508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952850443"/>
                  </a:ext>
                </a:extLst>
              </a:tr>
            </a:tbl>
          </a:graphicData>
        </a:graphic>
      </p:graphicFrame>
    </p:spTree>
    <p:extLst>
      <p:ext uri="{BB962C8B-B14F-4D97-AF65-F5344CB8AC3E}">
        <p14:creationId xmlns:p14="http://schemas.microsoft.com/office/powerpoint/2010/main" val="147903796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6ABD2-E176-83B6-2DF9-3E003968AB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689014-9ECD-9735-1B66-C502A01C66F8}"/>
              </a:ext>
            </a:extLst>
          </p:cNvPr>
          <p:cNvSpPr>
            <a:spLocks noGrp="1"/>
          </p:cNvSpPr>
          <p:nvPr>
            <p:ph type="title"/>
          </p:nvPr>
        </p:nvSpPr>
        <p:spPr>
          <a:xfrm>
            <a:off x="575481" y="599436"/>
            <a:ext cx="11018520" cy="553998"/>
          </a:xfrm>
        </p:spPr>
        <p:txBody>
          <a:bodyPr vert="horz" wrap="square" lIns="0" tIns="0" rIns="0" bIns="0" rtlCol="0" anchor="t">
            <a:normAutofit/>
          </a:bodyPr>
          <a:lstStyle/>
          <a:p>
            <a:r>
              <a:rPr lang="en-IN" b="1"/>
              <a:t> PAYG vs. PTU Decision Flowchart</a:t>
            </a:r>
          </a:p>
        </p:txBody>
      </p:sp>
      <p:sp>
        <p:nvSpPr>
          <p:cNvPr id="4" name="Footer Placeholder 3">
            <a:extLst>
              <a:ext uri="{FF2B5EF4-FFF2-40B4-BE49-F238E27FC236}">
                <a16:creationId xmlns:a16="http://schemas.microsoft.com/office/drawing/2014/main" id="{CC671A33-E567-47E9-1A84-831383A525D0}"/>
              </a:ext>
            </a:extLst>
          </p:cNvPr>
          <p:cNvSpPr>
            <a:spLocks noGrp="1"/>
          </p:cNvSpPr>
          <p:nvPr>
            <p:ph type="ftr" sz="quarter" idx="3"/>
          </p:nvPr>
        </p:nvSpPr>
        <p:spPr>
          <a:xfrm>
            <a:off x="4038600" y="6539518"/>
            <a:ext cx="4114800" cy="123111"/>
          </a:xfrm>
        </p:spPr>
        <p:txBody>
          <a:bodyPr vert="horz" lIns="0" tIns="0" rIns="0" bIns="0" rtlCol="0" anchor="ctr">
            <a:normAutofit/>
          </a:bodyPr>
          <a:lstStyle/>
          <a:p>
            <a:pPr>
              <a:spcAft>
                <a:spcPts val="600"/>
              </a:spcAft>
              <a:defRPr/>
            </a:pPr>
            <a:r>
              <a:rPr lang="en-US" kern="1200">
                <a:solidFill>
                  <a:srgbClr val="000000"/>
                </a:solidFill>
              </a:rPr>
              <a:t>Microsoft Confidential</a:t>
            </a:r>
          </a:p>
        </p:txBody>
      </p:sp>
      <p:sp>
        <p:nvSpPr>
          <p:cNvPr id="5" name="Slide Number Placeholder 4">
            <a:extLst>
              <a:ext uri="{FF2B5EF4-FFF2-40B4-BE49-F238E27FC236}">
                <a16:creationId xmlns:a16="http://schemas.microsoft.com/office/drawing/2014/main" id="{9242A814-8424-27BB-F240-C00B9A729993}"/>
              </a:ext>
            </a:extLst>
          </p:cNvPr>
          <p:cNvSpPr>
            <a:spLocks noGrp="1"/>
          </p:cNvSpPr>
          <p:nvPr>
            <p:ph type="sldNum" sz="quarter" idx="4"/>
          </p:nvPr>
        </p:nvSpPr>
        <p:spPr>
          <a:xfrm>
            <a:off x="11697272" y="6539518"/>
            <a:ext cx="404240" cy="123111"/>
          </a:xfrm>
        </p:spPr>
        <p:txBody>
          <a:bodyPr vert="horz" wrap="square" lIns="0" tIns="0" rIns="0" bIns="0" rtlCol="0" anchor="ctr">
            <a:normAutofit/>
          </a:bodyPr>
          <a:lstStyle/>
          <a:p>
            <a:pPr>
              <a:spcAft>
                <a:spcPts val="600"/>
              </a:spcAft>
              <a:defRPr/>
            </a:pPr>
            <a:fld id="{8F881BB8-5469-4299-99B9-578BE3320A80}" type="slidenum">
              <a:rPr lang="en-US" smtClean="0">
                <a:solidFill>
                  <a:srgbClr val="000000"/>
                </a:solidFill>
              </a:rPr>
              <a:pPr>
                <a:spcAft>
                  <a:spcPts val="600"/>
                </a:spcAft>
                <a:defRPr/>
              </a:pPr>
              <a:t>13</a:t>
            </a:fld>
            <a:endParaRPr lang="en-US">
              <a:solidFill>
                <a:srgbClr val="000000"/>
              </a:solidFill>
            </a:endParaRPr>
          </a:p>
        </p:txBody>
      </p:sp>
      <p:sp>
        <p:nvSpPr>
          <p:cNvPr id="100" name="Start"/>
          <p:cNvSpPr/>
          <p:nvPr/>
        </p:nvSpPr>
        <p:spPr>
          <a:xfrm>
            <a:off x="4200000" y="1400000"/>
            <a:ext cx="3800000" cy="500000"/>
          </a:xfrm>
          <a:prstGeom prst="roundRect">
            <a:avLst>
              <a:gd name="adj" fmla="val 16667"/>
            </a:avLst>
          </a:prstGeom>
          <a:solidFill>
            <a:srgbClr val="0078D4"/>
          </a:solidFill>
          <a:ln w="12700">
            <a:noFill/>
          </a:ln>
        </p:spPr>
        <p:txBody>
          <a:bodyPr wrap="square" lIns="91440" rIns="91440" anchor="ctr">
            <a:normAutofit/>
          </a:bodyPr>
          <a:lstStyle/>
          <a:p>
            <a:pPr algn="ctr"/>
            <a:r>
              <a:rPr lang="en-US" sz="1200" b="1">
                <a:solidFill>
                  <a:srgbClr val="FFFFFF"/>
                </a:solidFill>
              </a:rPr>
              <a:t>Assess Azure OpenAI Workload</a:t>
            </a:r>
          </a:p>
        </p:txBody>
      </p:sp>
      <p:cxnSp>
        <p:nvCxnSpPr>
          <p:cNvPr id="110" name="Arrow1"/>
          <p:cNvCxnSpPr/>
          <p:nvPr/>
        </p:nvCxnSpPr>
        <p:spPr>
          <a:xfrm>
            <a:off x="6100000" y="1900000"/>
            <a:ext cx="0" cy="300000"/>
          </a:xfrm>
          <a:prstGeom prst="straightConnector1">
            <a:avLst/>
          </a:prstGeom>
          <a:ln w="19050">
            <a:solidFill>
              <a:srgbClr val="333333"/>
            </a:solidFill>
            <a:tailEnd type="triangle"/>
          </a:ln>
        </p:spPr>
      </p:cxnSp>
      <p:sp>
        <p:nvSpPr>
          <p:cNvPr id="101" name="Decision1"/>
          <p:cNvSpPr/>
          <p:nvPr/>
        </p:nvSpPr>
        <p:spPr>
          <a:xfrm>
            <a:off x="3700000" y="2200000"/>
            <a:ext cx="4800000" cy="700000"/>
          </a:xfrm>
          <a:prstGeom prst="diamond">
            <a:avLst/>
          </a:prstGeom>
          <a:solidFill>
            <a:srgbClr val="FFB900"/>
          </a:solidFill>
          <a:ln w="12700">
            <a:noFill/>
          </a:ln>
        </p:spPr>
        <p:txBody>
          <a:bodyPr wrap="square" lIns="457200" rIns="457200" anchor="ctr">
            <a:normAutofit fontScale="85000" lnSpcReduction="10000"/>
          </a:bodyPr>
          <a:lstStyle/>
          <a:p>
            <a:pPr algn="ctr"/>
            <a:r>
              <a:rPr lang="en-US" sz="1000" b="1">
                <a:solidFill>
                  <a:srgbClr val="000000"/>
                </a:solidFill>
              </a:rPr>
              <a:t>Sustained usage &gt; 300K TPM?</a:t>
            </a:r>
          </a:p>
        </p:txBody>
      </p:sp>
      <p:cxnSp>
        <p:nvCxnSpPr>
          <p:cNvPr id="111" name="ArrowYes1"/>
          <p:cNvCxnSpPr/>
          <p:nvPr/>
        </p:nvCxnSpPr>
        <p:spPr>
          <a:xfrm flipH="1">
            <a:off x="2200000" y="2550000"/>
            <a:ext cx="1500000" cy="550000"/>
          </a:xfrm>
          <a:prstGeom prst="straightConnector1">
            <a:avLst/>
          </a:prstGeom>
          <a:ln w="19050">
            <a:solidFill>
              <a:srgbClr val="107C10"/>
            </a:solidFill>
            <a:tailEnd type="triangle"/>
          </a:ln>
        </p:spPr>
      </p:cxnSp>
      <p:sp>
        <p:nvSpPr>
          <p:cNvPr id="120" name="YesLabel1"/>
          <p:cNvSpPr/>
          <p:nvPr/>
        </p:nvSpPr>
        <p:spPr>
          <a:xfrm>
            <a:off x="2900000" y="2775000"/>
            <a:ext cx="600000" cy="300000"/>
          </a:xfrm>
          <a:prstGeom prst="rect">
            <a:avLst/>
          </a:prstGeom>
          <a:noFill/>
          <a:ln>
            <a:noFill/>
          </a:ln>
        </p:spPr>
        <p:txBody>
          <a:bodyPr wrap="square" anchor="ctr">
            <a:normAutofit/>
          </a:bodyPr>
          <a:lstStyle/>
          <a:p>
            <a:pPr algn="ctr"/>
            <a:r>
              <a:rPr lang="en-US" sz="900" b="1" dirty="0">
                <a:solidFill>
                  <a:srgbClr val="107C10"/>
                </a:solidFill>
              </a:rPr>
              <a:t>YES</a:t>
            </a:r>
          </a:p>
        </p:txBody>
      </p:sp>
      <p:cxnSp>
        <p:nvCxnSpPr>
          <p:cNvPr id="112" name="ArrowNo1"/>
          <p:cNvCxnSpPr/>
          <p:nvPr/>
        </p:nvCxnSpPr>
        <p:spPr>
          <a:xfrm>
            <a:off x="8500000" y="2550000"/>
            <a:ext cx="1500000" cy="550000"/>
          </a:xfrm>
          <a:prstGeom prst="straightConnector1">
            <a:avLst/>
          </a:prstGeom>
          <a:ln w="19050">
            <a:solidFill>
              <a:srgbClr val="D83B01"/>
            </a:solidFill>
            <a:tailEnd type="triangle"/>
          </a:ln>
        </p:spPr>
      </p:cxnSp>
      <p:sp>
        <p:nvSpPr>
          <p:cNvPr id="121" name="NoLabel1"/>
          <p:cNvSpPr/>
          <p:nvPr/>
        </p:nvSpPr>
        <p:spPr>
          <a:xfrm>
            <a:off x="8750000" y="2775000"/>
            <a:ext cx="500000" cy="300000"/>
          </a:xfrm>
          <a:prstGeom prst="rect">
            <a:avLst/>
          </a:prstGeom>
          <a:noFill/>
          <a:ln>
            <a:noFill/>
          </a:ln>
        </p:spPr>
        <p:txBody>
          <a:bodyPr wrap="square" anchor="ctr">
            <a:normAutofit/>
          </a:bodyPr>
          <a:lstStyle/>
          <a:p>
            <a:pPr algn="ctr"/>
            <a:r>
              <a:rPr lang="en-US" sz="900" b="1" dirty="0">
                <a:solidFill>
                  <a:srgbClr val="D83B01"/>
                </a:solidFill>
              </a:rPr>
              <a:t>NO</a:t>
            </a:r>
          </a:p>
        </p:txBody>
      </p:sp>
      <p:sp>
        <p:nvSpPr>
          <p:cNvPr id="102" name="Decision2"/>
          <p:cNvSpPr/>
          <p:nvPr/>
        </p:nvSpPr>
        <p:spPr>
          <a:xfrm>
            <a:off x="200000" y="3100000"/>
            <a:ext cx="4000000" cy="700000"/>
          </a:xfrm>
          <a:prstGeom prst="diamond">
            <a:avLst/>
          </a:prstGeom>
          <a:solidFill>
            <a:srgbClr val="FFB900"/>
          </a:solidFill>
          <a:ln w="12700">
            <a:noFill/>
          </a:ln>
        </p:spPr>
        <p:txBody>
          <a:bodyPr wrap="square" lIns="457200" rIns="457200" anchor="ctr">
            <a:normAutofit fontScale="92000" lnSpcReduction="10000"/>
          </a:bodyPr>
          <a:lstStyle/>
          <a:p>
            <a:pPr algn="ctr"/>
            <a:r>
              <a:rPr lang="en-US" sz="1000" b="1">
                <a:solidFill>
                  <a:srgbClr val="000000"/>
                </a:solidFill>
              </a:rPr>
              <a:t>Predictable, steady throughput?</a:t>
            </a:r>
          </a:p>
        </p:txBody>
      </p:sp>
      <p:cxnSp>
        <p:nvCxnSpPr>
          <p:cNvPr id="113" name="ArrowYes2"/>
          <p:cNvCxnSpPr/>
          <p:nvPr/>
        </p:nvCxnSpPr>
        <p:spPr>
          <a:xfrm>
            <a:off x="1100000" y="3800000"/>
            <a:ext cx="0" cy="400000"/>
          </a:xfrm>
          <a:prstGeom prst="straightConnector1">
            <a:avLst/>
          </a:prstGeom>
          <a:ln w="19050">
            <a:solidFill>
              <a:srgbClr val="107C10"/>
            </a:solidFill>
            <a:tailEnd type="triangle"/>
          </a:ln>
        </p:spPr>
      </p:cxnSp>
      <p:sp>
        <p:nvSpPr>
          <p:cNvPr id="122" name="YesLabel2"/>
          <p:cNvSpPr/>
          <p:nvPr/>
        </p:nvSpPr>
        <p:spPr>
          <a:xfrm>
            <a:off x="500000" y="3850000"/>
            <a:ext cx="600000" cy="300000"/>
          </a:xfrm>
          <a:prstGeom prst="rect">
            <a:avLst/>
          </a:prstGeom>
          <a:noFill/>
          <a:ln>
            <a:noFill/>
          </a:ln>
        </p:spPr>
        <p:txBody>
          <a:bodyPr wrap="square" anchor="ctr">
            <a:normAutofit/>
          </a:bodyPr>
          <a:lstStyle/>
          <a:p>
            <a:pPr algn="ctr"/>
            <a:r>
              <a:rPr lang="en-US" sz="900" b="1">
                <a:solidFill>
                  <a:srgbClr val="107C10"/>
                </a:solidFill>
              </a:rPr>
              <a:t>YES</a:t>
            </a:r>
          </a:p>
        </p:txBody>
      </p:sp>
      <p:cxnSp>
        <p:nvCxnSpPr>
          <p:cNvPr id="114" name="ArrowNo2"/>
          <p:cNvCxnSpPr/>
          <p:nvPr/>
        </p:nvCxnSpPr>
        <p:spPr>
          <a:xfrm>
            <a:off x="3100000" y="3800000"/>
            <a:ext cx="0" cy="400000"/>
          </a:xfrm>
          <a:prstGeom prst="straightConnector1">
            <a:avLst/>
          </a:prstGeom>
          <a:ln w="19050">
            <a:solidFill>
              <a:srgbClr val="D83B01"/>
            </a:solidFill>
            <a:tailEnd type="triangle"/>
          </a:ln>
        </p:spPr>
      </p:cxnSp>
      <p:sp>
        <p:nvSpPr>
          <p:cNvPr id="123" name="NoLabel2"/>
          <p:cNvSpPr/>
          <p:nvPr/>
        </p:nvSpPr>
        <p:spPr>
          <a:xfrm>
            <a:off x="3200000" y="3850000"/>
            <a:ext cx="500000" cy="300000"/>
          </a:xfrm>
          <a:prstGeom prst="rect">
            <a:avLst/>
          </a:prstGeom>
          <a:noFill/>
          <a:ln>
            <a:noFill/>
          </a:ln>
        </p:spPr>
        <p:txBody>
          <a:bodyPr wrap="square" anchor="ctr">
            <a:normAutofit/>
          </a:bodyPr>
          <a:lstStyle/>
          <a:p>
            <a:pPr algn="ctr"/>
            <a:r>
              <a:rPr lang="en-US" sz="900" b="1">
                <a:solidFill>
                  <a:srgbClr val="D83B01"/>
                </a:solidFill>
              </a:rPr>
              <a:t>NO</a:t>
            </a:r>
          </a:p>
        </p:txBody>
      </p:sp>
      <p:sp>
        <p:nvSpPr>
          <p:cNvPr id="103" name="PTU Box"/>
          <p:cNvSpPr/>
          <p:nvPr/>
        </p:nvSpPr>
        <p:spPr>
          <a:xfrm>
            <a:off x="200000" y="4200000"/>
            <a:ext cx="1800000" cy="700000"/>
          </a:xfrm>
          <a:prstGeom prst="roundRect">
            <a:avLst>
              <a:gd name="adj" fmla="val 16667"/>
            </a:avLst>
          </a:prstGeom>
          <a:solidFill>
            <a:srgbClr val="107C10"/>
          </a:solidFill>
          <a:ln w="12700">
            <a:noFill/>
          </a:ln>
        </p:spPr>
        <p:txBody>
          <a:bodyPr wrap="square" lIns="91440" rIns="91440" anchor="ctr">
            <a:normAutofit/>
          </a:bodyPr>
          <a:lstStyle/>
          <a:p>
            <a:pPr algn="ctr"/>
            <a:r>
              <a:rPr lang="en-US" sz="1100" b="1">
                <a:solidFill>
                  <a:srgbClr val="FFFFFF"/>
                </a:solidFill>
              </a:rPr>
              <a:t>Use PTU</a:t>
            </a:r>
          </a:p>
          <a:p>
            <a:pPr algn="ctr"/>
            <a:r>
              <a:rPr lang="en-US" sz="800">
                <a:solidFill>
                  <a:srgbClr val="FFFFFF"/>
                </a:solidFill>
              </a:rPr>
              <a:t>Fixed cost, dedicated capacity</a:t>
            </a:r>
          </a:p>
        </p:txBody>
      </p:sp>
      <p:sp>
        <p:nvSpPr>
          <p:cNvPr id="104" name="PAYG Monitor Box"/>
          <p:cNvSpPr/>
          <p:nvPr/>
        </p:nvSpPr>
        <p:spPr>
          <a:xfrm>
            <a:off x="2200000" y="4200000"/>
            <a:ext cx="1800000" cy="700000"/>
          </a:xfrm>
          <a:prstGeom prst="roundRect">
            <a:avLst>
              <a:gd name="adj" fmla="val 16667"/>
            </a:avLst>
          </a:prstGeom>
          <a:solidFill>
            <a:srgbClr val="0078D4"/>
          </a:solidFill>
          <a:ln w="12700">
            <a:noFill/>
          </a:ln>
        </p:spPr>
        <p:txBody>
          <a:bodyPr wrap="square" lIns="91440" rIns="91440" anchor="ctr">
            <a:normAutofit/>
          </a:bodyPr>
          <a:lstStyle/>
          <a:p>
            <a:pPr algn="ctr"/>
            <a:r>
              <a:rPr lang="en-US" sz="1100" b="1">
                <a:solidFill>
                  <a:srgbClr val="FFFFFF"/>
                </a:solidFill>
              </a:rPr>
              <a:t>PAYG + Monitoring</a:t>
            </a:r>
          </a:p>
          <a:p>
            <a:pPr algn="ctr"/>
            <a:r>
              <a:rPr lang="en-US" sz="800">
                <a:solidFill>
                  <a:srgbClr val="FFFFFF"/>
                </a:solidFill>
              </a:rPr>
              <a:t>Budget alerts, evaluate PTU later</a:t>
            </a:r>
          </a:p>
        </p:txBody>
      </p:sp>
      <p:sp>
        <p:nvSpPr>
          <p:cNvPr id="105" name="Decision3"/>
          <p:cNvSpPr/>
          <p:nvPr/>
        </p:nvSpPr>
        <p:spPr>
          <a:xfrm>
            <a:off x="8000000" y="3100000"/>
            <a:ext cx="4000000" cy="700000"/>
          </a:xfrm>
          <a:prstGeom prst="diamond">
            <a:avLst/>
          </a:prstGeom>
          <a:solidFill>
            <a:srgbClr val="FFB900"/>
          </a:solidFill>
          <a:ln w="12700">
            <a:noFill/>
          </a:ln>
        </p:spPr>
        <p:txBody>
          <a:bodyPr wrap="square" lIns="457200" rIns="457200" anchor="ctr">
            <a:normAutofit fontScale="85000" lnSpcReduction="10000"/>
          </a:bodyPr>
          <a:lstStyle/>
          <a:p>
            <a:pPr algn="ctr"/>
            <a:r>
              <a:rPr lang="en-US" sz="1000" b="1">
                <a:solidFill>
                  <a:srgbClr val="000000"/>
                </a:solidFill>
              </a:rPr>
              <a:t>Latency-sensitive production?</a:t>
            </a:r>
          </a:p>
        </p:txBody>
      </p:sp>
      <p:cxnSp>
        <p:nvCxnSpPr>
          <p:cNvPr id="115" name="ArrowYes3"/>
          <p:cNvCxnSpPr/>
          <p:nvPr/>
        </p:nvCxnSpPr>
        <p:spPr>
          <a:xfrm>
            <a:off x="9000000" y="3800000"/>
            <a:ext cx="0" cy="400000"/>
          </a:xfrm>
          <a:prstGeom prst="straightConnector1">
            <a:avLst/>
          </a:prstGeom>
          <a:ln w="19050">
            <a:solidFill>
              <a:srgbClr val="107C10"/>
            </a:solidFill>
            <a:tailEnd type="triangle"/>
          </a:ln>
        </p:spPr>
      </p:cxnSp>
      <p:sp>
        <p:nvSpPr>
          <p:cNvPr id="124" name="YesLabel3"/>
          <p:cNvSpPr/>
          <p:nvPr/>
        </p:nvSpPr>
        <p:spPr>
          <a:xfrm>
            <a:off x="8400000" y="3850000"/>
            <a:ext cx="600000" cy="300000"/>
          </a:xfrm>
          <a:prstGeom prst="rect">
            <a:avLst/>
          </a:prstGeom>
          <a:noFill/>
          <a:ln>
            <a:noFill/>
          </a:ln>
        </p:spPr>
        <p:txBody>
          <a:bodyPr wrap="square" anchor="ctr">
            <a:normAutofit/>
          </a:bodyPr>
          <a:lstStyle/>
          <a:p>
            <a:pPr algn="ctr"/>
            <a:r>
              <a:rPr lang="en-US" sz="900" b="1">
                <a:solidFill>
                  <a:srgbClr val="107C10"/>
                </a:solidFill>
              </a:rPr>
              <a:t>YES</a:t>
            </a:r>
          </a:p>
        </p:txBody>
      </p:sp>
      <p:cxnSp>
        <p:nvCxnSpPr>
          <p:cNvPr id="116" name="ArrowNo3"/>
          <p:cNvCxnSpPr/>
          <p:nvPr/>
        </p:nvCxnSpPr>
        <p:spPr>
          <a:xfrm>
            <a:off x="11000000" y="3800000"/>
            <a:ext cx="0" cy="400000"/>
          </a:xfrm>
          <a:prstGeom prst="straightConnector1">
            <a:avLst/>
          </a:prstGeom>
          <a:ln w="19050">
            <a:solidFill>
              <a:srgbClr val="D83B01"/>
            </a:solidFill>
            <a:tailEnd type="triangle"/>
          </a:ln>
        </p:spPr>
      </p:cxnSp>
      <p:sp>
        <p:nvSpPr>
          <p:cNvPr id="125" name="NoLabel3"/>
          <p:cNvSpPr/>
          <p:nvPr/>
        </p:nvSpPr>
        <p:spPr>
          <a:xfrm>
            <a:off x="11100000" y="3850000"/>
            <a:ext cx="500000" cy="300000"/>
          </a:xfrm>
          <a:prstGeom prst="rect">
            <a:avLst/>
          </a:prstGeom>
          <a:noFill/>
          <a:ln>
            <a:noFill/>
          </a:ln>
        </p:spPr>
        <p:txBody>
          <a:bodyPr wrap="square" anchor="ctr">
            <a:normAutofit/>
          </a:bodyPr>
          <a:lstStyle/>
          <a:p>
            <a:pPr algn="ctr"/>
            <a:r>
              <a:rPr lang="en-US" sz="900" b="1">
                <a:solidFill>
                  <a:srgbClr val="D83B01"/>
                </a:solidFill>
              </a:rPr>
              <a:t>NO</a:t>
            </a:r>
          </a:p>
        </p:txBody>
      </p:sp>
      <p:sp>
        <p:nvSpPr>
          <p:cNvPr id="106" name="Hybrid Box"/>
          <p:cNvSpPr/>
          <p:nvPr/>
        </p:nvSpPr>
        <p:spPr>
          <a:xfrm>
            <a:off x="8000000" y="4200000"/>
            <a:ext cx="2000000" cy="700000"/>
          </a:xfrm>
          <a:prstGeom prst="roundRect">
            <a:avLst>
              <a:gd name="adj" fmla="val 16667"/>
            </a:avLst>
          </a:prstGeom>
          <a:solidFill>
            <a:srgbClr val="8661C5"/>
          </a:solidFill>
          <a:ln w="12700">
            <a:noFill/>
          </a:ln>
        </p:spPr>
        <p:txBody>
          <a:bodyPr wrap="square" lIns="91440" rIns="91440" anchor="ctr">
            <a:normAutofit/>
          </a:bodyPr>
          <a:lstStyle/>
          <a:p>
            <a:pPr algn="ctr"/>
            <a:r>
              <a:rPr lang="en-US" sz="1100" b="1">
                <a:solidFill>
                  <a:srgbClr val="FFFFFF"/>
                </a:solidFill>
              </a:rPr>
              <a:t>PTU + PAYG Hybrid</a:t>
            </a:r>
          </a:p>
          <a:p>
            <a:pPr algn="ctr"/>
            <a:r>
              <a:rPr lang="en-US" sz="800">
                <a:solidFill>
                  <a:srgbClr val="FFFFFF"/>
                </a:solidFill>
              </a:rPr>
              <a:t>PTU baseline + PAYG for burst</a:t>
            </a:r>
          </a:p>
        </p:txBody>
      </p:sp>
      <p:sp>
        <p:nvSpPr>
          <p:cNvPr id="107" name="PAYG Box"/>
          <p:cNvSpPr/>
          <p:nvPr/>
        </p:nvSpPr>
        <p:spPr>
          <a:xfrm>
            <a:off x="10200000" y="4200000"/>
            <a:ext cx="1800000" cy="700000"/>
          </a:xfrm>
          <a:prstGeom prst="roundRect">
            <a:avLst>
              <a:gd name="adj" fmla="val 16667"/>
            </a:avLst>
          </a:prstGeom>
          <a:solidFill>
            <a:srgbClr val="0078D4"/>
          </a:solidFill>
          <a:ln w="12700">
            <a:noFill/>
          </a:ln>
        </p:spPr>
        <p:txBody>
          <a:bodyPr wrap="square" lIns="91440" rIns="91440" anchor="ctr">
            <a:normAutofit/>
          </a:bodyPr>
          <a:lstStyle/>
          <a:p>
            <a:pPr algn="ctr"/>
            <a:r>
              <a:rPr lang="en-US" sz="1100" b="1">
                <a:solidFill>
                  <a:srgbClr val="FFFFFF"/>
                </a:solidFill>
              </a:rPr>
              <a:t>Use PAYG</a:t>
            </a:r>
          </a:p>
          <a:p>
            <a:pPr algn="ctr"/>
            <a:r>
              <a:rPr lang="en-US" sz="800">
                <a:solidFill>
                  <a:srgbClr val="FFFFFF"/>
                </a:solidFill>
              </a:rPr>
              <a:t>Flexible, pay per token</a:t>
            </a:r>
          </a:p>
        </p:txBody>
      </p:sp>
      <p:sp>
        <p:nvSpPr>
          <p:cNvPr id="130" name="Legend"/>
          <p:cNvSpPr txBox="1"/>
          <p:nvPr/>
        </p:nvSpPr>
        <p:spPr>
          <a:xfrm>
            <a:off x="384741" y="5439518"/>
            <a:ext cx="11400000" cy="1100000"/>
          </a:xfrm>
          <a:prstGeom prst="roundRect">
            <a:avLst>
              <a:gd name="adj" fmla="val 8333"/>
            </a:avLst>
          </a:prstGeom>
          <a:solidFill>
            <a:srgbClr val="F3F3F3"/>
          </a:solidFill>
          <a:ln w="12700">
            <a:solidFill>
              <a:srgbClr val="D1D1D1"/>
            </a:solidFill>
          </a:ln>
        </p:spPr>
        <p:txBody>
          <a:bodyPr wrap="square" lIns="137160" tIns="91440" rIns="137160" bIns="91440" anchor="t">
            <a:normAutofit/>
          </a:bodyPr>
          <a:lstStyle/>
          <a:p>
            <a:r>
              <a:rPr lang="en-US" sz="900" b="1">
                <a:solidFill>
                  <a:srgbClr val="333333"/>
                </a:solidFill>
              </a:rPr>
              <a:t>Key Considerations</a:t>
            </a:r>
          </a:p>
          <a:p>
            <a:r>
              <a:rPr lang="en-US" sz="800">
                <a:solidFill>
                  <a:srgbClr val="333333"/>
                </a:solidFill>
              </a:rPr>
              <a:t>▸ PTU: Best when sustained &gt; 300K TPM with predictable patterns. Provides fixed monthly cost and dedicated, low-latency capacity.</a:t>
            </a:r>
          </a:p>
          <a:p>
            <a:r>
              <a:rPr lang="en-US" sz="800">
                <a:solidFill>
                  <a:srgbClr val="333333"/>
                </a:solidFill>
              </a:rPr>
              <a:t>▸ PAYG: Best for variable, bursty, or early-stage workloads. No upfront commitment but cost can spike with token explosions.</a:t>
            </a:r>
          </a:p>
          <a:p>
            <a:r>
              <a:rPr lang="en-US" sz="800">
                <a:solidFill>
                  <a:srgbClr val="333333"/>
                </a:solidFill>
              </a:rPr>
              <a:t>▸ Hybrid: Use PTU for baseline steady-state traffic and PAYG for overflow/burst. Balances cost predictability with flexibility.</a:t>
            </a:r>
          </a:p>
          <a:p>
            <a:endParaRPr lang="en-US" sz="200"/>
          </a:p>
          <a:p>
            <a:r>
              <a:rPr lang="en-US" sz="700" i="1">
                <a:solidFill>
                  <a:srgbClr val="666666"/>
                </a:solidFill>
              </a:rPr>
              <a:t>References: [1] Provisioned Throughput Billing – learn.microsoft.com/en-us/azure/foundry/openai/concepts/provisioned-throughput-billing  |  [2] Azure OpenAI Pricing – azure.microsoft.com/en-us/pricing/details/azure-openai  |  [3] PTU Sizing Guide – learn.microsoft.com/en-us/azure/foundry/openai/how-to/provisioned-throughput-sizing</a:t>
            </a:r>
          </a:p>
        </p:txBody>
      </p:sp>
    </p:spTree>
    <p:extLst>
      <p:ext uri="{BB962C8B-B14F-4D97-AF65-F5344CB8AC3E}">
        <p14:creationId xmlns:p14="http://schemas.microsoft.com/office/powerpoint/2010/main" val="147903796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FAC66-02C3-02D9-432B-34A60267E7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430778-4D5C-F1F7-04A7-F5CEE5C40537}"/>
              </a:ext>
            </a:extLst>
          </p:cNvPr>
          <p:cNvSpPr>
            <a:spLocks noGrp="1"/>
          </p:cNvSpPr>
          <p:nvPr>
            <p:ph type="title"/>
          </p:nvPr>
        </p:nvSpPr>
        <p:spPr>
          <a:xfrm>
            <a:off x="575481" y="599436"/>
            <a:ext cx="11018520" cy="553998"/>
          </a:xfrm>
        </p:spPr>
        <p:txBody>
          <a:bodyPr vert="horz" wrap="square" lIns="0" tIns="0" rIns="0" bIns="0" rtlCol="0" anchor="t">
            <a:normAutofit/>
          </a:bodyPr>
          <a:lstStyle/>
          <a:p>
            <a:r>
              <a:rPr lang="en-IN" b="1" dirty="0"/>
              <a:t> Concurrency  Governance</a:t>
            </a:r>
          </a:p>
        </p:txBody>
      </p:sp>
      <p:sp>
        <p:nvSpPr>
          <p:cNvPr id="4" name="Footer Placeholder 3">
            <a:extLst>
              <a:ext uri="{FF2B5EF4-FFF2-40B4-BE49-F238E27FC236}">
                <a16:creationId xmlns:a16="http://schemas.microsoft.com/office/drawing/2014/main" id="{8C32899C-0EBE-33BA-0425-3F8C47DF3859}"/>
              </a:ext>
            </a:extLst>
          </p:cNvPr>
          <p:cNvSpPr>
            <a:spLocks noGrp="1"/>
          </p:cNvSpPr>
          <p:nvPr>
            <p:ph type="ftr" sz="quarter" idx="3"/>
          </p:nvPr>
        </p:nvSpPr>
        <p:spPr>
          <a:xfrm>
            <a:off x="4038600" y="6539518"/>
            <a:ext cx="4114800" cy="123111"/>
          </a:xfrm>
        </p:spPr>
        <p:txBody>
          <a:bodyPr vert="horz" lIns="0" tIns="0" rIns="0" bIns="0" rtlCol="0" anchor="ctr">
            <a:normAutofit/>
          </a:bodyPr>
          <a:lstStyle/>
          <a:p>
            <a:pPr>
              <a:spcAft>
                <a:spcPts val="600"/>
              </a:spcAft>
              <a:defRPr/>
            </a:pPr>
            <a:r>
              <a:rPr lang="en-US" kern="1200">
                <a:solidFill>
                  <a:srgbClr val="000000"/>
                </a:solidFill>
              </a:rPr>
              <a:t>Microsoft Confidential</a:t>
            </a:r>
          </a:p>
        </p:txBody>
      </p:sp>
      <p:sp>
        <p:nvSpPr>
          <p:cNvPr id="5" name="Slide Number Placeholder 4">
            <a:extLst>
              <a:ext uri="{FF2B5EF4-FFF2-40B4-BE49-F238E27FC236}">
                <a16:creationId xmlns:a16="http://schemas.microsoft.com/office/drawing/2014/main" id="{5F895C91-E44F-3387-0B16-8431F01EC6D9}"/>
              </a:ext>
            </a:extLst>
          </p:cNvPr>
          <p:cNvSpPr>
            <a:spLocks noGrp="1"/>
          </p:cNvSpPr>
          <p:nvPr>
            <p:ph type="sldNum" sz="quarter" idx="4"/>
          </p:nvPr>
        </p:nvSpPr>
        <p:spPr>
          <a:xfrm>
            <a:off x="11697272" y="6539518"/>
            <a:ext cx="404240" cy="123111"/>
          </a:xfrm>
        </p:spPr>
        <p:txBody>
          <a:bodyPr vert="horz" wrap="square" lIns="0" tIns="0" rIns="0" bIns="0" rtlCol="0" anchor="ctr">
            <a:normAutofit/>
          </a:bodyPr>
          <a:lstStyle/>
          <a:p>
            <a:pPr>
              <a:spcAft>
                <a:spcPts val="600"/>
              </a:spcAft>
              <a:defRPr/>
            </a:pPr>
            <a:fld id="{8F881BB8-5469-4299-99B9-578BE3320A80}" type="slidenum">
              <a:rPr lang="en-US" smtClean="0">
                <a:solidFill>
                  <a:srgbClr val="000000"/>
                </a:solidFill>
              </a:rPr>
              <a:pPr>
                <a:spcAft>
                  <a:spcPts val="600"/>
                </a:spcAft>
                <a:defRPr/>
              </a:pPr>
              <a:t>14</a:t>
            </a:fld>
            <a:endParaRPr lang="en-US">
              <a:solidFill>
                <a:srgbClr val="000000"/>
              </a:solidFill>
            </a:endParaRPr>
          </a:p>
        </p:txBody>
      </p:sp>
      <p:graphicFrame>
        <p:nvGraphicFramePr>
          <p:cNvPr id="6" name="Table 5">
            <a:extLst>
              <a:ext uri="{FF2B5EF4-FFF2-40B4-BE49-F238E27FC236}">
                <a16:creationId xmlns:a16="http://schemas.microsoft.com/office/drawing/2014/main" id="{C472642C-5658-8116-C324-69244206079E}"/>
              </a:ext>
            </a:extLst>
          </p:cNvPr>
          <p:cNvGraphicFramePr>
            <a:graphicFrameLocks noGrp="1"/>
          </p:cNvGraphicFramePr>
          <p:nvPr>
            <p:extLst>
              <p:ext uri="{D42A27DB-BD31-4B8C-83A1-F6EECF244321}">
                <p14:modId xmlns:p14="http://schemas.microsoft.com/office/powerpoint/2010/main" val="2516359241"/>
              </p:ext>
            </p:extLst>
          </p:nvPr>
        </p:nvGraphicFramePr>
        <p:xfrm>
          <a:off x="1292772" y="2380593"/>
          <a:ext cx="10327730" cy="3459277"/>
        </p:xfrm>
        <a:graphic>
          <a:graphicData uri="http://schemas.openxmlformats.org/drawingml/2006/table">
            <a:tbl>
              <a:tblPr firstRow="1" bandRow="1">
                <a:noFill/>
              </a:tblPr>
              <a:tblGrid>
                <a:gridCol w="3404954">
                  <a:extLst>
                    <a:ext uri="{9D8B030D-6E8A-4147-A177-3AD203B41FA5}">
                      <a16:colId xmlns:a16="http://schemas.microsoft.com/office/drawing/2014/main" val="787351137"/>
                    </a:ext>
                  </a:extLst>
                </a:gridCol>
                <a:gridCol w="3334008">
                  <a:extLst>
                    <a:ext uri="{9D8B030D-6E8A-4147-A177-3AD203B41FA5}">
                      <a16:colId xmlns:a16="http://schemas.microsoft.com/office/drawing/2014/main" val="3529252900"/>
                    </a:ext>
                  </a:extLst>
                </a:gridCol>
                <a:gridCol w="3588768">
                  <a:extLst>
                    <a:ext uri="{9D8B030D-6E8A-4147-A177-3AD203B41FA5}">
                      <a16:colId xmlns:a16="http://schemas.microsoft.com/office/drawing/2014/main" val="813493860"/>
                    </a:ext>
                  </a:extLst>
                </a:gridCol>
              </a:tblGrid>
              <a:tr h="406974">
                <a:tc>
                  <a:txBody>
                    <a:bodyPr/>
                    <a:lstStyle/>
                    <a:p>
                      <a:pPr algn="l">
                        <a:buNone/>
                      </a:pPr>
                      <a:r>
                        <a:rPr lang="en-IN" sz="1500" b="0" cap="none" spc="0">
                          <a:solidFill>
                            <a:schemeClr val="tx1"/>
                          </a:solidFill>
                          <a:effectLst/>
                        </a:rPr>
                        <a:t>Control</a:t>
                      </a:r>
                    </a:p>
                  </a:txBody>
                  <a:tcPr marL="55663" marR="55663" marT="70512" marB="70512" anchor="ctr">
                    <a:lnL w="12700" cmpd="sng">
                      <a:noFill/>
                    </a:lnL>
                    <a:lnR w="12700" cmpd="sng">
                      <a:noFill/>
                    </a:lnR>
                    <a:lnT w="28575" cap="flat" cmpd="sng" algn="ctr">
                      <a:solidFill>
                        <a:schemeClr val="tx1"/>
                      </a:solidFill>
                      <a:prstDash val="solid"/>
                    </a:lnT>
                    <a:lnB w="38100" cmpd="sng">
                      <a:noFill/>
                    </a:lnB>
                    <a:noFill/>
                  </a:tcPr>
                </a:tc>
                <a:tc>
                  <a:txBody>
                    <a:bodyPr/>
                    <a:lstStyle/>
                    <a:p>
                      <a:pPr algn="l">
                        <a:buNone/>
                      </a:pPr>
                      <a:r>
                        <a:rPr lang="en-IN" sz="1500" b="0" cap="none" spc="0">
                          <a:solidFill>
                            <a:schemeClr val="tx1"/>
                          </a:solidFill>
                          <a:effectLst/>
                        </a:rPr>
                        <a:t>Tool</a:t>
                      </a:r>
                    </a:p>
                  </a:txBody>
                  <a:tcPr marL="55663" marR="55663" marT="70512" marB="70512" anchor="ctr">
                    <a:lnL w="12700" cmpd="sng">
                      <a:noFill/>
                    </a:lnL>
                    <a:lnR w="12700" cmpd="sng">
                      <a:noFill/>
                    </a:lnR>
                    <a:lnT w="28575" cap="flat" cmpd="sng" algn="ctr">
                      <a:solidFill>
                        <a:schemeClr val="tx1"/>
                      </a:solidFill>
                      <a:prstDash val="solid"/>
                    </a:lnT>
                    <a:lnB w="38100" cmpd="sng">
                      <a:noFill/>
                    </a:lnB>
                    <a:noFill/>
                  </a:tcPr>
                </a:tc>
                <a:tc>
                  <a:txBody>
                    <a:bodyPr/>
                    <a:lstStyle/>
                    <a:p>
                      <a:pPr algn="l">
                        <a:buNone/>
                      </a:pPr>
                      <a:r>
                        <a:rPr lang="en-IN" sz="1500" b="0" cap="none" spc="0">
                          <a:solidFill>
                            <a:schemeClr val="tx1"/>
                          </a:solidFill>
                          <a:effectLst/>
                        </a:rPr>
                        <a:t>Description</a:t>
                      </a:r>
                    </a:p>
                  </a:txBody>
                  <a:tcPr marL="55663" marR="55663" marT="70512" marB="70512" anchor="ctr">
                    <a:lnL w="12700" cmpd="sng">
                      <a:noFill/>
                    </a:lnL>
                    <a:lnR w="12700" cmpd="sng">
                      <a:noFill/>
                    </a:lnR>
                    <a:lnT w="28575" cap="flat" cmpd="sng" algn="ctr">
                      <a:solidFill>
                        <a:schemeClr val="tx1"/>
                      </a:solidFill>
                      <a:prstDash val="solid"/>
                    </a:lnT>
                    <a:lnB w="38100" cmpd="sng">
                      <a:noFill/>
                    </a:lnB>
                    <a:noFill/>
                  </a:tcPr>
                </a:tc>
                <a:extLst>
                  <a:ext uri="{0D108BD9-81ED-4DB2-BD59-A6C34878D82A}">
                    <a16:rowId xmlns:a16="http://schemas.microsoft.com/office/drawing/2014/main" val="1590140755"/>
                  </a:ext>
                </a:extLst>
              </a:tr>
              <a:tr h="636717">
                <a:tc>
                  <a:txBody>
                    <a:bodyPr/>
                    <a:lstStyle/>
                    <a:p>
                      <a:pPr>
                        <a:buNone/>
                      </a:pPr>
                      <a:r>
                        <a:rPr lang="en-IN" sz="1500" cap="none" spc="0">
                          <a:solidFill>
                            <a:schemeClr val="tx1"/>
                          </a:solidFill>
                          <a:effectLst/>
                        </a:rPr>
                        <a:t>Per-consumer throttling</a:t>
                      </a:r>
                    </a:p>
                  </a:txBody>
                  <a:tcPr marL="55663" marR="55663" marT="70512" marB="70512" anchor="ctr">
                    <a:lnL w="28575" cap="flat" cmpd="sng" algn="ctr">
                      <a:noFill/>
                      <a:prstDash val="solid"/>
                    </a:lnL>
                    <a:lnR w="12700" cmpd="sng">
                      <a:noFill/>
                      <a:prstDash val="solid"/>
                    </a:lnR>
                    <a:lnT w="38100" cmpd="sng">
                      <a:noFill/>
                    </a:lnT>
                    <a:lnB w="12700" cap="flat" cmpd="sng" algn="ctr">
                      <a:noFill/>
                      <a:prstDash val="solid"/>
                    </a:lnB>
                    <a:noFill/>
                  </a:tcPr>
                </a:tc>
                <a:tc>
                  <a:txBody>
                    <a:bodyPr/>
                    <a:lstStyle/>
                    <a:p>
                      <a:pPr>
                        <a:buNone/>
                      </a:pPr>
                      <a:r>
                        <a:rPr lang="en-IN" sz="1500" cap="none" spc="0">
                          <a:solidFill>
                            <a:schemeClr val="tx1"/>
                          </a:solidFill>
                          <a:effectLst/>
                        </a:rPr>
                        <a:t>APIM rate-limit-by-key</a:t>
                      </a:r>
                    </a:p>
                  </a:txBody>
                  <a:tcPr marL="55663" marR="55663" marT="70512" marB="70512" anchor="ctr">
                    <a:lnL w="12700" cmpd="sng">
                      <a:noFill/>
                      <a:prstDash val="solid"/>
                    </a:lnL>
                    <a:lnR w="12700" cmpd="sng">
                      <a:noFill/>
                      <a:prstDash val="solid"/>
                    </a:lnR>
                    <a:lnT w="38100" cmpd="sng">
                      <a:noFill/>
                    </a:lnT>
                    <a:lnB w="12700" cap="flat" cmpd="sng" algn="ctr">
                      <a:noFill/>
                      <a:prstDash val="solid"/>
                    </a:lnB>
                    <a:noFill/>
                  </a:tcPr>
                </a:tc>
                <a:tc>
                  <a:txBody>
                    <a:bodyPr/>
                    <a:lstStyle/>
                    <a:p>
                      <a:pPr>
                        <a:buNone/>
                      </a:pPr>
                      <a:r>
                        <a:rPr lang="en-GB" sz="1500" cap="none" spc="0">
                          <a:solidFill>
                            <a:schemeClr val="tx1"/>
                          </a:solidFill>
                          <a:effectLst/>
                        </a:rPr>
                        <a:t>Limit RPM/TPM per API key</a:t>
                      </a:r>
                    </a:p>
                  </a:txBody>
                  <a:tcPr marL="55663" marR="55663" marT="70512" marB="70512" anchor="ctr">
                    <a:lnL w="12700" cmpd="sng">
                      <a:noFill/>
                      <a:prstDash val="solid"/>
                    </a:lnL>
                    <a:lnR w="28575" cap="flat" cmpd="sng" algn="ctr">
                      <a:noFill/>
                      <a:prstDash val="solid"/>
                    </a:lnR>
                    <a:lnT w="38100" cmpd="sng">
                      <a:noFill/>
                    </a:lnT>
                    <a:lnB w="12700" cap="flat" cmpd="sng" algn="ctr">
                      <a:noFill/>
                      <a:prstDash val="solid"/>
                    </a:lnB>
                    <a:noFill/>
                  </a:tcPr>
                </a:tc>
                <a:extLst>
                  <a:ext uri="{0D108BD9-81ED-4DB2-BD59-A6C34878D82A}">
                    <a16:rowId xmlns:a16="http://schemas.microsoft.com/office/drawing/2014/main" val="2017226348"/>
                  </a:ext>
                </a:extLst>
              </a:tr>
              <a:tr h="571076">
                <a:tc>
                  <a:txBody>
                    <a:bodyPr/>
                    <a:lstStyle/>
                    <a:p>
                      <a:pPr>
                        <a:buNone/>
                      </a:pPr>
                      <a:r>
                        <a:rPr lang="en-IN" sz="1300" cap="none" spc="0">
                          <a:solidFill>
                            <a:schemeClr val="tx1"/>
                          </a:solidFill>
                          <a:effectLst/>
                        </a:rPr>
                        <a:t>Per-project caps</a:t>
                      </a:r>
                    </a:p>
                  </a:txBody>
                  <a:tcPr marL="55663" marR="55663" marT="70512" marB="7051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IN" sz="1300" cap="none" spc="0">
                          <a:solidFill>
                            <a:schemeClr val="tx1"/>
                          </a:solidFill>
                          <a:effectLst/>
                        </a:rPr>
                        <a:t>Foundry AI Gateway</a:t>
                      </a:r>
                    </a:p>
                  </a:txBody>
                  <a:tcPr marL="55663" marR="55663" marT="70512" marB="7051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IN" sz="1300" cap="none" spc="0">
                          <a:solidFill>
                            <a:schemeClr val="tx1"/>
                          </a:solidFill>
                          <a:effectLst/>
                        </a:rPr>
                        <a:t>Token containment per project</a:t>
                      </a:r>
                    </a:p>
                  </a:txBody>
                  <a:tcPr marL="55663" marR="55663" marT="70512" marB="7051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234526876"/>
                  </a:ext>
                </a:extLst>
              </a:tr>
              <a:tr h="636717">
                <a:tc>
                  <a:txBody>
                    <a:bodyPr/>
                    <a:lstStyle/>
                    <a:p>
                      <a:pPr>
                        <a:buNone/>
                      </a:pPr>
                      <a:r>
                        <a:rPr lang="en-IN" sz="1500" cap="none" spc="0">
                          <a:solidFill>
                            <a:schemeClr val="tx1"/>
                          </a:solidFill>
                          <a:effectLst/>
                        </a:rPr>
                        <a:t>Per-agent budgets</a:t>
                      </a:r>
                    </a:p>
                  </a:txBody>
                  <a:tcPr marL="55663" marR="55663" marT="70512" marB="70512" anchor="ctr">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IN" sz="1500" cap="none" spc="0">
                          <a:solidFill>
                            <a:schemeClr val="tx1"/>
                          </a:solidFill>
                          <a:effectLst/>
                        </a:rPr>
                        <a:t>Application code</a:t>
                      </a:r>
                    </a:p>
                  </a:txBody>
                  <a:tcPr marL="55663" marR="55663" marT="70512" marB="70512"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IN" sz="1500" cap="none" spc="0">
                          <a:solidFill>
                            <a:schemeClr val="tx1"/>
                          </a:solidFill>
                          <a:effectLst/>
                        </a:rPr>
                        <a:t>Max tokens per agent execution</a:t>
                      </a:r>
                    </a:p>
                  </a:txBody>
                  <a:tcPr marL="55663" marR="55663" marT="70512" marB="70512" anchor="ctr">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846914036"/>
                  </a:ext>
                </a:extLst>
              </a:tr>
              <a:tr h="571076">
                <a:tc>
                  <a:txBody>
                    <a:bodyPr/>
                    <a:lstStyle/>
                    <a:p>
                      <a:pPr>
                        <a:buNone/>
                      </a:pPr>
                      <a:r>
                        <a:rPr lang="en-IN" sz="1300" cap="none" spc="0">
                          <a:solidFill>
                            <a:schemeClr val="tx1"/>
                          </a:solidFill>
                          <a:effectLst/>
                        </a:rPr>
                        <a:t>Global circuit breaker</a:t>
                      </a:r>
                    </a:p>
                  </a:txBody>
                  <a:tcPr marL="55663" marR="55663" marT="70512" marB="7051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IN" sz="1300" cap="none" spc="0">
                          <a:solidFill>
                            <a:schemeClr val="tx1"/>
                          </a:solidFill>
                          <a:effectLst/>
                        </a:rPr>
                        <a:t>APIM backend circuit breaker</a:t>
                      </a:r>
                    </a:p>
                  </a:txBody>
                  <a:tcPr marL="55663" marR="55663" marT="70512" marB="7051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IN" sz="1300" cap="none" spc="0">
                          <a:solidFill>
                            <a:schemeClr val="tx1"/>
                          </a:solidFill>
                          <a:effectLst/>
                        </a:rPr>
                        <a:t>Protect endpoints from overload</a:t>
                      </a:r>
                    </a:p>
                  </a:txBody>
                  <a:tcPr marL="55663" marR="55663" marT="70512" marB="7051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895604817"/>
                  </a:ext>
                </a:extLst>
              </a:tr>
              <a:tr h="636717">
                <a:tc>
                  <a:txBody>
                    <a:bodyPr/>
                    <a:lstStyle/>
                    <a:p>
                      <a:pPr>
                        <a:buNone/>
                      </a:pPr>
                      <a:r>
                        <a:rPr lang="en-IN" sz="1500" cap="none" spc="0">
                          <a:solidFill>
                            <a:schemeClr val="tx1"/>
                          </a:solidFill>
                          <a:effectLst/>
                        </a:rPr>
                        <a:t>Semantic caching</a:t>
                      </a:r>
                    </a:p>
                  </a:txBody>
                  <a:tcPr marL="55663" marR="55663" marT="70512" marB="70512" anchor="ctr">
                    <a:lnL w="28575" cap="flat" cmpd="sng" algn="ctr">
                      <a:noFill/>
                      <a:prstDash val="solid"/>
                    </a:lnL>
                    <a:lnR w="12700" cmpd="sng">
                      <a:noFill/>
                      <a:prstDash val="solid"/>
                    </a:lnR>
                    <a:lnT w="12700" cmpd="sng">
                      <a:noFill/>
                      <a:prstDash val="solid"/>
                    </a:lnT>
                    <a:lnB w="28575" cap="flat" cmpd="sng" algn="ctr">
                      <a:noFill/>
                      <a:prstDash val="solid"/>
                    </a:lnB>
                    <a:noFill/>
                  </a:tcPr>
                </a:tc>
                <a:tc>
                  <a:txBody>
                    <a:bodyPr/>
                    <a:lstStyle/>
                    <a:p>
                      <a:pPr>
                        <a:buNone/>
                      </a:pPr>
                      <a:r>
                        <a:rPr lang="en-IN" sz="1500" cap="none" spc="0">
                          <a:solidFill>
                            <a:schemeClr val="tx1"/>
                          </a:solidFill>
                          <a:effectLst/>
                        </a:rPr>
                        <a:t>APIM LLM cache</a:t>
                      </a:r>
                    </a:p>
                  </a:txBody>
                  <a:tcPr marL="55663" marR="55663" marT="70512" marB="70512" anchor="ctr">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buNone/>
                      </a:pPr>
                      <a:r>
                        <a:rPr lang="pt-BR" sz="1500" cap="none" spc="0" dirty="0">
                          <a:solidFill>
                            <a:schemeClr val="tx1"/>
                          </a:solidFill>
                          <a:effectLst/>
                        </a:rPr>
                        <a:t>Reuse results for similar queries</a:t>
                      </a:r>
                    </a:p>
                  </a:txBody>
                  <a:tcPr marL="55663" marR="55663" marT="70512" marB="70512" anchor="ctr">
                    <a:lnL w="12700" cmpd="sng">
                      <a:noFill/>
                      <a:prstDash val="solid"/>
                    </a:lnL>
                    <a:lnR w="28575" cap="flat" cmpd="sng" algn="ctr">
                      <a:noFill/>
                      <a:prstDash val="solid"/>
                    </a:lnR>
                    <a:lnT w="12700" cmpd="sng">
                      <a:noFill/>
                      <a:prstDash val="solid"/>
                    </a:lnT>
                    <a:lnB w="28575" cap="flat" cmpd="sng" algn="ctr">
                      <a:noFill/>
                      <a:prstDash val="solid"/>
                    </a:lnB>
                    <a:noFill/>
                  </a:tcPr>
                </a:tc>
                <a:extLst>
                  <a:ext uri="{0D108BD9-81ED-4DB2-BD59-A6C34878D82A}">
                    <a16:rowId xmlns:a16="http://schemas.microsoft.com/office/drawing/2014/main" val="4135384023"/>
                  </a:ext>
                </a:extLst>
              </a:tr>
            </a:tbl>
          </a:graphicData>
        </a:graphic>
      </p:graphicFrame>
    </p:spTree>
    <p:extLst>
      <p:ext uri="{BB962C8B-B14F-4D97-AF65-F5344CB8AC3E}">
        <p14:creationId xmlns:p14="http://schemas.microsoft.com/office/powerpoint/2010/main" val="396650423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096F9-3E73-FD54-7B52-E6A43335A92B}"/>
              </a:ext>
            </a:extLst>
          </p:cNvPr>
          <p:cNvSpPr>
            <a:spLocks noGrp="1"/>
          </p:cNvSpPr>
          <p:nvPr>
            <p:ph type="title"/>
          </p:nvPr>
        </p:nvSpPr>
        <p:spPr>
          <a:xfrm>
            <a:off x="584200" y="4075330"/>
            <a:ext cx="10500000" cy="1500000"/>
          </a:xfrm>
        </p:spPr>
        <p:txBody>
          <a:bodyPr wrap="square" anchor="b">
            <a:normAutofit fontScale="90000"/>
          </a:bodyPr>
          <a:lstStyle/>
          <a:p>
            <a:r>
              <a:rPr lang="en-US"/>
              <a:t>Chargeback &amp; Financial Accountability</a:t>
            </a:r>
          </a:p>
        </p:txBody>
      </p:sp>
      <p:sp>
        <p:nvSpPr>
          <p:cNvPr id="4" name="Footer Placeholder 3">
            <a:extLst>
              <a:ext uri="{FF2B5EF4-FFF2-40B4-BE49-F238E27FC236}">
                <a16:creationId xmlns:a16="http://schemas.microsoft.com/office/drawing/2014/main" id="{36E6FA2A-1A08-1385-B098-BEEF7FFA59AC}"/>
              </a:ext>
            </a:extLst>
          </p:cNvPr>
          <p:cNvSpPr>
            <a:spLocks noGrp="1"/>
          </p:cNvSpPr>
          <p:nvPr>
            <p:ph type="ftr" sz="quarter" idx="3"/>
          </p:nvPr>
        </p:nvSpPr>
        <p:spPr>
          <a:xfrm>
            <a:off x="4038600" y="6539518"/>
            <a:ext cx="4114800" cy="123111"/>
          </a:xfrm>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FFFFFF"/>
                </a:solidFill>
                <a:effectLst/>
                <a:uLnTx/>
                <a:uFillTx/>
              </a:rPr>
              <a:t>Microsoft Confidential</a:t>
            </a:r>
          </a:p>
        </p:txBody>
      </p:sp>
      <p:sp>
        <p:nvSpPr>
          <p:cNvPr id="5" name="Slide Number Placeholder 4">
            <a:extLst>
              <a:ext uri="{FF2B5EF4-FFF2-40B4-BE49-F238E27FC236}">
                <a16:creationId xmlns:a16="http://schemas.microsoft.com/office/drawing/2014/main" id="{EF48AD64-F1BB-1590-6B73-A66226052A61}"/>
              </a:ext>
            </a:extLst>
          </p:cNvPr>
          <p:cNvSpPr>
            <a:spLocks noGrp="1"/>
          </p:cNvSpPr>
          <p:nvPr>
            <p:ph type="sldNum" sz="quarter" idx="4"/>
          </p:nvPr>
        </p:nvSpPr>
        <p:spPr>
          <a:xfrm>
            <a:off x="11697272" y="6539518"/>
            <a:ext cx="404240" cy="123111"/>
          </a:xfrm>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FFFFFF"/>
                </a:solidFill>
                <a:effectLst/>
                <a:uLnTx/>
                <a:uFillTx/>
              </a:rPr>
              <a:pPr marL="0" marR="0" lvl="0" indent="0" defTabSz="914400" rtl="0" eaLnBrk="1" fontAlgn="auto" latinLnBrk="0" hangingPunct="1">
                <a:spcBef>
                  <a:spcPts val="0"/>
                </a:spcBef>
                <a:spcAft>
                  <a:spcPts val="600"/>
                </a:spcAft>
                <a:buClrTx/>
                <a:buSzTx/>
                <a:buFontTx/>
                <a:buNone/>
                <a:tabLst/>
                <a:defRPr/>
              </a:pPr>
              <a:t>15</a:t>
            </a:fld>
            <a:endParaRPr kumimoji="0" lang="en-US" b="0" i="0" u="none" strike="noStrike" kern="120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2547791689"/>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BC1D8-B55B-16B2-15F0-B90A5B7BDBBD}"/>
              </a:ext>
            </a:extLst>
          </p:cNvPr>
          <p:cNvSpPr>
            <a:spLocks noGrp="1"/>
          </p:cNvSpPr>
          <p:nvPr>
            <p:ph type="title"/>
          </p:nvPr>
        </p:nvSpPr>
        <p:spPr>
          <a:xfrm>
            <a:off x="575481" y="599436"/>
            <a:ext cx="11018520" cy="1107996"/>
          </a:xfrm>
        </p:spPr>
        <p:txBody>
          <a:bodyPr/>
          <a:lstStyle/>
          <a:p>
            <a:r>
              <a:rPr lang="en-IN" b="1"/>
              <a:t>Chargeback &amp; Showback for AI</a:t>
            </a:r>
            <a:br>
              <a:rPr lang="en-IN" b="1"/>
            </a:br>
            <a:endParaRPr lang="en-IN" dirty="0"/>
          </a:p>
        </p:txBody>
      </p:sp>
      <p:sp>
        <p:nvSpPr>
          <p:cNvPr id="3" name="Footer Placeholder 2">
            <a:extLst>
              <a:ext uri="{FF2B5EF4-FFF2-40B4-BE49-F238E27FC236}">
                <a16:creationId xmlns:a16="http://schemas.microsoft.com/office/drawing/2014/main" id="{5D6E078B-AD09-3DCD-CB28-FC5C7D878737}"/>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4C231D39-CDD7-1C16-DE8F-42E8A884EC59}"/>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graphicFrame>
        <p:nvGraphicFramePr>
          <p:cNvPr id="7" name="Table 6">
            <a:extLst>
              <a:ext uri="{FF2B5EF4-FFF2-40B4-BE49-F238E27FC236}">
                <a16:creationId xmlns:a16="http://schemas.microsoft.com/office/drawing/2014/main" id="{49D45B04-8618-418F-3C95-232B1E8D45C5}"/>
              </a:ext>
            </a:extLst>
          </p:cNvPr>
          <p:cNvGraphicFramePr>
            <a:graphicFrameLocks noGrp="1"/>
          </p:cNvGraphicFramePr>
          <p:nvPr>
            <p:extLst>
              <p:ext uri="{D42A27DB-BD31-4B8C-83A1-F6EECF244321}">
                <p14:modId xmlns:p14="http://schemas.microsoft.com/office/powerpoint/2010/main" val="194979296"/>
              </p:ext>
            </p:extLst>
          </p:nvPr>
        </p:nvGraphicFramePr>
        <p:xfrm>
          <a:off x="584200" y="1460500"/>
          <a:ext cx="11018838" cy="1562100"/>
        </p:xfrm>
        <a:graphic>
          <a:graphicData uri="http://schemas.openxmlformats.org/drawingml/2006/table">
            <a:tbl>
              <a:tblPr firstRow="1"/>
              <a:tblGrid>
                <a:gridCol w="3672946">
                  <a:extLst>
                    <a:ext uri="{9D8B030D-6E8A-4147-A177-3AD203B41FA5}">
                      <a16:colId xmlns:a16="http://schemas.microsoft.com/office/drawing/2014/main" val="869876903"/>
                    </a:ext>
                  </a:extLst>
                </a:gridCol>
                <a:gridCol w="3672946">
                  <a:extLst>
                    <a:ext uri="{9D8B030D-6E8A-4147-A177-3AD203B41FA5}">
                      <a16:colId xmlns:a16="http://schemas.microsoft.com/office/drawing/2014/main" val="893657932"/>
                    </a:ext>
                  </a:extLst>
                </a:gridCol>
                <a:gridCol w="3672946">
                  <a:extLst>
                    <a:ext uri="{9D8B030D-6E8A-4147-A177-3AD203B41FA5}">
                      <a16:colId xmlns:a16="http://schemas.microsoft.com/office/drawing/2014/main" val="3057002801"/>
                    </a:ext>
                  </a:extLst>
                </a:gridCol>
              </a:tblGrid>
              <a:tr h="0">
                <a:tc>
                  <a:txBody>
                    <a:bodyPr/>
                    <a:lstStyle/>
                    <a:p>
                      <a:pPr algn="l">
                        <a:buNone/>
                      </a:pPr>
                      <a:r>
                        <a:rPr lang="en-IN">
                          <a:effectLst/>
                        </a:rPr>
                        <a:t>Model</a:t>
                      </a:r>
                    </a:p>
                  </a:txBody>
                  <a:tcPr marL="63500" marR="63500" marT="31750" marB="31750" anchor="ctr">
                    <a:lnL>
                      <a:noFill/>
                    </a:lnL>
                    <a:lnR>
                      <a:noFill/>
                    </a:lnR>
                    <a:lnT>
                      <a:noFill/>
                    </a:lnT>
                    <a:lnB>
                      <a:noFill/>
                    </a:lnB>
                    <a:noFill/>
                  </a:tcPr>
                </a:tc>
                <a:tc>
                  <a:txBody>
                    <a:bodyPr/>
                    <a:lstStyle/>
                    <a:p>
                      <a:pPr algn="l">
                        <a:buNone/>
                      </a:pPr>
                      <a:r>
                        <a:rPr lang="en-IN">
                          <a:effectLst/>
                        </a:rPr>
                        <a:t>Description</a:t>
                      </a:r>
                    </a:p>
                  </a:txBody>
                  <a:tcPr marL="63500" marR="63500" marT="31750" marB="31750" anchor="ctr">
                    <a:lnL>
                      <a:noFill/>
                    </a:lnL>
                    <a:lnR>
                      <a:noFill/>
                    </a:lnR>
                    <a:lnT>
                      <a:noFill/>
                    </a:lnT>
                    <a:lnB>
                      <a:noFill/>
                    </a:lnB>
                    <a:noFill/>
                  </a:tcPr>
                </a:tc>
                <a:tc>
                  <a:txBody>
                    <a:bodyPr/>
                    <a:lstStyle/>
                    <a:p>
                      <a:pPr algn="l">
                        <a:buNone/>
                      </a:pPr>
                      <a:r>
                        <a:rPr lang="en-IN">
                          <a:effectLst/>
                        </a:rPr>
                        <a:t>Accountability</a:t>
                      </a:r>
                    </a:p>
                  </a:txBody>
                  <a:tcPr marL="63500" marR="63500" marT="31750" marB="31750" anchor="ctr">
                    <a:lnL>
                      <a:noFill/>
                    </a:lnL>
                    <a:lnR>
                      <a:noFill/>
                    </a:lnR>
                    <a:lnT>
                      <a:noFill/>
                    </a:lnT>
                    <a:lnB>
                      <a:noFill/>
                    </a:lnB>
                    <a:noFill/>
                  </a:tcPr>
                </a:tc>
                <a:extLst>
                  <a:ext uri="{0D108BD9-81ED-4DB2-BD59-A6C34878D82A}">
                    <a16:rowId xmlns:a16="http://schemas.microsoft.com/office/drawing/2014/main" val="1494676079"/>
                  </a:ext>
                </a:extLst>
              </a:tr>
              <a:tr h="0">
                <a:tc>
                  <a:txBody>
                    <a:bodyPr/>
                    <a:lstStyle/>
                    <a:p>
                      <a:pPr>
                        <a:buNone/>
                      </a:pPr>
                      <a:r>
                        <a:rPr lang="en-IN" b="1">
                          <a:effectLst/>
                        </a:rPr>
                        <a:t>Showback</a:t>
                      </a:r>
                      <a:endParaRPr lang="en-IN">
                        <a:effectLst/>
                      </a:endParaRPr>
                    </a:p>
                  </a:txBody>
                  <a:tcPr marL="63500" marR="63500" marT="31750" marB="31750" anchor="ctr">
                    <a:lnL>
                      <a:noFill/>
                    </a:lnL>
                    <a:lnR>
                      <a:noFill/>
                    </a:lnR>
                    <a:lnT>
                      <a:noFill/>
                    </a:lnT>
                    <a:lnB>
                      <a:noFill/>
                    </a:lnB>
                    <a:noFill/>
                  </a:tcPr>
                </a:tc>
                <a:tc>
                  <a:txBody>
                    <a:bodyPr/>
                    <a:lstStyle/>
                    <a:p>
                      <a:pPr>
                        <a:buNone/>
                      </a:pPr>
                      <a:r>
                        <a:rPr lang="en-GB">
                          <a:effectLst/>
                        </a:rPr>
                        <a:t>Display costs to teams without billing them</a:t>
                      </a:r>
                    </a:p>
                  </a:txBody>
                  <a:tcPr marL="63500" marR="63500" marT="31750" marB="31750" anchor="ctr">
                    <a:lnL>
                      <a:noFill/>
                    </a:lnL>
                    <a:lnR>
                      <a:noFill/>
                    </a:lnR>
                    <a:lnT>
                      <a:noFill/>
                    </a:lnT>
                    <a:lnB>
                      <a:noFill/>
                    </a:lnB>
                    <a:noFill/>
                  </a:tcPr>
                </a:tc>
                <a:tc>
                  <a:txBody>
                    <a:bodyPr/>
                    <a:lstStyle/>
                    <a:p>
                      <a:pPr>
                        <a:buNone/>
                      </a:pPr>
                      <a:r>
                        <a:rPr lang="en-IN">
                          <a:effectLst/>
                        </a:rPr>
                        <a:t>Visibility &amp; awareness</a:t>
                      </a:r>
                    </a:p>
                  </a:txBody>
                  <a:tcPr marL="63500" marR="63500" marT="31750" marB="31750" anchor="ctr">
                    <a:lnL>
                      <a:noFill/>
                    </a:lnL>
                    <a:lnR>
                      <a:noFill/>
                    </a:lnR>
                    <a:lnT>
                      <a:noFill/>
                    </a:lnT>
                    <a:lnB>
                      <a:noFill/>
                    </a:lnB>
                    <a:noFill/>
                  </a:tcPr>
                </a:tc>
                <a:extLst>
                  <a:ext uri="{0D108BD9-81ED-4DB2-BD59-A6C34878D82A}">
                    <a16:rowId xmlns:a16="http://schemas.microsoft.com/office/drawing/2014/main" val="545802572"/>
                  </a:ext>
                </a:extLst>
              </a:tr>
              <a:tr h="0">
                <a:tc>
                  <a:txBody>
                    <a:bodyPr/>
                    <a:lstStyle/>
                    <a:p>
                      <a:pPr>
                        <a:buNone/>
                      </a:pPr>
                      <a:r>
                        <a:rPr lang="en-IN" b="1">
                          <a:effectLst/>
                        </a:rPr>
                        <a:t>Chargeback</a:t>
                      </a:r>
                      <a:endParaRPr lang="en-IN">
                        <a:effectLst/>
                      </a:endParaRPr>
                    </a:p>
                  </a:txBody>
                  <a:tcPr marL="63500" marR="63500" marT="31750" marB="31750" anchor="ctr">
                    <a:lnL>
                      <a:noFill/>
                    </a:lnL>
                    <a:lnR>
                      <a:noFill/>
                    </a:lnR>
                    <a:lnT>
                      <a:noFill/>
                    </a:lnT>
                    <a:lnB>
                      <a:noFill/>
                    </a:lnB>
                    <a:noFill/>
                  </a:tcPr>
                </a:tc>
                <a:tc>
                  <a:txBody>
                    <a:bodyPr/>
                    <a:lstStyle/>
                    <a:p>
                      <a:pPr>
                        <a:buNone/>
                      </a:pPr>
                      <a:r>
                        <a:rPr lang="en-GB">
                          <a:effectLst/>
                        </a:rPr>
                        <a:t>Bill teams/departments for their actual usage</a:t>
                      </a:r>
                    </a:p>
                  </a:txBody>
                  <a:tcPr marL="63500" marR="63500" marT="31750" marB="31750" anchor="ctr">
                    <a:lnL>
                      <a:noFill/>
                    </a:lnL>
                    <a:lnR>
                      <a:noFill/>
                    </a:lnR>
                    <a:lnT>
                      <a:noFill/>
                    </a:lnT>
                    <a:lnB>
                      <a:noFill/>
                    </a:lnB>
                    <a:noFill/>
                  </a:tcPr>
                </a:tc>
                <a:tc>
                  <a:txBody>
                    <a:bodyPr/>
                    <a:lstStyle/>
                    <a:p>
                      <a:pPr>
                        <a:buNone/>
                      </a:pPr>
                      <a:r>
                        <a:rPr lang="en-IN" dirty="0">
                          <a:effectLst/>
                        </a:rPr>
                        <a:t>Financial accountability</a:t>
                      </a:r>
                    </a:p>
                  </a:txBody>
                  <a:tcPr marL="63500" marR="63500" marT="31750" marB="31750" anchor="ctr">
                    <a:lnL>
                      <a:noFill/>
                    </a:lnL>
                    <a:lnR>
                      <a:noFill/>
                    </a:lnR>
                    <a:lnT>
                      <a:noFill/>
                    </a:lnT>
                    <a:lnB>
                      <a:noFill/>
                    </a:lnB>
                    <a:noFill/>
                  </a:tcPr>
                </a:tc>
                <a:extLst>
                  <a:ext uri="{0D108BD9-81ED-4DB2-BD59-A6C34878D82A}">
                    <a16:rowId xmlns:a16="http://schemas.microsoft.com/office/drawing/2014/main" val="2543001245"/>
                  </a:ext>
                </a:extLst>
              </a:tr>
            </a:tbl>
          </a:graphicData>
        </a:graphic>
      </p:graphicFrame>
    </p:spTree>
    <p:extLst>
      <p:ext uri="{BB962C8B-B14F-4D97-AF65-F5344CB8AC3E}">
        <p14:creationId xmlns:p14="http://schemas.microsoft.com/office/powerpoint/2010/main" val="201182186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9BCBA-972D-6CBD-A520-9302EBB288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134361-2CEE-A3B5-73C5-886147876E31}"/>
              </a:ext>
            </a:extLst>
          </p:cNvPr>
          <p:cNvSpPr>
            <a:spLocks noGrp="1"/>
          </p:cNvSpPr>
          <p:nvPr>
            <p:ph type="title"/>
          </p:nvPr>
        </p:nvSpPr>
        <p:spPr>
          <a:xfrm>
            <a:off x="575481" y="599436"/>
            <a:ext cx="11018520" cy="553998"/>
          </a:xfrm>
        </p:spPr>
        <p:txBody>
          <a:bodyPr wrap="square" anchor="t">
            <a:normAutofit/>
          </a:bodyPr>
          <a:lstStyle/>
          <a:p>
            <a:pPr>
              <a:lnSpc>
                <a:spcPct val="90000"/>
              </a:lnSpc>
            </a:pPr>
            <a:r>
              <a:rPr lang="en-IN" sz="2000" b="1"/>
              <a:t>Chargeback &amp; </a:t>
            </a:r>
            <a:r>
              <a:rPr lang="en-IN" sz="2000" b="1" err="1"/>
              <a:t>Showback</a:t>
            </a:r>
            <a:r>
              <a:rPr lang="en-IN" sz="2000" b="1"/>
              <a:t> for AI </a:t>
            </a:r>
            <a:r>
              <a:rPr lang="en-IN" sz="2000" b="1" err="1"/>
              <a:t>Cont'd</a:t>
            </a:r>
            <a:br>
              <a:rPr lang="en-IN" sz="2000" b="1"/>
            </a:br>
            <a:endParaRPr lang="en-IN" sz="2000"/>
          </a:p>
        </p:txBody>
      </p:sp>
      <p:sp>
        <p:nvSpPr>
          <p:cNvPr id="3" name="Footer Placeholder 2">
            <a:extLst>
              <a:ext uri="{FF2B5EF4-FFF2-40B4-BE49-F238E27FC236}">
                <a16:creationId xmlns:a16="http://schemas.microsoft.com/office/drawing/2014/main" id="{AE360ABB-9E05-1E40-7DA9-768E8F7B52D6}"/>
              </a:ext>
            </a:extLst>
          </p:cNvPr>
          <p:cNvSpPr>
            <a:spLocks noGrp="1"/>
          </p:cNvSpPr>
          <p:nvPr>
            <p:ph type="ftr" sz="quarter" idx="3"/>
          </p:nvPr>
        </p:nvSpPr>
        <p:spPr>
          <a:xfrm>
            <a:off x="4038600" y="6539518"/>
            <a:ext cx="4114800" cy="123111"/>
          </a:xfrm>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000000"/>
                </a:solidFill>
                <a:effectLst/>
                <a:uLnTx/>
                <a:uFillTx/>
              </a:rPr>
              <a:t>Microsoft Confidential</a:t>
            </a:r>
          </a:p>
        </p:txBody>
      </p:sp>
      <p:sp>
        <p:nvSpPr>
          <p:cNvPr id="4" name="Slide Number Placeholder 3">
            <a:extLst>
              <a:ext uri="{FF2B5EF4-FFF2-40B4-BE49-F238E27FC236}">
                <a16:creationId xmlns:a16="http://schemas.microsoft.com/office/drawing/2014/main" id="{40EA6639-F598-28CC-392B-15966D748A89}"/>
              </a:ext>
            </a:extLst>
          </p:cNvPr>
          <p:cNvSpPr>
            <a:spLocks noGrp="1"/>
          </p:cNvSpPr>
          <p:nvPr>
            <p:ph type="sldNum" sz="quarter" idx="4"/>
          </p:nvPr>
        </p:nvSpPr>
        <p:spPr>
          <a:xfrm>
            <a:off x="11697272" y="6539518"/>
            <a:ext cx="404240" cy="123111"/>
          </a:xfrm>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000000"/>
                </a:solidFill>
                <a:effectLst/>
                <a:uLnTx/>
                <a:uFillTx/>
              </a:rPr>
              <a:pPr marL="0" marR="0" lvl="0" indent="0" defTabSz="914400" rtl="0" eaLnBrk="1" fontAlgn="auto" latinLnBrk="0" hangingPunct="1">
                <a:spcBef>
                  <a:spcPts val="0"/>
                </a:spcBef>
                <a:spcAft>
                  <a:spcPts val="600"/>
                </a:spcAft>
                <a:buClrTx/>
                <a:buSzTx/>
                <a:buFontTx/>
                <a:buNone/>
                <a:tabLst/>
                <a:defRPr/>
              </a:pPr>
              <a:t>17</a:t>
            </a:fld>
            <a:endParaRPr kumimoji="0" lang="en-US" b="0" i="0" u="none" strike="noStrike" kern="1200" cap="none" spc="0" normalizeH="0" baseline="0" noProof="0">
              <a:ln>
                <a:noFill/>
              </a:ln>
              <a:solidFill>
                <a:srgbClr val="000000"/>
              </a:solidFill>
              <a:effectLst/>
              <a:uLnTx/>
              <a:uFillTx/>
            </a:endParaRPr>
          </a:p>
        </p:txBody>
      </p:sp>
      <p:graphicFrame>
        <p:nvGraphicFramePr>
          <p:cNvPr id="7" name="Table 6">
            <a:extLst>
              <a:ext uri="{FF2B5EF4-FFF2-40B4-BE49-F238E27FC236}">
                <a16:creationId xmlns:a16="http://schemas.microsoft.com/office/drawing/2014/main" id="{8BCB88FC-588C-BD13-1A78-E37F3C6C91CE}"/>
              </a:ext>
            </a:extLst>
          </p:cNvPr>
          <p:cNvGraphicFramePr>
            <a:graphicFrameLocks noGrp="1"/>
          </p:cNvGraphicFramePr>
          <p:nvPr>
            <p:extLst>
              <p:ext uri="{D42A27DB-BD31-4B8C-83A1-F6EECF244321}">
                <p14:modId xmlns:p14="http://schemas.microsoft.com/office/powerpoint/2010/main" val="176441264"/>
              </p:ext>
            </p:extLst>
          </p:nvPr>
        </p:nvGraphicFramePr>
        <p:xfrm>
          <a:off x="1970690" y="2588740"/>
          <a:ext cx="7698473" cy="2377027"/>
        </p:xfrm>
        <a:graphic>
          <a:graphicData uri="http://schemas.openxmlformats.org/drawingml/2006/table">
            <a:tbl>
              <a:tblPr firstRow="1" bandRow="1">
                <a:noFill/>
              </a:tblPr>
              <a:tblGrid>
                <a:gridCol w="1739773">
                  <a:extLst>
                    <a:ext uri="{9D8B030D-6E8A-4147-A177-3AD203B41FA5}">
                      <a16:colId xmlns:a16="http://schemas.microsoft.com/office/drawing/2014/main" val="869876903"/>
                    </a:ext>
                  </a:extLst>
                </a:gridCol>
                <a:gridCol w="2385643">
                  <a:extLst>
                    <a:ext uri="{9D8B030D-6E8A-4147-A177-3AD203B41FA5}">
                      <a16:colId xmlns:a16="http://schemas.microsoft.com/office/drawing/2014/main" val="893657932"/>
                    </a:ext>
                  </a:extLst>
                </a:gridCol>
                <a:gridCol w="3573057">
                  <a:extLst>
                    <a:ext uri="{9D8B030D-6E8A-4147-A177-3AD203B41FA5}">
                      <a16:colId xmlns:a16="http://schemas.microsoft.com/office/drawing/2014/main" val="3057002801"/>
                    </a:ext>
                  </a:extLst>
                </a:gridCol>
              </a:tblGrid>
              <a:tr h="373698">
                <a:tc>
                  <a:txBody>
                    <a:bodyPr/>
                    <a:lstStyle/>
                    <a:p>
                      <a:pPr algn="l">
                        <a:buNone/>
                      </a:pPr>
                      <a:r>
                        <a:rPr lang="en-IN" sz="1100" b="1" cap="all" spc="60">
                          <a:solidFill>
                            <a:schemeClr val="tx1"/>
                          </a:solidFill>
                          <a:effectLst/>
                        </a:rPr>
                        <a:t>Dimension</a:t>
                      </a:r>
                    </a:p>
                  </a:txBody>
                  <a:tcPr marL="57715" marR="57715" marT="83110" marB="83110" anchor="b">
                    <a:lnL w="12700" cmpd="sng">
                      <a:noFill/>
                    </a:lnL>
                    <a:lnR w="12700" cmpd="sng">
                      <a:noFill/>
                    </a:lnR>
                    <a:lnT w="12700" cmpd="sng">
                      <a:noFill/>
                    </a:lnT>
                    <a:lnB w="38100" cmpd="sng">
                      <a:noFill/>
                    </a:lnB>
                    <a:noFill/>
                  </a:tcPr>
                </a:tc>
                <a:tc>
                  <a:txBody>
                    <a:bodyPr/>
                    <a:lstStyle/>
                    <a:p>
                      <a:pPr algn="l">
                        <a:buNone/>
                      </a:pPr>
                      <a:r>
                        <a:rPr lang="en-IN" sz="1100" b="1" cap="all" spc="60">
                          <a:solidFill>
                            <a:schemeClr val="tx1"/>
                          </a:solidFill>
                          <a:effectLst/>
                        </a:rPr>
                        <a:t>Tag/Metric</a:t>
                      </a:r>
                    </a:p>
                  </a:txBody>
                  <a:tcPr marL="57715" marR="57715" marT="83110" marB="83110" anchor="b">
                    <a:lnL w="12700" cmpd="sng">
                      <a:noFill/>
                    </a:lnL>
                    <a:lnR w="12700" cmpd="sng">
                      <a:noFill/>
                    </a:lnR>
                    <a:lnT w="12700" cmpd="sng">
                      <a:noFill/>
                    </a:lnT>
                    <a:lnB w="38100" cmpd="sng">
                      <a:noFill/>
                    </a:lnB>
                    <a:noFill/>
                  </a:tcPr>
                </a:tc>
                <a:tc>
                  <a:txBody>
                    <a:bodyPr/>
                    <a:lstStyle/>
                    <a:p>
                      <a:pPr algn="l">
                        <a:buNone/>
                      </a:pPr>
                      <a:r>
                        <a:rPr lang="en-IN" sz="1100" b="1" cap="all" spc="60">
                          <a:solidFill>
                            <a:schemeClr val="tx1"/>
                          </a:solidFill>
                          <a:effectLst/>
                        </a:rPr>
                        <a:t>Source</a:t>
                      </a:r>
                    </a:p>
                  </a:txBody>
                  <a:tcPr marL="57715" marR="57715" marT="83110" marB="83110" anchor="b">
                    <a:lnL w="12700" cmpd="sng">
                      <a:noFill/>
                    </a:lnL>
                    <a:lnR w="12700" cmpd="sng">
                      <a:noFill/>
                    </a:lnR>
                    <a:lnT w="12700" cmpd="sng">
                      <a:noFill/>
                    </a:lnT>
                    <a:lnB w="38100" cmpd="sng">
                      <a:noFill/>
                    </a:lnB>
                    <a:noFill/>
                  </a:tcPr>
                </a:tc>
                <a:extLst>
                  <a:ext uri="{0D108BD9-81ED-4DB2-BD59-A6C34878D82A}">
                    <a16:rowId xmlns:a16="http://schemas.microsoft.com/office/drawing/2014/main" val="1494676079"/>
                  </a:ext>
                </a:extLst>
              </a:tr>
              <a:tr h="374878">
                <a:tc>
                  <a:txBody>
                    <a:bodyPr/>
                    <a:lstStyle/>
                    <a:p>
                      <a:pPr>
                        <a:buNone/>
                      </a:pPr>
                      <a:r>
                        <a:rPr lang="en-IN" sz="1500" cap="none" spc="0">
                          <a:solidFill>
                            <a:schemeClr val="tx1"/>
                          </a:solidFill>
                          <a:effectLst/>
                        </a:rPr>
                        <a:t>Department</a:t>
                      </a:r>
                    </a:p>
                  </a:txBody>
                  <a:tcPr marL="57715" marR="57715" marT="28858" marB="83110" anchor="ctr">
                    <a:lnL w="12700" cap="flat" cmpd="sng" algn="ctr">
                      <a:solidFill>
                        <a:schemeClr val="tx1"/>
                      </a:solidFill>
                      <a:prstDash val="solid"/>
                    </a:lnL>
                    <a:lnR w="12700" cmpd="sng">
                      <a:noFill/>
                      <a:prstDash val="solid"/>
                    </a:lnR>
                    <a:lnT w="38100" cmpd="sng">
                      <a:noFill/>
                    </a:lnT>
                    <a:lnB w="12700" cmpd="sng">
                      <a:noFill/>
                      <a:prstDash val="solid"/>
                    </a:lnB>
                    <a:noFill/>
                  </a:tcPr>
                </a:tc>
                <a:tc>
                  <a:txBody>
                    <a:bodyPr/>
                    <a:lstStyle/>
                    <a:p>
                      <a:pPr>
                        <a:buNone/>
                      </a:pPr>
                      <a:r>
                        <a:rPr lang="en-IN" sz="1500" cap="none" spc="0">
                          <a:solidFill>
                            <a:schemeClr val="tx1"/>
                          </a:solidFill>
                          <a:effectLst/>
                          <a:latin typeface="Consolas" panose="020B0609020204030204" pitchFamily="49" charset="0"/>
                        </a:rPr>
                        <a:t>department:engineering</a:t>
                      </a:r>
                      <a:endParaRPr lang="en-IN" sz="1500" cap="none" spc="0">
                        <a:solidFill>
                          <a:schemeClr val="tx1"/>
                        </a:solidFill>
                        <a:effectLst/>
                      </a:endParaRPr>
                    </a:p>
                  </a:txBody>
                  <a:tcPr marL="57715" marR="57715" marT="28858" marB="83110" anchor="ctr">
                    <a:lnL w="12700" cmpd="sng">
                      <a:noFill/>
                      <a:prstDash val="solid"/>
                    </a:lnL>
                    <a:lnR w="12700" cmpd="sng">
                      <a:noFill/>
                      <a:prstDash val="solid"/>
                    </a:lnR>
                    <a:lnT w="38100" cmpd="sng">
                      <a:noFill/>
                    </a:lnT>
                    <a:lnB w="12700" cmpd="sng">
                      <a:noFill/>
                      <a:prstDash val="solid"/>
                    </a:lnB>
                    <a:noFill/>
                  </a:tcPr>
                </a:tc>
                <a:tc>
                  <a:txBody>
                    <a:bodyPr/>
                    <a:lstStyle/>
                    <a:p>
                      <a:pPr>
                        <a:buNone/>
                      </a:pPr>
                      <a:r>
                        <a:rPr lang="en-IN" sz="1500" cap="none" spc="0">
                          <a:solidFill>
                            <a:schemeClr val="tx1"/>
                          </a:solidFill>
                          <a:effectLst/>
                        </a:rPr>
                        <a:t>Azure resource tags</a:t>
                      </a:r>
                    </a:p>
                  </a:txBody>
                  <a:tcPr marL="57715" marR="57715" marT="28858" marB="83110" anchor="ctr">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602408638"/>
                  </a:ext>
                </a:extLst>
              </a:tr>
              <a:tr h="601361">
                <a:tc>
                  <a:txBody>
                    <a:bodyPr/>
                    <a:lstStyle/>
                    <a:p>
                      <a:pPr>
                        <a:buNone/>
                      </a:pPr>
                      <a:r>
                        <a:rPr lang="en-IN" sz="1500" cap="none" spc="0">
                          <a:solidFill>
                            <a:schemeClr val="tx1"/>
                          </a:solidFill>
                          <a:effectLst/>
                        </a:rPr>
                        <a:t>Project</a:t>
                      </a:r>
                    </a:p>
                  </a:txBody>
                  <a:tcPr marL="57715" marR="57715" marT="28858" marB="8311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IN" sz="1500" cap="none" spc="0">
                          <a:solidFill>
                            <a:schemeClr val="tx1"/>
                          </a:solidFill>
                          <a:effectLst/>
                          <a:latin typeface="Consolas" panose="020B0609020204030204" pitchFamily="49" charset="0"/>
                        </a:rPr>
                        <a:t>project:customer-copilot</a:t>
                      </a:r>
                      <a:endParaRPr lang="en-IN" sz="1500" cap="none" spc="0">
                        <a:solidFill>
                          <a:schemeClr val="tx1"/>
                        </a:solidFill>
                        <a:effectLst/>
                      </a:endParaRPr>
                    </a:p>
                  </a:txBody>
                  <a:tcPr marL="57715" marR="57715" marT="28858" marB="8311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IN" sz="1500" cap="none" spc="0">
                          <a:solidFill>
                            <a:schemeClr val="tx1"/>
                          </a:solidFill>
                          <a:effectLst/>
                        </a:rPr>
                        <a:t>Foundry project</a:t>
                      </a:r>
                    </a:p>
                  </a:txBody>
                  <a:tcPr marL="57715" marR="57715" marT="28858" marB="8311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35975486"/>
                  </a:ext>
                </a:extLst>
              </a:tr>
              <a:tr h="416400">
                <a:tc>
                  <a:txBody>
                    <a:bodyPr/>
                    <a:lstStyle/>
                    <a:p>
                      <a:pPr>
                        <a:buNone/>
                      </a:pPr>
                      <a:r>
                        <a:rPr lang="en-IN" sz="1500" cap="none" spc="0" dirty="0">
                          <a:solidFill>
                            <a:schemeClr val="tx1"/>
                          </a:solidFill>
                          <a:effectLst/>
                        </a:rPr>
                        <a:t>Environment</a:t>
                      </a:r>
                    </a:p>
                  </a:txBody>
                  <a:tcPr marL="57715" marR="57715" marT="28858" marB="8311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a:buNone/>
                      </a:pPr>
                      <a:r>
                        <a:rPr lang="en-IN" sz="1500" cap="none" spc="0">
                          <a:solidFill>
                            <a:schemeClr val="tx1"/>
                          </a:solidFill>
                          <a:effectLst/>
                          <a:latin typeface="Consolas" panose="020B0609020204030204" pitchFamily="49" charset="0"/>
                        </a:rPr>
                        <a:t>env:production</a:t>
                      </a:r>
                      <a:endParaRPr lang="en-IN" sz="1500" cap="none" spc="0">
                        <a:solidFill>
                          <a:schemeClr val="tx1"/>
                        </a:solidFill>
                        <a:effectLst/>
                      </a:endParaRPr>
                    </a:p>
                  </a:txBody>
                  <a:tcPr marL="57715" marR="57715" marT="28858" marB="8311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500" cap="none" spc="0">
                          <a:solidFill>
                            <a:schemeClr val="tx1"/>
                          </a:solidFill>
                          <a:effectLst/>
                        </a:rPr>
                        <a:t>Resource tags</a:t>
                      </a:r>
                    </a:p>
                  </a:txBody>
                  <a:tcPr marL="57715" marR="57715" marT="28858" marB="8311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001800115"/>
                  </a:ext>
                </a:extLst>
              </a:tr>
              <a:tr h="416400">
                <a:tc>
                  <a:txBody>
                    <a:bodyPr/>
                    <a:lstStyle/>
                    <a:p>
                      <a:pPr>
                        <a:buNone/>
                      </a:pPr>
                      <a:r>
                        <a:rPr lang="en-IN" sz="1500" cap="none" spc="0">
                          <a:solidFill>
                            <a:schemeClr val="tx1"/>
                          </a:solidFill>
                          <a:effectLst/>
                        </a:rPr>
                        <a:t>Cost center</a:t>
                      </a:r>
                    </a:p>
                  </a:txBody>
                  <a:tcPr marL="57715" marR="57715" marT="28858" marB="8311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IN" sz="1500" cap="none" spc="0">
                          <a:solidFill>
                            <a:schemeClr val="tx1"/>
                          </a:solidFill>
                          <a:effectLst/>
                          <a:latin typeface="Consolas" panose="020B0609020204030204" pitchFamily="49" charset="0"/>
                        </a:rPr>
                        <a:t>cost-center:CC1234</a:t>
                      </a:r>
                      <a:endParaRPr lang="en-IN" sz="1500" cap="none" spc="0">
                        <a:solidFill>
                          <a:schemeClr val="tx1"/>
                        </a:solidFill>
                        <a:effectLst/>
                      </a:endParaRPr>
                    </a:p>
                  </a:txBody>
                  <a:tcPr marL="57715" marR="57715" marT="28858" marB="8311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IN" sz="1500" cap="none" spc="0" dirty="0">
                          <a:solidFill>
                            <a:schemeClr val="tx1"/>
                          </a:solidFill>
                          <a:effectLst/>
                        </a:rPr>
                        <a:t>Billing tags</a:t>
                      </a:r>
                    </a:p>
                  </a:txBody>
                  <a:tcPr marL="57715" marR="57715" marT="28858" marB="8311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158852767"/>
                  </a:ext>
                </a:extLst>
              </a:tr>
            </a:tbl>
          </a:graphicData>
        </a:graphic>
      </p:graphicFrame>
    </p:spTree>
    <p:extLst>
      <p:ext uri="{BB962C8B-B14F-4D97-AF65-F5344CB8AC3E}">
        <p14:creationId xmlns:p14="http://schemas.microsoft.com/office/powerpoint/2010/main" val="112005643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A493D-50BA-976F-3095-BEE3A0161C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B7587B-92FB-0BB4-F037-DC7EE3250AC5}"/>
              </a:ext>
            </a:extLst>
          </p:cNvPr>
          <p:cNvSpPr>
            <a:spLocks noGrp="1"/>
          </p:cNvSpPr>
          <p:nvPr>
            <p:ph type="title"/>
          </p:nvPr>
        </p:nvSpPr>
        <p:spPr>
          <a:xfrm>
            <a:off x="575481" y="599436"/>
            <a:ext cx="11018520" cy="1107996"/>
          </a:xfrm>
        </p:spPr>
        <p:txBody>
          <a:bodyPr/>
          <a:lstStyle/>
          <a:p>
            <a:r>
              <a:rPr lang="en-IN" b="1" dirty="0"/>
              <a:t>Chargeback &amp; </a:t>
            </a:r>
            <a:r>
              <a:rPr lang="en-IN" b="1"/>
              <a:t>Showback </a:t>
            </a:r>
            <a:r>
              <a:rPr lang="en-IN" b="1" dirty="0"/>
              <a:t>for AI </a:t>
            </a:r>
            <a:r>
              <a:rPr lang="en-IN" b="1" err="1"/>
              <a:t>Cont'd</a:t>
            </a:r>
            <a:br>
              <a:rPr lang="en-IN" b="1" dirty="0"/>
            </a:br>
            <a:endParaRPr lang="en-IN" dirty="0"/>
          </a:p>
        </p:txBody>
      </p:sp>
      <p:sp>
        <p:nvSpPr>
          <p:cNvPr id="3" name="Footer Placeholder 2">
            <a:extLst>
              <a:ext uri="{FF2B5EF4-FFF2-40B4-BE49-F238E27FC236}">
                <a16:creationId xmlns:a16="http://schemas.microsoft.com/office/drawing/2014/main" id="{BEA240C2-4B7B-90D4-CC36-B2F2909482AB}"/>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F9F96407-DB90-BA7C-198B-BE7CC4B0AFF6}"/>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5" name="TextBox 4">
            <a:extLst>
              <a:ext uri="{FF2B5EF4-FFF2-40B4-BE49-F238E27FC236}">
                <a16:creationId xmlns:a16="http://schemas.microsoft.com/office/drawing/2014/main" id="{2FCF88FF-BE73-304A-F056-1BF87DB8D121}"/>
              </a:ext>
            </a:extLst>
          </p:cNvPr>
          <p:cNvSpPr txBox="1"/>
          <p:nvPr/>
        </p:nvSpPr>
        <p:spPr>
          <a:xfrm>
            <a:off x="735227" y="1834978"/>
            <a:ext cx="10651524" cy="2246769"/>
          </a:xfrm>
          <a:prstGeom prst="rect">
            <a:avLst/>
          </a:prstGeom>
          <a:noFill/>
        </p:spPr>
        <p:txBody>
          <a:bodyPr wrap="square" lIns="0" tIns="0" rIns="0" bIns="0" rtlCol="0">
            <a:spAutoFit/>
          </a:bodyPr>
          <a:lstStyle/>
          <a:p>
            <a:r>
              <a:rPr lang="en-IN" b="1" dirty="0"/>
              <a:t>Define tagging strategy</a:t>
            </a:r>
            <a:r>
              <a:rPr lang="en-IN" dirty="0"/>
              <a:t> (CAF guidance)</a:t>
            </a:r>
          </a:p>
          <a:p>
            <a:pPr lvl="1"/>
            <a:r>
              <a:rPr lang="en-IN" dirty="0"/>
              <a:t>Mandatory tags: Department, </a:t>
            </a:r>
            <a:r>
              <a:rPr lang="en-IN" dirty="0" err="1"/>
              <a:t>CostCenter</a:t>
            </a:r>
            <a:r>
              <a:rPr lang="en-IN" dirty="0"/>
              <a:t>, Environment, Owner, Project</a:t>
            </a:r>
          </a:p>
          <a:p>
            <a:pPr lvl="1"/>
            <a:r>
              <a:rPr lang="en-IN" dirty="0"/>
              <a:t>AI-specific tags: </a:t>
            </a:r>
            <a:r>
              <a:rPr lang="en-IN" dirty="0" err="1"/>
              <a:t>AgentName</a:t>
            </a:r>
            <a:r>
              <a:rPr lang="en-IN" dirty="0"/>
              <a:t>, </a:t>
            </a:r>
            <a:r>
              <a:rPr lang="en-IN" dirty="0" err="1"/>
              <a:t>ModelDeployment</a:t>
            </a:r>
            <a:r>
              <a:rPr lang="en-IN" dirty="0"/>
              <a:t>, </a:t>
            </a:r>
            <a:r>
              <a:rPr lang="en-IN" dirty="0" err="1"/>
              <a:t>UseCase</a:t>
            </a:r>
            <a:endParaRPr lang="en-IN" dirty="0"/>
          </a:p>
          <a:p>
            <a:r>
              <a:rPr lang="en-IN" b="1" dirty="0"/>
              <a:t>Enable tag inheritance</a:t>
            </a:r>
            <a:r>
              <a:rPr lang="en-IN" dirty="0"/>
              <a:t> in Cost Management</a:t>
            </a:r>
          </a:p>
          <a:p>
            <a:r>
              <a:rPr lang="en-IN" b="1" dirty="0"/>
              <a:t>Configure cost allocation rules</a:t>
            </a:r>
            <a:r>
              <a:rPr lang="en-IN" dirty="0"/>
              <a:t> for shared AI services</a:t>
            </a:r>
          </a:p>
          <a:p>
            <a:r>
              <a:rPr lang="en-IN" b="1" dirty="0"/>
              <a:t>Build </a:t>
            </a:r>
            <a:r>
              <a:rPr lang="en-IN" b="1" dirty="0" err="1"/>
              <a:t>showback</a:t>
            </a:r>
            <a:r>
              <a:rPr lang="en-IN" b="1" dirty="0"/>
              <a:t> reports</a:t>
            </a:r>
            <a:r>
              <a:rPr lang="en-IN" dirty="0"/>
              <a:t> using Cost Analysis + Power BI</a:t>
            </a:r>
          </a:p>
          <a:p>
            <a:r>
              <a:rPr lang="en-IN" b="1" dirty="0"/>
              <a:t>Automate chargeback</a:t>
            </a:r>
            <a:r>
              <a:rPr lang="en-IN" dirty="0"/>
              <a:t> via Cost Management exports + billing integration</a:t>
            </a:r>
          </a:p>
          <a:p>
            <a:pPr algn="l"/>
            <a:endParaRPr lang="en-IN" sz="2000" dirty="0" err="1"/>
          </a:p>
        </p:txBody>
      </p:sp>
    </p:spTree>
    <p:extLst>
      <p:ext uri="{BB962C8B-B14F-4D97-AF65-F5344CB8AC3E}">
        <p14:creationId xmlns:p14="http://schemas.microsoft.com/office/powerpoint/2010/main" val="203342019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4569A-2223-901F-E8FF-44E8BC2C12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A6984B-0192-C220-59E3-EFF74CDE1384}"/>
              </a:ext>
            </a:extLst>
          </p:cNvPr>
          <p:cNvSpPr>
            <a:spLocks noGrp="1"/>
          </p:cNvSpPr>
          <p:nvPr>
            <p:ph type="title"/>
          </p:nvPr>
        </p:nvSpPr>
        <p:spPr>
          <a:xfrm>
            <a:off x="575481" y="599436"/>
            <a:ext cx="11018520" cy="553998"/>
          </a:xfrm>
        </p:spPr>
        <p:txBody>
          <a:bodyPr wrap="square" anchor="t">
            <a:normAutofit/>
          </a:bodyPr>
          <a:lstStyle/>
          <a:p>
            <a:pPr>
              <a:lnSpc>
                <a:spcPct val="90000"/>
              </a:lnSpc>
            </a:pPr>
            <a:r>
              <a:rPr lang="en-IN" sz="2000" b="1"/>
              <a:t>Budget Alerts Configuration</a:t>
            </a:r>
            <a:br>
              <a:rPr lang="en-IN" sz="2000" b="1"/>
            </a:br>
            <a:endParaRPr lang="en-IN" sz="2000"/>
          </a:p>
        </p:txBody>
      </p:sp>
      <p:sp>
        <p:nvSpPr>
          <p:cNvPr id="3" name="Footer Placeholder 2">
            <a:extLst>
              <a:ext uri="{FF2B5EF4-FFF2-40B4-BE49-F238E27FC236}">
                <a16:creationId xmlns:a16="http://schemas.microsoft.com/office/drawing/2014/main" id="{20E154BD-1C87-DCC2-629A-03E2294C1DFA}"/>
              </a:ext>
            </a:extLst>
          </p:cNvPr>
          <p:cNvSpPr>
            <a:spLocks noGrp="1"/>
          </p:cNvSpPr>
          <p:nvPr>
            <p:ph type="ftr" sz="quarter" idx="3"/>
          </p:nvPr>
        </p:nvSpPr>
        <p:spPr>
          <a:xfrm>
            <a:off x="4038600" y="6539518"/>
            <a:ext cx="4114800" cy="123111"/>
          </a:xfrm>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000000"/>
                </a:solidFill>
                <a:effectLst/>
                <a:uLnTx/>
                <a:uFillTx/>
              </a:rPr>
              <a:t>Microsoft Confidential</a:t>
            </a:r>
          </a:p>
        </p:txBody>
      </p:sp>
      <p:sp>
        <p:nvSpPr>
          <p:cNvPr id="4" name="Slide Number Placeholder 3">
            <a:extLst>
              <a:ext uri="{FF2B5EF4-FFF2-40B4-BE49-F238E27FC236}">
                <a16:creationId xmlns:a16="http://schemas.microsoft.com/office/drawing/2014/main" id="{85B0F453-1B32-B4F8-5920-817252EF4AB8}"/>
              </a:ext>
            </a:extLst>
          </p:cNvPr>
          <p:cNvSpPr>
            <a:spLocks noGrp="1"/>
          </p:cNvSpPr>
          <p:nvPr>
            <p:ph type="sldNum" sz="quarter" idx="4"/>
          </p:nvPr>
        </p:nvSpPr>
        <p:spPr>
          <a:xfrm>
            <a:off x="11697272" y="6539518"/>
            <a:ext cx="404240" cy="123111"/>
          </a:xfrm>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000000"/>
                </a:solidFill>
                <a:effectLst/>
                <a:uLnTx/>
                <a:uFillTx/>
              </a:rPr>
              <a:pPr marL="0" marR="0" lvl="0" indent="0" defTabSz="914400" rtl="0" eaLnBrk="1" fontAlgn="auto" latinLnBrk="0" hangingPunct="1">
                <a:spcBef>
                  <a:spcPts val="0"/>
                </a:spcBef>
                <a:spcAft>
                  <a:spcPts val="600"/>
                </a:spcAft>
                <a:buClrTx/>
                <a:buSzTx/>
                <a:buFontTx/>
                <a:buNone/>
                <a:tabLst/>
                <a:defRPr/>
              </a:pPr>
              <a:t>19</a:t>
            </a:fld>
            <a:endParaRPr kumimoji="0" lang="en-US" b="0" i="0" u="none" strike="noStrike" kern="1200" cap="none" spc="0" normalizeH="0" baseline="0" noProof="0">
              <a:ln>
                <a:noFill/>
              </a:ln>
              <a:solidFill>
                <a:srgbClr val="000000"/>
              </a:solidFill>
              <a:effectLst/>
              <a:uLnTx/>
              <a:uFillTx/>
            </a:endParaRPr>
          </a:p>
        </p:txBody>
      </p:sp>
      <p:graphicFrame>
        <p:nvGraphicFramePr>
          <p:cNvPr id="6" name="Table 5">
            <a:extLst>
              <a:ext uri="{FF2B5EF4-FFF2-40B4-BE49-F238E27FC236}">
                <a16:creationId xmlns:a16="http://schemas.microsoft.com/office/drawing/2014/main" id="{C260D933-5C98-9B72-A85E-CF0370598B4B}"/>
              </a:ext>
            </a:extLst>
          </p:cNvPr>
          <p:cNvGraphicFramePr>
            <a:graphicFrameLocks noGrp="1"/>
          </p:cNvGraphicFramePr>
          <p:nvPr>
            <p:extLst>
              <p:ext uri="{D42A27DB-BD31-4B8C-83A1-F6EECF244321}">
                <p14:modId xmlns:p14="http://schemas.microsoft.com/office/powerpoint/2010/main" val="2613799797"/>
              </p:ext>
            </p:extLst>
          </p:nvPr>
        </p:nvGraphicFramePr>
        <p:xfrm>
          <a:off x="1663262" y="1631731"/>
          <a:ext cx="9957240" cy="4349381"/>
        </p:xfrm>
        <a:graphic>
          <a:graphicData uri="http://schemas.openxmlformats.org/drawingml/2006/table">
            <a:tbl>
              <a:tblPr firstRow="1" bandRow="1"/>
              <a:tblGrid>
                <a:gridCol w="3322048">
                  <a:extLst>
                    <a:ext uri="{9D8B030D-6E8A-4147-A177-3AD203B41FA5}">
                      <a16:colId xmlns:a16="http://schemas.microsoft.com/office/drawing/2014/main" val="2733001380"/>
                    </a:ext>
                  </a:extLst>
                </a:gridCol>
                <a:gridCol w="2685664">
                  <a:extLst>
                    <a:ext uri="{9D8B030D-6E8A-4147-A177-3AD203B41FA5}">
                      <a16:colId xmlns:a16="http://schemas.microsoft.com/office/drawing/2014/main" val="3800869501"/>
                    </a:ext>
                  </a:extLst>
                </a:gridCol>
                <a:gridCol w="3949528">
                  <a:extLst>
                    <a:ext uri="{9D8B030D-6E8A-4147-A177-3AD203B41FA5}">
                      <a16:colId xmlns:a16="http://schemas.microsoft.com/office/drawing/2014/main" val="2405605922"/>
                    </a:ext>
                  </a:extLst>
                </a:gridCol>
              </a:tblGrid>
              <a:tr h="423641">
                <a:tc>
                  <a:txBody>
                    <a:bodyPr/>
                    <a:lstStyle/>
                    <a:p>
                      <a:pPr algn="l">
                        <a:buNone/>
                      </a:pPr>
                      <a:r>
                        <a:rPr lang="en-IN" sz="1600">
                          <a:effectLst/>
                        </a:rPr>
                        <a:t>Alert Type</a:t>
                      </a:r>
                    </a:p>
                  </a:txBody>
                  <a:tcPr marL="55432" marR="55432" marT="27715" marB="27715" anchor="ctr">
                    <a:lnL>
                      <a:noFill/>
                    </a:lnL>
                    <a:lnR>
                      <a:noFill/>
                    </a:lnR>
                    <a:lnT>
                      <a:noFill/>
                    </a:lnT>
                    <a:lnB>
                      <a:noFill/>
                    </a:lnB>
                    <a:noFill/>
                  </a:tcPr>
                </a:tc>
                <a:tc>
                  <a:txBody>
                    <a:bodyPr/>
                    <a:lstStyle/>
                    <a:p>
                      <a:pPr algn="l">
                        <a:buNone/>
                      </a:pPr>
                      <a:r>
                        <a:rPr lang="en-IN" sz="1600">
                          <a:effectLst/>
                        </a:rPr>
                        <a:t>Threshold</a:t>
                      </a:r>
                    </a:p>
                  </a:txBody>
                  <a:tcPr marL="55432" marR="55432" marT="27715" marB="27715" anchor="ctr">
                    <a:lnL>
                      <a:noFill/>
                    </a:lnL>
                    <a:lnR>
                      <a:noFill/>
                    </a:lnR>
                    <a:lnT>
                      <a:noFill/>
                    </a:lnT>
                    <a:lnB>
                      <a:noFill/>
                    </a:lnB>
                    <a:noFill/>
                  </a:tcPr>
                </a:tc>
                <a:tc>
                  <a:txBody>
                    <a:bodyPr/>
                    <a:lstStyle/>
                    <a:p>
                      <a:pPr algn="l">
                        <a:buNone/>
                      </a:pPr>
                      <a:r>
                        <a:rPr lang="en-IN" sz="1600">
                          <a:effectLst/>
                        </a:rPr>
                        <a:t>Action</a:t>
                      </a:r>
                    </a:p>
                  </a:txBody>
                  <a:tcPr marL="55432" marR="55432" marT="27715" marB="27715" anchor="ctr">
                    <a:lnL>
                      <a:noFill/>
                    </a:lnL>
                    <a:lnR>
                      <a:noFill/>
                    </a:lnR>
                    <a:lnT>
                      <a:noFill/>
                    </a:lnT>
                    <a:lnB>
                      <a:noFill/>
                    </a:lnB>
                    <a:noFill/>
                  </a:tcPr>
                </a:tc>
                <a:extLst>
                  <a:ext uri="{0D108BD9-81ED-4DB2-BD59-A6C34878D82A}">
                    <a16:rowId xmlns:a16="http://schemas.microsoft.com/office/drawing/2014/main" val="2008019338"/>
                  </a:ext>
                </a:extLst>
              </a:tr>
              <a:tr h="423641">
                <a:tc>
                  <a:txBody>
                    <a:bodyPr/>
                    <a:lstStyle/>
                    <a:p>
                      <a:pPr>
                        <a:buNone/>
                      </a:pPr>
                      <a:r>
                        <a:rPr lang="en-IN" sz="1600">
                          <a:effectLst/>
                        </a:rPr>
                        <a:t>Budget (Actual)</a:t>
                      </a:r>
                    </a:p>
                  </a:txBody>
                  <a:tcPr marL="55432" marR="55432" marT="27715" marB="27715" anchor="ctr">
                    <a:lnL>
                      <a:noFill/>
                    </a:lnL>
                    <a:lnR>
                      <a:noFill/>
                    </a:lnR>
                    <a:lnT>
                      <a:noFill/>
                    </a:lnT>
                    <a:lnB>
                      <a:noFill/>
                    </a:lnB>
                    <a:noFill/>
                  </a:tcPr>
                </a:tc>
                <a:tc>
                  <a:txBody>
                    <a:bodyPr/>
                    <a:lstStyle/>
                    <a:p>
                      <a:pPr>
                        <a:buNone/>
                      </a:pPr>
                      <a:r>
                        <a:rPr lang="en-IN" sz="1600">
                          <a:effectLst/>
                        </a:rPr>
                        <a:t>50%</a:t>
                      </a:r>
                    </a:p>
                  </a:txBody>
                  <a:tcPr marL="55432" marR="55432" marT="27715" marB="27715" anchor="ctr">
                    <a:lnL>
                      <a:noFill/>
                    </a:lnL>
                    <a:lnR>
                      <a:noFill/>
                    </a:lnR>
                    <a:lnT>
                      <a:noFill/>
                    </a:lnT>
                    <a:lnB>
                      <a:noFill/>
                    </a:lnB>
                    <a:noFill/>
                  </a:tcPr>
                </a:tc>
                <a:tc>
                  <a:txBody>
                    <a:bodyPr/>
                    <a:lstStyle/>
                    <a:p>
                      <a:pPr>
                        <a:buNone/>
                      </a:pPr>
                      <a:r>
                        <a:rPr lang="en-IN" sz="1600">
                          <a:effectLst/>
                        </a:rPr>
                        <a:t>Notify FinOps team</a:t>
                      </a:r>
                    </a:p>
                  </a:txBody>
                  <a:tcPr marL="55432" marR="55432" marT="27715" marB="27715" anchor="ctr">
                    <a:lnL>
                      <a:noFill/>
                    </a:lnL>
                    <a:lnR>
                      <a:noFill/>
                    </a:lnR>
                    <a:lnT>
                      <a:noFill/>
                    </a:lnT>
                    <a:lnB>
                      <a:noFill/>
                    </a:lnB>
                    <a:noFill/>
                  </a:tcPr>
                </a:tc>
                <a:extLst>
                  <a:ext uri="{0D108BD9-81ED-4DB2-BD59-A6C34878D82A}">
                    <a16:rowId xmlns:a16="http://schemas.microsoft.com/office/drawing/2014/main" val="3457989421"/>
                  </a:ext>
                </a:extLst>
              </a:tr>
              <a:tr h="711702">
                <a:tc>
                  <a:txBody>
                    <a:bodyPr/>
                    <a:lstStyle/>
                    <a:p>
                      <a:pPr>
                        <a:buNone/>
                      </a:pPr>
                      <a:r>
                        <a:rPr lang="en-IN" sz="1600">
                          <a:effectLst/>
                        </a:rPr>
                        <a:t>Budget (Actual)</a:t>
                      </a:r>
                    </a:p>
                  </a:txBody>
                  <a:tcPr marL="55432" marR="55432" marT="27715" marB="27715" anchor="ctr">
                    <a:lnL>
                      <a:noFill/>
                    </a:lnL>
                    <a:lnR>
                      <a:noFill/>
                    </a:lnR>
                    <a:lnT>
                      <a:noFill/>
                    </a:lnT>
                    <a:lnB>
                      <a:noFill/>
                    </a:lnB>
                    <a:noFill/>
                  </a:tcPr>
                </a:tc>
                <a:tc>
                  <a:txBody>
                    <a:bodyPr/>
                    <a:lstStyle/>
                    <a:p>
                      <a:pPr>
                        <a:buNone/>
                      </a:pPr>
                      <a:r>
                        <a:rPr lang="en-IN" sz="1600">
                          <a:effectLst/>
                        </a:rPr>
                        <a:t>75%</a:t>
                      </a:r>
                    </a:p>
                  </a:txBody>
                  <a:tcPr marL="55432" marR="55432" marT="27715" marB="27715" anchor="ctr">
                    <a:lnL>
                      <a:noFill/>
                    </a:lnL>
                    <a:lnR>
                      <a:noFill/>
                    </a:lnR>
                    <a:lnT>
                      <a:noFill/>
                    </a:lnT>
                    <a:lnB>
                      <a:noFill/>
                    </a:lnB>
                    <a:noFill/>
                  </a:tcPr>
                </a:tc>
                <a:tc>
                  <a:txBody>
                    <a:bodyPr/>
                    <a:lstStyle/>
                    <a:p>
                      <a:pPr>
                        <a:buNone/>
                      </a:pPr>
                      <a:r>
                        <a:rPr lang="en-IN" sz="1600">
                          <a:effectLst/>
                        </a:rPr>
                        <a:t>Notify engineering leads</a:t>
                      </a:r>
                    </a:p>
                  </a:txBody>
                  <a:tcPr marL="55432" marR="55432" marT="27715" marB="27715" anchor="ctr">
                    <a:lnL>
                      <a:noFill/>
                    </a:lnL>
                    <a:lnR>
                      <a:noFill/>
                    </a:lnR>
                    <a:lnT>
                      <a:noFill/>
                    </a:lnT>
                    <a:lnB>
                      <a:noFill/>
                    </a:lnB>
                    <a:noFill/>
                  </a:tcPr>
                </a:tc>
                <a:extLst>
                  <a:ext uri="{0D108BD9-81ED-4DB2-BD59-A6C34878D82A}">
                    <a16:rowId xmlns:a16="http://schemas.microsoft.com/office/drawing/2014/main" val="2169892806"/>
                  </a:ext>
                </a:extLst>
              </a:tr>
              <a:tr h="711702">
                <a:tc>
                  <a:txBody>
                    <a:bodyPr/>
                    <a:lstStyle/>
                    <a:p>
                      <a:pPr>
                        <a:buNone/>
                      </a:pPr>
                      <a:r>
                        <a:rPr lang="en-IN" sz="1600">
                          <a:effectLst/>
                        </a:rPr>
                        <a:t>Budget (Actual)</a:t>
                      </a:r>
                    </a:p>
                  </a:txBody>
                  <a:tcPr marL="55432" marR="55432" marT="27715" marB="27715" anchor="ctr">
                    <a:lnL>
                      <a:noFill/>
                    </a:lnL>
                    <a:lnR>
                      <a:noFill/>
                    </a:lnR>
                    <a:lnT>
                      <a:noFill/>
                    </a:lnT>
                    <a:lnB>
                      <a:noFill/>
                    </a:lnB>
                    <a:noFill/>
                  </a:tcPr>
                </a:tc>
                <a:tc>
                  <a:txBody>
                    <a:bodyPr/>
                    <a:lstStyle/>
                    <a:p>
                      <a:pPr>
                        <a:buNone/>
                      </a:pPr>
                      <a:r>
                        <a:rPr lang="en-IN" sz="1600">
                          <a:effectLst/>
                        </a:rPr>
                        <a:t>90%</a:t>
                      </a:r>
                    </a:p>
                  </a:txBody>
                  <a:tcPr marL="55432" marR="55432" marT="27715" marB="27715" anchor="ctr">
                    <a:lnL>
                      <a:noFill/>
                    </a:lnL>
                    <a:lnR>
                      <a:noFill/>
                    </a:lnR>
                    <a:lnT>
                      <a:noFill/>
                    </a:lnT>
                    <a:lnB>
                      <a:noFill/>
                    </a:lnB>
                    <a:noFill/>
                  </a:tcPr>
                </a:tc>
                <a:tc>
                  <a:txBody>
                    <a:bodyPr/>
                    <a:lstStyle/>
                    <a:p>
                      <a:pPr>
                        <a:buNone/>
                      </a:pPr>
                      <a:r>
                        <a:rPr lang="en-GB" sz="1600">
                          <a:effectLst/>
                        </a:rPr>
                        <a:t>Notify VP Engineering + trigger review</a:t>
                      </a:r>
                    </a:p>
                  </a:txBody>
                  <a:tcPr marL="55432" marR="55432" marT="27715" marB="27715" anchor="ctr">
                    <a:lnL>
                      <a:noFill/>
                    </a:lnL>
                    <a:lnR>
                      <a:noFill/>
                    </a:lnR>
                    <a:lnT>
                      <a:noFill/>
                    </a:lnT>
                    <a:lnB>
                      <a:noFill/>
                    </a:lnB>
                    <a:noFill/>
                  </a:tcPr>
                </a:tc>
                <a:extLst>
                  <a:ext uri="{0D108BD9-81ED-4DB2-BD59-A6C34878D82A}">
                    <a16:rowId xmlns:a16="http://schemas.microsoft.com/office/drawing/2014/main" val="3822103878"/>
                  </a:ext>
                </a:extLst>
              </a:tr>
              <a:tr h="711702">
                <a:tc>
                  <a:txBody>
                    <a:bodyPr/>
                    <a:lstStyle/>
                    <a:p>
                      <a:pPr>
                        <a:buNone/>
                      </a:pPr>
                      <a:r>
                        <a:rPr lang="en-IN" sz="1600">
                          <a:effectLst/>
                        </a:rPr>
                        <a:t>Budget (Actual)</a:t>
                      </a:r>
                    </a:p>
                  </a:txBody>
                  <a:tcPr marL="55432" marR="55432" marT="27715" marB="27715" anchor="ctr">
                    <a:lnL>
                      <a:noFill/>
                    </a:lnL>
                    <a:lnR>
                      <a:noFill/>
                    </a:lnR>
                    <a:lnT>
                      <a:noFill/>
                    </a:lnT>
                    <a:lnB>
                      <a:noFill/>
                    </a:lnB>
                    <a:noFill/>
                  </a:tcPr>
                </a:tc>
                <a:tc>
                  <a:txBody>
                    <a:bodyPr/>
                    <a:lstStyle/>
                    <a:p>
                      <a:pPr>
                        <a:buNone/>
                      </a:pPr>
                      <a:r>
                        <a:rPr lang="en-IN" sz="1600">
                          <a:effectLst/>
                        </a:rPr>
                        <a:t>100%</a:t>
                      </a:r>
                    </a:p>
                  </a:txBody>
                  <a:tcPr marL="55432" marR="55432" marT="27715" marB="27715" anchor="ctr">
                    <a:lnL>
                      <a:noFill/>
                    </a:lnL>
                    <a:lnR>
                      <a:noFill/>
                    </a:lnR>
                    <a:lnT>
                      <a:noFill/>
                    </a:lnT>
                    <a:lnB>
                      <a:noFill/>
                    </a:lnB>
                    <a:noFill/>
                  </a:tcPr>
                </a:tc>
                <a:tc>
                  <a:txBody>
                    <a:bodyPr/>
                    <a:lstStyle/>
                    <a:p>
                      <a:pPr>
                        <a:buNone/>
                      </a:pPr>
                      <a:r>
                        <a:rPr lang="en-IN" sz="1600">
                          <a:effectLst/>
                        </a:rPr>
                        <a:t>Trigger automated cost controls</a:t>
                      </a:r>
                    </a:p>
                  </a:txBody>
                  <a:tcPr marL="55432" marR="55432" marT="27715" marB="27715" anchor="ctr">
                    <a:lnL>
                      <a:noFill/>
                    </a:lnL>
                    <a:lnR>
                      <a:noFill/>
                    </a:lnR>
                    <a:lnT>
                      <a:noFill/>
                    </a:lnT>
                    <a:lnB>
                      <a:noFill/>
                    </a:lnB>
                    <a:noFill/>
                  </a:tcPr>
                </a:tc>
                <a:extLst>
                  <a:ext uri="{0D108BD9-81ED-4DB2-BD59-A6C34878D82A}">
                    <a16:rowId xmlns:a16="http://schemas.microsoft.com/office/drawing/2014/main" val="2960547720"/>
                  </a:ext>
                </a:extLst>
              </a:tr>
              <a:tr h="943352">
                <a:tc>
                  <a:txBody>
                    <a:bodyPr/>
                    <a:lstStyle/>
                    <a:p>
                      <a:pPr>
                        <a:buNone/>
                      </a:pPr>
                      <a:r>
                        <a:rPr lang="en-IN" sz="1600">
                          <a:effectLst/>
                        </a:rPr>
                        <a:t>Budget (Forecast)</a:t>
                      </a:r>
                    </a:p>
                  </a:txBody>
                  <a:tcPr marL="55432" marR="55432" marT="27715" marB="27715" anchor="ctr">
                    <a:lnL>
                      <a:noFill/>
                    </a:lnL>
                    <a:lnR>
                      <a:noFill/>
                    </a:lnR>
                    <a:lnT>
                      <a:noFill/>
                    </a:lnT>
                    <a:lnB>
                      <a:noFill/>
                    </a:lnB>
                    <a:noFill/>
                  </a:tcPr>
                </a:tc>
                <a:tc>
                  <a:txBody>
                    <a:bodyPr/>
                    <a:lstStyle/>
                    <a:p>
                      <a:pPr>
                        <a:buNone/>
                      </a:pPr>
                      <a:r>
                        <a:rPr lang="en-IN" sz="1600">
                          <a:effectLst/>
                        </a:rPr>
                        <a:t>110%</a:t>
                      </a:r>
                    </a:p>
                  </a:txBody>
                  <a:tcPr marL="55432" marR="55432" marT="27715" marB="27715" anchor="ctr">
                    <a:lnL>
                      <a:noFill/>
                    </a:lnL>
                    <a:lnR>
                      <a:noFill/>
                    </a:lnR>
                    <a:lnT>
                      <a:noFill/>
                    </a:lnT>
                    <a:lnB>
                      <a:noFill/>
                    </a:lnB>
                    <a:noFill/>
                  </a:tcPr>
                </a:tc>
                <a:tc>
                  <a:txBody>
                    <a:bodyPr/>
                    <a:lstStyle/>
                    <a:p>
                      <a:pPr>
                        <a:buNone/>
                      </a:pPr>
                      <a:r>
                        <a:rPr lang="en-GB" sz="1600">
                          <a:effectLst/>
                        </a:rPr>
                        <a:t>Pre-emptive notification to all stakeholders</a:t>
                      </a:r>
                    </a:p>
                  </a:txBody>
                  <a:tcPr marL="55432" marR="55432" marT="27715" marB="27715" anchor="ctr">
                    <a:lnL>
                      <a:noFill/>
                    </a:lnL>
                    <a:lnR>
                      <a:noFill/>
                    </a:lnR>
                    <a:lnT>
                      <a:noFill/>
                    </a:lnT>
                    <a:lnB>
                      <a:noFill/>
                    </a:lnB>
                    <a:noFill/>
                  </a:tcPr>
                </a:tc>
                <a:extLst>
                  <a:ext uri="{0D108BD9-81ED-4DB2-BD59-A6C34878D82A}">
                    <a16:rowId xmlns:a16="http://schemas.microsoft.com/office/drawing/2014/main" val="1968239096"/>
                  </a:ext>
                </a:extLst>
              </a:tr>
              <a:tr h="423641">
                <a:tc>
                  <a:txBody>
                    <a:bodyPr/>
                    <a:lstStyle/>
                    <a:p>
                      <a:pPr>
                        <a:buNone/>
                      </a:pPr>
                      <a:r>
                        <a:rPr lang="en-IN" sz="1600">
                          <a:effectLst/>
                        </a:rPr>
                        <a:t>Anomaly</a:t>
                      </a:r>
                    </a:p>
                  </a:txBody>
                  <a:tcPr marL="55432" marR="55432" marT="27715" marB="27715" anchor="ctr">
                    <a:lnL>
                      <a:noFill/>
                    </a:lnL>
                    <a:lnR>
                      <a:noFill/>
                    </a:lnR>
                    <a:lnT>
                      <a:noFill/>
                    </a:lnT>
                    <a:lnB>
                      <a:noFill/>
                    </a:lnB>
                    <a:noFill/>
                  </a:tcPr>
                </a:tc>
                <a:tc>
                  <a:txBody>
                    <a:bodyPr/>
                    <a:lstStyle/>
                    <a:p>
                      <a:pPr>
                        <a:buNone/>
                      </a:pPr>
                      <a:r>
                        <a:rPr lang="en-IN" sz="1600">
                          <a:effectLst/>
                        </a:rPr>
                        <a:t>Auto-detected</a:t>
                      </a:r>
                    </a:p>
                  </a:txBody>
                  <a:tcPr marL="55432" marR="55432" marT="27715" marB="27715" anchor="ctr">
                    <a:lnL>
                      <a:noFill/>
                    </a:lnL>
                    <a:lnR>
                      <a:noFill/>
                    </a:lnR>
                    <a:lnT>
                      <a:noFill/>
                    </a:lnT>
                    <a:lnB>
                      <a:noFill/>
                    </a:lnB>
                    <a:noFill/>
                  </a:tcPr>
                </a:tc>
                <a:tc>
                  <a:txBody>
                    <a:bodyPr/>
                    <a:lstStyle/>
                    <a:p>
                      <a:pPr>
                        <a:buNone/>
                      </a:pPr>
                      <a:r>
                        <a:rPr lang="en-IN" sz="1600" dirty="0">
                          <a:effectLst/>
                        </a:rPr>
                        <a:t>Investigate root cause</a:t>
                      </a:r>
                    </a:p>
                  </a:txBody>
                  <a:tcPr marL="55432" marR="55432" marT="27715" marB="27715" anchor="ctr">
                    <a:lnL>
                      <a:noFill/>
                    </a:lnL>
                    <a:lnR>
                      <a:noFill/>
                    </a:lnR>
                    <a:lnT>
                      <a:noFill/>
                    </a:lnT>
                    <a:lnB>
                      <a:noFill/>
                    </a:lnB>
                    <a:noFill/>
                  </a:tcPr>
                </a:tc>
                <a:extLst>
                  <a:ext uri="{0D108BD9-81ED-4DB2-BD59-A6C34878D82A}">
                    <a16:rowId xmlns:a16="http://schemas.microsoft.com/office/drawing/2014/main" val="409065567"/>
                  </a:ext>
                </a:extLst>
              </a:tr>
            </a:tbl>
          </a:graphicData>
        </a:graphic>
      </p:graphicFrame>
    </p:spTree>
    <p:extLst>
      <p:ext uri="{BB962C8B-B14F-4D97-AF65-F5344CB8AC3E}">
        <p14:creationId xmlns:p14="http://schemas.microsoft.com/office/powerpoint/2010/main" val="2351879588"/>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DCB7B-B5AE-5D8B-6891-A3AFC11A3B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3F2CFF-83CF-5535-9DD2-B9D6EEF6BEC5}"/>
              </a:ext>
            </a:extLst>
          </p:cNvPr>
          <p:cNvSpPr>
            <a:spLocks noGrp="1"/>
          </p:cNvSpPr>
          <p:nvPr>
            <p:ph type="title"/>
          </p:nvPr>
        </p:nvSpPr>
        <p:spPr>
          <a:xfrm>
            <a:off x="575481" y="599436"/>
            <a:ext cx="11018520" cy="553998"/>
          </a:xfrm>
        </p:spPr>
        <p:txBody>
          <a:bodyPr/>
          <a:lstStyle/>
          <a:p>
            <a:r>
              <a:rPr lang="en-GB" dirty="0"/>
              <a:t>Quota Management</a:t>
            </a:r>
            <a:endParaRPr lang="en-IN" dirty="0"/>
          </a:p>
        </p:txBody>
      </p:sp>
      <p:sp>
        <p:nvSpPr>
          <p:cNvPr id="3" name="Footer Placeholder 2">
            <a:extLst>
              <a:ext uri="{FF2B5EF4-FFF2-40B4-BE49-F238E27FC236}">
                <a16:creationId xmlns:a16="http://schemas.microsoft.com/office/drawing/2014/main" id="{8B181397-923E-01FB-8FD1-3B7FBC2DD417}"/>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3B1D0787-A2E4-8987-CC01-F34A74DF740A}"/>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5" name="TextBox 4">
            <a:extLst>
              <a:ext uri="{FF2B5EF4-FFF2-40B4-BE49-F238E27FC236}">
                <a16:creationId xmlns:a16="http://schemas.microsoft.com/office/drawing/2014/main" id="{12A1FA7F-507C-ED38-8B46-782A9556E17D}"/>
              </a:ext>
            </a:extLst>
          </p:cNvPr>
          <p:cNvSpPr txBox="1"/>
          <p:nvPr/>
        </p:nvSpPr>
        <p:spPr>
          <a:xfrm>
            <a:off x="735227" y="1834978"/>
            <a:ext cx="10651524" cy="3908762"/>
          </a:xfrm>
          <a:prstGeom prst="rect">
            <a:avLst/>
          </a:prstGeom>
          <a:noFill/>
        </p:spPr>
        <p:txBody>
          <a:bodyPr wrap="square" lIns="0" tIns="0" rIns="0" bIns="0" rtlCol="0">
            <a:spAutoFit/>
          </a:bodyPr>
          <a:lstStyle/>
          <a:p>
            <a:r>
              <a:rPr lang="en-IN" b="1" dirty="0"/>
              <a:t>Azure OpenAI Quota Architecture:</a:t>
            </a:r>
          </a:p>
          <a:p>
            <a:r>
              <a:rPr lang="en-IN" dirty="0"/>
              <a:t>Quota = Subscription → Region → Model → Deployment Type</a:t>
            </a:r>
          </a:p>
          <a:p>
            <a:r>
              <a:rPr lang="en-IN" dirty="0"/>
              <a:t>Unit: Tokens-Per-Minute (TPM)</a:t>
            </a:r>
          </a:p>
          <a:p>
            <a:r>
              <a:rPr lang="en-IN" dirty="0"/>
              <a:t>Default quota assigned on subscription onboarding</a:t>
            </a:r>
          </a:p>
          <a:p>
            <a:r>
              <a:rPr lang="en-IN" dirty="0"/>
              <a:t>Can request increases via self-service form</a:t>
            </a:r>
          </a:p>
          <a:p>
            <a:r>
              <a:rPr lang="en-IN" b="1" dirty="0"/>
              <a:t>Best Practices:</a:t>
            </a:r>
          </a:p>
          <a:p>
            <a:r>
              <a:rPr lang="en-IN" dirty="0"/>
              <a:t>Use </a:t>
            </a:r>
            <a:r>
              <a:rPr lang="en-IN" b="1" dirty="0"/>
              <a:t>Cognitive Services Usages Reader</a:t>
            </a:r>
            <a:r>
              <a:rPr lang="en-IN" dirty="0"/>
              <a:t> role for viewing quota</a:t>
            </a:r>
          </a:p>
          <a:p>
            <a:r>
              <a:rPr lang="en-IN" dirty="0"/>
              <a:t>Distribute TPM across deployments strategically</a:t>
            </a:r>
          </a:p>
          <a:p>
            <a:r>
              <a:rPr lang="en-IN" dirty="0"/>
              <a:t>Monitor utilization: if &lt; 50% utilized, consider consolidating</a:t>
            </a:r>
          </a:p>
          <a:p>
            <a:r>
              <a:rPr lang="en-IN" b="1" dirty="0"/>
              <a:t>Quotas Through AI Gateway:</a:t>
            </a:r>
          </a:p>
          <a:p>
            <a:r>
              <a:rPr lang="en-IN" dirty="0"/>
              <a:t>Enforce per-project token limits</a:t>
            </a:r>
          </a:p>
          <a:p>
            <a:r>
              <a:rPr lang="en-IN" dirty="0"/>
              <a:t>Prevent one team from monopolizing shared capacity</a:t>
            </a:r>
          </a:p>
          <a:p>
            <a:r>
              <a:rPr lang="en-IN" dirty="0"/>
              <a:t>Enable compliance boundaries for regulated workloads</a:t>
            </a:r>
          </a:p>
          <a:p>
            <a:pPr algn="l"/>
            <a:endParaRPr lang="en-IN" sz="2000" dirty="0" err="1"/>
          </a:p>
        </p:txBody>
      </p:sp>
    </p:spTree>
    <p:extLst>
      <p:ext uri="{BB962C8B-B14F-4D97-AF65-F5344CB8AC3E}">
        <p14:creationId xmlns:p14="http://schemas.microsoft.com/office/powerpoint/2010/main" val="98162905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1A5CD-1B7C-24BE-EDE7-31DF75BD71E2}"/>
              </a:ext>
            </a:extLst>
          </p:cNvPr>
          <p:cNvSpPr>
            <a:spLocks noGrp="1"/>
          </p:cNvSpPr>
          <p:nvPr>
            <p:ph type="title"/>
          </p:nvPr>
        </p:nvSpPr>
        <p:spPr/>
        <p:txBody>
          <a:bodyPr/>
          <a:lstStyle/>
          <a:p>
            <a:r>
              <a:rPr lang="en-GB" dirty="0"/>
              <a:t>Chargeback Tagging Architecture</a:t>
            </a:r>
            <a:endParaRPr lang="en-IN" dirty="0"/>
          </a:p>
        </p:txBody>
      </p:sp>
      <p:sp>
        <p:nvSpPr>
          <p:cNvPr id="3" name="Footer Placeholder 2">
            <a:extLst>
              <a:ext uri="{FF2B5EF4-FFF2-40B4-BE49-F238E27FC236}">
                <a16:creationId xmlns:a16="http://schemas.microsoft.com/office/drawing/2014/main" id="{31746301-4323-21C9-1A0C-4A57BA708F53}"/>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9B09BD6A-636F-31A2-7131-E51C361E6CAF}"/>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Box 5">
            <a:extLst>
              <a:ext uri="{FF2B5EF4-FFF2-40B4-BE49-F238E27FC236}">
                <a16:creationId xmlns:a16="http://schemas.microsoft.com/office/drawing/2014/main" id="{9F6E369E-6D1A-A6B0-A208-B98E92F8C740}"/>
              </a:ext>
            </a:extLst>
          </p:cNvPr>
          <p:cNvSpPr txBox="1"/>
          <p:nvPr/>
        </p:nvSpPr>
        <p:spPr>
          <a:xfrm>
            <a:off x="867103" y="1836683"/>
            <a:ext cx="10726898" cy="3631763"/>
          </a:xfrm>
          <a:prstGeom prst="rect">
            <a:avLst/>
          </a:prstGeom>
          <a:noFill/>
        </p:spPr>
        <p:txBody>
          <a:bodyPr wrap="square" lIns="0" tIns="0" rIns="0" bIns="0" rtlCol="0">
            <a:spAutoFit/>
          </a:bodyPr>
          <a:lstStyle/>
          <a:p>
            <a:r>
              <a:rPr lang="en-IN" b="1" dirty="0"/>
              <a:t>Tag Hierarchy:</a:t>
            </a:r>
          </a:p>
          <a:p>
            <a:r>
              <a:rPr lang="en-IN" dirty="0"/>
              <a:t>Azure Subscription (Billing boundary)</a:t>
            </a:r>
          </a:p>
          <a:p>
            <a:r>
              <a:rPr lang="en-IN" dirty="0"/>
              <a:t>├── Resource Group Tags</a:t>
            </a:r>
          </a:p>
          <a:p>
            <a:r>
              <a:rPr lang="en-IN" dirty="0"/>
              <a:t>│   ├── department: "AI-Platform"</a:t>
            </a:r>
          </a:p>
          <a:p>
            <a:r>
              <a:rPr lang="en-IN" dirty="0"/>
              <a:t>│   ├── cost-</a:t>
            </a:r>
            <a:r>
              <a:rPr lang="en-IN" dirty="0" err="1"/>
              <a:t>center</a:t>
            </a:r>
            <a:r>
              <a:rPr lang="en-IN" dirty="0"/>
              <a:t>: "CC-5001"</a:t>
            </a:r>
          </a:p>
          <a:p>
            <a:r>
              <a:rPr lang="en-IN" dirty="0"/>
              <a:t>│   └── environment: "production"</a:t>
            </a:r>
          </a:p>
          <a:p>
            <a:r>
              <a:rPr lang="en-IN" dirty="0"/>
              <a:t>├── Resource Tags (Azure OpenAI)</a:t>
            </a:r>
          </a:p>
          <a:p>
            <a:r>
              <a:rPr lang="en-IN" dirty="0"/>
              <a:t>│   ├── project: "customer-copilot"</a:t>
            </a:r>
          </a:p>
          <a:p>
            <a:r>
              <a:rPr lang="en-IN" dirty="0"/>
              <a:t>│   ├── agent: "research-agent"</a:t>
            </a:r>
          </a:p>
          <a:p>
            <a:r>
              <a:rPr lang="en-IN" dirty="0"/>
              <a:t>│   └── model-tier: "premium"</a:t>
            </a:r>
          </a:p>
          <a:p>
            <a:r>
              <a:rPr lang="en-IN" dirty="0"/>
              <a:t>└── Tag Inheritance (Cost Management)</a:t>
            </a:r>
          </a:p>
          <a:p>
            <a:r>
              <a:rPr lang="en-IN" dirty="0"/>
              <a:t>    └── Billing tags flow down to usage records</a:t>
            </a:r>
          </a:p>
          <a:p>
            <a:pPr algn="l"/>
            <a:endParaRPr lang="en-IN" sz="2000" dirty="0" err="1"/>
          </a:p>
        </p:txBody>
      </p:sp>
    </p:spTree>
    <p:extLst>
      <p:ext uri="{BB962C8B-B14F-4D97-AF65-F5344CB8AC3E}">
        <p14:creationId xmlns:p14="http://schemas.microsoft.com/office/powerpoint/2010/main" val="2424439576"/>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44DE0-17F9-48B2-1A67-0318D9380C72}"/>
              </a:ext>
            </a:extLst>
          </p:cNvPr>
          <p:cNvSpPr>
            <a:spLocks noGrp="1"/>
          </p:cNvSpPr>
          <p:nvPr>
            <p:ph type="title"/>
          </p:nvPr>
        </p:nvSpPr>
        <p:spPr>
          <a:xfrm>
            <a:off x="575481" y="599436"/>
            <a:ext cx="11018520" cy="1107996"/>
          </a:xfrm>
        </p:spPr>
        <p:txBody>
          <a:bodyPr/>
          <a:lstStyle/>
          <a:p>
            <a:r>
              <a:rPr lang="en-GB" b="1" dirty="0"/>
              <a:t>Azure Policy for Tag Enforcement</a:t>
            </a:r>
            <a:br>
              <a:rPr lang="en-GB" b="1" dirty="0"/>
            </a:br>
            <a:endParaRPr lang="en-IN" dirty="0"/>
          </a:p>
        </p:txBody>
      </p:sp>
      <p:sp>
        <p:nvSpPr>
          <p:cNvPr id="3" name="Footer Placeholder 2">
            <a:extLst>
              <a:ext uri="{FF2B5EF4-FFF2-40B4-BE49-F238E27FC236}">
                <a16:creationId xmlns:a16="http://schemas.microsoft.com/office/drawing/2014/main" id="{FB596F4A-784B-076E-FCC8-9F6BE109E11D}"/>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B11B425E-A8D0-74DA-0518-B1CC9ABF2FF7}"/>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Box 5">
            <a:extLst>
              <a:ext uri="{FF2B5EF4-FFF2-40B4-BE49-F238E27FC236}">
                <a16:creationId xmlns:a16="http://schemas.microsoft.com/office/drawing/2014/main" id="{05D36346-64E5-F894-8745-8416472DABBE}"/>
              </a:ext>
            </a:extLst>
          </p:cNvPr>
          <p:cNvSpPr txBox="1"/>
          <p:nvPr/>
        </p:nvSpPr>
        <p:spPr>
          <a:xfrm>
            <a:off x="859221" y="1820917"/>
            <a:ext cx="11018520" cy="3631763"/>
          </a:xfrm>
          <a:prstGeom prst="rect">
            <a:avLst/>
          </a:prstGeom>
          <a:noFill/>
        </p:spPr>
        <p:txBody>
          <a:bodyPr wrap="square" lIns="0" tIns="0" rIns="0" bIns="0" rtlCol="0">
            <a:spAutoFit/>
          </a:bodyPr>
          <a:lstStyle/>
          <a:p>
            <a:r>
              <a:rPr lang="en-IN" dirty="0"/>
              <a:t>{</a:t>
            </a:r>
          </a:p>
          <a:p>
            <a:r>
              <a:rPr lang="en-IN" dirty="0"/>
              <a:t>  "mode": "Indexed",</a:t>
            </a:r>
          </a:p>
          <a:p>
            <a:r>
              <a:rPr lang="en-IN" dirty="0"/>
              <a:t>  "</a:t>
            </a:r>
            <a:r>
              <a:rPr lang="en-IN" dirty="0" err="1"/>
              <a:t>policyRule</a:t>
            </a:r>
            <a:r>
              <a:rPr lang="en-IN" dirty="0"/>
              <a:t>": {</a:t>
            </a:r>
          </a:p>
          <a:p>
            <a:r>
              <a:rPr lang="en-IN" dirty="0"/>
              <a:t>    "if": {</a:t>
            </a:r>
          </a:p>
          <a:p>
            <a:r>
              <a:rPr lang="en-IN" dirty="0"/>
              <a:t>      "field": "[</a:t>
            </a:r>
            <a:r>
              <a:rPr lang="en-IN" dirty="0" err="1"/>
              <a:t>concat</a:t>
            </a:r>
            <a:r>
              <a:rPr lang="en-IN" dirty="0"/>
              <a:t>('tags[', parameters('</a:t>
            </a:r>
            <a:r>
              <a:rPr lang="en-IN" dirty="0" err="1"/>
              <a:t>tagName</a:t>
            </a:r>
            <a:r>
              <a:rPr lang="en-IN" dirty="0"/>
              <a:t>'), ']')]",</a:t>
            </a:r>
          </a:p>
          <a:p>
            <a:r>
              <a:rPr lang="en-IN" dirty="0"/>
              <a:t>      "exists": "false"</a:t>
            </a:r>
          </a:p>
          <a:p>
            <a:r>
              <a:rPr lang="en-IN" dirty="0"/>
              <a:t>    },</a:t>
            </a:r>
          </a:p>
          <a:p>
            <a:r>
              <a:rPr lang="en-IN" dirty="0"/>
              <a:t>    "then": {</a:t>
            </a:r>
          </a:p>
          <a:p>
            <a:r>
              <a:rPr lang="en-IN" dirty="0"/>
              <a:t>      "effect": "deny"</a:t>
            </a:r>
          </a:p>
          <a:p>
            <a:r>
              <a:rPr lang="en-IN" dirty="0"/>
              <a:t>    }</a:t>
            </a:r>
          </a:p>
          <a:p>
            <a:r>
              <a:rPr lang="en-IN" dirty="0"/>
              <a:t>  }</a:t>
            </a:r>
          </a:p>
          <a:p>
            <a:r>
              <a:rPr lang="en-IN" dirty="0"/>
              <a:t>}</a:t>
            </a:r>
          </a:p>
          <a:p>
            <a:pPr algn="l"/>
            <a:endParaRPr lang="en-IN" sz="2000" dirty="0" err="1"/>
          </a:p>
        </p:txBody>
      </p:sp>
    </p:spTree>
    <p:extLst>
      <p:ext uri="{BB962C8B-B14F-4D97-AF65-F5344CB8AC3E}">
        <p14:creationId xmlns:p14="http://schemas.microsoft.com/office/powerpoint/2010/main" val="188967336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3DA8D-3B41-AAD7-B5A4-B070ADB22434}"/>
              </a:ext>
            </a:extLst>
          </p:cNvPr>
          <p:cNvSpPr>
            <a:spLocks noGrp="1"/>
          </p:cNvSpPr>
          <p:nvPr>
            <p:ph type="title"/>
          </p:nvPr>
        </p:nvSpPr>
        <p:spPr>
          <a:xfrm>
            <a:off x="575481" y="599436"/>
            <a:ext cx="11018520" cy="1107996"/>
          </a:xfrm>
        </p:spPr>
        <p:txBody>
          <a:bodyPr/>
          <a:lstStyle/>
          <a:p>
            <a:r>
              <a:rPr lang="en-GB" b="1" dirty="0"/>
              <a:t>Cost Allocation Rules for Shared AI Services:</a:t>
            </a:r>
            <a:br>
              <a:rPr lang="en-GB" b="1" dirty="0"/>
            </a:br>
            <a:endParaRPr lang="en-IN" dirty="0"/>
          </a:p>
        </p:txBody>
      </p:sp>
      <p:sp>
        <p:nvSpPr>
          <p:cNvPr id="3" name="Footer Placeholder 2">
            <a:extLst>
              <a:ext uri="{FF2B5EF4-FFF2-40B4-BE49-F238E27FC236}">
                <a16:creationId xmlns:a16="http://schemas.microsoft.com/office/drawing/2014/main" id="{5B8AC456-1665-ECA0-546D-709426CBADBC}"/>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A798550D-543B-EF96-DA69-0304A2975BDF}"/>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Box 5">
            <a:extLst>
              <a:ext uri="{FF2B5EF4-FFF2-40B4-BE49-F238E27FC236}">
                <a16:creationId xmlns:a16="http://schemas.microsoft.com/office/drawing/2014/main" id="{20002998-5A5E-9572-6509-4DD1E7DBDB87}"/>
              </a:ext>
            </a:extLst>
          </p:cNvPr>
          <p:cNvSpPr txBox="1"/>
          <p:nvPr/>
        </p:nvSpPr>
        <p:spPr>
          <a:xfrm>
            <a:off x="945931" y="1907628"/>
            <a:ext cx="10097814" cy="1138773"/>
          </a:xfrm>
          <a:prstGeom prst="rect">
            <a:avLst/>
          </a:prstGeom>
          <a:noFill/>
        </p:spPr>
        <p:txBody>
          <a:bodyPr wrap="square" lIns="0" tIns="0" rIns="0" bIns="0" rtlCol="0">
            <a:spAutoFit/>
          </a:bodyPr>
          <a:lstStyle/>
          <a:p>
            <a:r>
              <a:rPr lang="en-GB" dirty="0"/>
              <a:t>Split AI Gateway costs proportionally by token consumption</a:t>
            </a:r>
          </a:p>
          <a:p>
            <a:r>
              <a:rPr lang="en-GB" dirty="0"/>
              <a:t>Allocate shared model deployment costs by project usage</a:t>
            </a:r>
          </a:p>
          <a:p>
            <a:r>
              <a:rPr lang="en-GB" dirty="0"/>
              <a:t>Distribute infrastructure costs (APIM, networking) evenly or by weight</a:t>
            </a:r>
          </a:p>
          <a:p>
            <a:pPr algn="l"/>
            <a:endParaRPr lang="en-IN" sz="2000" dirty="0" err="1"/>
          </a:p>
        </p:txBody>
      </p:sp>
    </p:spTree>
    <p:extLst>
      <p:ext uri="{BB962C8B-B14F-4D97-AF65-F5344CB8AC3E}">
        <p14:creationId xmlns:p14="http://schemas.microsoft.com/office/powerpoint/2010/main" val="3210854860"/>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096F9-3E73-FD54-7B52-E6A43335A92B}"/>
              </a:ext>
            </a:extLst>
          </p:cNvPr>
          <p:cNvSpPr>
            <a:spLocks noGrp="1"/>
          </p:cNvSpPr>
          <p:nvPr>
            <p:ph type="title"/>
          </p:nvPr>
        </p:nvSpPr>
        <p:spPr>
          <a:xfrm>
            <a:off x="584200" y="4075330"/>
            <a:ext cx="10500000" cy="1500000"/>
          </a:xfrm>
        </p:spPr>
        <p:txBody>
          <a:bodyPr wrap="square" anchor="b">
            <a:normAutofit/>
          </a:bodyPr>
          <a:lstStyle/>
          <a:p>
            <a:r>
              <a:rPr lang="en-US"/>
              <a:t>Optimization Strategies</a:t>
            </a:r>
          </a:p>
        </p:txBody>
      </p:sp>
      <p:sp>
        <p:nvSpPr>
          <p:cNvPr id="4" name="Footer Placeholder 3">
            <a:extLst>
              <a:ext uri="{FF2B5EF4-FFF2-40B4-BE49-F238E27FC236}">
                <a16:creationId xmlns:a16="http://schemas.microsoft.com/office/drawing/2014/main" id="{36E6FA2A-1A08-1385-B098-BEEF7FFA59AC}"/>
              </a:ext>
            </a:extLst>
          </p:cNvPr>
          <p:cNvSpPr>
            <a:spLocks noGrp="1"/>
          </p:cNvSpPr>
          <p:nvPr>
            <p:ph type="ftr" sz="quarter" idx="3"/>
          </p:nvPr>
        </p:nvSpPr>
        <p:spPr>
          <a:xfrm>
            <a:off x="4038600" y="6539518"/>
            <a:ext cx="4114800" cy="123111"/>
          </a:xfrm>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FFFFFF"/>
                </a:solidFill>
                <a:effectLst/>
                <a:uLnTx/>
                <a:uFillTx/>
              </a:rPr>
              <a:t>Microsoft Confidential</a:t>
            </a:r>
          </a:p>
        </p:txBody>
      </p:sp>
      <p:sp>
        <p:nvSpPr>
          <p:cNvPr id="5" name="Slide Number Placeholder 4">
            <a:extLst>
              <a:ext uri="{FF2B5EF4-FFF2-40B4-BE49-F238E27FC236}">
                <a16:creationId xmlns:a16="http://schemas.microsoft.com/office/drawing/2014/main" id="{EF48AD64-F1BB-1590-6B73-A66226052A61}"/>
              </a:ext>
            </a:extLst>
          </p:cNvPr>
          <p:cNvSpPr>
            <a:spLocks noGrp="1"/>
          </p:cNvSpPr>
          <p:nvPr>
            <p:ph type="sldNum" sz="quarter" idx="4"/>
          </p:nvPr>
        </p:nvSpPr>
        <p:spPr>
          <a:xfrm>
            <a:off x="11697272" y="6539518"/>
            <a:ext cx="404240" cy="123111"/>
          </a:xfrm>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FFFFFF"/>
                </a:solidFill>
                <a:effectLst/>
                <a:uLnTx/>
                <a:uFillTx/>
              </a:rPr>
              <a:pPr marL="0" marR="0" lvl="0" indent="0" defTabSz="914400" rtl="0" eaLnBrk="1" fontAlgn="auto" latinLnBrk="0" hangingPunct="1">
                <a:spcBef>
                  <a:spcPts val="0"/>
                </a:spcBef>
                <a:spcAft>
                  <a:spcPts val="600"/>
                </a:spcAft>
                <a:buClrTx/>
                <a:buSzTx/>
                <a:buFontTx/>
                <a:buNone/>
                <a:tabLst/>
                <a:defRPr/>
              </a:pPr>
              <a:t>24</a:t>
            </a:fld>
            <a:endParaRPr kumimoji="0" lang="en-US" b="0" i="0" u="none" strike="noStrike" kern="120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2547791689"/>
      </p:ext>
    </p:extLst>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B483-62D8-32F5-9A27-1A2498E88A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C3B786-1281-D50B-473A-1A57FCDC7F34}"/>
              </a:ext>
            </a:extLst>
          </p:cNvPr>
          <p:cNvSpPr>
            <a:spLocks noGrp="1"/>
          </p:cNvSpPr>
          <p:nvPr>
            <p:ph type="title"/>
          </p:nvPr>
        </p:nvSpPr>
        <p:spPr>
          <a:xfrm>
            <a:off x="575481" y="599436"/>
            <a:ext cx="11018520" cy="553998"/>
          </a:xfrm>
        </p:spPr>
        <p:txBody>
          <a:bodyPr vert="horz" wrap="square" lIns="0" tIns="0" rIns="0" bIns="0" rtlCol="0" anchor="t">
            <a:normAutofit/>
          </a:bodyPr>
          <a:lstStyle/>
          <a:p>
            <a:r>
              <a:rPr lang="en-IN" b="1"/>
              <a:t>Optimization Strategies: Prompt Efficiency &amp; Caching</a:t>
            </a:r>
          </a:p>
        </p:txBody>
      </p:sp>
      <p:sp>
        <p:nvSpPr>
          <p:cNvPr id="4" name="Footer Placeholder 3">
            <a:extLst>
              <a:ext uri="{FF2B5EF4-FFF2-40B4-BE49-F238E27FC236}">
                <a16:creationId xmlns:a16="http://schemas.microsoft.com/office/drawing/2014/main" id="{7C369FB0-CF2A-149A-AFA8-78CB6BA2E76C}"/>
              </a:ext>
            </a:extLst>
          </p:cNvPr>
          <p:cNvSpPr>
            <a:spLocks noGrp="1"/>
          </p:cNvSpPr>
          <p:nvPr>
            <p:ph type="ftr" sz="quarter" idx="3"/>
          </p:nvPr>
        </p:nvSpPr>
        <p:spPr>
          <a:xfrm>
            <a:off x="4038600" y="6539518"/>
            <a:ext cx="4114800" cy="123111"/>
          </a:xfrm>
        </p:spPr>
        <p:txBody>
          <a:bodyPr vert="horz" lIns="0" tIns="0" rIns="0" bIns="0" rtlCol="0" anchor="ctr">
            <a:normAutofit/>
          </a:bodyPr>
          <a:lstStyle/>
          <a:p>
            <a:pPr>
              <a:spcAft>
                <a:spcPts val="600"/>
              </a:spcAft>
              <a:defRPr/>
            </a:pPr>
            <a:r>
              <a:rPr lang="en-US" kern="1200">
                <a:solidFill>
                  <a:srgbClr val="000000"/>
                </a:solidFill>
                <a:latin typeface="Segoe UI"/>
                <a:ea typeface="+mn-ea"/>
                <a:cs typeface="+mn-cs"/>
              </a:rPr>
              <a:t>Microsoft Confidential</a:t>
            </a:r>
          </a:p>
        </p:txBody>
      </p:sp>
      <p:sp>
        <p:nvSpPr>
          <p:cNvPr id="5" name="Slide Number Placeholder 4">
            <a:extLst>
              <a:ext uri="{FF2B5EF4-FFF2-40B4-BE49-F238E27FC236}">
                <a16:creationId xmlns:a16="http://schemas.microsoft.com/office/drawing/2014/main" id="{D4124CD3-18F7-0DA3-7BBC-712228A73267}"/>
              </a:ext>
            </a:extLst>
          </p:cNvPr>
          <p:cNvSpPr>
            <a:spLocks noGrp="1"/>
          </p:cNvSpPr>
          <p:nvPr>
            <p:ph type="sldNum" sz="quarter" idx="4"/>
          </p:nvPr>
        </p:nvSpPr>
        <p:spPr>
          <a:xfrm>
            <a:off x="11697272" y="6539518"/>
            <a:ext cx="404240" cy="123111"/>
          </a:xfrm>
        </p:spPr>
        <p:txBody>
          <a:bodyPr vert="horz" wrap="square" lIns="0" tIns="0" rIns="0" bIns="0" rtlCol="0" anchor="ctr">
            <a:normAutofit/>
          </a:bodyPr>
          <a:lstStyle/>
          <a:p>
            <a:pPr>
              <a:spcAft>
                <a:spcPts val="600"/>
              </a:spcAft>
              <a:defRPr/>
            </a:pPr>
            <a:fld id="{8F881BB8-5469-4299-99B9-578BE3320A80}" type="slidenum">
              <a:rPr lang="en-US" smtClean="0">
                <a:solidFill>
                  <a:srgbClr val="000000"/>
                </a:solidFill>
                <a:latin typeface="Segoe UI"/>
              </a:rPr>
              <a:pPr>
                <a:spcAft>
                  <a:spcPts val="600"/>
                </a:spcAft>
                <a:defRPr/>
              </a:pPr>
              <a:t>25</a:t>
            </a:fld>
            <a:endParaRPr lang="en-US">
              <a:solidFill>
                <a:srgbClr val="000000"/>
              </a:solidFill>
              <a:latin typeface="Segoe UI"/>
            </a:endParaRPr>
          </a:p>
        </p:txBody>
      </p:sp>
      <p:sp>
        <p:nvSpPr>
          <p:cNvPr id="7" name="TextBox 6">
            <a:extLst>
              <a:ext uri="{FF2B5EF4-FFF2-40B4-BE49-F238E27FC236}">
                <a16:creationId xmlns:a16="http://schemas.microsoft.com/office/drawing/2014/main" id="{71FCF8E8-0201-FC14-CBEF-A6660CB62EDF}"/>
              </a:ext>
            </a:extLst>
          </p:cNvPr>
          <p:cNvSpPr txBox="1"/>
          <p:nvPr/>
        </p:nvSpPr>
        <p:spPr>
          <a:xfrm>
            <a:off x="740979" y="1742090"/>
            <a:ext cx="10586545" cy="4600000"/>
          </a:xfrm>
          <a:prstGeom prst="rect">
            <a:avLst/>
          </a:prstGeom>
          <a:noFill/>
        </p:spPr>
        <p:txBody>
          <a:bodyPr wrap="square" lIns="0" tIns="0" rIns="0" bIns="0" rtlCol="0">
            <a:normAutofit fontScale="92500"/>
          </a:bodyPr>
          <a:lstStyle/>
          <a:p>
            <a:r>
              <a:rPr lang="en-IN" b="1"/>
              <a:t>Prompt Engineering for Token Efficiency</a:t>
            </a:r>
          </a:p>
          <a:p>
            <a:r>
              <a:rPr lang="en-IN" b="1"/>
              <a:t>System prompt compression:</a:t>
            </a:r>
            <a:r>
              <a:rPr lang="en-IN"/>
              <a:t> Reduce system prompt length by 30-50% using structured instructions instead of verbose prose</a:t>
            </a:r>
          </a:p>
          <a:p>
            <a:r>
              <a:rPr lang="en-IN" b="1"/>
              <a:t>Few-shot example pruning:</a:t>
            </a:r>
            <a:r>
              <a:rPr lang="en-IN"/>
              <a:t> Limit in-context examples to 2-3 high-quality samples; remove redundant demonstrations</a:t>
            </a:r>
          </a:p>
          <a:p>
            <a:r>
              <a:rPr lang="en-IN" b="1"/>
              <a:t>Output format constraints:</a:t>
            </a:r>
            <a:r>
              <a:rPr lang="en-IN"/>
              <a:t> Use structured output (JSON schema) to reduce verbose free-text completions</a:t>
            </a:r>
          </a:p>
          <a:p>
            <a:r>
              <a:rPr lang="en-IN" b="1"/>
              <a:t>Max token limits:</a:t>
            </a:r>
            <a:r>
              <a:rPr lang="en-IN"/>
              <a:t> Set max_tokens on every API call; default completions can waste 2-4x tokens on unnecessary verbosity</a:t>
            </a:r>
          </a:p>
          <a:p>
            <a:endParaRPr lang="en-IN"/>
          </a:p>
          <a:p>
            <a:r>
              <a:rPr lang="en-IN" b="1"/>
              <a:t>Response Caching Strategies</a:t>
            </a:r>
          </a:p>
          <a:p>
            <a:r>
              <a:rPr lang="en-IN" b="1"/>
              <a:t>Semantic caching via APIM:</a:t>
            </a:r>
            <a:r>
              <a:rPr lang="en-IN"/>
              <a:t> Cache identical or near-identical prompts at the gateway layer; reduces redundant LLM calls by 20-40%</a:t>
            </a:r>
          </a:p>
          <a:p>
            <a:r>
              <a:rPr lang="en-IN" b="1"/>
              <a:t>Azure Redis Enterprise:</a:t>
            </a:r>
            <a:r>
              <a:rPr lang="en-IN"/>
              <a:t> Store computed responses with TTL-based expiration for frequently asked queries</a:t>
            </a:r>
          </a:p>
          <a:p>
            <a:r>
              <a:rPr lang="en-IN" b="1"/>
              <a:t>Prompt prefix caching:</a:t>
            </a:r>
            <a:r>
              <a:rPr lang="en-IN"/>
              <a:t> Azure OpenAI supports automatic prompt prefix caching; reuse long system prompts across calls</a:t>
            </a:r>
          </a:p>
          <a:p>
            <a:r>
              <a:rPr lang="en-IN" b="1"/>
              <a:t>Embedding-based cache lookup:</a:t>
            </a:r>
            <a:r>
              <a:rPr lang="en-IN"/>
              <a:t> Use cosine similarity on prompt embeddings to match semantically equivalent queries</a:t>
            </a:r>
          </a:p>
        </p:txBody>
      </p:sp>
    </p:spTree>
    <p:extLst>
      <p:ext uri="{BB962C8B-B14F-4D97-AF65-F5344CB8AC3E}">
        <p14:creationId xmlns:p14="http://schemas.microsoft.com/office/powerpoint/2010/main" val="2431937406"/>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B483-62D8-32F5-9A27-1A2498E88A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C3B786-1281-D50B-473A-1A57FCDC7F34}"/>
              </a:ext>
            </a:extLst>
          </p:cNvPr>
          <p:cNvSpPr>
            <a:spLocks noGrp="1"/>
          </p:cNvSpPr>
          <p:nvPr>
            <p:ph type="title"/>
          </p:nvPr>
        </p:nvSpPr>
        <p:spPr>
          <a:xfrm>
            <a:off x="575481" y="599436"/>
            <a:ext cx="11018520" cy="553998"/>
          </a:xfrm>
        </p:spPr>
        <p:txBody>
          <a:bodyPr vert="horz" wrap="square" lIns="0" tIns="0" rIns="0" bIns="0" rtlCol="0" anchor="t">
            <a:normAutofit/>
          </a:bodyPr>
          <a:lstStyle/>
          <a:p>
            <a:r>
              <a:rPr lang="en-IN" b="1"/>
              <a:t>Optimization Strategies: Model Selection</a:t>
            </a:r>
          </a:p>
        </p:txBody>
      </p:sp>
      <p:sp>
        <p:nvSpPr>
          <p:cNvPr id="4" name="Footer Placeholder 3">
            <a:extLst>
              <a:ext uri="{FF2B5EF4-FFF2-40B4-BE49-F238E27FC236}">
                <a16:creationId xmlns:a16="http://schemas.microsoft.com/office/drawing/2014/main" id="{7C369FB0-CF2A-149A-AFA8-78CB6BA2E76C}"/>
              </a:ext>
            </a:extLst>
          </p:cNvPr>
          <p:cNvSpPr>
            <a:spLocks noGrp="1"/>
          </p:cNvSpPr>
          <p:nvPr>
            <p:ph type="ftr" sz="quarter" idx="3"/>
          </p:nvPr>
        </p:nvSpPr>
        <p:spPr>
          <a:xfrm>
            <a:off x="4038600" y="6539518"/>
            <a:ext cx="4114800" cy="123111"/>
          </a:xfrm>
        </p:spPr>
        <p:txBody>
          <a:bodyPr vert="horz" lIns="0" tIns="0" rIns="0" bIns="0" rtlCol="0" anchor="ctr">
            <a:normAutofit/>
          </a:bodyPr>
          <a:lstStyle/>
          <a:p>
            <a:pPr>
              <a:spcAft>
                <a:spcPts val="600"/>
              </a:spcAft>
              <a:defRPr/>
            </a:pPr>
            <a:r>
              <a:rPr lang="en-US" kern="1200">
                <a:solidFill>
                  <a:srgbClr val="000000"/>
                </a:solidFill>
                <a:latin typeface="Segoe UI"/>
                <a:ea typeface="+mn-ea"/>
                <a:cs typeface="+mn-cs"/>
              </a:rPr>
              <a:t>Microsoft Confidential</a:t>
            </a:r>
          </a:p>
        </p:txBody>
      </p:sp>
      <p:sp>
        <p:nvSpPr>
          <p:cNvPr id="5" name="Slide Number Placeholder 4">
            <a:extLst>
              <a:ext uri="{FF2B5EF4-FFF2-40B4-BE49-F238E27FC236}">
                <a16:creationId xmlns:a16="http://schemas.microsoft.com/office/drawing/2014/main" id="{D4124CD3-18F7-0DA3-7BBC-712228A73267}"/>
              </a:ext>
            </a:extLst>
          </p:cNvPr>
          <p:cNvSpPr>
            <a:spLocks noGrp="1"/>
          </p:cNvSpPr>
          <p:nvPr>
            <p:ph type="sldNum" sz="quarter" idx="4"/>
          </p:nvPr>
        </p:nvSpPr>
        <p:spPr>
          <a:xfrm>
            <a:off x="11697272" y="6539518"/>
            <a:ext cx="404240" cy="123111"/>
          </a:xfrm>
        </p:spPr>
        <p:txBody>
          <a:bodyPr vert="horz" wrap="square" lIns="0" tIns="0" rIns="0" bIns="0" rtlCol="0" anchor="ctr">
            <a:normAutofit/>
          </a:bodyPr>
          <a:lstStyle/>
          <a:p>
            <a:pPr>
              <a:spcAft>
                <a:spcPts val="600"/>
              </a:spcAft>
              <a:defRPr/>
            </a:pPr>
            <a:fld id="{8F881BB8-5469-4299-99B9-578BE3320A80}" type="slidenum">
              <a:rPr lang="en-US" smtClean="0">
                <a:solidFill>
                  <a:srgbClr val="000000"/>
                </a:solidFill>
                <a:latin typeface="Segoe UI"/>
              </a:rPr>
              <a:pPr>
                <a:spcAft>
                  <a:spcPts val="600"/>
                </a:spcAft>
                <a:defRPr/>
              </a:pPr>
              <a:t>26</a:t>
            </a:fld>
            <a:endParaRPr lang="en-US">
              <a:solidFill>
                <a:srgbClr val="000000"/>
              </a:solidFill>
              <a:latin typeface="Segoe UI"/>
            </a:endParaRPr>
          </a:p>
        </p:txBody>
      </p:sp>
      <p:sp>
        <p:nvSpPr>
          <p:cNvPr id="7" name="TextBox 6">
            <a:extLst>
              <a:ext uri="{FF2B5EF4-FFF2-40B4-BE49-F238E27FC236}">
                <a16:creationId xmlns:a16="http://schemas.microsoft.com/office/drawing/2014/main" id="{71FCF8E8-0201-FC14-CBEF-A6660CB62EDF}"/>
              </a:ext>
            </a:extLst>
          </p:cNvPr>
          <p:cNvSpPr txBox="1"/>
          <p:nvPr/>
        </p:nvSpPr>
        <p:spPr>
          <a:xfrm>
            <a:off x="740979" y="1742090"/>
            <a:ext cx="10586545" cy="4600000"/>
          </a:xfrm>
          <a:prstGeom prst="rect">
            <a:avLst/>
          </a:prstGeom>
          <a:noFill/>
        </p:spPr>
        <p:txBody>
          <a:bodyPr wrap="square" lIns="0" tIns="0" rIns="0" bIns="0" rtlCol="0">
            <a:normAutofit/>
          </a:bodyPr>
          <a:lstStyle/>
          <a:p>
            <a:r>
              <a:rPr lang="en-IN" b="1"/>
              <a:t>Model Tiering Strategy</a:t>
            </a:r>
          </a:p>
          <a:p>
            <a:r>
              <a:rPr lang="en-IN" b="1"/>
              <a:t>Tier 1 (GPT-4o):</a:t>
            </a:r>
            <a:r>
              <a:rPr lang="en-IN"/>
              <a:t> Complex reasoning, multi-step analysis, code generation; highest cost per token</a:t>
            </a:r>
          </a:p>
          <a:p>
            <a:r>
              <a:rPr lang="en-IN" b="1"/>
              <a:t>Tier 2 (GPT-4o-mini):</a:t>
            </a:r>
            <a:r>
              <a:rPr lang="en-IN"/>
              <a:t> Summarization, classification, simple Q&amp;A; 10-30x cheaper than GPT-4o</a:t>
            </a:r>
          </a:p>
          <a:p>
            <a:r>
              <a:rPr lang="en-IN" b="1"/>
              <a:t>Tier 3 (Embeddings):</a:t>
            </a:r>
            <a:r>
              <a:rPr lang="en-IN"/>
              <a:t> Search, retrieval, similarity matching; lowest cost, highest throughput</a:t>
            </a:r>
          </a:p>
          <a:p>
            <a:endParaRPr lang="en-IN"/>
          </a:p>
          <a:p>
            <a:r>
              <a:rPr lang="en-IN" b="1"/>
              <a:t>Right-Sizing Guidance</a:t>
            </a:r>
          </a:p>
          <a:p>
            <a:r>
              <a:rPr lang="en-IN" b="1"/>
              <a:t>Route by complexity:</a:t>
            </a:r>
            <a:r>
              <a:rPr lang="en-IN"/>
              <a:t> Use an intent classifier or keyword rules to send simple queries to cheaper models</a:t>
            </a:r>
          </a:p>
          <a:p>
            <a:r>
              <a:rPr lang="en-IN" b="1"/>
              <a:t>Cascade pattern:</a:t>
            </a:r>
            <a:r>
              <a:rPr lang="en-IN"/>
              <a:t> Start with GPT-4o-mini; escalate to GPT-4o only if confidence score is below threshold</a:t>
            </a:r>
          </a:p>
          <a:p>
            <a:r>
              <a:rPr lang="en-IN" b="1"/>
              <a:t>Batch processing:</a:t>
            </a:r>
            <a:r>
              <a:rPr lang="en-IN"/>
              <a:t> Use Batch API for non-real-time workloads at 50% discount</a:t>
            </a:r>
          </a:p>
          <a:p>
            <a:r>
              <a:rPr lang="en-IN" b="1"/>
              <a:t>PTU vs PAYG decision:</a:t>
            </a:r>
            <a:r>
              <a:rPr lang="en-IN"/>
              <a:t> If sustained usage exceeds 300K TPM, evaluate PTU for cost predictability</a:t>
            </a:r>
          </a:p>
          <a:p>
            <a:endParaRPr lang="en-IN"/>
          </a:p>
          <a:p>
            <a:r>
              <a:rPr lang="en-IN" b="1"/>
              <a:t>Agentic Optimization</a:t>
            </a:r>
          </a:p>
          <a:p>
            <a:r>
              <a:rPr lang="en-IN" b="1"/>
              <a:t>Limit tool call depth:</a:t>
            </a:r>
            <a:r>
              <a:rPr lang="en-IN"/>
              <a:t> Cap agent iterations to prevent recursive token burn</a:t>
            </a:r>
          </a:p>
          <a:p>
            <a:r>
              <a:rPr lang="en-IN" b="1"/>
              <a:t>Shared context windows:</a:t>
            </a:r>
            <a:r>
              <a:rPr lang="en-IN"/>
              <a:t> Reuse summarized context across sub-agents instead of full conversation history</a:t>
            </a:r>
          </a:p>
          <a:p>
            <a:r>
              <a:rPr lang="en-IN" b="1"/>
              <a:t>Async fan-out budgets:</a:t>
            </a:r>
            <a:r>
              <a:rPr lang="en-IN"/>
              <a:t> Assign per-branch token budgets to multi-agent orchestrations</a:t>
            </a:r>
          </a:p>
        </p:txBody>
      </p:sp>
    </p:spTree>
    <p:extLst>
      <p:ext uri="{BB962C8B-B14F-4D97-AF65-F5344CB8AC3E}">
        <p14:creationId xmlns:p14="http://schemas.microsoft.com/office/powerpoint/2010/main" val="2431937406"/>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096F9-3E73-FD54-7B52-E6A43335A92B}"/>
              </a:ext>
            </a:extLst>
          </p:cNvPr>
          <p:cNvSpPr>
            <a:spLocks noGrp="1"/>
          </p:cNvSpPr>
          <p:nvPr>
            <p:ph type="title"/>
          </p:nvPr>
        </p:nvSpPr>
        <p:spPr>
          <a:xfrm>
            <a:off x="584200" y="4075330"/>
            <a:ext cx="10500000" cy="1500000"/>
          </a:xfrm>
        </p:spPr>
        <p:txBody>
          <a:bodyPr wrap="square" anchor="b">
            <a:normAutofit/>
          </a:bodyPr>
          <a:lstStyle/>
          <a:p>
            <a:r>
              <a:rPr lang="en-US"/>
              <a:t>Roles &amp; Monitoring</a:t>
            </a:r>
          </a:p>
        </p:txBody>
      </p:sp>
      <p:sp>
        <p:nvSpPr>
          <p:cNvPr id="4" name="Footer Placeholder 3">
            <a:extLst>
              <a:ext uri="{FF2B5EF4-FFF2-40B4-BE49-F238E27FC236}">
                <a16:creationId xmlns:a16="http://schemas.microsoft.com/office/drawing/2014/main" id="{36E6FA2A-1A08-1385-B098-BEEF7FFA59AC}"/>
              </a:ext>
            </a:extLst>
          </p:cNvPr>
          <p:cNvSpPr>
            <a:spLocks noGrp="1"/>
          </p:cNvSpPr>
          <p:nvPr>
            <p:ph type="ftr" sz="quarter" idx="3"/>
          </p:nvPr>
        </p:nvSpPr>
        <p:spPr>
          <a:xfrm>
            <a:off x="4038600" y="6539518"/>
            <a:ext cx="4114800" cy="123111"/>
          </a:xfrm>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FFFFFF"/>
                </a:solidFill>
                <a:effectLst/>
                <a:uLnTx/>
                <a:uFillTx/>
              </a:rPr>
              <a:t>Microsoft Confidential</a:t>
            </a:r>
          </a:p>
        </p:txBody>
      </p:sp>
      <p:sp>
        <p:nvSpPr>
          <p:cNvPr id="5" name="Slide Number Placeholder 4">
            <a:extLst>
              <a:ext uri="{FF2B5EF4-FFF2-40B4-BE49-F238E27FC236}">
                <a16:creationId xmlns:a16="http://schemas.microsoft.com/office/drawing/2014/main" id="{EF48AD64-F1BB-1590-6B73-A66226052A61}"/>
              </a:ext>
            </a:extLst>
          </p:cNvPr>
          <p:cNvSpPr>
            <a:spLocks noGrp="1"/>
          </p:cNvSpPr>
          <p:nvPr>
            <p:ph type="sldNum" sz="quarter" idx="4"/>
          </p:nvPr>
        </p:nvSpPr>
        <p:spPr>
          <a:xfrm>
            <a:off x="11697272" y="6539518"/>
            <a:ext cx="404240" cy="123111"/>
          </a:xfrm>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FFFFFF"/>
                </a:solidFill>
                <a:effectLst/>
                <a:uLnTx/>
                <a:uFillTx/>
              </a:rPr>
              <a:pPr marL="0" marR="0" lvl="0" indent="0" defTabSz="914400" rtl="0" eaLnBrk="1" fontAlgn="auto" latinLnBrk="0" hangingPunct="1">
                <a:spcBef>
                  <a:spcPts val="0"/>
                </a:spcBef>
                <a:spcAft>
                  <a:spcPts val="600"/>
                </a:spcAft>
                <a:buClrTx/>
                <a:buSzTx/>
                <a:buFontTx/>
                <a:buNone/>
                <a:tabLst/>
                <a:defRPr/>
              </a:pPr>
              <a:t>27</a:t>
            </a:fld>
            <a:endParaRPr kumimoji="0" lang="en-US" b="0" i="0" u="none" strike="noStrike" kern="120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2547791689"/>
      </p:ext>
    </p:extLst>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75AEC-DB57-EC8A-38EE-60AFB6AA1C58}"/>
              </a:ext>
            </a:extLst>
          </p:cNvPr>
          <p:cNvSpPr>
            <a:spLocks noGrp="1"/>
          </p:cNvSpPr>
          <p:nvPr>
            <p:ph type="title"/>
          </p:nvPr>
        </p:nvSpPr>
        <p:spPr>
          <a:xfrm>
            <a:off x="575481" y="599436"/>
            <a:ext cx="11018520" cy="553998"/>
          </a:xfrm>
        </p:spPr>
        <p:txBody>
          <a:bodyPr wrap="square" anchor="t">
            <a:normAutofit/>
          </a:bodyPr>
          <a:lstStyle/>
          <a:p>
            <a:r>
              <a:rPr lang="en-GB"/>
              <a:t>AI FinOps Roles &amp; Responsibilities (RACI)</a:t>
            </a:r>
            <a:endParaRPr lang="en-IN"/>
          </a:p>
        </p:txBody>
      </p:sp>
      <p:sp>
        <p:nvSpPr>
          <p:cNvPr id="3" name="Footer Placeholder 2">
            <a:extLst>
              <a:ext uri="{FF2B5EF4-FFF2-40B4-BE49-F238E27FC236}">
                <a16:creationId xmlns:a16="http://schemas.microsoft.com/office/drawing/2014/main" id="{1665C758-C134-4817-6CDF-FEBDB9BA8C46}"/>
              </a:ext>
            </a:extLst>
          </p:cNvPr>
          <p:cNvSpPr>
            <a:spLocks noGrp="1"/>
          </p:cNvSpPr>
          <p:nvPr>
            <p:ph type="ftr" sz="quarter" idx="3"/>
          </p:nvPr>
        </p:nvSpPr>
        <p:spPr>
          <a:xfrm>
            <a:off x="4038600" y="6539518"/>
            <a:ext cx="4114800" cy="123111"/>
          </a:xfrm>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000000"/>
                </a:solidFill>
                <a:effectLst/>
                <a:uLnTx/>
                <a:uFillTx/>
              </a:rPr>
              <a:t>Microsoft Confidential</a:t>
            </a:r>
          </a:p>
        </p:txBody>
      </p:sp>
      <p:sp>
        <p:nvSpPr>
          <p:cNvPr id="4" name="Slide Number Placeholder 3">
            <a:extLst>
              <a:ext uri="{FF2B5EF4-FFF2-40B4-BE49-F238E27FC236}">
                <a16:creationId xmlns:a16="http://schemas.microsoft.com/office/drawing/2014/main" id="{DBDE3BD3-C6C5-6430-3A64-2B5F038BAF7D}"/>
              </a:ext>
            </a:extLst>
          </p:cNvPr>
          <p:cNvSpPr>
            <a:spLocks noGrp="1"/>
          </p:cNvSpPr>
          <p:nvPr>
            <p:ph type="sldNum" sz="quarter" idx="4"/>
          </p:nvPr>
        </p:nvSpPr>
        <p:spPr>
          <a:xfrm>
            <a:off x="11697272" y="6539518"/>
            <a:ext cx="404240" cy="123111"/>
          </a:xfrm>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000000"/>
                </a:solidFill>
                <a:effectLst/>
                <a:uLnTx/>
                <a:uFillTx/>
              </a:rPr>
              <a:pPr marL="0" marR="0" lvl="0" indent="0" defTabSz="914400" rtl="0" eaLnBrk="1" fontAlgn="auto" latinLnBrk="0" hangingPunct="1">
                <a:spcBef>
                  <a:spcPts val="0"/>
                </a:spcBef>
                <a:spcAft>
                  <a:spcPts val="600"/>
                </a:spcAft>
                <a:buClrTx/>
                <a:buSzTx/>
                <a:buFontTx/>
                <a:buNone/>
                <a:tabLst/>
                <a:defRPr/>
              </a:pPr>
              <a:t>28</a:t>
            </a:fld>
            <a:endParaRPr kumimoji="0" lang="en-US" b="0" i="0" u="none" strike="noStrike" kern="1200" cap="none" spc="0" normalizeH="0" baseline="0" noProof="0">
              <a:ln>
                <a:noFill/>
              </a:ln>
              <a:solidFill>
                <a:srgbClr val="000000"/>
              </a:solidFill>
              <a:effectLst/>
              <a:uLnTx/>
              <a:uFillTx/>
            </a:endParaRPr>
          </a:p>
        </p:txBody>
      </p:sp>
      <p:graphicFrame>
        <p:nvGraphicFramePr>
          <p:cNvPr id="7" name="Table 6">
            <a:extLst>
              <a:ext uri="{FF2B5EF4-FFF2-40B4-BE49-F238E27FC236}">
                <a16:creationId xmlns:a16="http://schemas.microsoft.com/office/drawing/2014/main" id="{ECF8BC2D-ED2A-C413-C067-93804FDD251E}"/>
              </a:ext>
            </a:extLst>
          </p:cNvPr>
          <p:cNvGraphicFramePr>
            <a:graphicFrameLocks noGrp="1"/>
          </p:cNvGraphicFramePr>
          <p:nvPr>
            <p:extLst>
              <p:ext uri="{D42A27DB-BD31-4B8C-83A1-F6EECF244321}">
                <p14:modId xmlns:p14="http://schemas.microsoft.com/office/powerpoint/2010/main" val="335054781"/>
              </p:ext>
            </p:extLst>
          </p:nvPr>
        </p:nvGraphicFramePr>
        <p:xfrm>
          <a:off x="1300657" y="2396358"/>
          <a:ext cx="9467192" cy="3410000"/>
        </p:xfrm>
        <a:graphic>
          <a:graphicData uri="http://schemas.openxmlformats.org/drawingml/2006/table">
            <a:tbl>
              <a:tblPr firstRow="1" bandRow="1">
                <a:noFill/>
              </a:tblPr>
              <a:tblGrid>
                <a:gridCol w="2767192">
                  <a:extLst>
                    <a:ext uri="{9D8B030D-6E8A-4147-A177-3AD203B41FA5}">
                      <a16:colId xmlns:a16="http://schemas.microsoft.com/office/drawing/2014/main" val="1100000001"/>
                    </a:ext>
                  </a:extLst>
                </a:gridCol>
                <a:gridCol w="1675000">
                  <a:extLst>
                    <a:ext uri="{9D8B030D-6E8A-4147-A177-3AD203B41FA5}">
                      <a16:colId xmlns:a16="http://schemas.microsoft.com/office/drawing/2014/main" val="1100000002"/>
                    </a:ext>
                  </a:extLst>
                </a:gridCol>
                <a:gridCol w="1675000">
                  <a:extLst>
                    <a:ext uri="{9D8B030D-6E8A-4147-A177-3AD203B41FA5}">
                      <a16:colId xmlns:a16="http://schemas.microsoft.com/office/drawing/2014/main" val="1100000003"/>
                    </a:ext>
                  </a:extLst>
                </a:gridCol>
                <a:gridCol w="1675000">
                  <a:extLst>
                    <a:ext uri="{9D8B030D-6E8A-4147-A177-3AD203B41FA5}">
                      <a16:colId xmlns:a16="http://schemas.microsoft.com/office/drawing/2014/main" val="1100000004"/>
                    </a:ext>
                  </a:extLst>
                </a:gridCol>
                <a:gridCol w="1675000">
                  <a:extLst>
                    <a:ext uri="{9D8B030D-6E8A-4147-A177-3AD203B41FA5}">
                      <a16:colId xmlns:a16="http://schemas.microsoft.com/office/drawing/2014/main" val="1100000005"/>
                    </a:ext>
                  </a:extLst>
                </a:gridCol>
              </a:tblGrid>
              <a:tr h="650000">
                <a:tc>
                  <a:txBody>
                    <a:bodyPr/>
                    <a:lstStyle/>
                    <a:p>
                      <a:pPr algn="l">
                        <a:buNone/>
                      </a:pPr>
                      <a:r>
                        <a:rPr lang="en-US" sz="1400" b="1" cap="none" spc="0">
                          <a:solidFill>
                            <a:schemeClr val="bg1"/>
                          </a:solidFill>
                          <a:effectLst/>
                        </a:rPr>
                        <a:t>Activity</a:t>
                      </a:r>
                    </a:p>
                  </a:txBody>
                  <a:tcPr marL="79125" marR="56518" marT="113036" marB="113036" anchor="ctr">
                    <a:lnL w="12700" cmpd="sng">
                      <a:noFill/>
                    </a:lnL>
                    <a:lnR w="12700" cmpd="sng">
                      <a:noFill/>
                    </a:lnR>
                    <a:lnT w="19050" cap="flat" cmpd="sng" algn="ctr">
                      <a:noFill/>
                      <a:prstDash val="solid"/>
                    </a:lnT>
                    <a:lnB w="38100" cmpd="sng">
                      <a:noFill/>
                    </a:lnB>
                    <a:solidFill>
                      <a:schemeClr val="tx1"/>
                    </a:solidFill>
                  </a:tcPr>
                </a:tc>
                <a:tc>
                  <a:txBody>
                    <a:bodyPr/>
                    <a:lstStyle/>
                    <a:p>
                      <a:pPr algn="l">
                        <a:buNone/>
                      </a:pPr>
                      <a:r>
                        <a:rPr lang="en-US" sz="1400" b="1" cap="none" spc="0">
                          <a:solidFill>
                            <a:schemeClr val="bg1"/>
                          </a:solidFill>
                          <a:effectLst/>
                        </a:rPr>
                        <a:t>FinOps Team</a:t>
                      </a:r>
                    </a:p>
                  </a:txBody>
                  <a:tcPr marL="79125" marR="56518" marT="113036" marB="113036" anchor="ctr">
                    <a:lnL w="12700" cmpd="sng">
                      <a:noFill/>
                    </a:lnL>
                    <a:lnR w="12700" cmpd="sng">
                      <a:noFill/>
                    </a:lnR>
                    <a:lnT w="19050" cap="flat" cmpd="sng" algn="ctr">
                      <a:noFill/>
                      <a:prstDash val="solid"/>
                    </a:lnT>
                    <a:lnB w="38100" cmpd="sng">
                      <a:noFill/>
                    </a:lnB>
                    <a:solidFill>
                      <a:schemeClr val="tx1"/>
                    </a:solidFill>
                  </a:tcPr>
                </a:tc>
                <a:tc>
                  <a:txBody>
                    <a:bodyPr/>
                    <a:lstStyle/>
                    <a:p>
                      <a:pPr algn="l">
                        <a:buNone/>
                      </a:pPr>
                      <a:r>
                        <a:rPr lang="en-US" sz="1400" b="1" cap="none" spc="0">
                          <a:solidFill>
                            <a:schemeClr val="bg1"/>
                          </a:solidFill>
                          <a:effectLst/>
                        </a:rPr>
                        <a:t>Platform Team</a:t>
                      </a:r>
                    </a:p>
                  </a:txBody>
                  <a:tcPr marL="79125" marR="56518" marT="113036" marB="113036" anchor="ctr">
                    <a:lnL w="12700" cmpd="sng">
                      <a:noFill/>
                    </a:lnL>
                    <a:lnR w="12700" cmpd="sng">
                      <a:noFill/>
                    </a:lnR>
                    <a:lnT w="19050" cap="flat" cmpd="sng" algn="ctr">
                      <a:noFill/>
                      <a:prstDash val="solid"/>
                    </a:lnT>
                    <a:lnB w="38100" cmpd="sng">
                      <a:noFill/>
                    </a:lnB>
                    <a:solidFill>
                      <a:schemeClr val="tx1"/>
                    </a:solidFill>
                  </a:tcPr>
                </a:tc>
                <a:tc>
                  <a:txBody>
                    <a:bodyPr/>
                    <a:lstStyle/>
                    <a:p>
                      <a:pPr algn="l">
                        <a:buNone/>
                      </a:pPr>
                      <a:r>
                        <a:rPr lang="en-US" sz="1400" b="1" cap="none" spc="0">
                          <a:solidFill>
                            <a:schemeClr val="bg1"/>
                          </a:solidFill>
                          <a:effectLst/>
                        </a:rPr>
                        <a:t>Engineering</a:t>
                      </a:r>
                    </a:p>
                  </a:txBody>
                  <a:tcPr marL="79125" marR="56518" marT="113036" marB="113036" anchor="ctr">
                    <a:lnL w="12700" cmpd="sng">
                      <a:noFill/>
                    </a:lnL>
                    <a:lnR w="12700" cmpd="sng">
                      <a:noFill/>
                    </a:lnR>
                    <a:lnT w="19050" cap="flat" cmpd="sng" algn="ctr">
                      <a:noFill/>
                      <a:prstDash val="solid"/>
                    </a:lnT>
                    <a:lnB w="38100" cmpd="sng">
                      <a:noFill/>
                    </a:lnB>
                    <a:solidFill>
                      <a:schemeClr val="tx1"/>
                    </a:solidFill>
                  </a:tcPr>
                </a:tc>
                <a:tc>
                  <a:txBody>
                    <a:bodyPr/>
                    <a:lstStyle/>
                    <a:p>
                      <a:pPr algn="l">
                        <a:buNone/>
                      </a:pPr>
                      <a:r>
                        <a:rPr lang="en-US" sz="1400" b="1" cap="none" spc="0">
                          <a:solidFill>
                            <a:schemeClr val="bg1"/>
                          </a:solidFill>
                          <a:effectLst/>
                        </a:rPr>
                        <a:t>Finance</a:t>
                      </a:r>
                    </a:p>
                  </a:txBody>
                  <a:tcPr marL="79125" marR="56518" marT="113036" marB="113036" anchor="ctr">
                    <a:lnL w="12700" cmpd="sng">
                      <a:noFill/>
                    </a:lnL>
                    <a:lnR w="12700" cmpd="sng">
                      <a:noFill/>
                    </a:lnR>
                    <a:lnT w="19050" cap="flat" cmpd="sng" algn="ctr">
                      <a:noFill/>
                      <a:prstDash val="solid"/>
                    </a:lnT>
                    <a:lnB w="38100" cmpd="sng">
                      <a:noFill/>
                    </a:lnB>
                    <a:solidFill>
                      <a:schemeClr val="tx1"/>
                    </a:solidFill>
                  </a:tcPr>
                </a:tc>
                <a:extLst>
                  <a:ext uri="{0D108BD9-81ED-4DB2-BD59-A6C34878D82A}">
                    <a16:rowId xmlns:a16="http://schemas.microsoft.com/office/drawing/2014/main" val="2200000001"/>
                  </a:ext>
                </a:extLst>
              </a:tr>
              <a:tr h="460000">
                <a:tc>
                  <a:txBody>
                    <a:bodyPr/>
                    <a:lstStyle/>
                    <a:p>
                      <a:pPr>
                        <a:buNone/>
                      </a:pPr>
                      <a:r>
                        <a:rPr lang="en-US" sz="1300" cap="none" spc="0">
                          <a:solidFill>
                            <a:schemeClr val="tx1"/>
                          </a:solidFill>
                          <a:effectLst/>
                        </a:rPr>
                        <a:t>Cost monitoring &amp; reporting</a:t>
                      </a:r>
                    </a:p>
                  </a:txBody>
                  <a:tcPr marL="79125" marR="56518" marT="37478" marB="113036" anchor="ctr">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a:buNone/>
                      </a:pPr>
                      <a:r>
                        <a:rPr lang="en-US" sz="1300" cap="none" spc="0">
                          <a:solidFill>
                            <a:schemeClr val="tx1"/>
                          </a:solidFill>
                          <a:effectLst/>
                        </a:rPr>
                        <a:t>R, A</a:t>
                      </a:r>
                    </a:p>
                  </a:txBody>
                  <a:tcPr marL="79125" marR="56518" marT="37478" marB="113036" anchor="ctr">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a:buNone/>
                      </a:pPr>
                      <a:r>
                        <a:rPr lang="en-US" sz="1300" cap="none" spc="0">
                          <a:solidFill>
                            <a:schemeClr val="tx1"/>
                          </a:solidFill>
                          <a:effectLst/>
                        </a:rPr>
                        <a:t>C</a:t>
                      </a:r>
                    </a:p>
                  </a:txBody>
                  <a:tcPr marL="79125" marR="56518" marT="37478" marB="113036" anchor="ctr">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a:buNone/>
                      </a:pPr>
                      <a:r>
                        <a:rPr lang="en-US" sz="1300" cap="none" spc="0">
                          <a:solidFill>
                            <a:schemeClr val="tx1"/>
                          </a:solidFill>
                          <a:effectLst/>
                        </a:rPr>
                        <a:t>I</a:t>
                      </a:r>
                    </a:p>
                  </a:txBody>
                  <a:tcPr marL="79125" marR="56518" marT="37478" marB="113036" anchor="ctr">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a:buNone/>
                      </a:pPr>
                      <a:r>
                        <a:rPr lang="en-US" sz="1300" cap="none" spc="0">
                          <a:solidFill>
                            <a:schemeClr val="tx1"/>
                          </a:solidFill>
                          <a:effectLst/>
                        </a:rPr>
                        <a:t>I</a:t>
                      </a:r>
                    </a:p>
                  </a:txBody>
                  <a:tcPr marL="79125" marR="56518" marT="37478" marB="113036" anchor="ctr">
                    <a:lnL w="12700" cmpd="sng">
                      <a:noFill/>
                      <a:prstDash val="solid"/>
                    </a:lnL>
                    <a:lnR w="12700" cmpd="sng">
                      <a:noFill/>
                      <a:prstDash val="solid"/>
                    </a:lnR>
                    <a:lnT w="38100" cmpd="sng">
                      <a:noFill/>
                    </a:lnT>
                    <a:lnB w="12700" cap="flat" cmpd="sng" algn="ctr">
                      <a:solidFill>
                        <a:schemeClr val="tx1"/>
                      </a:solidFill>
                      <a:prstDash val="solid"/>
                    </a:lnB>
                    <a:noFill/>
                  </a:tcPr>
                </a:tc>
                <a:extLst>
                  <a:ext uri="{0D108BD9-81ED-4DB2-BD59-A6C34878D82A}">
                    <a16:rowId xmlns:a16="http://schemas.microsoft.com/office/drawing/2014/main" val="2200000002"/>
                  </a:ext>
                </a:extLst>
              </a:tr>
              <a:tr h="460000">
                <a:tc>
                  <a:txBody>
                    <a:bodyPr/>
                    <a:lstStyle/>
                    <a:p>
                      <a:pPr>
                        <a:buNone/>
                      </a:pPr>
                      <a:r>
                        <a:rPr lang="en-US" sz="1300" cap="none" spc="0">
                          <a:solidFill>
                            <a:schemeClr val="tx1"/>
                          </a:solidFill>
                          <a:effectLst/>
                        </a:rPr>
                        <a:t>Budget alerts &amp; thresholds</a:t>
                      </a:r>
                    </a:p>
                  </a:txBody>
                  <a:tcPr marL="79125" marR="56518" marT="37478" marB="113036"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effectLst/>
                        </a:rPr>
                        <a:t>R, A</a:t>
                      </a:r>
                    </a:p>
                  </a:txBody>
                  <a:tcPr marL="79125" marR="56518" marT="37478" marB="113036"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effectLst/>
                        </a:rPr>
                        <a:t>C</a:t>
                      </a:r>
                    </a:p>
                  </a:txBody>
                  <a:tcPr marL="79125" marR="56518" marT="37478" marB="113036"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effectLst/>
                        </a:rPr>
                        <a:t>I</a:t>
                      </a:r>
                    </a:p>
                  </a:txBody>
                  <a:tcPr marL="79125" marR="56518" marT="37478" marB="113036"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effectLst/>
                        </a:rPr>
                        <a:t>C</a:t>
                      </a:r>
                    </a:p>
                  </a:txBody>
                  <a:tcPr marL="79125" marR="56518" marT="37478" marB="113036"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200000003"/>
                  </a:ext>
                </a:extLst>
              </a:tr>
              <a:tr h="460000">
                <a:tc>
                  <a:txBody>
                    <a:bodyPr/>
                    <a:lstStyle/>
                    <a:p>
                      <a:pPr>
                        <a:buNone/>
                      </a:pPr>
                      <a:r>
                        <a:rPr lang="en-US" sz="1300" cap="none" spc="0">
                          <a:solidFill>
                            <a:schemeClr val="tx1"/>
                          </a:solidFill>
                          <a:effectLst/>
                        </a:rPr>
                        <a:t>Token quota management</a:t>
                      </a:r>
                    </a:p>
                  </a:txBody>
                  <a:tcPr marL="79125" marR="56518" marT="37478" marB="113036"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buNone/>
                      </a:pPr>
                      <a:r>
                        <a:rPr lang="en-US" sz="1300" cap="none" spc="0">
                          <a:solidFill>
                            <a:schemeClr val="tx1"/>
                          </a:solidFill>
                          <a:effectLst/>
                        </a:rPr>
                        <a:t>C</a:t>
                      </a:r>
                    </a:p>
                  </a:txBody>
                  <a:tcPr marL="79125" marR="56518" marT="37478" marB="113036"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buNone/>
                      </a:pPr>
                      <a:r>
                        <a:rPr lang="en-US" sz="1300" cap="none" spc="0">
                          <a:solidFill>
                            <a:schemeClr val="tx1"/>
                          </a:solidFill>
                          <a:effectLst/>
                        </a:rPr>
                        <a:t>R, A</a:t>
                      </a:r>
                    </a:p>
                  </a:txBody>
                  <a:tcPr marL="79125" marR="56518" marT="37478" marB="113036"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buNone/>
                      </a:pPr>
                      <a:r>
                        <a:rPr lang="en-US" sz="1300" cap="none" spc="0">
                          <a:solidFill>
                            <a:schemeClr val="tx1"/>
                          </a:solidFill>
                          <a:effectLst/>
                        </a:rPr>
                        <a:t>I</a:t>
                      </a:r>
                    </a:p>
                  </a:txBody>
                  <a:tcPr marL="79125" marR="56518" marT="37478" marB="113036"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buNone/>
                      </a:pPr>
                      <a:r>
                        <a:rPr lang="en-US" sz="1300" cap="none" spc="0">
                          <a:solidFill>
                            <a:schemeClr val="tx1"/>
                          </a:solidFill>
                          <a:effectLst/>
                        </a:rPr>
                        <a:t>I</a:t>
                      </a:r>
                    </a:p>
                  </a:txBody>
                  <a:tcPr marL="79125" marR="56518" marT="37478" marB="113036"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2200000004"/>
                  </a:ext>
                </a:extLst>
              </a:tr>
              <a:tr h="460000">
                <a:tc>
                  <a:txBody>
                    <a:bodyPr/>
                    <a:lstStyle/>
                    <a:p>
                      <a:pPr>
                        <a:buNone/>
                      </a:pPr>
                      <a:r>
                        <a:rPr lang="en-US" sz="1300" cap="none" spc="0">
                          <a:solidFill>
                            <a:schemeClr val="tx1"/>
                          </a:solidFill>
                          <a:effectLst/>
                        </a:rPr>
                        <a:t>Model selection &amp; optimization</a:t>
                      </a:r>
                    </a:p>
                  </a:txBody>
                  <a:tcPr marL="79125" marR="56518" marT="37478" marB="113036"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effectLst/>
                        </a:rPr>
                        <a:t>C</a:t>
                      </a:r>
                    </a:p>
                  </a:txBody>
                  <a:tcPr marL="79125" marR="56518" marT="37478" marB="113036"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effectLst/>
                        </a:rPr>
                        <a:t>C</a:t>
                      </a:r>
                    </a:p>
                  </a:txBody>
                  <a:tcPr marL="79125" marR="56518" marT="37478" marB="113036"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effectLst/>
                        </a:rPr>
                        <a:t>R, A</a:t>
                      </a:r>
                    </a:p>
                  </a:txBody>
                  <a:tcPr marL="79125" marR="56518" marT="37478" marB="113036"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effectLst/>
                        </a:rPr>
                        <a:t>I</a:t>
                      </a:r>
                    </a:p>
                  </a:txBody>
                  <a:tcPr marL="79125" marR="56518" marT="37478" marB="113036"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200000005"/>
                  </a:ext>
                </a:extLst>
              </a:tr>
              <a:tr h="460000">
                <a:tc>
                  <a:txBody>
                    <a:bodyPr/>
                    <a:lstStyle/>
                    <a:p>
                      <a:pPr>
                        <a:buNone/>
                      </a:pPr>
                      <a:r>
                        <a:rPr lang="en-US" sz="1300" cap="none" spc="0">
                          <a:solidFill>
                            <a:schemeClr val="tx1"/>
                          </a:solidFill>
                          <a:effectLst/>
                        </a:rPr>
                        <a:t>Chargeback &amp; showback</a:t>
                      </a:r>
                    </a:p>
                  </a:txBody>
                  <a:tcPr marL="79125" marR="56518" marT="37478" marB="113036"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buNone/>
                      </a:pPr>
                      <a:r>
                        <a:rPr lang="en-US" sz="1300" cap="none" spc="0">
                          <a:solidFill>
                            <a:schemeClr val="tx1"/>
                          </a:solidFill>
                          <a:effectLst/>
                        </a:rPr>
                        <a:t>R, A</a:t>
                      </a:r>
                    </a:p>
                  </a:txBody>
                  <a:tcPr marL="79125" marR="56518" marT="37478" marB="113036"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buNone/>
                      </a:pPr>
                      <a:r>
                        <a:rPr lang="en-US" sz="1300" cap="none" spc="0">
                          <a:solidFill>
                            <a:schemeClr val="tx1"/>
                          </a:solidFill>
                          <a:effectLst/>
                        </a:rPr>
                        <a:t>C</a:t>
                      </a:r>
                    </a:p>
                  </a:txBody>
                  <a:tcPr marL="79125" marR="56518" marT="37478" marB="113036"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buNone/>
                      </a:pPr>
                      <a:r>
                        <a:rPr lang="en-US" sz="1300" cap="none" spc="0">
                          <a:solidFill>
                            <a:schemeClr val="tx1"/>
                          </a:solidFill>
                          <a:effectLst/>
                        </a:rPr>
                        <a:t>I</a:t>
                      </a:r>
                    </a:p>
                  </a:txBody>
                  <a:tcPr marL="79125" marR="56518" marT="37478" marB="113036"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buNone/>
                      </a:pPr>
                      <a:r>
                        <a:rPr lang="en-US" sz="1300" cap="none" spc="0">
                          <a:solidFill>
                            <a:schemeClr val="tx1"/>
                          </a:solidFill>
                          <a:effectLst/>
                        </a:rPr>
                        <a:t>C</a:t>
                      </a:r>
                    </a:p>
                  </a:txBody>
                  <a:tcPr marL="79125" marR="56518" marT="37478" marB="113036"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2200000006"/>
                  </a:ext>
                </a:extLst>
              </a:tr>
              <a:tr h="460000">
                <a:tc>
                  <a:txBody>
                    <a:bodyPr/>
                    <a:lstStyle/>
                    <a:p>
                      <a:pPr>
                        <a:buNone/>
                      </a:pPr>
                      <a:r>
                        <a:rPr lang="en-US" sz="1300" cap="none" spc="0">
                          <a:solidFill>
                            <a:schemeClr val="tx1"/>
                          </a:solidFill>
                          <a:effectLst/>
                        </a:rPr>
                        <a:t>Tag governance &amp; enforcement</a:t>
                      </a:r>
                    </a:p>
                  </a:txBody>
                  <a:tcPr marL="79125" marR="56518" marT="37478" marB="113036"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effectLst/>
                        </a:rPr>
                        <a:t>C</a:t>
                      </a:r>
                    </a:p>
                  </a:txBody>
                  <a:tcPr marL="79125" marR="56518" marT="37478" marB="113036"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effectLst/>
                        </a:rPr>
                        <a:t>R, A</a:t>
                      </a:r>
                    </a:p>
                  </a:txBody>
                  <a:tcPr marL="79125" marR="56518" marT="37478" marB="113036"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effectLst/>
                        </a:rPr>
                        <a:t>C</a:t>
                      </a:r>
                    </a:p>
                  </a:txBody>
                  <a:tcPr marL="79125" marR="56518" marT="37478" marB="113036"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effectLst/>
                        </a:rPr>
                        <a:t>I</a:t>
                      </a:r>
                    </a:p>
                  </a:txBody>
                  <a:tcPr marL="79125" marR="56518" marT="37478" marB="113036"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200000007"/>
                  </a:ext>
                </a:extLst>
              </a:tr>
            </a:tbl>
          </a:graphicData>
        </a:graphic>
      </p:graphicFrame>
    </p:spTree>
    <p:extLst>
      <p:ext uri="{BB962C8B-B14F-4D97-AF65-F5344CB8AC3E}">
        <p14:creationId xmlns:p14="http://schemas.microsoft.com/office/powerpoint/2010/main" val="3641274005"/>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B483-62D8-32F5-9A27-1A2498E88A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C3B786-1281-D50B-473A-1A57FCDC7F34}"/>
              </a:ext>
            </a:extLst>
          </p:cNvPr>
          <p:cNvSpPr>
            <a:spLocks noGrp="1"/>
          </p:cNvSpPr>
          <p:nvPr>
            <p:ph type="title"/>
          </p:nvPr>
        </p:nvSpPr>
        <p:spPr>
          <a:xfrm>
            <a:off x="575481" y="599436"/>
            <a:ext cx="11018520" cy="553998"/>
          </a:xfrm>
        </p:spPr>
        <p:txBody>
          <a:bodyPr vert="horz" wrap="square" lIns="0" tIns="0" rIns="0" bIns="0" rtlCol="0" anchor="t">
            <a:normAutofit/>
          </a:bodyPr>
          <a:lstStyle/>
          <a:p>
            <a:r>
              <a:rPr lang="en-IN" b="1"/>
              <a:t>Cost Monitoring &amp; Dashboards</a:t>
            </a:r>
          </a:p>
        </p:txBody>
      </p:sp>
      <p:sp>
        <p:nvSpPr>
          <p:cNvPr id="4" name="Footer Placeholder 3">
            <a:extLst>
              <a:ext uri="{FF2B5EF4-FFF2-40B4-BE49-F238E27FC236}">
                <a16:creationId xmlns:a16="http://schemas.microsoft.com/office/drawing/2014/main" id="{7C369FB0-CF2A-149A-AFA8-78CB6BA2E76C}"/>
              </a:ext>
            </a:extLst>
          </p:cNvPr>
          <p:cNvSpPr>
            <a:spLocks noGrp="1"/>
          </p:cNvSpPr>
          <p:nvPr>
            <p:ph type="ftr" sz="quarter" idx="3"/>
          </p:nvPr>
        </p:nvSpPr>
        <p:spPr>
          <a:xfrm>
            <a:off x="4038600" y="6539518"/>
            <a:ext cx="4114800" cy="123111"/>
          </a:xfrm>
        </p:spPr>
        <p:txBody>
          <a:bodyPr vert="horz" lIns="0" tIns="0" rIns="0" bIns="0" rtlCol="0" anchor="ctr">
            <a:normAutofit/>
          </a:bodyPr>
          <a:lstStyle/>
          <a:p>
            <a:pPr>
              <a:spcAft>
                <a:spcPts val="600"/>
              </a:spcAft>
              <a:defRPr/>
            </a:pPr>
            <a:r>
              <a:rPr lang="en-US" kern="1200">
                <a:solidFill>
                  <a:srgbClr val="000000"/>
                </a:solidFill>
                <a:latin typeface="Segoe UI"/>
                <a:ea typeface="+mn-ea"/>
                <a:cs typeface="+mn-cs"/>
              </a:rPr>
              <a:t>Microsoft Confidential</a:t>
            </a:r>
          </a:p>
        </p:txBody>
      </p:sp>
      <p:sp>
        <p:nvSpPr>
          <p:cNvPr id="5" name="Slide Number Placeholder 4">
            <a:extLst>
              <a:ext uri="{FF2B5EF4-FFF2-40B4-BE49-F238E27FC236}">
                <a16:creationId xmlns:a16="http://schemas.microsoft.com/office/drawing/2014/main" id="{D4124CD3-18F7-0DA3-7BBC-712228A73267}"/>
              </a:ext>
            </a:extLst>
          </p:cNvPr>
          <p:cNvSpPr>
            <a:spLocks noGrp="1"/>
          </p:cNvSpPr>
          <p:nvPr>
            <p:ph type="sldNum" sz="quarter" idx="4"/>
          </p:nvPr>
        </p:nvSpPr>
        <p:spPr>
          <a:xfrm>
            <a:off x="11697272" y="6539518"/>
            <a:ext cx="404240" cy="123111"/>
          </a:xfrm>
        </p:spPr>
        <p:txBody>
          <a:bodyPr vert="horz" wrap="square" lIns="0" tIns="0" rIns="0" bIns="0" rtlCol="0" anchor="ctr">
            <a:normAutofit/>
          </a:bodyPr>
          <a:lstStyle/>
          <a:p>
            <a:pPr>
              <a:spcAft>
                <a:spcPts val="600"/>
              </a:spcAft>
              <a:defRPr/>
            </a:pPr>
            <a:fld id="{8F881BB8-5469-4299-99B9-578BE3320A80}" type="slidenum">
              <a:rPr lang="en-US" smtClean="0">
                <a:solidFill>
                  <a:srgbClr val="000000"/>
                </a:solidFill>
                <a:latin typeface="Segoe UI"/>
              </a:rPr>
              <a:pPr>
                <a:spcAft>
                  <a:spcPts val="600"/>
                </a:spcAft>
                <a:defRPr/>
              </a:pPr>
              <a:t>29</a:t>
            </a:fld>
            <a:endParaRPr lang="en-US">
              <a:solidFill>
                <a:srgbClr val="000000"/>
              </a:solidFill>
              <a:latin typeface="Segoe UI"/>
            </a:endParaRPr>
          </a:p>
        </p:txBody>
      </p:sp>
      <p:sp>
        <p:nvSpPr>
          <p:cNvPr id="7" name="TextBox 6">
            <a:extLst>
              <a:ext uri="{FF2B5EF4-FFF2-40B4-BE49-F238E27FC236}">
                <a16:creationId xmlns:a16="http://schemas.microsoft.com/office/drawing/2014/main" id="{71FCF8E8-0201-FC14-CBEF-A6660CB62EDF}"/>
              </a:ext>
            </a:extLst>
          </p:cNvPr>
          <p:cNvSpPr txBox="1"/>
          <p:nvPr/>
        </p:nvSpPr>
        <p:spPr>
          <a:xfrm>
            <a:off x="740979" y="1742090"/>
            <a:ext cx="10586545" cy="4600000"/>
          </a:xfrm>
          <a:prstGeom prst="rect">
            <a:avLst/>
          </a:prstGeom>
          <a:noFill/>
        </p:spPr>
        <p:txBody>
          <a:bodyPr wrap="square" lIns="0" tIns="0" rIns="0" bIns="0" rtlCol="0">
            <a:normAutofit lnSpcReduction="10000"/>
          </a:bodyPr>
          <a:lstStyle/>
          <a:p>
            <a:r>
              <a:rPr lang="en-IN" b="1"/>
              <a:t>Azure Cost Management</a:t>
            </a:r>
          </a:p>
          <a:p>
            <a:r>
              <a:rPr lang="en-IN" b="1"/>
              <a:t>Cost Analysis views: </a:t>
            </a:r>
            <a:r>
              <a:rPr lang="en-IN"/>
              <a:t>Filter by resource type (Cognitive Services), tag (project, department), or meter (tokens consumed)</a:t>
            </a:r>
          </a:p>
          <a:p>
            <a:r>
              <a:rPr lang="en-IN" b="1"/>
              <a:t>Custom dashboards: </a:t>
            </a:r>
            <a:r>
              <a:rPr lang="en-IN"/>
              <a:t>Pin cost analysis views to Azure Portal dashboards for real-time team visibility</a:t>
            </a:r>
          </a:p>
          <a:p>
            <a:r>
              <a:rPr lang="en-IN" b="1"/>
              <a:t>Scheduled exports: </a:t>
            </a:r>
            <a:r>
              <a:rPr lang="en-IN"/>
              <a:t>Export daily/weekly cost data to Storage Account for downstream analytics</a:t>
            </a:r>
          </a:p>
          <a:p>
            <a:r>
              <a:rPr lang="en-IN" b="1"/>
              <a:t>Anomaly detection: </a:t>
            </a:r>
            <a:r>
              <a:rPr lang="en-IN"/>
              <a:t>Built-in ML-based anomaly alerts flag unexpected spending spikes automatically</a:t>
            </a:r>
          </a:p>
          <a:p>
            <a:endParaRPr lang="en-IN"/>
          </a:p>
          <a:p>
            <a:r>
              <a:rPr lang="en-IN" b="1"/>
              <a:t>Azure Monitor &amp; Log Analytics</a:t>
            </a:r>
          </a:p>
          <a:p>
            <a:r>
              <a:rPr lang="en-IN" b="1"/>
              <a:t>Diagnostic logs: </a:t>
            </a:r>
            <a:r>
              <a:rPr lang="en-IN"/>
              <a:t>Enable Azure OpenAI diagnostic settings to capture per-request token counts and latency</a:t>
            </a:r>
          </a:p>
          <a:p>
            <a:r>
              <a:rPr lang="en-IN" b="1"/>
              <a:t>KQL queries: </a:t>
            </a:r>
            <a:r>
              <a:rPr lang="en-IN"/>
              <a:t>Query token usage patterns, model distribution, and error rates across deployments</a:t>
            </a:r>
          </a:p>
          <a:p>
            <a:r>
              <a:rPr lang="en-IN" b="1"/>
              <a:t>Workbook templates: </a:t>
            </a:r>
            <a:r>
              <a:rPr lang="en-IN"/>
              <a:t>Pre-built Azure Monitor workbooks for AI consumption trends and capacity utilization</a:t>
            </a:r>
          </a:p>
          <a:p>
            <a:endParaRPr lang="en-IN"/>
          </a:p>
          <a:p>
            <a:r>
              <a:rPr lang="en-IN" b="1"/>
              <a:t>Power BI Reporting</a:t>
            </a:r>
          </a:p>
          <a:p>
            <a:r>
              <a:rPr lang="en-IN" b="1"/>
              <a:t>Cost Management connector: </a:t>
            </a:r>
            <a:r>
              <a:rPr lang="en-IN"/>
              <a:t>Direct integration for building executive cost dashboards</a:t>
            </a:r>
          </a:p>
          <a:p>
            <a:r>
              <a:rPr lang="en-IN" b="1"/>
              <a:t>Token usage heatmaps: </a:t>
            </a:r>
            <a:r>
              <a:rPr lang="en-IN"/>
              <a:t>Visualize consumption by project, model, time-of-day, and agent type</a:t>
            </a:r>
          </a:p>
          <a:p>
            <a:r>
              <a:rPr lang="en-IN" b="1"/>
              <a:t>Forecast models: </a:t>
            </a:r>
            <a:r>
              <a:rPr lang="en-IN"/>
              <a:t>Trend analysis with predictive cost projections for capacity planning</a:t>
            </a:r>
          </a:p>
        </p:txBody>
      </p:sp>
    </p:spTree>
    <p:extLst>
      <p:ext uri="{BB962C8B-B14F-4D97-AF65-F5344CB8AC3E}">
        <p14:creationId xmlns:p14="http://schemas.microsoft.com/office/powerpoint/2010/main" val="2431937406"/>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096F9-3E73-FD54-7B52-E6A43335A92B}"/>
              </a:ext>
            </a:extLst>
          </p:cNvPr>
          <p:cNvSpPr>
            <a:spLocks noGrp="1"/>
          </p:cNvSpPr>
          <p:nvPr>
            <p:ph type="title"/>
          </p:nvPr>
        </p:nvSpPr>
        <p:spPr>
          <a:xfrm>
            <a:off x="400000" y="1500000"/>
            <a:ext cx="3200000" cy="3500000"/>
          </a:xfrm>
        </p:spPr>
        <p:txBody>
          <a:bodyPr wrap="square" anchor="ctr">
            <a:normAutofit/>
          </a:bodyPr>
          <a:lstStyle/>
          <a:p>
            <a:r>
              <a:rPr lang="en-US" sz="2400" b="1">
                <a:solidFill>
                  <a:srgbClr val="FFFFFF"/>
                </a:solidFill>
                <a:latin typeface="Segoe UI"/>
              </a:rPr>
              <a:t>Summary &amp; Key Takeaways</a:t>
            </a:r>
          </a:p>
        </p:txBody>
      </p:sp>
      <p:sp>
        <p:nvSpPr>
          <p:cNvPr id="10" name="Card1"/>
          <p:cNvSpPr>
            <a:spLocks/>
          </p:cNvSpPr>
          <p:nvPr/>
        </p:nvSpPr>
        <p:spPr>
          <a:xfrm>
            <a:off x="4000000" y="550000"/>
            <a:ext cx="7600000" cy="980000"/>
          </a:xfrm>
          <a:prstGeom prst="roundRect">
            <a:avLst>
              <a:gd name="adj" fmla="val 5000"/>
            </a:avLst>
          </a:prstGeom>
          <a:solidFill>
            <a:srgbClr val="DAE3F3"/>
          </a:solidFill>
          <a:ln w="12700">
            <a:solidFill>
              <a:srgbClr val="8FAADC"/>
            </a:solidFill>
          </a:ln>
        </p:spPr>
        <p:txBody>
          <a:bodyPr wrap="square" lIns="180000" tIns="72000" rIns="180000" bIns="72000" anchor="ctr">
            <a:normAutofit/>
          </a:bodyPr>
          <a:lstStyle/>
          <a:p>
            <a:r>
              <a:rPr lang="en-US" sz="1200" b="1">
                <a:solidFill>
                  <a:srgbClr val="1F3864"/>
                </a:solidFill>
                <a:latin typeface="Segoe UI"/>
              </a:rPr>
              <a:t>Agentic AI Cost Patterns</a:t>
            </a:r>
          </a:p>
          <a:p>
            <a:r>
              <a:rPr lang="en-US" sz="1000">
                <a:solidFill>
                  <a:srgbClr val="44546A"/>
                </a:solidFill>
                <a:latin typeface="Segoe UI"/>
              </a:rPr>
              <a:t>Recursive, fan-out, and context-bloat patterns require proactive governance to prevent runaway costs.</a:t>
            </a:r>
          </a:p>
        </p:txBody>
      </p:sp>
      <p:cxnSp>
        <p:nvCxnSpPr>
          <p:cNvPr id="20" name="Conn1"/>
          <p:cNvCxnSpPr/>
          <p:nvPr/>
        </p:nvCxnSpPr>
        <p:spPr>
          <a:xfrm>
            <a:off x="7800000" y="1530000"/>
            <a:ext cx="0" cy="160000"/>
          </a:xfrm>
          <a:prstGeom prst="straightConnector1">
            <a:avLst/>
          </a:prstGeom>
          <a:ln w="19050">
            <a:solidFill>
              <a:srgbClr val="FFFFFF"/>
            </a:solidFill>
            <a:tailEnd type="triangle"/>
          </a:ln>
        </p:spPr>
      </p:cxnSp>
      <p:sp>
        <p:nvSpPr>
          <p:cNvPr id="11" name="Card2"/>
          <p:cNvSpPr/>
          <p:nvPr/>
        </p:nvSpPr>
        <p:spPr>
          <a:xfrm>
            <a:off x="4000000" y="1690000"/>
            <a:ext cx="7600000" cy="980000"/>
          </a:xfrm>
          <a:prstGeom prst="roundRect">
            <a:avLst>
              <a:gd name="adj" fmla="val 5000"/>
            </a:avLst>
          </a:prstGeom>
          <a:solidFill>
            <a:srgbClr val="DAE3F3"/>
          </a:solidFill>
          <a:ln w="12700">
            <a:solidFill>
              <a:srgbClr val="8FAADC"/>
            </a:solidFill>
          </a:ln>
        </p:spPr>
        <p:txBody>
          <a:bodyPr wrap="square" lIns="180000" tIns="72000" rIns="180000" bIns="72000" anchor="ctr">
            <a:normAutofit/>
          </a:bodyPr>
          <a:lstStyle/>
          <a:p>
            <a:r>
              <a:rPr lang="en-US" sz="1200" b="1">
                <a:solidFill>
                  <a:srgbClr val="1F3864"/>
                </a:solidFill>
                <a:latin typeface="Segoe UI"/>
              </a:rPr>
              <a:t>Governance Controls</a:t>
            </a:r>
          </a:p>
          <a:p>
            <a:r>
              <a:rPr lang="en-US" sz="1000">
                <a:solidFill>
                  <a:srgbClr val="44546A"/>
                </a:solidFill>
                <a:latin typeface="Segoe UI"/>
              </a:rPr>
              <a:t>Token, throughput, and concurrency enforced through Azure OpenAI quotas, APIM AI Gateway, and Foundry Control Plane.</a:t>
            </a:r>
          </a:p>
        </p:txBody>
      </p:sp>
      <p:cxnSp>
        <p:nvCxnSpPr>
          <p:cNvPr id="21" name="Conn2"/>
          <p:cNvCxnSpPr/>
          <p:nvPr/>
        </p:nvCxnSpPr>
        <p:spPr>
          <a:xfrm>
            <a:off x="7800000" y="2670000"/>
            <a:ext cx="0" cy="160000"/>
          </a:xfrm>
          <a:prstGeom prst="straightConnector1">
            <a:avLst/>
          </a:prstGeom>
          <a:ln w="19050">
            <a:solidFill>
              <a:srgbClr val="FFFFFF"/>
            </a:solidFill>
            <a:tailEnd type="triangle"/>
          </a:ln>
        </p:spPr>
      </p:cxnSp>
      <p:sp>
        <p:nvSpPr>
          <p:cNvPr id="12" name="Card3"/>
          <p:cNvSpPr/>
          <p:nvPr/>
        </p:nvSpPr>
        <p:spPr>
          <a:xfrm>
            <a:off x="4000000" y="2830000"/>
            <a:ext cx="7600000" cy="980000"/>
          </a:xfrm>
          <a:prstGeom prst="roundRect">
            <a:avLst>
              <a:gd name="adj" fmla="val 5000"/>
            </a:avLst>
          </a:prstGeom>
          <a:solidFill>
            <a:srgbClr val="DAE3F3"/>
          </a:solidFill>
          <a:ln w="12700">
            <a:solidFill>
              <a:srgbClr val="8FAADC"/>
            </a:solidFill>
          </a:ln>
        </p:spPr>
        <p:txBody>
          <a:bodyPr wrap="square" lIns="180000" tIns="72000" rIns="180000" bIns="72000" anchor="ctr">
            <a:normAutofit/>
          </a:bodyPr>
          <a:lstStyle/>
          <a:p>
            <a:r>
              <a:rPr lang="en-US" sz="1200" b="1">
                <a:solidFill>
                  <a:srgbClr val="1F3864"/>
                </a:solidFill>
                <a:latin typeface="Segoe UI"/>
              </a:rPr>
              <a:t>Chargeback &amp; Showback</a:t>
            </a:r>
          </a:p>
          <a:p>
            <a:r>
              <a:rPr lang="en-US" sz="1000">
                <a:solidFill>
                  <a:srgbClr val="44546A"/>
                </a:solidFill>
                <a:latin typeface="Segoe UI"/>
              </a:rPr>
              <a:t>Depend on a disciplined tagging strategy with Azure Policy enforcement for cost attribution.</a:t>
            </a:r>
          </a:p>
        </p:txBody>
      </p:sp>
      <p:cxnSp>
        <p:nvCxnSpPr>
          <p:cNvPr id="22" name="Conn3"/>
          <p:cNvCxnSpPr/>
          <p:nvPr/>
        </p:nvCxnSpPr>
        <p:spPr>
          <a:xfrm>
            <a:off x="7800000" y="3810000"/>
            <a:ext cx="0" cy="160000"/>
          </a:xfrm>
          <a:prstGeom prst="straightConnector1">
            <a:avLst/>
          </a:prstGeom>
          <a:ln w="19050">
            <a:solidFill>
              <a:srgbClr val="FFFFFF"/>
            </a:solidFill>
            <a:tailEnd type="triangle"/>
          </a:ln>
        </p:spPr>
      </p:cxnSp>
      <p:sp>
        <p:nvSpPr>
          <p:cNvPr id="13" name="Card4"/>
          <p:cNvSpPr/>
          <p:nvPr/>
        </p:nvSpPr>
        <p:spPr>
          <a:xfrm>
            <a:off x="4000000" y="3970000"/>
            <a:ext cx="7600000" cy="980000"/>
          </a:xfrm>
          <a:prstGeom prst="roundRect">
            <a:avLst>
              <a:gd name="adj" fmla="val 5000"/>
            </a:avLst>
          </a:prstGeom>
          <a:solidFill>
            <a:srgbClr val="DAE3F3"/>
          </a:solidFill>
          <a:ln w="12700">
            <a:solidFill>
              <a:srgbClr val="8FAADC"/>
            </a:solidFill>
          </a:ln>
        </p:spPr>
        <p:txBody>
          <a:bodyPr wrap="square" lIns="180000" tIns="72000" rIns="180000" bIns="72000" anchor="ctr">
            <a:normAutofit/>
          </a:bodyPr>
          <a:lstStyle/>
          <a:p>
            <a:r>
              <a:rPr lang="en-US" sz="1200" b="1">
                <a:solidFill>
                  <a:srgbClr val="1F3864"/>
                </a:solidFill>
                <a:latin typeface="Segoe UI"/>
              </a:rPr>
              <a:t>Cost Optimization</a:t>
            </a:r>
          </a:p>
          <a:p>
            <a:r>
              <a:rPr lang="en-US" sz="1000">
                <a:solidFill>
                  <a:srgbClr val="44546A"/>
                </a:solidFill>
                <a:latin typeface="Segoe UI"/>
              </a:rPr>
              <a:t>Prompt engineering, semantic caching, model tiering, and batch processing reduce token spend.</a:t>
            </a:r>
          </a:p>
        </p:txBody>
      </p:sp>
      <p:cxnSp>
        <p:nvCxnSpPr>
          <p:cNvPr id="23" name="Conn4"/>
          <p:cNvCxnSpPr/>
          <p:nvPr/>
        </p:nvCxnSpPr>
        <p:spPr>
          <a:xfrm>
            <a:off x="7800000" y="4950000"/>
            <a:ext cx="0" cy="160000"/>
          </a:xfrm>
          <a:prstGeom prst="straightConnector1">
            <a:avLst/>
          </a:prstGeom>
          <a:ln w="19050">
            <a:solidFill>
              <a:srgbClr val="FFFFFF"/>
            </a:solidFill>
            <a:tailEnd type="triangle"/>
          </a:ln>
        </p:spPr>
      </p:cxnSp>
      <p:sp>
        <p:nvSpPr>
          <p:cNvPr id="14" name="Card5"/>
          <p:cNvSpPr/>
          <p:nvPr/>
        </p:nvSpPr>
        <p:spPr>
          <a:xfrm>
            <a:off x="4000000" y="5110000"/>
            <a:ext cx="7600000" cy="980000"/>
          </a:xfrm>
          <a:prstGeom prst="roundRect">
            <a:avLst>
              <a:gd name="adj" fmla="val 5000"/>
            </a:avLst>
          </a:prstGeom>
          <a:solidFill>
            <a:srgbClr val="DAE3F3"/>
          </a:solidFill>
          <a:ln w="12700">
            <a:solidFill>
              <a:srgbClr val="8FAADC"/>
            </a:solidFill>
          </a:ln>
        </p:spPr>
        <p:txBody>
          <a:bodyPr wrap="square" lIns="180000" tIns="72000" rIns="180000" bIns="72000" anchor="ctr">
            <a:normAutofit/>
          </a:bodyPr>
          <a:lstStyle/>
          <a:p>
            <a:r>
              <a:rPr lang="en-US" sz="1200" b="1">
                <a:solidFill>
                  <a:srgbClr val="1F3864"/>
                </a:solidFill>
                <a:latin typeface="Segoe UI"/>
              </a:rPr>
              <a:t>Accountability &amp; Monitoring</a:t>
            </a:r>
          </a:p>
          <a:p>
            <a:r>
              <a:rPr lang="en-US" sz="1000">
                <a:solidFill>
                  <a:srgbClr val="44546A"/>
                </a:solidFill>
                <a:latin typeface="Segoe UI"/>
              </a:rPr>
              <a:t>Clear RACI definitions and centralized dashboards ensure accountability across FinOps, Platform, Engineering, and Finance teams.</a:t>
            </a:r>
          </a:p>
        </p:txBody>
      </p:sp>
      <p:sp>
        <p:nvSpPr>
          <p:cNvPr id="4" name="Footer Placeholder 3">
            <a:extLst>
              <a:ext uri="{FF2B5EF4-FFF2-40B4-BE49-F238E27FC236}">
                <a16:creationId xmlns:a16="http://schemas.microsoft.com/office/drawing/2014/main" id="{36E6FA2A-1A08-1385-B098-BEEF7FFA59AC}"/>
              </a:ext>
            </a:extLst>
          </p:cNvPr>
          <p:cNvSpPr>
            <a:spLocks noGrp="1"/>
          </p:cNvSpPr>
          <p:nvPr>
            <p:ph type="ftr" sz="quarter" idx="3"/>
          </p:nvPr>
        </p:nvSpPr>
        <p:spPr>
          <a:xfrm>
            <a:off x="4038600" y="6539518"/>
            <a:ext cx="4114800" cy="123111"/>
          </a:xfrm>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FFFFFF"/>
                </a:solidFill>
                <a:effectLst/>
                <a:uLnTx/>
                <a:uFillTx/>
              </a:rPr>
              <a:t>Microsoft Confidential</a:t>
            </a:r>
          </a:p>
        </p:txBody>
      </p:sp>
      <p:sp>
        <p:nvSpPr>
          <p:cNvPr id="5" name="Slide Number Placeholder 4">
            <a:extLst>
              <a:ext uri="{FF2B5EF4-FFF2-40B4-BE49-F238E27FC236}">
                <a16:creationId xmlns:a16="http://schemas.microsoft.com/office/drawing/2014/main" id="{EF48AD64-F1BB-1590-6B73-A66226052A61}"/>
              </a:ext>
            </a:extLst>
          </p:cNvPr>
          <p:cNvSpPr>
            <a:spLocks noGrp="1"/>
          </p:cNvSpPr>
          <p:nvPr>
            <p:ph type="sldNum" sz="quarter" idx="4"/>
          </p:nvPr>
        </p:nvSpPr>
        <p:spPr>
          <a:xfrm>
            <a:off x="11697272" y="6539518"/>
            <a:ext cx="404240" cy="123111"/>
          </a:xfrm>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FFFFFF"/>
                </a:solidFill>
                <a:effectLst/>
                <a:uLnTx/>
                <a:uFillTx/>
              </a:rPr>
              <a:pPr marL="0" marR="0" lvl="0" indent="0" defTabSz="914400" rtl="0" eaLnBrk="1" fontAlgn="auto" latinLnBrk="0" hangingPunct="1">
                <a:spcBef>
                  <a:spcPts val="0"/>
                </a:spcBef>
                <a:spcAft>
                  <a:spcPts val="600"/>
                </a:spcAft>
                <a:buClrTx/>
                <a:buSzTx/>
                <a:buFontTx/>
                <a:buNone/>
                <a:tabLst/>
                <a:defRPr/>
              </a:pPr>
              <a:t>30</a:t>
            </a:fld>
            <a:endParaRPr kumimoji="0" lang="en-US" b="0" i="0" u="none" strike="noStrike" kern="120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2547791689"/>
      </p:ext>
    </p:extLst>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D9F8841-BBBD-4248-A6AA-670EAC63CDC4}"/>
              </a:ext>
              <a:ext uri="{C183D7F6-B498-43B3-948B-1728B52AA6E4}">
                <adec:decorative xmlns:adec="http://schemas.microsoft.com/office/drawing/2017/decorative" val="1"/>
              </a:ext>
            </a:extLst>
          </p:cNvPr>
          <p:cNvSpPr/>
          <p:nvPr/>
        </p:nvSpPr>
        <p:spPr bwMode="auto">
          <a:xfrm>
            <a:off x="0" y="1963513"/>
            <a:ext cx="12192000" cy="2927802"/>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a:xfrm>
            <a:off x="575481" y="2965749"/>
            <a:ext cx="11018520" cy="923330"/>
          </a:xfrm>
        </p:spPr>
        <p:txBody>
          <a:bodyPr>
            <a:spAutoFit/>
          </a:bodyPr>
          <a:lstStyle/>
          <a:p>
            <a:r>
              <a:rPr lang="en-US" sz="6000">
                <a:solidFill>
                  <a:schemeClr val="bg1"/>
                </a:solidFill>
              </a:rPr>
              <a:t>Questions?</a:t>
            </a:r>
          </a:p>
        </p:txBody>
      </p:sp>
      <p:sp>
        <p:nvSpPr>
          <p:cNvPr id="9" name="Footer Placeholder 2">
            <a:extLst>
              <a:ext uri="{FF2B5EF4-FFF2-40B4-BE49-F238E27FC236}">
                <a16:creationId xmlns:a16="http://schemas.microsoft.com/office/drawing/2014/main" id="{7AC4F3CB-40F5-4D01-8BB6-1D1FE1099E94}"/>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1" name="Slide Number Placeholder 7">
            <a:extLst>
              <a:ext uri="{FF2B5EF4-FFF2-40B4-BE49-F238E27FC236}">
                <a16:creationId xmlns:a16="http://schemas.microsoft.com/office/drawing/2014/main" id="{08E0686E-B166-4606-8464-829D5D0B6AA3}"/>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31</a:t>
            </a:fld>
            <a:endParaRPr lang="en-US" noProof="0"/>
          </a:p>
        </p:txBody>
      </p:sp>
    </p:spTree>
    <p:custDataLst>
      <p:tags r:id="rId1"/>
    </p:custDataLst>
    <p:extLst>
      <p:ext uri="{BB962C8B-B14F-4D97-AF65-F5344CB8AC3E}">
        <p14:creationId xmlns:p14="http://schemas.microsoft.com/office/powerpoint/2010/main" val="4145703054"/>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MIO_NATIVESECTIONS" val="﻿&lt;?xml version=&quot;1.0&quot; encoding=&quot;utf-8&quot;?&gt;&lt;ArrayOfNativeSection xmlns:xsi=&quot;http://www.w3.org/2001/XMLSchema-instance&quot; xmlns:xsd=&quot;http://www.w3.org/2001/XMLSchema&quot;&gt;&lt;NativeSection&gt;&lt;Name&gt;Introduction to Windows PowerShell&lt;/Name&gt;&lt;FirstSlideIndex&gt;4&lt;/FirstSlideIndex&gt;&lt;SlidesCount&gt;6&lt;/SlidesCount&gt;&lt;SlideGuids&gt;&lt;guid&gt;9d9e1da7-2723-4f69-b69f-21b1693715c5&lt;/guid&gt;&lt;guid&gt;3ccd3973-1ec5-46fa-8710-ff514ce2a1f3&lt;/guid&gt;&lt;guid&gt;bc67d307-7296-45c5-86cd-00562e489dd6&lt;/guid&gt;&lt;guid&gt;672fc58f-c006-4e7b-83c2-90f4529f2400&lt;/guid&gt;&lt;guid&gt;318999cc-0be6-4be2-83d0-cb8fe10122fa&lt;/guid&gt;&lt;guid&gt;459b7d24-9e19-433a-accc-69f76be60f43&lt;/guid&gt;&lt;/SlideGuids&gt;&lt;/NativeSection&gt;&lt;NativeSection&gt;&lt;Name&gt;Introduction to Windows PowerShell - The PowerShell shell&lt;/Name&gt;&lt;FirstSlideIndex&gt;10&lt;/FirstSlideIndex&gt;&lt;SlidesCount&gt;7&lt;/SlidesCount&gt;&lt;SlideGuids&gt;&lt;guid&gt;3358efb2-d4c0-4d61-994f-75e3275fac2b&lt;/guid&gt;&lt;guid&gt;6ae3b69a-fbee-464e-ae86-3ecd39513fa0&lt;/guid&gt;&lt;guid&gt;4e0b095b-d004-4f1b-9c6b-30c2d0469d61&lt;/guid&gt;&lt;guid&gt;1d1652e4-8311-451e-9a8c-b2119571880d&lt;/guid&gt;&lt;guid&gt;aa04ec43-c604-4a73-b2eb-0ef0ee77f79c&lt;/guid&gt;&lt;guid&gt;00adf8b6-932b-4200-a1bc-c3f07f8f4d64&lt;/guid&gt;&lt;guid&gt;7e7f40d8-8d37-45ee-9724-a8bf02ad8fcf&lt;/guid&gt;&lt;/SlideGuids&gt;&lt;/NativeSection&gt;&lt;NativeSection&gt;&lt;Name&gt;Introduction to Windows PowerShell - Integrated Scripting Environment (ISE)&lt;/Name&gt;&lt;FirstSlideIndex&gt;17&lt;/FirstSlideIndex&gt;&lt;SlidesCount&gt;7&lt;/SlidesCount&gt;&lt;SlideGuids&gt;&lt;guid&gt;ca3cdbe2-c1a0-496c-8b03-963455ae08cc&lt;/guid&gt;&lt;guid&gt;b1a90355-9415-45f5-a99d-f37839064456&lt;/guid&gt;&lt;guid&gt;3bc041ee-b16c-40a8-a375-66ea1d776dc0&lt;/guid&gt;&lt;guid&gt;b6acce1c-41ec-4e65-bdcc-23f3b5b20db0&lt;/guid&gt;&lt;guid&gt;768a6834-0cfa-4d1b-b334-ac15dc4109ca&lt;/guid&gt;&lt;guid&gt;00adf8b6-932b-4200-a1bc-c3f07f8f4d64&lt;/guid&gt;&lt;guid&gt;7e7f40d8-8d37-45ee-9724-a8bf02ad8fcf&lt;/guid&gt;&lt;/SlideGuids&gt;&lt;/NativeSection&gt;&lt;NativeSection&gt;&lt;Name&gt;Introduction to Windows PowerShell - Integrated Scripting Environment (ISE) - Features&lt;/Name&gt;&lt;FirstSlideIndex&gt;24&lt;/FirstSlideIndex&gt;&lt;SlidesCount&gt;10&lt;/SlidesCount&gt;&lt;SlideGuids&gt;&lt;guid&gt;e1166bed-b1cf-4a18-b3fa-270e99523a73&lt;/guid&gt;&lt;guid&gt;1b439196-c8b3-443c-adfe-ddd445fc1dea&lt;/guid&gt;&lt;guid&gt;5db85947-b1b2-4c61-b1a6-466fcb9ccbc5&lt;/guid&gt;&lt;guid&gt;ff6facb6-682b-4525-82a1-7d48607b7e88&lt;/guid&gt;&lt;guid&gt;30280d42-31cf-4e37-be85-b7dbaab0bb92&lt;/guid&gt;&lt;guid&gt;f026dc64-98b4-4191-a399-1bde3e751c77&lt;/guid&gt;&lt;guid&gt;96dccee5-e57f-4ffe-9f58-07c261f2f193&lt;/guid&gt;&lt;guid&gt;58797128-d2cf-4e7b-ad59-8a18432caccf&lt;/guid&gt;&lt;guid&gt;00adf8b6-932b-4200-a1bc-c3f07f8f4d64&lt;/guid&gt;&lt;guid&gt;7e7f40d8-8d37-45ee-9724-a8bf02ad8fcf&lt;/guid&gt;&lt;/SlideGuids&gt;&lt;/NativeSection&gt;&lt;NativeSection&gt;&lt;Name&gt;Introduction to Commands&lt;/Name&gt;&lt;FirstSlideIndex&gt;34&lt;/FirstSlideIndex&gt;&lt;SlidesCount&gt;2&lt;/SlidesCount&gt;&lt;SlideGuids&gt;&lt;guid&gt;1f669531-dd69-4ef9-a692-f0ee18299d4d&lt;/guid&gt;&lt;guid&gt;3ccd3973-1ec5-46fa-8710-ff514ce2a1f3&lt;/guid&gt;&lt;/SlideGuids&gt;&lt;/NativeSection&gt;&lt;NativeSection&gt;&lt;Name&gt;Introduction to Commands - External Commands&lt;/Name&gt;&lt;FirstSlideIndex&gt;36&lt;/FirstSlideIndex&gt;&lt;SlidesCount&gt;5&lt;/SlidesCount&gt;&lt;SlideGuids&gt;&lt;guid&gt;3feb09ab-e4a3-4df2-b9b2-7c59bed53a69&lt;/guid&gt;&lt;guid&gt;6f878c01-a3eb-40d3-a213-c43f4a3ab641&lt;/guid&gt;&lt;guid&gt;cb107531-a8e9-469d-b5bd-c28436624552&lt;/guid&gt;&lt;guid&gt;6b3f75de-a037-4381-8fc8-618b7e265e56&lt;/guid&gt;&lt;guid&gt;7e7f40d8-8d37-45ee-9724-a8bf02ad8fcf&lt;/guid&gt;&lt;/SlideGuids&gt;&lt;/NativeSection&gt;&lt;NativeSection&gt;&lt;Name&gt;Introduction to Commands - PowerShell commands&lt;/Name&gt;&lt;FirstSlideIndex&gt;41&lt;/FirstSlideIndex&gt;&lt;SlidesCount&gt;12&lt;/SlidesCount&gt;&lt;SlideGuids&gt;&lt;guid&gt;426e1b04-391b-466b-bc29-8a42babefe40&lt;/guid&gt;&lt;guid&gt;a0578b4a-a1e6-4f54-93e4-8bf201accac6&lt;/guid&gt;&lt;guid&gt;a6d5c4db-5b9a-49b0-b2ba-bd0b3bff0758&lt;/guid&gt;&lt;guid&gt;b8052ebc-3fa8-4abe-9c2e-59c3bb4707ee&lt;/guid&gt;&lt;guid&gt;b794a4d1-9791-4bab-b28e-5253577824c6&lt;/guid&gt;&lt;guid&gt;0998e991-5e28-429f-9c2c-28193cee6032&lt;/guid&gt;&lt;guid&gt;4986f64a-99cf-404c-b710-071ed6bff202&lt;/guid&gt;&lt;guid&gt;9d70877b-88a2-415b-b023-87e5f0f10101&lt;/guid&gt;&lt;guid&gt;62563174-4078-46c5-a87c-d458e27091aa&lt;/guid&gt;&lt;guid&gt;bcf04dda-96d7-464b-ab84-ae63980a8e84&lt;/guid&gt;&lt;guid&gt;0e9c346d-8ca7-47d7-a3ea-dd9761e48c90&lt;/guid&gt;&lt;guid&gt;7e7f40d8-8d37-45ee-9724-a8bf02ad8fcf&lt;/guid&gt;&lt;/SlideGuids&gt;&lt;/NativeSection&gt;&lt;NativeSection&gt;&lt;Name&gt;Introduction to Commands - Cmdlet Syntax&lt;/Name&gt;&lt;FirstSlideIndex&gt;53&lt;/FirstSlideIndex&gt;&lt;SlidesCount&gt;14&lt;/SlidesCount&gt;&lt;SlideGuids&gt;&lt;guid&gt;7209000d-aa96-4e20-a91c-501ebc107778&lt;/guid&gt;&lt;guid&gt;f01cb306-9e1f-4590-9e38-bbf493ef8b1f&lt;/guid&gt;&lt;guid&gt;27b66761-f25d-4ebf-b7cd-c087bafe2652&lt;/guid&gt;&lt;guid&gt;7209000d-aa96-4e20-a91c-501ebc107778&lt;/guid&gt;&lt;guid&gt;7209000d-aa96-4e20-a91c-501ebc107778&lt;/guid&gt;&lt;guid&gt;7209000d-aa96-4e20-a91c-501ebc107778&lt;/guid&gt;&lt;guid&gt;7209000d-aa96-4e20-a91c-501ebc107778&lt;/guid&gt;&lt;guid&gt;7209000d-aa96-4e20-a91c-501ebc107778&lt;/guid&gt;&lt;guid&gt;7209000d-aa96-4e20-a91c-501ebc107778&lt;/guid&gt;&lt;guid&gt;5be2a765-e72f-40ef-9415-d6db991094bf&lt;/guid&gt;&lt;guid&gt;0c6b5fa0-27fa-4460-9bdd-29a275a83938&lt;/guid&gt;&lt;guid&gt;6806274d-ae00-4671-bcc4-6c446fd75137&lt;/guid&gt;&lt;guid&gt;eff1ad0d-edff-4696-b71d-26e747cd86cc&lt;/guid&gt;&lt;guid&gt;7e7f40d8-8d37-45ee-9724-a8bf02ad8fcf&lt;/guid&gt;&lt;/SlideGuids&gt;&lt;/NativeSection&gt;&lt;NativeSection&gt;&lt;Name&gt;Introduction to Commands - Cmdlet Common Parameters&lt;/Name&gt;&lt;FirstSlideIndex&gt;67&lt;/FirstSlideIndex&gt;&lt;SlidesCount&gt;12&lt;/SlidesCount&gt;&lt;SlideGuids&gt;&lt;guid&gt;9654f450-f019-44e6-b65b-d1bb1c9ab9cf&lt;/guid&gt;&lt;guid&gt;3f57c3d8-ad09-42db-8b7f-fb53311bbcb1&lt;/guid&gt;&lt;guid&gt;1b20324c-120d-4cd2-829e-ef4a36f4353a&lt;/guid&gt;&lt;guid&gt;cac7793a-fc43-4ff7-bf41-3e011449d657&lt;/guid&gt;&lt;guid&gt;8f045e5b-b095-40cd-80a0-6e971422544f&lt;/guid&gt;&lt;guid&gt;95714aaa-8dfb-4b1e-8b1e-37271dd273fa&lt;/guid&gt;&lt;guid&gt;9ab87bb2-7e8f-4af4-a94a-a8610fdccfdc&lt;/guid&gt;&lt;guid&gt;777d5f4b-0b2a-4316-82e8-5d730bbccaab&lt;/guid&gt;&lt;guid&gt;4654dda3-5a19-4678-8030-b1706eb3eb3f&lt;/guid&gt;&lt;guid&gt;2446594d-bc9d-40a4-8baa-b7757caf755f&lt;/guid&gt;&lt;guid&gt;b9cda98c-f984-44d2-949b-c0a768deba69&lt;/guid&gt;&lt;guid&gt;7e7f40d8-8d37-45ee-9724-a8bf02ad8fcf&lt;/guid&gt;&lt;/SlideGuids&gt;&lt;/NativeSection&gt;&lt;NativeSection&gt;&lt;Name&gt;Introduction to Commands - Command Termination and Line Continuation&lt;/Name&gt;&lt;FirstSlideIndex&gt;79&lt;/FirstSlideIndex&gt;&lt;SlidesCount&gt;8&lt;/SlidesCount&gt;&lt;SlideGuids&gt;&lt;guid&gt;1a25d4e7-21ea-4c9d-82ca-1c4d40b802e6&lt;/guid&gt;&lt;guid&gt;d4fc2cfb-1f4c-4284-9a90-8a9dfac87a51&lt;/guid&gt;&lt;guid&gt;00691e86-e96c-4ad2-9f74-ef4b3fa2693f&lt;/guid&gt;&lt;guid&gt;24f45a39-5d68-4f45-9666-28a431578cb4&lt;/guid&gt;&lt;guid&gt;cda6b029-eec0-4e35-9554-8139afb73cdf&lt;/guid&gt;&lt;guid&gt;ed0db01f-b035-4031-8354-c833afab6954&lt;/guid&gt;&lt;guid&gt;ae2f9860-d0e5-45d9-aeb9-b8c30276d763&lt;/guid&gt;&lt;guid&gt;7e7f40d8-8d37-45ee-9724-a8bf02ad8fcf&lt;/guid&gt;&lt;/SlideGuids&gt;&lt;/NativeSection&gt;&lt;NativeSection&gt;&lt;Name&gt;Introduction to Commands - Built-in Aliases&lt;/Name&gt;&lt;FirstSlideIndex&gt;87&lt;/FirstSlideIndex&gt;&lt;SlidesCount&gt;5&lt;/SlidesCount&gt;&lt;SlideGuids&gt;&lt;guid&gt;daa0c646-4964-4677-b662-6d7b5bde0af7&lt;/guid&gt;&lt;guid&gt;4df4c6eb-d2a5-4e73-bc8d-d337ce32b5c8&lt;/guid&gt;&lt;guid&gt;c1f56b12-3707-4f35-8733-39b9c38473e9&lt;/guid&gt;&lt;guid&gt;a3c72e30-c9fd-41a2-81b7-774a592681f2&lt;/guid&gt;&lt;guid&gt;7e7f40d8-8d37-45ee-9724-a8bf02ad8fcf&lt;/guid&gt;&lt;/SlideGuids&gt;&lt;/NativeSection&gt;&lt;NativeSection&gt;&lt;Name&gt;Introduction to Commands - User-defined Aliases&lt;/Name&gt;&lt;FirstSlideIndex&gt;92&lt;/FirstSlideIndex&gt;&lt;SlidesCount&gt;5&lt;/SlidesCount&gt;&lt;SlideGuids&gt;&lt;guid&gt;a7c2d5d0-e482-48f2-9014-d873da40f698&lt;/guid&gt;&lt;guid&gt;aa04ec43-c604-4a73-b2eb-0ef0ee77f79c&lt;/guid&gt;&lt;guid&gt;7209000d-aa96-4e20-a91c-501ebc107778&lt;/guid&gt;&lt;guid&gt;20c1946b-9a3c-4b0a-ba7c-74353ae716f5&lt;/guid&gt;&lt;guid&gt;7e7f40d8-8d37-45ee-9724-a8bf02ad8fcf&lt;/guid&gt;&lt;/SlideGuids&gt;&lt;/NativeSection&gt;&lt;NativeSection&gt;&lt;Name&gt;Introduction to Commands - Lab: Introduction to Commands&lt;/Name&gt;&lt;FirstSlideIndex&gt;97&lt;/FirstSlideIndex&gt;&lt;SlidesCount&gt;2&lt;/SlidesCount&gt;&lt;SlideGuids&gt;&lt;guid&gt;e5936d9c-b546-443b-afcc-e10e11a5dae6&lt;/guid&gt;&lt;guid&gt;1e5e1ebb-e8bf-4fba-87f5-5fca36bd0235&lt;/guid&gt;&lt;/SlideGuids&gt;&lt;/NativeSection&gt;&lt;/ArrayOfNativeSection&gt;"/>
  <p:tag name="MIO_EKGUID" val="602ca75f-b92d-4d33-a8d7-07e8571bebc5"/>
  <p:tag name="MIO_UPDATE" val="True"/>
  <p:tag name="MIO_VERSION" val="30.03.2020 15:44:06"/>
  <p:tag name="MIO_DBID" val="12B0C59E-2253-4124-A5E9-470ADF4CB168"/>
  <p:tag name="MIO_LASTDOWNLOADED" val="30.03.2020 17:44:54"/>
  <p:tag name="MIO_OBJECTNAME" val="Module Dark Grey"/>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DBID" val="12b0c59e-2253-4124-a5e9-470adf4cb168"/>
  <p:tag name="MIO_EKGUID" val="dadf7f33-1b3b-444f-82e3-91528bb138ab"/>
  <p:tag name="MIO_GUID" val="77499e9a-31aa-40e0-aa71-ba32caef6098"/>
  <p:tag name="MIO_LASTDOWNLOADED" val="30.03.2020 15:44:51"/>
  <p:tag name="MIO_LASTEDITORNAME" val="Devid Treuling"/>
  <p:tag name="MIO_OBJECTNAME" val="Title"/>
  <p:tag name="MIO_UPDATE" val="True"/>
  <p:tag name="MIO_VERSION" val="30.03.2020 15:44:05"/>
</p:tagLst>
</file>

<file path=ppt/tags/tag3.xml><?xml version="1.0" encoding="utf-8"?>
<p:tagLst xmlns:a="http://schemas.openxmlformats.org/drawingml/2006/main" xmlns:r="http://schemas.openxmlformats.org/officeDocument/2006/relationships" xmlns:p="http://schemas.openxmlformats.org/presentationml/2006/main">
  <p:tag name="MIO_DBID" val="12b0c59e-2253-4124-a5e9-470adf4cb168"/>
  <p:tag name="MIO_EKGUID" val="66b2b442-327e-43dd-bd4d-df915862f5d3"/>
  <p:tag name="MIO_GUID" val="3f15d768-aaeb-472a-a613-08046adda187"/>
  <p:tag name="MIO_LASTDOWNLOADED" val="30.03.2020 15:44:51"/>
  <p:tag name="MIO_LASTEDITORNAME" val="Devid Treuling"/>
  <p:tag name="MIO_OBJECTNAME" val="Learning Units covered in this Module"/>
  <p:tag name="MIO_UPDATE" val="True"/>
  <p:tag name="MIO_VERSION" val="30.03.2020 15:44:05"/>
</p:tagLst>
</file>

<file path=ppt/tags/tag4.xml><?xml version="1.0" encoding="utf-8"?>
<p:tagLst xmlns:a="http://schemas.openxmlformats.org/drawingml/2006/main" xmlns:r="http://schemas.openxmlformats.org/officeDocument/2006/relationships" xmlns:p="http://schemas.openxmlformats.org/presentationml/2006/main">
  <p:tag name="MIO_DBID" val="12b0c59e-2253-4124-a5e9-470adf4cb168"/>
  <p:tag name="MIO_EKGUID" val="b0bc2a4e-b359-41fd-8d02-f26205a8e61a"/>
  <p:tag name="MIO_GUID" val="7e7f40d8-8d37-45ee-9724-a8bf02ad8fcf"/>
  <p:tag name="MIO_LASTDOWNLOADED" val="30.03.2020 15:44:52"/>
  <p:tag name="MIO_LASTEDITORNAME" val="Devid Treuling"/>
  <p:tag name="MIO_OBJECTNAME" val="Questions?"/>
  <p:tag name="MIO_UPDATE" val="True"/>
  <p:tag name="MIO_VERSION" val="30.03.2020 15:44:05"/>
</p:tagLst>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lcf76f155ced4ddcb4097134ff3c332f xmlns="a29421e1-74d8-4915-bb0d-c72892872ba0">
      <Terms xmlns="http://schemas.microsoft.com/office/infopath/2007/PartnerControls"/>
    </lcf76f155ced4ddcb4097134ff3c332f>
  </documentManagement>
</p:properties>
</file>

<file path=customXml/item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6.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8.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9.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1.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3.xml><?xml version="1.0" encoding="utf-8"?>
<?mso-contentType ?>
<FormTemplates xmlns="http://schemas.microsoft.com/sharepoint/v3/contenttype/forms">
  <Display>DocumentLibraryForm</Display>
  <Edit>DocumentLibraryForm</Edit>
  <New>DocumentLibraryForm</New>
</FormTemplates>
</file>

<file path=customXml/item14.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1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8.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1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0.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1.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3.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2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6.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7.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8.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1.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2.xml><?xml version="1.0" encoding="utf-8"?>
<ct:contentTypeSchema xmlns:ct="http://schemas.microsoft.com/office/2006/metadata/contentType" xmlns:ma="http://schemas.microsoft.com/office/2006/metadata/properties/metaAttributes" ct:_="" ma:_="" ma:contentTypeName="Document" ma:contentTypeID="0x0101001BD4B4487B57D443AED9979943B92646" ma:contentTypeVersion="15" ma:contentTypeDescription="Create a new document." ma:contentTypeScope="" ma:versionID="11635a662f4c9a657eae7bf4dc620629">
  <xsd:schema xmlns:xsd="http://www.w3.org/2001/XMLSchema" xmlns:xs="http://www.w3.org/2001/XMLSchema" xmlns:p="http://schemas.microsoft.com/office/2006/metadata/properties" xmlns:ns1="http://schemas.microsoft.com/sharepoint/v3" xmlns:ns2="a29421e1-74d8-4915-bb0d-c72892872ba0" xmlns:ns3="230e9df3-be65-4c73-a93b-d1236ebd677e" targetNamespace="http://schemas.microsoft.com/office/2006/metadata/properties" ma:root="true" ma:fieldsID="dff1dd5af459cf9d2efcc6111ef93463" ns1:_="" ns2:_="" ns3:_="">
    <xsd:import namespace="http://schemas.microsoft.com/sharepoint/v3"/>
    <xsd:import namespace="a29421e1-74d8-4915-bb0d-c72892872ba0"/>
    <xsd:import namespace="230e9df3-be65-4c73-a93b-d1236ebd677e"/>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MediaServiceDocTag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421e1-74d8-4915-bb0d-c72892872ba0"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12b3914-fd28-4b53-a746-fcfd87edfe12}" ma:internalName="TaxCatchAll" ma:showField="CatchAllData" ma:web="c2fe79a6-8abe-455d-ad41-5c60efd42c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9.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AC7687D8-5695-4F99-A8BA-1D247B418C22}">
  <ds:schemaRefs>
    <ds:schemaRef ds:uri="http://schemas.microsoft.com/office/2006/documentManagement/types"/>
    <ds:schemaRef ds:uri="http://schemas.microsoft.com/sharepoint/v3"/>
    <ds:schemaRef ds:uri="http://purl.org/dc/elements/1.1/"/>
    <ds:schemaRef ds:uri="http://www.w3.org/XML/1998/namespace"/>
    <ds:schemaRef ds:uri="http://schemas.microsoft.com/office/2006/metadata/properties"/>
    <ds:schemaRef ds:uri="http://purl.org/dc/terms/"/>
    <ds:schemaRef ds:uri="19614695-0c98-4ea4-9244-f5047452aafb"/>
    <ds:schemaRef ds:uri="http://schemas.microsoft.com/office/infopath/2007/PartnerControls"/>
    <ds:schemaRef ds:uri="http://schemas.openxmlformats.org/package/2006/metadata/core-properties"/>
    <ds:schemaRef ds:uri="fcb28fc0-2e3b-4764-9e63-46b62073c0cd"/>
    <ds:schemaRef ds:uri="http://purl.org/dc/dcmitype/"/>
  </ds:schemaRefs>
</ds:datastoreItem>
</file>

<file path=customXml/itemProps2.xml><?xml version="1.0" encoding="utf-8"?>
<ds:datastoreItem xmlns:ds="http://schemas.openxmlformats.org/officeDocument/2006/customXml" ds:itemID="{406127A5-B8F7-4F8A-95A9-8E20F72EA129}">
  <ds:schemaRefs>
    <ds:schemaRef ds:uri="Strauss.PersonalizationDefinition"/>
  </ds:schemaRefs>
</ds:datastoreItem>
</file>

<file path=customXml/itemProps3.xml><?xml version="1.0" encoding="utf-8"?>
<ds:datastoreItem xmlns:ds="http://schemas.openxmlformats.org/officeDocument/2006/customXml" ds:itemID="{FC25CD5D-A9DA-407F-9106-47BDA14BCED9}">
  <ds:schemaRefs>
    <ds:schemaRef ds:uri="Strauss.PersonalizationDefinition"/>
  </ds:schemaRefs>
</ds:datastoreItem>
</file>

<file path=customXml/itemProps4.xml><?xml version="1.0" encoding="utf-8"?>
<ds:datastoreItem xmlns:ds="http://schemas.openxmlformats.org/officeDocument/2006/customXml" ds:itemID="{D55AC15F-0A03-4D96-AA43-65FC3DCE2717}">
  <ds:schemaRefs>
    <ds:schemaRef ds:uri="Strauss.PersonalizationDefinition"/>
  </ds:schemaRefs>
</ds:datastoreItem>
</file>

<file path=customXml/itemProps5.xml><?xml version="1.0" encoding="utf-8"?>
<ds:datastoreItem xmlns:ds="http://schemas.openxmlformats.org/officeDocument/2006/customXml" ds:itemID="{103AB8E4-C30A-4895-9606-8D77F2E70F19}">
  <ds:schemaRefs>
    <ds:schemaRef ds:uri="Strauss.PersonalizationDefinition"/>
  </ds:schemaRefs>
</ds:datastoreItem>
</file>

<file path=customXml/itemProps6.xml><?xml version="1.0" encoding="utf-8"?>
<ds:datastoreItem xmlns:ds="http://schemas.openxmlformats.org/officeDocument/2006/customXml" ds:itemID="{6F485757-9F3C-4A1E-9E86-E1C1551910BA}">
  <ds:schemaRefs>
    <ds:schemaRef ds:uri="Strauss.PersonalizationDefinition"/>
  </ds:schemaRefs>
</ds:datastoreItem>
</file>

<file path=customXml/itemProps7.xml><?xml version="1.0" encoding="utf-8"?>
<ds:datastoreItem xmlns:ds="http://schemas.openxmlformats.org/officeDocument/2006/customXml" ds:itemID="{32920470-F086-4197-B6FE-12027DE25DCC}">
  <ds:schemaRefs>
    <ds:schemaRef ds:uri="Strauss.PersonalizationDefinition"/>
  </ds:schemaRefs>
</ds:datastoreItem>
</file>

<file path=customXml/itemProps8.xml><?xml version="1.0" encoding="utf-8"?>
<ds:datastoreItem xmlns:ds="http://schemas.openxmlformats.org/officeDocument/2006/customXml" ds:itemID="{E7EBEF02-C69B-46E0-B38A-E51611CE5254}">
  <ds:schemaRefs>
    <ds:schemaRef ds:uri="Strauss.PersonalizationDefinition"/>
  </ds:schemaRefs>
</ds:datastoreItem>
</file>

<file path=customXml/itemProps9.xml><?xml version="1.0" encoding="utf-8"?>
<ds:datastoreItem xmlns:ds="http://schemas.openxmlformats.org/officeDocument/2006/customXml" ds:itemID="{DF333A1B-0A9C-4DA8-ADAB-4378B69FDC48}">
  <ds:schemaRefs>
    <ds:schemaRef ds:uri="Strauss.PersonalizationDefinition"/>
  </ds:schemaRefs>
</ds:datastoreItem>
</file>

<file path=customXml/itemProps10.xml><?xml version="1.0" encoding="utf-8"?>
<ds:datastoreItem xmlns:ds="http://schemas.openxmlformats.org/officeDocument/2006/customXml" ds:itemID="{08068EAD-DA6C-4DC8-843E-9CB0982D15F3}">
  <ds:schemaRefs>
    <ds:schemaRef ds:uri="Strauss.PersonalizationDefinition"/>
  </ds:schemaRefs>
</ds:datastoreItem>
</file>

<file path=customXml/itemProps11.xml><?xml version="1.0" encoding="utf-8"?>
<ds:datastoreItem xmlns:ds="http://schemas.openxmlformats.org/officeDocument/2006/customXml" ds:itemID="{C1060A51-5976-4775-97EE-ABE1B1E4972A}">
  <ds:schemaRefs>
    <ds:schemaRef ds:uri="Strauss.PersonalizationDefinition"/>
  </ds:schemaRefs>
</ds:datastoreItem>
</file>

<file path=customXml/itemProps12.xml><?xml version="1.0" encoding="utf-8"?>
<ds:datastoreItem xmlns:ds="http://schemas.openxmlformats.org/officeDocument/2006/customXml" ds:itemID="{DE0DC7DC-A960-4E6E-BF1B-D3D906B081A2}">
  <ds:schemaRefs>
    <ds:schemaRef ds:uri="Strauss.PersonalizationDefinition"/>
  </ds:schemaRefs>
</ds:datastoreItem>
</file>

<file path=customXml/itemProps13.xml><?xml version="1.0" encoding="utf-8"?>
<ds:datastoreItem xmlns:ds="http://schemas.openxmlformats.org/officeDocument/2006/customXml" ds:itemID="{C18D3FE9-2C4E-470C-9B85-FEEE51F2FFFE}">
  <ds:schemaRefs>
    <ds:schemaRef ds:uri="http://schemas.microsoft.com/sharepoint/v3/contenttype/forms"/>
  </ds:schemaRefs>
</ds:datastoreItem>
</file>

<file path=customXml/itemProps14.xml><?xml version="1.0" encoding="utf-8"?>
<ds:datastoreItem xmlns:ds="http://schemas.openxmlformats.org/officeDocument/2006/customXml" ds:itemID="{13A5538B-5199-4900-941A-B01E377F2065}">
  <ds:schemaRefs>
    <ds:schemaRef ds:uri="Strauss.PersonalizationDefinition"/>
  </ds:schemaRefs>
</ds:datastoreItem>
</file>

<file path=customXml/itemProps15.xml><?xml version="1.0" encoding="utf-8"?>
<ds:datastoreItem xmlns:ds="http://schemas.openxmlformats.org/officeDocument/2006/customXml" ds:itemID="{11767EAE-0FC6-472D-9D35-EB3533243F22}">
  <ds:schemaRefs>
    <ds:schemaRef ds:uri="Strauss.PersonalizationDefinition"/>
  </ds:schemaRefs>
</ds:datastoreItem>
</file>

<file path=customXml/itemProps16.xml><?xml version="1.0" encoding="utf-8"?>
<ds:datastoreItem xmlns:ds="http://schemas.openxmlformats.org/officeDocument/2006/customXml" ds:itemID="{4C485A9E-99A8-4277-BE90-E837A967DB2E}">
  <ds:schemaRefs>
    <ds:schemaRef ds:uri="Strauss.PersonalizationDefinition"/>
  </ds:schemaRefs>
</ds:datastoreItem>
</file>

<file path=customXml/itemProps17.xml><?xml version="1.0" encoding="utf-8"?>
<ds:datastoreItem xmlns:ds="http://schemas.openxmlformats.org/officeDocument/2006/customXml" ds:itemID="{6552B3D2-5F72-49FB-8B35-AFE12BF36804}">
  <ds:schemaRefs>
    <ds:schemaRef ds:uri="Strauss.PersonalizationDefinition"/>
  </ds:schemaRefs>
</ds:datastoreItem>
</file>

<file path=customXml/itemProps18.xml><?xml version="1.0" encoding="utf-8"?>
<ds:datastoreItem xmlns:ds="http://schemas.openxmlformats.org/officeDocument/2006/customXml" ds:itemID="{628127A0-F2C3-45C3-BB9F-5B29A6B848BE}">
  <ds:schemaRefs>
    <ds:schemaRef ds:uri="Strauss.PersonalizationDefinition"/>
  </ds:schemaRefs>
</ds:datastoreItem>
</file>

<file path=customXml/itemProps19.xml><?xml version="1.0" encoding="utf-8"?>
<ds:datastoreItem xmlns:ds="http://schemas.openxmlformats.org/officeDocument/2006/customXml" ds:itemID="{FBC13881-F2DC-4AA3-88C8-97C40CA1EBC7}">
  <ds:schemaRefs>
    <ds:schemaRef ds:uri="Strauss.PersonalizationDefinition"/>
  </ds:schemaRefs>
</ds:datastoreItem>
</file>

<file path=customXml/itemProps20.xml><?xml version="1.0" encoding="utf-8"?>
<ds:datastoreItem xmlns:ds="http://schemas.openxmlformats.org/officeDocument/2006/customXml" ds:itemID="{EF4AA5EB-A638-4D3A-B852-E71E18ED4953}">
  <ds:schemaRefs>
    <ds:schemaRef ds:uri="Strauss.PersonalizationDefinition"/>
  </ds:schemaRefs>
</ds:datastoreItem>
</file>

<file path=customXml/itemProps21.xml><?xml version="1.0" encoding="utf-8"?>
<ds:datastoreItem xmlns:ds="http://schemas.openxmlformats.org/officeDocument/2006/customXml" ds:itemID="{F56EB5D8-3CD5-48EE-9536-13CF2B9AC25D}">
  <ds:schemaRefs>
    <ds:schemaRef ds:uri="Strauss.PersonalizationDefinition"/>
  </ds:schemaRefs>
</ds:datastoreItem>
</file>

<file path=customXml/itemProps22.xml><?xml version="1.0" encoding="utf-8"?>
<ds:datastoreItem xmlns:ds="http://schemas.openxmlformats.org/officeDocument/2006/customXml" ds:itemID="{68BE9F8F-073F-46B7-B2D0-86DC8E2E9DCE}">
  <ds:schemaRefs>
    <ds:schemaRef ds:uri="Strauss.PersonalizationDefinition"/>
  </ds:schemaRefs>
</ds:datastoreItem>
</file>

<file path=customXml/itemProps23.xml><?xml version="1.0" encoding="utf-8"?>
<ds:datastoreItem xmlns:ds="http://schemas.openxmlformats.org/officeDocument/2006/customXml" ds:itemID="{541D4602-AC17-4CBD-B95E-D5B3D757BC54}">
  <ds:schemaRefs>
    <ds:schemaRef ds:uri="Strauss.PersonalizationDefinition"/>
  </ds:schemaRefs>
</ds:datastoreItem>
</file>

<file path=customXml/itemProps24.xml><?xml version="1.0" encoding="utf-8"?>
<ds:datastoreItem xmlns:ds="http://schemas.openxmlformats.org/officeDocument/2006/customXml" ds:itemID="{EDFBA6C8-3A38-44F0-B645-B6B0034983DA}">
  <ds:schemaRefs>
    <ds:schemaRef ds:uri="Strauss.PersonalizationDefinition"/>
  </ds:schemaRefs>
</ds:datastoreItem>
</file>

<file path=customXml/itemProps25.xml><?xml version="1.0" encoding="utf-8"?>
<ds:datastoreItem xmlns:ds="http://schemas.openxmlformats.org/officeDocument/2006/customXml" ds:itemID="{7BE5F28F-50CA-40F1-A02E-E794FE33362D}">
  <ds:schemaRefs>
    <ds:schemaRef ds:uri="Strauss.PersonalizationDefinition"/>
  </ds:schemaRefs>
</ds:datastoreItem>
</file>

<file path=customXml/itemProps26.xml><?xml version="1.0" encoding="utf-8"?>
<ds:datastoreItem xmlns:ds="http://schemas.openxmlformats.org/officeDocument/2006/customXml" ds:itemID="{ECCE7DC3-F525-4E76-8812-56FCA2D21E50}">
  <ds:schemaRefs>
    <ds:schemaRef ds:uri="Strauss.PersonalizationDefinition"/>
  </ds:schemaRefs>
</ds:datastoreItem>
</file>

<file path=customXml/itemProps27.xml><?xml version="1.0" encoding="utf-8"?>
<ds:datastoreItem xmlns:ds="http://schemas.openxmlformats.org/officeDocument/2006/customXml" ds:itemID="{BC268A45-186B-46A3-937F-0E016CEA70C1}">
  <ds:schemaRefs>
    <ds:schemaRef ds:uri="Strauss.PersonalizationDefinition"/>
  </ds:schemaRefs>
</ds:datastoreItem>
</file>

<file path=customXml/itemProps28.xml><?xml version="1.0" encoding="utf-8"?>
<ds:datastoreItem xmlns:ds="http://schemas.openxmlformats.org/officeDocument/2006/customXml" ds:itemID="{A09B3D8F-A36C-4B6D-871D-C53F61DFD219}">
  <ds:schemaRefs>
    <ds:schemaRef ds:uri="Strauss.PersonalizationDefinition"/>
  </ds:schemaRefs>
</ds:datastoreItem>
</file>

<file path=customXml/itemProps29.xml><?xml version="1.0" encoding="utf-8"?>
<ds:datastoreItem xmlns:ds="http://schemas.openxmlformats.org/officeDocument/2006/customXml" ds:itemID="{5C919DC8-E31E-42F0-9621-B916C2E029BA}">
  <ds:schemaRefs>
    <ds:schemaRef ds:uri="Strauss.PersonalizationDefinition"/>
  </ds:schemaRefs>
</ds:datastoreItem>
</file>

<file path=customXml/itemProps30.xml><?xml version="1.0" encoding="utf-8"?>
<ds:datastoreItem xmlns:ds="http://schemas.openxmlformats.org/officeDocument/2006/customXml" ds:itemID="{B228D3F7-8445-4CE7-92DC-AC7FE2D5A2AF}">
  <ds:schemaRefs>
    <ds:schemaRef ds:uri="Strauss.PersonalizationDefinition"/>
  </ds:schemaRefs>
</ds:datastoreItem>
</file>

<file path=customXml/itemProps31.xml><?xml version="1.0" encoding="utf-8"?>
<ds:datastoreItem xmlns:ds="http://schemas.openxmlformats.org/officeDocument/2006/customXml" ds:itemID="{D7FDC28F-4CBD-40ED-9D33-0A1360D5DEC4}">
  <ds:schemaRefs>
    <ds:schemaRef ds:uri="Strauss.PersonalizationDefinition"/>
  </ds:schemaRefs>
</ds:datastoreItem>
</file>

<file path=customXml/itemProps32.xml><?xml version="1.0" encoding="utf-8"?>
<ds:datastoreItem xmlns:ds="http://schemas.openxmlformats.org/officeDocument/2006/customXml" ds:itemID="{0D420FCD-4E1E-4D04-BF97-EACD65D47381}"/>
</file>

<file path=customXml/itemProps33.xml><?xml version="1.0" encoding="utf-8"?>
<ds:datastoreItem xmlns:ds="http://schemas.openxmlformats.org/officeDocument/2006/customXml" ds:itemID="{4EA01338-72BB-48B6-B6A4-05B31FE21105}">
  <ds:schemaRefs>
    <ds:schemaRef ds:uri="Strauss.PersonalizationDefinition"/>
  </ds:schemaRefs>
</ds:datastoreItem>
</file>

<file path=customXml/itemProps34.xml><?xml version="1.0" encoding="utf-8"?>
<ds:datastoreItem xmlns:ds="http://schemas.openxmlformats.org/officeDocument/2006/customXml" ds:itemID="{734F6CED-B619-41E0-BEDE-58B64D5F5EB2}">
  <ds:schemaRefs>
    <ds:schemaRef ds:uri="Strauss.PersonalizationDefinition"/>
  </ds:schemaRefs>
</ds:datastoreItem>
</file>

<file path=customXml/itemProps35.xml><?xml version="1.0" encoding="utf-8"?>
<ds:datastoreItem xmlns:ds="http://schemas.openxmlformats.org/officeDocument/2006/customXml" ds:itemID="{B09E3EAE-66CA-4A91-A5FE-A34A70B099ED}">
  <ds:schemaRefs>
    <ds:schemaRef ds:uri="Strauss.PersonalizationDefinition"/>
  </ds:schemaRefs>
</ds:datastoreItem>
</file>

<file path=customXml/itemProps36.xml><?xml version="1.0" encoding="utf-8"?>
<ds:datastoreItem xmlns:ds="http://schemas.openxmlformats.org/officeDocument/2006/customXml" ds:itemID="{712108F3-86F2-4B95-AF2D-FE4E45965FCC}">
  <ds:schemaRefs>
    <ds:schemaRef ds:uri="Strauss.PersonalizationDefinition"/>
  </ds:schemaRefs>
</ds:datastoreItem>
</file>

<file path=customXml/itemProps37.xml><?xml version="1.0" encoding="utf-8"?>
<ds:datastoreItem xmlns:ds="http://schemas.openxmlformats.org/officeDocument/2006/customXml" ds:itemID="{82C716E8-B770-4139-99B0-F35B9C64B90F}">
  <ds:schemaRefs>
    <ds:schemaRef ds:uri="Strauss.PersonalizationDefinition"/>
  </ds:schemaRefs>
</ds:datastoreItem>
</file>

<file path=customXml/itemProps38.xml><?xml version="1.0" encoding="utf-8"?>
<ds:datastoreItem xmlns:ds="http://schemas.openxmlformats.org/officeDocument/2006/customXml" ds:itemID="{2BCFCE7B-4A43-491B-887D-365E2A1C50B2}">
  <ds:schemaRefs>
    <ds:schemaRef ds:uri="Strauss.PersonalizationDefinition"/>
  </ds:schemaRefs>
</ds:datastoreItem>
</file>

<file path=customXml/itemProps39.xml><?xml version="1.0" encoding="utf-8"?>
<ds:datastoreItem xmlns:ds="http://schemas.openxmlformats.org/officeDocument/2006/customXml" ds:itemID="{4A3F169F-E27D-4A25-888C-4C5D83BAC082}">
  <ds:schemaRefs>
    <ds:schemaRef ds:uri="Strauss.PersonalizationDefinition"/>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2337</TotalTime>
  <Words>3053</Words>
  <Application>Microsoft Office PowerPoint</Application>
  <PresentationFormat>Widescreen</PresentationFormat>
  <Paragraphs>517</Paragraphs>
  <Slides>31</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Calibri</vt:lpstr>
      <vt:lpstr>Consolas</vt:lpstr>
      <vt:lpstr>Segoe UI</vt:lpstr>
      <vt:lpstr>Segoe UI Emoji</vt:lpstr>
      <vt:lpstr>Segoe UI Semibold</vt:lpstr>
      <vt:lpstr>Wingdings</vt:lpstr>
      <vt:lpstr>White Template</vt:lpstr>
      <vt:lpstr>Module 3 – Core Governance Pillars</vt:lpstr>
      <vt:lpstr>Learning Units covered  in this Module </vt:lpstr>
      <vt:lpstr>FinOps &amp; Cost Patterns</vt:lpstr>
      <vt:lpstr>FinOps vs AI Extended FinOps</vt:lpstr>
      <vt:lpstr>Cost Explosion Patterns in Agentic Systems</vt:lpstr>
      <vt:lpstr>Model Over-Provisioning</vt:lpstr>
      <vt:lpstr>Example of an Agentic System</vt:lpstr>
      <vt:lpstr>AI Governance</vt:lpstr>
      <vt:lpstr>Publish, manage, secure, analyze your APIs on a scalable platform</vt:lpstr>
      <vt:lpstr> Token Governance</vt:lpstr>
      <vt:lpstr>Token Governance Cont'd</vt:lpstr>
      <vt:lpstr> Throughput  Governance</vt:lpstr>
      <vt:lpstr> PAYG vs. PTU Decision Flowchart</vt:lpstr>
      <vt:lpstr> Concurrency  Governance</vt:lpstr>
      <vt:lpstr>Chargeback &amp; Financial Accountability</vt:lpstr>
      <vt:lpstr>Chargeback &amp; Showback for AI </vt:lpstr>
      <vt:lpstr>Chargeback &amp; Showback for AI Cont'd </vt:lpstr>
      <vt:lpstr>Chargeback &amp; Showback for AI Cont'd </vt:lpstr>
      <vt:lpstr>Budget Alerts Configuration </vt:lpstr>
      <vt:lpstr>Quota Management</vt:lpstr>
      <vt:lpstr>Chargeback Tagging Architecture</vt:lpstr>
      <vt:lpstr>Azure Policy for Tag Enforcement </vt:lpstr>
      <vt:lpstr>Cost Allocation Rules for Shared AI Services: </vt:lpstr>
      <vt:lpstr>Optimization Strategies</vt:lpstr>
      <vt:lpstr>Optimization Strategies: Prompt Efficiency &amp; Caching</vt:lpstr>
      <vt:lpstr>Optimization Strategies: Model Selection</vt:lpstr>
      <vt:lpstr>Roles &amp; Monitoring</vt:lpstr>
      <vt:lpstr>AI FinOps Roles &amp; Responsibilities (RACI)</vt:lpstr>
      <vt:lpstr>Cost Monitoring &amp; Dashboards</vt:lpstr>
      <vt:lpstr>Summary &amp; Key Takeaways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Foundation Skills</dc:title>
  <dc:creator>Mike O'Neill</dc:creator>
  <cp:lastModifiedBy>Mahi Sundararajan</cp:lastModifiedBy>
  <cp:revision>6</cp:revision>
  <dcterms:created xsi:type="dcterms:W3CDTF">2019-02-08T20:09:46Z</dcterms:created>
  <dcterms:modified xsi:type="dcterms:W3CDTF">2026-06-19T03:50:55Z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mconeill@microsoft.com</vt:lpwstr>
  </property>
  <property fmtid="{D5CDD505-2E9C-101B-9397-08002B2CF9AE}" pid="5" name="MSIP_Label_f42aa342-8706-4288-bd11-ebb85995028c_SetDate">
    <vt:lpwstr>2019-02-08T20:18:02.6502176Z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c97fa254-6a58-4427-a7a7-d6af83db1ac5</vt:lpwstr>
  </property>
  <property fmtid="{D5CDD505-2E9C-101B-9397-08002B2CF9AE}" pid="9" name="MSIP_Label_f42aa342-8706-4288-bd11-ebb85995028c_Extended_MSFT_Method">
    <vt:lpwstr>Automatic</vt:lpwstr>
  </property>
  <property fmtid="{D5CDD505-2E9C-101B-9397-08002B2CF9AE}" pid="10" name="ContentTypeId">
    <vt:lpwstr>0x0101001BD4B4487B57D443AED9979943B92646</vt:lpwstr>
  </property>
  <property fmtid="{D5CDD505-2E9C-101B-9397-08002B2CF9AE}" pid="11" name="_dlc_DocIdItemGuid">
    <vt:lpwstr>faeaa986-2e78-4567-bd40-f1286550cf24</vt:lpwstr>
  </property>
  <property fmtid="{D5CDD505-2E9C-101B-9397-08002B2CF9AE}" pid="12" name="MediaServiceImageTags">
    <vt:lpwstr/>
  </property>
  <property fmtid="{D5CDD505-2E9C-101B-9397-08002B2CF9AE}" pid="13" name="MSIP_Label_8aa191f1-c555-4a9e-8b3e-85ef51701160_Enabled">
    <vt:lpwstr>true</vt:lpwstr>
  </property>
  <property fmtid="{D5CDD505-2E9C-101B-9397-08002B2CF9AE}" pid="14" name="MSIP_Label_8aa191f1-c555-4a9e-8b3e-85ef51701160_SetDate">
    <vt:lpwstr>2021-11-23T16:30:11Z</vt:lpwstr>
  </property>
  <property fmtid="{D5CDD505-2E9C-101B-9397-08002B2CF9AE}" pid="15" name="MSIP_Label_8aa191f1-c555-4a9e-8b3e-85ef51701160_Method">
    <vt:lpwstr>Standard</vt:lpwstr>
  </property>
  <property fmtid="{D5CDD505-2E9C-101B-9397-08002B2CF9AE}" pid="16" name="MSIP_Label_8aa191f1-c555-4a9e-8b3e-85ef51701160_Name">
    <vt:lpwstr>Confidential</vt:lpwstr>
  </property>
  <property fmtid="{D5CDD505-2E9C-101B-9397-08002B2CF9AE}" pid="17" name="MSIP_Label_8aa191f1-c555-4a9e-8b3e-85ef51701160_SiteId">
    <vt:lpwstr>a57507b2-d296-4dca-a9ae-67b1484e02a9</vt:lpwstr>
  </property>
  <property fmtid="{D5CDD505-2E9C-101B-9397-08002B2CF9AE}" pid="18" name="MSIP_Label_8aa191f1-c555-4a9e-8b3e-85ef51701160_ActionId">
    <vt:lpwstr>75c8a85a-1c6e-478a-ae68-029fd0558de5</vt:lpwstr>
  </property>
  <property fmtid="{D5CDD505-2E9C-101B-9397-08002B2CF9AE}" pid="19" name="MSIP_Label_8aa191f1-c555-4a9e-8b3e-85ef51701160_ContentBits">
    <vt:lpwstr>0</vt:lpwstr>
  </property>
  <property fmtid="{D5CDD505-2E9C-101B-9397-08002B2CF9AE}" pid="20" name="ComplianceAssetId">
    <vt:lpwstr/>
  </property>
  <property fmtid="{D5CDD505-2E9C-101B-9397-08002B2CF9AE}" pid="21" name="Mail Sent">
    <vt:lpwstr>false</vt:lpwstr>
  </property>
  <property fmtid="{D5CDD505-2E9C-101B-9397-08002B2CF9AE}" pid="22" name="xd_Signature">
    <vt:lpwstr/>
  </property>
  <property fmtid="{D5CDD505-2E9C-101B-9397-08002B2CF9AE}" pid="23" name="State">
    <vt:lpwstr>Open</vt:lpwstr>
  </property>
  <property fmtid="{D5CDD505-2E9C-101B-9397-08002B2CF9AE}" pid="24" name="TriggerFlowInfo">
    <vt:lpwstr/>
  </property>
  <property fmtid="{D5CDD505-2E9C-101B-9397-08002B2CF9AE}" pid="25" name="Order">
    <vt:r8>10536200</vt:r8>
  </property>
  <property fmtid="{D5CDD505-2E9C-101B-9397-08002B2CF9AE}" pid="26" name="Lead Signoff">
    <vt:lpwstr>false</vt:lpwstr>
  </property>
  <property fmtid="{D5CDD505-2E9C-101B-9397-08002B2CF9AE}" pid="27" name="Title URL">
    <vt:lpwstr>, </vt:lpwstr>
  </property>
  <property fmtid="{D5CDD505-2E9C-101B-9397-08002B2CF9AE}" pid="28" name="xd_ProgID">
    <vt:lpwstr/>
  </property>
  <property fmtid="{D5CDD505-2E9C-101B-9397-08002B2CF9AE}" pid="29" name="TemplateUrl">
    <vt:lpwstr/>
  </property>
  <property fmtid="{D5CDD505-2E9C-101B-9397-08002B2CF9AE}" pid="30" name="_ExtendedDescription">
    <vt:lpwstr/>
  </property>
  <property fmtid="{D5CDD505-2E9C-101B-9397-08002B2CF9AE}" pid="31" name="_SourceUrl">
    <vt:lpwstr/>
  </property>
  <property fmtid="{D5CDD505-2E9C-101B-9397-08002B2CF9AE}" pid="32" name="_SharedFileIndex">
    <vt:lpwstr/>
  </property>
</Properties>
</file>