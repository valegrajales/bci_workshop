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4"/>
  </p:sldMasterIdLst>
  <p:notesMasterIdLst>
    <p:notesMasterId r:id="rId83"/>
  </p:notesMasterIdLst>
  <p:sldIdLst>
    <p:sldId id="295" r:id="rId45"/>
    <p:sldId id="293" r:id="rId46"/>
    <p:sldId id="258" r:id="rId47"/>
    <p:sldId id="259" r:id="rId48"/>
    <p:sldId id="2147469893" r:id="rId49"/>
    <p:sldId id="261" r:id="rId50"/>
    <p:sldId id="262" r:id="rId51"/>
    <p:sldId id="263" r:id="rId52"/>
    <p:sldId id="264" r:id="rId53"/>
    <p:sldId id="265" r:id="rId54"/>
    <p:sldId id="266" r:id="rId55"/>
    <p:sldId id="267" r:id="rId56"/>
    <p:sldId id="268" r:id="rId57"/>
    <p:sldId id="269" r:id="rId58"/>
    <p:sldId id="270" r:id="rId59"/>
    <p:sldId id="271" r:id="rId60"/>
    <p:sldId id="272" r:id="rId61"/>
    <p:sldId id="273" r:id="rId62"/>
    <p:sldId id="274" r:id="rId63"/>
    <p:sldId id="275" r:id="rId64"/>
    <p:sldId id="276" r:id="rId65"/>
    <p:sldId id="277" r:id="rId66"/>
    <p:sldId id="278" r:id="rId67"/>
    <p:sldId id="279" r:id="rId68"/>
    <p:sldId id="280" r:id="rId69"/>
    <p:sldId id="281" r:id="rId70"/>
    <p:sldId id="282" r:id="rId71"/>
    <p:sldId id="283" r:id="rId72"/>
    <p:sldId id="284" r:id="rId73"/>
    <p:sldId id="285" r:id="rId74"/>
    <p:sldId id="286" r:id="rId75"/>
    <p:sldId id="287" r:id="rId76"/>
    <p:sldId id="288" r:id="rId77"/>
    <p:sldId id="289" r:id="rId78"/>
    <p:sldId id="290" r:id="rId79"/>
    <p:sldId id="291" r:id="rId80"/>
    <p:sldId id="292" r:id="rId81"/>
    <p:sldId id="294" r:id="rId82"/>
  </p:sldIdLst>
  <p:sldSz cx="12192000" cy="6858000"/>
  <p:notesSz cx="6858000" cy="9144000"/>
  <p:custDataLst>
    <p:tags r:id="rId8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C1C"/>
    <a:srgbClr val="000000"/>
    <a:srgbClr val="004C58"/>
    <a:srgbClr val="00459A"/>
    <a:srgbClr val="00636F"/>
    <a:srgbClr val="515151"/>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5932" autoAdjust="0"/>
  </p:normalViewPr>
  <p:slideViewPr>
    <p:cSldViewPr snapToGrid="0">
      <p:cViewPr varScale="1">
        <p:scale>
          <a:sx n="56" d="100"/>
          <a:sy n="56" d="100"/>
        </p:scale>
        <p:origin x="6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slide" Target="slides/slide3.xml"/><Relationship Id="rId63" Type="http://schemas.openxmlformats.org/officeDocument/2006/relationships/slide" Target="slides/slide19.xml"/><Relationship Id="rId68" Type="http://schemas.openxmlformats.org/officeDocument/2006/relationships/slide" Target="slides/slide24.xml"/><Relationship Id="rId84" Type="http://schemas.openxmlformats.org/officeDocument/2006/relationships/tags" Target="tags/tag1.xml"/><Relationship Id="rId89" Type="http://schemas.openxmlformats.org/officeDocument/2006/relationships/tableStyles" Target="tableStyles.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9.xml"/><Relationship Id="rId58" Type="http://schemas.openxmlformats.org/officeDocument/2006/relationships/slide" Target="slides/slide14.xml"/><Relationship Id="rId74" Type="http://schemas.openxmlformats.org/officeDocument/2006/relationships/slide" Target="slides/slide30.xml"/><Relationship Id="rId79" Type="http://schemas.openxmlformats.org/officeDocument/2006/relationships/slide" Target="slides/slide35.xml"/><Relationship Id="rId5" Type="http://schemas.openxmlformats.org/officeDocument/2006/relationships/customXml" Target="../customXml/item5.xml"/><Relationship Id="rId90" Type="http://schemas.microsoft.com/office/2016/11/relationships/changesInfo" Target="changesInfos/changesInfo1.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slide" Target="slides/slide4.xml"/><Relationship Id="rId56" Type="http://schemas.openxmlformats.org/officeDocument/2006/relationships/slide" Target="slides/slide12.xml"/><Relationship Id="rId64" Type="http://schemas.openxmlformats.org/officeDocument/2006/relationships/slide" Target="slides/slide20.xml"/><Relationship Id="rId69" Type="http://schemas.openxmlformats.org/officeDocument/2006/relationships/slide" Target="slides/slide25.xml"/><Relationship Id="rId77" Type="http://schemas.openxmlformats.org/officeDocument/2006/relationships/slide" Target="slides/slide33.xml"/><Relationship Id="rId8" Type="http://schemas.openxmlformats.org/officeDocument/2006/relationships/customXml" Target="../customXml/item8.xml"/><Relationship Id="rId51" Type="http://schemas.openxmlformats.org/officeDocument/2006/relationships/slide" Target="slides/slide7.xml"/><Relationship Id="rId72" Type="http://schemas.openxmlformats.org/officeDocument/2006/relationships/slide" Target="slides/slide28.xml"/><Relationship Id="rId80" Type="http://schemas.openxmlformats.org/officeDocument/2006/relationships/slide" Target="slides/slide36.xml"/><Relationship Id="rId85"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 Target="slides/slide2.xml"/><Relationship Id="rId59" Type="http://schemas.openxmlformats.org/officeDocument/2006/relationships/slide" Target="slides/slide15.xml"/><Relationship Id="rId67" Type="http://schemas.openxmlformats.org/officeDocument/2006/relationships/slide" Target="slides/slide23.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10.xml"/><Relationship Id="rId62" Type="http://schemas.openxmlformats.org/officeDocument/2006/relationships/slide" Target="slides/slide18.xml"/><Relationship Id="rId70" Type="http://schemas.openxmlformats.org/officeDocument/2006/relationships/slide" Target="slides/slide26.xml"/><Relationship Id="rId75" Type="http://schemas.openxmlformats.org/officeDocument/2006/relationships/slide" Target="slides/slide31.xml"/><Relationship Id="rId83" Type="http://schemas.openxmlformats.org/officeDocument/2006/relationships/notesMaster" Target="notesMasters/notesMaster1.xml"/><Relationship Id="rId88" Type="http://schemas.openxmlformats.org/officeDocument/2006/relationships/theme" Target="theme/theme1.xml"/><Relationship Id="rId91" Type="http://schemas.microsoft.com/office/2018/10/relationships/authors" Target="author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5.xml"/><Relationship Id="rId57" Type="http://schemas.openxmlformats.org/officeDocument/2006/relationships/slide" Target="slides/slide13.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Master" Target="slideMasters/slideMaster1.xml"/><Relationship Id="rId52" Type="http://schemas.openxmlformats.org/officeDocument/2006/relationships/slide" Target="slides/slide8.xml"/><Relationship Id="rId60" Type="http://schemas.openxmlformats.org/officeDocument/2006/relationships/slide" Target="slides/slide16.xml"/><Relationship Id="rId65" Type="http://schemas.openxmlformats.org/officeDocument/2006/relationships/slide" Target="slides/slide21.xml"/><Relationship Id="rId73" Type="http://schemas.openxmlformats.org/officeDocument/2006/relationships/slide" Target="slides/slide29.xml"/><Relationship Id="rId78" Type="http://schemas.openxmlformats.org/officeDocument/2006/relationships/slide" Target="slides/slide34.xml"/><Relationship Id="rId81" Type="http://schemas.openxmlformats.org/officeDocument/2006/relationships/slide" Target="slides/slide37.xml"/><Relationship Id="rId86"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6.xml"/><Relationship Id="rId55" Type="http://schemas.openxmlformats.org/officeDocument/2006/relationships/slide" Target="slides/slide11.xml"/><Relationship Id="rId76" Type="http://schemas.openxmlformats.org/officeDocument/2006/relationships/slide" Target="slides/slide32.xml"/><Relationship Id="rId7" Type="http://schemas.openxmlformats.org/officeDocument/2006/relationships/customXml" Target="../customXml/item7.xml"/><Relationship Id="rId71" Type="http://schemas.openxmlformats.org/officeDocument/2006/relationships/slide" Target="slides/slide27.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slide" Target="slides/slide1.xml"/><Relationship Id="rId66" Type="http://schemas.openxmlformats.org/officeDocument/2006/relationships/slide" Target="slides/slide22.xml"/><Relationship Id="rId87" Type="http://schemas.openxmlformats.org/officeDocument/2006/relationships/viewProps" Target="viewProps.xml"/><Relationship Id="rId61" Type="http://schemas.openxmlformats.org/officeDocument/2006/relationships/slide" Target="slides/slide17.xml"/><Relationship Id="rId82" Type="http://schemas.openxmlformats.org/officeDocument/2006/relationships/slide" Target="slides/slide38.xml"/><Relationship Id="rId19" Type="http://schemas.openxmlformats.org/officeDocument/2006/relationships/customXml" Target="../customXml/item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 Sundararajan" userId="1319c946-a83f-4def-8c00-c7c406a5fa35" providerId="ADAL" clId="{6C62D458-5E75-4392-9FAB-DD9FC135922F}"/>
    <pc:docChg chg="custSel addSld">
      <pc:chgData name="Mahi Sundararajan" userId="1319c946-a83f-4def-8c00-c7c406a5fa35" providerId="ADAL" clId="{6C62D458-5E75-4392-9FAB-DD9FC135922F}" dt="2026-05-14T06:34:52.708" v="0" actId="26606"/>
      <pc:docMkLst>
        <pc:docMk/>
      </pc:docMkLst>
      <pc:sldChg chg="add">
        <pc:chgData name="Mahi Sundararajan" userId="1319c946-a83f-4def-8c00-c7c406a5fa35" providerId="ADAL" clId="{6C62D458-5E75-4392-9FAB-DD9FC135922F}" dt="2026-05-14T06:34:52.708" v="0" actId="26606"/>
        <pc:sldMkLst>
          <pc:docMk/>
          <pc:sldMk cId="0" sldId="29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6/19/2026</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Organizations are investing in core AI technology platforms — this is a transformative force, not just a trend. 75% of knowledge workers already use AI at work, having doubled in 6 months. McKinsey reports 65% of organizations are deriving business value from generative AI in 2024. But 60% of leaders worry their org lacks a plan to scale and operationalize AI, and 59% worry about quantifying benefits. The story: adoption is real, but proving ROI and scaling beyond pilots is the hard part. A COE turns fragmented experiments into a controlled, scalable AI transformation that unlocks value 3.7× faster (IDC InfoBrief sponsored by Microsoft, Nov 2024, US52699124).</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organizations follow a 'Fractured AI' pattern: custom traditional-AI silos owned by IT, productivity-only Copilot rollouts, niche third-party Copilot sprawl driving Shadow AI, and no common envisioning, prioritization or governance — leaving customers stuck. A COE replaces this with one unified operating model: centralized envisioning/intake/triage/ROI assessment, consolidation of Copilots/agents/custom AI, end-to-end governance, citizen development at scale, with monitoring and feedback loops. Result: 3.7× faster time-to-value vs fragmented programs (IDC, 2024).</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C07D0-0A0D-366A-595B-23DCE5190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68E9E-57B9-AA42-0FFD-E4840B1AEFF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C2291E4-0E7C-FA44-B91A-5D29E2638AFD}"/>
              </a:ext>
            </a:extLst>
          </p:cNvPr>
          <p:cNvSpPr>
            <a:spLocks noGrp="1"/>
          </p:cNvSpPr>
          <p:nvPr>
            <p:ph type="body" sz="quarter" idx="3"/>
          </p:nvPr>
        </p:nvSpPr>
        <p:spPr/>
        <p:txBody>
          <a:bodyPr/>
          <a:lstStyle/>
          <a:p>
            <a:r>
              <a:t>We organize the COE around five drivers of AI value. Talk through each pillar briefly: (1) Business Strategy — operating model and use-case prioritization; (2) Technology Strategy — foundation architecture, Buy/Extend/Build, and Responsible AI; (3) Applied AI Experience — citizen development and monitoring; (4) Organization &amp; Culture — adoption, change management, templates and accelerators; (5) AI Governance — Copilot/agent guardrails, environment strategy, DLP, and continuous testing. Mention that Data &amp; Security are prerequisites that accelerate every pillar.</a:t>
            </a:r>
          </a:p>
        </p:txBody>
      </p:sp>
      <p:sp>
        <p:nvSpPr>
          <p:cNvPr id="4" name="Slide Number Placeholder 3">
            <a:extLst>
              <a:ext uri="{FF2B5EF4-FFF2-40B4-BE49-F238E27FC236}">
                <a16:creationId xmlns:a16="http://schemas.microsoft.com/office/drawing/2014/main" id="{CDCA04B8-924C-F0DA-01DE-51D4826552FA}"/>
              </a:ext>
            </a:extLst>
          </p:cNvPr>
          <p:cNvSpPr>
            <a:spLocks noGrp="1"/>
          </p:cNvSpPr>
          <p:nvPr>
            <p:ph type="sldNum" sz="quarter" idx="5"/>
          </p:nvPr>
        </p:nvSpPr>
        <p:spPr/>
      </p:sp>
    </p:spTree>
    <p:extLst>
      <p:ext uri="{BB962C8B-B14F-4D97-AF65-F5344CB8AC3E}">
        <p14:creationId xmlns:p14="http://schemas.microsoft.com/office/powerpoint/2010/main" val="22435377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Pillar 1 sets the tone for the entire COE. Without a clear AI operating model, intake process, and executive sponsorship, even the best technology investments stall. This unit covers org accountabilities, use-case intake/triage, prioritization, and the resources to get started.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 what learners will achieve in this unit. Focus: define the AI operating model and intake. Outcomes: a published RACI, an active intake/triage cadence, and a backlog scored on business value. Audience: AI COE Lead, Chief AI Officer, CIO, and BU AI sponsors.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Organizations succeed when AI accountability is set at every cadence: Quarterly steering with executives, monthly portfolio reviews with the COE leadership, weekly intake/triage with product owners, and daily standups inside delivery squads. Each cadence has a clear input, decision, and output. Reference: Microsoft AI council white paper — https://aka.ms/AIcouncil.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funnel: Capture (idea intake form) → Score (BXT — Business value, </a:t>
            </a:r>
            <a:r>
              <a:rPr err="1"/>
              <a:t>eXperience</a:t>
            </a:r>
            <a:r>
              <a:t>, Tech feasibility) → Decide (Buy/Extend/Build + sponsor approval) → Deliver (squad picks it up) → Measure (adoption, productivity, ROI). The BXT scoring matrix is the gate that prevents Shadow AI and ensures every accepted use case maps to measurable business value.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items on this slide are clickable. Highlight the CIO Generative AI Playbook, AI Strategy Roadmap, AI Council white paper, the Microsoft Digital story of building an internal COE, the AI Readiness Wizard, the Copilot Scenario Library, and the 1000+ customer success stories. Encourage learners to bookmark these and revisit during their own COE design.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Pillar 2 is the technology backbone. A COE is only as good as the platform it runs on — secure, scalable, compliant landing zones; clear Buy/Extend/Build decisions across the Microsoft AI stack; and Responsible AI baked into every workload.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Outcomes: consistent landing zones with security baselines, a documented Buy/Extend/Build decision framework, and enforceable Responsible AI guidelines. Audience: CDO, CISO, CTO/Architecture Board, CCO.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Responsibility shifts as you move from BYO model → PaaS (Azure AI) → SaaS (Copilot). With BYO you own model + platform + usage. With Azure AI PaaS, Microsoft manages the platform, you manage app and usage. With Copilot SaaS, Microsoft manages platform and app — you only manage usage and data. Use this model to size your team and pick the right pattern per workload.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landing zone is the pre-built infrastructure plumbing so that when an AI workload arrives, identity, networking, governance, security, ops and deployment are already in place. Walk through the design areas: enterprise enrollment, identity, management groups &amp; resource organization, network topology &amp; on-prem connectivity, operational baselines (BCDR), governance disciplines for compliance, and deployment options. This saves months of planning and avoids painful refactors later. Reference the AI scale landing zone accelerator on Microsoft Learn.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Buy = adopt Microsoft 365 Copilot, GitHub Copilot, Security Copilot — fast time to value, low custom effort. Extend = use Copilot Studio and Power Platform to extend Copilots with org data and custom actions. Build = use Azure AI Foundry to build bespoke agents and AI apps. Most enterprises will live in all three modes simultaneously — the COE's job is to make the choice deliberate per use case, not accidental.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Responsible AI rests on six principles (Fairness, Reliability &amp; Safety, Privacy &amp; Security, Inclusiveness, Transparency, Accountability). Microsoft tools support every layer: Azure AI Content Safety for content moderation, prompt shields for jailbreak protection, evaluation pipelines for groundedness/safety, and Foundry's built-in tracing and risk dashboards. RAI is not a one-time review — it is a continuous control embedded in the dev → deploy → monitor loop.</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items are clickable. Required: the Azure AI Foundry quickstart — every architect on your team should complete this hands-on lab to ground decisions in the actual platform. Optional labs let learners go deeper on landing zones, AI Foundry SDK, Content Safety, and Azure OpenAI fundamentals. Other Resources are reference reading: the Responsible AI Standard, AI architecture patterns, the Buy/Extend/Build guidance, and the Well-Architected Framework for AI workloads.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Pillar 3 is where business users meet AI. Citizen development plus telemetry-driven monitoring is how you scale beyond IT and surface high-value use cases without losing control.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Focus: enable citizen development with guardrails, monitor across all AI platforms. Outcomes: a citizen-developer program, end-to-end telemetry, and a feedback loop into the use-case backlog. Audience: COE Lead, BU sponsors, IT enablement leads, Power Platform admins.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IT pro-dev only — long delivery cycles (weeks/months), IT is the bottleneck, drives Shadow AI. After: citizen development with IT enablement — business users build with low-code AI building blocks, days not months to first value, IT becomes the platform/guardrails enabler. Use a hybrid model: local citizen development for productivity/simple flows; central IT-led delivery for complex/mission-critical work.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Monitoring proves ROI to leadership and unlocks further investment. Three telemetry sources: (1) Microsoft 365 Copilot — usage telemetry, Copilot Analytics dashboards, Adoption Score; (2) Azure AI Foundry — Azure Monitor, App Insights tracing, scheduled online evaluations; (3) Power Platform / Copilot Studio — Admin Center, COE Starter Kit dashboards, Sentinel &amp; Defender integration. Key references: https://aka.ms/copilotdesignwins-lxp and https://aka.ms/powercattelemetry. M365 Copilot tracks MAU (Monthly Active Users) and PAU (Productive Active Users — users who completed tasks or generated content). Copilot Studio tracks C1 MAU (custom copilots) and C2 MAU (generative AI copilots). Hide $ amounts before sharing externally.</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Required: the Microsoft Copilot Studio 'Get started' learning path — citizen developers and IT enablement leads need this baseline. Optional labs cover the Power Platform COE Starter Kit, building agents, Foundry agent monitoring, and M365 Copilot adoption. Other Resources point to the M365 Copilot Adoption Score, Power Platform Admin Center docs, citizen-development white paper, Scenario Library, Sentinel/Defender for Copilot Studio, and the leadership insights blog.</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Pillar 4 is the most underestimated. Tech without adoption is shelfware. This unit covers workforce readiness, change management, communities of practice, and the templates/catalogs/accelerators that compound learning across the org.</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Focus: workforce readiness and adoption. Outcomes: an adoption plan, an active champions network, and a shared catalog of templates and accelerators. Audience: HR, L&amp;D, Communications, COE Lead, BU change leads.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Only 1 in 5 employees has received any formal AI training. 52% are reluctant to admit they use AI for important tasks. &lt;1% of leaders describe their company as 'mature' in AI deployment. 82% of leaders say their employees will need new skills. The takeaway: invest in training, communities and gamification — make AI usage visible, celebrated and rewarded.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motions to scale knowledge: (1) Training — formal learning paths plus role-based learning. (2) Community — internal champions, monthly demos, MS Teams community, Yammer/Viva Engage. (3) Evangelism — gamification, hackathons, success-story library. Reference Microsoft's Copilot Scenario Library and the AI ACR design wins library. Make sure to hide $ amounts when sharing externally.</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Required: 'Drive AI adoption in your organization' Microsoft Learn path — every COE change-management lead should complete this. Optional labs cover building cross-functional AI teams, the Microsoft Learn AI hub, Agent-in-a-Day templates, and the Skills Navigator. Other Resources include AI Tour events, the champions playbook, the Shoosmiths £1M Copilot bonus case study, customer success stories, Microsoft Reactor promptathons, and the M365 Adoption Hub.</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Pillar 5 is the guardrails pillar. Without governance, every other pillar collapses under the weight of incidents, compliance violations, and unmanaged sprawl. This unit covers Copilot/agent governance, environment strategy, DLP, and continuous security testing (GenAIOps).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Focus: governance, security and compliance for AI. Outcomes: documented Copilot Control System, environment strategy with DLP, and a GenAIOps continuous-testing pipeline. Audience: CISO, CCO, Privacy Officer, Power Platform admins, Foundry platform team.</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three most common AI security incidents: (1) Oversharing — agents and Copilots surface data the user shouldn't see because of permissive SharePoint/OneDrive sharing. (2) Shadow AI — employees pasting confidential data into public chatbots. (3) Prompt injection / jailbreaks — manipulated inputs causing agents to leak data or perform unauthorized actions. Each has a Microsoft mitigation: Restricted SharePoint Search, Purview, Defender for Cloud Apps, Prompt Shields in Azure AI Content Safety.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Copilot Control System has three layers: (1) Manage AI usage — Adoption &amp; Insights, Restricted SPO Search, App Governance. (2) Protect AI usage — Purview DLP for AI, Insider Risk Management, Defender for Cloud Apps. (3) Govern AI — Purview Communication Compliance, Compliance Manager, Sensitivity Labels. These map cleanly to existing Microsoft Security &amp; Compliance investments — you are not buying a new stack, you are extending what you already own.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Move from a sprawling default environment (real customer example: 364,520+ makers in one environment, no isolation, no premium-license control, default-share security risk) to grouped role-based environments with per-group rules: agent creation, sharing, autonomous agents, allowed data sources. Benefits: secure by default (no one builds in default), manageability (distributed users), healthy ALM (only promoted assets reach production), cost &amp; licensing control. This is THE highest-leverage governance change you can make in Power Platform / Copilot Studio.</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GenAI evolves continuously — you must test in CI and in production. Five pillars: (1) LLM Prompts — system message, output structure, RAI prompts. (2) Model Performance — response time, latency, token limits. (3) Application Performance — SLA/latency, cost per call. (4) LLM Generated Outputs — groundedness, accuracy, fluency, coherence, similarity. (5) Responsible AI — jailbreak detection, content filtering for harm/violence/hate/sexual/self-harm. Run these as scheduled online evaluations in Azure AI Foundry, and surface results on a single scorecard reviewed by the COE monthly.</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Required: the Responsible AI with Azure AI Content Safety Microsoft Learn module — every governance reviewer needs this hands-on. Optional labs go deeper on Foundry evaluations, Microsoft Purview for AI, Defender for Cloud AI posture management, and Azure Policy. Other Resources include the Responsible AI Standard v2, AI Transparency Notes, EU AI Act guidance, NIST AI RMF, the Impact Assessment template, and AI red-teaming guidance.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Five takeaways to walk away with: (1) AI value comes from a unified operating model, not isolated pilots. (2) Foundation architecture and Buy/Extend/Build clarity prevent rework. (3) Citizen development plus monitoring scales innovation safely. (4) Adoption and culture are the largest predictors of ROI. (5) Governance is continuous — environment strategy, DLP, and </a:t>
            </a:r>
            <a:r>
              <a:rPr dirty="0" err="1"/>
              <a:t>GenAIOps</a:t>
            </a:r>
            <a:r>
              <a:rPr dirty="0"/>
              <a:t> testing are not one-time projects.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Four-step call to action: Engage (run an end-to-end COE inspirational session with your AI leadership), Assess (use the AI @ Scale ATU questionnaire to measure maturity per pillar), Prioritize (build a roadmap targeting the highest-value pillars first), Implement (partner with Microsoft and SI partners to operationalize a scalable AI factory). The closing message: let's work together to make generative AI a scalable advantage for your organization.</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 the floor for questions. Direct learners to https://aka.ms/xaicoe for the latest Microsoft COE content, including downloadable assessment tools and the AI council white paper.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3.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hyperlink" Target="https://aka.ms/Copilot/CIOplaybook" TargetMode="External"/><Relationship Id="rId13" Type="http://schemas.openxmlformats.org/officeDocument/2006/relationships/hyperlink" Target="https://www.microsoft.com/en-us/worklab/agents-of-change" TargetMode="External"/><Relationship Id="rId3" Type="http://schemas.openxmlformats.org/officeDocument/2006/relationships/hyperlink" Target="https://learn.microsoft.com/en-us/training/paths/transform-your-business-with-microsoft-ai/" TargetMode="External"/><Relationship Id="rId7" Type="http://schemas.openxmlformats.org/officeDocument/2006/relationships/hyperlink" Target="https://learn.microsoft.com/en-us/azure/cloud-adoption-framework/scenarios/ai/strategy" TargetMode="External"/><Relationship Id="rId12" Type="http://schemas.openxmlformats.org/officeDocument/2006/relationships/hyperlink" Target="https://www.microsoft.com/insidetrack/blog/the-ai-revolution-how-microsoft-digital-it-is-responding-with-an-ai-center-of-excellence/"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hyperlink" Target="https://adoption.microsoft.com/en-us/ai-readiness-wizard/" TargetMode="External"/><Relationship Id="rId11" Type="http://schemas.openxmlformats.org/officeDocument/2006/relationships/hyperlink" Target="https://aka.ms/Copilot/CreatingAnAICouncilGuide" TargetMode="External"/><Relationship Id="rId5" Type="http://schemas.openxmlformats.org/officeDocument/2006/relationships/hyperlink" Target="https://learn.microsoft.com/en-us/microsoft-cloud/dev/copilot/isv/business-envisioning" TargetMode="External"/><Relationship Id="rId10" Type="http://schemas.openxmlformats.org/officeDocument/2006/relationships/hyperlink" Target="https://www.microsoft.com/en-us/microsoft-cloud/blog/2024/02/22/building-a-foundation-for-ai-success-ai-strategy-and-experience/?mscm=1" TargetMode="External"/><Relationship Id="rId4" Type="http://schemas.openxmlformats.org/officeDocument/2006/relationships/hyperlink" Target="https://learn.microsoft.com/en-us/azure/cloud-adoption-framework/scenarios/ai/center-of-excellence#build-a-cross-functional-team" TargetMode="External"/><Relationship Id="rId9" Type="http://schemas.openxmlformats.org/officeDocument/2006/relationships/hyperlink" Target="https://www.microsoft.com/en-us/microsoft-cloud/blog/2024/04/03/the-ai-strategy-roadmap-navigating-the-stages-of-value-creation/?mscm=1" TargetMode="External"/><Relationship Id="rId14" Type="http://schemas.openxmlformats.org/officeDocument/2006/relationships/hyperlink" Target="https://www.microsoft.com/en-us/ai/ai-customer-stories"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hyperlink" Target="https://aka.ms/RAIStandardPDF" TargetMode="External"/><Relationship Id="rId3" Type="http://schemas.openxmlformats.org/officeDocument/2006/relationships/hyperlink" Target="https://learn.microsoft.com/en-us/azure/ai-foundry/quickstarts/get-started-code" TargetMode="External"/><Relationship Id="rId7" Type="http://schemas.openxmlformats.org/officeDocument/2006/relationships/hyperlink" Target="https://learn.microsoft.com/en-us/training/modules/explore-azure-openai/" TargetMode="External"/><Relationship Id="rId12" Type="http://schemas.openxmlformats.org/officeDocument/2006/relationships/hyperlink" Target="https://learn.microsoft.com/en-us/azure/well-architected/ai/"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hyperlink" Target="https://learn.microsoft.com/en-us/azure/ai-services/content-safety/" TargetMode="External"/><Relationship Id="rId11" Type="http://schemas.openxmlformats.org/officeDocument/2006/relationships/hyperlink" Target="https://www.microsoft.com/en-us/ai/responsible-ai" TargetMode="External"/><Relationship Id="rId5" Type="http://schemas.openxmlformats.org/officeDocument/2006/relationships/hyperlink" Target="https://learn.microsoft.com/en-us/training/paths/create-custom-copilots-ai-studio/" TargetMode="External"/><Relationship Id="rId10" Type="http://schemas.openxmlformats.org/officeDocument/2006/relationships/hyperlink" Target="https://aka.ms/xaicoe" TargetMode="External"/><Relationship Id="rId4" Type="http://schemas.openxmlformats.org/officeDocument/2006/relationships/hyperlink" Target="https://learn.microsoft.com/en-us/azure/cloud-adoption-framework/scenarios/ai/" TargetMode="External"/><Relationship Id="rId9" Type="http://schemas.openxmlformats.org/officeDocument/2006/relationships/hyperlink" Target="https://learn.microsoft.com/en-us/azure/architecture/ai-ml/"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hyperlink" Target="https://learn.microsoft.com/en-us/azure/ai-foundry/what-is-azure-ai-foundry" TargetMode="External"/><Relationship Id="rId3" Type="http://schemas.openxmlformats.org/officeDocument/2006/relationships/hyperlink" Target="https://learn.microsoft.com/en-us/azure/ai-services/agents/overview" TargetMode="External"/><Relationship Id="rId7" Type="http://schemas.openxmlformats.org/officeDocument/2006/relationships/hyperlink" Target="https://ai.azure.com/" TargetMode="Externa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hyperlink" Target="https://github.com/Azure-Samples/azureai-samples" TargetMode="External"/><Relationship Id="rId5" Type="http://schemas.openxmlformats.org/officeDocument/2006/relationships/hyperlink" Target="https://learn.microsoft.com/en-us/azure/ai-foundry/how-to/monitor-applications" TargetMode="External"/><Relationship Id="rId10" Type="http://schemas.openxmlformats.org/officeDocument/2006/relationships/hyperlink" Target="https://www.microsoft.com/en-us/microsoft-cloud/blog/2025/02/18/maximizing-ais-potential-insights-from-microsoft-leaders-on-how-to-get-the-most-from-generative-ai/?mscm=1" TargetMode="External"/><Relationship Id="rId4" Type="http://schemas.openxmlformats.org/officeDocument/2006/relationships/hyperlink" Target="https://microsoftlearning.github.io/mslearn-ai-studio/" TargetMode="External"/><Relationship Id="rId9" Type="http://schemas.openxmlformats.org/officeDocument/2006/relationships/hyperlink" Target="https://learn.microsoft.com/en-us/azure/cloud-adoption-framework/scenarios/ai/secure"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8" Type="http://schemas.openxmlformats.org/officeDocument/2006/relationships/hyperlink" Target="https://learn.microsoft.com/en-us/azure/ai-foundry/" TargetMode="External"/><Relationship Id="rId13" Type="http://schemas.openxmlformats.org/officeDocument/2006/relationships/hyperlink" Target="https://adoption.microsoft.com/files/viva/The-state-of-AI-change-readiness-eBook.pdf" TargetMode="External"/><Relationship Id="rId3" Type="http://schemas.openxmlformats.org/officeDocument/2006/relationships/hyperlink" Target="https://learn.microsoft.com/en-us/ai/" TargetMode="External"/><Relationship Id="rId7" Type="http://schemas.openxmlformats.org/officeDocument/2006/relationships/hyperlink" Target="https://aiskillsnavigator.microsoft.com/" TargetMode="External"/><Relationship Id="rId12" Type="http://schemas.openxmlformats.org/officeDocument/2006/relationships/hyperlink" Target="https://learn.microsoft.com/en-us/azure/cloud-adoption-framework/scenarios/ai/plan" TargetMode="External"/><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hyperlink" Target="https://github.com/Azure/ai-solution-accelerators-list" TargetMode="External"/><Relationship Id="rId11" Type="http://schemas.openxmlformats.org/officeDocument/2006/relationships/hyperlink" Target="https://learn.microsoft.com/en-us/azure/architecture/ai-ml/architecture/baseline-azure-ai-foundry-landing-zone" TargetMode="External"/><Relationship Id="rId5" Type="http://schemas.openxmlformats.org/officeDocument/2006/relationships/hyperlink" Target="https://learn.microsoft.com/en-us/azure/cloud-adoption-framework/scenarios/ai/plan#assess-ai-skills" TargetMode="External"/><Relationship Id="rId10" Type="http://schemas.openxmlformats.org/officeDocument/2006/relationships/hyperlink" Target="https://learn.microsoft.com/en-us/azure/ai-services/agents/quickstart" TargetMode="External"/><Relationship Id="rId4" Type="http://schemas.openxmlformats.org/officeDocument/2006/relationships/hyperlink" Target="https://aka.ms/AgentInADay" TargetMode="External"/><Relationship Id="rId9" Type="http://schemas.openxmlformats.org/officeDocument/2006/relationships/hyperlink" Target="https://github.com/Azure-Samples/azureai-samples"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8" Type="http://schemas.openxmlformats.org/officeDocument/2006/relationships/hyperlink" Target="https://aka.ms/RAIStandardPDF" TargetMode="External"/><Relationship Id="rId13" Type="http://schemas.openxmlformats.org/officeDocument/2006/relationships/hyperlink" Target="https://learn.microsoft.com/en-us/security/ai-red-team/" TargetMode="External"/><Relationship Id="rId3" Type="http://schemas.openxmlformats.org/officeDocument/2006/relationships/hyperlink" Target="https://learn.microsoft.com/en-us/training/modules/responsible-generative-ai/" TargetMode="External"/><Relationship Id="rId7" Type="http://schemas.openxmlformats.org/officeDocument/2006/relationships/hyperlink" Target="https://learn.microsoft.com/en-us/azure/cloud-adoption-framework/scenarios/ai/govern" TargetMode="External"/><Relationship Id="rId12" Type="http://schemas.openxmlformats.org/officeDocument/2006/relationships/hyperlink" Target="https://aka.ms/RAIImpactAssessmentTemplate" TargetMode="External"/><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hyperlink" Target="https://learn.microsoft.com/en-us/azure/defender-for-cloud/ai-threat-protection" TargetMode="External"/><Relationship Id="rId11" Type="http://schemas.openxmlformats.org/officeDocument/2006/relationships/hyperlink" Target="https://www.nist.gov/itl/ai-risk-management-framework" TargetMode="External"/><Relationship Id="rId5" Type="http://schemas.openxmlformats.org/officeDocument/2006/relationships/hyperlink" Target="https://learn.microsoft.com/en-us/purview/ai-microsoft-purview" TargetMode="External"/><Relationship Id="rId10" Type="http://schemas.openxmlformats.org/officeDocument/2006/relationships/hyperlink" Target="https://www.microsoft.com/en-us/ai/tools-practices" TargetMode="External"/><Relationship Id="rId4" Type="http://schemas.openxmlformats.org/officeDocument/2006/relationships/hyperlink" Target="https://learn.microsoft.com/en-us/azure/ai-foundry/how-to/evaluate-generative-ai-app" TargetMode="External"/><Relationship Id="rId9" Type="http://schemas.openxmlformats.org/officeDocument/2006/relationships/hyperlink" Target="https://learn.microsoft.com/en-us/legal/cognitive-services/openai/transparency-note"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303312"/>
            <a:ext cx="7298437" cy="3046988"/>
          </a:xfrm>
        </p:spPr>
        <p:txBody>
          <a:bodyPr/>
          <a:lstStyle/>
          <a:p>
            <a:r>
              <a:rPr dirty="0"/>
              <a:t>Module 4 – </a:t>
            </a:r>
            <a:r>
              <a:rPr lang="en-US" dirty="0">
                <a:solidFill>
                  <a:srgbClr val="FFFFFF"/>
                </a:solidFill>
              </a:rPr>
              <a:t>Center of Excellence (COE) Pillars</a:t>
            </a:r>
            <a:endParaRPr dirty="0"/>
          </a:p>
        </p:txBody>
      </p:sp>
      <p:sp>
        <p:nvSpPr>
          <p:cNvPr id="5" name="Text Placeholder 4">
            <a:extLst>
              <a:ext uri="{FF2B5EF4-FFF2-40B4-BE49-F238E27FC236}">
                <a16:creationId xmlns:a16="http://schemas.microsoft.com/office/drawing/2014/main" id="{DFE35E4C-B584-5128-3166-E2853449AF9D}"/>
              </a:ext>
            </a:extLst>
          </p:cNvPr>
          <p:cNvSpPr>
            <a:spLocks noGrp="1"/>
          </p:cNvSpPr>
          <p:nvPr>
            <p:ph type="body" sz="quarter" idx="12"/>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descr="© Microsoft Corporation. All rights reserved.  You may use these training materials solely for your personal internal reference and non-commercial purposes.  You may not distribute, transmit, resell or otherwise make these training materials available to ">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a:solidFill>
                  <a:schemeClr val="tx1"/>
                </a:solidFill>
                <a:cs typeface="Segoe UI Semibold"/>
              </a:rPr>
              <a:t>1</a:t>
            </a:r>
            <a:endParaRPr lang="en-US" b="0" i="0" u="none" strike="noStrike" kern="1200" cap="none" spc="0" normalizeH="0" baseline="30000" noProof="0">
              <a:ln>
                <a:noFill/>
              </a:ln>
              <a:solidFill>
                <a:schemeClr val="tx1"/>
              </a:solidFill>
              <a:effectLst/>
              <a:uLnTx/>
              <a:uFillTx/>
              <a:cs typeface="Segoe UI Semibold"/>
            </a:endParaRPr>
          </a:p>
        </p:txBody>
      </p:sp>
      <p:grpSp>
        <p:nvGrpSpPr>
          <p:cNvPr id="8" name="Group 7">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Why a Center of Excellence — the business case is real</a:t>
            </a:r>
          </a:p>
        </p:txBody>
      </p:sp>
      <p:sp>
        <p:nvSpPr>
          <p:cNvPr id="3" name="Rounded Rectangle 2" descr="75%  of knowledge workers already use AI at work — doubled in 6 months¹"/>
          <p:cNvSpPr/>
          <p:nvPr/>
        </p:nvSpPr>
        <p:spPr>
          <a:xfrm>
            <a:off x="502920" y="2240280"/>
            <a:ext cx="2606040" cy="1828800"/>
          </a:xfrm>
          <a:prstGeom prst="roundRect">
            <a:avLst/>
          </a:prstGeom>
          <a:solidFill>
            <a:srgbClr val="00326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4400" b="1">
                <a:solidFill>
                  <a:srgbClr val="FFFFFF"/>
                </a:solidFill>
                <a:latin typeface="Segoe UI"/>
              </a:rPr>
              <a:t>75%</a:t>
            </a:r>
          </a:p>
          <a:p>
            <a:pPr algn="ctr"/>
            <a:r>
              <a:rPr sz="1200" b="0">
                <a:solidFill>
                  <a:srgbClr val="FFFFFF"/>
                </a:solidFill>
                <a:latin typeface="Segoe UI"/>
              </a:rPr>
              <a:t>of knowledge workers already use AI at work — doubled in 6 months¹</a:t>
            </a:r>
          </a:p>
        </p:txBody>
      </p:sp>
      <p:sp>
        <p:nvSpPr>
          <p:cNvPr id="4" name="Rounded Rectangle 3" descr="65%  of organizations using and deriving business value from gen-AI in 2024²"/>
          <p:cNvSpPr/>
          <p:nvPr/>
        </p:nvSpPr>
        <p:spPr>
          <a:xfrm>
            <a:off x="3246120" y="2240280"/>
            <a:ext cx="2606040" cy="182880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4400" b="1">
                <a:solidFill>
                  <a:srgbClr val="FFFFFF"/>
                </a:solidFill>
                <a:latin typeface="Segoe UI"/>
              </a:rPr>
              <a:t>65%</a:t>
            </a:r>
          </a:p>
          <a:p>
            <a:pPr algn="ctr"/>
            <a:r>
              <a:rPr sz="1200" b="0">
                <a:solidFill>
                  <a:srgbClr val="FFFFFF"/>
                </a:solidFill>
                <a:latin typeface="Segoe UI"/>
              </a:rPr>
              <a:t>of organizations using and deriving business value from gen-AI in 2024²</a:t>
            </a:r>
          </a:p>
        </p:txBody>
      </p:sp>
      <p:sp>
        <p:nvSpPr>
          <p:cNvPr id="5" name="Rounded Rectangle 4" descr="60%  of leaders worry their organization lacks a plan to scale &amp; operationalize AI¹"/>
          <p:cNvSpPr/>
          <p:nvPr/>
        </p:nvSpPr>
        <p:spPr>
          <a:xfrm>
            <a:off x="5989320" y="2240280"/>
            <a:ext cx="2606040" cy="1828800"/>
          </a:xfrm>
          <a:prstGeom prst="roundRect">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4400" b="1">
                <a:solidFill>
                  <a:srgbClr val="FFFFFF"/>
                </a:solidFill>
                <a:latin typeface="Segoe UI"/>
              </a:rPr>
              <a:t>60%</a:t>
            </a:r>
          </a:p>
          <a:p>
            <a:pPr algn="ctr"/>
            <a:r>
              <a:rPr sz="1200" b="0">
                <a:solidFill>
                  <a:srgbClr val="FFFFFF"/>
                </a:solidFill>
                <a:latin typeface="Segoe UI"/>
              </a:rPr>
              <a:t>of leaders worry their organization lacks a plan to scale &amp; operationalize AI¹</a:t>
            </a:r>
          </a:p>
        </p:txBody>
      </p:sp>
      <p:sp>
        <p:nvSpPr>
          <p:cNvPr id="6" name="Rounded Rectangle 5" descr="59%  worry about quantifying the benefits of AI¹"/>
          <p:cNvSpPr/>
          <p:nvPr/>
        </p:nvSpPr>
        <p:spPr>
          <a:xfrm>
            <a:off x="8732520" y="2240280"/>
            <a:ext cx="2606040" cy="1828800"/>
          </a:xfrm>
          <a:prstGeom prst="roundRect">
            <a:avLst/>
          </a:prstGeom>
          <a:solidFill>
            <a:srgbClr val="68217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4400" b="1">
                <a:solidFill>
                  <a:srgbClr val="FFFFFF"/>
                </a:solidFill>
                <a:latin typeface="Segoe UI"/>
              </a:rPr>
              <a:t>59%</a:t>
            </a:r>
          </a:p>
          <a:p>
            <a:pPr algn="ctr"/>
            <a:r>
              <a:rPr sz="1200" b="0">
                <a:solidFill>
                  <a:srgbClr val="FFFFFF"/>
                </a:solidFill>
                <a:latin typeface="Segoe UI"/>
              </a:rPr>
              <a:t>worry about quantifying the benefits of AI¹</a:t>
            </a:r>
          </a:p>
        </p:txBody>
      </p:sp>
      <p:sp>
        <p:nvSpPr>
          <p:cNvPr id="7" name="Rounded Rectangle 6" descr="AI adoption is real — but proving ROI and scaling beyond pilots is hard.  A COE turns fragmented experiments into a controlled, scalable AI transformation that unlocks value 3.7× faster*."/>
          <p:cNvSpPr/>
          <p:nvPr/>
        </p:nvSpPr>
        <p:spPr>
          <a:xfrm>
            <a:off x="502920" y="4297680"/>
            <a:ext cx="11155680" cy="1371600"/>
          </a:xfrm>
          <a:prstGeom prst="roundRect">
            <a:avLst/>
          </a:prstGeom>
          <a:solidFill>
            <a:srgbClr val="DEECF9"/>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2000" b="1">
                <a:solidFill>
                  <a:srgbClr val="003266"/>
                </a:solidFill>
                <a:latin typeface="Segoe UI"/>
              </a:rPr>
              <a:t>AI adoption is real — but proving ROI and scaling beyond pilots is hard.</a:t>
            </a:r>
          </a:p>
          <a:p>
            <a:pPr algn="ctr"/>
            <a:r>
              <a:rPr sz="1300" b="0">
                <a:solidFill>
                  <a:srgbClr val="323232"/>
                </a:solidFill>
                <a:latin typeface="Segoe UI"/>
              </a:rPr>
              <a:t>A COE turns fragmented experiments into a controlled, scalable AI transformation that unlocks value 3.7× faster*.</a:t>
            </a:r>
          </a:p>
        </p:txBody>
      </p:sp>
      <p:sp>
        <p:nvSpPr>
          <p:cNvPr id="8" name="TextBox 7">
            <a:extLst>
              <a:ext uri="{C183D7F6-B498-43B3-948B-1728B52AA6E4}">
                <adec:decorative xmlns:adec="http://schemas.microsoft.com/office/drawing/2017/decorative" val="1"/>
              </a:ext>
            </a:extLst>
          </p:cNvPr>
          <p:cNvSpPr txBox="1"/>
          <p:nvPr/>
        </p:nvSpPr>
        <p:spPr>
          <a:xfrm>
            <a:off x="502920" y="5852160"/>
            <a:ext cx="10972800" cy="365760"/>
          </a:xfrm>
          <a:prstGeom prst="rect">
            <a:avLst/>
          </a:prstGeom>
          <a:noFill/>
        </p:spPr>
        <p:txBody>
          <a:bodyPr wrap="square" lIns="0" tIns="0" rIns="0" bIns="0" anchor="t">
            <a:spAutoFit/>
          </a:bodyPr>
          <a:lstStyle/>
          <a:p>
            <a:pPr algn="l"/>
            <a:r>
              <a:rPr sz="1000" b="0">
                <a:solidFill>
                  <a:srgbClr val="606060"/>
                </a:solidFill>
                <a:latin typeface="Segoe UI"/>
              </a:rPr>
              <a:t>¹ Microsoft Work Trend Index   ² McKinsey   * IDC InfoBrief sponsored by Microsoft, Nov 2024 (US52699124)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From Fractured AI to AI Acceleration with a COE</a:t>
            </a:r>
          </a:p>
        </p:txBody>
      </p:sp>
      <p:sp>
        <p:nvSpPr>
          <p:cNvPr id="3" name="Rectangle 2">
            <a:extLst>
              <a:ext uri="{C183D7F6-B498-43B3-948B-1728B52AA6E4}">
                <adec:decorative xmlns:adec="http://schemas.microsoft.com/office/drawing/2017/decorative" val="1"/>
              </a:ext>
            </a:extLst>
          </p:cNvPr>
          <p:cNvSpPr/>
          <p:nvPr/>
        </p:nvSpPr>
        <p:spPr>
          <a:xfrm>
            <a:off x="502920" y="1828800"/>
            <a:ext cx="164592" cy="4206240"/>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C183D7F6-B498-43B3-948B-1728B52AA6E4}">
                <adec:decorative xmlns:adec="http://schemas.microsoft.com/office/drawing/2017/decorative" val="1"/>
              </a:ext>
            </a:extLst>
          </p:cNvPr>
          <p:cNvSpPr txBox="1"/>
          <p:nvPr/>
        </p:nvSpPr>
        <p:spPr>
          <a:xfrm>
            <a:off x="777240" y="1783080"/>
            <a:ext cx="5029200" cy="457200"/>
          </a:xfrm>
          <a:prstGeom prst="rect">
            <a:avLst/>
          </a:prstGeom>
          <a:noFill/>
        </p:spPr>
        <p:txBody>
          <a:bodyPr wrap="square" lIns="0" tIns="0" rIns="0" bIns="0" anchor="t">
            <a:spAutoFit/>
          </a:bodyPr>
          <a:lstStyle/>
          <a:p>
            <a:pPr algn="l"/>
            <a:r>
              <a:rPr sz="1800" b="1">
                <a:solidFill>
                  <a:srgbClr val="D83B01"/>
                </a:solidFill>
                <a:latin typeface="Segoe UI"/>
              </a:rPr>
              <a:t>Typical AI adoption pattern → Fractured AI</a:t>
            </a:r>
          </a:p>
        </p:txBody>
      </p:sp>
      <p:sp>
        <p:nvSpPr>
          <p:cNvPr id="5" name="TextBox 4">
            <a:extLst>
              <a:ext uri="{C183D7F6-B498-43B3-948B-1728B52AA6E4}">
                <adec:decorative xmlns:adec="http://schemas.microsoft.com/office/drawing/2017/decorative" val="1"/>
              </a:ext>
            </a:extLst>
          </p:cNvPr>
          <p:cNvSpPr txBox="1"/>
          <p:nvPr/>
        </p:nvSpPr>
        <p:spPr>
          <a:xfrm>
            <a:off x="777240" y="2286000"/>
            <a:ext cx="5029200" cy="3840480"/>
          </a:xfrm>
          <a:prstGeom prst="rect">
            <a:avLst/>
          </a:prstGeom>
          <a:noFill/>
        </p:spPr>
        <p:txBody>
          <a:bodyPr wrap="square" lIns="0" tIns="0" rIns="0" bIns="0">
            <a:spAutoFit/>
          </a:bodyPr>
          <a:lstStyle/>
          <a:p>
            <a:pPr>
              <a:spcAft>
                <a:spcPts val="800"/>
              </a:spcAft>
            </a:pPr>
            <a:r>
              <a:rPr sz="1300" b="1">
                <a:solidFill>
                  <a:srgbClr val="0078D4"/>
                </a:solidFill>
                <a:latin typeface="Segoe UI"/>
              </a:rPr>
              <a:t>•  </a:t>
            </a:r>
            <a:r>
              <a:rPr sz="1300">
                <a:solidFill>
                  <a:srgbClr val="323232"/>
                </a:solidFill>
                <a:latin typeface="Segoe UI"/>
              </a:rPr>
              <a:t>Custom-built traditional AI silos owned by IT</a:t>
            </a:r>
          </a:p>
          <a:p>
            <a:pPr>
              <a:spcAft>
                <a:spcPts val="800"/>
              </a:spcAft>
            </a:pPr>
            <a:r>
              <a:rPr sz="1300" b="1">
                <a:solidFill>
                  <a:srgbClr val="0078D4"/>
                </a:solidFill>
                <a:latin typeface="Segoe UI"/>
              </a:rPr>
              <a:t>•  </a:t>
            </a:r>
            <a:r>
              <a:rPr sz="1300">
                <a:solidFill>
                  <a:srgbClr val="323232"/>
                </a:solidFill>
                <a:latin typeface="Segoe UI"/>
              </a:rPr>
              <a:t>First-party Copilot rollouts focused on productivity only</a:t>
            </a:r>
          </a:p>
          <a:p>
            <a:pPr>
              <a:spcAft>
                <a:spcPts val="800"/>
              </a:spcAft>
            </a:pPr>
            <a:r>
              <a:rPr sz="1300" b="1">
                <a:solidFill>
                  <a:srgbClr val="0078D4"/>
                </a:solidFill>
                <a:latin typeface="Segoe UI"/>
              </a:rPr>
              <a:t>•  </a:t>
            </a:r>
            <a:r>
              <a:rPr sz="1300">
                <a:solidFill>
                  <a:srgbClr val="323232"/>
                </a:solidFill>
                <a:latin typeface="Segoe UI"/>
              </a:rPr>
              <a:t>Niche third-party Copilot sprawl — business bypasses IT (Shadow AI)</a:t>
            </a:r>
          </a:p>
          <a:p>
            <a:pPr>
              <a:spcAft>
                <a:spcPts val="800"/>
              </a:spcAft>
            </a:pPr>
            <a:r>
              <a:rPr sz="1300" b="1">
                <a:solidFill>
                  <a:srgbClr val="0078D4"/>
                </a:solidFill>
                <a:latin typeface="Segoe UI"/>
              </a:rPr>
              <a:t>•  </a:t>
            </a:r>
            <a:r>
              <a:rPr sz="1300">
                <a:solidFill>
                  <a:srgbClr val="323232"/>
                </a:solidFill>
                <a:latin typeface="Segoe UI"/>
              </a:rPr>
              <a:t>No common envisioning, prioritization or governance</a:t>
            </a:r>
          </a:p>
          <a:p>
            <a:pPr>
              <a:spcAft>
                <a:spcPts val="800"/>
              </a:spcAft>
            </a:pPr>
            <a:r>
              <a:rPr sz="1300" b="1">
                <a:solidFill>
                  <a:srgbClr val="0078D4"/>
                </a:solidFill>
                <a:latin typeface="Segoe UI"/>
              </a:rPr>
              <a:t>•  </a:t>
            </a:r>
            <a:r>
              <a:rPr sz="1300">
                <a:solidFill>
                  <a:srgbClr val="323232"/>
                </a:solidFill>
                <a:latin typeface="Segoe UI"/>
              </a:rPr>
              <a:t>Customers get stuck — executive buy-in and end-to-end governance are hard</a:t>
            </a:r>
          </a:p>
        </p:txBody>
      </p:sp>
      <p:sp>
        <p:nvSpPr>
          <p:cNvPr id="6" name="Rectangle 5">
            <a:extLst>
              <a:ext uri="{C183D7F6-B498-43B3-948B-1728B52AA6E4}">
                <adec:decorative xmlns:adec="http://schemas.microsoft.com/office/drawing/2017/decorative" val="1"/>
              </a:ext>
            </a:extLst>
          </p:cNvPr>
          <p:cNvSpPr/>
          <p:nvPr/>
        </p:nvSpPr>
        <p:spPr>
          <a:xfrm>
            <a:off x="6537960" y="1828800"/>
            <a:ext cx="164592" cy="420624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a:extLst>
              <a:ext uri="{C183D7F6-B498-43B3-948B-1728B52AA6E4}">
                <adec:decorative xmlns:adec="http://schemas.microsoft.com/office/drawing/2017/decorative" val="1"/>
              </a:ext>
            </a:extLst>
          </p:cNvPr>
          <p:cNvSpPr txBox="1"/>
          <p:nvPr/>
        </p:nvSpPr>
        <p:spPr>
          <a:xfrm>
            <a:off x="6812280" y="1783080"/>
            <a:ext cx="4846320" cy="457200"/>
          </a:xfrm>
          <a:prstGeom prst="rect">
            <a:avLst/>
          </a:prstGeom>
          <a:noFill/>
        </p:spPr>
        <p:txBody>
          <a:bodyPr wrap="square" lIns="0" tIns="0" rIns="0" bIns="0" anchor="t">
            <a:spAutoFit/>
          </a:bodyPr>
          <a:lstStyle/>
          <a:p>
            <a:pPr algn="l"/>
            <a:r>
              <a:rPr sz="1800" b="1">
                <a:solidFill>
                  <a:srgbClr val="107C10"/>
                </a:solidFill>
                <a:latin typeface="Segoe UI"/>
              </a:rPr>
              <a:t>COE → Controlled, scalable AI</a:t>
            </a:r>
          </a:p>
        </p:txBody>
      </p:sp>
      <p:sp>
        <p:nvSpPr>
          <p:cNvPr id="8" name="TextBox 7">
            <a:extLst>
              <a:ext uri="{C183D7F6-B498-43B3-948B-1728B52AA6E4}">
                <adec:decorative xmlns:adec="http://schemas.microsoft.com/office/drawing/2017/decorative" val="1"/>
              </a:ext>
            </a:extLst>
          </p:cNvPr>
          <p:cNvSpPr txBox="1"/>
          <p:nvPr/>
        </p:nvSpPr>
        <p:spPr>
          <a:xfrm>
            <a:off x="6812280" y="2286000"/>
            <a:ext cx="4846320" cy="3840480"/>
          </a:xfrm>
          <a:prstGeom prst="rect">
            <a:avLst/>
          </a:prstGeom>
          <a:noFill/>
        </p:spPr>
        <p:txBody>
          <a:bodyPr wrap="square" lIns="0" tIns="0" rIns="0" bIns="0">
            <a:spAutoFit/>
          </a:bodyPr>
          <a:lstStyle/>
          <a:p>
            <a:pPr>
              <a:spcAft>
                <a:spcPts val="800"/>
              </a:spcAft>
            </a:pPr>
            <a:r>
              <a:rPr sz="1300" b="1">
                <a:solidFill>
                  <a:srgbClr val="0078D4"/>
                </a:solidFill>
                <a:latin typeface="Segoe UI"/>
              </a:rPr>
              <a:t>•  </a:t>
            </a:r>
            <a:r>
              <a:rPr sz="1300">
                <a:solidFill>
                  <a:srgbClr val="323232"/>
                </a:solidFill>
                <a:latin typeface="Segoe UI"/>
              </a:rPr>
              <a:t>Unified AI operating model across all AI solutions</a:t>
            </a:r>
          </a:p>
          <a:p>
            <a:pPr>
              <a:spcAft>
                <a:spcPts val="800"/>
              </a:spcAft>
            </a:pPr>
            <a:r>
              <a:rPr sz="1300" b="1">
                <a:solidFill>
                  <a:srgbClr val="0078D4"/>
                </a:solidFill>
                <a:latin typeface="Segoe UI"/>
              </a:rPr>
              <a:t>•  </a:t>
            </a:r>
            <a:r>
              <a:rPr sz="1300">
                <a:solidFill>
                  <a:srgbClr val="323232"/>
                </a:solidFill>
                <a:latin typeface="Segoe UI"/>
              </a:rPr>
              <a:t>Centralized envisioning, intake, triage and ROI assessment</a:t>
            </a:r>
          </a:p>
          <a:p>
            <a:pPr>
              <a:spcAft>
                <a:spcPts val="800"/>
              </a:spcAft>
            </a:pPr>
            <a:r>
              <a:rPr sz="1300" b="1">
                <a:solidFill>
                  <a:srgbClr val="0078D4"/>
                </a:solidFill>
                <a:latin typeface="Segoe UI"/>
              </a:rPr>
              <a:t>•  </a:t>
            </a:r>
            <a:r>
              <a:rPr sz="1300">
                <a:solidFill>
                  <a:srgbClr val="323232"/>
                </a:solidFill>
                <a:latin typeface="Segoe UI"/>
              </a:rPr>
              <a:t>Consolidation of Copilots, agents and custom AI under one umbrella</a:t>
            </a:r>
          </a:p>
          <a:p>
            <a:pPr>
              <a:spcAft>
                <a:spcPts val="800"/>
              </a:spcAft>
            </a:pPr>
            <a:r>
              <a:rPr sz="1300" b="1">
                <a:solidFill>
                  <a:srgbClr val="0078D4"/>
                </a:solidFill>
                <a:latin typeface="Segoe UI"/>
              </a:rPr>
              <a:t>•  </a:t>
            </a:r>
            <a:r>
              <a:rPr sz="1300">
                <a:solidFill>
                  <a:srgbClr val="323232"/>
                </a:solidFill>
                <a:latin typeface="Segoe UI"/>
              </a:rPr>
              <a:t>End-to-end AI governance, security and responsible-AI guardrails</a:t>
            </a:r>
          </a:p>
          <a:p>
            <a:pPr>
              <a:spcAft>
                <a:spcPts val="800"/>
              </a:spcAft>
            </a:pPr>
            <a:r>
              <a:rPr sz="1300" b="1">
                <a:solidFill>
                  <a:srgbClr val="0078D4"/>
                </a:solidFill>
                <a:latin typeface="Segoe UI"/>
              </a:rPr>
              <a:t>•  </a:t>
            </a:r>
            <a:r>
              <a:rPr sz="1300">
                <a:solidFill>
                  <a:srgbClr val="323232"/>
                </a:solidFill>
                <a:latin typeface="Segoe UI"/>
              </a:rPr>
              <a:t>Citizen development at scale, with monitoring &amp; feedback loops</a:t>
            </a:r>
          </a:p>
          <a:p>
            <a:pPr>
              <a:spcAft>
                <a:spcPts val="800"/>
              </a:spcAft>
            </a:pPr>
            <a:r>
              <a:rPr sz="1300" b="1">
                <a:solidFill>
                  <a:srgbClr val="0078D4"/>
                </a:solidFill>
                <a:latin typeface="Segoe UI"/>
              </a:rPr>
              <a:t>•  </a:t>
            </a:r>
            <a:r>
              <a:rPr sz="1300">
                <a:solidFill>
                  <a:srgbClr val="323232"/>
                </a:solidFill>
                <a:latin typeface="Segoe UI"/>
              </a:rPr>
              <a:t>3.7× faster time-to-value vs. fragmented programs (IDC, 2024)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6BA72-1437-A263-E158-42EB53B783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A15C3-D6DF-D7FF-5DDB-09FF67B7E1D6}"/>
              </a:ext>
            </a:extLst>
          </p:cNvPr>
          <p:cNvSpPr>
            <a:spLocks noGrp="1"/>
          </p:cNvSpPr>
          <p:nvPr>
            <p:ph type="title"/>
          </p:nvPr>
        </p:nvSpPr>
        <p:spPr>
          <a:xfrm>
            <a:off x="575481" y="599436"/>
            <a:ext cx="11018520" cy="1107996"/>
          </a:xfrm>
        </p:spPr>
        <p:txBody>
          <a:bodyPr lIns="0" tIns="0" rIns="0" bIns="0" anchor="t"/>
          <a:lstStyle/>
          <a:p>
            <a:r>
              <a:rPr lang="en-US"/>
              <a:t>Learning Units covered </a:t>
            </a:r>
            <a:br>
              <a:rPr lang="en-US"/>
            </a:br>
            <a:r>
              <a:rPr lang="en-US"/>
              <a:t>in this Module   </a:t>
            </a:r>
          </a:p>
        </p:txBody>
      </p:sp>
      <p:graphicFrame>
        <p:nvGraphicFramePr>
          <p:cNvPr id="40" name="Table 3">
            <a:extLst>
              <a:ext uri="{FF2B5EF4-FFF2-40B4-BE49-F238E27FC236}">
                <a16:creationId xmlns:a16="http://schemas.microsoft.com/office/drawing/2014/main" id="{964F4448-6B8C-D068-5A5E-1506B62F345F}"/>
              </a:ext>
            </a:extLst>
          </p:cNvPr>
          <p:cNvGraphicFramePr>
            <a:graphicFrameLocks noGrp="1"/>
          </p:cNvGraphicFramePr>
          <p:nvPr/>
        </p:nvGraphicFramePr>
        <p:xfrm>
          <a:off x="575481" y="1815577"/>
          <a:ext cx="5669280" cy="445750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Business Strategy</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Technology Strategy</a:t>
                      </a:r>
                      <a:endParaRPr kumimoji="0" lang="da-DK"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Applied AI Experience</a:t>
                      </a:r>
                      <a:endParaRPr kumimoji="0" lang="da-DK"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8902310"/>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Organization &amp; Culture</a:t>
                      </a:r>
                      <a:endParaRPr kumimoji="0" lang="da-DK"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1743516"/>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AI Governance</a:t>
                      </a:r>
                      <a:endParaRPr kumimoji="0" lang="da-DK"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153319110"/>
                  </a:ext>
                </a:extLst>
              </a:tr>
            </a:tbl>
          </a:graphicData>
        </a:graphic>
      </p:graphicFrame>
      <p:cxnSp>
        <p:nvCxnSpPr>
          <p:cNvPr id="138" name="Straight Connector 137">
            <a:extLst>
              <a:ext uri="{FF2B5EF4-FFF2-40B4-BE49-F238E27FC236}">
                <a16:creationId xmlns:a16="http://schemas.microsoft.com/office/drawing/2014/main" id="{76B5A68F-650E-5B1F-70E4-5FD4BF645A8E}"/>
              </a:ext>
              <a:ext uri="{C183D7F6-B498-43B3-948B-1728B52AA6E4}">
                <adec:decorative xmlns:adec="http://schemas.microsoft.com/office/drawing/2017/decorative" val="1"/>
              </a:ext>
            </a:extLst>
          </p:cNvPr>
          <p:cNvCxnSpPr>
            <a:cxnSpLocks/>
          </p:cNvCxnSpPr>
          <p:nvPr/>
        </p:nvCxnSpPr>
        <p:spPr>
          <a:xfrm>
            <a:off x="5771254" y="2705122"/>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57" name="Group 156">
            <a:extLst>
              <a:ext uri="{FF2B5EF4-FFF2-40B4-BE49-F238E27FC236}">
                <a16:creationId xmlns:a16="http://schemas.microsoft.com/office/drawing/2014/main" id="{F256B3B4-F1EE-9834-2137-D362957671EA}"/>
              </a:ext>
              <a:ext uri="{C183D7F6-B498-43B3-948B-1728B52AA6E4}">
                <adec:decorative xmlns:adec="http://schemas.microsoft.com/office/drawing/2017/decorative" val="1"/>
              </a:ext>
            </a:extLst>
          </p:cNvPr>
          <p:cNvGrpSpPr/>
          <p:nvPr/>
        </p:nvGrpSpPr>
        <p:grpSpPr>
          <a:xfrm>
            <a:off x="777563" y="2962141"/>
            <a:ext cx="411480" cy="411480"/>
            <a:chOff x="724354" y="2781602"/>
            <a:chExt cx="438218" cy="438964"/>
          </a:xfrm>
        </p:grpSpPr>
        <p:sp>
          <p:nvSpPr>
            <p:cNvPr id="158" name="Oval 157">
              <a:extLst>
                <a:ext uri="{FF2B5EF4-FFF2-40B4-BE49-F238E27FC236}">
                  <a16:creationId xmlns:a16="http://schemas.microsoft.com/office/drawing/2014/main" id="{73FD56CF-C169-5685-B31C-2B4EDF6A6538}"/>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59" name="Trackers_EADF">
              <a:extLst>
                <a:ext uri="{FF2B5EF4-FFF2-40B4-BE49-F238E27FC236}">
                  <a16:creationId xmlns:a16="http://schemas.microsoft.com/office/drawing/2014/main" id="{68D81F9A-00D6-1A5B-6052-D1AC74E81EA6}"/>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75" name="Straight Connector 174">
            <a:extLst>
              <a:ext uri="{FF2B5EF4-FFF2-40B4-BE49-F238E27FC236}">
                <a16:creationId xmlns:a16="http://schemas.microsoft.com/office/drawing/2014/main" id="{9244F1AB-EE33-2B5F-2C81-7F718910F1D0}"/>
              </a:ext>
              <a:ext uri="{C183D7F6-B498-43B3-948B-1728B52AA6E4}">
                <adec:decorative xmlns:adec="http://schemas.microsoft.com/office/drawing/2017/decorative" val="1"/>
              </a:ext>
            </a:extLst>
          </p:cNvPr>
          <p:cNvCxnSpPr>
            <a:cxnSpLocks/>
          </p:cNvCxnSpPr>
          <p:nvPr/>
        </p:nvCxnSpPr>
        <p:spPr>
          <a:xfrm>
            <a:off x="5771254" y="359637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90" name="Group 189">
            <a:extLst>
              <a:ext uri="{FF2B5EF4-FFF2-40B4-BE49-F238E27FC236}">
                <a16:creationId xmlns:a16="http://schemas.microsoft.com/office/drawing/2014/main" id="{5D0953EF-7915-B4A6-759A-83FFBD9FC8EB}"/>
              </a:ext>
              <a:ext uri="{C183D7F6-B498-43B3-948B-1728B52AA6E4}">
                <adec:decorative xmlns:adec="http://schemas.microsoft.com/office/drawing/2017/decorative" val="1"/>
              </a:ext>
            </a:extLst>
          </p:cNvPr>
          <p:cNvGrpSpPr>
            <a:grpSpLocks/>
          </p:cNvGrpSpPr>
          <p:nvPr/>
        </p:nvGrpSpPr>
        <p:grpSpPr>
          <a:xfrm>
            <a:off x="777563" y="3851759"/>
            <a:ext cx="411480" cy="411480"/>
            <a:chOff x="7039782" y="1468393"/>
            <a:chExt cx="751672" cy="751672"/>
          </a:xfrm>
        </p:grpSpPr>
        <p:sp>
          <p:nvSpPr>
            <p:cNvPr id="191" name="Oval 190">
              <a:extLst>
                <a:ext uri="{FF2B5EF4-FFF2-40B4-BE49-F238E27FC236}">
                  <a16:creationId xmlns:a16="http://schemas.microsoft.com/office/drawing/2014/main" id="{7DD6F6C8-0BEA-C41F-3FD9-F5FC6DAB9B62}"/>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92" name="list_4">
              <a:extLst>
                <a:ext uri="{FF2B5EF4-FFF2-40B4-BE49-F238E27FC236}">
                  <a16:creationId xmlns:a16="http://schemas.microsoft.com/office/drawing/2014/main" id="{64630DF4-2CD8-E624-5060-8D9A4A5C9D84}"/>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204" name="Straight Connector 203">
            <a:extLst>
              <a:ext uri="{FF2B5EF4-FFF2-40B4-BE49-F238E27FC236}">
                <a16:creationId xmlns:a16="http://schemas.microsoft.com/office/drawing/2014/main" id="{F1AA933B-F173-C255-1399-981EEDE69C89}"/>
              </a:ext>
              <a:ext uri="{C183D7F6-B498-43B3-948B-1728B52AA6E4}">
                <adec:decorative xmlns:adec="http://schemas.microsoft.com/office/drawing/2017/decorative" val="1"/>
              </a:ext>
            </a:extLst>
          </p:cNvPr>
          <p:cNvCxnSpPr>
            <a:cxnSpLocks/>
          </p:cNvCxnSpPr>
          <p:nvPr/>
        </p:nvCxnSpPr>
        <p:spPr>
          <a:xfrm>
            <a:off x="5771254" y="4487628"/>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56BBDF48-8B86-8459-3F86-42180E260032}"/>
              </a:ext>
              <a:ext uri="{C183D7F6-B498-43B3-948B-1728B52AA6E4}">
                <adec:decorative xmlns:adec="http://schemas.microsoft.com/office/drawing/2017/decorative" val="1"/>
              </a:ext>
            </a:extLst>
          </p:cNvPr>
          <p:cNvGrpSpPr>
            <a:grpSpLocks/>
          </p:cNvGrpSpPr>
          <p:nvPr/>
        </p:nvGrpSpPr>
        <p:grpSpPr>
          <a:xfrm>
            <a:off x="777563" y="4741377"/>
            <a:ext cx="411480" cy="411480"/>
            <a:chOff x="724354" y="3721051"/>
            <a:chExt cx="438218" cy="438218"/>
          </a:xfrm>
        </p:grpSpPr>
        <p:sp>
          <p:nvSpPr>
            <p:cNvPr id="216" name="Oval 215">
              <a:extLst>
                <a:ext uri="{FF2B5EF4-FFF2-40B4-BE49-F238E27FC236}">
                  <a16:creationId xmlns:a16="http://schemas.microsoft.com/office/drawing/2014/main" id="{C0AC9CB3-69FA-3C01-13AD-7C2C1048B9F5}"/>
                </a:ext>
                <a:ext uri="{C183D7F6-B498-43B3-948B-1728B52AA6E4}">
                  <adec:decorative xmlns:adec="http://schemas.microsoft.com/office/drawing/2017/decorative" val="1"/>
                </a:ext>
              </a:extLst>
            </p:cNvPr>
            <p:cNvSpPr>
              <a:spLocks/>
            </p:cNvSpPr>
            <p:nvPr/>
          </p:nvSpPr>
          <p:spPr bwMode="auto">
            <a:xfrm>
              <a:off x="724354" y="3721051"/>
              <a:ext cx="438218" cy="438218"/>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7" name="Business applications">
              <a:extLst>
                <a:ext uri="{FF2B5EF4-FFF2-40B4-BE49-F238E27FC236}">
                  <a16:creationId xmlns:a16="http://schemas.microsoft.com/office/drawing/2014/main" id="{9B878385-70C6-4AD8-53C3-3DFA88F9E549}"/>
                </a:ext>
                <a:ext uri="{C183D7F6-B498-43B3-948B-1728B52AA6E4}">
                  <adec:decorative xmlns:adec="http://schemas.microsoft.com/office/drawing/2017/decorative" val="1"/>
                </a:ext>
              </a:extLst>
            </p:cNvPr>
            <p:cNvSpPr>
              <a:spLocks noChangeAspect="1" noEditPoints="1"/>
            </p:cNvSpPr>
            <p:nvPr/>
          </p:nvSpPr>
          <p:spPr bwMode="auto">
            <a:xfrm>
              <a:off x="826310" y="3843880"/>
              <a:ext cx="234306" cy="192560"/>
            </a:xfrm>
            <a:custGeom>
              <a:avLst/>
              <a:gdLst>
                <a:gd name="T0" fmla="*/ 196 w 449"/>
                <a:gd name="T1" fmla="*/ 369 h 369"/>
                <a:gd name="T2" fmla="*/ 0 w 449"/>
                <a:gd name="T3" fmla="*/ 369 h 369"/>
                <a:gd name="T4" fmla="*/ 99 w 449"/>
                <a:gd name="T5" fmla="*/ 240 h 369"/>
                <a:gd name="T6" fmla="*/ 196 w 449"/>
                <a:gd name="T7" fmla="*/ 369 h 369"/>
                <a:gd name="T8" fmla="*/ 442 w 449"/>
                <a:gd name="T9" fmla="*/ 67 h 369"/>
                <a:gd name="T10" fmla="*/ 229 w 449"/>
                <a:gd name="T11" fmla="*/ 369 h 369"/>
                <a:gd name="T12" fmla="*/ 449 w 449"/>
                <a:gd name="T13" fmla="*/ 369 h 369"/>
                <a:gd name="T14" fmla="*/ 442 w 449"/>
                <a:gd name="T15" fmla="*/ 67 h 369"/>
                <a:gd name="T16" fmla="*/ 240 w 449"/>
                <a:gd name="T17" fmla="*/ 168 h 369"/>
                <a:gd name="T18" fmla="*/ 101 w 449"/>
                <a:gd name="T19" fmla="*/ 369 h 369"/>
                <a:gd name="T20" fmla="*/ 379 w 449"/>
                <a:gd name="T21" fmla="*/ 369 h 369"/>
                <a:gd name="T22" fmla="*/ 240 w 449"/>
                <a:gd name="T23" fmla="*/ 168 h 369"/>
                <a:gd name="T24" fmla="*/ 398 w 449"/>
                <a:gd name="T25" fmla="*/ 48 h 369"/>
                <a:gd name="T26" fmla="*/ 398 w 449"/>
                <a:gd name="T27" fmla="*/ 48 h 369"/>
                <a:gd name="T28" fmla="*/ 371 w 449"/>
                <a:gd name="T29" fmla="*/ 77 h 369"/>
                <a:gd name="T30" fmla="*/ 382 w 449"/>
                <a:gd name="T31" fmla="*/ 65 h 369"/>
                <a:gd name="T32" fmla="*/ 349 w 449"/>
                <a:gd name="T33" fmla="*/ 102 h 369"/>
                <a:gd name="T34" fmla="*/ 360 w 449"/>
                <a:gd name="T35" fmla="*/ 90 h 369"/>
                <a:gd name="T36" fmla="*/ 328 w 449"/>
                <a:gd name="T37" fmla="*/ 126 h 369"/>
                <a:gd name="T38" fmla="*/ 338 w 449"/>
                <a:gd name="T39" fmla="*/ 114 h 369"/>
                <a:gd name="T40" fmla="*/ 305 w 449"/>
                <a:gd name="T41" fmla="*/ 150 h 369"/>
                <a:gd name="T42" fmla="*/ 316 w 449"/>
                <a:gd name="T43" fmla="*/ 138 h 369"/>
                <a:gd name="T44" fmla="*/ 283 w 449"/>
                <a:gd name="T45" fmla="*/ 175 h 369"/>
                <a:gd name="T46" fmla="*/ 294 w 449"/>
                <a:gd name="T47" fmla="*/ 163 h 369"/>
                <a:gd name="T48" fmla="*/ 261 w 449"/>
                <a:gd name="T49" fmla="*/ 199 h 369"/>
                <a:gd name="T50" fmla="*/ 273 w 449"/>
                <a:gd name="T51" fmla="*/ 187 h 369"/>
                <a:gd name="T52" fmla="*/ 239 w 449"/>
                <a:gd name="T53" fmla="*/ 223 h 369"/>
                <a:gd name="T54" fmla="*/ 250 w 449"/>
                <a:gd name="T55" fmla="*/ 211 h 369"/>
                <a:gd name="T56" fmla="*/ 217 w 449"/>
                <a:gd name="T57" fmla="*/ 248 h 369"/>
                <a:gd name="T58" fmla="*/ 229 w 449"/>
                <a:gd name="T59" fmla="*/ 236 h 369"/>
                <a:gd name="T60" fmla="*/ 195 w 449"/>
                <a:gd name="T61" fmla="*/ 273 h 369"/>
                <a:gd name="T62" fmla="*/ 206 w 449"/>
                <a:gd name="T63" fmla="*/ 260 h 369"/>
                <a:gd name="T64" fmla="*/ 174 w 449"/>
                <a:gd name="T65" fmla="*/ 296 h 369"/>
                <a:gd name="T66" fmla="*/ 185 w 449"/>
                <a:gd name="T67" fmla="*/ 284 h 369"/>
                <a:gd name="T68" fmla="*/ 151 w 449"/>
                <a:gd name="T69" fmla="*/ 321 h 369"/>
                <a:gd name="T70" fmla="*/ 162 w 449"/>
                <a:gd name="T71" fmla="*/ 309 h 369"/>
                <a:gd name="T72" fmla="*/ 130 w 449"/>
                <a:gd name="T73" fmla="*/ 346 h 369"/>
                <a:gd name="T74" fmla="*/ 141 w 449"/>
                <a:gd name="T75" fmla="*/ 333 h 369"/>
                <a:gd name="T76" fmla="*/ 107 w 449"/>
                <a:gd name="T77" fmla="*/ 369 h 369"/>
                <a:gd name="T78" fmla="*/ 119 w 449"/>
                <a:gd name="T79" fmla="*/ 358 h 369"/>
                <a:gd name="T80" fmla="*/ 438 w 449"/>
                <a:gd name="T81" fmla="*/ 28 h 369"/>
                <a:gd name="T82" fmla="*/ 438 w 449"/>
                <a:gd name="T83" fmla="*/ 28 h 369"/>
                <a:gd name="T84" fmla="*/ 444 w 449"/>
                <a:gd name="T85" fmla="*/ 25 h 369"/>
                <a:gd name="T86" fmla="*/ 444 w 449"/>
                <a:gd name="T87" fmla="*/ 0 h 369"/>
                <a:gd name="T88" fmla="*/ 419 w 449"/>
                <a:gd name="T89" fmla="*/ 0 h 369"/>
                <a:gd name="T90" fmla="*/ 444 w 449"/>
                <a:gd name="T91" fmla="*/ 0 h 369"/>
                <a:gd name="T92" fmla="*/ 395 w 449"/>
                <a:gd name="T93" fmla="*/ 5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49" h="369">
                  <a:moveTo>
                    <a:pt x="196" y="369"/>
                  </a:moveTo>
                  <a:lnTo>
                    <a:pt x="0" y="369"/>
                  </a:lnTo>
                  <a:lnTo>
                    <a:pt x="99" y="240"/>
                  </a:lnTo>
                  <a:lnTo>
                    <a:pt x="196" y="369"/>
                  </a:lnTo>
                  <a:moveTo>
                    <a:pt x="442" y="67"/>
                  </a:moveTo>
                  <a:lnTo>
                    <a:pt x="229" y="369"/>
                  </a:lnTo>
                  <a:lnTo>
                    <a:pt x="449" y="369"/>
                  </a:lnTo>
                  <a:lnTo>
                    <a:pt x="442" y="67"/>
                  </a:lnTo>
                  <a:moveTo>
                    <a:pt x="240" y="168"/>
                  </a:moveTo>
                  <a:lnTo>
                    <a:pt x="101" y="369"/>
                  </a:lnTo>
                  <a:lnTo>
                    <a:pt x="379" y="369"/>
                  </a:lnTo>
                  <a:lnTo>
                    <a:pt x="240" y="168"/>
                  </a:lnTo>
                  <a:moveTo>
                    <a:pt x="398" y="48"/>
                  </a:moveTo>
                  <a:lnTo>
                    <a:pt x="398" y="48"/>
                  </a:lnTo>
                  <a:moveTo>
                    <a:pt x="371" y="77"/>
                  </a:moveTo>
                  <a:lnTo>
                    <a:pt x="382" y="65"/>
                  </a:lnTo>
                  <a:moveTo>
                    <a:pt x="349" y="102"/>
                  </a:moveTo>
                  <a:lnTo>
                    <a:pt x="360" y="90"/>
                  </a:lnTo>
                  <a:moveTo>
                    <a:pt x="328" y="126"/>
                  </a:moveTo>
                  <a:lnTo>
                    <a:pt x="338" y="114"/>
                  </a:lnTo>
                  <a:moveTo>
                    <a:pt x="305" y="150"/>
                  </a:moveTo>
                  <a:lnTo>
                    <a:pt x="316" y="138"/>
                  </a:lnTo>
                  <a:moveTo>
                    <a:pt x="283" y="175"/>
                  </a:moveTo>
                  <a:lnTo>
                    <a:pt x="294" y="163"/>
                  </a:lnTo>
                  <a:moveTo>
                    <a:pt x="261" y="199"/>
                  </a:moveTo>
                  <a:lnTo>
                    <a:pt x="273" y="187"/>
                  </a:lnTo>
                  <a:moveTo>
                    <a:pt x="239" y="223"/>
                  </a:moveTo>
                  <a:lnTo>
                    <a:pt x="250" y="211"/>
                  </a:lnTo>
                  <a:moveTo>
                    <a:pt x="217" y="248"/>
                  </a:moveTo>
                  <a:lnTo>
                    <a:pt x="229" y="236"/>
                  </a:lnTo>
                  <a:moveTo>
                    <a:pt x="195" y="273"/>
                  </a:moveTo>
                  <a:lnTo>
                    <a:pt x="206" y="260"/>
                  </a:lnTo>
                  <a:moveTo>
                    <a:pt x="174" y="296"/>
                  </a:moveTo>
                  <a:lnTo>
                    <a:pt x="185" y="284"/>
                  </a:lnTo>
                  <a:moveTo>
                    <a:pt x="151" y="321"/>
                  </a:moveTo>
                  <a:lnTo>
                    <a:pt x="162" y="309"/>
                  </a:lnTo>
                  <a:moveTo>
                    <a:pt x="130" y="346"/>
                  </a:moveTo>
                  <a:lnTo>
                    <a:pt x="141" y="333"/>
                  </a:lnTo>
                  <a:moveTo>
                    <a:pt x="107" y="369"/>
                  </a:moveTo>
                  <a:lnTo>
                    <a:pt x="119" y="358"/>
                  </a:lnTo>
                  <a:moveTo>
                    <a:pt x="438" y="28"/>
                  </a:moveTo>
                  <a:lnTo>
                    <a:pt x="438" y="28"/>
                  </a:lnTo>
                  <a:moveTo>
                    <a:pt x="444" y="25"/>
                  </a:moveTo>
                  <a:lnTo>
                    <a:pt x="444" y="0"/>
                  </a:lnTo>
                  <a:lnTo>
                    <a:pt x="419" y="0"/>
                  </a:lnTo>
                  <a:moveTo>
                    <a:pt x="444" y="0"/>
                  </a:moveTo>
                  <a:lnTo>
                    <a:pt x="395" y="50"/>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cxnSp>
        <p:nvCxnSpPr>
          <p:cNvPr id="225" name="Straight Connector 224">
            <a:extLst>
              <a:ext uri="{FF2B5EF4-FFF2-40B4-BE49-F238E27FC236}">
                <a16:creationId xmlns:a16="http://schemas.microsoft.com/office/drawing/2014/main" id="{CA659460-02E7-ED61-24E7-E24779FA4117}"/>
              </a:ext>
              <a:ext uri="{C183D7F6-B498-43B3-948B-1728B52AA6E4}">
                <adec:decorative xmlns:adec="http://schemas.microsoft.com/office/drawing/2017/decorative" val="1"/>
              </a:ext>
            </a:extLst>
          </p:cNvPr>
          <p:cNvCxnSpPr>
            <a:cxnSpLocks/>
          </p:cNvCxnSpPr>
          <p:nvPr/>
        </p:nvCxnSpPr>
        <p:spPr>
          <a:xfrm>
            <a:off x="5771254" y="5378882"/>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32" name="Group 231">
            <a:extLst>
              <a:ext uri="{FF2B5EF4-FFF2-40B4-BE49-F238E27FC236}">
                <a16:creationId xmlns:a16="http://schemas.microsoft.com/office/drawing/2014/main" id="{6AD6DEDC-2BEE-3555-E7EC-59E2C33AEEA2}"/>
              </a:ext>
              <a:ext uri="{C183D7F6-B498-43B3-948B-1728B52AA6E4}">
                <adec:decorative xmlns:adec="http://schemas.microsoft.com/office/drawing/2017/decorative" val="1"/>
              </a:ext>
            </a:extLst>
          </p:cNvPr>
          <p:cNvGrpSpPr>
            <a:grpSpLocks/>
          </p:cNvGrpSpPr>
          <p:nvPr/>
        </p:nvGrpSpPr>
        <p:grpSpPr>
          <a:xfrm>
            <a:off x="777563" y="5630994"/>
            <a:ext cx="411480" cy="411480"/>
            <a:chOff x="4850654" y="3383869"/>
            <a:chExt cx="751672" cy="751672"/>
          </a:xfrm>
        </p:grpSpPr>
        <p:sp>
          <p:nvSpPr>
            <p:cNvPr id="233" name="Oval 232">
              <a:extLst>
                <a:ext uri="{FF2B5EF4-FFF2-40B4-BE49-F238E27FC236}">
                  <a16:creationId xmlns:a16="http://schemas.microsoft.com/office/drawing/2014/main" id="{A5F125E8-B9BC-AC7F-6EA0-9FAFBD943E06}"/>
                </a:ext>
                <a:ext uri="{C183D7F6-B498-43B3-948B-1728B52AA6E4}">
                  <adec:decorative xmlns:adec="http://schemas.microsoft.com/office/drawing/2017/decorative" val="1"/>
                </a:ext>
              </a:extLst>
            </p:cNvPr>
            <p:cNvSpPr/>
            <p:nvPr/>
          </p:nvSpPr>
          <p:spPr bwMode="auto">
            <a:xfrm>
              <a:off x="4850654"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IN" sz="2400" b="0" i="0" u="none" strike="noStrike" kern="1200" cap="none" spc="0" normalizeH="0" baseline="0" noProof="0" err="1">
                <a:ln>
                  <a:noFill/>
                </a:ln>
                <a:solidFill>
                  <a:schemeClr val="tx2"/>
                </a:solidFill>
                <a:effectLst/>
                <a:uLnTx/>
                <a:uFillTx/>
                <a:latin typeface="Segoe UI"/>
                <a:ea typeface="Segoe UI" pitchFamily="34" charset="0"/>
                <a:cs typeface="Segoe UI" pitchFamily="34" charset="0"/>
              </a:endParaRPr>
            </a:p>
          </p:txBody>
        </p:sp>
        <p:sp>
          <p:nvSpPr>
            <p:cNvPr id="234" name="Freeform: Shape 233">
              <a:extLst>
                <a:ext uri="{FF2B5EF4-FFF2-40B4-BE49-F238E27FC236}">
                  <a16:creationId xmlns:a16="http://schemas.microsoft.com/office/drawing/2014/main" id="{E58208D6-46F4-A0A6-BAD8-CA073F280A55}"/>
                </a:ext>
                <a:ext uri="{C183D7F6-B498-43B3-948B-1728B52AA6E4}">
                  <adec:decorative xmlns:adec="http://schemas.microsoft.com/office/drawing/2017/decorative" val="1"/>
                </a:ext>
              </a:extLst>
            </p:cNvPr>
            <p:cNvSpPr/>
            <p:nvPr/>
          </p:nvSpPr>
          <p:spPr>
            <a:xfrm>
              <a:off x="5043367" y="3600998"/>
              <a:ext cx="366246" cy="317412"/>
            </a:xfrm>
            <a:custGeom>
              <a:avLst/>
              <a:gdLst>
                <a:gd name="connsiteX0" fmla="*/ 93073 w 285750"/>
                <a:gd name="connsiteY0" fmla="*/ 118791 h 247650"/>
                <a:gd name="connsiteX1" fmla="*/ 142603 w 285750"/>
                <a:gd name="connsiteY1" fmla="*/ 68308 h 247650"/>
                <a:gd name="connsiteX2" fmla="*/ 192133 w 285750"/>
                <a:gd name="connsiteY2" fmla="*/ 118791 h 247650"/>
                <a:gd name="connsiteX3" fmla="*/ 142603 w 285750"/>
                <a:gd name="connsiteY3" fmla="*/ 169273 h 247650"/>
                <a:gd name="connsiteX4" fmla="*/ 93073 w 285750"/>
                <a:gd name="connsiteY4" fmla="*/ 118791 h 247650"/>
                <a:gd name="connsiteX5" fmla="*/ 93073 w 285750"/>
                <a:gd name="connsiteY5" fmla="*/ 118791 h 247650"/>
                <a:gd name="connsiteX6" fmla="*/ 212136 w 285750"/>
                <a:gd name="connsiteY6" fmla="*/ 241663 h 247650"/>
                <a:gd name="connsiteX7" fmla="*/ 142603 w 285750"/>
                <a:gd name="connsiteY7" fmla="*/ 171178 h 247650"/>
                <a:gd name="connsiteX8" fmla="*/ 73071 w 285750"/>
                <a:gd name="connsiteY8" fmla="*/ 241663 h 247650"/>
                <a:gd name="connsiteX9" fmla="*/ 51163 w 285750"/>
                <a:gd name="connsiteY9" fmla="*/ 70213 h 247650"/>
                <a:gd name="connsiteX10" fmla="*/ 82596 w 285750"/>
                <a:gd name="connsiteY10" fmla="*/ 38781 h 247650"/>
                <a:gd name="connsiteX11" fmla="*/ 51163 w 285750"/>
                <a:gd name="connsiteY11" fmla="*/ 7348 h 247650"/>
                <a:gd name="connsiteX12" fmla="*/ 19731 w 285750"/>
                <a:gd name="connsiteY12" fmla="*/ 38781 h 247650"/>
                <a:gd name="connsiteX13" fmla="*/ 51163 w 285750"/>
                <a:gd name="connsiteY13" fmla="*/ 70213 h 247650"/>
                <a:gd name="connsiteX14" fmla="*/ 51163 w 285750"/>
                <a:gd name="connsiteY14" fmla="*/ 70213 h 247650"/>
                <a:gd name="connsiteX15" fmla="*/ 94026 w 285750"/>
                <a:gd name="connsiteY15" fmla="*/ 114028 h 247650"/>
                <a:gd name="connsiteX16" fmla="*/ 51163 w 285750"/>
                <a:gd name="connsiteY16" fmla="*/ 70213 h 247650"/>
                <a:gd name="connsiteX17" fmla="*/ 7348 w 285750"/>
                <a:gd name="connsiteY17" fmla="*/ 114028 h 247650"/>
                <a:gd name="connsiteX18" fmla="*/ 234996 w 285750"/>
                <a:gd name="connsiteY18" fmla="*/ 70213 h 247650"/>
                <a:gd name="connsiteX19" fmla="*/ 266428 w 285750"/>
                <a:gd name="connsiteY19" fmla="*/ 38781 h 247650"/>
                <a:gd name="connsiteX20" fmla="*/ 234996 w 285750"/>
                <a:gd name="connsiteY20" fmla="*/ 7348 h 247650"/>
                <a:gd name="connsiteX21" fmla="*/ 203563 w 285750"/>
                <a:gd name="connsiteY21" fmla="*/ 38781 h 247650"/>
                <a:gd name="connsiteX22" fmla="*/ 234996 w 285750"/>
                <a:gd name="connsiteY22" fmla="*/ 70213 h 247650"/>
                <a:gd name="connsiteX23" fmla="*/ 234996 w 285750"/>
                <a:gd name="connsiteY23" fmla="*/ 70213 h 247650"/>
                <a:gd name="connsiteX24" fmla="*/ 278811 w 285750"/>
                <a:gd name="connsiteY24" fmla="*/ 114028 h 247650"/>
                <a:gd name="connsiteX25" fmla="*/ 234996 w 285750"/>
                <a:gd name="connsiteY25" fmla="*/ 70213 h 247650"/>
                <a:gd name="connsiteX26" fmla="*/ 191181 w 285750"/>
                <a:gd name="connsiteY26" fmla="*/ 114028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5750" h="247650">
                  <a:moveTo>
                    <a:pt x="93073" y="118791"/>
                  </a:moveTo>
                  <a:cubicBezTo>
                    <a:pt x="93073" y="91168"/>
                    <a:pt x="115933" y="68308"/>
                    <a:pt x="142603" y="68308"/>
                  </a:cubicBezTo>
                  <a:cubicBezTo>
                    <a:pt x="170226" y="68308"/>
                    <a:pt x="192133" y="91168"/>
                    <a:pt x="192133" y="118791"/>
                  </a:cubicBezTo>
                  <a:cubicBezTo>
                    <a:pt x="192133" y="146413"/>
                    <a:pt x="170226" y="169273"/>
                    <a:pt x="142603" y="169273"/>
                  </a:cubicBezTo>
                  <a:cubicBezTo>
                    <a:pt x="114981" y="170226"/>
                    <a:pt x="93073" y="147366"/>
                    <a:pt x="93073" y="118791"/>
                  </a:cubicBezTo>
                  <a:lnTo>
                    <a:pt x="93073" y="118791"/>
                  </a:lnTo>
                  <a:close/>
                  <a:moveTo>
                    <a:pt x="212136" y="241663"/>
                  </a:moveTo>
                  <a:cubicBezTo>
                    <a:pt x="212136" y="202611"/>
                    <a:pt x="180703" y="171178"/>
                    <a:pt x="142603" y="171178"/>
                  </a:cubicBezTo>
                  <a:cubicBezTo>
                    <a:pt x="104503" y="171178"/>
                    <a:pt x="73071" y="202611"/>
                    <a:pt x="73071" y="241663"/>
                  </a:cubicBezTo>
                  <a:moveTo>
                    <a:pt x="51163" y="70213"/>
                  </a:moveTo>
                  <a:cubicBezTo>
                    <a:pt x="68308" y="70213"/>
                    <a:pt x="82596" y="55926"/>
                    <a:pt x="82596" y="38781"/>
                  </a:cubicBezTo>
                  <a:cubicBezTo>
                    <a:pt x="82596" y="21636"/>
                    <a:pt x="68308" y="7348"/>
                    <a:pt x="51163" y="7348"/>
                  </a:cubicBezTo>
                  <a:cubicBezTo>
                    <a:pt x="34018" y="7348"/>
                    <a:pt x="19731" y="21636"/>
                    <a:pt x="19731" y="38781"/>
                  </a:cubicBezTo>
                  <a:cubicBezTo>
                    <a:pt x="19731" y="55926"/>
                    <a:pt x="34018" y="70213"/>
                    <a:pt x="51163" y="70213"/>
                  </a:cubicBezTo>
                  <a:lnTo>
                    <a:pt x="51163" y="70213"/>
                  </a:lnTo>
                  <a:close/>
                  <a:moveTo>
                    <a:pt x="94026" y="114028"/>
                  </a:moveTo>
                  <a:cubicBezTo>
                    <a:pt x="94026" y="90216"/>
                    <a:pt x="74976" y="70213"/>
                    <a:pt x="51163" y="70213"/>
                  </a:cubicBezTo>
                  <a:cubicBezTo>
                    <a:pt x="27351" y="70213"/>
                    <a:pt x="7348" y="90216"/>
                    <a:pt x="7348" y="114028"/>
                  </a:cubicBezTo>
                  <a:moveTo>
                    <a:pt x="234996" y="70213"/>
                  </a:moveTo>
                  <a:cubicBezTo>
                    <a:pt x="252141" y="70213"/>
                    <a:pt x="266428" y="55926"/>
                    <a:pt x="266428" y="38781"/>
                  </a:cubicBezTo>
                  <a:cubicBezTo>
                    <a:pt x="266428" y="21636"/>
                    <a:pt x="252141" y="7348"/>
                    <a:pt x="234996" y="7348"/>
                  </a:cubicBezTo>
                  <a:cubicBezTo>
                    <a:pt x="217851" y="7348"/>
                    <a:pt x="203563" y="21636"/>
                    <a:pt x="203563" y="38781"/>
                  </a:cubicBezTo>
                  <a:cubicBezTo>
                    <a:pt x="203563" y="55926"/>
                    <a:pt x="217851" y="70213"/>
                    <a:pt x="234996" y="70213"/>
                  </a:cubicBezTo>
                  <a:lnTo>
                    <a:pt x="234996" y="70213"/>
                  </a:lnTo>
                  <a:close/>
                  <a:moveTo>
                    <a:pt x="278811" y="114028"/>
                  </a:moveTo>
                  <a:cubicBezTo>
                    <a:pt x="278811" y="90216"/>
                    <a:pt x="259761" y="70213"/>
                    <a:pt x="234996" y="70213"/>
                  </a:cubicBezTo>
                  <a:cubicBezTo>
                    <a:pt x="210231" y="70213"/>
                    <a:pt x="191181" y="90216"/>
                    <a:pt x="191181" y="114028"/>
                  </a:cubicBezTo>
                </a:path>
              </a:pathLst>
            </a:custGeom>
            <a:noFill/>
            <a:ln w="12700" cap="sq">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Segoe UI"/>
                <a:ea typeface="+mn-ea"/>
                <a:cs typeface="+mn-cs"/>
              </a:endParaRPr>
            </a:p>
          </p:txBody>
        </p:sp>
      </p:grpSp>
      <p:sp>
        <p:nvSpPr>
          <p:cNvPr id="243" name="Footer Placeholder 2">
            <a:extLst>
              <a:ext uri="{FF2B5EF4-FFF2-40B4-BE49-F238E27FC236}">
                <a16:creationId xmlns:a16="http://schemas.microsoft.com/office/drawing/2014/main" id="{446B3CAC-9CA4-7E6C-C236-E16F8C2AC316}"/>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244" name="Picture 243" descr="Two young employees sitting in a coffee table working on a laptop">
            <a:extLst>
              <a:ext uri="{FF2B5EF4-FFF2-40B4-BE49-F238E27FC236}">
                <a16:creationId xmlns:a16="http://schemas.microsoft.com/office/drawing/2014/main" id="{21E22E0D-11F6-AC57-4F36-BD103A48CBB7}"/>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grpSp>
        <p:nvGrpSpPr>
          <p:cNvPr id="3" name="Group 2">
            <a:extLst>
              <a:ext uri="{FF2B5EF4-FFF2-40B4-BE49-F238E27FC236}">
                <a16:creationId xmlns:a16="http://schemas.microsoft.com/office/drawing/2014/main" id="{158DB714-0E91-50E7-39C3-0BB980AE86ED}"/>
              </a:ext>
              <a:ext uri="{C183D7F6-B498-43B3-948B-1728B52AA6E4}">
                <adec:decorative xmlns:adec="http://schemas.microsoft.com/office/drawing/2017/decorative" val="1"/>
              </a:ext>
            </a:extLst>
          </p:cNvPr>
          <p:cNvGrpSpPr>
            <a:grpSpLocks noChangeAspect="1"/>
          </p:cNvGrpSpPr>
          <p:nvPr/>
        </p:nvGrpSpPr>
        <p:grpSpPr>
          <a:xfrm>
            <a:off x="777563" y="2072523"/>
            <a:ext cx="411480" cy="411480"/>
            <a:chOff x="10323474" y="1468393"/>
            <a:chExt cx="751672" cy="751672"/>
          </a:xfrm>
        </p:grpSpPr>
        <p:sp>
          <p:nvSpPr>
            <p:cNvPr id="4" name="Oval 3">
              <a:extLst>
                <a:ext uri="{FF2B5EF4-FFF2-40B4-BE49-F238E27FC236}">
                  <a16:creationId xmlns:a16="http://schemas.microsoft.com/office/drawing/2014/main" id="{26415763-D8CE-AD2E-DB3E-1F419FA57985}"/>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5" name="Group 4">
              <a:extLst>
                <a:ext uri="{FF2B5EF4-FFF2-40B4-BE49-F238E27FC236}">
                  <a16:creationId xmlns:a16="http://schemas.microsoft.com/office/drawing/2014/main" id="{E19918D0-FF74-2ED4-E1D7-5B4AB5B697EF}"/>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6" name="Freeform: Shape 5">
                <a:extLst>
                  <a:ext uri="{FF2B5EF4-FFF2-40B4-BE49-F238E27FC236}">
                    <a16:creationId xmlns:a16="http://schemas.microsoft.com/office/drawing/2014/main" id="{FD4F7BB6-1448-364A-F8A5-0FD7D3ECD6A5}"/>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7" name="Freeform: Shape 6">
                <a:extLst>
                  <a:ext uri="{FF2B5EF4-FFF2-40B4-BE49-F238E27FC236}">
                    <a16:creationId xmlns:a16="http://schemas.microsoft.com/office/drawing/2014/main" id="{4C9831D5-1467-9C4F-AFDD-F29BBA865051}"/>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8" name="Freeform: Shape 7">
                <a:extLst>
                  <a:ext uri="{FF2B5EF4-FFF2-40B4-BE49-F238E27FC236}">
                    <a16:creationId xmlns:a16="http://schemas.microsoft.com/office/drawing/2014/main" id="{DD676A0F-A9D4-672E-1A52-742F23B7C607}"/>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9" name="Freeform: Shape 8">
                <a:extLst>
                  <a:ext uri="{FF2B5EF4-FFF2-40B4-BE49-F238E27FC236}">
                    <a16:creationId xmlns:a16="http://schemas.microsoft.com/office/drawing/2014/main" id="{D2CE1DB8-7604-7699-8FF9-AF404AEAE74D}"/>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 name="Freeform: Shape 9">
                <a:extLst>
                  <a:ext uri="{FF2B5EF4-FFF2-40B4-BE49-F238E27FC236}">
                    <a16:creationId xmlns:a16="http://schemas.microsoft.com/office/drawing/2014/main" id="{B13D0C4D-CD97-A0AC-7049-EBF2B5090241}"/>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 name="Freeform: Shape 10">
                <a:extLst>
                  <a:ext uri="{FF2B5EF4-FFF2-40B4-BE49-F238E27FC236}">
                    <a16:creationId xmlns:a16="http://schemas.microsoft.com/office/drawing/2014/main" id="{7752436B-1507-8E37-4AE1-B4115717BF05}"/>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2" name="Freeform: Shape 11">
                <a:extLst>
                  <a:ext uri="{FF2B5EF4-FFF2-40B4-BE49-F238E27FC236}">
                    <a16:creationId xmlns:a16="http://schemas.microsoft.com/office/drawing/2014/main" id="{9E141EC9-A9AC-E114-FFEE-2F44A4158BBA}"/>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3" name="Freeform: Shape 12">
                <a:extLst>
                  <a:ext uri="{FF2B5EF4-FFF2-40B4-BE49-F238E27FC236}">
                    <a16:creationId xmlns:a16="http://schemas.microsoft.com/office/drawing/2014/main" id="{D52FAAFD-6537-5CB1-1F64-5797467FAC35}"/>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 name="Freeform: Shape 13">
                <a:extLst>
                  <a:ext uri="{FF2B5EF4-FFF2-40B4-BE49-F238E27FC236}">
                    <a16:creationId xmlns:a16="http://schemas.microsoft.com/office/drawing/2014/main" id="{2DDAE705-FEBA-BA4E-C307-EE72EB17C00E}"/>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 name="Freeform: Shape 14">
                <a:extLst>
                  <a:ext uri="{FF2B5EF4-FFF2-40B4-BE49-F238E27FC236}">
                    <a16:creationId xmlns:a16="http://schemas.microsoft.com/office/drawing/2014/main" id="{B61EABB2-4DC6-B1F7-D5E6-69179E00A8CA}"/>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6" name="Freeform: Shape 15">
                <a:extLst>
                  <a:ext uri="{FF2B5EF4-FFF2-40B4-BE49-F238E27FC236}">
                    <a16:creationId xmlns:a16="http://schemas.microsoft.com/office/drawing/2014/main" id="{92599B6C-7F9C-CD8F-94B1-4A7DDF05A512}"/>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spTree>
    <p:custDataLst>
      <p:tags r:id="rId1"/>
    </p:custDataLst>
    <p:extLst>
      <p:ext uri="{BB962C8B-B14F-4D97-AF65-F5344CB8AC3E}">
        <p14:creationId xmlns:p14="http://schemas.microsoft.com/office/powerpoint/2010/main" val="255721449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2011680"/>
            <a:ext cx="11000000" cy="0"/>
          </a:xfrm>
        </p:spPr>
        <p:txBody>
          <a:bodyPr wrap="square">
            <a:noAutofit/>
          </a:bodyPr>
          <a:lstStyle/>
          <a:p>
            <a:pPr algn="l">
              <a:defRPr sz="3600">
                <a:latin typeface="Segoe UI"/>
              </a:defRPr>
            </a:pPr>
            <a:r>
              <a:rPr sz="3600">
                <a:latin typeface="Segoe UI"/>
              </a:rPr>
              <a:t>Business Strategy</a:t>
            </a:r>
          </a:p>
        </p:txBody>
      </p:sp>
      <p:sp>
        <p:nvSpPr>
          <p:cNvPr id="3" name="Text Placeholder 2"/>
          <p:cNvSpPr>
            <a:spLocks noGrp="1"/>
          </p:cNvSpPr>
          <p:nvPr>
            <p:ph type="body" sz="quarter" idx="12"/>
          </p:nvPr>
        </p:nvSpPr>
        <p:spPr>
          <a:xfrm>
            <a:off x="731520" y="3200400"/>
            <a:ext cx="9000000" cy="0"/>
          </a:xfrm>
        </p:spPr>
        <p:txBody>
          <a:bodyPr/>
          <a:lstStyle/>
          <a:p>
            <a:r>
              <a:rPr sz="2000"/>
              <a:t>End-to-end operating model, use-case intake &amp; prioritization</a:t>
            </a:r>
          </a:p>
        </p:txBody>
      </p:sp>
      <p:sp>
        <p:nvSpPr>
          <p:cNvPr id="4" name="TextBox 3">
            <a:extLst>
              <a:ext uri="{C183D7F6-B498-43B3-948B-1728B52AA6E4}">
                <adec:decorative xmlns:adec="http://schemas.microsoft.com/office/drawing/2017/decorative" val="1"/>
              </a:ext>
            </a:extLst>
          </p:cNvPr>
          <p:cNvSpPr txBox="1"/>
          <p:nvPr/>
        </p:nvSpPr>
        <p:spPr>
          <a:xfrm>
            <a:off x="731520" y="457200"/>
            <a:ext cx="5486400" cy="411480"/>
          </a:xfrm>
          <a:prstGeom prst="rect">
            <a:avLst/>
          </a:prstGeom>
          <a:noFill/>
        </p:spPr>
        <p:txBody>
          <a:bodyPr wrap="square" lIns="0" tIns="0" rIns="0" bIns="0" anchor="t">
            <a:spAutoFit/>
          </a:bodyPr>
          <a:lstStyle/>
          <a:p>
            <a:pPr algn="l"/>
            <a:r>
              <a:rPr sz="1600" b="1">
                <a:solidFill>
                  <a:srgbClr val="FFFFFF"/>
                </a:solidFill>
                <a:latin typeface="Segoe UI"/>
              </a:rPr>
              <a:t>Learning Unit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Objectives — Business Strategy</a:t>
            </a:r>
          </a:p>
        </p:txBody>
      </p:sp>
      <p:sp>
        <p:nvSpPr>
          <p:cNvPr id="3" name="Text Placeholder 2"/>
          <p:cNvSpPr>
            <a:spLocks noGrp="1"/>
          </p:cNvSpPr>
          <p:nvPr>
            <p:ph type="body" sz="quarter" idx="12"/>
          </p:nvPr>
        </p:nvSpPr>
        <p:spPr/>
        <p:txBody>
          <a:bodyPr/>
          <a:lstStyle/>
          <a:p>
            <a:r>
              <a:rPr sz="1600">
                <a:solidFill>
                  <a:srgbClr val="606060"/>
                </a:solidFill>
              </a:rPr>
              <a:t>What you will learn and decide in this learning unit</a:t>
            </a:r>
          </a:p>
        </p:txBody>
      </p:sp>
      <p:sp>
        <p:nvSpPr>
          <p:cNvPr id="4" name="Rectangle 3" descr="Focus"/>
          <p:cNvSpPr/>
          <p:nvPr/>
        </p:nvSpPr>
        <p:spPr>
          <a:xfrm>
            <a:off x="502920" y="2194560"/>
            <a:ext cx="3611880" cy="45720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Focus</a:t>
            </a:r>
          </a:p>
        </p:txBody>
      </p:sp>
      <p:sp>
        <p:nvSpPr>
          <p:cNvPr id="5" name="Rounded Rectangle 4">
            <a:extLst>
              <a:ext uri="{C183D7F6-B498-43B3-948B-1728B52AA6E4}">
                <adec:decorative xmlns:adec="http://schemas.microsoft.com/office/drawing/2017/decorative" val="1"/>
              </a:ext>
            </a:extLst>
          </p:cNvPr>
          <p:cNvSpPr/>
          <p:nvPr/>
        </p:nvSpPr>
        <p:spPr>
          <a:xfrm>
            <a:off x="502920"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C183D7F6-B498-43B3-948B-1728B52AA6E4}">
                <adec:decorative xmlns:adec="http://schemas.microsoft.com/office/drawing/2017/decorative" val="1"/>
              </a:ext>
            </a:extLst>
          </p:cNvPr>
          <p:cNvSpPr txBox="1"/>
          <p:nvPr/>
        </p:nvSpPr>
        <p:spPr>
          <a:xfrm>
            <a:off x="685800"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Establish a robust AI organizational setup &amp; operating model</a:t>
            </a:r>
          </a:p>
          <a:p>
            <a:pPr>
              <a:spcAft>
                <a:spcPts val="600"/>
              </a:spcAft>
            </a:pPr>
            <a:r>
              <a:rPr sz="1200" b="1">
                <a:solidFill>
                  <a:srgbClr val="0078D4"/>
                </a:solidFill>
                <a:latin typeface="Segoe UI"/>
              </a:rPr>
              <a:t>•  </a:t>
            </a:r>
            <a:r>
              <a:rPr sz="1200">
                <a:solidFill>
                  <a:srgbClr val="323232"/>
                </a:solidFill>
                <a:latin typeface="Segoe UI"/>
              </a:rPr>
              <a:t>Unify siloed AI/COE teams under one structured governance</a:t>
            </a:r>
          </a:p>
          <a:p>
            <a:pPr>
              <a:spcAft>
                <a:spcPts val="600"/>
              </a:spcAft>
            </a:pPr>
            <a:r>
              <a:rPr sz="1200" b="1">
                <a:solidFill>
                  <a:srgbClr val="0078D4"/>
                </a:solidFill>
                <a:latin typeface="Segoe UI"/>
              </a:rPr>
              <a:t>•  </a:t>
            </a:r>
            <a:r>
              <a:rPr sz="1200">
                <a:solidFill>
                  <a:srgbClr val="323232"/>
                </a:solidFill>
                <a:latin typeface="Segoe UI"/>
              </a:rPr>
              <a:t>Streamline AI use-case intake, triage and ROI assessment</a:t>
            </a:r>
          </a:p>
        </p:txBody>
      </p:sp>
      <p:sp>
        <p:nvSpPr>
          <p:cNvPr id="7" name="Rectangle 6" descr="Outcomes"/>
          <p:cNvSpPr/>
          <p:nvPr/>
        </p:nvSpPr>
        <p:spPr>
          <a:xfrm>
            <a:off x="4279392" y="2194560"/>
            <a:ext cx="3611880" cy="45720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Outcomes</a:t>
            </a:r>
          </a:p>
        </p:txBody>
      </p:sp>
      <p:sp>
        <p:nvSpPr>
          <p:cNvPr id="8" name="Rounded Rectangle 7">
            <a:extLst>
              <a:ext uri="{C183D7F6-B498-43B3-948B-1728B52AA6E4}">
                <adec:decorative xmlns:adec="http://schemas.microsoft.com/office/drawing/2017/decorative" val="1"/>
              </a:ext>
            </a:extLst>
          </p:cNvPr>
          <p:cNvSpPr/>
          <p:nvPr/>
        </p:nvSpPr>
        <p:spPr>
          <a:xfrm>
            <a:off x="4279392"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C183D7F6-B498-43B3-948B-1728B52AA6E4}">
                <adec:decorative xmlns:adec="http://schemas.microsoft.com/office/drawing/2017/decorative" val="1"/>
              </a:ext>
            </a:extLst>
          </p:cNvPr>
          <p:cNvSpPr txBox="1"/>
          <p:nvPr/>
        </p:nvSpPr>
        <p:spPr>
          <a:xfrm>
            <a:off x="4462272"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Integrated AI strategy aligned with business objectives</a:t>
            </a:r>
          </a:p>
          <a:p>
            <a:pPr>
              <a:spcAft>
                <a:spcPts val="600"/>
              </a:spcAft>
            </a:pPr>
            <a:r>
              <a:rPr sz="1200" b="1">
                <a:solidFill>
                  <a:srgbClr val="0078D4"/>
                </a:solidFill>
                <a:latin typeface="Segoe UI"/>
              </a:rPr>
              <a:t>•  </a:t>
            </a:r>
            <a:r>
              <a:rPr sz="1200">
                <a:solidFill>
                  <a:srgbClr val="323232"/>
                </a:solidFill>
                <a:latin typeface="Segoe UI"/>
              </a:rPr>
              <a:t>Unified AI operating model across all AI solutions</a:t>
            </a:r>
          </a:p>
          <a:p>
            <a:pPr>
              <a:spcAft>
                <a:spcPts val="600"/>
              </a:spcAft>
            </a:pPr>
            <a:r>
              <a:rPr sz="1200" b="1">
                <a:solidFill>
                  <a:srgbClr val="0078D4"/>
                </a:solidFill>
                <a:latin typeface="Segoe UI"/>
              </a:rPr>
              <a:t>•  </a:t>
            </a:r>
            <a:r>
              <a:rPr sz="1200">
                <a:solidFill>
                  <a:srgbClr val="323232"/>
                </a:solidFill>
                <a:latin typeface="Segoe UI"/>
              </a:rPr>
              <a:t>Framework to evaluate, prioritize and track AI use cases</a:t>
            </a:r>
          </a:p>
        </p:txBody>
      </p:sp>
      <p:sp>
        <p:nvSpPr>
          <p:cNvPr id="10" name="Rectangle 9" descr="Audience"/>
          <p:cNvSpPr/>
          <p:nvPr/>
        </p:nvSpPr>
        <p:spPr>
          <a:xfrm>
            <a:off x="8055864" y="2194560"/>
            <a:ext cx="3611880" cy="4572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Audience</a:t>
            </a:r>
          </a:p>
        </p:txBody>
      </p:sp>
      <p:sp>
        <p:nvSpPr>
          <p:cNvPr id="11" name="Rounded Rectangle 10">
            <a:extLst>
              <a:ext uri="{C183D7F6-B498-43B3-948B-1728B52AA6E4}">
                <adec:decorative xmlns:adec="http://schemas.microsoft.com/office/drawing/2017/decorative" val="1"/>
              </a:ext>
            </a:extLst>
          </p:cNvPr>
          <p:cNvSpPr/>
          <p:nvPr/>
        </p:nvSpPr>
        <p:spPr>
          <a:xfrm>
            <a:off x="8055864"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C183D7F6-B498-43B3-948B-1728B52AA6E4}">
                <adec:decorative xmlns:adec="http://schemas.microsoft.com/office/drawing/2017/decorative" val="1"/>
              </a:ext>
            </a:extLst>
          </p:cNvPr>
          <p:cNvSpPr txBox="1"/>
          <p:nvPr/>
        </p:nvSpPr>
        <p:spPr>
          <a:xfrm>
            <a:off x="8238744"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Chief AI Officer (CAIO)</a:t>
            </a:r>
          </a:p>
          <a:p>
            <a:pPr>
              <a:spcAft>
                <a:spcPts val="600"/>
              </a:spcAft>
            </a:pPr>
            <a:r>
              <a:rPr sz="1200" b="1">
                <a:solidFill>
                  <a:srgbClr val="0078D4"/>
                </a:solidFill>
                <a:latin typeface="Segoe UI"/>
              </a:rPr>
              <a:t>•  </a:t>
            </a:r>
            <a:r>
              <a:rPr sz="1200">
                <a:solidFill>
                  <a:srgbClr val="323232"/>
                </a:solidFill>
                <a:latin typeface="Segoe UI"/>
              </a:rPr>
              <a:t>Chief Digital Officer (CDO)</a:t>
            </a:r>
          </a:p>
          <a:p>
            <a:pPr>
              <a:spcAft>
                <a:spcPts val="600"/>
              </a:spcAft>
            </a:pPr>
            <a:r>
              <a:rPr sz="1200" b="1">
                <a:solidFill>
                  <a:srgbClr val="0078D4"/>
                </a:solidFill>
                <a:latin typeface="Segoe UI"/>
              </a:rPr>
              <a:t>•  </a:t>
            </a:r>
            <a:r>
              <a:rPr sz="1200">
                <a:solidFill>
                  <a:srgbClr val="323232"/>
                </a:solidFill>
                <a:latin typeface="Segoe UI"/>
              </a:rPr>
              <a:t>Chief Financial Officer (CFO)</a:t>
            </a:r>
          </a:p>
          <a:p>
            <a:pPr>
              <a:spcAft>
                <a:spcPts val="600"/>
              </a:spcAft>
            </a:pPr>
            <a:r>
              <a:rPr sz="1200" b="1">
                <a:solidFill>
                  <a:srgbClr val="0078D4"/>
                </a:solidFill>
                <a:latin typeface="Segoe UI"/>
              </a:rPr>
              <a:t>•  </a:t>
            </a:r>
            <a:r>
              <a:rPr sz="1200">
                <a:solidFill>
                  <a:srgbClr val="323232"/>
                </a:solidFill>
                <a:latin typeface="Segoe UI"/>
              </a:rPr>
              <a:t>Business sponsors and AI Council members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Organizational setup — accountabilities at every cadence</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411480"/>
          </a:xfrm>
          <a:prstGeom prst="rect">
            <a:avLst/>
          </a:prstGeom>
          <a:noFill/>
        </p:spPr>
        <p:txBody>
          <a:bodyPr wrap="square" lIns="0" tIns="0" rIns="0" bIns="0" anchor="t">
            <a:spAutoFit/>
          </a:bodyPr>
          <a:lstStyle/>
          <a:p>
            <a:pPr algn="l"/>
            <a:r>
              <a:rPr sz="1400" b="0">
                <a:solidFill>
                  <a:srgbClr val="606060"/>
                </a:solidFill>
                <a:latin typeface="Segoe UI"/>
              </a:rPr>
              <a:t>Break existing COE silos — build a single AI council with cadence-aligned decision rights</a:t>
            </a:r>
          </a:p>
        </p:txBody>
      </p:sp>
      <p:sp>
        <p:nvSpPr>
          <p:cNvPr id="4" name="Rounded Rectangle 3" descr="Quarterly"/>
          <p:cNvSpPr/>
          <p:nvPr/>
        </p:nvSpPr>
        <p:spPr>
          <a:xfrm>
            <a:off x="548640" y="2240280"/>
            <a:ext cx="2011680" cy="960120"/>
          </a:xfrm>
          <a:prstGeom prst="roundRect">
            <a:avLst/>
          </a:prstGeom>
          <a:solidFill>
            <a:srgbClr val="00326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800" b="1">
                <a:solidFill>
                  <a:srgbClr val="FFFFFF"/>
                </a:solidFill>
                <a:latin typeface="Segoe UI"/>
              </a:rPr>
              <a:t>Quarterly</a:t>
            </a:r>
          </a:p>
        </p:txBody>
      </p:sp>
      <p:sp>
        <p:nvSpPr>
          <p:cNvPr id="5" name="Rounded Rectangle 4" descr="AI Leadership"/>
          <p:cNvSpPr/>
          <p:nvPr/>
        </p:nvSpPr>
        <p:spPr>
          <a:xfrm>
            <a:off x="2651760" y="2240280"/>
            <a:ext cx="3108960" cy="96012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400" b="1">
                <a:solidFill>
                  <a:srgbClr val="003266"/>
                </a:solidFill>
                <a:latin typeface="Segoe UI"/>
              </a:rPr>
              <a:t>AI Leadership</a:t>
            </a:r>
          </a:p>
        </p:txBody>
      </p:sp>
      <p:sp>
        <p:nvSpPr>
          <p:cNvPr id="6" name="Rounded Rectangle 5" descr="Overall vision &amp; strategic decisions on AI investments"/>
          <p:cNvSpPr/>
          <p:nvPr/>
        </p:nvSpPr>
        <p:spPr>
          <a:xfrm>
            <a:off x="5852160" y="2240280"/>
            <a:ext cx="5806440" cy="960120"/>
          </a:xfrm>
          <a:prstGeom prst="roundRect">
            <a:avLst/>
          </a:prstGeom>
          <a:solidFill>
            <a:srgbClr val="FFFFFF"/>
          </a:solidFill>
          <a:ln w="9525">
            <a:solidFill>
              <a:srgbClr val="003266"/>
            </a:solid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200" b="0">
                <a:solidFill>
                  <a:srgbClr val="323232"/>
                </a:solidFill>
                <a:latin typeface="Segoe UI"/>
              </a:rPr>
              <a:t>Overall vision &amp; strategic decisions on AI investments</a:t>
            </a:r>
          </a:p>
        </p:txBody>
      </p:sp>
      <p:sp>
        <p:nvSpPr>
          <p:cNvPr id="7" name="Rounded Rectangle 6" descr="Monthly"/>
          <p:cNvSpPr/>
          <p:nvPr/>
        </p:nvSpPr>
        <p:spPr>
          <a:xfrm>
            <a:off x="548640" y="3291840"/>
            <a:ext cx="2011680" cy="96012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800" b="1">
                <a:solidFill>
                  <a:srgbClr val="FFFFFF"/>
                </a:solidFill>
                <a:latin typeface="Segoe UI"/>
              </a:rPr>
              <a:t>Monthly</a:t>
            </a:r>
          </a:p>
        </p:txBody>
      </p:sp>
      <p:sp>
        <p:nvSpPr>
          <p:cNvPr id="8" name="Rounded Rectangle 7" descr="Senior Leadership"/>
          <p:cNvSpPr/>
          <p:nvPr/>
        </p:nvSpPr>
        <p:spPr>
          <a:xfrm>
            <a:off x="2651760" y="3291840"/>
            <a:ext cx="3108960" cy="96012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400" b="1">
                <a:solidFill>
                  <a:srgbClr val="0078D4"/>
                </a:solidFill>
                <a:latin typeface="Segoe UI"/>
              </a:rPr>
              <a:t>Senior Leadership</a:t>
            </a:r>
          </a:p>
        </p:txBody>
      </p:sp>
      <p:sp>
        <p:nvSpPr>
          <p:cNvPr id="9" name="Rounded Rectangle 8" descr="AI priorities for the business, partnerships, build vs. buy"/>
          <p:cNvSpPr/>
          <p:nvPr/>
        </p:nvSpPr>
        <p:spPr>
          <a:xfrm>
            <a:off x="5852160" y="3291840"/>
            <a:ext cx="5806440" cy="960120"/>
          </a:xfrm>
          <a:prstGeom prst="roundRect">
            <a:avLst/>
          </a:prstGeom>
          <a:solidFill>
            <a:srgbClr val="FFFFFF"/>
          </a:solidFill>
          <a:ln w="9525">
            <a:solidFill>
              <a:srgbClr val="0078D4"/>
            </a:solid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200" b="0">
                <a:solidFill>
                  <a:srgbClr val="323232"/>
                </a:solidFill>
                <a:latin typeface="Segoe UI"/>
              </a:rPr>
              <a:t>AI priorities for the business, partnerships, build vs. buy</a:t>
            </a:r>
          </a:p>
        </p:txBody>
      </p:sp>
      <p:sp>
        <p:nvSpPr>
          <p:cNvPr id="10" name="Rounded Rectangle 9" descr="Weekly"/>
          <p:cNvSpPr/>
          <p:nvPr/>
        </p:nvSpPr>
        <p:spPr>
          <a:xfrm>
            <a:off x="548640" y="4343400"/>
            <a:ext cx="2011680" cy="960120"/>
          </a:xfrm>
          <a:prstGeom prst="round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800" b="1">
                <a:solidFill>
                  <a:srgbClr val="1C1C1C"/>
                </a:solidFill>
                <a:latin typeface="Segoe UI"/>
              </a:rPr>
              <a:t>Weekly</a:t>
            </a:r>
          </a:p>
        </p:txBody>
      </p:sp>
      <p:sp>
        <p:nvSpPr>
          <p:cNvPr id="11" name="Rounded Rectangle 10" descr="AI Governance Board"/>
          <p:cNvSpPr/>
          <p:nvPr/>
        </p:nvSpPr>
        <p:spPr>
          <a:xfrm>
            <a:off x="2651760" y="4343400"/>
            <a:ext cx="3108960" cy="96012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400" b="1">
                <a:solidFill>
                  <a:srgbClr val="00636F"/>
                </a:solidFill>
                <a:latin typeface="Segoe UI"/>
              </a:rPr>
              <a:t>AI Governance Board</a:t>
            </a:r>
          </a:p>
        </p:txBody>
      </p:sp>
      <p:sp>
        <p:nvSpPr>
          <p:cNvPr id="12" name="Rounded Rectangle 11" descr="Standards &amp; safety, architecture governance, business value, RAI"/>
          <p:cNvSpPr/>
          <p:nvPr/>
        </p:nvSpPr>
        <p:spPr>
          <a:xfrm>
            <a:off x="5852160" y="4343400"/>
            <a:ext cx="5806440" cy="960120"/>
          </a:xfrm>
          <a:prstGeom prst="roundRect">
            <a:avLst/>
          </a:prstGeom>
          <a:solidFill>
            <a:srgbClr val="FFFFFF"/>
          </a:solidFill>
          <a:ln w="9525">
            <a:solidFill>
              <a:srgbClr val="00B7C3"/>
            </a:solid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200" b="0">
                <a:solidFill>
                  <a:srgbClr val="323232"/>
                </a:solidFill>
                <a:latin typeface="Segoe UI"/>
              </a:rPr>
              <a:t>Standards &amp; safety, architecture governance, business value, RAI</a:t>
            </a:r>
          </a:p>
        </p:txBody>
      </p:sp>
      <p:sp>
        <p:nvSpPr>
          <p:cNvPr id="13" name="Rounded Rectangle 12" descr="Daily / Ad Hoc"/>
          <p:cNvSpPr/>
          <p:nvPr/>
        </p:nvSpPr>
        <p:spPr>
          <a:xfrm>
            <a:off x="548640" y="5394960"/>
            <a:ext cx="2011680" cy="960120"/>
          </a:xfrm>
          <a:prstGeom prst="round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800" b="1">
                <a:solidFill>
                  <a:srgbClr val="FFFFFF"/>
                </a:solidFill>
                <a:latin typeface="Segoe UI"/>
              </a:rPr>
              <a:t>Daily / Ad Hoc</a:t>
            </a:r>
          </a:p>
        </p:txBody>
      </p:sp>
      <p:sp>
        <p:nvSpPr>
          <p:cNvPr id="14" name="Rounded Rectangle 13" descr="Citizen Devs + IT + AI Community"/>
          <p:cNvSpPr/>
          <p:nvPr/>
        </p:nvSpPr>
        <p:spPr>
          <a:xfrm>
            <a:off x="2651760" y="5394960"/>
            <a:ext cx="3108960" cy="96012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400" b="1">
                <a:solidFill>
                  <a:srgbClr val="107C10"/>
                </a:solidFill>
                <a:latin typeface="Segoe UI"/>
              </a:rPr>
              <a:t>Citizen Devs + IT + AI Community</a:t>
            </a:r>
          </a:p>
        </p:txBody>
      </p:sp>
      <p:sp>
        <p:nvSpPr>
          <p:cNvPr id="15" name="Rounded Rectangle 14" descr="Design and build AI, reusable assets, diffusion, skill development"/>
          <p:cNvSpPr/>
          <p:nvPr/>
        </p:nvSpPr>
        <p:spPr>
          <a:xfrm>
            <a:off x="5852160" y="5394960"/>
            <a:ext cx="5806440" cy="960120"/>
          </a:xfrm>
          <a:prstGeom prst="roundRect">
            <a:avLst/>
          </a:prstGeom>
          <a:solidFill>
            <a:srgbClr val="FFFFFF"/>
          </a:solidFill>
          <a:ln w="9525">
            <a:solidFill>
              <a:srgbClr val="107C10"/>
            </a:solid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200" b="0">
                <a:solidFill>
                  <a:srgbClr val="323232"/>
                </a:solidFill>
                <a:latin typeface="Segoe UI"/>
              </a:rPr>
              <a:t>Design and build AI, reusable assets, diffusion, skill development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AI use-case intake, triage and prioritization</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411480"/>
          </a:xfrm>
          <a:prstGeom prst="rect">
            <a:avLst/>
          </a:prstGeom>
          <a:noFill/>
        </p:spPr>
        <p:txBody>
          <a:bodyPr wrap="square" lIns="0" tIns="0" rIns="0" bIns="0" anchor="t">
            <a:spAutoFit/>
          </a:bodyPr>
          <a:lstStyle/>
          <a:p>
            <a:pPr algn="l"/>
            <a:r>
              <a:rPr sz="1400" b="0">
                <a:solidFill>
                  <a:srgbClr val="606060"/>
                </a:solidFill>
                <a:latin typeface="Segoe UI"/>
              </a:rPr>
              <a:t>A centralized intake process turns ad-hoc requests into a governed, ROI-ranked backlog</a:t>
            </a:r>
          </a:p>
        </p:txBody>
      </p:sp>
      <p:sp>
        <p:nvSpPr>
          <p:cNvPr id="4" name="Rounded Rectangle 3" descr="1. Idea identified"/>
          <p:cNvSpPr/>
          <p:nvPr/>
        </p:nvSpPr>
        <p:spPr>
          <a:xfrm>
            <a:off x="548640" y="2240280"/>
            <a:ext cx="2148840" cy="1188720"/>
          </a:xfrm>
          <a:prstGeom prst="roundRect">
            <a:avLst/>
          </a:prstGeom>
          <a:solidFill>
            <a:srgbClr val="00326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400" b="1">
                <a:solidFill>
                  <a:srgbClr val="FFFFFF"/>
                </a:solidFill>
                <a:latin typeface="Segoe UI"/>
              </a:rPr>
              <a:t>1. Idea identified</a:t>
            </a:r>
          </a:p>
        </p:txBody>
      </p:sp>
      <p:sp>
        <p:nvSpPr>
          <p:cNvPr id="5" name="Rounded Rectangle 4" descr="Capture as-is, to-be, owner and business area"/>
          <p:cNvSpPr/>
          <p:nvPr/>
        </p:nvSpPr>
        <p:spPr>
          <a:xfrm>
            <a:off x="548640" y="3520440"/>
            <a:ext cx="2148840" cy="182880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200" b="0">
                <a:solidFill>
                  <a:srgbClr val="323232"/>
                </a:solidFill>
                <a:latin typeface="Segoe UI"/>
              </a:rPr>
              <a:t>Capture as-is, to-be, owner and business area</a:t>
            </a:r>
          </a:p>
        </p:txBody>
      </p:sp>
      <p:sp>
        <p:nvSpPr>
          <p:cNvPr id="6" name="Rounded Rectangle 5" descr="2. ROI translation"/>
          <p:cNvSpPr/>
          <p:nvPr/>
        </p:nvSpPr>
        <p:spPr>
          <a:xfrm>
            <a:off x="2788920" y="2240280"/>
            <a:ext cx="2148840" cy="1188720"/>
          </a:xfrm>
          <a:prstGeom prst="roundRect">
            <a:avLst/>
          </a:prstGeom>
          <a:solidFill>
            <a:srgbClr val="00326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400" b="1">
                <a:solidFill>
                  <a:srgbClr val="FFFFFF"/>
                </a:solidFill>
                <a:latin typeface="Segoe UI"/>
              </a:rPr>
              <a:t>2. ROI translation</a:t>
            </a:r>
          </a:p>
        </p:txBody>
      </p:sp>
      <p:sp>
        <p:nvSpPr>
          <p:cNvPr id="7" name="Rounded Rectangle 6" descr="Translate idea into value drivers, costs and benefits"/>
          <p:cNvSpPr/>
          <p:nvPr/>
        </p:nvSpPr>
        <p:spPr>
          <a:xfrm>
            <a:off x="2788920" y="3520440"/>
            <a:ext cx="2148840" cy="182880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200" b="0">
                <a:solidFill>
                  <a:srgbClr val="323232"/>
                </a:solidFill>
                <a:latin typeface="Segoe UI"/>
              </a:rPr>
              <a:t>Translate idea into value drivers, costs and benefits</a:t>
            </a:r>
          </a:p>
        </p:txBody>
      </p:sp>
      <p:sp>
        <p:nvSpPr>
          <p:cNvPr id="8" name="Rounded Rectangle 7" descr="3. Already exists?"/>
          <p:cNvSpPr/>
          <p:nvPr/>
        </p:nvSpPr>
        <p:spPr>
          <a:xfrm>
            <a:off x="5029200" y="2240280"/>
            <a:ext cx="2148840" cy="1188720"/>
          </a:xfrm>
          <a:prstGeom prst="roundRect">
            <a:avLst/>
          </a:prstGeom>
          <a:solidFill>
            <a:srgbClr val="00326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400" b="1">
                <a:solidFill>
                  <a:srgbClr val="FFFFFF"/>
                </a:solidFill>
                <a:latin typeface="Segoe UI"/>
              </a:rPr>
              <a:t>3. Already exists?</a:t>
            </a:r>
          </a:p>
        </p:txBody>
      </p:sp>
      <p:sp>
        <p:nvSpPr>
          <p:cNvPr id="9" name="Rounded Rectangle 8" descr="Check catalog/templates to avoid duplication"/>
          <p:cNvSpPr/>
          <p:nvPr/>
        </p:nvSpPr>
        <p:spPr>
          <a:xfrm>
            <a:off x="5029200" y="3520440"/>
            <a:ext cx="2148840" cy="182880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200" b="0">
                <a:solidFill>
                  <a:srgbClr val="323232"/>
                </a:solidFill>
                <a:latin typeface="Segoe UI"/>
              </a:rPr>
              <a:t>Check catalog/templates to avoid duplication</a:t>
            </a:r>
          </a:p>
        </p:txBody>
      </p:sp>
      <p:sp>
        <p:nvSpPr>
          <p:cNvPr id="10" name="Rounded Rectangle 9" descr="4. Suggest accelerators"/>
          <p:cNvSpPr/>
          <p:nvPr/>
        </p:nvSpPr>
        <p:spPr>
          <a:xfrm>
            <a:off x="7269480" y="2240280"/>
            <a:ext cx="2148840" cy="1188720"/>
          </a:xfrm>
          <a:prstGeom prst="roundRect">
            <a:avLst/>
          </a:prstGeom>
          <a:solidFill>
            <a:srgbClr val="00326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400" b="1">
                <a:solidFill>
                  <a:srgbClr val="FFFFFF"/>
                </a:solidFill>
                <a:latin typeface="Segoe UI"/>
              </a:rPr>
              <a:t>4. Suggest accelerators</a:t>
            </a:r>
          </a:p>
        </p:txBody>
      </p:sp>
      <p:sp>
        <p:nvSpPr>
          <p:cNvPr id="11" name="Rounded Rectangle 10" descr="Recommend templates, patterns and starting points"/>
          <p:cNvSpPr/>
          <p:nvPr/>
        </p:nvSpPr>
        <p:spPr>
          <a:xfrm>
            <a:off x="7269480" y="3520440"/>
            <a:ext cx="2148840" cy="182880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200" b="0">
                <a:solidFill>
                  <a:srgbClr val="323232"/>
                </a:solidFill>
                <a:latin typeface="Segoe UI"/>
              </a:rPr>
              <a:t>Recommend templates, patterns and starting points</a:t>
            </a:r>
          </a:p>
        </p:txBody>
      </p:sp>
      <p:sp>
        <p:nvSpPr>
          <p:cNvPr id="12" name="Rounded Rectangle 11" descr="5. Tool guidance"/>
          <p:cNvSpPr/>
          <p:nvPr/>
        </p:nvSpPr>
        <p:spPr>
          <a:xfrm>
            <a:off x="9509760" y="2240280"/>
            <a:ext cx="2148840" cy="1188720"/>
          </a:xfrm>
          <a:prstGeom prst="roundRect">
            <a:avLst/>
          </a:prstGeom>
          <a:solidFill>
            <a:srgbClr val="00326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400" b="1">
                <a:solidFill>
                  <a:srgbClr val="FFFFFF"/>
                </a:solidFill>
                <a:latin typeface="Segoe UI"/>
              </a:rPr>
              <a:t>5. Tool guidance</a:t>
            </a:r>
          </a:p>
        </p:txBody>
      </p:sp>
      <p:sp>
        <p:nvSpPr>
          <p:cNvPr id="13" name="Rounded Rectangle 12" descr="Buy / Extend / Build — pick the right Microsoft tool"/>
          <p:cNvSpPr/>
          <p:nvPr/>
        </p:nvSpPr>
        <p:spPr>
          <a:xfrm>
            <a:off x="9509760" y="3520440"/>
            <a:ext cx="2148840" cy="182880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200" b="0">
                <a:solidFill>
                  <a:srgbClr val="323232"/>
                </a:solidFill>
                <a:latin typeface="Segoe UI"/>
              </a:rPr>
              <a:t>Buy / Extend / Build — pick the right Microsoft tool</a:t>
            </a:r>
          </a:p>
        </p:txBody>
      </p:sp>
      <p:sp>
        <p:nvSpPr>
          <p:cNvPr id="14" name="Rounded Rectangle 13" descr="Score every use case against the BXT framework  Business viability  •  Experience desirability  •  Technology feasibility — backed by criticality, urgency and complexity ratings."/>
          <p:cNvSpPr/>
          <p:nvPr/>
        </p:nvSpPr>
        <p:spPr>
          <a:xfrm>
            <a:off x="548640" y="4754880"/>
            <a:ext cx="11109960" cy="1280160"/>
          </a:xfrm>
          <a:prstGeom prst="roundRect">
            <a:avLst/>
          </a:prstGeom>
          <a:solidFill>
            <a:srgbClr val="DEECF9"/>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003266"/>
                </a:solidFill>
                <a:latin typeface="Segoe UI"/>
              </a:rPr>
              <a:t>Score every use case against the BXT framework</a:t>
            </a:r>
          </a:p>
          <a:p>
            <a:pPr algn="ctr"/>
            <a:r>
              <a:rPr sz="1300" b="0">
                <a:solidFill>
                  <a:srgbClr val="323232"/>
                </a:solidFill>
                <a:latin typeface="Segoe UI"/>
              </a:rPr>
              <a:t>Business viability  •  Experience desirability  •  Technology feasibility — backed by criticality, urgency and complexity ratings.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Business Strategy — labs &amp; resources</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274320"/>
          </a:xfrm>
          <a:prstGeom prst="rect">
            <a:avLst/>
          </a:prstGeom>
          <a:noFill/>
        </p:spPr>
        <p:txBody>
          <a:bodyPr wrap="square" lIns="0" tIns="0" rIns="0" bIns="0" anchor="t">
            <a:spAutoFit/>
          </a:bodyPr>
          <a:lstStyle/>
          <a:p>
            <a:pPr algn="l"/>
            <a:r>
              <a:rPr sz="1200" b="0">
                <a:solidFill>
                  <a:srgbClr val="606060"/>
                </a:solidFill>
                <a:latin typeface="Segoe UI"/>
              </a:rPr>
              <a:t>Click any item to open the resource  •  All links are clickable</a:t>
            </a:r>
          </a:p>
        </p:txBody>
      </p:sp>
      <p:sp>
        <p:nvSpPr>
          <p:cNvPr id="4" name="Rounded Rectangle 3">
            <a:extLst>
              <a:ext uri="{C183D7F6-B498-43B3-948B-1728B52AA6E4}">
                <adec:decorative xmlns:adec="http://schemas.microsoft.com/office/drawing/2017/decorative" val="1"/>
              </a:ext>
            </a:extLst>
          </p:cNvPr>
          <p:cNvSpPr/>
          <p:nvPr/>
        </p:nvSpPr>
        <p:spPr>
          <a:xfrm>
            <a:off x="548640" y="2011680"/>
            <a:ext cx="5486400" cy="4297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C183D7F6-B498-43B3-948B-1728B52AA6E4}">
                <adec:decorative xmlns:adec="http://schemas.microsoft.com/office/drawing/2017/decorative" val="1"/>
              </a:ext>
            </a:extLst>
          </p:cNvPr>
          <p:cNvSpPr txBox="1"/>
          <p:nvPr/>
        </p:nvSpPr>
        <p:spPr>
          <a:xfrm>
            <a:off x="731520" y="2148840"/>
            <a:ext cx="5120640" cy="365760"/>
          </a:xfrm>
          <a:prstGeom prst="rect">
            <a:avLst/>
          </a:prstGeom>
          <a:noFill/>
        </p:spPr>
        <p:txBody>
          <a:bodyPr wrap="square" lIns="0" tIns="0" rIns="0" bIns="0" anchor="t">
            <a:spAutoFit/>
          </a:bodyPr>
          <a:lstStyle/>
          <a:p>
            <a:pPr algn="l"/>
            <a:r>
              <a:rPr sz="1600" b="1">
                <a:solidFill>
                  <a:srgbClr val="003266"/>
                </a:solidFill>
                <a:latin typeface="Segoe UI"/>
              </a:rPr>
              <a:t>Labs / Learning Modules</a:t>
            </a:r>
          </a:p>
        </p:txBody>
      </p:sp>
      <p:sp>
        <p:nvSpPr>
          <p:cNvPr id="6" name="TextBox 5">
            <a:extLst>
              <a:ext uri="{C183D7F6-B498-43B3-948B-1728B52AA6E4}">
                <adec:decorative xmlns:adec="http://schemas.microsoft.com/office/drawing/2017/decorative" val="1"/>
              </a:ext>
            </a:extLst>
          </p:cNvPr>
          <p:cNvSpPr txBox="1"/>
          <p:nvPr/>
        </p:nvSpPr>
        <p:spPr>
          <a:xfrm>
            <a:off x="731520" y="2578608"/>
            <a:ext cx="5120640" cy="274320"/>
          </a:xfrm>
          <a:prstGeom prst="rect">
            <a:avLst/>
          </a:prstGeom>
          <a:noFill/>
        </p:spPr>
        <p:txBody>
          <a:bodyPr wrap="square" lIns="0" tIns="0" rIns="0" bIns="0" anchor="t">
            <a:spAutoFit/>
          </a:bodyPr>
          <a:lstStyle/>
          <a:p>
            <a:pPr algn="l"/>
            <a:r>
              <a:rPr sz="1000" b="1">
                <a:solidFill>
                  <a:srgbClr val="107C10"/>
                </a:solidFill>
                <a:latin typeface="Segoe UI"/>
              </a:rPr>
              <a:t>REQUIRED</a:t>
            </a:r>
          </a:p>
        </p:txBody>
      </p:sp>
      <p:sp>
        <p:nvSpPr>
          <p:cNvPr id="7" name="TextBox 6">
            <a:extLst>
              <a:ext uri="{C183D7F6-B498-43B3-948B-1728B52AA6E4}">
                <adec:decorative xmlns:adec="http://schemas.microsoft.com/office/drawing/2017/decorative" val="1"/>
              </a:ext>
            </a:extLst>
          </p:cNvPr>
          <p:cNvSpPr txBox="1"/>
          <p:nvPr/>
        </p:nvSpPr>
        <p:spPr>
          <a:xfrm>
            <a:off x="731520" y="2834640"/>
            <a:ext cx="5120640" cy="640080"/>
          </a:xfrm>
          <a:prstGeom prst="rect">
            <a:avLst/>
          </a:prstGeom>
          <a:noFill/>
        </p:spPr>
        <p:txBody>
          <a:bodyPr wrap="square" lIns="0" tIns="0" rIns="0" bIns="0">
            <a:spAutoFit/>
          </a:bodyPr>
          <a:lstStyle/>
          <a:p>
            <a:pPr>
              <a:spcAft>
                <a:spcPts val="400"/>
              </a:spcAft>
            </a:pPr>
            <a:r>
              <a:rPr sz="1200" b="1">
                <a:solidFill>
                  <a:srgbClr val="0078D4"/>
                </a:solidFill>
                <a:latin typeface="Segoe UI"/>
              </a:rPr>
              <a:t>•  </a:t>
            </a:r>
            <a:r>
              <a:rPr sz="1200" u="sng">
                <a:solidFill>
                  <a:srgbClr val="0078D4"/>
                </a:solidFill>
                <a:latin typeface="Segoe UI"/>
                <a:hlinkClick r:id="rId3"/>
              </a:rPr>
              <a:t>Transform your business with AI (Microsoft Learn path)</a:t>
            </a:r>
          </a:p>
        </p:txBody>
      </p:sp>
      <p:sp>
        <p:nvSpPr>
          <p:cNvPr id="8" name="TextBox 7">
            <a:extLst>
              <a:ext uri="{C183D7F6-B498-43B3-948B-1728B52AA6E4}">
                <adec:decorative xmlns:adec="http://schemas.microsoft.com/office/drawing/2017/decorative" val="1"/>
              </a:ext>
            </a:extLst>
          </p:cNvPr>
          <p:cNvSpPr txBox="1"/>
          <p:nvPr/>
        </p:nvSpPr>
        <p:spPr>
          <a:xfrm>
            <a:off x="731520" y="3520440"/>
            <a:ext cx="5120640" cy="274320"/>
          </a:xfrm>
          <a:prstGeom prst="rect">
            <a:avLst/>
          </a:prstGeom>
          <a:noFill/>
        </p:spPr>
        <p:txBody>
          <a:bodyPr wrap="square" lIns="0" tIns="0" rIns="0" bIns="0" anchor="t">
            <a:spAutoFit/>
          </a:bodyPr>
          <a:lstStyle/>
          <a:p>
            <a:pPr algn="l"/>
            <a:r>
              <a:rPr sz="1000" b="1">
                <a:solidFill>
                  <a:srgbClr val="606060"/>
                </a:solidFill>
                <a:latin typeface="Segoe UI"/>
              </a:rPr>
              <a:t>OPTIONAL — go deeper</a:t>
            </a:r>
          </a:p>
        </p:txBody>
      </p:sp>
      <p:sp>
        <p:nvSpPr>
          <p:cNvPr id="9" name="TextBox 8">
            <a:extLst>
              <a:ext uri="{C183D7F6-B498-43B3-948B-1728B52AA6E4}">
                <adec:decorative xmlns:adec="http://schemas.microsoft.com/office/drawing/2017/decorative" val="1"/>
              </a:ext>
            </a:extLst>
          </p:cNvPr>
          <p:cNvSpPr txBox="1"/>
          <p:nvPr/>
        </p:nvSpPr>
        <p:spPr>
          <a:xfrm>
            <a:off x="731520" y="3794760"/>
            <a:ext cx="5120640" cy="2423160"/>
          </a:xfrm>
          <a:prstGeom prst="rect">
            <a:avLst/>
          </a:prstGeom>
          <a:noFill/>
        </p:spPr>
        <p:txBody>
          <a:bodyPr wrap="square" lIns="0" tIns="0" rIns="0" bIns="0">
            <a:spAutoFit/>
          </a:bodyPr>
          <a:lstStyle/>
          <a:p>
            <a:pPr>
              <a:spcAft>
                <a:spcPts val="400"/>
              </a:spcAft>
            </a:pPr>
            <a:r>
              <a:rPr sz="1100" b="1">
                <a:solidFill>
                  <a:srgbClr val="0078D4"/>
                </a:solidFill>
                <a:latin typeface="Segoe UI"/>
              </a:rPr>
              <a:t>•  </a:t>
            </a:r>
            <a:r>
              <a:rPr sz="1100" u="sng">
                <a:solidFill>
                  <a:srgbClr val="0078D4"/>
                </a:solidFill>
                <a:latin typeface="Segoe UI"/>
                <a:hlinkClick r:id="rId4"/>
              </a:rPr>
              <a:t>Build a cross-functional team (Cloud Adoption Framework)</a:t>
            </a:r>
          </a:p>
          <a:p>
            <a:pPr>
              <a:spcAft>
                <a:spcPts val="400"/>
              </a:spcAft>
            </a:pPr>
            <a:r>
              <a:rPr sz="1100" b="1">
                <a:solidFill>
                  <a:srgbClr val="0078D4"/>
                </a:solidFill>
                <a:latin typeface="Segoe UI"/>
              </a:rPr>
              <a:t>•  </a:t>
            </a:r>
            <a:r>
              <a:rPr sz="1100" u="sng">
                <a:solidFill>
                  <a:srgbClr val="0078D4"/>
                </a:solidFill>
                <a:latin typeface="Segoe UI"/>
                <a:hlinkClick r:id="rId5"/>
              </a:rPr>
              <a:t>Evaluate and Prioritize an AI Use Case (Business Envisioning)</a:t>
            </a:r>
          </a:p>
          <a:p>
            <a:pPr>
              <a:spcAft>
                <a:spcPts val="400"/>
              </a:spcAft>
            </a:pPr>
            <a:r>
              <a:rPr sz="1100" b="1">
                <a:solidFill>
                  <a:srgbClr val="0078D4"/>
                </a:solidFill>
                <a:latin typeface="Segoe UI"/>
              </a:rPr>
              <a:t>•  </a:t>
            </a:r>
            <a:r>
              <a:rPr sz="1100" u="sng">
                <a:solidFill>
                  <a:srgbClr val="0078D4"/>
                </a:solidFill>
                <a:latin typeface="Segoe UI"/>
                <a:hlinkClick r:id="rId6"/>
              </a:rPr>
              <a:t>AI Readiness Wizard (questionnaire)</a:t>
            </a:r>
          </a:p>
          <a:p>
            <a:pPr>
              <a:spcAft>
                <a:spcPts val="400"/>
              </a:spcAft>
            </a:pPr>
            <a:r>
              <a:rPr sz="1100" b="1">
                <a:solidFill>
                  <a:srgbClr val="0078D4"/>
                </a:solidFill>
                <a:latin typeface="Segoe UI"/>
              </a:rPr>
              <a:t>•  </a:t>
            </a:r>
            <a:r>
              <a:rPr sz="1100" u="sng">
                <a:solidFill>
                  <a:srgbClr val="0078D4"/>
                </a:solidFill>
                <a:latin typeface="Segoe UI"/>
                <a:hlinkClick r:id="rId7"/>
              </a:rPr>
              <a:t>Azure AI strategy — Cloud Adoption Framework</a:t>
            </a:r>
          </a:p>
        </p:txBody>
      </p:sp>
      <p:sp>
        <p:nvSpPr>
          <p:cNvPr id="10" name="Rounded Rectangle 9">
            <a:extLst>
              <a:ext uri="{C183D7F6-B498-43B3-948B-1728B52AA6E4}">
                <adec:decorative xmlns:adec="http://schemas.microsoft.com/office/drawing/2017/decorative" val="1"/>
              </a:ext>
            </a:extLst>
          </p:cNvPr>
          <p:cNvSpPr/>
          <p:nvPr/>
        </p:nvSpPr>
        <p:spPr>
          <a:xfrm>
            <a:off x="6172200" y="2011680"/>
            <a:ext cx="5486400" cy="4297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C183D7F6-B498-43B3-948B-1728B52AA6E4}">
                <adec:decorative xmlns:adec="http://schemas.microsoft.com/office/drawing/2017/decorative" val="1"/>
              </a:ext>
            </a:extLst>
          </p:cNvPr>
          <p:cNvSpPr txBox="1"/>
          <p:nvPr/>
        </p:nvSpPr>
        <p:spPr>
          <a:xfrm>
            <a:off x="6355080" y="2148840"/>
            <a:ext cx="5120640" cy="365760"/>
          </a:xfrm>
          <a:prstGeom prst="rect">
            <a:avLst/>
          </a:prstGeom>
          <a:noFill/>
        </p:spPr>
        <p:txBody>
          <a:bodyPr wrap="square" lIns="0" tIns="0" rIns="0" bIns="0" anchor="t">
            <a:spAutoFit/>
          </a:bodyPr>
          <a:lstStyle/>
          <a:p>
            <a:pPr algn="l"/>
            <a:r>
              <a:rPr sz="1600" b="1">
                <a:solidFill>
                  <a:srgbClr val="003266"/>
                </a:solidFill>
                <a:latin typeface="Segoe UI"/>
              </a:rPr>
              <a:t>Other Resources</a:t>
            </a:r>
          </a:p>
        </p:txBody>
      </p:sp>
      <p:sp>
        <p:nvSpPr>
          <p:cNvPr id="12" name="TextBox 11">
            <a:extLst>
              <a:ext uri="{C183D7F6-B498-43B3-948B-1728B52AA6E4}">
                <adec:decorative xmlns:adec="http://schemas.microsoft.com/office/drawing/2017/decorative" val="1"/>
              </a:ext>
            </a:extLst>
          </p:cNvPr>
          <p:cNvSpPr txBox="1"/>
          <p:nvPr/>
        </p:nvSpPr>
        <p:spPr>
          <a:xfrm>
            <a:off x="6355080" y="2578608"/>
            <a:ext cx="5120640" cy="274320"/>
          </a:xfrm>
          <a:prstGeom prst="rect">
            <a:avLst/>
          </a:prstGeom>
          <a:noFill/>
        </p:spPr>
        <p:txBody>
          <a:bodyPr wrap="square" lIns="0" tIns="0" rIns="0" bIns="0" anchor="t">
            <a:spAutoFit/>
          </a:bodyPr>
          <a:lstStyle/>
          <a:p>
            <a:pPr algn="l"/>
            <a:r>
              <a:rPr sz="1000" b="1">
                <a:solidFill>
                  <a:srgbClr val="606060"/>
                </a:solidFill>
                <a:latin typeface="Segoe UI"/>
              </a:rPr>
              <a:t>OPTIONAL — if you want to learn more</a:t>
            </a:r>
          </a:p>
        </p:txBody>
      </p:sp>
      <p:sp>
        <p:nvSpPr>
          <p:cNvPr id="13" name="TextBox 12">
            <a:extLst>
              <a:ext uri="{C183D7F6-B498-43B3-948B-1728B52AA6E4}">
                <adec:decorative xmlns:adec="http://schemas.microsoft.com/office/drawing/2017/decorative" val="1"/>
              </a:ext>
            </a:extLst>
          </p:cNvPr>
          <p:cNvSpPr txBox="1"/>
          <p:nvPr/>
        </p:nvSpPr>
        <p:spPr>
          <a:xfrm>
            <a:off x="6355080" y="2834640"/>
            <a:ext cx="5120640" cy="3429000"/>
          </a:xfrm>
          <a:prstGeom prst="rect">
            <a:avLst/>
          </a:prstGeom>
          <a:noFill/>
        </p:spPr>
        <p:txBody>
          <a:bodyPr wrap="square" lIns="0" tIns="0" rIns="0" bIns="0">
            <a:spAutoFit/>
          </a:bodyPr>
          <a:lstStyle/>
          <a:p>
            <a:pPr>
              <a:spcAft>
                <a:spcPts val="400"/>
              </a:spcAft>
            </a:pPr>
            <a:r>
              <a:rPr sz="1100" b="1">
                <a:solidFill>
                  <a:srgbClr val="0078D4"/>
                </a:solidFill>
                <a:latin typeface="Segoe UI"/>
              </a:rPr>
              <a:t>•  </a:t>
            </a:r>
            <a:r>
              <a:rPr sz="1100" u="sng">
                <a:solidFill>
                  <a:srgbClr val="0078D4"/>
                </a:solidFill>
                <a:latin typeface="Segoe UI"/>
                <a:hlinkClick r:id="rId8"/>
              </a:rPr>
              <a:t>The CIO's Generative AI Playbook (download)</a:t>
            </a:r>
          </a:p>
          <a:p>
            <a:pPr>
              <a:spcAft>
                <a:spcPts val="400"/>
              </a:spcAft>
            </a:pPr>
            <a:r>
              <a:rPr sz="1100" b="1">
                <a:solidFill>
                  <a:srgbClr val="0078D4"/>
                </a:solidFill>
                <a:latin typeface="Segoe UI"/>
              </a:rPr>
              <a:t>•  </a:t>
            </a:r>
            <a:r>
              <a:rPr sz="1100" u="sng">
                <a:solidFill>
                  <a:srgbClr val="0078D4"/>
                </a:solidFill>
                <a:latin typeface="Segoe UI"/>
                <a:hlinkClick r:id="rId9"/>
              </a:rPr>
              <a:t>The AI Strategy Roadmap: Navigating the stages of value creation</a:t>
            </a:r>
          </a:p>
          <a:p>
            <a:pPr>
              <a:spcAft>
                <a:spcPts val="400"/>
              </a:spcAft>
            </a:pPr>
            <a:r>
              <a:rPr sz="1100" b="1">
                <a:solidFill>
                  <a:srgbClr val="0078D4"/>
                </a:solidFill>
                <a:latin typeface="Segoe UI"/>
              </a:rPr>
              <a:t>•  </a:t>
            </a:r>
            <a:r>
              <a:rPr sz="1100" u="sng">
                <a:solidFill>
                  <a:srgbClr val="0078D4"/>
                </a:solidFill>
                <a:latin typeface="Segoe UI"/>
                <a:hlinkClick r:id="rId10"/>
              </a:rPr>
              <a:t>Building a foundation for AI success: AI strategy and experience</a:t>
            </a:r>
          </a:p>
          <a:p>
            <a:pPr>
              <a:spcAft>
                <a:spcPts val="400"/>
              </a:spcAft>
            </a:pPr>
            <a:r>
              <a:rPr sz="1100" b="1">
                <a:solidFill>
                  <a:srgbClr val="0078D4"/>
                </a:solidFill>
                <a:latin typeface="Segoe UI"/>
              </a:rPr>
              <a:t>•  </a:t>
            </a:r>
            <a:r>
              <a:rPr sz="1100" u="sng">
                <a:solidFill>
                  <a:srgbClr val="0078D4"/>
                </a:solidFill>
                <a:latin typeface="Segoe UI"/>
                <a:hlinkClick r:id="rId11"/>
              </a:rPr>
              <a:t>Creating an AI council (guide)</a:t>
            </a:r>
          </a:p>
          <a:p>
            <a:pPr>
              <a:spcAft>
                <a:spcPts val="400"/>
              </a:spcAft>
            </a:pPr>
            <a:r>
              <a:rPr sz="1100" b="1">
                <a:solidFill>
                  <a:srgbClr val="0078D4"/>
                </a:solidFill>
                <a:latin typeface="Segoe UI"/>
              </a:rPr>
              <a:t>•  </a:t>
            </a:r>
            <a:r>
              <a:rPr sz="1100" u="sng">
                <a:solidFill>
                  <a:srgbClr val="0078D4"/>
                </a:solidFill>
                <a:latin typeface="Segoe UI"/>
                <a:hlinkClick r:id="rId12"/>
              </a:rPr>
              <a:t>The AI Revolution: How Microsoft Digital is responding with an AI COE</a:t>
            </a:r>
          </a:p>
          <a:p>
            <a:pPr>
              <a:spcAft>
                <a:spcPts val="400"/>
              </a:spcAft>
            </a:pPr>
            <a:r>
              <a:rPr sz="1100" b="1">
                <a:solidFill>
                  <a:srgbClr val="0078D4"/>
                </a:solidFill>
                <a:latin typeface="Segoe UI"/>
              </a:rPr>
              <a:t>•  </a:t>
            </a:r>
            <a:r>
              <a:rPr sz="1100" u="sng">
                <a:solidFill>
                  <a:srgbClr val="0078D4"/>
                </a:solidFill>
                <a:latin typeface="Segoe UI"/>
                <a:hlinkClick r:id="rId13"/>
              </a:rPr>
              <a:t>31 agentic use case examples driving real ROI</a:t>
            </a:r>
          </a:p>
          <a:p>
            <a:pPr>
              <a:spcAft>
                <a:spcPts val="400"/>
              </a:spcAft>
            </a:pPr>
            <a:r>
              <a:rPr sz="1100" b="1">
                <a:solidFill>
                  <a:srgbClr val="0078D4"/>
                </a:solidFill>
                <a:latin typeface="Segoe UI"/>
              </a:rPr>
              <a:t>•  </a:t>
            </a:r>
            <a:r>
              <a:rPr sz="1100" u="sng">
                <a:solidFill>
                  <a:srgbClr val="0078D4"/>
                </a:solidFill>
                <a:latin typeface="Segoe UI"/>
                <a:hlinkClick r:id="rId14"/>
              </a:rPr>
              <a:t>1000+ customer success stories with Microsoft AI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2011680"/>
            <a:ext cx="11000000" cy="0"/>
          </a:xfrm>
        </p:spPr>
        <p:txBody>
          <a:bodyPr wrap="square">
            <a:noAutofit/>
          </a:bodyPr>
          <a:lstStyle/>
          <a:p>
            <a:pPr algn="l">
              <a:defRPr sz="3600">
                <a:latin typeface="Segoe UI"/>
              </a:defRPr>
            </a:pPr>
            <a:r>
              <a:rPr sz="3600">
                <a:latin typeface="Segoe UI"/>
              </a:rPr>
              <a:t>Technology Strategy</a:t>
            </a:r>
          </a:p>
        </p:txBody>
      </p:sp>
      <p:sp>
        <p:nvSpPr>
          <p:cNvPr id="3" name="Text Placeholder 2"/>
          <p:cNvSpPr>
            <a:spLocks noGrp="1"/>
          </p:cNvSpPr>
          <p:nvPr>
            <p:ph type="body" sz="quarter" idx="12"/>
          </p:nvPr>
        </p:nvSpPr>
        <p:spPr>
          <a:xfrm>
            <a:off x="731520" y="3200400"/>
            <a:ext cx="9000000" cy="0"/>
          </a:xfrm>
        </p:spPr>
        <p:txBody>
          <a:bodyPr/>
          <a:lstStyle/>
          <a:p>
            <a:r>
              <a:rPr sz="2000"/>
              <a:t>Foundation architecture, Buy/Extend/Build &amp; Responsible AI</a:t>
            </a:r>
          </a:p>
        </p:txBody>
      </p:sp>
      <p:sp>
        <p:nvSpPr>
          <p:cNvPr id="4" name="TextBox 3">
            <a:extLst>
              <a:ext uri="{C183D7F6-B498-43B3-948B-1728B52AA6E4}">
                <adec:decorative xmlns:adec="http://schemas.microsoft.com/office/drawing/2017/decorative" val="1"/>
              </a:ext>
            </a:extLst>
          </p:cNvPr>
          <p:cNvSpPr txBox="1"/>
          <p:nvPr/>
        </p:nvSpPr>
        <p:spPr>
          <a:xfrm>
            <a:off x="731520" y="457200"/>
            <a:ext cx="5486400" cy="411480"/>
          </a:xfrm>
          <a:prstGeom prst="rect">
            <a:avLst/>
          </a:prstGeom>
          <a:noFill/>
        </p:spPr>
        <p:txBody>
          <a:bodyPr wrap="square" lIns="0" tIns="0" rIns="0" bIns="0" anchor="t">
            <a:spAutoFit/>
          </a:bodyPr>
          <a:lstStyle/>
          <a:p>
            <a:pPr algn="l"/>
            <a:r>
              <a:rPr sz="1600" b="1">
                <a:solidFill>
                  <a:srgbClr val="FFFFFF"/>
                </a:solidFill>
                <a:latin typeface="Segoe UI"/>
              </a:rPr>
              <a:t>Learning Unit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Objectives — Technology Strategy</a:t>
            </a:r>
          </a:p>
        </p:txBody>
      </p:sp>
      <p:sp>
        <p:nvSpPr>
          <p:cNvPr id="3" name="Text Placeholder 2"/>
          <p:cNvSpPr>
            <a:spLocks noGrp="1"/>
          </p:cNvSpPr>
          <p:nvPr>
            <p:ph type="body" sz="quarter" idx="12"/>
          </p:nvPr>
        </p:nvSpPr>
        <p:spPr/>
        <p:txBody>
          <a:bodyPr/>
          <a:lstStyle/>
          <a:p>
            <a:r>
              <a:rPr sz="1600">
                <a:solidFill>
                  <a:srgbClr val="606060"/>
                </a:solidFill>
              </a:rPr>
              <a:t>What you will learn and decide in this learning unit</a:t>
            </a:r>
          </a:p>
        </p:txBody>
      </p:sp>
      <p:sp>
        <p:nvSpPr>
          <p:cNvPr id="4" name="Rectangle 3" descr="Focus"/>
          <p:cNvSpPr/>
          <p:nvPr/>
        </p:nvSpPr>
        <p:spPr>
          <a:xfrm>
            <a:off x="502920" y="2194560"/>
            <a:ext cx="3611880"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Focus</a:t>
            </a:r>
          </a:p>
        </p:txBody>
      </p:sp>
      <p:sp>
        <p:nvSpPr>
          <p:cNvPr id="5" name="Rounded Rectangle 4">
            <a:extLst>
              <a:ext uri="{C183D7F6-B498-43B3-948B-1728B52AA6E4}">
                <adec:decorative xmlns:adec="http://schemas.microsoft.com/office/drawing/2017/decorative" val="1"/>
              </a:ext>
            </a:extLst>
          </p:cNvPr>
          <p:cNvSpPr/>
          <p:nvPr/>
        </p:nvSpPr>
        <p:spPr>
          <a:xfrm>
            <a:off x="502920"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C183D7F6-B498-43B3-948B-1728B52AA6E4}">
                <adec:decorative xmlns:adec="http://schemas.microsoft.com/office/drawing/2017/decorative" val="1"/>
              </a:ext>
            </a:extLst>
          </p:cNvPr>
          <p:cNvSpPr txBox="1"/>
          <p:nvPr/>
        </p:nvSpPr>
        <p:spPr>
          <a:xfrm>
            <a:off x="685800"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Establish secure, scalable AI foundation (data, security, landing zones)</a:t>
            </a:r>
          </a:p>
          <a:p>
            <a:pPr>
              <a:spcAft>
                <a:spcPts val="600"/>
              </a:spcAft>
            </a:pPr>
            <a:r>
              <a:rPr sz="1200" b="1">
                <a:solidFill>
                  <a:srgbClr val="0078D4"/>
                </a:solidFill>
                <a:latin typeface="Segoe UI"/>
              </a:rPr>
              <a:t>•  </a:t>
            </a:r>
            <a:r>
              <a:rPr sz="1200">
                <a:solidFill>
                  <a:srgbClr val="323232"/>
                </a:solidFill>
                <a:latin typeface="Segoe UI"/>
              </a:rPr>
              <a:t>Set clear guidelines for Buy, Extend, and Build choices</a:t>
            </a:r>
          </a:p>
          <a:p>
            <a:pPr>
              <a:spcAft>
                <a:spcPts val="600"/>
              </a:spcAft>
            </a:pPr>
            <a:r>
              <a:rPr sz="1200" b="1">
                <a:solidFill>
                  <a:srgbClr val="0078D4"/>
                </a:solidFill>
                <a:latin typeface="Segoe UI"/>
              </a:rPr>
              <a:t>•  </a:t>
            </a:r>
            <a:r>
              <a:rPr sz="1200">
                <a:solidFill>
                  <a:srgbClr val="323232"/>
                </a:solidFill>
                <a:latin typeface="Segoe UI"/>
              </a:rPr>
              <a:t>Embed Responsible AI in every AI workload</a:t>
            </a:r>
          </a:p>
        </p:txBody>
      </p:sp>
      <p:sp>
        <p:nvSpPr>
          <p:cNvPr id="7" name="Rectangle 6" descr="Outcomes"/>
          <p:cNvSpPr/>
          <p:nvPr/>
        </p:nvSpPr>
        <p:spPr>
          <a:xfrm>
            <a:off x="4279392" y="2194560"/>
            <a:ext cx="3611880" cy="45720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Outcomes</a:t>
            </a:r>
          </a:p>
        </p:txBody>
      </p:sp>
      <p:sp>
        <p:nvSpPr>
          <p:cNvPr id="8" name="Rounded Rectangle 7">
            <a:extLst>
              <a:ext uri="{C183D7F6-B498-43B3-948B-1728B52AA6E4}">
                <adec:decorative xmlns:adec="http://schemas.microsoft.com/office/drawing/2017/decorative" val="1"/>
              </a:ext>
            </a:extLst>
          </p:cNvPr>
          <p:cNvSpPr/>
          <p:nvPr/>
        </p:nvSpPr>
        <p:spPr>
          <a:xfrm>
            <a:off x="4279392"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C183D7F6-B498-43B3-948B-1728B52AA6E4}">
                <adec:decorative xmlns:adec="http://schemas.microsoft.com/office/drawing/2017/decorative" val="1"/>
              </a:ext>
            </a:extLst>
          </p:cNvPr>
          <p:cNvSpPr txBox="1"/>
          <p:nvPr/>
        </p:nvSpPr>
        <p:spPr>
          <a:xfrm>
            <a:off x="4462272"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Consistent landing zones, governance &amp; security baselines</a:t>
            </a:r>
          </a:p>
          <a:p>
            <a:pPr>
              <a:spcAft>
                <a:spcPts val="600"/>
              </a:spcAft>
            </a:pPr>
            <a:r>
              <a:rPr sz="1200" b="1">
                <a:solidFill>
                  <a:srgbClr val="0078D4"/>
                </a:solidFill>
                <a:latin typeface="Segoe UI"/>
              </a:rPr>
              <a:t>•  </a:t>
            </a:r>
            <a:r>
              <a:rPr sz="1200">
                <a:solidFill>
                  <a:srgbClr val="323232"/>
                </a:solidFill>
                <a:latin typeface="Segoe UI"/>
              </a:rPr>
              <a:t>Decision framework for solution selection across MSFT stack</a:t>
            </a:r>
          </a:p>
          <a:p>
            <a:pPr>
              <a:spcAft>
                <a:spcPts val="600"/>
              </a:spcAft>
            </a:pPr>
            <a:r>
              <a:rPr sz="1200" b="1">
                <a:solidFill>
                  <a:srgbClr val="0078D4"/>
                </a:solidFill>
                <a:latin typeface="Segoe UI"/>
              </a:rPr>
              <a:t>•  </a:t>
            </a:r>
            <a:r>
              <a:rPr sz="1200">
                <a:solidFill>
                  <a:srgbClr val="323232"/>
                </a:solidFill>
                <a:latin typeface="Segoe UI"/>
              </a:rPr>
              <a:t>Enforceable RAI guidelines with regular evaluation</a:t>
            </a:r>
          </a:p>
        </p:txBody>
      </p:sp>
      <p:sp>
        <p:nvSpPr>
          <p:cNvPr id="10" name="Rectangle 9" descr="Audience"/>
          <p:cNvSpPr/>
          <p:nvPr/>
        </p:nvSpPr>
        <p:spPr>
          <a:xfrm>
            <a:off x="8055864" y="2194560"/>
            <a:ext cx="3611880" cy="4572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Audience</a:t>
            </a:r>
          </a:p>
        </p:txBody>
      </p:sp>
      <p:sp>
        <p:nvSpPr>
          <p:cNvPr id="11" name="Rounded Rectangle 10">
            <a:extLst>
              <a:ext uri="{C183D7F6-B498-43B3-948B-1728B52AA6E4}">
                <adec:decorative xmlns:adec="http://schemas.microsoft.com/office/drawing/2017/decorative" val="1"/>
              </a:ext>
            </a:extLst>
          </p:cNvPr>
          <p:cNvSpPr/>
          <p:nvPr/>
        </p:nvSpPr>
        <p:spPr>
          <a:xfrm>
            <a:off x="8055864"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C183D7F6-B498-43B3-948B-1728B52AA6E4}">
                <adec:decorative xmlns:adec="http://schemas.microsoft.com/office/drawing/2017/decorative" val="1"/>
              </a:ext>
            </a:extLst>
          </p:cNvPr>
          <p:cNvSpPr txBox="1"/>
          <p:nvPr/>
        </p:nvSpPr>
        <p:spPr>
          <a:xfrm>
            <a:off x="8238744"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Chief Data Officer (CDO)</a:t>
            </a:r>
          </a:p>
          <a:p>
            <a:pPr>
              <a:spcAft>
                <a:spcPts val="600"/>
              </a:spcAft>
            </a:pPr>
            <a:r>
              <a:rPr sz="1200" b="1">
                <a:solidFill>
                  <a:srgbClr val="0078D4"/>
                </a:solidFill>
                <a:latin typeface="Segoe UI"/>
              </a:rPr>
              <a:t>•  </a:t>
            </a:r>
            <a:r>
              <a:rPr sz="1200">
                <a:solidFill>
                  <a:srgbClr val="323232"/>
                </a:solidFill>
                <a:latin typeface="Segoe UI"/>
              </a:rPr>
              <a:t>Chief Information Security Officer (CISO)</a:t>
            </a:r>
          </a:p>
          <a:p>
            <a:pPr>
              <a:spcAft>
                <a:spcPts val="600"/>
              </a:spcAft>
            </a:pPr>
            <a:r>
              <a:rPr sz="1200" b="1">
                <a:solidFill>
                  <a:srgbClr val="0078D4"/>
                </a:solidFill>
                <a:latin typeface="Segoe UI"/>
              </a:rPr>
              <a:t>•  </a:t>
            </a:r>
            <a:r>
              <a:rPr sz="1200">
                <a:solidFill>
                  <a:srgbClr val="323232"/>
                </a:solidFill>
                <a:latin typeface="Segoe UI"/>
              </a:rPr>
              <a:t>Chief Technology Officer (CTO) / Architecture Board</a:t>
            </a:r>
          </a:p>
          <a:p>
            <a:pPr>
              <a:spcAft>
                <a:spcPts val="600"/>
              </a:spcAft>
            </a:pPr>
            <a:r>
              <a:rPr sz="1200" b="1">
                <a:solidFill>
                  <a:srgbClr val="0078D4"/>
                </a:solidFill>
                <a:latin typeface="Segoe UI"/>
              </a:rPr>
              <a:t>•  </a:t>
            </a:r>
            <a:r>
              <a:rPr sz="1200">
                <a:solidFill>
                  <a:srgbClr val="323232"/>
                </a:solidFill>
                <a:latin typeface="Segoe UI"/>
              </a:rPr>
              <a:t>Chief Compliance Officer (CCO)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Shared-responsibility model for AI workloads</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411480"/>
          </a:xfrm>
          <a:prstGeom prst="rect">
            <a:avLst/>
          </a:prstGeom>
          <a:noFill/>
        </p:spPr>
        <p:txBody>
          <a:bodyPr wrap="square" lIns="0" tIns="0" rIns="0" bIns="0" anchor="t">
            <a:spAutoFit/>
          </a:bodyPr>
          <a:lstStyle/>
          <a:p>
            <a:pPr algn="l"/>
            <a:r>
              <a:rPr sz="1400" b="0">
                <a:solidFill>
                  <a:srgbClr val="606060"/>
                </a:solidFill>
                <a:latin typeface="Segoe UI"/>
              </a:rPr>
              <a:t>Responsibility shifts as you move from BYO model → PaaS → SaaS</a:t>
            </a:r>
          </a:p>
        </p:txBody>
      </p:sp>
      <p:sp>
        <p:nvSpPr>
          <p:cNvPr id="4" name="Rectangle 3" descr="IaaS / BYO model"/>
          <p:cNvSpPr/>
          <p:nvPr/>
        </p:nvSpPr>
        <p:spPr>
          <a:xfrm>
            <a:off x="548640" y="2240280"/>
            <a:ext cx="3611880" cy="50292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IaaS / BYO model</a:t>
            </a:r>
          </a:p>
        </p:txBody>
      </p:sp>
      <p:sp>
        <p:nvSpPr>
          <p:cNvPr id="5" name="Rectangle 4" descr="You manage the model, platform and usage"/>
          <p:cNvSpPr/>
          <p:nvPr/>
        </p:nvSpPr>
        <p:spPr>
          <a:xfrm>
            <a:off x="548640" y="2743200"/>
            <a:ext cx="3611880" cy="41148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100" b="0">
                <a:solidFill>
                  <a:srgbClr val="323232"/>
                </a:solidFill>
                <a:latin typeface="Segoe UI"/>
              </a:rPr>
              <a:t>You manage the model, platform and usage</a:t>
            </a:r>
          </a:p>
        </p:txBody>
      </p:sp>
      <p:sp>
        <p:nvSpPr>
          <p:cNvPr id="6" name="Rectangle 5" descr="AI usage  Customer"/>
          <p:cNvSpPr/>
          <p:nvPr/>
        </p:nvSpPr>
        <p:spPr>
          <a:xfrm>
            <a:off x="548640" y="3200400"/>
            <a:ext cx="3611880" cy="640080"/>
          </a:xfrm>
          <a:prstGeom prst="rect">
            <a:avLst/>
          </a:prstGeom>
          <a:solidFill>
            <a:srgbClr val="FFFFFF"/>
          </a:solidFill>
          <a:ln>
            <a:solidFill>
              <a:srgbClr val="003266"/>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323232"/>
                </a:solidFill>
                <a:latin typeface="Segoe UI"/>
              </a:rPr>
              <a:t>AI usage</a:t>
            </a:r>
          </a:p>
          <a:p>
            <a:pPr algn="ctr"/>
            <a:r>
              <a:rPr sz="1100" b="0">
                <a:solidFill>
                  <a:srgbClr val="323232"/>
                </a:solidFill>
                <a:latin typeface="Segoe UI"/>
              </a:rPr>
              <a:t>Customer</a:t>
            </a:r>
          </a:p>
        </p:txBody>
      </p:sp>
      <p:sp>
        <p:nvSpPr>
          <p:cNvPr id="7" name="Rectangle 6" descr="AI app dev  Customer"/>
          <p:cNvSpPr/>
          <p:nvPr/>
        </p:nvSpPr>
        <p:spPr>
          <a:xfrm>
            <a:off x="548640" y="3886200"/>
            <a:ext cx="3611880" cy="640080"/>
          </a:xfrm>
          <a:prstGeom prst="rect">
            <a:avLst/>
          </a:prstGeom>
          <a:solidFill>
            <a:srgbClr val="FFFFFF"/>
          </a:solidFill>
          <a:ln>
            <a:solidFill>
              <a:srgbClr val="003266"/>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323232"/>
                </a:solidFill>
                <a:latin typeface="Segoe UI"/>
              </a:rPr>
              <a:t>AI app dev</a:t>
            </a:r>
          </a:p>
          <a:p>
            <a:pPr algn="ctr"/>
            <a:r>
              <a:rPr sz="1100" b="0">
                <a:solidFill>
                  <a:srgbClr val="323232"/>
                </a:solidFill>
                <a:latin typeface="Segoe UI"/>
              </a:rPr>
              <a:t>Customer</a:t>
            </a:r>
          </a:p>
        </p:txBody>
      </p:sp>
      <p:sp>
        <p:nvSpPr>
          <p:cNvPr id="8" name="Rectangle 7" descr="AI platform  Customer"/>
          <p:cNvSpPr/>
          <p:nvPr/>
        </p:nvSpPr>
        <p:spPr>
          <a:xfrm>
            <a:off x="548640" y="4572000"/>
            <a:ext cx="3611880" cy="640080"/>
          </a:xfrm>
          <a:prstGeom prst="rect">
            <a:avLst/>
          </a:prstGeom>
          <a:solidFill>
            <a:srgbClr val="FFFFFF"/>
          </a:solidFill>
          <a:ln>
            <a:solidFill>
              <a:srgbClr val="003266"/>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323232"/>
                </a:solidFill>
                <a:latin typeface="Segoe UI"/>
              </a:rPr>
              <a:t>AI platform</a:t>
            </a:r>
          </a:p>
          <a:p>
            <a:pPr algn="ctr"/>
            <a:r>
              <a:rPr sz="1100" b="0">
                <a:solidFill>
                  <a:srgbClr val="323232"/>
                </a:solidFill>
                <a:latin typeface="Segoe UI"/>
              </a:rPr>
              <a:t>Customer</a:t>
            </a:r>
          </a:p>
        </p:txBody>
      </p:sp>
      <p:sp>
        <p:nvSpPr>
          <p:cNvPr id="9" name="Rectangle 8" descr="PaaS / Azure AI"/>
          <p:cNvSpPr/>
          <p:nvPr/>
        </p:nvSpPr>
        <p:spPr>
          <a:xfrm>
            <a:off x="4325112" y="2240280"/>
            <a:ext cx="361188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PaaS / Azure AI</a:t>
            </a:r>
          </a:p>
        </p:txBody>
      </p:sp>
      <p:sp>
        <p:nvSpPr>
          <p:cNvPr id="10" name="Rectangle 9" descr="Microsoft manages platform; you manage app &amp; usage"/>
          <p:cNvSpPr/>
          <p:nvPr/>
        </p:nvSpPr>
        <p:spPr>
          <a:xfrm>
            <a:off x="4325112" y="2743200"/>
            <a:ext cx="3611880" cy="41148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100" b="0">
                <a:solidFill>
                  <a:srgbClr val="323232"/>
                </a:solidFill>
                <a:latin typeface="Segoe UI"/>
              </a:rPr>
              <a:t>Microsoft manages platform; you manage app &amp; usage</a:t>
            </a:r>
          </a:p>
        </p:txBody>
      </p:sp>
      <p:sp>
        <p:nvSpPr>
          <p:cNvPr id="11" name="Rectangle 10" descr="AI usage  Customer"/>
          <p:cNvSpPr/>
          <p:nvPr/>
        </p:nvSpPr>
        <p:spPr>
          <a:xfrm>
            <a:off x="4325112" y="3200400"/>
            <a:ext cx="3611880" cy="640080"/>
          </a:xfrm>
          <a:prstGeom prst="rect">
            <a:avLst/>
          </a:prstGeom>
          <a:solidFill>
            <a:srgbClr val="FFFFFF"/>
          </a:solidFill>
          <a:ln>
            <a:solidFill>
              <a:srgbClr val="0078D4"/>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323232"/>
                </a:solidFill>
                <a:latin typeface="Segoe UI"/>
              </a:rPr>
              <a:t>AI usage</a:t>
            </a:r>
          </a:p>
          <a:p>
            <a:pPr algn="ctr"/>
            <a:r>
              <a:rPr sz="1100" b="0">
                <a:solidFill>
                  <a:srgbClr val="323232"/>
                </a:solidFill>
                <a:latin typeface="Segoe UI"/>
              </a:rPr>
              <a:t>Customer</a:t>
            </a:r>
          </a:p>
        </p:txBody>
      </p:sp>
      <p:sp>
        <p:nvSpPr>
          <p:cNvPr id="12" name="Rectangle 11" descr="AI app dev  Customer"/>
          <p:cNvSpPr/>
          <p:nvPr/>
        </p:nvSpPr>
        <p:spPr>
          <a:xfrm>
            <a:off x="4325112" y="3886200"/>
            <a:ext cx="3611880" cy="640080"/>
          </a:xfrm>
          <a:prstGeom prst="rect">
            <a:avLst/>
          </a:prstGeom>
          <a:solidFill>
            <a:srgbClr val="FFFFFF"/>
          </a:solidFill>
          <a:ln>
            <a:solidFill>
              <a:srgbClr val="0078D4"/>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323232"/>
                </a:solidFill>
                <a:latin typeface="Segoe UI"/>
              </a:rPr>
              <a:t>AI app dev</a:t>
            </a:r>
          </a:p>
          <a:p>
            <a:pPr algn="ctr"/>
            <a:r>
              <a:rPr sz="1100" b="0">
                <a:solidFill>
                  <a:srgbClr val="323232"/>
                </a:solidFill>
                <a:latin typeface="Segoe UI"/>
              </a:rPr>
              <a:t>Customer</a:t>
            </a:r>
          </a:p>
        </p:txBody>
      </p:sp>
      <p:sp>
        <p:nvSpPr>
          <p:cNvPr id="13" name="Rectangle 12" descr="AI platform  Microsoft"/>
          <p:cNvSpPr/>
          <p:nvPr/>
        </p:nvSpPr>
        <p:spPr>
          <a:xfrm>
            <a:off x="4325112" y="4572000"/>
            <a:ext cx="3611880" cy="640080"/>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FFFFFF"/>
                </a:solidFill>
                <a:latin typeface="Segoe UI"/>
              </a:rPr>
              <a:t>AI platform</a:t>
            </a:r>
          </a:p>
          <a:p>
            <a:pPr algn="ctr"/>
            <a:r>
              <a:rPr sz="1100" b="0">
                <a:solidFill>
                  <a:srgbClr val="FFFFFF"/>
                </a:solidFill>
                <a:latin typeface="Segoe UI"/>
              </a:rPr>
              <a:t>Microsoft</a:t>
            </a:r>
          </a:p>
        </p:txBody>
      </p:sp>
      <p:sp>
        <p:nvSpPr>
          <p:cNvPr id="14" name="Rectangle 13" descr="SaaS / Copilot"/>
          <p:cNvSpPr/>
          <p:nvPr/>
        </p:nvSpPr>
        <p:spPr>
          <a:xfrm>
            <a:off x="8101584" y="2240280"/>
            <a:ext cx="3611880" cy="5029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1C1C1C"/>
                </a:solidFill>
                <a:latin typeface="Segoe UI"/>
              </a:rPr>
              <a:t>SaaS / Copilot</a:t>
            </a:r>
          </a:p>
        </p:txBody>
      </p:sp>
      <p:sp>
        <p:nvSpPr>
          <p:cNvPr id="15" name="Rectangle 14" descr="Microsoft manages platform &amp; app; you manage usage"/>
          <p:cNvSpPr/>
          <p:nvPr/>
        </p:nvSpPr>
        <p:spPr>
          <a:xfrm>
            <a:off x="8101584" y="2743200"/>
            <a:ext cx="3611880" cy="41148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100" b="0">
                <a:solidFill>
                  <a:srgbClr val="323232"/>
                </a:solidFill>
                <a:latin typeface="Segoe UI"/>
              </a:rPr>
              <a:t>Microsoft manages platform &amp; app; you manage usage</a:t>
            </a:r>
          </a:p>
        </p:txBody>
      </p:sp>
      <p:sp>
        <p:nvSpPr>
          <p:cNvPr id="16" name="Rectangle 15" descr="AI usage  Customer"/>
          <p:cNvSpPr/>
          <p:nvPr/>
        </p:nvSpPr>
        <p:spPr>
          <a:xfrm>
            <a:off x="8101584" y="3200400"/>
            <a:ext cx="3611880" cy="640080"/>
          </a:xfrm>
          <a:prstGeom prst="rect">
            <a:avLst/>
          </a:prstGeom>
          <a:solidFill>
            <a:srgbClr val="FFFFFF"/>
          </a:solidFill>
          <a:ln>
            <a:solidFill>
              <a:srgbClr val="00B7C3"/>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323232"/>
                </a:solidFill>
                <a:latin typeface="Segoe UI"/>
              </a:rPr>
              <a:t>AI usage</a:t>
            </a:r>
          </a:p>
          <a:p>
            <a:pPr algn="ctr"/>
            <a:r>
              <a:rPr sz="1100" b="0">
                <a:solidFill>
                  <a:srgbClr val="323232"/>
                </a:solidFill>
                <a:latin typeface="Segoe UI"/>
              </a:rPr>
              <a:t>Customer</a:t>
            </a:r>
          </a:p>
        </p:txBody>
      </p:sp>
      <p:sp>
        <p:nvSpPr>
          <p:cNvPr id="17" name="Rectangle 16" descr="AI app dev  Microsoft"/>
          <p:cNvSpPr/>
          <p:nvPr/>
        </p:nvSpPr>
        <p:spPr>
          <a:xfrm>
            <a:off x="8101584" y="3886200"/>
            <a:ext cx="3611880" cy="640080"/>
          </a:xfrm>
          <a:prstGeom prst="rect">
            <a:avLst/>
          </a:prstGeom>
          <a:solidFill>
            <a:srgbClr val="00B7C3"/>
          </a:solidFill>
          <a:ln>
            <a:solidFill>
              <a:srgbClr val="00B7C3"/>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000000"/>
                </a:solidFill>
                <a:latin typeface="Segoe UI"/>
              </a:rPr>
              <a:t>AI app dev</a:t>
            </a:r>
          </a:p>
          <a:p>
            <a:pPr algn="ctr"/>
            <a:r>
              <a:rPr sz="1100" b="0">
                <a:solidFill>
                  <a:srgbClr val="000000"/>
                </a:solidFill>
                <a:latin typeface="Segoe UI"/>
              </a:rPr>
              <a:t>Microsoft</a:t>
            </a:r>
          </a:p>
        </p:txBody>
      </p:sp>
      <p:sp>
        <p:nvSpPr>
          <p:cNvPr id="18" name="Rectangle 17" descr="AI platform  Microsoft"/>
          <p:cNvSpPr/>
          <p:nvPr/>
        </p:nvSpPr>
        <p:spPr>
          <a:xfrm>
            <a:off x="8101584" y="4572000"/>
            <a:ext cx="3611880" cy="640080"/>
          </a:xfrm>
          <a:prstGeom prst="rect">
            <a:avLst/>
          </a:prstGeom>
          <a:solidFill>
            <a:srgbClr val="00B7C3"/>
          </a:solidFill>
          <a:ln>
            <a:solidFill>
              <a:srgbClr val="00B7C3"/>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000000"/>
                </a:solidFill>
                <a:latin typeface="Segoe UI"/>
              </a:rPr>
              <a:t>AI platform</a:t>
            </a:r>
          </a:p>
          <a:p>
            <a:pPr algn="ctr"/>
            <a:r>
              <a:rPr sz="1100" b="0">
                <a:solidFill>
                  <a:srgbClr val="000000"/>
                </a:solidFill>
                <a:latin typeface="Segoe UI"/>
              </a:rPr>
              <a:t>Microsoft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Enterprise-scale AI landing zone — design areas</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411480"/>
          </a:xfrm>
          <a:prstGeom prst="rect">
            <a:avLst/>
          </a:prstGeom>
          <a:noFill/>
        </p:spPr>
        <p:txBody>
          <a:bodyPr wrap="square" lIns="0" tIns="0" rIns="0" bIns="0" anchor="t">
            <a:spAutoFit/>
          </a:bodyPr>
          <a:lstStyle/>
          <a:p>
            <a:pPr algn="l"/>
            <a:r>
              <a:rPr sz="1400" b="0">
                <a:solidFill>
                  <a:srgbClr val="606060"/>
                </a:solidFill>
                <a:latin typeface="Segoe UI"/>
              </a:rPr>
              <a:t>Enables Azure AI for scale, security and governance — aka.ms/LZ</a:t>
            </a:r>
          </a:p>
        </p:txBody>
      </p:sp>
      <p:sp>
        <p:nvSpPr>
          <p:cNvPr id="4" name="Rounded Rectangle 3" descr="Identity"/>
          <p:cNvSpPr/>
          <p:nvPr/>
        </p:nvSpPr>
        <p:spPr>
          <a:xfrm>
            <a:off x="548640" y="2240280"/>
            <a:ext cx="3611880" cy="114300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Identity</a:t>
            </a:r>
          </a:p>
        </p:txBody>
      </p:sp>
      <p:sp>
        <p:nvSpPr>
          <p:cNvPr id="5" name="Rounded Rectangle 4" descr="Enterprise enrollment"/>
          <p:cNvSpPr/>
          <p:nvPr/>
        </p:nvSpPr>
        <p:spPr>
          <a:xfrm>
            <a:off x="4325112" y="2240280"/>
            <a:ext cx="3611880" cy="1143000"/>
          </a:xfrm>
          <a:prstGeom prst="roundRect">
            <a:avLst/>
          </a:prstGeom>
          <a:solidFill>
            <a:srgbClr val="00326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Enterprise enrollment</a:t>
            </a:r>
          </a:p>
        </p:txBody>
      </p:sp>
      <p:sp>
        <p:nvSpPr>
          <p:cNvPr id="6" name="Rounded Rectangle 5" descr="Resource organization"/>
          <p:cNvSpPr/>
          <p:nvPr/>
        </p:nvSpPr>
        <p:spPr>
          <a:xfrm>
            <a:off x="8101584" y="2240280"/>
            <a:ext cx="3611880" cy="114300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Resource organization</a:t>
            </a:r>
          </a:p>
        </p:txBody>
      </p:sp>
      <p:sp>
        <p:nvSpPr>
          <p:cNvPr id="7" name="Rounded Rectangle 6" descr="Network topology &amp; connectivity"/>
          <p:cNvSpPr/>
          <p:nvPr/>
        </p:nvSpPr>
        <p:spPr>
          <a:xfrm>
            <a:off x="548640" y="3547872"/>
            <a:ext cx="3611880" cy="1143000"/>
          </a:xfrm>
          <a:prstGeom prst="roundRect">
            <a:avLst/>
          </a:prstGeom>
          <a:solidFill>
            <a:srgbClr val="00326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Network topology &amp; connectivity</a:t>
            </a:r>
          </a:p>
        </p:txBody>
      </p:sp>
      <p:sp>
        <p:nvSpPr>
          <p:cNvPr id="8" name="Rounded Rectangle 7" descr="Business continuity &amp; DR"/>
          <p:cNvSpPr/>
          <p:nvPr/>
        </p:nvSpPr>
        <p:spPr>
          <a:xfrm>
            <a:off x="4325112" y="3547872"/>
            <a:ext cx="3611880" cy="114300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Business continuity &amp; DR</a:t>
            </a:r>
          </a:p>
        </p:txBody>
      </p:sp>
      <p:sp>
        <p:nvSpPr>
          <p:cNvPr id="9" name="Rounded Rectangle 8" descr="Operations baseline"/>
          <p:cNvSpPr/>
          <p:nvPr/>
        </p:nvSpPr>
        <p:spPr>
          <a:xfrm>
            <a:off x="8101584" y="3547872"/>
            <a:ext cx="3611880" cy="1143000"/>
          </a:xfrm>
          <a:prstGeom prst="roundRect">
            <a:avLst/>
          </a:prstGeom>
          <a:solidFill>
            <a:srgbClr val="00326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Operations baseline</a:t>
            </a:r>
          </a:p>
        </p:txBody>
      </p:sp>
      <p:sp>
        <p:nvSpPr>
          <p:cNvPr id="10" name="Rounded Rectangle 9" descr="Governance disciplines"/>
          <p:cNvSpPr/>
          <p:nvPr/>
        </p:nvSpPr>
        <p:spPr>
          <a:xfrm>
            <a:off x="548640" y="4855464"/>
            <a:ext cx="3611880" cy="114300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Governance disciplines</a:t>
            </a:r>
          </a:p>
        </p:txBody>
      </p:sp>
      <p:sp>
        <p:nvSpPr>
          <p:cNvPr id="11" name="Rounded Rectangle 10" descr="Deployment options"/>
          <p:cNvSpPr/>
          <p:nvPr/>
        </p:nvSpPr>
        <p:spPr>
          <a:xfrm>
            <a:off x="4325112" y="4855464"/>
            <a:ext cx="3611880" cy="1143000"/>
          </a:xfrm>
          <a:prstGeom prst="roundRect">
            <a:avLst/>
          </a:prstGeom>
          <a:solidFill>
            <a:srgbClr val="00326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Deployment options</a:t>
            </a:r>
          </a:p>
        </p:txBody>
      </p:sp>
      <p:sp>
        <p:nvSpPr>
          <p:cNvPr id="12" name="Rounded Rectangle 11" descr="AI app &amp; agent development"/>
          <p:cNvSpPr/>
          <p:nvPr/>
        </p:nvSpPr>
        <p:spPr>
          <a:xfrm>
            <a:off x="8101584" y="4855464"/>
            <a:ext cx="3611880" cy="114300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AI app &amp; agent development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Buy, Extend, Build — picking the right Microsoft AI tool</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411480"/>
          </a:xfrm>
          <a:prstGeom prst="rect">
            <a:avLst/>
          </a:prstGeom>
          <a:noFill/>
        </p:spPr>
        <p:txBody>
          <a:bodyPr wrap="square" lIns="0" tIns="0" rIns="0" bIns="0" anchor="t">
            <a:spAutoFit/>
          </a:bodyPr>
          <a:lstStyle/>
          <a:p>
            <a:pPr algn="l"/>
            <a:r>
              <a:rPr sz="1400" b="0">
                <a:solidFill>
                  <a:srgbClr val="606060"/>
                </a:solidFill>
                <a:latin typeface="Segoe UI"/>
              </a:rPr>
              <a:t>Use the right tool for the right use case — avoid the “hammer &amp; nail” trap</a:t>
            </a:r>
          </a:p>
        </p:txBody>
      </p:sp>
      <p:sp>
        <p:nvSpPr>
          <p:cNvPr id="4" name="Rectangle 3" descr="Microsoft 365 Copilot"/>
          <p:cNvSpPr/>
          <p:nvPr/>
        </p:nvSpPr>
        <p:spPr>
          <a:xfrm>
            <a:off x="502920" y="2240280"/>
            <a:ext cx="2697480" cy="54864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400" b="1">
                <a:solidFill>
                  <a:srgbClr val="FFFFFF"/>
                </a:solidFill>
                <a:latin typeface="Segoe UI"/>
              </a:rPr>
              <a:t>Microsoft 365 Copilot</a:t>
            </a:r>
          </a:p>
        </p:txBody>
      </p:sp>
      <p:sp>
        <p:nvSpPr>
          <p:cNvPr id="5" name="Rectangle 4" descr="ENHANCE"/>
          <p:cNvSpPr/>
          <p:nvPr/>
        </p:nvSpPr>
        <p:spPr>
          <a:xfrm>
            <a:off x="502920" y="2788920"/>
            <a:ext cx="2697480" cy="365760"/>
          </a:xfrm>
          <a:prstGeom prst="rect">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100" b="1">
                <a:solidFill>
                  <a:srgbClr val="003266"/>
                </a:solidFill>
                <a:latin typeface="Segoe UI"/>
              </a:rPr>
              <a:t>ENHANCE</a:t>
            </a:r>
          </a:p>
        </p:txBody>
      </p:sp>
      <p:sp>
        <p:nvSpPr>
          <p:cNvPr id="6" name="Rounded Rectangle 5">
            <a:extLst>
              <a:ext uri="{C183D7F6-B498-43B3-948B-1728B52AA6E4}">
                <adec:decorative xmlns:adec="http://schemas.microsoft.com/office/drawing/2017/decorative" val="1"/>
              </a:ext>
            </a:extLst>
          </p:cNvPr>
          <p:cNvSpPr/>
          <p:nvPr/>
        </p:nvSpPr>
        <p:spPr>
          <a:xfrm>
            <a:off x="502920" y="3200400"/>
            <a:ext cx="2697480" cy="28803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a:extLst>
              <a:ext uri="{C183D7F6-B498-43B3-948B-1728B52AA6E4}">
                <adec:decorative xmlns:adec="http://schemas.microsoft.com/office/drawing/2017/decorative" val="1"/>
              </a:ext>
            </a:extLst>
          </p:cNvPr>
          <p:cNvSpPr txBox="1"/>
          <p:nvPr/>
        </p:nvSpPr>
        <p:spPr>
          <a:xfrm>
            <a:off x="685800" y="3337560"/>
            <a:ext cx="2331720" cy="2651760"/>
          </a:xfrm>
          <a:prstGeom prst="rect">
            <a:avLst/>
          </a:prstGeom>
          <a:noFill/>
        </p:spPr>
        <p:txBody>
          <a:bodyPr wrap="square" lIns="0" tIns="0" rIns="0" bIns="0">
            <a:spAutoFit/>
          </a:bodyPr>
          <a:lstStyle/>
          <a:p>
            <a:pPr>
              <a:spcAft>
                <a:spcPts val="800"/>
              </a:spcAft>
            </a:pPr>
            <a:r>
              <a:rPr sz="1200" b="1">
                <a:solidFill>
                  <a:srgbClr val="0078D4"/>
                </a:solidFill>
                <a:latin typeface="Segoe UI"/>
              </a:rPr>
              <a:t>•  </a:t>
            </a:r>
            <a:r>
              <a:rPr sz="1200">
                <a:solidFill>
                  <a:srgbClr val="323232"/>
                </a:solidFill>
                <a:latin typeface="Segoe UI"/>
              </a:rPr>
              <a:t>Out-of-the-box AI on M365 data</a:t>
            </a:r>
          </a:p>
          <a:p>
            <a:pPr>
              <a:spcAft>
                <a:spcPts val="800"/>
              </a:spcAft>
            </a:pPr>
            <a:r>
              <a:rPr sz="1200" b="1">
                <a:solidFill>
                  <a:srgbClr val="0078D4"/>
                </a:solidFill>
                <a:latin typeface="Segoe UI"/>
              </a:rPr>
              <a:t>•  </a:t>
            </a:r>
            <a:r>
              <a:rPr sz="1200">
                <a:solidFill>
                  <a:srgbClr val="323232"/>
                </a:solidFill>
                <a:latin typeface="Segoe UI"/>
              </a:rPr>
              <a:t>Persona: Knowledge worker</a:t>
            </a:r>
          </a:p>
          <a:p>
            <a:pPr>
              <a:spcAft>
                <a:spcPts val="800"/>
              </a:spcAft>
            </a:pPr>
            <a:r>
              <a:rPr sz="1200" b="1">
                <a:solidFill>
                  <a:srgbClr val="0078D4"/>
                </a:solidFill>
                <a:latin typeface="Segoe UI"/>
              </a:rPr>
              <a:t>•  </a:t>
            </a:r>
            <a:r>
              <a:rPr sz="1200">
                <a:solidFill>
                  <a:srgbClr val="323232"/>
                </a:solidFill>
                <a:latin typeface="Segoe UI"/>
              </a:rPr>
              <a:t>Per-user license</a:t>
            </a:r>
          </a:p>
        </p:txBody>
      </p:sp>
      <p:sp>
        <p:nvSpPr>
          <p:cNvPr id="8" name="Rectangle 7" descr="Persona-based Copilots"/>
          <p:cNvSpPr/>
          <p:nvPr/>
        </p:nvSpPr>
        <p:spPr>
          <a:xfrm>
            <a:off x="3364992" y="2240280"/>
            <a:ext cx="2697480" cy="5486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400" b="1">
                <a:solidFill>
                  <a:srgbClr val="FFFFFF"/>
                </a:solidFill>
                <a:latin typeface="Segoe UI"/>
              </a:rPr>
              <a:t>Persona-based Copilots</a:t>
            </a:r>
          </a:p>
        </p:txBody>
      </p:sp>
      <p:sp>
        <p:nvSpPr>
          <p:cNvPr id="9" name="Rectangle 8" descr="ENHANCE"/>
          <p:cNvSpPr/>
          <p:nvPr/>
        </p:nvSpPr>
        <p:spPr>
          <a:xfrm>
            <a:off x="3364992" y="2788920"/>
            <a:ext cx="2697480" cy="365760"/>
          </a:xfrm>
          <a:prstGeom prst="rect">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100" b="1">
                <a:solidFill>
                  <a:srgbClr val="00459A"/>
                </a:solidFill>
                <a:latin typeface="Segoe UI"/>
              </a:rPr>
              <a:t>ENHANCE</a:t>
            </a:r>
          </a:p>
        </p:txBody>
      </p:sp>
      <p:sp>
        <p:nvSpPr>
          <p:cNvPr id="10" name="Rounded Rectangle 9">
            <a:extLst>
              <a:ext uri="{C183D7F6-B498-43B3-948B-1728B52AA6E4}">
                <adec:decorative xmlns:adec="http://schemas.microsoft.com/office/drawing/2017/decorative" val="1"/>
              </a:ext>
            </a:extLst>
          </p:cNvPr>
          <p:cNvSpPr/>
          <p:nvPr/>
        </p:nvSpPr>
        <p:spPr>
          <a:xfrm>
            <a:off x="3364992" y="3200400"/>
            <a:ext cx="2697480" cy="28803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C183D7F6-B498-43B3-948B-1728B52AA6E4}">
                <adec:decorative xmlns:adec="http://schemas.microsoft.com/office/drawing/2017/decorative" val="1"/>
              </a:ext>
            </a:extLst>
          </p:cNvPr>
          <p:cNvSpPr txBox="1"/>
          <p:nvPr/>
        </p:nvSpPr>
        <p:spPr>
          <a:xfrm>
            <a:off x="3547872" y="3337560"/>
            <a:ext cx="2331720" cy="2651760"/>
          </a:xfrm>
          <a:prstGeom prst="rect">
            <a:avLst/>
          </a:prstGeom>
          <a:noFill/>
        </p:spPr>
        <p:txBody>
          <a:bodyPr wrap="square" lIns="0" tIns="0" rIns="0" bIns="0">
            <a:spAutoFit/>
          </a:bodyPr>
          <a:lstStyle/>
          <a:p>
            <a:pPr>
              <a:spcAft>
                <a:spcPts val="800"/>
              </a:spcAft>
            </a:pPr>
            <a:r>
              <a:rPr sz="1200" b="1">
                <a:solidFill>
                  <a:srgbClr val="0078D4"/>
                </a:solidFill>
                <a:latin typeface="Segoe UI"/>
              </a:rPr>
              <a:t>•  </a:t>
            </a:r>
            <a:r>
              <a:rPr sz="1200">
                <a:solidFill>
                  <a:srgbClr val="323232"/>
                </a:solidFill>
                <a:latin typeface="Segoe UI"/>
              </a:rPr>
              <a:t>D365 Copilot for Sales / Service / Finance</a:t>
            </a:r>
          </a:p>
          <a:p>
            <a:pPr>
              <a:spcAft>
                <a:spcPts val="800"/>
              </a:spcAft>
            </a:pPr>
            <a:r>
              <a:rPr sz="1200" b="1">
                <a:solidFill>
                  <a:srgbClr val="0078D4"/>
                </a:solidFill>
                <a:latin typeface="Segoe UI"/>
              </a:rPr>
              <a:t>•  </a:t>
            </a:r>
            <a:r>
              <a:rPr sz="1200">
                <a:solidFill>
                  <a:srgbClr val="323232"/>
                </a:solidFill>
                <a:latin typeface="Segoe UI"/>
              </a:rPr>
              <a:t>Persona: Line-of-Business owner</a:t>
            </a:r>
          </a:p>
          <a:p>
            <a:pPr>
              <a:spcAft>
                <a:spcPts val="800"/>
              </a:spcAft>
            </a:pPr>
            <a:r>
              <a:rPr sz="1200" b="1">
                <a:solidFill>
                  <a:srgbClr val="0078D4"/>
                </a:solidFill>
                <a:latin typeface="Segoe UI"/>
              </a:rPr>
              <a:t>•  </a:t>
            </a:r>
            <a:r>
              <a:rPr sz="1200">
                <a:solidFill>
                  <a:srgbClr val="323232"/>
                </a:solidFill>
                <a:latin typeface="Segoe UI"/>
              </a:rPr>
              <a:t>Per-user license</a:t>
            </a:r>
          </a:p>
        </p:txBody>
      </p:sp>
      <p:sp>
        <p:nvSpPr>
          <p:cNvPr id="12" name="Rectangle 11" descr="Copilot Studio"/>
          <p:cNvSpPr/>
          <p:nvPr/>
        </p:nvSpPr>
        <p:spPr>
          <a:xfrm>
            <a:off x="6227064" y="2240280"/>
            <a:ext cx="2697480" cy="54864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400" b="1">
                <a:solidFill>
                  <a:srgbClr val="1C1C1C"/>
                </a:solidFill>
                <a:latin typeface="Segoe UI"/>
              </a:rPr>
              <a:t>Copilot Studio</a:t>
            </a:r>
          </a:p>
        </p:txBody>
      </p:sp>
      <p:sp>
        <p:nvSpPr>
          <p:cNvPr id="13" name="Rectangle 12" descr="EXTEND / INTEGRATE"/>
          <p:cNvSpPr/>
          <p:nvPr/>
        </p:nvSpPr>
        <p:spPr>
          <a:xfrm>
            <a:off x="6227064" y="2788920"/>
            <a:ext cx="2697480" cy="365760"/>
          </a:xfrm>
          <a:prstGeom prst="rect">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100" b="1">
                <a:solidFill>
                  <a:srgbClr val="004C58"/>
                </a:solidFill>
                <a:latin typeface="Segoe UI"/>
              </a:rPr>
              <a:t>EXTEND / INTEGRATE</a:t>
            </a:r>
          </a:p>
        </p:txBody>
      </p:sp>
      <p:sp>
        <p:nvSpPr>
          <p:cNvPr id="14" name="Rounded Rectangle 13">
            <a:extLst>
              <a:ext uri="{C183D7F6-B498-43B3-948B-1728B52AA6E4}">
                <adec:decorative xmlns:adec="http://schemas.microsoft.com/office/drawing/2017/decorative" val="1"/>
              </a:ext>
            </a:extLst>
          </p:cNvPr>
          <p:cNvSpPr/>
          <p:nvPr/>
        </p:nvSpPr>
        <p:spPr>
          <a:xfrm>
            <a:off x="6227064" y="3200400"/>
            <a:ext cx="2697480" cy="28803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a:extLst>
              <a:ext uri="{C183D7F6-B498-43B3-948B-1728B52AA6E4}">
                <adec:decorative xmlns:adec="http://schemas.microsoft.com/office/drawing/2017/decorative" val="1"/>
              </a:ext>
            </a:extLst>
          </p:cNvPr>
          <p:cNvSpPr txBox="1"/>
          <p:nvPr/>
        </p:nvSpPr>
        <p:spPr>
          <a:xfrm>
            <a:off x="6409944" y="3337560"/>
            <a:ext cx="2331720" cy="2651760"/>
          </a:xfrm>
          <a:prstGeom prst="rect">
            <a:avLst/>
          </a:prstGeom>
          <a:noFill/>
        </p:spPr>
        <p:txBody>
          <a:bodyPr wrap="square" lIns="0" tIns="0" rIns="0" bIns="0">
            <a:spAutoFit/>
          </a:bodyPr>
          <a:lstStyle/>
          <a:p>
            <a:pPr>
              <a:spcAft>
                <a:spcPts val="800"/>
              </a:spcAft>
            </a:pPr>
            <a:r>
              <a:rPr sz="1200" b="1">
                <a:solidFill>
                  <a:srgbClr val="0078D4"/>
                </a:solidFill>
                <a:latin typeface="Segoe UI"/>
              </a:rPr>
              <a:t>•  </a:t>
            </a:r>
            <a:r>
              <a:rPr sz="1200">
                <a:solidFill>
                  <a:srgbClr val="323232"/>
                </a:solidFill>
                <a:latin typeface="Segoe UI"/>
              </a:rPr>
              <a:t>Customize agents in natural language</a:t>
            </a:r>
          </a:p>
          <a:p>
            <a:pPr>
              <a:spcAft>
                <a:spcPts val="800"/>
              </a:spcAft>
            </a:pPr>
            <a:r>
              <a:rPr sz="1200" b="1">
                <a:solidFill>
                  <a:srgbClr val="0078D4"/>
                </a:solidFill>
                <a:latin typeface="Segoe UI"/>
              </a:rPr>
              <a:t>•  </a:t>
            </a:r>
            <a:r>
              <a:rPr sz="1200">
                <a:solidFill>
                  <a:srgbClr val="323232"/>
                </a:solidFill>
                <a:latin typeface="Segoe UI"/>
              </a:rPr>
              <a:t>Persona: Power user / maker</a:t>
            </a:r>
          </a:p>
          <a:p>
            <a:pPr>
              <a:spcAft>
                <a:spcPts val="800"/>
              </a:spcAft>
            </a:pPr>
            <a:r>
              <a:rPr sz="1200" b="1">
                <a:solidFill>
                  <a:srgbClr val="0078D4"/>
                </a:solidFill>
                <a:latin typeface="Segoe UI"/>
              </a:rPr>
              <a:t>•  </a:t>
            </a:r>
            <a:r>
              <a:rPr sz="1200">
                <a:solidFill>
                  <a:srgbClr val="323232"/>
                </a:solidFill>
                <a:latin typeface="Segoe UI"/>
              </a:rPr>
              <a:t>PAYG or capacity packs</a:t>
            </a:r>
          </a:p>
        </p:txBody>
      </p:sp>
      <p:sp>
        <p:nvSpPr>
          <p:cNvPr id="16" name="Rectangle 15" descr="Azure AI Foundry"/>
          <p:cNvSpPr/>
          <p:nvPr/>
        </p:nvSpPr>
        <p:spPr>
          <a:xfrm>
            <a:off x="9089136" y="2240280"/>
            <a:ext cx="2697480" cy="548640"/>
          </a:xfrm>
          <a:prstGeom prst="rect">
            <a:avLst/>
          </a:prstGeom>
          <a:solidFill>
            <a:srgbClr val="68217A"/>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400" b="1">
                <a:solidFill>
                  <a:srgbClr val="FFFFFF"/>
                </a:solidFill>
                <a:latin typeface="Segoe UI"/>
              </a:rPr>
              <a:t>Azure AI Foundry</a:t>
            </a:r>
          </a:p>
        </p:txBody>
      </p:sp>
      <p:sp>
        <p:nvSpPr>
          <p:cNvPr id="17" name="Rectangle 16" descr="BUILD"/>
          <p:cNvSpPr/>
          <p:nvPr/>
        </p:nvSpPr>
        <p:spPr>
          <a:xfrm>
            <a:off x="9089136" y="2788920"/>
            <a:ext cx="2697480" cy="365760"/>
          </a:xfrm>
          <a:prstGeom prst="rect">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100" b="1">
                <a:solidFill>
                  <a:srgbClr val="68217A"/>
                </a:solidFill>
                <a:latin typeface="Segoe UI"/>
              </a:rPr>
              <a:t>BUILD</a:t>
            </a:r>
          </a:p>
        </p:txBody>
      </p:sp>
      <p:sp>
        <p:nvSpPr>
          <p:cNvPr id="18" name="Rounded Rectangle 17">
            <a:extLst>
              <a:ext uri="{C183D7F6-B498-43B3-948B-1728B52AA6E4}">
                <adec:decorative xmlns:adec="http://schemas.microsoft.com/office/drawing/2017/decorative" val="1"/>
              </a:ext>
            </a:extLst>
          </p:cNvPr>
          <p:cNvSpPr/>
          <p:nvPr/>
        </p:nvSpPr>
        <p:spPr>
          <a:xfrm>
            <a:off x="9089136" y="3200400"/>
            <a:ext cx="2697480" cy="28803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C183D7F6-B498-43B3-948B-1728B52AA6E4}">
                <adec:decorative xmlns:adec="http://schemas.microsoft.com/office/drawing/2017/decorative" val="1"/>
              </a:ext>
            </a:extLst>
          </p:cNvPr>
          <p:cNvSpPr txBox="1"/>
          <p:nvPr/>
        </p:nvSpPr>
        <p:spPr>
          <a:xfrm>
            <a:off x="9272016" y="3337560"/>
            <a:ext cx="2331720" cy="2651760"/>
          </a:xfrm>
          <a:prstGeom prst="rect">
            <a:avLst/>
          </a:prstGeom>
          <a:noFill/>
        </p:spPr>
        <p:txBody>
          <a:bodyPr wrap="square" lIns="0" tIns="0" rIns="0" bIns="0">
            <a:spAutoFit/>
          </a:bodyPr>
          <a:lstStyle/>
          <a:p>
            <a:pPr>
              <a:spcAft>
                <a:spcPts val="800"/>
              </a:spcAft>
            </a:pPr>
            <a:r>
              <a:rPr sz="1200" b="1">
                <a:solidFill>
                  <a:srgbClr val="0078D4"/>
                </a:solidFill>
                <a:latin typeface="Segoe UI"/>
              </a:rPr>
              <a:t>•  </a:t>
            </a:r>
            <a:r>
              <a:rPr sz="1200">
                <a:solidFill>
                  <a:srgbClr val="323232"/>
                </a:solidFill>
                <a:latin typeface="Segoe UI"/>
              </a:rPr>
              <a:t>Full control, choice of 3000+ models</a:t>
            </a:r>
          </a:p>
          <a:p>
            <a:pPr>
              <a:spcAft>
                <a:spcPts val="800"/>
              </a:spcAft>
            </a:pPr>
            <a:r>
              <a:rPr sz="1200" b="1">
                <a:solidFill>
                  <a:srgbClr val="0078D4"/>
                </a:solidFill>
                <a:latin typeface="Segoe UI"/>
              </a:rPr>
              <a:t>•  </a:t>
            </a:r>
            <a:r>
              <a:rPr sz="1200">
                <a:solidFill>
                  <a:srgbClr val="323232"/>
                </a:solidFill>
                <a:latin typeface="Segoe UI"/>
              </a:rPr>
              <a:t>Persona: Developer / data scientist</a:t>
            </a:r>
          </a:p>
          <a:p>
            <a:pPr>
              <a:spcAft>
                <a:spcPts val="800"/>
              </a:spcAft>
            </a:pPr>
            <a:r>
              <a:rPr sz="1200" b="1">
                <a:solidFill>
                  <a:srgbClr val="0078D4"/>
                </a:solidFill>
                <a:latin typeface="Segoe UI"/>
              </a:rPr>
              <a:t>•  </a:t>
            </a:r>
            <a:r>
              <a:rPr sz="1200">
                <a:solidFill>
                  <a:srgbClr val="323232"/>
                </a:solidFill>
                <a:latin typeface="Segoe UI"/>
              </a:rPr>
              <a:t>Azure services meters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The anatomy of Responsible AI</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411480"/>
          </a:xfrm>
          <a:prstGeom prst="rect">
            <a:avLst/>
          </a:prstGeom>
          <a:noFill/>
        </p:spPr>
        <p:txBody>
          <a:bodyPr wrap="square" lIns="0" tIns="0" rIns="0" bIns="0" anchor="t">
            <a:spAutoFit/>
          </a:bodyPr>
          <a:lstStyle/>
          <a:p>
            <a:pPr algn="l"/>
            <a:r>
              <a:rPr sz="1400" b="0">
                <a:solidFill>
                  <a:srgbClr val="606060"/>
                </a:solidFill>
                <a:latin typeface="Segoe UI"/>
              </a:rPr>
              <a:t>From principles to practice — what to enforce in every AI workload</a:t>
            </a:r>
          </a:p>
        </p:txBody>
      </p:sp>
      <p:sp>
        <p:nvSpPr>
          <p:cNvPr id="4" name="Rectangle 3" descr="Principles"/>
          <p:cNvSpPr/>
          <p:nvPr/>
        </p:nvSpPr>
        <p:spPr>
          <a:xfrm>
            <a:off x="502920" y="2240280"/>
            <a:ext cx="2697480" cy="50292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Principles</a:t>
            </a:r>
          </a:p>
        </p:txBody>
      </p:sp>
      <p:sp>
        <p:nvSpPr>
          <p:cNvPr id="5" name="Rectangle 4" descr="Which enduring values guide our responsible AI work?"/>
          <p:cNvSpPr/>
          <p:nvPr/>
        </p:nvSpPr>
        <p:spPr>
          <a:xfrm>
            <a:off x="502920" y="2743200"/>
            <a:ext cx="2697480" cy="54864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100" b="0">
                <a:solidFill>
                  <a:srgbClr val="323232"/>
                </a:solidFill>
                <a:latin typeface="Segoe UI"/>
              </a:rPr>
              <a:t>Which enduring values guide our responsible AI work?</a:t>
            </a:r>
          </a:p>
        </p:txBody>
      </p:sp>
      <p:sp>
        <p:nvSpPr>
          <p:cNvPr id="6" name="Rounded Rectangle 5">
            <a:extLst>
              <a:ext uri="{C183D7F6-B498-43B3-948B-1728B52AA6E4}">
                <adec:decorative xmlns:adec="http://schemas.microsoft.com/office/drawing/2017/decorative" val="1"/>
              </a:ext>
            </a:extLst>
          </p:cNvPr>
          <p:cNvSpPr/>
          <p:nvPr/>
        </p:nvSpPr>
        <p:spPr>
          <a:xfrm>
            <a:off x="502920" y="3337560"/>
            <a:ext cx="2697480" cy="2834640"/>
          </a:xfrm>
          <a:prstGeom prst="roundRect">
            <a:avLst/>
          </a:prstGeom>
          <a:solidFill>
            <a:srgbClr val="FFFFFF"/>
          </a:solidFill>
          <a:ln w="9525">
            <a:solidFill>
              <a:srgbClr val="00326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a:extLst>
              <a:ext uri="{C183D7F6-B498-43B3-948B-1728B52AA6E4}">
                <adec:decorative xmlns:adec="http://schemas.microsoft.com/office/drawing/2017/decorative" val="1"/>
              </a:ext>
            </a:extLst>
          </p:cNvPr>
          <p:cNvSpPr txBox="1"/>
          <p:nvPr/>
        </p:nvSpPr>
        <p:spPr>
          <a:xfrm>
            <a:off x="685800" y="3474720"/>
            <a:ext cx="2331720" cy="2651760"/>
          </a:xfrm>
          <a:prstGeom prst="rect">
            <a:avLst/>
          </a:prstGeom>
          <a:noFill/>
        </p:spPr>
        <p:txBody>
          <a:bodyPr wrap="square" lIns="0" tIns="0" rIns="0" bIns="0">
            <a:spAutoFit/>
          </a:bodyPr>
          <a:lstStyle/>
          <a:p>
            <a:pPr>
              <a:spcAft>
                <a:spcPts val="800"/>
              </a:spcAft>
            </a:pPr>
            <a:r>
              <a:rPr sz="1200" b="1">
                <a:solidFill>
                  <a:srgbClr val="0078D4"/>
                </a:solidFill>
                <a:latin typeface="Segoe UI"/>
              </a:rPr>
              <a:t>•  </a:t>
            </a:r>
            <a:r>
              <a:rPr sz="1200">
                <a:solidFill>
                  <a:srgbClr val="323232"/>
                </a:solidFill>
                <a:latin typeface="Segoe UI"/>
              </a:rPr>
              <a:t>Fairness</a:t>
            </a:r>
          </a:p>
          <a:p>
            <a:pPr>
              <a:spcAft>
                <a:spcPts val="800"/>
              </a:spcAft>
            </a:pPr>
            <a:r>
              <a:rPr sz="1200" b="1">
                <a:solidFill>
                  <a:srgbClr val="0078D4"/>
                </a:solidFill>
                <a:latin typeface="Segoe UI"/>
              </a:rPr>
              <a:t>•  </a:t>
            </a:r>
            <a:r>
              <a:rPr sz="1200">
                <a:solidFill>
                  <a:srgbClr val="323232"/>
                </a:solidFill>
                <a:latin typeface="Segoe UI"/>
              </a:rPr>
              <a:t>Reliability &amp; Safety</a:t>
            </a:r>
          </a:p>
          <a:p>
            <a:pPr>
              <a:spcAft>
                <a:spcPts val="800"/>
              </a:spcAft>
            </a:pPr>
            <a:r>
              <a:rPr sz="1200" b="1">
                <a:solidFill>
                  <a:srgbClr val="0078D4"/>
                </a:solidFill>
                <a:latin typeface="Segoe UI"/>
              </a:rPr>
              <a:t>•  </a:t>
            </a:r>
            <a:r>
              <a:rPr sz="1200">
                <a:solidFill>
                  <a:srgbClr val="323232"/>
                </a:solidFill>
                <a:latin typeface="Segoe UI"/>
              </a:rPr>
              <a:t>Privacy &amp; Security</a:t>
            </a:r>
          </a:p>
          <a:p>
            <a:pPr>
              <a:spcAft>
                <a:spcPts val="800"/>
              </a:spcAft>
            </a:pPr>
            <a:r>
              <a:rPr sz="1200" b="1">
                <a:solidFill>
                  <a:srgbClr val="0078D4"/>
                </a:solidFill>
                <a:latin typeface="Segoe UI"/>
              </a:rPr>
              <a:t>•  </a:t>
            </a:r>
            <a:r>
              <a:rPr sz="1200">
                <a:solidFill>
                  <a:srgbClr val="323232"/>
                </a:solidFill>
                <a:latin typeface="Segoe UI"/>
              </a:rPr>
              <a:t>Inclusiveness</a:t>
            </a:r>
          </a:p>
          <a:p>
            <a:pPr>
              <a:spcAft>
                <a:spcPts val="800"/>
              </a:spcAft>
            </a:pPr>
            <a:r>
              <a:rPr sz="1200" b="1">
                <a:solidFill>
                  <a:srgbClr val="0078D4"/>
                </a:solidFill>
                <a:latin typeface="Segoe UI"/>
              </a:rPr>
              <a:t>•  </a:t>
            </a:r>
            <a:r>
              <a:rPr sz="1200">
                <a:solidFill>
                  <a:srgbClr val="323232"/>
                </a:solidFill>
                <a:latin typeface="Segoe UI"/>
              </a:rPr>
              <a:t>Transparency</a:t>
            </a:r>
          </a:p>
          <a:p>
            <a:pPr>
              <a:spcAft>
                <a:spcPts val="800"/>
              </a:spcAft>
            </a:pPr>
            <a:r>
              <a:rPr sz="1200" b="1">
                <a:solidFill>
                  <a:srgbClr val="0078D4"/>
                </a:solidFill>
                <a:latin typeface="Segoe UI"/>
              </a:rPr>
              <a:t>•  </a:t>
            </a:r>
            <a:r>
              <a:rPr sz="1200">
                <a:solidFill>
                  <a:srgbClr val="323232"/>
                </a:solidFill>
                <a:latin typeface="Segoe UI"/>
              </a:rPr>
              <a:t>Accountability</a:t>
            </a:r>
          </a:p>
        </p:txBody>
      </p:sp>
      <p:sp>
        <p:nvSpPr>
          <p:cNvPr id="8" name="Rectangle 7" descr="Goals"/>
          <p:cNvSpPr/>
          <p:nvPr/>
        </p:nvSpPr>
        <p:spPr>
          <a:xfrm>
            <a:off x="3364992" y="2240280"/>
            <a:ext cx="269748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Goals</a:t>
            </a:r>
          </a:p>
        </p:txBody>
      </p:sp>
      <p:sp>
        <p:nvSpPr>
          <p:cNvPr id="9" name="Rectangle 8" descr="What outcomes must we secure?"/>
          <p:cNvSpPr/>
          <p:nvPr/>
        </p:nvSpPr>
        <p:spPr>
          <a:xfrm>
            <a:off x="3364992" y="2743200"/>
            <a:ext cx="2697480" cy="54864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100" b="0">
                <a:solidFill>
                  <a:srgbClr val="323232"/>
                </a:solidFill>
                <a:latin typeface="Segoe UI"/>
              </a:rPr>
              <a:t>What outcomes must we secure?</a:t>
            </a:r>
          </a:p>
        </p:txBody>
      </p:sp>
      <p:sp>
        <p:nvSpPr>
          <p:cNvPr id="10" name="Rounded Rectangle 9">
            <a:extLst>
              <a:ext uri="{C183D7F6-B498-43B3-948B-1728B52AA6E4}">
                <adec:decorative xmlns:adec="http://schemas.microsoft.com/office/drawing/2017/decorative" val="1"/>
              </a:ext>
            </a:extLst>
          </p:cNvPr>
          <p:cNvSpPr/>
          <p:nvPr/>
        </p:nvSpPr>
        <p:spPr>
          <a:xfrm>
            <a:off x="3364992" y="3337560"/>
            <a:ext cx="2697480" cy="2834640"/>
          </a:xfrm>
          <a:prstGeom prst="roundRect">
            <a:avLst/>
          </a:prstGeom>
          <a:solidFill>
            <a:srgbClr val="FFFFFF"/>
          </a:solidFill>
          <a:ln w="952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C183D7F6-B498-43B3-948B-1728B52AA6E4}">
                <adec:decorative xmlns:adec="http://schemas.microsoft.com/office/drawing/2017/decorative" val="1"/>
              </a:ext>
            </a:extLst>
          </p:cNvPr>
          <p:cNvSpPr txBox="1"/>
          <p:nvPr/>
        </p:nvSpPr>
        <p:spPr>
          <a:xfrm>
            <a:off x="3547872" y="3474720"/>
            <a:ext cx="2331720" cy="2651760"/>
          </a:xfrm>
          <a:prstGeom prst="rect">
            <a:avLst/>
          </a:prstGeom>
          <a:noFill/>
        </p:spPr>
        <p:txBody>
          <a:bodyPr wrap="square" lIns="0" tIns="0" rIns="0" bIns="0">
            <a:spAutoFit/>
          </a:bodyPr>
          <a:lstStyle/>
          <a:p>
            <a:pPr>
              <a:spcAft>
                <a:spcPts val="800"/>
              </a:spcAft>
            </a:pPr>
            <a:r>
              <a:rPr sz="1200" b="1">
                <a:solidFill>
                  <a:srgbClr val="0078D4"/>
                </a:solidFill>
                <a:latin typeface="Segoe UI"/>
              </a:rPr>
              <a:t>•  </a:t>
            </a:r>
            <a:r>
              <a:rPr sz="1200">
                <a:solidFill>
                  <a:srgbClr val="323232"/>
                </a:solidFill>
                <a:latin typeface="Segoe UI"/>
              </a:rPr>
              <a:t>Trust</a:t>
            </a:r>
          </a:p>
          <a:p>
            <a:pPr>
              <a:spcAft>
                <a:spcPts val="800"/>
              </a:spcAft>
            </a:pPr>
            <a:r>
              <a:rPr sz="1200" b="1">
                <a:solidFill>
                  <a:srgbClr val="0078D4"/>
                </a:solidFill>
                <a:latin typeface="Segoe UI"/>
              </a:rPr>
              <a:t>•  </a:t>
            </a:r>
            <a:r>
              <a:rPr sz="1200">
                <a:solidFill>
                  <a:srgbClr val="323232"/>
                </a:solidFill>
                <a:latin typeface="Segoe UI"/>
              </a:rPr>
              <a:t>Compliance</a:t>
            </a:r>
          </a:p>
          <a:p>
            <a:pPr>
              <a:spcAft>
                <a:spcPts val="800"/>
              </a:spcAft>
            </a:pPr>
            <a:r>
              <a:rPr sz="1200" b="1">
                <a:solidFill>
                  <a:srgbClr val="0078D4"/>
                </a:solidFill>
                <a:latin typeface="Segoe UI"/>
              </a:rPr>
              <a:t>•  </a:t>
            </a:r>
            <a:r>
              <a:rPr sz="1200">
                <a:solidFill>
                  <a:srgbClr val="323232"/>
                </a:solidFill>
                <a:latin typeface="Segoe UI"/>
              </a:rPr>
              <a:t>Equitable outcomes</a:t>
            </a:r>
          </a:p>
          <a:p>
            <a:pPr>
              <a:spcAft>
                <a:spcPts val="800"/>
              </a:spcAft>
            </a:pPr>
            <a:r>
              <a:rPr sz="1200" b="1">
                <a:solidFill>
                  <a:srgbClr val="0078D4"/>
                </a:solidFill>
                <a:latin typeface="Segoe UI"/>
              </a:rPr>
              <a:t>•  </a:t>
            </a:r>
            <a:r>
              <a:rPr sz="1200">
                <a:solidFill>
                  <a:srgbClr val="323232"/>
                </a:solidFill>
                <a:latin typeface="Segoe UI"/>
              </a:rPr>
              <a:t>Safe behavior at scale</a:t>
            </a:r>
          </a:p>
        </p:txBody>
      </p:sp>
      <p:sp>
        <p:nvSpPr>
          <p:cNvPr id="12" name="Rectangle 11" descr="Requirements"/>
          <p:cNvSpPr/>
          <p:nvPr/>
        </p:nvSpPr>
        <p:spPr>
          <a:xfrm>
            <a:off x="6227064" y="2240280"/>
            <a:ext cx="2697480" cy="5029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1C1C1C"/>
                </a:solidFill>
                <a:latin typeface="Segoe UI"/>
              </a:rPr>
              <a:t>Requirements</a:t>
            </a:r>
          </a:p>
        </p:txBody>
      </p:sp>
      <p:sp>
        <p:nvSpPr>
          <p:cNvPr id="13" name="Rectangle 12" descr="What steps secure the goals?"/>
          <p:cNvSpPr/>
          <p:nvPr/>
        </p:nvSpPr>
        <p:spPr>
          <a:xfrm>
            <a:off x="6227064" y="2743200"/>
            <a:ext cx="2697480" cy="54864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100" b="0">
                <a:solidFill>
                  <a:srgbClr val="323232"/>
                </a:solidFill>
                <a:latin typeface="Segoe UI"/>
              </a:rPr>
              <a:t>What steps secure the goals?</a:t>
            </a:r>
          </a:p>
        </p:txBody>
      </p:sp>
      <p:sp>
        <p:nvSpPr>
          <p:cNvPr id="14" name="Rounded Rectangle 13">
            <a:extLst>
              <a:ext uri="{C183D7F6-B498-43B3-948B-1728B52AA6E4}">
                <adec:decorative xmlns:adec="http://schemas.microsoft.com/office/drawing/2017/decorative" val="1"/>
              </a:ext>
            </a:extLst>
          </p:cNvPr>
          <p:cNvSpPr/>
          <p:nvPr/>
        </p:nvSpPr>
        <p:spPr>
          <a:xfrm>
            <a:off x="6227064" y="3337560"/>
            <a:ext cx="2697480" cy="2834640"/>
          </a:xfrm>
          <a:prstGeom prst="roundRect">
            <a:avLst/>
          </a:prstGeom>
          <a:solidFill>
            <a:srgbClr val="FFFFFF"/>
          </a:solidFill>
          <a:ln w="9525">
            <a:solidFill>
              <a:srgbClr val="00B7C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a:extLst>
              <a:ext uri="{C183D7F6-B498-43B3-948B-1728B52AA6E4}">
                <adec:decorative xmlns:adec="http://schemas.microsoft.com/office/drawing/2017/decorative" val="1"/>
              </a:ext>
            </a:extLst>
          </p:cNvPr>
          <p:cNvSpPr txBox="1"/>
          <p:nvPr/>
        </p:nvSpPr>
        <p:spPr>
          <a:xfrm>
            <a:off x="6409944" y="3474720"/>
            <a:ext cx="2331720" cy="2651760"/>
          </a:xfrm>
          <a:prstGeom prst="rect">
            <a:avLst/>
          </a:prstGeom>
          <a:noFill/>
        </p:spPr>
        <p:txBody>
          <a:bodyPr wrap="square" lIns="0" tIns="0" rIns="0" bIns="0">
            <a:spAutoFit/>
          </a:bodyPr>
          <a:lstStyle/>
          <a:p>
            <a:pPr>
              <a:spcAft>
                <a:spcPts val="800"/>
              </a:spcAft>
            </a:pPr>
            <a:r>
              <a:rPr sz="1200" b="1">
                <a:solidFill>
                  <a:srgbClr val="0078D4"/>
                </a:solidFill>
                <a:latin typeface="Segoe UI"/>
              </a:rPr>
              <a:t>•  </a:t>
            </a:r>
            <a:r>
              <a:rPr sz="1200">
                <a:solidFill>
                  <a:srgbClr val="323232"/>
                </a:solidFill>
                <a:latin typeface="Segoe UI"/>
              </a:rPr>
              <a:t>Impact assessments</a:t>
            </a:r>
          </a:p>
          <a:p>
            <a:pPr>
              <a:spcAft>
                <a:spcPts val="800"/>
              </a:spcAft>
            </a:pPr>
            <a:r>
              <a:rPr sz="1200" b="1">
                <a:solidFill>
                  <a:srgbClr val="0078D4"/>
                </a:solidFill>
                <a:latin typeface="Segoe UI"/>
              </a:rPr>
              <a:t>•  </a:t>
            </a:r>
            <a:r>
              <a:rPr sz="1200">
                <a:solidFill>
                  <a:srgbClr val="323232"/>
                </a:solidFill>
                <a:latin typeface="Segoe UI"/>
              </a:rPr>
              <a:t>Red-teaming</a:t>
            </a:r>
          </a:p>
          <a:p>
            <a:pPr>
              <a:spcAft>
                <a:spcPts val="800"/>
              </a:spcAft>
            </a:pPr>
            <a:r>
              <a:rPr sz="1200" b="1">
                <a:solidFill>
                  <a:srgbClr val="0078D4"/>
                </a:solidFill>
                <a:latin typeface="Segoe UI"/>
              </a:rPr>
              <a:t>•  </a:t>
            </a:r>
            <a:r>
              <a:rPr sz="1200">
                <a:solidFill>
                  <a:srgbClr val="323232"/>
                </a:solidFill>
                <a:latin typeface="Segoe UI"/>
              </a:rPr>
              <a:t>Content safety policies</a:t>
            </a:r>
          </a:p>
          <a:p>
            <a:pPr>
              <a:spcAft>
                <a:spcPts val="800"/>
              </a:spcAft>
            </a:pPr>
            <a:r>
              <a:rPr sz="1200" b="1">
                <a:solidFill>
                  <a:srgbClr val="0078D4"/>
                </a:solidFill>
                <a:latin typeface="Segoe UI"/>
              </a:rPr>
              <a:t>•  </a:t>
            </a:r>
            <a:r>
              <a:rPr sz="1200">
                <a:solidFill>
                  <a:srgbClr val="323232"/>
                </a:solidFill>
                <a:latin typeface="Segoe UI"/>
              </a:rPr>
              <a:t>Model &amp; data documentation</a:t>
            </a:r>
          </a:p>
        </p:txBody>
      </p:sp>
      <p:sp>
        <p:nvSpPr>
          <p:cNvPr id="16" name="Rectangle 15" descr="Tools &amp; Practices"/>
          <p:cNvSpPr/>
          <p:nvPr/>
        </p:nvSpPr>
        <p:spPr>
          <a:xfrm>
            <a:off x="9089136" y="2240280"/>
            <a:ext cx="2697480" cy="502920"/>
          </a:xfrm>
          <a:prstGeom prst="rect">
            <a:avLst/>
          </a:prstGeom>
          <a:solidFill>
            <a:srgbClr val="68217A"/>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Tools &amp; Practices</a:t>
            </a:r>
          </a:p>
        </p:txBody>
      </p:sp>
      <p:sp>
        <p:nvSpPr>
          <p:cNvPr id="17" name="Rectangle 16" descr="Which aids meet the requirements?"/>
          <p:cNvSpPr/>
          <p:nvPr/>
        </p:nvSpPr>
        <p:spPr>
          <a:xfrm>
            <a:off x="9089136" y="2743200"/>
            <a:ext cx="2697480" cy="54864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100" b="0">
                <a:solidFill>
                  <a:srgbClr val="323232"/>
                </a:solidFill>
                <a:latin typeface="Segoe UI"/>
              </a:rPr>
              <a:t>Which aids meet the requirements?</a:t>
            </a:r>
          </a:p>
        </p:txBody>
      </p:sp>
      <p:sp>
        <p:nvSpPr>
          <p:cNvPr id="18" name="Rounded Rectangle 17">
            <a:extLst>
              <a:ext uri="{C183D7F6-B498-43B3-948B-1728B52AA6E4}">
                <adec:decorative xmlns:adec="http://schemas.microsoft.com/office/drawing/2017/decorative" val="1"/>
              </a:ext>
            </a:extLst>
          </p:cNvPr>
          <p:cNvSpPr/>
          <p:nvPr/>
        </p:nvSpPr>
        <p:spPr>
          <a:xfrm>
            <a:off x="9089136" y="3337560"/>
            <a:ext cx="2697480" cy="2834640"/>
          </a:xfrm>
          <a:prstGeom prst="roundRect">
            <a:avLst/>
          </a:prstGeom>
          <a:solidFill>
            <a:srgbClr val="FFFFFF"/>
          </a:solidFill>
          <a:ln w="9525">
            <a:solidFill>
              <a:srgbClr val="68217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C183D7F6-B498-43B3-948B-1728B52AA6E4}">
                <adec:decorative xmlns:adec="http://schemas.microsoft.com/office/drawing/2017/decorative" val="1"/>
              </a:ext>
            </a:extLst>
          </p:cNvPr>
          <p:cNvSpPr txBox="1"/>
          <p:nvPr/>
        </p:nvSpPr>
        <p:spPr>
          <a:xfrm>
            <a:off x="9272016" y="3474720"/>
            <a:ext cx="2331720" cy="2651760"/>
          </a:xfrm>
          <a:prstGeom prst="rect">
            <a:avLst/>
          </a:prstGeom>
          <a:noFill/>
        </p:spPr>
        <p:txBody>
          <a:bodyPr wrap="square" lIns="0" tIns="0" rIns="0" bIns="0">
            <a:spAutoFit/>
          </a:bodyPr>
          <a:lstStyle/>
          <a:p>
            <a:pPr>
              <a:spcAft>
                <a:spcPts val="800"/>
              </a:spcAft>
            </a:pPr>
            <a:r>
              <a:rPr sz="1200" b="1">
                <a:solidFill>
                  <a:srgbClr val="0078D4"/>
                </a:solidFill>
                <a:latin typeface="Segoe UI"/>
              </a:rPr>
              <a:t>•  </a:t>
            </a:r>
            <a:r>
              <a:rPr sz="1200">
                <a:solidFill>
                  <a:srgbClr val="323232"/>
                </a:solidFill>
                <a:latin typeface="Segoe UI"/>
              </a:rPr>
              <a:t>Azure AI Content Safety</a:t>
            </a:r>
          </a:p>
          <a:p>
            <a:pPr>
              <a:spcAft>
                <a:spcPts val="800"/>
              </a:spcAft>
            </a:pPr>
            <a:r>
              <a:rPr sz="1200" b="1">
                <a:solidFill>
                  <a:srgbClr val="0078D4"/>
                </a:solidFill>
                <a:latin typeface="Segoe UI"/>
              </a:rPr>
              <a:t>•  </a:t>
            </a:r>
            <a:r>
              <a:rPr sz="1200">
                <a:solidFill>
                  <a:srgbClr val="323232"/>
                </a:solidFill>
                <a:latin typeface="Segoe UI"/>
              </a:rPr>
              <a:t>RAI scorecard</a:t>
            </a:r>
          </a:p>
          <a:p>
            <a:pPr>
              <a:spcAft>
                <a:spcPts val="800"/>
              </a:spcAft>
            </a:pPr>
            <a:r>
              <a:rPr sz="1200" b="1">
                <a:solidFill>
                  <a:srgbClr val="0078D4"/>
                </a:solidFill>
                <a:latin typeface="Segoe UI"/>
              </a:rPr>
              <a:t>•  </a:t>
            </a:r>
            <a:r>
              <a:rPr sz="1200">
                <a:solidFill>
                  <a:srgbClr val="323232"/>
                </a:solidFill>
                <a:latin typeface="Segoe UI"/>
              </a:rPr>
              <a:t>Prompt Flow evaluations</a:t>
            </a:r>
          </a:p>
          <a:p>
            <a:pPr>
              <a:spcAft>
                <a:spcPts val="800"/>
              </a:spcAft>
            </a:pPr>
            <a:r>
              <a:rPr sz="1200" b="1">
                <a:solidFill>
                  <a:srgbClr val="0078D4"/>
                </a:solidFill>
                <a:latin typeface="Segoe UI"/>
              </a:rPr>
              <a:t>•  </a:t>
            </a:r>
            <a:r>
              <a:rPr sz="1200">
                <a:solidFill>
                  <a:srgbClr val="323232"/>
                </a:solidFill>
                <a:latin typeface="Segoe UI"/>
              </a:rPr>
              <a:t>Fairness, error &amp; causal analysis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Technology Strategy — labs &amp; resources</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274320"/>
          </a:xfrm>
          <a:prstGeom prst="rect">
            <a:avLst/>
          </a:prstGeom>
          <a:noFill/>
        </p:spPr>
        <p:txBody>
          <a:bodyPr wrap="square" lIns="0" tIns="0" rIns="0" bIns="0" anchor="t">
            <a:spAutoFit/>
          </a:bodyPr>
          <a:lstStyle/>
          <a:p>
            <a:pPr algn="l"/>
            <a:r>
              <a:rPr sz="1200" b="0">
                <a:solidFill>
                  <a:srgbClr val="606060"/>
                </a:solidFill>
                <a:latin typeface="Segoe UI"/>
              </a:rPr>
              <a:t>Click any item to open the resource  •  All links are clickable</a:t>
            </a:r>
          </a:p>
        </p:txBody>
      </p:sp>
      <p:sp>
        <p:nvSpPr>
          <p:cNvPr id="4" name="Rounded Rectangle 3">
            <a:extLst>
              <a:ext uri="{C183D7F6-B498-43B3-948B-1728B52AA6E4}">
                <adec:decorative xmlns:adec="http://schemas.microsoft.com/office/drawing/2017/decorative" val="1"/>
              </a:ext>
            </a:extLst>
          </p:cNvPr>
          <p:cNvSpPr/>
          <p:nvPr/>
        </p:nvSpPr>
        <p:spPr>
          <a:xfrm>
            <a:off x="548640" y="2011680"/>
            <a:ext cx="5486400" cy="4297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C183D7F6-B498-43B3-948B-1728B52AA6E4}">
                <adec:decorative xmlns:adec="http://schemas.microsoft.com/office/drawing/2017/decorative" val="1"/>
              </a:ext>
            </a:extLst>
          </p:cNvPr>
          <p:cNvSpPr txBox="1"/>
          <p:nvPr/>
        </p:nvSpPr>
        <p:spPr>
          <a:xfrm>
            <a:off x="731520" y="2148840"/>
            <a:ext cx="5120640" cy="365760"/>
          </a:xfrm>
          <a:prstGeom prst="rect">
            <a:avLst/>
          </a:prstGeom>
          <a:noFill/>
        </p:spPr>
        <p:txBody>
          <a:bodyPr wrap="square" lIns="0" tIns="0" rIns="0" bIns="0" anchor="t">
            <a:spAutoFit/>
          </a:bodyPr>
          <a:lstStyle/>
          <a:p>
            <a:pPr algn="l"/>
            <a:r>
              <a:rPr sz="1600" b="1">
                <a:solidFill>
                  <a:srgbClr val="0078D4"/>
                </a:solidFill>
                <a:latin typeface="Segoe UI"/>
              </a:rPr>
              <a:t>Labs / Learning Modules</a:t>
            </a:r>
          </a:p>
        </p:txBody>
      </p:sp>
      <p:sp>
        <p:nvSpPr>
          <p:cNvPr id="6" name="TextBox 5">
            <a:extLst>
              <a:ext uri="{C183D7F6-B498-43B3-948B-1728B52AA6E4}">
                <adec:decorative xmlns:adec="http://schemas.microsoft.com/office/drawing/2017/decorative" val="1"/>
              </a:ext>
            </a:extLst>
          </p:cNvPr>
          <p:cNvSpPr txBox="1"/>
          <p:nvPr/>
        </p:nvSpPr>
        <p:spPr>
          <a:xfrm>
            <a:off x="731520" y="2578608"/>
            <a:ext cx="5120640" cy="274320"/>
          </a:xfrm>
          <a:prstGeom prst="rect">
            <a:avLst/>
          </a:prstGeom>
          <a:noFill/>
        </p:spPr>
        <p:txBody>
          <a:bodyPr wrap="square" lIns="0" tIns="0" rIns="0" bIns="0" anchor="t">
            <a:spAutoFit/>
          </a:bodyPr>
          <a:lstStyle/>
          <a:p>
            <a:pPr algn="l"/>
            <a:r>
              <a:rPr sz="1000" b="1">
                <a:solidFill>
                  <a:srgbClr val="107C10"/>
                </a:solidFill>
                <a:latin typeface="Segoe UI"/>
              </a:rPr>
              <a:t>REQUIRED</a:t>
            </a:r>
          </a:p>
        </p:txBody>
      </p:sp>
      <p:sp>
        <p:nvSpPr>
          <p:cNvPr id="7" name="TextBox 6">
            <a:extLst>
              <a:ext uri="{C183D7F6-B498-43B3-948B-1728B52AA6E4}">
                <adec:decorative xmlns:adec="http://schemas.microsoft.com/office/drawing/2017/decorative" val="1"/>
              </a:ext>
            </a:extLst>
          </p:cNvPr>
          <p:cNvSpPr txBox="1"/>
          <p:nvPr/>
        </p:nvSpPr>
        <p:spPr>
          <a:xfrm>
            <a:off x="731520" y="2834640"/>
            <a:ext cx="5120640" cy="640080"/>
          </a:xfrm>
          <a:prstGeom prst="rect">
            <a:avLst/>
          </a:prstGeom>
          <a:noFill/>
        </p:spPr>
        <p:txBody>
          <a:bodyPr wrap="square" lIns="0" tIns="0" rIns="0" bIns="0">
            <a:spAutoFit/>
          </a:bodyPr>
          <a:lstStyle/>
          <a:p>
            <a:pPr>
              <a:spcAft>
                <a:spcPts val="400"/>
              </a:spcAft>
            </a:pPr>
            <a:r>
              <a:rPr sz="1200" b="1">
                <a:solidFill>
                  <a:srgbClr val="0078D4"/>
                </a:solidFill>
                <a:latin typeface="Segoe UI"/>
              </a:rPr>
              <a:t>•  </a:t>
            </a:r>
            <a:r>
              <a:rPr sz="1200" u="sng">
                <a:solidFill>
                  <a:srgbClr val="0078D4"/>
                </a:solidFill>
                <a:latin typeface="Segoe UI"/>
                <a:hlinkClick r:id="rId3"/>
              </a:rPr>
              <a:t>Get started with Azure AI Foundry (Microsoft Learn)</a:t>
            </a:r>
          </a:p>
        </p:txBody>
      </p:sp>
      <p:sp>
        <p:nvSpPr>
          <p:cNvPr id="8" name="TextBox 7">
            <a:extLst>
              <a:ext uri="{C183D7F6-B498-43B3-948B-1728B52AA6E4}">
                <adec:decorative xmlns:adec="http://schemas.microsoft.com/office/drawing/2017/decorative" val="1"/>
              </a:ext>
            </a:extLst>
          </p:cNvPr>
          <p:cNvSpPr txBox="1"/>
          <p:nvPr/>
        </p:nvSpPr>
        <p:spPr>
          <a:xfrm>
            <a:off x="731520" y="3520440"/>
            <a:ext cx="5120640" cy="274320"/>
          </a:xfrm>
          <a:prstGeom prst="rect">
            <a:avLst/>
          </a:prstGeom>
          <a:noFill/>
        </p:spPr>
        <p:txBody>
          <a:bodyPr wrap="square" lIns="0" tIns="0" rIns="0" bIns="0" anchor="t">
            <a:spAutoFit/>
          </a:bodyPr>
          <a:lstStyle/>
          <a:p>
            <a:pPr algn="l"/>
            <a:r>
              <a:rPr sz="1000" b="1">
                <a:solidFill>
                  <a:srgbClr val="606060"/>
                </a:solidFill>
                <a:latin typeface="Segoe UI"/>
              </a:rPr>
              <a:t>OPTIONAL — go deeper</a:t>
            </a:r>
          </a:p>
        </p:txBody>
      </p:sp>
      <p:sp>
        <p:nvSpPr>
          <p:cNvPr id="9" name="TextBox 8">
            <a:extLst>
              <a:ext uri="{C183D7F6-B498-43B3-948B-1728B52AA6E4}">
                <adec:decorative xmlns:adec="http://schemas.microsoft.com/office/drawing/2017/decorative" val="1"/>
              </a:ext>
            </a:extLst>
          </p:cNvPr>
          <p:cNvSpPr txBox="1"/>
          <p:nvPr/>
        </p:nvSpPr>
        <p:spPr>
          <a:xfrm>
            <a:off x="731520" y="3794760"/>
            <a:ext cx="5120640" cy="2423160"/>
          </a:xfrm>
          <a:prstGeom prst="rect">
            <a:avLst/>
          </a:prstGeom>
          <a:noFill/>
        </p:spPr>
        <p:txBody>
          <a:bodyPr wrap="square" lIns="0" tIns="0" rIns="0" bIns="0">
            <a:spAutoFit/>
          </a:bodyPr>
          <a:lstStyle/>
          <a:p>
            <a:pPr>
              <a:spcAft>
                <a:spcPts val="400"/>
              </a:spcAft>
            </a:pPr>
            <a:r>
              <a:rPr sz="1100" b="1">
                <a:solidFill>
                  <a:srgbClr val="0078D4"/>
                </a:solidFill>
                <a:latin typeface="Segoe UI"/>
              </a:rPr>
              <a:t>•  </a:t>
            </a:r>
            <a:r>
              <a:rPr sz="1100" u="sng">
                <a:solidFill>
                  <a:srgbClr val="0078D4"/>
                </a:solidFill>
                <a:latin typeface="Segoe UI"/>
                <a:hlinkClick r:id="rId4"/>
              </a:rPr>
              <a:t>Azure landing zones for AI workloads (Cloud Adoption Framework)</a:t>
            </a:r>
          </a:p>
          <a:p>
            <a:pPr>
              <a:spcAft>
                <a:spcPts val="400"/>
              </a:spcAft>
            </a:pPr>
            <a:r>
              <a:rPr sz="1100" b="1">
                <a:solidFill>
                  <a:srgbClr val="0078D4"/>
                </a:solidFill>
                <a:latin typeface="Segoe UI"/>
              </a:rPr>
              <a:t>•  </a:t>
            </a:r>
            <a:r>
              <a:rPr sz="1100" u="sng">
                <a:solidFill>
                  <a:srgbClr val="0078D4"/>
                </a:solidFill>
                <a:latin typeface="Segoe UI"/>
                <a:hlinkClick r:id="rId5"/>
              </a:rPr>
              <a:t>Build AI apps with Azure AI Foundry SDK (Learn path)</a:t>
            </a:r>
          </a:p>
          <a:p>
            <a:pPr>
              <a:spcAft>
                <a:spcPts val="400"/>
              </a:spcAft>
            </a:pPr>
            <a:r>
              <a:rPr sz="1100" b="1">
                <a:solidFill>
                  <a:srgbClr val="0078D4"/>
                </a:solidFill>
                <a:latin typeface="Segoe UI"/>
              </a:rPr>
              <a:t>•  </a:t>
            </a:r>
            <a:r>
              <a:rPr sz="1100" u="sng">
                <a:solidFill>
                  <a:srgbClr val="0078D4"/>
                </a:solidFill>
                <a:latin typeface="Segoe UI"/>
                <a:hlinkClick r:id="rId6"/>
              </a:rPr>
              <a:t>Implement Responsible AI with Azure AI Content Safety</a:t>
            </a:r>
          </a:p>
          <a:p>
            <a:pPr>
              <a:spcAft>
                <a:spcPts val="400"/>
              </a:spcAft>
            </a:pPr>
            <a:r>
              <a:rPr sz="1100" b="1">
                <a:solidFill>
                  <a:srgbClr val="0078D4"/>
                </a:solidFill>
                <a:latin typeface="Segoe UI"/>
              </a:rPr>
              <a:t>•  </a:t>
            </a:r>
            <a:r>
              <a:rPr sz="1100" u="sng">
                <a:solidFill>
                  <a:srgbClr val="0078D4"/>
                </a:solidFill>
                <a:latin typeface="Segoe UI"/>
                <a:hlinkClick r:id="rId7"/>
              </a:rPr>
              <a:t>Azure OpenAI service fundamentals (Learn module)</a:t>
            </a:r>
          </a:p>
        </p:txBody>
      </p:sp>
      <p:sp>
        <p:nvSpPr>
          <p:cNvPr id="10" name="Rounded Rectangle 9">
            <a:extLst>
              <a:ext uri="{C183D7F6-B498-43B3-948B-1728B52AA6E4}">
                <adec:decorative xmlns:adec="http://schemas.microsoft.com/office/drawing/2017/decorative" val="1"/>
              </a:ext>
            </a:extLst>
          </p:cNvPr>
          <p:cNvSpPr/>
          <p:nvPr/>
        </p:nvSpPr>
        <p:spPr>
          <a:xfrm>
            <a:off x="6172200" y="2011680"/>
            <a:ext cx="5486400" cy="4297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C183D7F6-B498-43B3-948B-1728B52AA6E4}">
                <adec:decorative xmlns:adec="http://schemas.microsoft.com/office/drawing/2017/decorative" val="1"/>
              </a:ext>
            </a:extLst>
          </p:cNvPr>
          <p:cNvSpPr txBox="1"/>
          <p:nvPr/>
        </p:nvSpPr>
        <p:spPr>
          <a:xfrm>
            <a:off x="6355080" y="2148840"/>
            <a:ext cx="5120640" cy="365760"/>
          </a:xfrm>
          <a:prstGeom prst="rect">
            <a:avLst/>
          </a:prstGeom>
          <a:noFill/>
        </p:spPr>
        <p:txBody>
          <a:bodyPr wrap="square" lIns="0" tIns="0" rIns="0" bIns="0" anchor="t">
            <a:spAutoFit/>
          </a:bodyPr>
          <a:lstStyle/>
          <a:p>
            <a:pPr algn="l"/>
            <a:r>
              <a:rPr sz="1600" b="1">
                <a:solidFill>
                  <a:srgbClr val="0078D4"/>
                </a:solidFill>
                <a:latin typeface="Segoe UI"/>
              </a:rPr>
              <a:t>Other Resources</a:t>
            </a:r>
          </a:p>
        </p:txBody>
      </p:sp>
      <p:sp>
        <p:nvSpPr>
          <p:cNvPr id="12" name="TextBox 11">
            <a:extLst>
              <a:ext uri="{C183D7F6-B498-43B3-948B-1728B52AA6E4}">
                <adec:decorative xmlns:adec="http://schemas.microsoft.com/office/drawing/2017/decorative" val="1"/>
              </a:ext>
            </a:extLst>
          </p:cNvPr>
          <p:cNvSpPr txBox="1"/>
          <p:nvPr/>
        </p:nvSpPr>
        <p:spPr>
          <a:xfrm>
            <a:off x="6355080" y="2578608"/>
            <a:ext cx="5120640" cy="274320"/>
          </a:xfrm>
          <a:prstGeom prst="rect">
            <a:avLst/>
          </a:prstGeom>
          <a:noFill/>
        </p:spPr>
        <p:txBody>
          <a:bodyPr wrap="square" lIns="0" tIns="0" rIns="0" bIns="0" anchor="t">
            <a:spAutoFit/>
          </a:bodyPr>
          <a:lstStyle/>
          <a:p>
            <a:pPr algn="l"/>
            <a:r>
              <a:rPr sz="1000" b="1">
                <a:solidFill>
                  <a:srgbClr val="606060"/>
                </a:solidFill>
                <a:latin typeface="Segoe UI"/>
              </a:rPr>
              <a:t>OPTIONAL — if you want to learn more</a:t>
            </a:r>
          </a:p>
        </p:txBody>
      </p:sp>
      <p:sp>
        <p:nvSpPr>
          <p:cNvPr id="13" name="TextBox 12">
            <a:extLst>
              <a:ext uri="{C183D7F6-B498-43B3-948B-1728B52AA6E4}">
                <adec:decorative xmlns:adec="http://schemas.microsoft.com/office/drawing/2017/decorative" val="1"/>
              </a:ext>
            </a:extLst>
          </p:cNvPr>
          <p:cNvSpPr txBox="1"/>
          <p:nvPr/>
        </p:nvSpPr>
        <p:spPr>
          <a:xfrm>
            <a:off x="6355080" y="2834640"/>
            <a:ext cx="5120640" cy="3429000"/>
          </a:xfrm>
          <a:prstGeom prst="rect">
            <a:avLst/>
          </a:prstGeom>
          <a:noFill/>
        </p:spPr>
        <p:txBody>
          <a:bodyPr wrap="square" lIns="0" tIns="0" rIns="0" bIns="0">
            <a:spAutoFit/>
          </a:bodyPr>
          <a:lstStyle/>
          <a:p>
            <a:pPr>
              <a:spcAft>
                <a:spcPts val="400"/>
              </a:spcAft>
            </a:pPr>
            <a:r>
              <a:rPr sz="1100" b="1">
                <a:solidFill>
                  <a:srgbClr val="0078D4"/>
                </a:solidFill>
                <a:latin typeface="Segoe UI"/>
              </a:rPr>
              <a:t>•  </a:t>
            </a:r>
            <a:r>
              <a:rPr sz="1100" u="sng">
                <a:solidFill>
                  <a:srgbClr val="0078D4"/>
                </a:solidFill>
                <a:latin typeface="Segoe UI"/>
                <a:hlinkClick r:id="rId8"/>
              </a:rPr>
              <a:t>Microsoft Responsible AI Standard (PDF)</a:t>
            </a:r>
          </a:p>
          <a:p>
            <a:pPr>
              <a:spcAft>
                <a:spcPts val="400"/>
              </a:spcAft>
            </a:pPr>
            <a:r>
              <a:rPr sz="1100" b="1">
                <a:solidFill>
                  <a:srgbClr val="0078D4"/>
                </a:solidFill>
                <a:latin typeface="Segoe UI"/>
              </a:rPr>
              <a:t>•  </a:t>
            </a:r>
            <a:r>
              <a:rPr sz="1100" u="sng">
                <a:solidFill>
                  <a:srgbClr val="0078D4"/>
                </a:solidFill>
                <a:latin typeface="Segoe UI"/>
                <a:hlinkClick r:id="rId9"/>
              </a:rPr>
              <a:t>Azure AI architecture reference patterns</a:t>
            </a:r>
          </a:p>
          <a:p>
            <a:pPr>
              <a:spcAft>
                <a:spcPts val="400"/>
              </a:spcAft>
            </a:pPr>
            <a:r>
              <a:rPr sz="1100" b="1">
                <a:solidFill>
                  <a:srgbClr val="0078D4"/>
                </a:solidFill>
                <a:latin typeface="Segoe UI"/>
              </a:rPr>
              <a:t>•  </a:t>
            </a:r>
            <a:r>
              <a:rPr sz="1100" u="sng">
                <a:solidFill>
                  <a:srgbClr val="0078D4"/>
                </a:solidFill>
                <a:latin typeface="Segoe UI"/>
                <a:hlinkClick r:id="rId10"/>
              </a:rPr>
              <a:t>Buy / Extend / Build decision guidance for Microsoft AI</a:t>
            </a:r>
          </a:p>
          <a:p>
            <a:pPr>
              <a:spcAft>
                <a:spcPts val="400"/>
              </a:spcAft>
            </a:pPr>
            <a:r>
              <a:rPr sz="1100" b="1">
                <a:solidFill>
                  <a:srgbClr val="0078D4"/>
                </a:solidFill>
                <a:latin typeface="Segoe UI"/>
              </a:rPr>
              <a:t>•  </a:t>
            </a:r>
            <a:r>
              <a:rPr sz="1100" u="sng">
                <a:solidFill>
                  <a:srgbClr val="0078D4"/>
                </a:solidFill>
                <a:latin typeface="Segoe UI"/>
                <a:hlinkClick r:id="rId4"/>
              </a:rPr>
              <a:t>Cloud Adoption Framework — AI workloads on Azure</a:t>
            </a:r>
          </a:p>
          <a:p>
            <a:pPr>
              <a:spcAft>
                <a:spcPts val="400"/>
              </a:spcAft>
            </a:pPr>
            <a:r>
              <a:rPr sz="1100" b="1">
                <a:solidFill>
                  <a:srgbClr val="0078D4"/>
                </a:solidFill>
                <a:latin typeface="Segoe UI"/>
              </a:rPr>
              <a:t>•  </a:t>
            </a:r>
            <a:r>
              <a:rPr sz="1100" u="sng">
                <a:solidFill>
                  <a:srgbClr val="0078D4"/>
                </a:solidFill>
                <a:latin typeface="Segoe UI"/>
                <a:hlinkClick r:id="rId11"/>
              </a:rPr>
              <a:t>Anatomy of Responsible AI — Microsoft Research</a:t>
            </a:r>
          </a:p>
          <a:p>
            <a:pPr>
              <a:spcAft>
                <a:spcPts val="400"/>
              </a:spcAft>
            </a:pPr>
            <a:r>
              <a:rPr sz="1100" b="1">
                <a:solidFill>
                  <a:srgbClr val="0078D4"/>
                </a:solidFill>
                <a:latin typeface="Segoe UI"/>
              </a:rPr>
              <a:t>•  </a:t>
            </a:r>
            <a:r>
              <a:rPr sz="1100" u="sng">
                <a:solidFill>
                  <a:srgbClr val="0078D4"/>
                </a:solidFill>
                <a:latin typeface="Segoe UI"/>
                <a:hlinkClick r:id="rId12"/>
              </a:rPr>
              <a:t>Azure Well-Architected Framework — AI workloads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2011680"/>
            <a:ext cx="11000000" cy="0"/>
          </a:xfrm>
        </p:spPr>
        <p:txBody>
          <a:bodyPr wrap="square">
            <a:noAutofit/>
          </a:bodyPr>
          <a:lstStyle/>
          <a:p>
            <a:pPr algn="l">
              <a:defRPr sz="3600">
                <a:latin typeface="Segoe UI"/>
              </a:defRPr>
            </a:pPr>
            <a:r>
              <a:rPr sz="3600">
                <a:latin typeface="Segoe UI"/>
              </a:rPr>
              <a:t>Applied AI Experience</a:t>
            </a:r>
          </a:p>
        </p:txBody>
      </p:sp>
      <p:sp>
        <p:nvSpPr>
          <p:cNvPr id="3" name="Text Placeholder 2"/>
          <p:cNvSpPr>
            <a:spLocks noGrp="1"/>
          </p:cNvSpPr>
          <p:nvPr>
            <p:ph type="body" sz="quarter" idx="12"/>
          </p:nvPr>
        </p:nvSpPr>
        <p:spPr>
          <a:xfrm>
            <a:off x="731520" y="3200400"/>
            <a:ext cx="9000000" cy="0"/>
          </a:xfrm>
        </p:spPr>
        <p:txBody>
          <a:bodyPr/>
          <a:lstStyle/>
          <a:p>
            <a:r>
              <a:rPr sz="2000"/>
              <a:t>Citizen development &amp; monitoring across AI platforms</a:t>
            </a:r>
          </a:p>
        </p:txBody>
      </p:sp>
      <p:sp>
        <p:nvSpPr>
          <p:cNvPr id="4" name="TextBox 3">
            <a:extLst>
              <a:ext uri="{C183D7F6-B498-43B3-948B-1728B52AA6E4}">
                <adec:decorative xmlns:adec="http://schemas.microsoft.com/office/drawing/2017/decorative" val="1"/>
              </a:ext>
            </a:extLst>
          </p:cNvPr>
          <p:cNvSpPr txBox="1"/>
          <p:nvPr/>
        </p:nvSpPr>
        <p:spPr>
          <a:xfrm>
            <a:off x="731520" y="457200"/>
            <a:ext cx="5486400" cy="411480"/>
          </a:xfrm>
          <a:prstGeom prst="rect">
            <a:avLst/>
          </a:prstGeom>
          <a:noFill/>
        </p:spPr>
        <p:txBody>
          <a:bodyPr wrap="square" lIns="0" tIns="0" rIns="0" bIns="0" anchor="t">
            <a:spAutoFit/>
          </a:bodyPr>
          <a:lstStyle/>
          <a:p>
            <a:pPr algn="l"/>
            <a:r>
              <a:rPr sz="1600" b="1">
                <a:solidFill>
                  <a:srgbClr val="FFFFFF"/>
                </a:solidFill>
                <a:latin typeface="Segoe UI"/>
              </a:rPr>
              <a:t>Learning Unit 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Objectives — Applied AI Experience</a:t>
            </a:r>
          </a:p>
        </p:txBody>
      </p:sp>
      <p:sp>
        <p:nvSpPr>
          <p:cNvPr id="3" name="Text Placeholder 2"/>
          <p:cNvSpPr>
            <a:spLocks noGrp="1"/>
          </p:cNvSpPr>
          <p:nvPr>
            <p:ph type="body" sz="quarter" idx="12"/>
          </p:nvPr>
        </p:nvSpPr>
        <p:spPr/>
        <p:txBody>
          <a:bodyPr/>
          <a:lstStyle/>
          <a:p>
            <a:r>
              <a:rPr sz="1600">
                <a:solidFill>
                  <a:srgbClr val="606060"/>
                </a:solidFill>
              </a:rPr>
              <a:t>What you will learn and decide in this learning unit</a:t>
            </a:r>
          </a:p>
        </p:txBody>
      </p:sp>
      <p:sp>
        <p:nvSpPr>
          <p:cNvPr id="4" name="Rectangle 3" descr="Focus"/>
          <p:cNvSpPr/>
          <p:nvPr/>
        </p:nvSpPr>
        <p:spPr>
          <a:xfrm>
            <a:off x="502920" y="2194560"/>
            <a:ext cx="3611880" cy="45720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1C1C1C"/>
                </a:solidFill>
                <a:latin typeface="Segoe UI"/>
              </a:rPr>
              <a:t>Focus</a:t>
            </a:r>
          </a:p>
        </p:txBody>
      </p:sp>
      <p:sp>
        <p:nvSpPr>
          <p:cNvPr id="5" name="Rounded Rectangle 4">
            <a:extLst>
              <a:ext uri="{C183D7F6-B498-43B3-948B-1728B52AA6E4}">
                <adec:decorative xmlns:adec="http://schemas.microsoft.com/office/drawing/2017/decorative" val="1"/>
              </a:ext>
            </a:extLst>
          </p:cNvPr>
          <p:cNvSpPr/>
          <p:nvPr/>
        </p:nvSpPr>
        <p:spPr>
          <a:xfrm>
            <a:off x="502920"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C183D7F6-B498-43B3-948B-1728B52AA6E4}">
                <adec:decorative xmlns:adec="http://schemas.microsoft.com/office/drawing/2017/decorative" val="1"/>
              </a:ext>
            </a:extLst>
          </p:cNvPr>
          <p:cNvSpPr txBox="1"/>
          <p:nvPr/>
        </p:nvSpPr>
        <p:spPr>
          <a:xfrm>
            <a:off x="685800"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Democratize AI through governed citizen development</a:t>
            </a:r>
          </a:p>
          <a:p>
            <a:pPr>
              <a:spcAft>
                <a:spcPts val="600"/>
              </a:spcAft>
            </a:pPr>
            <a:r>
              <a:rPr sz="1200" b="1">
                <a:solidFill>
                  <a:srgbClr val="0078D4"/>
                </a:solidFill>
                <a:latin typeface="Segoe UI"/>
              </a:rPr>
              <a:t>•  </a:t>
            </a:r>
            <a:r>
              <a:rPr sz="1200">
                <a:solidFill>
                  <a:srgbClr val="323232"/>
                </a:solidFill>
                <a:latin typeface="Segoe UI"/>
              </a:rPr>
              <a:t>Implement monitoring to surface high-value use cases &amp; makers</a:t>
            </a:r>
          </a:p>
          <a:p>
            <a:pPr>
              <a:spcAft>
                <a:spcPts val="600"/>
              </a:spcAft>
            </a:pPr>
            <a:r>
              <a:rPr sz="1200" b="1">
                <a:solidFill>
                  <a:srgbClr val="0078D4"/>
                </a:solidFill>
                <a:latin typeface="Segoe UI"/>
              </a:rPr>
              <a:t>•  </a:t>
            </a:r>
            <a:r>
              <a:rPr sz="1200">
                <a:solidFill>
                  <a:srgbClr val="323232"/>
                </a:solidFill>
                <a:latin typeface="Segoe UI"/>
              </a:rPr>
              <a:t>Empower business and IT to scale AI safely</a:t>
            </a:r>
          </a:p>
        </p:txBody>
      </p:sp>
      <p:sp>
        <p:nvSpPr>
          <p:cNvPr id="7" name="Rectangle 6" descr="Outcomes"/>
          <p:cNvSpPr/>
          <p:nvPr/>
        </p:nvSpPr>
        <p:spPr>
          <a:xfrm>
            <a:off x="4279392" y="2194560"/>
            <a:ext cx="3611880" cy="45720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Outcomes</a:t>
            </a:r>
          </a:p>
        </p:txBody>
      </p:sp>
      <p:sp>
        <p:nvSpPr>
          <p:cNvPr id="8" name="Rounded Rectangle 7">
            <a:extLst>
              <a:ext uri="{C183D7F6-B498-43B3-948B-1728B52AA6E4}">
                <adec:decorative xmlns:adec="http://schemas.microsoft.com/office/drawing/2017/decorative" val="1"/>
              </a:ext>
            </a:extLst>
          </p:cNvPr>
          <p:cNvSpPr/>
          <p:nvPr/>
        </p:nvSpPr>
        <p:spPr>
          <a:xfrm>
            <a:off x="4279392"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C183D7F6-B498-43B3-948B-1728B52AA6E4}">
                <adec:decorative xmlns:adec="http://schemas.microsoft.com/office/drawing/2017/decorative" val="1"/>
              </a:ext>
            </a:extLst>
          </p:cNvPr>
          <p:cNvSpPr txBox="1"/>
          <p:nvPr/>
        </p:nvSpPr>
        <p:spPr>
          <a:xfrm>
            <a:off x="4462272"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Formal citizen-development policies (&gt;35% of business users enabled)</a:t>
            </a:r>
          </a:p>
          <a:p>
            <a:pPr>
              <a:spcAft>
                <a:spcPts val="600"/>
              </a:spcAft>
            </a:pPr>
            <a:r>
              <a:rPr sz="1200" b="1">
                <a:solidFill>
                  <a:srgbClr val="0078D4"/>
                </a:solidFill>
                <a:latin typeface="Segoe UI"/>
              </a:rPr>
              <a:t>•  </a:t>
            </a:r>
            <a:r>
              <a:rPr sz="1200">
                <a:solidFill>
                  <a:srgbClr val="323232"/>
                </a:solidFill>
                <a:latin typeface="Segoe UI"/>
              </a:rPr>
              <a:t>Real-time monitoring of agents and AI usage across platforms</a:t>
            </a:r>
          </a:p>
          <a:p>
            <a:pPr>
              <a:spcAft>
                <a:spcPts val="600"/>
              </a:spcAft>
            </a:pPr>
            <a:r>
              <a:rPr sz="1200" b="1">
                <a:solidFill>
                  <a:srgbClr val="0078D4"/>
                </a:solidFill>
                <a:latin typeface="Segoe UI"/>
              </a:rPr>
              <a:t>•  </a:t>
            </a:r>
            <a:r>
              <a:rPr sz="1200">
                <a:solidFill>
                  <a:srgbClr val="323232"/>
                </a:solidFill>
                <a:latin typeface="Segoe UI"/>
              </a:rPr>
              <a:t>Identification of AI champions and a thriving AI community</a:t>
            </a:r>
          </a:p>
        </p:txBody>
      </p:sp>
      <p:sp>
        <p:nvSpPr>
          <p:cNvPr id="10" name="Rectangle 9" descr="Audience"/>
          <p:cNvSpPr/>
          <p:nvPr/>
        </p:nvSpPr>
        <p:spPr>
          <a:xfrm>
            <a:off x="8055864" y="2194560"/>
            <a:ext cx="3611880" cy="4572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Audience</a:t>
            </a:r>
          </a:p>
        </p:txBody>
      </p:sp>
      <p:sp>
        <p:nvSpPr>
          <p:cNvPr id="11" name="Rounded Rectangle 10">
            <a:extLst>
              <a:ext uri="{C183D7F6-B498-43B3-948B-1728B52AA6E4}">
                <adec:decorative xmlns:adec="http://schemas.microsoft.com/office/drawing/2017/decorative" val="1"/>
              </a:ext>
            </a:extLst>
          </p:cNvPr>
          <p:cNvSpPr/>
          <p:nvPr/>
        </p:nvSpPr>
        <p:spPr>
          <a:xfrm>
            <a:off x="8055864"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C183D7F6-B498-43B3-948B-1728B52AA6E4}">
                <adec:decorative xmlns:adec="http://schemas.microsoft.com/office/drawing/2017/decorative" val="1"/>
              </a:ext>
            </a:extLst>
          </p:cNvPr>
          <p:cNvSpPr txBox="1"/>
          <p:nvPr/>
        </p:nvSpPr>
        <p:spPr>
          <a:xfrm>
            <a:off x="8238744"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AI Center of Excellence (COE) Lead</a:t>
            </a:r>
          </a:p>
          <a:p>
            <a:pPr>
              <a:spcAft>
                <a:spcPts val="600"/>
              </a:spcAft>
            </a:pPr>
            <a:r>
              <a:rPr sz="1200" b="1">
                <a:solidFill>
                  <a:srgbClr val="0078D4"/>
                </a:solidFill>
                <a:latin typeface="Segoe UI"/>
              </a:rPr>
              <a:t>•  </a:t>
            </a:r>
            <a:r>
              <a:rPr sz="1200">
                <a:solidFill>
                  <a:srgbClr val="323232"/>
                </a:solidFill>
                <a:latin typeface="Segoe UI"/>
              </a:rPr>
              <a:t>Chief AI Officer (CAIO)</a:t>
            </a:r>
          </a:p>
          <a:p>
            <a:pPr>
              <a:spcAft>
                <a:spcPts val="600"/>
              </a:spcAft>
            </a:pPr>
            <a:r>
              <a:rPr sz="1200" b="1">
                <a:solidFill>
                  <a:srgbClr val="0078D4"/>
                </a:solidFill>
                <a:latin typeface="Segoe UI"/>
              </a:rPr>
              <a:t>•  </a:t>
            </a:r>
            <a:r>
              <a:rPr sz="1200">
                <a:solidFill>
                  <a:srgbClr val="323232"/>
                </a:solidFill>
                <a:latin typeface="Segoe UI"/>
              </a:rPr>
              <a:t>Chief Information Officer (CIO)</a:t>
            </a:r>
          </a:p>
          <a:p>
            <a:pPr>
              <a:spcAft>
                <a:spcPts val="600"/>
              </a:spcAft>
            </a:pPr>
            <a:r>
              <a:rPr sz="1200" b="1">
                <a:solidFill>
                  <a:srgbClr val="0078D4"/>
                </a:solidFill>
                <a:latin typeface="Segoe UI"/>
              </a:rPr>
              <a:t>•  </a:t>
            </a:r>
            <a:r>
              <a:rPr sz="1200">
                <a:solidFill>
                  <a:srgbClr val="323232"/>
                </a:solidFill>
                <a:latin typeface="Segoe UI"/>
              </a:rPr>
              <a:t>Business unit AI sponsors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Accelerate innovation with governed citizen development</a:t>
            </a:r>
          </a:p>
        </p:txBody>
      </p:sp>
      <p:sp>
        <p:nvSpPr>
          <p:cNvPr id="3" name="Rectangle 2">
            <a:extLst>
              <a:ext uri="{C183D7F6-B498-43B3-948B-1728B52AA6E4}">
                <adec:decorative xmlns:adec="http://schemas.microsoft.com/office/drawing/2017/decorative" val="1"/>
              </a:ext>
            </a:extLst>
          </p:cNvPr>
          <p:cNvSpPr/>
          <p:nvPr/>
        </p:nvSpPr>
        <p:spPr>
          <a:xfrm>
            <a:off x="502920" y="1828800"/>
            <a:ext cx="164592" cy="4297680"/>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C183D7F6-B498-43B3-948B-1728B52AA6E4}">
                <adec:decorative xmlns:adec="http://schemas.microsoft.com/office/drawing/2017/decorative" val="1"/>
              </a:ext>
            </a:extLst>
          </p:cNvPr>
          <p:cNvSpPr txBox="1"/>
          <p:nvPr/>
        </p:nvSpPr>
        <p:spPr>
          <a:xfrm>
            <a:off x="777240" y="1828800"/>
            <a:ext cx="5029200" cy="457200"/>
          </a:xfrm>
          <a:prstGeom prst="rect">
            <a:avLst/>
          </a:prstGeom>
          <a:noFill/>
        </p:spPr>
        <p:txBody>
          <a:bodyPr wrap="square" lIns="0" tIns="0" rIns="0" bIns="0" anchor="t">
            <a:spAutoFit/>
          </a:bodyPr>
          <a:lstStyle/>
          <a:p>
            <a:pPr algn="l"/>
            <a:r>
              <a:rPr sz="1800" b="1">
                <a:solidFill>
                  <a:srgbClr val="D83B01"/>
                </a:solidFill>
                <a:latin typeface="Segoe UI"/>
              </a:rPr>
              <a:t>Traditional — IT pro-dev only</a:t>
            </a:r>
          </a:p>
        </p:txBody>
      </p:sp>
      <p:sp>
        <p:nvSpPr>
          <p:cNvPr id="5" name="TextBox 4">
            <a:extLst>
              <a:ext uri="{C183D7F6-B498-43B3-948B-1728B52AA6E4}">
                <adec:decorative xmlns:adec="http://schemas.microsoft.com/office/drawing/2017/decorative" val="1"/>
              </a:ext>
            </a:extLst>
          </p:cNvPr>
          <p:cNvSpPr txBox="1"/>
          <p:nvPr/>
        </p:nvSpPr>
        <p:spPr>
          <a:xfrm>
            <a:off x="777240" y="2423160"/>
            <a:ext cx="5029200" cy="3657600"/>
          </a:xfrm>
          <a:prstGeom prst="rect">
            <a:avLst/>
          </a:prstGeom>
          <a:noFill/>
        </p:spPr>
        <p:txBody>
          <a:bodyPr wrap="square" lIns="0" tIns="0" rIns="0" bIns="0">
            <a:spAutoFit/>
          </a:bodyPr>
          <a:lstStyle/>
          <a:p>
            <a:pPr>
              <a:spcAft>
                <a:spcPts val="800"/>
              </a:spcAft>
            </a:pPr>
            <a:r>
              <a:rPr sz="1300" b="1">
                <a:solidFill>
                  <a:srgbClr val="0078D4"/>
                </a:solidFill>
                <a:latin typeface="Segoe UI"/>
              </a:rPr>
              <a:t>•  </a:t>
            </a:r>
            <a:r>
              <a:rPr sz="1300">
                <a:solidFill>
                  <a:srgbClr val="323232"/>
                </a:solidFill>
                <a:latin typeface="Segoe UI"/>
              </a:rPr>
              <a:t>Long delivery cycles — weeks to months per request</a:t>
            </a:r>
          </a:p>
          <a:p>
            <a:pPr>
              <a:spcAft>
                <a:spcPts val="800"/>
              </a:spcAft>
            </a:pPr>
            <a:r>
              <a:rPr sz="1300" b="1">
                <a:solidFill>
                  <a:srgbClr val="0078D4"/>
                </a:solidFill>
                <a:latin typeface="Segoe UI"/>
              </a:rPr>
              <a:t>•  </a:t>
            </a:r>
            <a:r>
              <a:rPr sz="1300">
                <a:solidFill>
                  <a:srgbClr val="323232"/>
                </a:solidFill>
                <a:latin typeface="Segoe UI"/>
              </a:rPr>
              <a:t>Limited flexibility — IT is the bottleneck</a:t>
            </a:r>
          </a:p>
          <a:p>
            <a:pPr>
              <a:spcAft>
                <a:spcPts val="800"/>
              </a:spcAft>
            </a:pPr>
            <a:r>
              <a:rPr sz="1300" b="1">
                <a:solidFill>
                  <a:srgbClr val="0078D4"/>
                </a:solidFill>
                <a:latin typeface="Segoe UI"/>
              </a:rPr>
              <a:t>•  </a:t>
            </a:r>
            <a:r>
              <a:rPr sz="1300">
                <a:solidFill>
                  <a:srgbClr val="323232"/>
                </a:solidFill>
                <a:latin typeface="Segoe UI"/>
              </a:rPr>
              <a:t>Solutions rarely right the first time</a:t>
            </a:r>
          </a:p>
          <a:p>
            <a:pPr>
              <a:spcAft>
                <a:spcPts val="800"/>
              </a:spcAft>
            </a:pPr>
            <a:r>
              <a:rPr sz="1300" b="1">
                <a:solidFill>
                  <a:srgbClr val="0078D4"/>
                </a:solidFill>
                <a:latin typeface="Segoe UI"/>
              </a:rPr>
              <a:t>•  </a:t>
            </a:r>
            <a:r>
              <a:rPr sz="1300">
                <a:solidFill>
                  <a:srgbClr val="323232"/>
                </a:solidFill>
                <a:latin typeface="Segoe UI"/>
              </a:rPr>
              <a:t>IT positioned as a cost center</a:t>
            </a:r>
          </a:p>
          <a:p>
            <a:pPr>
              <a:spcAft>
                <a:spcPts val="800"/>
              </a:spcAft>
            </a:pPr>
            <a:r>
              <a:rPr sz="1300" b="1">
                <a:solidFill>
                  <a:srgbClr val="0078D4"/>
                </a:solidFill>
                <a:latin typeface="Segoe UI"/>
              </a:rPr>
              <a:t>•  </a:t>
            </a:r>
            <a:r>
              <a:rPr sz="1300">
                <a:solidFill>
                  <a:srgbClr val="323232"/>
                </a:solidFill>
                <a:latin typeface="Segoe UI"/>
              </a:rPr>
              <a:t>Drives Shadow AI — users go to public GenAI on confidential data</a:t>
            </a:r>
          </a:p>
        </p:txBody>
      </p:sp>
      <p:sp>
        <p:nvSpPr>
          <p:cNvPr id="6" name="Rectangle 5">
            <a:extLst>
              <a:ext uri="{C183D7F6-B498-43B3-948B-1728B52AA6E4}">
                <adec:decorative xmlns:adec="http://schemas.microsoft.com/office/drawing/2017/decorative" val="1"/>
              </a:ext>
            </a:extLst>
          </p:cNvPr>
          <p:cNvSpPr/>
          <p:nvPr/>
        </p:nvSpPr>
        <p:spPr>
          <a:xfrm>
            <a:off x="6537960" y="1828800"/>
            <a:ext cx="164592" cy="429768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a:extLst>
              <a:ext uri="{C183D7F6-B498-43B3-948B-1728B52AA6E4}">
                <adec:decorative xmlns:adec="http://schemas.microsoft.com/office/drawing/2017/decorative" val="1"/>
              </a:ext>
            </a:extLst>
          </p:cNvPr>
          <p:cNvSpPr txBox="1"/>
          <p:nvPr/>
        </p:nvSpPr>
        <p:spPr>
          <a:xfrm>
            <a:off x="6812280" y="1828800"/>
            <a:ext cx="4846320" cy="502920"/>
          </a:xfrm>
          <a:prstGeom prst="rect">
            <a:avLst/>
          </a:prstGeom>
          <a:noFill/>
        </p:spPr>
        <p:txBody>
          <a:bodyPr wrap="square" lIns="0" tIns="0" rIns="0" bIns="0" anchor="t">
            <a:spAutoFit/>
          </a:bodyPr>
          <a:lstStyle/>
          <a:p>
            <a:pPr algn="l"/>
            <a:r>
              <a:rPr sz="1800" b="1">
                <a:solidFill>
                  <a:srgbClr val="107C10"/>
                </a:solidFill>
                <a:latin typeface="Segoe UI"/>
              </a:rPr>
              <a:t>Now — Citizen dev with IT enablement</a:t>
            </a:r>
          </a:p>
        </p:txBody>
      </p:sp>
      <p:sp>
        <p:nvSpPr>
          <p:cNvPr id="8" name="TextBox 7">
            <a:extLst>
              <a:ext uri="{C183D7F6-B498-43B3-948B-1728B52AA6E4}">
                <adec:decorative xmlns:adec="http://schemas.microsoft.com/office/drawing/2017/decorative" val="1"/>
              </a:ext>
            </a:extLst>
          </p:cNvPr>
          <p:cNvSpPr txBox="1"/>
          <p:nvPr/>
        </p:nvSpPr>
        <p:spPr>
          <a:xfrm>
            <a:off x="6812280" y="2423160"/>
            <a:ext cx="4846320" cy="3657600"/>
          </a:xfrm>
          <a:prstGeom prst="rect">
            <a:avLst/>
          </a:prstGeom>
          <a:noFill/>
        </p:spPr>
        <p:txBody>
          <a:bodyPr wrap="square" lIns="0" tIns="0" rIns="0" bIns="0">
            <a:spAutoFit/>
          </a:bodyPr>
          <a:lstStyle/>
          <a:p>
            <a:pPr>
              <a:spcAft>
                <a:spcPts val="800"/>
              </a:spcAft>
            </a:pPr>
            <a:r>
              <a:rPr sz="1300" b="1">
                <a:solidFill>
                  <a:srgbClr val="0078D4"/>
                </a:solidFill>
                <a:latin typeface="Segoe UI"/>
              </a:rPr>
              <a:t>•  </a:t>
            </a:r>
            <a:r>
              <a:rPr sz="1300">
                <a:solidFill>
                  <a:srgbClr val="323232"/>
                </a:solidFill>
                <a:latin typeface="Segoe UI"/>
              </a:rPr>
              <a:t>Business users build with low-code AI building blocks</a:t>
            </a:r>
          </a:p>
          <a:p>
            <a:pPr>
              <a:spcAft>
                <a:spcPts val="800"/>
              </a:spcAft>
            </a:pPr>
            <a:r>
              <a:rPr sz="1300" b="1">
                <a:solidFill>
                  <a:srgbClr val="0078D4"/>
                </a:solidFill>
                <a:latin typeface="Segoe UI"/>
              </a:rPr>
              <a:t>•  </a:t>
            </a:r>
            <a:r>
              <a:rPr sz="1300">
                <a:solidFill>
                  <a:srgbClr val="323232"/>
                </a:solidFill>
                <a:latin typeface="Segoe UI"/>
              </a:rPr>
              <a:t>Days, not months, to first value</a:t>
            </a:r>
          </a:p>
          <a:p>
            <a:pPr>
              <a:spcAft>
                <a:spcPts val="800"/>
              </a:spcAft>
            </a:pPr>
            <a:r>
              <a:rPr sz="1300" b="1">
                <a:solidFill>
                  <a:srgbClr val="0078D4"/>
                </a:solidFill>
                <a:latin typeface="Segoe UI"/>
              </a:rPr>
              <a:t>•  </a:t>
            </a:r>
            <a:r>
              <a:rPr sz="1300">
                <a:solidFill>
                  <a:srgbClr val="323232"/>
                </a:solidFill>
                <a:latin typeface="Segoe UI"/>
              </a:rPr>
              <a:t>IT becomes an enabler — governs the platform &amp; guardrails</a:t>
            </a:r>
          </a:p>
          <a:p>
            <a:pPr>
              <a:spcAft>
                <a:spcPts val="800"/>
              </a:spcAft>
            </a:pPr>
            <a:r>
              <a:rPr sz="1300" b="1">
                <a:solidFill>
                  <a:srgbClr val="0078D4"/>
                </a:solidFill>
                <a:latin typeface="Segoe UI"/>
              </a:rPr>
              <a:t>•  </a:t>
            </a:r>
            <a:r>
              <a:rPr sz="1300">
                <a:solidFill>
                  <a:srgbClr val="323232"/>
                </a:solidFill>
                <a:latin typeface="Segoe UI"/>
              </a:rPr>
              <a:t>Local citizen-developer model for productivity &amp; simple flows</a:t>
            </a:r>
          </a:p>
          <a:p>
            <a:pPr>
              <a:spcAft>
                <a:spcPts val="800"/>
              </a:spcAft>
            </a:pPr>
            <a:r>
              <a:rPr sz="1300" b="1">
                <a:solidFill>
                  <a:srgbClr val="0078D4"/>
                </a:solidFill>
                <a:latin typeface="Segoe UI"/>
              </a:rPr>
              <a:t>•  </a:t>
            </a:r>
            <a:r>
              <a:rPr sz="1300">
                <a:solidFill>
                  <a:srgbClr val="323232"/>
                </a:solidFill>
                <a:latin typeface="Segoe UI"/>
              </a:rPr>
              <a:t>Central IT-led delivery for complex / mission-critical work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Monitoring across AI platforms — know what is happening today</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411480"/>
          </a:xfrm>
          <a:prstGeom prst="rect">
            <a:avLst/>
          </a:prstGeom>
          <a:noFill/>
        </p:spPr>
        <p:txBody>
          <a:bodyPr wrap="square" lIns="0" tIns="0" rIns="0" bIns="0" anchor="t">
            <a:spAutoFit/>
          </a:bodyPr>
          <a:lstStyle/>
          <a:p>
            <a:pPr algn="l"/>
            <a:r>
              <a:rPr sz="1400" b="0">
                <a:solidFill>
                  <a:srgbClr val="606060"/>
                </a:solidFill>
                <a:latin typeface="Segoe UI"/>
              </a:rPr>
              <a:t>Use telemetry to prove ROI to leadership and unlock further investment</a:t>
            </a:r>
          </a:p>
        </p:txBody>
      </p:sp>
      <p:sp>
        <p:nvSpPr>
          <p:cNvPr id="4" name="Rounded Rectangle 3" descr="Microsoft 365 Copilot"/>
          <p:cNvSpPr/>
          <p:nvPr/>
        </p:nvSpPr>
        <p:spPr>
          <a:xfrm>
            <a:off x="548640" y="2240280"/>
            <a:ext cx="3291840" cy="1280160"/>
          </a:xfrm>
          <a:prstGeom prst="roundRect">
            <a:avLst/>
          </a:prstGeom>
          <a:solidFill>
            <a:srgbClr val="00326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800" b="1">
                <a:solidFill>
                  <a:srgbClr val="FFFFFF"/>
                </a:solidFill>
                <a:latin typeface="Segoe UI"/>
              </a:rPr>
              <a:t>Microsoft 365 Copilot</a:t>
            </a:r>
          </a:p>
        </p:txBody>
      </p:sp>
      <p:sp>
        <p:nvSpPr>
          <p:cNvPr id="5" name="Rounded Rectangle 4" descr="Microsoft usage telemetry • Copilot Analytics dashboards • Adoption Score"/>
          <p:cNvSpPr/>
          <p:nvPr/>
        </p:nvSpPr>
        <p:spPr>
          <a:xfrm>
            <a:off x="3931920" y="2240280"/>
            <a:ext cx="7726679" cy="12801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400" b="0">
                <a:solidFill>
                  <a:srgbClr val="323232"/>
                </a:solidFill>
                <a:latin typeface="Segoe UI"/>
              </a:rPr>
              <a:t>Microsoft usage telemetry • Copilot Analytics dashboards • Adoption Score</a:t>
            </a:r>
          </a:p>
        </p:txBody>
      </p:sp>
      <p:sp>
        <p:nvSpPr>
          <p:cNvPr id="6" name="Rounded Rectangle 5" descr="Azure AI Foundry"/>
          <p:cNvSpPr/>
          <p:nvPr/>
        </p:nvSpPr>
        <p:spPr>
          <a:xfrm>
            <a:off x="548640" y="3685032"/>
            <a:ext cx="3291840" cy="128016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800" b="1">
                <a:solidFill>
                  <a:srgbClr val="FFFFFF"/>
                </a:solidFill>
                <a:latin typeface="Segoe UI"/>
              </a:rPr>
              <a:t>Azure AI Foundry</a:t>
            </a:r>
          </a:p>
        </p:txBody>
      </p:sp>
      <p:sp>
        <p:nvSpPr>
          <p:cNvPr id="7" name="Rounded Rectangle 6" descr="Azure Monitor • App Insights tracing • online evaluations on a schedule"/>
          <p:cNvSpPr/>
          <p:nvPr/>
        </p:nvSpPr>
        <p:spPr>
          <a:xfrm>
            <a:off x="3931920" y="3685032"/>
            <a:ext cx="7726679" cy="12801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400" b="0">
                <a:solidFill>
                  <a:srgbClr val="323232"/>
                </a:solidFill>
                <a:latin typeface="Segoe UI"/>
              </a:rPr>
              <a:t>Azure Monitor • App Insights tracing • online evaluations on a schedule</a:t>
            </a:r>
          </a:p>
        </p:txBody>
      </p:sp>
      <p:sp>
        <p:nvSpPr>
          <p:cNvPr id="8" name="Rounded Rectangle 7" descr="Power Platform / Copilot Studio"/>
          <p:cNvSpPr/>
          <p:nvPr/>
        </p:nvSpPr>
        <p:spPr>
          <a:xfrm>
            <a:off x="548640" y="5129784"/>
            <a:ext cx="3291840" cy="1280160"/>
          </a:xfrm>
          <a:prstGeom prst="round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800" b="1">
                <a:solidFill>
                  <a:srgbClr val="1C1C1C"/>
                </a:solidFill>
                <a:latin typeface="Segoe UI"/>
              </a:rPr>
              <a:t>Power Platform / Copilot Studio</a:t>
            </a:r>
          </a:p>
        </p:txBody>
      </p:sp>
      <p:sp>
        <p:nvSpPr>
          <p:cNvPr id="9" name="Rounded Rectangle 8" descr="Power Platform Admin Center • COE Starter Kit dashboards • Sentinel &amp; Defender integration"/>
          <p:cNvSpPr/>
          <p:nvPr/>
        </p:nvSpPr>
        <p:spPr>
          <a:xfrm>
            <a:off x="3931920" y="5129784"/>
            <a:ext cx="7726679" cy="12801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400" b="0">
                <a:solidFill>
                  <a:srgbClr val="323232"/>
                </a:solidFill>
                <a:latin typeface="Segoe UI"/>
              </a:rPr>
              <a:t>Power Platform Admin Center • COE Starter Kit dashboards • Sentinel &amp; Defender integration</a:t>
            </a:r>
          </a:p>
        </p:txBody>
      </p:sp>
      <p:sp>
        <p:nvSpPr>
          <p:cNvPr id="10" name="Rounded Rectangle 9" descr="Outcome — proactive identification of high-value use cases, top makers and ROI evidence."/>
          <p:cNvSpPr/>
          <p:nvPr/>
        </p:nvSpPr>
        <p:spPr>
          <a:xfrm>
            <a:off x="548640" y="6126480"/>
            <a:ext cx="11109960" cy="502920"/>
          </a:xfrm>
          <a:prstGeom prst="roundRect">
            <a:avLst/>
          </a:prstGeom>
          <a:solidFill>
            <a:srgbClr val="DEECF9"/>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003266"/>
                </a:solidFill>
                <a:latin typeface="Segoe UI"/>
              </a:rPr>
              <a:t>Outcome — proactive identification of high-value use cases, top makers and ROI evidence.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Applied AI Experience — labs &amp; resources</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274320"/>
          </a:xfrm>
          <a:prstGeom prst="rect">
            <a:avLst/>
          </a:prstGeom>
          <a:noFill/>
        </p:spPr>
        <p:txBody>
          <a:bodyPr wrap="square" lIns="0" tIns="0" rIns="0" bIns="0" anchor="t">
            <a:spAutoFit/>
          </a:bodyPr>
          <a:lstStyle/>
          <a:p>
            <a:pPr algn="l"/>
            <a:r>
              <a:rPr sz="1200" b="0">
                <a:solidFill>
                  <a:srgbClr val="606060"/>
                </a:solidFill>
                <a:latin typeface="Segoe UI"/>
              </a:rPr>
              <a:t>Click any item to open the resource  •  All links are clickable</a:t>
            </a:r>
          </a:p>
        </p:txBody>
      </p:sp>
      <p:sp>
        <p:nvSpPr>
          <p:cNvPr id="4" name="Rounded Rectangle 3">
            <a:extLst>
              <a:ext uri="{C183D7F6-B498-43B3-948B-1728B52AA6E4}">
                <adec:decorative xmlns:adec="http://schemas.microsoft.com/office/drawing/2017/decorative" val="1"/>
              </a:ext>
            </a:extLst>
          </p:cNvPr>
          <p:cNvSpPr/>
          <p:nvPr/>
        </p:nvSpPr>
        <p:spPr>
          <a:xfrm>
            <a:off x="548640" y="2011680"/>
            <a:ext cx="5486400" cy="4297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C183D7F6-B498-43B3-948B-1728B52AA6E4}">
                <adec:decorative xmlns:adec="http://schemas.microsoft.com/office/drawing/2017/decorative" val="1"/>
              </a:ext>
            </a:extLst>
          </p:cNvPr>
          <p:cNvSpPr txBox="1"/>
          <p:nvPr/>
        </p:nvSpPr>
        <p:spPr>
          <a:xfrm>
            <a:off x="731520" y="2148840"/>
            <a:ext cx="5120640" cy="365760"/>
          </a:xfrm>
          <a:prstGeom prst="rect">
            <a:avLst/>
          </a:prstGeom>
          <a:noFill/>
        </p:spPr>
        <p:txBody>
          <a:bodyPr wrap="square" lIns="0" tIns="0" rIns="0" bIns="0" anchor="t">
            <a:spAutoFit/>
          </a:bodyPr>
          <a:lstStyle/>
          <a:p>
            <a:pPr algn="l"/>
            <a:r>
              <a:rPr sz="1600" b="1">
                <a:solidFill>
                  <a:srgbClr val="00B7C3"/>
                </a:solidFill>
                <a:latin typeface="Segoe UI"/>
              </a:rPr>
              <a:t>Labs / Learning Modules</a:t>
            </a:r>
          </a:p>
        </p:txBody>
      </p:sp>
      <p:sp>
        <p:nvSpPr>
          <p:cNvPr id="6" name="TextBox 5">
            <a:extLst>
              <a:ext uri="{C183D7F6-B498-43B3-948B-1728B52AA6E4}">
                <adec:decorative xmlns:adec="http://schemas.microsoft.com/office/drawing/2017/decorative" val="1"/>
              </a:ext>
            </a:extLst>
          </p:cNvPr>
          <p:cNvSpPr txBox="1"/>
          <p:nvPr/>
        </p:nvSpPr>
        <p:spPr>
          <a:xfrm>
            <a:off x="731520" y="2578608"/>
            <a:ext cx="5120640" cy="274320"/>
          </a:xfrm>
          <a:prstGeom prst="rect">
            <a:avLst/>
          </a:prstGeom>
          <a:noFill/>
        </p:spPr>
        <p:txBody>
          <a:bodyPr wrap="square" lIns="0" tIns="0" rIns="0" bIns="0" anchor="t">
            <a:spAutoFit/>
          </a:bodyPr>
          <a:lstStyle/>
          <a:p>
            <a:pPr algn="l"/>
            <a:r>
              <a:rPr sz="1000" b="1">
                <a:solidFill>
                  <a:srgbClr val="107C10"/>
                </a:solidFill>
                <a:latin typeface="Segoe UI"/>
              </a:rPr>
              <a:t>REQUIRED</a:t>
            </a:r>
          </a:p>
        </p:txBody>
      </p:sp>
      <p:sp>
        <p:nvSpPr>
          <p:cNvPr id="7" name="TextBox 6">
            <a:extLst>
              <a:ext uri="{C183D7F6-B498-43B3-948B-1728B52AA6E4}">
                <adec:decorative xmlns:adec="http://schemas.microsoft.com/office/drawing/2017/decorative" val="1"/>
              </a:ext>
            </a:extLst>
          </p:cNvPr>
          <p:cNvSpPr txBox="1"/>
          <p:nvPr/>
        </p:nvSpPr>
        <p:spPr>
          <a:xfrm>
            <a:off x="731520" y="2834640"/>
            <a:ext cx="5120640" cy="640080"/>
          </a:xfrm>
          <a:prstGeom prst="rect">
            <a:avLst/>
          </a:prstGeom>
          <a:noFill/>
        </p:spPr>
        <p:txBody>
          <a:bodyPr wrap="square" lIns="0" tIns="0" rIns="0" bIns="0">
            <a:spAutoFit/>
          </a:bodyPr>
          <a:lstStyle/>
          <a:p>
            <a:pPr>
              <a:spcAft>
                <a:spcPts val="400"/>
              </a:spcAft>
            </a:pPr>
            <a:r>
              <a:rPr sz="1200" b="1">
                <a:solidFill>
                  <a:srgbClr val="0078D4"/>
                </a:solidFill>
                <a:latin typeface="Segoe UI"/>
              </a:rPr>
              <a:t>•  </a:t>
            </a:r>
            <a:r>
              <a:rPr sz="1200" u="sng">
                <a:solidFill>
                  <a:srgbClr val="0078D4"/>
                </a:solidFill>
                <a:latin typeface="Segoe UI"/>
                <a:hlinkClick r:id="rId3"/>
              </a:rPr>
              <a:t>Azure AI Agent Service — overview and quickstart (Microsoft Learn)</a:t>
            </a:r>
          </a:p>
        </p:txBody>
      </p:sp>
      <p:sp>
        <p:nvSpPr>
          <p:cNvPr id="8" name="TextBox 7">
            <a:extLst>
              <a:ext uri="{C183D7F6-B498-43B3-948B-1728B52AA6E4}">
                <adec:decorative xmlns:adec="http://schemas.microsoft.com/office/drawing/2017/decorative" val="1"/>
              </a:ext>
            </a:extLst>
          </p:cNvPr>
          <p:cNvSpPr txBox="1"/>
          <p:nvPr/>
        </p:nvSpPr>
        <p:spPr>
          <a:xfrm>
            <a:off x="731520" y="3520440"/>
            <a:ext cx="5120640" cy="274320"/>
          </a:xfrm>
          <a:prstGeom prst="rect">
            <a:avLst/>
          </a:prstGeom>
          <a:noFill/>
        </p:spPr>
        <p:txBody>
          <a:bodyPr wrap="square" lIns="0" tIns="0" rIns="0" bIns="0" anchor="t">
            <a:spAutoFit/>
          </a:bodyPr>
          <a:lstStyle/>
          <a:p>
            <a:pPr algn="l"/>
            <a:r>
              <a:rPr sz="1000" b="1">
                <a:solidFill>
                  <a:srgbClr val="606060"/>
                </a:solidFill>
                <a:latin typeface="Segoe UI"/>
              </a:rPr>
              <a:t>OPTIONAL — go deeper</a:t>
            </a:r>
          </a:p>
        </p:txBody>
      </p:sp>
      <p:sp>
        <p:nvSpPr>
          <p:cNvPr id="9" name="TextBox 8">
            <a:extLst>
              <a:ext uri="{C183D7F6-B498-43B3-948B-1728B52AA6E4}">
                <adec:decorative xmlns:adec="http://schemas.microsoft.com/office/drawing/2017/decorative" val="1"/>
              </a:ext>
            </a:extLst>
          </p:cNvPr>
          <p:cNvSpPr txBox="1"/>
          <p:nvPr/>
        </p:nvSpPr>
        <p:spPr>
          <a:xfrm>
            <a:off x="731520" y="3794760"/>
            <a:ext cx="5120640" cy="610424"/>
          </a:xfrm>
          <a:prstGeom prst="rect">
            <a:avLst/>
          </a:prstGeom>
          <a:noFill/>
        </p:spPr>
        <p:txBody>
          <a:bodyPr wrap="square" lIns="0" tIns="0" rIns="0" bIns="0">
            <a:spAutoFit/>
          </a:bodyPr>
          <a:lstStyle/>
          <a:p>
            <a:pPr>
              <a:spcAft>
                <a:spcPts val="400"/>
              </a:spcAft>
            </a:pPr>
            <a:r>
              <a:rPr sz="1100" b="1">
                <a:solidFill>
                  <a:srgbClr val="0078D4"/>
                </a:solidFill>
                <a:latin typeface="Segoe UI"/>
              </a:rPr>
              <a:t>•  </a:t>
            </a:r>
            <a:r>
              <a:rPr sz="1100" u="sng">
                <a:solidFill>
                  <a:srgbClr val="0078D4"/>
                </a:solidFill>
                <a:latin typeface="Segoe UI"/>
                <a:hlinkClick r:id="rId4"/>
              </a:rPr>
              <a:t>Azure AI Foundry hands-on labs (Microsoft Learn)</a:t>
            </a:r>
          </a:p>
          <a:p>
            <a:pPr>
              <a:spcAft>
                <a:spcPts val="400"/>
              </a:spcAft>
            </a:pPr>
            <a:r>
              <a:rPr sz="1100" b="1">
                <a:solidFill>
                  <a:srgbClr val="0078D4"/>
                </a:solidFill>
                <a:latin typeface="Segoe UI"/>
              </a:rPr>
              <a:t>•  </a:t>
            </a:r>
            <a:r>
              <a:rPr sz="1100" u="sng">
                <a:solidFill>
                  <a:srgbClr val="0078D4"/>
                </a:solidFill>
                <a:latin typeface="Segoe UI"/>
                <a:hlinkClick r:id="rId5"/>
              </a:rPr>
              <a:t>Monitor Azure AI Foundry agents (Learn module)</a:t>
            </a:r>
          </a:p>
          <a:p>
            <a:pPr>
              <a:spcAft>
                <a:spcPts val="400"/>
              </a:spcAft>
            </a:pPr>
            <a:r>
              <a:rPr sz="1100" b="1">
                <a:solidFill>
                  <a:srgbClr val="0078D4"/>
                </a:solidFill>
                <a:latin typeface="Segoe UI"/>
              </a:rPr>
              <a:t>•  </a:t>
            </a:r>
            <a:r>
              <a:rPr sz="1100" u="sng">
                <a:solidFill>
                  <a:srgbClr val="0078D4"/>
                </a:solidFill>
                <a:latin typeface="Segoe UI"/>
                <a:hlinkClick r:id="rId6"/>
              </a:rPr>
              <a:t>Azure AI samples &amp; solution notebooks (GitHub)</a:t>
            </a:r>
          </a:p>
        </p:txBody>
      </p:sp>
      <p:sp>
        <p:nvSpPr>
          <p:cNvPr id="10" name="Rounded Rectangle 9">
            <a:extLst>
              <a:ext uri="{C183D7F6-B498-43B3-948B-1728B52AA6E4}">
                <adec:decorative xmlns:adec="http://schemas.microsoft.com/office/drawing/2017/decorative" val="1"/>
              </a:ext>
            </a:extLst>
          </p:cNvPr>
          <p:cNvSpPr/>
          <p:nvPr/>
        </p:nvSpPr>
        <p:spPr>
          <a:xfrm>
            <a:off x="6172200" y="2011680"/>
            <a:ext cx="5486400" cy="4297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C183D7F6-B498-43B3-948B-1728B52AA6E4}">
                <adec:decorative xmlns:adec="http://schemas.microsoft.com/office/drawing/2017/decorative" val="1"/>
              </a:ext>
            </a:extLst>
          </p:cNvPr>
          <p:cNvSpPr txBox="1"/>
          <p:nvPr/>
        </p:nvSpPr>
        <p:spPr>
          <a:xfrm>
            <a:off x="6355080" y="2148840"/>
            <a:ext cx="5120640" cy="365760"/>
          </a:xfrm>
          <a:prstGeom prst="rect">
            <a:avLst/>
          </a:prstGeom>
          <a:noFill/>
        </p:spPr>
        <p:txBody>
          <a:bodyPr wrap="square" lIns="0" tIns="0" rIns="0" bIns="0" anchor="t">
            <a:spAutoFit/>
          </a:bodyPr>
          <a:lstStyle/>
          <a:p>
            <a:pPr algn="l"/>
            <a:r>
              <a:rPr sz="1600" b="1">
                <a:solidFill>
                  <a:srgbClr val="00B7C3"/>
                </a:solidFill>
                <a:latin typeface="Segoe UI"/>
              </a:rPr>
              <a:t>Other Resources</a:t>
            </a:r>
          </a:p>
        </p:txBody>
      </p:sp>
      <p:sp>
        <p:nvSpPr>
          <p:cNvPr id="12" name="TextBox 11">
            <a:extLst>
              <a:ext uri="{C183D7F6-B498-43B3-948B-1728B52AA6E4}">
                <adec:decorative xmlns:adec="http://schemas.microsoft.com/office/drawing/2017/decorative" val="1"/>
              </a:ext>
            </a:extLst>
          </p:cNvPr>
          <p:cNvSpPr txBox="1"/>
          <p:nvPr/>
        </p:nvSpPr>
        <p:spPr>
          <a:xfrm>
            <a:off x="6355080" y="2578608"/>
            <a:ext cx="5120640" cy="274320"/>
          </a:xfrm>
          <a:prstGeom prst="rect">
            <a:avLst/>
          </a:prstGeom>
          <a:noFill/>
        </p:spPr>
        <p:txBody>
          <a:bodyPr wrap="square" lIns="0" tIns="0" rIns="0" bIns="0" anchor="t">
            <a:spAutoFit/>
          </a:bodyPr>
          <a:lstStyle/>
          <a:p>
            <a:pPr algn="l"/>
            <a:r>
              <a:rPr sz="1000" b="1">
                <a:solidFill>
                  <a:srgbClr val="606060"/>
                </a:solidFill>
                <a:latin typeface="Segoe UI"/>
              </a:rPr>
              <a:t>OPTIONAL — if you want to learn more</a:t>
            </a:r>
          </a:p>
        </p:txBody>
      </p:sp>
      <p:sp>
        <p:nvSpPr>
          <p:cNvPr id="13" name="TextBox 12">
            <a:extLst>
              <a:ext uri="{C183D7F6-B498-43B3-948B-1728B52AA6E4}">
                <adec:decorative xmlns:adec="http://schemas.microsoft.com/office/drawing/2017/decorative" val="1"/>
              </a:ext>
            </a:extLst>
          </p:cNvPr>
          <p:cNvSpPr txBox="1"/>
          <p:nvPr/>
        </p:nvSpPr>
        <p:spPr>
          <a:xfrm>
            <a:off x="6355080" y="2834640"/>
            <a:ext cx="5120640" cy="830997"/>
          </a:xfrm>
          <a:prstGeom prst="rect">
            <a:avLst/>
          </a:prstGeom>
          <a:noFill/>
        </p:spPr>
        <p:txBody>
          <a:bodyPr wrap="square" lIns="0" tIns="0" rIns="0" bIns="0">
            <a:spAutoFit/>
          </a:bodyPr>
          <a:lstStyle/>
          <a:p>
            <a:pPr>
              <a:spcAft>
                <a:spcPts val="400"/>
              </a:spcAft>
            </a:pPr>
            <a:r>
              <a:rPr sz="1100" b="1">
                <a:solidFill>
                  <a:srgbClr val="0078D4"/>
                </a:solidFill>
                <a:latin typeface="Segoe UI"/>
              </a:rPr>
              <a:t>•  </a:t>
            </a:r>
            <a:r>
              <a:rPr sz="1100" u="sng">
                <a:solidFill>
                  <a:srgbClr val="0078D4"/>
                </a:solidFill>
                <a:latin typeface="Segoe UI"/>
                <a:hlinkClick r:id="rId7"/>
              </a:rPr>
              <a:t>Azure AI Foundry portal — project hub &amp; monitoring</a:t>
            </a:r>
          </a:p>
          <a:p>
            <a:pPr>
              <a:spcAft>
                <a:spcPts val="400"/>
              </a:spcAft>
            </a:pPr>
            <a:r>
              <a:rPr lang="en-US" sz="1100" b="1">
                <a:solidFill>
                  <a:srgbClr val="0078D4"/>
                </a:solidFill>
                <a:latin typeface="Segoe UI"/>
              </a:rPr>
              <a:t>•  </a:t>
            </a:r>
            <a:r>
              <a:rPr lang="en-US" sz="1100" u="sng">
                <a:solidFill>
                  <a:srgbClr val="0078D4"/>
                </a:solidFill>
                <a:latin typeface="Segoe UI"/>
                <a:hlinkClick r:id="rId8"/>
              </a:rPr>
              <a:t>What is Azure AI Foundry? (Microsoft Learn)</a:t>
            </a:r>
          </a:p>
          <a:p>
            <a:pPr>
              <a:spcAft>
                <a:spcPts val="400"/>
              </a:spcAft>
            </a:pPr>
            <a:r>
              <a:rPr sz="1100" b="1">
                <a:solidFill>
                  <a:srgbClr val="0078D4"/>
                </a:solidFill>
                <a:latin typeface="Segoe UI"/>
              </a:rPr>
              <a:t>•  </a:t>
            </a:r>
            <a:r>
              <a:rPr sz="1100" u="sng">
                <a:solidFill>
                  <a:srgbClr val="0078D4"/>
                </a:solidFill>
                <a:latin typeface="Segoe UI"/>
                <a:hlinkClick r:id="rId9"/>
              </a:rPr>
              <a:t>Secure Azure AI workloads — Cloud Adoption Framework</a:t>
            </a:r>
          </a:p>
          <a:p>
            <a:pPr>
              <a:spcAft>
                <a:spcPts val="400"/>
              </a:spcAft>
            </a:pPr>
            <a:r>
              <a:rPr sz="1100" b="1">
                <a:solidFill>
                  <a:srgbClr val="0078D4"/>
                </a:solidFill>
                <a:latin typeface="Segoe UI"/>
              </a:rPr>
              <a:t>•  </a:t>
            </a:r>
            <a:r>
              <a:rPr sz="1100" u="sng">
                <a:solidFill>
                  <a:srgbClr val="0078D4"/>
                </a:solidFill>
                <a:latin typeface="Segoe UI"/>
                <a:hlinkClick r:id="rId10"/>
              </a:rPr>
              <a:t>Maximizing AI's potential: Insights from Microsoft leaders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2011680"/>
            <a:ext cx="11000000" cy="0"/>
          </a:xfrm>
        </p:spPr>
        <p:txBody>
          <a:bodyPr wrap="square">
            <a:noAutofit/>
          </a:bodyPr>
          <a:lstStyle/>
          <a:p>
            <a:pPr algn="l">
              <a:defRPr sz="3600">
                <a:latin typeface="Segoe UI"/>
              </a:defRPr>
            </a:pPr>
            <a:r>
              <a:rPr sz="3600">
                <a:latin typeface="Segoe UI"/>
              </a:rPr>
              <a:t>Organization &amp; Culture</a:t>
            </a:r>
          </a:p>
        </p:txBody>
      </p:sp>
      <p:sp>
        <p:nvSpPr>
          <p:cNvPr id="3" name="Text Placeholder 2"/>
          <p:cNvSpPr>
            <a:spLocks noGrp="1"/>
          </p:cNvSpPr>
          <p:nvPr>
            <p:ph type="body" sz="quarter" idx="12"/>
          </p:nvPr>
        </p:nvSpPr>
        <p:spPr>
          <a:xfrm>
            <a:off x="731520" y="3200400"/>
            <a:ext cx="9000000" cy="0"/>
          </a:xfrm>
        </p:spPr>
        <p:txBody>
          <a:bodyPr/>
          <a:lstStyle/>
          <a:p>
            <a:r>
              <a:rPr sz="2000"/>
              <a:t>Adoption, change management, champions, templates &amp; accelerators</a:t>
            </a:r>
          </a:p>
        </p:txBody>
      </p:sp>
      <p:sp>
        <p:nvSpPr>
          <p:cNvPr id="4" name="TextBox 3">
            <a:extLst>
              <a:ext uri="{C183D7F6-B498-43B3-948B-1728B52AA6E4}">
                <adec:decorative xmlns:adec="http://schemas.microsoft.com/office/drawing/2017/decorative" val="1"/>
              </a:ext>
            </a:extLst>
          </p:cNvPr>
          <p:cNvSpPr txBox="1"/>
          <p:nvPr/>
        </p:nvSpPr>
        <p:spPr>
          <a:xfrm>
            <a:off x="731520" y="457200"/>
            <a:ext cx="5486400" cy="411480"/>
          </a:xfrm>
          <a:prstGeom prst="rect">
            <a:avLst/>
          </a:prstGeom>
          <a:noFill/>
        </p:spPr>
        <p:txBody>
          <a:bodyPr wrap="square" lIns="0" tIns="0" rIns="0" bIns="0" anchor="t">
            <a:spAutoFit/>
          </a:bodyPr>
          <a:lstStyle/>
          <a:p>
            <a:pPr algn="l"/>
            <a:r>
              <a:rPr sz="1600" b="1">
                <a:solidFill>
                  <a:srgbClr val="FFFFFF"/>
                </a:solidFill>
                <a:latin typeface="Segoe UI"/>
              </a:rPr>
              <a:t>Learning Unit 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Objectives — Organization &amp; Culture</a:t>
            </a:r>
          </a:p>
        </p:txBody>
      </p:sp>
      <p:sp>
        <p:nvSpPr>
          <p:cNvPr id="3" name="Text Placeholder 2"/>
          <p:cNvSpPr>
            <a:spLocks noGrp="1"/>
          </p:cNvSpPr>
          <p:nvPr>
            <p:ph type="body" sz="quarter" idx="12"/>
          </p:nvPr>
        </p:nvSpPr>
        <p:spPr/>
        <p:txBody>
          <a:bodyPr/>
          <a:lstStyle/>
          <a:p>
            <a:r>
              <a:rPr sz="1600">
                <a:solidFill>
                  <a:srgbClr val="606060"/>
                </a:solidFill>
              </a:rPr>
              <a:t>What you will learn and decide in this learning unit</a:t>
            </a:r>
          </a:p>
        </p:txBody>
      </p:sp>
      <p:sp>
        <p:nvSpPr>
          <p:cNvPr id="4" name="Rectangle 3" descr="Focus"/>
          <p:cNvSpPr/>
          <p:nvPr/>
        </p:nvSpPr>
        <p:spPr>
          <a:xfrm>
            <a:off x="502920" y="2194560"/>
            <a:ext cx="3611880" cy="457200"/>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Focus</a:t>
            </a:r>
          </a:p>
        </p:txBody>
      </p:sp>
      <p:sp>
        <p:nvSpPr>
          <p:cNvPr id="5" name="Rounded Rectangle 4">
            <a:extLst>
              <a:ext uri="{C183D7F6-B498-43B3-948B-1728B52AA6E4}">
                <adec:decorative xmlns:adec="http://schemas.microsoft.com/office/drawing/2017/decorative" val="1"/>
              </a:ext>
            </a:extLst>
          </p:cNvPr>
          <p:cNvSpPr/>
          <p:nvPr/>
        </p:nvSpPr>
        <p:spPr>
          <a:xfrm>
            <a:off x="502920"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C183D7F6-B498-43B3-948B-1728B52AA6E4}">
                <adec:decorative xmlns:adec="http://schemas.microsoft.com/office/drawing/2017/decorative" val="1"/>
              </a:ext>
            </a:extLst>
          </p:cNvPr>
          <p:cNvSpPr txBox="1"/>
          <p:nvPr/>
        </p:nvSpPr>
        <p:spPr>
          <a:xfrm>
            <a:off x="685800"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Foster an AI innovation culture</a:t>
            </a:r>
          </a:p>
          <a:p>
            <a:pPr>
              <a:spcAft>
                <a:spcPts val="600"/>
              </a:spcAft>
            </a:pPr>
            <a:r>
              <a:rPr sz="1200" b="1">
                <a:solidFill>
                  <a:srgbClr val="0078D4"/>
                </a:solidFill>
                <a:latin typeface="Segoe UI"/>
              </a:rPr>
              <a:t>•  </a:t>
            </a:r>
            <a:r>
              <a:rPr sz="1200">
                <a:solidFill>
                  <a:srgbClr val="323232"/>
                </a:solidFill>
                <a:latin typeface="Segoe UI"/>
              </a:rPr>
              <a:t>Drive structured adoption, knowledge sharing &amp; continuous improvement</a:t>
            </a:r>
          </a:p>
          <a:p>
            <a:pPr>
              <a:spcAft>
                <a:spcPts val="600"/>
              </a:spcAft>
            </a:pPr>
            <a:r>
              <a:rPr sz="1200" b="1">
                <a:solidFill>
                  <a:srgbClr val="0078D4"/>
                </a:solidFill>
                <a:latin typeface="Segoe UI"/>
              </a:rPr>
              <a:t>•  </a:t>
            </a:r>
            <a:r>
              <a:rPr sz="1200">
                <a:solidFill>
                  <a:srgbClr val="323232"/>
                </a:solidFill>
                <a:latin typeface="Segoe UI"/>
              </a:rPr>
              <a:t>Scale AI safely via templates, training and feedback loops</a:t>
            </a:r>
          </a:p>
        </p:txBody>
      </p:sp>
      <p:sp>
        <p:nvSpPr>
          <p:cNvPr id="7" name="Rectangle 6" descr="Outcomes"/>
          <p:cNvSpPr/>
          <p:nvPr/>
        </p:nvSpPr>
        <p:spPr>
          <a:xfrm>
            <a:off x="4279392" y="2194560"/>
            <a:ext cx="3611880" cy="45720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Outcomes</a:t>
            </a:r>
          </a:p>
        </p:txBody>
      </p:sp>
      <p:sp>
        <p:nvSpPr>
          <p:cNvPr id="8" name="Rounded Rectangle 7">
            <a:extLst>
              <a:ext uri="{C183D7F6-B498-43B3-948B-1728B52AA6E4}">
                <adec:decorative xmlns:adec="http://schemas.microsoft.com/office/drawing/2017/decorative" val="1"/>
              </a:ext>
            </a:extLst>
          </p:cNvPr>
          <p:cNvSpPr/>
          <p:nvPr/>
        </p:nvSpPr>
        <p:spPr>
          <a:xfrm>
            <a:off x="4279392"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C183D7F6-B498-43B3-948B-1728B52AA6E4}">
                <adec:decorative xmlns:adec="http://schemas.microsoft.com/office/drawing/2017/decorative" val="1"/>
              </a:ext>
            </a:extLst>
          </p:cNvPr>
          <p:cNvSpPr txBox="1"/>
          <p:nvPr/>
        </p:nvSpPr>
        <p:spPr>
          <a:xfrm>
            <a:off x="4462272"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Self-sustaining AI adoption embedded in business processes</a:t>
            </a:r>
          </a:p>
          <a:p>
            <a:pPr>
              <a:spcAft>
                <a:spcPts val="600"/>
              </a:spcAft>
            </a:pPr>
            <a:r>
              <a:rPr sz="1200" b="1">
                <a:solidFill>
                  <a:srgbClr val="0078D4"/>
                </a:solidFill>
                <a:latin typeface="Segoe UI"/>
              </a:rPr>
              <a:t>•  </a:t>
            </a:r>
            <a:r>
              <a:rPr sz="1200">
                <a:solidFill>
                  <a:srgbClr val="323232"/>
                </a:solidFill>
                <a:latin typeface="Segoe UI"/>
              </a:rPr>
              <a:t>Active knowledge-sharing culture with continuous feedback</a:t>
            </a:r>
          </a:p>
          <a:p>
            <a:pPr>
              <a:spcAft>
                <a:spcPts val="600"/>
              </a:spcAft>
            </a:pPr>
            <a:r>
              <a:rPr sz="1200" b="1">
                <a:solidFill>
                  <a:srgbClr val="0078D4"/>
                </a:solidFill>
                <a:latin typeface="Segoe UI"/>
              </a:rPr>
              <a:t>•  </a:t>
            </a:r>
            <a:r>
              <a:rPr sz="1200">
                <a:solidFill>
                  <a:srgbClr val="323232"/>
                </a:solidFill>
                <a:latin typeface="Segoe UI"/>
              </a:rPr>
              <a:t>Reusable AI templates, catalogs &amp; accelerators in the community</a:t>
            </a:r>
          </a:p>
        </p:txBody>
      </p:sp>
      <p:sp>
        <p:nvSpPr>
          <p:cNvPr id="10" name="Rectangle 9" descr="Audience"/>
          <p:cNvSpPr/>
          <p:nvPr/>
        </p:nvSpPr>
        <p:spPr>
          <a:xfrm>
            <a:off x="8055864" y="2194560"/>
            <a:ext cx="3611880" cy="4572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Audience</a:t>
            </a:r>
          </a:p>
        </p:txBody>
      </p:sp>
      <p:sp>
        <p:nvSpPr>
          <p:cNvPr id="11" name="Rounded Rectangle 10">
            <a:extLst>
              <a:ext uri="{C183D7F6-B498-43B3-948B-1728B52AA6E4}">
                <adec:decorative xmlns:adec="http://schemas.microsoft.com/office/drawing/2017/decorative" val="1"/>
              </a:ext>
            </a:extLst>
          </p:cNvPr>
          <p:cNvSpPr/>
          <p:nvPr/>
        </p:nvSpPr>
        <p:spPr>
          <a:xfrm>
            <a:off x="8055864"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C183D7F6-B498-43B3-948B-1728B52AA6E4}">
                <adec:decorative xmlns:adec="http://schemas.microsoft.com/office/drawing/2017/decorative" val="1"/>
              </a:ext>
            </a:extLst>
          </p:cNvPr>
          <p:cNvSpPr txBox="1"/>
          <p:nvPr/>
        </p:nvSpPr>
        <p:spPr>
          <a:xfrm>
            <a:off x="8238744"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Head of Employee Experience</a:t>
            </a:r>
          </a:p>
          <a:p>
            <a:pPr>
              <a:spcAft>
                <a:spcPts val="600"/>
              </a:spcAft>
            </a:pPr>
            <a:r>
              <a:rPr sz="1200" b="1">
                <a:solidFill>
                  <a:srgbClr val="0078D4"/>
                </a:solidFill>
                <a:latin typeface="Segoe UI"/>
              </a:rPr>
              <a:t>•  </a:t>
            </a:r>
            <a:r>
              <a:rPr sz="1200">
                <a:solidFill>
                  <a:srgbClr val="323232"/>
                </a:solidFill>
                <a:latin typeface="Segoe UI"/>
              </a:rPr>
              <a:t>Chief Technology Officer (CTO)</a:t>
            </a:r>
          </a:p>
          <a:p>
            <a:pPr>
              <a:spcAft>
                <a:spcPts val="600"/>
              </a:spcAft>
            </a:pPr>
            <a:r>
              <a:rPr sz="1200" b="1">
                <a:solidFill>
                  <a:srgbClr val="0078D4"/>
                </a:solidFill>
                <a:latin typeface="Segoe UI"/>
              </a:rPr>
              <a:t>•  </a:t>
            </a:r>
            <a:r>
              <a:rPr sz="1200">
                <a:solidFill>
                  <a:srgbClr val="323232"/>
                </a:solidFill>
                <a:latin typeface="Segoe UI"/>
              </a:rPr>
              <a:t>AI COE Lead</a:t>
            </a:r>
          </a:p>
          <a:p>
            <a:pPr>
              <a:spcAft>
                <a:spcPts val="600"/>
              </a:spcAft>
            </a:pPr>
            <a:r>
              <a:rPr sz="1200" b="1">
                <a:solidFill>
                  <a:srgbClr val="0078D4"/>
                </a:solidFill>
                <a:latin typeface="Segoe UI"/>
              </a:rPr>
              <a:t>•  </a:t>
            </a:r>
            <a:r>
              <a:rPr sz="1200">
                <a:solidFill>
                  <a:srgbClr val="323232"/>
                </a:solidFill>
                <a:latin typeface="Segoe UI"/>
              </a:rPr>
              <a:t>Change &amp; communications leadership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Workforce readiness — turn AI worries into AI opportunity</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411480"/>
          </a:xfrm>
          <a:prstGeom prst="rect">
            <a:avLst/>
          </a:prstGeom>
          <a:noFill/>
        </p:spPr>
        <p:txBody>
          <a:bodyPr wrap="square" lIns="0" tIns="0" rIns="0" bIns="0" anchor="t">
            <a:spAutoFit/>
          </a:bodyPr>
          <a:lstStyle/>
          <a:p>
            <a:pPr algn="l"/>
            <a:r>
              <a:rPr sz="1400" b="0">
                <a:solidFill>
                  <a:srgbClr val="606060"/>
                </a:solidFill>
                <a:latin typeface="Segoe UI"/>
              </a:rPr>
              <a:t>82% of leaders expect to use AI agents in the next 12-18 months — yet most workers are anxious</a:t>
            </a:r>
          </a:p>
        </p:txBody>
      </p:sp>
      <p:sp>
        <p:nvSpPr>
          <p:cNvPr id="4" name="Rounded Rectangle 3" descr="52%  of employees worry about AI's impact on jobs*"/>
          <p:cNvSpPr/>
          <p:nvPr/>
        </p:nvSpPr>
        <p:spPr>
          <a:xfrm>
            <a:off x="502920" y="2240280"/>
            <a:ext cx="2606040" cy="1828800"/>
          </a:xfrm>
          <a:prstGeom prst="roundRect">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4000" b="1">
                <a:solidFill>
                  <a:srgbClr val="FFFFFF"/>
                </a:solidFill>
                <a:latin typeface="Segoe UI"/>
              </a:rPr>
              <a:t>52%</a:t>
            </a:r>
          </a:p>
          <a:p>
            <a:pPr algn="ctr"/>
            <a:r>
              <a:rPr sz="1200" b="0">
                <a:solidFill>
                  <a:srgbClr val="FFFFFF"/>
                </a:solidFill>
                <a:latin typeface="Segoe UI"/>
              </a:rPr>
              <a:t>of employees worry about AI's impact on jobs*</a:t>
            </a:r>
          </a:p>
        </p:txBody>
      </p:sp>
      <p:sp>
        <p:nvSpPr>
          <p:cNvPr id="5" name="Rounded Rectangle 4" descr="16%  use AI in their job today"/>
          <p:cNvSpPr/>
          <p:nvPr/>
        </p:nvSpPr>
        <p:spPr>
          <a:xfrm>
            <a:off x="3246120" y="2240280"/>
            <a:ext cx="2606040" cy="182880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4000" b="1">
                <a:solidFill>
                  <a:srgbClr val="FFFFFF"/>
                </a:solidFill>
                <a:latin typeface="Segoe UI"/>
              </a:rPr>
              <a:t>16%</a:t>
            </a:r>
          </a:p>
          <a:p>
            <a:pPr algn="ctr"/>
            <a:r>
              <a:rPr sz="1200" b="0">
                <a:solidFill>
                  <a:srgbClr val="FFFFFF"/>
                </a:solidFill>
                <a:latin typeface="Segoe UI"/>
              </a:rPr>
              <a:t>use AI in their job today</a:t>
            </a:r>
          </a:p>
        </p:txBody>
      </p:sp>
      <p:sp>
        <p:nvSpPr>
          <p:cNvPr id="6" name="Rounded Rectangle 5" descr="&lt;1%  have ever created an AI agent"/>
          <p:cNvSpPr/>
          <p:nvPr/>
        </p:nvSpPr>
        <p:spPr>
          <a:xfrm>
            <a:off x="5989320" y="2240280"/>
            <a:ext cx="2606040" cy="1828800"/>
          </a:xfrm>
          <a:prstGeom prst="roundRect">
            <a:avLst/>
          </a:prstGeom>
          <a:solidFill>
            <a:srgbClr val="68217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4000" b="1">
                <a:solidFill>
                  <a:srgbClr val="FFFFFF"/>
                </a:solidFill>
                <a:latin typeface="Segoe UI"/>
              </a:rPr>
              <a:t>&lt;1%</a:t>
            </a:r>
          </a:p>
          <a:p>
            <a:pPr algn="ctr"/>
            <a:r>
              <a:rPr sz="1200" b="0">
                <a:solidFill>
                  <a:srgbClr val="FFFFFF"/>
                </a:solidFill>
                <a:latin typeface="Segoe UI"/>
              </a:rPr>
              <a:t>have ever created an AI agent</a:t>
            </a:r>
          </a:p>
        </p:txBody>
      </p:sp>
      <p:sp>
        <p:nvSpPr>
          <p:cNvPr id="7" name="Rounded Rectangle 6" descr="82%  of leaders expect to use agents in the next 12-18 months**"/>
          <p:cNvSpPr/>
          <p:nvPr/>
        </p:nvSpPr>
        <p:spPr>
          <a:xfrm>
            <a:off x="8732520" y="2240280"/>
            <a:ext cx="2606040" cy="1828800"/>
          </a:xfrm>
          <a:prstGeom prst="round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4000" b="1">
                <a:solidFill>
                  <a:srgbClr val="FFFFFF"/>
                </a:solidFill>
                <a:latin typeface="Segoe UI"/>
              </a:rPr>
              <a:t>82%</a:t>
            </a:r>
          </a:p>
          <a:p>
            <a:pPr algn="ctr"/>
            <a:r>
              <a:rPr sz="1200" b="0">
                <a:solidFill>
                  <a:srgbClr val="FFFFFF"/>
                </a:solidFill>
                <a:latin typeface="Segoe UI"/>
              </a:rPr>
              <a:t>of leaders expect to use agents in the next 12-18 months**</a:t>
            </a:r>
          </a:p>
        </p:txBody>
      </p:sp>
      <p:sp>
        <p:nvSpPr>
          <p:cNvPr id="8" name="Rounded Rectangle 7" descr="Three phases of human + agent collaboration (Microsoft Work Trend Index 2025)  Phase 1: Human with assistant  →  Phase 2: Human-agent teams  →  Phase 3: Human-led, agent-operated  Successful COEs invest equally in tooling and in change management — identi"/>
          <p:cNvSpPr/>
          <p:nvPr/>
        </p:nvSpPr>
        <p:spPr>
          <a:xfrm>
            <a:off x="502920" y="3931920"/>
            <a:ext cx="11155680" cy="1828800"/>
          </a:xfrm>
          <a:prstGeom prst="roundRect">
            <a:avLst/>
          </a:prstGeom>
          <a:solidFill>
            <a:srgbClr val="DEECF9"/>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003266"/>
                </a:solidFill>
                <a:latin typeface="Segoe UI"/>
              </a:rPr>
              <a:t>Three phases of human + agent collaboration (Microsoft Work Trend Index 2025)</a:t>
            </a:r>
          </a:p>
          <a:p>
            <a:pPr algn="ctr"/>
            <a:r>
              <a:rPr sz="1400" b="0">
                <a:solidFill>
                  <a:srgbClr val="323232"/>
                </a:solidFill>
                <a:latin typeface="Segoe UI"/>
              </a:rPr>
              <a:t>Phase 1: Human with assistant  →  Phase 2: Human-agent teams  →  Phase 3: Human-led, agent-operated</a:t>
            </a:r>
          </a:p>
          <a:p>
            <a:pPr algn="ctr"/>
            <a:r>
              <a:rPr sz="1200" b="0">
                <a:solidFill>
                  <a:srgbClr val="606060"/>
                </a:solidFill>
                <a:latin typeface="Segoe UI"/>
              </a:rPr>
              <a:t>Successful COEs invest equally in tooling and in change management — identifying champions, learning paths and an Agent Manager role.</a:t>
            </a:r>
          </a:p>
        </p:txBody>
      </p:sp>
      <p:sp>
        <p:nvSpPr>
          <p:cNvPr id="9" name="TextBox 8">
            <a:extLst>
              <a:ext uri="{C183D7F6-B498-43B3-948B-1728B52AA6E4}">
                <adec:decorative xmlns:adec="http://schemas.microsoft.com/office/drawing/2017/decorative" val="1"/>
              </a:ext>
            </a:extLst>
          </p:cNvPr>
          <p:cNvSpPr txBox="1"/>
          <p:nvPr/>
        </p:nvSpPr>
        <p:spPr>
          <a:xfrm>
            <a:off x="502920" y="5943600"/>
            <a:ext cx="10972800" cy="365760"/>
          </a:xfrm>
          <a:prstGeom prst="rect">
            <a:avLst/>
          </a:prstGeom>
          <a:noFill/>
        </p:spPr>
        <p:txBody>
          <a:bodyPr wrap="square" lIns="0" tIns="0" rIns="0" bIns="0" anchor="t">
            <a:spAutoFit/>
          </a:bodyPr>
          <a:lstStyle/>
          <a:p>
            <a:pPr algn="l"/>
            <a:r>
              <a:rPr sz="1000" b="0">
                <a:solidFill>
                  <a:srgbClr val="606060"/>
                </a:solidFill>
                <a:latin typeface="Segoe UI"/>
              </a:rPr>
              <a:t>* PEW Research — U.S. workers, 2024   ** Microsoft Work Trend Index 2025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Templates, catalogs &amp; accelerators — three reinforcing motions</a:t>
            </a:r>
          </a:p>
        </p:txBody>
      </p:sp>
      <p:sp>
        <p:nvSpPr>
          <p:cNvPr id="3" name="Rectangle 2" descr="Training"/>
          <p:cNvSpPr/>
          <p:nvPr/>
        </p:nvSpPr>
        <p:spPr>
          <a:xfrm>
            <a:off x="502920" y="2240280"/>
            <a:ext cx="3611880" cy="54864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800" b="1">
                <a:solidFill>
                  <a:srgbClr val="FFFFFF"/>
                </a:solidFill>
                <a:latin typeface="Segoe UI"/>
              </a:rPr>
              <a:t>Training</a:t>
            </a:r>
          </a:p>
        </p:txBody>
      </p:sp>
      <p:sp>
        <p:nvSpPr>
          <p:cNvPr id="4" name="Rounded Rectangle 3">
            <a:extLst>
              <a:ext uri="{C183D7F6-B498-43B3-948B-1728B52AA6E4}">
                <adec:decorative xmlns:adec="http://schemas.microsoft.com/office/drawing/2017/decorative" val="1"/>
              </a:ext>
            </a:extLst>
          </p:cNvPr>
          <p:cNvSpPr/>
          <p:nvPr/>
        </p:nvSpPr>
        <p:spPr>
          <a:xfrm>
            <a:off x="502920" y="2880360"/>
            <a:ext cx="3611880" cy="35661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C183D7F6-B498-43B3-948B-1728B52AA6E4}">
                <adec:decorative xmlns:adec="http://schemas.microsoft.com/office/drawing/2017/decorative" val="1"/>
              </a:ext>
            </a:extLst>
          </p:cNvPr>
          <p:cNvSpPr txBox="1"/>
          <p:nvPr/>
        </p:nvSpPr>
        <p:spPr>
          <a:xfrm>
            <a:off x="685800" y="3017520"/>
            <a:ext cx="3246120" cy="3383280"/>
          </a:xfrm>
          <a:prstGeom prst="rect">
            <a:avLst/>
          </a:prstGeom>
          <a:noFill/>
        </p:spPr>
        <p:txBody>
          <a:bodyPr wrap="square" lIns="0" tIns="0" rIns="0" bIns="0">
            <a:spAutoFit/>
          </a:bodyPr>
          <a:lstStyle/>
          <a:p>
            <a:pPr>
              <a:spcAft>
                <a:spcPts val="800"/>
              </a:spcAft>
            </a:pPr>
            <a:r>
              <a:rPr sz="1200" b="1">
                <a:solidFill>
                  <a:srgbClr val="0078D4"/>
                </a:solidFill>
                <a:latin typeface="Segoe UI"/>
              </a:rPr>
              <a:t>•  </a:t>
            </a:r>
            <a:r>
              <a:rPr sz="1200">
                <a:solidFill>
                  <a:srgbClr val="323232"/>
                </a:solidFill>
                <a:latin typeface="Segoe UI"/>
              </a:rPr>
              <a:t>Training &amp; upskilling strategy for employees</a:t>
            </a:r>
          </a:p>
          <a:p>
            <a:pPr>
              <a:spcAft>
                <a:spcPts val="800"/>
              </a:spcAft>
            </a:pPr>
            <a:r>
              <a:rPr sz="1200" b="1">
                <a:solidFill>
                  <a:srgbClr val="0078D4"/>
                </a:solidFill>
                <a:latin typeface="Segoe UI"/>
              </a:rPr>
              <a:t>•  </a:t>
            </a:r>
            <a:r>
              <a:rPr sz="1200">
                <a:solidFill>
                  <a:srgbClr val="323232"/>
                </a:solidFill>
                <a:latin typeface="Segoe UI"/>
              </a:rPr>
              <a:t>Career strategy and AI role progression</a:t>
            </a:r>
          </a:p>
          <a:p>
            <a:pPr>
              <a:spcAft>
                <a:spcPts val="800"/>
              </a:spcAft>
            </a:pPr>
            <a:r>
              <a:rPr sz="1200" b="1">
                <a:solidFill>
                  <a:srgbClr val="0078D4"/>
                </a:solidFill>
                <a:latin typeface="Segoe UI"/>
              </a:rPr>
              <a:t>•  </a:t>
            </a:r>
            <a:r>
              <a:rPr sz="1200">
                <a:solidFill>
                  <a:srgbClr val="323232"/>
                </a:solidFill>
                <a:latin typeface="Segoe UI"/>
              </a:rPr>
              <a:t>Solution envisioning workshops</a:t>
            </a:r>
          </a:p>
          <a:p>
            <a:pPr>
              <a:spcAft>
                <a:spcPts val="800"/>
              </a:spcAft>
            </a:pPr>
            <a:r>
              <a:rPr sz="1200" b="1">
                <a:solidFill>
                  <a:srgbClr val="0078D4"/>
                </a:solidFill>
                <a:latin typeface="Segoe UI"/>
              </a:rPr>
              <a:t>•  </a:t>
            </a:r>
            <a:r>
              <a:rPr sz="1200">
                <a:solidFill>
                  <a:srgbClr val="323232"/>
                </a:solidFill>
                <a:latin typeface="Segoe UI"/>
              </a:rPr>
              <a:t>Microsoft Learn paths &amp; certifications</a:t>
            </a:r>
          </a:p>
        </p:txBody>
      </p:sp>
      <p:sp>
        <p:nvSpPr>
          <p:cNvPr id="6" name="Rectangle 5" descr="Community"/>
          <p:cNvSpPr/>
          <p:nvPr/>
        </p:nvSpPr>
        <p:spPr>
          <a:xfrm>
            <a:off x="4279392" y="2240280"/>
            <a:ext cx="3611880" cy="548640"/>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800" b="1">
                <a:solidFill>
                  <a:srgbClr val="FFFFFF"/>
                </a:solidFill>
                <a:latin typeface="Segoe UI"/>
              </a:rPr>
              <a:t>Community</a:t>
            </a:r>
          </a:p>
        </p:txBody>
      </p:sp>
      <p:sp>
        <p:nvSpPr>
          <p:cNvPr id="7" name="Rounded Rectangle 6">
            <a:extLst>
              <a:ext uri="{C183D7F6-B498-43B3-948B-1728B52AA6E4}">
                <adec:decorative xmlns:adec="http://schemas.microsoft.com/office/drawing/2017/decorative" val="1"/>
              </a:ext>
            </a:extLst>
          </p:cNvPr>
          <p:cNvSpPr/>
          <p:nvPr/>
        </p:nvSpPr>
        <p:spPr>
          <a:xfrm>
            <a:off x="4279392" y="2880360"/>
            <a:ext cx="3611880" cy="35661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a:extLst>
              <a:ext uri="{C183D7F6-B498-43B3-948B-1728B52AA6E4}">
                <adec:decorative xmlns:adec="http://schemas.microsoft.com/office/drawing/2017/decorative" val="1"/>
              </a:ext>
            </a:extLst>
          </p:cNvPr>
          <p:cNvSpPr txBox="1"/>
          <p:nvPr/>
        </p:nvSpPr>
        <p:spPr>
          <a:xfrm>
            <a:off x="4462272" y="3017520"/>
            <a:ext cx="3246120" cy="3383280"/>
          </a:xfrm>
          <a:prstGeom prst="rect">
            <a:avLst/>
          </a:prstGeom>
          <a:noFill/>
        </p:spPr>
        <p:txBody>
          <a:bodyPr wrap="square" lIns="0" tIns="0" rIns="0" bIns="0">
            <a:spAutoFit/>
          </a:bodyPr>
          <a:lstStyle/>
          <a:p>
            <a:pPr>
              <a:spcAft>
                <a:spcPts val="800"/>
              </a:spcAft>
            </a:pPr>
            <a:r>
              <a:rPr sz="1200" b="1">
                <a:solidFill>
                  <a:srgbClr val="0078D4"/>
                </a:solidFill>
                <a:latin typeface="Segoe UI"/>
              </a:rPr>
              <a:t>•  </a:t>
            </a:r>
            <a:r>
              <a:rPr sz="1200">
                <a:solidFill>
                  <a:srgbClr val="323232"/>
                </a:solidFill>
                <a:latin typeface="Segoe UI"/>
              </a:rPr>
              <a:t>Internal AI maker community</a:t>
            </a:r>
          </a:p>
          <a:p>
            <a:pPr>
              <a:spcAft>
                <a:spcPts val="800"/>
              </a:spcAft>
            </a:pPr>
            <a:r>
              <a:rPr sz="1200" b="1">
                <a:solidFill>
                  <a:srgbClr val="0078D4"/>
                </a:solidFill>
                <a:latin typeface="Segoe UI"/>
              </a:rPr>
              <a:t>•  </a:t>
            </a:r>
            <a:r>
              <a:rPr sz="1200">
                <a:solidFill>
                  <a:srgbClr val="323232"/>
                </a:solidFill>
                <a:latin typeface="Segoe UI"/>
              </a:rPr>
              <a:t>Identify &amp; nurture AI champions</a:t>
            </a:r>
          </a:p>
          <a:p>
            <a:pPr>
              <a:spcAft>
                <a:spcPts val="800"/>
              </a:spcAft>
            </a:pPr>
            <a:r>
              <a:rPr sz="1200" b="1">
                <a:solidFill>
                  <a:srgbClr val="0078D4"/>
                </a:solidFill>
                <a:latin typeface="Segoe UI"/>
              </a:rPr>
              <a:t>•  </a:t>
            </a:r>
            <a:r>
              <a:rPr sz="1200">
                <a:solidFill>
                  <a:srgbClr val="323232"/>
                </a:solidFill>
                <a:latin typeface="Segoe UI"/>
              </a:rPr>
              <a:t>Promptathons, hackathons, Agent-in-a-Day</a:t>
            </a:r>
          </a:p>
          <a:p>
            <a:pPr>
              <a:spcAft>
                <a:spcPts val="800"/>
              </a:spcAft>
            </a:pPr>
            <a:r>
              <a:rPr sz="1200" b="1">
                <a:solidFill>
                  <a:srgbClr val="0078D4"/>
                </a:solidFill>
                <a:latin typeface="Segoe UI"/>
              </a:rPr>
              <a:t>•  </a:t>
            </a:r>
            <a:r>
              <a:rPr sz="1200">
                <a:solidFill>
                  <a:srgbClr val="323232"/>
                </a:solidFill>
                <a:latin typeface="Segoe UI"/>
              </a:rPr>
              <a:t>Documented best practices &amp; success stories</a:t>
            </a:r>
          </a:p>
        </p:txBody>
      </p:sp>
      <p:sp>
        <p:nvSpPr>
          <p:cNvPr id="9" name="Rectangle 8" descr="Evangelism"/>
          <p:cNvSpPr/>
          <p:nvPr/>
        </p:nvSpPr>
        <p:spPr>
          <a:xfrm>
            <a:off x="8055864" y="2240280"/>
            <a:ext cx="3611880" cy="54864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800" b="1">
                <a:solidFill>
                  <a:srgbClr val="FFFFFF"/>
                </a:solidFill>
                <a:latin typeface="Segoe UI"/>
              </a:rPr>
              <a:t>Evangelism</a:t>
            </a:r>
          </a:p>
        </p:txBody>
      </p:sp>
      <p:sp>
        <p:nvSpPr>
          <p:cNvPr id="10" name="Rounded Rectangle 9">
            <a:extLst>
              <a:ext uri="{C183D7F6-B498-43B3-948B-1728B52AA6E4}">
                <adec:decorative xmlns:adec="http://schemas.microsoft.com/office/drawing/2017/decorative" val="1"/>
              </a:ext>
            </a:extLst>
          </p:cNvPr>
          <p:cNvSpPr/>
          <p:nvPr/>
        </p:nvSpPr>
        <p:spPr>
          <a:xfrm>
            <a:off x="8055864" y="2880360"/>
            <a:ext cx="3611880" cy="35661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C183D7F6-B498-43B3-948B-1728B52AA6E4}">
                <adec:decorative xmlns:adec="http://schemas.microsoft.com/office/drawing/2017/decorative" val="1"/>
              </a:ext>
            </a:extLst>
          </p:cNvPr>
          <p:cNvSpPr txBox="1"/>
          <p:nvPr/>
        </p:nvSpPr>
        <p:spPr>
          <a:xfrm>
            <a:off x="8238744" y="3017520"/>
            <a:ext cx="3246120" cy="3383280"/>
          </a:xfrm>
          <a:prstGeom prst="rect">
            <a:avLst/>
          </a:prstGeom>
          <a:noFill/>
        </p:spPr>
        <p:txBody>
          <a:bodyPr wrap="square" lIns="0" tIns="0" rIns="0" bIns="0">
            <a:spAutoFit/>
          </a:bodyPr>
          <a:lstStyle/>
          <a:p>
            <a:pPr>
              <a:spcAft>
                <a:spcPts val="800"/>
              </a:spcAft>
            </a:pPr>
            <a:r>
              <a:rPr sz="1200" b="1">
                <a:solidFill>
                  <a:srgbClr val="0078D4"/>
                </a:solidFill>
                <a:latin typeface="Segoe UI"/>
              </a:rPr>
              <a:t>•  </a:t>
            </a:r>
            <a:r>
              <a:rPr sz="1200">
                <a:solidFill>
                  <a:srgbClr val="323232"/>
                </a:solidFill>
                <a:latin typeface="Segoe UI"/>
              </a:rPr>
              <a:t>Share internal success stories</a:t>
            </a:r>
          </a:p>
          <a:p>
            <a:pPr>
              <a:spcAft>
                <a:spcPts val="800"/>
              </a:spcAft>
            </a:pPr>
            <a:r>
              <a:rPr sz="1200" b="1">
                <a:solidFill>
                  <a:srgbClr val="0078D4"/>
                </a:solidFill>
                <a:latin typeface="Segoe UI"/>
              </a:rPr>
              <a:t>•  </a:t>
            </a:r>
            <a:r>
              <a:rPr sz="1200">
                <a:solidFill>
                  <a:srgbClr val="323232"/>
                </a:solidFill>
                <a:latin typeface="Segoe UI"/>
              </a:rPr>
              <a:t>Show &amp; Tell sessions per business unit</a:t>
            </a:r>
          </a:p>
          <a:p>
            <a:pPr>
              <a:spcAft>
                <a:spcPts val="800"/>
              </a:spcAft>
            </a:pPr>
            <a:r>
              <a:rPr sz="1200" b="1">
                <a:solidFill>
                  <a:srgbClr val="0078D4"/>
                </a:solidFill>
                <a:latin typeface="Segoe UI"/>
              </a:rPr>
              <a:t>•  </a:t>
            </a:r>
            <a:r>
              <a:rPr sz="1200">
                <a:solidFill>
                  <a:srgbClr val="323232"/>
                </a:solidFill>
                <a:latin typeface="Segoe UI"/>
              </a:rPr>
              <a:t>Public dashboards of adoption &amp; outcomes</a:t>
            </a:r>
          </a:p>
          <a:p>
            <a:pPr>
              <a:spcAft>
                <a:spcPts val="800"/>
              </a:spcAft>
            </a:pPr>
            <a:r>
              <a:rPr sz="1200" b="1">
                <a:solidFill>
                  <a:srgbClr val="0078D4"/>
                </a:solidFill>
                <a:latin typeface="Segoe UI"/>
              </a:rPr>
              <a:t>•  </a:t>
            </a:r>
            <a:r>
              <a:rPr sz="1200">
                <a:solidFill>
                  <a:srgbClr val="323232"/>
                </a:solidFill>
                <a:latin typeface="Segoe UI"/>
              </a:rPr>
              <a:t>Gamification — recognize top makers (e.g., Shoosmiths £1M Copilot bonus)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Organization &amp; Culture — labs &amp; resources</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274320"/>
          </a:xfrm>
          <a:prstGeom prst="rect">
            <a:avLst/>
          </a:prstGeom>
          <a:noFill/>
        </p:spPr>
        <p:txBody>
          <a:bodyPr wrap="square" lIns="0" tIns="0" rIns="0" bIns="0" anchor="t">
            <a:spAutoFit/>
          </a:bodyPr>
          <a:lstStyle/>
          <a:p>
            <a:pPr algn="l"/>
            <a:r>
              <a:rPr sz="1200" b="0">
                <a:solidFill>
                  <a:srgbClr val="606060"/>
                </a:solidFill>
                <a:latin typeface="Segoe UI"/>
              </a:rPr>
              <a:t>Click any item to open the resource  •  All links are clickable</a:t>
            </a:r>
          </a:p>
        </p:txBody>
      </p:sp>
      <p:sp>
        <p:nvSpPr>
          <p:cNvPr id="4" name="Rounded Rectangle 3">
            <a:extLst>
              <a:ext uri="{C183D7F6-B498-43B3-948B-1728B52AA6E4}">
                <adec:decorative xmlns:adec="http://schemas.microsoft.com/office/drawing/2017/decorative" val="1"/>
              </a:ext>
            </a:extLst>
          </p:cNvPr>
          <p:cNvSpPr/>
          <p:nvPr/>
        </p:nvSpPr>
        <p:spPr>
          <a:xfrm>
            <a:off x="548640" y="2011680"/>
            <a:ext cx="5486400" cy="4297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C183D7F6-B498-43B3-948B-1728B52AA6E4}">
                <adec:decorative xmlns:adec="http://schemas.microsoft.com/office/drawing/2017/decorative" val="1"/>
              </a:ext>
            </a:extLst>
          </p:cNvPr>
          <p:cNvSpPr txBox="1"/>
          <p:nvPr/>
        </p:nvSpPr>
        <p:spPr>
          <a:xfrm>
            <a:off x="731520" y="2148840"/>
            <a:ext cx="5120640" cy="365760"/>
          </a:xfrm>
          <a:prstGeom prst="rect">
            <a:avLst/>
          </a:prstGeom>
          <a:noFill/>
        </p:spPr>
        <p:txBody>
          <a:bodyPr wrap="square" lIns="0" tIns="0" rIns="0" bIns="0" anchor="t">
            <a:spAutoFit/>
          </a:bodyPr>
          <a:lstStyle/>
          <a:p>
            <a:pPr algn="l"/>
            <a:r>
              <a:rPr sz="1600" b="1">
                <a:solidFill>
                  <a:srgbClr val="D83B01"/>
                </a:solidFill>
                <a:latin typeface="Segoe UI"/>
              </a:rPr>
              <a:t>Labs / Learning Modules</a:t>
            </a:r>
          </a:p>
        </p:txBody>
      </p:sp>
      <p:sp>
        <p:nvSpPr>
          <p:cNvPr id="6" name="TextBox 5">
            <a:extLst>
              <a:ext uri="{C183D7F6-B498-43B3-948B-1728B52AA6E4}">
                <adec:decorative xmlns:adec="http://schemas.microsoft.com/office/drawing/2017/decorative" val="1"/>
              </a:ext>
            </a:extLst>
          </p:cNvPr>
          <p:cNvSpPr txBox="1"/>
          <p:nvPr/>
        </p:nvSpPr>
        <p:spPr>
          <a:xfrm>
            <a:off x="731520" y="2578608"/>
            <a:ext cx="5120640" cy="274320"/>
          </a:xfrm>
          <a:prstGeom prst="rect">
            <a:avLst/>
          </a:prstGeom>
          <a:noFill/>
        </p:spPr>
        <p:txBody>
          <a:bodyPr wrap="square" lIns="0" tIns="0" rIns="0" bIns="0" anchor="t">
            <a:spAutoFit/>
          </a:bodyPr>
          <a:lstStyle/>
          <a:p>
            <a:pPr algn="l"/>
            <a:r>
              <a:rPr sz="1000" b="1">
                <a:solidFill>
                  <a:srgbClr val="107C10"/>
                </a:solidFill>
                <a:latin typeface="Segoe UI"/>
              </a:rPr>
              <a:t>REQUIRED</a:t>
            </a:r>
          </a:p>
        </p:txBody>
      </p:sp>
      <p:sp>
        <p:nvSpPr>
          <p:cNvPr id="7" name="TextBox 6">
            <a:extLst>
              <a:ext uri="{C183D7F6-B498-43B3-948B-1728B52AA6E4}">
                <adec:decorative xmlns:adec="http://schemas.microsoft.com/office/drawing/2017/decorative" val="1"/>
              </a:ext>
            </a:extLst>
          </p:cNvPr>
          <p:cNvSpPr txBox="1"/>
          <p:nvPr/>
        </p:nvSpPr>
        <p:spPr>
          <a:xfrm>
            <a:off x="731520" y="2834640"/>
            <a:ext cx="5120640" cy="640080"/>
          </a:xfrm>
          <a:prstGeom prst="rect">
            <a:avLst/>
          </a:prstGeom>
          <a:noFill/>
        </p:spPr>
        <p:txBody>
          <a:bodyPr wrap="square" lIns="0" tIns="0" rIns="0" bIns="0">
            <a:spAutoFit/>
          </a:bodyPr>
          <a:lstStyle/>
          <a:p>
            <a:pPr>
              <a:spcAft>
                <a:spcPts val="400"/>
              </a:spcAft>
            </a:pPr>
            <a:r>
              <a:rPr sz="1200" b="1">
                <a:solidFill>
                  <a:srgbClr val="0078D4"/>
                </a:solidFill>
                <a:latin typeface="Segoe UI"/>
              </a:rPr>
              <a:t>•  </a:t>
            </a:r>
            <a:r>
              <a:rPr sz="1200" u="sng">
                <a:solidFill>
                  <a:srgbClr val="0078D4"/>
                </a:solidFill>
                <a:latin typeface="Segoe UI"/>
                <a:hlinkClick r:id="rId3"/>
              </a:rPr>
              <a:t>Azure AI learning hub — skilling &amp; training (Microsoft Learn)</a:t>
            </a:r>
          </a:p>
        </p:txBody>
      </p:sp>
      <p:sp>
        <p:nvSpPr>
          <p:cNvPr id="8" name="TextBox 7">
            <a:extLst>
              <a:ext uri="{C183D7F6-B498-43B3-948B-1728B52AA6E4}">
                <adec:decorative xmlns:adec="http://schemas.microsoft.com/office/drawing/2017/decorative" val="1"/>
              </a:ext>
            </a:extLst>
          </p:cNvPr>
          <p:cNvSpPr txBox="1"/>
          <p:nvPr/>
        </p:nvSpPr>
        <p:spPr>
          <a:xfrm>
            <a:off x="731520" y="3520440"/>
            <a:ext cx="5120640" cy="274320"/>
          </a:xfrm>
          <a:prstGeom prst="rect">
            <a:avLst/>
          </a:prstGeom>
          <a:noFill/>
        </p:spPr>
        <p:txBody>
          <a:bodyPr wrap="square" lIns="0" tIns="0" rIns="0" bIns="0" anchor="t">
            <a:spAutoFit/>
          </a:bodyPr>
          <a:lstStyle/>
          <a:p>
            <a:pPr algn="l"/>
            <a:r>
              <a:rPr sz="1000" b="1">
                <a:solidFill>
                  <a:srgbClr val="606060"/>
                </a:solidFill>
                <a:latin typeface="Segoe UI"/>
              </a:rPr>
              <a:t>OPTIONAL — go deeper</a:t>
            </a:r>
          </a:p>
        </p:txBody>
      </p:sp>
      <p:sp>
        <p:nvSpPr>
          <p:cNvPr id="9" name="TextBox 8">
            <a:extLst>
              <a:ext uri="{C183D7F6-B498-43B3-948B-1728B52AA6E4}">
                <adec:decorative xmlns:adec="http://schemas.microsoft.com/office/drawing/2017/decorative" val="1"/>
              </a:ext>
            </a:extLst>
          </p:cNvPr>
          <p:cNvSpPr txBox="1"/>
          <p:nvPr/>
        </p:nvSpPr>
        <p:spPr>
          <a:xfrm>
            <a:off x="731520" y="3794760"/>
            <a:ext cx="5120640" cy="2423160"/>
          </a:xfrm>
          <a:prstGeom prst="rect">
            <a:avLst/>
          </a:prstGeom>
          <a:noFill/>
        </p:spPr>
        <p:txBody>
          <a:bodyPr wrap="square" lIns="0" tIns="0" rIns="0" bIns="0">
            <a:spAutoFit/>
          </a:bodyPr>
          <a:lstStyle/>
          <a:p>
            <a:pPr>
              <a:spcAft>
                <a:spcPts val="400"/>
              </a:spcAft>
            </a:pPr>
            <a:r>
              <a:rPr sz="1100" b="1">
                <a:solidFill>
                  <a:srgbClr val="0078D4"/>
                </a:solidFill>
                <a:latin typeface="Segoe UI"/>
              </a:rPr>
              <a:t>•  </a:t>
            </a:r>
            <a:r>
              <a:rPr sz="1100" u="sng">
                <a:solidFill>
                  <a:srgbClr val="0078D4"/>
                </a:solidFill>
                <a:latin typeface="Segoe UI"/>
                <a:hlinkClick r:id="rId4"/>
              </a:rPr>
              <a:t>Agent-in-a-Day workshop (Microsoft Learn path)</a:t>
            </a:r>
          </a:p>
          <a:p>
            <a:pPr>
              <a:spcAft>
                <a:spcPts val="400"/>
              </a:spcAft>
            </a:pPr>
            <a:r>
              <a:rPr sz="1100" b="1">
                <a:solidFill>
                  <a:srgbClr val="0078D4"/>
                </a:solidFill>
                <a:latin typeface="Segoe UI"/>
              </a:rPr>
              <a:t>•  </a:t>
            </a:r>
            <a:r>
              <a:rPr sz="1100" u="sng">
                <a:solidFill>
                  <a:srgbClr val="0078D4"/>
                </a:solidFill>
                <a:latin typeface="Segoe UI"/>
                <a:hlinkClick r:id="rId5"/>
              </a:rPr>
              <a:t>Assess &amp; Acquire AI skills (Cloud Adoption Framework)</a:t>
            </a:r>
          </a:p>
          <a:p>
            <a:pPr>
              <a:spcAft>
                <a:spcPts val="400"/>
              </a:spcAft>
            </a:pPr>
            <a:r>
              <a:rPr sz="1100" b="1">
                <a:solidFill>
                  <a:srgbClr val="0078D4"/>
                </a:solidFill>
                <a:latin typeface="Segoe UI"/>
              </a:rPr>
              <a:t>•  </a:t>
            </a:r>
            <a:r>
              <a:rPr sz="1100" u="sng">
                <a:solidFill>
                  <a:srgbClr val="0078D4"/>
                </a:solidFill>
                <a:latin typeface="Segoe UI"/>
                <a:hlinkClick r:id="rId6"/>
              </a:rPr>
              <a:t>Azure AI solution accelerators (GitHub)</a:t>
            </a:r>
          </a:p>
          <a:p>
            <a:pPr>
              <a:spcAft>
                <a:spcPts val="400"/>
              </a:spcAft>
            </a:pPr>
            <a:r>
              <a:rPr sz="1100" b="1">
                <a:solidFill>
                  <a:srgbClr val="0078D4"/>
                </a:solidFill>
                <a:latin typeface="Segoe UI"/>
              </a:rPr>
              <a:t>•  </a:t>
            </a:r>
            <a:r>
              <a:rPr sz="1100" u="sng">
                <a:solidFill>
                  <a:srgbClr val="0078D4"/>
                </a:solidFill>
                <a:latin typeface="Segoe UI"/>
                <a:hlinkClick r:id="rId7"/>
              </a:rPr>
              <a:t>Microsoft AI Skills Navigator</a:t>
            </a:r>
          </a:p>
        </p:txBody>
      </p:sp>
      <p:sp>
        <p:nvSpPr>
          <p:cNvPr id="10" name="Rounded Rectangle 9">
            <a:extLst>
              <a:ext uri="{C183D7F6-B498-43B3-948B-1728B52AA6E4}">
                <adec:decorative xmlns:adec="http://schemas.microsoft.com/office/drawing/2017/decorative" val="1"/>
              </a:ext>
            </a:extLst>
          </p:cNvPr>
          <p:cNvSpPr/>
          <p:nvPr/>
        </p:nvSpPr>
        <p:spPr>
          <a:xfrm>
            <a:off x="6172200" y="2011680"/>
            <a:ext cx="5486400" cy="4297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C183D7F6-B498-43B3-948B-1728B52AA6E4}">
                <adec:decorative xmlns:adec="http://schemas.microsoft.com/office/drawing/2017/decorative" val="1"/>
              </a:ext>
            </a:extLst>
          </p:cNvPr>
          <p:cNvSpPr txBox="1"/>
          <p:nvPr/>
        </p:nvSpPr>
        <p:spPr>
          <a:xfrm>
            <a:off x="6355080" y="2148840"/>
            <a:ext cx="5120640" cy="365760"/>
          </a:xfrm>
          <a:prstGeom prst="rect">
            <a:avLst/>
          </a:prstGeom>
          <a:noFill/>
        </p:spPr>
        <p:txBody>
          <a:bodyPr wrap="square" lIns="0" tIns="0" rIns="0" bIns="0" anchor="t">
            <a:spAutoFit/>
          </a:bodyPr>
          <a:lstStyle/>
          <a:p>
            <a:pPr algn="l"/>
            <a:r>
              <a:rPr sz="1600" b="1">
                <a:solidFill>
                  <a:srgbClr val="D83B01"/>
                </a:solidFill>
                <a:latin typeface="Segoe UI"/>
              </a:rPr>
              <a:t>Other Resources</a:t>
            </a:r>
          </a:p>
        </p:txBody>
      </p:sp>
      <p:sp>
        <p:nvSpPr>
          <p:cNvPr id="12" name="TextBox 11">
            <a:extLst>
              <a:ext uri="{C183D7F6-B498-43B3-948B-1728B52AA6E4}">
                <adec:decorative xmlns:adec="http://schemas.microsoft.com/office/drawing/2017/decorative" val="1"/>
              </a:ext>
            </a:extLst>
          </p:cNvPr>
          <p:cNvSpPr txBox="1"/>
          <p:nvPr/>
        </p:nvSpPr>
        <p:spPr>
          <a:xfrm>
            <a:off x="6355080" y="2578608"/>
            <a:ext cx="5120640" cy="274320"/>
          </a:xfrm>
          <a:prstGeom prst="rect">
            <a:avLst/>
          </a:prstGeom>
          <a:noFill/>
        </p:spPr>
        <p:txBody>
          <a:bodyPr wrap="square" lIns="0" tIns="0" rIns="0" bIns="0" anchor="t">
            <a:spAutoFit/>
          </a:bodyPr>
          <a:lstStyle/>
          <a:p>
            <a:pPr algn="l"/>
            <a:r>
              <a:rPr sz="1000" b="1">
                <a:solidFill>
                  <a:srgbClr val="606060"/>
                </a:solidFill>
                <a:latin typeface="Segoe UI"/>
              </a:rPr>
              <a:t>OPTIONAL — if you want to learn more</a:t>
            </a:r>
          </a:p>
        </p:txBody>
      </p:sp>
      <p:sp>
        <p:nvSpPr>
          <p:cNvPr id="13" name="TextBox 12">
            <a:extLst>
              <a:ext uri="{C183D7F6-B498-43B3-948B-1728B52AA6E4}">
                <adec:decorative xmlns:adec="http://schemas.microsoft.com/office/drawing/2017/decorative" val="1"/>
              </a:ext>
            </a:extLst>
          </p:cNvPr>
          <p:cNvSpPr txBox="1"/>
          <p:nvPr/>
        </p:nvSpPr>
        <p:spPr>
          <a:xfrm>
            <a:off x="6355080" y="2834640"/>
            <a:ext cx="5120640" cy="3429000"/>
          </a:xfrm>
          <a:prstGeom prst="rect">
            <a:avLst/>
          </a:prstGeom>
          <a:noFill/>
        </p:spPr>
        <p:txBody>
          <a:bodyPr wrap="square" lIns="0" tIns="0" rIns="0" bIns="0">
            <a:spAutoFit/>
          </a:bodyPr>
          <a:lstStyle/>
          <a:p>
            <a:pPr>
              <a:spcAft>
                <a:spcPts val="400"/>
              </a:spcAft>
            </a:pPr>
            <a:r>
              <a:rPr sz="1100" b="1">
                <a:solidFill>
                  <a:srgbClr val="0078D4"/>
                </a:solidFill>
                <a:latin typeface="Segoe UI"/>
              </a:rPr>
              <a:t>•  </a:t>
            </a:r>
            <a:r>
              <a:rPr sz="1100" u="sng">
                <a:solidFill>
                  <a:srgbClr val="0078D4"/>
                </a:solidFill>
                <a:latin typeface="Segoe UI"/>
                <a:hlinkClick r:id="rId8"/>
              </a:rPr>
              <a:t>Azure AI Foundry — get started and documentation (Microsoft Learn)</a:t>
            </a:r>
          </a:p>
          <a:p>
            <a:pPr>
              <a:spcAft>
                <a:spcPts val="400"/>
              </a:spcAft>
            </a:pPr>
            <a:r>
              <a:rPr sz="1100" b="1">
                <a:solidFill>
                  <a:srgbClr val="0078D4"/>
                </a:solidFill>
                <a:latin typeface="Segoe UI"/>
              </a:rPr>
              <a:t>•  </a:t>
            </a:r>
            <a:r>
              <a:rPr sz="1100" u="sng">
                <a:solidFill>
                  <a:srgbClr val="0078D4"/>
                </a:solidFill>
                <a:latin typeface="Segoe UI"/>
                <a:hlinkClick r:id="rId9"/>
              </a:rPr>
              <a:t>Azure AI samples &amp; solution notebooks (GitHub)</a:t>
            </a:r>
          </a:p>
          <a:p>
            <a:pPr>
              <a:spcAft>
                <a:spcPts val="400"/>
              </a:spcAft>
            </a:pPr>
            <a:r>
              <a:rPr sz="1100" b="1">
                <a:solidFill>
                  <a:srgbClr val="0078D4"/>
                </a:solidFill>
                <a:latin typeface="Segoe UI"/>
              </a:rPr>
              <a:t>•  </a:t>
            </a:r>
            <a:r>
              <a:rPr sz="1100" u="sng">
                <a:solidFill>
                  <a:srgbClr val="0078D4"/>
                </a:solidFill>
                <a:latin typeface="Segoe UI"/>
                <a:hlinkClick r:id="rId10"/>
              </a:rPr>
              <a:t>Azure AI Agent Service quickstart (Microsoft Learn)</a:t>
            </a:r>
          </a:p>
          <a:p>
            <a:pPr>
              <a:spcAft>
                <a:spcPts val="400"/>
              </a:spcAft>
            </a:pPr>
            <a:r>
              <a:rPr sz="1100" b="1">
                <a:solidFill>
                  <a:srgbClr val="0078D4"/>
                </a:solidFill>
                <a:latin typeface="Segoe UI"/>
              </a:rPr>
              <a:t>•  </a:t>
            </a:r>
            <a:r>
              <a:rPr sz="1100" u="sng">
                <a:solidFill>
                  <a:srgbClr val="0078D4"/>
                </a:solidFill>
                <a:latin typeface="Segoe UI"/>
                <a:hlinkClick r:id="rId11"/>
              </a:rPr>
              <a:t>Azure AI Foundry architecture reference (Azure Architecture Center)</a:t>
            </a:r>
          </a:p>
          <a:p>
            <a:pPr>
              <a:spcAft>
                <a:spcPts val="400"/>
              </a:spcAft>
            </a:pPr>
            <a:r>
              <a:rPr sz="1100" b="1">
                <a:solidFill>
                  <a:srgbClr val="0078D4"/>
                </a:solidFill>
                <a:latin typeface="Segoe UI"/>
              </a:rPr>
              <a:t>•  </a:t>
            </a:r>
            <a:r>
              <a:rPr sz="1100" u="sng">
                <a:solidFill>
                  <a:srgbClr val="0078D4"/>
                </a:solidFill>
                <a:latin typeface="Segoe UI"/>
                <a:hlinkClick r:id="rId12"/>
              </a:rPr>
              <a:t>Plan AI adoption and skills strategy (Cloud Adoption Framework)</a:t>
            </a:r>
          </a:p>
          <a:p>
            <a:pPr>
              <a:spcAft>
                <a:spcPts val="400"/>
              </a:spcAft>
            </a:pPr>
            <a:r>
              <a:rPr sz="1100" b="1">
                <a:solidFill>
                  <a:srgbClr val="0078D4"/>
                </a:solidFill>
                <a:latin typeface="Segoe UI"/>
              </a:rPr>
              <a:t>•  </a:t>
            </a:r>
            <a:r>
              <a:rPr sz="1100" u="sng">
                <a:solidFill>
                  <a:srgbClr val="0078D4"/>
                </a:solidFill>
                <a:latin typeface="Segoe UI"/>
                <a:hlinkClick r:id="rId13"/>
              </a:rPr>
              <a:t>State of AI change readiness (eBook)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2011680"/>
            <a:ext cx="11000000" cy="0"/>
          </a:xfrm>
        </p:spPr>
        <p:txBody>
          <a:bodyPr wrap="square">
            <a:noAutofit/>
          </a:bodyPr>
          <a:lstStyle/>
          <a:p>
            <a:pPr algn="l">
              <a:defRPr sz="3600">
                <a:latin typeface="Segoe UI"/>
              </a:defRPr>
            </a:pPr>
            <a:r>
              <a:rPr sz="3600">
                <a:latin typeface="Segoe UI"/>
              </a:rPr>
              <a:t>AI Governance</a:t>
            </a:r>
          </a:p>
        </p:txBody>
      </p:sp>
      <p:sp>
        <p:nvSpPr>
          <p:cNvPr id="3" name="Text Placeholder 2"/>
          <p:cNvSpPr>
            <a:spLocks noGrp="1"/>
          </p:cNvSpPr>
          <p:nvPr>
            <p:ph type="body" sz="quarter" idx="12"/>
          </p:nvPr>
        </p:nvSpPr>
        <p:spPr>
          <a:xfrm>
            <a:off x="731520" y="3200400"/>
            <a:ext cx="9000000" cy="0"/>
          </a:xfrm>
        </p:spPr>
        <p:txBody>
          <a:bodyPr/>
          <a:lstStyle/>
          <a:p>
            <a:r>
              <a:rPr sz="2000"/>
              <a:t>Guardrails, environment strategy, DLP &amp; continuous testing</a:t>
            </a:r>
          </a:p>
        </p:txBody>
      </p:sp>
      <p:sp>
        <p:nvSpPr>
          <p:cNvPr id="4" name="TextBox 3">
            <a:extLst>
              <a:ext uri="{C183D7F6-B498-43B3-948B-1728B52AA6E4}">
                <adec:decorative xmlns:adec="http://schemas.microsoft.com/office/drawing/2017/decorative" val="1"/>
              </a:ext>
            </a:extLst>
          </p:cNvPr>
          <p:cNvSpPr txBox="1"/>
          <p:nvPr/>
        </p:nvSpPr>
        <p:spPr>
          <a:xfrm>
            <a:off x="731520" y="457200"/>
            <a:ext cx="5486400" cy="411480"/>
          </a:xfrm>
          <a:prstGeom prst="rect">
            <a:avLst/>
          </a:prstGeom>
          <a:noFill/>
        </p:spPr>
        <p:txBody>
          <a:bodyPr wrap="square" lIns="0" tIns="0" rIns="0" bIns="0" anchor="t">
            <a:spAutoFit/>
          </a:bodyPr>
          <a:lstStyle/>
          <a:p>
            <a:pPr algn="l"/>
            <a:r>
              <a:rPr sz="1600" b="1">
                <a:solidFill>
                  <a:srgbClr val="FFFFFF"/>
                </a:solidFill>
                <a:latin typeface="Segoe UI"/>
              </a:rPr>
              <a:t>Learning Unit 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Objectives — AI Governance</a:t>
            </a:r>
          </a:p>
        </p:txBody>
      </p:sp>
      <p:sp>
        <p:nvSpPr>
          <p:cNvPr id="3" name="Text Placeholder 2"/>
          <p:cNvSpPr>
            <a:spLocks noGrp="1"/>
          </p:cNvSpPr>
          <p:nvPr>
            <p:ph type="body" sz="quarter" idx="12"/>
          </p:nvPr>
        </p:nvSpPr>
        <p:spPr/>
        <p:txBody>
          <a:bodyPr/>
          <a:lstStyle/>
          <a:p>
            <a:r>
              <a:rPr sz="1600">
                <a:solidFill>
                  <a:srgbClr val="606060"/>
                </a:solidFill>
              </a:rPr>
              <a:t>What you will learn and decide in this learning unit</a:t>
            </a:r>
          </a:p>
        </p:txBody>
      </p:sp>
      <p:sp>
        <p:nvSpPr>
          <p:cNvPr id="4" name="Rectangle 3" descr="Focus"/>
          <p:cNvSpPr/>
          <p:nvPr/>
        </p:nvSpPr>
        <p:spPr>
          <a:xfrm>
            <a:off x="502920" y="2194560"/>
            <a:ext cx="3611880" cy="457200"/>
          </a:xfrm>
          <a:prstGeom prst="rect">
            <a:avLst/>
          </a:prstGeom>
          <a:solidFill>
            <a:srgbClr val="68217A"/>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Focus</a:t>
            </a:r>
          </a:p>
        </p:txBody>
      </p:sp>
      <p:sp>
        <p:nvSpPr>
          <p:cNvPr id="5" name="Rounded Rectangle 4">
            <a:extLst>
              <a:ext uri="{C183D7F6-B498-43B3-948B-1728B52AA6E4}">
                <adec:decorative xmlns:adec="http://schemas.microsoft.com/office/drawing/2017/decorative" val="1"/>
              </a:ext>
            </a:extLst>
          </p:cNvPr>
          <p:cNvSpPr/>
          <p:nvPr/>
        </p:nvSpPr>
        <p:spPr>
          <a:xfrm>
            <a:off x="502920"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C183D7F6-B498-43B3-948B-1728B52AA6E4}">
                <adec:decorative xmlns:adec="http://schemas.microsoft.com/office/drawing/2017/decorative" val="1"/>
              </a:ext>
            </a:extLst>
          </p:cNvPr>
          <p:cNvSpPr txBox="1"/>
          <p:nvPr/>
        </p:nvSpPr>
        <p:spPr>
          <a:xfrm>
            <a:off x="685800"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Apply Copilot, agent and LLM governance guardrails consistently</a:t>
            </a:r>
          </a:p>
          <a:p>
            <a:pPr>
              <a:spcAft>
                <a:spcPts val="600"/>
              </a:spcAft>
            </a:pPr>
            <a:r>
              <a:rPr sz="1200" b="1">
                <a:solidFill>
                  <a:srgbClr val="0078D4"/>
                </a:solidFill>
                <a:latin typeface="Segoe UI"/>
              </a:rPr>
              <a:t>•  </a:t>
            </a:r>
            <a:r>
              <a:rPr sz="1200">
                <a:solidFill>
                  <a:srgbClr val="323232"/>
                </a:solidFill>
                <a:latin typeface="Segoe UI"/>
              </a:rPr>
              <a:t>Implement an environment strategy and data-loss prevention</a:t>
            </a:r>
          </a:p>
          <a:p>
            <a:pPr>
              <a:spcAft>
                <a:spcPts val="600"/>
              </a:spcAft>
            </a:pPr>
            <a:r>
              <a:rPr sz="1200" b="1">
                <a:solidFill>
                  <a:srgbClr val="0078D4"/>
                </a:solidFill>
                <a:latin typeface="Segoe UI"/>
              </a:rPr>
              <a:t>•  </a:t>
            </a:r>
            <a:r>
              <a:rPr sz="1200">
                <a:solidFill>
                  <a:srgbClr val="323232"/>
                </a:solidFill>
                <a:latin typeface="Segoe UI"/>
              </a:rPr>
              <a:t>Continuously test for oversharing, vulnerabilities and non-compliance</a:t>
            </a:r>
          </a:p>
        </p:txBody>
      </p:sp>
      <p:sp>
        <p:nvSpPr>
          <p:cNvPr id="7" name="Rectangle 6" descr="Outcomes"/>
          <p:cNvSpPr/>
          <p:nvPr/>
        </p:nvSpPr>
        <p:spPr>
          <a:xfrm>
            <a:off x="4279392" y="2194560"/>
            <a:ext cx="3611880" cy="45720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Outcomes</a:t>
            </a:r>
          </a:p>
        </p:txBody>
      </p:sp>
      <p:sp>
        <p:nvSpPr>
          <p:cNvPr id="8" name="Rounded Rectangle 7">
            <a:extLst>
              <a:ext uri="{C183D7F6-B498-43B3-948B-1728B52AA6E4}">
                <adec:decorative xmlns:adec="http://schemas.microsoft.com/office/drawing/2017/decorative" val="1"/>
              </a:ext>
            </a:extLst>
          </p:cNvPr>
          <p:cNvSpPr/>
          <p:nvPr/>
        </p:nvSpPr>
        <p:spPr>
          <a:xfrm>
            <a:off x="4279392"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C183D7F6-B498-43B3-948B-1728B52AA6E4}">
                <adec:decorative xmlns:adec="http://schemas.microsoft.com/office/drawing/2017/decorative" val="1"/>
              </a:ext>
            </a:extLst>
          </p:cNvPr>
          <p:cNvSpPr txBox="1"/>
          <p:nvPr/>
        </p:nvSpPr>
        <p:spPr>
          <a:xfrm>
            <a:off x="4462272"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Centralized guardrails with real-time compliance tracking</a:t>
            </a:r>
          </a:p>
          <a:p>
            <a:pPr>
              <a:spcAft>
                <a:spcPts val="600"/>
              </a:spcAft>
            </a:pPr>
            <a:r>
              <a:rPr sz="1200" b="1">
                <a:solidFill>
                  <a:srgbClr val="0078D4"/>
                </a:solidFill>
                <a:latin typeface="Segoe UI"/>
              </a:rPr>
              <a:t>•  </a:t>
            </a:r>
            <a:r>
              <a:rPr sz="1200">
                <a:solidFill>
                  <a:srgbClr val="323232"/>
                </a:solidFill>
                <a:latin typeface="Segoe UI"/>
              </a:rPr>
              <a:t>Approved environments with ALM and licensing controls</a:t>
            </a:r>
          </a:p>
          <a:p>
            <a:pPr>
              <a:spcAft>
                <a:spcPts val="600"/>
              </a:spcAft>
            </a:pPr>
            <a:r>
              <a:rPr sz="1200" b="1">
                <a:solidFill>
                  <a:srgbClr val="0078D4"/>
                </a:solidFill>
                <a:latin typeface="Segoe UI"/>
              </a:rPr>
              <a:t>•  </a:t>
            </a:r>
            <a:r>
              <a:rPr sz="1200">
                <a:solidFill>
                  <a:srgbClr val="323232"/>
                </a:solidFill>
                <a:latin typeface="Segoe UI"/>
              </a:rPr>
              <a:t>Automated security validation across the AI lifecycle</a:t>
            </a:r>
          </a:p>
        </p:txBody>
      </p:sp>
      <p:sp>
        <p:nvSpPr>
          <p:cNvPr id="10" name="Rectangle 9" descr="Audience"/>
          <p:cNvSpPr/>
          <p:nvPr/>
        </p:nvSpPr>
        <p:spPr>
          <a:xfrm>
            <a:off x="8055864" y="2194560"/>
            <a:ext cx="3611880" cy="4572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Audience</a:t>
            </a:r>
          </a:p>
        </p:txBody>
      </p:sp>
      <p:sp>
        <p:nvSpPr>
          <p:cNvPr id="11" name="Rounded Rectangle 10">
            <a:extLst>
              <a:ext uri="{C183D7F6-B498-43B3-948B-1728B52AA6E4}">
                <adec:decorative xmlns:adec="http://schemas.microsoft.com/office/drawing/2017/decorative" val="1"/>
              </a:ext>
            </a:extLst>
          </p:cNvPr>
          <p:cNvSpPr/>
          <p:nvPr/>
        </p:nvSpPr>
        <p:spPr>
          <a:xfrm>
            <a:off x="8055864" y="2697480"/>
            <a:ext cx="3611880" cy="3337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C183D7F6-B498-43B3-948B-1728B52AA6E4}">
                <adec:decorative xmlns:adec="http://schemas.microsoft.com/office/drawing/2017/decorative" val="1"/>
              </a:ext>
            </a:extLst>
          </p:cNvPr>
          <p:cNvSpPr txBox="1"/>
          <p:nvPr/>
        </p:nvSpPr>
        <p:spPr>
          <a:xfrm>
            <a:off x="8238744" y="283464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Chief Information Security Officer (CISO)</a:t>
            </a:r>
          </a:p>
          <a:p>
            <a:pPr>
              <a:spcAft>
                <a:spcPts val="600"/>
              </a:spcAft>
            </a:pPr>
            <a:r>
              <a:rPr sz="1200" b="1">
                <a:solidFill>
                  <a:srgbClr val="0078D4"/>
                </a:solidFill>
                <a:latin typeface="Segoe UI"/>
              </a:rPr>
              <a:t>•  </a:t>
            </a:r>
            <a:r>
              <a:rPr sz="1200">
                <a:solidFill>
                  <a:srgbClr val="323232"/>
                </a:solidFill>
                <a:latin typeface="Segoe UI"/>
              </a:rPr>
              <a:t>Chief Information Officer (CIO)</a:t>
            </a:r>
          </a:p>
          <a:p>
            <a:pPr>
              <a:spcAft>
                <a:spcPts val="600"/>
              </a:spcAft>
            </a:pPr>
            <a:r>
              <a:rPr sz="1200" b="1">
                <a:solidFill>
                  <a:srgbClr val="0078D4"/>
                </a:solidFill>
                <a:latin typeface="Segoe UI"/>
              </a:rPr>
              <a:t>•  </a:t>
            </a:r>
            <a:r>
              <a:rPr sz="1200">
                <a:solidFill>
                  <a:srgbClr val="323232"/>
                </a:solidFill>
                <a:latin typeface="Segoe UI"/>
              </a:rPr>
              <a:t>Chief Compliance Officer (CCO)</a:t>
            </a:r>
          </a:p>
          <a:p>
            <a:pPr>
              <a:spcAft>
                <a:spcPts val="600"/>
              </a:spcAft>
            </a:pPr>
            <a:r>
              <a:rPr sz="1200" b="1">
                <a:solidFill>
                  <a:srgbClr val="0078D4"/>
                </a:solidFill>
                <a:latin typeface="Segoe UI"/>
              </a:rPr>
              <a:t>•  </a:t>
            </a:r>
            <a:r>
              <a:rPr sz="1200">
                <a:solidFill>
                  <a:srgbClr val="323232"/>
                </a:solidFill>
                <a:latin typeface="Segoe UI"/>
              </a:rPr>
              <a:t>Power Platform &amp; M365 admins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Most common AI security &amp; governance incidents</a:t>
            </a:r>
          </a:p>
        </p:txBody>
      </p:sp>
      <p:sp>
        <p:nvSpPr>
          <p:cNvPr id="3" name="Rounded Rectangle 2" descr="01  Data leak &amp; oversharing  Users may leak sensitive data to shadow AI apps or access sensitive data via AI."/>
          <p:cNvSpPr/>
          <p:nvPr/>
        </p:nvSpPr>
        <p:spPr>
          <a:xfrm>
            <a:off x="502920" y="2240280"/>
            <a:ext cx="3611880" cy="3931920"/>
          </a:xfrm>
          <a:prstGeom prst="roundRect">
            <a:avLst/>
          </a:prstGeom>
          <a:solidFill>
            <a:srgbClr val="FFFFFF"/>
          </a:solidFill>
          <a:ln w="9525">
            <a:solidFill>
              <a:srgbClr val="D83B01"/>
            </a:solid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l"/>
            <a:r>
              <a:rPr sz="4800" b="1">
                <a:solidFill>
                  <a:srgbClr val="D83B01"/>
                </a:solidFill>
                <a:latin typeface="Segoe UI"/>
              </a:rPr>
              <a:t>01</a:t>
            </a:r>
          </a:p>
          <a:p>
            <a:pPr algn="l"/>
            <a:r>
              <a:rPr sz="1800" b="1">
                <a:solidFill>
                  <a:srgbClr val="323232"/>
                </a:solidFill>
                <a:latin typeface="Segoe UI"/>
              </a:rPr>
              <a:t>Data leak &amp; oversharing</a:t>
            </a:r>
          </a:p>
          <a:p>
            <a:pPr algn="l"/>
            <a:endParaRPr sz="1800" b="1">
              <a:solidFill>
                <a:srgbClr val="323232"/>
              </a:solidFill>
              <a:latin typeface="Segoe UI"/>
            </a:endParaRPr>
          </a:p>
          <a:p>
            <a:pPr algn="l"/>
            <a:r>
              <a:rPr sz="1300" b="0">
                <a:solidFill>
                  <a:srgbClr val="323232"/>
                </a:solidFill>
                <a:latin typeface="Segoe UI"/>
              </a:rPr>
              <a:t>Users may leak sensitive data to shadow AI apps or access sensitive data via AI.</a:t>
            </a:r>
          </a:p>
        </p:txBody>
      </p:sp>
      <p:sp>
        <p:nvSpPr>
          <p:cNvPr id="4" name="Rounded Rectangle 3" descr="02  Vulnerabilities &amp; emerging threats  Bad actors exploit prompt injection, model &amp; plugin vulnerabilities to access valuable resources."/>
          <p:cNvSpPr/>
          <p:nvPr/>
        </p:nvSpPr>
        <p:spPr>
          <a:xfrm>
            <a:off x="4279392" y="2240280"/>
            <a:ext cx="3611880" cy="3931920"/>
          </a:xfrm>
          <a:prstGeom prst="roundRect">
            <a:avLst/>
          </a:prstGeom>
          <a:solidFill>
            <a:srgbClr val="FFFFFF"/>
          </a:solidFill>
          <a:ln w="9525">
            <a:solidFill>
              <a:srgbClr val="68217A"/>
            </a:solid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l"/>
            <a:r>
              <a:rPr sz="4800" b="1">
                <a:solidFill>
                  <a:srgbClr val="68217A"/>
                </a:solidFill>
                <a:latin typeface="Segoe UI"/>
              </a:rPr>
              <a:t>02</a:t>
            </a:r>
          </a:p>
          <a:p>
            <a:pPr algn="l"/>
            <a:r>
              <a:rPr sz="1800" b="1">
                <a:solidFill>
                  <a:srgbClr val="323232"/>
                </a:solidFill>
                <a:latin typeface="Segoe UI"/>
              </a:rPr>
              <a:t>Vulnerabilities &amp; emerging threats</a:t>
            </a:r>
          </a:p>
          <a:p>
            <a:pPr algn="l"/>
            <a:endParaRPr sz="1800" b="1">
              <a:solidFill>
                <a:srgbClr val="323232"/>
              </a:solidFill>
              <a:latin typeface="Segoe UI"/>
            </a:endParaRPr>
          </a:p>
          <a:p>
            <a:pPr algn="l"/>
            <a:r>
              <a:rPr sz="1300" b="0">
                <a:solidFill>
                  <a:srgbClr val="323232"/>
                </a:solidFill>
                <a:latin typeface="Segoe UI"/>
              </a:rPr>
              <a:t>Bad actors exploit prompt injection, model &amp; plugin vulnerabilities to access valuable resources.</a:t>
            </a:r>
          </a:p>
        </p:txBody>
      </p:sp>
      <p:sp>
        <p:nvSpPr>
          <p:cNvPr id="5" name="Rounded Rectangle 4" descr="03  Non-compliance  Increasing uncertainty and liability from emerging AI regulations (EU AI Act, NIST AI RMF, ISO 42001)."/>
          <p:cNvSpPr/>
          <p:nvPr/>
        </p:nvSpPr>
        <p:spPr>
          <a:xfrm>
            <a:off x="8055864" y="2240280"/>
            <a:ext cx="3611880" cy="3931920"/>
          </a:xfrm>
          <a:prstGeom prst="roundRect">
            <a:avLst/>
          </a:prstGeom>
          <a:solidFill>
            <a:srgbClr val="FFFFFF"/>
          </a:solidFill>
          <a:ln w="9525">
            <a:solidFill>
              <a:srgbClr val="003266"/>
            </a:solid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l"/>
            <a:r>
              <a:rPr sz="4800" b="1">
                <a:solidFill>
                  <a:srgbClr val="003266"/>
                </a:solidFill>
                <a:latin typeface="Segoe UI"/>
              </a:rPr>
              <a:t>03</a:t>
            </a:r>
          </a:p>
          <a:p>
            <a:pPr algn="l"/>
            <a:r>
              <a:rPr sz="1800" b="1">
                <a:solidFill>
                  <a:srgbClr val="323232"/>
                </a:solidFill>
                <a:latin typeface="Segoe UI"/>
              </a:rPr>
              <a:t>Non-compliance</a:t>
            </a:r>
          </a:p>
          <a:p>
            <a:pPr algn="l"/>
            <a:endParaRPr sz="1800" b="1">
              <a:solidFill>
                <a:srgbClr val="323232"/>
              </a:solidFill>
              <a:latin typeface="Segoe UI"/>
            </a:endParaRPr>
          </a:p>
          <a:p>
            <a:pPr algn="l"/>
            <a:r>
              <a:rPr sz="1300" b="0">
                <a:solidFill>
                  <a:srgbClr val="323232"/>
                </a:solidFill>
                <a:latin typeface="Segoe UI"/>
              </a:rPr>
              <a:t>Increasing uncertainty and liability from emerging AI regulations (EU AI Act, NIST AI RMF, ISO 42001).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Copilot Control System — three layers of guardrails</a:t>
            </a:r>
          </a:p>
        </p:txBody>
      </p:sp>
      <p:sp>
        <p:nvSpPr>
          <p:cNvPr id="3" name="Rectangle 2" descr="Governance Controls"/>
          <p:cNvSpPr/>
          <p:nvPr/>
        </p:nvSpPr>
        <p:spPr>
          <a:xfrm>
            <a:off x="502920" y="2240280"/>
            <a:ext cx="3611880" cy="54864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Governance Controls</a:t>
            </a:r>
          </a:p>
        </p:txBody>
      </p:sp>
      <p:sp>
        <p:nvSpPr>
          <p:cNvPr id="4" name="Rounded Rectangle 3">
            <a:extLst>
              <a:ext uri="{C183D7F6-B498-43B3-948B-1728B52AA6E4}">
                <adec:decorative xmlns:adec="http://schemas.microsoft.com/office/drawing/2017/decorative" val="1"/>
              </a:ext>
            </a:extLst>
          </p:cNvPr>
          <p:cNvSpPr/>
          <p:nvPr/>
        </p:nvSpPr>
        <p:spPr>
          <a:xfrm>
            <a:off x="502920" y="2880360"/>
            <a:ext cx="3611880" cy="329184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C183D7F6-B498-43B3-948B-1728B52AA6E4}">
                <adec:decorative xmlns:adec="http://schemas.microsoft.com/office/drawing/2017/decorative" val="1"/>
              </a:ext>
            </a:extLst>
          </p:cNvPr>
          <p:cNvSpPr txBox="1"/>
          <p:nvPr/>
        </p:nvSpPr>
        <p:spPr>
          <a:xfrm>
            <a:off x="685800" y="301752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Connector management &amp; DLP policies</a:t>
            </a:r>
          </a:p>
          <a:p>
            <a:pPr>
              <a:spcAft>
                <a:spcPts val="600"/>
              </a:spcAft>
            </a:pPr>
            <a:r>
              <a:rPr sz="1200" b="1">
                <a:solidFill>
                  <a:srgbClr val="0078D4"/>
                </a:solidFill>
                <a:latin typeface="Segoe UI"/>
              </a:rPr>
              <a:t>•  </a:t>
            </a:r>
            <a:r>
              <a:rPr sz="1200">
                <a:solidFill>
                  <a:srgbClr val="323232"/>
                </a:solidFill>
                <a:latin typeface="Segoe UI"/>
              </a:rPr>
              <a:t>Environment routing to secure default</a:t>
            </a:r>
          </a:p>
          <a:p>
            <a:pPr>
              <a:spcAft>
                <a:spcPts val="600"/>
              </a:spcAft>
            </a:pPr>
            <a:r>
              <a:rPr sz="1200" b="1">
                <a:solidFill>
                  <a:srgbClr val="0078D4"/>
                </a:solidFill>
                <a:latin typeface="Segoe UI"/>
              </a:rPr>
              <a:t>•  </a:t>
            </a:r>
            <a:r>
              <a:rPr sz="1200">
                <a:solidFill>
                  <a:srgbClr val="323232"/>
                </a:solidFill>
                <a:latin typeface="Segoe UI"/>
              </a:rPr>
              <a:t>Sharing limits, blocking maker auth, transcript policies</a:t>
            </a:r>
          </a:p>
          <a:p>
            <a:pPr>
              <a:spcAft>
                <a:spcPts val="600"/>
              </a:spcAft>
            </a:pPr>
            <a:r>
              <a:rPr sz="1200" b="1">
                <a:solidFill>
                  <a:srgbClr val="0078D4"/>
                </a:solidFill>
                <a:latin typeface="Segoe UI"/>
              </a:rPr>
              <a:t>•  </a:t>
            </a:r>
            <a:r>
              <a:rPr sz="1200">
                <a:solidFill>
                  <a:srgbClr val="323232"/>
                </a:solidFill>
                <a:latin typeface="Segoe UI"/>
              </a:rPr>
              <a:t>CMK encryption, IP firewall, FIC for agent identity</a:t>
            </a:r>
          </a:p>
        </p:txBody>
      </p:sp>
      <p:sp>
        <p:nvSpPr>
          <p:cNvPr id="6" name="Rectangle 5" descr="Data Protection"/>
          <p:cNvSpPr/>
          <p:nvPr/>
        </p:nvSpPr>
        <p:spPr>
          <a:xfrm>
            <a:off x="4279392" y="2240280"/>
            <a:ext cx="3611880" cy="548640"/>
          </a:xfrm>
          <a:prstGeom prst="rect">
            <a:avLst/>
          </a:prstGeom>
          <a:solidFill>
            <a:srgbClr val="68217A"/>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Data Protection</a:t>
            </a:r>
          </a:p>
        </p:txBody>
      </p:sp>
      <p:sp>
        <p:nvSpPr>
          <p:cNvPr id="7" name="Rounded Rectangle 6">
            <a:extLst>
              <a:ext uri="{C183D7F6-B498-43B3-948B-1728B52AA6E4}">
                <adec:decorative xmlns:adec="http://schemas.microsoft.com/office/drawing/2017/decorative" val="1"/>
              </a:ext>
            </a:extLst>
          </p:cNvPr>
          <p:cNvSpPr/>
          <p:nvPr/>
        </p:nvSpPr>
        <p:spPr>
          <a:xfrm>
            <a:off x="4279392" y="2880360"/>
            <a:ext cx="3611880" cy="329184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a:extLst>
              <a:ext uri="{C183D7F6-B498-43B3-948B-1728B52AA6E4}">
                <adec:decorative xmlns:adec="http://schemas.microsoft.com/office/drawing/2017/decorative" val="1"/>
              </a:ext>
            </a:extLst>
          </p:cNvPr>
          <p:cNvSpPr txBox="1"/>
          <p:nvPr/>
        </p:nvSpPr>
        <p:spPr>
          <a:xfrm>
            <a:off x="4462272" y="301752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Microsoft Purview — sensitivity labels, MIP, DLP for agents</a:t>
            </a:r>
          </a:p>
          <a:p>
            <a:pPr>
              <a:spcAft>
                <a:spcPts val="600"/>
              </a:spcAft>
            </a:pPr>
            <a:r>
              <a:rPr sz="1200" b="1">
                <a:solidFill>
                  <a:srgbClr val="0078D4"/>
                </a:solidFill>
                <a:latin typeface="Segoe UI"/>
              </a:rPr>
              <a:t>•  </a:t>
            </a:r>
            <a:r>
              <a:rPr sz="1200">
                <a:solidFill>
                  <a:srgbClr val="323232"/>
                </a:solidFill>
                <a:latin typeface="Segoe UI"/>
              </a:rPr>
              <a:t>Audit logs in Purview &amp; Sentinel</a:t>
            </a:r>
          </a:p>
          <a:p>
            <a:pPr>
              <a:spcAft>
                <a:spcPts val="600"/>
              </a:spcAft>
            </a:pPr>
            <a:r>
              <a:rPr sz="1200" b="1">
                <a:solidFill>
                  <a:srgbClr val="0078D4"/>
                </a:solidFill>
                <a:latin typeface="Segoe UI"/>
              </a:rPr>
              <a:t>•  </a:t>
            </a:r>
            <a:r>
              <a:rPr sz="1200">
                <a:solidFill>
                  <a:srgbClr val="323232"/>
                </a:solidFill>
                <a:latin typeface="Segoe UI"/>
              </a:rPr>
              <a:t>Defender for Cloud Apps for AI &amp; SaaS visibility</a:t>
            </a:r>
          </a:p>
          <a:p>
            <a:pPr>
              <a:spcAft>
                <a:spcPts val="600"/>
              </a:spcAft>
            </a:pPr>
            <a:r>
              <a:rPr sz="1200" b="1">
                <a:solidFill>
                  <a:srgbClr val="0078D4"/>
                </a:solidFill>
                <a:latin typeface="Segoe UI"/>
              </a:rPr>
              <a:t>•  </a:t>
            </a:r>
            <a:r>
              <a:rPr sz="1200">
                <a:solidFill>
                  <a:srgbClr val="323232"/>
                </a:solidFill>
                <a:latin typeface="Segoe UI"/>
              </a:rPr>
              <a:t>SharePoint agent permissions, RAC / RCD policies</a:t>
            </a:r>
          </a:p>
        </p:txBody>
      </p:sp>
      <p:sp>
        <p:nvSpPr>
          <p:cNvPr id="9" name="Rectangle 8" descr="Reporting &amp; Monitoring"/>
          <p:cNvSpPr/>
          <p:nvPr/>
        </p:nvSpPr>
        <p:spPr>
          <a:xfrm>
            <a:off x="8055864" y="2240280"/>
            <a:ext cx="3611880" cy="5486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Reporting &amp; Monitoring</a:t>
            </a:r>
          </a:p>
        </p:txBody>
      </p:sp>
      <p:sp>
        <p:nvSpPr>
          <p:cNvPr id="10" name="Rounded Rectangle 9">
            <a:extLst>
              <a:ext uri="{C183D7F6-B498-43B3-948B-1728B52AA6E4}">
                <adec:decorative xmlns:adec="http://schemas.microsoft.com/office/drawing/2017/decorative" val="1"/>
              </a:ext>
            </a:extLst>
          </p:cNvPr>
          <p:cNvSpPr/>
          <p:nvPr/>
        </p:nvSpPr>
        <p:spPr>
          <a:xfrm>
            <a:off x="8055864" y="2880360"/>
            <a:ext cx="3611880" cy="329184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C183D7F6-B498-43B3-948B-1728B52AA6E4}">
                <adec:decorative xmlns:adec="http://schemas.microsoft.com/office/drawing/2017/decorative" val="1"/>
              </a:ext>
            </a:extLst>
          </p:cNvPr>
          <p:cNvSpPr txBox="1"/>
          <p:nvPr/>
        </p:nvSpPr>
        <p:spPr>
          <a:xfrm>
            <a:off x="8238744" y="3017520"/>
            <a:ext cx="3246120" cy="3108960"/>
          </a:xfrm>
          <a:prstGeom prst="rect">
            <a:avLst/>
          </a:prstGeom>
          <a:noFill/>
        </p:spPr>
        <p:txBody>
          <a:bodyPr wrap="square" lIns="0" tIns="0" rIns="0" bIns="0">
            <a:spAutoFit/>
          </a:bodyPr>
          <a:lstStyle/>
          <a:p>
            <a:pPr>
              <a:spcAft>
                <a:spcPts val="600"/>
              </a:spcAft>
            </a:pPr>
            <a:r>
              <a:rPr sz="1200" b="1">
                <a:solidFill>
                  <a:srgbClr val="0078D4"/>
                </a:solidFill>
                <a:latin typeface="Segoe UI"/>
              </a:rPr>
              <a:t>•  </a:t>
            </a:r>
            <a:r>
              <a:rPr sz="1200">
                <a:solidFill>
                  <a:srgbClr val="323232"/>
                </a:solidFill>
                <a:latin typeface="Segoe UI"/>
              </a:rPr>
              <a:t>Inventory of all custom &amp; shared agents (MAC + PPAC)</a:t>
            </a:r>
          </a:p>
          <a:p>
            <a:pPr>
              <a:spcAft>
                <a:spcPts val="600"/>
              </a:spcAft>
            </a:pPr>
            <a:r>
              <a:rPr sz="1200" b="1">
                <a:solidFill>
                  <a:srgbClr val="0078D4"/>
                </a:solidFill>
                <a:latin typeface="Segoe UI"/>
              </a:rPr>
              <a:t>•  </a:t>
            </a:r>
            <a:r>
              <a:rPr sz="1200">
                <a:solidFill>
                  <a:srgbClr val="323232"/>
                </a:solidFill>
                <a:latin typeface="Segoe UI"/>
              </a:rPr>
              <a:t>Sentinel-integrated activity monitoring</a:t>
            </a:r>
          </a:p>
          <a:p>
            <a:pPr>
              <a:spcAft>
                <a:spcPts val="600"/>
              </a:spcAft>
            </a:pPr>
            <a:r>
              <a:rPr sz="1200" b="1">
                <a:solidFill>
                  <a:srgbClr val="0078D4"/>
                </a:solidFill>
                <a:latin typeface="Segoe UI"/>
              </a:rPr>
              <a:t>•  </a:t>
            </a:r>
            <a:r>
              <a:rPr sz="1200">
                <a:solidFill>
                  <a:srgbClr val="323232"/>
                </a:solidFill>
                <a:latin typeface="Segoe UI"/>
              </a:rPr>
              <a:t>Defender alerting for suspicious AI activity</a:t>
            </a:r>
          </a:p>
          <a:p>
            <a:pPr>
              <a:spcAft>
                <a:spcPts val="600"/>
              </a:spcAft>
            </a:pPr>
            <a:r>
              <a:rPr sz="1200" b="1">
                <a:solidFill>
                  <a:srgbClr val="0078D4"/>
                </a:solidFill>
                <a:latin typeface="Segoe UI"/>
              </a:rPr>
              <a:t>•  </a:t>
            </a:r>
            <a:r>
              <a:rPr sz="1200">
                <a:solidFill>
                  <a:srgbClr val="323232"/>
                </a:solidFill>
                <a:latin typeface="Segoe UI"/>
              </a:rPr>
              <a:t>Copilot Analytics dashboards &amp; ROI tracking</a:t>
            </a:r>
          </a:p>
        </p:txBody>
      </p:sp>
      <p:sp>
        <p:nvSpPr>
          <p:cNvPr id="12" name="TextBox 11">
            <a:extLst>
              <a:ext uri="{C183D7F6-B498-43B3-948B-1728B52AA6E4}">
                <adec:decorative xmlns:adec="http://schemas.microsoft.com/office/drawing/2017/decorative" val="1"/>
              </a:ext>
            </a:extLst>
          </p:cNvPr>
          <p:cNvSpPr txBox="1"/>
          <p:nvPr/>
        </p:nvSpPr>
        <p:spPr>
          <a:xfrm>
            <a:off x="548640" y="5897880"/>
            <a:ext cx="10972800" cy="365760"/>
          </a:xfrm>
          <a:prstGeom prst="rect">
            <a:avLst/>
          </a:prstGeom>
          <a:noFill/>
        </p:spPr>
        <p:txBody>
          <a:bodyPr wrap="square" lIns="0" tIns="0" rIns="0" bIns="0" anchor="t">
            <a:spAutoFit/>
          </a:bodyPr>
          <a:lstStyle/>
          <a:p>
            <a:pPr algn="l"/>
            <a:r>
              <a:rPr sz="1100" b="0">
                <a:solidFill>
                  <a:srgbClr val="606060"/>
                </a:solidFill>
                <a:latin typeface="Segoe UI"/>
              </a:rPr>
              <a:t>Learn more: aka.ms/CopilotStudioSecurity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Environment strategy &amp; Data Loss Prevention</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411480"/>
          </a:xfrm>
          <a:prstGeom prst="rect">
            <a:avLst/>
          </a:prstGeom>
          <a:noFill/>
        </p:spPr>
        <p:txBody>
          <a:bodyPr wrap="square" lIns="0" tIns="0" rIns="0" bIns="0" anchor="t">
            <a:spAutoFit/>
          </a:bodyPr>
          <a:lstStyle/>
          <a:p>
            <a:pPr algn="l"/>
            <a:r>
              <a:rPr sz="1400" b="0">
                <a:solidFill>
                  <a:srgbClr val="606060"/>
                </a:solidFill>
                <a:latin typeface="Segoe UI"/>
              </a:rPr>
              <a:t>Move from a sprawling “default” environment to grouped, role-based environments with rules</a:t>
            </a:r>
          </a:p>
        </p:txBody>
      </p:sp>
      <p:sp>
        <p:nvSpPr>
          <p:cNvPr id="4" name="Rounded Rectangle 3" descr="Before — single default environment  • 364,520+ makers in one environment  • No isolation, no premium-license control  • Default-share = security risk"/>
          <p:cNvSpPr/>
          <p:nvPr/>
        </p:nvSpPr>
        <p:spPr>
          <a:xfrm>
            <a:off x="548640" y="2240280"/>
            <a:ext cx="5394960" cy="1645920"/>
          </a:xfrm>
          <a:prstGeom prst="roundRect">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l"/>
            <a:r>
              <a:rPr sz="1600" b="1">
                <a:solidFill>
                  <a:srgbClr val="FFFFFF"/>
                </a:solidFill>
                <a:latin typeface="Segoe UI"/>
              </a:rPr>
              <a:t>Before — single default environment</a:t>
            </a:r>
          </a:p>
          <a:p>
            <a:pPr algn="l"/>
            <a:r>
              <a:rPr sz="1200" b="0">
                <a:solidFill>
                  <a:srgbClr val="FFFFFF"/>
                </a:solidFill>
                <a:latin typeface="Segoe UI"/>
              </a:rPr>
              <a:t>• 364,520+ makers in one environment</a:t>
            </a:r>
          </a:p>
          <a:p>
            <a:pPr algn="l"/>
            <a:r>
              <a:rPr sz="1200" b="0">
                <a:solidFill>
                  <a:srgbClr val="FFFFFF"/>
                </a:solidFill>
                <a:latin typeface="Segoe UI"/>
              </a:rPr>
              <a:t>• No isolation, no premium-license control</a:t>
            </a:r>
          </a:p>
          <a:p>
            <a:pPr algn="l"/>
            <a:r>
              <a:rPr sz="1200" b="0">
                <a:solidFill>
                  <a:srgbClr val="FFFFFF"/>
                </a:solidFill>
                <a:latin typeface="Segoe UI"/>
              </a:rPr>
              <a:t>• Default-share = security risk</a:t>
            </a:r>
          </a:p>
        </p:txBody>
      </p:sp>
      <p:sp>
        <p:nvSpPr>
          <p:cNvPr id="5" name="Rounded Rectangle 4" descr="After — segmented environment groups + rules  • Personal-productivity group (dev / test envs)  • Departmental-productivity group (dev → prod ALM)  • Rules per group: agent creation, sharing, autonomous agents, data sources"/>
          <p:cNvSpPr/>
          <p:nvPr/>
        </p:nvSpPr>
        <p:spPr>
          <a:xfrm>
            <a:off x="6263640" y="2240280"/>
            <a:ext cx="5394960" cy="1645920"/>
          </a:xfrm>
          <a:prstGeom prst="round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l"/>
            <a:r>
              <a:rPr sz="1600" b="1">
                <a:solidFill>
                  <a:srgbClr val="FFFFFF"/>
                </a:solidFill>
                <a:latin typeface="Segoe UI"/>
              </a:rPr>
              <a:t>After — segmented environment groups + rules</a:t>
            </a:r>
          </a:p>
          <a:p>
            <a:pPr algn="l"/>
            <a:r>
              <a:rPr sz="1200" b="0">
                <a:solidFill>
                  <a:srgbClr val="FFFFFF"/>
                </a:solidFill>
                <a:latin typeface="Segoe UI"/>
              </a:rPr>
              <a:t>• Personal-productivity group (dev / test envs)</a:t>
            </a:r>
          </a:p>
          <a:p>
            <a:pPr algn="l"/>
            <a:r>
              <a:rPr sz="1200" b="0">
                <a:solidFill>
                  <a:srgbClr val="FFFFFF"/>
                </a:solidFill>
                <a:latin typeface="Segoe UI"/>
              </a:rPr>
              <a:t>• Departmental-productivity group (dev → prod ALM)</a:t>
            </a:r>
          </a:p>
          <a:p>
            <a:pPr algn="l"/>
            <a:r>
              <a:rPr sz="1200" b="0">
                <a:solidFill>
                  <a:srgbClr val="FFFFFF"/>
                </a:solidFill>
                <a:latin typeface="Segoe UI"/>
              </a:rPr>
              <a:t>• Rules per group: agent creation, sharing, autonomous agents, data sources</a:t>
            </a:r>
          </a:p>
        </p:txBody>
      </p:sp>
      <p:sp>
        <p:nvSpPr>
          <p:cNvPr id="6" name="Rounded Rectangle 5" descr="Secure by default  Makers build in pre-configured environments, never in default"/>
          <p:cNvSpPr/>
          <p:nvPr/>
        </p:nvSpPr>
        <p:spPr>
          <a:xfrm>
            <a:off x="502920" y="4114800"/>
            <a:ext cx="2697480" cy="182880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ctr"/>
            <a:r>
              <a:rPr sz="1400" b="1">
                <a:solidFill>
                  <a:srgbClr val="003266"/>
                </a:solidFill>
                <a:latin typeface="Segoe UI"/>
              </a:rPr>
              <a:t>Secure by default</a:t>
            </a:r>
          </a:p>
          <a:p>
            <a:pPr algn="ctr"/>
            <a:endParaRPr sz="1400" b="1">
              <a:solidFill>
                <a:srgbClr val="003266"/>
              </a:solidFill>
              <a:latin typeface="Segoe UI"/>
            </a:endParaRPr>
          </a:p>
          <a:p>
            <a:pPr algn="ctr"/>
            <a:r>
              <a:rPr sz="1200" b="0">
                <a:solidFill>
                  <a:srgbClr val="323232"/>
                </a:solidFill>
                <a:latin typeface="Segoe UI"/>
              </a:rPr>
              <a:t>Makers build in pre-configured environments, never in default</a:t>
            </a:r>
          </a:p>
        </p:txBody>
      </p:sp>
      <p:sp>
        <p:nvSpPr>
          <p:cNvPr id="7" name="Rounded Rectangle 6" descr="Manageability  Users &amp; assets distributed across environments — easier to govern"/>
          <p:cNvSpPr/>
          <p:nvPr/>
        </p:nvSpPr>
        <p:spPr>
          <a:xfrm>
            <a:off x="3364992" y="4114800"/>
            <a:ext cx="2697480" cy="182880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ctr"/>
            <a:r>
              <a:rPr sz="1400" b="1">
                <a:solidFill>
                  <a:srgbClr val="0078D4"/>
                </a:solidFill>
                <a:latin typeface="Segoe UI"/>
              </a:rPr>
              <a:t>Manageability</a:t>
            </a:r>
          </a:p>
          <a:p>
            <a:pPr algn="ctr"/>
            <a:endParaRPr sz="1400" b="1">
              <a:solidFill>
                <a:srgbClr val="0078D4"/>
              </a:solidFill>
              <a:latin typeface="Segoe UI"/>
            </a:endParaRPr>
          </a:p>
          <a:p>
            <a:pPr algn="ctr"/>
            <a:r>
              <a:rPr sz="1200" b="0">
                <a:solidFill>
                  <a:srgbClr val="323232"/>
                </a:solidFill>
                <a:latin typeface="Segoe UI"/>
              </a:rPr>
              <a:t>Users &amp; assets distributed across environments — easier to govern</a:t>
            </a:r>
          </a:p>
        </p:txBody>
      </p:sp>
      <p:sp>
        <p:nvSpPr>
          <p:cNvPr id="8" name="Rounded Rectangle 7" descr="Healthy ALM  Only promoted assets reach production; no clutter in default"/>
          <p:cNvSpPr/>
          <p:nvPr/>
        </p:nvSpPr>
        <p:spPr>
          <a:xfrm>
            <a:off x="6227064" y="4114800"/>
            <a:ext cx="2697480" cy="182880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ctr"/>
            <a:r>
              <a:rPr sz="1400" b="1">
                <a:solidFill>
                  <a:schemeClr val="accent4">
                    <a:lumMod val="75000"/>
                  </a:schemeClr>
                </a:solidFill>
                <a:latin typeface="Segoe UI"/>
              </a:rPr>
              <a:t>Healthy ALM</a:t>
            </a:r>
          </a:p>
          <a:p>
            <a:pPr algn="ctr"/>
            <a:endParaRPr sz="1400" b="1">
              <a:solidFill>
                <a:schemeClr val="accent4">
                  <a:lumMod val="75000"/>
                </a:schemeClr>
              </a:solidFill>
              <a:latin typeface="Segoe UI"/>
            </a:endParaRPr>
          </a:p>
          <a:p>
            <a:pPr algn="ctr"/>
            <a:r>
              <a:rPr sz="1200" b="0">
                <a:solidFill>
                  <a:schemeClr val="accent4">
                    <a:lumMod val="75000"/>
                  </a:schemeClr>
                </a:solidFill>
                <a:latin typeface="Segoe UI"/>
              </a:rPr>
              <a:t>Only promoted assets reach production; no clutter in default</a:t>
            </a:r>
          </a:p>
        </p:txBody>
      </p:sp>
      <p:sp>
        <p:nvSpPr>
          <p:cNvPr id="9" name="Rounded Rectangle 8" descr="Cost / licensing  Control access to premium licenses and capacity"/>
          <p:cNvSpPr/>
          <p:nvPr/>
        </p:nvSpPr>
        <p:spPr>
          <a:xfrm>
            <a:off x="9089136" y="4114800"/>
            <a:ext cx="2697480" cy="182880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ctr"/>
            <a:r>
              <a:rPr sz="1400" b="1">
                <a:solidFill>
                  <a:srgbClr val="68217A"/>
                </a:solidFill>
                <a:latin typeface="Segoe UI"/>
              </a:rPr>
              <a:t>Cost / licensing</a:t>
            </a:r>
          </a:p>
          <a:p>
            <a:pPr algn="ctr"/>
            <a:endParaRPr sz="1400" b="1">
              <a:solidFill>
                <a:srgbClr val="68217A"/>
              </a:solidFill>
              <a:latin typeface="Segoe UI"/>
            </a:endParaRPr>
          </a:p>
          <a:p>
            <a:pPr algn="ctr"/>
            <a:r>
              <a:rPr sz="1200" b="0">
                <a:solidFill>
                  <a:srgbClr val="323232"/>
                </a:solidFill>
                <a:latin typeface="Segoe UI"/>
              </a:rPr>
              <a:t>Control access to premium licenses and capacity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Continuous testing — GenAIOps core pillars</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411480"/>
          </a:xfrm>
          <a:prstGeom prst="rect">
            <a:avLst/>
          </a:prstGeom>
          <a:noFill/>
        </p:spPr>
        <p:txBody>
          <a:bodyPr wrap="square" lIns="0" tIns="0" rIns="0" bIns="0" anchor="t">
            <a:spAutoFit/>
          </a:bodyPr>
          <a:lstStyle/>
          <a:p>
            <a:pPr algn="l"/>
            <a:r>
              <a:rPr sz="1400" b="0">
                <a:solidFill>
                  <a:srgbClr val="606060"/>
                </a:solidFill>
                <a:latin typeface="Segoe UI"/>
              </a:rPr>
              <a:t>GenAI evolves continuously — test in CI and in production to keep agents safe and on-brand</a:t>
            </a:r>
          </a:p>
        </p:txBody>
      </p:sp>
      <p:sp>
        <p:nvSpPr>
          <p:cNvPr id="4" name="Rectangle 3" descr="LLM Prompts"/>
          <p:cNvSpPr/>
          <p:nvPr/>
        </p:nvSpPr>
        <p:spPr>
          <a:xfrm>
            <a:off x="502920" y="2240280"/>
            <a:ext cx="2121408" cy="50292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FFFFFF"/>
                </a:solidFill>
                <a:latin typeface="Segoe UI"/>
              </a:rPr>
              <a:t>LLM Prompts</a:t>
            </a:r>
          </a:p>
        </p:txBody>
      </p:sp>
      <p:sp>
        <p:nvSpPr>
          <p:cNvPr id="5" name="Rounded Rectangle 4" descr="System message • output structure • logic prompts • RAI prompt"/>
          <p:cNvSpPr/>
          <p:nvPr/>
        </p:nvSpPr>
        <p:spPr>
          <a:xfrm>
            <a:off x="502920" y="2834640"/>
            <a:ext cx="2121408" cy="1051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ctr"/>
            <a:r>
              <a:rPr sz="1100" b="0">
                <a:solidFill>
                  <a:srgbClr val="323232"/>
                </a:solidFill>
                <a:latin typeface="Segoe UI"/>
              </a:rPr>
              <a:t>System message • output structure • logic prompts • RAI prompt</a:t>
            </a:r>
          </a:p>
        </p:txBody>
      </p:sp>
      <p:sp>
        <p:nvSpPr>
          <p:cNvPr id="6" name="Rectangle 5" descr="Model Performance"/>
          <p:cNvSpPr/>
          <p:nvPr/>
        </p:nvSpPr>
        <p:spPr>
          <a:xfrm>
            <a:off x="2788920" y="2240280"/>
            <a:ext cx="2121408"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FFFFFF"/>
                </a:solidFill>
                <a:latin typeface="Segoe UI"/>
              </a:rPr>
              <a:t>Model Performance</a:t>
            </a:r>
          </a:p>
        </p:txBody>
      </p:sp>
      <p:sp>
        <p:nvSpPr>
          <p:cNvPr id="7" name="Rounded Rectangle 6" descr="Response time • latency • token limits"/>
          <p:cNvSpPr/>
          <p:nvPr/>
        </p:nvSpPr>
        <p:spPr>
          <a:xfrm>
            <a:off x="2788920" y="2834640"/>
            <a:ext cx="2121408" cy="1051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ctr"/>
            <a:r>
              <a:rPr sz="1100" b="0">
                <a:solidFill>
                  <a:srgbClr val="323232"/>
                </a:solidFill>
                <a:latin typeface="Segoe UI"/>
              </a:rPr>
              <a:t>Response time • latency • token limits</a:t>
            </a:r>
          </a:p>
        </p:txBody>
      </p:sp>
      <p:sp>
        <p:nvSpPr>
          <p:cNvPr id="8" name="Rectangle 7" descr="Application Performance"/>
          <p:cNvSpPr/>
          <p:nvPr/>
        </p:nvSpPr>
        <p:spPr>
          <a:xfrm>
            <a:off x="5074920" y="2240280"/>
            <a:ext cx="2121408" cy="5029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000000"/>
                </a:solidFill>
                <a:latin typeface="Segoe UI"/>
              </a:rPr>
              <a:t>Application Performance</a:t>
            </a:r>
          </a:p>
        </p:txBody>
      </p:sp>
      <p:sp>
        <p:nvSpPr>
          <p:cNvPr id="9" name="Rounded Rectangle 8" descr="Response time • SLA/latency • cost per call"/>
          <p:cNvSpPr/>
          <p:nvPr/>
        </p:nvSpPr>
        <p:spPr>
          <a:xfrm>
            <a:off x="5074920" y="2834640"/>
            <a:ext cx="2121408" cy="1051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ctr"/>
            <a:r>
              <a:rPr sz="1100" b="0">
                <a:solidFill>
                  <a:srgbClr val="323232"/>
                </a:solidFill>
                <a:latin typeface="Segoe UI"/>
              </a:rPr>
              <a:t>Response time • SLA/latency • cost per call</a:t>
            </a:r>
          </a:p>
        </p:txBody>
      </p:sp>
      <p:sp>
        <p:nvSpPr>
          <p:cNvPr id="10" name="Rectangle 9" descr="LLM Generated Outputs"/>
          <p:cNvSpPr/>
          <p:nvPr/>
        </p:nvSpPr>
        <p:spPr>
          <a:xfrm>
            <a:off x="7360920" y="2240280"/>
            <a:ext cx="2121408" cy="50292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FFFFFF"/>
                </a:solidFill>
                <a:latin typeface="Segoe UI"/>
              </a:rPr>
              <a:t>LLM Generated Outputs</a:t>
            </a:r>
          </a:p>
        </p:txBody>
      </p:sp>
      <p:sp>
        <p:nvSpPr>
          <p:cNvPr id="11" name="Rounded Rectangle 10" descr="Groundedness • accuracy • fluency • coherence • similarity"/>
          <p:cNvSpPr/>
          <p:nvPr/>
        </p:nvSpPr>
        <p:spPr>
          <a:xfrm>
            <a:off x="7360920" y="2834640"/>
            <a:ext cx="2121408" cy="1051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ctr"/>
            <a:r>
              <a:rPr sz="1100" b="0">
                <a:solidFill>
                  <a:srgbClr val="323232"/>
                </a:solidFill>
                <a:latin typeface="Segoe UI"/>
              </a:rPr>
              <a:t>Groundedness • accuracy • fluency • coherence • similarity</a:t>
            </a:r>
          </a:p>
        </p:txBody>
      </p:sp>
      <p:sp>
        <p:nvSpPr>
          <p:cNvPr id="12" name="Rectangle 11" descr="Responsible AI"/>
          <p:cNvSpPr/>
          <p:nvPr/>
        </p:nvSpPr>
        <p:spPr>
          <a:xfrm>
            <a:off x="9646920" y="2240280"/>
            <a:ext cx="2121408" cy="502920"/>
          </a:xfrm>
          <a:prstGeom prst="rect">
            <a:avLst/>
          </a:prstGeom>
          <a:solidFill>
            <a:srgbClr val="68217A"/>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FFFFFF"/>
                </a:solidFill>
                <a:latin typeface="Segoe UI"/>
              </a:rPr>
              <a:t>Responsible AI</a:t>
            </a:r>
          </a:p>
        </p:txBody>
      </p:sp>
      <p:sp>
        <p:nvSpPr>
          <p:cNvPr id="13" name="Rounded Rectangle 12" descr="Jailbreak detection • content filtering for harm, violence, hate, sexual, self-harm"/>
          <p:cNvSpPr/>
          <p:nvPr/>
        </p:nvSpPr>
        <p:spPr>
          <a:xfrm>
            <a:off x="9646920" y="2834640"/>
            <a:ext cx="2121408" cy="10515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ctr"/>
            <a:r>
              <a:rPr sz="1100" b="0">
                <a:solidFill>
                  <a:srgbClr val="323232"/>
                </a:solidFill>
                <a:latin typeface="Segoe UI"/>
              </a:rPr>
              <a:t>Jailbreak detection • content filtering for harm, violence, hate, sexual, self-harm</a:t>
            </a:r>
          </a:p>
        </p:txBody>
      </p:sp>
      <p:sp>
        <p:nvSpPr>
          <p:cNvPr id="14" name="Rounded Rectangle 13" descr="AI evaluations &amp; monitoring scorecard  • Use offline evaluation during development and online evaluation in production  • Pre-built quality &amp; safety metrics (groundedness, relevance, prompt-attack susceptibility) plus your own  • Bring your own datasets, "/>
          <p:cNvSpPr/>
          <p:nvPr/>
        </p:nvSpPr>
        <p:spPr>
          <a:xfrm>
            <a:off x="502920" y="4023360"/>
            <a:ext cx="11155680" cy="1828800"/>
          </a:xfrm>
          <a:prstGeom prst="roundRect">
            <a:avLst/>
          </a:prstGeom>
          <a:solidFill>
            <a:srgbClr val="DEECF9"/>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l"/>
            <a:r>
              <a:rPr sz="1600" b="1">
                <a:solidFill>
                  <a:srgbClr val="003266"/>
                </a:solidFill>
                <a:latin typeface="Segoe UI"/>
              </a:rPr>
              <a:t>AI evaluations &amp; monitoring scorecard</a:t>
            </a:r>
          </a:p>
          <a:p>
            <a:pPr algn="l"/>
            <a:r>
              <a:rPr sz="1200" b="0">
                <a:solidFill>
                  <a:srgbClr val="323232"/>
                </a:solidFill>
                <a:latin typeface="Segoe UI"/>
              </a:rPr>
              <a:t>• Use offline evaluation during development and online evaluation in production</a:t>
            </a:r>
          </a:p>
          <a:p>
            <a:pPr algn="l"/>
            <a:r>
              <a:rPr sz="1200" b="0">
                <a:solidFill>
                  <a:srgbClr val="323232"/>
                </a:solidFill>
                <a:latin typeface="Segoe UI"/>
              </a:rPr>
              <a:t>• Pre-built quality &amp; safety metrics (groundedness, relevance, prompt-attack susceptibility) plus your own</a:t>
            </a:r>
          </a:p>
          <a:p>
            <a:pPr algn="l"/>
            <a:r>
              <a:rPr sz="1200" b="0">
                <a:solidFill>
                  <a:srgbClr val="323232"/>
                </a:solidFill>
                <a:latin typeface="Segoe UI"/>
              </a:rPr>
              <a:t>• Bring your own datasets, generate synthetic test data, save &amp; compare results over time</a:t>
            </a:r>
          </a:p>
          <a:p>
            <a:pPr algn="l"/>
            <a:r>
              <a:rPr sz="1200" b="0">
                <a:solidFill>
                  <a:srgbClr val="323232"/>
                </a:solidFill>
                <a:latin typeface="Segoe UI"/>
              </a:rPr>
              <a:t>• Natural-language explanations help focus targeted mitigations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AI Governance — labs &amp; resources</a:t>
            </a:r>
          </a:p>
        </p:txBody>
      </p:sp>
      <p:sp>
        <p:nvSpPr>
          <p:cNvPr id="3" name="TextBox 2">
            <a:extLst>
              <a:ext uri="{C183D7F6-B498-43B3-948B-1728B52AA6E4}">
                <adec:decorative xmlns:adec="http://schemas.microsoft.com/office/drawing/2017/decorative" val="1"/>
              </a:ext>
            </a:extLst>
          </p:cNvPr>
          <p:cNvSpPr txBox="1"/>
          <p:nvPr/>
        </p:nvSpPr>
        <p:spPr>
          <a:xfrm>
            <a:off x="548640" y="1691640"/>
            <a:ext cx="11064240" cy="274320"/>
          </a:xfrm>
          <a:prstGeom prst="rect">
            <a:avLst/>
          </a:prstGeom>
          <a:noFill/>
        </p:spPr>
        <p:txBody>
          <a:bodyPr wrap="square" lIns="0" tIns="0" rIns="0" bIns="0" anchor="t">
            <a:spAutoFit/>
          </a:bodyPr>
          <a:lstStyle/>
          <a:p>
            <a:pPr algn="l"/>
            <a:r>
              <a:rPr sz="1200" b="0">
                <a:solidFill>
                  <a:srgbClr val="606060"/>
                </a:solidFill>
                <a:latin typeface="Segoe UI"/>
              </a:rPr>
              <a:t>Click any item to open the resource  •  All links are clickable</a:t>
            </a:r>
          </a:p>
        </p:txBody>
      </p:sp>
      <p:sp>
        <p:nvSpPr>
          <p:cNvPr id="4" name="Rounded Rectangle 3">
            <a:extLst>
              <a:ext uri="{C183D7F6-B498-43B3-948B-1728B52AA6E4}">
                <adec:decorative xmlns:adec="http://schemas.microsoft.com/office/drawing/2017/decorative" val="1"/>
              </a:ext>
            </a:extLst>
          </p:cNvPr>
          <p:cNvSpPr/>
          <p:nvPr/>
        </p:nvSpPr>
        <p:spPr>
          <a:xfrm>
            <a:off x="548640" y="2011680"/>
            <a:ext cx="5486400" cy="4297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C183D7F6-B498-43B3-948B-1728B52AA6E4}">
                <adec:decorative xmlns:adec="http://schemas.microsoft.com/office/drawing/2017/decorative" val="1"/>
              </a:ext>
            </a:extLst>
          </p:cNvPr>
          <p:cNvSpPr txBox="1"/>
          <p:nvPr/>
        </p:nvSpPr>
        <p:spPr>
          <a:xfrm>
            <a:off x="731520" y="2148840"/>
            <a:ext cx="5120640" cy="365760"/>
          </a:xfrm>
          <a:prstGeom prst="rect">
            <a:avLst/>
          </a:prstGeom>
          <a:noFill/>
        </p:spPr>
        <p:txBody>
          <a:bodyPr wrap="square" lIns="0" tIns="0" rIns="0" bIns="0" anchor="t">
            <a:spAutoFit/>
          </a:bodyPr>
          <a:lstStyle/>
          <a:p>
            <a:pPr algn="l"/>
            <a:r>
              <a:rPr sz="1600" b="1">
                <a:solidFill>
                  <a:srgbClr val="68217A"/>
                </a:solidFill>
                <a:latin typeface="Segoe UI"/>
              </a:rPr>
              <a:t>Labs / Learning Modules</a:t>
            </a:r>
          </a:p>
        </p:txBody>
      </p:sp>
      <p:sp>
        <p:nvSpPr>
          <p:cNvPr id="6" name="TextBox 5">
            <a:extLst>
              <a:ext uri="{C183D7F6-B498-43B3-948B-1728B52AA6E4}">
                <adec:decorative xmlns:adec="http://schemas.microsoft.com/office/drawing/2017/decorative" val="1"/>
              </a:ext>
            </a:extLst>
          </p:cNvPr>
          <p:cNvSpPr txBox="1"/>
          <p:nvPr/>
        </p:nvSpPr>
        <p:spPr>
          <a:xfrm>
            <a:off x="731520" y="2578608"/>
            <a:ext cx="5120640" cy="274320"/>
          </a:xfrm>
          <a:prstGeom prst="rect">
            <a:avLst/>
          </a:prstGeom>
          <a:noFill/>
        </p:spPr>
        <p:txBody>
          <a:bodyPr wrap="square" lIns="0" tIns="0" rIns="0" bIns="0" anchor="t">
            <a:spAutoFit/>
          </a:bodyPr>
          <a:lstStyle/>
          <a:p>
            <a:pPr algn="l"/>
            <a:r>
              <a:rPr sz="1000" b="1">
                <a:solidFill>
                  <a:srgbClr val="107C10"/>
                </a:solidFill>
                <a:latin typeface="Segoe UI"/>
              </a:rPr>
              <a:t>REQUIRED</a:t>
            </a:r>
          </a:p>
        </p:txBody>
      </p:sp>
      <p:sp>
        <p:nvSpPr>
          <p:cNvPr id="7" name="TextBox 6">
            <a:extLst>
              <a:ext uri="{C183D7F6-B498-43B3-948B-1728B52AA6E4}">
                <adec:decorative xmlns:adec="http://schemas.microsoft.com/office/drawing/2017/decorative" val="1"/>
              </a:ext>
            </a:extLst>
          </p:cNvPr>
          <p:cNvSpPr txBox="1"/>
          <p:nvPr/>
        </p:nvSpPr>
        <p:spPr>
          <a:xfrm>
            <a:off x="731520" y="2834640"/>
            <a:ext cx="5120640" cy="640080"/>
          </a:xfrm>
          <a:prstGeom prst="rect">
            <a:avLst/>
          </a:prstGeom>
          <a:noFill/>
        </p:spPr>
        <p:txBody>
          <a:bodyPr wrap="square" lIns="0" tIns="0" rIns="0" bIns="0">
            <a:spAutoFit/>
          </a:bodyPr>
          <a:lstStyle/>
          <a:p>
            <a:pPr>
              <a:spcAft>
                <a:spcPts val="400"/>
              </a:spcAft>
            </a:pPr>
            <a:r>
              <a:rPr sz="1200" b="1">
                <a:solidFill>
                  <a:srgbClr val="0078D4"/>
                </a:solidFill>
                <a:latin typeface="Segoe UI"/>
              </a:rPr>
              <a:t>•  </a:t>
            </a:r>
            <a:r>
              <a:rPr sz="1200" u="sng">
                <a:solidFill>
                  <a:srgbClr val="0078D4"/>
                </a:solidFill>
                <a:latin typeface="Segoe UI"/>
                <a:hlinkClick r:id="rId3"/>
              </a:rPr>
              <a:t>Implement Responsible AI with Azure AI Content Safety (Microsoft Learn)</a:t>
            </a:r>
          </a:p>
        </p:txBody>
      </p:sp>
      <p:sp>
        <p:nvSpPr>
          <p:cNvPr id="8" name="TextBox 7">
            <a:extLst>
              <a:ext uri="{C183D7F6-B498-43B3-948B-1728B52AA6E4}">
                <adec:decorative xmlns:adec="http://schemas.microsoft.com/office/drawing/2017/decorative" val="1"/>
              </a:ext>
            </a:extLst>
          </p:cNvPr>
          <p:cNvSpPr txBox="1"/>
          <p:nvPr/>
        </p:nvSpPr>
        <p:spPr>
          <a:xfrm>
            <a:off x="731520" y="3520440"/>
            <a:ext cx="5120640" cy="274320"/>
          </a:xfrm>
          <a:prstGeom prst="rect">
            <a:avLst/>
          </a:prstGeom>
          <a:noFill/>
        </p:spPr>
        <p:txBody>
          <a:bodyPr wrap="square" lIns="0" tIns="0" rIns="0" bIns="0" anchor="t">
            <a:spAutoFit/>
          </a:bodyPr>
          <a:lstStyle/>
          <a:p>
            <a:pPr algn="l"/>
            <a:r>
              <a:rPr sz="1000" b="1">
                <a:solidFill>
                  <a:srgbClr val="606060"/>
                </a:solidFill>
                <a:latin typeface="Segoe UI"/>
              </a:rPr>
              <a:t>OPTIONAL — go deeper</a:t>
            </a:r>
          </a:p>
        </p:txBody>
      </p:sp>
      <p:sp>
        <p:nvSpPr>
          <p:cNvPr id="9" name="TextBox 8">
            <a:extLst>
              <a:ext uri="{C183D7F6-B498-43B3-948B-1728B52AA6E4}">
                <adec:decorative xmlns:adec="http://schemas.microsoft.com/office/drawing/2017/decorative" val="1"/>
              </a:ext>
            </a:extLst>
          </p:cNvPr>
          <p:cNvSpPr txBox="1"/>
          <p:nvPr/>
        </p:nvSpPr>
        <p:spPr>
          <a:xfrm>
            <a:off x="731520" y="3794760"/>
            <a:ext cx="5120640" cy="2423160"/>
          </a:xfrm>
          <a:prstGeom prst="rect">
            <a:avLst/>
          </a:prstGeom>
          <a:noFill/>
        </p:spPr>
        <p:txBody>
          <a:bodyPr wrap="square" lIns="0" tIns="0" rIns="0" bIns="0">
            <a:spAutoFit/>
          </a:bodyPr>
          <a:lstStyle/>
          <a:p>
            <a:pPr>
              <a:spcAft>
                <a:spcPts val="400"/>
              </a:spcAft>
            </a:pPr>
            <a:r>
              <a:rPr sz="1100" b="1">
                <a:solidFill>
                  <a:srgbClr val="0078D4"/>
                </a:solidFill>
                <a:latin typeface="Segoe UI"/>
              </a:rPr>
              <a:t>•  </a:t>
            </a:r>
            <a:r>
              <a:rPr sz="1100" u="sng">
                <a:solidFill>
                  <a:srgbClr val="0078D4"/>
                </a:solidFill>
                <a:latin typeface="Segoe UI"/>
                <a:hlinkClick r:id="rId4"/>
              </a:rPr>
              <a:t>Evaluate generative AI apps in Azure AI Foundry (Learn module)</a:t>
            </a:r>
          </a:p>
          <a:p>
            <a:pPr>
              <a:spcAft>
                <a:spcPts val="400"/>
              </a:spcAft>
            </a:pPr>
            <a:r>
              <a:rPr sz="1100" b="1">
                <a:solidFill>
                  <a:srgbClr val="0078D4"/>
                </a:solidFill>
                <a:latin typeface="Segoe UI"/>
              </a:rPr>
              <a:t>•  </a:t>
            </a:r>
            <a:r>
              <a:rPr sz="1100" u="sng">
                <a:solidFill>
                  <a:srgbClr val="0078D4"/>
                </a:solidFill>
                <a:latin typeface="Segoe UI"/>
                <a:hlinkClick r:id="rId5"/>
              </a:rPr>
              <a:t>Microsoft Purview for AI — Learn path</a:t>
            </a:r>
          </a:p>
          <a:p>
            <a:pPr>
              <a:spcAft>
                <a:spcPts val="400"/>
              </a:spcAft>
            </a:pPr>
            <a:r>
              <a:rPr sz="1100" b="1">
                <a:solidFill>
                  <a:srgbClr val="0078D4"/>
                </a:solidFill>
                <a:latin typeface="Segoe UI"/>
              </a:rPr>
              <a:t>•  </a:t>
            </a:r>
            <a:r>
              <a:rPr sz="1100" u="sng">
                <a:solidFill>
                  <a:srgbClr val="0078D4"/>
                </a:solidFill>
                <a:latin typeface="Segoe UI"/>
                <a:hlinkClick r:id="rId6"/>
              </a:rPr>
              <a:t>Defender for Cloud AI posture management (Learn)</a:t>
            </a:r>
          </a:p>
          <a:p>
            <a:pPr>
              <a:spcAft>
                <a:spcPts val="400"/>
              </a:spcAft>
            </a:pPr>
            <a:r>
              <a:rPr sz="1100" b="1">
                <a:solidFill>
                  <a:srgbClr val="0078D4"/>
                </a:solidFill>
                <a:latin typeface="Segoe UI"/>
              </a:rPr>
              <a:t>•  </a:t>
            </a:r>
            <a:r>
              <a:rPr sz="1100" u="sng">
                <a:solidFill>
                  <a:srgbClr val="0078D4"/>
                </a:solidFill>
                <a:latin typeface="Segoe UI"/>
                <a:hlinkClick r:id="rId7"/>
              </a:rPr>
              <a:t>Govern Azure AI workloads — Cloud Adoption Framework</a:t>
            </a:r>
          </a:p>
        </p:txBody>
      </p:sp>
      <p:sp>
        <p:nvSpPr>
          <p:cNvPr id="10" name="Rounded Rectangle 9">
            <a:extLst>
              <a:ext uri="{C183D7F6-B498-43B3-948B-1728B52AA6E4}">
                <adec:decorative xmlns:adec="http://schemas.microsoft.com/office/drawing/2017/decorative" val="1"/>
              </a:ext>
            </a:extLst>
          </p:cNvPr>
          <p:cNvSpPr/>
          <p:nvPr/>
        </p:nvSpPr>
        <p:spPr>
          <a:xfrm>
            <a:off x="6172200" y="2011680"/>
            <a:ext cx="5486400" cy="4297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C183D7F6-B498-43B3-948B-1728B52AA6E4}">
                <adec:decorative xmlns:adec="http://schemas.microsoft.com/office/drawing/2017/decorative" val="1"/>
              </a:ext>
            </a:extLst>
          </p:cNvPr>
          <p:cNvSpPr txBox="1"/>
          <p:nvPr/>
        </p:nvSpPr>
        <p:spPr>
          <a:xfrm>
            <a:off x="6355080" y="2148840"/>
            <a:ext cx="5120640" cy="365760"/>
          </a:xfrm>
          <a:prstGeom prst="rect">
            <a:avLst/>
          </a:prstGeom>
          <a:noFill/>
        </p:spPr>
        <p:txBody>
          <a:bodyPr wrap="square" lIns="0" tIns="0" rIns="0" bIns="0" anchor="t">
            <a:spAutoFit/>
          </a:bodyPr>
          <a:lstStyle/>
          <a:p>
            <a:pPr algn="l"/>
            <a:r>
              <a:rPr sz="1600" b="1">
                <a:solidFill>
                  <a:srgbClr val="68217A"/>
                </a:solidFill>
                <a:latin typeface="Segoe UI"/>
              </a:rPr>
              <a:t>Other Resources</a:t>
            </a:r>
          </a:p>
        </p:txBody>
      </p:sp>
      <p:sp>
        <p:nvSpPr>
          <p:cNvPr id="12" name="TextBox 11">
            <a:extLst>
              <a:ext uri="{C183D7F6-B498-43B3-948B-1728B52AA6E4}">
                <adec:decorative xmlns:adec="http://schemas.microsoft.com/office/drawing/2017/decorative" val="1"/>
              </a:ext>
            </a:extLst>
          </p:cNvPr>
          <p:cNvSpPr txBox="1"/>
          <p:nvPr/>
        </p:nvSpPr>
        <p:spPr>
          <a:xfrm>
            <a:off x="6355080" y="2578608"/>
            <a:ext cx="5120640" cy="274320"/>
          </a:xfrm>
          <a:prstGeom prst="rect">
            <a:avLst/>
          </a:prstGeom>
          <a:noFill/>
        </p:spPr>
        <p:txBody>
          <a:bodyPr wrap="square" lIns="0" tIns="0" rIns="0" bIns="0" anchor="t">
            <a:spAutoFit/>
          </a:bodyPr>
          <a:lstStyle/>
          <a:p>
            <a:pPr algn="l"/>
            <a:r>
              <a:rPr sz="1000" b="1">
                <a:solidFill>
                  <a:srgbClr val="606060"/>
                </a:solidFill>
                <a:latin typeface="Segoe UI"/>
              </a:rPr>
              <a:t>OPTIONAL — if you want to learn more</a:t>
            </a:r>
          </a:p>
        </p:txBody>
      </p:sp>
      <p:sp>
        <p:nvSpPr>
          <p:cNvPr id="13" name="TextBox 12">
            <a:extLst>
              <a:ext uri="{C183D7F6-B498-43B3-948B-1728B52AA6E4}">
                <adec:decorative xmlns:adec="http://schemas.microsoft.com/office/drawing/2017/decorative" val="1"/>
              </a:ext>
            </a:extLst>
          </p:cNvPr>
          <p:cNvSpPr txBox="1"/>
          <p:nvPr/>
        </p:nvSpPr>
        <p:spPr>
          <a:xfrm>
            <a:off x="6355080" y="2834640"/>
            <a:ext cx="5120640" cy="3429000"/>
          </a:xfrm>
          <a:prstGeom prst="rect">
            <a:avLst/>
          </a:prstGeom>
          <a:noFill/>
        </p:spPr>
        <p:txBody>
          <a:bodyPr wrap="square" lIns="0" tIns="0" rIns="0" bIns="0">
            <a:spAutoFit/>
          </a:bodyPr>
          <a:lstStyle/>
          <a:p>
            <a:pPr>
              <a:spcAft>
                <a:spcPts val="400"/>
              </a:spcAft>
            </a:pPr>
            <a:r>
              <a:rPr sz="1100" b="1">
                <a:solidFill>
                  <a:srgbClr val="0078D4"/>
                </a:solidFill>
                <a:latin typeface="Segoe UI"/>
              </a:rPr>
              <a:t>•  </a:t>
            </a:r>
            <a:r>
              <a:rPr sz="1100" u="sng">
                <a:solidFill>
                  <a:srgbClr val="0078D4"/>
                </a:solidFill>
                <a:latin typeface="Segoe UI"/>
                <a:hlinkClick r:id="rId8"/>
              </a:rPr>
              <a:t>Microsoft Responsible AI Standard v2 (PDF)</a:t>
            </a:r>
          </a:p>
          <a:p>
            <a:pPr>
              <a:spcAft>
                <a:spcPts val="400"/>
              </a:spcAft>
            </a:pPr>
            <a:r>
              <a:rPr sz="1100" b="1">
                <a:solidFill>
                  <a:srgbClr val="0078D4"/>
                </a:solidFill>
                <a:latin typeface="Segoe UI"/>
              </a:rPr>
              <a:t>•  </a:t>
            </a:r>
            <a:r>
              <a:rPr sz="1100" u="sng">
                <a:solidFill>
                  <a:srgbClr val="0078D4"/>
                </a:solidFill>
                <a:latin typeface="Segoe UI"/>
                <a:hlinkClick r:id="rId9"/>
              </a:rPr>
              <a:t>Microsoft AI Transparency Note hub</a:t>
            </a:r>
          </a:p>
          <a:p>
            <a:pPr>
              <a:spcAft>
                <a:spcPts val="400"/>
              </a:spcAft>
            </a:pPr>
            <a:r>
              <a:rPr sz="1100" b="1">
                <a:solidFill>
                  <a:srgbClr val="0078D4"/>
                </a:solidFill>
                <a:latin typeface="Segoe UI"/>
              </a:rPr>
              <a:t>•  </a:t>
            </a:r>
            <a:r>
              <a:rPr sz="1100" u="sng">
                <a:solidFill>
                  <a:srgbClr val="0078D4"/>
                </a:solidFill>
                <a:latin typeface="Segoe UI"/>
                <a:hlinkClick r:id="rId10"/>
              </a:rPr>
              <a:t>EU AI Act — Microsoft compliance guidance</a:t>
            </a:r>
          </a:p>
          <a:p>
            <a:pPr>
              <a:spcAft>
                <a:spcPts val="400"/>
              </a:spcAft>
            </a:pPr>
            <a:r>
              <a:rPr sz="1100" b="1">
                <a:solidFill>
                  <a:srgbClr val="0078D4"/>
                </a:solidFill>
                <a:latin typeface="Segoe UI"/>
              </a:rPr>
              <a:t>•  </a:t>
            </a:r>
            <a:r>
              <a:rPr sz="1100" u="sng">
                <a:solidFill>
                  <a:srgbClr val="0078D4"/>
                </a:solidFill>
                <a:latin typeface="Segoe UI"/>
                <a:hlinkClick r:id="rId11"/>
              </a:rPr>
              <a:t>NIST AI Risk Management Framework</a:t>
            </a:r>
          </a:p>
          <a:p>
            <a:pPr>
              <a:spcAft>
                <a:spcPts val="400"/>
              </a:spcAft>
            </a:pPr>
            <a:r>
              <a:rPr sz="1100" b="1">
                <a:solidFill>
                  <a:srgbClr val="0078D4"/>
                </a:solidFill>
                <a:latin typeface="Segoe UI"/>
              </a:rPr>
              <a:t>•  </a:t>
            </a:r>
            <a:r>
              <a:rPr sz="1100" u="sng">
                <a:solidFill>
                  <a:srgbClr val="0078D4"/>
                </a:solidFill>
                <a:latin typeface="Segoe UI"/>
                <a:hlinkClick r:id="rId12"/>
              </a:rPr>
              <a:t>Microsoft Responsible AI Impact Assessment template</a:t>
            </a:r>
          </a:p>
          <a:p>
            <a:pPr>
              <a:spcAft>
                <a:spcPts val="400"/>
              </a:spcAft>
            </a:pPr>
            <a:r>
              <a:rPr sz="1100" b="1">
                <a:solidFill>
                  <a:srgbClr val="0078D4"/>
                </a:solidFill>
                <a:latin typeface="Segoe UI"/>
              </a:rPr>
              <a:t>•  </a:t>
            </a:r>
            <a:r>
              <a:rPr sz="1100" u="sng">
                <a:solidFill>
                  <a:srgbClr val="0078D4"/>
                </a:solidFill>
                <a:latin typeface="Segoe UI"/>
                <a:hlinkClick r:id="rId13"/>
              </a:rPr>
              <a:t>AI red teaming — Microsoft guidance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Key Takeaways — building your COE</a:t>
            </a:r>
          </a:p>
        </p:txBody>
      </p:sp>
      <p:sp>
        <p:nvSpPr>
          <p:cNvPr id="3" name="Rounded Rectangle 2" descr="1"/>
          <p:cNvSpPr/>
          <p:nvPr/>
        </p:nvSpPr>
        <p:spPr>
          <a:xfrm>
            <a:off x="548640" y="1828800"/>
            <a:ext cx="868680" cy="868680"/>
          </a:xfrm>
          <a:prstGeom prst="roundRect">
            <a:avLst/>
          </a:prstGeom>
          <a:solidFill>
            <a:srgbClr val="00326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3200" b="1">
                <a:solidFill>
                  <a:srgbClr val="FFFFFF"/>
                </a:solidFill>
                <a:latin typeface="Segoe UI"/>
              </a:rPr>
              <a:t>1</a:t>
            </a:r>
          </a:p>
        </p:txBody>
      </p:sp>
      <p:sp>
        <p:nvSpPr>
          <p:cNvPr id="4" name="Rounded Rectangle 3" descr="Treat the COE as one operating model  Break existing technology silos. One AI council, cadence-aligned decision rights from leadership down to citizen developers."/>
          <p:cNvSpPr/>
          <p:nvPr/>
        </p:nvSpPr>
        <p:spPr>
          <a:xfrm>
            <a:off x="1508760" y="1828800"/>
            <a:ext cx="10149840" cy="868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lIns="120000" tIns="60000" rtlCol="0" anchor="ctr"/>
          <a:lstStyle/>
          <a:p>
            <a:pPr algn="l"/>
            <a:r>
              <a:rPr sz="1400" b="1">
                <a:solidFill>
                  <a:srgbClr val="003266"/>
                </a:solidFill>
                <a:latin typeface="Segoe UI"/>
              </a:rPr>
              <a:t>Treat the COE as one operating model</a:t>
            </a:r>
          </a:p>
          <a:p>
            <a:pPr algn="l"/>
            <a:r>
              <a:rPr sz="1100">
                <a:solidFill>
                  <a:srgbClr val="323232"/>
                </a:solidFill>
                <a:latin typeface="Segoe UI"/>
              </a:rPr>
              <a:t>Break existing technology silos. One AI council, cadence-aligned decision rights from leadership down to citizen developers.</a:t>
            </a:r>
          </a:p>
        </p:txBody>
      </p:sp>
      <p:sp>
        <p:nvSpPr>
          <p:cNvPr id="5" name="Rounded Rectangle 4" descr="2"/>
          <p:cNvSpPr/>
          <p:nvPr/>
        </p:nvSpPr>
        <p:spPr>
          <a:xfrm>
            <a:off x="548640" y="2807208"/>
            <a:ext cx="868680" cy="86868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3200" b="1">
                <a:solidFill>
                  <a:srgbClr val="FFFFFF"/>
                </a:solidFill>
                <a:latin typeface="Segoe UI"/>
              </a:rPr>
              <a:t>2</a:t>
            </a:r>
          </a:p>
        </p:txBody>
      </p:sp>
      <p:sp>
        <p:nvSpPr>
          <p:cNvPr id="6" name="Rounded Rectangle 5" descr="Industrialize the use-case funnel  Centralized intake → BXT scoring → ROI translation → Buy/Extend/Build guidance. No use case enters production without it."/>
          <p:cNvSpPr/>
          <p:nvPr/>
        </p:nvSpPr>
        <p:spPr>
          <a:xfrm>
            <a:off x="1508760" y="2807208"/>
            <a:ext cx="10149840" cy="868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lIns="120000" tIns="60000" rtlCol="0" anchor="ctr"/>
          <a:lstStyle/>
          <a:p>
            <a:pPr algn="l"/>
            <a:r>
              <a:rPr sz="1400" b="1">
                <a:solidFill>
                  <a:srgbClr val="0078D4"/>
                </a:solidFill>
                <a:latin typeface="Segoe UI"/>
              </a:rPr>
              <a:t>Industrialize the use-case funnel</a:t>
            </a:r>
          </a:p>
          <a:p>
            <a:pPr algn="l"/>
            <a:r>
              <a:rPr sz="1100">
                <a:solidFill>
                  <a:srgbClr val="323232"/>
                </a:solidFill>
                <a:latin typeface="Segoe UI"/>
              </a:rPr>
              <a:t>Centralized intake → BXT scoring → ROI translation → Buy/Extend/Build guidance. No use case enters production without it.</a:t>
            </a:r>
          </a:p>
        </p:txBody>
      </p:sp>
      <p:sp>
        <p:nvSpPr>
          <p:cNvPr id="7" name="Rounded Rectangle 6" descr="3"/>
          <p:cNvSpPr/>
          <p:nvPr/>
        </p:nvSpPr>
        <p:spPr>
          <a:xfrm>
            <a:off x="548640" y="3785616"/>
            <a:ext cx="868680" cy="868680"/>
          </a:xfrm>
          <a:prstGeom prst="roundRect">
            <a:avLst/>
          </a:prstGeom>
          <a:solidFill>
            <a:srgbClr val="68217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3200" b="1">
                <a:solidFill>
                  <a:srgbClr val="FFFFFF"/>
                </a:solidFill>
                <a:latin typeface="Segoe UI"/>
              </a:rPr>
              <a:t>3</a:t>
            </a:r>
          </a:p>
        </p:txBody>
      </p:sp>
      <p:sp>
        <p:nvSpPr>
          <p:cNvPr id="8" name="Rounded Rectangle 7" descr="Govern by design, not by audit  Environment strategy, DLP, Purview labels and Copilot Control System guardrails are the floor — not optional add-ons."/>
          <p:cNvSpPr/>
          <p:nvPr/>
        </p:nvSpPr>
        <p:spPr>
          <a:xfrm>
            <a:off x="1508760" y="3785616"/>
            <a:ext cx="10149840" cy="868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lIns="120000" tIns="60000" rtlCol="0" anchor="ctr"/>
          <a:lstStyle/>
          <a:p>
            <a:pPr algn="l"/>
            <a:r>
              <a:rPr sz="1400" b="1">
                <a:solidFill>
                  <a:srgbClr val="68217A"/>
                </a:solidFill>
                <a:latin typeface="Segoe UI"/>
              </a:rPr>
              <a:t>Govern by design, not by audit</a:t>
            </a:r>
          </a:p>
          <a:p>
            <a:pPr algn="l"/>
            <a:r>
              <a:rPr sz="1100">
                <a:solidFill>
                  <a:srgbClr val="323232"/>
                </a:solidFill>
                <a:latin typeface="Segoe UI"/>
              </a:rPr>
              <a:t>Environment strategy, DLP, Purview labels and Copilot Control System guardrails are the floor — not optional add-ons.</a:t>
            </a:r>
          </a:p>
        </p:txBody>
      </p:sp>
      <p:sp>
        <p:nvSpPr>
          <p:cNvPr id="9" name="Rounded Rectangle 8" descr="4"/>
          <p:cNvSpPr/>
          <p:nvPr/>
        </p:nvSpPr>
        <p:spPr>
          <a:xfrm>
            <a:off x="548640" y="4764024"/>
            <a:ext cx="868680" cy="868680"/>
          </a:xfrm>
          <a:prstGeom prst="round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3200" b="1">
                <a:solidFill>
                  <a:srgbClr val="1C1C1C"/>
                </a:solidFill>
                <a:latin typeface="Segoe UI"/>
              </a:rPr>
              <a:t>4</a:t>
            </a:r>
          </a:p>
        </p:txBody>
      </p:sp>
      <p:sp>
        <p:nvSpPr>
          <p:cNvPr id="10" name="Rounded Rectangle 9" descr="Citizen development is the multiplier  Empower business builders with safe environments, templates and monitoring. Champions and feedback loops keep it healthy."/>
          <p:cNvSpPr/>
          <p:nvPr/>
        </p:nvSpPr>
        <p:spPr>
          <a:xfrm>
            <a:off x="1508760" y="4764024"/>
            <a:ext cx="10149840" cy="868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lIns="120000" tIns="60000" rtlCol="0" anchor="ctr"/>
          <a:lstStyle/>
          <a:p>
            <a:pPr algn="l"/>
            <a:r>
              <a:rPr sz="1400" b="1">
                <a:solidFill>
                  <a:schemeClr val="accent1">
                    <a:lumMod val="50000"/>
                  </a:schemeClr>
                </a:solidFill>
                <a:latin typeface="Segoe UI"/>
              </a:rPr>
              <a:t>Citizen development is the multiplier</a:t>
            </a:r>
          </a:p>
          <a:p>
            <a:pPr algn="l"/>
            <a:r>
              <a:rPr sz="1100">
                <a:solidFill>
                  <a:schemeClr val="accent1">
                    <a:lumMod val="50000"/>
                  </a:schemeClr>
                </a:solidFill>
                <a:latin typeface="Segoe UI"/>
              </a:rPr>
              <a:t>Empower business builders with safe environments, templates and monitoring. Champions and feedback loops keep it healthy.</a:t>
            </a:r>
          </a:p>
        </p:txBody>
      </p:sp>
      <p:sp>
        <p:nvSpPr>
          <p:cNvPr id="11" name="Rounded Rectangle 10" descr="5"/>
          <p:cNvSpPr/>
          <p:nvPr/>
        </p:nvSpPr>
        <p:spPr>
          <a:xfrm>
            <a:off x="548640" y="5742432"/>
            <a:ext cx="868680" cy="868680"/>
          </a:xfrm>
          <a:prstGeom prst="round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3200" b="1">
                <a:solidFill>
                  <a:srgbClr val="FFFFFF"/>
                </a:solidFill>
                <a:latin typeface="Segoe UI"/>
              </a:rPr>
              <a:t>5</a:t>
            </a:r>
          </a:p>
        </p:txBody>
      </p:sp>
      <p:sp>
        <p:nvSpPr>
          <p:cNvPr id="12" name="Rounded Rectangle 11" descr="Continuously test &amp; measure  GenAIOps + AI evaluations in CI and production. Tie monitoring to ROI dashboards to unlock the next wave of investment."/>
          <p:cNvSpPr/>
          <p:nvPr/>
        </p:nvSpPr>
        <p:spPr>
          <a:xfrm>
            <a:off x="1508760" y="5742432"/>
            <a:ext cx="10149840" cy="86868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lIns="120000" tIns="60000" rtlCol="0" anchor="ctr"/>
          <a:lstStyle/>
          <a:p>
            <a:pPr algn="l"/>
            <a:r>
              <a:rPr sz="1400" b="1">
                <a:solidFill>
                  <a:srgbClr val="107C10"/>
                </a:solidFill>
                <a:latin typeface="Segoe UI"/>
              </a:rPr>
              <a:t>Continuously test &amp; measure</a:t>
            </a:r>
          </a:p>
          <a:p>
            <a:pPr algn="l"/>
            <a:r>
              <a:rPr sz="1100">
                <a:solidFill>
                  <a:srgbClr val="323232"/>
                </a:solidFill>
                <a:latin typeface="Segoe UI"/>
              </a:rPr>
              <a:t>GenAIOps + AI evaluations in CI and production. Tie monitoring to ROI dashboards to unlock the next wave of investment.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Next Steps — make AI a scalable advantage</a:t>
            </a:r>
          </a:p>
        </p:txBody>
      </p:sp>
      <p:sp>
        <p:nvSpPr>
          <p:cNvPr id="3" name="Rectangle 2" descr="1. Engage"/>
          <p:cNvSpPr/>
          <p:nvPr/>
        </p:nvSpPr>
        <p:spPr>
          <a:xfrm>
            <a:off x="502920" y="2240280"/>
            <a:ext cx="2697480" cy="64008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1. Engage</a:t>
            </a:r>
          </a:p>
        </p:txBody>
      </p:sp>
      <p:sp>
        <p:nvSpPr>
          <p:cNvPr id="4" name="Rounded Rectangle 3" descr="Run an inspirational end-to-end COE session with your AI leadership team."/>
          <p:cNvSpPr/>
          <p:nvPr/>
        </p:nvSpPr>
        <p:spPr>
          <a:xfrm>
            <a:off x="502920" y="2971800"/>
            <a:ext cx="2697480" cy="256032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ctr"/>
            <a:r>
              <a:rPr sz="1300" b="0">
                <a:solidFill>
                  <a:srgbClr val="323232"/>
                </a:solidFill>
                <a:latin typeface="Segoe UI"/>
              </a:rPr>
              <a:t>Run an inspirational end-to-end COE session with your AI leadership team.</a:t>
            </a:r>
          </a:p>
        </p:txBody>
      </p:sp>
      <p:sp>
        <p:nvSpPr>
          <p:cNvPr id="5" name="Rectangle 4" descr="2. Assess"/>
          <p:cNvSpPr/>
          <p:nvPr/>
        </p:nvSpPr>
        <p:spPr>
          <a:xfrm>
            <a:off x="3364992" y="2240280"/>
            <a:ext cx="2697480" cy="64008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2. Assess</a:t>
            </a:r>
          </a:p>
        </p:txBody>
      </p:sp>
      <p:sp>
        <p:nvSpPr>
          <p:cNvPr id="6" name="Rounded Rectangle 5" descr="Measure current AI maturity per pillar using the AI @ Scale ATU questionnaire."/>
          <p:cNvSpPr/>
          <p:nvPr/>
        </p:nvSpPr>
        <p:spPr>
          <a:xfrm>
            <a:off x="3364992" y="2971800"/>
            <a:ext cx="2697480" cy="256032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ctr"/>
            <a:r>
              <a:rPr sz="1300" b="0">
                <a:solidFill>
                  <a:srgbClr val="323232"/>
                </a:solidFill>
                <a:latin typeface="Segoe UI"/>
              </a:rPr>
              <a:t>Measure current AI maturity per pillar using the AI @ Scale ATU questionnaire.</a:t>
            </a:r>
          </a:p>
        </p:txBody>
      </p:sp>
      <p:sp>
        <p:nvSpPr>
          <p:cNvPr id="7" name="Rectangle 6" descr="3. Prioritize"/>
          <p:cNvSpPr/>
          <p:nvPr/>
        </p:nvSpPr>
        <p:spPr>
          <a:xfrm>
            <a:off x="6227064" y="2240280"/>
            <a:ext cx="2697480" cy="64008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3. Prioritize</a:t>
            </a:r>
          </a:p>
        </p:txBody>
      </p:sp>
      <p:sp>
        <p:nvSpPr>
          <p:cNvPr id="8" name="Rounded Rectangle 7" descr="Build a prioritized COE roadmap targeting the highest-value pillars first."/>
          <p:cNvSpPr/>
          <p:nvPr/>
        </p:nvSpPr>
        <p:spPr>
          <a:xfrm>
            <a:off x="6227064" y="2971800"/>
            <a:ext cx="2697480" cy="256032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ctr"/>
            <a:r>
              <a:rPr sz="1300" b="0">
                <a:solidFill>
                  <a:srgbClr val="323232"/>
                </a:solidFill>
                <a:latin typeface="Segoe UI"/>
              </a:rPr>
              <a:t>Build a prioritized COE roadmap targeting the highest-value pillars first.</a:t>
            </a:r>
          </a:p>
        </p:txBody>
      </p:sp>
      <p:sp>
        <p:nvSpPr>
          <p:cNvPr id="9" name="Rectangle 8" descr="4. Implement"/>
          <p:cNvSpPr/>
          <p:nvPr/>
        </p:nvSpPr>
        <p:spPr>
          <a:xfrm>
            <a:off x="9089136" y="2240280"/>
            <a:ext cx="2697480" cy="64008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FFFFFF"/>
                </a:solidFill>
                <a:latin typeface="Segoe UI"/>
              </a:rPr>
              <a:t>4. Implement</a:t>
            </a:r>
          </a:p>
        </p:txBody>
      </p:sp>
      <p:sp>
        <p:nvSpPr>
          <p:cNvPr id="10" name="Rounded Rectangle 9" descr="Partner with Microsoft &amp; SI partners to operationalize a scalable AI factory."/>
          <p:cNvSpPr/>
          <p:nvPr/>
        </p:nvSpPr>
        <p:spPr>
          <a:xfrm>
            <a:off x="9089136" y="2971800"/>
            <a:ext cx="2697480" cy="256032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t"/>
          <a:lstStyle/>
          <a:p>
            <a:pPr algn="ctr"/>
            <a:r>
              <a:rPr sz="1300" b="0">
                <a:solidFill>
                  <a:srgbClr val="323232"/>
                </a:solidFill>
                <a:latin typeface="Segoe UI"/>
              </a:rPr>
              <a:t>Partner with Microsoft &amp; SI partners to operationalize a scalable AI factory.</a:t>
            </a:r>
          </a:p>
        </p:txBody>
      </p:sp>
      <p:sp>
        <p:nvSpPr>
          <p:cNvPr id="11" name="Rounded Rectangle 10" descr="Let's work together to make generative AI a scalable advantage for your organization."/>
          <p:cNvSpPr/>
          <p:nvPr/>
        </p:nvSpPr>
        <p:spPr>
          <a:xfrm>
            <a:off x="502920" y="5440680"/>
            <a:ext cx="11155680" cy="731520"/>
          </a:xfrm>
          <a:prstGeom prst="roundRect">
            <a:avLst/>
          </a:prstGeom>
          <a:solidFill>
            <a:srgbClr val="DEECF9"/>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003266"/>
                </a:solidFill>
                <a:latin typeface="Segoe UI"/>
              </a:rPr>
              <a:t>Let's work together to make generative AI a scalable advantage for your organization.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dirty="0">
                <a:latin typeface="Segoe UI"/>
              </a:rPr>
              <a:t>Questions?</a:t>
            </a:r>
          </a:p>
        </p:txBody>
      </p:sp>
      <p:sp>
        <p:nvSpPr>
          <p:cNvPr id="5" name="Text Placeholder 4">
            <a:extLst>
              <a:ext uri="{FF2B5EF4-FFF2-40B4-BE49-F238E27FC236}">
                <a16:creationId xmlns:a16="http://schemas.microsoft.com/office/drawing/2014/main" id="{4AD6EFE3-19B4-1838-2443-6BBCF803EC75}"/>
              </a:ext>
            </a:extLst>
          </p:cNvPr>
          <p:cNvSpPr>
            <a:spLocks noGrp="1"/>
          </p:cNvSpPr>
          <p:nvPr>
            <p:ph type="body" sz="quarter" idx="12"/>
          </p:nvPr>
        </p:nvSpPr>
        <p:spPr/>
        <p:txBody>
          <a:bodyPr/>
          <a:lstStyle/>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lgn="l">
              <a:defRPr sz="2400">
                <a:latin typeface="Segoe UI"/>
              </a:defRPr>
            </a:pPr>
            <a:r>
              <a:rPr sz="2400">
                <a:latin typeface="Segoe UI"/>
              </a:rPr>
              <a:t>Additional considerations — strengthening the three motions</a:t>
            </a:r>
          </a:p>
        </p:txBody>
      </p:sp>
      <p:sp>
        <p:nvSpPr>
          <p:cNvPr id="3" name="Rectangle 2" descr="Training"/>
          <p:cNvSpPr/>
          <p:nvPr/>
        </p:nvSpPr>
        <p:spPr>
          <a:xfrm>
            <a:off x="502920" y="2240280"/>
            <a:ext cx="3611880" cy="548640"/>
          </a:xfrm>
          <a:prstGeom prst="rect">
            <a:avLst/>
          </a:prstGeom>
          <a:solidFill>
            <a:srgbClr val="003266"/>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800" b="1">
                <a:solidFill>
                  <a:srgbClr val="FFFFFF"/>
                </a:solidFill>
                <a:latin typeface="Segoe UI"/>
              </a:rPr>
              <a:t>Training</a:t>
            </a:r>
          </a:p>
        </p:txBody>
      </p:sp>
      <p:sp>
        <p:nvSpPr>
          <p:cNvPr id="4" name="Rounded Rectangle 3">
            <a:extLst>
              <a:ext uri="{C183D7F6-B498-43B3-948B-1728B52AA6E4}">
                <adec:decorative xmlns:adec="http://schemas.microsoft.com/office/drawing/2017/decorative" val="1"/>
              </a:ext>
            </a:extLst>
          </p:cNvPr>
          <p:cNvSpPr/>
          <p:nvPr/>
        </p:nvSpPr>
        <p:spPr>
          <a:xfrm>
            <a:off x="502920" y="2880360"/>
            <a:ext cx="3611880" cy="35661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C183D7F6-B498-43B3-948B-1728B52AA6E4}">
                <adec:decorative xmlns:adec="http://schemas.microsoft.com/office/drawing/2017/decorative" val="1"/>
              </a:ext>
            </a:extLst>
          </p:cNvPr>
          <p:cNvSpPr txBox="1"/>
          <p:nvPr/>
        </p:nvSpPr>
        <p:spPr>
          <a:xfrm>
            <a:off x="685800" y="3017520"/>
            <a:ext cx="3246120" cy="3383280"/>
          </a:xfrm>
          <a:prstGeom prst="rect">
            <a:avLst/>
          </a:prstGeom>
          <a:noFill/>
        </p:spPr>
        <p:txBody>
          <a:bodyPr wrap="square" lIns="0" tIns="0" rIns="0" bIns="0">
            <a:spAutoFit/>
          </a:bodyPr>
          <a:lstStyle/>
          <a:p>
            <a:pPr>
              <a:spcAft>
                <a:spcPts val="800"/>
              </a:spcAft>
            </a:pPr>
            <a:r>
              <a:rPr sz="1200" b="1">
                <a:solidFill>
                  <a:srgbClr val="0078D4"/>
                </a:solidFill>
                <a:latin typeface="Segoe UI"/>
              </a:rPr>
              <a:t>•  </a:t>
            </a:r>
            <a:r>
              <a:rPr sz="1200">
                <a:solidFill>
                  <a:srgbClr val="323232"/>
                </a:solidFill>
                <a:latin typeface="Segoe UI"/>
              </a:rPr>
              <a:t>Role-based learning paths for executives, developers &amp; business users</a:t>
            </a:r>
          </a:p>
          <a:p>
            <a:pPr>
              <a:spcAft>
                <a:spcPts val="800"/>
              </a:spcAft>
            </a:pPr>
            <a:r>
              <a:rPr sz="1200" b="1">
                <a:solidFill>
                  <a:srgbClr val="0078D4"/>
                </a:solidFill>
                <a:latin typeface="Segoe UI"/>
              </a:rPr>
              <a:t>•  </a:t>
            </a:r>
            <a:r>
              <a:rPr sz="1200">
                <a:solidFill>
                  <a:srgbClr val="323232"/>
                </a:solidFill>
                <a:latin typeface="Segoe UI"/>
              </a:rPr>
              <a:t>Train-the-trainer programs to scale beyond central delivery</a:t>
            </a:r>
          </a:p>
          <a:p>
            <a:pPr>
              <a:spcAft>
                <a:spcPts val="800"/>
              </a:spcAft>
            </a:pPr>
            <a:r>
              <a:rPr sz="1200" b="1">
                <a:solidFill>
                  <a:srgbClr val="0078D4"/>
                </a:solidFill>
                <a:latin typeface="Segoe UI"/>
              </a:rPr>
              <a:t>•  </a:t>
            </a:r>
            <a:r>
              <a:rPr sz="1200">
                <a:solidFill>
                  <a:srgbClr val="323232"/>
                </a:solidFill>
                <a:latin typeface="Segoe UI"/>
              </a:rPr>
              <a:t>Hands-on labs &amp; sandbox environments for practical application</a:t>
            </a:r>
          </a:p>
        </p:txBody>
      </p:sp>
      <p:sp>
        <p:nvSpPr>
          <p:cNvPr id="6" name="Rectangle 5" descr="Community"/>
          <p:cNvSpPr/>
          <p:nvPr/>
        </p:nvSpPr>
        <p:spPr>
          <a:xfrm>
            <a:off x="4279392" y="2240280"/>
            <a:ext cx="3611880" cy="548640"/>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800" b="1">
                <a:solidFill>
                  <a:srgbClr val="FFFFFF"/>
                </a:solidFill>
                <a:latin typeface="Segoe UI"/>
              </a:rPr>
              <a:t>Community</a:t>
            </a:r>
          </a:p>
        </p:txBody>
      </p:sp>
      <p:sp>
        <p:nvSpPr>
          <p:cNvPr id="7" name="Rounded Rectangle 6">
            <a:extLst>
              <a:ext uri="{C183D7F6-B498-43B3-948B-1728B52AA6E4}">
                <adec:decorative xmlns:adec="http://schemas.microsoft.com/office/drawing/2017/decorative" val="1"/>
              </a:ext>
            </a:extLst>
          </p:cNvPr>
          <p:cNvSpPr/>
          <p:nvPr/>
        </p:nvSpPr>
        <p:spPr>
          <a:xfrm>
            <a:off x="4279392" y="2880360"/>
            <a:ext cx="3611880" cy="35661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a:extLst>
              <a:ext uri="{C183D7F6-B498-43B3-948B-1728B52AA6E4}">
                <adec:decorative xmlns:adec="http://schemas.microsoft.com/office/drawing/2017/decorative" val="1"/>
              </a:ext>
            </a:extLst>
          </p:cNvPr>
          <p:cNvSpPr txBox="1"/>
          <p:nvPr/>
        </p:nvSpPr>
        <p:spPr>
          <a:xfrm>
            <a:off x="4462272" y="3017520"/>
            <a:ext cx="3246120" cy="3383280"/>
          </a:xfrm>
          <a:prstGeom prst="rect">
            <a:avLst/>
          </a:prstGeom>
          <a:noFill/>
        </p:spPr>
        <p:txBody>
          <a:bodyPr wrap="square" lIns="0" tIns="0" rIns="0" bIns="0">
            <a:spAutoFit/>
          </a:bodyPr>
          <a:lstStyle/>
          <a:p>
            <a:pPr>
              <a:spcAft>
                <a:spcPts val="800"/>
              </a:spcAft>
            </a:pPr>
            <a:r>
              <a:rPr sz="1200" b="1">
                <a:solidFill>
                  <a:srgbClr val="0078D4"/>
                </a:solidFill>
                <a:latin typeface="Segoe UI"/>
              </a:rPr>
              <a:t>•  </a:t>
            </a:r>
            <a:r>
              <a:rPr sz="1200">
                <a:solidFill>
                  <a:srgbClr val="323232"/>
                </a:solidFill>
                <a:latin typeface="Segoe UI"/>
              </a:rPr>
              <a:t>Continuous feedback loops tied to adoption metrics</a:t>
            </a:r>
          </a:p>
          <a:p>
            <a:pPr>
              <a:spcAft>
                <a:spcPts val="800"/>
              </a:spcAft>
            </a:pPr>
            <a:r>
              <a:rPr sz="1200" b="1">
                <a:solidFill>
                  <a:srgbClr val="0078D4"/>
                </a:solidFill>
                <a:latin typeface="Segoe UI"/>
              </a:rPr>
              <a:t>•  </a:t>
            </a:r>
            <a:r>
              <a:rPr sz="1200">
                <a:solidFill>
                  <a:srgbClr val="323232"/>
                </a:solidFill>
                <a:latin typeface="Segoe UI"/>
              </a:rPr>
              <a:t>Reusable template &amp; accelerator catalog maintained by the community</a:t>
            </a:r>
          </a:p>
          <a:p>
            <a:pPr>
              <a:spcAft>
                <a:spcPts val="800"/>
              </a:spcAft>
            </a:pPr>
            <a:r>
              <a:rPr sz="1200" b="1">
                <a:solidFill>
                  <a:srgbClr val="0078D4"/>
                </a:solidFill>
                <a:latin typeface="Segoe UI"/>
              </a:rPr>
              <a:t>•  </a:t>
            </a:r>
            <a:r>
              <a:rPr sz="1200">
                <a:solidFill>
                  <a:srgbClr val="323232"/>
                </a:solidFill>
                <a:latin typeface="Segoe UI"/>
              </a:rPr>
              <a:t>Agent Manager role to coordinate human-agent workflows</a:t>
            </a:r>
          </a:p>
        </p:txBody>
      </p:sp>
      <p:sp>
        <p:nvSpPr>
          <p:cNvPr id="9" name="Rectangle 8" descr="Evangelism"/>
          <p:cNvSpPr/>
          <p:nvPr/>
        </p:nvSpPr>
        <p:spPr>
          <a:xfrm>
            <a:off x="8055864" y="2240280"/>
            <a:ext cx="3611880" cy="54864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800" b="1">
                <a:solidFill>
                  <a:srgbClr val="FFFFFF"/>
                </a:solidFill>
                <a:latin typeface="Segoe UI"/>
              </a:rPr>
              <a:t>Evangelism</a:t>
            </a:r>
          </a:p>
        </p:txBody>
      </p:sp>
      <p:sp>
        <p:nvSpPr>
          <p:cNvPr id="10" name="Rounded Rectangle 9">
            <a:extLst>
              <a:ext uri="{C183D7F6-B498-43B3-948B-1728B52AA6E4}">
                <adec:decorative xmlns:adec="http://schemas.microsoft.com/office/drawing/2017/decorative" val="1"/>
              </a:ext>
            </a:extLst>
          </p:cNvPr>
          <p:cNvSpPr/>
          <p:nvPr/>
        </p:nvSpPr>
        <p:spPr>
          <a:xfrm>
            <a:off x="8055864" y="2880360"/>
            <a:ext cx="3611880" cy="3566160"/>
          </a:xfrm>
          <a:prstGeom prst="round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C183D7F6-B498-43B3-948B-1728B52AA6E4}">
                <adec:decorative xmlns:adec="http://schemas.microsoft.com/office/drawing/2017/decorative" val="1"/>
              </a:ext>
            </a:extLst>
          </p:cNvPr>
          <p:cNvSpPr txBox="1"/>
          <p:nvPr/>
        </p:nvSpPr>
        <p:spPr>
          <a:xfrm>
            <a:off x="8238744" y="3017520"/>
            <a:ext cx="3246120" cy="3383280"/>
          </a:xfrm>
          <a:prstGeom prst="rect">
            <a:avLst/>
          </a:prstGeom>
          <a:noFill/>
        </p:spPr>
        <p:txBody>
          <a:bodyPr wrap="square" lIns="0" tIns="0" rIns="0" bIns="0">
            <a:spAutoFit/>
          </a:bodyPr>
          <a:lstStyle/>
          <a:p>
            <a:pPr>
              <a:spcAft>
                <a:spcPts val="800"/>
              </a:spcAft>
            </a:pPr>
            <a:r>
              <a:rPr sz="1200" b="1">
                <a:solidFill>
                  <a:srgbClr val="0078D4"/>
                </a:solidFill>
                <a:latin typeface="Segoe UI"/>
              </a:rPr>
              <a:t>•  </a:t>
            </a:r>
            <a:r>
              <a:rPr sz="1200">
                <a:solidFill>
                  <a:srgbClr val="323232"/>
                </a:solidFill>
                <a:latin typeface="Segoe UI"/>
              </a:rPr>
              <a:t>Executive sponsorship &amp; visible leadership buy-in</a:t>
            </a:r>
          </a:p>
          <a:p>
            <a:pPr>
              <a:spcAft>
                <a:spcPts val="800"/>
              </a:spcAft>
            </a:pPr>
            <a:r>
              <a:rPr sz="1200" b="1">
                <a:solidFill>
                  <a:srgbClr val="0078D4"/>
                </a:solidFill>
                <a:latin typeface="Segoe UI"/>
              </a:rPr>
              <a:t>•  </a:t>
            </a:r>
            <a:r>
              <a:rPr sz="1200">
                <a:solidFill>
                  <a:srgbClr val="323232"/>
                </a:solidFill>
                <a:latin typeface="Segoe UI"/>
              </a:rPr>
              <a:t>Structured communications cadence (e.g., regular newsletter or update channel)</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16198fbd-a8ef-4b10-90b5-600ff933c912"/>
  <p:tag name="MIO_GUID" val="55a10cb0-526b-427f-b329-564b9d813585"/>
  <p:tag name="MIO_LASTDOWNLOADED" val="30.03.2020 15:44:51"/>
  <p:tag name="MIO_LASTEDITORNAME" val="Devid Treuling"/>
  <p:tag name="MIO_OBJECTNAME" val="Disclaimer"/>
  <p:tag name="MIO_UPDATE" val="True"/>
  <p:tag name="MIO_VERSION" val="30.03.2020 15:44:05"/>
</p:tagLst>
</file>

<file path=ppt/tags/tag3.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66b2b442-327e-43dd-bd4d-df915862f5d3"/>
  <p:tag name="MIO_GUID" val="3f15d768-aaeb-472a-a613-08046adda187"/>
  <p:tag name="MIO_LASTDOWNLOADED" val="30.03.2020 15:44:51"/>
  <p:tag name="MIO_LASTEDITORNAME" val="Devid Treuling"/>
  <p:tag name="MIO_OBJECTNAME" val="Learning Units covered in this Module"/>
  <p:tag name="MIO_UPDATE" val="True"/>
  <p:tag name="MIO_VERSION" val="30.03.2020 15:44:05"/>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item1.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1.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a29421e1-74d8-4915-bb0d-c72892872ba0">
      <Terms xmlns="http://schemas.microsoft.com/office/infopath/2007/PartnerControls"/>
    </lcf76f155ced4ddcb4097134ff3c332f>
  </documentManagement>
</p:properties>
</file>

<file path=customXml/item2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4.xml><?xml version="1.0" encoding="utf-8"?>
<?mso-contentType ?>
<FormTemplates xmlns="http://schemas.microsoft.com/sharepoint/v3/contenttype/forms">
  <Display>DocumentLibraryForm</Display>
  <Edit>DocumentLibraryForm</Edit>
  <New>DocumentLibraryForm</New>
</FormTemplates>
</file>

<file path=customXml/item3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3.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541D4602-AC17-4CBD-B95E-D5B3D757BC54}">
  <ds:schemaRefs>
    <ds:schemaRef ds:uri="Strauss.PersonalizationDefinition"/>
  </ds:schemaRefs>
</ds:datastoreItem>
</file>

<file path=customXml/itemProps2.xml><?xml version="1.0" encoding="utf-8"?>
<ds:datastoreItem xmlns:ds="http://schemas.openxmlformats.org/officeDocument/2006/customXml" ds:itemID="{A09B3D8F-A36C-4B6D-871D-C53F61DFD219}">
  <ds:schemaRefs>
    <ds:schemaRef ds:uri="Strauss.PersonalizationDefinition"/>
  </ds:schemaRefs>
</ds:datastoreItem>
</file>

<file path=customXml/itemProps3.xml><?xml version="1.0" encoding="utf-8"?>
<ds:datastoreItem xmlns:ds="http://schemas.openxmlformats.org/officeDocument/2006/customXml" ds:itemID="{A0EED17B-F609-411E-840C-8A361DF5E053}">
  <ds:schemaRefs>
    <ds:schemaRef ds:uri="Strauss.PersonalizationDefinition"/>
  </ds:schemaRefs>
</ds:datastoreItem>
</file>

<file path=customXml/itemProps4.xml><?xml version="1.0" encoding="utf-8"?>
<ds:datastoreItem xmlns:ds="http://schemas.openxmlformats.org/officeDocument/2006/customXml" ds:itemID="{5C919DC8-E31E-42F0-9621-B916C2E029BA}">
  <ds:schemaRefs>
    <ds:schemaRef ds:uri="Strauss.PersonalizationDefinition"/>
  </ds:schemaRefs>
</ds:datastoreItem>
</file>

<file path=customXml/itemProps5.xml><?xml version="1.0" encoding="utf-8"?>
<ds:datastoreItem xmlns:ds="http://schemas.openxmlformats.org/officeDocument/2006/customXml" ds:itemID="{4EA01338-72BB-48B6-B6A4-05B31FE21105}">
  <ds:schemaRefs>
    <ds:schemaRef ds:uri="Strauss.PersonalizationDefinition"/>
  </ds:schemaRefs>
</ds:datastoreItem>
</file>

<file path=customXml/itemProps6.xml><?xml version="1.0" encoding="utf-8"?>
<ds:datastoreItem xmlns:ds="http://schemas.openxmlformats.org/officeDocument/2006/customXml" ds:itemID="{13A5538B-5199-4900-941A-B01E377F2065}">
  <ds:schemaRefs>
    <ds:schemaRef ds:uri="Strauss.PersonalizationDefinition"/>
  </ds:schemaRefs>
</ds:datastoreItem>
</file>

<file path=customXml/itemProps7.xml><?xml version="1.0" encoding="utf-8"?>
<ds:datastoreItem xmlns:ds="http://schemas.openxmlformats.org/officeDocument/2006/customXml" ds:itemID="{4C485A9E-99A8-4277-BE90-E837A967DB2E}">
  <ds:schemaRefs>
    <ds:schemaRef ds:uri="Strauss.PersonalizationDefinition"/>
  </ds:schemaRefs>
</ds:datastoreItem>
</file>

<file path=customXml/itemProps8.xml><?xml version="1.0" encoding="utf-8"?>
<ds:datastoreItem xmlns:ds="http://schemas.openxmlformats.org/officeDocument/2006/customXml" ds:itemID="{D55AC15F-0A03-4D96-AA43-65FC3DCE2717}">
  <ds:schemaRefs>
    <ds:schemaRef ds:uri="Strauss.PersonalizationDefinition"/>
  </ds:schemaRefs>
</ds:datastoreItem>
</file>

<file path=customXml/itemProps9.xml><?xml version="1.0" encoding="utf-8"?>
<ds:datastoreItem xmlns:ds="http://schemas.openxmlformats.org/officeDocument/2006/customXml" ds:itemID="{EF4AA5EB-A638-4D3A-B852-E71E18ED4953}">
  <ds:schemaRefs>
    <ds:schemaRef ds:uri="Strauss.PersonalizationDefinition"/>
  </ds:schemaRefs>
</ds:datastoreItem>
</file>

<file path=customXml/itemProps10.xml><?xml version="1.0" encoding="utf-8"?>
<ds:datastoreItem xmlns:ds="http://schemas.openxmlformats.org/officeDocument/2006/customXml" ds:itemID="{82C716E8-B770-4139-99B0-F35B9C64B90F}">
  <ds:schemaRefs>
    <ds:schemaRef ds:uri="Strauss.PersonalizationDefinition"/>
  </ds:schemaRefs>
</ds:datastoreItem>
</file>

<file path=customXml/itemProps11.xml><?xml version="1.0" encoding="utf-8"?>
<ds:datastoreItem xmlns:ds="http://schemas.openxmlformats.org/officeDocument/2006/customXml" ds:itemID="{D7FDC28F-4CBD-40ED-9D33-0A1360D5DEC4}">
  <ds:schemaRefs>
    <ds:schemaRef ds:uri="Strauss.PersonalizationDefinition"/>
  </ds:schemaRefs>
</ds:datastoreItem>
</file>

<file path=customXml/itemProps12.xml><?xml version="1.0" encoding="utf-8"?>
<ds:datastoreItem xmlns:ds="http://schemas.openxmlformats.org/officeDocument/2006/customXml" ds:itemID="{6F485757-9F3C-4A1E-9E86-E1C1551910BA}">
  <ds:schemaRefs>
    <ds:schemaRef ds:uri="Strauss.PersonalizationDefinition"/>
  </ds:schemaRefs>
</ds:datastoreItem>
</file>

<file path=customXml/itemProps13.xml><?xml version="1.0" encoding="utf-8"?>
<ds:datastoreItem xmlns:ds="http://schemas.openxmlformats.org/officeDocument/2006/customXml" ds:itemID="{7BE5F28F-50CA-40F1-A02E-E794FE33362D}">
  <ds:schemaRefs>
    <ds:schemaRef ds:uri="Strauss.PersonalizationDefinition"/>
  </ds:schemaRefs>
</ds:datastoreItem>
</file>

<file path=customXml/itemProps14.xml><?xml version="1.0" encoding="utf-8"?>
<ds:datastoreItem xmlns:ds="http://schemas.openxmlformats.org/officeDocument/2006/customXml" ds:itemID="{EDFBA6C8-3A38-44F0-B645-B6B0034983DA}">
  <ds:schemaRefs>
    <ds:schemaRef ds:uri="Strauss.PersonalizationDefinition"/>
  </ds:schemaRefs>
</ds:datastoreItem>
</file>

<file path=customXml/itemProps15.xml><?xml version="1.0" encoding="utf-8"?>
<ds:datastoreItem xmlns:ds="http://schemas.openxmlformats.org/officeDocument/2006/customXml" ds:itemID="{08068EAD-DA6C-4DC8-843E-9CB0982D15F3}">
  <ds:schemaRefs>
    <ds:schemaRef ds:uri="Strauss.PersonalizationDefinition"/>
  </ds:schemaRefs>
</ds:datastoreItem>
</file>

<file path=customXml/itemProps16.xml><?xml version="1.0" encoding="utf-8"?>
<ds:datastoreItem xmlns:ds="http://schemas.openxmlformats.org/officeDocument/2006/customXml" ds:itemID="{C1060A51-5976-4775-97EE-ABE1B1E4972A}">
  <ds:schemaRefs>
    <ds:schemaRef ds:uri="Strauss.PersonalizationDefinition"/>
  </ds:schemaRefs>
</ds:datastoreItem>
</file>

<file path=customXml/itemProps17.xml><?xml version="1.0" encoding="utf-8"?>
<ds:datastoreItem xmlns:ds="http://schemas.openxmlformats.org/officeDocument/2006/customXml" ds:itemID="{E7EBEF02-C69B-46E0-B38A-E51611CE5254}">
  <ds:schemaRefs>
    <ds:schemaRef ds:uri="Strauss.PersonalizationDefinition"/>
  </ds:schemaRefs>
</ds:datastoreItem>
</file>

<file path=customXml/itemProps18.xml><?xml version="1.0" encoding="utf-8"?>
<ds:datastoreItem xmlns:ds="http://schemas.openxmlformats.org/officeDocument/2006/customXml" ds:itemID="{6552B3D2-5F72-49FB-8B35-AFE12BF36804}">
  <ds:schemaRefs>
    <ds:schemaRef ds:uri="Strauss.PersonalizationDefinition"/>
  </ds:schemaRefs>
</ds:datastoreItem>
</file>

<file path=customXml/itemProps19.xml><?xml version="1.0" encoding="utf-8"?>
<ds:datastoreItem xmlns:ds="http://schemas.openxmlformats.org/officeDocument/2006/customXml" ds:itemID="{F56EB5D8-3CD5-48EE-9536-13CF2B9AC25D}">
  <ds:schemaRefs>
    <ds:schemaRef ds:uri="Strauss.PersonalizationDefinition"/>
  </ds:schemaRefs>
</ds:datastoreItem>
</file>

<file path=customXml/itemProps20.xml><?xml version="1.0" encoding="utf-8"?>
<ds:datastoreItem xmlns:ds="http://schemas.openxmlformats.org/officeDocument/2006/customXml" ds:itemID="{FBC13881-F2DC-4AA3-88C8-97C40CA1EBC7}">
  <ds:schemaRefs>
    <ds:schemaRef ds:uri="Strauss.PersonalizationDefinition"/>
  </ds:schemaRefs>
</ds:datastoreItem>
</file>

<file path=customXml/itemProps21.xml><?xml version="1.0" encoding="utf-8"?>
<ds:datastoreItem xmlns:ds="http://schemas.openxmlformats.org/officeDocument/2006/customXml" ds:itemID="{2D843DB4-2358-4495-ACD4-A47469EF86D0}"/>
</file>

<file path=customXml/itemProps22.xml><?xml version="1.0" encoding="utf-8"?>
<ds:datastoreItem xmlns:ds="http://schemas.openxmlformats.org/officeDocument/2006/customXml" ds:itemID="{B09E3EAE-66CA-4A91-A5FE-A34A70B099ED}">
  <ds:schemaRefs>
    <ds:schemaRef ds:uri="Strauss.PersonalizationDefinition"/>
  </ds:schemaRefs>
</ds:datastoreItem>
</file>

<file path=customXml/itemProps23.xml><?xml version="1.0" encoding="utf-8"?>
<ds:datastoreItem xmlns:ds="http://schemas.openxmlformats.org/officeDocument/2006/customXml" ds:itemID="{AC7687D8-5695-4F99-A8BA-1D247B418C22}">
  <ds:schemaRefs>
    <ds:schemaRef ds:uri="19614695-0c98-4ea4-9244-f5047452aafb"/>
    <ds:schemaRef ds:uri="fcb28fc0-2e3b-4764-9e63-46b62073c0c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4.xml><?xml version="1.0" encoding="utf-8"?>
<ds:datastoreItem xmlns:ds="http://schemas.openxmlformats.org/officeDocument/2006/customXml" ds:itemID="{712108F3-86F2-4B95-AF2D-FE4E45965FCC}">
  <ds:schemaRefs>
    <ds:schemaRef ds:uri="Strauss.PersonalizationDefinition"/>
  </ds:schemaRefs>
</ds:datastoreItem>
</file>

<file path=customXml/itemProps25.xml><?xml version="1.0" encoding="utf-8"?>
<ds:datastoreItem xmlns:ds="http://schemas.openxmlformats.org/officeDocument/2006/customXml" ds:itemID="{DE0DC7DC-A960-4E6E-BF1B-D3D906B081A2}">
  <ds:schemaRefs>
    <ds:schemaRef ds:uri="Strauss.PersonalizationDefinition"/>
  </ds:schemaRefs>
</ds:datastoreItem>
</file>

<file path=customXml/itemProps26.xml><?xml version="1.0" encoding="utf-8"?>
<ds:datastoreItem xmlns:ds="http://schemas.openxmlformats.org/officeDocument/2006/customXml" ds:itemID="{B228D3F7-8445-4CE7-92DC-AC7FE2D5A2AF}">
  <ds:schemaRefs>
    <ds:schemaRef ds:uri="Strauss.PersonalizationDefinition"/>
  </ds:schemaRefs>
</ds:datastoreItem>
</file>

<file path=customXml/itemProps27.xml><?xml version="1.0" encoding="utf-8"?>
<ds:datastoreItem xmlns:ds="http://schemas.openxmlformats.org/officeDocument/2006/customXml" ds:itemID="{FC25CD5D-A9DA-407F-9106-47BDA14BCED9}">
  <ds:schemaRefs>
    <ds:schemaRef ds:uri="Strauss.PersonalizationDefinition"/>
  </ds:schemaRefs>
</ds:datastoreItem>
</file>

<file path=customXml/itemProps28.xml><?xml version="1.0" encoding="utf-8"?>
<ds:datastoreItem xmlns:ds="http://schemas.openxmlformats.org/officeDocument/2006/customXml" ds:itemID="{4A3F169F-E27D-4A25-888C-4C5D83BAC082}">
  <ds:schemaRefs>
    <ds:schemaRef ds:uri="Strauss.PersonalizationDefinition"/>
  </ds:schemaRefs>
</ds:datastoreItem>
</file>

<file path=customXml/itemProps29.xml><?xml version="1.0" encoding="utf-8"?>
<ds:datastoreItem xmlns:ds="http://schemas.openxmlformats.org/officeDocument/2006/customXml" ds:itemID="{68BE9F8F-073F-46B7-B2D0-86DC8E2E9DCE}">
  <ds:schemaRefs>
    <ds:schemaRef ds:uri="Strauss.PersonalizationDefinition"/>
  </ds:schemaRefs>
</ds:datastoreItem>
</file>

<file path=customXml/itemProps30.xml><?xml version="1.0" encoding="utf-8"?>
<ds:datastoreItem xmlns:ds="http://schemas.openxmlformats.org/officeDocument/2006/customXml" ds:itemID="{BC268A45-186B-46A3-937F-0E016CEA70C1}">
  <ds:schemaRefs>
    <ds:schemaRef ds:uri="Strauss.PersonalizationDefinition"/>
  </ds:schemaRefs>
</ds:datastoreItem>
</file>

<file path=customXml/itemProps31.xml><?xml version="1.0" encoding="utf-8"?>
<ds:datastoreItem xmlns:ds="http://schemas.openxmlformats.org/officeDocument/2006/customXml" ds:itemID="{406127A5-B8F7-4F8A-95A9-8E20F72EA129}">
  <ds:schemaRefs>
    <ds:schemaRef ds:uri="Strauss.PersonalizationDefinition"/>
  </ds:schemaRefs>
</ds:datastoreItem>
</file>

<file path=customXml/itemProps32.xml><?xml version="1.0" encoding="utf-8"?>
<ds:datastoreItem xmlns:ds="http://schemas.openxmlformats.org/officeDocument/2006/customXml" ds:itemID="{734F6CED-B619-41E0-BEDE-58B64D5F5EB2}">
  <ds:schemaRefs>
    <ds:schemaRef ds:uri="Strauss.PersonalizationDefinition"/>
  </ds:schemaRefs>
</ds:datastoreItem>
</file>

<file path=customXml/itemProps33.xml><?xml version="1.0" encoding="utf-8"?>
<ds:datastoreItem xmlns:ds="http://schemas.openxmlformats.org/officeDocument/2006/customXml" ds:itemID="{DF333A1B-0A9C-4DA8-ADAB-4378B69FDC48}">
  <ds:schemaRefs>
    <ds:schemaRef ds:uri="Strauss.PersonalizationDefinition"/>
  </ds:schemaRefs>
</ds:datastoreItem>
</file>

<file path=customXml/itemProps34.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35.xml><?xml version="1.0" encoding="utf-8"?>
<ds:datastoreItem xmlns:ds="http://schemas.openxmlformats.org/officeDocument/2006/customXml" ds:itemID="{7469151F-B4F3-4C21-84F8-69D9E2B09815}">
  <ds:schemaRefs>
    <ds:schemaRef ds:uri="Strauss.PersonalizationDefinition"/>
  </ds:schemaRefs>
</ds:datastoreItem>
</file>

<file path=customXml/itemProps36.xml><?xml version="1.0" encoding="utf-8"?>
<ds:datastoreItem xmlns:ds="http://schemas.openxmlformats.org/officeDocument/2006/customXml" ds:itemID="{D76C1D54-C31A-41C7-8796-37E3A885C9B9}">
  <ds:schemaRefs>
    <ds:schemaRef ds:uri="Strauss.PersonalizationDefinition"/>
  </ds:schemaRefs>
</ds:datastoreItem>
</file>

<file path=customXml/itemProps37.xml><?xml version="1.0" encoding="utf-8"?>
<ds:datastoreItem xmlns:ds="http://schemas.openxmlformats.org/officeDocument/2006/customXml" ds:itemID="{11767EAE-0FC6-472D-9D35-EB3533243F22}">
  <ds:schemaRefs>
    <ds:schemaRef ds:uri="Strauss.PersonalizationDefinition"/>
  </ds:schemaRefs>
</ds:datastoreItem>
</file>

<file path=customXml/itemProps38.xml><?xml version="1.0" encoding="utf-8"?>
<ds:datastoreItem xmlns:ds="http://schemas.openxmlformats.org/officeDocument/2006/customXml" ds:itemID="{ECCE7DC3-F525-4E76-8812-56FCA2D21E50}">
  <ds:schemaRefs>
    <ds:schemaRef ds:uri="Strauss.PersonalizationDefinition"/>
  </ds:schemaRefs>
</ds:datastoreItem>
</file>

<file path=customXml/itemProps39.xml><?xml version="1.0" encoding="utf-8"?>
<ds:datastoreItem xmlns:ds="http://schemas.openxmlformats.org/officeDocument/2006/customXml" ds:itemID="{46522A59-B026-4350-BB1A-BEB05240770F}">
  <ds:schemaRefs>
    <ds:schemaRef ds:uri="Strauss.PersonalizationDefinition"/>
  </ds:schemaRefs>
</ds:datastoreItem>
</file>

<file path=customXml/itemProps40.xml><?xml version="1.0" encoding="utf-8"?>
<ds:datastoreItem xmlns:ds="http://schemas.openxmlformats.org/officeDocument/2006/customXml" ds:itemID="{2BCFCE7B-4A43-491B-887D-365E2A1C50B2}">
  <ds:schemaRefs>
    <ds:schemaRef ds:uri="Strauss.PersonalizationDefinition"/>
  </ds:schemaRefs>
</ds:datastoreItem>
</file>

<file path=customXml/itemProps41.xml><?xml version="1.0" encoding="utf-8"?>
<ds:datastoreItem xmlns:ds="http://schemas.openxmlformats.org/officeDocument/2006/customXml" ds:itemID="{32920470-F086-4197-B6FE-12027DE25DCC}">
  <ds:schemaRefs>
    <ds:schemaRef ds:uri="Strauss.PersonalizationDefinition"/>
  </ds:schemaRefs>
</ds:datastoreItem>
</file>

<file path=customXml/itemProps42.xml><?xml version="1.0" encoding="utf-8"?>
<ds:datastoreItem xmlns:ds="http://schemas.openxmlformats.org/officeDocument/2006/customXml" ds:itemID="{103AB8E4-C30A-4895-9606-8D77F2E70F19}">
  <ds:schemaRefs>
    <ds:schemaRef ds:uri="Strauss.PersonalizationDefinition"/>
  </ds:schemaRefs>
</ds:datastoreItem>
</file>

<file path=customXml/itemProps43.xml><?xml version="1.0" encoding="utf-8"?>
<ds:datastoreItem xmlns:ds="http://schemas.openxmlformats.org/officeDocument/2006/customXml" ds:itemID="{628127A0-F2C3-45C3-BB9F-5B29A6B848BE}">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19</TotalTime>
  <Words>6051</Words>
  <Application>Microsoft Office PowerPoint</Application>
  <PresentationFormat>Widescreen</PresentationFormat>
  <Paragraphs>530</Paragraphs>
  <Slides>38</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Segoe UI</vt:lpstr>
      <vt:lpstr>Segoe UI Semibold</vt:lpstr>
      <vt:lpstr>Wingdings</vt:lpstr>
      <vt:lpstr>White Template</vt:lpstr>
      <vt:lpstr>Module 4 – Center of Excellence (COE) Pillars</vt:lpstr>
      <vt:lpstr>Conditions and terms of use</vt:lpstr>
      <vt:lpstr>Why a Center of Excellence — the business case is real</vt:lpstr>
      <vt:lpstr>From Fractured AI to AI Acceleration with a COE</vt:lpstr>
      <vt:lpstr>Learning Units covered  in this Module   </vt:lpstr>
      <vt:lpstr>Business Strategy</vt:lpstr>
      <vt:lpstr>Objectives — Business Strategy</vt:lpstr>
      <vt:lpstr>Organizational setup — accountabilities at every cadence</vt:lpstr>
      <vt:lpstr>AI use-case intake, triage and prioritization</vt:lpstr>
      <vt:lpstr>Business Strategy — labs &amp; resources</vt:lpstr>
      <vt:lpstr>Technology Strategy</vt:lpstr>
      <vt:lpstr>Objectives — Technology Strategy</vt:lpstr>
      <vt:lpstr>Shared-responsibility model for AI workloads</vt:lpstr>
      <vt:lpstr>Enterprise-scale AI landing zone — design areas</vt:lpstr>
      <vt:lpstr>Buy, Extend, Build — picking the right Microsoft AI tool</vt:lpstr>
      <vt:lpstr>The anatomy of Responsible AI</vt:lpstr>
      <vt:lpstr>Technology Strategy — labs &amp; resources</vt:lpstr>
      <vt:lpstr>Applied AI Experience</vt:lpstr>
      <vt:lpstr>Objectives — Applied AI Experience</vt:lpstr>
      <vt:lpstr>Accelerate innovation with governed citizen development</vt:lpstr>
      <vt:lpstr>Monitoring across AI platforms — know what is happening today</vt:lpstr>
      <vt:lpstr>Applied AI Experience — labs &amp; resources</vt:lpstr>
      <vt:lpstr>Organization &amp; Culture</vt:lpstr>
      <vt:lpstr>Objectives — Organization &amp; Culture</vt:lpstr>
      <vt:lpstr>Workforce readiness — turn AI worries into AI opportunity</vt:lpstr>
      <vt:lpstr>Templates, catalogs &amp; accelerators — three reinforcing motions</vt:lpstr>
      <vt:lpstr>Organization &amp; Culture — labs &amp; resources</vt:lpstr>
      <vt:lpstr>AI Governance</vt:lpstr>
      <vt:lpstr>Objectives — AI Governance</vt:lpstr>
      <vt:lpstr>Most common AI security &amp; governance incidents</vt:lpstr>
      <vt:lpstr>Copilot Control System — three layers of guardrails</vt:lpstr>
      <vt:lpstr>Environment strategy &amp; Data Loss Prevention</vt:lpstr>
      <vt:lpstr>Continuous testing — GenAIOps core pillars</vt:lpstr>
      <vt:lpstr>AI Governance — labs &amp; resources</vt:lpstr>
      <vt:lpstr>Key Takeaways — building your COE</vt:lpstr>
      <vt:lpstr>Next Steps — make AI a scalable advantage</vt:lpstr>
      <vt:lpstr>Questions?</vt:lpstr>
      <vt:lpstr>Additional considerations — strengthening the three motions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Mahi Sundararajan</cp:lastModifiedBy>
  <cp:revision>5</cp:revision>
  <dcterms:created xsi:type="dcterms:W3CDTF">2019-02-08T20:09:46Z</dcterms:created>
  <dcterms:modified xsi:type="dcterms:W3CDTF">2026-06-19T05:30:44Z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0x0101001BD4B4487B57D443AED9979943B92646</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ComplianceAssetId">
    <vt:lpwstr/>
  </property>
  <property fmtid="{D5CDD505-2E9C-101B-9397-08002B2CF9AE}" pid="21" name="Mail Sent">
    <vt:lpwstr>false</vt:lpwstr>
  </property>
  <property fmtid="{D5CDD505-2E9C-101B-9397-08002B2CF9AE}" pid="22" name="xd_Signature">
    <vt:lpwstr/>
  </property>
  <property fmtid="{D5CDD505-2E9C-101B-9397-08002B2CF9AE}" pid="23" name="State">
    <vt:lpwstr>Open</vt:lpwstr>
  </property>
  <property fmtid="{D5CDD505-2E9C-101B-9397-08002B2CF9AE}" pid="24" name="TriggerFlowInfo">
    <vt:lpwstr/>
  </property>
  <property fmtid="{D5CDD505-2E9C-101B-9397-08002B2CF9AE}" pid="25" name="Order">
    <vt:r8>10536200</vt:r8>
  </property>
  <property fmtid="{D5CDD505-2E9C-101B-9397-08002B2CF9AE}" pid="26" name="Lead Signoff">
    <vt:lpwstr>false</vt:lpwstr>
  </property>
  <property fmtid="{D5CDD505-2E9C-101B-9397-08002B2CF9AE}" pid="27" name="Title URL">
    <vt:lpwstr>, </vt:lpwstr>
  </property>
  <property fmtid="{D5CDD505-2E9C-101B-9397-08002B2CF9AE}" pid="28" name="xd_ProgID">
    <vt:lpwstr/>
  </property>
  <property fmtid="{D5CDD505-2E9C-101B-9397-08002B2CF9AE}" pid="29" name="TemplateUrl">
    <vt:lpwstr/>
  </property>
  <property fmtid="{D5CDD505-2E9C-101B-9397-08002B2CF9AE}" pid="30" name="_ExtendedDescription">
    <vt:lpwstr/>
  </property>
  <property fmtid="{D5CDD505-2E9C-101B-9397-08002B2CF9AE}" pid="31" name="_SourceUrl">
    <vt:lpwstr/>
  </property>
  <property fmtid="{D5CDD505-2E9C-101B-9397-08002B2CF9AE}" pid="32" name="_SharedFileIndex">
    <vt:lpwstr/>
  </property>
</Properties>
</file>